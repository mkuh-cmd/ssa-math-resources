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11" r:id="rId8"/>
    <p:sldId id="312" r:id="rId9"/>
    <p:sldId id="333" r:id="rId10"/>
    <p:sldId id="345" r:id="rId11"/>
    <p:sldId id="344" r:id="rId12"/>
    <p:sldId id="343" r:id="rId13"/>
    <p:sldId id="289" r:id="rId14"/>
    <p:sldId id="290" r:id="rId15"/>
    <p:sldId id="336" r:id="rId16"/>
    <p:sldId id="337" r:id="rId17"/>
    <p:sldId id="323" r:id="rId18"/>
    <p:sldId id="324" r:id="rId19"/>
    <p:sldId id="302" r:id="rId20"/>
    <p:sldId id="303" r:id="rId21"/>
    <p:sldId id="340" r:id="rId22"/>
    <p:sldId id="306" r:id="rId23"/>
    <p:sldId id="307" r:id="rId24"/>
  </p:sldIdLst>
  <p:sldSz cx="12192000" cy="6858000"/>
  <p:notesSz cx="6858000" cy="9144000"/>
  <p:embeddedFontLst>
    <p:embeddedFont>
      <p:font typeface="Calibri" pitchFamily="34" charset="0"/>
      <p:regular r:id="rId26"/>
      <p:bold r:id="rId27"/>
      <p:italic r:id="rId28"/>
      <p:boldItalic r:id="rId29"/>
    </p:embeddedFont>
    <p:embeddedFont>
      <p:font typeface="Century Gothic" pitchFamily="34" charset="0"/>
      <p:regular r:id="rId30"/>
      <p:bold r:id="rId31"/>
      <p:italic r:id="rId32"/>
      <p:boldItalic r:id="rId33"/>
    </p:embeddedFont>
    <p:embeddedFont>
      <p:font typeface="Cambria Math" pitchFamily="18" charset="0"/>
      <p:regular r:id="rId34"/>
    </p:embeddedFont>
    <p:embeddedFont>
      <p:font typeface="Cambria" pitchFamily="18" charset="0"/>
      <p:regular r:id="rId35"/>
      <p:bold r:id="rId36"/>
      <p:italic r:id="rId37"/>
      <p:boldItalic r:id="rId38"/>
    </p:embeddedFont>
    <p:embeddedFont>
      <p:font typeface="Arial Black" pitchFamily="34" charset="0"/>
      <p:bold r:id="rId39"/>
    </p:embeddedFont>
    <p:embeddedFont>
      <p:font typeface="Verdana"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C46"/>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47"/>
    <p:restoredTop sz="94612"/>
  </p:normalViewPr>
  <p:slideViewPr>
    <p:cSldViewPr snapToGrid="0">
      <p:cViewPr varScale="1">
        <p:scale>
          <a:sx n="78" d="100"/>
          <a:sy n="78" d="100"/>
        </p:scale>
        <p:origin x="-36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41565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34608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tiff"/><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0.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5.jpe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41.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6</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Using Two-Column Tables of Equivalent Ratios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282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xmlns=""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8935" y="169610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900" y="-15267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444843" y="1260389"/>
            <a:ext cx="11244649" cy="386766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MA.6.AR.3.3</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fractions and numerical patterns to generate or complete a two- or three-column table to display equivalent part-to-part ratios and part-to-part-to-whole ratios. </a:t>
            </a:r>
          </a:p>
          <a:p>
            <a:pPr indent="0">
              <a:buNone/>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MA.6.AR.3.5</a:t>
            </a:r>
          </a:p>
          <a:p>
            <a:pPr marL="463550" indent="0">
              <a:buNone/>
            </a:pPr>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ratios, rates, and unit rates, including comparisons, mixtures, ratios of lengths and conversions within the same measurement system.</a:t>
            </a:r>
          </a:p>
          <a:p>
            <a:pPr indent="0">
              <a:buNone/>
            </a:pPr>
            <a:endParaRPr lang="en-US" dirty="0">
              <a:solidFill>
                <a:schemeClr val="tx1"/>
              </a:solidFill>
              <a:latin typeface="Century Gothic"/>
              <a:sym typeface="Century Gothic"/>
            </a:endParaRPr>
          </a:p>
          <a:p>
            <a:pPr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96150" y="1296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7708"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315155" y="-5710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99370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396150" y="1433384"/>
            <a:ext cx="11231558" cy="37935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8281" y="6127935"/>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424762" y="-131048"/>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450331" y="106332"/>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944281"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50331" y="1359243"/>
            <a:ext cx="11127950" cy="426308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use two-column tables to display equivalent ratios. </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solve problems using two-column tables of equivalent ratios.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76614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900550" y="261917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69274" y="-8452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6.6.1 Warm-Up: Different Ways of Expressing Division </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472587" y="603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079F083F-A67E-0047-8E64-5125815AF3D8}"/>
                  </a:ext>
                </a:extLst>
              </p:cNvPr>
              <p:cNvSpPr/>
              <p:nvPr/>
            </p:nvSpPr>
            <p:spPr>
              <a:xfrm>
                <a:off x="679623" y="1482810"/>
                <a:ext cx="11121080" cy="4300151"/>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In many Latin American countries and other countries around the world, the colon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used instead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to express division. Therefore, the expression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divided by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would be expressed as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instead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Using what you have learned about ratios, explain how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used to express the same value.</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2. Write one question that comes to your mind after reading the information shown.</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079F083F-A67E-0047-8E64-5125815AF3D8}"/>
                  </a:ext>
                </a:extLst>
              </p:cNvPr>
              <p:cNvSpPr>
                <a:spLocks noRot="1" noChangeAspect="1" noMove="1" noResize="1" noEditPoints="1" noAdjustHandles="1" noChangeArrowheads="1" noChangeShapeType="1" noTextEdit="1"/>
              </p:cNvSpPr>
              <p:nvPr/>
            </p:nvSpPr>
            <p:spPr>
              <a:xfrm>
                <a:off x="679623" y="1482810"/>
                <a:ext cx="11121080" cy="4300151"/>
              </a:xfrm>
              <a:prstGeom prst="rect">
                <a:avLst/>
              </a:prstGeom>
              <a:blipFill>
                <a:blip r:embed="rId5"/>
                <a:stretch>
                  <a:fillRect l="-798" t="-1176" r="-1482"/>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D28F85A9-92EF-3646-A629-D71AC3FDE345}"/>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387424" y="-17144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6.6.2 Exploration: Double Number Lines Versus Two-Column Tables</a:t>
            </a: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9185" y="6032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05AB5A2-AF35-B14C-AE54-D2A0628C823C}"/>
                  </a:ext>
                </a:extLst>
              </p:cNvPr>
              <p:cNvSpPr/>
              <p:nvPr/>
            </p:nvSpPr>
            <p:spPr>
              <a:xfrm>
                <a:off x="864973" y="1521193"/>
                <a:ext cx="10886303" cy="1938992"/>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on the following.</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In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2016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128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gigabytes (GB) of portable computer memory cost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$32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A double number line diagram that represents the situation is shown.</a:t>
                </a:r>
                <a:r>
                  <a:rPr lang="en-US" sz="2400" dirty="0"/>
                  <a:t> </a:t>
                </a:r>
              </a:p>
            </p:txBody>
          </p:sp>
        </mc:Choice>
        <mc:Fallback xmlns="">
          <p:sp>
            <p:nvSpPr>
              <p:cNvPr id="2" name="Rectangle 1">
                <a:extLst>
                  <a:ext uri="{FF2B5EF4-FFF2-40B4-BE49-F238E27FC236}">
                    <a16:creationId xmlns:a16="http://schemas.microsoft.com/office/drawing/2014/main" id="{B05AB5A2-AF35-B14C-AE54-D2A0628C823C}"/>
                  </a:ext>
                </a:extLst>
              </p:cNvPr>
              <p:cNvSpPr>
                <a:spLocks noRot="1" noChangeAspect="1" noMove="1" noResize="1" noEditPoints="1" noAdjustHandles="1" noChangeArrowheads="1" noChangeShapeType="1" noTextEdit="1"/>
              </p:cNvSpPr>
              <p:nvPr/>
            </p:nvSpPr>
            <p:spPr>
              <a:xfrm>
                <a:off x="864973" y="1521193"/>
                <a:ext cx="10886303" cy="1938992"/>
              </a:xfrm>
              <a:prstGeom prst="rect">
                <a:avLst/>
              </a:prstGeom>
              <a:blipFill>
                <a:blip r:embed="rId5"/>
                <a:stretch>
                  <a:fillRect l="-932" t="-3922" r="-816" b="-6536"/>
                </a:stretch>
              </a:blipFill>
            </p:spPr>
            <p:txBody>
              <a:bodyPr/>
              <a:lstStyle/>
              <a:p>
                <a:r>
                  <a:rPr lang="en-US">
                    <a:noFill/>
                  </a:rPr>
                  <a:t> </a:t>
                </a:r>
              </a:p>
            </p:txBody>
          </p:sp>
        </mc:Fallback>
      </mc:AlternateContent>
      <p:pic>
        <p:nvPicPr>
          <p:cNvPr id="4" name="Picture 3" descr="Chart, box and whisker chart&#10;&#10;Description automatically generated">
            <a:extLst>
              <a:ext uri="{FF2B5EF4-FFF2-40B4-BE49-F238E27FC236}">
                <a16:creationId xmlns:a16="http://schemas.microsoft.com/office/drawing/2014/main" xmlns="" id="{BA2DAC7D-B6E8-354E-96D8-C464FA289EC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139678" y="4330265"/>
            <a:ext cx="8528322" cy="1760471"/>
          </a:xfrm>
          <a:prstGeom prst="rect">
            <a:avLst/>
          </a:prstGeom>
        </p:spPr>
      </p:pic>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6" name="Picture 5" descr="Chart, box and whisker chart&#10;&#10;Description automatically generated">
            <a:extLst>
              <a:ext uri="{FF2B5EF4-FFF2-40B4-BE49-F238E27FC236}">
                <a16:creationId xmlns:a16="http://schemas.microsoft.com/office/drawing/2014/main" xmlns="" id="{2BB42A1D-8E18-EC4F-AAC6-72CA1197AE4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806579" y="182652"/>
            <a:ext cx="8528322" cy="1760471"/>
          </a:xfrm>
          <a:prstGeom prst="rect">
            <a:avLst/>
          </a:prstGeom>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96EBC228-FF81-F24F-AEB8-9068AF825BE0}"/>
                  </a:ext>
                </a:extLst>
              </p:cNvPr>
              <p:cNvSpPr/>
              <p:nvPr/>
            </p:nvSpPr>
            <p:spPr>
              <a:xfrm>
                <a:off x="580766" y="2063578"/>
                <a:ext cx="11380573" cy="3731534"/>
              </a:xfrm>
              <a:prstGeom prst="rect">
                <a:avLst/>
              </a:prstGeom>
            </p:spPr>
            <p:txBody>
              <a:bodyPr wrap="square">
                <a:spAutoFit/>
              </a:bodyPr>
              <a:lstStyle/>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One set of tick marks has already been drawn to show the result of multiplying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128</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32</m:t>
                    </m:r>
                  </m:oMath>
                </a14:m>
                <a:r>
                  <a:rPr lang="en-US" sz="2000" dirty="0">
                    <a:latin typeface="Verdana" panose="020B0604030504040204" pitchFamily="34" charset="0"/>
                    <a:ea typeface="Verdana" panose="020B0604030504040204" pitchFamily="34" charset="0"/>
                    <a:cs typeface="Verdana" panose="020B0604030504040204" pitchFamily="34" charset="0"/>
                  </a:rPr>
                  <a:t> each by </a:t>
                </a:r>
                <a14:m>
                  <m:oMath xmlns:m="http://schemas.openxmlformats.org/officeDocument/2006/math">
                    <m:f>
                      <m:fPr>
                        <m:ctrlPr>
                          <a:rPr lang="en-US" sz="2000" i="1">
                            <a:latin typeface="Cambria Math"/>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Label the amount of memory and the cost for these tick marks.</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indent="-396875"/>
                <a:r>
                  <a:rPr lang="en-US" sz="2000" dirty="0">
                    <a:latin typeface="Verdana" panose="020B0604030504040204" pitchFamily="34" charset="0"/>
                    <a:ea typeface="Verdana" panose="020B0604030504040204" pitchFamily="34" charset="0"/>
                    <a:cs typeface="Verdana" panose="020B0604030504040204" pitchFamily="34" charset="0"/>
                  </a:rPr>
                  <a:t>2. Next, keep multiplying by </a:t>
                </a:r>
                <a14:m>
                  <m:oMath xmlns:m="http://schemas.openxmlformats.org/officeDocument/2006/math">
                    <m:f>
                      <m:fPr>
                        <m:ctrlPr>
                          <a:rPr lang="en-US" sz="2000" i="1">
                            <a:latin typeface="Cambria Math"/>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and drawing and labeling new tick marks until you can no longer clearly label each new tick mark with a number.</a:t>
                </a:r>
              </a:p>
              <a:p>
                <a:pPr marL="463550" indent="-396875"/>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indent="-396875"/>
                <a:r>
                  <a:rPr lang="en-US" sz="2000" dirty="0">
                    <a:latin typeface="Verdana" panose="020B0604030504040204" pitchFamily="34" charset="0"/>
                    <a:ea typeface="Verdana" panose="020B0604030504040204" pitchFamily="34" charset="0"/>
                    <a:cs typeface="Verdana" panose="020B0604030504040204" pitchFamily="34" charset="0"/>
                  </a:rPr>
                  <a:t>3. Discuss with your partner whether or not it’s possible to clearly represent the cost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GB of memory on the double number line diagram. </a:t>
                </a:r>
              </a:p>
              <a:p>
                <a:pPr marL="463550" indent="-396875"/>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indent="-396875"/>
                <a:r>
                  <a:rPr lang="en-US" sz="2000" dirty="0">
                    <a:latin typeface="Verdana" panose="020B0604030504040204" pitchFamily="34" charset="0"/>
                    <a:ea typeface="Verdana" panose="020B0604030504040204" pitchFamily="34" charset="0"/>
                    <a:cs typeface="Verdana" panose="020B0604030504040204" pitchFamily="34" charset="0"/>
                  </a:rPr>
                  <a:t>4. If it is possible, circle the cost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GB of memory on the double line diagram. If it is not possible, explain why not.</a:t>
                </a:r>
              </a:p>
            </p:txBody>
          </p:sp>
        </mc:Choice>
        <mc:Fallback xmlns="">
          <p:sp>
            <p:nvSpPr>
              <p:cNvPr id="3" name="Rectangle 2">
                <a:extLst>
                  <a:ext uri="{FF2B5EF4-FFF2-40B4-BE49-F238E27FC236}">
                    <a16:creationId xmlns:a16="http://schemas.microsoft.com/office/drawing/2014/main" id="{96EBC228-FF81-F24F-AEB8-9068AF825BE0}"/>
                  </a:ext>
                </a:extLst>
              </p:cNvPr>
              <p:cNvSpPr>
                <a:spLocks noRot="1" noChangeAspect="1" noMove="1" noResize="1" noEditPoints="1" noAdjustHandles="1" noChangeArrowheads="1" noChangeShapeType="1" noTextEdit="1"/>
              </p:cNvSpPr>
              <p:nvPr/>
            </p:nvSpPr>
            <p:spPr>
              <a:xfrm>
                <a:off x="580766" y="2063578"/>
                <a:ext cx="11380573" cy="3731534"/>
              </a:xfrm>
              <a:prstGeom prst="rect">
                <a:avLst/>
              </a:prstGeom>
              <a:blipFill>
                <a:blip r:embed="rId5"/>
                <a:stretch>
                  <a:fillRect t="-1017" r="-1115" b="-2034"/>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994150" y="651209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Tree>
    <p:extLst>
      <p:ext uri="{BB962C8B-B14F-4D97-AF65-F5344CB8AC3E}">
        <p14:creationId xmlns:p14="http://schemas.microsoft.com/office/powerpoint/2010/main" val="15525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569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D32FB2E-EC85-7547-997A-F8CC3AB0EE91}"/>
                  </a:ext>
                </a:extLst>
              </p:cNvPr>
              <p:cNvSpPr/>
              <p:nvPr/>
            </p:nvSpPr>
            <p:spPr>
              <a:xfrm>
                <a:off x="630195" y="308920"/>
                <a:ext cx="10960443" cy="1200329"/>
              </a:xfrm>
              <a:prstGeom prst="rect">
                <a:avLst/>
              </a:prstGeom>
            </p:spPr>
            <p:txBody>
              <a:bodyPr wrap="square">
                <a:spAutoFit/>
              </a:bodyPr>
              <a:lstStyle/>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5. A table representing the same situation is shown. Work with your partner to find the cost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GB. Use as many or few rows as needed.</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2D32FB2E-EC85-7547-997A-F8CC3AB0EE91}"/>
                  </a:ext>
                </a:extLst>
              </p:cNvPr>
              <p:cNvSpPr>
                <a:spLocks noRot="1" noChangeAspect="1" noMove="1" noResize="1" noEditPoints="1" noAdjustHandles="1" noChangeArrowheads="1" noChangeShapeType="1" noTextEdit="1"/>
              </p:cNvSpPr>
              <p:nvPr/>
            </p:nvSpPr>
            <p:spPr>
              <a:xfrm>
                <a:off x="630195" y="308920"/>
                <a:ext cx="10960443" cy="1200329"/>
              </a:xfrm>
              <a:prstGeom prst="rect">
                <a:avLst/>
              </a:prstGeom>
              <a:blipFill>
                <a:blip r:embed="rId4"/>
                <a:stretch>
                  <a:fillRect l="-694" t="-4167" b="-9375"/>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xmlns="" id="{340053DC-9427-6B42-8DF3-0F5C7E7A583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88380" y="1811905"/>
            <a:ext cx="5027910" cy="4223444"/>
          </a:xfrm>
          <a:prstGeom prst="rect">
            <a:avLst/>
          </a:prstGeom>
        </p:spPr>
      </p:pic>
      <p:sp>
        <p:nvSpPr>
          <p:cNvPr id="9" name="Google Shape;282;g104476d1465_1_17">
            <a:extLst>
              <a:ext uri="{FF2B5EF4-FFF2-40B4-BE49-F238E27FC236}">
                <a16:creationId xmlns:a16="http://schemas.microsoft.com/office/drawing/2014/main" xmlns="" id="{FA85A54A-26B4-2547-91B9-E4095EBEEB48}"/>
              </a:ext>
            </a:extLst>
          </p:cNvPr>
          <p:cNvSpPr txBox="1"/>
          <p:nvPr/>
        </p:nvSpPr>
        <p:spPr>
          <a:xfrm>
            <a:off x="8994150" y="64824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Tree>
    <p:extLst>
      <p:ext uri="{BB962C8B-B14F-4D97-AF65-F5344CB8AC3E}">
        <p14:creationId xmlns:p14="http://schemas.microsoft.com/office/powerpoint/2010/main" val="107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70349866-9A2F-9642-8136-D99DA46E15A8}"/>
                  </a:ext>
                </a:extLst>
              </p:cNvPr>
              <p:cNvSpPr/>
              <p:nvPr/>
            </p:nvSpPr>
            <p:spPr>
              <a:xfrm>
                <a:off x="827903" y="887812"/>
                <a:ext cx="11170508" cy="4154984"/>
              </a:xfrm>
              <a:prstGeom prst="rect">
                <a:avLst/>
              </a:prstGeom>
            </p:spPr>
            <p:txBody>
              <a:bodyPr wrap="square">
                <a:spAutoFit/>
              </a:bodyPr>
              <a:lstStyle/>
              <a:p>
                <a:pPr marL="407988" indent="-407988"/>
                <a:r>
                  <a:rPr lang="en-US" sz="2400" dirty="0">
                    <a:latin typeface="Verdana" panose="020B0604030504040204" pitchFamily="34" charset="0"/>
                    <a:ea typeface="Times New Roman" panose="02020603050405020304" pitchFamily="18" charset="0"/>
                    <a:cs typeface="Times New Roman" panose="02020603050405020304" pitchFamily="18" charset="0"/>
                  </a:rPr>
                  <a:t>6. Explain your steps for determining the cost per gigabyte using the table.</a:t>
                </a:r>
              </a:p>
              <a:p>
                <a:pPr marL="407988" indent="-407988"/>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407988"/>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407988"/>
                <a:r>
                  <a:rPr lang="en-US" sz="2400" dirty="0">
                    <a:latin typeface="Verdana" panose="020B0604030504040204" pitchFamily="34" charset="0"/>
                    <a:ea typeface="Times New Roman" panose="02020603050405020304" pitchFamily="18" charset="0"/>
                    <a:cs typeface="Times New Roman" panose="02020603050405020304" pitchFamily="18" charset="0"/>
                  </a:rPr>
                  <a:t>7. Use either the double line diagram or the ratio table to determine the cost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512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GB of portable computer memory at this rate.</a:t>
                </a:r>
              </a:p>
              <a:p>
                <a:pPr marL="407988" indent="-407988"/>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407988"/>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407988"/>
                <a:r>
                  <a:rPr lang="en-US" sz="2400" dirty="0">
                    <a:latin typeface="Verdana" panose="020B0604030504040204" pitchFamily="34" charset="0"/>
                    <a:ea typeface="Times New Roman" panose="02020603050405020304" pitchFamily="18" charset="0"/>
                    <a:cs typeface="Times New Roman" panose="02020603050405020304" pitchFamily="18" charset="0"/>
                  </a:rPr>
                  <a:t>8. Discuss with your partner which representation of the equivalent ratios you preferred using to find the costs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GB and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512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GB. Summarize your discussion.</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70349866-9A2F-9642-8136-D99DA46E15A8}"/>
                  </a:ext>
                </a:extLst>
              </p:cNvPr>
              <p:cNvSpPr>
                <a:spLocks noRot="1" noChangeAspect="1" noMove="1" noResize="1" noEditPoints="1" noAdjustHandles="1" noChangeArrowheads="1" noChangeShapeType="1" noTextEdit="1"/>
              </p:cNvSpPr>
              <p:nvPr/>
            </p:nvSpPr>
            <p:spPr>
              <a:xfrm>
                <a:off x="827903" y="887812"/>
                <a:ext cx="11170508" cy="4154984"/>
              </a:xfrm>
              <a:prstGeom prst="rect">
                <a:avLst/>
              </a:prstGeom>
              <a:blipFill>
                <a:blip r:embed="rId4"/>
                <a:stretch>
                  <a:fillRect l="-909" t="-1223" b="-2446"/>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xmlns="" id="{A34F9F60-8804-674C-94FA-55DB31DBB9AB}"/>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Tree>
    <p:extLst>
      <p:ext uri="{BB962C8B-B14F-4D97-AF65-F5344CB8AC3E}">
        <p14:creationId xmlns:p14="http://schemas.microsoft.com/office/powerpoint/2010/main" val="3571072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377"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68394"/>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xmlns="" id="{43D81465-F90D-ED49-A793-17F3BBBD2702}"/>
              </a:ext>
            </a:extLst>
          </p:cNvPr>
          <p:cNvGrpSpPr/>
          <p:nvPr/>
        </p:nvGrpSpPr>
        <p:grpSpPr>
          <a:xfrm>
            <a:off x="2771775" y="308293"/>
            <a:ext cx="6648450" cy="1395095"/>
            <a:chOff x="2021775" y="3082366"/>
            <a:chExt cx="6648450" cy="1395268"/>
          </a:xfrm>
        </p:grpSpPr>
        <p:grpSp>
          <p:nvGrpSpPr>
            <p:cNvPr id="7" name="Group 6">
              <a:extLst>
                <a:ext uri="{FF2B5EF4-FFF2-40B4-BE49-F238E27FC236}">
                  <a16:creationId xmlns:a16="http://schemas.microsoft.com/office/drawing/2014/main" xmlns="" id="{0F0C044F-D9E8-0640-B7F1-8113B4CC4986}"/>
                </a:ext>
              </a:extLst>
            </p:cNvPr>
            <p:cNvGrpSpPr/>
            <p:nvPr/>
          </p:nvGrpSpPr>
          <p:grpSpPr>
            <a:xfrm>
              <a:off x="2021775" y="3082366"/>
              <a:ext cx="6648450" cy="1395268"/>
              <a:chOff x="0" y="0"/>
              <a:chExt cx="6648450" cy="1395268"/>
            </a:xfrm>
          </p:grpSpPr>
          <p:sp>
            <p:nvSpPr>
              <p:cNvPr id="8" name="Rectangle 7">
                <a:extLst>
                  <a:ext uri="{FF2B5EF4-FFF2-40B4-BE49-F238E27FC236}">
                    <a16:creationId xmlns:a16="http://schemas.microsoft.com/office/drawing/2014/main" xmlns="" id="{28D7391C-8811-744E-9FB7-93836F9811D8}"/>
                  </a:ext>
                </a:extLst>
              </p:cNvPr>
              <p:cNvSpPr/>
              <p:nvPr/>
            </p:nvSpPr>
            <p:spPr>
              <a:xfrm>
                <a:off x="0" y="0"/>
                <a:ext cx="6648450" cy="139525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9" name="Rounded Rectangle 8">
                <a:extLst>
                  <a:ext uri="{FF2B5EF4-FFF2-40B4-BE49-F238E27FC236}">
                    <a16:creationId xmlns:a16="http://schemas.microsoft.com/office/drawing/2014/main" xmlns="" id="{AB75013B-95DB-9143-B421-11A05EF9713C}"/>
                  </a:ext>
                </a:extLst>
              </p:cNvPr>
              <p:cNvSpPr/>
              <p:nvPr/>
            </p:nvSpPr>
            <p:spPr>
              <a:xfrm>
                <a:off x="0" y="0"/>
                <a:ext cx="6648450" cy="1395268"/>
              </a:xfrm>
              <a:prstGeom prst="roundRect">
                <a:avLst>
                  <a:gd name="adj" fmla="val 16667"/>
                </a:avLst>
              </a:prstGeom>
              <a:solidFill>
                <a:srgbClr val="F7D1D5"/>
              </a:solidFill>
              <a:ln>
                <a:noFill/>
              </a:ln>
              <a:effectLst>
                <a:outerShdw blurRad="50800" dist="38100" dir="2700000" algn="tl" rotWithShape="0">
                  <a:prstClr val="black">
                    <a:alpha val="40000"/>
                  </a:prstClr>
                </a:outerShdw>
              </a:effectLst>
            </p:spPr>
            <p:txBody>
              <a:bodyPr spcFirstLastPara="1" wrap="square" lIns="91425" tIns="45700" rIns="91425" bIns="45700" anchor="t" anchorCtr="0">
                <a:noAutofit/>
              </a:bodyPr>
              <a:lstStyle/>
              <a:p>
                <a:pPr marL="575945"/>
                <a:r>
                  <a:rPr lang="en-US" sz="1800" dirty="0">
                    <a:solidFill>
                      <a:srgbClr val="E04F5F"/>
                    </a:solidFill>
                    <a:latin typeface="Verdana" panose="020B0604030504040204" pitchFamily="34" charset="0"/>
                    <a:ea typeface="Verdana" panose="020B0604030504040204" pitchFamily="34" charset="0"/>
                    <a:cs typeface="Verdana" panose="020B0604030504040204" pitchFamily="34" charset="0"/>
                  </a:rPr>
                  <a:t>The IBM 7094 was regarded as one of the most powerful advanced mainframe computers in the early 1960s. NASA and the Air Force used it in the Gemini and Apollo space programs.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742950" indent="222885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p>
              <a:p>
                <a:pPr marL="742950" indent="222885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p>
            </p:txBody>
          </p:sp>
          <p:pic>
            <p:nvPicPr>
              <p:cNvPr id="10" name="Shape 18" descr="A picture containing icon&#10;&#10;Description automatically generated">
                <a:extLst>
                  <a:ext uri="{FF2B5EF4-FFF2-40B4-BE49-F238E27FC236}">
                    <a16:creationId xmlns:a16="http://schemas.microsoft.com/office/drawing/2014/main" xmlns="" id="{887617D8-153E-B340-8AA2-009EAB37CE83}"/>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90723" y="86957"/>
                <a:ext cx="539750" cy="539750"/>
              </a:xfrm>
              <a:prstGeom prst="rect">
                <a:avLst/>
              </a:prstGeom>
              <a:noFill/>
              <a:ln>
                <a:noFill/>
              </a:ln>
              <a:effectLst>
                <a:outerShdw blurRad="50800" dist="38100" dir="2700000" algn="tl" rotWithShape="0">
                  <a:prstClr val="black">
                    <a:alpha val="40000"/>
                  </a:prstClr>
                </a:outerShdw>
              </a:effectLst>
            </p:spPr>
          </p:pic>
        </p:grpSp>
      </p:grpSp>
      <p:pic>
        <p:nvPicPr>
          <p:cNvPr id="15" name="image47.png">
            <a:extLst>
              <a:ext uri="{FF2B5EF4-FFF2-40B4-BE49-F238E27FC236}">
                <a16:creationId xmlns:a16="http://schemas.microsoft.com/office/drawing/2014/main" xmlns="" id="{46202263-2520-5F4B-9A08-25559F7FCD59}"/>
              </a:ext>
            </a:extLst>
          </p:cNvPr>
          <p:cNvPicPr/>
          <p:nvPr/>
        </p:nvPicPr>
        <p:blipFill>
          <a:blip r:embed="rId5" cstate="screen">
            <a:extLst>
              <a:ext uri="{28A0092B-C50C-407E-A947-70E740481C1C}">
                <a14:useLocalDpi xmlns:a14="http://schemas.microsoft.com/office/drawing/2010/main"/>
              </a:ext>
            </a:extLst>
          </a:blip>
          <a:stretch>
            <a:fillRect/>
          </a:stretch>
        </p:blipFill>
        <p:spPr>
          <a:xfrm>
            <a:off x="6732463" y="2421924"/>
            <a:ext cx="4054985" cy="2303367"/>
          </a:xfrm>
          <a:prstGeom prst="rect">
            <a:avLst/>
          </a:prstGeom>
          <a:ln/>
          <a:effectLst>
            <a:outerShdw blurRad="50800" dist="38100" dir="2700000" algn="tl" rotWithShape="0">
              <a:prstClr val="black">
                <a:alpha val="40000"/>
              </a:prstClr>
            </a:outerShdw>
          </a:effectLst>
        </p:spPr>
      </p:pic>
      <p:pic>
        <p:nvPicPr>
          <p:cNvPr id="16" name="image49.png">
            <a:extLst>
              <a:ext uri="{FF2B5EF4-FFF2-40B4-BE49-F238E27FC236}">
                <a16:creationId xmlns:a16="http://schemas.microsoft.com/office/drawing/2014/main" xmlns="" id="{70436884-9D7D-4448-A04A-4E2160C0129E}"/>
              </a:ext>
            </a:extLst>
          </p:cNvPr>
          <p:cNvPicPr>
            <a:picLocks noChangeAspect="1"/>
          </p:cNvPicPr>
          <p:nvPr/>
        </p:nvPicPr>
        <p:blipFill>
          <a:blip r:embed="rId6"/>
          <a:srcRect/>
          <a:stretch>
            <a:fillRect/>
          </a:stretch>
        </p:blipFill>
        <p:spPr>
          <a:xfrm>
            <a:off x="7944483" y="4865652"/>
            <a:ext cx="1868805" cy="1423670"/>
          </a:xfrm>
          <a:prstGeom prst="rect">
            <a:avLst/>
          </a:prstGeom>
          <a:ln/>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28853ABC-DADE-924D-B06F-31B56BCC7722}"/>
                  </a:ext>
                </a:extLst>
              </p:cNvPr>
              <p:cNvSpPr/>
              <p:nvPr/>
            </p:nvSpPr>
            <p:spPr>
              <a:xfrm>
                <a:off x="597101" y="2250453"/>
                <a:ext cx="5891951" cy="4093428"/>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Despite its large size and historical impact, the IBM 7094 only had a core memory of about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150</m:t>
                    </m:r>
                  </m:oMath>
                </a14:m>
                <a:r>
                  <a:rPr lang="en-US" sz="2000" dirty="0">
                    <a:latin typeface="Verdana" panose="020B0604030504040204" pitchFamily="34" charset="0"/>
                    <a:ea typeface="Verdana" panose="020B0604030504040204" pitchFamily="34" charset="0"/>
                    <a:cs typeface="Verdana" panose="020B0604030504040204" pitchFamily="34" charset="0"/>
                  </a:rPr>
                  <a:t> kilobytes (KB). That’s only enough to manage a few Microsoft Word documents.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Today, you can get a small USB flash drive like the one shown for less than </a:t>
                </a:r>
                <a14:m>
                  <m:oMath xmlns:m="http://schemas.openxmlformats.org/officeDocument/2006/math">
                    <m:r>
                      <a:rPr lang="en-US" sz="2000" i="1">
                        <a:latin typeface="Cambria Math" panose="02040503050406030204" pitchFamily="18"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that can store </a:t>
                </a:r>
                <a14:m>
                  <m:oMath xmlns:m="http://schemas.openxmlformats.org/officeDocument/2006/math">
                    <m:r>
                      <a:rPr lang="en-US" sz="2000" i="1">
                        <a:latin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gigabytes (GB) of memory.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That’s almost </a:t>
                </a:r>
                <a14:m>
                  <m:oMath xmlns:m="http://schemas.openxmlformats.org/officeDocument/2006/math">
                    <m:r>
                      <a:rPr lang="en-US" sz="2000" i="1">
                        <a:latin typeface="Cambria Math" panose="02040503050406030204" pitchFamily="18" charset="0"/>
                      </a:rPr>
                      <m:t>27,000</m:t>
                    </m:r>
                  </m:oMath>
                </a14:m>
                <a:r>
                  <a:rPr lang="en-US" sz="2000" dirty="0">
                    <a:latin typeface="Verdana" panose="020B0604030504040204" pitchFamily="34" charset="0"/>
                    <a:ea typeface="Verdana" panose="020B0604030504040204" pitchFamily="34" charset="0"/>
                    <a:cs typeface="Verdana" panose="020B0604030504040204" pitchFamily="34" charset="0"/>
                  </a:rPr>
                  <a:t> times the memory as the IBM 7094, and you can fit it in your pocket! </a:t>
                </a:r>
              </a:p>
            </p:txBody>
          </p:sp>
        </mc:Choice>
        <mc:Fallback xmlns="">
          <p:sp>
            <p:nvSpPr>
              <p:cNvPr id="4" name="Rectangle 3">
                <a:extLst>
                  <a:ext uri="{FF2B5EF4-FFF2-40B4-BE49-F238E27FC236}">
                    <a16:creationId xmlns:a16="http://schemas.microsoft.com/office/drawing/2014/main" id="{28853ABC-DADE-924D-B06F-31B56BCC7722}"/>
                  </a:ext>
                </a:extLst>
              </p:cNvPr>
              <p:cNvSpPr>
                <a:spLocks noRot="1" noChangeAspect="1" noMove="1" noResize="1" noEditPoints="1" noAdjustHandles="1" noChangeArrowheads="1" noChangeShapeType="1" noTextEdit="1"/>
              </p:cNvSpPr>
              <p:nvPr/>
            </p:nvSpPr>
            <p:spPr>
              <a:xfrm>
                <a:off x="597101" y="2250453"/>
                <a:ext cx="5891951" cy="4093428"/>
              </a:xfrm>
              <a:prstGeom prst="rect">
                <a:avLst/>
              </a:prstGeom>
              <a:blipFill>
                <a:blip r:embed="rId7"/>
                <a:stretch>
                  <a:fillRect l="-1293" t="-929" r="-2586" b="-1548"/>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xmlns="" id="{E025FC87-8EB8-3F4A-835E-2236FC029C15}"/>
              </a:ext>
            </a:extLst>
          </p:cNvPr>
          <p:cNvSpPr txBox="1"/>
          <p:nvPr/>
        </p:nvSpPr>
        <p:spPr>
          <a:xfrm>
            <a:off x="8994150" y="649703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spTree>
    <p:extLst>
      <p:ext uri="{BB962C8B-B14F-4D97-AF65-F5344CB8AC3E}">
        <p14:creationId xmlns:p14="http://schemas.microsoft.com/office/powerpoint/2010/main" val="118580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3113"/>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994150" y="653407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10200" y="-133650"/>
            <a:ext cx="93289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6.6.3 Guided Instruction: Using Two-Column Ratio Tables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43050" y="10892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B2BE9AFC-D858-8947-AE27-3738478587E3}"/>
              </a:ext>
            </a:extLst>
          </p:cNvPr>
          <p:cNvSpPr/>
          <p:nvPr/>
        </p:nvSpPr>
        <p:spPr>
          <a:xfrm>
            <a:off x="729049" y="1383956"/>
            <a:ext cx="10762735" cy="2677656"/>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Both double number lines and tables can be useful tools for finding equivalent ratios, but there is an important distinction between the two representations. On a double number line, the numbers on each line are listed in order.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With a table, ratios can be written in any order. For this reason, sometimes a table is easier to use to solve a problem.</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0888" y="-14403"/>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52422" y="6194421"/>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568411" y="241677"/>
                <a:ext cx="11232292" cy="70788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Lin is paid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$90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hours of work. She used the following table to calculate how much she would be paid at this rate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hours of work.</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568411" y="241677"/>
                <a:ext cx="11232292" cy="707886"/>
              </a:xfrm>
              <a:prstGeom prst="rect">
                <a:avLst/>
              </a:prstGeom>
              <a:blipFill>
                <a:blip r:embed="rId4"/>
                <a:stretch>
                  <a:fillRect l="-564" t="-5357" b="-16071"/>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xmlns="" id="{9615EE34-8472-8A46-A3BC-DEA6971D8052}"/>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6145"/>
          <a:stretch/>
        </p:blipFill>
        <p:spPr>
          <a:xfrm>
            <a:off x="3259220" y="1033998"/>
            <a:ext cx="5224937" cy="2981597"/>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xmlns="" id="{1BEFF465-A5AC-4A43-8947-87EA64985643}"/>
                  </a:ext>
                </a:extLst>
              </p:cNvPr>
              <p:cNvSpPr/>
              <p:nvPr/>
            </p:nvSpPr>
            <p:spPr>
              <a:xfrm>
                <a:off x="716692" y="4100030"/>
                <a:ext cx="10935730" cy="2100570"/>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meaning of the ratio that appears in the second row of the table,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18:1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2. Why was the number </a:t>
                </a:r>
                <a14:m>
                  <m:oMath xmlns:m="http://schemas.openxmlformats.org/officeDocument/2006/math">
                    <m:f>
                      <m:fPr>
                        <m:ctrlPr>
                          <a:rPr lang="en-US" sz="2000" i="1">
                            <a:latin typeface="Cambria Math"/>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5</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used as a factor?</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50838" indent="-350838"/>
                <a:r>
                  <a:rPr lang="en-US" sz="2000" dirty="0">
                    <a:latin typeface="Verdana" panose="020B0604030504040204" pitchFamily="34" charset="0"/>
                    <a:ea typeface="Times New Roman" panose="02020603050405020304" pitchFamily="18" charset="0"/>
                    <a:cs typeface="Times New Roman" panose="02020603050405020304" pitchFamily="18" charset="0"/>
                  </a:rPr>
                  <a:t>3. How else could the values in the second row be determined from the first row?</a:t>
                </a:r>
                <a:r>
                  <a:rPr lang="en-US" sz="2000" dirty="0"/>
                  <a:t> </a:t>
                </a:r>
              </a:p>
            </p:txBody>
          </p:sp>
        </mc:Choice>
        <mc:Fallback xmlns="">
          <p:sp>
            <p:nvSpPr>
              <p:cNvPr id="5" name="Rectangle 4">
                <a:extLst>
                  <a:ext uri="{FF2B5EF4-FFF2-40B4-BE49-F238E27FC236}">
                    <a16:creationId xmlns:a16="http://schemas.microsoft.com/office/drawing/2014/main" id="{1BEFF465-A5AC-4A43-8947-87EA64985643}"/>
                  </a:ext>
                </a:extLst>
              </p:cNvPr>
              <p:cNvSpPr>
                <a:spLocks noRot="1" noChangeAspect="1" noMove="1" noResize="1" noEditPoints="1" noAdjustHandles="1" noChangeArrowheads="1" noChangeShapeType="1" noTextEdit="1"/>
              </p:cNvSpPr>
              <p:nvPr/>
            </p:nvSpPr>
            <p:spPr>
              <a:xfrm>
                <a:off x="716692" y="4100030"/>
                <a:ext cx="10935730" cy="2100570"/>
              </a:xfrm>
              <a:prstGeom prst="rect">
                <a:avLst/>
              </a:prstGeom>
              <a:blipFill>
                <a:blip r:embed="rId6"/>
                <a:stretch>
                  <a:fillRect l="-580" t="-1807" b="-2410"/>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9018422" y="652305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spTree>
    <p:extLst>
      <p:ext uri="{BB962C8B-B14F-4D97-AF65-F5344CB8AC3E}">
        <p14:creationId xmlns:p14="http://schemas.microsoft.com/office/powerpoint/2010/main" val="1617750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3333"/>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704335" y="469557"/>
                <a:ext cx="10750379" cy="5189838"/>
              </a:xfrm>
              <a:prstGeom prst="rect">
                <a:avLst/>
              </a:prstGeom>
            </p:spPr>
            <p:txBody>
              <a:bodyPr wrap="square">
                <a:spAutoFit/>
              </a:bodyPr>
              <a:lstStyle/>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4. Complete the statements to explain how Lin used this table to solve the problem.</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Lin used equivalent ratios to solve the problem. Lin first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determined the rate for                 of work by multiplying each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value in the given ratio by </a:t>
                </a:r>
                <a14:m>
                  <m:oMath xmlns:m="http://schemas.openxmlformats.org/officeDocument/2006/math">
                    <m:f>
                      <m:fPr>
                        <m:ctrlPr>
                          <a:rPr lang="en-US" sz="2000" i="1">
                            <a:latin typeface="Cambria Math"/>
                          </a:rPr>
                        </m:ctrlPr>
                      </m:fPr>
                      <m:num>
                        <m:r>
                          <a:rPr lang="en-US" sz="2000" i="1">
                            <a:latin typeface="Cambria Math" panose="02040503050406030204" pitchFamily="18" charset="0"/>
                          </a:rPr>
                          <m:t>1</m:t>
                        </m:r>
                      </m:num>
                      <m:den>
                        <m:r>
                          <a:rPr lang="en-US" sz="2000" i="1">
                            <a:latin typeface="Cambria Math" panose="02040503050406030204" pitchFamily="18"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She then used that unit rate to find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how much she would be paid for </a:t>
                </a:r>
                <a14:m>
                  <m:oMath xmlns:m="http://schemas.openxmlformats.org/officeDocument/2006/math">
                    <m:r>
                      <a:rPr lang="en-US" sz="2000" i="1">
                        <a:latin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hours by ____________.</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5. At this rate, how much would Lin be paid for </a:t>
                </a:r>
                <a14:m>
                  <m:oMath xmlns:m="http://schemas.openxmlformats.org/officeDocument/2006/math">
                    <m:r>
                      <a:rPr lang="en-US" sz="2000" i="1">
                        <a:latin typeface="Cambria Math" panose="02040503050406030204" pitchFamily="18" charset="0"/>
                      </a:rPr>
                      <m:t>2.25</m:t>
                    </m:r>
                  </m:oMath>
                </a14:m>
                <a:r>
                  <a:rPr lang="en-US" sz="2000" dirty="0">
                    <a:latin typeface="Verdana" panose="020B0604030504040204" pitchFamily="34" charset="0"/>
                    <a:ea typeface="Verdana" panose="020B0604030504040204" pitchFamily="34" charset="0"/>
                    <a:cs typeface="Verdana" panose="020B0604030504040204" pitchFamily="34" charset="0"/>
                  </a:rPr>
                  <a:t> hours of work?</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704335" y="469557"/>
                <a:ext cx="10750379" cy="5189838"/>
              </a:xfrm>
              <a:prstGeom prst="rect">
                <a:avLst/>
              </a:prstGeom>
              <a:blipFill>
                <a:blip r:embed="rId4"/>
                <a:stretch>
                  <a:fillRect l="-590" t="-488" b="-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xmlns="" id="{E6E66788-2C76-BD49-9DC7-15854A0E4248}"/>
                  </a:ext>
                </a:extLst>
              </p:cNvPr>
              <p:cNvSpPr/>
              <p:nvPr/>
            </p:nvSpPr>
            <p:spPr>
              <a:xfrm>
                <a:off x="3847050" y="2032601"/>
                <a:ext cx="1438910" cy="1031875"/>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28600" indent="-228600"/>
                <a14:m>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18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hour</a:t>
                </a:r>
                <a:endParaRPr lang="en-US" sz="1200" dirty="0">
                  <a:ea typeface="Times New Roman" panose="02020603050405020304" pitchFamily="18" charset="0"/>
                  <a:cs typeface="Times New Roman" panose="02020603050405020304" pitchFamily="18" charset="0"/>
                </a:endParaRPr>
              </a:p>
              <a:p>
                <a:pPr marL="228600" indent="-228600"/>
                <a14:m>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18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hours</a:t>
                </a:r>
                <a:endParaRPr lang="en-US" sz="1200" dirty="0">
                  <a:ea typeface="Times New Roman" panose="02020603050405020304" pitchFamily="18" charset="0"/>
                  <a:cs typeface="Times New Roman" panose="02020603050405020304" pitchFamily="18" charset="0"/>
                </a:endParaRPr>
              </a:p>
              <a:p>
                <a:pPr marL="228600" indent="-228600">
                  <a:spcAft>
                    <a:spcPts val="1000"/>
                  </a:spcAft>
                </a:pPr>
                <a14:m>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18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hours</a:t>
                </a:r>
                <a:endParaRPr lang="en-US" sz="1200" dirty="0">
                  <a:ea typeface="Times New Roman" panose="02020603050405020304" pitchFamily="18" charset="0"/>
                  <a:cs typeface="Times New Roman" panose="02020603050405020304" pitchFamily="18" charset="0"/>
                </a:endParaRPr>
              </a:p>
            </p:txBody>
          </p:sp>
        </mc:Choice>
        <mc:Fallback xmlns="">
          <p:sp>
            <p:nvSpPr>
              <p:cNvPr id="16" name="Rounded Rectangle 15">
                <a:extLst>
                  <a:ext uri="{FF2B5EF4-FFF2-40B4-BE49-F238E27FC236}">
                    <a16:creationId xmlns:a16="http://schemas.microsoft.com/office/drawing/2014/main" id="{E6E66788-2C76-BD49-9DC7-15854A0E4248}"/>
                  </a:ext>
                </a:extLst>
              </p:cNvPr>
              <p:cNvSpPr>
                <a:spLocks noRot="1" noChangeAspect="1" noMove="1" noResize="1" noEditPoints="1" noAdjustHandles="1" noChangeArrowheads="1" noChangeShapeType="1" noTextEdit="1"/>
              </p:cNvSpPr>
              <p:nvPr/>
            </p:nvSpPr>
            <p:spPr>
              <a:xfrm>
                <a:off x="3847050" y="2032601"/>
                <a:ext cx="1438910" cy="1031875"/>
              </a:xfrm>
              <a:prstGeom prst="roundRect">
                <a:avLst/>
              </a:prstGeom>
              <a:blipFill>
                <a:blip r:embed="rId5"/>
                <a:stretch>
                  <a:fillRect b="-3614"/>
                </a:stretch>
              </a:blipFill>
              <a:ln>
                <a:solidFill>
                  <a:schemeClr val="tx1"/>
                </a:solidFill>
              </a:ln>
              <a:effectLst/>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994150" y="653664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p:spTree>
    <p:extLst>
      <p:ext uri="{BB962C8B-B14F-4D97-AF65-F5344CB8AC3E}">
        <p14:creationId xmlns:p14="http://schemas.microsoft.com/office/powerpoint/2010/main" val="2506837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xmlns="" id="{E5B015B1-FBD0-8E43-9A2E-5A1474505758}"/>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7764"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5620" y="621627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91372" y="-14677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6.6.4 Guided Practice: Using Two-Column Ratio Tables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23500" y="14117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84678E3-B391-614C-B449-94320C557524}"/>
                  </a:ext>
                </a:extLst>
              </p:cNvPr>
              <p:cNvSpPr/>
              <p:nvPr/>
            </p:nvSpPr>
            <p:spPr>
              <a:xfrm>
                <a:off x="741405" y="1396314"/>
                <a:ext cx="10552671" cy="1451872"/>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Rosalie runs </a:t>
                </a:r>
                <a14:m>
                  <m:oMath xmlns:m="http://schemas.openxmlformats.org/officeDocument/2006/math">
                    <m:f>
                      <m:fPr>
                        <m:ctrlPr>
                          <a:rPr lang="en-US" sz="2000" i="1">
                            <a:latin typeface="Cambria Math"/>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a mile in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minutes. As part of her marathon training, her goal today is to run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miles at this rate. Use the table to determine how long it will take her to run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miles at this rate. Show how the values in each row are determined using arrows and multiplication.</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741405" y="1396314"/>
                <a:ext cx="10552671" cy="1451872"/>
              </a:xfrm>
              <a:prstGeom prst="rect">
                <a:avLst/>
              </a:prstGeom>
              <a:blipFill>
                <a:blip r:embed="rId5"/>
                <a:stretch>
                  <a:fillRect l="-601" r="-1322" b="-6034"/>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xmlns="" id="{1D9ED06E-A49D-DA42-B0AB-6A7A279BBA4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804603" y="3259343"/>
            <a:ext cx="4582795" cy="3198332"/>
          </a:xfrm>
          <a:prstGeom prst="rect">
            <a:avLst/>
          </a:prstGeom>
        </p:spPr>
      </p:pic>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981620" y="64733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xmlns="" id="{51DCB9D4-64AC-E448-A076-AB6B662D6AE3}"/>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523708" y="603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6.6.5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499804" y="603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605481" y="1160527"/>
                <a:ext cx="10997514" cy="1938992"/>
              </a:xfrm>
              <a:prstGeom prst="rect">
                <a:avLst/>
              </a:prstGeom>
            </p:spPr>
            <p:txBody>
              <a:bodyPr wrap="square">
                <a:spAutoFit/>
              </a:bodyPr>
              <a:lstStyle/>
              <a:p>
                <a:pPr marL="407988" indent="-396875">
                  <a:buSzPts val="1800"/>
                </a:pPr>
                <a:r>
                  <a:rPr lang="en-US" sz="2000" dirty="0">
                    <a:latin typeface="Verdana" panose="020B0604030504040204" pitchFamily="34" charset="0"/>
                    <a:ea typeface="Verdana" panose="020B0604030504040204" pitchFamily="34" charset="0"/>
                    <a:cs typeface="Verdana" panose="020B0604030504040204" pitchFamily="34" charset="0"/>
                  </a:rPr>
                  <a:t>1. The International Space Station (ISS) orbits around the Earth at a constant speed.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The ISS completes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orbits around the Earth in approximately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hours. Complete the table to find the approximate number of times the ISS travels around the Earth in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hour and in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day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 hours).</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605481" y="1160527"/>
                <a:ext cx="10997514" cy="1938992"/>
              </a:xfrm>
              <a:prstGeom prst="rect">
                <a:avLst/>
              </a:prstGeom>
              <a:blipFill>
                <a:blip r:embed="rId5"/>
                <a:stretch>
                  <a:fillRect l="-461" t="-1961" r="-1269" b="-5229"/>
                </a:stretch>
              </a:blipFill>
            </p:spPr>
            <p:txBody>
              <a:bodyPr/>
              <a:lstStyle/>
              <a:p>
                <a:r>
                  <a:rPr lang="en-US">
                    <a:noFill/>
                  </a:rPr>
                  <a:t> </a:t>
                </a:r>
              </a:p>
            </p:txBody>
          </p:sp>
        </mc:Fallback>
      </mc:AlternateContent>
      <p:pic>
        <p:nvPicPr>
          <p:cNvPr id="10" name="Picture 9" descr="A picture containing satellite, transport&#10;&#10;Description automatically generated">
            <a:extLst>
              <a:ext uri="{FF2B5EF4-FFF2-40B4-BE49-F238E27FC236}">
                <a16:creationId xmlns:a16="http://schemas.microsoft.com/office/drawing/2014/main" xmlns="" id="{FE3AAA6B-1D2A-174F-B448-C891F379DEA3}"/>
              </a:ext>
            </a:extLst>
          </p:cNvPr>
          <p:cNvPicPr>
            <a:picLocks noChangeAspect="1"/>
          </p:cNvPicPr>
          <p:nvPr/>
        </p:nvPicPr>
        <p:blipFill>
          <a:blip r:embed="rId6">
            <a:extLst>
              <a:ext uri="{28A0092B-C50C-407E-A947-70E740481C1C}">
                <a14:useLocalDpi xmlns:a14="http://schemas.microsoft.com/office/drawing/2010/main"/>
              </a:ext>
            </a:extLst>
          </a:blip>
          <a:srcRect/>
          <a:stretch>
            <a:fillRect/>
          </a:stretch>
        </p:blipFill>
        <p:spPr bwMode="auto">
          <a:xfrm>
            <a:off x="7125094" y="3424825"/>
            <a:ext cx="3414056" cy="2272648"/>
          </a:xfrm>
          <a:prstGeom prst="rect">
            <a:avLst/>
          </a:prstGeom>
          <a:noFill/>
          <a:ln>
            <a:noFill/>
          </a:ln>
          <a:effectLst>
            <a:outerShdw blurRad="50800" dist="38100" dir="2700000" algn="tl" rotWithShape="0">
              <a:prstClr val="black">
                <a:alpha val="40000"/>
              </a:prstClr>
            </a:outerShdw>
          </a:effectLst>
        </p:spPr>
      </p:pic>
      <p:pic>
        <p:nvPicPr>
          <p:cNvPr id="4" name="Picture 3" descr="Table&#10;&#10;Description automatically generated">
            <a:extLst>
              <a:ext uri="{FF2B5EF4-FFF2-40B4-BE49-F238E27FC236}">
                <a16:creationId xmlns:a16="http://schemas.microsoft.com/office/drawing/2014/main" xmlns="" id="{B6FED821-197D-2D47-B671-3535E17D882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866900" y="3875080"/>
            <a:ext cx="5057058" cy="1211271"/>
          </a:xfrm>
          <a:prstGeom prst="rect">
            <a:avLst/>
          </a:prstGeom>
        </p:spPr>
      </p:pic>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3373"/>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506627" y="345989"/>
                <a:ext cx="11281719" cy="1323439"/>
              </a:xfrm>
              <a:prstGeom prst="rect">
                <a:avLst/>
              </a:prstGeom>
            </p:spPr>
            <p:txBody>
              <a:bodyPr wrap="square">
                <a:spAutoFit/>
              </a:bodyPr>
              <a:lstStyle/>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2. </a:t>
                </a:r>
                <a:r>
                  <a:rPr lang="en-US" sz="2000" dirty="0">
                    <a:latin typeface="Verdana" panose="020B0604030504040204" pitchFamily="34" charset="0"/>
                    <a:ea typeface="Verdana" panose="020B0604030504040204" pitchFamily="34" charset="0"/>
                    <a:cs typeface="Verdana" panose="020B0604030504040204" pitchFamily="34" charset="0"/>
                  </a:rPr>
                  <a:t>At a local natural food store, customers can measure and purchase foods in any quantity. Patricia purchased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almonds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$38.48</m:t>
                    </m:r>
                  </m:oMath>
                </a14:m>
                <a:r>
                  <a:rPr lang="en-US" sz="2000" dirty="0">
                    <a:latin typeface="Verdana" panose="020B0604030504040204" pitchFamily="34" charset="0"/>
                    <a:ea typeface="Verdana" panose="020B0604030504040204" pitchFamily="34" charset="0"/>
                    <a:cs typeface="Verdana" panose="020B0604030504040204" pitchFamily="34" charset="0"/>
                  </a:rPr>
                  <a:t>. Greg only needs to purchase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almonds. Use the table to determine the cost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1.5 </m:t>
                    </m:r>
                  </m:oMath>
                </a14:m>
                <a:r>
                  <a:rPr lang="en-US" sz="2000" dirty="0">
                    <a:latin typeface="Verdana" panose="020B0604030504040204" pitchFamily="34" charset="0"/>
                    <a:ea typeface="Verdana" panose="020B0604030504040204" pitchFamily="34" charset="0"/>
                    <a:cs typeface="Verdana" panose="020B0604030504040204" pitchFamily="34" charset="0"/>
                  </a:rPr>
                  <a:t>pounds of almonds at the natural food store.</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506627" y="345989"/>
                <a:ext cx="11281719" cy="1323439"/>
              </a:xfrm>
              <a:prstGeom prst="rect">
                <a:avLst/>
              </a:prstGeom>
              <a:blipFill>
                <a:blip r:embed="rId4"/>
                <a:stretch>
                  <a:fillRect l="-449" t="-2857" r="-337" b="-7619"/>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xmlns="" id="{C2184020-5A20-5A40-A2A8-8917BF88304E}"/>
              </a:ext>
            </a:extLst>
          </p:cNvPr>
          <p:cNvPicPr>
            <a:picLocks noChangeAspect="1"/>
          </p:cNvPicPr>
          <p:nvPr/>
        </p:nvPicPr>
        <p:blipFill>
          <a:blip r:embed="rId5"/>
          <a:stretch>
            <a:fillRect/>
          </a:stretch>
        </p:blipFill>
        <p:spPr>
          <a:xfrm>
            <a:off x="3308350" y="2345250"/>
            <a:ext cx="5575300" cy="3162300"/>
          </a:xfrm>
          <a:prstGeom prst="rect">
            <a:avLst/>
          </a:prstGeom>
        </p:spPr>
      </p:pic>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994150" y="644044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Tree>
    <p:extLst>
      <p:ext uri="{BB962C8B-B14F-4D97-AF65-F5344CB8AC3E}">
        <p14:creationId xmlns:p14="http://schemas.microsoft.com/office/powerpoint/2010/main" val="252435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61"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92349" y="-18544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6.6.6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84555" y="10375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50A85065-1747-6C4E-8BA4-9C1ED8A185A6}"/>
                  </a:ext>
                </a:extLst>
              </p:cNvPr>
              <p:cNvSpPr/>
              <p:nvPr/>
            </p:nvSpPr>
            <p:spPr>
              <a:xfrm>
                <a:off x="593123" y="1328754"/>
                <a:ext cx="11084011" cy="1631216"/>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Julio participated in a walk-a-thon to raise money for cancer research. Walking at a constant speed, Julio traveled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6.4</m:t>
                    </m:r>
                  </m:oMath>
                </a14:m>
                <a:r>
                  <a:rPr lang="en-US" sz="2000" dirty="0">
                    <a:latin typeface="Verdana" panose="020B0604030504040204" pitchFamily="34" charset="0"/>
                    <a:ea typeface="Verdana" panose="020B0604030504040204" pitchFamily="34" charset="0"/>
                    <a:cs typeface="Verdana" panose="020B0604030504040204" pitchFamily="34" charset="0"/>
                  </a:rPr>
                  <a:t> miles in the first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hours of the walk-a-thon. His goal is to walk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 hours. Use the table to find how far Julio will have walked if he reaches his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-hour goal. Show how the values in each row are determined.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Rectangle 1">
                <a:extLst>
                  <a:ext uri="{FF2B5EF4-FFF2-40B4-BE49-F238E27FC236}">
                    <a16:creationId xmlns:a16="http://schemas.microsoft.com/office/drawing/2014/main" id="{50A85065-1747-6C4E-8BA4-9C1ED8A185A6}"/>
                  </a:ext>
                </a:extLst>
              </p:cNvPr>
              <p:cNvSpPr>
                <a:spLocks noRot="1" noChangeAspect="1" noMove="1" noResize="1" noEditPoints="1" noAdjustHandles="1" noChangeArrowheads="1" noChangeShapeType="1" noTextEdit="1"/>
              </p:cNvSpPr>
              <p:nvPr/>
            </p:nvSpPr>
            <p:spPr>
              <a:xfrm>
                <a:off x="593123" y="1328754"/>
                <a:ext cx="11084011" cy="1631216"/>
              </a:xfrm>
              <a:prstGeom prst="rect">
                <a:avLst/>
              </a:prstGeom>
              <a:blipFill>
                <a:blip r:embed="rId5"/>
                <a:stretch>
                  <a:fillRect l="-572" t="-2308" r="-572"/>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xmlns="" id="{E3F58FBE-EE62-0042-A1EC-2F94CA497F0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48380" y="3425070"/>
            <a:ext cx="5095240" cy="2844110"/>
          </a:xfrm>
          <a:prstGeom prst="rect">
            <a:avLst/>
          </a:prstGeom>
        </p:spPr>
      </p:pic>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994150" y="649548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1291</TotalTime>
  <Words>1019</Words>
  <Application>Microsoft Office PowerPoint</Application>
  <PresentationFormat>Custom</PresentationFormat>
  <Paragraphs>141</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Times New Roman</vt:lpstr>
      <vt:lpstr>Century Gothic</vt:lpstr>
      <vt:lpstr>Wingdings</vt:lpstr>
      <vt:lpstr>Cambria Math</vt:lpstr>
      <vt:lpstr>Cambria</vt:lpstr>
      <vt:lpstr>Arial Black</vt:lpstr>
      <vt:lpstr>Verdana</vt:lpstr>
      <vt:lpstr>1_Office Theme</vt:lpstr>
      <vt:lpstr>6th Grade Math  Unit 6, Lesson 6  Using Two-Column Tables of Equivalent Ratios  Volume 1, pg. 282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Guided Practice</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19</cp:revision>
  <dcterms:created xsi:type="dcterms:W3CDTF">2015-03-17T18:51:18Z</dcterms:created>
  <dcterms:modified xsi:type="dcterms:W3CDTF">2022-06-05T03:18:15Z</dcterms:modified>
</cp:coreProperties>
</file>