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346" r:id="rId8"/>
    <p:sldId id="311" r:id="rId9"/>
    <p:sldId id="312" r:id="rId10"/>
    <p:sldId id="333" r:id="rId11"/>
    <p:sldId id="345" r:id="rId12"/>
    <p:sldId id="344" r:id="rId13"/>
    <p:sldId id="343" r:id="rId14"/>
    <p:sldId id="323" r:id="rId15"/>
    <p:sldId id="324" r:id="rId16"/>
    <p:sldId id="347" r:id="rId17"/>
    <p:sldId id="289" r:id="rId18"/>
    <p:sldId id="290" r:id="rId19"/>
    <p:sldId id="336" r:id="rId20"/>
    <p:sldId id="337" r:id="rId21"/>
    <p:sldId id="348" r:id="rId22"/>
    <p:sldId id="302" r:id="rId23"/>
    <p:sldId id="303" r:id="rId24"/>
    <p:sldId id="340" r:id="rId25"/>
    <p:sldId id="349" r:id="rId26"/>
    <p:sldId id="306" r:id="rId27"/>
    <p:sldId id="307" r:id="rId28"/>
    <p:sldId id="350" r:id="rId29"/>
  </p:sldIdLst>
  <p:sldSz cx="12192000" cy="6858000"/>
  <p:notesSz cx="6858000" cy="9144000"/>
  <p:embeddedFontLst>
    <p:embeddedFont>
      <p:font typeface="Calibri" pitchFamily="34" charset="0"/>
      <p:regular r:id="rId31"/>
      <p:bold r:id="rId32"/>
      <p:italic r:id="rId33"/>
      <p:boldItalic r:id="rId34"/>
    </p:embeddedFont>
    <p:embeddedFont>
      <p:font typeface="Century Gothic" pitchFamily="34" charset="0"/>
      <p:regular r:id="rId35"/>
      <p:bold r:id="rId36"/>
      <p:italic r:id="rId37"/>
      <p:boldItalic r:id="rId38"/>
    </p:embeddedFont>
    <p:embeddedFont>
      <p:font typeface="Cambria Math" pitchFamily="18" charset="0"/>
      <p:regular r:id="rId39"/>
    </p:embeddedFont>
    <p:embeddedFont>
      <p:font typeface="Cambria" pitchFamily="18" charset="0"/>
      <p:regular r:id="rId40"/>
      <p:bold r:id="rId41"/>
      <p:italic r:id="rId42"/>
      <p:boldItalic r:id="rId43"/>
    </p:embeddedFont>
    <p:embeddedFont>
      <p:font typeface="Arial Black" pitchFamily="34" charset="0"/>
      <p:bold r:id="rId44"/>
    </p:embeddedFont>
    <p:embeddedFont>
      <p:font typeface="Verdana"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BDA6"/>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15"/>
    <p:restoredTop sz="94694"/>
  </p:normalViewPr>
  <p:slideViewPr>
    <p:cSldViewPr snapToGrid="0">
      <p:cViewPr varScale="1">
        <p:scale>
          <a:sx n="78" d="100"/>
          <a:sy n="78" d="100"/>
        </p:scale>
        <p:origin x="-509"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694672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941051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39026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67714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134608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764878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3332417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266415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5962668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2629563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microsoft.com/office/2007/relationships/hdphoto" Target="../media/hdphoto1.wdp"/><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0.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5.pn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3.png"/><Relationship Id="rId7"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0.png"/><Relationship Id="rId10" Type="http://schemas.openxmlformats.org/officeDocument/2006/relationships/image" Target="../media/image48.png"/><Relationship Id="rId4" Type="http://schemas.openxmlformats.org/officeDocument/2006/relationships/image" Target="../media/image10.png"/><Relationship Id="rId9"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51.tiff"/><Relationship Id="rId5" Type="http://schemas.openxmlformats.org/officeDocument/2006/relationships/image" Target="../media/image51.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2</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Using Models to Represent Ratios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262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7" name="Picture 6" descr="Logo&#10;&#10;Description automatically generated">
            <a:extLst>
              <a:ext uri="{FF2B5EF4-FFF2-40B4-BE49-F238E27FC236}">
                <a16:creationId xmlns:a16="http://schemas.microsoft.com/office/drawing/2014/main" xmlns=""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010" y="1588902"/>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047850" y="1604138"/>
                <a:ext cx="1017719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MA.6.AR.3.1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Given a real-world context, write and interpret ratios to show the relative sizes of two quantities using appropriate notation: </a:t>
                </a:r>
                <a14:m>
                  <m:oMath xmlns:m="http://schemas.openxmlformats.org/officeDocument/2006/math">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𝑎</m:t>
                        </m:r>
                      </m:num>
                      <m:den>
                        <m:r>
                          <a:rPr lang="es-ES" sz="2400" i="1" dirty="0">
                            <a:latin typeface="Cambria Math" panose="02040503050406030204" pitchFamily="18" charset="0"/>
                            <a:ea typeface="Verdana" panose="020B0604030504040204" pitchFamily="34" charset="0"/>
                            <a:cs typeface="Verdana" panose="020B0604030504040204" pitchFamily="34" charset="0"/>
                          </a:rPr>
                          <m:t>𝑏</m:t>
                        </m:r>
                      </m:den>
                    </m:f>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𝑎</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𝑏</m:t>
                    </m:r>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𝑎</m:t>
                    </m:r>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𝑏</m:t>
                    </m:r>
                    <m:r>
                      <a:rPr lang="en-US" sz="2400" i="1" dirty="0">
                        <a:latin typeface="Cambria Math" panose="02040503050406030204" pitchFamily="18" charset="0"/>
                        <a:ea typeface="Verdana" panose="020B0604030504040204" pitchFamily="34" charset="0"/>
                        <a:cs typeface="Verdana" panose="020B0604030504040204" pitchFamily="34"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where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𝑏</m:t>
                    </m:r>
                    <m:r>
                      <a:rPr lang="en-US" sz="2400" i="1" dirty="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indent="0">
                  <a:buNone/>
                </a:pPr>
                <a:endParaRPr lang="en-US" dirty="0"/>
              </a:p>
            </p:txBody>
          </p:sp>
        </mc:Choice>
        <mc:Fallback xmlns="">
          <p:sp>
            <p:nvSpPr>
              <p:cNvPr id="8" name="Google Shape;280;g104476d1465_1_17">
                <a:extLst>
                  <a:ext uri="{FF2B5EF4-FFF2-40B4-BE49-F238E27FC236}">
                    <a16:creationId xmlns:a16="http://schemas.microsoft.com/office/drawing/2014/main" id="{527A9F9F-07B8-ED47-B967-E5507C67DBC5}"/>
                  </a:ext>
                </a:extLst>
              </p:cNvPr>
              <p:cNvSpPr txBox="1">
                <a:spLocks noRot="1" noChangeAspect="1" noMove="1" noResize="1" noEditPoints="1" noAdjustHandles="1" noChangeArrowheads="1" noChangeShapeType="1" noTextEdit="1"/>
              </p:cNvSpPr>
              <p:nvPr/>
            </p:nvSpPr>
            <p:spPr>
              <a:xfrm>
                <a:off x="1047850" y="1604138"/>
                <a:ext cx="10177198" cy="4205700"/>
              </a:xfrm>
              <a:prstGeom prst="rect">
                <a:avLst/>
              </a:prstGeom>
              <a:blipFill>
                <a:blip r:embed="rId5"/>
                <a:stretch>
                  <a:fillRect l="-998" r="-1247"/>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200" y="137892"/>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25200" y="1596390"/>
            <a:ext cx="1014189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0565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274413"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1056575" y="1547093"/>
            <a:ext cx="934508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write and interpret ratios.</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represent ratios using various models.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49" y="68550"/>
            <a:ext cx="920544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6.2.1 Warm-Up: Nana’s Chocolate Milk</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05350" y="205710"/>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2216575" y="1386025"/>
            <a:ext cx="8322575" cy="193899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Dan’s Nana prefers her chocolate milk made with just the right “</a:t>
            </a:r>
            <a:r>
              <a:rPr lang="en-US" sz="2400" dirty="0" err="1">
                <a:latin typeface="Verdana" panose="020B0604030504040204" pitchFamily="34" charset="0"/>
                <a:ea typeface="Times New Roman" panose="02020603050405020304" pitchFamily="18" charset="0"/>
                <a:cs typeface="Times New Roman" panose="02020603050405020304" pitchFamily="18" charset="0"/>
              </a:rPr>
              <a:t>chocolateyness</a:t>
            </a:r>
            <a:r>
              <a:rPr lang="en-US" sz="2400" dirty="0">
                <a:latin typeface="Verdana" panose="020B0604030504040204" pitchFamily="34" charset="0"/>
                <a:ea typeface="Times New Roman" panose="02020603050405020304" pitchFamily="18" charset="0"/>
                <a:cs typeface="Times New Roman" panose="02020603050405020304" pitchFamily="18" charset="0"/>
              </a:rPr>
              <a:t>,” but he made a mistake when mixing it for her. The image below shows what Dan should have mixed and what he actually mixed.</a:t>
            </a:r>
          </a:p>
        </p:txBody>
      </p:sp>
      <p:sp>
        <p:nvSpPr>
          <p:cNvPr id="9" name="Google Shape;282;g104476d1465_1_17">
            <a:extLst>
              <a:ext uri="{FF2B5EF4-FFF2-40B4-BE49-F238E27FC236}">
                <a16:creationId xmlns:a16="http://schemas.microsoft.com/office/drawing/2014/main" xmlns="" id="{D28F85A9-92EF-3646-A629-D71AC3FDE345}"/>
              </a:ext>
            </a:extLst>
          </p:cNvPr>
          <p:cNvSpPr txBox="1"/>
          <p:nvPr/>
        </p:nvSpPr>
        <p:spPr>
          <a:xfrm>
            <a:off x="8889924" y="644945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263</a:t>
            </a:r>
            <a:endParaRPr i="1" dirty="0">
              <a:latin typeface="Calibri"/>
              <a:ea typeface="Calibri"/>
              <a:cs typeface="Calibri"/>
              <a:sym typeface="Calibri"/>
            </a:endParaRPr>
          </a:p>
        </p:txBody>
      </p:sp>
      <p:pic>
        <p:nvPicPr>
          <p:cNvPr id="10" name="image9.png" descr="A picture containing beverage, table, cup, food&#10;&#10;Description automatically generated">
            <a:extLst>
              <a:ext uri="{FF2B5EF4-FFF2-40B4-BE49-F238E27FC236}">
                <a16:creationId xmlns:a16="http://schemas.microsoft.com/office/drawing/2014/main" xmlns="" id="{6B477787-0D22-F343-A33E-66E127FF4885}"/>
              </a:ext>
            </a:extLst>
          </p:cNvPr>
          <p:cNvPicPr/>
          <p:nvPr/>
        </p:nvPicPr>
        <p:blipFill>
          <a:blip r:embed="rId5" cstate="screen">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a:ext>
            </a:extLst>
          </a:blip>
          <a:srcRect/>
          <a:stretch>
            <a:fillRect/>
          </a:stretch>
        </p:blipFill>
        <p:spPr>
          <a:xfrm>
            <a:off x="3557588" y="3522170"/>
            <a:ext cx="5076825" cy="2678430"/>
          </a:xfrm>
          <a:prstGeom prst="rect">
            <a:avLst/>
          </a:prstGeom>
          <a:ln/>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767255" y="314462"/>
            <a:ext cx="9567647" cy="3785652"/>
          </a:xfrm>
          <a:prstGeom prst="rect">
            <a:avLst/>
          </a:prstGeom>
        </p:spPr>
        <p:txBody>
          <a:bodyPr wrap="square">
            <a:spAutoFit/>
          </a:bodyPr>
          <a:lstStyle/>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Describe what Dan did wrong.</a:t>
            </a: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How could Dan fix it so that the glass contains Nana’s preferred balance of milk and chocolate?</a:t>
            </a:r>
          </a:p>
        </p:txBody>
      </p:sp>
      <p:sp>
        <p:nvSpPr>
          <p:cNvPr id="9" name="Google Shape;282;g104476d1465_1_17">
            <a:extLst>
              <a:ext uri="{FF2B5EF4-FFF2-40B4-BE49-F238E27FC236}">
                <a16:creationId xmlns:a16="http://schemas.microsoft.com/office/drawing/2014/main" xmlns="" id="{D28F85A9-92EF-3646-A629-D71AC3FDE345}"/>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263</a:t>
            </a:r>
            <a:endParaRPr i="1" dirty="0">
              <a:latin typeface="Calibri"/>
              <a:ea typeface="Calibri"/>
              <a:cs typeface="Calibri"/>
              <a:sym typeface="Calibri"/>
            </a:endParaRPr>
          </a:p>
        </p:txBody>
      </p:sp>
    </p:spTree>
    <p:extLst>
      <p:ext uri="{BB962C8B-B14F-4D97-AF65-F5344CB8AC3E}">
        <p14:creationId xmlns:p14="http://schemas.microsoft.com/office/powerpoint/2010/main" val="452440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770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263</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182"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0968"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29322"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6.2.2 Exploration: Using Double Line Diagrams to Represent Ratios</a:t>
            </a: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5874"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B05AB5A2-AF35-B14C-AE54-D2A0628C823C}"/>
              </a:ext>
            </a:extLst>
          </p:cNvPr>
          <p:cNvSpPr/>
          <p:nvPr/>
        </p:nvSpPr>
        <p:spPr>
          <a:xfrm>
            <a:off x="1129323" y="1521193"/>
            <a:ext cx="9264358" cy="1200329"/>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Nana’s chocolate milk recipe calls for 4 scoops of chocolate for every 1 cup of milk. One way to represent the recipe is with a double number line diagram.</a:t>
            </a:r>
          </a:p>
        </p:txBody>
      </p:sp>
      <p:sp>
        <p:nvSpPr>
          <p:cNvPr id="11" name="Google Shape;282;g104476d1465_1_17">
            <a:extLst>
              <a:ext uri="{FF2B5EF4-FFF2-40B4-BE49-F238E27FC236}">
                <a16:creationId xmlns:a16="http://schemas.microsoft.com/office/drawing/2014/main" xmlns="" id="{85268C17-F7CB-D243-B65D-166A4DD9987F}"/>
              </a:ext>
            </a:extLst>
          </p:cNvPr>
          <p:cNvSpPr txBox="1"/>
          <p:nvPr/>
        </p:nvSpPr>
        <p:spPr>
          <a:xfrm>
            <a:off x="8882742"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263</a:t>
            </a:r>
            <a:endParaRPr i="1" dirty="0">
              <a:latin typeface="Calibri"/>
              <a:ea typeface="Calibri"/>
              <a:cs typeface="Calibri"/>
              <a:sym typeface="Calibri"/>
            </a:endParaRPr>
          </a:p>
        </p:txBody>
      </p:sp>
      <p:grpSp>
        <p:nvGrpSpPr>
          <p:cNvPr id="9" name="Group 8">
            <a:extLst>
              <a:ext uri="{FF2B5EF4-FFF2-40B4-BE49-F238E27FC236}">
                <a16:creationId xmlns:a16="http://schemas.microsoft.com/office/drawing/2014/main" xmlns="" id="{07445996-334F-A04D-975A-50C97033CD6F}"/>
              </a:ext>
            </a:extLst>
          </p:cNvPr>
          <p:cNvGrpSpPr/>
          <p:nvPr/>
        </p:nvGrpSpPr>
        <p:grpSpPr>
          <a:xfrm>
            <a:off x="2229349" y="3424825"/>
            <a:ext cx="8714603" cy="2463696"/>
            <a:chOff x="0" y="0"/>
            <a:chExt cx="6339131" cy="1620254"/>
          </a:xfrm>
        </p:grpSpPr>
        <p:pic>
          <p:nvPicPr>
            <p:cNvPr id="10" name="Picture" descr="A picture containing object, antenna, sitting, parked&#10;&#10;Description automatically generated">
              <a:extLst>
                <a:ext uri="{FF2B5EF4-FFF2-40B4-BE49-F238E27FC236}">
                  <a16:creationId xmlns:a16="http://schemas.microsoft.com/office/drawing/2014/main" xmlns="" id="{4A9450F5-1783-1F4F-85DB-FAE191C057F3}"/>
                </a:ext>
              </a:extLst>
            </p:cNvPr>
            <p:cNvPicPr/>
            <p:nvPr/>
          </p:nvPicPr>
          <p:blipFill rotWithShape="1">
            <a:blip r:embed="rId5" cstate="print">
              <a:extLst>
                <a:ext uri="{28A0092B-C50C-407E-A947-70E740481C1C}">
                  <a14:useLocalDpi xmlns:a14="http://schemas.microsoft.com/office/drawing/2010/main"/>
                </a:ext>
              </a:extLst>
            </a:blip>
            <a:srcRect l="20757" r="-16167"/>
            <a:stretch/>
          </p:blipFill>
          <p:spPr bwMode="auto">
            <a:xfrm>
              <a:off x="669851" y="0"/>
              <a:ext cx="5669280" cy="1607185"/>
            </a:xfrm>
            <a:prstGeom prst="rect">
              <a:avLst/>
            </a:prstGeom>
            <a:noFill/>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2" name="Text Box 26">
                  <a:extLst>
                    <a:ext uri="{FF2B5EF4-FFF2-40B4-BE49-F238E27FC236}">
                      <a16:creationId xmlns:a16="http://schemas.microsoft.com/office/drawing/2014/main" xmlns="" id="{72D873C4-FB3A-4048-93A3-C13554F6A29E}"/>
                    </a:ext>
                  </a:extLst>
                </p:cNvPr>
                <p:cNvSpPr txBox="1"/>
                <p:nvPr/>
              </p:nvSpPr>
              <p:spPr>
                <a:xfrm>
                  <a:off x="1424763" y="10632"/>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2" name="Text Box 26">
                  <a:extLst>
                    <a:ext uri="{FF2B5EF4-FFF2-40B4-BE49-F238E27FC236}">
                      <a16:creationId xmlns:a16="http://schemas.microsoft.com/office/drawing/2014/main" id="{72D873C4-FB3A-4048-93A3-C13554F6A29E}"/>
                    </a:ext>
                  </a:extLst>
                </p:cNvPr>
                <p:cNvSpPr txBox="1">
                  <a:spLocks noRot="1" noChangeAspect="1" noMove="1" noResize="1" noEditPoints="1" noAdjustHandles="1" noChangeArrowheads="1" noChangeShapeType="1" noTextEdit="1"/>
                </p:cNvSpPr>
                <p:nvPr/>
              </p:nvSpPr>
              <p:spPr>
                <a:xfrm>
                  <a:off x="1424763" y="10632"/>
                  <a:ext cx="316865" cy="397510"/>
                </a:xfrm>
                <a:prstGeom prst="rect">
                  <a:avLst/>
                </a:prstGeom>
                <a:blipFill>
                  <a:blip r:embed="rId6"/>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3" name="Text Box 27">
                  <a:extLst>
                    <a:ext uri="{FF2B5EF4-FFF2-40B4-BE49-F238E27FC236}">
                      <a16:creationId xmlns:a16="http://schemas.microsoft.com/office/drawing/2014/main" xmlns="" id="{5C9BA267-B6A1-2646-A7BF-BB846EB49F43}"/>
                    </a:ext>
                  </a:extLst>
                </p:cNvPr>
                <p:cNvSpPr txBox="1"/>
                <p:nvPr/>
              </p:nvSpPr>
              <p:spPr>
                <a:xfrm>
                  <a:off x="1424763" y="1212111"/>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3" name="Text Box 27">
                  <a:extLst>
                    <a:ext uri="{FF2B5EF4-FFF2-40B4-BE49-F238E27FC236}">
                      <a16:creationId xmlns:a16="http://schemas.microsoft.com/office/drawing/2014/main" id="{5C9BA267-B6A1-2646-A7BF-BB846EB49F43}"/>
                    </a:ext>
                  </a:extLst>
                </p:cNvPr>
                <p:cNvSpPr txBox="1">
                  <a:spLocks noRot="1" noChangeAspect="1" noMove="1" noResize="1" noEditPoints="1" noAdjustHandles="1" noChangeArrowheads="1" noChangeShapeType="1" noTextEdit="1"/>
                </p:cNvSpPr>
                <p:nvPr/>
              </p:nvSpPr>
              <p:spPr>
                <a:xfrm>
                  <a:off x="1424763" y="1212111"/>
                  <a:ext cx="316865" cy="397510"/>
                </a:xfrm>
                <a:prstGeom prst="rect">
                  <a:avLst/>
                </a:prstGeom>
                <a:blipFill>
                  <a:blip r:embed="rId7"/>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4" name="Text Box 25">
                  <a:extLst>
                    <a:ext uri="{FF2B5EF4-FFF2-40B4-BE49-F238E27FC236}">
                      <a16:creationId xmlns:a16="http://schemas.microsoft.com/office/drawing/2014/main" xmlns="" id="{EB5E909E-E242-7540-A623-1E7C3392F9D7}"/>
                    </a:ext>
                  </a:extLst>
                </p:cNvPr>
                <p:cNvSpPr txBox="1"/>
                <p:nvPr/>
              </p:nvSpPr>
              <p:spPr>
                <a:xfrm>
                  <a:off x="1977656" y="0"/>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1</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4" name="Text Box 25">
                  <a:extLst>
                    <a:ext uri="{FF2B5EF4-FFF2-40B4-BE49-F238E27FC236}">
                      <a16:creationId xmlns:a16="http://schemas.microsoft.com/office/drawing/2014/main" id="{EB5E909E-E242-7540-A623-1E7C3392F9D7}"/>
                    </a:ext>
                  </a:extLst>
                </p:cNvPr>
                <p:cNvSpPr txBox="1">
                  <a:spLocks noRot="1" noChangeAspect="1" noMove="1" noResize="1" noEditPoints="1" noAdjustHandles="1" noChangeArrowheads="1" noChangeShapeType="1" noTextEdit="1"/>
                </p:cNvSpPr>
                <p:nvPr/>
              </p:nvSpPr>
              <p:spPr>
                <a:xfrm>
                  <a:off x="1977656" y="0"/>
                  <a:ext cx="316865" cy="397510"/>
                </a:xfrm>
                <a:prstGeom prst="rect">
                  <a:avLst/>
                </a:prstGeom>
                <a:blipFill>
                  <a:blip r:embed="rId8"/>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5" name="Text Box 22">
                  <a:extLst>
                    <a:ext uri="{FF2B5EF4-FFF2-40B4-BE49-F238E27FC236}">
                      <a16:creationId xmlns:a16="http://schemas.microsoft.com/office/drawing/2014/main" xmlns="" id="{7AD8A600-96AB-B748-9956-5A50F2E4E48F}"/>
                    </a:ext>
                  </a:extLst>
                </p:cNvPr>
                <p:cNvSpPr txBox="1"/>
                <p:nvPr/>
              </p:nvSpPr>
              <p:spPr>
                <a:xfrm>
                  <a:off x="1977656" y="1222744"/>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4</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5" name="Text Box 22">
                  <a:extLst>
                    <a:ext uri="{FF2B5EF4-FFF2-40B4-BE49-F238E27FC236}">
                      <a16:creationId xmlns:a16="http://schemas.microsoft.com/office/drawing/2014/main" id="{7AD8A600-96AB-B748-9956-5A50F2E4E48F}"/>
                    </a:ext>
                  </a:extLst>
                </p:cNvPr>
                <p:cNvSpPr txBox="1">
                  <a:spLocks noRot="1" noChangeAspect="1" noMove="1" noResize="1" noEditPoints="1" noAdjustHandles="1" noChangeArrowheads="1" noChangeShapeType="1" noTextEdit="1"/>
                </p:cNvSpPr>
                <p:nvPr/>
              </p:nvSpPr>
              <p:spPr>
                <a:xfrm>
                  <a:off x="1977656" y="1222744"/>
                  <a:ext cx="316865" cy="397510"/>
                </a:xfrm>
                <a:prstGeom prst="rect">
                  <a:avLst/>
                </a:prstGeom>
                <a:blipFill>
                  <a:blip r:embed="rId9"/>
                  <a:stretch>
                    <a:fillRect/>
                  </a:stretch>
                </a:blipFill>
                <a:ln w="6350">
                  <a:noFill/>
                </a:ln>
              </p:spPr>
              <p:txBody>
                <a:bodyPr/>
                <a:lstStyle/>
                <a:p>
                  <a:r>
                    <a:rPr lang="en-CO">
                      <a:noFill/>
                    </a:rPr>
                    <a:t> </a:t>
                  </a:r>
                </a:p>
              </p:txBody>
            </p:sp>
          </mc:Fallback>
        </mc:AlternateContent>
        <p:sp>
          <p:nvSpPr>
            <p:cNvPr id="16" name="Text Box 24">
              <a:extLst>
                <a:ext uri="{FF2B5EF4-FFF2-40B4-BE49-F238E27FC236}">
                  <a16:creationId xmlns:a16="http://schemas.microsoft.com/office/drawing/2014/main" xmlns="" id="{DA55A028-F858-EC4F-A6F2-520643B348C3}"/>
                </a:ext>
              </a:extLst>
            </p:cNvPr>
            <p:cNvSpPr txBox="1"/>
            <p:nvPr/>
          </p:nvSpPr>
          <p:spPr>
            <a:xfrm>
              <a:off x="244549" y="63795"/>
              <a:ext cx="923290" cy="82934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latin typeface="Verdana" panose="020B0604030504040204" pitchFamily="34" charset="0"/>
                  <a:ea typeface="Times New Roman" panose="02020603050405020304" pitchFamily="18" charset="0"/>
                  <a:cs typeface="Cambria" panose="02040503050406030204" pitchFamily="18" charset="0"/>
                </a:rPr>
                <a:t>Milk</a:t>
              </a:r>
              <a:endParaRPr lang="x-none" sz="1200" dirty="0">
                <a:latin typeface="Cambria" panose="02040503050406030204" pitchFamily="18" charset="0"/>
                <a:ea typeface="Times New Roman" panose="02020603050405020304" pitchFamily="18" charset="0"/>
                <a:cs typeface="Cambria" panose="02040503050406030204" pitchFamily="18" charset="0"/>
              </a:endParaRPr>
            </a:p>
            <a:p>
              <a:pPr algn="ctr">
                <a:spcAft>
                  <a:spcPts val="1000"/>
                </a:spcAft>
              </a:pPr>
              <a:r>
                <a:rPr lang="en-US" sz="1800" dirty="0">
                  <a:latin typeface="Verdana" panose="020B0604030504040204" pitchFamily="34" charset="0"/>
                  <a:ea typeface="Times New Roman" panose="02020603050405020304" pitchFamily="18" charset="0"/>
                  <a:cs typeface="Cambria" panose="02040503050406030204" pitchFamily="18" charset="0"/>
                </a:rPr>
                <a:t>(cups)</a:t>
              </a:r>
              <a:endParaRPr lang="x-none" sz="1200" dirty="0">
                <a:latin typeface="Cambria" panose="02040503050406030204" pitchFamily="18" charset="0"/>
                <a:ea typeface="Times New Roman" panose="02020603050405020304" pitchFamily="18" charset="0"/>
                <a:cs typeface="Cambria" panose="02040503050406030204" pitchFamily="18" charset="0"/>
              </a:endParaRPr>
            </a:p>
          </p:txBody>
        </p:sp>
        <p:sp>
          <p:nvSpPr>
            <p:cNvPr id="17" name="Text Box 23">
              <a:extLst>
                <a:ext uri="{FF2B5EF4-FFF2-40B4-BE49-F238E27FC236}">
                  <a16:creationId xmlns:a16="http://schemas.microsoft.com/office/drawing/2014/main" xmlns="" id="{92BB317B-59B2-D244-BB71-7FF8F0B04EA0}"/>
                </a:ext>
              </a:extLst>
            </p:cNvPr>
            <p:cNvSpPr txBox="1"/>
            <p:nvPr/>
          </p:nvSpPr>
          <p:spPr>
            <a:xfrm>
              <a:off x="0" y="903767"/>
              <a:ext cx="1384935" cy="6965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Chocolate (scoops)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grpSp>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96EBC228-FF81-F24F-AEB8-9068AF825BE0}"/>
                  </a:ext>
                </a:extLst>
              </p:cNvPr>
              <p:cNvSpPr/>
              <p:nvPr/>
            </p:nvSpPr>
            <p:spPr>
              <a:xfrm>
                <a:off x="1311979" y="762557"/>
                <a:ext cx="9568041" cy="5324535"/>
              </a:xfrm>
              <a:prstGeom prst="rect">
                <a:avLst/>
              </a:prstGeom>
            </p:spPr>
            <p:txBody>
              <a:bodyPr wrap="square">
                <a:spAutoFit/>
              </a:bodyPr>
              <a:lstStyle/>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Label each tick mark on the double number line diagram to represent the relationship between cups of milk and chocolate scoops.</a:t>
                </a: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How does the double number line show the ratio of Nana’s preferred balance of milk and chocolate?</a:t>
                </a: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How many scoops of chocolate need to be mixed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cups of milk to maintain the same ratio of milk to chocolate from Nana’s recipe?</a:t>
                </a: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333375">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where the answer to the previous question is represented on the double number line diagram.</a:t>
                </a:r>
              </a:p>
              <a:p>
                <a:pPr marL="457200" indent="-333375">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 name="Rectangle 2">
                <a:extLst>
                  <a:ext uri="{FF2B5EF4-FFF2-40B4-BE49-F238E27FC236}">
                    <a16:creationId xmlns:a16="http://schemas.microsoft.com/office/drawing/2014/main" id="{96EBC228-FF81-F24F-AEB8-9068AF825BE0}"/>
                  </a:ext>
                </a:extLst>
              </p:cNvPr>
              <p:cNvSpPr>
                <a:spLocks noRot="1" noChangeAspect="1" noMove="1" noResize="1" noEditPoints="1" noAdjustHandles="1" noChangeArrowheads="1" noChangeShapeType="1" noTextEdit="1"/>
              </p:cNvSpPr>
              <p:nvPr/>
            </p:nvSpPr>
            <p:spPr>
              <a:xfrm>
                <a:off x="1311979" y="762557"/>
                <a:ext cx="9568041" cy="5324535"/>
              </a:xfrm>
              <a:prstGeom prst="rect">
                <a:avLst/>
              </a:prstGeom>
              <a:blipFill>
                <a:blip r:embed="rId4"/>
                <a:stretch>
                  <a:fillRect t="-714" r="-1194"/>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E3DC8F22-04D2-D04F-BA67-53D9B7F3B29F}"/>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263</a:t>
            </a:r>
            <a:endParaRPr i="1" dirty="0">
              <a:latin typeface="Calibri"/>
              <a:ea typeface="Calibri"/>
              <a:cs typeface="Calibri"/>
              <a:sym typeface="Calibri"/>
            </a:endParaRPr>
          </a:p>
        </p:txBody>
      </p:sp>
    </p:spTree>
    <p:extLst>
      <p:ext uri="{BB962C8B-B14F-4D97-AF65-F5344CB8AC3E}">
        <p14:creationId xmlns:p14="http://schemas.microsoft.com/office/powerpoint/2010/main" val="155251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D32FB2E-EC85-7547-997A-F8CC3AB0EE91}"/>
                  </a:ext>
                </a:extLst>
              </p:cNvPr>
              <p:cNvSpPr/>
              <p:nvPr/>
            </p:nvSpPr>
            <p:spPr>
              <a:xfrm>
                <a:off x="1313399" y="1351508"/>
                <a:ext cx="9565202" cy="4154984"/>
              </a:xfrm>
              <a:prstGeom prst="rect">
                <a:avLst/>
              </a:prstGeom>
            </p:spPr>
            <p:txBody>
              <a:bodyPr wrap="square">
                <a:spAutoFit/>
              </a:bodyPr>
              <a:lstStyle/>
              <a:p>
                <a:pPr marL="12700" indent="-1588"/>
                <a:r>
                  <a:rPr lang="en-US" sz="2400" dirty="0">
                    <a:latin typeface="Verdana" panose="020B0604030504040204" pitchFamily="34" charset="0"/>
                    <a:ea typeface="Times New Roman" panose="02020603050405020304" pitchFamily="18" charset="0"/>
                    <a:cs typeface="Times New Roman" panose="02020603050405020304" pitchFamily="18" charset="0"/>
                  </a:rPr>
                  <a:t>Each pair of numbers on the double number line diagram represents an equivalent ratio. For example, the ratio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 :24 </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is equivalent to the ratio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 :8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68312" indent="-457200">
                  <a:buFont typeface="+mj-lt"/>
                  <a:buAutoNum type="arabi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 to interpret these two equivalent ratios in the context of Nana’s recipe.</a:t>
                </a:r>
              </a:p>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07988"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0850"/>
                <a:r>
                  <a:rPr lang="en-US" sz="2400" dirty="0">
                    <a:latin typeface="Verdana" panose="020B0604030504040204" pitchFamily="34" charset="0"/>
                    <a:ea typeface="Times New Roman" panose="02020603050405020304" pitchFamily="18" charset="0"/>
                    <a:cs typeface="Times New Roman" panose="02020603050405020304" pitchFamily="18" charset="0"/>
                  </a:rPr>
                  <a:t>If 6 cups of milk are mixed with ____ scoops of chocolate, it will taste the same as mixing ____ cups of milk with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scoops of chocolate. </a:t>
                </a:r>
              </a:p>
            </p:txBody>
          </p:sp>
        </mc:Choice>
        <mc:Fallback xmlns="">
          <p:sp>
            <p:nvSpPr>
              <p:cNvPr id="2" name="Rectangle 1">
                <a:extLst>
                  <a:ext uri="{FF2B5EF4-FFF2-40B4-BE49-F238E27FC236}">
                    <a16:creationId xmlns:a16="http://schemas.microsoft.com/office/drawing/2014/main" id="{2D32FB2E-EC85-7547-997A-F8CC3AB0EE91}"/>
                  </a:ext>
                </a:extLst>
              </p:cNvPr>
              <p:cNvSpPr>
                <a:spLocks noRot="1" noChangeAspect="1" noMove="1" noResize="1" noEditPoints="1" noAdjustHandles="1" noChangeArrowheads="1" noChangeShapeType="1" noTextEdit="1"/>
              </p:cNvSpPr>
              <p:nvPr/>
            </p:nvSpPr>
            <p:spPr>
              <a:xfrm>
                <a:off x="1313399" y="1351508"/>
                <a:ext cx="9565202" cy="4154984"/>
              </a:xfrm>
              <a:prstGeom prst="rect">
                <a:avLst/>
              </a:prstGeom>
              <a:blipFill>
                <a:blip r:embed="rId4"/>
                <a:stretch>
                  <a:fillRect l="-928" t="-1220" r="-1724" b="-2439"/>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A85A54A-26B4-2547-91B9-E4095EBEEB4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264</a:t>
            </a:r>
            <a:endParaRPr i="1" dirty="0">
              <a:latin typeface="Calibri"/>
              <a:ea typeface="Calibri"/>
              <a:cs typeface="Calibri"/>
              <a:sym typeface="Calibri"/>
            </a:endParaRPr>
          </a:p>
        </p:txBody>
      </p:sp>
    </p:spTree>
    <p:extLst>
      <p:ext uri="{BB962C8B-B14F-4D97-AF65-F5344CB8AC3E}">
        <p14:creationId xmlns:p14="http://schemas.microsoft.com/office/powerpoint/2010/main" val="107196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70349866-9A2F-9642-8136-D99DA46E15A8}"/>
              </a:ext>
            </a:extLst>
          </p:cNvPr>
          <p:cNvSpPr/>
          <p:nvPr/>
        </p:nvSpPr>
        <p:spPr>
          <a:xfrm>
            <a:off x="1587390" y="296405"/>
            <a:ext cx="9142949" cy="461665"/>
          </a:xfrm>
          <a:prstGeom prst="rect">
            <a:avLst/>
          </a:prstGeom>
        </p:spPr>
        <p:txBody>
          <a:bodyPr wrap="square">
            <a:spAutoFit/>
          </a:bodyPr>
          <a:lstStyle/>
          <a:p>
            <a:pPr marL="457200" indent="-457200">
              <a:buFont typeface="+mj-lt"/>
              <a:buAutoNum type="arabi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Recall Dan’s error when mixing Nana’s chocolate milk.</a:t>
            </a:r>
          </a:p>
        </p:txBody>
      </p:sp>
      <p:sp>
        <p:nvSpPr>
          <p:cNvPr id="7" name="Google Shape;282;g104476d1465_1_17">
            <a:extLst>
              <a:ext uri="{FF2B5EF4-FFF2-40B4-BE49-F238E27FC236}">
                <a16:creationId xmlns:a16="http://schemas.microsoft.com/office/drawing/2014/main" xmlns="" id="{A34F9F60-8804-674C-94FA-55DB31DBB9AB}"/>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8E45F375-272F-7547-83A3-19EF33F2A61F}"/>
                  </a:ext>
                </a:extLst>
              </p:cNvPr>
              <p:cNvGraphicFramePr>
                <a:graphicFrameLocks noGrp="1"/>
              </p:cNvGraphicFramePr>
              <p:nvPr>
                <p:extLst>
                  <p:ext uri="{D42A27DB-BD31-4B8C-83A1-F6EECF244321}">
                    <p14:modId xmlns:p14="http://schemas.microsoft.com/office/powerpoint/2010/main" val="2691954905"/>
                  </p:ext>
                </p:extLst>
              </p:nvPr>
            </p:nvGraphicFramePr>
            <p:xfrm>
              <a:off x="2061210" y="1176610"/>
              <a:ext cx="8069580" cy="949960"/>
            </p:xfrm>
            <a:graphic>
              <a:graphicData uri="http://schemas.openxmlformats.org/drawingml/2006/table">
                <a:tbl>
                  <a:tblPr bandRow="1">
                    <a:tableStyleId>{A91F0D33-8C57-4600-99A7-42BC86742BE1}</a:tableStyleId>
                  </a:tblPr>
                  <a:tblGrid>
                    <a:gridCol w="4034790">
                      <a:extLst>
                        <a:ext uri="{9D8B030D-6E8A-4147-A177-3AD203B41FA5}">
                          <a16:colId xmlns:a16="http://schemas.microsoft.com/office/drawing/2014/main" xmlns="" val="697352815"/>
                        </a:ext>
                      </a:extLst>
                    </a:gridCol>
                    <a:gridCol w="4034790">
                      <a:extLst>
                        <a:ext uri="{9D8B030D-6E8A-4147-A177-3AD203B41FA5}">
                          <a16:colId xmlns:a16="http://schemas.microsoft.com/office/drawing/2014/main" xmlns="" val="829392245"/>
                        </a:ext>
                      </a:extLst>
                    </a:gridCol>
                  </a:tblGrid>
                  <a:tr h="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Nana’s Recipe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What Dan Accidentally Mixed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xmlns="" val="1463994797"/>
                      </a:ext>
                    </a:extLst>
                  </a:tr>
                  <a:tr h="0">
                    <a:tc>
                      <a:txBody>
                        <a:bodyPr/>
                        <a:lstStyle/>
                        <a:p>
                          <a:pPr marL="0" marR="0" algn="ctr">
                            <a:spcBef>
                              <a:spcPts val="0"/>
                            </a:spcBef>
                            <a:spcAft>
                              <a:spcPts val="1000"/>
                            </a:spcAft>
                          </a:pPr>
                          <a14:m>
                            <m:oMath xmlns:m="http://schemas.openxmlformats.org/officeDocument/2006/math">
                              <m:r>
                                <a:rPr lang="en-US" sz="1800">
                                  <a:effectLst/>
                                  <a:latin typeface="Cambria Math"/>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cup milk</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14:m>
                            <m:oMath xmlns:m="http://schemas.openxmlformats.org/officeDocument/2006/math">
                              <m:r>
                                <a:rPr lang="en-US" sz="1800">
                                  <a:effectLst/>
                                  <a:latin typeface="Cambria Math"/>
                                </a:rPr>
                                <m:t>4</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scoops chocolate</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1000"/>
                            </a:spcAft>
                          </a:pPr>
                          <a14:m>
                            <m:oMath xmlns:m="http://schemas.openxmlformats.org/officeDocument/2006/math">
                              <m:r>
                                <a:rPr lang="en-US" sz="1800">
                                  <a:effectLst/>
                                  <a:latin typeface="Cambria Math"/>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cup milk</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0000"/>
                            </a:lnSpc>
                            <a:spcBef>
                              <a:spcPts val="0"/>
                            </a:spcBef>
                            <a:spcAft>
                              <a:spcPts val="1000"/>
                            </a:spcAft>
                          </a:pPr>
                          <a14:m>
                            <m:oMath xmlns:m="http://schemas.openxmlformats.org/officeDocument/2006/math">
                              <m:r>
                                <a:rPr lang="en-US" sz="1800">
                                  <a:effectLst/>
                                  <a:latin typeface="Cambria Math"/>
                                </a:rPr>
                                <m:t>5</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scoops chocolate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09677452"/>
                      </a:ext>
                    </a:extLst>
                  </a:tr>
                </a:tbl>
              </a:graphicData>
            </a:graphic>
          </p:graphicFrame>
        </mc:Choice>
        <mc:Fallback xmlns="">
          <p:graphicFrame>
            <p:nvGraphicFramePr>
              <p:cNvPr id="3" name="Table 2">
                <a:extLst>
                  <a:ext uri="{FF2B5EF4-FFF2-40B4-BE49-F238E27FC236}">
                    <a16:creationId xmlns:a16="http://schemas.microsoft.com/office/drawing/2014/main" id="{8E45F375-272F-7547-83A3-19EF33F2A61F}"/>
                  </a:ext>
                </a:extLst>
              </p:cNvPr>
              <p:cNvGraphicFramePr>
                <a:graphicFrameLocks noGrp="1"/>
              </p:cNvGraphicFramePr>
              <p:nvPr>
                <p:extLst>
                  <p:ext uri="{D42A27DB-BD31-4B8C-83A1-F6EECF244321}">
                    <p14:modId xmlns:p14="http://schemas.microsoft.com/office/powerpoint/2010/main" val="2691954905"/>
                  </p:ext>
                </p:extLst>
              </p:nvPr>
            </p:nvGraphicFramePr>
            <p:xfrm>
              <a:off x="2061210" y="1176610"/>
              <a:ext cx="8069580" cy="949960"/>
            </p:xfrm>
            <a:graphic>
              <a:graphicData uri="http://schemas.openxmlformats.org/drawingml/2006/table">
                <a:tbl>
                  <a:tblPr bandRow="1">
                    <a:tableStyleId>{A91F0D33-8C57-4600-99A7-42BC86742BE1}</a:tableStyleId>
                  </a:tblPr>
                  <a:tblGrid>
                    <a:gridCol w="4034790">
                      <a:extLst>
                        <a:ext uri="{9D8B030D-6E8A-4147-A177-3AD203B41FA5}">
                          <a16:colId xmlns:a16="http://schemas.microsoft.com/office/drawing/2014/main" val="697352815"/>
                        </a:ext>
                      </a:extLst>
                    </a:gridCol>
                    <a:gridCol w="4034790">
                      <a:extLst>
                        <a:ext uri="{9D8B030D-6E8A-4147-A177-3AD203B41FA5}">
                          <a16:colId xmlns:a16="http://schemas.microsoft.com/office/drawing/2014/main" val="829392245"/>
                        </a:ext>
                      </a:extLst>
                    </a:gridCol>
                  </a:tblGrid>
                  <a:tr h="27432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Nana’s Recipe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What Dan Accidentally Mixed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463994797"/>
                      </a:ext>
                    </a:extLst>
                  </a:tr>
                  <a:tr h="67564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4" t="-51852" r="-100314" b="-2037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14" t="-51852" r="-314" b="-20370"/>
                          </a:stretch>
                        </a:blipFill>
                      </a:tcPr>
                    </a:tc>
                    <a:extLst>
                      <a:ext uri="{0D108BD9-81ED-4DB2-BD59-A6C34878D82A}">
                        <a16:rowId xmlns:a16="http://schemas.microsoft.com/office/drawing/2014/main" val="3909677452"/>
                      </a:ext>
                    </a:extLst>
                  </a:tr>
                </a:tbl>
              </a:graphicData>
            </a:graphic>
          </p:graphicFrame>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4E541880-59CF-A346-BFC5-55B2DF67E00C}"/>
                  </a:ext>
                </a:extLst>
              </p:cNvPr>
              <p:cNvSpPr/>
              <p:nvPr/>
            </p:nvSpPr>
            <p:spPr>
              <a:xfrm>
                <a:off x="1587390" y="2545110"/>
                <a:ext cx="8806290" cy="3785652"/>
              </a:xfrm>
              <a:prstGeom prst="rect">
                <a:avLst/>
              </a:prstGeom>
            </p:spPr>
            <p:txBody>
              <a:bodyPr wrap="square">
                <a:spAutoFit/>
              </a:bodyPr>
              <a:lstStyle/>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Sabrina said Dan’s mistake can be fixed by adding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0.5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cup of milk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scoop of chocolate to the glass. Discuss with your partner whether or not you think Sabrina is correct.</a:t>
                </a: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Complete the statement.</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577850"/>
                <a:r>
                  <a:rPr lang="en-US" sz="2400" dirty="0">
                    <a:latin typeface="Verdana" panose="020B0604030504040204" pitchFamily="34" charset="0"/>
                    <a:ea typeface="Times New Roman" panose="02020603050405020304" pitchFamily="18" charset="0"/>
                    <a:cs typeface="Times New Roman" panose="02020603050405020304" pitchFamily="18" charset="0"/>
                  </a:rPr>
                  <a:t>If Dan follows Sabrina’s recommendation, the glass will contain ____ cups of milk and ____ scoops of chocolate.</a:t>
                </a:r>
              </a:p>
            </p:txBody>
          </p:sp>
        </mc:Choice>
        <mc:Fallback xmlns="">
          <p:sp>
            <p:nvSpPr>
              <p:cNvPr id="8" name="Rectangle 7">
                <a:extLst>
                  <a:ext uri="{FF2B5EF4-FFF2-40B4-BE49-F238E27FC236}">
                    <a16:creationId xmlns:a16="http://schemas.microsoft.com/office/drawing/2014/main" id="{4E541880-59CF-A346-BFC5-55B2DF67E00C}"/>
                  </a:ext>
                </a:extLst>
              </p:cNvPr>
              <p:cNvSpPr>
                <a:spLocks noRot="1" noChangeAspect="1" noMove="1" noResize="1" noEditPoints="1" noAdjustHandles="1" noChangeArrowheads="1" noChangeShapeType="1" noTextEdit="1"/>
              </p:cNvSpPr>
              <p:nvPr/>
            </p:nvSpPr>
            <p:spPr>
              <a:xfrm>
                <a:off x="1587390" y="2545110"/>
                <a:ext cx="8806290" cy="3785652"/>
              </a:xfrm>
              <a:prstGeom prst="rect">
                <a:avLst/>
              </a:prstGeom>
              <a:blipFill>
                <a:blip r:embed="rId5"/>
                <a:stretch>
                  <a:fillRect l="-1007" t="-1338" r="-1727" b="-2676"/>
                </a:stretch>
              </a:blipFill>
            </p:spPr>
            <p:txBody>
              <a:bodyPr/>
              <a:lstStyle/>
              <a:p>
                <a:r>
                  <a:rPr lang="en-US">
                    <a:noFill/>
                  </a:rPr>
                  <a:t> </a:t>
                </a:r>
              </a:p>
            </p:txBody>
          </p:sp>
        </mc:Fallback>
      </mc:AlternateContent>
    </p:spTree>
    <p:extLst>
      <p:ext uri="{BB962C8B-B14F-4D97-AF65-F5344CB8AC3E}">
        <p14:creationId xmlns:p14="http://schemas.microsoft.com/office/powerpoint/2010/main" val="3571072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4" name="Rectangle 3">
            <a:extLst>
              <a:ext uri="{FF2B5EF4-FFF2-40B4-BE49-F238E27FC236}">
                <a16:creationId xmlns:a16="http://schemas.microsoft.com/office/drawing/2014/main" xmlns="" id="{28853ABC-DADE-924D-B06F-31B56BCC7722}"/>
              </a:ext>
            </a:extLst>
          </p:cNvPr>
          <p:cNvSpPr/>
          <p:nvPr/>
        </p:nvSpPr>
        <p:spPr>
          <a:xfrm>
            <a:off x="893379" y="843611"/>
            <a:ext cx="10405241" cy="1323439"/>
          </a:xfrm>
          <a:prstGeom prst="rect">
            <a:avLst/>
          </a:prstGeom>
        </p:spPr>
        <p:txBody>
          <a:bodyPr wrap="square">
            <a:spAutoFit/>
          </a:bodyPr>
          <a:lstStyle/>
          <a:p>
            <a:pPr marL="457200" indent="-4572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Use the double number line diagram to determine whether Sabrina’s recommendation will result in chocolate milk with Nana’s preferred taste. </a:t>
            </a:r>
          </a:p>
          <a:p>
            <a:pPr marL="450850"/>
            <a:r>
              <a:rPr lang="en-US" sz="2000" dirty="0">
                <a:latin typeface="Verdana" panose="020B0604030504040204" pitchFamily="34" charset="0"/>
                <a:ea typeface="Verdana" panose="020B0604030504040204" pitchFamily="34" charset="0"/>
                <a:cs typeface="Verdana" panose="020B0604030504040204" pitchFamily="34" charset="0"/>
              </a:rPr>
              <a:t>If Sabrina’s recommendation will work, mark the locations of this mixture on the double number line diagram with two </a:t>
            </a:r>
            <a:r>
              <a:rPr lang="en-US" sz="2000" dirty="0" err="1">
                <a:latin typeface="Verdana" panose="020B0604030504040204" pitchFamily="34" charset="0"/>
                <a:ea typeface="Verdana" panose="020B0604030504040204" pitchFamily="34" charset="0"/>
                <a:cs typeface="Verdana" panose="020B0604030504040204" pitchFamily="34" charset="0"/>
              </a:rPr>
              <a:t>Xs</a:t>
            </a:r>
            <a:r>
              <a:rPr lang="en-US" sz="2000" dirty="0">
                <a:latin typeface="Verdana" panose="020B0604030504040204" pitchFamily="34" charset="0"/>
                <a:ea typeface="Verdana" panose="020B0604030504040204" pitchFamily="34" charset="0"/>
                <a:cs typeface="Verdana" panose="020B0604030504040204" pitchFamily="34" charset="0"/>
              </a:rPr>
              <a:t>, one on each number line.</a:t>
            </a:r>
          </a:p>
        </p:txBody>
      </p:sp>
      <p:sp>
        <p:nvSpPr>
          <p:cNvPr id="18" name="Google Shape;282;g104476d1465_1_17">
            <a:extLst>
              <a:ext uri="{FF2B5EF4-FFF2-40B4-BE49-F238E27FC236}">
                <a16:creationId xmlns:a16="http://schemas.microsoft.com/office/drawing/2014/main" xmlns="" id="{E025FC87-8EB8-3F4A-835E-2236FC029C15}"/>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264</a:t>
            </a:r>
            <a:endParaRPr i="1" dirty="0">
              <a:latin typeface="Calibri"/>
              <a:ea typeface="Calibri"/>
              <a:cs typeface="Calibri"/>
              <a:sym typeface="Calibri"/>
            </a:endParaRPr>
          </a:p>
        </p:txBody>
      </p:sp>
    </p:spTree>
    <p:extLst>
      <p:ext uri="{BB962C8B-B14F-4D97-AF65-F5344CB8AC3E}">
        <p14:creationId xmlns:p14="http://schemas.microsoft.com/office/powerpoint/2010/main" val="1185802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54151" y="2766145"/>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52BDA6"/>
                </a:solidFill>
                <a:latin typeface="Verdana"/>
                <a:ea typeface="Verdana"/>
                <a:cs typeface="Verdana"/>
                <a:sym typeface="Verdana"/>
              </a:rPr>
              <a:t>Try It</a:t>
            </a:r>
            <a:endParaRPr sz="5100" b="1" dirty="0">
              <a:solidFill>
                <a:srgbClr val="52BD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E5B015B1-FBD0-8E43-9A2E-5A147450575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264</a:t>
            </a:r>
            <a:endParaRPr i="1" dirty="0">
              <a:latin typeface="Calibri"/>
              <a:ea typeface="Calibri"/>
              <a:cs typeface="Calibri"/>
              <a:sym typeface="Calibri"/>
            </a:endParaRPr>
          </a:p>
        </p:txBody>
      </p:sp>
      <p:pic>
        <p:nvPicPr>
          <p:cNvPr id="9" name="image11.png">
            <a:extLst>
              <a:ext uri="{FF2B5EF4-FFF2-40B4-BE49-F238E27FC236}">
                <a16:creationId xmlns:a16="http://schemas.microsoft.com/office/drawing/2014/main" xmlns="" id="{8892050C-6B10-D742-BAF6-6B4CA0AAC813}"/>
              </a:ext>
            </a:extLst>
          </p:cNvPr>
          <p:cNvPicPr/>
          <p:nvPr/>
        </p:nvPicPr>
        <p:blipFill>
          <a:blip r:embed="rId4"/>
          <a:srcRect/>
          <a:stretch>
            <a:fillRect/>
          </a:stretch>
        </p:blipFill>
        <p:spPr>
          <a:xfrm>
            <a:off x="4512723" y="2853510"/>
            <a:ext cx="1152733" cy="115155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9301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0617"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49"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32032" y="-37211"/>
            <a:ext cx="1115996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2BDA6"/>
                </a:solidFill>
                <a:latin typeface="Verdana"/>
                <a:ea typeface="Verdana"/>
                <a:cs typeface="Verdana"/>
                <a:sym typeface="Verdana"/>
              </a:rPr>
              <a:t>6.2.3 Try It: Using Double Line Diagrams to Represent and Interpret Ratios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684678E3-B391-614C-B449-94320C557524}"/>
                  </a:ext>
                </a:extLst>
              </p:cNvPr>
              <p:cNvSpPr/>
              <p:nvPr/>
            </p:nvSpPr>
            <p:spPr>
              <a:xfrm>
                <a:off x="1032031" y="1305071"/>
                <a:ext cx="10491891" cy="707886"/>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recipe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batch of cookies calls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of flour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eggs. A double line diagram is shown to represent the recipe.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684678E3-B391-614C-B449-94320C557524}"/>
                  </a:ext>
                </a:extLst>
              </p:cNvPr>
              <p:cNvSpPr>
                <a:spLocks noRot="1" noChangeAspect="1" noMove="1" noResize="1" noEditPoints="1" noAdjustHandles="1" noChangeArrowheads="1" noChangeShapeType="1" noTextEdit="1"/>
              </p:cNvSpPr>
              <p:nvPr/>
            </p:nvSpPr>
            <p:spPr>
              <a:xfrm>
                <a:off x="1032031" y="1305071"/>
                <a:ext cx="10491891" cy="707886"/>
              </a:xfrm>
              <a:prstGeom prst="rect">
                <a:avLst/>
              </a:prstGeom>
              <a:blipFill>
                <a:blip r:embed="rId4"/>
                <a:stretch>
                  <a:fillRect l="-605" t="-3509" b="-14035"/>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888992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264</a:t>
            </a:r>
            <a:endParaRPr i="1" dirty="0">
              <a:latin typeface="Calibri"/>
              <a:ea typeface="Calibri"/>
              <a:cs typeface="Calibri"/>
              <a:sym typeface="Calibri"/>
            </a:endParaRPr>
          </a:p>
        </p:txBody>
      </p:sp>
      <p:pic>
        <p:nvPicPr>
          <p:cNvPr id="9" name="image11.png">
            <a:extLst>
              <a:ext uri="{FF2B5EF4-FFF2-40B4-BE49-F238E27FC236}">
                <a16:creationId xmlns:a16="http://schemas.microsoft.com/office/drawing/2014/main" xmlns="" id="{74D8706C-77EE-AF4A-8801-3F06FE48B9C1}"/>
              </a:ext>
            </a:extLst>
          </p:cNvPr>
          <p:cNvPicPr/>
          <p:nvPr/>
        </p:nvPicPr>
        <p:blipFill>
          <a:blip r:embed="rId5"/>
          <a:srcRect/>
          <a:stretch>
            <a:fillRect/>
          </a:stretch>
        </p:blipFill>
        <p:spPr>
          <a:xfrm>
            <a:off x="281843" y="128816"/>
            <a:ext cx="750573" cy="749808"/>
          </a:xfrm>
          <a:prstGeom prst="rect">
            <a:avLst/>
          </a:prstGeom>
          <a:ln/>
        </p:spPr>
      </p:pic>
      <p:sp>
        <p:nvSpPr>
          <p:cNvPr id="10" name="Text Box 2">
            <a:extLst>
              <a:ext uri="{FF2B5EF4-FFF2-40B4-BE49-F238E27FC236}">
                <a16:creationId xmlns:a16="http://schemas.microsoft.com/office/drawing/2014/main" xmlns="" id="{F482A2D7-A1E1-D945-A3B2-4D022DD5BAEC}"/>
              </a:ext>
            </a:extLst>
          </p:cNvPr>
          <p:cNvSpPr txBox="1"/>
          <p:nvPr/>
        </p:nvSpPr>
        <p:spPr>
          <a:xfrm>
            <a:off x="3556558" y="2493501"/>
            <a:ext cx="1805940" cy="41465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1800">
                <a:latin typeface="Verdana" panose="020B0604030504040204" pitchFamily="34" charset="0"/>
                <a:ea typeface="Times New Roman" panose="02020603050405020304" pitchFamily="18" charset="0"/>
                <a:cs typeface="Cambria" panose="02040503050406030204" pitchFamily="18" charset="0"/>
              </a:rPr>
              <a:t>Cups of Flour</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pic>
        <p:nvPicPr>
          <p:cNvPr id="12" name="image3.png" descr="A picture containing shape&#10;&#10;Description automatically generated">
            <a:extLst>
              <a:ext uri="{FF2B5EF4-FFF2-40B4-BE49-F238E27FC236}">
                <a16:creationId xmlns:a16="http://schemas.microsoft.com/office/drawing/2014/main" xmlns="" id="{D9456A3F-4871-7D47-90F5-F5E67DE968A4}"/>
              </a:ext>
            </a:extLst>
          </p:cNvPr>
          <p:cNvPicPr/>
          <p:nvPr/>
        </p:nvPicPr>
        <p:blipFill rotWithShape="1">
          <a:blip r:embed="rId6" cstate="screen">
            <a:extLst>
              <a:ext uri="{28A0092B-C50C-407E-A947-70E740481C1C}">
                <a14:useLocalDpi xmlns:a14="http://schemas.microsoft.com/office/drawing/2010/main"/>
              </a:ext>
            </a:extLst>
          </a:blip>
          <a:srcRect l="25503" t="12135" b="13185"/>
          <a:stretch/>
        </p:blipFill>
        <p:spPr bwMode="auto">
          <a:xfrm>
            <a:off x="5473623" y="2695430"/>
            <a:ext cx="3416300" cy="812800"/>
          </a:xfrm>
          <a:prstGeom prst="rect">
            <a:avLst/>
          </a:prstGeom>
          <a:ln>
            <a:noFill/>
          </a:ln>
          <a:extLst>
            <a:ext uri="{53640926-AAD7-44D8-BBD7-CCE9431645EC}">
              <a14:shadowObscured xmlns:a14="http://schemas.microsoft.com/office/drawing/2010/main"/>
            </a:ext>
          </a:extLst>
        </p:spPr>
      </p:pic>
      <p:sp>
        <p:nvSpPr>
          <p:cNvPr id="13" name="Text Box 3">
            <a:extLst>
              <a:ext uri="{FF2B5EF4-FFF2-40B4-BE49-F238E27FC236}">
                <a16:creationId xmlns:a16="http://schemas.microsoft.com/office/drawing/2014/main" xmlns="" id="{49121924-5651-5D4D-977B-AEFAA9A47697}"/>
              </a:ext>
            </a:extLst>
          </p:cNvPr>
          <p:cNvSpPr txBox="1"/>
          <p:nvPr/>
        </p:nvSpPr>
        <p:spPr>
          <a:xfrm>
            <a:off x="3313354" y="3241531"/>
            <a:ext cx="2051685" cy="41465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1800">
                <a:latin typeface="Verdana" panose="020B0604030504040204" pitchFamily="34" charset="0"/>
                <a:ea typeface="Times New Roman" panose="02020603050405020304" pitchFamily="18" charset="0"/>
                <a:cs typeface="Cambria" panose="02040503050406030204" pitchFamily="18" charset="0"/>
              </a:rPr>
              <a:t>Number of Eggs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14" name="Text Box 6">
                <a:extLst>
                  <a:ext uri="{FF2B5EF4-FFF2-40B4-BE49-F238E27FC236}">
                    <a16:creationId xmlns:a16="http://schemas.microsoft.com/office/drawing/2014/main" xmlns="" id="{4BC854A4-D765-8442-97C7-21D537975948}"/>
                  </a:ext>
                </a:extLst>
              </p:cNvPr>
              <p:cNvSpPr txBox="1"/>
              <p:nvPr/>
            </p:nvSpPr>
            <p:spPr>
              <a:xfrm flipH="1">
                <a:off x="5475528" y="2339196"/>
                <a:ext cx="364490" cy="3968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4" name="Text Box 6">
                <a:extLst>
                  <a:ext uri="{FF2B5EF4-FFF2-40B4-BE49-F238E27FC236}">
                    <a16:creationId xmlns:a16="http://schemas.microsoft.com/office/drawing/2014/main" id="{4BC854A4-D765-8442-97C7-21D537975948}"/>
                  </a:ext>
                </a:extLst>
              </p:cNvPr>
              <p:cNvSpPr txBox="1">
                <a:spLocks noRot="1" noChangeAspect="1" noMove="1" noResize="1" noEditPoints="1" noAdjustHandles="1" noChangeArrowheads="1" noChangeShapeType="1" noTextEdit="1"/>
              </p:cNvSpPr>
              <p:nvPr/>
            </p:nvSpPr>
            <p:spPr>
              <a:xfrm flipH="1">
                <a:off x="5475528" y="2339196"/>
                <a:ext cx="364490" cy="396875"/>
              </a:xfrm>
              <a:prstGeom prst="rect">
                <a:avLst/>
              </a:prstGeom>
              <a:blipFill>
                <a:blip r:embed="rId7"/>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Box 7">
                <a:extLst>
                  <a:ext uri="{FF2B5EF4-FFF2-40B4-BE49-F238E27FC236}">
                    <a16:creationId xmlns:a16="http://schemas.microsoft.com/office/drawing/2014/main" xmlns="" id="{C1543515-1FEE-1C45-9D20-5B08E15B291D}"/>
                  </a:ext>
                </a:extLst>
              </p:cNvPr>
              <p:cNvSpPr txBox="1"/>
              <p:nvPr/>
            </p:nvSpPr>
            <p:spPr>
              <a:xfrm flipH="1">
                <a:off x="5475528" y="3477116"/>
                <a:ext cx="364490" cy="3968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5" name="Text Box 7">
                <a:extLst>
                  <a:ext uri="{FF2B5EF4-FFF2-40B4-BE49-F238E27FC236}">
                    <a16:creationId xmlns:a16="http://schemas.microsoft.com/office/drawing/2014/main" id="{C1543515-1FEE-1C45-9D20-5B08E15B291D}"/>
                  </a:ext>
                </a:extLst>
              </p:cNvPr>
              <p:cNvSpPr txBox="1">
                <a:spLocks noRot="1" noChangeAspect="1" noMove="1" noResize="1" noEditPoints="1" noAdjustHandles="1" noChangeArrowheads="1" noChangeShapeType="1" noTextEdit="1"/>
              </p:cNvSpPr>
              <p:nvPr/>
            </p:nvSpPr>
            <p:spPr>
              <a:xfrm flipH="1">
                <a:off x="5475528" y="3477116"/>
                <a:ext cx="364490" cy="396875"/>
              </a:xfrm>
              <a:prstGeom prst="rect">
                <a:avLst/>
              </a:prstGeom>
              <a:blipFill>
                <a:blip r:embed="rId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Box 8">
                <a:extLst>
                  <a:ext uri="{FF2B5EF4-FFF2-40B4-BE49-F238E27FC236}">
                    <a16:creationId xmlns:a16="http://schemas.microsoft.com/office/drawing/2014/main" xmlns="" id="{4B04F671-CFCB-2C45-B980-E26D644944A7}"/>
                  </a:ext>
                </a:extLst>
              </p:cNvPr>
              <p:cNvSpPr txBox="1"/>
              <p:nvPr/>
            </p:nvSpPr>
            <p:spPr>
              <a:xfrm flipH="1">
                <a:off x="6196888" y="2339196"/>
                <a:ext cx="364490" cy="3968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5</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6" name="Text Box 8">
                <a:extLst>
                  <a:ext uri="{FF2B5EF4-FFF2-40B4-BE49-F238E27FC236}">
                    <a16:creationId xmlns:a16="http://schemas.microsoft.com/office/drawing/2014/main" id="{4B04F671-CFCB-2C45-B980-E26D644944A7}"/>
                  </a:ext>
                </a:extLst>
              </p:cNvPr>
              <p:cNvSpPr txBox="1">
                <a:spLocks noRot="1" noChangeAspect="1" noMove="1" noResize="1" noEditPoints="1" noAdjustHandles="1" noChangeArrowheads="1" noChangeShapeType="1" noTextEdit="1"/>
              </p:cNvSpPr>
              <p:nvPr/>
            </p:nvSpPr>
            <p:spPr>
              <a:xfrm flipH="1">
                <a:off x="6196888" y="2339196"/>
                <a:ext cx="364490" cy="396875"/>
              </a:xfrm>
              <a:prstGeom prst="rect">
                <a:avLst/>
              </a:prstGeom>
              <a:blipFill>
                <a:blip r:embed="rId9"/>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 Box 9">
                <a:extLst>
                  <a:ext uri="{FF2B5EF4-FFF2-40B4-BE49-F238E27FC236}">
                    <a16:creationId xmlns:a16="http://schemas.microsoft.com/office/drawing/2014/main" xmlns="" id="{DD949653-8B43-7446-953E-37EA29227506}"/>
                  </a:ext>
                </a:extLst>
              </p:cNvPr>
              <p:cNvSpPr txBox="1"/>
              <p:nvPr/>
            </p:nvSpPr>
            <p:spPr>
              <a:xfrm flipH="1">
                <a:off x="6196888" y="3477116"/>
                <a:ext cx="364490" cy="3968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3</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7" name="Text Box 9">
                <a:extLst>
                  <a:ext uri="{FF2B5EF4-FFF2-40B4-BE49-F238E27FC236}">
                    <a16:creationId xmlns:a16="http://schemas.microsoft.com/office/drawing/2014/main" id="{DD949653-8B43-7446-953E-37EA29227506}"/>
                  </a:ext>
                </a:extLst>
              </p:cNvPr>
              <p:cNvSpPr txBox="1">
                <a:spLocks noRot="1" noChangeAspect="1" noMove="1" noResize="1" noEditPoints="1" noAdjustHandles="1" noChangeArrowheads="1" noChangeShapeType="1" noTextEdit="1"/>
              </p:cNvSpPr>
              <p:nvPr/>
            </p:nvSpPr>
            <p:spPr>
              <a:xfrm flipH="1">
                <a:off x="6196888" y="3477116"/>
                <a:ext cx="364490" cy="396875"/>
              </a:xfrm>
              <a:prstGeom prst="rect">
                <a:avLst/>
              </a:prstGeom>
              <a:blipFill>
                <a:blip r:embed="rId1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xmlns="" id="{33377349-2303-9F4B-A99A-F736715096DE}"/>
                  </a:ext>
                </a:extLst>
              </p:cNvPr>
              <p:cNvSpPr/>
              <p:nvPr/>
            </p:nvSpPr>
            <p:spPr>
              <a:xfrm>
                <a:off x="1032031" y="4162570"/>
                <a:ext cx="10491891" cy="1631216"/>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ratio of flour to eggs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batch of cookies?</a:t>
                </a: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diagram to show the amount of flour and eggs needed for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batches of cookies.</a:t>
                </a:r>
              </a:p>
            </p:txBody>
          </p:sp>
        </mc:Choice>
        <mc:Fallback xmlns="">
          <p:sp>
            <p:nvSpPr>
              <p:cNvPr id="18" name="Rectangle 17">
                <a:extLst>
                  <a:ext uri="{FF2B5EF4-FFF2-40B4-BE49-F238E27FC236}">
                    <a16:creationId xmlns:a16="http://schemas.microsoft.com/office/drawing/2014/main" id="{33377349-2303-9F4B-A99A-F736715096DE}"/>
                  </a:ext>
                </a:extLst>
              </p:cNvPr>
              <p:cNvSpPr>
                <a:spLocks noRot="1" noChangeAspect="1" noMove="1" noResize="1" noEditPoints="1" noAdjustHandles="1" noChangeArrowheads="1" noChangeShapeType="1" noTextEdit="1"/>
              </p:cNvSpPr>
              <p:nvPr/>
            </p:nvSpPr>
            <p:spPr>
              <a:xfrm>
                <a:off x="1032031" y="4162570"/>
                <a:ext cx="10491891" cy="1631216"/>
              </a:xfrm>
              <a:prstGeom prst="rect">
                <a:avLst/>
              </a:prstGeom>
              <a:blipFill>
                <a:blip r:embed="rId11"/>
                <a:stretch>
                  <a:fillRect l="-605" t="-2308" r="-1451" b="-5385"/>
                </a:stretch>
              </a:blipFill>
            </p:spPr>
            <p:txBody>
              <a:bodyPr/>
              <a:lstStyle/>
              <a:p>
                <a:r>
                  <a:rPr lang="en-US">
                    <a:noFill/>
                  </a:rPr>
                  <a:t> </a:t>
                </a:r>
              </a:p>
            </p:txBody>
          </p:sp>
        </mc:Fallback>
      </mc:AlternateContent>
    </p:spTree>
    <p:extLst>
      <p:ext uri="{BB962C8B-B14F-4D97-AF65-F5344CB8AC3E}">
        <p14:creationId xmlns:p14="http://schemas.microsoft.com/office/powerpoint/2010/main" val="74552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684678E3-B391-614C-B449-94320C557524}"/>
                  </a:ext>
                </a:extLst>
              </p:cNvPr>
              <p:cNvSpPr/>
              <p:nvPr/>
            </p:nvSpPr>
            <p:spPr>
              <a:xfrm>
                <a:off x="987972" y="390670"/>
                <a:ext cx="9346929" cy="3785652"/>
              </a:xfrm>
              <a:prstGeom prst="rect">
                <a:avLst/>
              </a:prstGeom>
            </p:spPr>
            <p:txBody>
              <a:bodyPr wrap="square">
                <a:spAutoFit/>
              </a:bodyPr>
              <a:lstStyle/>
              <a:p>
                <a:pPr marL="457200" indent="-4572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How many eggs and cups of flour are used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batches of cookies?</a:t>
                </a: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ratio comparing cups of flour to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eggs. </a:t>
                </a: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ratio of eggs to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cups of flour.</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684678E3-B391-614C-B449-94320C557524}"/>
                  </a:ext>
                </a:extLst>
              </p:cNvPr>
              <p:cNvSpPr>
                <a:spLocks noRot="1" noChangeAspect="1" noMove="1" noResize="1" noEditPoints="1" noAdjustHandles="1" noChangeArrowheads="1" noChangeShapeType="1" noTextEdit="1"/>
              </p:cNvSpPr>
              <p:nvPr/>
            </p:nvSpPr>
            <p:spPr>
              <a:xfrm>
                <a:off x="987972" y="390670"/>
                <a:ext cx="9346929" cy="3785652"/>
              </a:xfrm>
              <a:prstGeom prst="rect">
                <a:avLst/>
              </a:prstGeom>
              <a:blipFill>
                <a:blip r:embed="rId4"/>
                <a:stretch>
                  <a:fillRect l="-678" t="-669"/>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DC0A2C9F-B1E2-2341-BED9-0F18CDA0FBF6}"/>
              </a:ext>
            </a:extLst>
          </p:cNvPr>
          <p:cNvSpPr txBox="1"/>
          <p:nvPr/>
        </p:nvSpPr>
        <p:spPr>
          <a:xfrm>
            <a:off x="888992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264</a:t>
            </a:r>
            <a:endParaRPr i="1" dirty="0">
              <a:latin typeface="Calibri"/>
              <a:ea typeface="Calibri"/>
              <a:cs typeface="Calibri"/>
              <a:sym typeface="Calibri"/>
            </a:endParaRPr>
          </a:p>
        </p:txBody>
      </p:sp>
      <p:sp>
        <p:nvSpPr>
          <p:cNvPr id="19" name="Rectangle 18">
            <a:extLst>
              <a:ext uri="{FF2B5EF4-FFF2-40B4-BE49-F238E27FC236}">
                <a16:creationId xmlns:a16="http://schemas.microsoft.com/office/drawing/2014/main" xmlns="" id="{CE5F99B3-048D-134B-B0CA-6593AC2479CF}"/>
              </a:ext>
            </a:extLst>
          </p:cNvPr>
          <p:cNvSpPr/>
          <p:nvPr/>
        </p:nvSpPr>
        <p:spPr>
          <a:xfrm>
            <a:off x="2084786" y="2471084"/>
            <a:ext cx="466725" cy="466725"/>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xmlns="" id="{689A70BA-1563-6443-9671-0EE748C258DF}"/>
                  </a:ext>
                </a:extLst>
              </p:cNvPr>
              <p:cNvSpPr txBox="1"/>
              <p:nvPr/>
            </p:nvSpPr>
            <p:spPr>
              <a:xfrm>
                <a:off x="2608894" y="2504390"/>
                <a:ext cx="46672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x-none" sz="2000">
                          <a:latin typeface="Cambria Math" panose="02040503050406030204" pitchFamily="18" charset="0"/>
                        </a:rPr>
                        <m:t>:6</m:t>
                      </m:r>
                    </m:oMath>
                  </m:oMathPara>
                </a14:m>
                <a:endParaRPr lang="x-none" sz="2000" dirty="0"/>
              </a:p>
            </p:txBody>
          </p:sp>
        </mc:Choice>
        <mc:Fallback xmlns="">
          <p:sp>
            <p:nvSpPr>
              <p:cNvPr id="20" name="TextBox 19">
                <a:extLst>
                  <a:ext uri="{FF2B5EF4-FFF2-40B4-BE49-F238E27FC236}">
                    <a16:creationId xmlns:a16="http://schemas.microsoft.com/office/drawing/2014/main" id="{689A70BA-1563-6443-9671-0EE748C258DF}"/>
                  </a:ext>
                </a:extLst>
              </p:cNvPr>
              <p:cNvSpPr txBox="1">
                <a:spLocks noRot="1" noChangeAspect="1" noMove="1" noResize="1" noEditPoints="1" noAdjustHandles="1" noChangeArrowheads="1" noChangeShapeType="1" noTextEdit="1"/>
              </p:cNvSpPr>
              <p:nvPr/>
            </p:nvSpPr>
            <p:spPr>
              <a:xfrm>
                <a:off x="2608894" y="2504390"/>
                <a:ext cx="466725" cy="400110"/>
              </a:xfrm>
              <a:prstGeom prst="rect">
                <a:avLst/>
              </a:prstGeom>
              <a:blipFill>
                <a:blip r:embed="rId5"/>
                <a:stretch>
                  <a:fillRect/>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xmlns="" id="{E38CD4A1-F775-7946-A7A1-837B650F7B54}"/>
              </a:ext>
            </a:extLst>
          </p:cNvPr>
          <p:cNvSpPr/>
          <p:nvPr/>
        </p:nvSpPr>
        <p:spPr>
          <a:xfrm>
            <a:off x="2084786" y="4271309"/>
            <a:ext cx="466725" cy="466725"/>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xmlns="" id="{A1AD024D-2869-4244-9A9B-C9F85B1C4576}"/>
                  </a:ext>
                </a:extLst>
              </p:cNvPr>
              <p:cNvSpPr txBox="1"/>
              <p:nvPr/>
            </p:nvSpPr>
            <p:spPr>
              <a:xfrm>
                <a:off x="0" y="4647714"/>
                <a:ext cx="4636294" cy="5095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x-none" sz="2000" i="1">
                              <a:solidFill>
                                <a:srgbClr val="836967"/>
                              </a:solidFill>
                              <a:latin typeface="Cambria Math"/>
                            </a:rPr>
                          </m:ctrlPr>
                        </m:fPr>
                        <m:num>
                          <m:r>
                            <a:rPr lang="x-none" sz="2000">
                              <a:latin typeface="Cambria Math" panose="02040503050406030204" pitchFamily="18" charset="0"/>
                            </a:rPr>
                            <m:t>         </m:t>
                          </m:r>
                        </m:num>
                        <m:den>
                          <m:r>
                            <a:rPr lang="x-none" sz="2000">
                              <a:latin typeface="Cambria Math" panose="02040503050406030204" pitchFamily="18" charset="0"/>
                            </a:rPr>
                            <m:t>15</m:t>
                          </m:r>
                        </m:den>
                      </m:f>
                    </m:oMath>
                  </m:oMathPara>
                </a14:m>
                <a:endParaRPr lang="x-none" sz="2000" dirty="0"/>
              </a:p>
            </p:txBody>
          </p:sp>
        </mc:Choice>
        <mc:Fallback xmlns="">
          <p:sp>
            <p:nvSpPr>
              <p:cNvPr id="23" name="TextBox 22">
                <a:extLst>
                  <a:ext uri="{FF2B5EF4-FFF2-40B4-BE49-F238E27FC236}">
                    <a16:creationId xmlns:a16="http://schemas.microsoft.com/office/drawing/2014/main" id="{A1AD024D-2869-4244-9A9B-C9F85B1C4576}"/>
                  </a:ext>
                </a:extLst>
              </p:cNvPr>
              <p:cNvSpPr txBox="1">
                <a:spLocks noRot="1" noChangeAspect="1" noMove="1" noResize="1" noEditPoints="1" noAdjustHandles="1" noChangeArrowheads="1" noChangeShapeType="1" noTextEdit="1"/>
              </p:cNvSpPr>
              <p:nvPr/>
            </p:nvSpPr>
            <p:spPr>
              <a:xfrm>
                <a:off x="0" y="4647714"/>
                <a:ext cx="4636294" cy="509563"/>
              </a:xfrm>
              <a:prstGeom prst="rect">
                <a:avLst/>
              </a:prstGeom>
              <a:blipFill>
                <a:blip r:embed="rId6"/>
                <a:stretch>
                  <a:fillRect t="-30952" b="-4762"/>
                </a:stretch>
              </a:blipFill>
            </p:spPr>
            <p:txBody>
              <a:bodyPr/>
              <a:lstStyle/>
              <a:p>
                <a:r>
                  <a:rPr lang="en-US">
                    <a:noFill/>
                  </a:rPr>
                  <a:t> </a:t>
                </a:r>
              </a:p>
            </p:txBody>
          </p:sp>
        </mc:Fallback>
      </mc:AlternateContent>
    </p:spTree>
    <p:extLst>
      <p:ext uri="{BB962C8B-B14F-4D97-AF65-F5344CB8AC3E}">
        <p14:creationId xmlns:p14="http://schemas.microsoft.com/office/powerpoint/2010/main" val="2005455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79414" y="64495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265</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22501" y="-13248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6.2.4 Guided Instruction: Using Tape Diagrams to Represent Ratios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275201" y="74782"/>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B2BE9AFC-D858-8947-AE27-3738478587E3}"/>
              </a:ext>
            </a:extLst>
          </p:cNvPr>
          <p:cNvSpPr/>
          <p:nvPr/>
        </p:nvSpPr>
        <p:spPr>
          <a:xfrm>
            <a:off x="1022501" y="1331161"/>
            <a:ext cx="9516649" cy="2308324"/>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 tape diagram is another way to represent ratios. All the parts of the diagram that are the same size have the same value, similar to increments on a number line.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The tape diagram shown represents the ratio of cats to dogs at a local animal shelter. </a:t>
            </a:r>
          </a:p>
        </p:txBody>
      </p:sp>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265</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D3458DD6-DCF9-D74F-8E54-724F3BC2EDE3}"/>
              </a:ext>
            </a:extLst>
          </p:cNvPr>
          <p:cNvGraphicFramePr>
            <a:graphicFrameLocks noGrp="1"/>
          </p:cNvGraphicFramePr>
          <p:nvPr>
            <p:extLst>
              <p:ext uri="{D42A27DB-BD31-4B8C-83A1-F6EECF244321}">
                <p14:modId xmlns:p14="http://schemas.microsoft.com/office/powerpoint/2010/main" val="1644960171"/>
              </p:ext>
            </p:extLst>
          </p:nvPr>
        </p:nvGraphicFramePr>
        <p:xfrm>
          <a:off x="3372803" y="4334086"/>
          <a:ext cx="5446395" cy="906780"/>
        </p:xfrm>
        <a:graphic>
          <a:graphicData uri="http://schemas.openxmlformats.org/drawingml/2006/table">
            <a:tbl>
              <a:tblPr firstRow="1" firstCol="1" bandRow="1">
                <a:tableStyleId>{A91F0D33-8C57-4600-99A7-42BC86742BE1}</a:tableStyleId>
              </a:tblPr>
              <a:tblGrid>
                <a:gridCol w="2337436">
                  <a:extLst>
                    <a:ext uri="{9D8B030D-6E8A-4147-A177-3AD203B41FA5}">
                      <a16:colId xmlns:a16="http://schemas.microsoft.com/office/drawing/2014/main" xmlns="" val="2148033505"/>
                    </a:ext>
                  </a:extLst>
                </a:gridCol>
                <a:gridCol w="487679">
                  <a:extLst>
                    <a:ext uri="{9D8B030D-6E8A-4147-A177-3AD203B41FA5}">
                      <a16:colId xmlns:a16="http://schemas.microsoft.com/office/drawing/2014/main" xmlns="" val="1006735800"/>
                    </a:ext>
                  </a:extLst>
                </a:gridCol>
                <a:gridCol w="655320">
                  <a:extLst>
                    <a:ext uri="{9D8B030D-6E8A-4147-A177-3AD203B41FA5}">
                      <a16:colId xmlns:a16="http://schemas.microsoft.com/office/drawing/2014/main" xmlns="" val="1087046338"/>
                    </a:ext>
                  </a:extLst>
                </a:gridCol>
                <a:gridCol w="655320">
                  <a:extLst>
                    <a:ext uri="{9D8B030D-6E8A-4147-A177-3AD203B41FA5}">
                      <a16:colId xmlns:a16="http://schemas.microsoft.com/office/drawing/2014/main" xmlns="" val="3909414518"/>
                    </a:ext>
                  </a:extLst>
                </a:gridCol>
                <a:gridCol w="655320">
                  <a:extLst>
                    <a:ext uri="{9D8B030D-6E8A-4147-A177-3AD203B41FA5}">
                      <a16:colId xmlns:a16="http://schemas.microsoft.com/office/drawing/2014/main" xmlns="" val="1494817667"/>
                    </a:ext>
                  </a:extLst>
                </a:gridCol>
                <a:gridCol w="655320">
                  <a:extLst>
                    <a:ext uri="{9D8B030D-6E8A-4147-A177-3AD203B41FA5}">
                      <a16:colId xmlns:a16="http://schemas.microsoft.com/office/drawing/2014/main" xmlns="" val="3768274764"/>
                    </a:ext>
                  </a:extLst>
                </a:gridCol>
              </a:tblGrid>
              <a:tr h="37338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Number of Cats</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3034878296"/>
                  </a:ext>
                </a:extLst>
              </a:tr>
              <a:tr h="119380">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478765652"/>
                  </a:ext>
                </a:extLst>
              </a:tr>
              <a:tr h="37338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Number of Dogs</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4166426195"/>
                  </a:ext>
                </a:extLst>
              </a:tr>
            </a:tbl>
          </a:graphicData>
        </a:graphic>
      </p:graphicFrame>
      <p:graphicFrame>
        <p:nvGraphicFramePr>
          <p:cNvPr id="5" name="Table 4">
            <a:extLst>
              <a:ext uri="{FF2B5EF4-FFF2-40B4-BE49-F238E27FC236}">
                <a16:creationId xmlns:a16="http://schemas.microsoft.com/office/drawing/2014/main" xmlns="" id="{544A24A4-3499-B94D-8476-CE7739A5E2C3}"/>
              </a:ext>
            </a:extLst>
          </p:cNvPr>
          <p:cNvGraphicFramePr>
            <a:graphicFrameLocks noGrp="1"/>
          </p:cNvGraphicFramePr>
          <p:nvPr>
            <p:extLst>
              <p:ext uri="{D42A27DB-BD31-4B8C-83A1-F6EECF244321}">
                <p14:modId xmlns:p14="http://schemas.microsoft.com/office/powerpoint/2010/main" val="362649957"/>
              </p:ext>
            </p:extLst>
          </p:nvPr>
        </p:nvGraphicFramePr>
        <p:xfrm>
          <a:off x="5728653" y="4284703"/>
          <a:ext cx="2620645" cy="373380"/>
        </p:xfrm>
        <a:graphic>
          <a:graphicData uri="http://schemas.openxmlformats.org/drawingml/2006/table">
            <a:tbl>
              <a:tblPr firstRow="1" firstCol="1" bandRow="1">
                <a:tableStyleId>{A91F0D33-8C57-4600-99A7-42BC86742BE1}</a:tableStyleId>
              </a:tblPr>
              <a:tblGrid>
                <a:gridCol w="654685">
                  <a:extLst>
                    <a:ext uri="{9D8B030D-6E8A-4147-A177-3AD203B41FA5}">
                      <a16:colId xmlns:a16="http://schemas.microsoft.com/office/drawing/2014/main" xmlns="" val="3639263860"/>
                    </a:ext>
                  </a:extLst>
                </a:gridCol>
                <a:gridCol w="655320">
                  <a:extLst>
                    <a:ext uri="{9D8B030D-6E8A-4147-A177-3AD203B41FA5}">
                      <a16:colId xmlns:a16="http://schemas.microsoft.com/office/drawing/2014/main" xmlns="" val="3250578720"/>
                    </a:ext>
                  </a:extLst>
                </a:gridCol>
                <a:gridCol w="655320">
                  <a:extLst>
                    <a:ext uri="{9D8B030D-6E8A-4147-A177-3AD203B41FA5}">
                      <a16:colId xmlns:a16="http://schemas.microsoft.com/office/drawing/2014/main" xmlns="" val="185536832"/>
                    </a:ext>
                  </a:extLst>
                </a:gridCol>
                <a:gridCol w="655320">
                  <a:extLst>
                    <a:ext uri="{9D8B030D-6E8A-4147-A177-3AD203B41FA5}">
                      <a16:colId xmlns:a16="http://schemas.microsoft.com/office/drawing/2014/main" xmlns="" val="3329750426"/>
                    </a:ext>
                  </a:extLst>
                </a:gridCol>
              </a:tblGrid>
              <a:tr h="373380">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xmlns="" val="1256869308"/>
                  </a:ext>
                </a:extLst>
              </a:tr>
            </a:tbl>
          </a:graphicData>
        </a:graphic>
      </p:graphicFrame>
      <p:graphicFrame>
        <p:nvGraphicFramePr>
          <p:cNvPr id="11" name="Table 10">
            <a:extLst>
              <a:ext uri="{FF2B5EF4-FFF2-40B4-BE49-F238E27FC236}">
                <a16:creationId xmlns:a16="http://schemas.microsoft.com/office/drawing/2014/main" xmlns="" id="{374FD3D4-175B-164B-B670-61175B211996}"/>
              </a:ext>
            </a:extLst>
          </p:cNvPr>
          <p:cNvGraphicFramePr>
            <a:graphicFrameLocks noGrp="1"/>
          </p:cNvGraphicFramePr>
          <p:nvPr>
            <p:extLst>
              <p:ext uri="{D42A27DB-BD31-4B8C-83A1-F6EECF244321}">
                <p14:modId xmlns:p14="http://schemas.microsoft.com/office/powerpoint/2010/main" val="613486529"/>
              </p:ext>
            </p:extLst>
          </p:nvPr>
        </p:nvGraphicFramePr>
        <p:xfrm>
          <a:off x="5728651" y="4841916"/>
          <a:ext cx="3310574" cy="373380"/>
        </p:xfrm>
        <a:graphic>
          <a:graphicData uri="http://schemas.openxmlformats.org/drawingml/2006/table">
            <a:tbl>
              <a:tblPr firstRow="1" firstCol="1" bandRow="1">
                <a:tableStyleId>{A91F0D33-8C57-4600-99A7-42BC86742BE1}</a:tableStyleId>
              </a:tblPr>
              <a:tblGrid>
                <a:gridCol w="661602">
                  <a:extLst>
                    <a:ext uri="{9D8B030D-6E8A-4147-A177-3AD203B41FA5}">
                      <a16:colId xmlns:a16="http://schemas.microsoft.com/office/drawing/2014/main" xmlns="" val="3639263860"/>
                    </a:ext>
                  </a:extLst>
                </a:gridCol>
                <a:gridCol w="662243">
                  <a:extLst>
                    <a:ext uri="{9D8B030D-6E8A-4147-A177-3AD203B41FA5}">
                      <a16:colId xmlns:a16="http://schemas.microsoft.com/office/drawing/2014/main" xmlns="" val="3250578720"/>
                    </a:ext>
                  </a:extLst>
                </a:gridCol>
                <a:gridCol w="662243">
                  <a:extLst>
                    <a:ext uri="{9D8B030D-6E8A-4147-A177-3AD203B41FA5}">
                      <a16:colId xmlns:a16="http://schemas.microsoft.com/office/drawing/2014/main" xmlns="" val="185536832"/>
                    </a:ext>
                  </a:extLst>
                </a:gridCol>
                <a:gridCol w="662243">
                  <a:extLst>
                    <a:ext uri="{9D8B030D-6E8A-4147-A177-3AD203B41FA5}">
                      <a16:colId xmlns:a16="http://schemas.microsoft.com/office/drawing/2014/main" xmlns="" val="3329750426"/>
                    </a:ext>
                  </a:extLst>
                </a:gridCol>
                <a:gridCol w="662243">
                  <a:extLst>
                    <a:ext uri="{9D8B030D-6E8A-4147-A177-3AD203B41FA5}">
                      <a16:colId xmlns:a16="http://schemas.microsoft.com/office/drawing/2014/main" xmlns="" val="2704801833"/>
                    </a:ext>
                  </a:extLst>
                </a:gridCol>
              </a:tblGrid>
              <a:tr h="373380">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256869308"/>
                  </a:ext>
                </a:extLst>
              </a:tr>
            </a:tbl>
          </a:graphicData>
        </a:graphic>
      </p:graphicFrame>
    </p:spTree>
    <p:extLst>
      <p:ext uri="{BB962C8B-B14F-4D97-AF65-F5344CB8AC3E}">
        <p14:creationId xmlns:p14="http://schemas.microsoft.com/office/powerpoint/2010/main" val="3902457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300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89924" y="647008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265</a:t>
            </a:r>
            <a:endParaRPr i="1" dirty="0">
              <a:latin typeface="Calibri"/>
              <a:ea typeface="Calibri"/>
              <a:cs typeface="Calibri"/>
              <a:sym typeface="Calibri"/>
            </a:endParaRPr>
          </a:p>
        </p:txBody>
      </p:sp>
      <p:sp>
        <p:nvSpPr>
          <p:cNvPr id="8" name="Rectangle 7">
            <a:extLst>
              <a:ext uri="{FF2B5EF4-FFF2-40B4-BE49-F238E27FC236}">
                <a16:creationId xmlns:a16="http://schemas.microsoft.com/office/drawing/2014/main" xmlns="" id="{90F2392B-E664-564F-A896-EB6D8D0F41D3}"/>
              </a:ext>
            </a:extLst>
          </p:cNvPr>
          <p:cNvSpPr/>
          <p:nvPr/>
        </p:nvSpPr>
        <p:spPr>
          <a:xfrm>
            <a:off x="6969126" y="1191896"/>
            <a:ext cx="466725" cy="466725"/>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9" name="Rectangle 8">
            <a:extLst>
              <a:ext uri="{FF2B5EF4-FFF2-40B4-BE49-F238E27FC236}">
                <a16:creationId xmlns:a16="http://schemas.microsoft.com/office/drawing/2014/main" xmlns="" id="{A8057337-546A-4F46-9639-0F30CE58C4F5}"/>
              </a:ext>
            </a:extLst>
          </p:cNvPr>
          <p:cNvSpPr/>
          <p:nvPr/>
        </p:nvSpPr>
        <p:spPr>
          <a:xfrm>
            <a:off x="6969126" y="1798321"/>
            <a:ext cx="466725" cy="466725"/>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3" name="Rectangle 3">
            <a:extLst>
              <a:ext uri="{FF2B5EF4-FFF2-40B4-BE49-F238E27FC236}">
                <a16:creationId xmlns:a16="http://schemas.microsoft.com/office/drawing/2014/main" xmlns="" id="{AD68877A-21E6-054C-B2D7-6646F4548BD5}"/>
              </a:ext>
            </a:extLst>
          </p:cNvPr>
          <p:cNvSpPr>
            <a:spLocks noChangeArrowheads="1"/>
          </p:cNvSpPr>
          <p:nvPr/>
        </p:nvSpPr>
        <p:spPr bwMode="auto">
          <a:xfrm>
            <a:off x="2047875" y="505569"/>
            <a:ext cx="837723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x-none" sz="2400" dirty="0">
                <a:latin typeface="Verdana" panose="020B0604030504040204" pitchFamily="34" charset="0"/>
                <a:ea typeface="Verdana" panose="020B0604030504040204" pitchFamily="34" charset="0"/>
                <a:cs typeface="Verdana" panose="020B0604030504040204" pitchFamily="34" charset="0"/>
              </a:rPr>
              <a:t>Complete the statements using the tape diagram.</a:t>
            </a:r>
          </a:p>
          <a:p>
            <a:pPr marL="457200" indent="-457200" eaLnBrk="0" fontAlgn="base" hangingPunct="0">
              <a:spcBef>
                <a:spcPct val="0"/>
              </a:spcBef>
              <a:spcAft>
                <a:spcPct val="0"/>
              </a:spcAft>
              <a:buClrTx/>
              <a:buFont typeface="+mj-lt"/>
              <a:buAutoNum type="arabicPeriod"/>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a:p>
            <a:pPr eaLnBrk="0" fontAlgn="base" hangingPunct="0">
              <a:spcBef>
                <a:spcPct val="0"/>
              </a:spcBef>
              <a:spcAft>
                <a:spcPct val="0"/>
              </a:spcAft>
              <a:buClrTx/>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a:pPr>
            <a:r>
              <a:rPr lang="en-US" altLang="x-none" sz="2400" dirty="0">
                <a:latin typeface="Verdana" panose="020B0604030504040204" pitchFamily="34" charset="0"/>
                <a:ea typeface="Verdana" panose="020B0604030504040204" pitchFamily="34" charset="0"/>
                <a:cs typeface="Verdana" panose="020B0604030504040204" pitchFamily="34" charset="0"/>
              </a:rPr>
              <a:t>The ratio of dogs to cats is        . </a:t>
            </a:r>
          </a:p>
          <a:p>
            <a:pPr marL="457200" indent="-457200" eaLnBrk="0" fontAlgn="base" hangingPunct="0">
              <a:spcBef>
                <a:spcPct val="0"/>
              </a:spcBef>
              <a:spcAft>
                <a:spcPct val="0"/>
              </a:spcAft>
              <a:buClrTx/>
              <a:buFont typeface="+mj-lt"/>
              <a:buAutoNum type="alphaLcPeriod"/>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a:p>
            <a:pPr marL="457200" indent="-457200" eaLnBrk="0" fontAlgn="base" hangingPunct="0">
              <a:spcBef>
                <a:spcPct val="0"/>
              </a:spcBef>
              <a:spcAft>
                <a:spcPct val="0"/>
              </a:spcAft>
              <a:buClrTx/>
              <a:buFont typeface="+mj-lt"/>
              <a:buAutoNum type="alphaLcPeriod"/>
            </a:pPr>
            <a:r>
              <a:rPr lang="en-US" altLang="x-none" sz="2400" dirty="0">
                <a:latin typeface="Verdana" panose="020B0604030504040204" pitchFamily="34" charset="0"/>
                <a:ea typeface="Verdana" panose="020B0604030504040204" pitchFamily="34" charset="0"/>
                <a:cs typeface="Verdana" panose="020B0604030504040204" pitchFamily="34" charset="0"/>
              </a:rPr>
              <a:t>For every ____ cats at the shelter, there are ____ dogs.</a:t>
            </a:r>
          </a:p>
          <a:p>
            <a:pPr marL="457200" indent="-457200" eaLnBrk="0" fontAlgn="base" hangingPunct="0">
              <a:spcBef>
                <a:spcPct val="0"/>
              </a:spcBef>
              <a:spcAft>
                <a:spcPct val="0"/>
              </a:spcAft>
              <a:buClrTx/>
              <a:buFont typeface="+mj-lt"/>
              <a:buAutoNum type="alphaLcPeriod"/>
            </a:pPr>
            <a:endParaRPr lang="en-US" altLang="x-none"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xmlns="" id="{BB0F3789-2958-E645-90DE-DA1440621A6A}"/>
                  </a:ext>
                </a:extLst>
              </p:cNvPr>
              <p:cNvSpPr txBox="1"/>
              <p:nvPr/>
            </p:nvSpPr>
            <p:spPr>
              <a:xfrm>
                <a:off x="6818113" y="1563463"/>
                <a:ext cx="768748" cy="383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x-none" i="1">
                              <a:solidFill>
                                <a:srgbClr val="836967"/>
                              </a:solidFill>
                              <a:latin typeface="Cambria Math"/>
                            </a:rPr>
                          </m:ctrlPr>
                        </m:fPr>
                        <m:num>
                          <m:r>
                            <a:rPr lang="x-none">
                              <a:latin typeface="Cambria Math" panose="02040503050406030204" pitchFamily="18" charset="0"/>
                            </a:rPr>
                            <m:t>              </m:t>
                          </m:r>
                        </m:num>
                        <m:den>
                          <m:r>
                            <a:rPr lang="x-none">
                              <a:latin typeface="Cambria Math" panose="02040503050406030204" pitchFamily="18" charset="0"/>
                            </a:rPr>
                            <m:t>   </m:t>
                          </m:r>
                        </m:den>
                      </m:f>
                    </m:oMath>
                  </m:oMathPara>
                </a14:m>
                <a:endParaRPr lang="x-none" dirty="0"/>
              </a:p>
            </p:txBody>
          </p:sp>
        </mc:Choice>
        <mc:Fallback xmlns="">
          <p:sp>
            <p:nvSpPr>
              <p:cNvPr id="16" name="TextBox 15">
                <a:extLst>
                  <a:ext uri="{FF2B5EF4-FFF2-40B4-BE49-F238E27FC236}">
                    <a16:creationId xmlns:a16="http://schemas.microsoft.com/office/drawing/2014/main" id="{BB0F3789-2958-E645-90DE-DA1440621A6A}"/>
                  </a:ext>
                </a:extLst>
              </p:cNvPr>
              <p:cNvSpPr txBox="1">
                <a:spLocks noRot="1" noChangeAspect="1" noMove="1" noResize="1" noEditPoints="1" noAdjustHandles="1" noChangeArrowheads="1" noChangeShapeType="1" noTextEdit="1"/>
              </p:cNvSpPr>
              <p:nvPr/>
            </p:nvSpPr>
            <p:spPr>
              <a:xfrm>
                <a:off x="6818113" y="1563463"/>
                <a:ext cx="768748" cy="383054"/>
              </a:xfrm>
              <a:prstGeom prst="rect">
                <a:avLst/>
              </a:prstGeom>
              <a:blipFill>
                <a:blip r:embed="rId4"/>
                <a:stretch>
                  <a:fillRect t="-25000" b="-18750"/>
                </a:stretch>
              </a:blipFill>
            </p:spPr>
            <p:txBody>
              <a:bodyPr/>
              <a:lstStyle/>
              <a:p>
                <a:r>
                  <a:rPr lang="en-US">
                    <a:noFill/>
                  </a:rPr>
                  <a:t> </a:t>
                </a:r>
              </a:p>
            </p:txBody>
          </p:sp>
        </mc:Fallback>
      </mc:AlternateContent>
    </p:spTree>
    <p:extLst>
      <p:ext uri="{BB962C8B-B14F-4D97-AF65-F5344CB8AC3E}">
        <p14:creationId xmlns:p14="http://schemas.microsoft.com/office/powerpoint/2010/main" val="161775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6377"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ECD6B6F-929B-8F47-BFEE-44ED1D0E863F}"/>
                  </a:ext>
                </a:extLst>
              </p:cNvPr>
              <p:cNvSpPr/>
              <p:nvPr/>
            </p:nvSpPr>
            <p:spPr>
              <a:xfrm>
                <a:off x="777765" y="469911"/>
                <a:ext cx="10792535" cy="1015663"/>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If there are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27</m:t>
                    </m:r>
                  </m:oMath>
                </a14:m>
                <a:r>
                  <a:rPr lang="en-US" sz="2000" dirty="0">
                    <a:latin typeface="Verdana" panose="020B0604030504040204" pitchFamily="34" charset="0"/>
                    <a:ea typeface="Verdana" panose="020B0604030504040204" pitchFamily="34" charset="0"/>
                    <a:cs typeface="Verdana" panose="020B0604030504040204" pitchFamily="34" charset="0"/>
                  </a:rPr>
                  <a:t> cats and dogs at the animal shelter in all, and the ratio of cats to dogs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4:5</m:t>
                    </m:r>
                  </m:oMath>
                </a14:m>
                <a:r>
                  <a:rPr lang="en-US" sz="2000" dirty="0">
                    <a:latin typeface="Verdana" panose="020B0604030504040204" pitchFamily="34" charset="0"/>
                    <a:ea typeface="Verdana" panose="020B0604030504040204" pitchFamily="34" charset="0"/>
                    <a:cs typeface="Verdana" panose="020B0604030504040204" pitchFamily="34" charset="0"/>
                  </a:rPr>
                  <a:t>, the same tape diagram can be used to represent the relationship.</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777765" y="469911"/>
                <a:ext cx="10792535" cy="1015663"/>
              </a:xfrm>
              <a:prstGeom prst="rect">
                <a:avLst/>
              </a:prstGeom>
              <a:blipFill>
                <a:blip r:embed="rId4"/>
                <a:stretch>
                  <a:fillRect l="-588" t="-2439" b="-8537"/>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8936301"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265</a:t>
            </a:r>
            <a:endParaRPr i="1" dirty="0">
              <a:latin typeface="Calibri"/>
              <a:ea typeface="Calibri"/>
              <a:cs typeface="Calibri"/>
              <a:sym typeface="Calibri"/>
            </a:endParaRPr>
          </a:p>
        </p:txBody>
      </p:sp>
      <p:graphicFrame>
        <p:nvGraphicFramePr>
          <p:cNvPr id="7" name="Table 6">
            <a:extLst>
              <a:ext uri="{FF2B5EF4-FFF2-40B4-BE49-F238E27FC236}">
                <a16:creationId xmlns:a16="http://schemas.microsoft.com/office/drawing/2014/main" xmlns="" id="{0A2FC3EA-4B25-E74E-A85B-7E26120AC988}"/>
              </a:ext>
            </a:extLst>
          </p:cNvPr>
          <p:cNvGraphicFramePr>
            <a:graphicFrameLocks noGrp="1"/>
          </p:cNvGraphicFramePr>
          <p:nvPr>
            <p:extLst>
              <p:ext uri="{D42A27DB-BD31-4B8C-83A1-F6EECF244321}">
                <p14:modId xmlns:p14="http://schemas.microsoft.com/office/powerpoint/2010/main" val="2007465080"/>
              </p:ext>
            </p:extLst>
          </p:nvPr>
        </p:nvGraphicFramePr>
        <p:xfrm>
          <a:off x="3372803" y="1762336"/>
          <a:ext cx="5446395" cy="906780"/>
        </p:xfrm>
        <a:graphic>
          <a:graphicData uri="http://schemas.openxmlformats.org/drawingml/2006/table">
            <a:tbl>
              <a:tblPr firstRow="1" firstCol="1" bandRow="1">
                <a:tableStyleId>{A91F0D33-8C57-4600-99A7-42BC86742BE1}</a:tableStyleId>
              </a:tblPr>
              <a:tblGrid>
                <a:gridCol w="2337436">
                  <a:extLst>
                    <a:ext uri="{9D8B030D-6E8A-4147-A177-3AD203B41FA5}">
                      <a16:colId xmlns:a16="http://schemas.microsoft.com/office/drawing/2014/main" xmlns="" val="2148033505"/>
                    </a:ext>
                  </a:extLst>
                </a:gridCol>
                <a:gridCol w="487679">
                  <a:extLst>
                    <a:ext uri="{9D8B030D-6E8A-4147-A177-3AD203B41FA5}">
                      <a16:colId xmlns:a16="http://schemas.microsoft.com/office/drawing/2014/main" xmlns="" val="1006735800"/>
                    </a:ext>
                  </a:extLst>
                </a:gridCol>
                <a:gridCol w="655320">
                  <a:extLst>
                    <a:ext uri="{9D8B030D-6E8A-4147-A177-3AD203B41FA5}">
                      <a16:colId xmlns:a16="http://schemas.microsoft.com/office/drawing/2014/main" xmlns="" val="1087046338"/>
                    </a:ext>
                  </a:extLst>
                </a:gridCol>
                <a:gridCol w="655320">
                  <a:extLst>
                    <a:ext uri="{9D8B030D-6E8A-4147-A177-3AD203B41FA5}">
                      <a16:colId xmlns:a16="http://schemas.microsoft.com/office/drawing/2014/main" xmlns="" val="3909414518"/>
                    </a:ext>
                  </a:extLst>
                </a:gridCol>
                <a:gridCol w="655320">
                  <a:extLst>
                    <a:ext uri="{9D8B030D-6E8A-4147-A177-3AD203B41FA5}">
                      <a16:colId xmlns:a16="http://schemas.microsoft.com/office/drawing/2014/main" xmlns="" val="1494817667"/>
                    </a:ext>
                  </a:extLst>
                </a:gridCol>
                <a:gridCol w="655320">
                  <a:extLst>
                    <a:ext uri="{9D8B030D-6E8A-4147-A177-3AD203B41FA5}">
                      <a16:colId xmlns:a16="http://schemas.microsoft.com/office/drawing/2014/main" xmlns="" val="3768274764"/>
                    </a:ext>
                  </a:extLst>
                </a:gridCol>
              </a:tblGrid>
              <a:tr h="37338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Number of Cats</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3034878296"/>
                  </a:ext>
                </a:extLst>
              </a:tr>
              <a:tr h="119380">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478765652"/>
                  </a:ext>
                </a:extLst>
              </a:tr>
              <a:tr h="37338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Number of Dogs</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4166426195"/>
                  </a:ext>
                </a:extLst>
              </a:tr>
            </a:tbl>
          </a:graphicData>
        </a:graphic>
      </p:graphicFrame>
      <p:graphicFrame>
        <p:nvGraphicFramePr>
          <p:cNvPr id="9" name="Table 8">
            <a:extLst>
              <a:ext uri="{FF2B5EF4-FFF2-40B4-BE49-F238E27FC236}">
                <a16:creationId xmlns:a16="http://schemas.microsoft.com/office/drawing/2014/main" xmlns="" id="{27EE55AD-DB39-0248-994F-B3EE407AD427}"/>
              </a:ext>
            </a:extLst>
          </p:cNvPr>
          <p:cNvGraphicFramePr>
            <a:graphicFrameLocks noGrp="1"/>
          </p:cNvGraphicFramePr>
          <p:nvPr>
            <p:extLst>
              <p:ext uri="{D42A27DB-BD31-4B8C-83A1-F6EECF244321}">
                <p14:modId xmlns:p14="http://schemas.microsoft.com/office/powerpoint/2010/main" val="822765412"/>
              </p:ext>
            </p:extLst>
          </p:nvPr>
        </p:nvGraphicFramePr>
        <p:xfrm>
          <a:off x="5728653" y="1712953"/>
          <a:ext cx="2620645" cy="373380"/>
        </p:xfrm>
        <a:graphic>
          <a:graphicData uri="http://schemas.openxmlformats.org/drawingml/2006/table">
            <a:tbl>
              <a:tblPr firstRow="1" firstCol="1" bandRow="1">
                <a:tableStyleId>{A91F0D33-8C57-4600-99A7-42BC86742BE1}</a:tableStyleId>
              </a:tblPr>
              <a:tblGrid>
                <a:gridCol w="654685">
                  <a:extLst>
                    <a:ext uri="{9D8B030D-6E8A-4147-A177-3AD203B41FA5}">
                      <a16:colId xmlns:a16="http://schemas.microsoft.com/office/drawing/2014/main" xmlns="" val="3639263860"/>
                    </a:ext>
                  </a:extLst>
                </a:gridCol>
                <a:gridCol w="655320">
                  <a:extLst>
                    <a:ext uri="{9D8B030D-6E8A-4147-A177-3AD203B41FA5}">
                      <a16:colId xmlns:a16="http://schemas.microsoft.com/office/drawing/2014/main" xmlns="" val="3250578720"/>
                    </a:ext>
                  </a:extLst>
                </a:gridCol>
                <a:gridCol w="655320">
                  <a:extLst>
                    <a:ext uri="{9D8B030D-6E8A-4147-A177-3AD203B41FA5}">
                      <a16:colId xmlns:a16="http://schemas.microsoft.com/office/drawing/2014/main" xmlns="" val="185536832"/>
                    </a:ext>
                  </a:extLst>
                </a:gridCol>
                <a:gridCol w="655320">
                  <a:extLst>
                    <a:ext uri="{9D8B030D-6E8A-4147-A177-3AD203B41FA5}">
                      <a16:colId xmlns:a16="http://schemas.microsoft.com/office/drawing/2014/main" xmlns="" val="3329750426"/>
                    </a:ext>
                  </a:extLst>
                </a:gridCol>
              </a:tblGrid>
              <a:tr h="373380">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xmlns="" val="1256869308"/>
                  </a:ext>
                </a:extLst>
              </a:tr>
            </a:tbl>
          </a:graphicData>
        </a:graphic>
      </p:graphicFrame>
      <p:graphicFrame>
        <p:nvGraphicFramePr>
          <p:cNvPr id="10" name="Table 9">
            <a:extLst>
              <a:ext uri="{FF2B5EF4-FFF2-40B4-BE49-F238E27FC236}">
                <a16:creationId xmlns:a16="http://schemas.microsoft.com/office/drawing/2014/main" xmlns="" id="{47315B1E-9254-C74B-83DE-8A97F910387F}"/>
              </a:ext>
            </a:extLst>
          </p:cNvPr>
          <p:cNvGraphicFramePr>
            <a:graphicFrameLocks noGrp="1"/>
          </p:cNvGraphicFramePr>
          <p:nvPr>
            <p:extLst>
              <p:ext uri="{D42A27DB-BD31-4B8C-83A1-F6EECF244321}">
                <p14:modId xmlns:p14="http://schemas.microsoft.com/office/powerpoint/2010/main" val="2918649105"/>
              </p:ext>
            </p:extLst>
          </p:nvPr>
        </p:nvGraphicFramePr>
        <p:xfrm>
          <a:off x="5728651" y="2270166"/>
          <a:ext cx="3310574" cy="373380"/>
        </p:xfrm>
        <a:graphic>
          <a:graphicData uri="http://schemas.openxmlformats.org/drawingml/2006/table">
            <a:tbl>
              <a:tblPr firstRow="1" firstCol="1" bandRow="1">
                <a:tableStyleId>{A91F0D33-8C57-4600-99A7-42BC86742BE1}</a:tableStyleId>
              </a:tblPr>
              <a:tblGrid>
                <a:gridCol w="661602">
                  <a:extLst>
                    <a:ext uri="{9D8B030D-6E8A-4147-A177-3AD203B41FA5}">
                      <a16:colId xmlns:a16="http://schemas.microsoft.com/office/drawing/2014/main" xmlns="" val="3639263860"/>
                    </a:ext>
                  </a:extLst>
                </a:gridCol>
                <a:gridCol w="662243">
                  <a:extLst>
                    <a:ext uri="{9D8B030D-6E8A-4147-A177-3AD203B41FA5}">
                      <a16:colId xmlns:a16="http://schemas.microsoft.com/office/drawing/2014/main" xmlns="" val="3250578720"/>
                    </a:ext>
                  </a:extLst>
                </a:gridCol>
                <a:gridCol w="662243">
                  <a:extLst>
                    <a:ext uri="{9D8B030D-6E8A-4147-A177-3AD203B41FA5}">
                      <a16:colId xmlns:a16="http://schemas.microsoft.com/office/drawing/2014/main" xmlns="" val="185536832"/>
                    </a:ext>
                  </a:extLst>
                </a:gridCol>
                <a:gridCol w="662243">
                  <a:extLst>
                    <a:ext uri="{9D8B030D-6E8A-4147-A177-3AD203B41FA5}">
                      <a16:colId xmlns:a16="http://schemas.microsoft.com/office/drawing/2014/main" xmlns="" val="3329750426"/>
                    </a:ext>
                  </a:extLst>
                </a:gridCol>
                <a:gridCol w="662243">
                  <a:extLst>
                    <a:ext uri="{9D8B030D-6E8A-4147-A177-3AD203B41FA5}">
                      <a16:colId xmlns:a16="http://schemas.microsoft.com/office/drawing/2014/main" xmlns="" val="2704801833"/>
                    </a:ext>
                  </a:extLst>
                </a:gridCol>
              </a:tblGrid>
              <a:tr h="373380">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256869308"/>
                  </a:ext>
                </a:extLst>
              </a:tr>
            </a:tbl>
          </a:graphicData>
        </a:graphic>
      </p:graphicFrame>
      <p:sp>
        <p:nvSpPr>
          <p:cNvPr id="11" name="Rectangle 10">
            <a:extLst>
              <a:ext uri="{FF2B5EF4-FFF2-40B4-BE49-F238E27FC236}">
                <a16:creationId xmlns:a16="http://schemas.microsoft.com/office/drawing/2014/main" xmlns="" id="{3E11A131-617F-804F-8281-DC01F3651279}"/>
              </a:ext>
            </a:extLst>
          </p:cNvPr>
          <p:cNvSpPr/>
          <p:nvPr/>
        </p:nvSpPr>
        <p:spPr>
          <a:xfrm>
            <a:off x="777765" y="3113098"/>
            <a:ext cx="10792535" cy="1938992"/>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value of each small rectangle in the diagram given this new information?</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each small rectangle with this value.</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06837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66993"/>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CECD6B6F-929B-8F47-BFEE-44ED1D0E863F}"/>
                  </a:ext>
                </a:extLst>
              </p:cNvPr>
              <p:cNvSpPr/>
              <p:nvPr/>
            </p:nvSpPr>
            <p:spPr>
              <a:xfrm>
                <a:off x="1124607" y="469910"/>
                <a:ext cx="9394803" cy="4093428"/>
              </a:xfrm>
              <a:prstGeom prst="rect">
                <a:avLst/>
              </a:prstGeom>
            </p:spPr>
            <p:txBody>
              <a:bodyPr wrap="square">
                <a:spAutoFit/>
              </a:bodyPr>
              <a:lstStyle/>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How many dogs are at the animal shelter?</a:t>
                </a: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How many cats are at the animal shelter?</a:t>
                </a: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98475"/>
                <a:r>
                  <a:rPr lang="en-US" sz="2000" dirty="0">
                    <a:latin typeface="Verdana" panose="020B0604030504040204" pitchFamily="34" charset="0"/>
                    <a:ea typeface="Verdana" panose="020B0604030504040204" pitchFamily="34" charset="0"/>
                    <a:cs typeface="Verdana" panose="020B0604030504040204" pitchFamily="34" charset="0"/>
                  </a:rPr>
                  <a:t>The ratio of cats to dogs at the shelter,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4:5</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the ratio ____ to ____.</a:t>
                </a:r>
              </a:p>
            </p:txBody>
          </p:sp>
        </mc:Choice>
        <mc:Fallback xmlns="">
          <p:sp>
            <p:nvSpPr>
              <p:cNvPr id="8" name="Rectangle 7">
                <a:extLst>
                  <a:ext uri="{FF2B5EF4-FFF2-40B4-BE49-F238E27FC236}">
                    <a16:creationId xmlns:a16="http://schemas.microsoft.com/office/drawing/2014/main" id="{CECD6B6F-929B-8F47-BFEE-44ED1D0E863F}"/>
                  </a:ext>
                </a:extLst>
              </p:cNvPr>
              <p:cNvSpPr>
                <a:spLocks noRot="1" noChangeAspect="1" noMove="1" noResize="1" noEditPoints="1" noAdjustHandles="1" noChangeArrowheads="1" noChangeShapeType="1" noTextEdit="1"/>
              </p:cNvSpPr>
              <p:nvPr/>
            </p:nvSpPr>
            <p:spPr>
              <a:xfrm>
                <a:off x="1124607" y="469910"/>
                <a:ext cx="9394803" cy="4093428"/>
              </a:xfrm>
              <a:prstGeom prst="rect">
                <a:avLst/>
              </a:prstGeom>
              <a:blipFill>
                <a:blip r:embed="rId4"/>
                <a:stretch>
                  <a:fillRect l="-675" t="-617" b="-1543"/>
                </a:stretch>
              </a:blipFill>
            </p:spPr>
            <p:txBody>
              <a:bodyPr/>
              <a:lstStyle/>
              <a:p>
                <a:r>
                  <a:rPr lang="en-US">
                    <a:noFill/>
                  </a:rPr>
                  <a:t> </a:t>
                </a:r>
              </a:p>
            </p:txBody>
          </p:sp>
        </mc:Fallback>
      </mc:AlternateContent>
      <p:sp>
        <p:nvSpPr>
          <p:cNvPr id="17" name="Google Shape;282;g104476d1465_1_17">
            <a:extLst>
              <a:ext uri="{FF2B5EF4-FFF2-40B4-BE49-F238E27FC236}">
                <a16:creationId xmlns:a16="http://schemas.microsoft.com/office/drawing/2014/main" xmlns="" id="{7FE8CD52-CF69-634B-9F05-4A24C91B9247}"/>
              </a:ext>
            </a:extLst>
          </p:cNvPr>
          <p:cNvSpPr txBox="1"/>
          <p:nvPr/>
        </p:nvSpPr>
        <p:spPr>
          <a:xfrm>
            <a:off x="8889924" y="642406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265</a:t>
            </a:r>
            <a:endParaRPr i="1" dirty="0">
              <a:latin typeface="Calibri"/>
              <a:ea typeface="Calibri"/>
              <a:cs typeface="Calibri"/>
              <a:sym typeface="Calibri"/>
            </a:endParaRPr>
          </a:p>
        </p:txBody>
      </p:sp>
    </p:spTree>
    <p:extLst>
      <p:ext uri="{BB962C8B-B14F-4D97-AF65-F5344CB8AC3E}">
        <p14:creationId xmlns:p14="http://schemas.microsoft.com/office/powerpoint/2010/main" val="794314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xmlns="" id="{51DCB9D4-64AC-E448-A076-AB6B662D6AE3}"/>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266</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378" y="-17893"/>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051272" y="50657"/>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6.2.5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303972" y="50657"/>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A66A031F-2EC8-DF4C-B3F5-E7AC5B8F3239}"/>
                  </a:ext>
                </a:extLst>
              </p:cNvPr>
              <p:cNvSpPr/>
              <p:nvPr/>
            </p:nvSpPr>
            <p:spPr>
              <a:xfrm>
                <a:off x="1051272" y="1126599"/>
                <a:ext cx="10472652" cy="1631216"/>
              </a:xfrm>
              <a:prstGeom prst="rect">
                <a:avLst/>
              </a:prstGeom>
            </p:spPr>
            <p:txBody>
              <a:bodyPr wrap="square">
                <a:spAutoFit/>
              </a:bodyPr>
              <a:lstStyle/>
              <a:p>
                <a:pPr marL="407988" indent="-396875">
                  <a:buSzPts val="1800"/>
                </a:pPr>
                <a:r>
                  <a:rPr lang="en-US" sz="2000" dirty="0">
                    <a:latin typeface="Verdana" panose="020B0604030504040204" pitchFamily="34" charset="0"/>
                    <a:ea typeface="Verdana" panose="020B0604030504040204" pitchFamily="34" charset="0"/>
                    <a:cs typeface="Verdana" panose="020B0604030504040204" pitchFamily="34" charset="0"/>
                  </a:rPr>
                  <a:t>1. Mr. Floyd is planning a field trip for his class to the Cade Museum for Creativity and Invention in Gainesville, Florida. To meet the museum’s recommended ratio of chaperones to students, Mr. Floyd needs to have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adult chaperone for every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students. The tape diagram represents the ratio of adults to students needed.</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1051272" y="1126599"/>
                <a:ext cx="10472652" cy="1631216"/>
              </a:xfrm>
              <a:prstGeom prst="rect">
                <a:avLst/>
              </a:prstGeom>
              <a:blipFill>
                <a:blip r:embed="rId5"/>
                <a:stretch>
                  <a:fillRect l="-484" t="-2326" r="-363" b="-6202"/>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266</a:t>
            </a:r>
            <a:endParaRPr i="1" dirty="0">
              <a:latin typeface="Calibri"/>
              <a:ea typeface="Calibri"/>
              <a:cs typeface="Calibri"/>
              <a:sym typeface="Calibri"/>
            </a:endParaRPr>
          </a:p>
        </p:txBody>
      </p:sp>
      <p:graphicFrame>
        <p:nvGraphicFramePr>
          <p:cNvPr id="11" name="Table 10">
            <a:extLst>
              <a:ext uri="{FF2B5EF4-FFF2-40B4-BE49-F238E27FC236}">
                <a16:creationId xmlns:a16="http://schemas.microsoft.com/office/drawing/2014/main" xmlns="" id="{A0847F79-3308-B84B-B5FF-6163185342CF}"/>
              </a:ext>
            </a:extLst>
          </p:cNvPr>
          <p:cNvGraphicFramePr>
            <a:graphicFrameLocks noGrp="1"/>
          </p:cNvGraphicFramePr>
          <p:nvPr>
            <p:extLst>
              <p:ext uri="{D42A27DB-BD31-4B8C-83A1-F6EECF244321}">
                <p14:modId xmlns:p14="http://schemas.microsoft.com/office/powerpoint/2010/main" val="2659683755"/>
              </p:ext>
            </p:extLst>
          </p:nvPr>
        </p:nvGraphicFramePr>
        <p:xfrm>
          <a:off x="2602709" y="3442843"/>
          <a:ext cx="6537959" cy="906780"/>
        </p:xfrm>
        <a:graphic>
          <a:graphicData uri="http://schemas.openxmlformats.org/drawingml/2006/table">
            <a:tbl>
              <a:tblPr firstRow="1" firstCol="1" bandRow="1">
                <a:tableStyleId>{A91F0D33-8C57-4600-99A7-42BC86742BE1}</a:tableStyleId>
              </a:tblPr>
              <a:tblGrid>
                <a:gridCol w="2805904">
                  <a:extLst>
                    <a:ext uri="{9D8B030D-6E8A-4147-A177-3AD203B41FA5}">
                      <a16:colId xmlns:a16="http://schemas.microsoft.com/office/drawing/2014/main" xmlns="" val="2148033505"/>
                    </a:ext>
                  </a:extLst>
                </a:gridCol>
                <a:gridCol w="585419">
                  <a:extLst>
                    <a:ext uri="{9D8B030D-6E8A-4147-A177-3AD203B41FA5}">
                      <a16:colId xmlns:a16="http://schemas.microsoft.com/office/drawing/2014/main" xmlns="" val="1006735800"/>
                    </a:ext>
                  </a:extLst>
                </a:gridCol>
                <a:gridCol w="786659">
                  <a:extLst>
                    <a:ext uri="{9D8B030D-6E8A-4147-A177-3AD203B41FA5}">
                      <a16:colId xmlns:a16="http://schemas.microsoft.com/office/drawing/2014/main" xmlns="" val="1087046338"/>
                    </a:ext>
                  </a:extLst>
                </a:gridCol>
                <a:gridCol w="786659">
                  <a:extLst>
                    <a:ext uri="{9D8B030D-6E8A-4147-A177-3AD203B41FA5}">
                      <a16:colId xmlns:a16="http://schemas.microsoft.com/office/drawing/2014/main" xmlns="" val="3909414518"/>
                    </a:ext>
                  </a:extLst>
                </a:gridCol>
                <a:gridCol w="786659">
                  <a:extLst>
                    <a:ext uri="{9D8B030D-6E8A-4147-A177-3AD203B41FA5}">
                      <a16:colId xmlns:a16="http://schemas.microsoft.com/office/drawing/2014/main" xmlns="" val="1494817667"/>
                    </a:ext>
                  </a:extLst>
                </a:gridCol>
                <a:gridCol w="786659">
                  <a:extLst>
                    <a:ext uri="{9D8B030D-6E8A-4147-A177-3AD203B41FA5}">
                      <a16:colId xmlns:a16="http://schemas.microsoft.com/office/drawing/2014/main" xmlns="" val="3768274764"/>
                    </a:ext>
                  </a:extLst>
                </a:gridCol>
              </a:tblGrid>
              <a:tr h="37338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Number of Adults</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3034878296"/>
                  </a:ext>
                </a:extLst>
              </a:tr>
              <a:tr h="119380">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105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2478765652"/>
                  </a:ext>
                </a:extLst>
              </a:tr>
              <a:tr h="37338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Number of Students</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xmlns="" val="4166426195"/>
                  </a:ext>
                </a:extLst>
              </a:tr>
            </a:tbl>
          </a:graphicData>
        </a:graphic>
      </p:graphicFrame>
      <p:graphicFrame>
        <p:nvGraphicFramePr>
          <p:cNvPr id="12" name="Table 11">
            <a:extLst>
              <a:ext uri="{FF2B5EF4-FFF2-40B4-BE49-F238E27FC236}">
                <a16:creationId xmlns:a16="http://schemas.microsoft.com/office/drawing/2014/main" xmlns="" id="{778AF306-CC43-0E41-9479-BE3E6F87DB5A}"/>
              </a:ext>
            </a:extLst>
          </p:cNvPr>
          <p:cNvGraphicFramePr>
            <a:graphicFrameLocks noGrp="1"/>
          </p:cNvGraphicFramePr>
          <p:nvPr>
            <p:extLst>
              <p:ext uri="{D42A27DB-BD31-4B8C-83A1-F6EECF244321}">
                <p14:modId xmlns:p14="http://schemas.microsoft.com/office/powerpoint/2010/main" val="2182825593"/>
              </p:ext>
            </p:extLst>
          </p:nvPr>
        </p:nvGraphicFramePr>
        <p:xfrm>
          <a:off x="5714365" y="3419030"/>
          <a:ext cx="381636" cy="373380"/>
        </p:xfrm>
        <a:graphic>
          <a:graphicData uri="http://schemas.openxmlformats.org/drawingml/2006/table">
            <a:tbl>
              <a:tblPr firstRow="1" firstCol="1" bandRow="1">
                <a:tableStyleId>{A91F0D33-8C57-4600-99A7-42BC86742BE1}</a:tableStyleId>
              </a:tblPr>
              <a:tblGrid>
                <a:gridCol w="381636">
                  <a:extLst>
                    <a:ext uri="{9D8B030D-6E8A-4147-A177-3AD203B41FA5}">
                      <a16:colId xmlns:a16="http://schemas.microsoft.com/office/drawing/2014/main" xmlns="" val="3639263860"/>
                    </a:ext>
                  </a:extLst>
                </a:gridCol>
              </a:tblGrid>
              <a:tr h="373380">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xmlns="" val="1256869308"/>
                  </a:ext>
                </a:extLst>
              </a:tr>
            </a:tbl>
          </a:graphicData>
        </a:graphic>
      </p:graphicFrame>
      <p:graphicFrame>
        <p:nvGraphicFramePr>
          <p:cNvPr id="14" name="Table 13">
            <a:extLst>
              <a:ext uri="{FF2B5EF4-FFF2-40B4-BE49-F238E27FC236}">
                <a16:creationId xmlns:a16="http://schemas.microsoft.com/office/drawing/2014/main" xmlns="" id="{E0AA022C-5A86-5D4E-9AB9-A1967AD91293}"/>
              </a:ext>
            </a:extLst>
          </p:cNvPr>
          <p:cNvGraphicFramePr>
            <a:graphicFrameLocks noGrp="1"/>
          </p:cNvGraphicFramePr>
          <p:nvPr>
            <p:extLst>
              <p:ext uri="{D42A27DB-BD31-4B8C-83A1-F6EECF244321}">
                <p14:modId xmlns:p14="http://schemas.microsoft.com/office/powerpoint/2010/main" val="2804035203"/>
              </p:ext>
            </p:extLst>
          </p:nvPr>
        </p:nvGraphicFramePr>
        <p:xfrm>
          <a:off x="5714363" y="3976243"/>
          <a:ext cx="3426308" cy="373380"/>
        </p:xfrm>
        <a:graphic>
          <a:graphicData uri="http://schemas.openxmlformats.org/drawingml/2006/table">
            <a:tbl>
              <a:tblPr firstRow="1" firstCol="1" bandRow="1">
                <a:tableStyleId>{A91F0D33-8C57-4600-99A7-42BC86742BE1}</a:tableStyleId>
              </a:tblPr>
              <a:tblGrid>
                <a:gridCol w="380372">
                  <a:extLst>
                    <a:ext uri="{9D8B030D-6E8A-4147-A177-3AD203B41FA5}">
                      <a16:colId xmlns:a16="http://schemas.microsoft.com/office/drawing/2014/main" xmlns="" val="3639263860"/>
                    </a:ext>
                  </a:extLst>
                </a:gridCol>
                <a:gridCol w="380742">
                  <a:extLst>
                    <a:ext uri="{9D8B030D-6E8A-4147-A177-3AD203B41FA5}">
                      <a16:colId xmlns:a16="http://schemas.microsoft.com/office/drawing/2014/main" xmlns="" val="3250578720"/>
                    </a:ext>
                  </a:extLst>
                </a:gridCol>
                <a:gridCol w="380742">
                  <a:extLst>
                    <a:ext uri="{9D8B030D-6E8A-4147-A177-3AD203B41FA5}">
                      <a16:colId xmlns:a16="http://schemas.microsoft.com/office/drawing/2014/main" xmlns="" val="185536832"/>
                    </a:ext>
                  </a:extLst>
                </a:gridCol>
                <a:gridCol w="380742">
                  <a:extLst>
                    <a:ext uri="{9D8B030D-6E8A-4147-A177-3AD203B41FA5}">
                      <a16:colId xmlns:a16="http://schemas.microsoft.com/office/drawing/2014/main" xmlns="" val="3329750426"/>
                    </a:ext>
                  </a:extLst>
                </a:gridCol>
                <a:gridCol w="380742">
                  <a:extLst>
                    <a:ext uri="{9D8B030D-6E8A-4147-A177-3AD203B41FA5}">
                      <a16:colId xmlns:a16="http://schemas.microsoft.com/office/drawing/2014/main" xmlns="" val="2704801833"/>
                    </a:ext>
                  </a:extLst>
                </a:gridCol>
                <a:gridCol w="380742">
                  <a:extLst>
                    <a:ext uri="{9D8B030D-6E8A-4147-A177-3AD203B41FA5}">
                      <a16:colId xmlns:a16="http://schemas.microsoft.com/office/drawing/2014/main" xmlns="" val="3230906082"/>
                    </a:ext>
                  </a:extLst>
                </a:gridCol>
                <a:gridCol w="380742">
                  <a:extLst>
                    <a:ext uri="{9D8B030D-6E8A-4147-A177-3AD203B41FA5}">
                      <a16:colId xmlns:a16="http://schemas.microsoft.com/office/drawing/2014/main" xmlns="" val="2765804737"/>
                    </a:ext>
                  </a:extLst>
                </a:gridCol>
                <a:gridCol w="380742">
                  <a:extLst>
                    <a:ext uri="{9D8B030D-6E8A-4147-A177-3AD203B41FA5}">
                      <a16:colId xmlns:a16="http://schemas.microsoft.com/office/drawing/2014/main" xmlns="" val="1468912827"/>
                    </a:ext>
                  </a:extLst>
                </a:gridCol>
                <a:gridCol w="380742">
                  <a:extLst>
                    <a:ext uri="{9D8B030D-6E8A-4147-A177-3AD203B41FA5}">
                      <a16:colId xmlns:a16="http://schemas.microsoft.com/office/drawing/2014/main" xmlns="" val="2049368204"/>
                    </a:ext>
                  </a:extLst>
                </a:gridCol>
              </a:tblGrid>
              <a:tr h="373380">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r>
                        <a:rPr lang="en-US" sz="18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r>
                        <a:rPr lang="en-US" sz="18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xmlns="" val="1256869308"/>
                  </a:ext>
                </a:extLst>
              </a:tr>
            </a:tbl>
          </a:graphicData>
        </a:graphic>
      </p:graphicFrame>
      <p:sp>
        <p:nvSpPr>
          <p:cNvPr id="15" name="Rectangle 14">
            <a:extLst>
              <a:ext uri="{FF2B5EF4-FFF2-40B4-BE49-F238E27FC236}">
                <a16:creationId xmlns:a16="http://schemas.microsoft.com/office/drawing/2014/main" xmlns="" id="{C2B5E1BA-6D01-4844-BD69-5C6FB3A27074}"/>
              </a:ext>
            </a:extLst>
          </p:cNvPr>
          <p:cNvSpPr/>
          <p:nvPr/>
        </p:nvSpPr>
        <p:spPr>
          <a:xfrm>
            <a:off x="1051272" y="4906332"/>
            <a:ext cx="9858466" cy="400110"/>
          </a:xfrm>
          <a:prstGeom prst="rect">
            <a:avLst/>
          </a:prstGeom>
        </p:spPr>
        <p:txBody>
          <a:bodyPr wrap="square">
            <a:spAutoFit/>
          </a:bodyPr>
          <a:lstStyle/>
          <a:p>
            <a:pPr marL="468312" indent="-457200">
              <a:buSzPts val="18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ratio of students to chaperones required by the museum?</a:t>
            </a:r>
          </a:p>
        </p:txBody>
      </p:sp>
    </p:spTree>
    <p:extLst>
      <p:ext uri="{BB962C8B-B14F-4D97-AF65-F5344CB8AC3E}">
        <p14:creationId xmlns:p14="http://schemas.microsoft.com/office/powerpoint/2010/main" val="3101299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D9AF1552-9966-3643-BA84-BB4BC68EDBB5}"/>
                  </a:ext>
                </a:extLst>
              </p:cNvPr>
              <p:cNvSpPr/>
              <p:nvPr/>
            </p:nvSpPr>
            <p:spPr>
              <a:xfrm>
                <a:off x="1250042" y="1025034"/>
                <a:ext cx="9691916" cy="2862322"/>
              </a:xfrm>
              <a:prstGeom prst="rect">
                <a:avLst/>
              </a:prstGeom>
            </p:spPr>
            <p:txBody>
              <a:bodyPr wrap="square">
                <a:spAutoFit/>
              </a:bodyPr>
              <a:lstStyle/>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There are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students who will attend the trip from Mr. Floyd’s classes. Use the tape diagram to determine how many chaperones will be needed. </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SzPts val="18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Label each small rectangle with the number of people it represents. </a:t>
                </a:r>
              </a:p>
              <a:p>
                <a:pPr marL="457200" indent="-457200">
                  <a:buSzPts val="18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marL="350838" indent="-350838">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50838" indent="104775">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For all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72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students to attend, ____ chaperones are needed.</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1250042" y="1025034"/>
                <a:ext cx="9691916" cy="2862322"/>
              </a:xfrm>
              <a:prstGeom prst="rect">
                <a:avLst/>
              </a:prstGeom>
              <a:blipFill>
                <a:blip r:embed="rId4"/>
                <a:stretch>
                  <a:fillRect l="-654" t="-881" r="-1047" b="-2643"/>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8992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266</a:t>
            </a:r>
            <a:endParaRPr i="1" dirty="0">
              <a:latin typeface="Calibri"/>
              <a:ea typeface="Calibri"/>
              <a:cs typeface="Calibri"/>
              <a:sym typeface="Calibri"/>
            </a:endParaRPr>
          </a:p>
        </p:txBody>
      </p:sp>
    </p:spTree>
    <p:extLst>
      <p:ext uri="{BB962C8B-B14F-4D97-AF65-F5344CB8AC3E}">
        <p14:creationId xmlns:p14="http://schemas.microsoft.com/office/powerpoint/2010/main" val="252435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1" name="Picture" descr="A picture containing object, antenna, sitting, parked&#10;&#10;Description automatically generated">
            <a:extLst>
              <a:ext uri="{FF2B5EF4-FFF2-40B4-BE49-F238E27FC236}">
                <a16:creationId xmlns:a16="http://schemas.microsoft.com/office/drawing/2014/main" xmlns="" id="{E1B8D5FD-7339-C94D-99B9-9C88C0D6B464}"/>
              </a:ext>
            </a:extLst>
          </p:cNvPr>
          <p:cNvPicPr/>
          <p:nvPr/>
        </p:nvPicPr>
        <p:blipFill rotWithShape="1">
          <a:blip r:embed="rId3" cstate="screen">
            <a:extLst>
              <a:ext uri="{28A0092B-C50C-407E-A947-70E740481C1C}">
                <a14:useLocalDpi xmlns:a14="http://schemas.microsoft.com/office/drawing/2010/main"/>
              </a:ext>
            </a:extLst>
          </a:blip>
          <a:srcRect l="20757" r="-16167"/>
          <a:stretch/>
        </p:blipFill>
        <p:spPr bwMode="auto">
          <a:xfrm>
            <a:off x="3718559" y="1650364"/>
            <a:ext cx="5669280" cy="1607185"/>
          </a:xfrm>
          <a:prstGeom prst="rect">
            <a:avLst/>
          </a:prstGeom>
          <a:noFill/>
          <a:ln>
            <a:noFill/>
          </a:ln>
          <a:extLst>
            <a:ext uri="{53640926-AAD7-44D8-BBD7-CCE9431645EC}">
              <a14:shadowObscured xmlns:a14="http://schemas.microsoft.com/office/drawing/2010/main"/>
            </a:ext>
          </a:extLst>
        </p:spPr>
      </p:pic>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19801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D9AF1552-9966-3643-BA84-BB4BC68EDBB5}"/>
                  </a:ext>
                </a:extLst>
              </p:cNvPr>
              <p:cNvSpPr/>
              <p:nvPr/>
            </p:nvSpPr>
            <p:spPr>
              <a:xfrm>
                <a:off x="1061544" y="356849"/>
                <a:ext cx="10068911" cy="1015663"/>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A cashier worked 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-hour day and earned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$60.00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The double number line represents the amount she earned for working different numbers of hours. </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1061544" y="356849"/>
                <a:ext cx="10068911" cy="1015663"/>
              </a:xfrm>
              <a:prstGeom prst="rect">
                <a:avLst/>
              </a:prstGeom>
              <a:blipFill>
                <a:blip r:embed="rId5"/>
                <a:stretch>
                  <a:fillRect l="-504" t="-3704" b="-9877"/>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89924" y="645508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 Box 15">
                <a:extLst>
                  <a:ext uri="{FF2B5EF4-FFF2-40B4-BE49-F238E27FC236}">
                    <a16:creationId xmlns:a16="http://schemas.microsoft.com/office/drawing/2014/main" xmlns="" id="{15F86D6D-9EB8-DA4D-9C5A-41FA84FE9362}"/>
                  </a:ext>
                </a:extLst>
              </p:cNvPr>
              <p:cNvSpPr txBox="1"/>
              <p:nvPr/>
            </p:nvSpPr>
            <p:spPr>
              <a:xfrm>
                <a:off x="5579110" y="1641790"/>
                <a:ext cx="316865"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6" name="Text Box 15">
                <a:extLst>
                  <a:ext uri="{FF2B5EF4-FFF2-40B4-BE49-F238E27FC236}">
                    <a16:creationId xmlns:a16="http://schemas.microsoft.com/office/drawing/2014/main" id="{15F86D6D-9EB8-DA4D-9C5A-41FA84FE9362}"/>
                  </a:ext>
                </a:extLst>
              </p:cNvPr>
              <p:cNvSpPr txBox="1">
                <a:spLocks noRot="1" noChangeAspect="1" noMove="1" noResize="1" noEditPoints="1" noAdjustHandles="1" noChangeArrowheads="1" noChangeShapeType="1" noTextEdit="1"/>
              </p:cNvSpPr>
              <p:nvPr/>
            </p:nvSpPr>
            <p:spPr>
              <a:xfrm>
                <a:off x="5579110" y="1641790"/>
                <a:ext cx="316865" cy="397510"/>
              </a:xfrm>
              <a:prstGeom prst="rect">
                <a:avLst/>
              </a:prstGeom>
              <a:blipFill>
                <a:blip r:embed="rId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17">
                <a:extLst>
                  <a:ext uri="{FF2B5EF4-FFF2-40B4-BE49-F238E27FC236}">
                    <a16:creationId xmlns:a16="http://schemas.microsoft.com/office/drawing/2014/main" xmlns="" id="{C72A3938-7AA8-514C-B6AC-536008EA04BC}"/>
                  </a:ext>
                </a:extLst>
              </p:cNvPr>
              <p:cNvSpPr txBox="1"/>
              <p:nvPr/>
            </p:nvSpPr>
            <p:spPr>
              <a:xfrm>
                <a:off x="6078854" y="1629725"/>
                <a:ext cx="370840"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15</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7" name="Text Box 17">
                <a:extLst>
                  <a:ext uri="{FF2B5EF4-FFF2-40B4-BE49-F238E27FC236}">
                    <a16:creationId xmlns:a16="http://schemas.microsoft.com/office/drawing/2014/main" id="{C72A3938-7AA8-514C-B6AC-536008EA04BC}"/>
                  </a:ext>
                </a:extLst>
              </p:cNvPr>
              <p:cNvSpPr txBox="1">
                <a:spLocks noRot="1" noChangeAspect="1" noMove="1" noResize="1" noEditPoints="1" noAdjustHandles="1" noChangeArrowheads="1" noChangeShapeType="1" noTextEdit="1"/>
              </p:cNvSpPr>
              <p:nvPr/>
            </p:nvSpPr>
            <p:spPr>
              <a:xfrm>
                <a:off x="6078854" y="1629725"/>
                <a:ext cx="370840" cy="397510"/>
              </a:xfrm>
              <a:prstGeom prst="rect">
                <a:avLst/>
              </a:prstGeom>
              <a:blipFill>
                <a:blip r:embed="rId7"/>
                <a:stretch>
                  <a:fillRect r="-16667"/>
                </a:stretch>
              </a:blipFill>
              <a:ln w="6350">
                <a:noFill/>
              </a:ln>
            </p:spPr>
            <p:txBody>
              <a:bodyPr/>
              <a:lstStyle/>
              <a:p>
                <a:r>
                  <a:rPr lang="en-US">
                    <a:noFill/>
                  </a:rPr>
                  <a:t> </a:t>
                </a:r>
              </a:p>
            </p:txBody>
          </p:sp>
        </mc:Fallback>
      </mc:AlternateContent>
      <p:sp>
        <p:nvSpPr>
          <p:cNvPr id="8" name="Text Box 19">
            <a:extLst>
              <a:ext uri="{FF2B5EF4-FFF2-40B4-BE49-F238E27FC236}">
                <a16:creationId xmlns:a16="http://schemas.microsoft.com/office/drawing/2014/main" xmlns="" id="{E89460EB-2B8E-A748-B648-ABC67FD8F820}"/>
              </a:ext>
            </a:extLst>
          </p:cNvPr>
          <p:cNvSpPr txBox="1"/>
          <p:nvPr/>
        </p:nvSpPr>
        <p:spPr>
          <a:xfrm>
            <a:off x="3654422" y="1668141"/>
            <a:ext cx="1837055" cy="7867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Wages Earned</a:t>
            </a:r>
            <a:endParaRPr lang="x-none" sz="1200">
              <a:latin typeface="Cambria" panose="02040503050406030204" pitchFamily="18" charset="0"/>
              <a:ea typeface="Times New Roman" panose="02020603050405020304" pitchFamily="18" charset="0"/>
              <a:cs typeface="Cambria" panose="02040503050406030204" pitchFamily="18" charset="0"/>
            </a:endParaRPr>
          </a:p>
          <a:p>
            <a:pPr algn="ctr"/>
            <a:r>
              <a:rPr lang="en-US" sz="1800">
                <a:latin typeface="Verdana" panose="020B0604030504040204" pitchFamily="34" charset="0"/>
                <a:ea typeface="Times New Roman" panose="02020603050405020304" pitchFamily="18" charset="0"/>
                <a:cs typeface="Cambria" panose="02040503050406030204" pitchFamily="18" charset="0"/>
              </a:rPr>
              <a:t>(dollars)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0" name="Text Box 20">
            <a:extLst>
              <a:ext uri="{FF2B5EF4-FFF2-40B4-BE49-F238E27FC236}">
                <a16:creationId xmlns:a16="http://schemas.microsoft.com/office/drawing/2014/main" xmlns="" id="{778C7866-A061-5640-8967-559F7FE8909A}"/>
              </a:ext>
            </a:extLst>
          </p:cNvPr>
          <p:cNvSpPr txBox="1"/>
          <p:nvPr/>
        </p:nvSpPr>
        <p:spPr>
          <a:xfrm>
            <a:off x="3754117" y="2451096"/>
            <a:ext cx="1729105" cy="69659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Time Worked (hours)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AlternateContent xmlns:mc="http://schemas.openxmlformats.org/markup-compatibility/2006" xmlns:a14="http://schemas.microsoft.com/office/drawing/2010/main">
        <mc:Choice Requires="a14">
          <p:sp>
            <p:nvSpPr>
              <p:cNvPr id="12" name="Text Box 34">
                <a:extLst>
                  <a:ext uri="{FF2B5EF4-FFF2-40B4-BE49-F238E27FC236}">
                    <a16:creationId xmlns:a16="http://schemas.microsoft.com/office/drawing/2014/main" xmlns="" id="{58C9ECCF-9D4D-4B49-AFF1-9C96D6443541}"/>
                  </a:ext>
                </a:extLst>
              </p:cNvPr>
              <p:cNvSpPr txBox="1"/>
              <p:nvPr/>
            </p:nvSpPr>
            <p:spPr>
              <a:xfrm>
                <a:off x="6624319" y="1629725"/>
                <a:ext cx="370840"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30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2" name="Text Box 34">
                <a:extLst>
                  <a:ext uri="{FF2B5EF4-FFF2-40B4-BE49-F238E27FC236}">
                    <a16:creationId xmlns:a16="http://schemas.microsoft.com/office/drawing/2014/main" id="{58C9ECCF-9D4D-4B49-AFF1-9C96D6443541}"/>
                  </a:ext>
                </a:extLst>
              </p:cNvPr>
              <p:cNvSpPr txBox="1">
                <a:spLocks noRot="1" noChangeAspect="1" noMove="1" noResize="1" noEditPoints="1" noAdjustHandles="1" noChangeArrowheads="1" noChangeShapeType="1" noTextEdit="1"/>
              </p:cNvSpPr>
              <p:nvPr/>
            </p:nvSpPr>
            <p:spPr>
              <a:xfrm>
                <a:off x="6624319" y="1629725"/>
                <a:ext cx="370840" cy="397510"/>
              </a:xfrm>
              <a:prstGeom prst="rect">
                <a:avLst/>
              </a:prstGeom>
              <a:blipFill>
                <a:blip r:embed="rId8"/>
                <a:stretch>
                  <a:fillRect r="-13333"/>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36">
                <a:extLst>
                  <a:ext uri="{FF2B5EF4-FFF2-40B4-BE49-F238E27FC236}">
                    <a16:creationId xmlns:a16="http://schemas.microsoft.com/office/drawing/2014/main" xmlns="" id="{A7A6D9C3-0785-AB4A-AD8C-E088E49BD3BF}"/>
                  </a:ext>
                </a:extLst>
              </p:cNvPr>
              <p:cNvSpPr txBox="1"/>
              <p:nvPr/>
            </p:nvSpPr>
            <p:spPr>
              <a:xfrm>
                <a:off x="7172324" y="1615120"/>
                <a:ext cx="370840"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45</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3" name="Text Box 36">
                <a:extLst>
                  <a:ext uri="{FF2B5EF4-FFF2-40B4-BE49-F238E27FC236}">
                    <a16:creationId xmlns:a16="http://schemas.microsoft.com/office/drawing/2014/main" id="{A7A6D9C3-0785-AB4A-AD8C-E088E49BD3BF}"/>
                  </a:ext>
                </a:extLst>
              </p:cNvPr>
              <p:cNvSpPr txBox="1">
                <a:spLocks noRot="1" noChangeAspect="1" noMove="1" noResize="1" noEditPoints="1" noAdjustHandles="1" noChangeArrowheads="1" noChangeShapeType="1" noTextEdit="1"/>
              </p:cNvSpPr>
              <p:nvPr/>
            </p:nvSpPr>
            <p:spPr>
              <a:xfrm>
                <a:off x="7172324" y="1615120"/>
                <a:ext cx="370840" cy="397510"/>
              </a:xfrm>
              <a:prstGeom prst="rect">
                <a:avLst/>
              </a:prstGeom>
              <a:blipFill>
                <a:blip r:embed="rId9"/>
                <a:stretch>
                  <a:fillRect r="-16667"/>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 Box 37">
                <a:extLst>
                  <a:ext uri="{FF2B5EF4-FFF2-40B4-BE49-F238E27FC236}">
                    <a16:creationId xmlns:a16="http://schemas.microsoft.com/office/drawing/2014/main" xmlns="" id="{2E24A914-5A47-8F40-B269-907B4029FB56}"/>
                  </a:ext>
                </a:extLst>
              </p:cNvPr>
              <p:cNvSpPr txBox="1"/>
              <p:nvPr/>
            </p:nvSpPr>
            <p:spPr>
              <a:xfrm>
                <a:off x="7727314" y="1615120"/>
                <a:ext cx="370840" cy="39751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60</m:t>
                      </m:r>
                    </m:oMath>
                  </m:oMathPara>
                </a14:m>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4" name="Text Box 37">
                <a:extLst>
                  <a:ext uri="{FF2B5EF4-FFF2-40B4-BE49-F238E27FC236}">
                    <a16:creationId xmlns:a16="http://schemas.microsoft.com/office/drawing/2014/main" id="{2E24A914-5A47-8F40-B269-907B4029FB56}"/>
                  </a:ext>
                </a:extLst>
              </p:cNvPr>
              <p:cNvSpPr txBox="1">
                <a:spLocks noRot="1" noChangeAspect="1" noMove="1" noResize="1" noEditPoints="1" noAdjustHandles="1" noChangeArrowheads="1" noChangeShapeType="1" noTextEdit="1"/>
              </p:cNvSpPr>
              <p:nvPr/>
            </p:nvSpPr>
            <p:spPr>
              <a:xfrm>
                <a:off x="7727314" y="1615120"/>
                <a:ext cx="370840" cy="397510"/>
              </a:xfrm>
              <a:prstGeom prst="rect">
                <a:avLst/>
              </a:prstGeom>
              <a:blipFill>
                <a:blip r:embed="rId10"/>
                <a:stretch>
                  <a:fillRect r="-13333"/>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xmlns="" id="{F7DDBB81-6BEE-1648-AB0B-72571A527341}"/>
                  </a:ext>
                </a:extLst>
              </p:cNvPr>
              <p:cNvSpPr/>
              <p:nvPr/>
            </p:nvSpPr>
            <p:spPr>
              <a:xfrm>
                <a:off x="1061544" y="3374588"/>
                <a:ext cx="10068910" cy="1938992"/>
              </a:xfrm>
              <a:prstGeom prst="rect">
                <a:avLst/>
              </a:prstGeom>
            </p:spPr>
            <p:txBody>
              <a:bodyPr wrap="square">
                <a:spAutoFit/>
              </a:bodyPr>
              <a:lstStyle/>
              <a:p>
                <a:pPr marL="457200" indent="-457200">
                  <a:buSzPts val="18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Determine the amount of money she earned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hour. Show your work and label it on the double number line.</a:t>
                </a: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How much money does the cashier earn if she works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hours?</a:t>
                </a:r>
              </a:p>
            </p:txBody>
          </p:sp>
        </mc:Choice>
        <mc:Fallback xmlns="">
          <p:sp>
            <p:nvSpPr>
              <p:cNvPr id="15" name="Rectangle 14">
                <a:extLst>
                  <a:ext uri="{FF2B5EF4-FFF2-40B4-BE49-F238E27FC236}">
                    <a16:creationId xmlns:a16="http://schemas.microsoft.com/office/drawing/2014/main" id="{F7DDBB81-6BEE-1648-AB0B-72571A527341}"/>
                  </a:ext>
                </a:extLst>
              </p:cNvPr>
              <p:cNvSpPr>
                <a:spLocks noRot="1" noChangeAspect="1" noMove="1" noResize="1" noEditPoints="1" noAdjustHandles="1" noChangeArrowheads="1" noChangeShapeType="1" noTextEdit="1"/>
              </p:cNvSpPr>
              <p:nvPr/>
            </p:nvSpPr>
            <p:spPr>
              <a:xfrm>
                <a:off x="1061544" y="3374588"/>
                <a:ext cx="10068910" cy="1938992"/>
              </a:xfrm>
              <a:prstGeom prst="rect">
                <a:avLst/>
              </a:prstGeom>
              <a:blipFill>
                <a:blip r:embed="rId11"/>
                <a:stretch>
                  <a:fillRect l="-504" t="-1299" b="-4545"/>
                </a:stretch>
              </a:blipFill>
            </p:spPr>
            <p:txBody>
              <a:bodyPr/>
              <a:lstStyle/>
              <a:p>
                <a:r>
                  <a:rPr lang="en-US">
                    <a:noFill/>
                  </a:rPr>
                  <a:t> </a:t>
                </a:r>
              </a:p>
            </p:txBody>
          </p:sp>
        </mc:Fallback>
      </mc:AlternateContent>
    </p:spTree>
    <p:extLst>
      <p:ext uri="{BB962C8B-B14F-4D97-AF65-F5344CB8AC3E}">
        <p14:creationId xmlns:p14="http://schemas.microsoft.com/office/powerpoint/2010/main" val="869182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1664" y="-810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738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56464" y="-18531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6.2.6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27014" y="6045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50A85065-1747-6C4E-8BA4-9C1ED8A185A6}"/>
                  </a:ext>
                </a:extLst>
              </p:cNvPr>
              <p:cNvSpPr/>
              <p:nvPr/>
            </p:nvSpPr>
            <p:spPr>
              <a:xfrm>
                <a:off x="1156464" y="996121"/>
                <a:ext cx="9879072" cy="707886"/>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representation shows the amount of red and blue paint that makes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batches of a particular shade of purple paint called lilac.</a:t>
                </a:r>
              </a:p>
            </p:txBody>
          </p:sp>
        </mc:Choice>
        <mc:Fallback xmlns="">
          <p:sp>
            <p:nvSpPr>
              <p:cNvPr id="2" name="Rectangle 1">
                <a:extLst>
                  <a:ext uri="{FF2B5EF4-FFF2-40B4-BE49-F238E27FC236}">
                    <a16:creationId xmlns:a16="http://schemas.microsoft.com/office/drawing/2014/main" id="{50A85065-1747-6C4E-8BA4-9C1ED8A185A6}"/>
                  </a:ext>
                </a:extLst>
              </p:cNvPr>
              <p:cNvSpPr>
                <a:spLocks noRot="1" noChangeAspect="1" noMove="1" noResize="1" noEditPoints="1" noAdjustHandles="1" noChangeArrowheads="1" noChangeShapeType="1" noTextEdit="1"/>
              </p:cNvSpPr>
              <p:nvPr/>
            </p:nvSpPr>
            <p:spPr>
              <a:xfrm>
                <a:off x="1156464" y="996121"/>
                <a:ext cx="9879072" cy="707886"/>
              </a:xfrm>
              <a:prstGeom prst="rect">
                <a:avLst/>
              </a:prstGeom>
              <a:blipFill>
                <a:blip r:embed="rId5"/>
                <a:stretch>
                  <a:fillRect l="-771" t="-5263" b="-14035"/>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5915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267</a:t>
            </a:r>
            <a:endParaRPr i="1" dirty="0">
              <a:latin typeface="Calibri"/>
              <a:ea typeface="Calibri"/>
              <a:cs typeface="Calibri"/>
              <a:sym typeface="Calibri"/>
            </a:endParaRPr>
          </a:p>
        </p:txBody>
      </p:sp>
      <p:pic>
        <p:nvPicPr>
          <p:cNvPr id="10" name="image35.png" descr="Icon&#10;&#10;Description automatically generated">
            <a:extLst>
              <a:ext uri="{FF2B5EF4-FFF2-40B4-BE49-F238E27FC236}">
                <a16:creationId xmlns:a16="http://schemas.microsoft.com/office/drawing/2014/main" xmlns="" id="{4467DEB6-FFB1-4246-86C2-057BF8842CF8}"/>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31886"/>
          <a:stretch/>
        </p:blipFill>
        <p:spPr bwMode="auto">
          <a:xfrm>
            <a:off x="5609907" y="2226922"/>
            <a:ext cx="3270250" cy="1094740"/>
          </a:xfrm>
          <a:prstGeom prst="rect">
            <a:avLst/>
          </a:prstGeom>
          <a:ln>
            <a:noFill/>
          </a:ln>
          <a:extLst>
            <a:ext uri="{53640926-AAD7-44D8-BBD7-CCE9431645EC}">
              <a14:shadowObscured xmlns:a14="http://schemas.microsoft.com/office/drawing/2010/main"/>
            </a:ext>
          </a:extLst>
        </p:spPr>
      </p:pic>
      <p:sp>
        <p:nvSpPr>
          <p:cNvPr id="12" name="Text Box 46">
            <a:extLst>
              <a:ext uri="{FF2B5EF4-FFF2-40B4-BE49-F238E27FC236}">
                <a16:creationId xmlns:a16="http://schemas.microsoft.com/office/drawing/2014/main" xmlns="" id="{4D7CAAFD-74C5-F940-8E36-64BB40E393E1}"/>
              </a:ext>
            </a:extLst>
          </p:cNvPr>
          <p:cNvSpPr txBox="1"/>
          <p:nvPr/>
        </p:nvSpPr>
        <p:spPr>
          <a:xfrm>
            <a:off x="3397568" y="2280262"/>
            <a:ext cx="230441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Cups of Red Paint</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3" name="Text Box 47">
            <a:extLst>
              <a:ext uri="{FF2B5EF4-FFF2-40B4-BE49-F238E27FC236}">
                <a16:creationId xmlns:a16="http://schemas.microsoft.com/office/drawing/2014/main" xmlns="" id="{EFE24F6C-A29D-BC40-8CB4-030FA17702E4}"/>
              </a:ext>
            </a:extLst>
          </p:cNvPr>
          <p:cNvSpPr txBox="1"/>
          <p:nvPr/>
        </p:nvSpPr>
        <p:spPr>
          <a:xfrm>
            <a:off x="3401378" y="2814932"/>
            <a:ext cx="230441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Cups of Blue Paint</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4" name="Rectangle 13">
            <a:extLst>
              <a:ext uri="{FF2B5EF4-FFF2-40B4-BE49-F238E27FC236}">
                <a16:creationId xmlns:a16="http://schemas.microsoft.com/office/drawing/2014/main" xmlns="" id="{B7D0ACC3-82D6-564D-B32A-2D8A23B05EBC}"/>
              </a:ext>
            </a:extLst>
          </p:cNvPr>
          <p:cNvSpPr/>
          <p:nvPr/>
        </p:nvSpPr>
        <p:spPr>
          <a:xfrm>
            <a:off x="1156463" y="3553583"/>
            <a:ext cx="9879071" cy="1015663"/>
          </a:xfrm>
          <a:prstGeom prst="rect">
            <a:avLst/>
          </a:prstGeom>
        </p:spPr>
        <p:txBody>
          <a:bodyPr wrap="square">
            <a:spAutoFit/>
          </a:bodyPr>
          <a:lstStyle/>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On the double number line, label the tick marks to represent amounts of red and blue paint used to make batches of this shade of purple paint.</a:t>
            </a:r>
          </a:p>
        </p:txBody>
      </p:sp>
      <p:pic>
        <p:nvPicPr>
          <p:cNvPr id="15" name="image2.png" descr="A picture containing shape&#10;&#10;Description automatically generated">
            <a:extLst>
              <a:ext uri="{FF2B5EF4-FFF2-40B4-BE49-F238E27FC236}">
                <a16:creationId xmlns:a16="http://schemas.microsoft.com/office/drawing/2014/main" xmlns="" id="{86B234A9-1414-914A-9FE8-9DB350DF3C56}"/>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36501" b="47407"/>
          <a:stretch/>
        </p:blipFill>
        <p:spPr bwMode="auto">
          <a:xfrm>
            <a:off x="5764847" y="4889417"/>
            <a:ext cx="2829560" cy="756920"/>
          </a:xfrm>
          <a:prstGeom prst="rect">
            <a:avLst/>
          </a:prstGeom>
          <a:ln>
            <a:noFill/>
          </a:ln>
          <a:extLst>
            <a:ext uri="{53640926-AAD7-44D8-BBD7-CCE9431645EC}">
              <a14:shadowObscured xmlns:a14="http://schemas.microsoft.com/office/drawing/2010/main"/>
            </a:ext>
          </a:extLst>
        </p:spPr>
      </p:pic>
      <p:pic>
        <p:nvPicPr>
          <p:cNvPr id="16" name="image2.png" descr="A picture containing shape&#10;&#10;Description automatically generated">
            <a:extLst>
              <a:ext uri="{FF2B5EF4-FFF2-40B4-BE49-F238E27FC236}">
                <a16:creationId xmlns:a16="http://schemas.microsoft.com/office/drawing/2014/main" xmlns="" id="{A2EB981C-8C68-4345-B80D-C42D53F8AE03}"/>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36270" t="48545"/>
          <a:stretch/>
        </p:blipFill>
        <p:spPr bwMode="auto">
          <a:xfrm>
            <a:off x="5764847" y="5325027"/>
            <a:ext cx="2839720" cy="740410"/>
          </a:xfrm>
          <a:prstGeom prst="rect">
            <a:avLst/>
          </a:prstGeom>
          <a:ln>
            <a:noFill/>
          </a:ln>
          <a:extLst>
            <a:ext uri="{53640926-AAD7-44D8-BBD7-CCE9431645EC}">
              <a14:shadowObscured xmlns:a14="http://schemas.microsoft.com/office/drawing/2010/main"/>
            </a:ext>
          </a:extLst>
        </p:spPr>
      </p:pic>
      <p:sp>
        <p:nvSpPr>
          <p:cNvPr id="17" name="Text Box 4">
            <a:extLst>
              <a:ext uri="{FF2B5EF4-FFF2-40B4-BE49-F238E27FC236}">
                <a16:creationId xmlns:a16="http://schemas.microsoft.com/office/drawing/2014/main" xmlns="" id="{F5C7E44F-7DBA-0942-871D-FAA3A078D7D5}"/>
              </a:ext>
            </a:extLst>
          </p:cNvPr>
          <p:cNvSpPr txBox="1"/>
          <p:nvPr/>
        </p:nvSpPr>
        <p:spPr>
          <a:xfrm>
            <a:off x="3459798" y="4879892"/>
            <a:ext cx="230441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Cups of Red Paint</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8" name="Text Box 5">
            <a:extLst>
              <a:ext uri="{FF2B5EF4-FFF2-40B4-BE49-F238E27FC236}">
                <a16:creationId xmlns:a16="http://schemas.microsoft.com/office/drawing/2014/main" xmlns="" id="{0BB57DC9-CC46-3541-9E89-CCAFC0B8FEF2}"/>
              </a:ext>
            </a:extLst>
          </p:cNvPr>
          <p:cNvSpPr txBox="1"/>
          <p:nvPr/>
        </p:nvSpPr>
        <p:spPr>
          <a:xfrm>
            <a:off x="3397568" y="5641257"/>
            <a:ext cx="2304415" cy="660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1800">
                <a:latin typeface="Verdana" panose="020B0604030504040204" pitchFamily="34" charset="0"/>
                <a:ea typeface="Times New Roman" panose="02020603050405020304" pitchFamily="18" charset="0"/>
                <a:cs typeface="Cambria" panose="02040503050406030204" pitchFamily="18" charset="0"/>
              </a:rPr>
              <a:t>Cups of Blue Paint</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553995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50A85065-1747-6C4E-8BA4-9C1ED8A185A6}"/>
                  </a:ext>
                </a:extLst>
              </p:cNvPr>
              <p:cNvSpPr/>
              <p:nvPr/>
            </p:nvSpPr>
            <p:spPr>
              <a:xfrm>
                <a:off x="749196" y="1228397"/>
                <a:ext cx="10693607" cy="4401205"/>
              </a:xfrm>
              <a:prstGeom prst="rect">
                <a:avLst/>
              </a:prstGeom>
            </p:spPr>
            <p:txBody>
              <a:bodyPr wrap="square">
                <a:spAutoFit/>
              </a:bodyPr>
              <a:lstStyle/>
              <a:p>
                <a:pPr marL="12700" indent="-127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 How many batches are made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cups of red paint?</a:t>
                </a:r>
              </a:p>
              <a:p>
                <a:pPr marL="12700" indent="-127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2700" indent="-127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2700" indent="-127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How much red paint should be mixed with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cups of blue paint to make lilac paint?</a:t>
                </a:r>
              </a:p>
              <a:p>
                <a:pPr marL="342900" indent="-3429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342900" indent="-3429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55600"/>
                <a:r>
                  <a:rPr lang="en-US" sz="2000" dirty="0">
                    <a:latin typeface="Verdana" panose="020B0604030504040204" pitchFamily="34" charset="0"/>
                    <a:ea typeface="Verdana" panose="020B0604030504040204" pitchFamily="34" charset="0"/>
                    <a:cs typeface="Verdana" panose="020B0604030504040204" pitchFamily="34" charset="0"/>
                  </a:rPr>
                  <a:t>To make this shade of lilac paint, mix ____ cups of blue paint for every ____ cups of red.</a:t>
                </a:r>
              </a:p>
            </p:txBody>
          </p:sp>
        </mc:Choice>
        <mc:Fallback xmlns="">
          <p:sp>
            <p:nvSpPr>
              <p:cNvPr id="2" name="Rectangle 1">
                <a:extLst>
                  <a:ext uri="{FF2B5EF4-FFF2-40B4-BE49-F238E27FC236}">
                    <a16:creationId xmlns:a16="http://schemas.microsoft.com/office/drawing/2014/main" id="{50A85065-1747-6C4E-8BA4-9C1ED8A185A6}"/>
                  </a:ext>
                </a:extLst>
              </p:cNvPr>
              <p:cNvSpPr>
                <a:spLocks noRot="1" noChangeAspect="1" noMove="1" noResize="1" noEditPoints="1" noAdjustHandles="1" noChangeArrowheads="1" noChangeShapeType="1" noTextEdit="1"/>
              </p:cNvSpPr>
              <p:nvPr/>
            </p:nvSpPr>
            <p:spPr>
              <a:xfrm>
                <a:off x="749196" y="1228397"/>
                <a:ext cx="10693607" cy="4401205"/>
              </a:xfrm>
              <a:prstGeom prst="rect">
                <a:avLst/>
              </a:prstGeom>
              <a:blipFill>
                <a:blip r:embed="rId4"/>
                <a:stretch>
                  <a:fillRect l="-713" t="-575" b="-1437"/>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8992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267</a:t>
            </a:r>
            <a:endParaRPr i="1" dirty="0">
              <a:latin typeface="Calibri"/>
              <a:ea typeface="Calibri"/>
              <a:cs typeface="Calibri"/>
              <a:sym typeface="Calibri"/>
            </a:endParaRPr>
          </a:p>
        </p:txBody>
      </p:sp>
    </p:spTree>
    <p:extLst>
      <p:ext uri="{BB962C8B-B14F-4D97-AF65-F5344CB8AC3E}">
        <p14:creationId xmlns:p14="http://schemas.microsoft.com/office/powerpoint/2010/main" val="137723750"/>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1342</TotalTime>
  <Words>1179</Words>
  <Application>Microsoft Office PowerPoint</Application>
  <PresentationFormat>Custom</PresentationFormat>
  <Paragraphs>303</Paragraphs>
  <Slides>28</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Calibri</vt:lpstr>
      <vt:lpstr>Times New Roman</vt:lpstr>
      <vt:lpstr>Century Gothic</vt:lpstr>
      <vt:lpstr>Cambria Math</vt:lpstr>
      <vt:lpstr>Wingdings</vt:lpstr>
      <vt:lpstr>Cambria</vt:lpstr>
      <vt:lpstr>Arial Black</vt:lpstr>
      <vt:lpstr>Verdana</vt:lpstr>
      <vt:lpstr>1_Office Theme</vt:lpstr>
      <vt:lpstr>6th Grade Math  Unit 6, Lesson 2  Using Models to Represent Ratios  Volume 1, pg. 262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Guided Instruction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22</cp:revision>
  <dcterms:created xsi:type="dcterms:W3CDTF">2015-03-17T18:51:18Z</dcterms:created>
  <dcterms:modified xsi:type="dcterms:W3CDTF">2022-06-05T03:02:08Z</dcterms:modified>
</cp:coreProperties>
</file>