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37" r:id="rId11"/>
    <p:sldId id="341" r:id="rId12"/>
    <p:sldId id="342" r:id="rId13"/>
    <p:sldId id="323" r:id="rId14"/>
    <p:sldId id="324" r:id="rId15"/>
    <p:sldId id="343" r:id="rId16"/>
    <p:sldId id="344" r:id="rId17"/>
    <p:sldId id="302" r:id="rId18"/>
    <p:sldId id="303" r:id="rId19"/>
    <p:sldId id="340" r:id="rId20"/>
    <p:sldId id="306" r:id="rId21"/>
    <p:sldId id="307" r:id="rId22"/>
  </p:sldIdLst>
  <p:sldSz cx="12192000" cy="6858000"/>
  <p:notesSz cx="6858000" cy="9144000"/>
  <p:embeddedFontLs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Century Gothic" pitchFamily="34" charset="0"/>
      <p:regular r:id="rId28"/>
      <p:bold r:id="rId29"/>
      <p:italic r:id="rId30"/>
      <p:boldItalic r:id="rId31"/>
    </p:embeddedFont>
    <p:embeddedFont>
      <p:font typeface="Cambria Math" pitchFamily="18" charset="0"/>
      <p:regular r:id="rId32"/>
    </p:embeddedFont>
    <p:embeddedFont>
      <p:font typeface="Cambria" pitchFamily="18" charset="0"/>
      <p:regular r:id="rId33"/>
      <p:bold r:id="rId34"/>
      <p:italic r:id="rId35"/>
      <p:boldItalic r:id="rId36"/>
    </p:embeddedFont>
    <p:embeddedFont>
      <p:font typeface="Arial Black" pitchFamily="34" charset="0"/>
      <p:bold r:id="rId37"/>
    </p:embeddedFont>
    <p:embeddedFont>
      <p:font typeface="Verdana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23"/>
    <p:restoredTop sz="94718"/>
  </p:normalViewPr>
  <p:slideViewPr>
    <p:cSldViewPr snapToGrid="0">
      <p:cViewPr>
        <p:scale>
          <a:sx n="59" d="100"/>
          <a:sy n="59" d="100"/>
        </p:scale>
        <p:origin x="-1282" y="-5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95314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2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280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4190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78127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Three-Column Tables of Equivalent Ratios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461" y="205427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41422" y="-154304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22" y="1348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33457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3608" y="1171396"/>
            <a:ext cx="97166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fractions and numerical patterns to generate or complete a two- or three-column table to display equivalent part-to-part ratios and part-to-part-to-whole ratios.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MA.6.AR.3.5</a:t>
            </a:r>
          </a:p>
          <a:p>
            <a:pPr marL="4635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ratios, rates, and unit rates, including comparisons, mixtures, ratios of lengths and conversions within the same measurement system.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25" y="1558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8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88750" y="-57102"/>
            <a:ext cx="110598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7314749" y="6444343"/>
            <a:ext cx="4169679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88750" y="1596390"/>
            <a:ext cx="9022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30312" y="-131048"/>
            <a:ext cx="93413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331" y="1239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7314750" y="6428669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60319" y="1547093"/>
            <a:ext cx="93413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use three-column tables to display equivalent ratios.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solve problems using three-column tables of equivalent ratios.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8" y="614076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7314750" y="6444343"/>
            <a:ext cx="4207798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684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24450" y="-69944"/>
            <a:ext cx="9314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6.7.1 Warm-Up: Brain Capacity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50" y="21925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079F083F-A67E-0047-8E64-5125815AF3D8}"/>
                  </a:ext>
                </a:extLst>
              </p:cNvPr>
              <p:cNvSpPr/>
              <p:nvPr/>
            </p:nvSpPr>
            <p:spPr>
              <a:xfrm>
                <a:off x="696687" y="1231280"/>
                <a:ext cx="9638216" cy="38164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human brain can store about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3,500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trillion bytes of data, while a cat’s brain can store about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trillion bytes of data.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brain storage capacity of human to cat?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About how many brains of cats would it take to store the same amount of data as the human brain?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7" y="1231280"/>
                <a:ext cx="9638216" cy="3816429"/>
              </a:xfrm>
              <a:prstGeom prst="rect">
                <a:avLst/>
              </a:prstGeom>
              <a:blipFill>
                <a:blip r:embed="rId5"/>
                <a:stretch>
                  <a:fillRect l="-822" t="-1118" r="-569" b="-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28F85A9-92EF-3646-A629-D71AC3FDE345}"/>
              </a:ext>
            </a:extLst>
          </p:cNvPr>
          <p:cNvSpPr txBox="1"/>
          <p:nvPr/>
        </p:nvSpPr>
        <p:spPr>
          <a:xfrm>
            <a:off x="7314749" y="6476999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7543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882" y="612490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1518" y="0"/>
            <a:ext cx="110872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6.7.2 Guided Instruction: Using Three-Column Ratio Tables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4236" y="20365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2BE9AFC-D858-8947-AE27-3738478587E3}"/>
              </a:ext>
            </a:extLst>
          </p:cNvPr>
          <p:cNvSpPr/>
          <p:nvPr/>
        </p:nvSpPr>
        <p:spPr>
          <a:xfrm>
            <a:off x="1034143" y="1781168"/>
            <a:ext cx="92075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Ratios can be used to make part-to-part or part-to-whole comparisons. When comparing parts of a mixture to the whole, three-column ratio tables can be useful to represent the relationships between quantities.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7314749" y="6433457"/>
            <a:ext cx="425585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8689" y="614861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620486" y="241676"/>
                <a:ext cx="987606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Kiara is practicing her free-throw shot at basketball practice. She averages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made shots 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missed shots. The table shown can be used to represent this situation.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6" y="241676"/>
                <a:ext cx="9876064" cy="1015663"/>
              </a:xfrm>
              <a:prstGeom prst="rect">
                <a:avLst/>
              </a:prstGeom>
              <a:blipFill>
                <a:blip r:embed="rId4"/>
                <a:stretch>
                  <a:fillRect l="-679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1BEFF465-A5AC-4A43-8947-87EA64985643}"/>
                  </a:ext>
                </a:extLst>
              </p:cNvPr>
              <p:cNvSpPr/>
              <p:nvPr/>
            </p:nvSpPr>
            <p:spPr>
              <a:xfrm>
                <a:off x="2032635" y="3468789"/>
                <a:ext cx="8378190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determining this rate during practice, Kiara missed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free-throw shots. Complete the second row of the table to show how many shots she made and how many total shots she took.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was each value in the second row determined?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BEFF465-A5AC-4A43-8947-87EA64985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35" y="3468789"/>
                <a:ext cx="8378190" cy="2246769"/>
              </a:xfrm>
              <a:prstGeom prst="rect">
                <a:avLst/>
              </a:prstGeom>
              <a:blipFill>
                <a:blip r:embed="rId5"/>
                <a:stretch>
                  <a:fillRect l="-800" t="-1897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9017901" y="647725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C1D13F62-60D3-5E43-959F-51168AA50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58529"/>
                  </p:ext>
                </p:extLst>
              </p:nvPr>
            </p:nvGraphicFramePr>
            <p:xfrm>
              <a:off x="2213318" y="1490126"/>
              <a:ext cx="7962315" cy="17506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54105">
                      <a:extLst>
                        <a:ext uri="{9D8B030D-6E8A-4147-A177-3AD203B41FA5}">
                          <a16:colId xmlns:a16="http://schemas.microsoft.com/office/drawing/2014/main" xmlns="" val="2774907429"/>
                        </a:ext>
                      </a:extLst>
                    </a:gridCol>
                    <a:gridCol w="2654105">
                      <a:extLst>
                        <a:ext uri="{9D8B030D-6E8A-4147-A177-3AD203B41FA5}">
                          <a16:colId xmlns:a16="http://schemas.microsoft.com/office/drawing/2014/main" xmlns="" val="940040114"/>
                        </a:ext>
                      </a:extLst>
                    </a:gridCol>
                    <a:gridCol w="2654105">
                      <a:extLst>
                        <a:ext uri="{9D8B030D-6E8A-4147-A177-3AD203B41FA5}">
                          <a16:colId xmlns:a16="http://schemas.microsoft.com/office/drawing/2014/main" xmlns="" val="1717565784"/>
                        </a:ext>
                      </a:extLst>
                    </a:gridCol>
                  </a:tblGrid>
                  <a:tr h="4371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Shots Made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Shots Missed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Shots Taken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85723821"/>
                      </a:ext>
                    </a:extLst>
                  </a:tr>
                  <a:tr h="4051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48056532"/>
                      </a:ext>
                    </a:extLst>
                  </a:tr>
                  <a:tr h="3917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19098705"/>
                      </a:ext>
                    </a:extLst>
                  </a:tr>
                  <a:tr h="4051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988296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D13F62-60D3-5E43-959F-51168AA50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58529"/>
                  </p:ext>
                </p:extLst>
              </p:nvPr>
            </p:nvGraphicFramePr>
            <p:xfrm>
              <a:off x="2213318" y="1490126"/>
              <a:ext cx="7962315" cy="17506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54105">
                      <a:extLst>
                        <a:ext uri="{9D8B030D-6E8A-4147-A177-3AD203B41FA5}">
                          <a16:colId xmlns:a16="http://schemas.microsoft.com/office/drawing/2014/main" val="2774907429"/>
                        </a:ext>
                      </a:extLst>
                    </a:gridCol>
                    <a:gridCol w="2654105">
                      <a:extLst>
                        <a:ext uri="{9D8B030D-6E8A-4147-A177-3AD203B41FA5}">
                          <a16:colId xmlns:a16="http://schemas.microsoft.com/office/drawing/2014/main" val="940040114"/>
                        </a:ext>
                      </a:extLst>
                    </a:gridCol>
                    <a:gridCol w="2654105">
                      <a:extLst>
                        <a:ext uri="{9D8B030D-6E8A-4147-A177-3AD203B41FA5}">
                          <a16:colId xmlns:a16="http://schemas.microsoft.com/office/drawing/2014/main" val="171756578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Shots Made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Shots Missed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Shots Taken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5723821"/>
                      </a:ext>
                    </a:extLst>
                  </a:tr>
                  <a:tr h="405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29" t="-153731" r="-200229" b="-198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460" t="-153731" r="-100690" b="-198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8056532"/>
                      </a:ext>
                    </a:extLst>
                  </a:tr>
                  <a:tr h="3917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9098705"/>
                      </a:ext>
                    </a:extLst>
                  </a:tr>
                  <a:tr h="4051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88296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169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116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ECD6B6F-929B-8F47-BFEE-44ED1D0E863F}"/>
                  </a:ext>
                </a:extLst>
              </p:cNvPr>
              <p:cNvSpPr/>
              <p:nvPr/>
            </p:nvSpPr>
            <p:spPr>
              <a:xfrm>
                <a:off x="751114" y="469911"/>
                <a:ext cx="9768296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Kiara had the opportunity to take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free-throw shots in her most recent game, and her accuracy remained the same as in practice. Complete the third row of the table to show how many free-throw shots she made and missed in the game.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111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How was each value in the third row determined?</a:t>
                </a:r>
              </a:p>
              <a:p>
                <a:pPr marL="457200" indent="-111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11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11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11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11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1111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free-throw shots taken, Kiara makes ____ shot(s) and misses ____ shot(s) on average. The ratio of missed shots to made shots to total shots is ____ : ____ : ____.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CD6B6F-929B-8F47-BFEE-44ED1D0E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4" y="469911"/>
                <a:ext cx="9768296" cy="4708981"/>
              </a:xfrm>
              <a:prstGeom prst="rect">
                <a:avLst/>
              </a:prstGeom>
              <a:blipFill>
                <a:blip r:embed="rId4"/>
                <a:stretch>
                  <a:fillRect l="-686" t="-906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xmlns="" id="{7FE8CD52-CF69-634B-9F05-4A24C91B9247}"/>
              </a:ext>
            </a:extLst>
          </p:cNvPr>
          <p:cNvSpPr txBox="1"/>
          <p:nvPr/>
        </p:nvSpPr>
        <p:spPr>
          <a:xfrm>
            <a:off x="7314750" y="6487885"/>
            <a:ext cx="424641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B064FB7-05EF-B04B-98C5-5005A5C025B4}"/>
              </a:ext>
            </a:extLst>
          </p:cNvPr>
          <p:cNvSpPr/>
          <p:nvPr/>
        </p:nvSpPr>
        <p:spPr>
          <a:xfrm>
            <a:off x="6938447" y="1810216"/>
            <a:ext cx="2975872" cy="232611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cement     sand     gravel  </a:t>
            </a:r>
            <a:endParaRPr lang="x-none" sz="1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377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ECD6B6F-929B-8F47-BFEE-44ED1D0E863F}"/>
              </a:ext>
            </a:extLst>
          </p:cNvPr>
          <p:cNvSpPr/>
          <p:nvPr/>
        </p:nvSpPr>
        <p:spPr>
          <a:xfrm>
            <a:off x="762000" y="589676"/>
            <a:ext cx="97011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Three-column tables can also be useful when comparing mixtures that contain more than two parts.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xmlns="" id="{7FE8CD52-CF69-634B-9F05-4A24C91B9247}"/>
              </a:ext>
            </a:extLst>
          </p:cNvPr>
          <p:cNvSpPr txBox="1"/>
          <p:nvPr/>
        </p:nvSpPr>
        <p:spPr>
          <a:xfrm>
            <a:off x="7314750" y="6509657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1D166C96-C63B-304B-AA5D-04DD70E0ACEC}"/>
                  </a:ext>
                </a:extLst>
              </p:cNvPr>
              <p:cNvSpPr/>
              <p:nvPr/>
            </p:nvSpPr>
            <p:spPr>
              <a:xfrm>
                <a:off x="2277682" y="1810216"/>
                <a:ext cx="444978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Concrete can be created by mixing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 cement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parts sand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parts gravel. These dry ingredients are first combined before being mixed with water.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166C96-C63B-304B-AA5D-04DD70E0A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682" y="1810216"/>
                <a:ext cx="4449787" cy="1938992"/>
              </a:xfrm>
              <a:prstGeom prst="rect">
                <a:avLst/>
              </a:prstGeom>
              <a:blipFill>
                <a:blip r:embed="rId4"/>
                <a:stretch>
                  <a:fillRect l="-1507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picture containing vegetable&#10;&#10;Description automatically generated">
            <a:extLst>
              <a:ext uri="{FF2B5EF4-FFF2-40B4-BE49-F238E27FC236}">
                <a16:creationId xmlns:a16="http://schemas.microsoft.com/office/drawing/2014/main" xmlns="" id="{AA0DAFE4-9FD3-BC4B-ABE6-B70D99DA241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213" y="3251596"/>
            <a:ext cx="2526748" cy="454741"/>
          </a:xfrm>
          <a:prstGeom prst="rect">
            <a:avLst/>
          </a:prstGeom>
        </p:spPr>
      </p:pic>
      <p:pic>
        <p:nvPicPr>
          <p:cNvPr id="13" name="Picture 12" descr="A picture containing vegetable&#10;&#10;Description automatically generated">
            <a:extLst>
              <a:ext uri="{FF2B5EF4-FFF2-40B4-BE49-F238E27FC236}">
                <a16:creationId xmlns:a16="http://schemas.microsoft.com/office/drawing/2014/main" xmlns="" id="{36DAF93C-8C2F-174E-9278-58ADA5FA8EB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607" t="1" b="1"/>
          <a:stretch/>
        </p:blipFill>
        <p:spPr>
          <a:xfrm>
            <a:off x="8029126" y="2632617"/>
            <a:ext cx="1702835" cy="454741"/>
          </a:xfrm>
          <a:prstGeom prst="rect">
            <a:avLst/>
          </a:prstGeom>
        </p:spPr>
      </p:pic>
      <p:pic>
        <p:nvPicPr>
          <p:cNvPr id="14" name="Picture 13" descr="A picture containing vegetable&#10;&#10;Description automatically generated">
            <a:extLst>
              <a:ext uri="{FF2B5EF4-FFF2-40B4-BE49-F238E27FC236}">
                <a16:creationId xmlns:a16="http://schemas.microsoft.com/office/drawing/2014/main" xmlns="" id="{E5AB1496-5FA3-DE4B-BB61-9011B416967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013" t="1" r="-1246" b="1"/>
          <a:stretch/>
        </p:blipFill>
        <p:spPr>
          <a:xfrm>
            <a:off x="8873186" y="2013638"/>
            <a:ext cx="890220" cy="45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7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10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ECD6B6F-929B-8F47-BFEE-44ED1D0E863F}"/>
              </a:ext>
            </a:extLst>
          </p:cNvPr>
          <p:cNvSpPr/>
          <p:nvPr/>
        </p:nvSpPr>
        <p:spPr>
          <a:xfrm>
            <a:off x="762000" y="589677"/>
            <a:ext cx="97011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determine equivalent mixtures of concrete. Show how the values in each row are determined using arrows and by indicating the factor used.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xmlns="" id="{7FE8CD52-CF69-634B-9F05-4A24C91B9247}"/>
              </a:ext>
            </a:extLst>
          </p:cNvPr>
          <p:cNvSpPr txBox="1"/>
          <p:nvPr/>
        </p:nvSpPr>
        <p:spPr>
          <a:xfrm>
            <a:off x="7314749" y="6466113"/>
            <a:ext cx="40662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B43B887A-A03C-3045-BE50-5CCDA6A70F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7915831"/>
                  </p:ext>
                </p:extLst>
              </p:nvPr>
            </p:nvGraphicFramePr>
            <p:xfrm>
              <a:off x="3623506" y="1992863"/>
              <a:ext cx="5008245" cy="230060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69415">
                      <a:extLst>
                        <a:ext uri="{9D8B030D-6E8A-4147-A177-3AD203B41FA5}">
                          <a16:colId xmlns:a16="http://schemas.microsoft.com/office/drawing/2014/main" xmlns="" val="1405753047"/>
                        </a:ext>
                      </a:extLst>
                    </a:gridCol>
                    <a:gridCol w="1669415">
                      <a:extLst>
                        <a:ext uri="{9D8B030D-6E8A-4147-A177-3AD203B41FA5}">
                          <a16:colId xmlns:a16="http://schemas.microsoft.com/office/drawing/2014/main" xmlns="" val="2729668702"/>
                        </a:ext>
                      </a:extLst>
                    </a:gridCol>
                    <a:gridCol w="1669415">
                      <a:extLst>
                        <a:ext uri="{9D8B030D-6E8A-4147-A177-3AD203B41FA5}">
                          <a16:colId xmlns:a16="http://schemas.microsoft.com/office/drawing/2014/main" xmlns="" val="3570564561"/>
                        </a:ext>
                      </a:extLst>
                    </a:gridCol>
                  </a:tblGrid>
                  <a:tr h="469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Cement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Sand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Gravel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86265927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68275010"/>
                      </a:ext>
                    </a:extLst>
                  </a:tr>
                  <a:tr h="469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5884696"/>
                      </a:ext>
                    </a:extLst>
                  </a:tr>
                  <a:tr h="469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6.5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20545982"/>
                      </a:ext>
                    </a:extLst>
                  </a:tr>
                  <a:tr h="4546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662368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43B887A-A03C-3045-BE50-5CCDA6A70F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7915831"/>
                  </p:ext>
                </p:extLst>
              </p:nvPr>
            </p:nvGraphicFramePr>
            <p:xfrm>
              <a:off x="3623506" y="1992863"/>
              <a:ext cx="5008245" cy="230060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69415">
                      <a:extLst>
                        <a:ext uri="{9D8B030D-6E8A-4147-A177-3AD203B41FA5}">
                          <a16:colId xmlns:a16="http://schemas.microsoft.com/office/drawing/2014/main" val="1405753047"/>
                        </a:ext>
                      </a:extLst>
                    </a:gridCol>
                    <a:gridCol w="1669415">
                      <a:extLst>
                        <a:ext uri="{9D8B030D-6E8A-4147-A177-3AD203B41FA5}">
                          <a16:colId xmlns:a16="http://schemas.microsoft.com/office/drawing/2014/main" val="2729668702"/>
                        </a:ext>
                      </a:extLst>
                    </a:gridCol>
                    <a:gridCol w="1669415">
                      <a:extLst>
                        <a:ext uri="{9D8B030D-6E8A-4147-A177-3AD203B41FA5}">
                          <a16:colId xmlns:a16="http://schemas.microsoft.com/office/drawing/2014/main" val="3570564561"/>
                        </a:ext>
                      </a:extLst>
                    </a:gridCol>
                  </a:tblGrid>
                  <a:tr h="469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Cement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Sand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Gravel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265927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8333" r="-20109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65" t="-108333" r="-10109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5" t="-108333" r="-1095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8275010"/>
                      </a:ext>
                    </a:extLst>
                  </a:tr>
                  <a:tr h="469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5" t="-192308" r="-1095" b="-1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84696"/>
                      </a:ext>
                    </a:extLst>
                  </a:tr>
                  <a:tr h="4692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96104" r="-20109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0545982"/>
                      </a:ext>
                    </a:extLst>
                  </a:tr>
                  <a:tr h="4546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65" t="-406667" r="-10109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62368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F62CE64-AEFB-9448-9809-63716874746C}"/>
              </a:ext>
            </a:extLst>
          </p:cNvPr>
          <p:cNvSpPr/>
          <p:nvPr/>
        </p:nvSpPr>
        <p:spPr>
          <a:xfrm>
            <a:off x="762000" y="4719656"/>
            <a:ext cx="97011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Marc uses one-gallon buckets to measure out the quantities needed in his concrete mixture. How many gallons of dry mix will he have in one batch of concrete?</a:t>
            </a:r>
          </a:p>
        </p:txBody>
      </p:sp>
    </p:spTree>
    <p:extLst>
      <p:ext uri="{BB962C8B-B14F-4D97-AF65-F5344CB8AC3E}">
        <p14:creationId xmlns:p14="http://schemas.microsoft.com/office/powerpoint/2010/main" val="3759889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4343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5B015B1-FBD0-8E43-9A2E-5A1474505758}"/>
              </a:ext>
            </a:extLst>
          </p:cNvPr>
          <p:cNvSpPr txBox="1"/>
          <p:nvPr/>
        </p:nvSpPr>
        <p:spPr>
          <a:xfrm>
            <a:off x="7314750" y="6476999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5914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43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1116" y="-37211"/>
            <a:ext cx="108131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6.7.3 Guided Practice: Using Three-Column Ratio Tables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308" y="486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2144946" y="1454516"/>
                <a:ext cx="826016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particular shade of maroon paint calls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red paint to be mixed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blue paint. Complete the table to find the quantities needed for different batches of paint.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46" y="1454516"/>
                <a:ext cx="8260164" cy="1323439"/>
              </a:xfrm>
              <a:prstGeom prst="rect">
                <a:avLst/>
              </a:prstGeom>
              <a:blipFill>
                <a:blip r:embed="rId5"/>
                <a:stretch>
                  <a:fillRect l="-812" t="-322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50" y="6476999"/>
            <a:ext cx="409568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FE253087-F1B4-EC41-9EF4-DE725FE1CD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9756069"/>
                  </p:ext>
                </p:extLst>
              </p:nvPr>
            </p:nvGraphicFramePr>
            <p:xfrm>
              <a:off x="3568976" y="3054812"/>
              <a:ext cx="5412105" cy="28689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24660">
                      <a:extLst>
                        <a:ext uri="{9D8B030D-6E8A-4147-A177-3AD203B41FA5}">
                          <a16:colId xmlns:a16="http://schemas.microsoft.com/office/drawing/2014/main" xmlns="" val="1686811791"/>
                        </a:ext>
                      </a:extLst>
                    </a:gridCol>
                    <a:gridCol w="1724660">
                      <a:extLst>
                        <a:ext uri="{9D8B030D-6E8A-4147-A177-3AD203B41FA5}">
                          <a16:colId xmlns:a16="http://schemas.microsoft.com/office/drawing/2014/main" xmlns="" val="1359699857"/>
                        </a:ext>
                      </a:extLst>
                    </a:gridCol>
                    <a:gridCol w="1962785">
                      <a:extLst>
                        <a:ext uri="{9D8B030D-6E8A-4147-A177-3AD203B41FA5}">
                          <a16:colId xmlns:a16="http://schemas.microsoft.com/office/drawing/2014/main" xmlns="" val="4017508048"/>
                        </a:ext>
                      </a:extLst>
                    </a:gridCol>
                  </a:tblGrid>
                  <a:tr h="8286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Paint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 Paint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Maroon Paint 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32653429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71327515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15645021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90981567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88840435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675103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253087-F1B4-EC41-9EF4-DE725FE1CD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9756069"/>
                  </p:ext>
                </p:extLst>
              </p:nvPr>
            </p:nvGraphicFramePr>
            <p:xfrm>
              <a:off x="3568976" y="3054812"/>
              <a:ext cx="5412105" cy="28689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24660">
                      <a:extLst>
                        <a:ext uri="{9D8B030D-6E8A-4147-A177-3AD203B41FA5}">
                          <a16:colId xmlns:a16="http://schemas.microsoft.com/office/drawing/2014/main" val="1686811791"/>
                        </a:ext>
                      </a:extLst>
                    </a:gridCol>
                    <a:gridCol w="1724660">
                      <a:extLst>
                        <a:ext uri="{9D8B030D-6E8A-4147-A177-3AD203B41FA5}">
                          <a16:colId xmlns:a16="http://schemas.microsoft.com/office/drawing/2014/main" val="1359699857"/>
                        </a:ext>
                      </a:extLst>
                    </a:gridCol>
                    <a:gridCol w="1962785">
                      <a:extLst>
                        <a:ext uri="{9D8B030D-6E8A-4147-A177-3AD203B41FA5}">
                          <a16:colId xmlns:a16="http://schemas.microsoft.com/office/drawing/2014/main" val="4017508048"/>
                        </a:ext>
                      </a:extLst>
                    </a:gridCol>
                  </a:tblGrid>
                  <a:tr h="8286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Paint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 Paint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Maroon Paint (cups)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653429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3" t="-201471" r="-214841" b="-39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201471" r="-114085" b="-39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1327515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310606" r="-114085" b="-307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5645021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6398" t="-404478" r="-621" b="-2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0981567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3" t="-497059" r="-21484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8840435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6398" t="-615152" r="-621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75103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680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533401" y="1099853"/>
                <a:ext cx="9893481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 mixture in the first row represents one batch of maroon paint, how many batches are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maroon paint?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how this relates to the factor used to complete the last row in the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1" y="1099853"/>
                <a:ext cx="9893481" cy="3477875"/>
              </a:xfrm>
              <a:prstGeom prst="rect">
                <a:avLst/>
              </a:prstGeom>
              <a:blipFill>
                <a:blip r:embed="rId4"/>
                <a:stretch>
                  <a:fillRect l="-678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49" y="6400800"/>
            <a:ext cx="42186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5899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422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6575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674914" y="272538"/>
                <a:ext cx="9730196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in one gallon. Use this information and the table below to determine how many gallons of paint the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-cup mixture of maroon paint makes.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" y="272538"/>
                <a:ext cx="9730196" cy="923330"/>
              </a:xfrm>
              <a:prstGeom prst="rect">
                <a:avLst/>
              </a:prstGeom>
              <a:blipFill>
                <a:blip r:embed="rId4"/>
                <a:stretch>
                  <a:fillRect l="-56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49" y="6457675"/>
            <a:ext cx="414248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725D92EB-F77B-DD44-BFC0-2E512C19B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97578"/>
              </p:ext>
            </p:extLst>
          </p:nvPr>
        </p:nvGraphicFramePr>
        <p:xfrm>
          <a:off x="2955951" y="1340668"/>
          <a:ext cx="6638154" cy="88202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19077">
                  <a:extLst>
                    <a:ext uri="{9D8B030D-6E8A-4147-A177-3AD203B41FA5}">
                      <a16:colId xmlns:a16="http://schemas.microsoft.com/office/drawing/2014/main" xmlns="" val="994011286"/>
                    </a:ext>
                  </a:extLst>
                </a:gridCol>
                <a:gridCol w="3319077">
                  <a:extLst>
                    <a:ext uri="{9D8B030D-6E8A-4147-A177-3AD203B41FA5}">
                      <a16:colId xmlns:a16="http://schemas.microsoft.com/office/drawing/2014/main" xmlns="" val="2641320810"/>
                    </a:ext>
                  </a:extLst>
                </a:gridCol>
              </a:tblGrid>
              <a:tr h="2972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Cups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Gallons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7094425"/>
                  </a:ext>
                </a:extLst>
              </a:tr>
              <a:tr h="2972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5726044"/>
                  </a:ext>
                </a:extLst>
              </a:tr>
              <a:tr h="2876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075437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0144EDDA-CCE5-0540-87F2-79F6A50A46EF}"/>
                  </a:ext>
                </a:extLst>
              </p:cNvPr>
              <p:cNvSpPr/>
              <p:nvPr/>
            </p:nvSpPr>
            <p:spPr>
              <a:xfrm>
                <a:off x="674914" y="2537432"/>
                <a:ext cx="973019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In April, Kyla went for a walk on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for every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 that she did not walk. There are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in April. Use this information to complete the ratio table.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44EDDA-CCE5-0540-87F2-79F6A50A4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" y="2537432"/>
                <a:ext cx="9730196" cy="646331"/>
              </a:xfrm>
              <a:prstGeom prst="rect">
                <a:avLst/>
              </a:prstGeom>
              <a:blipFill>
                <a:blip r:embed="rId5"/>
                <a:stretch>
                  <a:fillRect l="-56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24329E5A-649D-7647-8AFC-8EF9C1EF11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465380"/>
                  </p:ext>
                </p:extLst>
              </p:nvPr>
            </p:nvGraphicFramePr>
            <p:xfrm>
              <a:off x="2955952" y="3656817"/>
              <a:ext cx="6638155" cy="10156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79541">
                      <a:extLst>
                        <a:ext uri="{9D8B030D-6E8A-4147-A177-3AD203B41FA5}">
                          <a16:colId xmlns:a16="http://schemas.microsoft.com/office/drawing/2014/main" xmlns="" val="268511217"/>
                        </a:ext>
                      </a:extLst>
                    </a:gridCol>
                    <a:gridCol w="1779307">
                      <a:extLst>
                        <a:ext uri="{9D8B030D-6E8A-4147-A177-3AD203B41FA5}">
                          <a16:colId xmlns:a16="http://schemas.microsoft.com/office/drawing/2014/main" xmlns="" val="2385201325"/>
                        </a:ext>
                      </a:extLst>
                    </a:gridCol>
                    <a:gridCol w="1779307">
                      <a:extLst>
                        <a:ext uri="{9D8B030D-6E8A-4147-A177-3AD203B41FA5}">
                          <a16:colId xmlns:a16="http://schemas.microsoft.com/office/drawing/2014/main" xmlns="" val="1824085832"/>
                        </a:ext>
                      </a:extLst>
                    </a:gridCol>
                  </a:tblGrid>
                  <a:tr h="3421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Walking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5654562"/>
                      </a:ext>
                    </a:extLst>
                  </a:tr>
                  <a:tr h="3421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Non-Walking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35448715"/>
                      </a:ext>
                    </a:extLst>
                  </a:tr>
                  <a:tr h="3313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08147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4329E5A-649D-7647-8AFC-8EF9C1EF11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465380"/>
                  </p:ext>
                </p:extLst>
              </p:nvPr>
            </p:nvGraphicFramePr>
            <p:xfrm>
              <a:off x="2955952" y="3656817"/>
              <a:ext cx="6638155" cy="10156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79541">
                      <a:extLst>
                        <a:ext uri="{9D8B030D-6E8A-4147-A177-3AD203B41FA5}">
                          <a16:colId xmlns:a16="http://schemas.microsoft.com/office/drawing/2014/main" val="268511217"/>
                        </a:ext>
                      </a:extLst>
                    </a:gridCol>
                    <a:gridCol w="1779307">
                      <a:extLst>
                        <a:ext uri="{9D8B030D-6E8A-4147-A177-3AD203B41FA5}">
                          <a16:colId xmlns:a16="http://schemas.microsoft.com/office/drawing/2014/main" val="2385201325"/>
                        </a:ext>
                      </a:extLst>
                    </a:gridCol>
                    <a:gridCol w="1779307">
                      <a:extLst>
                        <a:ext uri="{9D8B030D-6E8A-4147-A177-3AD203B41FA5}">
                          <a16:colId xmlns:a16="http://schemas.microsoft.com/office/drawing/2014/main" val="1824085832"/>
                        </a:ext>
                      </a:extLst>
                    </a:gridCol>
                  </a:tblGrid>
                  <a:tr h="3421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Walking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3630" t="-12281" r="-100685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654562"/>
                      </a:ext>
                    </a:extLst>
                  </a:tr>
                  <a:tr h="3421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Non-Walking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3630" t="-114286" r="-100685" b="-130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5448715"/>
                      </a:ext>
                    </a:extLst>
                  </a:tr>
                  <a:tr h="3313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Days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3630" t="-218182" r="-685" b="-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147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8DC6A47D-6DFC-B747-AB62-AFF75BC50903}"/>
                  </a:ext>
                </a:extLst>
              </p:cNvPr>
              <p:cNvSpPr/>
              <p:nvPr/>
            </p:nvSpPr>
            <p:spPr>
              <a:xfrm>
                <a:off x="1513114" y="4980347"/>
                <a:ext cx="8891997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statement.</a:t>
                </a:r>
              </a:p>
              <a:p>
                <a:pPr lvl="0"/>
                <a:endParaRPr lang="en-US" sz="18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Throughout the year, Kyla continued walking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for every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 that she did not walk. Based on this, in November, Kyla walked____ of the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C6A47D-6DFC-B747-AB62-AFF75BC50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114" y="4980347"/>
                <a:ext cx="8891997" cy="1477328"/>
              </a:xfrm>
              <a:prstGeom prst="rect">
                <a:avLst/>
              </a:prstGeom>
              <a:blipFill>
                <a:blip r:embed="rId7"/>
                <a:stretch>
                  <a:fillRect l="-548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928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69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51DCB9D4-64AC-E448-A076-AB6B662D6AE3}"/>
              </a:ext>
            </a:extLst>
          </p:cNvPr>
          <p:cNvSpPr txBox="1"/>
          <p:nvPr/>
        </p:nvSpPr>
        <p:spPr>
          <a:xfrm>
            <a:off x="7314749" y="6455229"/>
            <a:ext cx="3995507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28057" y="88461"/>
            <a:ext cx="9211093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059" y="8846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66A031F-2EC8-DF4C-B3F5-E7AC5B8F3239}"/>
                  </a:ext>
                </a:extLst>
              </p:cNvPr>
              <p:cNvSpPr/>
              <p:nvPr/>
            </p:nvSpPr>
            <p:spPr>
              <a:xfrm>
                <a:off x="881743" y="1126599"/>
                <a:ext cx="9511937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Bronze is a type of metal used to make many products such as ship propellers and parts of musical instruments. Bronze is made by mixing copper and tin in a ratio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8.8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Complete the table where each quantity is measured in kilograms (kg). Then, answer the questions that follow.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3" y="1126599"/>
                <a:ext cx="9511937" cy="1631216"/>
              </a:xfrm>
              <a:prstGeom prst="rect">
                <a:avLst/>
              </a:prstGeom>
              <a:blipFill>
                <a:blip r:embed="rId5"/>
                <a:stretch>
                  <a:fillRect l="-449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8A626CB-082C-DB4E-B059-328DCC8AD138}"/>
              </a:ext>
            </a:extLst>
          </p:cNvPr>
          <p:cNvSpPr txBox="1"/>
          <p:nvPr/>
        </p:nvSpPr>
        <p:spPr>
          <a:xfrm>
            <a:off x="7314750" y="6444343"/>
            <a:ext cx="4131598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283902E5-9898-4647-AE08-7A3B14A7D1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519515"/>
                  </p:ext>
                </p:extLst>
              </p:nvPr>
            </p:nvGraphicFramePr>
            <p:xfrm>
              <a:off x="3044190" y="3239126"/>
              <a:ext cx="6172200" cy="1722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83130">
                      <a:extLst>
                        <a:ext uri="{9D8B030D-6E8A-4147-A177-3AD203B41FA5}">
                          <a16:colId xmlns:a16="http://schemas.microsoft.com/office/drawing/2014/main" xmlns="" val="4147069094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xmlns="" val="1488369149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xmlns="" val="982258063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xmlns="" val="1791488011"/>
                        </a:ext>
                      </a:extLst>
                    </a:gridCol>
                  </a:tblGrid>
                  <a:tr h="580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Copper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8.8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3718198"/>
                      </a:ext>
                    </a:extLst>
                  </a:tr>
                  <a:tr h="580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Tin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77579036"/>
                      </a:ext>
                    </a:extLst>
                  </a:tr>
                  <a:tr h="5613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Bronze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273262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83902E5-9898-4647-AE08-7A3B14A7D1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519515"/>
                  </p:ext>
                </p:extLst>
              </p:nvPr>
            </p:nvGraphicFramePr>
            <p:xfrm>
              <a:off x="3044190" y="3239126"/>
              <a:ext cx="6172200" cy="1722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83130">
                      <a:extLst>
                        <a:ext uri="{9D8B030D-6E8A-4147-A177-3AD203B41FA5}">
                          <a16:colId xmlns:a16="http://schemas.microsoft.com/office/drawing/2014/main" val="4147069094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val="1488369149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val="982258063"/>
                        </a:ext>
                      </a:extLst>
                    </a:gridCol>
                    <a:gridCol w="1329690">
                      <a:extLst>
                        <a:ext uri="{9D8B030D-6E8A-4147-A177-3AD203B41FA5}">
                          <a16:colId xmlns:a16="http://schemas.microsoft.com/office/drawing/2014/main" val="1791488011"/>
                        </a:ext>
                      </a:extLst>
                    </a:gridCol>
                  </a:tblGrid>
                  <a:tr h="580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Copper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3927" t="-1053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718198"/>
                      </a:ext>
                    </a:extLst>
                  </a:tr>
                  <a:tr h="580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Tin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3927" t="-100000" r="-200000" b="-97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5138" t="-100000" r="-917" b="-97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7579036"/>
                      </a:ext>
                    </a:extLst>
                  </a:tr>
                  <a:tr h="5613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Bronze (kg)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5138" t="-208696" r="-100917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73262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D9AF1552-9966-3643-BA84-BB4BC68EDBB5}"/>
                  </a:ext>
                </a:extLst>
              </p:cNvPr>
              <p:cNvSpPr/>
              <p:nvPr/>
            </p:nvSpPr>
            <p:spPr>
              <a:xfrm>
                <a:off x="642257" y="1103403"/>
                <a:ext cx="9974569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kilograms of tin are needed to make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kilograms of bronze?</a:t>
                </a: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make bronze, how many kilograms of copper need to be melted per melted kilogram of tin?</a:t>
                </a: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lphaLcPeriod"/>
                  <a:tabLst>
                    <a:tab pos="306388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an arrow to connect each question above to where the necessary information to answer can be found in the ratio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" y="1103403"/>
                <a:ext cx="9974569" cy="4093428"/>
              </a:xfrm>
              <a:prstGeom prst="rect">
                <a:avLst/>
              </a:prstGeom>
              <a:blipFill>
                <a:blip r:embed="rId4"/>
                <a:stretch>
                  <a:fillRect l="-489" t="-745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7314750" y="6487885"/>
            <a:ext cx="402816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7314749" y="6433457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89765" y="-13639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6.7.5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465" y="1037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A85065-1747-6C4E-8BA4-9C1ED8A185A6}"/>
              </a:ext>
            </a:extLst>
          </p:cNvPr>
          <p:cNvSpPr/>
          <p:nvPr/>
        </p:nvSpPr>
        <p:spPr>
          <a:xfrm>
            <a:off x="916115" y="1877270"/>
            <a:ext cx="96349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short note to a friend who missed class that summarizes today’s lesson.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7314749" y="6487885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DF76F98-4311-654D-8D21-FE2B3EAE1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633634"/>
              </p:ext>
            </p:extLst>
          </p:nvPr>
        </p:nvGraphicFramePr>
        <p:xfrm>
          <a:off x="2792095" y="2617283"/>
          <a:ext cx="6607810" cy="210629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607810">
                  <a:extLst>
                    <a:ext uri="{9D8B030D-6E8A-4147-A177-3AD203B41FA5}">
                      <a16:colId xmlns:a16="http://schemas.microsoft.com/office/drawing/2014/main" xmlns="" val="2681982489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837274885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727941549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86319106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9900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965</Words>
  <Application>Microsoft Office PowerPoint</Application>
  <PresentationFormat>Custom</PresentationFormat>
  <Paragraphs>208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6th Grade Math  Unit 6, Lesson 7  Using Three-Column Tables of Equivalent Ratios  Volume 1, pg. 287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20</cp:revision>
  <dcterms:created xsi:type="dcterms:W3CDTF">2015-03-17T18:51:18Z</dcterms:created>
  <dcterms:modified xsi:type="dcterms:W3CDTF">2022-06-05T03:20:51Z</dcterms:modified>
</cp:coreProperties>
</file>