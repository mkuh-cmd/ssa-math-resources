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85" r:id="rId4"/>
    <p:sldId id="286" r:id="rId5"/>
    <p:sldId id="261" r:id="rId6"/>
    <p:sldId id="287" r:id="rId7"/>
    <p:sldId id="311" r:id="rId8"/>
    <p:sldId id="312" r:id="rId9"/>
    <p:sldId id="353" r:id="rId10"/>
    <p:sldId id="314" r:id="rId11"/>
    <p:sldId id="315" r:id="rId12"/>
    <p:sldId id="352" r:id="rId13"/>
    <p:sldId id="373" r:id="rId14"/>
    <p:sldId id="289" r:id="rId15"/>
    <p:sldId id="290" r:id="rId16"/>
    <p:sldId id="356" r:id="rId17"/>
    <p:sldId id="366" r:id="rId18"/>
    <p:sldId id="367" r:id="rId19"/>
    <p:sldId id="368" r:id="rId20"/>
    <p:sldId id="320" r:id="rId21"/>
    <p:sldId id="321" r:id="rId22"/>
    <p:sldId id="374" r:id="rId23"/>
    <p:sldId id="362" r:id="rId24"/>
    <p:sldId id="363" r:id="rId25"/>
    <p:sldId id="364" r:id="rId26"/>
    <p:sldId id="369" r:id="rId27"/>
    <p:sldId id="370" r:id="rId28"/>
    <p:sldId id="371" r:id="rId29"/>
    <p:sldId id="372" r:id="rId30"/>
    <p:sldId id="306" r:id="rId31"/>
    <p:sldId id="307"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42"/>
    <p:restoredTop sz="94695"/>
  </p:normalViewPr>
  <p:slideViewPr>
    <p:cSldViewPr snapToGrid="0">
      <p:cViewPr varScale="1">
        <p:scale>
          <a:sx n="79" d="100"/>
          <a:sy n="79" d="100"/>
        </p:scale>
        <p:origin x="384"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3622470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235841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0395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0395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734473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21806"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8697" y="1700157"/>
            <a:ext cx="2973100" cy="3465785"/>
          </a:xfrm>
          <a:prstGeom prst="rect">
            <a:avLst/>
          </a:prstGeom>
        </p:spPr>
      </p:pic>
      <p:sp>
        <p:nvSpPr>
          <p:cNvPr id="6" name="Google Shape;261;g104476d1465_0_0"/>
          <p:cNvSpPr txBox="1">
            <a:spLocks/>
          </p:cNvSpPr>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 </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Unit 9,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and Interpreting the Mean, Median, Mode, and Range</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50</a:t>
            </a:r>
            <a:br>
              <a:rPr lang="en-US" sz="2800" b="1" dirty="0">
                <a:solidFill>
                  <a:srgbClr val="417DBF"/>
                </a:solidFill>
                <a:latin typeface="Verdana"/>
                <a:ea typeface="Verdana"/>
                <a:cs typeface="Verdana"/>
                <a:sym typeface="Verdana"/>
              </a:rPr>
            </a:br>
            <a:endParaRPr lang="en-US" sz="28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48263" y="7676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67613" y="35050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48263" y="1600200"/>
            <a:ext cx="909547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MA.6.DP.1.2</a:t>
            </a:r>
          </a:p>
          <a:p>
            <a:pPr indent="0">
              <a:buNone/>
            </a:pPr>
            <a:r>
              <a:rPr lang="en-US" sz="2400" dirty="0">
                <a:solidFill>
                  <a:schemeClr val="tx1"/>
                </a:solidFill>
                <a:latin typeface="Verdana"/>
                <a:ea typeface="Verdana"/>
                <a:cs typeface="Verdana"/>
                <a:sym typeface="Verdana"/>
              </a:rPr>
              <a:t>Given a numerical data set within a real-world context, find and interpret mean, median, mode, and range.</a:t>
            </a:r>
            <a:endParaRPr lang="en-US" sz="24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824775" y="386588"/>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649425" y="14395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49425" y="1596390"/>
            <a:ext cx="948091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38463" y="4818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56301" y="33738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38463" y="1600200"/>
            <a:ext cx="931507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76250" indent="-469900">
              <a:buClr>
                <a:srgbClr val="434343"/>
              </a:buClr>
              <a:buSzPct val="125000"/>
              <a:buFont typeface="Verdana"/>
              <a:buChar char="❏"/>
            </a:pPr>
            <a:r>
              <a:rPr lang="en-US" sz="2400" dirty="0">
                <a:latin typeface="Verdana"/>
                <a:ea typeface="Verdana"/>
                <a:cs typeface="Verdana"/>
              </a:rPr>
              <a:t>I can find the mean, median, mode, and range of a given data set.</a:t>
            </a:r>
          </a:p>
          <a:p>
            <a:pPr marL="476250" indent="-469900">
              <a:buClr>
                <a:srgbClr val="434343"/>
              </a:buClr>
              <a:buSzPct val="125000"/>
              <a:buFont typeface="Verdana"/>
              <a:buChar char="❏"/>
            </a:pPr>
            <a:endParaRPr lang="en-US" sz="2400" dirty="0">
              <a:latin typeface="Verdana"/>
              <a:ea typeface="Verdana"/>
              <a:cs typeface="Verdana"/>
            </a:endParaRPr>
          </a:p>
          <a:p>
            <a:pPr marL="476250" indent="-469900">
              <a:buClr>
                <a:srgbClr val="434343"/>
              </a:buClr>
              <a:buSzPct val="125000"/>
              <a:buFont typeface="Verdana"/>
              <a:buChar char="❏"/>
            </a:pPr>
            <a:r>
              <a:rPr lang="en-US" sz="2400" dirty="0">
                <a:latin typeface="Verdana"/>
                <a:ea typeface="Verdana"/>
                <a:cs typeface="Verdana"/>
              </a:rPr>
              <a:t>I can interpret the mean, median, mode, and range of a given data set.</a:t>
            </a:r>
            <a:endParaRPr lang="en-US" sz="2400" dirty="0">
              <a:solidFill>
                <a:schemeClr val="tx1"/>
              </a:solidFill>
              <a:latin typeface="Verdana"/>
              <a:ea typeface="Verdana"/>
              <a:cs typeface="Verdana"/>
              <a:sym typeface="Verdana"/>
            </a:endParaRPr>
          </a:p>
        </p:txBody>
      </p:sp>
      <p:sp>
        <p:nvSpPr>
          <p:cNvPr id="9"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6807"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2575" y="289978"/>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9.3.1 Warm-Up: Stripes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15275" y="21177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214438" y="1185971"/>
                <a:ext cx="9173146" cy="5324535"/>
              </a:xfrm>
              <a:prstGeom prst="rect">
                <a:avLst/>
              </a:prstGeom>
              <a:noFill/>
            </p:spPr>
            <p:txBody>
              <a:bodyPr wrap="square" rtlCol="0">
                <a:spAutoFit/>
              </a:bodyPr>
              <a:lstStyle/>
              <a:p>
                <a:r>
                  <a:rPr lang="en-US" sz="2000" dirty="0">
                    <a:latin typeface="Verdana"/>
                    <a:ea typeface="Verdana"/>
                    <a:cs typeface="Verdana"/>
                  </a:rPr>
                  <a:t>A picture of four sets of </a:t>
                </a:r>
                <a14:m>
                  <m:oMath xmlns:m="http://schemas.openxmlformats.org/officeDocument/2006/math">
                    <m:r>
                      <a:rPr lang="en-US" sz="2000">
                        <a:latin typeface="Cambria Math"/>
                        <a:ea typeface="Verdana"/>
                        <a:cs typeface="Verdana"/>
                      </a:rPr>
                      <m:t>16</m:t>
                    </m:r>
                  </m:oMath>
                </a14:m>
                <a:r>
                  <a:rPr lang="en-US" sz="2000" dirty="0">
                    <a:latin typeface="Verdana"/>
                    <a:ea typeface="Verdana"/>
                    <a:cs typeface="Verdana"/>
                  </a:rPr>
                  <a:t> cubes </a:t>
                </a:r>
                <a:br>
                  <a:rPr lang="en-US" sz="2000" dirty="0">
                    <a:latin typeface="Verdana"/>
                    <a:ea typeface="Verdana"/>
                    <a:cs typeface="Verdana"/>
                  </a:rPr>
                </a:br>
                <a:r>
                  <a:rPr lang="en-US" sz="2000" dirty="0">
                    <a:latin typeface="Verdana"/>
                    <a:ea typeface="Verdana"/>
                    <a:cs typeface="Verdana"/>
                  </a:rPr>
                  <a:t>is shown.</a:t>
                </a:r>
              </a:p>
              <a:p>
                <a:endParaRPr lang="en-PH" sz="2000" dirty="0">
                  <a:latin typeface="Verdana"/>
                  <a:ea typeface="Verdana"/>
                  <a:cs typeface="Verdana" panose="020B0604030504040204" pitchFamily="34" charset="0"/>
                </a:endParaRPr>
              </a:p>
              <a:p>
                <a:pPr marL="457200" indent="-457200">
                  <a:buFont typeface="+mj-lt"/>
                  <a:buAutoNum type="arabicPeriod"/>
                </a:pPr>
                <a:r>
                  <a:rPr lang="en-US" sz="2000" dirty="0">
                    <a:latin typeface="Verdana"/>
                    <a:ea typeface="Cambria Math"/>
                    <a:cs typeface="Cambria Math"/>
                  </a:rPr>
                  <a:t>Which set of cubes has </a:t>
                </a:r>
                <a:br>
                  <a:rPr lang="en-US" sz="2000" dirty="0">
                    <a:latin typeface="Verdana"/>
                    <a:ea typeface="Cambria Math"/>
                    <a:cs typeface="Cambria Math"/>
                  </a:rPr>
                </a:br>
                <a:r>
                  <a:rPr lang="en-US" sz="2000" dirty="0">
                    <a:latin typeface="Verdana"/>
                    <a:ea typeface="Cambria Math"/>
                    <a:cs typeface="Cambria Math"/>
                  </a:rPr>
                  <a:t>a set of stripes that covers </a:t>
                </a:r>
                <a:br>
                  <a:rPr lang="en-US" sz="2000" dirty="0">
                    <a:latin typeface="Verdana"/>
                    <a:ea typeface="Cambria Math"/>
                    <a:cs typeface="Cambria Math"/>
                  </a:rPr>
                </a:br>
                <a:r>
                  <a:rPr lang="en-US" sz="2000" dirty="0">
                    <a:latin typeface="Verdana"/>
                    <a:ea typeface="Cambria Math"/>
                    <a:cs typeface="Cambria Math"/>
                  </a:rPr>
                  <a:t>the most area?</a:t>
                </a:r>
              </a:p>
              <a:p>
                <a:pPr marL="457200" indent="-457200">
                  <a:buFont typeface="+mj-lt"/>
                  <a:buAutoNum type="arabicPeriod"/>
                </a:pPr>
                <a:endParaRPr lang="en-PH" sz="2000" dirty="0">
                  <a:latin typeface="Verdana"/>
                  <a:ea typeface="Cambria Math"/>
                  <a:cs typeface="Verdana" panose="020B0604030504040204" pitchFamily="34" charset="0"/>
                </a:endParaRPr>
              </a:p>
              <a:p>
                <a:endParaRPr lang="en-PH" sz="2000" dirty="0">
                  <a:latin typeface="Verdana"/>
                  <a:ea typeface="Cambria Math"/>
                  <a:cs typeface="Verdana" panose="020B0604030504040204" pitchFamily="34" charset="0"/>
                </a:endParaRPr>
              </a:p>
              <a:p>
                <a:pPr marL="457200" indent="-457200">
                  <a:buFont typeface="+mj-lt"/>
                  <a:buAutoNum type="arabicPeriod" startAt="2"/>
                </a:pPr>
                <a:r>
                  <a:rPr lang="en-US" sz="2000" dirty="0">
                    <a:latin typeface="Verdana"/>
                    <a:ea typeface="Cambria Math"/>
                    <a:cs typeface="Cambria Math"/>
                  </a:rPr>
                  <a:t>Explain how you determined </a:t>
                </a:r>
                <a:br>
                  <a:rPr lang="en-US" sz="2000" dirty="0">
                    <a:latin typeface="Verdana"/>
                    <a:ea typeface="Cambria Math"/>
                    <a:cs typeface="Cambria Math"/>
                  </a:rPr>
                </a:br>
                <a:r>
                  <a:rPr lang="en-US" sz="2000" dirty="0">
                    <a:latin typeface="Verdana"/>
                    <a:ea typeface="Cambria Math"/>
                    <a:cs typeface="Cambria Math"/>
                  </a:rPr>
                  <a:t>your answer.</a:t>
                </a:r>
              </a:p>
              <a:p>
                <a:pPr marL="457200" indent="-457200">
                  <a:buFont typeface="+mj-lt"/>
                  <a:buAutoNum type="arabicPeriod" startAt="2"/>
                </a:pPr>
                <a:endParaRPr lang="en-US" sz="2000" dirty="0">
                  <a:latin typeface="Verdana"/>
                  <a:ea typeface="Cambria Math"/>
                  <a:cs typeface="Verdana" panose="020B0604030504040204" pitchFamily="34" charset="0"/>
                </a:endParaRPr>
              </a:p>
              <a:p>
                <a:pPr marL="457200" indent="-457200">
                  <a:buFont typeface="+mj-lt"/>
                  <a:buAutoNum type="arabicPeriod" startAt="2"/>
                </a:pPr>
                <a:endParaRPr lang="en-US" sz="2000" dirty="0">
                  <a:latin typeface="Verdana"/>
                  <a:ea typeface="Cambria Math"/>
                  <a:cs typeface="Verdana" panose="020B0604030504040204" pitchFamily="34" charset="0"/>
                </a:endParaRPr>
              </a:p>
              <a:p>
                <a:pPr marL="457200" indent="-457200">
                  <a:buFont typeface="+mj-lt"/>
                  <a:buAutoNum type="arabicPeriod" startAt="3"/>
                </a:pPr>
                <a:r>
                  <a:rPr lang="en-US" sz="2000" dirty="0">
                    <a:latin typeface="Verdana"/>
                    <a:ea typeface="Cambria Math"/>
                    <a:cs typeface="Cambria Math"/>
                  </a:rPr>
                  <a:t>Which set of cubes has a set of stripes that covers the </a:t>
                </a:r>
                <a:br>
                  <a:rPr lang="en-US" sz="2000" dirty="0">
                    <a:latin typeface="Verdana"/>
                    <a:ea typeface="Cambria Math"/>
                    <a:cs typeface="Cambria Math"/>
                  </a:rPr>
                </a:br>
                <a:r>
                  <a:rPr lang="en-US" sz="2000" dirty="0">
                    <a:latin typeface="Verdana"/>
                    <a:ea typeface="Cambria Math"/>
                    <a:cs typeface="Cambria Math"/>
                  </a:rPr>
                  <a:t>least area?</a:t>
                </a:r>
              </a:p>
              <a:p>
                <a:endParaRPr lang="en-US" sz="2000" dirty="0">
                  <a:latin typeface="Verdana"/>
                  <a:ea typeface="Cambria Math"/>
                  <a:cs typeface="Cambria Math"/>
                </a:endParaRPr>
              </a:p>
              <a:p>
                <a:pPr marL="457200" indent="-457200">
                  <a:buFont typeface="+mj-lt"/>
                  <a:buAutoNum type="arabicPeriod" startAt="4"/>
                </a:pPr>
                <a:r>
                  <a:rPr lang="en-US" sz="2000" dirty="0">
                    <a:latin typeface="Verdana"/>
                    <a:ea typeface="Cambria Math"/>
                    <a:cs typeface="Cambria Math"/>
                  </a:rPr>
                  <a:t>Explain how you determined your answer.</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214438" y="1185971"/>
                <a:ext cx="9173146" cy="5324535"/>
              </a:xfrm>
              <a:prstGeom prst="rect">
                <a:avLst/>
              </a:prstGeom>
              <a:blipFill rotWithShape="0">
                <a:blip r:embed="rId4"/>
                <a:stretch>
                  <a:fillRect l="-731" t="-687"/>
                </a:stretch>
              </a:blipFill>
            </p:spPr>
            <p:txBody>
              <a:bodyPr/>
              <a:lstStyle/>
              <a:p>
                <a:r>
                  <a:rPr lang="en-US">
                    <a:noFill/>
                  </a:rPr>
                  <a:t> </a:t>
                </a:r>
              </a:p>
            </p:txBody>
          </p:sp>
        </mc:Fallback>
      </mc:AlternateContent>
      <p:pic>
        <p:nvPicPr>
          <p:cNvPr id="9" name="Picture 8" descr="A picture containing crossword puzzle, checker&#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6767363" y="1243119"/>
            <a:ext cx="3609975" cy="3325495"/>
          </a:xfrm>
          <a:prstGeom prst="rect">
            <a:avLst/>
          </a:prstGeom>
        </p:spPr>
      </p:pic>
      <p:sp>
        <p:nvSpPr>
          <p:cNvPr id="11"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37891" y="1328875"/>
            <a:ext cx="6572250" cy="356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6738" y="458611"/>
            <a:ext cx="9887825"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9.3.2 Exploration: Sharing Squares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0441" y="339331"/>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942975" y="1386026"/>
            <a:ext cx="10562082" cy="4401205"/>
          </a:xfrm>
          <a:prstGeom prst="rect">
            <a:avLst/>
          </a:prstGeom>
          <a:noFill/>
        </p:spPr>
        <p:txBody>
          <a:bodyPr wrap="square" rtlCol="0">
            <a:spAutoFit/>
          </a:bodyPr>
          <a:lstStyle/>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PH" sz="2000" dirty="0">
              <a:latin typeface="Verdana"/>
              <a:ea typeface="Verdana"/>
              <a:cs typeface="Verdana"/>
            </a:endParaRPr>
          </a:p>
          <a:p>
            <a:pPr marL="457200" indent="-457200">
              <a:buFont typeface="+mj-lt"/>
              <a:buAutoNum type="arabicPeriod"/>
            </a:pPr>
            <a:endParaRPr lang="en-PH" sz="2000" dirty="0">
              <a:latin typeface="Verdana"/>
              <a:ea typeface="Verdana"/>
              <a:cs typeface="Verdana"/>
            </a:endParaRPr>
          </a:p>
          <a:p>
            <a:pPr marL="457200" indent="-457200">
              <a:buFont typeface="+mj-lt"/>
              <a:buAutoNum type="arabicPeriod"/>
            </a:pPr>
            <a:endParaRPr lang="en-PH"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r>
              <a:rPr lang="en-US" sz="2000" dirty="0">
                <a:latin typeface="Verdana"/>
                <a:ea typeface="Verdana"/>
                <a:cs typeface="Verdana"/>
              </a:rPr>
              <a:t>Estimate the number of squares that will be in each group if they were distributed evenly between the four groups.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51</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71575" y="520393"/>
            <a:ext cx="9999516" cy="5016758"/>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Use the diagram to redistribute the squares so that each of the four groups has the same number of squares.</a:t>
            </a: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r>
              <a:rPr lang="en-US" sz="2000" dirty="0">
                <a:latin typeface="Verdana"/>
                <a:ea typeface="Verdana"/>
                <a:cs typeface="Verdana"/>
              </a:rPr>
              <a:t>Compare diagrams with your partner. Discuss how you each determined the number of squares that belong in each group. Summarize your discussion.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166196" y="1295400"/>
            <a:ext cx="6010275"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02285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16378" y="420858"/>
            <a:ext cx="10299371"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9.3.3 Collaboration: Mean of Data</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12469" y="35210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257300" y="1386025"/>
            <a:ext cx="9933432" cy="4093428"/>
          </a:xfrm>
          <a:prstGeom prst="rect">
            <a:avLst/>
          </a:prstGeom>
          <a:noFill/>
        </p:spPr>
        <p:txBody>
          <a:bodyPr wrap="square" rtlCol="0">
            <a:spAutoFit/>
          </a:bodyPr>
          <a:lstStyle/>
          <a:p>
            <a:r>
              <a:rPr lang="en-US" sz="2000" dirty="0">
                <a:latin typeface="Verdana"/>
                <a:ea typeface="Verdana"/>
                <a:cs typeface="Verdana"/>
              </a:rPr>
              <a:t>By redistributing the squares in the diagram, the </a:t>
            </a:r>
            <a:r>
              <a:rPr lang="en-US" sz="2000" b="1" i="1" dirty="0">
                <a:latin typeface="Verdana"/>
                <a:ea typeface="Verdana"/>
                <a:cs typeface="Verdana"/>
              </a:rPr>
              <a:t>mean</a:t>
            </a:r>
            <a:r>
              <a:rPr lang="en-US" sz="2000" dirty="0">
                <a:latin typeface="Verdana"/>
                <a:ea typeface="Verdana"/>
                <a:cs typeface="Verdana"/>
              </a:rPr>
              <a:t> of the data set was found.</a:t>
            </a:r>
          </a:p>
          <a:p>
            <a:endParaRPr lang="en-PH" sz="2000" dirty="0">
              <a:latin typeface="Verdana"/>
              <a:ea typeface="Verdana"/>
              <a:cs typeface="Verdana"/>
            </a:endParaRPr>
          </a:p>
          <a:p>
            <a:endParaRPr lang="en-PH" sz="2000" dirty="0">
              <a:latin typeface="Verdana"/>
              <a:ea typeface="Verdana"/>
              <a:cs typeface="Verdana"/>
            </a:endParaRPr>
          </a:p>
          <a:p>
            <a:endParaRPr lang="en-PH" sz="2000" dirty="0">
              <a:latin typeface="Verdana"/>
              <a:ea typeface="Verdana"/>
              <a:cs typeface="Verdana"/>
            </a:endParaRPr>
          </a:p>
          <a:p>
            <a:endParaRPr lang="en-PH" sz="2000" dirty="0">
              <a:latin typeface="Verdana"/>
              <a:ea typeface="Verdana"/>
              <a:cs typeface="Verdana"/>
            </a:endParaRPr>
          </a:p>
          <a:p>
            <a:endParaRPr lang="en-US" sz="2000" dirty="0">
              <a:latin typeface="Verdana"/>
              <a:ea typeface="Verdana"/>
              <a:cs typeface="Verdana"/>
            </a:endParaRPr>
          </a:p>
          <a:p>
            <a:r>
              <a:rPr lang="en-US" sz="2000" dirty="0">
                <a:latin typeface="Verdana"/>
                <a:ea typeface="Verdana"/>
                <a:cs typeface="Verdana"/>
              </a:rPr>
              <a:t>Data in a numerical set is summarized using different measures that are interpreted to describe the data. One such measure used to describe quantitative data sets is the mean.</a:t>
            </a:r>
          </a:p>
          <a:p>
            <a:endParaRPr lang="en-PH" sz="2000" dirty="0">
              <a:latin typeface="Verdana"/>
              <a:ea typeface="Verdana"/>
              <a:cs typeface="Verdana" panose="020B0604030504040204" pitchFamily="34" charset="0"/>
            </a:endParaRPr>
          </a:p>
          <a:p>
            <a:r>
              <a:rPr lang="en-US" sz="2000" dirty="0">
                <a:latin typeface="Verdana"/>
                <a:ea typeface="Verdana"/>
                <a:cs typeface="Verdana"/>
              </a:rPr>
              <a:t>To calculate the mean, add all the values in the data set and then divide by the total number of data values.</a:t>
            </a:r>
          </a:p>
        </p:txBody>
      </p:sp>
      <p:grpSp>
        <p:nvGrpSpPr>
          <p:cNvPr id="14" name="Group 13"/>
          <p:cNvGrpSpPr/>
          <p:nvPr/>
        </p:nvGrpSpPr>
        <p:grpSpPr>
          <a:xfrm>
            <a:off x="2178259" y="2311536"/>
            <a:ext cx="7874717" cy="933021"/>
            <a:chOff x="-1" y="-24233"/>
            <a:chExt cx="7874717" cy="933021"/>
          </a:xfrm>
          <a:effectLst>
            <a:outerShdw blurRad="50800" dist="38100" dir="2700000" algn="tl" rotWithShape="0">
              <a:prstClr val="black">
                <a:alpha val="40000"/>
              </a:prstClr>
            </a:outerShdw>
          </a:effectLst>
        </p:grpSpPr>
        <p:sp>
          <p:nvSpPr>
            <p:cNvPr id="16" name="Rounded Rectangle 15"/>
            <p:cNvSpPr/>
            <p:nvPr/>
          </p:nvSpPr>
          <p:spPr>
            <a:xfrm>
              <a:off x="-1" y="-24233"/>
              <a:ext cx="7874717" cy="933021"/>
            </a:xfrm>
            <a:prstGeom prst="roundRect">
              <a:avLst>
                <a:gd name="adj" fmla="val 16667"/>
              </a:avLst>
            </a:prstGeom>
            <a:solidFill>
              <a:srgbClr val="E2EFD5"/>
            </a:solidFill>
            <a:ln w="25400" cap="flat" cmpd="sng">
              <a:solidFill>
                <a:srgbClr val="E2EFD5"/>
              </a:solidFill>
              <a:prstDash val="solid"/>
              <a:round/>
              <a:headEnd type="none" w="sm" len="sm"/>
              <a:tailEnd type="none" w="sm" len="sm"/>
            </a:ln>
          </p:spPr>
          <p:txBody>
            <a:bodyPr spcFirstLastPara="1" wrap="square" lIns="91425" tIns="91440" rIns="91425" bIns="91440" anchor="ctr" anchorCtr="0">
              <a:spAutoFit/>
            </a:bodyPr>
            <a:lstStyle/>
            <a:p>
              <a:pPr marL="685800">
                <a:lnSpc>
                  <a:spcPct val="107000"/>
                </a:lnSpc>
              </a:pPr>
              <a:r>
                <a:rPr lang="en-US" sz="2000" dirty="0">
                  <a:solidFill>
                    <a:srgbClr val="6C993D"/>
                  </a:solidFill>
                  <a:latin typeface="Verdana" pitchFamily="34" charset="0"/>
                  <a:ea typeface="Verdana" pitchFamily="34" charset="0"/>
                  <a:cs typeface="Verdana"/>
                </a:rPr>
                <a:t>The </a:t>
              </a:r>
              <a:r>
                <a:rPr lang="en-US" sz="2000" b="1" i="1" dirty="0">
                  <a:solidFill>
                    <a:srgbClr val="6C993D"/>
                  </a:solidFill>
                  <a:latin typeface="Verdana" pitchFamily="34" charset="0"/>
                  <a:ea typeface="Verdana" pitchFamily="34" charset="0"/>
                  <a:cs typeface="Verdana"/>
                </a:rPr>
                <a:t>mean</a:t>
              </a:r>
              <a:r>
                <a:rPr lang="en-US" sz="2000" dirty="0">
                  <a:solidFill>
                    <a:srgbClr val="6C993D"/>
                  </a:solidFill>
                  <a:latin typeface="Verdana" pitchFamily="34" charset="0"/>
                  <a:ea typeface="Verdana" pitchFamily="34" charset="0"/>
                  <a:cs typeface="Verdana"/>
                </a:rPr>
                <a:t> is the arithmetic average of a set of numbers. It is a measure of central tendency.</a:t>
              </a:r>
              <a:endParaRPr lang="en-US" sz="2000" i="1" dirty="0">
                <a:latin typeface="Verdana" pitchFamily="34" charset="0"/>
                <a:ea typeface="Verdana" pitchFamily="34" charset="0"/>
                <a:cs typeface="Cambria Math"/>
              </a:endParaRPr>
            </a:p>
          </p:txBody>
        </p:sp>
        <p:pic>
          <p:nvPicPr>
            <p:cNvPr id="17" name="Picture 16" descr="Icon&#10;&#10;Description automatically generated"/>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51423" y="148907"/>
              <a:ext cx="548640" cy="548640"/>
            </a:xfrm>
            <a:prstGeom prst="rect">
              <a:avLst/>
            </a:prstGeom>
            <a:noFill/>
            <a:ln>
              <a:noFill/>
            </a:ln>
            <a:effectLst>
              <a:outerShdw blurRad="50800" dist="38100" dir="2700000" algn="tl" rotWithShape="0">
                <a:prstClr val="black">
                  <a:alpha val="40000"/>
                </a:prstClr>
              </a:outerShdw>
            </a:effectLst>
          </p:spPr>
        </p:pic>
      </p:grpSp>
      <p:sp>
        <p:nvSpPr>
          <p:cNvPr id="11"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51</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28713" y="520394"/>
                <a:ext cx="10085240" cy="5016758"/>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A marine biologist is studying turtles and wants to calculate the average length of time a Red-Eared Slider, a popular breed of turtle, can remain underwater. The time, in minutes, that ten Red-Eared Sliders remain underwater are </a:t>
                </a:r>
                <a14:m>
                  <m:oMath xmlns:m="http://schemas.openxmlformats.org/officeDocument/2006/math">
                    <m:r>
                      <a:rPr lang="en-US" sz="2000">
                        <a:latin typeface="Cambria Math"/>
                        <a:ea typeface="Cambria Math"/>
                        <a:cs typeface="Cambria Math"/>
                      </a:rPr>
                      <m:t>75,  300,  225,  400,  250,  195,  320,  45,  165,  410</m:t>
                    </m:r>
                  </m:oMath>
                </a14:m>
                <a:r>
                  <a:rPr lang="en-US" sz="2000" dirty="0">
                    <a:latin typeface="Verdana"/>
                    <a:ea typeface="Verdana"/>
                    <a:cs typeface="Verdana"/>
                  </a:rPr>
                  <a:t>.</a:t>
                </a:r>
              </a:p>
              <a:p>
                <a:pPr marL="457200" indent="-457200">
                  <a:buFont typeface="+mj-lt"/>
                  <a:buAutoNum type="arabicPeriod"/>
                </a:pPr>
                <a:endParaRPr lang="en-US" sz="2000" dirty="0">
                  <a:latin typeface="Verdana"/>
                  <a:ea typeface="Verdana"/>
                  <a:cs typeface="Verdana"/>
                </a:endParaRPr>
              </a:p>
              <a:p>
                <a:pPr marL="914400" indent="-457200">
                  <a:buFont typeface="+mj-lt"/>
                  <a:buAutoNum type="alphaLcPeriod"/>
                </a:pPr>
                <a:r>
                  <a:rPr lang="en-US" sz="2000" dirty="0">
                    <a:latin typeface="Verdana"/>
                    <a:ea typeface="Verdana"/>
                    <a:cs typeface="Verdana"/>
                  </a:rPr>
                  <a:t>To calculate the mean time spent underwater, start by finding the _________ of the data values.</a:t>
                </a:r>
              </a:p>
              <a:p>
                <a:pPr marL="914400" indent="-457200">
                  <a:buFont typeface="+mj-lt"/>
                  <a:buAutoNum type="alphaLcPeriod"/>
                </a:pPr>
                <a:endParaRPr lang="en-PH" sz="2000" dirty="0">
                  <a:latin typeface="Verdana"/>
                  <a:ea typeface="Verdana"/>
                  <a:cs typeface="Verdana" panose="020B0604030504040204" pitchFamily="34" charset="0"/>
                </a:endParaRPr>
              </a:p>
              <a:p>
                <a:pPr marL="457200"/>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startAt="2"/>
                </a:pPr>
                <a:r>
                  <a:rPr lang="en-US" sz="2000" dirty="0">
                    <a:latin typeface="Verdana"/>
                    <a:ea typeface="Verdana"/>
                    <a:cs typeface="Verdana"/>
                  </a:rPr>
                  <a:t>Then divide the sum by 10, because there are ten turtles.</a:t>
                </a:r>
              </a:p>
              <a:p>
                <a:pPr marL="914400" indent="-457200">
                  <a:buFont typeface="+mj-lt"/>
                  <a:buAutoNum type="alphaLcPeriod" startAt="2"/>
                </a:pPr>
                <a:endParaRPr lang="en-US" sz="2000" dirty="0">
                  <a:latin typeface="Verdana"/>
                  <a:ea typeface="Verdana"/>
                  <a:cs typeface="Verdana"/>
                </a:endParaRPr>
              </a:p>
              <a:p>
                <a:pPr marL="914400" indent="-457200">
                  <a:buFont typeface="+mj-lt"/>
                  <a:buAutoNum type="alphaLcPeriod" startAt="2"/>
                </a:pPr>
                <a:endParaRPr lang="en-US" sz="2000" dirty="0">
                  <a:latin typeface="Verdana"/>
                  <a:ea typeface="Verdana"/>
                  <a:cs typeface="Verdana"/>
                </a:endParaRPr>
              </a:p>
              <a:p>
                <a:pPr marL="914400" indent="-457200">
                  <a:buFont typeface="+mj-lt"/>
                  <a:buAutoNum type="alphaLcPeriod" startAt="2"/>
                </a:pPr>
                <a:endParaRPr lang="en-US" sz="2000" dirty="0">
                  <a:latin typeface="Verdana"/>
                  <a:ea typeface="Verdana"/>
                  <a:cs typeface="Verdana"/>
                </a:endParaRPr>
              </a:p>
              <a:p>
                <a:pPr marL="914400" indent="-457200">
                  <a:buFont typeface="+mj-lt"/>
                  <a:buAutoNum type="alphaLcPeriod" startAt="2"/>
                </a:pPr>
                <a:r>
                  <a:rPr lang="en-US" sz="2000" dirty="0">
                    <a:latin typeface="Verdana"/>
                    <a:ea typeface="Verdana"/>
                    <a:cs typeface="Verdana"/>
                  </a:rPr>
                  <a:t>In this sample, Red-Eared Slider turtles remain underwater for an average of _________ minutes.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28713" y="520394"/>
                <a:ext cx="10085240" cy="5016758"/>
              </a:xfrm>
              <a:prstGeom prst="rect">
                <a:avLst/>
              </a:prstGeom>
              <a:blipFill rotWithShape="0">
                <a:blip r:embed="rId3"/>
                <a:stretch>
                  <a:fillRect l="-665" t="-729" b="-1215"/>
                </a:stretch>
              </a:blipFill>
            </p:spPr>
            <p:txBody>
              <a:bodyPr/>
              <a:lstStyle/>
              <a:p>
                <a:r>
                  <a:rPr lang="en-US">
                    <a:noFill/>
                  </a:rPr>
                  <a:t> </a:t>
                </a:r>
              </a:p>
            </p:txBody>
          </p:sp>
        </mc:Fallback>
      </mc:AlternateContent>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51</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41022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p:cNvGrpSpPr/>
          <p:nvPr/>
        </p:nvGrpSpPr>
        <p:grpSpPr>
          <a:xfrm>
            <a:off x="2239113" y="585893"/>
            <a:ext cx="7940985" cy="2838933"/>
            <a:chOff x="-1" y="-434975"/>
            <a:chExt cx="7940985" cy="2839426"/>
          </a:xfrm>
        </p:grpSpPr>
        <p:sp>
          <p:nvSpPr>
            <p:cNvPr id="7" name="Rounded Rectangle 6"/>
            <p:cNvSpPr/>
            <p:nvPr/>
          </p:nvSpPr>
          <p:spPr>
            <a:xfrm>
              <a:off x="-1" y="-434975"/>
              <a:ext cx="7940985" cy="283942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lnSpc>
                  <a:spcPct val="107000"/>
                </a:lnSpc>
                <a:spcAft>
                  <a:spcPts val="800"/>
                </a:spcAft>
              </a:pPr>
              <a:r>
                <a:rPr lang="en-US" sz="2400" b="1" i="1" dirty="0">
                  <a:solidFill>
                    <a:srgbClr val="6C993D"/>
                  </a:solidFill>
                  <a:latin typeface="Verdana"/>
                  <a:ea typeface="Verdana"/>
                  <a:cs typeface="Verdana"/>
                </a:rPr>
                <a:t>Measures of center</a:t>
              </a:r>
              <a:r>
                <a:rPr lang="en-US" sz="2400" b="1" dirty="0">
                  <a:solidFill>
                    <a:srgbClr val="6C993D"/>
                  </a:solidFill>
                  <a:latin typeface="Verdana"/>
                  <a:ea typeface="Verdana"/>
                  <a:cs typeface="Verdana"/>
                </a:rPr>
                <a:t> </a:t>
              </a:r>
              <a:r>
                <a:rPr lang="en-US" sz="2400" dirty="0">
                  <a:solidFill>
                    <a:srgbClr val="6C993D"/>
                  </a:solidFill>
                  <a:latin typeface="Verdana"/>
                  <a:ea typeface="Verdana"/>
                  <a:cs typeface="Verdana"/>
                </a:rPr>
                <a:t>are numerical values used to describe the overall clustering of data in a set, or the overall central value of a set of data. The three most common measures of central tendency are the mean, median, and mode.</a:t>
              </a:r>
              <a:endParaRPr lang="en-US" sz="2400" i="1" dirty="0">
                <a:latin typeface="Cambria Math"/>
                <a:ea typeface="Cambria Math"/>
                <a:cs typeface="Cambria Math"/>
              </a:endParaRPr>
            </a:p>
          </p:txBody>
        </p:sp>
        <p:pic>
          <p:nvPicPr>
            <p:cNvPr id="8" name="Shape 7" descr="Icon&#10;&#10;Description automatically generated"/>
            <p:cNvPicPr/>
            <p:nvPr/>
          </p:nvPicPr>
          <p:blipFill rotWithShape="1">
            <a:blip r:embed="rId3" cstate="screen">
              <a:alphaModFix/>
              <a:extLst>
                <a:ext uri="{28A0092B-C50C-407E-A947-70E740481C1C}">
                  <a14:useLocalDpi xmlns:a14="http://schemas.microsoft.com/office/drawing/2010/main"/>
                </a:ext>
              </a:extLst>
            </a:blip>
            <a:srcRect/>
            <a:stretch/>
          </p:blipFill>
          <p:spPr>
            <a:xfrm>
              <a:off x="170138" y="-186232"/>
              <a:ext cx="539750" cy="538480"/>
            </a:xfrm>
            <a:prstGeom prst="rect">
              <a:avLst/>
            </a:prstGeom>
            <a:noFill/>
            <a:ln>
              <a:noFill/>
            </a:ln>
            <a:effectLst>
              <a:outerShdw blurRad="50800" dist="38100" dir="2700000" algn="tl" rotWithShape="0">
                <a:prstClr val="black">
                  <a:alpha val="40000"/>
                </a:prstClr>
              </a:outerShdw>
            </a:effectLst>
          </p:spPr>
        </p:pic>
      </p:grpSp>
      <p:sp>
        <p:nvSpPr>
          <p:cNvPr id="10"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5424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90582" y="-7295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9.3.4 Guided Instruction: Mean, Median and Mode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43282" y="134308"/>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390582" y="1314905"/>
            <a:ext cx="9666868" cy="707886"/>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For each definition, fill in the blank with one of the words from the bank.</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448758576"/>
              </p:ext>
            </p:extLst>
          </p:nvPr>
        </p:nvGraphicFramePr>
        <p:xfrm>
          <a:off x="4307390" y="2250440"/>
          <a:ext cx="3200400" cy="792480"/>
        </p:xfrm>
        <a:graphic>
          <a:graphicData uri="http://schemas.openxmlformats.org/drawingml/2006/table">
            <a:tbl>
              <a:tblPr firstRow="1" bandRow="1">
                <a:tableStyleId>{A91F0D33-8C57-4600-99A7-42BC86742BE1}</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70840">
                <a:tc>
                  <a:txBody>
                    <a:bodyPr/>
                    <a:lstStyle/>
                    <a:p>
                      <a:pPr algn="ctr"/>
                      <a:r>
                        <a:rPr lang="en-US" sz="2000" i="0" dirty="0">
                          <a:effectLst/>
                          <a:latin typeface="Verdana"/>
                          <a:ea typeface="Verdana"/>
                          <a:cs typeface="Verdana"/>
                        </a:rPr>
                        <a:t>median</a:t>
                      </a:r>
                      <a:endParaRPr lang="en-US" sz="2000" dirty="0">
                        <a:latin typeface="Verdana" pitchFamily="34" charset="0"/>
                        <a:ea typeface="Verdana" pitchFamily="34" charset="0"/>
                      </a:endParaRPr>
                    </a:p>
                  </a:txBody>
                  <a:tcPr marR="9144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i="0" dirty="0">
                          <a:effectLst/>
                          <a:latin typeface="Verdana"/>
                          <a:ea typeface="Verdana"/>
                          <a:cs typeface="Verdana"/>
                        </a:rPr>
                        <a:t>mode</a:t>
                      </a:r>
                      <a:endParaRPr lang="en-US" sz="2000" dirty="0">
                        <a:latin typeface="Verdana" pitchFamily="34" charset="0"/>
                        <a:ea typeface="Verdana"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i="0" dirty="0">
                          <a:effectLst/>
                          <a:latin typeface="Verdana"/>
                          <a:ea typeface="Verdana"/>
                          <a:cs typeface="Verdana"/>
                        </a:rPr>
                        <a:t>mean</a:t>
                      </a:r>
                      <a:endParaRPr lang="en-US" sz="2000" dirty="0">
                        <a:latin typeface="Verdana" pitchFamily="34" charset="0"/>
                        <a:ea typeface="Verdana" pitchFamily="34" charset="0"/>
                      </a:endParaRPr>
                    </a:p>
                  </a:txBody>
                  <a:tcPr marR="9144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i="0" dirty="0">
                          <a:effectLst/>
                          <a:latin typeface="Verdana"/>
                          <a:ea typeface="Verdana"/>
                          <a:cs typeface="Verdana"/>
                        </a:rPr>
                        <a:t>range</a:t>
                      </a:r>
                      <a:endParaRPr lang="en-US" sz="2000" dirty="0">
                        <a:latin typeface="Verdana" pitchFamily="34" charset="0"/>
                        <a:ea typeface="Verdana"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4" name="Rounded Rectangle 13"/>
          <p:cNvSpPr/>
          <p:nvPr/>
        </p:nvSpPr>
        <p:spPr>
          <a:xfrm>
            <a:off x="3724910" y="2189480"/>
            <a:ext cx="4315460" cy="91440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buClrTx/>
              <a:defRPr/>
            </a:pPr>
            <a:endParaRPr lang="en-US" sz="1800">
              <a:solidFill>
                <a:sysClr val="windowText" lastClr="000000"/>
              </a:solidFill>
              <a:latin typeface="Calibri"/>
              <a:ea typeface="+mn-ea"/>
              <a:cs typeface="+mn-cs"/>
            </a:endParaRPr>
          </a:p>
        </p:txBody>
      </p:sp>
      <p:grpSp>
        <p:nvGrpSpPr>
          <p:cNvPr id="5" name="Group 4"/>
          <p:cNvGrpSpPr/>
          <p:nvPr/>
        </p:nvGrpSpPr>
        <p:grpSpPr>
          <a:xfrm>
            <a:off x="2638742" y="3392075"/>
            <a:ext cx="7310008" cy="1297376"/>
            <a:chOff x="1114742" y="3392075"/>
            <a:chExt cx="7310008" cy="1297376"/>
          </a:xfrm>
        </p:grpSpPr>
        <p:sp>
          <p:nvSpPr>
            <p:cNvPr id="19" name="Rounded Rectangle 18"/>
            <p:cNvSpPr/>
            <p:nvPr/>
          </p:nvSpPr>
          <p:spPr>
            <a:xfrm>
              <a:off x="1114742" y="3392075"/>
              <a:ext cx="7310008" cy="1297376"/>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91440" rIns="91425" bIns="91440" anchor="ctr" anchorCtr="0">
              <a:spAutoFit/>
            </a:bodyPr>
            <a:lstStyle/>
            <a:p>
              <a:pPr marL="685800" indent="3175">
                <a:lnSpc>
                  <a:spcPct val="107000"/>
                </a:lnSpc>
              </a:pPr>
              <a:r>
                <a:rPr lang="en-US" sz="2000" i="1" dirty="0">
                  <a:solidFill>
                    <a:srgbClr val="6C993D"/>
                  </a:solidFill>
                  <a:latin typeface="Verdana" pitchFamily="34" charset="0"/>
                  <a:ea typeface="Verdana" pitchFamily="34" charset="0"/>
                  <a:cs typeface="Verdana"/>
                </a:rPr>
                <a:t>The ___________ is the arithmetic average of a set of numbers. It is a measure of central tendency.</a:t>
              </a:r>
              <a:r>
                <a:rPr lang="en-US" sz="2000" i="1" dirty="0">
                  <a:solidFill>
                    <a:srgbClr val="6C993D"/>
                  </a:solidFill>
                  <a:latin typeface="Verdana" pitchFamily="34" charset="0"/>
                  <a:ea typeface="Verdana" pitchFamily="34" charset="0"/>
                  <a:cs typeface="Cambria Math"/>
                </a:rPr>
                <a:t> </a:t>
              </a:r>
              <a:endParaRPr lang="en-US" sz="2000" i="1" dirty="0">
                <a:latin typeface="Verdana" pitchFamily="34" charset="0"/>
                <a:ea typeface="Verdana" pitchFamily="34" charset="0"/>
                <a:cs typeface="Cambria Math"/>
              </a:endParaRPr>
            </a:p>
          </p:txBody>
        </p:sp>
        <p:pic>
          <p:nvPicPr>
            <p:cNvPr id="21" name="Picture 20" descr="Icon&#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bwMode="auto">
            <a:xfrm>
              <a:off x="1300480" y="3591560"/>
              <a:ext cx="548640" cy="548640"/>
            </a:xfrm>
            <a:prstGeom prst="rect">
              <a:avLst/>
            </a:prstGeom>
            <a:noFill/>
            <a:ln>
              <a:noFill/>
            </a:ln>
            <a:effectLst>
              <a:outerShdw blurRad="50800" dist="38100" dir="2700000" algn="tl" rotWithShape="0">
                <a:prstClr val="black">
                  <a:alpha val="40000"/>
                </a:prstClr>
              </a:outerShdw>
            </a:effectLst>
          </p:spPr>
        </p:pic>
      </p:grpSp>
      <p:grpSp>
        <p:nvGrpSpPr>
          <p:cNvPr id="6" name="Group 5"/>
          <p:cNvGrpSpPr/>
          <p:nvPr/>
        </p:nvGrpSpPr>
        <p:grpSpPr>
          <a:xfrm>
            <a:off x="2638742" y="4903224"/>
            <a:ext cx="7310008" cy="1297376"/>
            <a:chOff x="1114742" y="4903224"/>
            <a:chExt cx="7310008" cy="1297376"/>
          </a:xfrm>
        </p:grpSpPr>
        <p:sp>
          <p:nvSpPr>
            <p:cNvPr id="20" name="Rounded Rectangle 19"/>
            <p:cNvSpPr/>
            <p:nvPr/>
          </p:nvSpPr>
          <p:spPr>
            <a:xfrm>
              <a:off x="1114742" y="4903224"/>
              <a:ext cx="7310008" cy="1297376"/>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91440" rIns="91425" bIns="91440" anchor="ctr" anchorCtr="0">
              <a:spAutoFit/>
            </a:bodyPr>
            <a:lstStyle/>
            <a:p>
              <a:pPr marL="685800" indent="3175">
                <a:lnSpc>
                  <a:spcPct val="107000"/>
                </a:lnSpc>
              </a:pPr>
              <a:r>
                <a:rPr lang="en-US" sz="2000" i="1" dirty="0">
                  <a:solidFill>
                    <a:srgbClr val="6C993D"/>
                  </a:solidFill>
                  <a:latin typeface="Verdana" pitchFamily="34" charset="0"/>
                  <a:ea typeface="Verdana" pitchFamily="34" charset="0"/>
                  <a:cs typeface="Verdana"/>
                </a:rPr>
                <a:t>The ___________ is the difference between the highest data value and the lowest data value in a data set. It is a measure of variation.</a:t>
              </a:r>
              <a:endParaRPr lang="en-US" sz="2000" i="1" dirty="0">
                <a:latin typeface="Verdana" pitchFamily="34" charset="0"/>
                <a:ea typeface="Verdana" pitchFamily="34" charset="0"/>
                <a:cs typeface="Cambria Math"/>
              </a:endParaRPr>
            </a:p>
          </p:txBody>
        </p:sp>
        <p:pic>
          <p:nvPicPr>
            <p:cNvPr id="22" name="Picture 21" descr="Icon&#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bwMode="auto">
            <a:xfrm>
              <a:off x="1300480" y="5085080"/>
              <a:ext cx="548640" cy="548640"/>
            </a:xfrm>
            <a:prstGeom prst="rect">
              <a:avLst/>
            </a:prstGeom>
            <a:noFill/>
            <a:ln>
              <a:noFill/>
            </a:ln>
            <a:effectLst>
              <a:outerShdw blurRad="50800" dist="38100" dir="2700000" algn="tl" rotWithShape="0">
                <a:prstClr val="black">
                  <a:alpha val="40000"/>
                </a:prstClr>
              </a:outerShdw>
            </a:effectLst>
          </p:spPr>
        </p:pic>
      </p:grpSp>
      <p:sp>
        <p:nvSpPr>
          <p:cNvPr id="16"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52</a:t>
            </a:r>
            <a:endParaRPr i="1" dirty="0">
              <a:latin typeface="Calibri"/>
              <a:ea typeface="Calibri"/>
              <a:cs typeface="Calibri"/>
              <a:sym typeface="Calibri"/>
            </a:endParaRPr>
          </a:p>
        </p:txBody>
      </p:sp>
      <p:pic>
        <p:nvPicPr>
          <p:cNvPr id="1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3" name="Group 2"/>
          <p:cNvGrpSpPr/>
          <p:nvPr/>
        </p:nvGrpSpPr>
        <p:grpSpPr>
          <a:xfrm>
            <a:off x="2638742" y="1937428"/>
            <a:ext cx="7310008" cy="1661732"/>
            <a:chOff x="1114742" y="4721046"/>
            <a:chExt cx="7310008" cy="1661732"/>
          </a:xfrm>
        </p:grpSpPr>
        <p:sp>
          <p:nvSpPr>
            <p:cNvPr id="7" name="Rounded Rectangle 6"/>
            <p:cNvSpPr/>
            <p:nvPr/>
          </p:nvSpPr>
          <p:spPr>
            <a:xfrm>
              <a:off x="1114742" y="4721046"/>
              <a:ext cx="7310008" cy="1661732"/>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91440" rIns="91425" bIns="91440" anchor="ctr" anchorCtr="0">
              <a:spAutoFit/>
            </a:bodyPr>
            <a:lstStyle/>
            <a:p>
              <a:pPr marL="685800" indent="3175">
                <a:lnSpc>
                  <a:spcPct val="107000"/>
                </a:lnSpc>
              </a:pPr>
              <a:r>
                <a:rPr lang="en-US" sz="2000" i="1" dirty="0">
                  <a:solidFill>
                    <a:srgbClr val="6C993D"/>
                  </a:solidFill>
                  <a:latin typeface="Verdana" pitchFamily="34" charset="0"/>
                  <a:ea typeface="Verdana" pitchFamily="34" charset="0"/>
                  <a:cs typeface="Verdana"/>
                </a:rPr>
                <a:t>The ___________ is the value found most often in a set of numbers. There may be no, one, or more than one __________ in the data set. It is a measure of central tendency.</a:t>
              </a:r>
              <a:endParaRPr lang="en-US" sz="2000" i="1" dirty="0">
                <a:latin typeface="Verdana" pitchFamily="34" charset="0"/>
                <a:ea typeface="Verdana" pitchFamily="34" charset="0"/>
                <a:cs typeface="Cambria Math"/>
              </a:endParaRPr>
            </a:p>
          </p:txBody>
        </p:sp>
        <p:pic>
          <p:nvPicPr>
            <p:cNvPr id="8" name="Picture 7" descr="Icon&#10;&#10;Description automatically generated"/>
            <p:cNvPicPr/>
            <p:nvPr/>
          </p:nvPicPr>
          <p:blipFill>
            <a:blip r:embed="rId3" cstate="screen">
              <a:extLst>
                <a:ext uri="{28A0092B-C50C-407E-A947-70E740481C1C}">
                  <a14:useLocalDpi xmlns:a14="http://schemas.microsoft.com/office/drawing/2010/main"/>
                </a:ext>
              </a:extLst>
            </a:blip>
            <a:srcRect/>
            <a:stretch>
              <a:fillRect/>
            </a:stretch>
          </p:blipFill>
          <p:spPr bwMode="auto">
            <a:xfrm>
              <a:off x="1300480" y="4947920"/>
              <a:ext cx="548640" cy="548640"/>
            </a:xfrm>
            <a:prstGeom prst="rect">
              <a:avLst/>
            </a:prstGeom>
            <a:noFill/>
            <a:ln>
              <a:noFill/>
            </a:ln>
            <a:effectLst>
              <a:outerShdw blurRad="50800" dist="38100" dir="2700000" algn="tl" rotWithShape="0">
                <a:prstClr val="black">
                  <a:alpha val="40000"/>
                </a:prstClr>
              </a:outerShdw>
            </a:effectLst>
          </p:spPr>
        </p:pic>
      </p:grpSp>
      <p:grpSp>
        <p:nvGrpSpPr>
          <p:cNvPr id="4" name="Group 3"/>
          <p:cNvGrpSpPr/>
          <p:nvPr/>
        </p:nvGrpSpPr>
        <p:grpSpPr>
          <a:xfrm>
            <a:off x="2638742" y="3912414"/>
            <a:ext cx="7310008" cy="2390442"/>
            <a:chOff x="1114742" y="2495379"/>
            <a:chExt cx="7310008" cy="2390442"/>
          </a:xfrm>
        </p:grpSpPr>
        <p:sp>
          <p:nvSpPr>
            <p:cNvPr id="13" name="Rounded Rectangle 12"/>
            <p:cNvSpPr/>
            <p:nvPr/>
          </p:nvSpPr>
          <p:spPr>
            <a:xfrm>
              <a:off x="1114742" y="2495379"/>
              <a:ext cx="7310008" cy="2390442"/>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91440" rIns="91425" bIns="91440" anchor="ctr" anchorCtr="0">
              <a:spAutoFit/>
            </a:bodyPr>
            <a:lstStyle/>
            <a:p>
              <a:pPr marL="685800" indent="3175">
                <a:lnSpc>
                  <a:spcPct val="107000"/>
                </a:lnSpc>
              </a:pPr>
              <a:r>
                <a:rPr lang="en-US" sz="2000" i="1" dirty="0">
                  <a:solidFill>
                    <a:srgbClr val="6C993D"/>
                  </a:solidFill>
                  <a:latin typeface="Verdana"/>
                  <a:ea typeface="Verdana"/>
                  <a:cs typeface="Verdana"/>
                </a:rPr>
                <a:t>The ___________ is the middle of an ordered list of the values. If the list has an odd number of values, it is the middle value of that list. If the list has an even number of values, it is the average of the two middle values. It is a measure of central tendency.</a:t>
              </a:r>
              <a:endParaRPr lang="en-US" sz="2000" i="1" dirty="0">
                <a:latin typeface="Verdana" pitchFamily="34" charset="0"/>
                <a:ea typeface="Verdana" pitchFamily="34" charset="0"/>
                <a:cs typeface="Cambria Math"/>
              </a:endParaRPr>
            </a:p>
          </p:txBody>
        </p:sp>
        <p:pic>
          <p:nvPicPr>
            <p:cNvPr id="15" name="Picture 14" descr="Icon&#10;&#10;Description automatically generated"/>
            <p:cNvPicPr/>
            <p:nvPr/>
          </p:nvPicPr>
          <p:blipFill>
            <a:blip r:embed="rId3" cstate="screen">
              <a:extLst>
                <a:ext uri="{28A0092B-C50C-407E-A947-70E740481C1C}">
                  <a14:useLocalDpi xmlns:a14="http://schemas.microsoft.com/office/drawing/2010/main"/>
                </a:ext>
              </a:extLst>
            </a:blip>
            <a:srcRect/>
            <a:stretch>
              <a:fillRect/>
            </a:stretch>
          </p:blipFill>
          <p:spPr bwMode="auto">
            <a:xfrm>
              <a:off x="1300480" y="2710687"/>
              <a:ext cx="548640" cy="548640"/>
            </a:xfrm>
            <a:prstGeom prst="rect">
              <a:avLst/>
            </a:prstGeom>
            <a:noFill/>
            <a:ln>
              <a:noFill/>
            </a:ln>
            <a:effectLst>
              <a:outerShdw blurRad="50800" dist="38100" dir="2700000" algn="tl" rotWithShape="0">
                <a:prstClr val="black">
                  <a:alpha val="40000"/>
                </a:prstClr>
              </a:outerShdw>
            </a:effectLst>
          </p:spPr>
        </p:pic>
      </p:grpSp>
      <p:graphicFrame>
        <p:nvGraphicFramePr>
          <p:cNvPr id="18" name="Table 17"/>
          <p:cNvGraphicFramePr>
            <a:graphicFrameLocks noGrp="1"/>
          </p:cNvGraphicFramePr>
          <p:nvPr>
            <p:extLst>
              <p:ext uri="{D42A27DB-BD31-4B8C-83A1-F6EECF244321}">
                <p14:modId xmlns:p14="http://schemas.microsoft.com/office/powerpoint/2010/main" val="2618358202"/>
              </p:ext>
            </p:extLst>
          </p:nvPr>
        </p:nvGraphicFramePr>
        <p:xfrm>
          <a:off x="4307390" y="581353"/>
          <a:ext cx="3200400" cy="792480"/>
        </p:xfrm>
        <a:graphic>
          <a:graphicData uri="http://schemas.openxmlformats.org/drawingml/2006/table">
            <a:tbl>
              <a:tblPr firstRow="1" bandRow="1">
                <a:tableStyleId>{A91F0D33-8C57-4600-99A7-42BC86742BE1}</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70840">
                <a:tc>
                  <a:txBody>
                    <a:bodyPr/>
                    <a:lstStyle/>
                    <a:p>
                      <a:pPr algn="ctr"/>
                      <a:r>
                        <a:rPr lang="en-US" sz="2000" i="0" dirty="0">
                          <a:effectLst/>
                          <a:latin typeface="Verdana"/>
                          <a:ea typeface="Verdana"/>
                          <a:cs typeface="Verdana"/>
                        </a:rPr>
                        <a:t>median</a:t>
                      </a:r>
                      <a:endParaRPr lang="en-US" sz="2000" dirty="0">
                        <a:latin typeface="Verdana" pitchFamily="34" charset="0"/>
                        <a:ea typeface="Verdana" pitchFamily="34" charset="0"/>
                      </a:endParaRPr>
                    </a:p>
                  </a:txBody>
                  <a:tcPr marR="9144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i="0" dirty="0">
                          <a:effectLst/>
                          <a:latin typeface="Verdana"/>
                          <a:ea typeface="Verdana"/>
                          <a:cs typeface="Verdana"/>
                        </a:rPr>
                        <a:t>mode</a:t>
                      </a:r>
                      <a:endParaRPr lang="en-US" sz="2000" dirty="0">
                        <a:latin typeface="Verdana" pitchFamily="34" charset="0"/>
                        <a:ea typeface="Verdana"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i="0" dirty="0">
                          <a:effectLst/>
                          <a:latin typeface="Verdana"/>
                          <a:ea typeface="Verdana"/>
                          <a:cs typeface="Verdana"/>
                        </a:rPr>
                        <a:t>mean</a:t>
                      </a:r>
                      <a:endParaRPr lang="en-US" sz="2000" dirty="0">
                        <a:latin typeface="Verdana" pitchFamily="34" charset="0"/>
                        <a:ea typeface="Verdana" pitchFamily="34" charset="0"/>
                      </a:endParaRPr>
                    </a:p>
                  </a:txBody>
                  <a:tcPr marR="9144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i="0" dirty="0">
                          <a:effectLst/>
                          <a:latin typeface="Verdana"/>
                          <a:ea typeface="Verdana"/>
                          <a:cs typeface="Verdana"/>
                        </a:rPr>
                        <a:t>range</a:t>
                      </a:r>
                      <a:endParaRPr lang="en-US" sz="2000" dirty="0">
                        <a:latin typeface="Verdana" pitchFamily="34" charset="0"/>
                        <a:ea typeface="Verdana"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9" name="Rounded Rectangle 18"/>
          <p:cNvSpPr/>
          <p:nvPr/>
        </p:nvSpPr>
        <p:spPr>
          <a:xfrm>
            <a:off x="3938270" y="520393"/>
            <a:ext cx="4315460" cy="91440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buClrTx/>
              <a:defRPr/>
            </a:pPr>
            <a:endParaRPr lang="en-US" sz="1800">
              <a:solidFill>
                <a:sysClr val="windowText" lastClr="000000"/>
              </a:solidFill>
              <a:latin typeface="Calibri"/>
              <a:ea typeface="+mn-ea"/>
              <a:cs typeface="+mn-cs"/>
            </a:endParaRPr>
          </a:p>
        </p:txBody>
      </p:sp>
      <p:sp>
        <p:nvSpPr>
          <p:cNvPr id="14"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52</a:t>
            </a:r>
            <a:endParaRPr i="1" dirty="0">
              <a:latin typeface="Calibri"/>
              <a:ea typeface="Calibri"/>
              <a:cs typeface="Calibri"/>
              <a:sym typeface="Calibri"/>
            </a:endParaRPr>
          </a:p>
        </p:txBody>
      </p:sp>
      <p:pic>
        <p:nvPicPr>
          <p:cNvPr id="1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61598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28688" y="520394"/>
            <a:ext cx="10485290" cy="5324535"/>
          </a:xfrm>
          <a:prstGeom prst="rect">
            <a:avLst/>
          </a:prstGeom>
          <a:noFill/>
        </p:spPr>
        <p:txBody>
          <a:bodyPr wrap="square" rtlCol="0">
            <a:spAutoFit/>
          </a:bodyPr>
          <a:lstStyle/>
          <a:p>
            <a:r>
              <a:rPr lang="en-US" sz="2000" dirty="0">
                <a:latin typeface="Verdana"/>
                <a:ea typeface="Verdana"/>
                <a:cs typeface="Verdana"/>
              </a:rPr>
              <a:t>The number of pets ten students in Tyler’s class have is reflected in the table.</a:t>
            </a: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pPr marL="457200" indent="-457200">
              <a:buFont typeface="+mj-lt"/>
              <a:buAutoNum type="arabicPeriod" startAt="2"/>
            </a:pPr>
            <a:r>
              <a:rPr lang="en-US" sz="2000" dirty="0">
                <a:latin typeface="Verdana"/>
                <a:ea typeface="Verdana"/>
                <a:cs typeface="Verdana"/>
              </a:rPr>
              <a:t>Describe steps to find the median.</a:t>
            </a:r>
          </a:p>
          <a:p>
            <a:pPr marL="457200" indent="-457200">
              <a:buFont typeface="+mj-lt"/>
              <a:buAutoNum type="arabicPeriod" startAt="2"/>
            </a:pPr>
            <a:endParaRPr lang="en-US" sz="2000" dirty="0">
              <a:latin typeface="Verdana"/>
              <a:ea typeface="Verdana"/>
              <a:cs typeface="Verdana"/>
            </a:endParaRPr>
          </a:p>
          <a:p>
            <a:pPr marL="457200" indent="-457200">
              <a:buFont typeface="+mj-lt"/>
              <a:buAutoNum type="arabicPeriod" startAt="2"/>
            </a:pPr>
            <a:endParaRPr lang="en-US" sz="2000" dirty="0">
              <a:latin typeface="Verdana"/>
              <a:ea typeface="Verdana"/>
              <a:cs typeface="Verdana"/>
            </a:endParaRPr>
          </a:p>
          <a:p>
            <a:pPr marL="457200" indent="-457200">
              <a:buFont typeface="+mj-lt"/>
              <a:buAutoNum type="arabicPeriod" startAt="2"/>
            </a:pPr>
            <a:endParaRPr lang="en-US" sz="2000" dirty="0">
              <a:latin typeface="Verdana"/>
              <a:ea typeface="Verdana"/>
              <a:cs typeface="Verdana"/>
            </a:endParaRPr>
          </a:p>
          <a:p>
            <a:pPr marL="457200" indent="-457200">
              <a:buFont typeface="+mj-lt"/>
              <a:buAutoNum type="arabicPeriod" startAt="2"/>
            </a:pPr>
            <a:endParaRPr lang="en-US" sz="2000" dirty="0">
              <a:latin typeface="Verdana"/>
              <a:ea typeface="Verdana"/>
              <a:cs typeface="Verdana"/>
            </a:endParaRPr>
          </a:p>
          <a:p>
            <a:pPr marL="457200" indent="-457200">
              <a:buFont typeface="+mj-lt"/>
              <a:buAutoNum type="arabicPeriod" startAt="2"/>
            </a:pPr>
            <a:endParaRPr lang="en-US" sz="2000" dirty="0">
              <a:latin typeface="Verdana"/>
              <a:ea typeface="Verdana"/>
              <a:cs typeface="Verdana"/>
            </a:endParaRPr>
          </a:p>
          <a:p>
            <a:pPr marL="457200" indent="-457200">
              <a:buFont typeface="+mj-lt"/>
              <a:buAutoNum type="arabicPeriod" startAt="2"/>
            </a:pPr>
            <a:endParaRPr lang="en-US" sz="2000" dirty="0">
              <a:latin typeface="Verdana"/>
              <a:ea typeface="Verdana"/>
              <a:cs typeface="Verdana"/>
            </a:endParaRPr>
          </a:p>
          <a:p>
            <a:pPr marL="457200" indent="-457200">
              <a:buFont typeface="+mj-lt"/>
              <a:buAutoNum type="arabicPeriod" startAt="2"/>
            </a:pPr>
            <a:endParaRPr lang="en-US" sz="2000" dirty="0">
              <a:latin typeface="Verdana"/>
              <a:ea typeface="Verdana"/>
              <a:cs typeface="Verdana"/>
            </a:endParaRPr>
          </a:p>
          <a:p>
            <a:pPr marL="457200" indent="-457200">
              <a:buFont typeface="+mj-lt"/>
              <a:buAutoNum type="arabicPeriod" startAt="2"/>
            </a:pPr>
            <a:r>
              <a:rPr lang="en-US" sz="2000" dirty="0">
                <a:latin typeface="Verdana"/>
                <a:ea typeface="Verdana"/>
                <a:cs typeface="Verdana"/>
              </a:rPr>
              <a:t>The median number of pets for the ten students is _________.</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331066343"/>
                  </p:ext>
                </p:extLst>
              </p:nvPr>
            </p:nvGraphicFramePr>
            <p:xfrm>
              <a:off x="2133600" y="1396524"/>
              <a:ext cx="7609840" cy="989140"/>
            </p:xfrm>
            <a:graphic>
              <a:graphicData uri="http://schemas.openxmlformats.org/drawingml/2006/table">
                <a:tbl>
                  <a:tblPr bandRow="1"/>
                  <a:tblGrid>
                    <a:gridCol w="760984">
                      <a:extLst>
                        <a:ext uri="{9D8B030D-6E8A-4147-A177-3AD203B41FA5}">
                          <a16:colId xmlns:a16="http://schemas.microsoft.com/office/drawing/2014/main" val="20000"/>
                        </a:ext>
                      </a:extLst>
                    </a:gridCol>
                    <a:gridCol w="760984">
                      <a:extLst>
                        <a:ext uri="{9D8B030D-6E8A-4147-A177-3AD203B41FA5}">
                          <a16:colId xmlns:a16="http://schemas.microsoft.com/office/drawing/2014/main" val="20001"/>
                        </a:ext>
                      </a:extLst>
                    </a:gridCol>
                    <a:gridCol w="760984">
                      <a:extLst>
                        <a:ext uri="{9D8B030D-6E8A-4147-A177-3AD203B41FA5}">
                          <a16:colId xmlns:a16="http://schemas.microsoft.com/office/drawing/2014/main" val="20002"/>
                        </a:ext>
                      </a:extLst>
                    </a:gridCol>
                    <a:gridCol w="760984">
                      <a:extLst>
                        <a:ext uri="{9D8B030D-6E8A-4147-A177-3AD203B41FA5}">
                          <a16:colId xmlns:a16="http://schemas.microsoft.com/office/drawing/2014/main" val="20003"/>
                        </a:ext>
                      </a:extLst>
                    </a:gridCol>
                    <a:gridCol w="760984">
                      <a:extLst>
                        <a:ext uri="{9D8B030D-6E8A-4147-A177-3AD203B41FA5}">
                          <a16:colId xmlns:a16="http://schemas.microsoft.com/office/drawing/2014/main" val="20004"/>
                        </a:ext>
                      </a:extLst>
                    </a:gridCol>
                    <a:gridCol w="760984">
                      <a:extLst>
                        <a:ext uri="{9D8B030D-6E8A-4147-A177-3AD203B41FA5}">
                          <a16:colId xmlns:a16="http://schemas.microsoft.com/office/drawing/2014/main" val="20005"/>
                        </a:ext>
                      </a:extLst>
                    </a:gridCol>
                    <a:gridCol w="760984">
                      <a:extLst>
                        <a:ext uri="{9D8B030D-6E8A-4147-A177-3AD203B41FA5}">
                          <a16:colId xmlns:a16="http://schemas.microsoft.com/office/drawing/2014/main" val="20006"/>
                        </a:ext>
                      </a:extLst>
                    </a:gridCol>
                    <a:gridCol w="760984">
                      <a:extLst>
                        <a:ext uri="{9D8B030D-6E8A-4147-A177-3AD203B41FA5}">
                          <a16:colId xmlns:a16="http://schemas.microsoft.com/office/drawing/2014/main" val="20007"/>
                        </a:ext>
                      </a:extLst>
                    </a:gridCol>
                    <a:gridCol w="760984">
                      <a:extLst>
                        <a:ext uri="{9D8B030D-6E8A-4147-A177-3AD203B41FA5}">
                          <a16:colId xmlns:a16="http://schemas.microsoft.com/office/drawing/2014/main" val="20008"/>
                        </a:ext>
                      </a:extLst>
                    </a:gridCol>
                    <a:gridCol w="760984">
                      <a:extLst>
                        <a:ext uri="{9D8B030D-6E8A-4147-A177-3AD203B41FA5}">
                          <a16:colId xmlns:a16="http://schemas.microsoft.com/office/drawing/2014/main" val="20009"/>
                        </a:ext>
                      </a:extLst>
                    </a:gridCol>
                  </a:tblGrid>
                  <a:tr h="450850">
                    <a:tc gridSpan="10">
                      <a:txBody>
                        <a:bodyPr/>
                        <a:lstStyle/>
                        <a:p>
                          <a:pPr algn="ctr">
                            <a:lnSpc>
                              <a:spcPct val="107000"/>
                            </a:lnSpc>
                            <a:spcAft>
                              <a:spcPts val="0"/>
                            </a:spcAft>
                          </a:pPr>
                          <a:r>
                            <a:rPr lang="en-US" sz="2000" b="1" i="0" dirty="0">
                              <a:effectLst/>
                              <a:latin typeface="Verdana" pitchFamily="34" charset="0"/>
                              <a:ea typeface="Verdana" pitchFamily="34" charset="0"/>
                              <a:cs typeface="Cambria Math"/>
                            </a:rPr>
                            <a:t>Number of Pets</a:t>
                          </a:r>
                          <a:endParaRPr lang="en-US" sz="2000" i="1" dirty="0">
                            <a:effectLst/>
                            <a:latin typeface="Verdana" pitchFamily="34" charset="0"/>
                            <a:ea typeface="Verdana" pitchFamily="34" charset="0"/>
                            <a:cs typeface="Cambria Math"/>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085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1</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0</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2</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1</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10</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0</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2</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0</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8</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12</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331066343"/>
                  </p:ext>
                </p:extLst>
              </p:nvPr>
            </p:nvGraphicFramePr>
            <p:xfrm>
              <a:off x="609600" y="1396524"/>
              <a:ext cx="7609840" cy="989140"/>
            </p:xfrm>
            <a:graphic>
              <a:graphicData uri="http://schemas.openxmlformats.org/drawingml/2006/table">
                <a:tbl>
                  <a:tblPr bandRow="1"/>
                  <a:tblGrid>
                    <a:gridCol w="760984"/>
                    <a:gridCol w="760984"/>
                    <a:gridCol w="760984"/>
                    <a:gridCol w="760984"/>
                    <a:gridCol w="760984"/>
                    <a:gridCol w="760984"/>
                    <a:gridCol w="760984"/>
                    <a:gridCol w="760984"/>
                    <a:gridCol w="760984"/>
                    <a:gridCol w="760984"/>
                  </a:tblGrid>
                  <a:tr h="480124">
                    <a:tc gridSpan="10">
                      <a:txBody>
                        <a:bodyPr/>
                        <a:lstStyle/>
                        <a:p>
                          <a:pPr algn="ctr">
                            <a:lnSpc>
                              <a:spcPct val="107000"/>
                            </a:lnSpc>
                            <a:spcAft>
                              <a:spcPts val="0"/>
                            </a:spcAft>
                          </a:pPr>
                          <a:r>
                            <a:rPr lang="en-US" sz="2000" b="1" i="0" dirty="0">
                              <a:effectLst/>
                              <a:latin typeface="Verdana" pitchFamily="34" charset="0"/>
                              <a:ea typeface="Verdana" pitchFamily="34" charset="0"/>
                              <a:cs typeface="Cambria Math"/>
                            </a:rPr>
                            <a:t>Number of Pets</a:t>
                          </a:r>
                          <a:endParaRPr lang="en-US" sz="2000" i="1" dirty="0">
                            <a:effectLst/>
                            <a:latin typeface="Verdana" pitchFamily="34" charset="0"/>
                            <a:ea typeface="Verdana" pitchFamily="34" charset="0"/>
                            <a:cs typeface="Cambria Math"/>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09016">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95181" r="-899200"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95181" r="-799200"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1613" t="-95181" r="-705645"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99200" t="-95181" r="-600000"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99200" t="-95181" r="-500000"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99200" t="-95181" r="-400000"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99200" t="-95181" r="-300000"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04839" t="-95181" r="-202419"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98400" t="-95181" r="-100800" b="-1205"/>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98400" t="-95181" r="-800" b="-1205"/>
                          </a:stretch>
                        </a:blipFill>
                      </a:tcPr>
                    </a:tc>
                  </a:tr>
                </a:tbl>
              </a:graphicData>
            </a:graphic>
          </p:graphicFrame>
        </mc:Fallback>
      </mc:AlternateContent>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53</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58293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14425" y="520393"/>
            <a:ext cx="10113816" cy="2862322"/>
          </a:xfrm>
          <a:prstGeom prst="rect">
            <a:avLst/>
          </a:prstGeom>
          <a:noFill/>
        </p:spPr>
        <p:txBody>
          <a:bodyPr wrap="square" rtlCol="0">
            <a:spAutoFit/>
          </a:bodyPr>
          <a:lstStyle/>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4"/>
            </a:pPr>
            <a:r>
              <a:rPr lang="en-US" sz="2000" dirty="0">
                <a:latin typeface="Verdana"/>
                <a:ea typeface="Verdana"/>
                <a:cs typeface="Verdana"/>
              </a:rPr>
              <a:t>The mode of the data set is ____________.</a:t>
            </a: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r>
              <a:rPr lang="en-US" sz="2000" dirty="0">
                <a:latin typeface="Verdana"/>
                <a:ea typeface="Verdana"/>
                <a:cs typeface="Verdana"/>
              </a:rPr>
              <a:t>Write an explanation of what the mode of the data set means for the context.</a:t>
            </a:r>
            <a:endParaRPr lang="en-PH" sz="2000" dirty="0">
              <a:latin typeface="Verdana"/>
              <a:ea typeface="Verdana"/>
              <a:cs typeface="Verdana" panose="020B0604030504040204" pitchFamily="34" charset="0"/>
            </a:endParaRPr>
          </a:p>
        </p:txBody>
      </p:sp>
      <p:sp>
        <p:nvSpPr>
          <p:cNvPr id="6"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53</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74273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00138" y="520393"/>
            <a:ext cx="10142390" cy="5016758"/>
          </a:xfrm>
          <a:prstGeom prst="rect">
            <a:avLst/>
          </a:prstGeom>
          <a:noFill/>
        </p:spPr>
        <p:txBody>
          <a:bodyPr wrap="square" rtlCol="0">
            <a:spAutoFit/>
          </a:bodyPr>
          <a:lstStyle/>
          <a:p>
            <a:pPr marL="457200" indent="-457200">
              <a:buFont typeface="+mj-lt"/>
              <a:buAutoNum type="arabicPeriod" startAt="6"/>
            </a:pPr>
            <a:r>
              <a:rPr lang="en-US" sz="2000" dirty="0">
                <a:latin typeface="Verdana"/>
                <a:ea typeface="Verdana"/>
                <a:cs typeface="Verdana"/>
              </a:rPr>
              <a:t>Describe the steps needed to find the average number of pets owned by the ten students.</a:t>
            </a: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r>
              <a:rPr lang="en-US" sz="2000" dirty="0">
                <a:latin typeface="Verdana"/>
                <a:ea typeface="Verdana"/>
                <a:cs typeface="Verdana"/>
              </a:rPr>
              <a:t>The mean number of pets for the ten students is __________.</a:t>
            </a: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r>
              <a:rPr lang="en-US" sz="2000" dirty="0">
                <a:latin typeface="Verdana"/>
                <a:ea typeface="Verdana"/>
                <a:cs typeface="Verdana"/>
              </a:rPr>
              <a:t>Complete the statement about the mean of the data set.</a:t>
            </a: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“Each student in Tyler’s class has about _________ pets.”</a:t>
            </a:r>
            <a:endParaRPr lang="en-PH" sz="2000" dirty="0">
              <a:latin typeface="Verdana"/>
              <a:ea typeface="Verdana"/>
              <a:cs typeface="Verdana" panose="020B0604030504040204" pitchFamily="34" charset="0"/>
            </a:endParaRPr>
          </a:p>
        </p:txBody>
      </p:sp>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53</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03603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89328" y="439150"/>
            <a:ext cx="1016926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9.3.5 Try It: Mean, Median, and Mode</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39520" y="35969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1057275" y="1333240"/>
            <a:ext cx="10647222" cy="4401205"/>
          </a:xfrm>
          <a:prstGeom prst="rect">
            <a:avLst/>
          </a:prstGeom>
          <a:noFill/>
        </p:spPr>
        <p:txBody>
          <a:bodyPr wrap="square" rtlCol="0">
            <a:spAutoFit/>
          </a:bodyPr>
          <a:lstStyle/>
          <a:p>
            <a:pPr marL="476250" indent="-476250">
              <a:buFont typeface="+mj-lt"/>
              <a:buAutoNum type="arabicPeriod"/>
            </a:pPr>
            <a:r>
              <a:rPr lang="en-US" sz="2000" dirty="0">
                <a:latin typeface="Verdana"/>
                <a:ea typeface="Verdana"/>
                <a:cs typeface="Verdana"/>
              </a:rPr>
              <a:t>Nine adults boarding a cruise ship at Port Canaveral in Florida were randomly surveyed on the total number of vacations they have taken in the last five years. Their totals are summarized below.</a:t>
            </a: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a:ea typeface="Verdana"/>
                <a:cs typeface="Verdana"/>
              </a:rPr>
              <a:t>What does the value of the median represent in the context?</a:t>
            </a:r>
          </a:p>
          <a:p>
            <a:pPr marL="914400" indent="-457200">
              <a:buFont typeface="+mj-lt"/>
              <a:buAutoNum type="alphaLcPeriod"/>
            </a:pPr>
            <a:endParaRPr lang="en-US" sz="2000" dirty="0">
              <a:latin typeface="Verdana"/>
              <a:ea typeface="Verdana"/>
              <a:cs typeface="Verdana"/>
            </a:endParaRPr>
          </a:p>
          <a:p>
            <a:pPr marL="914400" indent="-457200">
              <a:buFont typeface="+mj-lt"/>
              <a:buAutoNum type="alphaLcPeriod"/>
            </a:pPr>
            <a:endParaRPr lang="en-US" sz="2000" dirty="0">
              <a:latin typeface="Verdana"/>
              <a:ea typeface="Verdana"/>
              <a:cs typeface="Verdana"/>
            </a:endParaRPr>
          </a:p>
          <a:p>
            <a:pPr marL="914400" indent="-457200">
              <a:buFont typeface="+mj-lt"/>
              <a:buAutoNum type="alphaLcPeriod"/>
            </a:pPr>
            <a:endParaRPr lang="en-US" sz="2000" dirty="0">
              <a:latin typeface="Verdana"/>
              <a:ea typeface="Verdana"/>
              <a:cs typeface="Verdana"/>
            </a:endParaRPr>
          </a:p>
          <a:p>
            <a:pPr marL="914400" indent="-457200">
              <a:buFont typeface="+mj-lt"/>
              <a:buAutoNum type="alphaLcPeriod" startAt="2"/>
            </a:pPr>
            <a:r>
              <a:rPr lang="en-US" sz="2000" dirty="0">
                <a:latin typeface="Verdana"/>
                <a:ea typeface="Verdana"/>
                <a:cs typeface="Verdana"/>
              </a:rPr>
              <a:t>What is the median number of vacations taken by the adults surveyed?</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3306274"/>
                  </p:ext>
                </p:extLst>
              </p:nvPr>
            </p:nvGraphicFramePr>
            <p:xfrm>
              <a:off x="2937599" y="2906318"/>
              <a:ext cx="6886575" cy="989140"/>
            </p:xfrm>
            <a:graphic>
              <a:graphicData uri="http://schemas.openxmlformats.org/drawingml/2006/table">
                <a:tbl>
                  <a:tblPr firstRow="1" firstCol="1" bandRow="1"/>
                  <a:tblGrid>
                    <a:gridCol w="716915">
                      <a:extLst>
                        <a:ext uri="{9D8B030D-6E8A-4147-A177-3AD203B41FA5}">
                          <a16:colId xmlns:a16="http://schemas.microsoft.com/office/drawing/2014/main" val="20000"/>
                        </a:ext>
                      </a:extLst>
                    </a:gridCol>
                    <a:gridCol w="770890">
                      <a:extLst>
                        <a:ext uri="{9D8B030D-6E8A-4147-A177-3AD203B41FA5}">
                          <a16:colId xmlns:a16="http://schemas.microsoft.com/office/drawing/2014/main" val="20001"/>
                        </a:ext>
                      </a:extLst>
                    </a:gridCol>
                    <a:gridCol w="770890">
                      <a:extLst>
                        <a:ext uri="{9D8B030D-6E8A-4147-A177-3AD203B41FA5}">
                          <a16:colId xmlns:a16="http://schemas.microsoft.com/office/drawing/2014/main" val="20002"/>
                        </a:ext>
                      </a:extLst>
                    </a:gridCol>
                    <a:gridCol w="770890">
                      <a:extLst>
                        <a:ext uri="{9D8B030D-6E8A-4147-A177-3AD203B41FA5}">
                          <a16:colId xmlns:a16="http://schemas.microsoft.com/office/drawing/2014/main" val="20003"/>
                        </a:ext>
                      </a:extLst>
                    </a:gridCol>
                    <a:gridCol w="770890">
                      <a:extLst>
                        <a:ext uri="{9D8B030D-6E8A-4147-A177-3AD203B41FA5}">
                          <a16:colId xmlns:a16="http://schemas.microsoft.com/office/drawing/2014/main" val="20004"/>
                        </a:ext>
                      </a:extLst>
                    </a:gridCol>
                    <a:gridCol w="771525">
                      <a:extLst>
                        <a:ext uri="{9D8B030D-6E8A-4147-A177-3AD203B41FA5}">
                          <a16:colId xmlns:a16="http://schemas.microsoft.com/office/drawing/2014/main" val="20005"/>
                        </a:ext>
                      </a:extLst>
                    </a:gridCol>
                    <a:gridCol w="771525">
                      <a:extLst>
                        <a:ext uri="{9D8B030D-6E8A-4147-A177-3AD203B41FA5}">
                          <a16:colId xmlns:a16="http://schemas.microsoft.com/office/drawing/2014/main" val="20006"/>
                        </a:ext>
                      </a:extLst>
                    </a:gridCol>
                    <a:gridCol w="771525">
                      <a:extLst>
                        <a:ext uri="{9D8B030D-6E8A-4147-A177-3AD203B41FA5}">
                          <a16:colId xmlns:a16="http://schemas.microsoft.com/office/drawing/2014/main" val="20007"/>
                        </a:ext>
                      </a:extLst>
                    </a:gridCol>
                    <a:gridCol w="771525">
                      <a:extLst>
                        <a:ext uri="{9D8B030D-6E8A-4147-A177-3AD203B41FA5}">
                          <a16:colId xmlns:a16="http://schemas.microsoft.com/office/drawing/2014/main" val="20008"/>
                        </a:ext>
                      </a:extLst>
                    </a:gridCol>
                  </a:tblGrid>
                  <a:tr h="319405">
                    <a:tc gridSpan="9">
                      <a:txBody>
                        <a:bodyPr/>
                        <a:lstStyle/>
                        <a:p>
                          <a:pPr algn="ctr">
                            <a:lnSpc>
                              <a:spcPct val="107000"/>
                            </a:lnSpc>
                            <a:spcAft>
                              <a:spcPts val="0"/>
                            </a:spcAft>
                          </a:pPr>
                          <a:r>
                            <a:rPr lang="en-US" sz="2000" b="1" i="0" dirty="0">
                              <a:effectLst/>
                              <a:latin typeface="Verdana" pitchFamily="34" charset="0"/>
                              <a:ea typeface="Verdana" pitchFamily="34" charset="0"/>
                              <a:cs typeface="Verdana"/>
                            </a:rPr>
                            <a:t>Number of Vacations Taken</a:t>
                          </a:r>
                          <a:endParaRPr lang="en-US" sz="2000" i="1" dirty="0">
                            <a:effectLst/>
                            <a:latin typeface="Verdana" pitchFamily="34" charset="0"/>
                            <a:ea typeface="Verdana" pitchFamily="34" charset="0"/>
                            <a:cs typeface="Cambria Math"/>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2265">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5</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4</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3</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9</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1</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4</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0</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6</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itchFamily="34" charset="0"/>
                                    <a:cs typeface="Cambria Math"/>
                                  </a:rPr>
                                  <m:t>3</m:t>
                                </m:r>
                              </m:oMath>
                            </m:oMathPara>
                          </a14:m>
                          <a:endParaRPr lang="en-US" sz="2000" i="1" dirty="0">
                            <a:effectLst/>
                            <a:latin typeface="Verdana" pitchFamily="34" charset="0"/>
                            <a:ea typeface="Verdana" pitchFamily="34" charset="0"/>
                            <a:cs typeface="Cambria Math"/>
                          </a:endParaRPr>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3306274"/>
                  </p:ext>
                </p:extLst>
              </p:nvPr>
            </p:nvGraphicFramePr>
            <p:xfrm>
              <a:off x="1413598" y="2906318"/>
              <a:ext cx="6886575" cy="989140"/>
            </p:xfrm>
            <a:graphic>
              <a:graphicData uri="http://schemas.openxmlformats.org/drawingml/2006/table">
                <a:tbl>
                  <a:tblPr firstRow="1" firstCol="1" bandRow="1"/>
                  <a:tblGrid>
                    <a:gridCol w="716915">
                      <a:extLst>
                        <a:ext uri="{9D8B030D-6E8A-4147-A177-3AD203B41FA5}">
                          <a16:colId xmlns:a16="http://schemas.microsoft.com/office/drawing/2014/main" val="20000"/>
                        </a:ext>
                      </a:extLst>
                    </a:gridCol>
                    <a:gridCol w="770890">
                      <a:extLst>
                        <a:ext uri="{9D8B030D-6E8A-4147-A177-3AD203B41FA5}">
                          <a16:colId xmlns:a16="http://schemas.microsoft.com/office/drawing/2014/main" val="20001"/>
                        </a:ext>
                      </a:extLst>
                    </a:gridCol>
                    <a:gridCol w="770890">
                      <a:extLst>
                        <a:ext uri="{9D8B030D-6E8A-4147-A177-3AD203B41FA5}">
                          <a16:colId xmlns:a16="http://schemas.microsoft.com/office/drawing/2014/main" val="20002"/>
                        </a:ext>
                      </a:extLst>
                    </a:gridCol>
                    <a:gridCol w="770890">
                      <a:extLst>
                        <a:ext uri="{9D8B030D-6E8A-4147-A177-3AD203B41FA5}">
                          <a16:colId xmlns:a16="http://schemas.microsoft.com/office/drawing/2014/main" val="20003"/>
                        </a:ext>
                      </a:extLst>
                    </a:gridCol>
                    <a:gridCol w="770890">
                      <a:extLst>
                        <a:ext uri="{9D8B030D-6E8A-4147-A177-3AD203B41FA5}">
                          <a16:colId xmlns:a16="http://schemas.microsoft.com/office/drawing/2014/main" val="20004"/>
                        </a:ext>
                      </a:extLst>
                    </a:gridCol>
                    <a:gridCol w="771525">
                      <a:extLst>
                        <a:ext uri="{9D8B030D-6E8A-4147-A177-3AD203B41FA5}">
                          <a16:colId xmlns:a16="http://schemas.microsoft.com/office/drawing/2014/main" val="20005"/>
                        </a:ext>
                      </a:extLst>
                    </a:gridCol>
                    <a:gridCol w="771525">
                      <a:extLst>
                        <a:ext uri="{9D8B030D-6E8A-4147-A177-3AD203B41FA5}">
                          <a16:colId xmlns:a16="http://schemas.microsoft.com/office/drawing/2014/main" val="20006"/>
                        </a:ext>
                      </a:extLst>
                    </a:gridCol>
                    <a:gridCol w="771525">
                      <a:extLst>
                        <a:ext uri="{9D8B030D-6E8A-4147-A177-3AD203B41FA5}">
                          <a16:colId xmlns:a16="http://schemas.microsoft.com/office/drawing/2014/main" val="20007"/>
                        </a:ext>
                      </a:extLst>
                    </a:gridCol>
                    <a:gridCol w="771525">
                      <a:extLst>
                        <a:ext uri="{9D8B030D-6E8A-4147-A177-3AD203B41FA5}">
                          <a16:colId xmlns:a16="http://schemas.microsoft.com/office/drawing/2014/main" val="20008"/>
                        </a:ext>
                      </a:extLst>
                    </a:gridCol>
                  </a:tblGrid>
                  <a:tr h="480124">
                    <a:tc gridSpan="9">
                      <a:txBody>
                        <a:bodyPr/>
                        <a:lstStyle/>
                        <a:p>
                          <a:pPr algn="ctr">
                            <a:lnSpc>
                              <a:spcPct val="107000"/>
                            </a:lnSpc>
                            <a:spcAft>
                              <a:spcPts val="0"/>
                            </a:spcAft>
                          </a:pPr>
                          <a:r>
                            <a:rPr lang="en-US" sz="2000" b="1" i="0" dirty="0">
                              <a:effectLst/>
                              <a:latin typeface="Verdana" pitchFamily="34" charset="0"/>
                              <a:ea typeface="Verdana" pitchFamily="34" charset="0"/>
                              <a:cs typeface="Verdana"/>
                            </a:rPr>
                            <a:t>Number of Vacations Taken</a:t>
                          </a:r>
                          <a:endParaRPr lang="en-US" sz="2000" i="1" dirty="0">
                            <a:effectLst/>
                            <a:latin typeface="Verdana" pitchFamily="34" charset="0"/>
                            <a:ea typeface="Verdana" pitchFamily="34" charset="0"/>
                            <a:cs typeface="Cambria Math"/>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9016">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754" t="-92683" r="-856140"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96667" t="-92683" r="-713333"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93443" t="-92683" r="-601639"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93443" t="-92683" r="-501639"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93443" t="-92683" r="-401639"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01667" t="-92683" r="-308333"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91803" t="-92683" r="-203279"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691803" t="-92683" r="-103279" b="-4878"/>
                          </a:stretch>
                        </a:blipFill>
                      </a:tcPr>
                    </a:tc>
                    <a:tc>
                      <a:txBody>
                        <a:bodyPr/>
                        <a:lstStyle/>
                        <a:p>
                          <a:endParaRPr lang="en-US"/>
                        </a:p>
                      </a:txBody>
                      <a:tcPr marL="1828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91803" t="-92683" r="-3279" b="-4878"/>
                          </a:stretch>
                        </a:blipFill>
                      </a:tcPr>
                    </a:tc>
                    <a:extLst>
                      <a:ext uri="{0D108BD9-81ED-4DB2-BD59-A6C34878D82A}">
                        <a16:rowId xmlns:a16="http://schemas.microsoft.com/office/drawing/2014/main" val="10001"/>
                      </a:ext>
                    </a:extLst>
                  </a:tr>
                </a:tbl>
              </a:graphicData>
            </a:graphic>
          </p:graphicFrame>
        </mc:Fallback>
      </mc:AlternateContent>
      <p:sp>
        <p:nvSpPr>
          <p:cNvPr id="12"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54</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TextBox 9">
            <a:extLst>
              <a:ext uri="{FF2B5EF4-FFF2-40B4-BE49-F238E27FC236}">
                <a16:creationId xmlns:a16="http://schemas.microsoft.com/office/drawing/2014/main" id="{0AB6A3A1-5A0D-C84F-AC89-57E6782F43E5}"/>
              </a:ext>
            </a:extLst>
          </p:cNvPr>
          <p:cNvSpPr txBox="1"/>
          <p:nvPr/>
        </p:nvSpPr>
        <p:spPr>
          <a:xfrm>
            <a:off x="971550" y="392168"/>
            <a:ext cx="10673926" cy="707886"/>
          </a:xfrm>
          <a:prstGeom prst="rect">
            <a:avLst/>
          </a:prstGeom>
          <a:noFill/>
        </p:spPr>
        <p:txBody>
          <a:bodyPr wrap="square" rtlCol="0">
            <a:spAutoFit/>
          </a:bodyPr>
          <a:lstStyle/>
          <a:p>
            <a:pPr marL="914400" indent="-457200">
              <a:buFont typeface="+mj-lt"/>
              <a:buAutoNum type="alphaLcPeriod" startAt="3"/>
            </a:pPr>
            <a:r>
              <a:rPr lang="en-US" sz="2000" dirty="0">
                <a:latin typeface="Verdana"/>
                <a:ea typeface="Verdana"/>
                <a:cs typeface="Verdana"/>
              </a:rPr>
              <a:t>Determine the mean of the data. Then, interpret the mean in terms of the context by writing a sentence to summarize. Round to the hundredths.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54</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75457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205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81369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91150" y="242477"/>
            <a:ext cx="801930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9.3.6 Exploration: Understanding Mode and Range</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4852" y="31709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2060448" y="1567000"/>
            <a:ext cx="8327136" cy="3785652"/>
          </a:xfrm>
          <a:prstGeom prst="rect">
            <a:avLst/>
          </a:prstGeom>
          <a:noFill/>
        </p:spPr>
        <p:txBody>
          <a:bodyPr wrap="square" rtlCol="0">
            <a:spAutoFit/>
          </a:bodyPr>
          <a:lstStyle/>
          <a:p>
            <a:r>
              <a:rPr lang="en-US" sz="2400" dirty="0">
                <a:latin typeface="Verdana"/>
                <a:ea typeface="Verdana"/>
                <a:cs typeface="Verdana"/>
              </a:rPr>
              <a:t>Work with your partner to complete the following.</a:t>
            </a:r>
          </a:p>
          <a:p>
            <a:endParaRPr lang="en-PH" sz="2400" dirty="0">
              <a:latin typeface="Verdana"/>
              <a:ea typeface="Verdana"/>
              <a:cs typeface="Verdana" panose="020B0604030504040204" pitchFamily="34" charset="0"/>
            </a:endParaRPr>
          </a:p>
          <a:p>
            <a:pPr marL="457200" indent="-457200">
              <a:buFont typeface="+mj-lt"/>
              <a:buAutoNum type="arabicPeriod"/>
              <a:tabLst>
                <a:tab pos="3200400" algn="l"/>
              </a:tabLst>
            </a:pPr>
            <a:r>
              <a:rPr lang="en-US" sz="2400" dirty="0">
                <a:latin typeface="Verdana"/>
                <a:ea typeface="Verdana"/>
                <a:cs typeface="Verdana"/>
              </a:rPr>
              <a:t>The	is the value occurring most </a:t>
            </a:r>
            <a:br>
              <a:rPr lang="en-US" sz="2400" dirty="0">
                <a:latin typeface="Verdana"/>
                <a:ea typeface="Verdana"/>
                <a:cs typeface="Verdana"/>
              </a:rPr>
            </a:br>
            <a:br>
              <a:rPr lang="en-US" sz="2400" dirty="0">
                <a:latin typeface="Verdana"/>
                <a:ea typeface="Verdana"/>
                <a:cs typeface="Verdana"/>
              </a:rPr>
            </a:br>
            <a:br>
              <a:rPr lang="en-US" sz="2400" dirty="0">
                <a:latin typeface="Verdana"/>
                <a:ea typeface="Verdana"/>
                <a:cs typeface="Verdana"/>
              </a:rPr>
            </a:br>
            <a:br>
              <a:rPr lang="en-US" sz="2400" dirty="0">
                <a:latin typeface="Verdana"/>
                <a:ea typeface="Verdana"/>
                <a:cs typeface="Verdana"/>
              </a:rPr>
            </a:br>
            <a:br>
              <a:rPr lang="en-US" sz="2400" dirty="0">
                <a:latin typeface="Verdana"/>
                <a:ea typeface="Verdana"/>
                <a:cs typeface="Verdana"/>
              </a:rPr>
            </a:br>
            <a:r>
              <a:rPr lang="en-US" sz="2400" dirty="0">
                <a:latin typeface="Verdana"/>
                <a:ea typeface="Verdana"/>
                <a:cs typeface="Verdana"/>
              </a:rPr>
              <a:t>often in a set of data, which can be used to </a:t>
            </a:r>
            <a:br>
              <a:rPr lang="en-US" sz="2400" dirty="0">
                <a:latin typeface="Verdana"/>
                <a:ea typeface="Verdana"/>
                <a:cs typeface="Verdana"/>
              </a:rPr>
            </a:br>
            <a:br>
              <a:rPr lang="en-US" sz="2400" dirty="0">
                <a:latin typeface="Verdana"/>
                <a:ea typeface="Verdana"/>
                <a:cs typeface="Verdana"/>
              </a:rPr>
            </a:br>
            <a:r>
              <a:rPr lang="en-US" sz="2400" dirty="0">
                <a:latin typeface="Verdana"/>
                <a:ea typeface="Verdana"/>
                <a:cs typeface="Verdana"/>
              </a:rPr>
              <a:t>describe trends in data.</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1" name="Rounded Rectangle 10"/>
          <p:cNvSpPr/>
          <p:nvPr/>
        </p:nvSpPr>
        <p:spPr>
          <a:xfrm>
            <a:off x="3311968" y="2204033"/>
            <a:ext cx="1920240" cy="1851003"/>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342900">
              <a:lnSpc>
                <a:spcPct val="107000"/>
              </a:lnSpc>
              <a:buClrTx/>
              <a:buFont typeface="Courier New" pitchFamily="49" charset="0"/>
              <a:buChar char="o"/>
              <a:defRPr/>
            </a:pPr>
            <a:r>
              <a:rPr lang="en-US" sz="2400" dirty="0">
                <a:solidFill>
                  <a:sysClr val="windowText" lastClr="000000"/>
                </a:solidFill>
                <a:latin typeface="Verdana" pitchFamily="34" charset="0"/>
                <a:ea typeface="Verdana" pitchFamily="34" charset="0"/>
                <a:cs typeface="Cambria Math"/>
              </a:rPr>
              <a:t>mean</a:t>
            </a:r>
            <a:endParaRPr lang="en-US" sz="2400" i="1" dirty="0">
              <a:solidFill>
                <a:sysClr val="windowText" lastClr="000000"/>
              </a:solidFill>
              <a:latin typeface="Verdana" pitchFamily="34" charset="0"/>
              <a:ea typeface="Verdana" pitchFamily="34" charset="0"/>
              <a:cs typeface="Cambria Math"/>
            </a:endParaRPr>
          </a:p>
          <a:p>
            <a:pPr marL="285750" indent="-342900">
              <a:lnSpc>
                <a:spcPct val="107000"/>
              </a:lnSpc>
              <a:buClrTx/>
              <a:buFont typeface="Courier New" pitchFamily="49" charset="0"/>
              <a:buChar char="o"/>
              <a:defRPr/>
            </a:pPr>
            <a:r>
              <a:rPr lang="en-US" sz="2400" dirty="0">
                <a:solidFill>
                  <a:sysClr val="windowText" lastClr="000000"/>
                </a:solidFill>
                <a:latin typeface="Verdana" pitchFamily="34" charset="0"/>
                <a:ea typeface="Verdana" pitchFamily="34" charset="0"/>
                <a:cs typeface="Cambria Math"/>
              </a:rPr>
              <a:t>median</a:t>
            </a:r>
            <a:endParaRPr lang="en-US" sz="2400" i="1" dirty="0">
              <a:solidFill>
                <a:sysClr val="windowText" lastClr="000000"/>
              </a:solidFill>
              <a:latin typeface="Verdana" pitchFamily="34" charset="0"/>
              <a:ea typeface="Verdana" pitchFamily="34" charset="0"/>
              <a:cs typeface="Cambria Math"/>
            </a:endParaRPr>
          </a:p>
          <a:p>
            <a:pPr marL="285750" indent="-342900">
              <a:lnSpc>
                <a:spcPct val="107000"/>
              </a:lnSpc>
              <a:buClrTx/>
              <a:buFont typeface="Courier New" pitchFamily="49" charset="0"/>
              <a:buChar char="o"/>
              <a:defRPr/>
            </a:pPr>
            <a:r>
              <a:rPr lang="en-US" sz="2400" dirty="0">
                <a:solidFill>
                  <a:sysClr val="windowText" lastClr="000000"/>
                </a:solidFill>
                <a:latin typeface="Verdana" pitchFamily="34" charset="0"/>
                <a:ea typeface="Verdana" pitchFamily="34" charset="0"/>
                <a:cs typeface="Cambria Math"/>
              </a:rPr>
              <a:t>mode </a:t>
            </a:r>
            <a:endParaRPr lang="en-US" sz="2400" i="1" dirty="0">
              <a:solidFill>
                <a:sysClr val="windowText" lastClr="000000"/>
              </a:solidFill>
              <a:latin typeface="Verdana" pitchFamily="34" charset="0"/>
              <a:ea typeface="Verdana" pitchFamily="34" charset="0"/>
              <a:cs typeface="Cambria Math"/>
            </a:endParaRPr>
          </a:p>
          <a:p>
            <a:pPr marL="285750" indent="-342900">
              <a:lnSpc>
                <a:spcPct val="107000"/>
              </a:lnSpc>
              <a:spcAft>
                <a:spcPts val="800"/>
              </a:spcAft>
              <a:buClrTx/>
              <a:buFont typeface="Courier New" pitchFamily="49" charset="0"/>
              <a:buChar char="o"/>
              <a:defRPr/>
            </a:pPr>
            <a:r>
              <a:rPr lang="en-US" sz="2400" dirty="0">
                <a:solidFill>
                  <a:sysClr val="windowText" lastClr="000000"/>
                </a:solidFill>
                <a:latin typeface="Verdana" pitchFamily="34" charset="0"/>
                <a:ea typeface="Verdana" pitchFamily="34" charset="0"/>
                <a:cs typeface="Cambria Math"/>
              </a:rPr>
              <a:t>range</a:t>
            </a:r>
            <a:endParaRPr lang="en-US" sz="2400" i="1" dirty="0">
              <a:solidFill>
                <a:sysClr val="windowText" lastClr="000000"/>
              </a:solidFill>
              <a:latin typeface="Verdana" pitchFamily="34" charset="0"/>
              <a:ea typeface="Verdana" pitchFamily="34" charset="0"/>
              <a:cs typeface="Cambria Math"/>
            </a:endParaRPr>
          </a:p>
        </p:txBody>
      </p:sp>
      <p:sp>
        <p:nvSpPr>
          <p:cNvPr id="9"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54</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39033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71563" y="520393"/>
            <a:ext cx="10199540" cy="5940088"/>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While shopping over the last month, </a:t>
            </a:r>
            <a:r>
              <a:rPr lang="en-US" sz="2000" dirty="0" err="1">
                <a:latin typeface="Verdana"/>
                <a:ea typeface="Verdana"/>
                <a:cs typeface="Verdana"/>
              </a:rPr>
              <a:t>Shep</a:t>
            </a:r>
            <a:r>
              <a:rPr lang="en-US" sz="2000" dirty="0">
                <a:latin typeface="Verdana"/>
                <a:ea typeface="Verdana"/>
                <a:cs typeface="Verdana"/>
              </a:rPr>
              <a:t> collected the price for a jar of pickles from eight stores he visited.</a:t>
            </a: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a:ea typeface="Verdana"/>
                <a:cs typeface="Verdana"/>
              </a:rPr>
              <a:t>What does a jar of pickles cost at most stores?</a:t>
            </a:r>
          </a:p>
          <a:p>
            <a:pPr marL="457200"/>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startAt="2"/>
            </a:pPr>
            <a:r>
              <a:rPr lang="en-US" sz="2000" dirty="0">
                <a:latin typeface="Verdana"/>
                <a:ea typeface="Verdana"/>
                <a:cs typeface="Verdana"/>
              </a:rPr>
              <a:t>This value is the</a:t>
            </a:r>
          </a:p>
          <a:p>
            <a:pPr marL="914400" indent="-457200">
              <a:buFont typeface="+mj-lt"/>
              <a:buAutoNum type="alphaLcPeriod" startAt="2"/>
            </a:pPr>
            <a:endParaRPr lang="en-US" sz="2000" dirty="0">
              <a:latin typeface="Verdana"/>
              <a:ea typeface="Verdana"/>
              <a:cs typeface="Verdana"/>
            </a:endParaRPr>
          </a:p>
          <a:p>
            <a:pPr marL="914400" indent="-457200">
              <a:buFont typeface="+mj-lt"/>
              <a:buAutoNum type="alphaLcPeriod" startAt="2"/>
            </a:pPr>
            <a:endParaRPr lang="en-US" sz="2000" dirty="0">
              <a:latin typeface="Verdana"/>
              <a:ea typeface="Verdana"/>
              <a:cs typeface="Verdana"/>
            </a:endParaRPr>
          </a:p>
          <a:p>
            <a:pPr marL="914400" indent="-457200">
              <a:buFont typeface="+mj-lt"/>
              <a:buAutoNum type="alphaLcPeriod" startAt="2"/>
            </a:pPr>
            <a:r>
              <a:rPr lang="en-US" sz="2000" dirty="0">
                <a:latin typeface="Verdana"/>
                <a:ea typeface="Verdana"/>
                <a:cs typeface="Verdana"/>
              </a:rPr>
              <a:t>What is the most </a:t>
            </a:r>
            <a:r>
              <a:rPr lang="en-US" sz="2000" dirty="0" err="1">
                <a:latin typeface="Verdana"/>
                <a:ea typeface="Verdana"/>
                <a:cs typeface="Verdana"/>
              </a:rPr>
              <a:t>Shep</a:t>
            </a:r>
            <a:r>
              <a:rPr lang="en-US" sz="2000" dirty="0">
                <a:latin typeface="Verdana"/>
                <a:ea typeface="Verdana"/>
                <a:cs typeface="Verdana"/>
              </a:rPr>
              <a:t> will spend on a jar of pickles?</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049956861"/>
                  </p:ext>
                </p:extLst>
              </p:nvPr>
            </p:nvGraphicFramePr>
            <p:xfrm>
              <a:off x="2600325" y="1419701"/>
              <a:ext cx="7162800" cy="2516188"/>
            </p:xfrm>
            <a:graphic>
              <a:graphicData uri="http://schemas.openxmlformats.org/drawingml/2006/table">
                <a:tbl>
                  <a:tblPr bandRow="1"/>
                  <a:tblGrid>
                    <a:gridCol w="1790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1790700">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tblGrid>
                  <a:tr h="0">
                    <a:tc gridSpan="4">
                      <a:txBody>
                        <a:bodyPr/>
                        <a:lstStyle/>
                        <a:p>
                          <a:pPr algn="ctr">
                            <a:lnSpc>
                              <a:spcPct val="107000"/>
                            </a:lnSpc>
                            <a:spcAft>
                              <a:spcPts val="0"/>
                            </a:spcAft>
                          </a:pPr>
                          <a:r>
                            <a:rPr lang="en-US" sz="2000" b="1" i="0" dirty="0">
                              <a:effectLst/>
                              <a:latin typeface="Verdana" pitchFamily="34" charset="0"/>
                              <a:ea typeface="Verdana" pitchFamily="34" charset="0"/>
                              <a:cs typeface="Verdana"/>
                            </a:rPr>
                            <a:t>Price for a Jar of Pickles</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A</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$1.66</m:t>
                                </m:r>
                              </m:oMath>
                            </m:oMathPara>
                          </a14:m>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E</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$1.99</m:t>
                                </m:r>
                              </m:oMath>
                            </m:oMathPara>
                          </a14:m>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07000"/>
                            </a:lnSpc>
                            <a:spcAft>
                              <a:spcPts val="0"/>
                            </a:spcAft>
                          </a:pPr>
                          <a:r>
                            <a:rPr lang="en-US" sz="2000" i="0">
                              <a:effectLst/>
                              <a:latin typeface="Verdana" pitchFamily="34" charset="0"/>
                              <a:ea typeface="Verdana" pitchFamily="34" charset="0"/>
                              <a:cs typeface="Verdana"/>
                            </a:rPr>
                            <a:t>Store B</a:t>
                          </a:r>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$2.99</m:t>
                                </m:r>
                              </m:oMath>
                            </m:oMathPara>
                          </a14:m>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F</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$1.99</m:t>
                                </m:r>
                              </m:oMath>
                            </m:oMathPara>
                          </a14:m>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lnSpc>
                              <a:spcPct val="107000"/>
                            </a:lnSpc>
                            <a:spcAft>
                              <a:spcPts val="0"/>
                            </a:spcAft>
                          </a:pPr>
                          <a:r>
                            <a:rPr lang="en-US" sz="2000" i="0">
                              <a:effectLst/>
                              <a:latin typeface="Verdana" pitchFamily="34" charset="0"/>
                              <a:ea typeface="Verdana" pitchFamily="34" charset="0"/>
                              <a:cs typeface="Verdana"/>
                            </a:rPr>
                            <a:t>Store C</a:t>
                          </a:r>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$1.49</m:t>
                                </m:r>
                              </m:oMath>
                            </m:oMathPara>
                          </a14:m>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G</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$1.50</m:t>
                                </m:r>
                              </m:oMath>
                            </m:oMathPara>
                          </a14:m>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D</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$1.99</m:t>
                                </m:r>
                              </m:oMath>
                            </m:oMathPara>
                          </a14:m>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a:effectLst/>
                              <a:latin typeface="Verdana" pitchFamily="34" charset="0"/>
                              <a:ea typeface="Verdana" pitchFamily="34" charset="0"/>
                              <a:cs typeface="Verdana"/>
                            </a:rPr>
                            <a:t>Store H</a:t>
                          </a:r>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$1.99</m:t>
                                </m:r>
                              </m:oMath>
                            </m:oMathPara>
                          </a14:m>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049956861"/>
                  </p:ext>
                </p:extLst>
              </p:nvPr>
            </p:nvGraphicFramePr>
            <p:xfrm>
              <a:off x="1076325" y="1419701"/>
              <a:ext cx="7162800" cy="2516188"/>
            </p:xfrm>
            <a:graphic>
              <a:graphicData uri="http://schemas.openxmlformats.org/drawingml/2006/table">
                <a:tbl>
                  <a:tblPr bandRow="1"/>
                  <a:tblGrid>
                    <a:gridCol w="1790700"/>
                    <a:gridCol w="1790700"/>
                    <a:gridCol w="1790700"/>
                    <a:gridCol w="1790700"/>
                  </a:tblGrid>
                  <a:tr h="480124">
                    <a:tc gridSpan="4">
                      <a:txBody>
                        <a:bodyPr/>
                        <a:lstStyle/>
                        <a:p>
                          <a:pPr algn="ctr">
                            <a:lnSpc>
                              <a:spcPct val="107000"/>
                            </a:lnSpc>
                            <a:spcAft>
                              <a:spcPts val="0"/>
                            </a:spcAft>
                          </a:pPr>
                          <a:r>
                            <a:rPr lang="en-US" sz="2000" b="1" i="0" dirty="0">
                              <a:effectLst/>
                              <a:latin typeface="Verdana" pitchFamily="34" charset="0"/>
                              <a:ea typeface="Verdana" pitchFamily="34" charset="0"/>
                              <a:cs typeface="Verdana"/>
                            </a:rPr>
                            <a:t>Price for a Jar of Pickles</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509016">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A</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40" t="-96386" r="-199660" b="-309639"/>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E</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000" t="-96386" b="-309639"/>
                          </a:stretch>
                        </a:blipFill>
                      </a:tcPr>
                    </a:tc>
                  </a:tr>
                  <a:tr h="509016">
                    <a:tc>
                      <a:txBody>
                        <a:bodyPr/>
                        <a:lstStyle/>
                        <a:p>
                          <a:pPr algn="ctr">
                            <a:lnSpc>
                              <a:spcPct val="107000"/>
                            </a:lnSpc>
                            <a:spcAft>
                              <a:spcPts val="0"/>
                            </a:spcAft>
                          </a:pPr>
                          <a:r>
                            <a:rPr lang="en-US" sz="2000" i="0">
                              <a:effectLst/>
                              <a:latin typeface="Verdana" pitchFamily="34" charset="0"/>
                              <a:ea typeface="Verdana" pitchFamily="34" charset="0"/>
                              <a:cs typeface="Verdana"/>
                            </a:rPr>
                            <a:t>Store B</a:t>
                          </a:r>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40" t="-194048" r="-199660" b="-205952"/>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F</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000" t="-194048" b="-205952"/>
                          </a:stretch>
                        </a:blipFill>
                      </a:tcPr>
                    </a:tc>
                  </a:tr>
                  <a:tr h="509016">
                    <a:tc>
                      <a:txBody>
                        <a:bodyPr/>
                        <a:lstStyle/>
                        <a:p>
                          <a:pPr algn="ctr">
                            <a:lnSpc>
                              <a:spcPct val="107000"/>
                            </a:lnSpc>
                            <a:spcAft>
                              <a:spcPts val="0"/>
                            </a:spcAft>
                          </a:pPr>
                          <a:r>
                            <a:rPr lang="en-US" sz="2000" i="0">
                              <a:effectLst/>
                              <a:latin typeface="Verdana" pitchFamily="34" charset="0"/>
                              <a:ea typeface="Verdana" pitchFamily="34" charset="0"/>
                              <a:cs typeface="Verdana"/>
                            </a:rPr>
                            <a:t>Store C</a:t>
                          </a:r>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40" t="-297590" r="-199660" b="-108434"/>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G</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000" t="-297590" b="-108434"/>
                          </a:stretch>
                        </a:blipFill>
                      </a:tcPr>
                    </a:tc>
                  </a:tr>
                  <a:tr h="509016">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D</a:t>
                          </a:r>
                          <a:endParaRPr lang="en-US" sz="2000" i="1" dirty="0">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40" t="-392857" r="-199660" b="-7143"/>
                          </a:stretch>
                        </a:blipFill>
                      </a:tcPr>
                    </a:tc>
                    <a:tc>
                      <a:txBody>
                        <a:bodyPr/>
                        <a:lstStyle/>
                        <a:p>
                          <a:pPr algn="ctr">
                            <a:lnSpc>
                              <a:spcPct val="107000"/>
                            </a:lnSpc>
                            <a:spcAft>
                              <a:spcPts val="0"/>
                            </a:spcAft>
                          </a:pPr>
                          <a:r>
                            <a:rPr lang="en-US" sz="2000" i="0">
                              <a:effectLst/>
                              <a:latin typeface="Verdana" pitchFamily="34" charset="0"/>
                              <a:ea typeface="Verdana" pitchFamily="34" charset="0"/>
                              <a:cs typeface="Verdana"/>
                            </a:rPr>
                            <a:t>Store H</a:t>
                          </a:r>
                          <a:endParaRPr lang="en-US" sz="2000" i="1">
                            <a:effectLst/>
                            <a:latin typeface="Verdana" pitchFamily="34" charset="0"/>
                            <a:ea typeface="Verdana" pitchFamily="34" charset="0"/>
                            <a:cs typeface="Cambria Math"/>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000" t="-392857" b="-7143"/>
                          </a:stretch>
                        </a:blipFill>
                      </a:tcPr>
                    </a:tc>
                  </a:tr>
                </a:tbl>
              </a:graphicData>
            </a:graphic>
          </p:graphicFrame>
        </mc:Fallback>
      </mc:AlternateContent>
      <p:sp>
        <p:nvSpPr>
          <p:cNvPr id="9" name="Rounded Rectangle 8"/>
          <p:cNvSpPr/>
          <p:nvPr/>
        </p:nvSpPr>
        <p:spPr>
          <a:xfrm>
            <a:off x="4352925" y="4864089"/>
            <a:ext cx="3657600" cy="830866"/>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342900">
              <a:lnSpc>
                <a:spcPct val="107000"/>
              </a:lnSpc>
              <a:buClrTx/>
              <a:buFont typeface="Courier New" pitchFamily="49" charset="0"/>
              <a:buChar char="o"/>
              <a:defRPr/>
            </a:pPr>
            <a:r>
              <a:rPr lang="en-US" sz="2000" dirty="0">
                <a:solidFill>
                  <a:sysClr val="windowText" lastClr="000000"/>
                </a:solidFill>
                <a:latin typeface="Verdana" pitchFamily="34" charset="0"/>
                <a:ea typeface="Verdana" pitchFamily="34" charset="0"/>
                <a:cs typeface="Cambria Math"/>
              </a:rPr>
              <a:t>median of the data set.</a:t>
            </a:r>
            <a:endParaRPr lang="en-US" sz="2000" i="1" dirty="0">
              <a:solidFill>
                <a:sysClr val="windowText" lastClr="000000"/>
              </a:solidFill>
              <a:latin typeface="Verdana" pitchFamily="34" charset="0"/>
              <a:ea typeface="Verdana" pitchFamily="34" charset="0"/>
              <a:cs typeface="Cambria Math"/>
            </a:endParaRPr>
          </a:p>
          <a:p>
            <a:pPr marL="285750" indent="-342900">
              <a:lnSpc>
                <a:spcPct val="107000"/>
              </a:lnSpc>
              <a:spcAft>
                <a:spcPts val="800"/>
              </a:spcAft>
              <a:buClrTx/>
              <a:buFont typeface="Courier New" pitchFamily="49" charset="0"/>
              <a:buChar char="o"/>
              <a:defRPr/>
            </a:pPr>
            <a:r>
              <a:rPr lang="en-US" sz="2000" dirty="0">
                <a:solidFill>
                  <a:sysClr val="windowText" lastClr="000000"/>
                </a:solidFill>
                <a:latin typeface="Verdana" pitchFamily="34" charset="0"/>
                <a:ea typeface="Verdana" pitchFamily="34" charset="0"/>
                <a:cs typeface="Cambria Math"/>
              </a:rPr>
              <a:t>mode of the data set. </a:t>
            </a:r>
            <a:endParaRPr lang="en-US" sz="2000" i="1" dirty="0">
              <a:solidFill>
                <a:sysClr val="windowText" lastClr="000000"/>
              </a:solidFill>
              <a:latin typeface="Verdana" pitchFamily="34" charset="0"/>
              <a:ea typeface="Verdana" pitchFamily="34" charset="0"/>
              <a:cs typeface="Cambria Math"/>
            </a:endParaRPr>
          </a:p>
        </p:txBody>
      </p:sp>
      <p:sp>
        <p:nvSpPr>
          <p:cNvPr id="8"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47242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71575" y="520393"/>
            <a:ext cx="9999516" cy="1938992"/>
          </a:xfrm>
          <a:prstGeom prst="rect">
            <a:avLst/>
          </a:prstGeom>
          <a:noFill/>
        </p:spPr>
        <p:txBody>
          <a:bodyPr wrap="square" rtlCol="0">
            <a:spAutoFit/>
          </a:bodyPr>
          <a:lstStyle/>
          <a:p>
            <a:pPr marL="914400" indent="-457200">
              <a:buFont typeface="+mj-lt"/>
              <a:buAutoNum type="alphaLcPeriod" startAt="4"/>
            </a:pPr>
            <a:r>
              <a:rPr lang="en-US" sz="2000" dirty="0">
                <a:latin typeface="Verdana"/>
                <a:ea typeface="Verdana"/>
                <a:cs typeface="Verdana"/>
              </a:rPr>
              <a:t>What is the least </a:t>
            </a:r>
            <a:r>
              <a:rPr lang="en-US" sz="2000" dirty="0" err="1">
                <a:latin typeface="Verdana"/>
                <a:ea typeface="Verdana"/>
                <a:cs typeface="Verdana"/>
              </a:rPr>
              <a:t>Shep</a:t>
            </a:r>
            <a:r>
              <a:rPr lang="en-US" sz="2000" dirty="0">
                <a:latin typeface="Verdana"/>
                <a:ea typeface="Verdana"/>
                <a:cs typeface="Verdana"/>
              </a:rPr>
              <a:t> will spend on a jar of pickles?</a:t>
            </a:r>
          </a:p>
          <a:p>
            <a:pPr marL="914400" indent="-457200">
              <a:buFont typeface="+mj-lt"/>
              <a:buAutoNum type="alphaLcPeriod" startAt="4"/>
            </a:pPr>
            <a:endParaRPr lang="en-PH" sz="2000" dirty="0">
              <a:latin typeface="Verdana"/>
              <a:ea typeface="Verdana"/>
              <a:cs typeface="Verdana" panose="020B0604030504040204" pitchFamily="34" charset="0"/>
            </a:endParaRPr>
          </a:p>
          <a:p>
            <a:pPr marL="914400" indent="-457200">
              <a:buFont typeface="+mj-lt"/>
              <a:buAutoNum type="alphaLcPeriod" startAt="4"/>
            </a:pPr>
            <a:endParaRPr lang="en-PH" sz="2000" dirty="0">
              <a:latin typeface="Verdana"/>
              <a:ea typeface="Verdana"/>
              <a:cs typeface="Verdana" panose="020B0604030504040204" pitchFamily="34" charset="0"/>
            </a:endParaRPr>
          </a:p>
          <a:p>
            <a:pPr marL="914400" indent="-457200">
              <a:buFont typeface="+mj-lt"/>
              <a:buAutoNum type="alphaLcPeriod" startAt="4"/>
            </a:pPr>
            <a:endParaRPr lang="en-PH" sz="2000" dirty="0">
              <a:latin typeface="Verdana"/>
              <a:ea typeface="Verdana"/>
              <a:cs typeface="Verdana" panose="020B0604030504040204" pitchFamily="34" charset="0"/>
            </a:endParaRPr>
          </a:p>
          <a:p>
            <a:pPr marL="914400" indent="-457200">
              <a:buFont typeface="+mj-lt"/>
              <a:buAutoNum type="alphaLcPeriod" startAt="4"/>
            </a:pPr>
            <a:r>
              <a:rPr lang="en-US" sz="2000" dirty="0">
                <a:latin typeface="Verdana"/>
                <a:ea typeface="Verdana"/>
                <a:cs typeface="Verdana"/>
              </a:rPr>
              <a:t>The range of a data set describes how spread out the data is. Determine the range in price for a jar of pickles.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88561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00138" y="520393"/>
            <a:ext cx="10142390" cy="4708981"/>
          </a:xfrm>
          <a:prstGeom prst="rect">
            <a:avLst/>
          </a:prstGeom>
          <a:noFill/>
        </p:spPr>
        <p:txBody>
          <a:bodyPr wrap="square" rtlCol="0">
            <a:spAutoFit/>
          </a:bodyPr>
          <a:lstStyle/>
          <a:p>
            <a:pPr marL="457200" indent="-457200">
              <a:buFont typeface="+mj-lt"/>
              <a:buAutoNum type="arabicPeriod" startAt="3"/>
            </a:pPr>
            <a:r>
              <a:rPr lang="en-US" sz="2000" dirty="0" err="1">
                <a:latin typeface="Verdana"/>
                <a:ea typeface="Verdana"/>
                <a:cs typeface="Cambria Math"/>
              </a:rPr>
              <a:t>Shep</a:t>
            </a:r>
            <a:r>
              <a:rPr lang="en-US" sz="2000" dirty="0">
                <a:latin typeface="Verdana"/>
                <a:ea typeface="Verdana"/>
                <a:cs typeface="Cambria Math"/>
              </a:rPr>
              <a:t> also began collecting the price of his favorite cereal to determine where he would get the best price.</a:t>
            </a: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a:ea typeface="Verdana"/>
                <a:cs typeface="Verdana"/>
              </a:rPr>
              <a:t>The mode</a:t>
            </a:r>
            <a:r>
              <a:rPr lang="en-US" sz="2000" b="1" dirty="0">
                <a:latin typeface="Verdana"/>
                <a:ea typeface="Verdana"/>
                <a:cs typeface="Verdana"/>
              </a:rPr>
              <a:t> </a:t>
            </a:r>
            <a:r>
              <a:rPr lang="en-US" sz="2000" dirty="0">
                <a:latin typeface="Verdana"/>
                <a:ea typeface="Verdana"/>
                <a:cs typeface="Verdana"/>
              </a:rPr>
              <a:t>price of his favorite box of cereal is _____________.</a:t>
            </a: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a:ea typeface="Verdana"/>
                <a:cs typeface="Verdana"/>
              </a:rPr>
              <a:t>What is the most </a:t>
            </a:r>
            <a:r>
              <a:rPr lang="en-US" sz="2000" dirty="0" err="1">
                <a:latin typeface="Verdana"/>
                <a:ea typeface="Verdana"/>
                <a:cs typeface="Verdana"/>
              </a:rPr>
              <a:t>Shep</a:t>
            </a:r>
            <a:r>
              <a:rPr lang="en-US" sz="2000" dirty="0">
                <a:latin typeface="Verdana"/>
                <a:ea typeface="Verdana"/>
                <a:cs typeface="Verdana"/>
              </a:rPr>
              <a:t> will spend on a box of cereal?</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806962937"/>
                  </p:ext>
                </p:extLst>
              </p:nvPr>
            </p:nvGraphicFramePr>
            <p:xfrm>
              <a:off x="2581275" y="1381601"/>
              <a:ext cx="7229476" cy="2516188"/>
            </p:xfrm>
            <a:graphic>
              <a:graphicData uri="http://schemas.openxmlformats.org/drawingml/2006/table">
                <a:tbl>
                  <a:tblPr bandRow="1"/>
                  <a:tblGrid>
                    <a:gridCol w="1807369">
                      <a:extLst>
                        <a:ext uri="{9D8B030D-6E8A-4147-A177-3AD203B41FA5}">
                          <a16:colId xmlns:a16="http://schemas.microsoft.com/office/drawing/2014/main" val="20000"/>
                        </a:ext>
                      </a:extLst>
                    </a:gridCol>
                    <a:gridCol w="1807369">
                      <a:extLst>
                        <a:ext uri="{9D8B030D-6E8A-4147-A177-3AD203B41FA5}">
                          <a16:colId xmlns:a16="http://schemas.microsoft.com/office/drawing/2014/main" val="20001"/>
                        </a:ext>
                      </a:extLst>
                    </a:gridCol>
                    <a:gridCol w="1807369">
                      <a:extLst>
                        <a:ext uri="{9D8B030D-6E8A-4147-A177-3AD203B41FA5}">
                          <a16:colId xmlns:a16="http://schemas.microsoft.com/office/drawing/2014/main" val="20002"/>
                        </a:ext>
                      </a:extLst>
                    </a:gridCol>
                    <a:gridCol w="1807369">
                      <a:extLst>
                        <a:ext uri="{9D8B030D-6E8A-4147-A177-3AD203B41FA5}">
                          <a16:colId xmlns:a16="http://schemas.microsoft.com/office/drawing/2014/main" val="20003"/>
                        </a:ext>
                      </a:extLst>
                    </a:gridCol>
                  </a:tblGrid>
                  <a:tr h="457200">
                    <a:tc gridSpan="4">
                      <a:txBody>
                        <a:bodyPr/>
                        <a:lstStyle/>
                        <a:p>
                          <a:pPr algn="ctr">
                            <a:lnSpc>
                              <a:spcPct val="107000"/>
                            </a:lnSpc>
                            <a:spcAft>
                              <a:spcPts val="0"/>
                            </a:spcAft>
                          </a:pPr>
                          <a:r>
                            <a:rPr lang="en-US" sz="2000" b="1" i="0" dirty="0">
                              <a:effectLst/>
                              <a:latin typeface="Verdana" pitchFamily="34" charset="0"/>
                              <a:ea typeface="Verdana" pitchFamily="34" charset="0"/>
                              <a:cs typeface="Verdana"/>
                            </a:rPr>
                            <a:t>Price for a Box of Cereal</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7200">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A</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$3.79</m:t>
                                </m:r>
                              </m:oMath>
                            </m:oMathPara>
                          </a14:m>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E</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$3.99</m:t>
                                </m:r>
                              </m:oMath>
                            </m:oMathPara>
                          </a14:m>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gn="ctr">
                            <a:lnSpc>
                              <a:spcPct val="107000"/>
                            </a:lnSpc>
                            <a:spcAft>
                              <a:spcPts val="0"/>
                            </a:spcAft>
                          </a:pPr>
                          <a:r>
                            <a:rPr lang="en-US" sz="2000" i="0">
                              <a:effectLst/>
                              <a:latin typeface="Verdana" pitchFamily="34" charset="0"/>
                              <a:ea typeface="Verdana" pitchFamily="34" charset="0"/>
                              <a:cs typeface="Verdana"/>
                            </a:rPr>
                            <a:t>Store B</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$3.89</m:t>
                                </m:r>
                              </m:oMath>
                            </m:oMathPara>
                          </a14:m>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F</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$3.89</m:t>
                                </m:r>
                              </m:oMath>
                            </m:oMathPara>
                          </a14:m>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gn="ctr">
                            <a:lnSpc>
                              <a:spcPct val="107000"/>
                            </a:lnSpc>
                            <a:spcAft>
                              <a:spcPts val="0"/>
                            </a:spcAft>
                          </a:pPr>
                          <a:r>
                            <a:rPr lang="en-US" sz="2000" i="0">
                              <a:effectLst/>
                              <a:latin typeface="Verdana" pitchFamily="34" charset="0"/>
                              <a:ea typeface="Verdana" pitchFamily="34" charset="0"/>
                              <a:cs typeface="Verdana"/>
                            </a:rPr>
                            <a:t>Store C</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$3.99</m:t>
                                </m:r>
                              </m:oMath>
                            </m:oMathPara>
                          </a14:m>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G</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$4.29</m:t>
                                </m:r>
                              </m:oMath>
                            </m:oMathPara>
                          </a14:m>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algn="ctr">
                            <a:lnSpc>
                              <a:spcPct val="107000"/>
                            </a:lnSpc>
                            <a:spcAft>
                              <a:spcPts val="0"/>
                            </a:spcAft>
                          </a:pPr>
                          <a:r>
                            <a:rPr lang="en-US" sz="2000" i="0">
                              <a:effectLst/>
                              <a:latin typeface="Verdana" pitchFamily="34" charset="0"/>
                              <a:ea typeface="Verdana" pitchFamily="34" charset="0"/>
                              <a:cs typeface="Verdana"/>
                            </a:rPr>
                            <a:t>Store D</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$3.89</m:t>
                                </m:r>
                              </m:oMath>
                            </m:oMathPara>
                          </a14:m>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a:effectLst/>
                              <a:latin typeface="Verdana" pitchFamily="34" charset="0"/>
                              <a:ea typeface="Verdana" pitchFamily="34" charset="0"/>
                              <a:cs typeface="Verdana"/>
                            </a:rPr>
                            <a:t>Store H</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$4.59</m:t>
                                </m:r>
                              </m:oMath>
                            </m:oMathPara>
                          </a14:m>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806962937"/>
                  </p:ext>
                </p:extLst>
              </p:nvPr>
            </p:nvGraphicFramePr>
            <p:xfrm>
              <a:off x="1057275" y="1381601"/>
              <a:ext cx="7229476" cy="2545080"/>
            </p:xfrm>
            <a:graphic>
              <a:graphicData uri="http://schemas.openxmlformats.org/drawingml/2006/table">
                <a:tbl>
                  <a:tblPr bandRow="1"/>
                  <a:tblGrid>
                    <a:gridCol w="1807369"/>
                    <a:gridCol w="1807369"/>
                    <a:gridCol w="1807369"/>
                    <a:gridCol w="1807369"/>
                  </a:tblGrid>
                  <a:tr h="509016">
                    <a:tc gridSpan="4">
                      <a:txBody>
                        <a:bodyPr/>
                        <a:lstStyle/>
                        <a:p>
                          <a:pPr algn="ctr">
                            <a:lnSpc>
                              <a:spcPct val="107000"/>
                            </a:lnSpc>
                            <a:spcAft>
                              <a:spcPts val="0"/>
                            </a:spcAft>
                          </a:pPr>
                          <a:r>
                            <a:rPr lang="en-US" sz="2000" b="1" i="0" dirty="0">
                              <a:effectLst/>
                              <a:latin typeface="Verdana" pitchFamily="34" charset="0"/>
                              <a:ea typeface="Verdana" pitchFamily="34" charset="0"/>
                              <a:cs typeface="Verdana"/>
                            </a:rPr>
                            <a:t>Price for a Box of Cereal</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509016">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A</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8" t="-100000" r="-200676" b="-304762"/>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E</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6" t="-100000" r="-338" b="-304762"/>
                          </a:stretch>
                        </a:blipFill>
                      </a:tcPr>
                    </a:tc>
                  </a:tr>
                  <a:tr h="509016">
                    <a:tc>
                      <a:txBody>
                        <a:bodyPr/>
                        <a:lstStyle/>
                        <a:p>
                          <a:pPr algn="ctr">
                            <a:lnSpc>
                              <a:spcPct val="107000"/>
                            </a:lnSpc>
                            <a:spcAft>
                              <a:spcPts val="0"/>
                            </a:spcAft>
                          </a:pPr>
                          <a:r>
                            <a:rPr lang="en-US" sz="2000" i="0">
                              <a:effectLst/>
                              <a:latin typeface="Verdana" pitchFamily="34" charset="0"/>
                              <a:ea typeface="Verdana" pitchFamily="34" charset="0"/>
                              <a:cs typeface="Verdana"/>
                            </a:rPr>
                            <a:t>Store B</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8" t="-202410" r="-200676" b="-208434"/>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F</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6" t="-202410" r="-338" b="-208434"/>
                          </a:stretch>
                        </a:blipFill>
                      </a:tcPr>
                    </a:tc>
                  </a:tr>
                  <a:tr h="509016">
                    <a:tc>
                      <a:txBody>
                        <a:bodyPr/>
                        <a:lstStyle/>
                        <a:p>
                          <a:pPr algn="ctr">
                            <a:lnSpc>
                              <a:spcPct val="107000"/>
                            </a:lnSpc>
                            <a:spcAft>
                              <a:spcPts val="0"/>
                            </a:spcAft>
                          </a:pPr>
                          <a:r>
                            <a:rPr lang="en-US" sz="2000" i="0">
                              <a:effectLst/>
                              <a:latin typeface="Verdana" pitchFamily="34" charset="0"/>
                              <a:ea typeface="Verdana" pitchFamily="34" charset="0"/>
                              <a:cs typeface="Verdana"/>
                            </a:rPr>
                            <a:t>Store C</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8" t="-298810" r="-200676" b="-105952"/>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Store G</a:t>
                          </a:r>
                          <a:endParaRPr lang="en-US" sz="2000" i="1" dirty="0">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6" t="-298810" r="-338" b="-105952"/>
                          </a:stretch>
                        </a:blipFill>
                      </a:tcPr>
                    </a:tc>
                  </a:tr>
                  <a:tr h="509016">
                    <a:tc>
                      <a:txBody>
                        <a:bodyPr/>
                        <a:lstStyle/>
                        <a:p>
                          <a:pPr algn="ctr">
                            <a:lnSpc>
                              <a:spcPct val="107000"/>
                            </a:lnSpc>
                            <a:spcAft>
                              <a:spcPts val="0"/>
                            </a:spcAft>
                          </a:pPr>
                          <a:r>
                            <a:rPr lang="en-US" sz="2000" i="0">
                              <a:effectLst/>
                              <a:latin typeface="Verdana" pitchFamily="34" charset="0"/>
                              <a:ea typeface="Verdana" pitchFamily="34" charset="0"/>
                              <a:cs typeface="Verdana"/>
                            </a:rPr>
                            <a:t>Store D</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8" t="-403614" r="-200676" b="-7229"/>
                          </a:stretch>
                        </a:blipFill>
                      </a:tcPr>
                    </a:tc>
                    <a:tc>
                      <a:txBody>
                        <a:bodyPr/>
                        <a:lstStyle/>
                        <a:p>
                          <a:pPr algn="ctr">
                            <a:lnSpc>
                              <a:spcPct val="107000"/>
                            </a:lnSpc>
                            <a:spcAft>
                              <a:spcPts val="0"/>
                            </a:spcAft>
                          </a:pPr>
                          <a:r>
                            <a:rPr lang="en-US" sz="2000" i="0">
                              <a:effectLst/>
                              <a:latin typeface="Verdana" pitchFamily="34" charset="0"/>
                              <a:ea typeface="Verdana" pitchFamily="34" charset="0"/>
                              <a:cs typeface="Verdana"/>
                            </a:rPr>
                            <a:t>Store H</a:t>
                          </a:r>
                          <a:endParaRPr lang="en-US" sz="2000" i="1">
                            <a:effectLst/>
                            <a:latin typeface="Verdana" pitchFamily="34" charset="0"/>
                            <a:ea typeface="Verdana" pitchFamily="34" charset="0"/>
                            <a:cs typeface="Cambria Math"/>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6" t="-403614" r="-338" b="-7229"/>
                          </a:stretch>
                        </a:blipFill>
                      </a:tcPr>
                    </a:tc>
                  </a:tr>
                </a:tbl>
              </a:graphicData>
            </a:graphic>
          </p:graphicFrame>
        </mc:Fallback>
      </mc:AlternateContent>
      <p:sp>
        <p:nvSpPr>
          <p:cNvPr id="7"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55</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72825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6" cy="3785652"/>
          </a:xfrm>
          <a:prstGeom prst="rect">
            <a:avLst/>
          </a:prstGeom>
          <a:noFill/>
        </p:spPr>
        <p:txBody>
          <a:bodyPr wrap="square" rtlCol="0">
            <a:spAutoFit/>
          </a:bodyPr>
          <a:lstStyle/>
          <a:p>
            <a:pPr marL="914400" indent="-457200">
              <a:buFont typeface="+mj-lt"/>
              <a:buAutoNum type="alphaLcPeriod" startAt="3"/>
            </a:pPr>
            <a:r>
              <a:rPr lang="en-US" sz="2000" dirty="0">
                <a:latin typeface="Verdana"/>
                <a:ea typeface="Verdana"/>
                <a:cs typeface="Verdana"/>
              </a:rPr>
              <a:t>What is the least </a:t>
            </a:r>
            <a:r>
              <a:rPr lang="en-US" sz="2000" dirty="0" err="1">
                <a:latin typeface="Verdana"/>
                <a:ea typeface="Verdana"/>
                <a:cs typeface="Verdana"/>
              </a:rPr>
              <a:t>Shep</a:t>
            </a:r>
            <a:r>
              <a:rPr lang="en-US" sz="2000" dirty="0">
                <a:latin typeface="Verdana"/>
                <a:ea typeface="Verdana"/>
                <a:cs typeface="Verdana"/>
              </a:rPr>
              <a:t> will spend on a box of cereal?</a:t>
            </a:r>
          </a:p>
          <a:p>
            <a:pPr marL="914400" indent="-457200">
              <a:buFont typeface="+mj-lt"/>
              <a:buAutoNum type="alphaLcPeriod" startAt="3"/>
            </a:pPr>
            <a:endParaRPr lang="en-PH" sz="2000" dirty="0">
              <a:latin typeface="Verdana"/>
              <a:ea typeface="Verdana"/>
              <a:cs typeface="Verdana" panose="020B0604030504040204" pitchFamily="34" charset="0"/>
            </a:endParaRPr>
          </a:p>
          <a:p>
            <a:pPr marL="914400" indent="-457200">
              <a:buFont typeface="+mj-lt"/>
              <a:buAutoNum type="alphaLcPeriod" startAt="3"/>
            </a:pPr>
            <a:endParaRPr lang="en-PH" sz="2000" dirty="0">
              <a:latin typeface="Verdana"/>
              <a:ea typeface="Verdana"/>
              <a:cs typeface="Verdana" panose="020B0604030504040204" pitchFamily="34" charset="0"/>
            </a:endParaRPr>
          </a:p>
          <a:p>
            <a:pPr marL="914400" indent="-457200">
              <a:buFont typeface="+mj-lt"/>
              <a:buAutoNum type="alphaLcPeriod" startAt="3"/>
            </a:pPr>
            <a:endParaRPr lang="en-PH" sz="2000" dirty="0">
              <a:latin typeface="Verdana"/>
              <a:ea typeface="Verdana"/>
              <a:cs typeface="Verdana" panose="020B0604030504040204" pitchFamily="34" charset="0"/>
            </a:endParaRPr>
          </a:p>
          <a:p>
            <a:pPr marL="914400" indent="-457200">
              <a:buFont typeface="+mj-lt"/>
              <a:buAutoNum type="alphaLcPeriod" startAt="3"/>
            </a:pPr>
            <a:r>
              <a:rPr lang="en-US" sz="2000" dirty="0">
                <a:latin typeface="Verdana"/>
                <a:ea typeface="Verdana"/>
                <a:cs typeface="Verdana"/>
              </a:rPr>
              <a:t>The range</a:t>
            </a:r>
            <a:r>
              <a:rPr lang="en-US" sz="2000" b="1" dirty="0">
                <a:latin typeface="Verdana"/>
                <a:ea typeface="Verdana"/>
                <a:cs typeface="Verdana"/>
              </a:rPr>
              <a:t> </a:t>
            </a:r>
            <a:r>
              <a:rPr lang="en-US" sz="2000" dirty="0">
                <a:latin typeface="Verdana"/>
                <a:ea typeface="Verdana"/>
                <a:cs typeface="Verdana"/>
              </a:rPr>
              <a:t>for the price of a box of cereal is ______________.</a:t>
            </a:r>
          </a:p>
          <a:p>
            <a:pPr marL="914400" indent="-457200">
              <a:buFont typeface="+mj-lt"/>
              <a:buAutoNum type="alphaLcPeriod" startAt="3"/>
            </a:pPr>
            <a:endParaRPr lang="en-PH" sz="2000" dirty="0">
              <a:latin typeface="Verdana"/>
              <a:ea typeface="Verdana"/>
              <a:cs typeface="Verdana" panose="020B0604030504040204" pitchFamily="34" charset="0"/>
            </a:endParaRPr>
          </a:p>
          <a:p>
            <a:pPr marL="914400" indent="-457200">
              <a:buFont typeface="+mj-lt"/>
              <a:buAutoNum type="alphaLcPeriod" startAt="3"/>
            </a:pPr>
            <a:endParaRPr lang="en-PH" sz="2000" dirty="0">
              <a:latin typeface="Verdana"/>
              <a:ea typeface="Verdana"/>
              <a:cs typeface="Verdana" panose="020B0604030504040204" pitchFamily="34" charset="0"/>
            </a:endParaRPr>
          </a:p>
          <a:p>
            <a:pPr marL="914400" indent="-457200">
              <a:buFont typeface="+mj-lt"/>
              <a:buAutoNum type="alphaLcPeriod" startAt="3"/>
            </a:pPr>
            <a:endParaRPr lang="en-PH" sz="2000" dirty="0">
              <a:latin typeface="Verdana"/>
              <a:ea typeface="Verdana"/>
              <a:cs typeface="Verdana" panose="020B0604030504040204" pitchFamily="34" charset="0"/>
            </a:endParaRPr>
          </a:p>
          <a:p>
            <a:pPr marL="914400" indent="-457200">
              <a:buFont typeface="+mj-lt"/>
              <a:buAutoNum type="alphaLcPeriod" startAt="3"/>
              <a:tabLst>
                <a:tab pos="6059488" algn="l"/>
              </a:tabLst>
            </a:pPr>
            <a:r>
              <a:rPr lang="en-US" sz="2000" dirty="0">
                <a:latin typeface="Verdana"/>
                <a:ea typeface="Verdana"/>
                <a:cs typeface="Verdana"/>
              </a:rPr>
              <a:t>The range describes the	 of the </a:t>
            </a: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data set.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Rounded Rectangle 6"/>
          <p:cNvSpPr/>
          <p:nvPr/>
        </p:nvSpPr>
        <p:spPr>
          <a:xfrm>
            <a:off x="6226810" y="3060192"/>
            <a:ext cx="1920240" cy="830866"/>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lnSpc>
                <a:spcPct val="107000"/>
              </a:lnSpc>
              <a:buClrTx/>
              <a:buFont typeface="Courier New"/>
              <a:buChar char="o"/>
              <a:defRPr/>
            </a:pPr>
            <a:r>
              <a:rPr lang="en-US" sz="2000" dirty="0">
                <a:latin typeface="Verdana" pitchFamily="34" charset="0"/>
                <a:ea typeface="Verdana" pitchFamily="34" charset="0"/>
                <a:cs typeface="Cambria Math"/>
              </a:rPr>
              <a:t>center</a:t>
            </a:r>
            <a:endParaRPr lang="en-US" sz="2000" i="1" dirty="0">
              <a:solidFill>
                <a:sysClr val="window" lastClr="FFFFFF"/>
              </a:solidFill>
              <a:latin typeface="Verdana" pitchFamily="34" charset="0"/>
              <a:ea typeface="Verdana" pitchFamily="34" charset="0"/>
              <a:cs typeface="Cambria Math"/>
            </a:endParaRPr>
          </a:p>
          <a:p>
            <a:pPr marL="342900" indent="-342900">
              <a:lnSpc>
                <a:spcPct val="107000"/>
              </a:lnSpc>
              <a:buClrTx/>
              <a:buFont typeface="Courier New"/>
              <a:buChar char="o"/>
              <a:defRPr/>
            </a:pPr>
            <a:r>
              <a:rPr lang="en-US" sz="2000" dirty="0">
                <a:latin typeface="Verdana" pitchFamily="34" charset="0"/>
                <a:ea typeface="Verdana" pitchFamily="34" charset="0"/>
                <a:cs typeface="Cambria Math"/>
              </a:rPr>
              <a:t>variability</a:t>
            </a:r>
            <a:endParaRPr lang="en-US" sz="2000" i="1" dirty="0">
              <a:solidFill>
                <a:sysClr val="window" lastClr="FFFFFF"/>
              </a:solidFill>
              <a:latin typeface="Verdana" pitchFamily="34" charset="0"/>
              <a:ea typeface="Verdana" pitchFamily="34" charset="0"/>
              <a:cs typeface="Cambria Math"/>
            </a:endParaRPr>
          </a:p>
        </p:txBody>
      </p:sp>
      <p:sp>
        <p:nvSpPr>
          <p:cNvPr id="9"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55</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89827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57275" y="520394"/>
            <a:ext cx="10228116" cy="707886"/>
          </a:xfrm>
          <a:prstGeom prst="rect">
            <a:avLst/>
          </a:prstGeom>
          <a:noFill/>
        </p:spPr>
        <p:txBody>
          <a:bodyPr wrap="square" rtlCol="0">
            <a:spAutoFit/>
          </a:bodyPr>
          <a:lstStyle/>
          <a:p>
            <a:pPr marL="457200" indent="-457200">
              <a:buFont typeface="+mj-lt"/>
              <a:buAutoNum type="arabicPeriod" startAt="4"/>
            </a:pPr>
            <a:r>
              <a:rPr lang="en-US" sz="2000" dirty="0">
                <a:latin typeface="Verdana"/>
                <a:ea typeface="Verdana"/>
                <a:cs typeface="Cambria Math"/>
              </a:rPr>
              <a:t>With your partner, discuss whether the price for pickles or the price for cereal has more variability in pricing. Summarize the discussion.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nvGrpSpPr>
          <p:cNvPr id="10" name="Group 9"/>
          <p:cNvGrpSpPr/>
          <p:nvPr/>
        </p:nvGrpSpPr>
        <p:grpSpPr>
          <a:xfrm>
            <a:off x="2547620" y="2560839"/>
            <a:ext cx="7505356" cy="1359783"/>
            <a:chOff x="0" y="-159546"/>
            <a:chExt cx="7505356" cy="1360102"/>
          </a:xfrm>
        </p:grpSpPr>
        <p:sp>
          <p:nvSpPr>
            <p:cNvPr id="11" name="Rounded Rectangle 10"/>
            <p:cNvSpPr/>
            <p:nvPr/>
          </p:nvSpPr>
          <p:spPr>
            <a:xfrm>
              <a:off x="0" y="-159546"/>
              <a:ext cx="7505356" cy="136010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lnSpc>
                  <a:spcPct val="107000"/>
                </a:lnSpc>
                <a:spcAft>
                  <a:spcPts val="800"/>
                </a:spcAft>
              </a:pPr>
              <a:r>
                <a:rPr lang="en-US" sz="2000" b="1" i="1" dirty="0">
                  <a:solidFill>
                    <a:srgbClr val="6C993D"/>
                  </a:solidFill>
                  <a:latin typeface="Verdana"/>
                  <a:ea typeface="Verdana"/>
                  <a:cs typeface="Verdana"/>
                </a:rPr>
                <a:t>Measures of variability </a:t>
              </a:r>
              <a:r>
                <a:rPr lang="en-US" sz="2000" dirty="0">
                  <a:solidFill>
                    <a:srgbClr val="6C993D"/>
                  </a:solidFill>
                  <a:latin typeface="Verdana"/>
                  <a:ea typeface="Verdana"/>
                  <a:cs typeface="Verdana"/>
                </a:rPr>
                <a:t>are numerical values that measure how much a data set varies from a central value.</a:t>
              </a:r>
              <a:endParaRPr lang="en-US" sz="2000" i="1" dirty="0">
                <a:latin typeface="Cambria Math"/>
                <a:ea typeface="Cambria Math"/>
                <a:cs typeface="Cambria Math"/>
              </a:endParaRPr>
            </a:p>
          </p:txBody>
        </p:sp>
        <p:pic>
          <p:nvPicPr>
            <p:cNvPr id="13" name="Shape 7" descr="Icon&#10;&#10;Description automatically generated"/>
            <p:cNvPicPr/>
            <p:nvPr/>
          </p:nvPicPr>
          <p:blipFill rotWithShape="1">
            <a:blip r:embed="rId3" cstate="screen">
              <a:alphaModFix/>
              <a:extLst>
                <a:ext uri="{28A0092B-C50C-407E-A947-70E740481C1C}">
                  <a14:useLocalDpi xmlns:a14="http://schemas.microsoft.com/office/drawing/2010/main"/>
                </a:ext>
              </a:extLst>
            </a:blip>
            <a:srcRect/>
            <a:stretch/>
          </p:blipFill>
          <p:spPr>
            <a:xfrm>
              <a:off x="180243" y="66810"/>
              <a:ext cx="539750" cy="539115"/>
            </a:xfrm>
            <a:prstGeom prst="rect">
              <a:avLst/>
            </a:prstGeom>
            <a:noFill/>
            <a:ln>
              <a:noFill/>
            </a:ln>
            <a:effectLst>
              <a:outerShdw blurRad="50800" dist="38100" dir="2700000" algn="tl" rotWithShape="0">
                <a:prstClr val="black">
                  <a:alpha val="40000"/>
                </a:prstClr>
              </a:outerShdw>
            </a:effectLst>
          </p:spPr>
        </p:pic>
      </p:grpSp>
      <p:grpSp>
        <p:nvGrpSpPr>
          <p:cNvPr id="27" name="Group 26"/>
          <p:cNvGrpSpPr/>
          <p:nvPr/>
        </p:nvGrpSpPr>
        <p:grpSpPr>
          <a:xfrm>
            <a:off x="2547620" y="4209478"/>
            <a:ext cx="7505356" cy="2026088"/>
            <a:chOff x="2031300" y="3243604"/>
            <a:chExt cx="7505356" cy="1467897"/>
          </a:xfrm>
        </p:grpSpPr>
        <p:grpSp>
          <p:nvGrpSpPr>
            <p:cNvPr id="28" name="Group 27"/>
            <p:cNvGrpSpPr/>
            <p:nvPr/>
          </p:nvGrpSpPr>
          <p:grpSpPr>
            <a:xfrm>
              <a:off x="2031300" y="3243604"/>
              <a:ext cx="7505356" cy="1467897"/>
              <a:chOff x="2031300" y="3243604"/>
              <a:chExt cx="7505356" cy="1467897"/>
            </a:xfrm>
          </p:grpSpPr>
          <p:sp>
            <p:nvSpPr>
              <p:cNvPr id="29" name="Rectangle 28"/>
              <p:cNvSpPr/>
              <p:nvPr/>
            </p:nvSpPr>
            <p:spPr>
              <a:xfrm>
                <a:off x="2031300" y="3580496"/>
                <a:ext cx="6629400" cy="399001"/>
              </a:xfrm>
              <a:prstGeom prst="rect">
                <a:avLst/>
              </a:prstGeom>
              <a:noFill/>
              <a:ln>
                <a:noFill/>
              </a:ln>
            </p:spPr>
            <p:txBody>
              <a:bodyPr spcFirstLastPara="1" wrap="square" lIns="91425" tIns="91440" rIns="91425" bIns="91440" anchor="ctr" anchorCtr="0">
                <a:spAutoFit/>
              </a:bodyPr>
              <a:lstStyle/>
              <a:p>
                <a:pPr>
                  <a:lnSpc>
                    <a:spcPct val="107000"/>
                  </a:lnSpc>
                  <a:spcAft>
                    <a:spcPts val="800"/>
                  </a:spcAft>
                </a:pPr>
                <a:r>
                  <a:rPr lang="en-US" sz="1600" i="1">
                    <a:latin typeface="Cambria Math"/>
                    <a:ea typeface="Cambria Math"/>
                    <a:cs typeface="Cambria Math"/>
                  </a:rPr>
                  <a:t> </a:t>
                </a:r>
              </a:p>
            </p:txBody>
          </p:sp>
          <p:grpSp>
            <p:nvGrpSpPr>
              <p:cNvPr id="30" name="Group 29"/>
              <p:cNvGrpSpPr/>
              <p:nvPr/>
            </p:nvGrpSpPr>
            <p:grpSpPr>
              <a:xfrm>
                <a:off x="2031300" y="3243604"/>
                <a:ext cx="7505356" cy="1467897"/>
                <a:chOff x="2031300" y="3243604"/>
                <a:chExt cx="7505356" cy="1467897"/>
              </a:xfrm>
            </p:grpSpPr>
            <p:sp>
              <p:nvSpPr>
                <p:cNvPr id="31" name="Rectangle 30"/>
                <p:cNvSpPr/>
                <p:nvPr/>
              </p:nvSpPr>
              <p:spPr>
                <a:xfrm>
                  <a:off x="2031300" y="3580496"/>
                  <a:ext cx="6629400" cy="399001"/>
                </a:xfrm>
                <a:prstGeom prst="rect">
                  <a:avLst/>
                </a:prstGeom>
                <a:noFill/>
                <a:ln>
                  <a:noFill/>
                </a:ln>
              </p:spPr>
              <p:txBody>
                <a:bodyPr spcFirstLastPara="1" wrap="square" lIns="91425" tIns="91440" rIns="91425" bIns="91440" anchor="ctr" anchorCtr="0">
                  <a:spAutoFit/>
                </a:bodyPr>
                <a:lstStyle/>
                <a:p>
                  <a:pPr>
                    <a:lnSpc>
                      <a:spcPct val="107000"/>
                    </a:lnSpc>
                    <a:spcAft>
                      <a:spcPts val="800"/>
                    </a:spcAft>
                  </a:pPr>
                  <a:r>
                    <a:rPr lang="en-US" sz="1600" i="1">
                      <a:latin typeface="Cambria Math"/>
                      <a:ea typeface="Cambria Math"/>
                      <a:cs typeface="Cambria Math"/>
                    </a:rPr>
                    <a:t> </a:t>
                  </a:r>
                </a:p>
              </p:txBody>
            </p:sp>
            <p:grpSp>
              <p:nvGrpSpPr>
                <p:cNvPr id="32" name="Group 31"/>
                <p:cNvGrpSpPr/>
                <p:nvPr/>
              </p:nvGrpSpPr>
              <p:grpSpPr>
                <a:xfrm>
                  <a:off x="2031300" y="3243604"/>
                  <a:ext cx="7505356" cy="1467897"/>
                  <a:chOff x="0" y="-32131"/>
                  <a:chExt cx="7505356" cy="1467897"/>
                </a:xfrm>
              </p:grpSpPr>
              <p:sp>
                <p:nvSpPr>
                  <p:cNvPr id="33" name="Rectangle 32"/>
                  <p:cNvSpPr/>
                  <p:nvPr/>
                </p:nvSpPr>
                <p:spPr>
                  <a:xfrm>
                    <a:off x="0" y="304761"/>
                    <a:ext cx="6629400" cy="399001"/>
                  </a:xfrm>
                  <a:prstGeom prst="rect">
                    <a:avLst/>
                  </a:prstGeom>
                  <a:noFill/>
                  <a:ln>
                    <a:noFill/>
                  </a:ln>
                </p:spPr>
                <p:txBody>
                  <a:bodyPr spcFirstLastPara="1" wrap="square" lIns="91425" tIns="91440" rIns="91425" bIns="91440" anchor="ctr" anchorCtr="0">
                    <a:spAutoFit/>
                  </a:bodyPr>
                  <a:lstStyle/>
                  <a:p>
                    <a:pPr>
                      <a:lnSpc>
                        <a:spcPct val="107000"/>
                      </a:lnSpc>
                      <a:spcAft>
                        <a:spcPts val="800"/>
                      </a:spcAft>
                    </a:pPr>
                    <a:r>
                      <a:rPr lang="en-US" sz="1600" i="1">
                        <a:latin typeface="Cambria Math"/>
                        <a:ea typeface="Cambria Math"/>
                        <a:cs typeface="Cambria Math"/>
                      </a:rPr>
                      <a:t> </a:t>
                    </a:r>
                  </a:p>
                </p:txBody>
              </p:sp>
              <p:grpSp>
                <p:nvGrpSpPr>
                  <p:cNvPr id="34" name="Group 33"/>
                  <p:cNvGrpSpPr/>
                  <p:nvPr/>
                </p:nvGrpSpPr>
                <p:grpSpPr>
                  <a:xfrm>
                    <a:off x="0" y="-32131"/>
                    <a:ext cx="7505356" cy="1467897"/>
                    <a:chOff x="0" y="-32131"/>
                    <a:chExt cx="7505356" cy="1467897"/>
                  </a:xfrm>
                </p:grpSpPr>
                <p:sp>
                  <p:nvSpPr>
                    <p:cNvPr id="36" name="Rectangle 35"/>
                    <p:cNvSpPr/>
                    <p:nvPr/>
                  </p:nvSpPr>
                  <p:spPr>
                    <a:xfrm>
                      <a:off x="0" y="193686"/>
                      <a:ext cx="6629400" cy="399001"/>
                    </a:xfrm>
                    <a:prstGeom prst="rect">
                      <a:avLst/>
                    </a:prstGeom>
                    <a:noFill/>
                    <a:ln>
                      <a:noFill/>
                    </a:ln>
                  </p:spPr>
                  <p:txBody>
                    <a:bodyPr spcFirstLastPara="1" wrap="square" lIns="91425" tIns="91440" rIns="91425" bIns="91440" anchor="ctr" anchorCtr="0">
                      <a:spAutoFit/>
                    </a:bodyPr>
                    <a:lstStyle/>
                    <a:p>
                      <a:pPr>
                        <a:lnSpc>
                          <a:spcPct val="107000"/>
                        </a:lnSpc>
                        <a:spcAft>
                          <a:spcPts val="800"/>
                        </a:spcAft>
                      </a:pPr>
                      <a:r>
                        <a:rPr lang="en-US" sz="1600" i="1">
                          <a:latin typeface="Cambria Math"/>
                          <a:ea typeface="Cambria Math"/>
                          <a:cs typeface="Cambria Math"/>
                        </a:rPr>
                        <a:t> </a:t>
                      </a:r>
                    </a:p>
                  </p:txBody>
                </p:sp>
                <p:sp>
                  <p:nvSpPr>
                    <p:cNvPr id="37" name="Rectangle 36"/>
                    <p:cNvSpPr/>
                    <p:nvPr/>
                  </p:nvSpPr>
                  <p:spPr>
                    <a:xfrm>
                      <a:off x="0" y="193686"/>
                      <a:ext cx="6629400" cy="399001"/>
                    </a:xfrm>
                    <a:prstGeom prst="rect">
                      <a:avLst/>
                    </a:prstGeom>
                    <a:noFill/>
                    <a:ln>
                      <a:noFill/>
                    </a:ln>
                  </p:spPr>
                  <p:txBody>
                    <a:bodyPr spcFirstLastPara="1" wrap="square" lIns="91425" tIns="91440" rIns="91425" bIns="91440" anchor="ctr" anchorCtr="0">
                      <a:spAutoFit/>
                    </a:bodyPr>
                    <a:lstStyle/>
                    <a:p>
                      <a:pPr>
                        <a:lnSpc>
                          <a:spcPct val="107000"/>
                        </a:lnSpc>
                        <a:spcAft>
                          <a:spcPts val="800"/>
                        </a:spcAft>
                      </a:pPr>
                      <a:r>
                        <a:rPr lang="en-US" sz="1600" i="1">
                          <a:latin typeface="Cambria Math"/>
                          <a:ea typeface="Cambria Math"/>
                          <a:cs typeface="Cambria Math"/>
                        </a:rPr>
                        <a:t> </a:t>
                      </a:r>
                    </a:p>
                  </p:txBody>
                </p:sp>
                <p:sp>
                  <p:nvSpPr>
                    <p:cNvPr id="38" name="Rounded Rectangle 37"/>
                    <p:cNvSpPr/>
                    <p:nvPr/>
                  </p:nvSpPr>
                  <p:spPr>
                    <a:xfrm>
                      <a:off x="0" y="-32131"/>
                      <a:ext cx="7505356" cy="1467897"/>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91440" rIns="91425" bIns="91440" anchor="ctr" anchorCtr="0">
                      <a:spAutoFit/>
                    </a:bodyPr>
                    <a:lstStyle/>
                    <a:p>
                      <a:pPr marL="685800">
                        <a:lnSpc>
                          <a:spcPct val="107000"/>
                        </a:lnSpc>
                      </a:pPr>
                      <a:r>
                        <a:rPr lang="en-US" sz="2000" dirty="0">
                          <a:solidFill>
                            <a:srgbClr val="02619E"/>
                          </a:solidFill>
                          <a:latin typeface="Verdana" pitchFamily="34" charset="0"/>
                          <a:ea typeface="Verdana" pitchFamily="34" charset="0"/>
                          <a:cs typeface="Verdana"/>
                        </a:rPr>
                        <a:t>The range is a </a:t>
                      </a:r>
                      <a:r>
                        <a:rPr lang="en-US" sz="2000" b="1" dirty="0">
                          <a:solidFill>
                            <a:srgbClr val="02619E"/>
                          </a:solidFill>
                          <a:latin typeface="Verdana" pitchFamily="34" charset="0"/>
                          <a:ea typeface="Verdana" pitchFamily="34" charset="0"/>
                          <a:cs typeface="Verdana"/>
                        </a:rPr>
                        <a:t>measure of variability</a:t>
                      </a:r>
                      <a:r>
                        <a:rPr lang="en-US" sz="2000" dirty="0">
                          <a:solidFill>
                            <a:srgbClr val="02619E"/>
                          </a:solidFill>
                          <a:latin typeface="Verdana" pitchFamily="34" charset="0"/>
                          <a:ea typeface="Verdana" pitchFamily="34" charset="0"/>
                          <a:cs typeface="Verdana"/>
                        </a:rPr>
                        <a:t>. By comparing the ranges for two or more data sets, the data set that has more variability can be determined by finding which has a larger ___________.</a:t>
                      </a:r>
                      <a:r>
                        <a:rPr lang="en-US" sz="2000" i="1" dirty="0">
                          <a:latin typeface="Verdana" pitchFamily="34" charset="0"/>
                          <a:ea typeface="Verdana" pitchFamily="34" charset="0"/>
                          <a:cs typeface="Cambria Math"/>
                        </a:rPr>
                        <a:t> </a:t>
                      </a:r>
                    </a:p>
                  </p:txBody>
                </p:sp>
              </p:grpSp>
              <p:pic>
                <p:nvPicPr>
                  <p:cNvPr id="35" name="Shape 23"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83914" y="140504"/>
                    <a:ext cx="548640" cy="397432"/>
                  </a:xfrm>
                  <a:prstGeom prst="rect">
                    <a:avLst/>
                  </a:prstGeom>
                  <a:noFill/>
                  <a:ln>
                    <a:noFill/>
                  </a:ln>
                  <a:effectLst>
                    <a:outerShdw blurRad="50800" dist="38100" dir="2700000" algn="tl" rotWithShape="0">
                      <a:prstClr val="black">
                        <a:alpha val="40000"/>
                      </a:prstClr>
                    </a:outerShdw>
                  </a:effectLst>
                </p:spPr>
              </p:pic>
            </p:grpSp>
          </p:grpSp>
        </p:grpSp>
      </p:grpSp>
      <p:sp>
        <p:nvSpPr>
          <p:cNvPr id="21"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55</a:t>
            </a:r>
            <a:endParaRPr i="1" dirty="0">
              <a:latin typeface="Calibri"/>
              <a:ea typeface="Calibri"/>
              <a:cs typeface="Calibri"/>
              <a:sym typeface="Calibri"/>
            </a:endParaRPr>
          </a:p>
        </p:txBody>
      </p:sp>
      <p:pic>
        <p:nvPicPr>
          <p:cNvPr id="2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31135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31657" y="279289"/>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9.3.7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02207" y="20108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105382" y="1390490"/>
            <a:ext cx="10219182" cy="4401205"/>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Read each of the “I can” statements below. Check the boxes that best explain your understanding.</a:t>
            </a:r>
          </a:p>
          <a:p>
            <a:pPr marL="457200" indent="-457200">
              <a:buFont typeface="+mj-lt"/>
              <a:buAutoNum type="arabicPeriod"/>
            </a:pPr>
            <a:endParaRPr lang="en-PH" sz="2000" dirty="0">
              <a:latin typeface="Verdana"/>
              <a:ea typeface="Verdana"/>
              <a:cs typeface="Verdana" panose="020B0604030504040204" pitchFamily="34" charset="0"/>
            </a:endParaRPr>
          </a:p>
          <a:p>
            <a:pPr marL="914400" indent="-457200">
              <a:spcAft>
                <a:spcPts val="800"/>
              </a:spcAft>
              <a:buFont typeface="Wingdings" pitchFamily="2" charset="2"/>
              <a:buChar char="q"/>
            </a:pPr>
            <a:r>
              <a:rPr lang="en-US" sz="2000" dirty="0">
                <a:latin typeface="Verdana"/>
                <a:ea typeface="Verdana"/>
                <a:cs typeface="Verdana"/>
              </a:rPr>
              <a:t>I can find and interpret the median, mode, and range of a given data set.</a:t>
            </a:r>
          </a:p>
          <a:p>
            <a:pPr marL="914400" indent="-457200">
              <a:spcAft>
                <a:spcPts val="800"/>
              </a:spcAft>
              <a:buFont typeface="Wingdings" pitchFamily="2" charset="2"/>
              <a:buChar char="q"/>
            </a:pPr>
            <a:r>
              <a:rPr lang="en-US" sz="2000" dirty="0">
                <a:latin typeface="Verdana"/>
                <a:ea typeface="Verdana"/>
                <a:cs typeface="Verdana"/>
              </a:rPr>
              <a:t>I understand how to find the mean, median, and mode of a data set.</a:t>
            </a:r>
          </a:p>
          <a:p>
            <a:pPr marL="914400" indent="-457200">
              <a:spcAft>
                <a:spcPts val="800"/>
              </a:spcAft>
              <a:buFont typeface="Wingdings" pitchFamily="2" charset="2"/>
              <a:buChar char="q"/>
            </a:pPr>
            <a:r>
              <a:rPr lang="en-US" sz="2000" dirty="0">
                <a:latin typeface="Verdana"/>
                <a:ea typeface="Verdana"/>
                <a:cs typeface="Verdana"/>
              </a:rPr>
              <a:t>I need support on how to find the mean, median, and mode of a data set.</a:t>
            </a:r>
          </a:p>
          <a:p>
            <a:pPr marL="914400" indent="-457200">
              <a:spcAft>
                <a:spcPts val="800"/>
              </a:spcAft>
              <a:buFont typeface="Wingdings" pitchFamily="2" charset="2"/>
              <a:buChar char="q"/>
            </a:pPr>
            <a:r>
              <a:rPr lang="en-US" sz="2000" dirty="0">
                <a:latin typeface="Verdana"/>
                <a:ea typeface="Verdana"/>
                <a:cs typeface="Verdana"/>
              </a:rPr>
              <a:t>I understand how to find the range of a data set.</a:t>
            </a:r>
          </a:p>
          <a:p>
            <a:pPr marL="914400" indent="-457200">
              <a:spcAft>
                <a:spcPts val="800"/>
              </a:spcAft>
              <a:buFont typeface="Wingdings" pitchFamily="2" charset="2"/>
              <a:buChar char="q"/>
            </a:pPr>
            <a:r>
              <a:rPr lang="en-US" sz="2000" dirty="0">
                <a:latin typeface="Verdana"/>
                <a:ea typeface="Verdana"/>
                <a:cs typeface="Verdana"/>
              </a:rPr>
              <a:t>I need support on how to find the range of a data set.</a:t>
            </a:r>
          </a:p>
          <a:p>
            <a:pPr marL="914400" indent="-457200">
              <a:spcAft>
                <a:spcPts val="800"/>
              </a:spcAft>
              <a:buFont typeface="Wingdings" pitchFamily="2" charset="2"/>
              <a:buChar char="q"/>
            </a:pPr>
            <a:r>
              <a:rPr lang="en-US" sz="2000" dirty="0">
                <a:latin typeface="Verdana"/>
                <a:ea typeface="Verdana"/>
                <a:cs typeface="Verdana"/>
              </a:rPr>
              <a:t>I understand how to interpret measures of central tendency.</a:t>
            </a:r>
          </a:p>
          <a:p>
            <a:pPr marL="914400" indent="-457200">
              <a:buFont typeface="Wingdings" pitchFamily="2" charset="2"/>
              <a:buChar char="q"/>
            </a:pPr>
            <a:r>
              <a:rPr lang="en-US" sz="2000" dirty="0">
                <a:latin typeface="Verdana"/>
                <a:ea typeface="Verdana"/>
                <a:cs typeface="Verdana"/>
              </a:rPr>
              <a:t>I need support on how to interpret measures of central tendency.</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p:cNvSpPr txBox="1"/>
          <p:nvPr/>
        </p:nvSpPr>
        <p:spPr>
          <a:xfrm>
            <a:off x="85863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56</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24564"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1456</TotalTime>
  <Words>1687</Words>
  <Application>Microsoft Office PowerPoint</Application>
  <PresentationFormat>Widescreen</PresentationFormat>
  <Paragraphs>337</Paragraphs>
  <Slides>31</Slides>
  <Notes>31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Arial Black</vt:lpstr>
      <vt:lpstr>Calibri</vt:lpstr>
      <vt:lpstr>Cambria Math</vt:lpstr>
      <vt:lpstr>Century Gothic</vt:lpstr>
      <vt:lpstr>Courier New</vt:lpstr>
      <vt:lpstr>Verdana</vt:lpstr>
      <vt:lpstr>Wingdings</vt:lpstr>
      <vt:lpstr>1_Office Theme</vt:lpstr>
      <vt:lpstr>PowerPoint Presentation</vt:lpstr>
      <vt:lpstr>Benchmark</vt:lpstr>
      <vt:lpstr>PowerPoint Presentation</vt:lpstr>
      <vt:lpstr>PowerPoint Presentation</vt:lpstr>
      <vt:lpstr>Warm-Up</vt:lpstr>
      <vt:lpstr>PowerPoint Presentation</vt:lpstr>
      <vt:lpstr>Exploration</vt:lpstr>
      <vt:lpstr>PowerPoint Presentation</vt:lpstr>
      <vt:lpstr>PowerPoint Presentation</vt:lpstr>
      <vt:lpstr>Collaboration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40</cp:revision>
  <dcterms:created xsi:type="dcterms:W3CDTF">2015-03-17T18:51:18Z</dcterms:created>
  <dcterms:modified xsi:type="dcterms:W3CDTF">2022-07-01T23:42:31Z</dcterms:modified>
</cp:coreProperties>
</file>