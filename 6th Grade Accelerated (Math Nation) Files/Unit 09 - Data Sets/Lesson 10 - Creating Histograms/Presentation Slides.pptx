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288" r:id="rId10"/>
    <p:sldId id="356" r:id="rId11"/>
    <p:sldId id="357" r:id="rId12"/>
    <p:sldId id="363" r:id="rId13"/>
    <p:sldId id="367" r:id="rId14"/>
    <p:sldId id="366" r:id="rId15"/>
    <p:sldId id="323" r:id="rId16"/>
    <p:sldId id="324" r:id="rId17"/>
    <p:sldId id="365" r:id="rId18"/>
    <p:sldId id="364" r:id="rId19"/>
    <p:sldId id="362" r:id="rId20"/>
    <p:sldId id="369" r:id="rId21"/>
    <p:sldId id="368" r:id="rId22"/>
    <p:sldId id="302" r:id="rId23"/>
    <p:sldId id="303" r:id="rId24"/>
    <p:sldId id="360" r:id="rId25"/>
    <p:sldId id="306" r:id="rId26"/>
    <p:sldId id="30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48" autoAdjust="0"/>
    <p:restoredTop sz="94707" autoAdjust="0"/>
  </p:normalViewPr>
  <p:slideViewPr>
    <p:cSldViewPr snapToGrid="0">
      <p:cViewPr varScale="1">
        <p:scale>
          <a:sx n="59" d="100"/>
          <a:sy n="59" d="100"/>
        </p:scale>
        <p:origin x="90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33085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10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Creating Histograms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0015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70833" y="8703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33" y="3228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70833" y="1600200"/>
            <a:ext cx="90503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MA.6.DP.1.5 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Create box plots and histograms to represent sets of numerical data within real-world contexts.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15" y="32204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3265" y="7941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3265" y="1596390"/>
            <a:ext cx="97932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503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87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05034" y="1600200"/>
            <a:ext cx="918193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create a histogram to represent data.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012"/>
          <a:stretch/>
        </p:blipFill>
        <p:spPr bwMode="auto">
          <a:xfrm>
            <a:off x="5339255" y="1115858"/>
            <a:ext cx="5277571" cy="3745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7153" y="45816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9.10.1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853" y="2169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11965" y="1259900"/>
            <a:ext cx="98241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The portion size and </a:t>
            </a:r>
            <a:b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calorie count of </a:t>
            </a:r>
            <a:b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fast-food menu </a:t>
            </a:r>
            <a:b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items have changed </a:t>
            </a:r>
            <a:b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over time.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What are two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things you notice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about the graph?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What is one thing you wonder about the graph?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40407" y="-2973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9.10.2 Guided Instruction: Elements of Creating Histograms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107" y="17752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261137" y="1197681"/>
                <a:ext cx="948692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An earthworm farmer set up several containers of a certain species of earthworm so he could learn about their lengths. The farmer measured the lengths of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24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earthworms in one of the containers. Each length was measured in millimeters and recorded in the table.</a:t>
                </a:r>
                <a:endParaRPr lang="en-PH" sz="18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137" y="1197681"/>
                <a:ext cx="9486924" cy="1323439"/>
              </a:xfrm>
              <a:prstGeom prst="rect">
                <a:avLst/>
              </a:prstGeom>
              <a:blipFill>
                <a:blip r:embed="rId4"/>
                <a:stretch>
                  <a:fillRect l="-707" t="-2752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364018"/>
                  </p:ext>
                </p:extLst>
              </p:nvPr>
            </p:nvGraphicFramePr>
            <p:xfrm>
              <a:off x="2624016" y="3000709"/>
              <a:ext cx="7200000" cy="1620000"/>
            </p:xfrm>
            <a:graphic>
              <a:graphicData uri="http://schemas.openxmlformats.org/drawingml/2006/table">
                <a:tbl>
                  <a:tblPr bandRow="1"/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6.5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11.2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19.6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20.1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23.8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25.7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26.2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27.5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27.5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29.9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41.4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42.3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48.8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52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54.4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59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60.6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364018"/>
                  </p:ext>
                </p:extLst>
              </p:nvPr>
            </p:nvGraphicFramePr>
            <p:xfrm>
              <a:off x="1100016" y="3000709"/>
              <a:ext cx="7200000" cy="1620000"/>
            </p:xfrm>
            <a:graphic>
              <a:graphicData uri="http://schemas.openxmlformats.org/drawingml/2006/table">
                <a:tbl>
                  <a:tblPr bandRow="1"/>
                  <a:tblGrid>
                    <a:gridCol w="900000"/>
                    <a:gridCol w="900000"/>
                    <a:gridCol w="900000"/>
                    <a:gridCol w="900000"/>
                    <a:gridCol w="900000"/>
                    <a:gridCol w="900000"/>
                    <a:gridCol w="900000"/>
                    <a:gridCol w="900000"/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r="-698649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r="-598649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1361" r="-502721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99324" r="-399324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399324" r="-299324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9324" r="-199324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03401" r="-100680" b="-1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98649" b="-198876"/>
                          </a:stretch>
                        </a:blipFill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1136" r="-698649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101136" r="-598649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1361" t="-101136" r="-502721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99324" t="-101136" r="-399324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399324" t="-101136" r="-299324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9324" t="-101136" r="-199324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03401" t="-101136" r="-100680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98649" t="-101136" b="-101136"/>
                          </a:stretch>
                        </a:blipFill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98876" r="-69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198876" r="-59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1361" t="-198876" r="-502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99324" t="-198876" r="-399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399324" t="-198876" r="-299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9324" t="-198876" r="-199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03401" t="-198876" r="-100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98649" t="-19887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1630017" y="4912689"/>
            <a:ext cx="938928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Work with your partner to collect the pieces needed to create a histogram. </a:t>
            </a:r>
          </a:p>
          <a:p>
            <a:endParaRPr lang="en-US" sz="2000" i="1" dirty="0">
              <a:highlight>
                <a:srgbClr val="FFFFFF"/>
              </a:highlight>
              <a:latin typeface="Verdana"/>
              <a:ea typeface="Verdana"/>
              <a:cs typeface="Cambria Math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The range of the data is ___________.</a:t>
            </a:r>
          </a:p>
          <a:p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38470" y="1001931"/>
                <a:ext cx="9825524" cy="4415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Determine the </a:t>
                </a:r>
                <a:r>
                  <a:rPr lang="en-US" sz="2000" b="1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interval width</a:t>
                </a: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by dividing the range and the number of intervals desired. 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algn="ctr"/>
                <a:endParaRPr lang="en-PH" sz="2000" i="1" dirty="0">
                  <a:highlight>
                    <a:srgbClr val="FFFFFF"/>
                  </a:highlight>
                  <a:latin typeface="Cambria Math"/>
                  <a:ea typeface="Cambria Math"/>
                  <a:cs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PH" sz="2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highlight>
                                <a:srgbClr val="FFFFFF"/>
                              </a:highlight>
                              <a:latin typeface="Cambria Math"/>
                              <a:ea typeface="Cambria Math"/>
                              <a:cs typeface="Cambria Math"/>
                            </a:rPr>
                            <m:t>𝑅𝑎𝑛𝑔𝑒</m:t>
                          </m:r>
                        </m:num>
                        <m:den>
                          <m:r>
                            <a:rPr lang="en-US" sz="2000" i="1">
                              <a:highlight>
                                <a:srgbClr val="FFFFFF"/>
                              </a:highlight>
                              <a:latin typeface="Cambria Math"/>
                              <a:ea typeface="Cambria Math"/>
                              <a:cs typeface="Cambria Math"/>
                            </a:rPr>
                            <m:t>𝑁𝑢𝑚𝑏𝑒𝑟</m:t>
                          </m:r>
                          <m:r>
                            <a:rPr lang="en-US" sz="2000" i="1">
                              <a:highlight>
                                <a:srgbClr val="FFFFFF"/>
                              </a:highlight>
                              <a:latin typeface="Cambria Math"/>
                              <a:ea typeface="Cambria Math"/>
                              <a:cs typeface="Cambria Math"/>
                            </a:rPr>
                            <m:t> </m:t>
                          </m:r>
                          <m:r>
                            <a:rPr lang="en-US" sz="2000" i="1">
                              <a:highlight>
                                <a:srgbClr val="FFFFFF"/>
                              </a:highlight>
                              <a:latin typeface="Cambria Math"/>
                              <a:ea typeface="Cambria Math"/>
                              <a:cs typeface="Cambria Math"/>
                            </a:rPr>
                            <m:t>𝑜𝑓</m:t>
                          </m:r>
                          <m:r>
                            <a:rPr lang="en-US" sz="2000" i="1">
                              <a:highlight>
                                <a:srgbClr val="FFFFFF"/>
                              </a:highlight>
                              <a:latin typeface="Cambria Math"/>
                              <a:ea typeface="Cambria Math"/>
                              <a:cs typeface="Cambria Math"/>
                            </a:rPr>
                            <m:t> </m:t>
                          </m:r>
                          <m:r>
                            <a:rPr lang="en-US" sz="2000" i="1">
                              <a:highlight>
                                <a:srgbClr val="FFFFFF"/>
                              </a:highlight>
                              <a:latin typeface="Cambria Math"/>
                              <a:ea typeface="Cambria Math"/>
                              <a:cs typeface="Cambria Math"/>
                            </a:rPr>
                            <m:t>𝐼𝑛𝑡𝑒𝑟𝑣𝑎𝑙𝑠</m:t>
                          </m:r>
                        </m:den>
                      </m:f>
                      <m:r>
                        <a:rPr lang="en-US" sz="2000" i="1">
                          <a:highlight>
                            <a:srgbClr val="FFFFFF"/>
                          </a:highlight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en-US" sz="2000" i="1">
                          <a:highlight>
                            <a:srgbClr val="FFFFFF"/>
                          </a:highlight>
                          <a:latin typeface="Cambria Math"/>
                          <a:ea typeface="Cambria Math"/>
                          <a:cs typeface="Cambria Math"/>
                        </a:rPr>
                        <m:t>𝐼𝑛𝑡𝑒𝑟𝑣𝑎𝑙</m:t>
                      </m:r>
                      <m:r>
                        <a:rPr lang="en-US" sz="2000" i="1">
                          <a:highlight>
                            <a:srgbClr val="FFFFFF"/>
                          </a:highlight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US" sz="2000" i="1">
                          <a:highlight>
                            <a:srgbClr val="FFFFFF"/>
                          </a:highlight>
                          <a:latin typeface="Cambria Math"/>
                          <a:ea typeface="Cambria Math"/>
                          <a:cs typeface="Cambria Math"/>
                        </a:rPr>
                        <m:t>𝑊𝑖𝑑𝑡h</m:t>
                      </m:r>
                    </m:oMath>
                  </m:oMathPara>
                </a14:m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 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Discuss three different numbers of intervals you could use with your partner, and how using a different number of intervals would affect the histogram.</a:t>
                </a:r>
              </a:p>
              <a:p>
                <a:pPr marL="889000" indent="-457200">
                  <a:buFont typeface="+mj-lt"/>
                  <a:buAutoNum type="alphaLcPeriod" startAt="2"/>
                </a:pPr>
                <a:endParaRPr lang="en-US" sz="2000" dirty="0">
                  <a:highlight>
                    <a:srgbClr val="FFFFFF"/>
                  </a:highlight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endParaRPr lang="en-US" sz="2000" dirty="0">
                  <a:highlight>
                    <a:srgbClr val="FFFFFF"/>
                  </a:highlight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For this histogram, use six intervals. Divide the range by _____ and round up to the nearest whole number. This gives an </a:t>
                </a:r>
                <a:r>
                  <a:rPr lang="en-US" sz="2000" b="1" i="1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interval width</a:t>
                </a:r>
                <a:r>
                  <a:rPr lang="en-US" sz="2000" i="1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</a:t>
                </a: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of _______.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470" y="1001931"/>
                <a:ext cx="9825524" cy="4415824"/>
              </a:xfrm>
              <a:prstGeom prst="rect">
                <a:avLst/>
              </a:prstGeom>
              <a:blipFill rotWithShape="0">
                <a:blip r:embed="rId3"/>
                <a:stretch>
                  <a:fillRect l="-683" t="-690" r="-1428" b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85461" y="1748700"/>
                <a:ext cx="9771744" cy="4016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Use the steps below to create a frequency table to represent the data. 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 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8525" indent="-457200">
                  <a:spcAft>
                    <a:spcPts val="1200"/>
                  </a:spcAft>
                  <a:buFont typeface="+mj-lt"/>
                  <a:buAutoNum type="alphaLcPeriod" startAt="4"/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Complete each statement. 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3763">
                  <a:spcAft>
                    <a:spcPts val="600"/>
                  </a:spcAft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The minimum value is _______, so create the first interval that starts at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6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(or less). 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3763"/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To get the highest value in the interval, add the interval width of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12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.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3763"/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 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3763"/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The first interval is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6−18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, the second interval is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18−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____.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 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With your partner, discuss if the value of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18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can be included in both intervals. Explain your conclusion.</a:t>
                </a:r>
                <a:endParaRPr lang="en-PH" sz="20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461" y="1748700"/>
                <a:ext cx="9771744" cy="4016484"/>
              </a:xfrm>
              <a:prstGeom prst="rect">
                <a:avLst/>
              </a:prstGeom>
              <a:blipFill rotWithShape="0">
                <a:blip r:embed="rId3"/>
                <a:stretch>
                  <a:fillRect l="-686" t="-910" r="-1061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388750" y="382204"/>
            <a:ext cx="7560000" cy="1213721"/>
            <a:chOff x="864750" y="382203"/>
            <a:chExt cx="7560000" cy="1213721"/>
          </a:xfrm>
        </p:grpSpPr>
        <p:sp>
          <p:nvSpPr>
            <p:cNvPr id="6" name="Rectangle: Rounded Corners 51"/>
            <p:cNvSpPr/>
            <p:nvPr/>
          </p:nvSpPr>
          <p:spPr>
            <a:xfrm>
              <a:off x="864750" y="382203"/>
              <a:ext cx="7560000" cy="1213721"/>
            </a:xfrm>
            <a:prstGeom prst="roundRect">
              <a:avLst/>
            </a:prstGeom>
            <a:solidFill>
              <a:srgbClr val="E2EED5"/>
            </a:solidFill>
            <a:ln>
              <a:solidFill>
                <a:srgbClr val="E2EFD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72000" rIns="91440" bIns="36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633413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Cambria Math"/>
                  <a:cs typeface="Cambria Math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Cambria Math"/>
                  <a:cs typeface="Cambria Math"/>
                </a:rPr>
                <a:t>frequency table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Cambria Math"/>
                  <a:cs typeface="Cambria Math"/>
                </a:rPr>
                <a:t> is a table that shows how often each item, number, or range of numbers occurs in a set of data.</a:t>
              </a:r>
              <a:endParaRPr lang="en-PH" sz="2000" i="1" dirty="0"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7" name="Shape 15" descr="Icon&#10;&#10;Description automatically generated"/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9840" y="495232"/>
              <a:ext cx="548640" cy="5492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51722" y="373249"/>
            <a:ext cx="96392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8525" indent="-457200">
              <a:buFont typeface="+mj-lt"/>
              <a:buAutoNum type="alphaLcPeriod" startAt="6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Complete the </a:t>
            </a:r>
            <a:r>
              <a:rPr lang="en-US" sz="2000" b="1" dirty="0">
                <a:latin typeface="Verdana" pitchFamily="34" charset="0"/>
                <a:ea typeface="Verdana" pitchFamily="34" charset="0"/>
                <a:cs typeface="Verdana"/>
              </a:rPr>
              <a:t>Length (mm) </a:t>
            </a: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column of the table shown to indicate the intervals.</a:t>
            </a: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indent="-457200">
              <a:buFont typeface="+mj-lt"/>
              <a:buAutoNum type="alphaLcPeriod" startAt="6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With your partner, determine the frequency values and fill in the </a:t>
            </a:r>
            <a:r>
              <a:rPr lang="en-US" sz="2000" b="1" dirty="0">
                <a:latin typeface="Verdana" pitchFamily="34" charset="0"/>
                <a:ea typeface="Verdana" pitchFamily="34" charset="0"/>
                <a:cs typeface="Verdana"/>
              </a:rPr>
              <a:t>Frequency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 column of the table.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243500"/>
                  </p:ext>
                </p:extLst>
              </p:nvPr>
            </p:nvGraphicFramePr>
            <p:xfrm>
              <a:off x="3010886" y="1212234"/>
              <a:ext cx="5760000" cy="3708000"/>
            </p:xfrm>
            <a:graphic>
              <a:graphicData uri="http://schemas.openxmlformats.org/drawingml/2006/table">
                <a:tbl>
                  <a:tblPr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Length (mm)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Frequency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915988" indent="0"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6−18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800100"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FFFF"/>
                                    </a:highlight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18−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328295"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328295"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243500"/>
                  </p:ext>
                </p:extLst>
              </p:nvPr>
            </p:nvGraphicFramePr>
            <p:xfrm>
              <a:off x="1486886" y="1212234"/>
              <a:ext cx="5760000" cy="3708000"/>
            </p:xfrm>
            <a:graphic>
              <a:graphicData uri="http://schemas.openxmlformats.org/drawingml/2006/table">
                <a:tbl>
                  <a:tblPr bandRow="1"/>
                  <a:tblGrid>
                    <a:gridCol w="2880000"/>
                    <a:gridCol w="2880000"/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Length (mm)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Frequency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1" t="-88636" r="-99789" b="-5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1" t="-186517" r="-99789" b="-3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marL="328295"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marL="328295"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i="0" dirty="0">
                              <a:solidFill>
                                <a:srgbClr val="000000"/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3221" y="2735569"/>
            <a:ext cx="5814146" cy="4023974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79443" y="373250"/>
            <a:ext cx="99837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In a histogram, the bars touch. The variable measured is placed on the horizontal axis, and frequency is placed on the vertical axis.</a:t>
            </a:r>
          </a:p>
          <a:p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889000" indent="-457200">
              <a:buFont typeface="+mj-lt"/>
              <a:buAutoNum type="alphaLcPeriod" startAt="8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Label the horizontal and vertical axis of the grid below. Then, use the grid to create the histogram to display the lengths of earthworms in millimeters.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417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73426" y="383758"/>
            <a:ext cx="10195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The same data could be displayed in this histogram.</a:t>
            </a:r>
            <a:endParaRPr lang="en-PH" sz="18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8" name="Picture 7" descr="Chart, histogram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5487" y="909416"/>
            <a:ext cx="6271692" cy="38006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3426" y="4719621"/>
            <a:ext cx="1019581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0" indent="-45720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With your partner, discuss the differences you notice about this histogram from the one you created.</a:t>
            </a:r>
          </a:p>
          <a:p>
            <a:pPr marL="889000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indent="-45720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Explain which histogram better displays the data. 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993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6191" y="379002"/>
            <a:ext cx="1001028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lvl="1" indent="-457200"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Ask two classmates the reasons they listed for which histogram better displays the data. Record their choice and write your summary of their reason. </a:t>
            </a:r>
            <a:r>
              <a:rPr lang="en-US" sz="2000" i="1" dirty="0">
                <a:latin typeface="Verdana" pitchFamily="34" charset="0"/>
                <a:ea typeface="Verdana" pitchFamily="34" charset="0"/>
                <a:cs typeface="Verdana"/>
              </a:rPr>
              <a:t>You are the only person who should write in the first two columns of the table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. Have the person initial next to your summary stating that your summary was correct.</a:t>
            </a: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1" indent="-457200">
              <a:spcAft>
                <a:spcPts val="800"/>
              </a:spcAft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Explain whether the data has the characteristics that will result in truthful data.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591465"/>
              </p:ext>
            </p:extLst>
          </p:nvPr>
        </p:nvGraphicFramePr>
        <p:xfrm>
          <a:off x="3018605" y="2445430"/>
          <a:ext cx="6840000" cy="2736000"/>
        </p:xfrm>
        <a:graphic>
          <a:graphicData uri="http://schemas.openxmlformats.org/drawingml/2006/table">
            <a:tbl>
              <a:tblPr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Histogram Choice</a:t>
                      </a: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My Summary of </a:t>
                      </a:r>
                      <a:b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</a:b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their Reason</a:t>
                      </a: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Initials</a:t>
                      </a: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PH" sz="2000" i="1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PH" sz="2000" i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8143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5899" y="-826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9.10.3 Guided Practice: Creating Histograms 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091" y="27968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455899" y="1386026"/>
                <a:ext cx="953623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The data shows the number of </a:t>
                </a:r>
                <a:r>
                  <a:rPr lang="en-US" sz="2000" dirty="0" err="1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Snapchats</a:t>
                </a: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 sent by </a:t>
                </a:r>
                <a:b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12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 seventh-grade students in one day.</a:t>
                </a:r>
              </a:p>
              <a:p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highlight>
                            <a:srgbClr val="FFFFFF"/>
                          </a:highlight>
                          <a:latin typeface="Cambria Math"/>
                          <a:ea typeface="Verdana"/>
                          <a:cs typeface="Verdana"/>
                        </a:rPr>
                        <m:t>99, 97, 94, 88, 84, 81, 80, 77, 71, 63, 60, 54</m:t>
                      </m:r>
                    </m:oMath>
                  </m:oMathPara>
                </a14:m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Complete the following to create a frequency table and a histogram to represent the number of </a:t>
                </a:r>
                <a:r>
                  <a:rPr lang="en-US" sz="2000" dirty="0" err="1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Snapchats</a:t>
                </a: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 sent by seventh-grade students in one day.</a:t>
                </a:r>
              </a:p>
              <a:p>
                <a:pPr marL="457200"/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How many intervals are appropriate to use for this histogram?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List three possible interval widths.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899" y="1386026"/>
                <a:ext cx="9536234" cy="4093428"/>
              </a:xfrm>
              <a:prstGeom prst="rect">
                <a:avLst/>
              </a:prstGeom>
              <a:blipFill rotWithShape="0">
                <a:blip r:embed="rId4"/>
                <a:stretch>
                  <a:fillRect l="-703" t="-893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25218" y="520394"/>
            <a:ext cx="9306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Using one of the possible interval widths, create the frequency table and histogram of the data. Make sure to label both the horizontal and vertical axis of the histogram.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157460"/>
              </p:ext>
            </p:extLst>
          </p:nvPr>
        </p:nvGraphicFramePr>
        <p:xfrm>
          <a:off x="3048000" y="2006600"/>
          <a:ext cx="6096000" cy="4325112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 err="1">
                          <a:solidFill>
                            <a:srgbClr val="2A2B2D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Snapchats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2A2B2D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Frequency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0129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19201" y="520394"/>
            <a:ext cx="95181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Find a classmate who used a different interval width and compare your histograms. Summarize your discussion on what you notice about the two different graphs.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 descr="Table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31" b="9659"/>
          <a:stretch/>
        </p:blipFill>
        <p:spPr>
          <a:xfrm>
            <a:off x="3269953" y="314206"/>
            <a:ext cx="5802760" cy="4042642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1391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3183" y="520394"/>
                <a:ext cx="101163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Raisa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used data she collected about the resting heart rates, in beats per minute (</a:t>
                </a: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bpm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), of </a:t>
                </a:r>
                <a:r>
                  <a:rPr lang="en-US" sz="2000" dirty="0">
                    <a:latin typeface="Cambria Math"/>
                    <a:ea typeface="Verdana"/>
                    <a:cs typeface="Verdana"/>
                  </a:rPr>
                  <a:t>22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classmates to create a histogram. The heart rates are listed below.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 algn="ctr">
                  <a:buAutoNum type="arabicPlain" startAt="89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87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85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84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90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79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83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85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86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88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84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81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88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85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83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 algn="ctr">
                  <a:buAutoNum type="arabicPlain" startAt="83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86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82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83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86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82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84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Verdana"/>
                    <a:cs typeface="Verdana"/>
                  </a:rPr>
                  <a:t>She created a frequency table and used it to make a histogram. The frequency table and histogram </a:t>
                </a: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Raisa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created are shown below. Unfortunately, </a:t>
                </a: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Raisa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noticed the data she collected was not accurately displayed.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83" y="520394"/>
                <a:ext cx="10116300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663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3547635"/>
                  </p:ext>
                </p:extLst>
              </p:nvPr>
            </p:nvGraphicFramePr>
            <p:xfrm>
              <a:off x="2598505" y="4167096"/>
              <a:ext cx="7315200" cy="18897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Heart Rate (</a:t>
                          </a:r>
                          <a:r>
                            <a:rPr lang="en-US" sz="2000" b="1" i="0" dirty="0" err="1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bpm</a:t>
                          </a: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)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Frequency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Heart Rate (</a:t>
                          </a:r>
                          <a:r>
                            <a:rPr lang="en-US" sz="2000" b="1" i="0" dirty="0" err="1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bpm</a:t>
                          </a: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)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Frequency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  <a:ea typeface="Verdana" pitchFamily="34" charset="0"/>
                                  </a:rPr>
                                  <m:t>79−81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85−87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81−83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87−89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83−85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89−91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3547635"/>
                  </p:ext>
                </p:extLst>
              </p:nvPr>
            </p:nvGraphicFramePr>
            <p:xfrm>
              <a:off x="1074505" y="4167096"/>
              <a:ext cx="7315200" cy="18897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/>
                    <a:gridCol w="1828800"/>
                    <a:gridCol w="1828800"/>
                    <a:gridCol w="1828800"/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Heart Rate (</a:t>
                          </a:r>
                          <a:r>
                            <a:rPr lang="en-US" sz="2000" b="1" i="0" dirty="0" err="1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bpm</a:t>
                          </a:r>
                          <a:r>
                            <a:rPr lang="en-US" sz="2000" b="1" i="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)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Frequency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Heart Rate (</a:t>
                          </a:r>
                          <a:r>
                            <a:rPr lang="en-US" sz="2000" b="1" i="0" dirty="0" err="1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bpm</a:t>
                          </a:r>
                          <a:r>
                            <a:rPr lang="en-US" sz="2000" b="1" i="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)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Frequency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84615" r="-300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84615" r="-200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84615" r="-100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184615" r="-333" b="-200000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84615" r="-300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284615" r="-200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284615" r="-100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284615" r="-333" b="-100000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84615" r="-300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384615" r="-200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384615" r="-100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000" t="-384615" r="-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0274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88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98713" y="520394"/>
            <a:ext cx="97452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what </a:t>
            </a:r>
            <a:r>
              <a:rPr lang="en-US" sz="2000" dirty="0" err="1">
                <a:latin typeface="Verdana"/>
                <a:ea typeface="Verdana"/>
                <a:cs typeface="Verdana"/>
              </a:rPr>
              <a:t>Raisa</a:t>
            </a:r>
            <a:r>
              <a:rPr lang="en-US" sz="2000" dirty="0">
                <a:latin typeface="Verdana"/>
                <a:ea typeface="Verdana"/>
                <a:cs typeface="Verdana"/>
              </a:rPr>
              <a:t> did wrong.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30"/>
          <a:stretch/>
        </p:blipFill>
        <p:spPr bwMode="auto">
          <a:xfrm>
            <a:off x="4009158" y="473073"/>
            <a:ext cx="4324350" cy="3832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7134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able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9" b="9031"/>
          <a:stretch/>
        </p:blipFill>
        <p:spPr>
          <a:xfrm>
            <a:off x="4208721" y="3360245"/>
            <a:ext cx="4552752" cy="3188883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38471" y="350064"/>
            <a:ext cx="994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Correct </a:t>
            </a:r>
            <a:r>
              <a:rPr lang="en-US" sz="2000" dirty="0" err="1">
                <a:latin typeface="Verdana"/>
                <a:ea typeface="Verdana"/>
                <a:cs typeface="Verdana"/>
              </a:rPr>
              <a:t>Raisa’s</a:t>
            </a:r>
            <a:r>
              <a:rPr lang="en-US" sz="2000" dirty="0">
                <a:latin typeface="Verdana"/>
                <a:ea typeface="Verdana"/>
                <a:cs typeface="Verdana"/>
              </a:rPr>
              <a:t> mistake and create a frequency table and histogram that correctly displays the data she collected.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528603"/>
              </p:ext>
            </p:extLst>
          </p:nvPr>
        </p:nvGraphicFramePr>
        <p:xfrm>
          <a:off x="3046596" y="1242906"/>
          <a:ext cx="7315200" cy="18135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Heart Rate (</a:t>
                      </a: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bpm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)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Frequency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Heart Rate (</a:t>
                      </a:r>
                      <a:r>
                        <a:rPr lang="en-US" sz="2000" b="1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bpm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)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Frequency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0065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57153" y="11411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9.10.4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853" y="1141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57153" y="1072261"/>
                <a:ext cx="953372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Sergio noticed that a bag of chips advertised that the serving size was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Verdana"/>
                        <a:cs typeface="Verdana"/>
                      </a:rPr>
                      <m:t>15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chips and that the bag contained approximately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Verdana"/>
                        <a:cs typeface="Verdana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servings. He counted the number of chips in a sample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Verdana"/>
                        <a:cs typeface="Verdana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bags and recorded the total number of chips below.</a:t>
                </a:r>
              </a:p>
              <a:p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  <a:ea typeface="Verdana"/>
                          <a:cs typeface="Verdana"/>
                        </a:rPr>
                        <m:t>48, 51, 52, 55, 56, 58, 59, 60, 61, 62, 65, 67</m:t>
                      </m:r>
                    </m:oMath>
                  </m:oMathPara>
                </a14:m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/>
                    <a:ea typeface="Verdana"/>
                    <a:cs typeface="Verdana"/>
                  </a:rPr>
                  <a:t>Create a frequency table and histogram for the number of chips in a bag.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153" y="1072261"/>
                <a:ext cx="9533726" cy="3785652"/>
              </a:xfrm>
              <a:prstGeom prst="rect">
                <a:avLst/>
              </a:prstGeom>
              <a:blipFill rotWithShape="0">
                <a:blip r:embed="rId4"/>
                <a:stretch>
                  <a:fillRect l="-959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48567"/>
              </p:ext>
            </p:extLst>
          </p:nvPr>
        </p:nvGraphicFramePr>
        <p:xfrm>
          <a:off x="2007765" y="339162"/>
          <a:ext cx="3657600" cy="42672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Number of Chips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Frequency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6" descr="Table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734" b="8326"/>
          <a:stretch/>
        </p:blipFill>
        <p:spPr>
          <a:xfrm>
            <a:off x="5870396" y="913804"/>
            <a:ext cx="4509330" cy="3174104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7153" y="184127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9.10.5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853" y="10592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676885" y="1027437"/>
            <a:ext cx="9094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was the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muddiest</a:t>
            </a:r>
            <a:r>
              <a:rPr lang="en-US" sz="2000" dirty="0">
                <a:latin typeface="Verdana"/>
                <a:ea typeface="Verdana"/>
                <a:cs typeface="Verdana"/>
              </a:rPr>
              <a:t> (most difficult or confusing) point in today’s lesson on creating histograms?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image2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2268" y="2083753"/>
            <a:ext cx="3847465" cy="2690495"/>
          </a:xfrm>
          <a:prstGeom prst="rect">
            <a:avLst/>
          </a:prstGeom>
          <a:ln/>
        </p:spPr>
      </p:pic>
      <p:sp>
        <p:nvSpPr>
          <p:cNvPr id="11" name="Google Shape;282;g104476d1465_1_17"/>
          <p:cNvSpPr txBox="1"/>
          <p:nvPr/>
        </p:nvSpPr>
        <p:spPr>
          <a:xfrm>
            <a:off x="87194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7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1284</Words>
  <Application>Microsoft Office PowerPoint</Application>
  <PresentationFormat>Widescreen</PresentationFormat>
  <Paragraphs>254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9, Lesson 10  Creating Histograms  Volume 2, pg. 96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37</cp:revision>
  <dcterms:created xsi:type="dcterms:W3CDTF">2015-03-17T18:51:18Z</dcterms:created>
  <dcterms:modified xsi:type="dcterms:W3CDTF">2022-08-22T00:47:20Z</dcterms:modified>
</cp:coreProperties>
</file>