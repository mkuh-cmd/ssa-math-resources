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62" r:id="rId10"/>
    <p:sldId id="363" r:id="rId11"/>
    <p:sldId id="364" r:id="rId12"/>
    <p:sldId id="302" r:id="rId13"/>
    <p:sldId id="303" r:id="rId14"/>
    <p:sldId id="360" r:id="rId15"/>
    <p:sldId id="306" r:id="rId16"/>
    <p:sldId id="30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6"/>
    <p:restoredTop sz="94695"/>
  </p:normalViewPr>
  <p:slideViewPr>
    <p:cSldViewPr snapToGrid="0">
      <p:cViewPr varScale="1">
        <p:scale>
          <a:sx n="52" d="100"/>
          <a:sy n="52" d="100"/>
        </p:scale>
        <p:origin x="78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1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59743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833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833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833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Statistical Questions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47</a:t>
            </a:r>
            <a:b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2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205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26949" y="9398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449" y="32976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26949" y="1600200"/>
            <a:ext cx="913810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MA.6.DP.1.1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2400" dirty="0">
                <a:solidFill>
                  <a:srgbClr val="000000"/>
                </a:solidFill>
                <a:latin typeface="Verdana"/>
                <a:ea typeface="Cambria Math"/>
                <a:cs typeface="Cambria Math"/>
              </a:rPr>
              <a:t>Recognize and formulate a statistical question that would generate numerical data.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787" y="3872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5437" y="14465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95437" y="1596390"/>
            <a:ext cx="978888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7206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044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07206" y="1600200"/>
            <a:ext cx="917758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8788" indent="-458788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latin typeface="Verdana"/>
                <a:ea typeface="Verdana"/>
                <a:cs typeface="Verdana"/>
              </a:rPr>
              <a:t>I</a:t>
            </a:r>
            <a:r>
              <a:rPr lang="en-US" sz="2400" dirty="0">
                <a:latin typeface="Verdana"/>
                <a:ea typeface="Cambria Math"/>
                <a:cs typeface="Cambria Math"/>
              </a:rPr>
              <a:t> can write statistical questions that generate numerical data.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9325" y="23551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9.2.1 Warm-Up: Math Talk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25" y="1573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59325" y="1185971"/>
            <a:ext cx="952938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Cambria Math"/>
                <a:cs typeface="Calibri"/>
              </a:rPr>
              <a:t>In the spaces below, write three statistical questions that you could use today to collect data from your classmates. Be sure at least one of your questions will collect numerical data.</a:t>
            </a:r>
          </a:p>
          <a:p>
            <a:endParaRPr lang="en-PH" sz="2000" dirty="0">
              <a:latin typeface="Verdana"/>
              <a:ea typeface="Cambria Math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n-PH" sz="2000" dirty="0">
                <a:latin typeface="Verdana"/>
                <a:ea typeface="Cambria Math"/>
                <a:cs typeface="Calibri"/>
              </a:rPr>
              <a:t>_______________________________________________</a:t>
            </a:r>
            <a:br>
              <a:rPr lang="en-PH" sz="2000" dirty="0">
                <a:latin typeface="Verdana"/>
                <a:ea typeface="Cambria Math"/>
                <a:cs typeface="Calibri"/>
              </a:rPr>
            </a:br>
            <a:br>
              <a:rPr lang="en-PH" sz="2000" dirty="0">
                <a:latin typeface="Verdana"/>
                <a:ea typeface="Cambria Math"/>
                <a:cs typeface="Calibri"/>
              </a:rPr>
            </a:br>
            <a:r>
              <a:rPr lang="en-PH" sz="2000" dirty="0">
                <a:latin typeface="Verdana"/>
                <a:ea typeface="Cambria Math"/>
                <a:cs typeface="Calibri"/>
              </a:rPr>
              <a:t>_______________________________________________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n-PH" sz="2000" dirty="0">
                <a:latin typeface="Verdana"/>
                <a:ea typeface="Cambria Math"/>
                <a:cs typeface="Calibri"/>
              </a:rPr>
              <a:t>_______________________________________________</a:t>
            </a:r>
            <a:br>
              <a:rPr lang="en-PH" sz="2000" dirty="0">
                <a:latin typeface="Verdana"/>
                <a:ea typeface="Cambria Math"/>
                <a:cs typeface="Calibri"/>
              </a:rPr>
            </a:br>
            <a:br>
              <a:rPr lang="en-PH" sz="2000" dirty="0">
                <a:latin typeface="Verdana"/>
                <a:ea typeface="Cambria Math"/>
                <a:cs typeface="Calibri"/>
              </a:rPr>
            </a:br>
            <a:r>
              <a:rPr lang="en-PH" sz="2000" dirty="0">
                <a:latin typeface="Verdana"/>
                <a:ea typeface="Cambria Math"/>
                <a:cs typeface="Calibri"/>
              </a:rPr>
              <a:t>_______________________________________________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n-PH" sz="2000" dirty="0">
                <a:latin typeface="Verdana"/>
                <a:ea typeface="Cambria Math"/>
                <a:cs typeface="Calibri"/>
              </a:rPr>
              <a:t>_______________________________________________</a:t>
            </a:r>
            <a:br>
              <a:rPr lang="en-PH" sz="2000" dirty="0">
                <a:latin typeface="Verdana"/>
                <a:ea typeface="Cambria Math"/>
                <a:cs typeface="Calibri"/>
              </a:rPr>
            </a:br>
            <a:br>
              <a:rPr lang="en-PH" sz="2000" dirty="0">
                <a:latin typeface="Verdana"/>
                <a:ea typeface="Cambria Math"/>
                <a:cs typeface="Calibri"/>
              </a:rPr>
            </a:br>
            <a:r>
              <a:rPr lang="en-PH" sz="2000" dirty="0">
                <a:latin typeface="Verdana"/>
                <a:ea typeface="Cambria Math"/>
                <a:cs typeface="Calibri"/>
              </a:rPr>
              <a:t>_______________________________________________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35627" y="317875"/>
            <a:ext cx="8019300" cy="59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2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9.2.2 Activity: Gallery Walk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819" y="23842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1335627" y="1214575"/>
            <a:ext cx="97767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libri"/>
              </a:rPr>
              <a:t>With your partner, discuss the following questions. 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libri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Cambria Math"/>
                <a:cs typeface="Cambria Math"/>
              </a:rPr>
              <a:t>How do you know the questions you wrote are statistical questions?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Cambria Math"/>
                <a:cs typeface="Cambria Math"/>
              </a:rPr>
              <a:t>How can you determine which of the questions will generate numerical data?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Cambria Math"/>
                <a:cs typeface="Calibri"/>
              </a:rPr>
              <a:t>With your partner, determine the two best questions whose answers provide </a:t>
            </a:r>
            <a:r>
              <a:rPr lang="en-US" sz="2000" b="1" i="1" dirty="0">
                <a:latin typeface="Verdana"/>
                <a:ea typeface="Cambria Math"/>
                <a:cs typeface="Calibri"/>
              </a:rPr>
              <a:t>numerical dat</a:t>
            </a:r>
            <a:r>
              <a:rPr lang="en-US" sz="2000" b="1" dirty="0">
                <a:latin typeface="Verdana"/>
                <a:ea typeface="Cambria Math"/>
                <a:cs typeface="Calibri"/>
              </a:rPr>
              <a:t>a </a:t>
            </a:r>
            <a:r>
              <a:rPr lang="en-US" sz="2000" dirty="0">
                <a:latin typeface="Verdana"/>
                <a:ea typeface="Cambria Math"/>
                <a:cs typeface="Calibri"/>
              </a:rPr>
              <a:t>from the six questions you each created.</a:t>
            </a:r>
            <a:br>
              <a:rPr lang="en-US" sz="2000" dirty="0">
                <a:latin typeface="Verdana"/>
                <a:ea typeface="Cambria Math"/>
                <a:cs typeface="Calibri"/>
              </a:rPr>
            </a:br>
            <a:br>
              <a:rPr lang="en-US" sz="2000" dirty="0">
                <a:latin typeface="Verdana"/>
                <a:ea typeface="Cambria Math"/>
                <a:cs typeface="Calibri"/>
              </a:rPr>
            </a:br>
            <a:r>
              <a:rPr lang="en-US" sz="2000" dirty="0">
                <a:latin typeface="Verdana"/>
                <a:ea typeface="Cambria Math"/>
                <a:cs typeface="Calibri"/>
              </a:rPr>
              <a:t>Determine which of these two questions each partner will use to collect data about your class.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54243" y="520394"/>
            <a:ext cx="10034180" cy="4213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 Math"/>
              </a:rPr>
              <a:t>Use your statistical question to collect some numerical data following the directions below.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 This data will be used in a later lesson, so keep it safe.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indent="-457200">
              <a:lnSpc>
                <a:spcPct val="107000"/>
              </a:lnSpc>
              <a:spcAft>
                <a:spcPts val="1200"/>
              </a:spcAft>
              <a:buFont typeface="+mj-lt"/>
              <a:buAutoNum type="alphaL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 Math"/>
              </a:rPr>
              <a:t>Write your statistical question in the top of the data chart that you chose in the previous problem.</a:t>
            </a:r>
            <a:endParaRPr lang="en-US" sz="24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914400" indent="-457200">
              <a:lnSpc>
                <a:spcPct val="107000"/>
              </a:lnSpc>
              <a:spcAft>
                <a:spcPts val="1200"/>
              </a:spcAft>
              <a:buFont typeface="+mj-lt"/>
              <a:buAutoNum type="alphaL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 Math"/>
              </a:rPr>
              <a:t>Place the data chart in a location that is easily accessible by your classmates.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 Math"/>
              </a:rPr>
              <a:t>Follow your teacher’s directions to answer each group’s question.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271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578004"/>
              </p:ext>
            </p:extLst>
          </p:nvPr>
        </p:nvGraphicFramePr>
        <p:xfrm>
          <a:off x="2562225" y="520393"/>
          <a:ext cx="7210424" cy="55321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802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2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Cambria Math"/>
                        </a:rPr>
                        <a:t>My Statistical Question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Name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Answer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Name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Answer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9.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10.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3.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11.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4.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12.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5.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13.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6.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14.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7.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15.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8.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16.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821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085101"/>
              </p:ext>
            </p:extLst>
          </p:nvPr>
        </p:nvGraphicFramePr>
        <p:xfrm>
          <a:off x="2562225" y="520393"/>
          <a:ext cx="7210424" cy="45567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802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2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 pitchFamily="34" charset="0"/>
                          <a:ea typeface="Verdana" pitchFamily="34" charset="0"/>
                          <a:cs typeface="Cambria Math"/>
                        </a:rPr>
                        <a:t>My Statistical Question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Name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Answer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Name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Cambria Math"/>
                          <a:cs typeface="Cambria Math"/>
                        </a:rPr>
                        <a:t>Answer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17.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23.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18.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24.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19.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25.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20.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26.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21.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27.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22.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28.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892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59325" y="1314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9.2.3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025" y="1314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459325" y="1069416"/>
            <a:ext cx="952938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Give two examples and two counterexamples of a statistical question.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Write the definition of a statistical question in your own words.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18175"/>
              </p:ext>
            </p:extLst>
          </p:nvPr>
        </p:nvGraphicFramePr>
        <p:xfrm>
          <a:off x="2667000" y="1911350"/>
          <a:ext cx="7132320" cy="26212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Examples of Statistical Questions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Counterexamples that are NOT Statistical Questions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69233" y="520393"/>
            <a:ext cx="10004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/>
                <a:ea typeface="Cambria Math"/>
                <a:cs typeface="Cambria Math"/>
              </a:rPr>
              <a:t>The question, “How tall is the tallest man in the world, in inches?” is not statistical. Use your definition of a statistical question to justify why it is not a statistical question.</a:t>
            </a: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/>
                <a:ea typeface="Verdana"/>
                <a:cs typeface="Verdana"/>
              </a:rPr>
              <a:t>Decide if the question, “How many miles do you live from the school campus?” is statistical or non-statistical. Explain your decision.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672610" y="241338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9.2.4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160" y="1631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590460" y="1109801"/>
            <a:ext cx="926711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mbria Math"/>
              </a:rPr>
              <a:t>What is the most difficult part about writing statistical questions?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mbria Math"/>
              </a:rPr>
              <a:t>How can it be determined whether or not a statistical question can be answered with numerical data?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Cambria Math"/>
              <a:cs typeface="Cambria Math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mbria Math"/>
              </a:rPr>
              <a:t>What was the most surprising response to your statistical question? Why?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382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05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623</Words>
  <Application>Microsoft Office PowerPoint</Application>
  <PresentationFormat>Widescreen</PresentationFormat>
  <Paragraphs>141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Century Gothic</vt:lpstr>
      <vt:lpstr>Verdana</vt:lpstr>
      <vt:lpstr>1_Office Theme</vt:lpstr>
      <vt:lpstr>6th Grade Accelerated Math   Unit 9, Lesson 2  Statistical Questions  Volume 2, pg. 47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27</cp:revision>
  <dcterms:created xsi:type="dcterms:W3CDTF">2015-03-17T18:51:18Z</dcterms:created>
  <dcterms:modified xsi:type="dcterms:W3CDTF">2022-08-21T01:33:01Z</dcterms:modified>
</cp:coreProperties>
</file>