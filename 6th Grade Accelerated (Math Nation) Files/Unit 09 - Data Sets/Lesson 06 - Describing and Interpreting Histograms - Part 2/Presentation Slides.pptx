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9"/>
  </p:notesMasterIdLst>
  <p:sldIdLst>
    <p:sldId id="256" r:id="rId5"/>
    <p:sldId id="257" r:id="rId6"/>
    <p:sldId id="285" r:id="rId7"/>
    <p:sldId id="286" r:id="rId8"/>
    <p:sldId id="261" r:id="rId9"/>
    <p:sldId id="287" r:id="rId10"/>
    <p:sldId id="289" r:id="rId11"/>
    <p:sldId id="290" r:id="rId12"/>
    <p:sldId id="356" r:id="rId13"/>
    <p:sldId id="365" r:id="rId14"/>
    <p:sldId id="366" r:id="rId15"/>
    <p:sldId id="367" r:id="rId16"/>
    <p:sldId id="323" r:id="rId17"/>
    <p:sldId id="324" r:id="rId18"/>
    <p:sldId id="357" r:id="rId19"/>
    <p:sldId id="368" r:id="rId20"/>
    <p:sldId id="369" r:id="rId21"/>
    <p:sldId id="362" r:id="rId22"/>
    <p:sldId id="363" r:id="rId23"/>
    <p:sldId id="364" r:id="rId24"/>
    <p:sldId id="370" r:id="rId25"/>
    <p:sldId id="314" r:id="rId26"/>
    <p:sldId id="315" r:id="rId27"/>
    <p:sldId id="352" r:id="rId28"/>
    <p:sldId id="371" r:id="rId29"/>
    <p:sldId id="372" r:id="rId30"/>
    <p:sldId id="373" r:id="rId31"/>
    <p:sldId id="374" r:id="rId32"/>
    <p:sldId id="302" r:id="rId33"/>
    <p:sldId id="303" r:id="rId34"/>
    <p:sldId id="360" r:id="rId35"/>
    <p:sldId id="306" r:id="rId36"/>
    <p:sldId id="307" r:id="rId37"/>
    <p:sldId id="361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76"/>
    <p:restoredTop sz="94695"/>
  </p:normalViewPr>
  <p:slideViewPr>
    <p:cSldViewPr snapToGrid="0">
      <p:cViewPr varScale="1">
        <p:scale>
          <a:sx n="52" d="100"/>
          <a:sy n="52" d="100"/>
        </p:scale>
        <p:origin x="84" y="4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2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39616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6439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3.png"/><Relationship Id="rId4" Type="http://schemas.openxmlformats.org/officeDocument/2006/relationships/image" Target="../media/image3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tif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5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tiff"/><Relationship Id="rId5" Type="http://schemas.openxmlformats.org/officeDocument/2006/relationships/image" Target="../media/image37.tiff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6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Describing and Interpreting Histograms –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Part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69</a:t>
            </a:r>
            <a:b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2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7609" y="-810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8112" y="1692057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10595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095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729870" y="1600200"/>
            <a:ext cx="873226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MA.6.DP.1.4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histogram or line plot within a real world context, qualitatively describe and interpret the spread and distribution of the data, including any symmetry, </a:t>
            </a:r>
            <a:r>
              <a:rPr lang="en-US" sz="3500" dirty="0" err="1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skewness</a:t>
            </a: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, gaps, clusters, outliers, and the range.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32" y="4000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97482" y="157376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620982" y="1596390"/>
            <a:ext cx="953779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9251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089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29870" y="1600200"/>
            <a:ext cx="873226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/>
                <a:ea typeface="Verdana"/>
                <a:cs typeface="Verdana"/>
              </a:rPr>
              <a:t>I can describe the shape of a histogram.</a:t>
            </a:r>
          </a:p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600" dirty="0">
              <a:latin typeface="Verdana"/>
              <a:ea typeface="Verdana"/>
              <a:cs typeface="Verdana"/>
            </a:endParaRPr>
          </a:p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/>
                <a:ea typeface="Verdana"/>
                <a:cs typeface="Verdana"/>
              </a:rPr>
              <a:t>I can describe the spread of a data set given a histogram.</a:t>
            </a:r>
          </a:p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600" dirty="0">
              <a:latin typeface="Verdana"/>
              <a:ea typeface="Verdana"/>
              <a:cs typeface="Verdana"/>
            </a:endParaRPr>
          </a:p>
          <a:p>
            <a:pPr marL="685800" indent="-6794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/>
                <a:ea typeface="Verdana"/>
                <a:cs typeface="Verdana"/>
              </a:rPr>
              <a:t>I can describe gaps, outliers, and clusters in a histogram.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42213" y="266894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9.6.1 Warm-Up: Math Fail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913" y="18868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342213" y="1185971"/>
            <a:ext cx="9763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Discuss with your partner what you notice about this picture.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Picture 8" descr="Graphical user interface, text, application, chat or text message&#10;&#10;Description automatically generated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792" t="7199" r="8942" b="5067"/>
          <a:stretch/>
        </p:blipFill>
        <p:spPr bwMode="auto">
          <a:xfrm>
            <a:off x="4216622" y="2266950"/>
            <a:ext cx="4014788" cy="35900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5169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39195" y="1477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9.6.2 Guided Instruction: Shape of Distributions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895" y="19148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1246909" y="1386025"/>
            <a:ext cx="9140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Consider the histogram of the lengths of female sharks.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59005" y="2018054"/>
            <a:ext cx="5005959" cy="4511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0EC084-8763-45C1-9CAC-C23098A3A40B}"/>
              </a:ext>
            </a:extLst>
          </p:cNvPr>
          <p:cNvSpPr txBox="1"/>
          <p:nvPr/>
        </p:nvSpPr>
        <p:spPr>
          <a:xfrm>
            <a:off x="6602644" y="2229079"/>
            <a:ext cx="40653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Sketch an approximate line of symmetry for the histogram.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If the histogram is folded along the line of symmetry, will each half line up perfectly?</a:t>
            </a: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Do you think all histograms will be symmetrical?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71600" y="407273"/>
            <a:ext cx="101633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endParaRPr lang="en-PH" sz="2000" dirty="0">
              <a:latin typeface="Verdana"/>
              <a:ea typeface="Verdana"/>
              <a:cs typeface="Cambria Math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</a:rPr>
              <a:t>The shape of the shark lengths histogram can be described as </a:t>
            </a:r>
            <a:r>
              <a:rPr lang="en-US" sz="2000" b="1" dirty="0">
                <a:latin typeface="Verdana"/>
                <a:ea typeface="Verdana"/>
                <a:cs typeface="Verdana"/>
              </a:rPr>
              <a:t>symmetric</a:t>
            </a:r>
            <a:r>
              <a:rPr lang="en-US" sz="2000" dirty="0">
                <a:latin typeface="Verdana"/>
                <a:ea typeface="Verdana"/>
                <a:cs typeface="Verdana"/>
              </a:rPr>
              <a:t>, but histograms can also have other shapes.</a:t>
            </a:r>
            <a:endParaRPr lang="en-US" sz="2000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D925044-6E8E-4CD8-A2D1-B06B723CF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7611" y="1524457"/>
            <a:ext cx="5005959" cy="4511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23226" y="482293"/>
            <a:ext cx="4711700" cy="463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94509" y="520394"/>
            <a:ext cx="924039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The histogram displays the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number of points per game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scored by a college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basketball player during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the 2008 season.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/>
            <a:r>
              <a:rPr lang="en-US" sz="2000" dirty="0">
                <a:latin typeface="Verdana"/>
                <a:ea typeface="Verdana"/>
                <a:cs typeface="Verdana"/>
              </a:rPr>
              <a:t>Discuss with your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partner what you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notice about the shape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of the distribution of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points scored per game.</a:t>
            </a:r>
            <a:endParaRPr lang="en-US" sz="2000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37101" y="5496080"/>
            <a:ext cx="7226025" cy="933021"/>
          </a:xfrm>
          <a:prstGeom prst="roundRect">
            <a:avLst>
              <a:gd name="adj" fmla="val 16667"/>
            </a:avLst>
          </a:prstGeom>
          <a:solidFill>
            <a:srgbClr val="E2EFD5"/>
          </a:solidFill>
          <a:ln w="12700" cap="flat" cmpd="sng">
            <a:solidFill>
              <a:srgbClr val="E2EFD5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40" rIns="91425" bIns="91440" anchor="ctr" anchorCtr="0">
            <a:spAutoFit/>
          </a:bodyPr>
          <a:lstStyle/>
          <a:p>
            <a:pPr marL="57150">
              <a:lnSpc>
                <a:spcPct val="107000"/>
              </a:lnSpc>
            </a:pP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A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right-skewed</a:t>
            </a:r>
            <a:r>
              <a:rPr lang="en-US" sz="2000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graph has a longer trail of data to the right and the peak of the data on the left.</a:t>
            </a:r>
            <a:endParaRPr lang="en-US" sz="2000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5668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60675" y="1755480"/>
            <a:ext cx="6470650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219200" y="228163"/>
                <a:ext cx="990426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The time to complete a unit exam for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  <a:ea typeface="Verdana"/>
                        <a:cs typeface="Verdana"/>
                      </a:rPr>
                      <m:t>32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students is shown on the histogram.</a:t>
                </a:r>
                <a:endParaRPr lang="en-US" sz="2400" dirty="0"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28163"/>
                <a:ext cx="9904266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923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433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66800" y="520394"/>
            <a:ext cx="102090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400" dirty="0">
                <a:latin typeface="Verdana"/>
                <a:ea typeface="Verdana"/>
                <a:cs typeface="Verdana"/>
              </a:rPr>
              <a:t>Write an observation about the shape of the distribution of time spent to complete the exam.</a:t>
            </a:r>
            <a:endParaRPr lang="en-US" sz="2400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37101" y="5496080"/>
            <a:ext cx="7226025" cy="933021"/>
          </a:xfrm>
          <a:prstGeom prst="roundRect">
            <a:avLst>
              <a:gd name="adj" fmla="val 16667"/>
            </a:avLst>
          </a:prstGeom>
          <a:solidFill>
            <a:srgbClr val="E2EFD5"/>
          </a:solidFill>
          <a:ln w="12700" cap="flat" cmpd="sng">
            <a:solidFill>
              <a:srgbClr val="E2EFD5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40" rIns="91425" bIns="91440" anchor="ctr" anchorCtr="0">
            <a:spAutoFit/>
          </a:bodyPr>
          <a:lstStyle/>
          <a:p>
            <a:pPr marL="171450">
              <a:lnSpc>
                <a:spcPct val="107000"/>
              </a:lnSpc>
            </a:pP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A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left-skewed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 graph has a longer trail of data to the left and the peak of the data on the right. </a:t>
            </a:r>
            <a:endParaRPr lang="en-US" sz="1800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337B8FFE-2841-493A-9580-51F17AD21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60675" y="1379965"/>
            <a:ext cx="6470650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012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1810" y="1291442"/>
            <a:ext cx="4295775" cy="3362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-27709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46261" y="129537"/>
            <a:ext cx="80193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9.6.3 Guided Practice: Describing Shape of Distributions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6453" y="25971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1446261" y="1386026"/>
            <a:ext cx="894132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This histogram shows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the ages of students in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a swimming class.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/>
                <a:ea typeface="Verdana"/>
                <a:cs typeface="Verdana"/>
              </a:rPr>
              <a:t>The shape of the distribution of ages can be best</a:t>
            </a:r>
          </a:p>
          <a:p>
            <a:pPr marL="457200"/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/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/>
                <a:ea typeface="Verdana"/>
                <a:cs typeface="Verdana"/>
              </a:rPr>
              <a:t>described as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946113" y="5305517"/>
            <a:ext cx="2468880" cy="1195176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00050" indent="-34290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symmetric.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  <a:p>
            <a:pPr marL="400050" indent="-34290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right skewed.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  <a:p>
            <a:pPr marL="400050" indent="-34290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left skewed.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0427" y="520394"/>
            <a:ext cx="4786874" cy="393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2007765" y="520394"/>
                <a:ext cx="8327136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The histogram shows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the length, in millimeters,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25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earthworms.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/>
                <a:r>
                  <a:rPr lang="en-US" sz="2000" dirty="0">
                    <a:latin typeface="Verdana"/>
                    <a:ea typeface="Verdana"/>
                    <a:cs typeface="Verdana"/>
                  </a:rPr>
                  <a:t>The shape of the distribution of the earthworms’ lengths </a:t>
                </a:r>
              </a:p>
              <a:p>
                <a:pPr marL="457200"/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/>
                <a:r>
                  <a:rPr lang="en-US" sz="2000" dirty="0">
                    <a:latin typeface="Verdana"/>
                    <a:ea typeface="Verdana"/>
                    <a:cs typeface="Verdana"/>
                  </a:rPr>
                  <a:t>can be best described as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765" y="520394"/>
                <a:ext cx="8327136" cy="5324535"/>
              </a:xfrm>
              <a:prstGeom prst="rect">
                <a:avLst/>
              </a:prstGeom>
              <a:blipFill>
                <a:blip r:embed="rId4"/>
                <a:stretch>
                  <a:fillRect l="-805" t="-686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93658" y="5142430"/>
            <a:ext cx="2468880" cy="1195176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00050" indent="-34290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symmetric.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  <a:p>
            <a:pPr marL="400050" indent="-34290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right skewed.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  <a:p>
            <a:pPr marL="400050" indent="-34290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left skewed.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4421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81927" y="520394"/>
            <a:ext cx="4905375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537855" y="520394"/>
                <a:ext cx="8797045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In one study of wild bears,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researchers measured the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weights, in pounds,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143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wild bears that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ranged in age from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newborn to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15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years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old. The data were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used to make this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histogram.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/>
                <a:r>
                  <a:rPr lang="en-US" sz="2000" dirty="0">
                    <a:latin typeface="Verdana"/>
                    <a:ea typeface="Verdana"/>
                    <a:cs typeface="Verdana"/>
                  </a:rPr>
                  <a:t>Describe the shape of the graph given the context.</a:t>
                </a: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855" y="520394"/>
                <a:ext cx="8797045" cy="4401205"/>
              </a:xfrm>
              <a:prstGeom prst="rect">
                <a:avLst/>
              </a:prstGeom>
              <a:blipFill rotWithShape="0">
                <a:blip r:embed="rId4"/>
                <a:stretch>
                  <a:fillRect l="-762" t="-831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-2516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1380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8001" y="520393"/>
            <a:ext cx="3476901" cy="4000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177636" y="520393"/>
                <a:ext cx="9157265" cy="2364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The histogram summarizes the </a:t>
                </a:r>
                <a:b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data on the body lengths of the </a:t>
                </a:r>
                <a:b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same </a:t>
                </a:r>
                <a14:m>
                  <m:oMath xmlns:m="http://schemas.openxmlformats.org/officeDocument/2006/math">
                    <m:r>
                      <a:rPr lang="en-US" sz="2000" i="1">
                        <a:highlight>
                          <a:srgbClr val="FFFFFF"/>
                        </a:highlight>
                        <a:latin typeface="Cambria Math"/>
                        <a:ea typeface="Cambria Math"/>
                        <a:cs typeface="Cambria Math"/>
                      </a:rPr>
                      <m:t>143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 wild bears.</a:t>
                </a:r>
              </a:p>
              <a:p>
                <a:pPr lvl="0">
                  <a:lnSpc>
                    <a:spcPct val="107000"/>
                  </a:lnSpc>
                </a:pPr>
                <a:endParaRPr lang="en-US" sz="1800" i="1" dirty="0">
                  <a:highlight>
                    <a:srgbClr val="FFFFFF"/>
                  </a:highlight>
                  <a:latin typeface="Cambria Math"/>
                  <a:ea typeface="Cambria Math"/>
                  <a:cs typeface="Verdana"/>
                </a:endParaRPr>
              </a:p>
              <a:p>
                <a:pPr marL="457200">
                  <a:lnSpc>
                    <a:spcPct val="107000"/>
                  </a:lnSpc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Describe the shape of the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distribution of the lengths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of bears.</a:t>
                </a: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636" y="520393"/>
                <a:ext cx="9157265" cy="2364622"/>
              </a:xfrm>
              <a:prstGeom prst="rect">
                <a:avLst/>
              </a:prstGeom>
              <a:blipFill rotWithShape="0">
                <a:blip r:embed="rId4"/>
                <a:stretch>
                  <a:fillRect l="-732" t="-1804" b="-2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1627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436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86795" y="106036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9.6.4 Guided Instruction: Features of Histograms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495" y="2771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1286795" y="1386025"/>
            <a:ext cx="98744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Below are two histograms with different shapes and features.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1816" y="1976635"/>
            <a:ext cx="7264400" cy="382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4036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234643"/>
            <a:ext cx="832713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tabLst>
                <a:tab pos="45720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r>
              <a:rPr lang="en-US" sz="2000" dirty="0">
                <a:latin typeface="Verdana"/>
                <a:ea typeface="Verdana"/>
                <a:cs typeface="Verdana"/>
              </a:rPr>
              <a:t>Histogram A is	and has a peak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near _____.</a:t>
            </a: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r>
              <a:rPr lang="en-US" sz="2000" dirty="0">
                <a:latin typeface="Verdana"/>
                <a:ea typeface="Verdana"/>
                <a:cs typeface="Verdana"/>
              </a:rPr>
              <a:t>Histogram B is	and has</a:t>
            </a: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53721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2971800" algn="l"/>
              </a:tabLst>
            </a:pPr>
            <a:r>
              <a:rPr lang="en-US" sz="2000" dirty="0">
                <a:latin typeface="Verdana"/>
                <a:ea typeface="Verdana"/>
                <a:cs typeface="Verdana"/>
              </a:rPr>
              <a:t>	has two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90600" y="327541"/>
            <a:ext cx="2743200" cy="830821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indent="-34290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symmetrical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  <a:p>
            <a:pPr marL="342900" indent="-34290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not symmetrical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90600" y="1527691"/>
            <a:ext cx="2743200" cy="830821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indent="-34290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symmetrical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  <a:p>
            <a:pPr marL="342900" indent="-34290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not symmetrical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78920" y="2508766"/>
            <a:ext cx="3383280" cy="830821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indent="-342900">
              <a:lnSpc>
                <a:spcPct val="107000"/>
              </a:lnSpc>
              <a:buClrTx/>
              <a:buFont typeface="Courier New" pitchFamily="49" charset="0"/>
              <a:buChar char="o"/>
            </a:pPr>
            <a:r>
              <a:rPr lang="en-US" sz="2000" dirty="0">
                <a:latin typeface="Verdana"/>
                <a:ea typeface="Verdana"/>
                <a:cs typeface="Verdana"/>
              </a:rPr>
              <a:t>one peak.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  <a:p>
            <a:pPr marL="342900" indent="-342900">
              <a:lnSpc>
                <a:spcPct val="107000"/>
              </a:lnSpc>
              <a:buClrTx/>
              <a:buFont typeface="Courier New" pitchFamily="49" charset="0"/>
              <a:buChar char="o"/>
            </a:pPr>
            <a:r>
              <a:rPr lang="en-US" sz="2000" dirty="0">
                <a:latin typeface="Verdana"/>
                <a:ea typeface="Verdana"/>
                <a:cs typeface="Verdana"/>
              </a:rPr>
              <a:t>more than one peak.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578920" y="3821259"/>
            <a:ext cx="7369830" cy="1359783"/>
            <a:chOff x="-1392196" y="4114799"/>
            <a:chExt cx="7369830" cy="1359783"/>
          </a:xfrm>
        </p:grpSpPr>
        <p:sp>
          <p:nvSpPr>
            <p:cNvPr id="26" name="Rounded Rectangle 25"/>
            <p:cNvSpPr/>
            <p:nvPr/>
          </p:nvSpPr>
          <p:spPr>
            <a:xfrm>
              <a:off x="-1392196" y="4114799"/>
              <a:ext cx="7369830" cy="1359783"/>
            </a:xfrm>
            <a:prstGeom prst="roundRect">
              <a:avLst>
                <a:gd name="adj" fmla="val 16667"/>
              </a:avLst>
            </a:prstGeom>
            <a:solidFill>
              <a:srgbClr val="E2EFD5"/>
            </a:solidFill>
            <a:ln w="12700" cap="flat" cmpd="sng">
              <a:solidFill>
                <a:srgbClr val="E2EFD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 marL="685800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A </a:t>
              </a:r>
              <a:r>
                <a:rPr lang="en-US" sz="2000" b="1" i="1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cluster</a:t>
              </a: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 is formed when data points are in a close group or numerical data have similar values on a number line.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  <p:pic>
          <p:nvPicPr>
            <p:cNvPr id="21" name="Picture 20" descr="Icon&#10;&#10;Description automatically generated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239686" y="4311895"/>
              <a:ext cx="548591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8" name="Rounded Rectangle 27"/>
          <p:cNvSpPr/>
          <p:nvPr/>
        </p:nvSpPr>
        <p:spPr>
          <a:xfrm>
            <a:off x="2578920" y="5490091"/>
            <a:ext cx="2286000" cy="830821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indent="-342900">
              <a:lnSpc>
                <a:spcPct val="107000"/>
              </a:lnSpc>
              <a:buClrTx/>
              <a:buFont typeface="Courier New" pitchFamily="49" charset="0"/>
              <a:buChar char="o"/>
            </a:pPr>
            <a:r>
              <a:rPr lang="en-US" sz="2000" dirty="0">
                <a:latin typeface="Verdana"/>
                <a:ea typeface="Verdana"/>
                <a:cs typeface="Verdana"/>
              </a:rPr>
              <a:t>Histogram A</a:t>
            </a:r>
          </a:p>
          <a:p>
            <a:pPr marL="342900" indent="-342900">
              <a:lnSpc>
                <a:spcPct val="107000"/>
              </a:lnSpc>
              <a:buClrTx/>
              <a:buFont typeface="Courier New" pitchFamily="49" charset="0"/>
              <a:buChar char="o"/>
            </a:pPr>
            <a:r>
              <a:rPr lang="en-US" sz="2000" dirty="0">
                <a:latin typeface="Verdana"/>
                <a:ea typeface="Verdana"/>
                <a:cs typeface="Verdana"/>
              </a:rPr>
              <a:t>Histogram B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8851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234643"/>
            <a:ext cx="832713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  <a:tabLst>
                <a:tab pos="28575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28575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28575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28575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28575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  <a:tabLst>
                <a:tab pos="2857500" algn="l"/>
              </a:tabLst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4"/>
              <a:tabLst>
                <a:tab pos="2743200" algn="l"/>
              </a:tabLst>
            </a:pPr>
            <a:r>
              <a:rPr lang="en-US" sz="2000" dirty="0">
                <a:latin typeface="Verdana"/>
                <a:ea typeface="Verdana"/>
                <a:cs typeface="Verdana"/>
              </a:rPr>
              <a:t> 	has a gap between ____ and ____.</a:t>
            </a:r>
          </a:p>
          <a:p>
            <a:pPr marL="457200" indent="-457200">
              <a:buFont typeface="+mj-lt"/>
              <a:buAutoNum type="arabicPeriod" startAt="4"/>
              <a:tabLst>
                <a:tab pos="27432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4"/>
              <a:tabLst>
                <a:tab pos="27432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4"/>
              <a:tabLst>
                <a:tab pos="27432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4"/>
              <a:tabLst>
                <a:tab pos="27432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4"/>
              <a:tabLst>
                <a:tab pos="27432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4"/>
              <a:tabLst>
                <a:tab pos="27432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4"/>
              <a:tabLst>
                <a:tab pos="27432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4"/>
              <a:tabLst>
                <a:tab pos="2743200" algn="l"/>
              </a:tabLst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 startAt="4"/>
              <a:tabLst>
                <a:tab pos="3886200" algn="l"/>
              </a:tabLst>
            </a:pPr>
            <a:r>
              <a:rPr lang="en-US" sz="2000" dirty="0">
                <a:latin typeface="Verdana"/>
                <a:ea typeface="Verdana"/>
                <a:cs typeface="Verdana"/>
              </a:rPr>
              <a:t>If the data value	were added to Histogram A,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br>
              <a:rPr lang="en-US" sz="2000" dirty="0">
                <a:latin typeface="Verdana"/>
                <a:ea typeface="Verdana"/>
                <a:cs typeface="Verdana"/>
              </a:rPr>
            </a:b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it would be considered an outlier.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55095" y="1870591"/>
            <a:ext cx="2286000" cy="830821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indent="-342900">
              <a:lnSpc>
                <a:spcPct val="107000"/>
              </a:lnSpc>
              <a:buClrTx/>
              <a:buFont typeface="Courier New" pitchFamily="49" charset="0"/>
              <a:buChar char="o"/>
            </a:pPr>
            <a:r>
              <a:rPr lang="en-US" sz="2000" dirty="0">
                <a:latin typeface="Verdana"/>
                <a:ea typeface="Verdana"/>
                <a:cs typeface="Verdana"/>
              </a:rPr>
              <a:t>Histogram A</a:t>
            </a:r>
          </a:p>
          <a:p>
            <a:pPr marL="342900" indent="-342900">
              <a:lnSpc>
                <a:spcPct val="107000"/>
              </a:lnSpc>
              <a:buClrTx/>
              <a:buFont typeface="Courier New" pitchFamily="49" charset="0"/>
              <a:buChar char="o"/>
            </a:pPr>
            <a:r>
              <a:rPr lang="en-US" sz="2000" dirty="0">
                <a:latin typeface="Verdana"/>
                <a:ea typeface="Verdana"/>
                <a:cs typeface="Verdana"/>
              </a:rPr>
              <a:t>Histogram B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455096" y="234643"/>
            <a:ext cx="7597881" cy="1297376"/>
          </a:xfrm>
          <a:prstGeom prst="roundRect">
            <a:avLst>
              <a:gd name="adj" fmla="val 16667"/>
            </a:avLst>
          </a:prstGeom>
          <a:solidFill>
            <a:srgbClr val="E2EFD5"/>
          </a:solidFill>
          <a:ln w="12700" cap="flat" cmpd="sng">
            <a:solidFill>
              <a:srgbClr val="E2EFD5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40" rIns="91425" bIns="91440" anchor="ctr" anchorCtr="0">
            <a:spAutoFit/>
          </a:bodyPr>
          <a:lstStyle/>
          <a:p>
            <a:pPr marL="114300">
              <a:lnSpc>
                <a:spcPct val="107000"/>
              </a:lnSpc>
            </a:pP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A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gap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 shows a location with no data values. On a histogram, a space between the bins indicates a gap, </a:t>
            </a:r>
            <a:b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</a:b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or a frequency of zero for that bin.</a:t>
            </a:r>
            <a:endParaRPr lang="en-US" sz="2000" dirty="0">
              <a:latin typeface="Cambria Math"/>
              <a:ea typeface="Cambria Math"/>
              <a:cs typeface="Cambria Math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455095" y="3245371"/>
            <a:ext cx="7597881" cy="944372"/>
            <a:chOff x="931094" y="3140596"/>
            <a:chExt cx="7597881" cy="944372"/>
          </a:xfrm>
        </p:grpSpPr>
        <p:sp>
          <p:nvSpPr>
            <p:cNvPr id="17" name="Rounded Rectangle 16"/>
            <p:cNvSpPr/>
            <p:nvPr/>
          </p:nvSpPr>
          <p:spPr>
            <a:xfrm>
              <a:off x="931094" y="3140596"/>
              <a:ext cx="7597881" cy="944372"/>
            </a:xfrm>
            <a:prstGeom prst="roundRect">
              <a:avLst>
                <a:gd name="adj" fmla="val 16667"/>
              </a:avLst>
            </a:prstGeom>
            <a:solidFill>
              <a:srgbClr val="E2EFD5"/>
            </a:solidFill>
            <a:ln w="12700" cap="flat" cmpd="sng">
              <a:solidFill>
                <a:srgbClr val="E2EFD5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 marL="685800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An </a:t>
              </a:r>
              <a:r>
                <a:rPr lang="en-US" sz="2000" b="1" i="1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outlier</a:t>
              </a:r>
              <a:r>
                <a:rPr lang="en-US" sz="2000" dirty="0">
                  <a:solidFill>
                    <a:srgbClr val="6C993D"/>
                  </a:solidFill>
                  <a:latin typeface="Verdana"/>
                  <a:ea typeface="Verdana"/>
                  <a:cs typeface="Verdana"/>
                </a:rPr>
                <a:t> is a value that is much higher or much lower than the other values in a data set.</a:t>
              </a:r>
              <a:endParaRPr lang="en-US" sz="1800" dirty="0">
                <a:latin typeface="Cambria Math"/>
                <a:ea typeface="Cambria Math"/>
                <a:cs typeface="Cambria Math"/>
              </a:endParaRPr>
            </a:p>
          </p:txBody>
        </p:sp>
        <p:pic>
          <p:nvPicPr>
            <p:cNvPr id="18" name="Picture 17" descr="Icon&#10;&#10;Description automatically generated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3605" y="3291912"/>
              <a:ext cx="548591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/>
              <p:cNvSpPr/>
              <p:nvPr/>
            </p:nvSpPr>
            <p:spPr>
              <a:xfrm>
                <a:off x="4855395" y="4430476"/>
                <a:ext cx="1005840" cy="1195176"/>
              </a:xfrm>
              <a:prstGeom prst="roundRect">
                <a:avLst>
                  <a:gd name="adj" fmla="val 16667"/>
                </a:avLst>
              </a:prstGeom>
              <a:noFill/>
              <a:ln w="12700" cap="flat" cmpd="sng">
                <a:solidFill>
                  <a:sysClr val="windowText" lastClr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ClrTx/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PH" sz="2000" i="1">
                        <a:solidFill>
                          <a:sysClr val="windowText" lastClr="000000"/>
                        </a:solidFill>
                        <a:latin typeface="Cambria Math"/>
                        <a:ea typeface="Verdana" pitchFamily="34" charset="0"/>
                        <a:cs typeface="Cambria Math"/>
                      </a:rPr>
                      <m:t>12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342900" indent="-342900">
                  <a:lnSpc>
                    <a:spcPct val="107000"/>
                  </a:lnSpc>
                  <a:buClrTx/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PH" sz="2000" i="1">
                        <a:solidFill>
                          <a:sysClr val="windowText" lastClr="000000"/>
                        </a:solidFill>
                        <a:latin typeface="Cambria Math"/>
                        <a:ea typeface="Verdana" pitchFamily="34" charset="0"/>
                        <a:cs typeface="Cambria Math"/>
                      </a:rPr>
                      <m:t>24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342900" indent="-342900">
                  <a:lnSpc>
                    <a:spcPct val="107000"/>
                  </a:lnSpc>
                  <a:buClrTx/>
                  <a:buFont typeface="Courier New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PH" sz="2000" i="1">
                        <a:solidFill>
                          <a:sysClr val="windowText" lastClr="000000"/>
                        </a:solidFill>
                        <a:latin typeface="Cambria Math"/>
                        <a:ea typeface="Verdana" pitchFamily="34" charset="0"/>
                        <a:cs typeface="Cambria Math"/>
                      </a:rPr>
                      <m:t>40</m:t>
                    </m:r>
                  </m:oMath>
                </a14:m>
                <a:endParaRPr lang="en-US" sz="2000" dirty="0">
                  <a:solidFill>
                    <a:sysClr val="windowText" lastClr="000000"/>
                  </a:solidFill>
                  <a:latin typeface="Verdana" pitchFamily="34" charset="0"/>
                  <a:ea typeface="Verdana" pitchFamily="34" charset="0"/>
                  <a:cs typeface="Cambria Math"/>
                </a:endParaRPr>
              </a:p>
            </p:txBody>
          </p:sp>
        </mc:Choice>
        <mc:Fallback xmlns="">
          <p:sp>
            <p:nvSpPr>
              <p:cNvPr id="24" name="Rounded 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395" y="4430476"/>
                <a:ext cx="1005840" cy="1195176"/>
              </a:xfrm>
              <a:prstGeom prst="roundRect">
                <a:avLst>
                  <a:gd name="adj" fmla="val 16667"/>
                </a:avLst>
              </a:prstGeom>
              <a:blipFill rotWithShape="1">
                <a:blip r:embed="rId5"/>
                <a:stretch>
                  <a:fillRect b="-2525"/>
                </a:stretch>
              </a:blipFill>
              <a:ln w="12700" cap="flat" cmpd="sng">
                <a:solidFill>
                  <a:sysClr val="windowText" lastClr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6958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3248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91595" y="217717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9.6.5 Collaboration: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Features of Histograms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1787" y="38755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591595" y="1386026"/>
            <a:ext cx="92648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err="1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Daveed</a:t>
            </a: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 has been tracking the time, in minutes, it takes him to run </a:t>
            </a:r>
            <a:r>
              <a:rPr lang="en-US" sz="2000" dirty="0">
                <a:highlight>
                  <a:srgbClr val="FFFFFF"/>
                </a:highlight>
                <a:latin typeface="Cambria Math"/>
                <a:ea typeface="Cambria Math"/>
                <a:cs typeface="Cambria Math"/>
              </a:rPr>
              <a:t>4</a:t>
            </a: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 miles for the last </a:t>
            </a:r>
            <a:r>
              <a:rPr lang="en-US" sz="2000" dirty="0">
                <a:highlight>
                  <a:srgbClr val="FFFFFF"/>
                </a:highlight>
                <a:latin typeface="Cambria Math"/>
                <a:ea typeface="Cambria Math"/>
                <a:cs typeface="Cambria Math"/>
              </a:rPr>
              <a:t>10</a:t>
            </a: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 years. A histogram of </a:t>
            </a:r>
            <a:r>
              <a:rPr lang="en-US" sz="2000" dirty="0" err="1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Daveed’s</a:t>
            </a: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 run times is shown.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6591" y="2559330"/>
            <a:ext cx="4229100" cy="4008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139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2007765" y="492112"/>
                <a:ext cx="8327136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  <a:tabLst>
                    <a:tab pos="1485900" algn="l"/>
                  </a:tabLst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The shape of run times can be best described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as	</a:t>
                </a:r>
              </a:p>
              <a:p>
                <a:pPr marL="914400" indent="-457200">
                  <a:buFont typeface="+mj-lt"/>
                  <a:buAutoNum type="alphaLcPeriod"/>
                  <a:tabLst>
                    <a:tab pos="1485900" algn="l"/>
                  </a:tabLst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1485900" algn="l"/>
                  </a:tabLst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1485900" algn="l"/>
                  </a:tabLst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1485900" algn="l"/>
                  </a:tabLst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0" algn="l"/>
                  </a:tabLst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0" algn="l"/>
                  </a:tabLst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0" algn="l"/>
                  </a:tabLst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0" algn="l"/>
                  </a:tabLst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Daveed’s typical run time was about _________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/>
                  </a:rPr>
                </a:b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minutes. Most of his run times were between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______ to ______ minutes. Not many of his runs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were	than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32.5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minutes.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65" y="492112"/>
                <a:ext cx="8327136" cy="5940088"/>
              </a:xfrm>
              <a:prstGeom prst="rect">
                <a:avLst/>
              </a:prstGeom>
              <a:blipFill>
                <a:blip r:embed="rId4"/>
                <a:stretch>
                  <a:fillRect t="-719" b="-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3493135" y="1052768"/>
            <a:ext cx="2377440" cy="119517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indent="-28575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symmetrical.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  <a:p>
            <a:pPr marL="228600" indent="-28575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right skewed.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  <a:p>
            <a:pPr marL="228600" indent="-285750">
              <a:lnSpc>
                <a:spcPct val="107000"/>
              </a:lnSpc>
              <a:buClrTx/>
              <a:buFont typeface="Courier New" pitchFamily="49" charset="0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left skewed.</a:t>
            </a:r>
            <a:endParaRPr lang="en-US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904615" y="5698418"/>
            <a:ext cx="1554480" cy="830821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indent="-228600">
              <a:lnSpc>
                <a:spcPct val="107000"/>
              </a:lnSpc>
              <a:buSzPts val="1800"/>
              <a:buFont typeface="Courier New"/>
              <a:buChar char="o"/>
            </a:pPr>
            <a:r>
              <a:rPr lang="en-US" sz="2000" dirty="0">
                <a:latin typeface="Verdana"/>
                <a:ea typeface="Verdana"/>
                <a:cs typeface="Verdana"/>
              </a:rPr>
              <a:t>shorter</a:t>
            </a:r>
          </a:p>
          <a:p>
            <a:pPr marL="228600" indent="-228600">
              <a:lnSpc>
                <a:spcPct val="107000"/>
              </a:lnSpc>
              <a:buSzPts val="1800"/>
              <a:buFont typeface="Courier New"/>
              <a:buChar char="o"/>
            </a:pPr>
            <a:r>
              <a:rPr lang="en-US" sz="2000" dirty="0">
                <a:latin typeface="Verdana"/>
                <a:ea typeface="Verdana"/>
                <a:cs typeface="Verdana"/>
              </a:rPr>
              <a:t>longer</a:t>
            </a:r>
            <a:endParaRPr lang="en-US" sz="2000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7AFBBB32-BAE9-4329-A46A-8956C8EE4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21427" y="914796"/>
            <a:ext cx="3098420" cy="293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824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288473" y="520394"/>
                <a:ext cx="9046428" cy="4659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 err="1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Arya</a:t>
                </a:r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 used the data of her </a:t>
                </a:r>
                <a14:m>
                  <m:oMath xmlns:m="http://schemas.openxmlformats.org/officeDocument/2006/math">
                    <m:r>
                      <a:rPr lang="en-US" sz="2000" i="1">
                        <a:highlight>
                          <a:srgbClr val="FFFFFF"/>
                        </a:highlight>
                        <a:latin typeface="Cambria Math"/>
                        <a:ea typeface="Cambria Math"/>
                        <a:cs typeface="Cambria Math"/>
                      </a:rPr>
                      <m:t>4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-mile run times to create a different histogram.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Discuss with your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partner what you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notice about the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interval widths.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Determine if there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are any unusual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features including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clusters, gaps, or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outliers. Write a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detailed description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of your discussion.</a:t>
                </a:r>
                <a:endParaRPr lang="en-US" sz="2000" dirty="0"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473" y="520394"/>
                <a:ext cx="9046428" cy="4659737"/>
              </a:xfrm>
              <a:prstGeom prst="rect">
                <a:avLst/>
              </a:prstGeom>
              <a:blipFill rotWithShape="0">
                <a:blip r:embed="rId3"/>
                <a:stretch>
                  <a:fillRect l="-741" t="-784" b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5562834" y="1164142"/>
            <a:ext cx="4952766" cy="4048587"/>
            <a:chOff x="1518243" y="1667853"/>
            <a:chExt cx="4952766" cy="4048587"/>
          </a:xfrm>
        </p:grpSpPr>
        <p:pic>
          <p:nvPicPr>
            <p:cNvPr id="9" name="Picture 8" descr="Chart, histogram&#10;&#10;Description automatically generated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73335" y="2065549"/>
              <a:ext cx="4497674" cy="3229237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2879496" y="1667853"/>
              <a:ext cx="2685351" cy="421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</a:pPr>
              <a:r>
                <a:rPr lang="en-US" sz="2000" b="1" dirty="0">
                  <a:latin typeface="Verdana"/>
                  <a:ea typeface="Verdana"/>
                  <a:cs typeface="Verdana"/>
                </a:rPr>
                <a:t>Arya’s Run Times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 rot="16200000">
              <a:off x="971491" y="3469340"/>
              <a:ext cx="1515158" cy="421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latin typeface="Verdana"/>
                  <a:ea typeface="Verdana"/>
                  <a:cs typeface="Verdana"/>
                </a:rPr>
                <a:t>Frequency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975677" y="5294786"/>
              <a:ext cx="2492990" cy="421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latin typeface="Verdana"/>
                  <a:ea typeface="Verdana"/>
                  <a:cs typeface="Verdana"/>
                </a:rPr>
                <a:t>Time (in minutes)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</p:grpSp>
      <p:sp>
        <p:nvSpPr>
          <p:cNvPr id="12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4749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22218" y="520393"/>
            <a:ext cx="10098230" cy="404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lnSpc>
                <a:spcPct val="107000"/>
              </a:lnSpc>
              <a:buFont typeface="+mj-lt"/>
              <a:buAutoNum type="alphaLcPeriod" startAt="2"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At what interval in the histogram of Arya’s times is there an outlier?</a:t>
            </a: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</a:pPr>
            <a:endParaRPr lang="en-PH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</a:pPr>
            <a:endParaRPr lang="en-PH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</a:pPr>
            <a:endParaRPr lang="en-PH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</a:pPr>
            <a:endParaRPr lang="en-PH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</a:pPr>
            <a:endParaRPr lang="en-PH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Would this same data value also be considered an outlier in the histogram of </a:t>
            </a:r>
            <a:r>
              <a:rPr lang="en-US" sz="2400" dirty="0" err="1">
                <a:latin typeface="Verdana" pitchFamily="34" charset="0"/>
                <a:ea typeface="Verdana" pitchFamily="34" charset="0"/>
                <a:cs typeface="Verdana"/>
              </a:rPr>
              <a:t>Daveed’s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 times?</a:t>
            </a:r>
            <a:endParaRPr lang="en-US" sz="2400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9265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94509" y="520393"/>
                <a:ext cx="9240392" cy="4702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Sebastian used the data of his </a:t>
                </a:r>
                <a14:m>
                  <m:oMath xmlns:m="http://schemas.openxmlformats.org/officeDocument/2006/math">
                    <m:r>
                      <a:rPr lang="en-US" sz="2000" i="1">
                        <a:highlight>
                          <a:srgbClr val="FFFFFF"/>
                        </a:highlight>
                        <a:latin typeface="Cambria Math"/>
                        <a:ea typeface="Cambria Math"/>
                        <a:cs typeface="Cambria Math"/>
                      </a:rPr>
                      <m:t>4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-mile run times to create a third histogram.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Which feature is depicted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in Sebastian’s histogram?</a:t>
                </a:r>
                <a:endParaRPr lang="en-US" sz="1800" dirty="0">
                  <a:latin typeface="Cambria Math"/>
                  <a:ea typeface="Cambria Math"/>
                  <a:cs typeface="Verdana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Describe the spread and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shape of the distribution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of Sebastian’s run times. </a:t>
                </a:r>
                <a:endParaRPr lang="en-US" sz="1800" dirty="0">
                  <a:latin typeface="Cambria Math"/>
                  <a:ea typeface="Cambria Math"/>
                  <a:cs typeface="Cambria Math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highlight>
                    <a:srgbClr val="FFFFFF"/>
                  </a:highlight>
                  <a:latin typeface="Verdana"/>
                  <a:ea typeface="Verdana"/>
                  <a:cs typeface="Verdana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509" y="520393"/>
                <a:ext cx="9240392" cy="4702826"/>
              </a:xfrm>
              <a:prstGeom prst="rect">
                <a:avLst/>
              </a:prstGeom>
              <a:blipFill rotWithShape="0">
                <a:blip r:embed="rId3"/>
                <a:stretch>
                  <a:fillRect l="-726" t="-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6325839" y="1246426"/>
            <a:ext cx="4027245" cy="4506578"/>
            <a:chOff x="2388245" y="1821846"/>
            <a:chExt cx="4027245" cy="4506578"/>
          </a:xfrm>
        </p:grpSpPr>
        <p:pic>
          <p:nvPicPr>
            <p:cNvPr id="6" name="Picture 5" descr="Chart, histogram&#10;&#10;Description automatically generated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79175" y="2189480"/>
              <a:ext cx="3536315" cy="3717290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2929555" y="1821846"/>
              <a:ext cx="3435556" cy="421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</a:pPr>
              <a:r>
                <a:rPr lang="en-US" sz="2000" b="1" dirty="0">
                  <a:latin typeface="Verdana"/>
                  <a:ea typeface="Verdana"/>
                  <a:cs typeface="Verdana"/>
                </a:rPr>
                <a:t>Sebastian’s Run Times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 rot="16200000">
              <a:off x="1841493" y="3837298"/>
              <a:ext cx="1515158" cy="421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latin typeface="Verdana"/>
                  <a:ea typeface="Verdana"/>
                  <a:cs typeface="Verdana"/>
                </a:rPr>
                <a:t>Frequency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3400838" y="5906770"/>
              <a:ext cx="2492990" cy="421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latin typeface="Verdana"/>
                  <a:ea typeface="Verdana"/>
                  <a:cs typeface="Verdana"/>
                </a:rPr>
                <a:t>Time (in minutes)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</p:grpSp>
      <p:sp>
        <p:nvSpPr>
          <p:cNvPr id="11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3425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02327" y="520394"/>
            <a:ext cx="9738012" cy="2463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4"/>
            </a:pPr>
            <a:r>
              <a:rPr lang="en-US" sz="2400" dirty="0">
                <a:latin typeface="Verdana"/>
                <a:ea typeface="Verdana"/>
                <a:cs typeface="Verdana"/>
              </a:rPr>
              <a:t>Different data will change the intervals for the horizontal axis and will affect the histogram and its features: symmetry, </a:t>
            </a:r>
            <a:r>
              <a:rPr lang="en-US" sz="2400" dirty="0" err="1">
                <a:latin typeface="Verdana"/>
                <a:ea typeface="Verdana"/>
                <a:cs typeface="Verdana"/>
              </a:rPr>
              <a:t>skewness</a:t>
            </a:r>
            <a:r>
              <a:rPr lang="en-US" sz="2400" dirty="0">
                <a:latin typeface="Verdana"/>
                <a:ea typeface="Verdana"/>
                <a:cs typeface="Verdana"/>
              </a:rPr>
              <a:t>, gaps, clusters, outliers, and the range. With your partner, review all three run-time scenarios and discuss the differences between the histograms.</a:t>
            </a:r>
            <a:endParaRPr lang="en-US" sz="24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1274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342214" y="7556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9.6.6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83" y="1027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496291" y="1043126"/>
                <a:ext cx="9455450" cy="750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3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The histograms show the number of text messages sent in one week by a group of </a:t>
                </a:r>
                <a14:m>
                  <m:oMath xmlns:m="http://schemas.openxmlformats.org/officeDocument/2006/math">
                    <m:r>
                      <a:rPr lang="en-US" sz="2000" i="1">
                        <a:highlight>
                          <a:srgbClr val="FFFFFF"/>
                        </a:highlight>
                        <a:latin typeface="Cambria Math"/>
                        <a:ea typeface="Cambria Math"/>
                        <a:cs typeface="Cambria Math"/>
                      </a:rPr>
                      <m:t>100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 sixth-grade and </a:t>
                </a:r>
                <a14:m>
                  <m:oMath xmlns:m="http://schemas.openxmlformats.org/officeDocument/2006/math">
                    <m:r>
                      <a:rPr lang="en-US" sz="2000" i="1">
                        <a:highlight>
                          <a:srgbClr val="FFFFFF"/>
                        </a:highlight>
                        <a:latin typeface="Cambria Math"/>
                        <a:ea typeface="Verdana"/>
                        <a:cs typeface="Verdana"/>
                      </a:rPr>
                      <m:t>100</m:t>
                    </m:r>
                  </m:oMath>
                </a14:m>
                <a:r>
                  <a:rPr lang="en-US" sz="2000" dirty="0">
                    <a:highlight>
                      <a:srgbClr val="FFFFFF"/>
                    </a:highlight>
                    <a:latin typeface="Verdana" pitchFamily="34" charset="0"/>
                    <a:ea typeface="Verdana" pitchFamily="34" charset="0"/>
                    <a:cs typeface="Verdana"/>
                  </a:rPr>
                  <a:t> seventh-grade students. </a:t>
                </a:r>
                <a:endParaRPr lang="en-US" sz="20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6291" y="1043126"/>
                <a:ext cx="9455450" cy="750975"/>
              </a:xfrm>
              <a:prstGeom prst="rect">
                <a:avLst/>
              </a:prstGeom>
              <a:blipFill rotWithShape="0">
                <a:blip r:embed="rId4"/>
                <a:stretch>
                  <a:fillRect l="-709" t="-6504" r="-1546" b="-10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2060448" y="2225022"/>
            <a:ext cx="4134990" cy="3549494"/>
            <a:chOff x="985228" y="1995487"/>
            <a:chExt cx="4134990" cy="3549494"/>
          </a:xfrm>
        </p:grpSpPr>
        <p:pic>
          <p:nvPicPr>
            <p:cNvPr id="8" name="Picture 7" descr="Chart, histogram&#10;&#10;Description automatically generated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09407" y="2247582"/>
              <a:ext cx="3694809" cy="2891073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2174081" y="1995487"/>
              <a:ext cx="2259964" cy="4552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>
                  <a:latin typeface="Verdana"/>
                  <a:ea typeface="Verdana"/>
                  <a:cs typeface="Verdana"/>
                </a:rPr>
                <a:t>Sixth Graders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 rot="16200000">
              <a:off x="382295" y="3442407"/>
              <a:ext cx="1630045" cy="4241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latin typeface="Verdana"/>
                  <a:ea typeface="Verdana"/>
                  <a:cs typeface="Verdana"/>
                </a:rPr>
                <a:t>Frequency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393403" y="5120801"/>
              <a:ext cx="3726815" cy="4241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latin typeface="Verdana"/>
                  <a:ea typeface="Verdana"/>
                  <a:cs typeface="Verdana"/>
                </a:rPr>
                <a:t>Number of Text Messages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195440" y="2212956"/>
            <a:ext cx="4208867" cy="3549495"/>
            <a:chOff x="4653121" y="1995486"/>
            <a:chExt cx="4208867" cy="3549495"/>
          </a:xfrm>
        </p:grpSpPr>
        <p:pic>
          <p:nvPicPr>
            <p:cNvPr id="10" name="Picture 9" descr="Chart, histogram&#10;&#10;Description automatically generated"/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04217" y="2243773"/>
              <a:ext cx="3588385" cy="2877028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5573719" y="1995486"/>
              <a:ext cx="2649379" cy="4552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>
                  <a:latin typeface="Verdana"/>
                  <a:ea typeface="Verdana"/>
                  <a:cs typeface="Verdana"/>
                </a:rPr>
                <a:t>Seventh Graders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246052" y="5120801"/>
              <a:ext cx="3615936" cy="4241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dirty="0">
                  <a:latin typeface="Verdana"/>
                  <a:ea typeface="Verdana"/>
                  <a:cs typeface="Verdana"/>
                </a:rPr>
                <a:t>Number of Text Messages</a:t>
              </a:r>
              <a:endParaRPr lang="en-US" sz="2000" dirty="0">
                <a:latin typeface="Cambria Math"/>
                <a:ea typeface="Cambria Math"/>
                <a:cs typeface="Cambria Math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 rot="16200000">
              <a:off x="4050188" y="3195003"/>
              <a:ext cx="1630045" cy="4241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>
                  <a:latin typeface="Verdana"/>
                  <a:ea typeface="Verdana"/>
                  <a:cs typeface="Verdana"/>
                </a:rPr>
                <a:t>Frequency</a:t>
              </a:r>
              <a:endParaRPr lang="en-US" sz="2000">
                <a:latin typeface="Cambria Math"/>
                <a:ea typeface="Cambria Math"/>
                <a:cs typeface="Cambria Math"/>
              </a:endParaRPr>
            </a:p>
          </p:txBody>
        </p:sp>
      </p:grpSp>
      <p:sp>
        <p:nvSpPr>
          <p:cNvPr id="18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66800" y="520394"/>
            <a:ext cx="10209066" cy="371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4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Describe the shape of the histogram for the number of text messages sent in one week by sixth-grade students.</a:t>
            </a:r>
          </a:p>
          <a:p>
            <a:pPr marL="914400" lvl="4" indent="-457200">
              <a:lnSpc>
                <a:spcPct val="107000"/>
              </a:lnSpc>
              <a:buFont typeface="+mj-lt"/>
              <a:buAutoNum type="alphaLcPeriod"/>
            </a:pPr>
            <a:endParaRPr lang="en-PH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lvl="4" indent="-457200">
              <a:lnSpc>
                <a:spcPct val="107000"/>
              </a:lnSpc>
              <a:buFont typeface="+mj-lt"/>
              <a:buAutoNum type="alphaLcPeriod"/>
            </a:pPr>
            <a:endParaRPr lang="en-PH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lvl="4" indent="-4572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lvl="4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Which group of students has the larger spread?</a:t>
            </a:r>
          </a:p>
          <a:p>
            <a:pPr marL="914400" lvl="4" indent="-4572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lvl="4" indent="-4572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lvl="4" indent="-4572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highlight>
                <a:srgbClr val="FFFFFF"/>
              </a:highlight>
              <a:latin typeface="Verdana" pitchFamily="34" charset="0"/>
              <a:ea typeface="Verdana" pitchFamily="34" charset="0"/>
              <a:cs typeface="Verdana"/>
            </a:endParaRPr>
          </a:p>
          <a:p>
            <a:pPr marL="914400" lvl="4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000" dirty="0">
                <a:highlight>
                  <a:srgbClr val="FFFFFF"/>
                </a:highlight>
                <a:latin typeface="Verdana" pitchFamily="34" charset="0"/>
                <a:ea typeface="Verdana" pitchFamily="34" charset="0"/>
                <a:cs typeface="Verdana"/>
              </a:rPr>
              <a:t>Explain if sixth graders or seventh graders tend to be more alike in terms of the number of text messages they send.</a:t>
            </a:r>
            <a:endParaRPr lang="en-US" sz="2000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61370" y="182534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9.6.7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070" y="1043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136073" y="1033601"/>
            <a:ext cx="925151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Place an </a:t>
            </a:r>
            <a:r>
              <a:rPr lang="en-US" sz="2000" b="1" dirty="0">
                <a:latin typeface="Verdana"/>
                <a:ea typeface="Verdana"/>
                <a:cs typeface="Verdana"/>
              </a:rPr>
              <a:t>X</a:t>
            </a:r>
            <a:r>
              <a:rPr lang="en-US" sz="2000" dirty="0">
                <a:latin typeface="Verdana"/>
                <a:ea typeface="Verdana"/>
                <a:cs typeface="Verdana"/>
              </a:rPr>
              <a:t> on the line to indicate your understanding of parts of analyzing a histogram. Then provide a brief explanation or evidence to support your self-assessment.</a:t>
            </a:r>
          </a:p>
          <a:p>
            <a:pPr marL="342900" indent="-342900"/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I can describe the shape of a histogram.</a:t>
            </a:r>
          </a:p>
          <a:p>
            <a:pPr marL="457200" lvl="3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lvl="3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lvl="3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lvl="3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lvl="3" indent="-457200">
              <a:buFont typeface="+mj-lt"/>
              <a:buAutoNum type="arabi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lvl="3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I can describe gaps, outliers, and clusters in a histogram.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1DAE898-3C11-B244-8DA4-CBC9AF74F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31549"/>
              </p:ext>
            </p:extLst>
          </p:nvPr>
        </p:nvGraphicFramePr>
        <p:xfrm>
          <a:off x="2554775" y="2855123"/>
          <a:ext cx="7772400" cy="1052576"/>
        </p:xfrm>
        <a:graphic>
          <a:graphicData uri="http://schemas.openxmlformats.org/drawingml/2006/table">
            <a:tbl>
              <a:tblPr firstRow="1" firstCol="1" bandRow="1"/>
              <a:tblGrid>
                <a:gridCol w="2560320">
                  <a:extLst>
                    <a:ext uri="{9D8B030D-6E8A-4147-A177-3AD203B41FA5}">
                      <a16:colId xmlns:a16="http://schemas.microsoft.com/office/drawing/2014/main" val="2558979148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256356577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333121028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need help.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can’t get started. 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I’m getting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there</a:t>
                      </a: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understand and have evidence.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91031"/>
                  </a:ext>
                </a:extLst>
              </a:tr>
              <a:tr h="417830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368252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0FCBB9-5835-8E48-A772-8D5056BC7E09}"/>
              </a:ext>
            </a:extLst>
          </p:cNvPr>
          <p:cNvCxnSpPr/>
          <p:nvPr/>
        </p:nvCxnSpPr>
        <p:spPr>
          <a:xfrm>
            <a:off x="2580175" y="3679669"/>
            <a:ext cx="760757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1DAE898-3C11-B244-8DA4-CBC9AF74F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456203"/>
              </p:ext>
            </p:extLst>
          </p:nvPr>
        </p:nvGraphicFramePr>
        <p:xfrm>
          <a:off x="2554775" y="4693448"/>
          <a:ext cx="7772400" cy="1052576"/>
        </p:xfrm>
        <a:graphic>
          <a:graphicData uri="http://schemas.openxmlformats.org/drawingml/2006/table">
            <a:tbl>
              <a:tblPr firstRow="1" firstCol="1" bandRow="1"/>
              <a:tblGrid>
                <a:gridCol w="2560320">
                  <a:extLst>
                    <a:ext uri="{9D8B030D-6E8A-4147-A177-3AD203B41FA5}">
                      <a16:colId xmlns:a16="http://schemas.microsoft.com/office/drawing/2014/main" val="2558979148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256356577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333121028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need help.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can’t get started. 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I’m getting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there</a:t>
                      </a: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understand and have evidence.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91031"/>
                  </a:ext>
                </a:extLst>
              </a:tr>
              <a:tr h="417830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368252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0FCBB9-5835-8E48-A772-8D5056BC7E09}"/>
              </a:ext>
            </a:extLst>
          </p:cNvPr>
          <p:cNvCxnSpPr/>
          <p:nvPr/>
        </p:nvCxnSpPr>
        <p:spPr>
          <a:xfrm>
            <a:off x="2580175" y="5517994"/>
            <a:ext cx="760757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63782" y="520393"/>
            <a:ext cx="9171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3" indent="-457200">
              <a:buFont typeface="+mj-lt"/>
              <a:buAutoNum type="arabicPeriod" startAt="3"/>
            </a:pPr>
            <a:r>
              <a:rPr lang="en-US" sz="2000" dirty="0">
                <a:latin typeface="Verdana"/>
                <a:ea typeface="Verdana"/>
                <a:cs typeface="Verdana"/>
              </a:rPr>
              <a:t>I can describe the spread of a data set given a histogram.</a:t>
            </a:r>
            <a:endParaRPr lang="en-US" sz="2000" dirty="0">
              <a:latin typeface="Cambria Math"/>
              <a:ea typeface="Cambria Math"/>
              <a:cs typeface="Cambria Math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1DAE898-3C11-B244-8DA4-CBC9AF74F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104795"/>
              </p:ext>
            </p:extLst>
          </p:nvPr>
        </p:nvGraphicFramePr>
        <p:xfrm>
          <a:off x="2478575" y="1112048"/>
          <a:ext cx="7772400" cy="1052576"/>
        </p:xfrm>
        <a:graphic>
          <a:graphicData uri="http://schemas.openxmlformats.org/drawingml/2006/table">
            <a:tbl>
              <a:tblPr firstRow="1" firstCol="1" bandRow="1"/>
              <a:tblGrid>
                <a:gridCol w="2560320">
                  <a:extLst>
                    <a:ext uri="{9D8B030D-6E8A-4147-A177-3AD203B41FA5}">
                      <a16:colId xmlns:a16="http://schemas.microsoft.com/office/drawing/2014/main" val="2558979148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256356577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333121028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need help.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 can’t get started. 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I’m getting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there</a:t>
                      </a:r>
                      <a:r>
                        <a:rPr lang="en-US" sz="2000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181600" algn="l"/>
                        </a:tabLs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understand and have evidence.</a:t>
                      </a:r>
                      <a:endParaRPr lang="x-none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391031"/>
                  </a:ext>
                </a:extLst>
              </a:tr>
              <a:tr h="417830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368252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0FCBB9-5835-8E48-A772-8D5056BC7E09}"/>
              </a:ext>
            </a:extLst>
          </p:cNvPr>
          <p:cNvCxnSpPr/>
          <p:nvPr/>
        </p:nvCxnSpPr>
        <p:spPr>
          <a:xfrm>
            <a:off x="2503975" y="1936594"/>
            <a:ext cx="760757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282;g104476d1465_1_17"/>
          <p:cNvSpPr txBox="1"/>
          <p:nvPr/>
        </p:nvSpPr>
        <p:spPr>
          <a:xfrm>
            <a:off x="872791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61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62402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4F9A99-670B-4BCB-AF40-D12243E96A88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customXml/itemProps2.xml><?xml version="1.0" encoding="utf-8"?>
<ds:datastoreItem xmlns:ds="http://schemas.openxmlformats.org/officeDocument/2006/customXml" ds:itemID="{55E02755-135A-4FC4-AAE8-6FE5822E03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5A4CEB-0390-4569-9478-92B2284A62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1403</TotalTime>
  <Words>1478</Words>
  <Application>Microsoft Office PowerPoint</Application>
  <PresentationFormat>Widescreen</PresentationFormat>
  <Paragraphs>284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Arial Black</vt:lpstr>
      <vt:lpstr>Calibri</vt:lpstr>
      <vt:lpstr>Cambria Math</vt:lpstr>
      <vt:lpstr>Century Gothic</vt:lpstr>
      <vt:lpstr>Courier New</vt:lpstr>
      <vt:lpstr>Verdana</vt:lpstr>
      <vt:lpstr>1_Office Theme</vt:lpstr>
      <vt:lpstr>6th Grade Accelerated Math  Unit 9, Lesson 6  Describing and Interpreting Histograms –  Part 2  Volume 2, pg. 69  </vt:lpstr>
      <vt:lpstr>Benchmarks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vaanmx</cp:lastModifiedBy>
  <cp:revision>37</cp:revision>
  <dcterms:created xsi:type="dcterms:W3CDTF">2015-03-17T18:51:18Z</dcterms:created>
  <dcterms:modified xsi:type="dcterms:W3CDTF">2023-07-07T04:13:04Z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  <property fmtid="{D5CDD505-2E9C-101B-9397-08002B2CF9AE}" pid="3" name="MediaServiceImageTags">
    <vt:lpwstr/>
  </property>
</Properties>
</file>