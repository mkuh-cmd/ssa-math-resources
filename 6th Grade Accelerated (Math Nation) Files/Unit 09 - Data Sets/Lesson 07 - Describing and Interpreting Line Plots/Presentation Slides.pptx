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56" r:id="rId11"/>
    <p:sldId id="362" r:id="rId12"/>
    <p:sldId id="363" r:id="rId13"/>
    <p:sldId id="364" r:id="rId14"/>
    <p:sldId id="311" r:id="rId15"/>
    <p:sldId id="312" r:id="rId16"/>
    <p:sldId id="353" r:id="rId17"/>
    <p:sldId id="365" r:id="rId18"/>
    <p:sldId id="302" r:id="rId19"/>
    <p:sldId id="303" r:id="rId20"/>
    <p:sldId id="360" r:id="rId21"/>
    <p:sldId id="366" r:id="rId22"/>
    <p:sldId id="367" r:id="rId23"/>
    <p:sldId id="306" r:id="rId24"/>
    <p:sldId id="30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05"/>
    <p:restoredTop sz="94695"/>
  </p:normalViewPr>
  <p:slideViewPr>
    <p:cSldViewPr snapToGrid="0">
      <p:cViewPr varScale="1">
        <p:scale>
          <a:sx n="77" d="100"/>
          <a:sy n="77" d="100"/>
        </p:scale>
        <p:origin x="80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97884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650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2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7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Describing and Interpreting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Line Plots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78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69205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21238" y="340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738" y="2698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345038" y="1600200"/>
            <a:ext cx="886576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MA.6.DP.1.4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histogram or line plot within a real-world context, qualitatively describe and interpret the spread and distribution of the data, including any symmetry, </a:t>
            </a:r>
            <a:r>
              <a:rPr lang="en-US" sz="3500" dirty="0" err="1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skewness</a:t>
            </a: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, gaps, clusters, outliers, and the range.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35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87585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87585" y="1596390"/>
            <a:ext cx="872321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99354" y="1938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192" y="30858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19973" y="1600200"/>
            <a:ext cx="875205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/>
                <a:ea typeface="Verdana"/>
                <a:cs typeface="Verdana"/>
              </a:rPr>
              <a:t>I can describe and interpret data represented on a line plot.</a:t>
            </a:r>
          </a:p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600" dirty="0">
              <a:latin typeface="Verdana"/>
              <a:ea typeface="Verdana"/>
              <a:cs typeface="Verdana"/>
            </a:endParaRPr>
          </a:p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I can determine the similarities and differences between a line plot and a histogram.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641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1794" y="309655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9.7.1 Warm-Up: Gathering Data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494" y="2037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671526" y="1166950"/>
            <a:ext cx="9104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Categorize each histogram according to its shape by placing the letter in the appropriate box in the chart below.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124753"/>
              </p:ext>
            </p:extLst>
          </p:nvPr>
        </p:nvGraphicFramePr>
        <p:xfrm>
          <a:off x="2628901" y="2054225"/>
          <a:ext cx="7534275" cy="41148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51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Symmetric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Skewed Left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Skewed Right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A.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B.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C.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Chart, histogram&#10;&#10;Description automatically generated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79"/>
          <a:stretch/>
        </p:blipFill>
        <p:spPr>
          <a:xfrm>
            <a:off x="2854960" y="4416425"/>
            <a:ext cx="1871980" cy="1536700"/>
          </a:xfrm>
          <a:prstGeom prst="rect">
            <a:avLst/>
          </a:prstGeom>
        </p:spPr>
      </p:pic>
      <p:pic>
        <p:nvPicPr>
          <p:cNvPr id="10" name="Picture 9" descr="Chart, histogram&#10;&#10;Description automatically generated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909"/>
          <a:stretch/>
        </p:blipFill>
        <p:spPr>
          <a:xfrm>
            <a:off x="5442136" y="4416426"/>
            <a:ext cx="1872615" cy="1536700"/>
          </a:xfrm>
          <a:prstGeom prst="rect">
            <a:avLst/>
          </a:prstGeom>
        </p:spPr>
      </p:pic>
      <p:pic>
        <p:nvPicPr>
          <p:cNvPr id="11" name="Picture 10" descr="Chart, histogram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909"/>
          <a:stretch/>
        </p:blipFill>
        <p:spPr>
          <a:xfrm>
            <a:off x="8047559" y="4416427"/>
            <a:ext cx="1872615" cy="1536700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983360"/>
              </p:ext>
            </p:extLst>
          </p:nvPr>
        </p:nvGraphicFramePr>
        <p:xfrm>
          <a:off x="2628901" y="520393"/>
          <a:ext cx="7534275" cy="41148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51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Symmetric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Skewed Left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Skewed Right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D.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E.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F.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Chart, histogram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235"/>
          <a:stretch/>
        </p:blipFill>
        <p:spPr>
          <a:xfrm>
            <a:off x="2902585" y="2908300"/>
            <a:ext cx="1871980" cy="1530350"/>
          </a:xfrm>
          <a:prstGeom prst="rect">
            <a:avLst/>
          </a:prstGeom>
        </p:spPr>
      </p:pic>
      <p:pic>
        <p:nvPicPr>
          <p:cNvPr id="8" name="Picture 7" descr="Chart, histogram&#10;&#10;Description automatically generated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265"/>
          <a:stretch/>
        </p:blipFill>
        <p:spPr>
          <a:xfrm>
            <a:off x="5442136" y="2908300"/>
            <a:ext cx="1872615" cy="1530351"/>
          </a:xfrm>
          <a:prstGeom prst="rect">
            <a:avLst/>
          </a:prstGeom>
        </p:spPr>
      </p:pic>
      <p:pic>
        <p:nvPicPr>
          <p:cNvPr id="9" name="Picture 8" descr="Chart, histogram&#10;&#10;Description automatically generated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805" b="10807"/>
          <a:stretch/>
        </p:blipFill>
        <p:spPr bwMode="auto">
          <a:xfrm>
            <a:off x="7975805" y="2908300"/>
            <a:ext cx="1925320" cy="15303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42480" y="4295973"/>
            <a:ext cx="5076962" cy="2499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1155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51473" y="224401"/>
            <a:ext cx="10305098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9.7.2 Guided Instruction: Describing and Interpreting Data Represented on Line Plots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173" y="2846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943429" y="1386025"/>
            <a:ext cx="105611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Line plots are another way to display numerical data.</a:t>
            </a:r>
          </a:p>
          <a:p>
            <a:endParaRPr lang="en-PH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The line plot shows the number of hours per week that students reported spending on homework.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146200" y="1999923"/>
            <a:ext cx="8241384" cy="1308727"/>
            <a:chOff x="1105217" y="4941242"/>
            <a:chExt cx="8241384" cy="1308727"/>
          </a:xfrm>
        </p:grpSpPr>
        <p:sp>
          <p:nvSpPr>
            <p:cNvPr id="10" name="Rounded Rectangle 9"/>
            <p:cNvSpPr/>
            <p:nvPr/>
          </p:nvSpPr>
          <p:spPr>
            <a:xfrm>
              <a:off x="1105217" y="4941242"/>
              <a:ext cx="8241384" cy="1308727"/>
            </a:xfrm>
            <a:prstGeom prst="roundRect">
              <a:avLst>
                <a:gd name="adj" fmla="val 16667"/>
              </a:avLst>
            </a:prstGeom>
            <a:solidFill>
              <a:srgbClr val="E2EFD5"/>
            </a:solidFill>
            <a:ln w="12700" cap="flat" cmpd="sng">
              <a:solidFill>
                <a:srgbClr val="E2EFD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685800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A </a:t>
              </a:r>
              <a:r>
                <a:rPr lang="en-US" sz="2000" b="1" i="1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line plot</a:t>
              </a: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 is a visual display of data values where each data value is shown as a dot or mark above a number line. This is also known as a dot plot.</a:t>
              </a:r>
              <a:endParaRPr lang="en-US" sz="2000" i="1" dirty="0">
                <a:latin typeface="Cambria Math"/>
                <a:ea typeface="Cambria Math"/>
                <a:cs typeface="Cambria Math"/>
              </a:endParaRPr>
            </a:p>
          </p:txBody>
        </p:sp>
        <p:pic>
          <p:nvPicPr>
            <p:cNvPr id="15" name="Picture 14" descr="Icon&#10;&#10;Description automatically generated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760" y="5113020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4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45029" y="2564347"/>
                <a:ext cx="1009648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How many students were surveyed?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highlight>
                    <a:srgbClr val="FFFFFF"/>
                  </a:highlight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highlight>
                    <a:srgbClr val="FFFFFF"/>
                  </a:highlight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How many students reported spending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hour on homework each week?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percentage of the students reported spending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4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hours or fewer on homework each week?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What is the range of time spent on homework in this group?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2564347"/>
                <a:ext cx="10096480" cy="3785652"/>
              </a:xfrm>
              <a:prstGeom prst="rect">
                <a:avLst/>
              </a:prstGeom>
              <a:blipFill rotWithShape="0">
                <a:blip r:embed="rId3"/>
                <a:stretch>
                  <a:fillRect t="-1127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3">
            <a:extLst>
              <a:ext uri="{FF2B5EF4-FFF2-40B4-BE49-F238E27FC236}">
                <a16:creationId xmlns:a16="http://schemas.microsoft.com/office/drawing/2014/main" id="{4165B89C-62D2-4617-8D29-BEBF62B2E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54788" y="64381"/>
            <a:ext cx="5076962" cy="2499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04686" y="520393"/>
            <a:ext cx="993329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With your partner, discuss and summarize your discussion on the following questions about the hours spent on homework per week.</a:t>
            </a:r>
          </a:p>
          <a:p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5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Explain whether or not the mean time spent on homework by this group can be determined.</a:t>
            </a:r>
          </a:p>
          <a:p>
            <a:pPr marL="914400" indent="-457200">
              <a:buFont typeface="+mj-lt"/>
              <a:buAutoNum type="alphaLcPeriod" startAt="5"/>
            </a:pPr>
            <a:endParaRPr lang="en-PH" sz="2000" dirty="0">
              <a:highlight>
                <a:srgbClr val="FFFFFF"/>
              </a:highlight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PH" sz="2000" dirty="0">
              <a:highlight>
                <a:srgbClr val="FFFFFF"/>
              </a:highlight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r>
              <a:rPr lang="en-US" sz="2000" dirty="0">
                <a:latin typeface="Verdana"/>
                <a:ea typeface="Verdana"/>
                <a:cs typeface="Verdana"/>
              </a:rPr>
              <a:t>Someone said, “In general, these students spend roughly the same number of hours doing homework.” Do you and your partner agree? Explain your reasoning.</a:t>
            </a:r>
          </a:p>
          <a:p>
            <a:pPr marL="914400" indent="-457200">
              <a:buFont typeface="+mj-lt"/>
              <a:buAutoNum type="alphaLcPeriod" startAt="5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Describe the shape and special features of the distribution of hours spent on homework. Find another pair of partners and compare your descriptions.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3013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188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93371" y="520393"/>
            <a:ext cx="955592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The same students were asked to estimate how many hours a week they spend talking on the phone. This line plot represents their reported number of hours of phone usage per week.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Describe the spread of the data.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78177" y="1909733"/>
            <a:ext cx="4386313" cy="3160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400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03086" y="3646056"/>
            <a:ext cx="99858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Overall, are these students more alike in the amount of time they spend talking on the phone or in the amount of time they spend on homework? Explain your reasoning.</a:t>
            </a: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Compare your reasoning with your partner. Make adjustments to your reasoning after the discussion with your partner, if necessary.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D8CEE35-6135-4897-B446-983C9CEA3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02843" y="138405"/>
            <a:ext cx="4386313" cy="3160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0137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72866" y="139937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9.7.3 Exploration</a:t>
            </a:r>
            <a: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b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Comparing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Displays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2872" y="30855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472866" y="1386026"/>
                <a:ext cx="95023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The dot plot and histogram display the weights, in pounds,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  <a:cs typeface="Cambria Math"/>
                      </a:rPr>
                      <m:t>36</m:t>
                    </m:r>
                  </m:oMath>
                </a14:m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 dogs at a dog show.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866" y="1386026"/>
                <a:ext cx="9502300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27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87066" y="2580640"/>
            <a:ext cx="70739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520394"/>
            <a:ext cx="832713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  <a:tabLst>
                <a:tab pos="5832475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	can be used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br>
              <a:rPr lang="en-US" sz="2000" dirty="0">
                <a:latin typeface="Verdana"/>
                <a:ea typeface="Verdana"/>
                <a:cs typeface="Verdana"/>
              </a:rPr>
            </a:b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to determine the number of dogs that weigh 90 lbs.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47416" y="520393"/>
            <a:ext cx="6553200" cy="339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2947416" y="4103952"/>
            <a:ext cx="4846320" cy="1195176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28575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/>
                <a:ea typeface="Verdana"/>
                <a:cs typeface="Verdana"/>
              </a:rPr>
              <a:t>The line plot</a:t>
            </a:r>
            <a:endParaRPr lang="en-US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marL="342900" indent="-28575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/>
                <a:ea typeface="Verdana"/>
                <a:cs typeface="Verdana"/>
              </a:rPr>
              <a:t>The histogram</a:t>
            </a:r>
            <a:endParaRPr lang="en-US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marL="342900" indent="-28575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/>
                <a:ea typeface="Verdana"/>
                <a:cs typeface="Verdana"/>
              </a:rPr>
              <a:t>Both the line plot and histogram</a:t>
            </a:r>
            <a:endParaRPr lang="en-US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2285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422400" y="3595353"/>
                <a:ext cx="996883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How many dogs have a weight 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90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</a:t>
                </a:r>
                <a:r>
                  <a:rPr lang="en-US" sz="2000" dirty="0" err="1">
                    <a:latin typeface="Verdana"/>
                    <a:ea typeface="Verdana"/>
                    <a:cs typeface="Verdana"/>
                  </a:rPr>
                  <a:t>lbs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Find the range of the dogs’ weights.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With your partner, discuss what you notice about the shape of the distribution.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Which display was more useful when describing the shape?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400" y="3595353"/>
                <a:ext cx="9968836" cy="2554545"/>
              </a:xfrm>
              <a:prstGeom prst="rect">
                <a:avLst/>
              </a:prstGeom>
              <a:blipFill rotWithShape="0">
                <a:blip r:embed="rId3"/>
                <a:stretch>
                  <a:fillRect t="-1671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3">
            <a:extLst>
              <a:ext uri="{FF2B5EF4-FFF2-40B4-BE49-F238E27FC236}">
                <a16:creationId xmlns:a16="http://schemas.microsoft.com/office/drawing/2014/main" id="{A55532E2-47B9-45A1-A4B7-351617FD9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28563" y="198103"/>
            <a:ext cx="6553200" cy="339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9804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698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44193" y="142204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9.7.4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893" y="1422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1451429" y="1062176"/>
            <a:ext cx="9545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A movie critic recorded the length, in minutes, of a sample of Pixar films and then made a histogram and a line plot of the data.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17415" y="2607849"/>
            <a:ext cx="5813203" cy="3479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262743" y="520393"/>
                <a:ext cx="981718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How many film lengths are recorded?</a:t>
                </a: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How many films are between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95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minutes in the histogram?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43" y="520393"/>
                <a:ext cx="9817180" cy="5632311"/>
              </a:xfrm>
              <a:prstGeom prst="rect">
                <a:avLst/>
              </a:prstGeom>
              <a:blipFill rotWithShape="0">
                <a:blip r:embed="rId3"/>
                <a:stretch>
                  <a:fillRect b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24582" y="3159899"/>
            <a:ext cx="7124168" cy="1815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8502B6C-E1C4-412A-8492-D599945C1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5229" y="39958"/>
            <a:ext cx="5212209" cy="3119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451429" y="4482547"/>
                <a:ext cx="99107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How many films are between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95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minutes in the line plot?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is the value of the range? 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Discuss with your partner which graph was used to determine the range and why.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429" y="4482547"/>
                <a:ext cx="9910778" cy="1938992"/>
              </a:xfrm>
              <a:prstGeom prst="rect">
                <a:avLst/>
              </a:prstGeom>
              <a:blipFill rotWithShape="0">
                <a:blip r:embed="rId3"/>
                <a:stretch>
                  <a:fillRect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7A2552B0-4AE7-4129-BD02-BA148220A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1909" y="2952990"/>
            <a:ext cx="5875159" cy="1529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2E9D4A04-221F-4C79-B331-BC694B8CB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67743" y="93791"/>
            <a:ext cx="4678149" cy="280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7917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41333" y="1315038"/>
            <a:ext cx="6060000" cy="2462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99886" y="260512"/>
                <a:ext cx="1054289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 teacher drew a line segment that was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inches long on the blackboard. She asked each of her students to estimate the length of the segment and used their estimates to draw this line plot.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How many students were in the class?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Were students generally accurate in their estimates of the length of the line?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Describe the shape and distribution of the estimated lengths.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886" y="260512"/>
                <a:ext cx="10542894" cy="5632311"/>
              </a:xfrm>
              <a:prstGeom prst="rect">
                <a:avLst/>
              </a:prstGeom>
              <a:blipFill rotWithShape="0">
                <a:blip r:embed="rId4"/>
                <a:stretch>
                  <a:fillRect l="-636" t="-758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6605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5614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92548" y="206893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3098" y="12868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492548" y="1069468"/>
            <a:ext cx="856042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Check all the statements that apply to your understanding.</a:t>
            </a:r>
          </a:p>
          <a:p>
            <a:pPr marL="914400" indent="-457200">
              <a:spcAft>
                <a:spcPts val="1000"/>
              </a:spcAft>
              <a:buFont typeface="Wingdings"/>
              <a:buChar char="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I 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can read a line plot. </a:t>
            </a:r>
            <a:endParaRPr lang="en-US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914400" indent="-457200">
              <a:spcAft>
                <a:spcPts val="1000"/>
              </a:spcAft>
              <a:buFont typeface="Wingdings"/>
              <a:buChar char=""/>
            </a:pP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I need help reading a line plot.</a:t>
            </a:r>
            <a:endParaRPr lang="en-US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914400" indent="-457200">
              <a:spcAft>
                <a:spcPts val="1000"/>
              </a:spcAft>
              <a:buFont typeface="Wingdings"/>
              <a:buChar char=""/>
            </a:pP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I can describe and analyze data represented on a </a:t>
            </a:r>
            <a:b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</a:b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line plot.</a:t>
            </a:r>
            <a:endParaRPr lang="en-US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914400" indent="-457200">
              <a:spcAft>
                <a:spcPts val="1000"/>
              </a:spcAft>
              <a:buFont typeface="Wingdings"/>
              <a:buChar char=""/>
            </a:pP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I need help describing and analyzing data represented on a line plot.</a:t>
            </a:r>
            <a:endParaRPr lang="en-US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914400" indent="-457200">
              <a:spcAft>
                <a:spcPts val="1000"/>
              </a:spcAft>
              <a:buFont typeface="Wingdings"/>
              <a:buChar char=""/>
            </a:pP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I can determine the similarities and differences between a line plot and a histogram. </a:t>
            </a:r>
          </a:p>
          <a:p>
            <a:pPr marL="914400" indent="-457200">
              <a:lnSpc>
                <a:spcPct val="115000"/>
              </a:lnSpc>
              <a:buFont typeface="Wingdings"/>
              <a:buChar char=""/>
            </a:pP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I ne</a:t>
            </a: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ed help to determine the similarities and differences between a line plot and a histogram for the same data.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0812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1035</Words>
  <Application>Microsoft Office PowerPoint</Application>
  <PresentationFormat>Widescreen</PresentationFormat>
  <Paragraphs>201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Calibri</vt:lpstr>
      <vt:lpstr>Cambria Math</vt:lpstr>
      <vt:lpstr>Century Gothic</vt:lpstr>
      <vt:lpstr>Courier New</vt:lpstr>
      <vt:lpstr>Verdana</vt:lpstr>
      <vt:lpstr>Wingdings</vt:lpstr>
      <vt:lpstr>1_Office Theme</vt:lpstr>
      <vt:lpstr>6th Grade Accelerated Math  Unit 9, Lesson 7  Describing and Interpreting  Line Plots  Volume 2, pg. 78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31</cp:revision>
  <dcterms:created xsi:type="dcterms:W3CDTF">2015-03-17T18:51:18Z</dcterms:created>
  <dcterms:modified xsi:type="dcterms:W3CDTF">2022-07-01T23:46:23Z</dcterms:modified>
</cp:coreProperties>
</file>