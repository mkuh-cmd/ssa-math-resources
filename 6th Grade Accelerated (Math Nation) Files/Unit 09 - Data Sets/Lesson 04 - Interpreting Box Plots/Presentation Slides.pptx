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5"/>
  </p:notesMasterIdLst>
  <p:sldIdLst>
    <p:sldId id="256" r:id="rId5"/>
    <p:sldId id="257" r:id="rId6"/>
    <p:sldId id="285" r:id="rId7"/>
    <p:sldId id="286" r:id="rId8"/>
    <p:sldId id="261" r:id="rId9"/>
    <p:sldId id="287" r:id="rId10"/>
    <p:sldId id="311" r:id="rId11"/>
    <p:sldId id="315" r:id="rId12"/>
    <p:sldId id="352" r:id="rId13"/>
    <p:sldId id="362" r:id="rId14"/>
    <p:sldId id="363" r:id="rId15"/>
    <p:sldId id="364" r:id="rId16"/>
    <p:sldId id="289" r:id="rId17"/>
    <p:sldId id="290" r:id="rId18"/>
    <p:sldId id="356" r:id="rId19"/>
    <p:sldId id="365" r:id="rId20"/>
    <p:sldId id="367" r:id="rId21"/>
    <p:sldId id="366" r:id="rId22"/>
    <p:sldId id="323" r:id="rId23"/>
    <p:sldId id="324" r:id="rId24"/>
    <p:sldId id="320" r:id="rId25"/>
    <p:sldId id="321" r:id="rId26"/>
    <p:sldId id="357" r:id="rId27"/>
    <p:sldId id="369" r:id="rId28"/>
    <p:sldId id="302" r:id="rId29"/>
    <p:sldId id="303" r:id="rId30"/>
    <p:sldId id="355" r:id="rId31"/>
    <p:sldId id="370" r:id="rId32"/>
    <p:sldId id="306" r:id="rId33"/>
    <p:sldId id="307"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75" autoAdjust="0"/>
    <p:restoredTop sz="94707" autoAdjust="0"/>
  </p:normalViewPr>
  <p:slideViewPr>
    <p:cSldViewPr snapToGrid="0">
      <p:cViewPr varScale="1">
        <p:scale>
          <a:sx n="48" d="100"/>
          <a:sy n="48" d="100"/>
        </p:scale>
        <p:origin x="42" y="6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05410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850632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850632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tiff"/></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60.png"/><Relationship Id="rId11" Type="http://schemas.openxmlformats.org/officeDocument/2006/relationships/image" Target="../media/image10.png"/><Relationship Id="rId10" Type="http://schemas.openxmlformats.org/officeDocument/2006/relationships/image" Target="../media/image30.png"/><Relationship Id="rId4" Type="http://schemas.openxmlformats.org/officeDocument/2006/relationships/image" Target="../media/image27.tiff"/><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3.tiff"/></Relationships>
</file>

<file path=ppt/slides/_rels/slide23.xml.rels><?xml version="1.0" encoding="UTF-8" standalone="yes"?>
<Relationships xmlns="http://schemas.openxmlformats.org/package/2006/relationships"><Relationship Id="rId3" Type="http://schemas.openxmlformats.org/officeDocument/2006/relationships/image" Target="../media/image33.tiff"/><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34.tiff"/></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tiff"/><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7.tiff"/><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9,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Interpreting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Box Plots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56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6929" y="203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33429" y="23781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56929" y="1600200"/>
            <a:ext cx="865387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3200" dirty="0">
                <a:solidFill>
                  <a:schemeClr val="tx1"/>
                </a:solidFill>
                <a:latin typeface="Verdana"/>
                <a:ea typeface="Verdana"/>
                <a:cs typeface="Verdana"/>
                <a:sym typeface="Verdana"/>
              </a:rPr>
              <a:t>MA.6.DP.1.3</a:t>
            </a:r>
          </a:p>
          <a:p>
            <a:pPr indent="0">
              <a:lnSpc>
                <a:spcPct val="100000"/>
              </a:lnSpc>
              <a:spcBef>
                <a:spcPts val="0"/>
              </a:spcBef>
              <a:buNone/>
            </a:pPr>
            <a:r>
              <a:rPr lang="en-US" sz="3200" dirty="0">
                <a:solidFill>
                  <a:schemeClr val="tx1"/>
                </a:solidFill>
                <a:latin typeface="Verdana"/>
                <a:ea typeface="Verdana"/>
                <a:cs typeface="Verdana"/>
                <a:sym typeface="Verdana"/>
              </a:rPr>
              <a:t>Given a box plot within a real-world context, determine the minimum, the lower quartile, the median, the upper quartile, and the maximum. Use this summary of the data to describe the spread and distribution of the data.</a:t>
            </a:r>
            <a:endParaRPr lang="en-US" sz="20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53351" y="345586"/>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52951" y="56386"/>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52951" y="1596390"/>
            <a:ext cx="845784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681165"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824053" y="23781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81166" y="1600200"/>
            <a:ext cx="865373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0225">
              <a:buClr>
                <a:srgbClr val="434343"/>
              </a:buClr>
              <a:buSzPts val="3500"/>
              <a:buFont typeface="Verdana"/>
              <a:buChar char="❏"/>
            </a:pPr>
            <a:r>
              <a:rPr lang="en-US" sz="3200" dirty="0">
                <a:solidFill>
                  <a:schemeClr val="tx1"/>
                </a:solidFill>
                <a:latin typeface="Verdana"/>
                <a:ea typeface="Verdana"/>
                <a:cs typeface="Verdana"/>
                <a:sym typeface="Verdana"/>
              </a:rPr>
              <a:t>I can determine the minimum, lower quartile, median, upper quartile, and maximum from a box plot.</a:t>
            </a:r>
          </a:p>
          <a:p>
            <a:pPr marL="536575" indent="-530225">
              <a:buClr>
                <a:srgbClr val="434343"/>
              </a:buClr>
              <a:buSzPts val="3500"/>
              <a:buFont typeface="Verdana"/>
              <a:buChar char="❏"/>
            </a:pPr>
            <a:endParaRPr lang="en-US" sz="3200" dirty="0">
              <a:solidFill>
                <a:schemeClr val="tx1"/>
              </a:solidFill>
              <a:latin typeface="Verdana"/>
              <a:ea typeface="Verdana"/>
              <a:cs typeface="Verdana"/>
              <a:sym typeface="Verdana"/>
            </a:endParaRPr>
          </a:p>
          <a:p>
            <a:pPr marL="536575" indent="-530225">
              <a:buClr>
                <a:srgbClr val="434343"/>
              </a:buClr>
              <a:buSzPts val="3500"/>
              <a:buFont typeface="Verdana"/>
              <a:buChar char="❏"/>
            </a:pPr>
            <a:r>
              <a:rPr lang="en-US" sz="3200" dirty="0">
                <a:solidFill>
                  <a:schemeClr val="tx1"/>
                </a:solidFill>
                <a:latin typeface="Verdana"/>
                <a:ea typeface="Verdana"/>
                <a:cs typeface="Verdana"/>
                <a:sym typeface="Verdana"/>
              </a:rPr>
              <a:t>I can determine the interquartile range from a box plot.</a:t>
            </a:r>
          </a:p>
          <a:p>
            <a:pPr marL="536575" indent="-530225">
              <a:buClr>
                <a:srgbClr val="434343"/>
              </a:buClr>
              <a:buSzPts val="3500"/>
              <a:buFont typeface="Verdana"/>
              <a:buChar char="❏"/>
            </a:pPr>
            <a:endParaRPr lang="en-US" sz="3200" dirty="0">
              <a:solidFill>
                <a:schemeClr val="tx1"/>
              </a:solidFill>
              <a:latin typeface="Verdana"/>
              <a:ea typeface="Verdana"/>
              <a:cs typeface="Verdana"/>
              <a:sym typeface="Verdana"/>
            </a:endParaRPr>
          </a:p>
          <a:p>
            <a:pPr marL="536575" indent="-530225">
              <a:buClr>
                <a:srgbClr val="434343"/>
              </a:buClr>
              <a:buSzPts val="3500"/>
              <a:buFont typeface="Verdana"/>
              <a:buChar char="❏"/>
            </a:pPr>
            <a:r>
              <a:rPr lang="en-US" sz="3200" dirty="0">
                <a:solidFill>
                  <a:schemeClr val="tx1"/>
                </a:solidFill>
                <a:latin typeface="Verdana"/>
                <a:ea typeface="Verdana"/>
                <a:cs typeface="Verdana"/>
                <a:sym typeface="Verdana"/>
              </a:rPr>
              <a:t>I can describe the spread and distribution of data from a box plot.</a:t>
            </a:r>
          </a:p>
        </p:txBody>
      </p:sp>
      <p:sp>
        <p:nvSpPr>
          <p:cNvPr id="9"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6764"/>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1850" y="0"/>
            <a:ext cx="80193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9.4.1 Warm-Up: Which One Doesn’t Belong?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74550" y="171094"/>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638915" y="1458256"/>
            <a:ext cx="9170202" cy="487506"/>
          </a:xfrm>
          <a:prstGeom prst="rect">
            <a:avLst/>
          </a:prstGeom>
          <a:noFill/>
        </p:spPr>
        <p:txBody>
          <a:bodyPr wrap="square" rtlCol="0">
            <a:spAutoFit/>
          </a:bodyPr>
          <a:lstStyle/>
          <a:p>
            <a:pPr>
              <a:lnSpc>
                <a:spcPct val="107000"/>
              </a:lnSpc>
            </a:pPr>
            <a:r>
              <a:rPr lang="en-US" sz="2400" dirty="0">
                <a:latin typeface="Verdana"/>
                <a:ea typeface="Verdana"/>
                <a:cs typeface="Verdana"/>
              </a:rPr>
              <a:t>Examine the four numbers.</a:t>
            </a:r>
            <a:endParaRPr lang="en-US" sz="2400" dirty="0">
              <a:latin typeface="Calibri"/>
              <a:ea typeface="游明朝"/>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091340825"/>
                  </p:ext>
                </p:extLst>
              </p:nvPr>
            </p:nvGraphicFramePr>
            <p:xfrm>
              <a:off x="4061592" y="2092335"/>
              <a:ext cx="3600000" cy="2160000"/>
            </p:xfrm>
            <a:graphic>
              <a:graphicData uri="http://schemas.openxmlformats.org/drawingml/2006/table">
                <a:tbl>
                  <a:tblPr bandRow="1"/>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1080000">
                    <a:tc>
                      <a:txBody>
                        <a:bodyPr/>
                        <a:lstStyle/>
                        <a:p>
                          <a:pPr algn="ctr">
                            <a:lnSpc>
                              <a:spcPct val="107000"/>
                            </a:lnSpc>
                            <a:spcAft>
                              <a:spcPts val="800"/>
                            </a:spcAft>
                          </a:pPr>
                          <a:r>
                            <a:rPr lang="en-US" sz="2000" dirty="0">
                              <a:effectLst/>
                              <a:latin typeface="Cambria Math"/>
                              <a:ea typeface="Cambria Math"/>
                              <a:cs typeface="Cambria Math"/>
                            </a:rPr>
                            <a:t>33%</a:t>
                          </a:r>
                          <a:endParaRPr lang="en-PH" sz="1200" dirty="0">
                            <a:effectLst/>
                            <a:latin typeface="Calibri"/>
                            <a:ea typeface="游明朝"/>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Cambria Math"/>
                                        <a:cs typeface="Cambria Math"/>
                                      </a:rPr>
                                    </m:ctrlPr>
                                  </m:fPr>
                                  <m:num>
                                    <m:r>
                                      <a:rPr lang="en-US" sz="2000" i="1">
                                        <a:effectLst/>
                                        <a:latin typeface="Cambria Math"/>
                                        <a:ea typeface="Cambria Math"/>
                                        <a:cs typeface="Cambria Math"/>
                                      </a:rPr>
                                      <m:t>1</m:t>
                                    </m:r>
                                  </m:num>
                                  <m:den>
                                    <m:r>
                                      <a:rPr lang="en-US" sz="2000" i="1">
                                        <a:effectLst/>
                                        <a:latin typeface="Cambria Math"/>
                                        <a:ea typeface="Cambria Math"/>
                                        <a:cs typeface="Cambria Math"/>
                                      </a:rPr>
                                      <m:t>3</m:t>
                                    </m:r>
                                  </m:den>
                                </m:f>
                              </m:oMath>
                            </m:oMathPara>
                          </a14:m>
                          <a:endParaRPr lang="en-PH" sz="1200" dirty="0">
                            <a:effectLst/>
                            <a:latin typeface="Calibri"/>
                            <a:ea typeface="游明朝"/>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800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Cambria Math"/>
                                        <a:cs typeface="Cambria Math"/>
                                      </a:rPr>
                                    </m:ctrlPr>
                                  </m:fPr>
                                  <m:num>
                                    <m:r>
                                      <a:rPr lang="en-US" sz="2000" i="1">
                                        <a:effectLst/>
                                        <a:latin typeface="Cambria Math"/>
                                        <a:ea typeface="Cambria Math"/>
                                        <a:cs typeface="Cambria Math"/>
                                      </a:rPr>
                                      <m:t>5</m:t>
                                    </m:r>
                                  </m:num>
                                  <m:den>
                                    <m:r>
                                      <a:rPr lang="en-US" sz="2000" i="1">
                                        <a:effectLst/>
                                        <a:latin typeface="Cambria Math"/>
                                        <a:ea typeface="Cambria Math"/>
                                        <a:cs typeface="Cambria Math"/>
                                      </a:rPr>
                                      <m:t>3</m:t>
                                    </m:r>
                                  </m:den>
                                </m:f>
                              </m:oMath>
                            </m:oMathPara>
                          </a14:m>
                          <a:endParaRPr lang="en-PH" sz="1200">
                            <a:effectLst/>
                            <a:latin typeface="Calibri"/>
                            <a:ea typeface="游明朝"/>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0.</m:t>
                                </m:r>
                                <m:acc>
                                  <m:accPr>
                                    <m:chr m:val="̅"/>
                                    <m:ctrlPr>
                                      <a:rPr lang="en-PH" sz="2000" i="1">
                                        <a:effectLst/>
                                        <a:latin typeface="Cambria Math" panose="02040503050406030204" pitchFamily="18" charset="0"/>
                                        <a:ea typeface="Cambria Math"/>
                                        <a:cs typeface="Cambria Math"/>
                                      </a:rPr>
                                    </m:ctrlPr>
                                  </m:accPr>
                                  <m:e>
                                    <m:r>
                                      <a:rPr lang="en-US" sz="2000" i="1">
                                        <a:effectLst/>
                                        <a:latin typeface="Cambria Math"/>
                                        <a:ea typeface="Cambria Math"/>
                                        <a:cs typeface="Cambria Math"/>
                                      </a:rPr>
                                      <m:t>6</m:t>
                                    </m:r>
                                  </m:e>
                                </m:acc>
                              </m:oMath>
                            </m:oMathPara>
                          </a14:m>
                          <a:endParaRPr lang="en-PH" sz="1200" dirty="0">
                            <a:effectLst/>
                            <a:latin typeface="Calibri"/>
                            <a:ea typeface="游明朝"/>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091340825"/>
                  </p:ext>
                </p:extLst>
              </p:nvPr>
            </p:nvGraphicFramePr>
            <p:xfrm>
              <a:off x="2537592" y="2092335"/>
              <a:ext cx="3600000" cy="2160000"/>
            </p:xfrm>
            <a:graphic>
              <a:graphicData uri="http://schemas.openxmlformats.org/drawingml/2006/table">
                <a:tbl>
                  <a:tblPr bandRow="1"/>
                  <a:tblGrid>
                    <a:gridCol w="1800000"/>
                    <a:gridCol w="1800000"/>
                  </a:tblGrid>
                  <a:tr h="1080000">
                    <a:tc>
                      <a:txBody>
                        <a:bodyPr/>
                        <a:lstStyle/>
                        <a:p>
                          <a:pPr algn="ctr">
                            <a:lnSpc>
                              <a:spcPct val="107000"/>
                            </a:lnSpc>
                            <a:spcAft>
                              <a:spcPts val="800"/>
                            </a:spcAft>
                          </a:pPr>
                          <a:r>
                            <a:rPr lang="en-US" sz="2000" dirty="0">
                              <a:effectLst/>
                              <a:latin typeface="Cambria Math"/>
                              <a:ea typeface="Cambria Math"/>
                              <a:cs typeface="Cambria Math"/>
                            </a:rPr>
                            <a:t>33%</a:t>
                          </a:r>
                          <a:endParaRPr lang="en-PH" sz="1200" dirty="0">
                            <a:effectLst/>
                            <a:latin typeface="Calibri"/>
                            <a:ea typeface="游明朝"/>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39" b="-99438"/>
                          </a:stretch>
                        </a:blipFill>
                      </a:tcPr>
                    </a:tc>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0565" r="-9966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39" t="-100565"/>
                          </a:stretch>
                        </a:blipFill>
                      </a:tcPr>
                    </a:tc>
                  </a:tr>
                </a:tbl>
              </a:graphicData>
            </a:graphic>
          </p:graphicFrame>
        </mc:Fallback>
      </mc:AlternateContent>
      <p:sp>
        <p:nvSpPr>
          <p:cNvPr id="6" name="Rectangle 5"/>
          <p:cNvSpPr/>
          <p:nvPr/>
        </p:nvSpPr>
        <p:spPr>
          <a:xfrm>
            <a:off x="1641583" y="4522037"/>
            <a:ext cx="9112184" cy="882678"/>
          </a:xfrm>
          <a:prstGeom prst="rect">
            <a:avLst/>
          </a:prstGeom>
        </p:spPr>
        <p:txBody>
          <a:bodyPr wrap="square">
            <a:spAutoFit/>
          </a:bodyPr>
          <a:lstStyle/>
          <a:p>
            <a:pPr marL="457200" indent="-457200">
              <a:lnSpc>
                <a:spcPct val="107000"/>
              </a:lnSpc>
              <a:buFont typeface="+mj-lt"/>
              <a:buAutoNum type="arabicPeriod"/>
            </a:pPr>
            <a:r>
              <a:rPr lang="en-US" sz="2400" dirty="0">
                <a:latin typeface="Verdana"/>
                <a:ea typeface="Verdana"/>
                <a:cs typeface="Verdana"/>
              </a:rPr>
              <a:t>Which of these numbers does not belong? Explain your thinking.</a:t>
            </a:r>
            <a:endParaRPr lang="en-PH" sz="2400" dirty="0">
              <a:latin typeface="Calibri"/>
              <a:ea typeface="游明朝"/>
            </a:endParaRPr>
          </a:p>
        </p:txBody>
      </p:sp>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1395" y="636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9.4.2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Exploring Box Plots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17351" y="1386026"/>
                <a:ext cx="9121799" cy="2068195"/>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A farmer recorded the number of eggs her hens laid in one week. The data set was the total number of eggs each of her </a:t>
                </a:r>
                <a14:m>
                  <m:oMath xmlns:m="http://schemas.openxmlformats.org/officeDocument/2006/math">
                    <m:r>
                      <a:rPr lang="en-US" sz="2400" i="1">
                        <a:latin typeface="Cambria Math"/>
                        <a:ea typeface="Verdana"/>
                        <a:cs typeface="Verdana"/>
                      </a:rPr>
                      <m:t>53</m:t>
                    </m:r>
                  </m:oMath>
                </a14:m>
                <a:r>
                  <a:rPr lang="en-US" sz="2400" dirty="0">
                    <a:latin typeface="Verdana"/>
                    <a:ea typeface="Verdana"/>
                    <a:cs typeface="Verdana"/>
                  </a:rPr>
                  <a:t> hens laid during the week. Below is a box plot representing the number of eggs laid by each hen during the week.</a:t>
                </a:r>
                <a:endParaRPr lang="en-PH" sz="2400" dirty="0">
                  <a:latin typeface="Calibri"/>
                  <a:ea typeface="游明朝"/>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17351" y="1386026"/>
                <a:ext cx="9121799" cy="2068195"/>
              </a:xfrm>
              <a:prstGeom prst="rect">
                <a:avLst/>
              </a:prstGeom>
              <a:blipFill rotWithShape="0">
                <a:blip r:embed="rId3"/>
                <a:stretch>
                  <a:fillRect l="-1070" t="-2941" r="-1404" b="-3824"/>
                </a:stretch>
              </a:blipFill>
            </p:spPr>
            <p:txBody>
              <a:bodyPr/>
              <a:lstStyle/>
              <a:p>
                <a:r>
                  <a:rPr lang="en-US">
                    <a:noFill/>
                  </a:rPr>
                  <a:t> </a:t>
                </a:r>
              </a:p>
            </p:txBody>
          </p:sp>
        </mc:Fallback>
      </mc:AlternateContent>
      <p:grpSp>
        <p:nvGrpSpPr>
          <p:cNvPr id="4" name="Group 3"/>
          <p:cNvGrpSpPr/>
          <p:nvPr/>
        </p:nvGrpSpPr>
        <p:grpSpPr>
          <a:xfrm>
            <a:off x="2690350" y="3639331"/>
            <a:ext cx="7362626" cy="2614768"/>
            <a:chOff x="1302984" y="3733924"/>
            <a:chExt cx="6945630" cy="2466676"/>
          </a:xfrm>
        </p:grpSpPr>
        <p:pic>
          <p:nvPicPr>
            <p:cNvPr id="11" name="Picture 10" descr="Chart, box and whisker chart&#10;&#10;Description automatically generated"/>
            <p:cNvPicPr/>
            <p:nvPr/>
          </p:nvPicPr>
          <p:blipFill rotWithShape="1">
            <a:blip r:embed="rId4" cstate="screen">
              <a:extLst>
                <a:ext uri="{28A0092B-C50C-407E-A947-70E740481C1C}">
                  <a14:useLocalDpi xmlns:a14="http://schemas.microsoft.com/office/drawing/2010/main"/>
                </a:ext>
              </a:extLst>
            </a:blip>
            <a:srcRect t="15189" b="55580"/>
            <a:stretch/>
          </p:blipFill>
          <p:spPr bwMode="auto">
            <a:xfrm>
              <a:off x="1302984" y="4160345"/>
              <a:ext cx="6945630" cy="2040255"/>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2999553" y="3733924"/>
              <a:ext cx="3552492" cy="459895"/>
            </a:xfrm>
            <a:prstGeom prst="rect">
              <a:avLst/>
            </a:prstGeom>
          </p:spPr>
          <p:txBody>
            <a:bodyPr wrap="none">
              <a:spAutoFit/>
            </a:bodyPr>
            <a:lstStyle/>
            <a:p>
              <a:pPr algn="ctr">
                <a:lnSpc>
                  <a:spcPct val="107000"/>
                </a:lnSpc>
              </a:pPr>
              <a:r>
                <a:rPr lang="en-US" sz="2400" b="1" dirty="0">
                  <a:latin typeface="Verdana"/>
                  <a:ea typeface="Verdana"/>
                  <a:cs typeface="Verdana"/>
                </a:rPr>
                <a:t>Number of Eggs Laid</a:t>
              </a:r>
              <a:endParaRPr lang="en-PH" sz="2400" dirty="0">
                <a:latin typeface="Calibri"/>
                <a:ea typeface="游明朝"/>
              </a:endParaRPr>
            </a:p>
          </p:txBody>
        </p:sp>
      </p:grpSp>
      <p:pic>
        <p:nvPicPr>
          <p:cNvPr id="12"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65097" y="25449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64302" y="383759"/>
            <a:ext cx="10214062" cy="3490186"/>
          </a:xfrm>
          <a:prstGeom prst="rect">
            <a:avLst/>
          </a:prstGeom>
          <a:noFill/>
        </p:spPr>
        <p:txBody>
          <a:bodyPr wrap="square" rtlCol="0">
            <a:spAutoFit/>
          </a:bodyPr>
          <a:lstStyle/>
          <a:p>
            <a:pPr marL="457200">
              <a:lnSpc>
                <a:spcPct val="115000"/>
              </a:lnSpc>
            </a:pPr>
            <a:r>
              <a:rPr lang="en-US" sz="2400" dirty="0">
                <a:latin typeface="Verdana"/>
                <a:ea typeface="Verdana"/>
                <a:cs typeface="Verdana"/>
              </a:rPr>
              <a:t>With your partner, use the box plot to complete the statements.</a:t>
            </a:r>
          </a:p>
          <a:p>
            <a:pPr marL="457200">
              <a:lnSpc>
                <a:spcPct val="115000"/>
              </a:lnSpc>
            </a:pPr>
            <a:endParaRPr lang="en-US" sz="2400" dirty="0">
              <a:latin typeface="Verdana"/>
              <a:ea typeface="Verdana"/>
            </a:endParaRPr>
          </a:p>
          <a:p>
            <a:pPr marL="898525" indent="-457200">
              <a:lnSpc>
                <a:spcPct val="115000"/>
              </a:lnSpc>
              <a:buFont typeface="+mj-lt"/>
              <a:buAutoNum type="alphaLcPeriod"/>
            </a:pPr>
            <a:r>
              <a:rPr lang="en-US" sz="2400" dirty="0">
                <a:latin typeface="Verdana"/>
                <a:ea typeface="Verdana"/>
                <a:cs typeface="Verdana"/>
              </a:rPr>
              <a:t>The smallest number of eggs laid by the hens is ______.</a:t>
            </a:r>
          </a:p>
          <a:p>
            <a:pPr marL="898525" indent="-457200">
              <a:lnSpc>
                <a:spcPct val="115000"/>
              </a:lnSpc>
              <a:buFont typeface="+mj-lt"/>
              <a:buAutoNum type="alphaLcPeriod"/>
            </a:pPr>
            <a:endParaRPr lang="en-US" sz="2400" dirty="0">
              <a:latin typeface="Verdana"/>
              <a:ea typeface="Verdana"/>
            </a:endParaRPr>
          </a:p>
          <a:p>
            <a:pPr marL="898525" indent="-457200">
              <a:lnSpc>
                <a:spcPct val="115000"/>
              </a:lnSpc>
              <a:buFont typeface="+mj-lt"/>
              <a:buAutoNum type="alphaLcPeriod"/>
            </a:pPr>
            <a:endParaRPr lang="en-US" sz="2400" dirty="0">
              <a:latin typeface="Verdana"/>
              <a:ea typeface="Verdana"/>
            </a:endParaRPr>
          </a:p>
          <a:p>
            <a:pPr marL="898525" indent="-457200">
              <a:lnSpc>
                <a:spcPct val="115000"/>
              </a:lnSpc>
              <a:buFont typeface="+mj-lt"/>
              <a:buAutoNum type="alphaLcPeriod"/>
            </a:pPr>
            <a:endParaRPr lang="en-PH" sz="2400" dirty="0">
              <a:latin typeface="Calibri"/>
              <a:ea typeface="游明朝"/>
            </a:endParaRPr>
          </a:p>
          <a:p>
            <a:pPr marL="898525" indent="-457200">
              <a:lnSpc>
                <a:spcPct val="115000"/>
              </a:lnSpc>
              <a:buFont typeface="+mj-lt"/>
              <a:buAutoNum type="alphaLcPeriod"/>
            </a:pPr>
            <a:r>
              <a:rPr lang="en-US" sz="2400" dirty="0">
                <a:latin typeface="Verdana"/>
                <a:ea typeface="Verdana"/>
                <a:cs typeface="Verdana"/>
              </a:rPr>
              <a:t>The largest number of eggs laid by the hens is ______.</a:t>
            </a:r>
            <a:endParaRPr lang="en-PH" sz="2400" dirty="0">
              <a:latin typeface="Calibri"/>
              <a:ea typeface="游明朝"/>
            </a:endParaRPr>
          </a:p>
        </p:txBody>
      </p:sp>
      <p:sp>
        <p:nvSpPr>
          <p:cNvPr id="7"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39252" y="383760"/>
            <a:ext cx="10064162" cy="4339650"/>
          </a:xfrm>
          <a:prstGeom prst="rect">
            <a:avLst/>
          </a:prstGeom>
          <a:noFill/>
        </p:spPr>
        <p:txBody>
          <a:bodyPr wrap="square" rtlCol="0">
            <a:spAutoFit/>
          </a:bodyPr>
          <a:lstStyle/>
          <a:p>
            <a:pPr marL="898525" indent="-457200">
              <a:lnSpc>
                <a:spcPct val="115000"/>
              </a:lnSpc>
              <a:buFont typeface="+mj-lt"/>
              <a:buAutoNum type="alphaLcPeriod" startAt="3"/>
            </a:pPr>
            <a:r>
              <a:rPr lang="en-US" sz="2000" dirty="0">
                <a:latin typeface="Verdana"/>
                <a:ea typeface="Verdana"/>
                <a:cs typeface="Verdana"/>
              </a:rPr>
              <a:t>Find another pair of partners and compare the smallest and largest number of eggs laid. Discuss how you determined the values from the box plot. If your values are different, come to a consensus on the smallest and largest number of eggs laid by the hen, and circle these values on the box plot.</a:t>
            </a:r>
          </a:p>
          <a:p>
            <a:pPr marL="898525" indent="-457200">
              <a:lnSpc>
                <a:spcPct val="115000"/>
              </a:lnSpc>
              <a:buFont typeface="+mj-lt"/>
              <a:buAutoNum type="alphaLcPeriod" startAt="3"/>
            </a:pPr>
            <a:endParaRPr lang="en-US" sz="2000" dirty="0">
              <a:latin typeface="Verdana"/>
              <a:ea typeface="Verdana"/>
              <a:cs typeface="Verdana"/>
            </a:endParaRPr>
          </a:p>
          <a:p>
            <a:pPr marL="898525" indent="-457200">
              <a:lnSpc>
                <a:spcPct val="115000"/>
              </a:lnSpc>
              <a:buFont typeface="+mj-lt"/>
              <a:buAutoNum type="alphaLcPeriod" startAt="3"/>
            </a:pPr>
            <a:endParaRPr lang="en-US" sz="2000" dirty="0">
              <a:latin typeface="Verdana"/>
              <a:ea typeface="Verdana"/>
              <a:cs typeface="Verdana"/>
            </a:endParaRPr>
          </a:p>
          <a:p>
            <a:pPr marL="898525" indent="-457200">
              <a:lnSpc>
                <a:spcPct val="115000"/>
              </a:lnSpc>
              <a:buFont typeface="+mj-lt"/>
              <a:buAutoNum type="alphaLcPeriod" startAt="3"/>
            </a:pPr>
            <a:r>
              <a:rPr lang="en-US" sz="2000" dirty="0">
                <a:latin typeface="Verdana"/>
                <a:ea typeface="Verdana"/>
                <a:cs typeface="Verdana"/>
              </a:rPr>
              <a:t>Label the range for the number of eggs laid on the box plot.</a:t>
            </a:r>
          </a:p>
          <a:p>
            <a:pPr marL="898525" indent="-457200">
              <a:lnSpc>
                <a:spcPct val="115000"/>
              </a:lnSpc>
              <a:buFont typeface="+mj-lt"/>
              <a:buAutoNum type="alphaLcPeriod" startAt="3"/>
            </a:pPr>
            <a:endParaRPr lang="en-US" sz="2000" dirty="0">
              <a:latin typeface="Verdana"/>
              <a:ea typeface="Verdana"/>
              <a:cs typeface="Verdana"/>
            </a:endParaRPr>
          </a:p>
          <a:p>
            <a:pPr marL="898525" indent="-457200">
              <a:lnSpc>
                <a:spcPct val="115000"/>
              </a:lnSpc>
              <a:buFont typeface="+mj-lt"/>
              <a:buAutoNum type="alphaLcPeriod" startAt="3"/>
            </a:pPr>
            <a:endParaRPr lang="en-US" sz="2000" dirty="0">
              <a:latin typeface="Verdana"/>
              <a:ea typeface="Verdana"/>
              <a:cs typeface="Verdana"/>
            </a:endParaRPr>
          </a:p>
          <a:p>
            <a:pPr marL="898525" indent="-457200">
              <a:lnSpc>
                <a:spcPct val="115000"/>
              </a:lnSpc>
              <a:buFont typeface="+mj-lt"/>
              <a:buAutoNum type="alphaLcPeriod" startAt="3"/>
            </a:pPr>
            <a:r>
              <a:rPr lang="en-US" sz="2000" dirty="0">
                <a:latin typeface="Verdana"/>
                <a:ea typeface="Verdana"/>
                <a:cs typeface="Verdana"/>
              </a:rPr>
              <a:t>With your partner, conjecture the median number of eggs laid. Label this number as “median” on the box plot.</a:t>
            </a:r>
            <a:endParaRPr lang="en-PH" sz="2000" dirty="0">
              <a:latin typeface="Calibri"/>
              <a:ea typeface="游明朝"/>
            </a:endParaRPr>
          </a:p>
        </p:txBody>
      </p:sp>
      <p:sp>
        <p:nvSpPr>
          <p:cNvPr id="9"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57</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0533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959"/>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14" name="TextBox 13">
            <a:extLst>
              <a:ext uri="{FF2B5EF4-FFF2-40B4-BE49-F238E27FC236}">
                <a16:creationId xmlns:a16="http://schemas.microsoft.com/office/drawing/2014/main" id="{2FA392D8-3ED3-7940-83A8-1451AA8A08D4}"/>
              </a:ext>
            </a:extLst>
          </p:cNvPr>
          <p:cNvSpPr txBox="1"/>
          <p:nvPr/>
        </p:nvSpPr>
        <p:spPr>
          <a:xfrm>
            <a:off x="1295003" y="383759"/>
            <a:ext cx="9752660" cy="1366528"/>
          </a:xfrm>
          <a:prstGeom prst="rect">
            <a:avLst/>
          </a:prstGeom>
          <a:noFill/>
        </p:spPr>
        <p:txBody>
          <a:bodyPr wrap="square" rtlCol="0">
            <a:spAutoFit/>
          </a:bodyPr>
          <a:lstStyle/>
          <a:p>
            <a:pPr marL="889000" indent="-457200">
              <a:lnSpc>
                <a:spcPct val="115000"/>
              </a:lnSpc>
              <a:buFont typeface="+mj-lt"/>
              <a:buAutoNum type="alphaLcPeriod" startAt="6"/>
            </a:pPr>
            <a:r>
              <a:rPr lang="en-US" sz="2400" dirty="0">
                <a:latin typeface="Verdana"/>
                <a:ea typeface="Verdana"/>
                <a:cs typeface="Verdana"/>
              </a:rPr>
              <a:t>The first quartile is highlighted in blue, the second quartile is highlighted in green, and the third quartile is highlighted in yellow. </a:t>
            </a:r>
            <a:endParaRPr lang="en-PH" sz="2400" dirty="0">
              <a:latin typeface="Calibri"/>
              <a:ea typeface="游明朝"/>
            </a:endParaRPr>
          </a:p>
        </p:txBody>
      </p:sp>
      <p:grpSp>
        <p:nvGrpSpPr>
          <p:cNvPr id="4" name="Group 3"/>
          <p:cNvGrpSpPr/>
          <p:nvPr/>
        </p:nvGrpSpPr>
        <p:grpSpPr>
          <a:xfrm>
            <a:off x="2908848" y="1903861"/>
            <a:ext cx="7426053" cy="2541523"/>
            <a:chOff x="1384848" y="2429378"/>
            <a:chExt cx="6945630" cy="2377101"/>
          </a:xfrm>
        </p:grpSpPr>
        <p:pic>
          <p:nvPicPr>
            <p:cNvPr id="10" name="Picture 9" descr="Chart, box and whisker chart&#10;&#10;Description automatically generated"/>
            <p:cNvPicPr/>
            <p:nvPr/>
          </p:nvPicPr>
          <p:blipFill rotWithShape="1">
            <a:blip r:embed="rId3" cstate="screen">
              <a:extLst>
                <a:ext uri="{28A0092B-C50C-407E-A947-70E740481C1C}">
                  <a14:useLocalDpi xmlns:a14="http://schemas.microsoft.com/office/drawing/2010/main"/>
                </a:ext>
              </a:extLst>
            </a:blip>
            <a:srcRect t="15189" b="55580"/>
            <a:stretch/>
          </p:blipFill>
          <p:spPr bwMode="auto">
            <a:xfrm>
              <a:off x="1384848" y="2766224"/>
              <a:ext cx="6945630" cy="2040255"/>
            </a:xfrm>
            <a:prstGeom prst="rect">
              <a:avLst/>
            </a:prstGeom>
            <a:ln>
              <a:noFill/>
            </a:ln>
            <a:extLst>
              <a:ext uri="{53640926-AAD7-44D8-BBD7-CCE9431645EC}">
                <a14:shadowObscured xmlns:a14="http://schemas.microsoft.com/office/drawing/2010/main"/>
              </a:ext>
            </a:extLst>
          </p:spPr>
        </p:pic>
        <p:grpSp>
          <p:nvGrpSpPr>
            <p:cNvPr id="6" name="Group 5"/>
            <p:cNvGrpSpPr/>
            <p:nvPr/>
          </p:nvGrpSpPr>
          <p:grpSpPr>
            <a:xfrm>
              <a:off x="3121025" y="2994660"/>
              <a:ext cx="2882566" cy="868680"/>
              <a:chOff x="0" y="0"/>
              <a:chExt cx="2882566" cy="868680"/>
            </a:xfrm>
          </p:grpSpPr>
          <p:cxnSp>
            <p:nvCxnSpPr>
              <p:cNvPr id="7" name="Straight Connector 6"/>
              <p:cNvCxnSpPr/>
              <p:nvPr/>
            </p:nvCxnSpPr>
            <p:spPr>
              <a:xfrm>
                <a:off x="0" y="0"/>
                <a:ext cx="0" cy="868680"/>
              </a:xfrm>
              <a:prstGeom prst="line">
                <a:avLst/>
              </a:prstGeom>
              <a:ln w="76200">
                <a:solidFill>
                  <a:srgbClr val="0096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36638" y="0"/>
                <a:ext cx="0" cy="86868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882566" y="0"/>
                <a:ext cx="0" cy="86868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 name="Rectangle 2"/>
            <p:cNvSpPr/>
            <p:nvPr/>
          </p:nvSpPr>
          <p:spPr>
            <a:xfrm>
              <a:off x="3096588" y="2429378"/>
              <a:ext cx="3522150" cy="455967"/>
            </a:xfrm>
            <a:prstGeom prst="rect">
              <a:avLst/>
            </a:prstGeom>
          </p:spPr>
          <p:txBody>
            <a:bodyPr wrap="none">
              <a:spAutoFit/>
            </a:bodyPr>
            <a:lstStyle/>
            <a:p>
              <a:pPr algn="ctr">
                <a:lnSpc>
                  <a:spcPct val="107000"/>
                </a:lnSpc>
                <a:spcAft>
                  <a:spcPts val="800"/>
                </a:spcAft>
              </a:pPr>
              <a:r>
                <a:rPr lang="en-US" sz="2400" b="1" dirty="0">
                  <a:latin typeface="Verdana"/>
                  <a:ea typeface="Verdana"/>
                  <a:cs typeface="Verdana"/>
                </a:rPr>
                <a:t>Number of Eggs Laid</a:t>
              </a:r>
              <a:endParaRPr lang="en-PH" sz="2400" dirty="0">
                <a:latin typeface="Calibri"/>
                <a:ea typeface="游明朝"/>
              </a:endParaRPr>
            </a:p>
          </p:txBody>
        </p:sp>
      </p:grpSp>
      <mc:AlternateContent xmlns:mc="http://schemas.openxmlformats.org/markup-compatibility/2006" xmlns:a14="http://schemas.microsoft.com/office/drawing/2010/main">
        <mc:Choice Requires="a14">
          <p:sp>
            <p:nvSpPr>
              <p:cNvPr id="11" name="Rectangle 10"/>
              <p:cNvSpPr/>
              <p:nvPr/>
            </p:nvSpPr>
            <p:spPr>
              <a:xfrm>
                <a:off x="1319135" y="4298950"/>
                <a:ext cx="9422472" cy="1366528"/>
              </a:xfrm>
              <a:prstGeom prst="rect">
                <a:avLst/>
              </a:prstGeom>
            </p:spPr>
            <p:txBody>
              <a:bodyPr wrap="square">
                <a:spAutoFit/>
              </a:bodyPr>
              <a:lstStyle/>
              <a:p>
                <a:pPr marL="914400">
                  <a:lnSpc>
                    <a:spcPct val="115000"/>
                  </a:lnSpc>
                </a:pPr>
                <a:r>
                  <a:rPr lang="en-US" sz="2400" dirty="0">
                    <a:latin typeface="Verdana" pitchFamily="34" charset="0"/>
                    <a:ea typeface="Verdana" pitchFamily="34" charset="0"/>
                    <a:cs typeface="Verdana"/>
                  </a:rPr>
                  <a:t>If the second quartile is the median, </a:t>
                </a:r>
                <a14:m>
                  <m:oMath xmlns:m="http://schemas.openxmlformats.org/officeDocument/2006/math">
                    <m:r>
                      <a:rPr lang="en-US" sz="2400" i="1">
                        <a:latin typeface="Cambria Math"/>
                        <a:ea typeface="Verdana"/>
                        <a:cs typeface="Verdana"/>
                      </a:rPr>
                      <m:t>𝑀</m:t>
                    </m:r>
                  </m:oMath>
                </a14:m>
                <a:r>
                  <a:rPr lang="en-US" sz="2400" dirty="0">
                    <a:latin typeface="Verdana" pitchFamily="34" charset="0"/>
                    <a:ea typeface="Verdana" pitchFamily="34" charset="0"/>
                    <a:cs typeface="Verdana"/>
                  </a:rPr>
                  <a:t>, write a conjecture with your partner about how the first and third quartiles are each determined.</a:t>
                </a:r>
                <a:endParaRPr lang="en-PH" sz="2400" dirty="0">
                  <a:latin typeface="Verdana" pitchFamily="34" charset="0"/>
                  <a:ea typeface="Verdana" pitchFamily="34"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1319135" y="4298950"/>
                <a:ext cx="9422472" cy="1366528"/>
              </a:xfrm>
              <a:prstGeom prst="rect">
                <a:avLst/>
              </a:prstGeom>
              <a:blipFill rotWithShape="0">
                <a:blip r:embed="rId4"/>
                <a:stretch>
                  <a:fillRect t="-2679" b="-6250"/>
                </a:stretch>
              </a:blipFill>
            </p:spPr>
            <p:txBody>
              <a:bodyPr/>
              <a:lstStyle/>
              <a:p>
                <a:r>
                  <a:rPr lang="en-US">
                    <a:noFill/>
                  </a:rPr>
                  <a:t> </a:t>
                </a:r>
              </a:p>
            </p:txBody>
          </p:sp>
        </mc:Fallback>
      </mc:AlternateContent>
      <p:sp>
        <p:nvSpPr>
          <p:cNvPr id="15"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58</a:t>
            </a:r>
            <a:endParaRPr i="1" dirty="0">
              <a:latin typeface="Calibri"/>
              <a:ea typeface="Calibri"/>
              <a:cs typeface="Calibri"/>
              <a:sym typeface="Calibri"/>
            </a:endParaRPr>
          </a:p>
        </p:txBody>
      </p:sp>
      <p:pic>
        <p:nvPicPr>
          <p:cNvPr id="1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9560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09272" y="383759"/>
                <a:ext cx="10124122" cy="3490186"/>
              </a:xfrm>
              <a:prstGeom prst="rect">
                <a:avLst/>
              </a:prstGeom>
              <a:noFill/>
            </p:spPr>
            <p:txBody>
              <a:bodyPr wrap="square" rtlCol="0">
                <a:spAutoFit/>
              </a:bodyPr>
              <a:lstStyle/>
              <a:p>
                <a:pPr marL="457200" indent="-457200">
                  <a:lnSpc>
                    <a:spcPct val="115000"/>
                  </a:lnSpc>
                  <a:buFont typeface="+mj-lt"/>
                  <a:buAutoNum type="arabicPeriod" startAt="2"/>
                </a:pPr>
                <a:r>
                  <a:rPr lang="en-US" sz="2400" dirty="0">
                    <a:latin typeface="Verdana"/>
                    <a:ea typeface="Verdana"/>
                    <a:cs typeface="Verdana"/>
                  </a:rPr>
                  <a:t>Work with your partner to complete the statement. </a:t>
                </a:r>
                <a:endParaRPr lang="en-PH" sz="2400" dirty="0">
                  <a:latin typeface="Calibri"/>
                  <a:ea typeface="游明朝"/>
                </a:endParaRPr>
              </a:p>
              <a:p>
                <a:pPr marL="685800">
                  <a:lnSpc>
                    <a:spcPct val="115000"/>
                  </a:lnSpc>
                </a:pPr>
                <a:r>
                  <a:rPr lang="en-US" sz="2400" dirty="0">
                    <a:latin typeface="Verdana"/>
                    <a:ea typeface="Verdana"/>
                    <a:cs typeface="Verdana"/>
                  </a:rPr>
                  <a:t> </a:t>
                </a:r>
                <a:endParaRPr lang="en-PH" sz="2400" dirty="0">
                  <a:latin typeface="Calibri"/>
                  <a:ea typeface="游明朝"/>
                </a:endParaRPr>
              </a:p>
              <a:p>
                <a:pPr marL="685800">
                  <a:lnSpc>
                    <a:spcPct val="115000"/>
                  </a:lnSpc>
                </a:pPr>
                <a:r>
                  <a:rPr lang="en-US" sz="2400" dirty="0">
                    <a:latin typeface="Verdana"/>
                    <a:ea typeface="Verdana"/>
                    <a:cs typeface="Verdana"/>
                  </a:rPr>
                  <a:t>A </a:t>
                </a:r>
                <a:r>
                  <a:rPr lang="en-US" sz="2400" b="1" i="1" dirty="0">
                    <a:latin typeface="Verdana"/>
                    <a:ea typeface="Verdana"/>
                    <a:cs typeface="Verdana"/>
                  </a:rPr>
                  <a:t>box plot</a:t>
                </a:r>
                <a:r>
                  <a:rPr lang="en-US" sz="2400" dirty="0">
                    <a:latin typeface="Verdana"/>
                    <a:ea typeface="Verdana"/>
                    <a:cs typeface="Verdana"/>
                  </a:rPr>
                  <a:t> divides data into </a:t>
                </a:r>
                <a:r>
                  <a:rPr lang="en-US" sz="2400" b="1" dirty="0">
                    <a:latin typeface="Verdana"/>
                    <a:ea typeface="Verdana"/>
                    <a:cs typeface="Verdana"/>
                  </a:rPr>
                  <a:t>_______</a:t>
                </a:r>
                <a:r>
                  <a:rPr lang="en-US" sz="2400" dirty="0">
                    <a:latin typeface="Verdana"/>
                    <a:ea typeface="Verdana"/>
                    <a:cs typeface="Verdana"/>
                  </a:rPr>
                  <a:t> equal parts that each contain roughly </a:t>
                </a:r>
                <a14:m>
                  <m:oMath xmlns:m="http://schemas.openxmlformats.org/officeDocument/2006/math">
                    <m:r>
                      <a:rPr lang="en-US" sz="2400" i="1">
                        <a:latin typeface="Cambria Math"/>
                        <a:ea typeface="Verdana"/>
                        <a:cs typeface="Verdana"/>
                      </a:rPr>
                      <m:t>25%</m:t>
                    </m:r>
                  </m:oMath>
                </a14:m>
                <a:r>
                  <a:rPr lang="en-US" sz="2400" dirty="0">
                    <a:latin typeface="Verdana"/>
                    <a:ea typeface="Verdana"/>
                    <a:cs typeface="Verdana"/>
                  </a:rPr>
                  <a:t> of data from a given data set.</a:t>
                </a:r>
                <a:endParaRPr lang="en-PH" sz="2400" dirty="0">
                  <a:latin typeface="Calibri"/>
                  <a:ea typeface="游明朝"/>
                </a:endParaRPr>
              </a:p>
              <a:p>
                <a:pPr marL="685800">
                  <a:lnSpc>
                    <a:spcPct val="115000"/>
                  </a:lnSpc>
                </a:pPr>
                <a:r>
                  <a:rPr lang="en-US" sz="2400" dirty="0">
                    <a:latin typeface="Verdana"/>
                    <a:ea typeface="Verdana"/>
                    <a:cs typeface="Verdana"/>
                  </a:rPr>
                  <a:t> </a:t>
                </a:r>
                <a:endParaRPr lang="en-PH" sz="2400" dirty="0">
                  <a:latin typeface="Calibri"/>
                  <a:ea typeface="游明朝"/>
                </a:endParaRPr>
              </a:p>
              <a:p>
                <a:pPr marL="685800">
                  <a:lnSpc>
                    <a:spcPct val="115000"/>
                  </a:lnSpc>
                </a:pPr>
                <a:r>
                  <a:rPr lang="en-US" sz="2400" dirty="0">
                    <a:latin typeface="Verdana"/>
                    <a:ea typeface="Verdana"/>
                    <a:cs typeface="Verdana"/>
                  </a:rPr>
                  <a:t> </a:t>
                </a:r>
                <a:endParaRPr lang="en-PH" sz="2400" dirty="0">
                  <a:latin typeface="Calibri"/>
                  <a:ea typeface="游明朝"/>
                </a:endParaRPr>
              </a:p>
              <a:p>
                <a:pPr marL="457200" indent="-457200">
                  <a:lnSpc>
                    <a:spcPct val="115000"/>
                  </a:lnSpc>
                  <a:buFont typeface="+mj-lt"/>
                  <a:buAutoNum type="arabicPeriod" startAt="3"/>
                </a:pPr>
                <a:r>
                  <a:rPr lang="en-US" sz="2400" dirty="0">
                    <a:latin typeface="Verdana"/>
                    <a:ea typeface="Verdana"/>
                    <a:cs typeface="Verdana"/>
                  </a:rPr>
                  <a:t>Explain why you chose the value you used to complete the statement.</a:t>
                </a:r>
                <a:endParaRPr lang="en-PH" sz="2400" dirty="0">
                  <a:latin typeface="Calibri"/>
                  <a:ea typeface="游明朝"/>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09272" y="383759"/>
                <a:ext cx="10124122" cy="3490186"/>
              </a:xfrm>
              <a:prstGeom prst="rect">
                <a:avLst/>
              </a:prstGeom>
              <a:blipFill rotWithShape="0">
                <a:blip r:embed="rId3"/>
                <a:stretch>
                  <a:fillRect l="-963" t="-1049" b="-1923"/>
                </a:stretch>
              </a:blipFill>
            </p:spPr>
            <p:txBody>
              <a:bodyPr/>
              <a:lstStyle/>
              <a:p>
                <a:r>
                  <a:rPr lang="en-US">
                    <a:noFill/>
                  </a:rPr>
                  <a:t> </a:t>
                </a:r>
              </a:p>
            </p:txBody>
          </p:sp>
        </mc:Fallback>
      </mc:AlternateContent>
      <p:sp>
        <p:nvSpPr>
          <p:cNvPr id="6"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58</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9733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7258"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13221" y="133744"/>
            <a:ext cx="80193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9.4.3 Guided Instruction: Interpreting Box Plots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65921" y="249437"/>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289154" y="3396496"/>
            <a:ext cx="9869724" cy="750975"/>
          </a:xfrm>
          <a:prstGeom prst="rect">
            <a:avLst/>
          </a:prstGeom>
          <a:noFill/>
        </p:spPr>
        <p:txBody>
          <a:bodyPr wrap="square" rtlCol="0">
            <a:spAutoFit/>
          </a:bodyPr>
          <a:lstStyle/>
          <a:p>
            <a:pPr marL="457200" lvl="3" indent="-457200">
              <a:lnSpc>
                <a:spcPct val="107000"/>
              </a:lnSpc>
              <a:buFont typeface="+mj-lt"/>
              <a:buAutoNum type="arabicPeriod"/>
            </a:pPr>
            <a:r>
              <a:rPr lang="en-US" sz="2000" dirty="0">
                <a:latin typeface="Verdana"/>
                <a:ea typeface="Verdana"/>
                <a:cs typeface="Verdana"/>
              </a:rPr>
              <a:t>Label the maximum, minimum, median, first quartile, and third quartile on the box plot.</a:t>
            </a:r>
            <a:endParaRPr lang="en-PH" sz="2000" dirty="0">
              <a:latin typeface="Calibri"/>
              <a:ea typeface="游明朝"/>
            </a:endParaRPr>
          </a:p>
        </p:txBody>
      </p:sp>
      <p:sp>
        <p:nvSpPr>
          <p:cNvPr id="10" name="Rectangle 9"/>
          <p:cNvSpPr/>
          <p:nvPr/>
        </p:nvSpPr>
        <p:spPr>
          <a:xfrm>
            <a:off x="2687320" y="2344420"/>
            <a:ext cx="6817360" cy="1828706"/>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a:ea typeface="游明朝"/>
              </a:rPr>
              <a:t> </a:t>
            </a:r>
            <a:endParaRPr lang="en-PH" sz="1100">
              <a:latin typeface="Calibri"/>
              <a:ea typeface="游明朝"/>
            </a:endParaRPr>
          </a:p>
        </p:txBody>
      </p:sp>
      <p:grpSp>
        <p:nvGrpSpPr>
          <p:cNvPr id="2" name="Group 1"/>
          <p:cNvGrpSpPr/>
          <p:nvPr/>
        </p:nvGrpSpPr>
        <p:grpSpPr>
          <a:xfrm>
            <a:off x="1975944" y="1282337"/>
            <a:ext cx="8411640" cy="1923886"/>
            <a:chOff x="451944" y="1094018"/>
            <a:chExt cx="8411640" cy="1923886"/>
          </a:xfrm>
          <a:effectLst>
            <a:outerShdw blurRad="50800" dist="38100" dir="2700000" algn="tl" rotWithShape="0">
              <a:prstClr val="black">
                <a:alpha val="40000"/>
              </a:prstClr>
            </a:outerShdw>
          </a:effectLst>
        </p:grpSpPr>
        <p:sp>
          <p:nvSpPr>
            <p:cNvPr id="11" name="Rounded Rectangle 10"/>
            <p:cNvSpPr/>
            <p:nvPr/>
          </p:nvSpPr>
          <p:spPr>
            <a:xfrm>
              <a:off x="451944" y="1094018"/>
              <a:ext cx="8411640" cy="1923886"/>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spAutoFit/>
            </a:bodyPr>
            <a:lstStyle/>
            <a:p>
              <a:pPr marL="628650">
                <a:lnSpc>
                  <a:spcPct val="107000"/>
                </a:lnSpc>
              </a:pPr>
              <a:r>
                <a:rPr lang="en-US" sz="2000" dirty="0">
                  <a:solidFill>
                    <a:srgbClr val="6C993D"/>
                  </a:solidFill>
                  <a:latin typeface="Verdana"/>
                  <a:ea typeface="Verdana"/>
                  <a:cs typeface="Verdana"/>
                </a:rPr>
                <a:t>A </a:t>
              </a:r>
              <a:r>
                <a:rPr lang="en-US" sz="2000" b="1" i="1" dirty="0">
                  <a:solidFill>
                    <a:srgbClr val="6C993D"/>
                  </a:solidFill>
                  <a:latin typeface="Verdana"/>
                  <a:ea typeface="Verdana"/>
                  <a:cs typeface="Verdana"/>
                </a:rPr>
                <a:t>box plot</a:t>
              </a:r>
              <a:r>
                <a:rPr lang="en-US" sz="2000" dirty="0">
                  <a:solidFill>
                    <a:srgbClr val="6C993D"/>
                  </a:solidFill>
                  <a:latin typeface="Verdana"/>
                  <a:ea typeface="Verdana"/>
                  <a:cs typeface="Verdana"/>
                </a:rPr>
                <a:t> is a plot displaying the spread or distribution of a data set using a five-number summary: the minimum, lower quartile (first quartile), median, upper quartile (third quartile), and maximum. It is also called a box-and-whisker plot.</a:t>
              </a:r>
              <a:endParaRPr lang="en-PH" sz="1200" dirty="0">
                <a:latin typeface="Calibri"/>
                <a:ea typeface="游明朝"/>
              </a:endParaRPr>
            </a:p>
          </p:txBody>
        </p:sp>
        <p:pic>
          <p:nvPicPr>
            <p:cNvPr id="14" name="Picture 13"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bwMode="auto">
            <a:xfrm>
              <a:off x="564218" y="1271928"/>
              <a:ext cx="548640" cy="548640"/>
            </a:xfrm>
            <a:prstGeom prst="rect">
              <a:avLst/>
            </a:prstGeom>
            <a:noFill/>
            <a:ln>
              <a:noFill/>
            </a:ln>
            <a:effectLst>
              <a:outerShdw blurRad="50800" dist="38100" dir="2700000" algn="tl" rotWithShape="0">
                <a:prstClr val="black">
                  <a:alpha val="40000"/>
                </a:prstClr>
              </a:outerShdw>
            </a:effectLst>
          </p:spPr>
        </p:pic>
      </p:grpSp>
      <p:sp>
        <p:nvSpPr>
          <p:cNvPr id="20" name="Rectangle 19"/>
          <p:cNvSpPr/>
          <p:nvPr/>
        </p:nvSpPr>
        <p:spPr>
          <a:xfrm>
            <a:off x="2298700" y="4817745"/>
            <a:ext cx="742950" cy="40132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100">
                <a:latin typeface="Calibri"/>
                <a:ea typeface="游明朝"/>
              </a:rPr>
              <a:t> </a:t>
            </a:r>
            <a:endParaRPr lang="en-PH" sz="1100">
              <a:latin typeface="Calibri"/>
              <a:ea typeface="游明朝"/>
            </a:endParaRPr>
          </a:p>
        </p:txBody>
      </p:sp>
      <p:sp>
        <p:nvSpPr>
          <p:cNvPr id="21" name="Rectangle 20"/>
          <p:cNvSpPr/>
          <p:nvPr/>
        </p:nvSpPr>
        <p:spPr>
          <a:xfrm>
            <a:off x="3429000" y="4830445"/>
            <a:ext cx="742950" cy="40132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100">
                <a:latin typeface="Calibri"/>
                <a:ea typeface="游明朝"/>
              </a:rPr>
              <a:t> </a:t>
            </a:r>
            <a:endParaRPr lang="en-PH" sz="1100">
              <a:latin typeface="Calibri"/>
              <a:ea typeface="游明朝"/>
            </a:endParaRPr>
          </a:p>
        </p:txBody>
      </p:sp>
      <p:sp>
        <p:nvSpPr>
          <p:cNvPr id="22" name="Rectangle 21"/>
          <p:cNvSpPr/>
          <p:nvPr/>
        </p:nvSpPr>
        <p:spPr>
          <a:xfrm>
            <a:off x="4762500" y="4830445"/>
            <a:ext cx="742950" cy="40132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100">
                <a:latin typeface="Calibri"/>
                <a:ea typeface="游明朝"/>
              </a:rPr>
              <a:t> </a:t>
            </a:r>
            <a:endParaRPr lang="en-PH" sz="1100">
              <a:latin typeface="Calibri"/>
              <a:ea typeface="游明朝"/>
            </a:endParaRPr>
          </a:p>
        </p:txBody>
      </p:sp>
      <p:sp>
        <p:nvSpPr>
          <p:cNvPr id="23" name="Rectangle 22"/>
          <p:cNvSpPr/>
          <p:nvPr/>
        </p:nvSpPr>
        <p:spPr>
          <a:xfrm>
            <a:off x="6527800" y="4855845"/>
            <a:ext cx="742950" cy="40132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r>
              <a:rPr lang="en-US" sz="1100">
                <a:latin typeface="Calibri"/>
                <a:ea typeface="游明朝"/>
              </a:rPr>
              <a:t> </a:t>
            </a:r>
            <a:endParaRPr lang="en-PH" sz="1100">
              <a:latin typeface="Calibri"/>
              <a:ea typeface="游明朝"/>
            </a:endParaRPr>
          </a:p>
        </p:txBody>
      </p:sp>
      <p:grpSp>
        <p:nvGrpSpPr>
          <p:cNvPr id="258" name="Group 257"/>
          <p:cNvGrpSpPr/>
          <p:nvPr/>
        </p:nvGrpSpPr>
        <p:grpSpPr>
          <a:xfrm>
            <a:off x="2648203" y="4257569"/>
            <a:ext cx="6895595" cy="2146715"/>
            <a:chOff x="-42040" y="4166455"/>
            <a:chExt cx="6895595" cy="2146715"/>
          </a:xfrm>
        </p:grpSpPr>
        <p:pic>
          <p:nvPicPr>
            <p:cNvPr id="2059" name="image22.png" descr="Description: Box and whisker chart&#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l="13457" t="35889" r="1900" b="33749"/>
            <a:stretch>
              <a:fillRect/>
            </a:stretch>
          </p:blipFill>
          <p:spPr bwMode="auto">
            <a:xfrm>
              <a:off x="-42040" y="4605000"/>
              <a:ext cx="6810375" cy="1543050"/>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p:cNvGrpSpPr/>
            <p:nvPr/>
          </p:nvGrpSpPr>
          <p:grpSpPr>
            <a:xfrm>
              <a:off x="25400" y="5541645"/>
              <a:ext cx="2002155" cy="718185"/>
              <a:chOff x="25400" y="5541645"/>
              <a:chExt cx="2002155" cy="718185"/>
            </a:xfrm>
          </p:grpSpPr>
          <p:sp>
            <p:nvSpPr>
              <p:cNvPr id="17" name="Rounded Rectangle 16"/>
              <p:cNvSpPr/>
              <p:nvPr/>
            </p:nvSpPr>
            <p:spPr>
              <a:xfrm>
                <a:off x="25400" y="5744845"/>
                <a:ext cx="2002155" cy="514985"/>
              </a:xfrm>
              <a:prstGeom prst="roundRect">
                <a:avLst>
                  <a:gd name="adj" fmla="val 16667"/>
                </a:avLst>
              </a:prstGeom>
              <a:ln w="19050">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a:lnSpc>
                    <a:spcPct val="107000"/>
                  </a:lnSpc>
                </a:pPr>
                <a:r>
                  <a:rPr lang="en-US" sz="1100">
                    <a:ea typeface="游明朝"/>
                  </a:rPr>
                  <a:t> </a:t>
                </a:r>
                <a:endParaRPr lang="en-PH" sz="1100">
                  <a:ea typeface="游明朝"/>
                </a:endParaRPr>
              </a:p>
            </p:txBody>
          </p:sp>
          <p:cxnSp>
            <p:nvCxnSpPr>
              <p:cNvPr id="24" name="Straight Arrow Connector 23"/>
              <p:cNvCxnSpPr/>
              <p:nvPr/>
            </p:nvCxnSpPr>
            <p:spPr>
              <a:xfrm rot="10800000" flipH="1">
                <a:off x="355600" y="5541645"/>
                <a:ext cx="160020" cy="210185"/>
              </a:xfrm>
              <a:prstGeom prst="straightConnector1">
                <a:avLst/>
              </a:prstGeom>
              <a:ln w="19050">
                <a:headEnd type="none" w="sm" len="sm"/>
                <a:tailEnd type="triangle" w="med" len="med"/>
              </a:ln>
            </p:spPr>
            <p:style>
              <a:lnRef idx="2">
                <a:schemeClr val="accent6"/>
              </a:lnRef>
              <a:fillRef idx="1">
                <a:schemeClr val="lt1"/>
              </a:fillRef>
              <a:effectRef idx="0">
                <a:schemeClr val="accent6"/>
              </a:effectRef>
              <a:fontRef idx="minor">
                <a:schemeClr val="dk1"/>
              </a:fontRef>
            </p:style>
          </p:cxnSp>
        </p:grpSp>
        <p:grpSp>
          <p:nvGrpSpPr>
            <p:cNvPr id="256" name="Group 255"/>
            <p:cNvGrpSpPr/>
            <p:nvPr/>
          </p:nvGrpSpPr>
          <p:grpSpPr>
            <a:xfrm>
              <a:off x="2171700" y="5658485"/>
              <a:ext cx="2002155" cy="654685"/>
              <a:chOff x="2171700" y="5658485"/>
              <a:chExt cx="2002155" cy="654685"/>
            </a:xfrm>
          </p:grpSpPr>
          <p:sp>
            <p:nvSpPr>
              <p:cNvPr id="18" name="Rounded Rectangle 17"/>
              <p:cNvSpPr/>
              <p:nvPr/>
            </p:nvSpPr>
            <p:spPr>
              <a:xfrm>
                <a:off x="2171700" y="5798185"/>
                <a:ext cx="2002155" cy="514985"/>
              </a:xfrm>
              <a:prstGeom prst="roundRect">
                <a:avLst>
                  <a:gd name="adj" fmla="val 16667"/>
                </a:avLst>
              </a:prstGeom>
              <a:ln w="19050">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a:lnSpc>
                    <a:spcPct val="107000"/>
                  </a:lnSpc>
                </a:pPr>
                <a:r>
                  <a:rPr lang="en-US" sz="1100">
                    <a:ea typeface="游明朝"/>
                  </a:rPr>
                  <a:t> </a:t>
                </a:r>
                <a:endParaRPr lang="en-PH" sz="1100">
                  <a:ea typeface="游明朝"/>
                </a:endParaRPr>
              </a:p>
            </p:txBody>
          </p:sp>
          <p:cxnSp>
            <p:nvCxnSpPr>
              <p:cNvPr id="25" name="Straight Arrow Connector 24"/>
              <p:cNvCxnSpPr/>
              <p:nvPr/>
            </p:nvCxnSpPr>
            <p:spPr>
              <a:xfrm rot="10800000">
                <a:off x="2811780" y="5658485"/>
                <a:ext cx="126365" cy="137160"/>
              </a:xfrm>
              <a:prstGeom prst="straightConnector1">
                <a:avLst/>
              </a:prstGeom>
              <a:ln w="19050">
                <a:headEnd type="none" w="sm" len="sm"/>
                <a:tailEnd type="triangle" w="med" len="med"/>
              </a:ln>
            </p:spPr>
            <p:style>
              <a:lnRef idx="2">
                <a:schemeClr val="accent6"/>
              </a:lnRef>
              <a:fillRef idx="1">
                <a:schemeClr val="lt1"/>
              </a:fillRef>
              <a:effectRef idx="0">
                <a:schemeClr val="accent6"/>
              </a:effectRef>
              <a:fontRef idx="minor">
                <a:schemeClr val="dk1"/>
              </a:fontRef>
            </p:style>
          </p:cxnSp>
        </p:grpSp>
        <p:grpSp>
          <p:nvGrpSpPr>
            <p:cNvPr id="257" name="Group 256"/>
            <p:cNvGrpSpPr/>
            <p:nvPr/>
          </p:nvGrpSpPr>
          <p:grpSpPr>
            <a:xfrm>
              <a:off x="4851400" y="5528945"/>
              <a:ext cx="2002155" cy="730885"/>
              <a:chOff x="4851400" y="5528945"/>
              <a:chExt cx="2002155" cy="730885"/>
            </a:xfrm>
          </p:grpSpPr>
          <p:sp>
            <p:nvSpPr>
              <p:cNvPr id="19" name="Rounded Rectangle 18"/>
              <p:cNvSpPr/>
              <p:nvPr/>
            </p:nvSpPr>
            <p:spPr>
              <a:xfrm>
                <a:off x="4851400" y="5744845"/>
                <a:ext cx="2002155" cy="514985"/>
              </a:xfrm>
              <a:prstGeom prst="roundRect">
                <a:avLst>
                  <a:gd name="adj" fmla="val 16667"/>
                </a:avLst>
              </a:prstGeom>
              <a:ln w="19050">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a:lnSpc>
                    <a:spcPct val="107000"/>
                  </a:lnSpc>
                </a:pPr>
                <a:r>
                  <a:rPr lang="en-US" sz="1100">
                    <a:ea typeface="游明朝"/>
                  </a:rPr>
                  <a:t> </a:t>
                </a:r>
                <a:endParaRPr lang="en-PH" sz="1100">
                  <a:ea typeface="游明朝"/>
                </a:endParaRPr>
              </a:p>
            </p:txBody>
          </p:sp>
          <p:cxnSp>
            <p:nvCxnSpPr>
              <p:cNvPr id="26" name="Straight Arrow Connector 25"/>
              <p:cNvCxnSpPr/>
              <p:nvPr/>
            </p:nvCxnSpPr>
            <p:spPr>
              <a:xfrm rot="10800000" flipH="1">
                <a:off x="6134100" y="5528945"/>
                <a:ext cx="208280" cy="207010"/>
              </a:xfrm>
              <a:prstGeom prst="straightConnector1">
                <a:avLst/>
              </a:prstGeom>
              <a:ln w="19050">
                <a:headEnd type="none" w="sm" len="sm"/>
                <a:tailEnd type="triangle" w="med" len="med"/>
              </a:ln>
            </p:spPr>
            <p:style>
              <a:lnRef idx="2">
                <a:schemeClr val="accent6"/>
              </a:lnRef>
              <a:fillRef idx="1">
                <a:schemeClr val="lt1"/>
              </a:fillRef>
              <a:effectRef idx="0">
                <a:schemeClr val="accent6"/>
              </a:effectRef>
              <a:fontRef idx="minor">
                <a:schemeClr val="dk1"/>
              </a:fontRef>
            </p:style>
          </p:cxnSp>
        </p:grpSp>
        <p:grpSp>
          <p:nvGrpSpPr>
            <p:cNvPr id="30" name="Group 29"/>
            <p:cNvGrpSpPr/>
            <p:nvPr/>
          </p:nvGrpSpPr>
          <p:grpSpPr>
            <a:xfrm>
              <a:off x="863600" y="4166455"/>
              <a:ext cx="2002155" cy="635635"/>
              <a:chOff x="863600" y="4197985"/>
              <a:chExt cx="2002155" cy="635635"/>
            </a:xfrm>
          </p:grpSpPr>
          <p:sp>
            <p:nvSpPr>
              <p:cNvPr id="15" name="Rounded Rectangle 14"/>
              <p:cNvSpPr/>
              <p:nvPr/>
            </p:nvSpPr>
            <p:spPr>
              <a:xfrm>
                <a:off x="863600" y="4197985"/>
                <a:ext cx="2002155" cy="514985"/>
              </a:xfrm>
              <a:prstGeom prst="roundRect">
                <a:avLst>
                  <a:gd name="adj" fmla="val 16667"/>
                </a:avLst>
              </a:prstGeom>
              <a:ln w="19050">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a:lnSpc>
                    <a:spcPct val="107000"/>
                  </a:lnSpc>
                </a:pPr>
                <a:r>
                  <a:rPr lang="en-US" sz="1100">
                    <a:ea typeface="游明朝"/>
                  </a:rPr>
                  <a:t> </a:t>
                </a:r>
                <a:endParaRPr lang="en-PH" sz="1100">
                  <a:ea typeface="游明朝"/>
                </a:endParaRPr>
              </a:p>
            </p:txBody>
          </p:sp>
          <p:cxnSp>
            <p:nvCxnSpPr>
              <p:cNvPr id="27" name="Straight Arrow Connector 26"/>
              <p:cNvCxnSpPr/>
              <p:nvPr/>
            </p:nvCxnSpPr>
            <p:spPr>
              <a:xfrm>
                <a:off x="1498600" y="4703445"/>
                <a:ext cx="174625" cy="130175"/>
              </a:xfrm>
              <a:prstGeom prst="straightConnector1">
                <a:avLst/>
              </a:prstGeom>
              <a:ln w="19050">
                <a:headEnd type="none" w="sm" len="sm"/>
                <a:tailEnd type="triangle" w="med" len="med"/>
              </a:ln>
            </p:spPr>
            <p:style>
              <a:lnRef idx="2">
                <a:schemeClr val="accent6"/>
              </a:lnRef>
              <a:fillRef idx="1">
                <a:schemeClr val="lt1"/>
              </a:fillRef>
              <a:effectRef idx="0">
                <a:schemeClr val="accent6"/>
              </a:effectRef>
              <a:fontRef idx="minor">
                <a:schemeClr val="dk1"/>
              </a:fontRef>
            </p:style>
          </p:cxnSp>
        </p:grpSp>
        <p:grpSp>
          <p:nvGrpSpPr>
            <p:cNvPr id="29" name="Group 28"/>
            <p:cNvGrpSpPr/>
            <p:nvPr/>
          </p:nvGrpSpPr>
          <p:grpSpPr>
            <a:xfrm>
              <a:off x="3378200" y="4166455"/>
              <a:ext cx="2002155" cy="635000"/>
              <a:chOff x="3378200" y="4197985"/>
              <a:chExt cx="2002155" cy="635000"/>
            </a:xfrm>
          </p:grpSpPr>
          <p:sp>
            <p:nvSpPr>
              <p:cNvPr id="16" name="Rounded Rectangle 15"/>
              <p:cNvSpPr/>
              <p:nvPr/>
            </p:nvSpPr>
            <p:spPr>
              <a:xfrm>
                <a:off x="3378200" y="4197985"/>
                <a:ext cx="2002155" cy="514985"/>
              </a:xfrm>
              <a:prstGeom prst="roundRect">
                <a:avLst>
                  <a:gd name="adj" fmla="val 16667"/>
                </a:avLst>
              </a:prstGeom>
              <a:ln w="19050">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a:lnSpc>
                    <a:spcPct val="107000"/>
                  </a:lnSpc>
                </a:pPr>
                <a:r>
                  <a:rPr lang="en-US" sz="1100">
                    <a:ea typeface="游明朝"/>
                  </a:rPr>
                  <a:t> </a:t>
                </a:r>
                <a:endParaRPr lang="en-PH" sz="1100">
                  <a:ea typeface="游明朝"/>
                </a:endParaRPr>
              </a:p>
            </p:txBody>
          </p:sp>
          <p:cxnSp>
            <p:nvCxnSpPr>
              <p:cNvPr id="28" name="Straight Arrow Connector 27"/>
              <p:cNvCxnSpPr/>
              <p:nvPr/>
            </p:nvCxnSpPr>
            <p:spPr>
              <a:xfrm flipH="1">
                <a:off x="4445000" y="4703445"/>
                <a:ext cx="285750" cy="129540"/>
              </a:xfrm>
              <a:prstGeom prst="straightConnector1">
                <a:avLst/>
              </a:prstGeom>
              <a:ln w="19050">
                <a:headEnd type="none" w="sm" len="sm"/>
                <a:tailEnd type="triangle" w="med" len="med"/>
              </a:ln>
            </p:spPr>
            <p:style>
              <a:lnRef idx="2">
                <a:schemeClr val="accent6"/>
              </a:lnRef>
              <a:fillRef idx="1">
                <a:schemeClr val="lt1"/>
              </a:fillRef>
              <a:effectRef idx="0">
                <a:schemeClr val="accent6"/>
              </a:effectRef>
              <a:fontRef idx="minor">
                <a:schemeClr val="dk1"/>
              </a:fontRef>
            </p:style>
          </p:cxnSp>
        </p:grpSp>
      </p:grpSp>
      <p:sp>
        <p:nvSpPr>
          <p:cNvPr id="3" name="Rectangle 16"/>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buClrTx/>
            </a:pPr>
            <a:endParaRPr lang="en-US" sz="1800">
              <a:solidFill>
                <a:schemeClr val="tx1"/>
              </a:solidFill>
              <a:latin typeface="Arial" pitchFamily="34" charset="0"/>
              <a:cs typeface="Arial" pitchFamily="34" charset="0"/>
            </a:endParaRPr>
          </a:p>
        </p:txBody>
      </p:sp>
      <p:sp>
        <p:nvSpPr>
          <p:cNvPr id="4" name="Rectangle 19"/>
          <p:cNvSpPr>
            <a:spLocks noChangeArrowheads="1"/>
          </p:cNvSpPr>
          <p:nvPr/>
        </p:nvSpPr>
        <p:spPr bwMode="auto">
          <a:xfrm>
            <a:off x="1524001" y="-44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buClrTx/>
            </a:pPr>
            <a:br>
              <a:rPr lang="en-PH" sz="1800">
                <a:solidFill>
                  <a:schemeClr val="tx1"/>
                </a:solidFill>
                <a:latin typeface="Arial" pitchFamily="34" charset="0"/>
                <a:cs typeface="Arial" pitchFamily="34" charset="0"/>
              </a:rPr>
            </a:br>
            <a:endParaRPr lang="en-PH" sz="1800">
              <a:solidFill>
                <a:schemeClr val="tx1"/>
              </a:solidFill>
              <a:latin typeface="Arial" pitchFamily="34" charset="0"/>
              <a:cs typeface="Arial" pitchFamily="34" charset="0"/>
            </a:endParaRPr>
          </a:p>
          <a:p>
            <a:pPr eaLnBrk="0" fontAlgn="base" hangingPunct="0">
              <a:spcBef>
                <a:spcPct val="0"/>
              </a:spcBef>
              <a:spcAft>
                <a:spcPct val="0"/>
              </a:spcAft>
              <a:buClrTx/>
            </a:pPr>
            <a:endParaRPr lang="en-PH" sz="1800">
              <a:solidFill>
                <a:schemeClr val="tx1"/>
              </a:solidFill>
              <a:latin typeface="Arial" pitchFamily="34" charset="0"/>
              <a:cs typeface="Arial" pitchFamily="34" charset="0"/>
            </a:endParaRPr>
          </a:p>
        </p:txBody>
      </p:sp>
      <p:sp>
        <p:nvSpPr>
          <p:cNvPr id="5" name="Rectangle 21"/>
          <p:cNvSpPr>
            <a:spLocks noChangeArrowheads="1"/>
          </p:cNvSpPr>
          <p:nvPr/>
        </p:nvSpPr>
        <p:spPr bwMode="auto">
          <a:xfrm>
            <a:off x="1524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H"/>
          </a:p>
        </p:txBody>
      </p:sp>
      <p:sp>
        <p:nvSpPr>
          <p:cNvPr id="6" name="Rectangle 25"/>
          <p:cNvSpPr>
            <a:spLocks noChangeArrowheads="1"/>
          </p:cNvSpPr>
          <p:nvPr/>
        </p:nvSpPr>
        <p:spPr bwMode="auto">
          <a:xfrm>
            <a:off x="1524001" y="167708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buClrTx/>
            </a:pPr>
            <a:endParaRPr lang="en-PH" sz="1800">
              <a:solidFill>
                <a:schemeClr val="tx1"/>
              </a:solidFill>
              <a:latin typeface="Arial" pitchFamily="34" charset="0"/>
              <a:cs typeface="Arial" pitchFamily="34" charset="0"/>
            </a:endParaRPr>
          </a:p>
          <a:p>
            <a:pPr eaLnBrk="0" fontAlgn="base" hangingPunct="0">
              <a:spcBef>
                <a:spcPct val="0"/>
              </a:spcBef>
              <a:spcAft>
                <a:spcPct val="0"/>
              </a:spcAft>
              <a:buClrTx/>
            </a:pPr>
            <a:endParaRPr lang="en-PH" sz="1800">
              <a:solidFill>
                <a:schemeClr val="tx1"/>
              </a:solidFill>
              <a:latin typeface="Arial" pitchFamily="34" charset="0"/>
              <a:cs typeface="Arial" pitchFamily="34" charset="0"/>
            </a:endParaRPr>
          </a:p>
        </p:txBody>
      </p:sp>
      <p:sp>
        <p:nvSpPr>
          <p:cNvPr id="37"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3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4" y="380036"/>
            <a:ext cx="8407988" cy="3785652"/>
          </a:xfrm>
          <a:prstGeom prst="rect">
            <a:avLst/>
          </a:prstGeom>
          <a:noFill/>
        </p:spPr>
        <p:txBody>
          <a:bodyPr wrap="square" rtlCol="0">
            <a:spAutoFit/>
          </a:bodyPr>
          <a:lstStyle/>
          <a:p>
            <a:pPr marL="457200" lvl="3" indent="-457200">
              <a:buFont typeface="+mj-lt"/>
              <a:buAutoNum type="arabicPeriod" startAt="2"/>
            </a:pPr>
            <a:r>
              <a:rPr lang="en-US" sz="2000" dirty="0">
                <a:latin typeface="Verdana" pitchFamily="34" charset="0"/>
                <a:ea typeface="Verdana" pitchFamily="34" charset="0"/>
                <a:cs typeface="Verdana"/>
              </a:rPr>
              <a:t>Complete the statement.</a:t>
            </a:r>
            <a:endParaRPr lang="en-PH" sz="2000" dirty="0">
              <a:latin typeface="Verdana" pitchFamily="34" charset="0"/>
              <a:ea typeface="Verdana" pitchFamily="34" charset="0"/>
            </a:endParaRPr>
          </a:p>
          <a:p>
            <a:pPr marL="457200" lvl="3" indent="-457200">
              <a:buFont typeface="+mj-lt"/>
              <a:buAutoNum type="arabicPeriod" startAt="2"/>
            </a:pPr>
            <a:endParaRPr lang="en-PH" sz="2000" dirty="0">
              <a:latin typeface="Verdana" pitchFamily="34" charset="0"/>
              <a:ea typeface="Verdana" pitchFamily="34" charset="0"/>
              <a:cs typeface="Verdana"/>
            </a:endParaRPr>
          </a:p>
          <a:p>
            <a:pPr marL="457200"/>
            <a:r>
              <a:rPr lang="en-US" sz="2000" dirty="0">
                <a:latin typeface="Verdana" pitchFamily="34" charset="0"/>
                <a:ea typeface="Verdana" pitchFamily="34" charset="0"/>
                <a:cs typeface="Verdana"/>
              </a:rPr>
              <a:t>The </a:t>
            </a:r>
            <a:r>
              <a:rPr lang="en-US" sz="2000" b="1" i="1" dirty="0">
                <a:latin typeface="Verdana" pitchFamily="34" charset="0"/>
                <a:ea typeface="Verdana" pitchFamily="34" charset="0"/>
                <a:cs typeface="Verdana"/>
              </a:rPr>
              <a:t>first quartile (Q</a:t>
            </a:r>
            <a:r>
              <a:rPr lang="en-US" sz="2000" b="1" i="1" baseline="-25000" dirty="0">
                <a:latin typeface="Verdana" pitchFamily="34" charset="0"/>
                <a:ea typeface="Verdana" pitchFamily="34" charset="0"/>
                <a:cs typeface="Verdana"/>
              </a:rPr>
              <a:t>1</a:t>
            </a:r>
            <a:r>
              <a:rPr lang="en-US" sz="2000" b="1" i="1" dirty="0">
                <a:latin typeface="Verdana" pitchFamily="34" charset="0"/>
                <a:ea typeface="Verdana" pitchFamily="34" charset="0"/>
                <a:cs typeface="Verdana"/>
              </a:rPr>
              <a:t>)</a:t>
            </a:r>
            <a:r>
              <a:rPr lang="en-US" sz="2000" dirty="0">
                <a:latin typeface="Verdana" pitchFamily="34" charset="0"/>
                <a:ea typeface="Verdana" pitchFamily="34" charset="0"/>
                <a:cs typeface="Verdana"/>
              </a:rPr>
              <a:t> is the middle value of the data that </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are 		      the median. </a:t>
            </a:r>
            <a:endParaRPr lang="en-PH" sz="2000" dirty="0">
              <a:latin typeface="Verdana" pitchFamily="34" charset="0"/>
              <a:ea typeface="Verdana" pitchFamily="34" charset="0"/>
            </a:endParaRPr>
          </a:p>
          <a:p>
            <a:pPr marL="457200"/>
            <a:r>
              <a:rPr lang="en-US" sz="2000" dirty="0">
                <a:latin typeface="Verdana" pitchFamily="34" charset="0"/>
                <a:ea typeface="Verdana" pitchFamily="34" charset="0"/>
                <a:cs typeface="Verdana"/>
              </a:rPr>
              <a:t> </a:t>
            </a:r>
            <a:endParaRPr lang="en-PH" sz="2000" dirty="0">
              <a:latin typeface="Verdana" pitchFamily="34" charset="0"/>
              <a:ea typeface="Verdana" pitchFamily="34" charset="0"/>
            </a:endParaRPr>
          </a:p>
          <a:p>
            <a:pPr marL="457200"/>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The </a:t>
            </a:r>
            <a:r>
              <a:rPr lang="en-US" sz="2000" b="1" i="1" dirty="0">
                <a:latin typeface="Verdana" pitchFamily="34" charset="0"/>
                <a:ea typeface="Verdana" pitchFamily="34" charset="0"/>
                <a:cs typeface="Verdana"/>
              </a:rPr>
              <a:t>third quartile (Q</a:t>
            </a:r>
            <a:r>
              <a:rPr lang="en-US" sz="2000" b="1" i="1" baseline="-25000" dirty="0">
                <a:latin typeface="Verdana" pitchFamily="34" charset="0"/>
                <a:ea typeface="Verdana" pitchFamily="34" charset="0"/>
                <a:cs typeface="Verdana"/>
              </a:rPr>
              <a:t>3</a:t>
            </a:r>
            <a:r>
              <a:rPr lang="en-US" sz="2000" b="1" i="1" dirty="0">
                <a:latin typeface="Verdana" pitchFamily="34" charset="0"/>
                <a:ea typeface="Verdana" pitchFamily="34" charset="0"/>
                <a:cs typeface="Verdana"/>
              </a:rPr>
              <a:t>)</a:t>
            </a:r>
            <a:r>
              <a:rPr lang="en-US" sz="2000" dirty="0">
                <a:latin typeface="Verdana" pitchFamily="34" charset="0"/>
                <a:ea typeface="Verdana" pitchFamily="34" charset="0"/>
                <a:cs typeface="Verdana"/>
              </a:rPr>
              <a:t> is the middle value of the data that </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are 		      the median.</a:t>
            </a:r>
          </a:p>
        </p:txBody>
      </p:sp>
      <p:sp>
        <p:nvSpPr>
          <p:cNvPr id="7" name="Rounded Rectangle 6"/>
          <p:cNvSpPr/>
          <p:nvPr/>
        </p:nvSpPr>
        <p:spPr>
          <a:xfrm>
            <a:off x="3094015" y="1462815"/>
            <a:ext cx="2181729" cy="1297343"/>
          </a:xfrm>
          <a:prstGeom prst="roundRect">
            <a:avLst>
              <a:gd name="adj" fmla="val 16667"/>
            </a:avLst>
          </a:prstGeom>
          <a:solidFill>
            <a:sysClr val="window" lastClr="FFFFFF"/>
          </a:solidFill>
          <a:ln w="19050" cap="flat" cmpd="sng" algn="ctr">
            <a:solidFill>
              <a:sysClr val="windowText" lastClr="000000"/>
            </a:solidFill>
            <a:prstDash val="solid"/>
            <a:miter lim="800000"/>
            <a:headEnd type="none" w="sm" len="sm"/>
            <a:tailEnd type="none" w="sm" len="sm"/>
          </a:ln>
          <a:effectLst/>
        </p:spPr>
        <p:txBody>
          <a:bodyPr spcFirstLastPara="1" wrap="square" lIns="91425" tIns="91425" rIns="91425" bIns="91425" anchor="ctr" anchorCtr="0">
            <a:spAutoFit/>
          </a:bodyPr>
          <a:lstStyle/>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less than</a:t>
            </a:r>
            <a:endParaRPr lang="en-PH" sz="20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greater than</a:t>
            </a:r>
            <a:endParaRPr lang="en-PH" sz="20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equal to</a:t>
            </a:r>
            <a:endParaRPr lang="en-PH" sz="2000" dirty="0">
              <a:solidFill>
                <a:sysClr val="windowText" lastClr="000000"/>
              </a:solidFill>
              <a:latin typeface="Verdana" pitchFamily="34" charset="0"/>
              <a:ea typeface="Verdana" pitchFamily="34" charset="0"/>
              <a:cs typeface="+mn-cs"/>
            </a:endParaRPr>
          </a:p>
        </p:txBody>
      </p:sp>
      <p:sp>
        <p:nvSpPr>
          <p:cNvPr id="8" name="Rounded Rectangle 7"/>
          <p:cNvSpPr/>
          <p:nvPr/>
        </p:nvSpPr>
        <p:spPr>
          <a:xfrm>
            <a:off x="3094015" y="3284469"/>
            <a:ext cx="2181729" cy="1297343"/>
          </a:xfrm>
          <a:prstGeom prst="roundRect">
            <a:avLst>
              <a:gd name="adj" fmla="val 16667"/>
            </a:avLst>
          </a:prstGeom>
          <a:solidFill>
            <a:sysClr val="window" lastClr="FFFFFF"/>
          </a:solidFill>
          <a:ln w="19050" cap="flat" cmpd="sng" algn="ctr">
            <a:solidFill>
              <a:sysClr val="windowText" lastClr="000000"/>
            </a:solidFill>
            <a:prstDash val="solid"/>
            <a:miter lim="800000"/>
            <a:headEnd type="none" w="sm" len="sm"/>
            <a:tailEnd type="none" w="sm" len="sm"/>
          </a:ln>
          <a:effectLst/>
        </p:spPr>
        <p:txBody>
          <a:bodyPr spcFirstLastPara="1" wrap="square" lIns="91425" tIns="91425" rIns="91425" bIns="91425" anchor="ctr" anchorCtr="0">
            <a:spAutoFit/>
          </a:bodyPr>
          <a:lstStyle/>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less than</a:t>
            </a:r>
            <a:endParaRPr lang="en-PH" sz="20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greater than</a:t>
            </a:r>
            <a:endParaRPr lang="en-PH" sz="20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000" dirty="0">
                <a:solidFill>
                  <a:sysClr val="windowText" lastClr="000000"/>
                </a:solidFill>
                <a:latin typeface="Verdana" pitchFamily="34" charset="0"/>
                <a:ea typeface="Verdana" pitchFamily="34" charset="0"/>
                <a:cs typeface="+mn-cs"/>
              </a:rPr>
              <a:t>equal to</a:t>
            </a:r>
            <a:endParaRPr lang="en-PH" sz="2000" dirty="0">
              <a:solidFill>
                <a:sysClr val="windowText" lastClr="000000"/>
              </a:solidFill>
              <a:latin typeface="Verdana" pitchFamily="34" charset="0"/>
              <a:ea typeface="Verdana" pitchFamily="34" charset="0"/>
              <a:cs typeface="+mn-cs"/>
            </a:endParaRPr>
          </a:p>
        </p:txBody>
      </p:sp>
      <p:grpSp>
        <p:nvGrpSpPr>
          <p:cNvPr id="2" name="Group 1"/>
          <p:cNvGrpSpPr/>
          <p:nvPr/>
        </p:nvGrpSpPr>
        <p:grpSpPr>
          <a:xfrm>
            <a:off x="2007764" y="4852549"/>
            <a:ext cx="7920000" cy="1559531"/>
            <a:chOff x="483764" y="5053234"/>
            <a:chExt cx="7920000" cy="1559531"/>
          </a:xfrm>
        </p:grpSpPr>
        <mc:AlternateContent xmlns:mc="http://schemas.openxmlformats.org/markup-compatibility/2006" xmlns:a14="http://schemas.microsoft.com/office/drawing/2010/main">
          <mc:Choice Requires="a14">
            <p:sp>
              <p:nvSpPr>
                <p:cNvPr id="20" name="Rounded Rectangle 19"/>
                <p:cNvSpPr/>
                <p:nvPr/>
              </p:nvSpPr>
              <p:spPr>
                <a:xfrm>
                  <a:off x="483764" y="5053234"/>
                  <a:ext cx="7920000" cy="1559531"/>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539750">
                    <a:lnSpc>
                      <a:spcPct val="107000"/>
                    </a:lnSpc>
                  </a:pPr>
                  <a:r>
                    <a:rPr lang="en-US" sz="2000" dirty="0">
                      <a:solidFill>
                        <a:srgbClr val="6C993D"/>
                      </a:solidFill>
                      <a:latin typeface="Verdana" pitchFamily="34" charset="0"/>
                      <a:ea typeface="Verdana" pitchFamily="34" charset="0"/>
                      <a:cs typeface="Verdana"/>
                    </a:rPr>
                    <a:t>For a data set with median, </a:t>
                  </a:r>
                  <a14:m>
                    <m:oMath xmlns:m="http://schemas.openxmlformats.org/officeDocument/2006/math">
                      <m:r>
                        <a:rPr lang="en-US" sz="2000" i="1">
                          <a:solidFill>
                            <a:srgbClr val="6C993D"/>
                          </a:solidFill>
                          <a:latin typeface="Cambria Math"/>
                          <a:ea typeface="Verdana"/>
                          <a:cs typeface="Verdana"/>
                        </a:rPr>
                        <m:t>𝑀</m:t>
                      </m:r>
                    </m:oMath>
                  </a14:m>
                  <a:r>
                    <a:rPr lang="en-US" sz="2000" dirty="0">
                      <a:solidFill>
                        <a:srgbClr val="6C993D"/>
                      </a:solidFill>
                      <a:latin typeface="Verdana" pitchFamily="34" charset="0"/>
                      <a:ea typeface="Verdana" pitchFamily="34" charset="0"/>
                      <a:cs typeface="Verdana"/>
                    </a:rPr>
                    <a:t>, the first </a:t>
                  </a:r>
                  <a:r>
                    <a:rPr lang="en-US" sz="2000" b="1" i="1" dirty="0">
                      <a:solidFill>
                        <a:srgbClr val="6C993D"/>
                      </a:solidFill>
                      <a:latin typeface="Verdana" pitchFamily="34" charset="0"/>
                      <a:ea typeface="Verdana" pitchFamily="34" charset="0"/>
                      <a:cs typeface="Verdana"/>
                    </a:rPr>
                    <a:t>quartile</a:t>
                  </a:r>
                  <a:r>
                    <a:rPr lang="en-US" sz="2000" dirty="0">
                      <a:solidFill>
                        <a:srgbClr val="6C993D"/>
                      </a:solidFill>
                      <a:latin typeface="Verdana" pitchFamily="34" charset="0"/>
                      <a:ea typeface="Verdana" pitchFamily="34" charset="0"/>
                      <a:cs typeface="Verdana"/>
                    </a:rPr>
                    <a:t> is the median of the data values less than </a:t>
                  </a:r>
                  <a14:m>
                    <m:oMath xmlns:m="http://schemas.openxmlformats.org/officeDocument/2006/math">
                      <m:r>
                        <a:rPr lang="en-US" sz="2000" i="1">
                          <a:solidFill>
                            <a:srgbClr val="6C993D"/>
                          </a:solidFill>
                          <a:latin typeface="Cambria Math"/>
                          <a:ea typeface="Verdana"/>
                          <a:cs typeface="Verdana"/>
                        </a:rPr>
                        <m:t>𝑀</m:t>
                      </m:r>
                    </m:oMath>
                  </a14:m>
                  <a:r>
                    <a:rPr lang="en-US" sz="2000" dirty="0">
                      <a:solidFill>
                        <a:srgbClr val="6C993D"/>
                      </a:solidFill>
                      <a:latin typeface="Verdana" pitchFamily="34" charset="0"/>
                      <a:ea typeface="Verdana" pitchFamily="34" charset="0"/>
                      <a:cs typeface="Verdana"/>
                    </a:rPr>
                    <a:t>, and the third </a:t>
                  </a:r>
                  <a:r>
                    <a:rPr lang="en-US" sz="2000" b="1" i="1" dirty="0">
                      <a:solidFill>
                        <a:srgbClr val="6C993D"/>
                      </a:solidFill>
                      <a:latin typeface="Verdana" pitchFamily="34" charset="0"/>
                      <a:ea typeface="Verdana" pitchFamily="34" charset="0"/>
                      <a:cs typeface="Verdana"/>
                    </a:rPr>
                    <a:t>quartile</a:t>
                  </a:r>
                  <a:r>
                    <a:rPr lang="en-US" sz="2000" dirty="0">
                      <a:solidFill>
                        <a:srgbClr val="6C993D"/>
                      </a:solidFill>
                      <a:latin typeface="Verdana" pitchFamily="34" charset="0"/>
                      <a:ea typeface="Verdana" pitchFamily="34" charset="0"/>
                      <a:cs typeface="Verdana"/>
                    </a:rPr>
                    <a:t> is the median of the data values greater than </a:t>
                  </a:r>
                  <a14:m>
                    <m:oMath xmlns:m="http://schemas.openxmlformats.org/officeDocument/2006/math">
                      <m:r>
                        <a:rPr lang="en-US" sz="2000" i="1">
                          <a:solidFill>
                            <a:srgbClr val="6C993D"/>
                          </a:solidFill>
                          <a:latin typeface="Cambria Math"/>
                          <a:ea typeface="Verdana"/>
                          <a:cs typeface="Verdana"/>
                        </a:rPr>
                        <m:t>𝑀</m:t>
                      </m:r>
                    </m:oMath>
                  </a14:m>
                  <a:r>
                    <a:rPr lang="en-US" sz="2000" dirty="0">
                      <a:solidFill>
                        <a:srgbClr val="6C993D"/>
                      </a:solidFill>
                      <a:latin typeface="Verdana" pitchFamily="34" charset="0"/>
                      <a:ea typeface="Verdana" pitchFamily="34" charset="0"/>
                      <a:cs typeface="Verdana"/>
                    </a:rPr>
                    <a:t>. The second </a:t>
                  </a:r>
                  <a:r>
                    <a:rPr lang="en-US" sz="2000" b="1" i="1" dirty="0">
                      <a:solidFill>
                        <a:srgbClr val="6C993D"/>
                      </a:solidFill>
                      <a:latin typeface="Verdana" pitchFamily="34" charset="0"/>
                      <a:ea typeface="Verdana" pitchFamily="34" charset="0"/>
                      <a:cs typeface="Verdana"/>
                    </a:rPr>
                    <a:t>quartile</a:t>
                  </a:r>
                  <a:r>
                    <a:rPr lang="en-US" sz="2000" dirty="0">
                      <a:solidFill>
                        <a:srgbClr val="6C993D"/>
                      </a:solidFill>
                      <a:latin typeface="Verdana" pitchFamily="34" charset="0"/>
                      <a:ea typeface="Verdana" pitchFamily="34" charset="0"/>
                      <a:cs typeface="Verdana"/>
                    </a:rPr>
                    <a:t> is the median, </a:t>
                  </a:r>
                  <a14:m>
                    <m:oMath xmlns:m="http://schemas.openxmlformats.org/officeDocument/2006/math">
                      <m:r>
                        <a:rPr lang="en-US" sz="2000" i="1">
                          <a:solidFill>
                            <a:srgbClr val="6C993D"/>
                          </a:solidFill>
                          <a:latin typeface="Cambria Math"/>
                          <a:ea typeface="Verdana"/>
                          <a:cs typeface="Verdana"/>
                        </a:rPr>
                        <m:t>𝑀</m:t>
                      </m:r>
                    </m:oMath>
                  </a14:m>
                  <a:r>
                    <a:rPr lang="en-US" sz="2000" dirty="0">
                      <a:solidFill>
                        <a:srgbClr val="6C993D"/>
                      </a:solidFill>
                      <a:latin typeface="Verdana" pitchFamily="34" charset="0"/>
                      <a:ea typeface="Verdana" pitchFamily="34" charset="0"/>
                      <a:cs typeface="Verdana"/>
                    </a:rPr>
                    <a:t>.</a:t>
                  </a:r>
                  <a:endParaRPr lang="en-PH" sz="2000" dirty="0">
                    <a:latin typeface="Verdana" pitchFamily="34" charset="0"/>
                    <a:ea typeface="Verdana" pitchFamily="34" charset="0"/>
                  </a:endParaRPr>
                </a:p>
              </p:txBody>
            </p:sp>
          </mc:Choice>
          <mc:Fallback xmlns="">
            <p:sp>
              <p:nvSpPr>
                <p:cNvPr id="20" name="Rounded Rectangle 19"/>
                <p:cNvSpPr>
                  <a:spLocks noRot="1" noChangeAspect="1" noMove="1" noResize="1" noEditPoints="1" noAdjustHandles="1" noChangeArrowheads="1" noChangeShapeType="1" noTextEdit="1"/>
                </p:cNvSpPr>
                <p:nvPr/>
              </p:nvSpPr>
              <p:spPr>
                <a:xfrm>
                  <a:off x="483764" y="5053234"/>
                  <a:ext cx="7920000" cy="1559531"/>
                </a:xfrm>
                <a:prstGeom prst="roundRect">
                  <a:avLst>
                    <a:gd name="adj" fmla="val 16667"/>
                  </a:avLst>
                </a:prstGeom>
                <a:blipFill rotWithShape="1">
                  <a:blip r:embed="rId4"/>
                  <a:stretch>
                    <a:fillRect/>
                  </a:stretch>
                </a:blip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7" name="Picture 16" descr="Icon&#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bwMode="auto">
            <a:xfrm>
              <a:off x="575511" y="5238764"/>
              <a:ext cx="548640" cy="548640"/>
            </a:xfrm>
            <a:prstGeom prst="rect">
              <a:avLst/>
            </a:prstGeom>
            <a:noFill/>
            <a:ln>
              <a:noFill/>
            </a:ln>
            <a:effectLst>
              <a:outerShdw blurRad="50800" dist="38100" dir="2700000" algn="tl" rotWithShape="0">
                <a:prstClr val="black">
                  <a:alpha val="40000"/>
                </a:prstClr>
              </a:outerShdw>
            </a:effectLst>
          </p:spPr>
        </p:pic>
      </p:grpSp>
      <p:sp>
        <p:nvSpPr>
          <p:cNvPr id="11"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598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6" y="386862"/>
            <a:ext cx="8045211" cy="3468001"/>
          </a:xfrm>
          <a:prstGeom prst="rect">
            <a:avLst/>
          </a:prstGeom>
          <a:noFill/>
        </p:spPr>
        <p:txBody>
          <a:bodyPr wrap="square" rtlCol="0">
            <a:spAutoFit/>
          </a:bodyPr>
          <a:lstStyle/>
          <a:p>
            <a:pPr marL="457200" lvl="3" indent="-457200">
              <a:lnSpc>
                <a:spcPct val="107000"/>
              </a:lnSpc>
              <a:buFont typeface="+mj-lt"/>
              <a:buAutoNum type="arabicPeriod" startAt="3"/>
            </a:pPr>
            <a:r>
              <a:rPr lang="en-US" sz="2400" dirty="0">
                <a:latin typeface="Verdana" pitchFamily="34" charset="0"/>
                <a:ea typeface="Verdana" pitchFamily="34" charset="0"/>
                <a:cs typeface="Verdana"/>
              </a:rPr>
              <a:t>Complete the statement.</a:t>
            </a:r>
          </a:p>
          <a:p>
            <a:pPr lvl="3">
              <a:lnSpc>
                <a:spcPct val="107000"/>
              </a:lnSpc>
            </a:pPr>
            <a:endParaRPr lang="en-US" sz="2400" dirty="0">
              <a:latin typeface="Verdana" pitchFamily="34" charset="0"/>
              <a:ea typeface="Verdana" pitchFamily="34" charset="0"/>
            </a:endParaRPr>
          </a:p>
          <a:p>
            <a:pPr marL="452438"/>
            <a:r>
              <a:rPr lang="en-US" sz="2400" dirty="0">
                <a:latin typeface="Verdana" pitchFamily="34" charset="0"/>
                <a:ea typeface="Verdana" pitchFamily="34" charset="0"/>
              </a:rPr>
              <a:t>The measure of central tendency used to create </a:t>
            </a:r>
            <a:br>
              <a:rPr lang="en-US" sz="2400" dirty="0">
                <a:latin typeface="Verdana" pitchFamily="34" charset="0"/>
                <a:ea typeface="Verdana" pitchFamily="34" charset="0"/>
              </a:rPr>
            </a:br>
            <a:br>
              <a:rPr lang="en-US" sz="2400" dirty="0">
                <a:latin typeface="Verdana" pitchFamily="34" charset="0"/>
                <a:ea typeface="Verdana" pitchFamily="34" charset="0"/>
              </a:rPr>
            </a:br>
            <a:br>
              <a:rPr lang="en-US" sz="2400" dirty="0">
                <a:latin typeface="Verdana" pitchFamily="34" charset="0"/>
                <a:ea typeface="Verdana" pitchFamily="34" charset="0"/>
              </a:rPr>
            </a:br>
            <a:r>
              <a:rPr lang="en-US" sz="2400" dirty="0">
                <a:latin typeface="Verdana" pitchFamily="34" charset="0"/>
                <a:ea typeface="Verdana" pitchFamily="34" charset="0"/>
              </a:rPr>
              <a:t>a box plot is the 		     which divides the </a:t>
            </a:r>
            <a:br>
              <a:rPr lang="en-US" sz="2400" dirty="0">
                <a:latin typeface="Verdana" pitchFamily="34" charset="0"/>
                <a:ea typeface="Verdana" pitchFamily="34" charset="0"/>
              </a:rPr>
            </a:br>
            <a:br>
              <a:rPr lang="en-US" sz="2400" dirty="0">
                <a:latin typeface="Verdana" pitchFamily="34" charset="0"/>
                <a:ea typeface="Verdana" pitchFamily="34" charset="0"/>
              </a:rPr>
            </a:br>
            <a:br>
              <a:rPr lang="en-US" sz="2400" dirty="0">
                <a:latin typeface="Verdana" pitchFamily="34" charset="0"/>
                <a:ea typeface="Verdana" pitchFamily="34" charset="0"/>
              </a:rPr>
            </a:br>
            <a:r>
              <a:rPr lang="en-US" sz="2400" dirty="0">
                <a:latin typeface="Verdana" pitchFamily="34" charset="0"/>
                <a:ea typeface="Verdana" pitchFamily="34" charset="0"/>
              </a:rPr>
              <a:t>data set in half.</a:t>
            </a:r>
            <a:endParaRPr lang="en-US" sz="2400" dirty="0">
              <a:latin typeface="Verdana"/>
              <a:ea typeface="Verdana"/>
              <a:cs typeface="Verdana"/>
            </a:endParaRPr>
          </a:p>
        </p:txBody>
      </p:sp>
      <p:sp>
        <p:nvSpPr>
          <p:cNvPr id="7" name="Rounded Rectangle 6"/>
          <p:cNvSpPr/>
          <p:nvPr/>
        </p:nvSpPr>
        <p:spPr>
          <a:xfrm>
            <a:off x="5169260" y="1804562"/>
            <a:ext cx="1893693" cy="1311636"/>
          </a:xfrm>
          <a:prstGeom prst="roundRect">
            <a:avLst>
              <a:gd name="adj" fmla="val 16667"/>
            </a:avLst>
          </a:prstGeom>
          <a:solidFill>
            <a:sysClr val="window" lastClr="FFFFFF"/>
          </a:solidFill>
          <a:ln w="19050" cap="flat" cmpd="sng" algn="ctr">
            <a:solidFill>
              <a:sysClr val="windowText" lastClr="000000"/>
            </a:solidFill>
            <a:prstDash val="solid"/>
            <a:miter lim="800000"/>
            <a:headEnd type="none" w="sm" len="sm"/>
            <a:tailEnd type="none" w="sm" len="sm"/>
          </a:ln>
          <a:effectLst/>
        </p:spPr>
        <p:txBody>
          <a:bodyPr spcFirstLastPara="1" wrap="square" lIns="91425" tIns="0" rIns="91425" bIns="0" anchor="ctr" anchorCtr="0">
            <a:spAutoFit/>
          </a:bodyPr>
          <a:lstStyle/>
          <a:p>
            <a:pPr marL="273050" indent="-273050">
              <a:lnSpc>
                <a:spcPct val="107000"/>
              </a:lnSpc>
              <a:buClrTx/>
              <a:buSzPct val="100000"/>
              <a:buFont typeface="Courier New"/>
              <a:buChar char="o"/>
              <a:defRPr/>
            </a:pPr>
            <a:r>
              <a:rPr lang="en-US" sz="2400" dirty="0">
                <a:solidFill>
                  <a:sysClr val="windowText" lastClr="000000"/>
                </a:solidFill>
                <a:latin typeface="Verdana" pitchFamily="34" charset="0"/>
                <a:ea typeface="Verdana" pitchFamily="34" charset="0"/>
                <a:cs typeface="+mn-cs"/>
              </a:rPr>
              <a:t>mean,</a:t>
            </a:r>
            <a:endParaRPr lang="en-PH" sz="24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400" dirty="0">
                <a:solidFill>
                  <a:sysClr val="windowText" lastClr="000000"/>
                </a:solidFill>
                <a:latin typeface="Verdana" pitchFamily="34" charset="0"/>
                <a:ea typeface="Verdana" pitchFamily="34" charset="0"/>
                <a:cs typeface="+mn-cs"/>
              </a:rPr>
              <a:t>median,</a:t>
            </a:r>
            <a:endParaRPr lang="en-PH" sz="2400" dirty="0">
              <a:solidFill>
                <a:sysClr val="windowText" lastClr="000000"/>
              </a:solidFill>
              <a:latin typeface="Verdana" pitchFamily="34" charset="0"/>
              <a:ea typeface="Verdana" pitchFamily="34" charset="0"/>
              <a:cs typeface="+mn-cs"/>
            </a:endParaRPr>
          </a:p>
          <a:p>
            <a:pPr marL="273050" indent="-273050">
              <a:lnSpc>
                <a:spcPct val="107000"/>
              </a:lnSpc>
              <a:buClrTx/>
              <a:buSzPct val="100000"/>
              <a:buFont typeface="Courier New"/>
              <a:buChar char="o"/>
              <a:defRPr/>
            </a:pPr>
            <a:r>
              <a:rPr lang="en-US" sz="2400" dirty="0">
                <a:solidFill>
                  <a:sysClr val="windowText" lastClr="000000"/>
                </a:solidFill>
                <a:latin typeface="Verdana" pitchFamily="34" charset="0"/>
                <a:ea typeface="Verdana" pitchFamily="34" charset="0"/>
                <a:cs typeface="+mn-cs"/>
              </a:rPr>
              <a:t>mode,</a:t>
            </a:r>
            <a:endParaRPr lang="en-PH" sz="2400" dirty="0">
              <a:solidFill>
                <a:sysClr val="windowText" lastClr="000000"/>
              </a:solidFill>
              <a:latin typeface="Verdana" pitchFamily="34" charset="0"/>
              <a:ea typeface="Verdana" pitchFamily="34" charset="0"/>
              <a:cs typeface="+mn-cs"/>
            </a:endParaRPr>
          </a:p>
        </p:txBody>
      </p:sp>
      <p:sp>
        <p:nvSpPr>
          <p:cNvPr id="8"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54434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7" name="Group 16"/>
          <p:cNvGrpSpPr/>
          <p:nvPr/>
        </p:nvGrpSpPr>
        <p:grpSpPr>
          <a:xfrm>
            <a:off x="2007765" y="3858724"/>
            <a:ext cx="8280000" cy="1195176"/>
            <a:chOff x="0" y="83245"/>
            <a:chExt cx="8280000" cy="1195512"/>
          </a:xfrm>
          <a:effectLst>
            <a:outerShdw blurRad="50800" dist="38100" dir="2700000" algn="tl" rotWithShape="0">
              <a:prstClr val="black">
                <a:alpha val="40000"/>
              </a:prstClr>
            </a:outerShdw>
          </a:effectLst>
        </p:grpSpPr>
        <p:sp>
          <p:nvSpPr>
            <p:cNvPr id="18" name="Rounded Rectangle 17"/>
            <p:cNvSpPr/>
            <p:nvPr/>
          </p:nvSpPr>
          <p:spPr>
            <a:xfrm>
              <a:off x="0" y="83245"/>
              <a:ext cx="8280000" cy="1195512"/>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spAutoFit/>
            </a:bodyPr>
            <a:lstStyle/>
            <a:p>
              <a:pPr marL="633413" indent="-6350">
                <a:lnSpc>
                  <a:spcPct val="107000"/>
                </a:lnSpc>
              </a:pPr>
              <a:r>
                <a:rPr lang="en-US" sz="2000" dirty="0">
                  <a:solidFill>
                    <a:srgbClr val="6C993D"/>
                  </a:solidFill>
                  <a:latin typeface="Verdana"/>
                  <a:ea typeface="Verdana"/>
                  <a:cs typeface="Verdana"/>
                </a:rPr>
                <a:t>A measure of variation in a set of numerical data, the </a:t>
              </a:r>
              <a:r>
                <a:rPr lang="en-US" sz="2000" b="1" i="1" dirty="0">
                  <a:solidFill>
                    <a:srgbClr val="6C993D"/>
                  </a:solidFill>
                  <a:latin typeface="Verdana"/>
                  <a:ea typeface="Verdana"/>
                  <a:cs typeface="Verdana"/>
                </a:rPr>
                <a:t>interquartile range</a:t>
              </a:r>
              <a:r>
                <a:rPr lang="en-US" sz="2000" dirty="0">
                  <a:solidFill>
                    <a:srgbClr val="6C993D"/>
                  </a:solidFill>
                  <a:latin typeface="Verdana"/>
                  <a:ea typeface="Verdana"/>
                  <a:cs typeface="Verdana"/>
                </a:rPr>
                <a:t> is the distance between the first and third quartiles of the data set. </a:t>
              </a:r>
              <a:endParaRPr lang="en-PH" sz="1200" dirty="0">
                <a:latin typeface="Calibri"/>
                <a:ea typeface="游明朝"/>
              </a:endParaRPr>
            </a:p>
          </p:txBody>
        </p:sp>
        <p:pic>
          <p:nvPicPr>
            <p:cNvPr id="19" name="Picture 18" descr="Icon&#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6444" y="211015"/>
              <a:ext cx="548640" cy="548640"/>
            </a:xfrm>
            <a:prstGeom prst="rect">
              <a:avLst/>
            </a:prstGeom>
            <a:noFill/>
            <a:ln>
              <a:noFill/>
            </a:ln>
            <a:effectLst>
              <a:outerShdw blurRad="50800" dist="38100" dir="2700000" algn="tl" rotWithShape="0">
                <a:prstClr val="black">
                  <a:alpha val="40000"/>
                </a:prstClr>
              </a:outerShdw>
            </a:effectLst>
          </p:spPr>
        </p:pic>
      </p:grpSp>
      <p:grpSp>
        <p:nvGrpSpPr>
          <p:cNvPr id="23" name="Group 22"/>
          <p:cNvGrpSpPr/>
          <p:nvPr/>
        </p:nvGrpSpPr>
        <p:grpSpPr>
          <a:xfrm>
            <a:off x="2007765" y="5279132"/>
            <a:ext cx="8280000" cy="794385"/>
            <a:chOff x="0" y="0"/>
            <a:chExt cx="8280000" cy="794754"/>
          </a:xfrm>
          <a:effectLst>
            <a:outerShdw blurRad="50800" dist="38100" dir="2700000" algn="tl" rotWithShape="0">
              <a:prstClr val="black">
                <a:alpha val="40000"/>
              </a:prstClr>
            </a:outerShdw>
          </a:effectLst>
        </p:grpSpPr>
        <p:sp>
          <p:nvSpPr>
            <p:cNvPr id="24" name="Rounded Rectangle 23"/>
            <p:cNvSpPr/>
            <p:nvPr/>
          </p:nvSpPr>
          <p:spPr>
            <a:xfrm>
              <a:off x="0" y="0"/>
              <a:ext cx="8280000" cy="794754"/>
            </a:xfrm>
            <a:prstGeom prst="roundRect">
              <a:avLst>
                <a:gd name="adj" fmla="val 16667"/>
              </a:avLst>
            </a:prstGeom>
            <a:solidFill>
              <a:srgbClr val="B7E6F4"/>
            </a:solidFill>
            <a:ln w="12700" cap="flat" cmpd="sng">
              <a:solidFill>
                <a:srgbClr val="B8E7F5"/>
              </a:solidFill>
              <a:prstDash val="solid"/>
              <a:miter lim="800000"/>
              <a:headEnd type="none" w="sm" len="sm"/>
              <a:tailEnd type="none" w="sm" len="sm"/>
            </a:ln>
          </p:spPr>
          <p:txBody>
            <a:bodyPr spcFirstLastPara="1" wrap="square" lIns="91425" tIns="45700" rIns="91425" bIns="45700" anchor="ctr" anchorCtr="0">
              <a:noAutofit/>
            </a:bodyPr>
            <a:lstStyle/>
            <a:p>
              <a:pPr marL="633413">
                <a:lnSpc>
                  <a:spcPct val="107000"/>
                </a:lnSpc>
              </a:pPr>
              <a:r>
                <a:rPr lang="en-US" sz="2000" b="1" dirty="0">
                  <a:solidFill>
                    <a:srgbClr val="02619E"/>
                  </a:solidFill>
                  <a:latin typeface="Verdana"/>
                  <a:ea typeface="Verdana"/>
                  <a:cs typeface="Verdana"/>
                </a:rPr>
                <a:t>IQR = (Q</a:t>
              </a:r>
              <a:r>
                <a:rPr lang="en-US" sz="2000" b="1" baseline="-25000" dirty="0">
                  <a:solidFill>
                    <a:srgbClr val="02619E"/>
                  </a:solidFill>
                  <a:latin typeface="Verdana"/>
                  <a:ea typeface="Verdana"/>
                  <a:cs typeface="Verdana"/>
                </a:rPr>
                <a:t>3</a:t>
              </a:r>
              <a:r>
                <a:rPr lang="en-US" sz="2000" b="1" dirty="0">
                  <a:solidFill>
                    <a:srgbClr val="02619E"/>
                  </a:solidFill>
                  <a:latin typeface="Verdana"/>
                  <a:ea typeface="Verdana"/>
                  <a:cs typeface="Verdana"/>
                </a:rPr>
                <a:t>) - (Q</a:t>
              </a:r>
              <a:r>
                <a:rPr lang="en-US" sz="2000" b="1" baseline="-25000" dirty="0">
                  <a:solidFill>
                    <a:srgbClr val="02619E"/>
                  </a:solidFill>
                  <a:latin typeface="Verdana"/>
                  <a:ea typeface="Verdana"/>
                  <a:cs typeface="Verdana"/>
                </a:rPr>
                <a:t>1</a:t>
              </a:r>
              <a:r>
                <a:rPr lang="en-US" sz="2000" b="1" dirty="0">
                  <a:solidFill>
                    <a:srgbClr val="02619E"/>
                  </a:solidFill>
                  <a:latin typeface="Verdana"/>
                  <a:ea typeface="Verdana"/>
                  <a:cs typeface="Verdana"/>
                </a:rPr>
                <a:t>) </a:t>
              </a:r>
              <a:endParaRPr lang="en-PH" sz="1200" dirty="0">
                <a:latin typeface="Calibri"/>
                <a:ea typeface="游明朝"/>
              </a:endParaRPr>
            </a:p>
          </p:txBody>
        </p:sp>
        <p:pic>
          <p:nvPicPr>
            <p:cNvPr id="25" name="Picture 24" descr="Icon&#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6444" y="121278"/>
              <a:ext cx="548640" cy="548640"/>
            </a:xfrm>
            <a:prstGeom prst="rect">
              <a:avLst/>
            </a:prstGeom>
            <a:noFill/>
            <a:ln>
              <a:noFill/>
            </a:ln>
            <a:effectLst>
              <a:outerShdw blurRad="50800" dist="38100" dir="2700000" algn="tl" rotWithShape="0">
                <a:prstClr val="black">
                  <a:alpha val="40000"/>
                </a:prstClr>
              </a:outerShdw>
            </a:effectLst>
          </p:spPr>
        </p:pic>
      </p:grpSp>
      <p:sp>
        <p:nvSpPr>
          <p:cNvPr id="3" name="Rectangle 2"/>
          <p:cNvSpPr/>
          <p:nvPr/>
        </p:nvSpPr>
        <p:spPr>
          <a:xfrm>
            <a:off x="1139252" y="381810"/>
            <a:ext cx="10064162" cy="2463367"/>
          </a:xfrm>
          <a:prstGeom prst="rect">
            <a:avLst/>
          </a:prstGeom>
        </p:spPr>
        <p:txBody>
          <a:bodyPr wrap="square">
            <a:spAutoFit/>
          </a:bodyPr>
          <a:lstStyle/>
          <a:p>
            <a:pPr lvl="0">
              <a:lnSpc>
                <a:spcPct val="107000"/>
              </a:lnSpc>
            </a:pPr>
            <a:r>
              <a:rPr lang="en-US" sz="2400" dirty="0">
                <a:latin typeface="Verdana"/>
                <a:ea typeface="Verdana"/>
                <a:cs typeface="Verdana"/>
              </a:rPr>
              <a:t>A number line often accompanies a box plot and is used to determine the values associated with each part of the plot.</a:t>
            </a:r>
            <a:endParaRPr lang="en-PH" sz="2400" dirty="0">
              <a:latin typeface="Calibri"/>
              <a:ea typeface="游明朝"/>
            </a:endParaRPr>
          </a:p>
          <a:p>
            <a:pPr lvl="0">
              <a:lnSpc>
                <a:spcPct val="107000"/>
              </a:lnSpc>
            </a:pPr>
            <a:endParaRPr lang="en-PH" sz="2400" dirty="0">
              <a:latin typeface="Calibri"/>
              <a:ea typeface="游明朝"/>
            </a:endParaRPr>
          </a:p>
          <a:p>
            <a:pPr lvl="0">
              <a:lnSpc>
                <a:spcPct val="107000"/>
              </a:lnSpc>
            </a:pPr>
            <a:r>
              <a:rPr lang="en-US" sz="2400" dirty="0">
                <a:latin typeface="Verdana"/>
                <a:ea typeface="Verdana"/>
                <a:cs typeface="Verdana"/>
              </a:rPr>
              <a:t>Another measure of variability like </a:t>
            </a:r>
            <a:r>
              <a:rPr lang="en-US" sz="2400" b="1" i="1" dirty="0">
                <a:latin typeface="Verdana"/>
                <a:ea typeface="Verdana"/>
                <a:cs typeface="Verdana"/>
              </a:rPr>
              <a:t>range</a:t>
            </a:r>
            <a:r>
              <a:rPr lang="en-US" sz="2400" dirty="0">
                <a:latin typeface="Verdana"/>
                <a:ea typeface="Verdana"/>
                <a:cs typeface="Verdana"/>
              </a:rPr>
              <a:t>,</a:t>
            </a:r>
            <a:r>
              <a:rPr lang="en-US" sz="2400" b="1" dirty="0">
                <a:latin typeface="Verdana"/>
                <a:ea typeface="Verdana"/>
                <a:cs typeface="Verdana"/>
              </a:rPr>
              <a:t> </a:t>
            </a:r>
            <a:r>
              <a:rPr lang="en-US" sz="2400" dirty="0">
                <a:latin typeface="Verdana"/>
                <a:ea typeface="Verdana"/>
                <a:cs typeface="Verdana"/>
              </a:rPr>
              <a:t>the </a:t>
            </a:r>
            <a:r>
              <a:rPr lang="en-US" sz="2400" b="1" i="1" dirty="0">
                <a:latin typeface="Verdana"/>
                <a:ea typeface="Verdana"/>
                <a:cs typeface="Verdana"/>
              </a:rPr>
              <a:t>interquartile range (IQR), </a:t>
            </a:r>
            <a:r>
              <a:rPr lang="en-US" sz="2400" dirty="0">
                <a:latin typeface="Verdana"/>
                <a:ea typeface="Verdana"/>
                <a:cs typeface="Verdana"/>
              </a:rPr>
              <a:t>can be found by determining the difference in the third quartile from the first quartile.</a:t>
            </a:r>
            <a:endParaRPr lang="en-PH" sz="2400" dirty="0">
              <a:latin typeface="Calibri"/>
              <a:ea typeface="游明朝"/>
            </a:endParaRPr>
          </a:p>
        </p:txBody>
      </p:sp>
      <p:sp>
        <p:nvSpPr>
          <p:cNvPr id="12"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7290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79292" y="373249"/>
            <a:ext cx="10184082" cy="5624745"/>
          </a:xfrm>
          <a:prstGeom prst="rect">
            <a:avLst/>
          </a:prstGeom>
          <a:noFill/>
        </p:spPr>
        <p:txBody>
          <a:bodyPr wrap="square" rtlCol="0">
            <a:spAutoFit/>
          </a:bodyPr>
          <a:lstStyle/>
          <a:p>
            <a:pPr marL="457200" indent="-457200">
              <a:lnSpc>
                <a:spcPct val="107000"/>
              </a:lnSpc>
              <a:buFont typeface="+mj-lt"/>
              <a:buAutoNum type="arabicPeriod" startAt="4"/>
            </a:pPr>
            <a:r>
              <a:rPr lang="en-US" sz="2400" dirty="0">
                <a:latin typeface="Verdana" pitchFamily="34" charset="0"/>
                <a:ea typeface="Verdana" pitchFamily="34" charset="0"/>
                <a:cs typeface="Verdana"/>
              </a:rPr>
              <a:t>Revisit the box plot of the eggs laid by a farmer’s hens.</a:t>
            </a: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457200" indent="-457200">
              <a:lnSpc>
                <a:spcPct val="107000"/>
              </a:lnSpc>
              <a:buFont typeface="+mj-lt"/>
              <a:buAutoNum type="arabicPeriod" startAt="4"/>
            </a:pPr>
            <a:endParaRPr lang="en-US" sz="2400" dirty="0">
              <a:latin typeface="Verdana" pitchFamily="34" charset="0"/>
              <a:ea typeface="Verdana" pitchFamily="34" charset="0"/>
            </a:endParaRPr>
          </a:p>
          <a:p>
            <a:pPr marL="914400" lvl="1" indent="-457200">
              <a:lnSpc>
                <a:spcPct val="107000"/>
              </a:lnSpc>
              <a:buFont typeface="+mj-lt"/>
              <a:buAutoNum type="alphaLcPeriod"/>
            </a:pPr>
            <a:r>
              <a:rPr lang="en-US" sz="2400" dirty="0">
                <a:latin typeface="Verdana" pitchFamily="34" charset="0"/>
                <a:ea typeface="Verdana" pitchFamily="34" charset="0"/>
                <a:cs typeface="Verdana"/>
              </a:rPr>
              <a:t>What is the interquartile range (IQR) for the box plot of the context?</a:t>
            </a:r>
          </a:p>
          <a:p>
            <a:pPr marL="914400" lvl="1" indent="-457200">
              <a:lnSpc>
                <a:spcPct val="107000"/>
              </a:lnSpc>
              <a:buFont typeface="+mj-lt"/>
              <a:buAutoNum type="alphaLcPeriod"/>
            </a:pPr>
            <a:endParaRPr lang="en-US" sz="2400" dirty="0">
              <a:latin typeface="Verdana" pitchFamily="34" charset="0"/>
              <a:ea typeface="Verdana" pitchFamily="34" charset="0"/>
            </a:endParaRPr>
          </a:p>
          <a:p>
            <a:pPr marL="914400" lvl="1" indent="-457200">
              <a:lnSpc>
                <a:spcPct val="107000"/>
              </a:lnSpc>
              <a:buFont typeface="+mj-lt"/>
              <a:buAutoNum type="alphaLcPeriod"/>
            </a:pPr>
            <a:endParaRPr lang="en-PH" sz="2400" dirty="0">
              <a:latin typeface="Verdana" pitchFamily="34" charset="0"/>
              <a:ea typeface="Verdana" pitchFamily="34" charset="0"/>
            </a:endParaRPr>
          </a:p>
          <a:p>
            <a:pPr marL="914400" lvl="1" indent="-457200">
              <a:lnSpc>
                <a:spcPct val="107000"/>
              </a:lnSpc>
              <a:buFont typeface="+mj-lt"/>
              <a:buAutoNum type="alphaLcPeriod"/>
            </a:pPr>
            <a:r>
              <a:rPr lang="en-US" sz="2400" dirty="0">
                <a:latin typeface="Verdana" pitchFamily="34" charset="0"/>
                <a:ea typeface="Verdana" pitchFamily="34" charset="0"/>
                <a:cs typeface="Verdana"/>
              </a:rPr>
              <a:t>Label the IQR on the box plot.</a:t>
            </a:r>
            <a:endParaRPr lang="en-PH" sz="2400" dirty="0">
              <a:latin typeface="Verdana" pitchFamily="34" charset="0"/>
              <a:ea typeface="Verdana" pitchFamily="34" charset="0"/>
            </a:endParaRPr>
          </a:p>
        </p:txBody>
      </p:sp>
      <p:grpSp>
        <p:nvGrpSpPr>
          <p:cNvPr id="4" name="Group 3"/>
          <p:cNvGrpSpPr/>
          <p:nvPr/>
        </p:nvGrpSpPr>
        <p:grpSpPr>
          <a:xfrm>
            <a:off x="2623185" y="1202236"/>
            <a:ext cx="7711716" cy="2583742"/>
            <a:chOff x="1099185" y="2090420"/>
            <a:chExt cx="7711716" cy="2583742"/>
          </a:xfrm>
        </p:grpSpPr>
        <p:pic>
          <p:nvPicPr>
            <p:cNvPr id="6" name="Picture 5" descr="Chart, box and whisker chart&#10;&#10;Description automatically generated"/>
            <p:cNvPicPr/>
            <p:nvPr/>
          </p:nvPicPr>
          <p:blipFill rotWithShape="1">
            <a:blip r:embed="rId3" cstate="screen">
              <a:extLst>
                <a:ext uri="{28A0092B-C50C-407E-A947-70E740481C1C}">
                  <a14:useLocalDpi xmlns:a14="http://schemas.microsoft.com/office/drawing/2010/main"/>
                </a:ext>
              </a:extLst>
            </a:blip>
            <a:srcRect t="15189" b="55580"/>
            <a:stretch/>
          </p:blipFill>
          <p:spPr bwMode="auto">
            <a:xfrm>
              <a:off x="1099185" y="2408872"/>
              <a:ext cx="7711716" cy="226529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3019256" y="2090420"/>
              <a:ext cx="3871573" cy="487506"/>
            </a:xfrm>
            <a:prstGeom prst="rect">
              <a:avLst/>
            </a:prstGeom>
          </p:spPr>
          <p:txBody>
            <a:bodyPr wrap="none">
              <a:spAutoFit/>
            </a:bodyPr>
            <a:lstStyle/>
            <a:p>
              <a:pPr algn="ctr">
                <a:lnSpc>
                  <a:spcPct val="107000"/>
                </a:lnSpc>
              </a:pPr>
              <a:r>
                <a:rPr lang="en-PH" sz="2400" b="1" dirty="0">
                  <a:latin typeface="Verdana"/>
                  <a:ea typeface="Verdana"/>
                  <a:cs typeface="Verdana"/>
                </a:rPr>
                <a:t> </a:t>
              </a:r>
              <a:r>
                <a:rPr lang="en-US" sz="2400" b="1" dirty="0">
                  <a:latin typeface="Verdana"/>
                  <a:ea typeface="Verdana"/>
                  <a:cs typeface="Verdana"/>
                </a:rPr>
                <a:t>Number of Eggs Laid</a:t>
              </a:r>
              <a:endParaRPr lang="en-PH" sz="2400" dirty="0">
                <a:latin typeface="Calibri"/>
                <a:ea typeface="游明朝"/>
              </a:endParaRPr>
            </a:p>
          </p:txBody>
        </p:sp>
      </p:grpSp>
      <p:sp>
        <p:nvSpPr>
          <p:cNvPr id="9"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08664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611"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04790" y="50293"/>
            <a:ext cx="80193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9.4.4 Guided Practice: Interpreting Box Plots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4982" y="16473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1154761" y="1186329"/>
            <a:ext cx="10138510" cy="750975"/>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a:ea typeface="Verdana"/>
                <a:cs typeface="Verdana"/>
              </a:rPr>
              <a:t>The average price of milk, in dollars ($), for each month from April 2000 to November 2006 was used to create the box plot shown.</a:t>
            </a:r>
            <a:endParaRPr lang="en-PH" sz="2000" dirty="0">
              <a:latin typeface="Calibri"/>
              <a:ea typeface="游明朝"/>
            </a:endParaRPr>
          </a:p>
        </p:txBody>
      </p:sp>
      <p:grpSp>
        <p:nvGrpSpPr>
          <p:cNvPr id="2" name="Group 1"/>
          <p:cNvGrpSpPr/>
          <p:nvPr/>
        </p:nvGrpSpPr>
        <p:grpSpPr>
          <a:xfrm>
            <a:off x="2614444" y="2248929"/>
            <a:ext cx="6945630" cy="2060257"/>
            <a:chOff x="995850" y="2924810"/>
            <a:chExt cx="6945630" cy="2060257"/>
          </a:xfrm>
        </p:grpSpPr>
        <p:pic>
          <p:nvPicPr>
            <p:cNvPr id="21" name="Picture 20" descr="Chart, box and whisker chart&#10;&#10;Description automatically generated"/>
            <p:cNvPicPr/>
            <p:nvPr/>
          </p:nvPicPr>
          <p:blipFill rotWithShape="1">
            <a:blip r:embed="rId4" cstate="screen">
              <a:extLst>
                <a:ext uri="{28A0092B-C50C-407E-A947-70E740481C1C}">
                  <a14:useLocalDpi xmlns:a14="http://schemas.microsoft.com/office/drawing/2010/main"/>
                </a:ext>
              </a:extLst>
            </a:blip>
            <a:srcRect t="14571" b="58009"/>
            <a:stretch/>
          </p:blipFill>
          <p:spPr bwMode="auto">
            <a:xfrm>
              <a:off x="995850" y="3090227"/>
              <a:ext cx="6945630" cy="189484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Text Box 47"/>
                <p:cNvSpPr txBox="1"/>
                <p:nvPr/>
              </p:nvSpPr>
              <p:spPr>
                <a:xfrm>
                  <a:off x="1564005" y="2924810"/>
                  <a:ext cx="728345" cy="33083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a:ea typeface="游明朝"/>
                          </a:rPr>
                          <m:t>$2.66</m:t>
                        </m:r>
                      </m:oMath>
                    </m:oMathPara>
                  </a14:m>
                  <a:endParaRPr lang="en-PH" sz="2000" dirty="0">
                    <a:latin typeface="Calibri"/>
                    <a:ea typeface="游明朝"/>
                  </a:endParaRPr>
                </a:p>
              </p:txBody>
            </p:sp>
          </mc:Choice>
          <mc:Fallback xmlns="">
            <p:sp>
              <p:nvSpPr>
                <p:cNvPr id="16" name="Text Box 47"/>
                <p:cNvSpPr txBox="1">
                  <a:spLocks noRot="1" noChangeAspect="1" noMove="1" noResize="1" noEditPoints="1" noAdjustHandles="1" noChangeArrowheads="1" noChangeShapeType="1" noTextEdit="1"/>
                </p:cNvSpPr>
                <p:nvPr/>
              </p:nvSpPr>
              <p:spPr>
                <a:xfrm>
                  <a:off x="1564005" y="2924810"/>
                  <a:ext cx="728345" cy="330835"/>
                </a:xfrm>
                <a:prstGeom prst="rect">
                  <a:avLst/>
                </a:prstGeom>
                <a:blipFill rotWithShape="1">
                  <a:blip r:embed="rId6"/>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Text Box 48"/>
                <p:cNvSpPr txBox="1"/>
                <p:nvPr/>
              </p:nvSpPr>
              <p:spPr>
                <a:xfrm>
                  <a:off x="2292350" y="2926715"/>
                  <a:ext cx="728345" cy="33083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a:ea typeface="游明朝"/>
                          </a:rPr>
                          <m:t>$2.78</m:t>
                        </m:r>
                      </m:oMath>
                    </m:oMathPara>
                  </a14:m>
                  <a:endParaRPr lang="en-PH" sz="2000" dirty="0">
                    <a:latin typeface="Calibri"/>
                    <a:ea typeface="游明朝"/>
                  </a:endParaRPr>
                </a:p>
              </p:txBody>
            </p:sp>
          </mc:Choice>
          <mc:Fallback xmlns="">
            <p:sp>
              <p:nvSpPr>
                <p:cNvPr id="17" name="Text Box 48"/>
                <p:cNvSpPr txBox="1">
                  <a:spLocks noRot="1" noChangeAspect="1" noMove="1" noResize="1" noEditPoints="1" noAdjustHandles="1" noChangeArrowheads="1" noChangeShapeType="1" noTextEdit="1"/>
                </p:cNvSpPr>
                <p:nvPr/>
              </p:nvSpPr>
              <p:spPr>
                <a:xfrm>
                  <a:off x="2292350" y="2926715"/>
                  <a:ext cx="728345" cy="330835"/>
                </a:xfrm>
                <a:prstGeom prst="rect">
                  <a:avLst/>
                </a:prstGeom>
                <a:blipFill rotWithShape="1">
                  <a:blip r:embed="rId7"/>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 Box 49"/>
                <p:cNvSpPr txBox="1"/>
                <p:nvPr/>
              </p:nvSpPr>
              <p:spPr>
                <a:xfrm>
                  <a:off x="3326130" y="3602355"/>
                  <a:ext cx="728345" cy="33083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a:ea typeface="游明朝"/>
                          </a:rPr>
                          <m:t>$2.90</m:t>
                        </m:r>
                      </m:oMath>
                    </m:oMathPara>
                  </a14:m>
                  <a:endParaRPr lang="en-PH" sz="2000">
                    <a:latin typeface="Calibri"/>
                    <a:ea typeface="游明朝"/>
                  </a:endParaRPr>
                </a:p>
              </p:txBody>
            </p:sp>
          </mc:Choice>
          <mc:Fallback xmlns="">
            <p:sp>
              <p:nvSpPr>
                <p:cNvPr id="18" name="Text Box 49"/>
                <p:cNvSpPr txBox="1">
                  <a:spLocks noRot="1" noChangeAspect="1" noMove="1" noResize="1" noEditPoints="1" noAdjustHandles="1" noChangeArrowheads="1" noChangeShapeType="1" noTextEdit="1"/>
                </p:cNvSpPr>
                <p:nvPr/>
              </p:nvSpPr>
              <p:spPr>
                <a:xfrm>
                  <a:off x="3326130" y="3602355"/>
                  <a:ext cx="728345" cy="330835"/>
                </a:xfrm>
                <a:prstGeom prst="rect">
                  <a:avLst/>
                </a:prstGeom>
                <a:blipFill rotWithShape="1">
                  <a:blip r:embed="rId8"/>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9" name="Text Box 50"/>
                <p:cNvSpPr txBox="1"/>
                <p:nvPr/>
              </p:nvSpPr>
              <p:spPr>
                <a:xfrm>
                  <a:off x="4293870" y="2925445"/>
                  <a:ext cx="728345" cy="33083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a:ea typeface="游明朝"/>
                          </a:rPr>
                          <m:t>$3.13</m:t>
                        </m:r>
                      </m:oMath>
                    </m:oMathPara>
                  </a14:m>
                  <a:endParaRPr lang="en-PH" sz="2000">
                    <a:latin typeface="Calibri"/>
                    <a:ea typeface="游明朝"/>
                  </a:endParaRPr>
                </a:p>
              </p:txBody>
            </p:sp>
          </mc:Choice>
          <mc:Fallback xmlns="">
            <p:sp>
              <p:nvSpPr>
                <p:cNvPr id="19" name="Text Box 50"/>
                <p:cNvSpPr txBox="1">
                  <a:spLocks noRot="1" noChangeAspect="1" noMove="1" noResize="1" noEditPoints="1" noAdjustHandles="1" noChangeArrowheads="1" noChangeShapeType="1" noTextEdit="1"/>
                </p:cNvSpPr>
                <p:nvPr/>
              </p:nvSpPr>
              <p:spPr>
                <a:xfrm>
                  <a:off x="4293870" y="2925445"/>
                  <a:ext cx="728345" cy="330835"/>
                </a:xfrm>
                <a:prstGeom prst="rect">
                  <a:avLst/>
                </a:prstGeom>
                <a:blipFill rotWithShape="1">
                  <a:blip r:embed="rId9"/>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0" name="Text Box 51"/>
                <p:cNvSpPr txBox="1"/>
                <p:nvPr/>
              </p:nvSpPr>
              <p:spPr>
                <a:xfrm>
                  <a:off x="6851650" y="2926715"/>
                  <a:ext cx="728345" cy="33083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a:ea typeface="游明朝"/>
                          </a:rPr>
                          <m:t>$3.57</m:t>
                        </m:r>
                      </m:oMath>
                    </m:oMathPara>
                  </a14:m>
                  <a:endParaRPr lang="en-PH" sz="2000">
                    <a:latin typeface="Calibri"/>
                    <a:ea typeface="游明朝"/>
                  </a:endParaRPr>
                </a:p>
              </p:txBody>
            </p:sp>
          </mc:Choice>
          <mc:Fallback xmlns="">
            <p:sp>
              <p:nvSpPr>
                <p:cNvPr id="20" name="Text Box 51"/>
                <p:cNvSpPr txBox="1">
                  <a:spLocks noRot="1" noChangeAspect="1" noMove="1" noResize="1" noEditPoints="1" noAdjustHandles="1" noChangeArrowheads="1" noChangeShapeType="1" noTextEdit="1"/>
                </p:cNvSpPr>
                <p:nvPr/>
              </p:nvSpPr>
              <p:spPr>
                <a:xfrm>
                  <a:off x="6851650" y="2926715"/>
                  <a:ext cx="728345" cy="330835"/>
                </a:xfrm>
                <a:prstGeom prst="rect">
                  <a:avLst/>
                </a:prstGeom>
                <a:blipFill rotWithShape="1">
                  <a:blip r:embed="rId10"/>
                  <a:stretch>
                    <a:fillRect/>
                  </a:stretch>
                </a:blipFill>
                <a:ln w="6350">
                  <a:noFill/>
                </a:ln>
              </p:spPr>
              <p:txBody>
                <a:bodyPr/>
                <a:lstStyle/>
                <a:p>
                  <a:r>
                    <a:rPr lang="en-PH">
                      <a:noFill/>
                    </a:rPr>
                    <a:t> </a:t>
                  </a:r>
                </a:p>
              </p:txBody>
            </p:sp>
          </mc:Fallback>
        </mc:AlternateContent>
      </p:grpSp>
      <p:sp>
        <p:nvSpPr>
          <p:cNvPr id="4" name="Rectangle 3"/>
          <p:cNvSpPr/>
          <p:nvPr/>
        </p:nvSpPr>
        <p:spPr>
          <a:xfrm>
            <a:off x="1124262" y="4317279"/>
            <a:ext cx="10479924" cy="2397579"/>
          </a:xfrm>
          <a:prstGeom prst="rect">
            <a:avLst/>
          </a:prstGeom>
        </p:spPr>
        <p:txBody>
          <a:bodyPr wrap="square">
            <a:spAutoFit/>
          </a:bodyPr>
          <a:lstStyle/>
          <a:p>
            <a:pPr marL="914400" lvl="1" indent="-457200">
              <a:lnSpc>
                <a:spcPct val="107000"/>
              </a:lnSpc>
              <a:buFont typeface="+mj-lt"/>
              <a:buAutoNum type="alphaLcPeriod"/>
            </a:pPr>
            <a:r>
              <a:rPr lang="en-US" sz="2000" dirty="0">
                <a:latin typeface="Verdana" pitchFamily="34" charset="0"/>
                <a:ea typeface="Verdana" pitchFamily="34" charset="0"/>
              </a:rPr>
              <a:t>What is the range of the data?</a:t>
            </a:r>
          </a:p>
          <a:p>
            <a:pPr marL="914400" lvl="1" indent="-457200">
              <a:lnSpc>
                <a:spcPct val="107000"/>
              </a:lnSpc>
              <a:buFont typeface="+mj-lt"/>
              <a:buAutoNum type="alphaLcPeriod"/>
            </a:pPr>
            <a:endParaRPr lang="en-US" sz="2000" dirty="0">
              <a:latin typeface="Verdana" pitchFamily="34" charset="0"/>
              <a:ea typeface="Verdana" pitchFamily="34" charset="0"/>
            </a:endParaRPr>
          </a:p>
          <a:p>
            <a:pPr marL="914400" lvl="1" indent="-457200">
              <a:lnSpc>
                <a:spcPct val="107000"/>
              </a:lnSpc>
              <a:buFont typeface="+mj-lt"/>
              <a:buAutoNum type="alphaLcPeriod"/>
            </a:pPr>
            <a:r>
              <a:rPr lang="en-US" sz="2000" dirty="0">
                <a:latin typeface="Verdana" pitchFamily="34" charset="0"/>
                <a:ea typeface="Verdana" pitchFamily="34" charset="0"/>
              </a:rPr>
              <a:t>Determine the interquartile range.</a:t>
            </a:r>
          </a:p>
          <a:p>
            <a:pPr marL="914400" lvl="1" indent="-457200">
              <a:lnSpc>
                <a:spcPct val="107000"/>
              </a:lnSpc>
              <a:buFont typeface="+mj-lt"/>
              <a:buAutoNum type="alphaLcPeriod"/>
            </a:pPr>
            <a:endParaRPr lang="en-PH" sz="2000" dirty="0">
              <a:latin typeface="Verdana" pitchFamily="34" charset="0"/>
              <a:ea typeface="Verdana" pitchFamily="34" charset="0"/>
            </a:endParaRPr>
          </a:p>
          <a:p>
            <a:pPr marL="914400" lvl="1" indent="-457200">
              <a:lnSpc>
                <a:spcPct val="107000"/>
              </a:lnSpc>
              <a:buFont typeface="+mj-lt"/>
              <a:buAutoNum type="alphaLcPeriod"/>
            </a:pPr>
            <a:r>
              <a:rPr lang="en-US" sz="2000" dirty="0">
                <a:latin typeface="Verdana" pitchFamily="34" charset="0"/>
                <a:ea typeface="Verdana" pitchFamily="34" charset="0"/>
              </a:rPr>
              <a:t>Does the average cost of milk from April 2000 to November 2006 vary a lot or a little? </a:t>
            </a:r>
            <a:br>
              <a:rPr lang="en-US" sz="2000" dirty="0">
                <a:latin typeface="Verdana" pitchFamily="34" charset="0"/>
                <a:ea typeface="Verdana" pitchFamily="34" charset="0"/>
              </a:rPr>
            </a:br>
            <a:r>
              <a:rPr lang="en-US" sz="2000" dirty="0">
                <a:latin typeface="Verdana" pitchFamily="34" charset="0"/>
                <a:ea typeface="Verdana" pitchFamily="34" charset="0"/>
              </a:rPr>
              <a:t>Explain your reasoning. </a:t>
            </a:r>
            <a:endParaRPr lang="en-PH" sz="2000" dirty="0">
              <a:latin typeface="Verdana" pitchFamily="34" charset="0"/>
              <a:ea typeface="Verdana" pitchFamily="34" charset="0"/>
            </a:endParaRPr>
          </a:p>
        </p:txBody>
      </p:sp>
      <p:sp>
        <p:nvSpPr>
          <p:cNvPr id="23"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60</a:t>
            </a:r>
            <a:endParaRPr i="1" dirty="0">
              <a:latin typeface="Calibri"/>
              <a:ea typeface="Calibri"/>
              <a:cs typeface="Calibri"/>
              <a:sym typeface="Calibri"/>
            </a:endParaRPr>
          </a:p>
        </p:txBody>
      </p:sp>
      <p:pic>
        <p:nvPicPr>
          <p:cNvPr id="24" name="Google Shape;283;g104476d1465_1_17"/>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26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5466" y="-203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9.4.5 Try It: Interpreting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Box Plots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5658" y="28590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962748" y="1323661"/>
            <a:ext cx="10522536" cy="750975"/>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a:ea typeface="游明朝"/>
              </a:rPr>
              <a:t>The box plot displays data on the response times of </a:t>
            </a:r>
            <a:br>
              <a:rPr lang="en-US" sz="2000" dirty="0">
                <a:latin typeface="Verdana"/>
                <a:ea typeface="游明朝"/>
              </a:rPr>
            </a:br>
            <a:r>
              <a:rPr lang="en-US" sz="2000" dirty="0">
                <a:latin typeface="Verdana"/>
                <a:ea typeface="游明朝"/>
              </a:rPr>
              <a:t>100 mice when seeing a flash of light. </a:t>
            </a:r>
            <a:endParaRPr lang="en-PH" sz="2000" dirty="0">
              <a:latin typeface="Calibri"/>
              <a:ea typeface="游明朝"/>
            </a:endParaRPr>
          </a:p>
        </p:txBody>
      </p:sp>
      <p:grpSp>
        <p:nvGrpSpPr>
          <p:cNvPr id="2" name="Group 1"/>
          <p:cNvGrpSpPr/>
          <p:nvPr/>
        </p:nvGrpSpPr>
        <p:grpSpPr>
          <a:xfrm>
            <a:off x="2623820" y="2308489"/>
            <a:ext cx="6944360" cy="2026920"/>
            <a:chOff x="1099820" y="2614295"/>
            <a:chExt cx="6944360" cy="2026920"/>
          </a:xfrm>
        </p:grpSpPr>
        <p:pic>
          <p:nvPicPr>
            <p:cNvPr id="12" name="Picture 11" descr="Chart, histogram&#10;&#10;Description automatically generated"/>
            <p:cNvPicPr/>
            <p:nvPr/>
          </p:nvPicPr>
          <p:blipFill rotWithShape="1">
            <a:blip r:embed="rId4" cstate="screen">
              <a:extLst>
                <a:ext uri="{28A0092B-C50C-407E-A947-70E740481C1C}">
                  <a14:useLocalDpi xmlns:a14="http://schemas.microsoft.com/office/drawing/2010/main"/>
                </a:ext>
              </a:extLst>
            </a:blip>
            <a:srcRect t="16089" b="58534"/>
            <a:stretch/>
          </p:blipFill>
          <p:spPr bwMode="auto">
            <a:xfrm>
              <a:off x="1099820" y="2614295"/>
              <a:ext cx="6944360" cy="1629410"/>
            </a:xfrm>
            <a:prstGeom prst="rect">
              <a:avLst/>
            </a:prstGeom>
            <a:ln>
              <a:noFill/>
            </a:ln>
            <a:extLst>
              <a:ext uri="{53640926-AAD7-44D8-BBD7-CCE9431645EC}">
                <a14:shadowObscured xmlns:a14="http://schemas.microsoft.com/office/drawing/2010/main"/>
              </a:ext>
            </a:extLst>
          </p:spPr>
        </p:pic>
        <p:sp>
          <p:nvSpPr>
            <p:cNvPr id="13" name="Text Box 54"/>
            <p:cNvSpPr txBox="1"/>
            <p:nvPr/>
          </p:nvSpPr>
          <p:spPr>
            <a:xfrm>
              <a:off x="2656922" y="4243705"/>
              <a:ext cx="3830156" cy="3975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a:latin typeface="Verdana"/>
                  <a:ea typeface="游明朝"/>
                </a:rPr>
                <a:t>Response Time (in seconds)</a:t>
              </a:r>
              <a:endParaRPr lang="en-PH" sz="1200">
                <a:latin typeface="Calibri"/>
                <a:ea typeface="游明朝"/>
              </a:endParaRPr>
            </a:p>
          </p:txBody>
        </p:sp>
      </p:grpSp>
      <p:sp>
        <p:nvSpPr>
          <p:cNvPr id="4" name="Rectangle 3"/>
          <p:cNvSpPr/>
          <p:nvPr/>
        </p:nvSpPr>
        <p:spPr>
          <a:xfrm>
            <a:off x="962748" y="4562419"/>
            <a:ext cx="10522536" cy="1708160"/>
          </a:xfrm>
          <a:prstGeom prst="rect">
            <a:avLst/>
          </a:prstGeom>
        </p:spPr>
        <p:txBody>
          <a:bodyPr wrap="square">
            <a:spAutoFit/>
          </a:bodyPr>
          <a:lstStyle/>
          <a:p>
            <a:pPr marL="457200"/>
            <a:r>
              <a:rPr lang="en-US" sz="2000" dirty="0">
                <a:latin typeface="Verdana" pitchFamily="34" charset="0"/>
                <a:ea typeface="Verdana" pitchFamily="34" charset="0"/>
                <a:cs typeface="Verdana"/>
              </a:rPr>
              <a:t>Complete the statements.</a:t>
            </a:r>
          </a:p>
          <a:p>
            <a:pPr marL="457200"/>
            <a:endParaRPr lang="en-PH" sz="2000" dirty="0">
              <a:latin typeface="Verdana" pitchFamily="34" charset="0"/>
              <a:ea typeface="Verdana" pitchFamily="34" charset="0"/>
            </a:endParaRPr>
          </a:p>
          <a:p>
            <a:pPr marL="898525" indent="-457200">
              <a:buFont typeface="+mj-lt"/>
              <a:buAutoNum type="alphaLcPeriod"/>
            </a:pPr>
            <a:r>
              <a:rPr lang="en-US" sz="2000" dirty="0">
                <a:latin typeface="Verdana" pitchFamily="34" charset="0"/>
                <a:ea typeface="Verdana" pitchFamily="34" charset="0"/>
                <a:cs typeface="Verdana"/>
              </a:rPr>
              <a:t>The fastest response time is ______ seconds. </a:t>
            </a:r>
            <a:endParaRPr lang="en-PH" sz="2000" dirty="0">
              <a:latin typeface="Verdana" pitchFamily="34" charset="0"/>
              <a:ea typeface="Verdana" pitchFamily="34" charset="0"/>
            </a:endParaRPr>
          </a:p>
          <a:p>
            <a:pPr marL="898525" indent="-457200">
              <a:spcAft>
                <a:spcPts val="600"/>
              </a:spcAft>
              <a:buFont typeface="+mj-lt"/>
              <a:buAutoNum type="alphaLcPeriod"/>
            </a:pPr>
            <a:endParaRPr lang="en-US" sz="2000" dirty="0">
              <a:latin typeface="Verdana" pitchFamily="34" charset="0"/>
              <a:ea typeface="Verdana" pitchFamily="34" charset="0"/>
              <a:cs typeface="Verdana"/>
            </a:endParaRPr>
          </a:p>
          <a:p>
            <a:pPr marL="898525" indent="-457200">
              <a:spcAft>
                <a:spcPts val="600"/>
              </a:spcAft>
              <a:buFont typeface="+mj-lt"/>
              <a:buAutoNum type="alphaLcPeriod"/>
            </a:pPr>
            <a:r>
              <a:rPr lang="en-US" sz="2000" dirty="0">
                <a:latin typeface="Verdana" pitchFamily="34" charset="0"/>
                <a:ea typeface="Verdana" pitchFamily="34" charset="0"/>
                <a:cs typeface="Verdana"/>
              </a:rPr>
              <a:t>The slowest response time is ______ seconds.</a:t>
            </a:r>
            <a:endParaRPr lang="en-PH" sz="2000" dirty="0">
              <a:latin typeface="Verdana" pitchFamily="34" charset="0"/>
              <a:ea typeface="Verdana" pitchFamily="34" charset="0"/>
            </a:endParaRPr>
          </a:p>
        </p:txBody>
      </p:sp>
      <p:sp>
        <p:nvSpPr>
          <p:cNvPr id="15"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61</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29193" y="3424826"/>
            <a:ext cx="10355250" cy="3170099"/>
          </a:xfrm>
          <a:prstGeom prst="rect">
            <a:avLst/>
          </a:prstGeom>
          <a:noFill/>
        </p:spPr>
        <p:txBody>
          <a:bodyPr wrap="square" rtlCol="0">
            <a:spAutoFit/>
          </a:bodyPr>
          <a:lstStyle/>
          <a:p>
            <a:pPr marL="889000" indent="-457200">
              <a:buFont typeface="+mj-lt"/>
              <a:buAutoNum type="alphaLcPeriod" startAt="3"/>
            </a:pPr>
            <a:r>
              <a:rPr lang="en-US" sz="2000" dirty="0">
                <a:latin typeface="Verdana"/>
                <a:ea typeface="Verdana"/>
                <a:cs typeface="Verdana"/>
              </a:rPr>
              <a:t>The middle response time is ________ seconds.</a:t>
            </a:r>
            <a:endParaRPr lang="en-PH" sz="2000" dirty="0">
              <a:latin typeface="Calibri"/>
              <a:ea typeface="游明朝"/>
            </a:endParaRPr>
          </a:p>
          <a:p>
            <a:pPr marL="889000" indent="-457200">
              <a:buFont typeface="+mj-lt"/>
              <a:buAutoNum type="alphaLcPeriod" startAt="3"/>
            </a:pPr>
            <a:endParaRPr lang="en-US" sz="2000" dirty="0">
              <a:latin typeface="Verdana"/>
              <a:ea typeface="Verdana"/>
              <a:cs typeface="Verdana"/>
            </a:endParaRPr>
          </a:p>
          <a:p>
            <a:pPr marL="889000" indent="-457200">
              <a:buFont typeface="+mj-lt"/>
              <a:buAutoNum type="alphaLcPeriod" startAt="3"/>
            </a:pPr>
            <a:r>
              <a:rPr lang="en-US" sz="2000" dirty="0">
                <a:latin typeface="Verdana"/>
                <a:ea typeface="Verdana"/>
                <a:cs typeface="Verdana"/>
              </a:rPr>
              <a:t>The lower quartile is ___________ seconds.</a:t>
            </a:r>
            <a:endParaRPr lang="en-PH" sz="2000" dirty="0">
              <a:latin typeface="Calibri"/>
              <a:ea typeface="游明朝"/>
            </a:endParaRPr>
          </a:p>
          <a:p>
            <a:pPr marL="889000" indent="-457200">
              <a:buFont typeface="+mj-lt"/>
              <a:buAutoNum type="alphaLcPeriod" startAt="3"/>
            </a:pPr>
            <a:endParaRPr lang="en-US" sz="2000" dirty="0">
              <a:latin typeface="Verdana"/>
              <a:ea typeface="Verdana"/>
              <a:cs typeface="Verdana"/>
            </a:endParaRPr>
          </a:p>
          <a:p>
            <a:pPr marL="889000" indent="-457200">
              <a:buFont typeface="+mj-lt"/>
              <a:buAutoNum type="alphaLcPeriod" startAt="3"/>
            </a:pPr>
            <a:r>
              <a:rPr lang="en-US" sz="2000" dirty="0">
                <a:latin typeface="Verdana"/>
                <a:ea typeface="Verdana"/>
                <a:cs typeface="Verdana"/>
              </a:rPr>
              <a:t>The upper quartile is ___________ seconds.</a:t>
            </a:r>
            <a:endParaRPr lang="en-PH" sz="2000" dirty="0">
              <a:latin typeface="Calibri"/>
              <a:ea typeface="游明朝"/>
            </a:endParaRPr>
          </a:p>
          <a:p>
            <a:pPr marL="889000" indent="-457200">
              <a:buFont typeface="+mj-lt"/>
              <a:buAutoNum type="alphaLcPeriod" startAt="3"/>
            </a:pPr>
            <a:endParaRPr lang="en-US" sz="2000" dirty="0">
              <a:latin typeface="Verdana"/>
              <a:ea typeface="Verdana"/>
              <a:cs typeface="Verdana"/>
            </a:endParaRPr>
          </a:p>
          <a:p>
            <a:pPr marL="889000" indent="-457200">
              <a:buFont typeface="+mj-lt"/>
              <a:buAutoNum type="alphaLcPeriod" startAt="3"/>
            </a:pPr>
            <a:r>
              <a:rPr lang="en-US" sz="2000" dirty="0">
                <a:latin typeface="Verdana"/>
                <a:ea typeface="Verdana"/>
                <a:cs typeface="Verdana"/>
              </a:rPr>
              <a:t>The range is __________ seconds.</a:t>
            </a:r>
            <a:endParaRPr lang="en-PH" sz="2000" dirty="0">
              <a:latin typeface="Calibri"/>
              <a:ea typeface="游明朝"/>
            </a:endParaRPr>
          </a:p>
          <a:p>
            <a:pPr marL="889000" indent="-457200">
              <a:buFont typeface="+mj-lt"/>
              <a:buAutoNum type="alphaLcPeriod" startAt="3"/>
            </a:pPr>
            <a:endParaRPr lang="en-US" sz="2000" dirty="0">
              <a:latin typeface="Verdana"/>
              <a:ea typeface="Verdana"/>
              <a:cs typeface="Verdana"/>
            </a:endParaRPr>
          </a:p>
          <a:p>
            <a:pPr marL="889000" indent="-457200">
              <a:buFont typeface="+mj-lt"/>
              <a:buAutoNum type="alphaLcPeriod" startAt="3"/>
            </a:pPr>
            <a:r>
              <a:rPr lang="en-US" sz="2000" dirty="0">
                <a:latin typeface="Verdana"/>
                <a:ea typeface="Verdana"/>
                <a:cs typeface="Verdana"/>
              </a:rPr>
              <a:t>The interquartile range is __________ seconds.	</a:t>
            </a:r>
            <a:endParaRPr lang="en-PH" sz="2000" dirty="0">
              <a:latin typeface="Calibri"/>
              <a:ea typeface="游明朝"/>
            </a:endParaRPr>
          </a:p>
          <a:p>
            <a:pPr lvl="0"/>
            <a:endParaRPr lang="en-US" sz="2000" dirty="0">
              <a:latin typeface="Verdana"/>
              <a:ea typeface="Verdana"/>
              <a:cs typeface="Verdana"/>
            </a:endParaRPr>
          </a:p>
        </p:txBody>
      </p:sp>
      <p:grpSp>
        <p:nvGrpSpPr>
          <p:cNvPr id="7" name="Group 6">
            <a:extLst>
              <a:ext uri="{FF2B5EF4-FFF2-40B4-BE49-F238E27FC236}">
                <a16:creationId xmlns:a16="http://schemas.microsoft.com/office/drawing/2014/main" id="{4F230D9D-A883-4A13-A6DD-73837FF7C060}"/>
              </a:ext>
            </a:extLst>
          </p:cNvPr>
          <p:cNvGrpSpPr/>
          <p:nvPr/>
        </p:nvGrpSpPr>
        <p:grpSpPr>
          <a:xfrm>
            <a:off x="2623820" y="779846"/>
            <a:ext cx="6944360" cy="2026920"/>
            <a:chOff x="1099820" y="2614295"/>
            <a:chExt cx="6944360" cy="2026920"/>
          </a:xfrm>
        </p:grpSpPr>
        <p:pic>
          <p:nvPicPr>
            <p:cNvPr id="8" name="Picture 7" descr="Chart, histogram&#10;&#10;Description automatically generated">
              <a:extLst>
                <a:ext uri="{FF2B5EF4-FFF2-40B4-BE49-F238E27FC236}">
                  <a16:creationId xmlns:a16="http://schemas.microsoft.com/office/drawing/2014/main" id="{19F97A7B-997C-4553-B3B1-4B92932F9073}"/>
                </a:ext>
              </a:extLst>
            </p:cNvPr>
            <p:cNvPicPr/>
            <p:nvPr/>
          </p:nvPicPr>
          <p:blipFill rotWithShape="1">
            <a:blip r:embed="rId3" cstate="screen">
              <a:extLst>
                <a:ext uri="{28A0092B-C50C-407E-A947-70E740481C1C}">
                  <a14:useLocalDpi xmlns:a14="http://schemas.microsoft.com/office/drawing/2010/main"/>
                </a:ext>
              </a:extLst>
            </a:blip>
            <a:srcRect t="16089" b="58534"/>
            <a:stretch/>
          </p:blipFill>
          <p:spPr bwMode="auto">
            <a:xfrm>
              <a:off x="1099820" y="2614295"/>
              <a:ext cx="6944360" cy="1629410"/>
            </a:xfrm>
            <a:prstGeom prst="rect">
              <a:avLst/>
            </a:prstGeom>
            <a:ln>
              <a:noFill/>
            </a:ln>
            <a:extLst>
              <a:ext uri="{53640926-AAD7-44D8-BBD7-CCE9431645EC}">
                <a14:shadowObscured xmlns:a14="http://schemas.microsoft.com/office/drawing/2010/main"/>
              </a:ext>
            </a:extLst>
          </p:spPr>
        </p:pic>
        <p:sp>
          <p:nvSpPr>
            <p:cNvPr id="9" name="Text Box 54">
              <a:extLst>
                <a:ext uri="{FF2B5EF4-FFF2-40B4-BE49-F238E27FC236}">
                  <a16:creationId xmlns:a16="http://schemas.microsoft.com/office/drawing/2014/main" id="{8B2C9EDF-89FC-4FB4-9D20-2BA7E6AB0F0D}"/>
                </a:ext>
              </a:extLst>
            </p:cNvPr>
            <p:cNvSpPr txBox="1"/>
            <p:nvPr/>
          </p:nvSpPr>
          <p:spPr>
            <a:xfrm>
              <a:off x="2656922" y="4243705"/>
              <a:ext cx="3830156" cy="3975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000">
                  <a:latin typeface="Verdana"/>
                  <a:ea typeface="游明朝"/>
                </a:rPr>
                <a:t>Response Time (in seconds)</a:t>
              </a:r>
              <a:endParaRPr lang="en-PH" sz="1200">
                <a:latin typeface="Calibri"/>
                <a:ea typeface="游明朝"/>
              </a:endParaRPr>
            </a:p>
          </p:txBody>
        </p:sp>
      </p:grpSp>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74421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64302" y="1660681"/>
                <a:ext cx="10166510" cy="1080296"/>
              </a:xfrm>
              <a:prstGeom prst="rect">
                <a:avLst/>
              </a:prstGeom>
              <a:noFill/>
            </p:spPr>
            <p:txBody>
              <a:bodyPr wrap="square" rtlCol="0">
                <a:spAutoFit/>
              </a:bodyPr>
              <a:lstStyle/>
              <a:p>
                <a:pPr marL="457200" indent="-457200">
                  <a:lnSpc>
                    <a:spcPct val="107000"/>
                  </a:lnSpc>
                  <a:buFont typeface="+mj-lt"/>
                  <a:buAutoNum type="arabicPeriod" startAt="3"/>
                </a:pPr>
                <a:r>
                  <a:rPr lang="en-US" sz="2000" dirty="0">
                    <a:latin typeface="Verdana"/>
                    <a:ea typeface="Verdana"/>
                    <a:cs typeface="Verdana"/>
                  </a:rPr>
                  <a:t>The U.S. Energy Information Administration reports weekly average gas prices for the United States. The box plot represents the weekly average gas prices in </a:t>
                </a:r>
                <a14:m>
                  <m:oMath xmlns:m="http://schemas.openxmlformats.org/officeDocument/2006/math">
                    <m:r>
                      <a:rPr lang="en-US" sz="2000" i="1">
                        <a:latin typeface="Cambria Math"/>
                        <a:ea typeface="Verdana"/>
                        <a:cs typeface="Verdana"/>
                      </a:rPr>
                      <m:t>2019</m:t>
                    </m:r>
                  </m:oMath>
                </a14:m>
                <a:r>
                  <a:rPr lang="en-US" sz="2000" dirty="0">
                    <a:latin typeface="Verdana"/>
                    <a:ea typeface="Verdana"/>
                    <a:cs typeface="Verdana"/>
                  </a:rPr>
                  <a:t>.</a:t>
                </a:r>
                <a:endParaRPr lang="en-PH" sz="2000" dirty="0">
                  <a:latin typeface="Calibri"/>
                  <a:ea typeface="游明朝"/>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64302" y="1660681"/>
                <a:ext cx="10166510" cy="1080296"/>
              </a:xfrm>
              <a:prstGeom prst="rect">
                <a:avLst/>
              </a:prstGeom>
              <a:blipFill rotWithShape="0">
                <a:blip r:embed="rId3"/>
                <a:stretch>
                  <a:fillRect l="-660" t="-3933" b="-6180"/>
                </a:stretch>
              </a:blipFill>
            </p:spPr>
            <p:txBody>
              <a:bodyPr/>
              <a:lstStyle/>
              <a:p>
                <a:r>
                  <a:rPr lang="en-US">
                    <a:noFill/>
                  </a:rPr>
                  <a:t> </a:t>
                </a:r>
              </a:p>
            </p:txBody>
          </p:sp>
        </mc:Fallback>
      </mc:AlternateContent>
      <p:grpSp>
        <p:nvGrpSpPr>
          <p:cNvPr id="7" name="Group 6"/>
          <p:cNvGrpSpPr/>
          <p:nvPr/>
        </p:nvGrpSpPr>
        <p:grpSpPr>
          <a:xfrm>
            <a:off x="2418681" y="2879169"/>
            <a:ext cx="7712034" cy="2570293"/>
            <a:chOff x="1098867" y="2275077"/>
            <a:chExt cx="7712034" cy="2570293"/>
          </a:xfrm>
        </p:grpSpPr>
        <p:pic>
          <p:nvPicPr>
            <p:cNvPr id="6" name="Picture 5" descr="Chart, box and whisker chart&#10;&#10;Description automatically generated"/>
            <p:cNvPicPr/>
            <p:nvPr/>
          </p:nvPicPr>
          <p:blipFill rotWithShape="1">
            <a:blip r:embed="rId4" cstate="screen">
              <a:extLst>
                <a:ext uri="{28A0092B-C50C-407E-A947-70E740481C1C}">
                  <a14:useLocalDpi xmlns:a14="http://schemas.microsoft.com/office/drawing/2010/main"/>
                </a:ext>
              </a:extLst>
            </a:blip>
            <a:srcRect t="11628" b="64600"/>
            <a:stretch/>
          </p:blipFill>
          <p:spPr bwMode="auto">
            <a:xfrm>
              <a:off x="1098867" y="2508250"/>
              <a:ext cx="7712034" cy="204451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3132108" y="2275077"/>
              <a:ext cx="3645549" cy="421654"/>
            </a:xfrm>
            <a:prstGeom prst="rect">
              <a:avLst/>
            </a:prstGeom>
          </p:spPr>
          <p:txBody>
            <a:bodyPr wrap="none">
              <a:spAutoFit/>
            </a:bodyPr>
            <a:lstStyle/>
            <a:p>
              <a:pPr algn="ctr">
                <a:lnSpc>
                  <a:spcPct val="107000"/>
                </a:lnSpc>
              </a:pPr>
              <a:r>
                <a:rPr lang="en-US" sz="2000" b="1" dirty="0">
                  <a:latin typeface="Verdana"/>
                  <a:ea typeface="Verdana"/>
                  <a:cs typeface="Verdana"/>
                </a:rPr>
                <a:t>2019 Weekly Gas Prices</a:t>
              </a:r>
              <a:endParaRPr lang="en-PH" sz="2000" dirty="0">
                <a:latin typeface="Calibri"/>
                <a:ea typeface="游明朝"/>
              </a:endParaRPr>
            </a:p>
          </p:txBody>
        </p:sp>
        <p:sp>
          <p:nvSpPr>
            <p:cNvPr id="5" name="Rectangle 4"/>
            <p:cNvSpPr/>
            <p:nvPr/>
          </p:nvSpPr>
          <p:spPr>
            <a:xfrm>
              <a:off x="3803766" y="4423716"/>
              <a:ext cx="2302232" cy="421654"/>
            </a:xfrm>
            <a:prstGeom prst="rect">
              <a:avLst/>
            </a:prstGeom>
          </p:spPr>
          <p:txBody>
            <a:bodyPr wrap="none">
              <a:spAutoFit/>
            </a:bodyPr>
            <a:lstStyle/>
            <a:p>
              <a:pPr algn="ctr">
                <a:lnSpc>
                  <a:spcPct val="107000"/>
                </a:lnSpc>
              </a:pPr>
              <a:r>
                <a:rPr lang="en-US" sz="2000" dirty="0">
                  <a:latin typeface="Verdana"/>
                  <a:ea typeface="Verdana"/>
                  <a:cs typeface="Verdana"/>
                </a:rPr>
                <a:t>Price (in dollars)</a:t>
              </a:r>
              <a:endParaRPr lang="en-PH" sz="1200" dirty="0">
                <a:latin typeface="Calibri"/>
                <a:ea typeface="游明朝"/>
              </a:endParaRPr>
            </a:p>
          </p:txBody>
        </p:sp>
      </p:grpSp>
      <mc:AlternateContent xmlns:mc="http://schemas.openxmlformats.org/markup-compatibility/2006" xmlns:a14="http://schemas.microsoft.com/office/drawing/2010/main">
        <mc:Choice Requires="a14">
          <p:sp>
            <p:nvSpPr>
              <p:cNvPr id="9" name="Rectangle 8"/>
              <p:cNvSpPr/>
              <p:nvPr/>
            </p:nvSpPr>
            <p:spPr>
              <a:xfrm>
                <a:off x="1012745" y="5807275"/>
                <a:ext cx="10166510" cy="421654"/>
              </a:xfrm>
              <a:prstGeom prst="rect">
                <a:avLst/>
              </a:prstGeom>
            </p:spPr>
            <p:txBody>
              <a:bodyPr wrap="square">
                <a:spAutoFit/>
              </a:bodyPr>
              <a:lstStyle/>
              <a:p>
                <a:pPr marL="457200">
                  <a:lnSpc>
                    <a:spcPct val="107000"/>
                  </a:lnSpc>
                </a:pPr>
                <a:r>
                  <a:rPr lang="en-US" sz="2000" dirty="0">
                    <a:latin typeface="Verdana"/>
                    <a:ea typeface="Verdana"/>
                    <a:cs typeface="Verdana"/>
                  </a:rPr>
                  <a:t>What percentage of weeks had an average gas price of at least $</a:t>
                </a:r>
                <a14:m>
                  <m:oMath xmlns:m="http://schemas.openxmlformats.org/officeDocument/2006/math">
                    <m:r>
                      <a:rPr lang="en-US" sz="2000" i="1">
                        <a:latin typeface="Cambria Math"/>
                        <a:ea typeface="Verdana"/>
                        <a:cs typeface="Verdana"/>
                      </a:rPr>
                      <m:t>2.50</m:t>
                    </m:r>
                  </m:oMath>
                </a14:m>
                <a:r>
                  <a:rPr lang="en-US" sz="2000" dirty="0">
                    <a:latin typeface="Verdana"/>
                    <a:ea typeface="Verdana"/>
                    <a:cs typeface="Verdana"/>
                  </a:rPr>
                  <a:t>?</a:t>
                </a:r>
                <a:endParaRPr lang="en-PH" sz="2000" dirty="0">
                  <a:latin typeface="Calibri"/>
                  <a:ea typeface="游明朝"/>
                </a:endParaRPr>
              </a:p>
            </p:txBody>
          </p:sp>
        </mc:Choice>
        <mc:Fallback xmlns="">
          <p:sp>
            <p:nvSpPr>
              <p:cNvPr id="9" name="Rectangle 8"/>
              <p:cNvSpPr>
                <a:spLocks noRot="1" noChangeAspect="1" noMove="1" noResize="1" noEditPoints="1" noAdjustHandles="1" noChangeArrowheads="1" noChangeShapeType="1" noTextEdit="1"/>
              </p:cNvSpPr>
              <p:nvPr/>
            </p:nvSpPr>
            <p:spPr>
              <a:xfrm>
                <a:off x="1012745" y="5807275"/>
                <a:ext cx="10166510" cy="421654"/>
              </a:xfrm>
              <a:prstGeom prst="rect">
                <a:avLst/>
              </a:prstGeom>
              <a:blipFill rotWithShape="0">
                <a:blip r:embed="rId5"/>
                <a:stretch>
                  <a:fillRect t="-10145" b="-1884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0887384-FFD8-40FD-BECF-D35646C0B062}"/>
              </a:ext>
            </a:extLst>
          </p:cNvPr>
          <p:cNvSpPr txBox="1"/>
          <p:nvPr/>
        </p:nvSpPr>
        <p:spPr>
          <a:xfrm>
            <a:off x="1088079" y="304495"/>
            <a:ext cx="10166508" cy="707886"/>
          </a:xfrm>
          <a:prstGeom prst="rect">
            <a:avLst/>
          </a:prstGeom>
          <a:noFill/>
        </p:spPr>
        <p:txBody>
          <a:bodyPr wrap="square">
            <a:spAutoFit/>
          </a:bodyPr>
          <a:lstStyle/>
          <a:p>
            <a:pPr marL="457200" indent="-457200">
              <a:buFont typeface="+mj-lt"/>
              <a:buAutoNum type="arabicPeriod" startAt="2"/>
            </a:pPr>
            <a:r>
              <a:rPr lang="en-US" sz="2000" dirty="0">
                <a:latin typeface="Verdana"/>
                <a:ea typeface="Verdana"/>
                <a:cs typeface="Verdana"/>
              </a:rPr>
              <a:t>With your partner, use the values to write a description of the spread and distribution of response times. </a:t>
            </a:r>
            <a:endParaRPr lang="en-PH" sz="2000" dirty="0">
              <a:latin typeface="Calibri"/>
              <a:ea typeface="游明朝"/>
            </a:endParaRPr>
          </a:p>
        </p:txBody>
      </p:sp>
      <p:sp>
        <p:nvSpPr>
          <p:cNvPr id="13"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61</a:t>
            </a:r>
            <a:endParaRPr i="1" dirty="0">
              <a:latin typeface="Calibri"/>
              <a:ea typeface="Calibri"/>
              <a:cs typeface="Calibri"/>
              <a:sym typeface="Calibri"/>
            </a:endParaRPr>
          </a:p>
        </p:txBody>
      </p:sp>
      <p:pic>
        <p:nvPicPr>
          <p:cNvPr id="16"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63871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64726" y="8669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9.4.6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31674" y="9603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176932" y="1007653"/>
                <a:ext cx="10094168" cy="1080296"/>
              </a:xfrm>
              <a:prstGeom prst="rect">
                <a:avLst/>
              </a:prstGeom>
              <a:noFill/>
            </p:spPr>
            <p:txBody>
              <a:bodyPr wrap="square" rtlCol="0">
                <a:spAutoFit/>
              </a:bodyPr>
              <a:lstStyle/>
              <a:p>
                <a:pPr marL="457200" lvl="4" indent="-457200">
                  <a:lnSpc>
                    <a:spcPct val="107000"/>
                  </a:lnSpc>
                  <a:buFont typeface="+mj-lt"/>
                  <a:buAutoNum type="arabicPeriod"/>
                </a:pPr>
                <a:r>
                  <a:rPr lang="en-US" sz="2000" dirty="0">
                    <a:latin typeface="Verdana"/>
                    <a:ea typeface="Verdana"/>
                    <a:cs typeface="Verdana"/>
                  </a:rPr>
                  <a:t>Mrs. Henry’s </a:t>
                </a:r>
                <a:r>
                  <a:rPr lang="en-US" sz="2000" dirty="0">
                    <a:latin typeface="Cambria Math"/>
                    <a:ea typeface="Verdana"/>
                    <a:cs typeface="Verdana"/>
                  </a:rPr>
                  <a:t>3</a:t>
                </a:r>
                <a:r>
                  <a:rPr lang="en-US" sz="2000" baseline="30000" dirty="0">
                    <a:latin typeface="Verdana"/>
                    <a:ea typeface="Verdana"/>
                    <a:cs typeface="Verdana"/>
                  </a:rPr>
                  <a:t>rd</a:t>
                </a:r>
                <a:r>
                  <a:rPr lang="en-US" sz="2000" dirty="0">
                    <a:latin typeface="Verdana"/>
                    <a:ea typeface="Verdana"/>
                    <a:cs typeface="Verdana"/>
                  </a:rPr>
                  <a:t> period English class took a spelling test with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words on it. A box plot was created from the number of questions students got correct on the test.</a:t>
                </a:r>
                <a:endParaRPr lang="en-PH" sz="2000" dirty="0">
                  <a:latin typeface="Calibri"/>
                  <a:ea typeface="游明朝"/>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176932" y="1007653"/>
                <a:ext cx="10094168" cy="1080296"/>
              </a:xfrm>
              <a:prstGeom prst="rect">
                <a:avLst/>
              </a:prstGeom>
              <a:blipFill rotWithShape="0">
                <a:blip r:embed="rId4"/>
                <a:stretch>
                  <a:fillRect l="-664" t="-3933" r="-664" b="-6180"/>
                </a:stretch>
              </a:blipFill>
            </p:spPr>
            <p:txBody>
              <a:bodyPr/>
              <a:lstStyle/>
              <a:p>
                <a:r>
                  <a:rPr lang="en-US">
                    <a:noFill/>
                  </a:rPr>
                  <a:t> </a:t>
                </a:r>
              </a:p>
            </p:txBody>
          </p:sp>
        </mc:Fallback>
      </mc:AlternateContent>
      <p:grpSp>
        <p:nvGrpSpPr>
          <p:cNvPr id="4" name="Group 3"/>
          <p:cNvGrpSpPr/>
          <p:nvPr/>
        </p:nvGrpSpPr>
        <p:grpSpPr>
          <a:xfrm>
            <a:off x="2750884" y="2205282"/>
            <a:ext cx="6946265" cy="2043479"/>
            <a:chOff x="1226883" y="2104292"/>
            <a:chExt cx="6946265" cy="2043479"/>
          </a:xfrm>
        </p:grpSpPr>
        <p:pic>
          <p:nvPicPr>
            <p:cNvPr id="8" name="Picture 7" descr="Chart&#10;&#10;Description automatically generated"/>
            <p:cNvPicPr/>
            <p:nvPr/>
          </p:nvPicPr>
          <p:blipFill rotWithShape="1">
            <a:blip r:embed="rId5" cstate="screen">
              <a:extLst>
                <a:ext uri="{28A0092B-C50C-407E-A947-70E740481C1C}">
                  <a14:useLocalDpi xmlns:a14="http://schemas.microsoft.com/office/drawing/2010/main"/>
                </a:ext>
              </a:extLst>
            </a:blip>
            <a:srcRect t="12655" b="63574"/>
            <a:stretch/>
          </p:blipFill>
          <p:spPr bwMode="auto">
            <a:xfrm>
              <a:off x="1226883" y="2306271"/>
              <a:ext cx="6946265" cy="184150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2510954" y="2104292"/>
              <a:ext cx="4378122" cy="421654"/>
            </a:xfrm>
            <a:prstGeom prst="rect">
              <a:avLst/>
            </a:prstGeom>
          </p:spPr>
          <p:txBody>
            <a:bodyPr wrap="none">
              <a:spAutoFit/>
            </a:bodyPr>
            <a:lstStyle/>
            <a:p>
              <a:pPr>
                <a:lnSpc>
                  <a:spcPct val="107000"/>
                </a:lnSpc>
                <a:spcAft>
                  <a:spcPts val="800"/>
                </a:spcAft>
              </a:pPr>
              <a:r>
                <a:rPr lang="en-US" sz="2000" b="1" dirty="0">
                  <a:latin typeface="Verdana"/>
                  <a:ea typeface="游明朝"/>
                </a:rPr>
                <a:t>Number of Correct Questions</a:t>
              </a:r>
              <a:endParaRPr lang="en-PH" sz="2000" dirty="0">
                <a:latin typeface="Calibri"/>
                <a:ea typeface="游明朝"/>
              </a:endParaRPr>
            </a:p>
          </p:txBody>
        </p:sp>
      </p:grpSp>
      <p:sp>
        <p:nvSpPr>
          <p:cNvPr id="7" name="Rectangle 6"/>
          <p:cNvSpPr/>
          <p:nvPr/>
        </p:nvSpPr>
        <p:spPr>
          <a:xfrm>
            <a:off x="1229193" y="4254638"/>
            <a:ext cx="9497082" cy="2246769"/>
          </a:xfrm>
          <a:prstGeom prst="rect">
            <a:avLst/>
          </a:prstGeom>
        </p:spPr>
        <p:txBody>
          <a:bodyPr wrap="square">
            <a:spAutoFit/>
          </a:bodyPr>
          <a:lstStyle/>
          <a:p>
            <a:pPr marL="457200"/>
            <a:r>
              <a:rPr lang="en-US" sz="2000" dirty="0">
                <a:latin typeface="Verdana" pitchFamily="34" charset="0"/>
                <a:ea typeface="Verdana" pitchFamily="34" charset="0"/>
                <a:cs typeface="Verdana"/>
              </a:rPr>
              <a:t>Complete the statements.</a:t>
            </a:r>
          </a:p>
          <a:p>
            <a:pPr marL="457200"/>
            <a:endParaRPr lang="en-PH" sz="2000" dirty="0">
              <a:latin typeface="Verdana" pitchFamily="34" charset="0"/>
              <a:ea typeface="Verdana" pitchFamily="34" charset="0"/>
            </a:endParaRPr>
          </a:p>
          <a:p>
            <a:pPr marL="898525" indent="-457200">
              <a:buFont typeface="+mj-lt"/>
              <a:buAutoNum type="alphaLcPeriod"/>
            </a:pPr>
            <a:r>
              <a:rPr lang="en-US" sz="2000" dirty="0">
                <a:latin typeface="Verdana" pitchFamily="34" charset="0"/>
                <a:ea typeface="Verdana" pitchFamily="34" charset="0"/>
                <a:cs typeface="Verdana"/>
              </a:rPr>
              <a:t>The lowest score is ______. </a:t>
            </a:r>
            <a:endParaRPr lang="en-PH" sz="2000" dirty="0">
              <a:latin typeface="Verdana" pitchFamily="34" charset="0"/>
              <a:ea typeface="Verdana" pitchFamily="34" charset="0"/>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r>
              <a:rPr lang="en-US" sz="2000" dirty="0">
                <a:latin typeface="Verdana" pitchFamily="34" charset="0"/>
                <a:ea typeface="Verdana" pitchFamily="34" charset="0"/>
                <a:cs typeface="Verdana"/>
              </a:rPr>
              <a:t>The highest score is ______.</a:t>
            </a:r>
            <a:endParaRPr lang="en-PH" sz="2000" dirty="0">
              <a:latin typeface="Verdana" pitchFamily="34" charset="0"/>
              <a:ea typeface="Verdana" pitchFamily="34" charset="0"/>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r>
              <a:rPr lang="en-US" sz="2000" dirty="0">
                <a:latin typeface="Verdana" pitchFamily="34" charset="0"/>
                <a:ea typeface="Verdana" pitchFamily="34" charset="0"/>
                <a:cs typeface="Verdana"/>
              </a:rPr>
              <a:t>The middle score is ________.</a:t>
            </a:r>
            <a:endParaRPr lang="en-PH" sz="2000" dirty="0">
              <a:latin typeface="Verdana" pitchFamily="34" charset="0"/>
              <a:ea typeface="Verdana" pitchFamily="34" charset="0"/>
            </a:endParaRPr>
          </a:p>
        </p:txBody>
      </p:sp>
      <p:sp>
        <p:nvSpPr>
          <p:cNvPr id="13"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62</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319134" y="2672023"/>
            <a:ext cx="9704398" cy="3785652"/>
          </a:xfrm>
          <a:prstGeom prst="rect">
            <a:avLst/>
          </a:prstGeom>
          <a:noFill/>
        </p:spPr>
        <p:txBody>
          <a:bodyPr wrap="square" rtlCol="0">
            <a:spAutoFit/>
          </a:bodyPr>
          <a:lstStyle/>
          <a:p>
            <a:pPr marL="889000" indent="-457200">
              <a:buFont typeface="+mj-lt"/>
              <a:buAutoNum type="alphaLcPeriod" startAt="4"/>
            </a:pPr>
            <a:r>
              <a:rPr lang="en-US" sz="2400" dirty="0">
                <a:latin typeface="Verdana" pitchFamily="34" charset="0"/>
                <a:ea typeface="Verdana" pitchFamily="34" charset="0"/>
                <a:cs typeface="Verdana"/>
              </a:rPr>
              <a:t>The lower quartile is ___________.</a:t>
            </a:r>
          </a:p>
          <a:p>
            <a:pPr marL="889000" indent="-457200">
              <a:buFont typeface="+mj-lt"/>
              <a:buAutoNum type="alphaLcPeriod" startAt="4"/>
            </a:pPr>
            <a:endParaRPr lang="en-US" sz="2400" dirty="0">
              <a:latin typeface="Verdana" pitchFamily="34" charset="0"/>
              <a:ea typeface="Verdana" pitchFamily="34" charset="0"/>
              <a:cs typeface="Verdana"/>
            </a:endParaRPr>
          </a:p>
          <a:p>
            <a:pPr marL="889000" indent="-457200">
              <a:buFont typeface="+mj-lt"/>
              <a:buAutoNum type="alphaLcPeriod" startAt="4"/>
            </a:pPr>
            <a:r>
              <a:rPr lang="en-US" sz="2400" dirty="0">
                <a:latin typeface="Verdana" pitchFamily="34" charset="0"/>
                <a:ea typeface="Verdana" pitchFamily="34" charset="0"/>
                <a:cs typeface="Verdana"/>
              </a:rPr>
              <a:t>The upper quartile is ___________.</a:t>
            </a:r>
          </a:p>
          <a:p>
            <a:pPr marL="889000" indent="-457200">
              <a:buFont typeface="+mj-lt"/>
              <a:buAutoNum type="alphaLcPeriod" startAt="4"/>
            </a:pPr>
            <a:endParaRPr lang="en-US" sz="2400" dirty="0">
              <a:latin typeface="Verdana" pitchFamily="34" charset="0"/>
              <a:ea typeface="Verdana" pitchFamily="34" charset="0"/>
              <a:cs typeface="Verdana"/>
            </a:endParaRPr>
          </a:p>
          <a:p>
            <a:pPr marL="889000" indent="-457200">
              <a:buFont typeface="+mj-lt"/>
              <a:buAutoNum type="alphaLcPeriod" startAt="4"/>
            </a:pPr>
            <a:r>
              <a:rPr lang="en-US" sz="2400" dirty="0">
                <a:latin typeface="Verdana" pitchFamily="34" charset="0"/>
                <a:ea typeface="Verdana" pitchFamily="34" charset="0"/>
                <a:cs typeface="Verdana"/>
              </a:rPr>
              <a:t>The range is __________.</a:t>
            </a:r>
          </a:p>
          <a:p>
            <a:pPr marL="889000" indent="-457200">
              <a:buFont typeface="+mj-lt"/>
              <a:buAutoNum type="alphaLcPeriod" startAt="4"/>
            </a:pPr>
            <a:endParaRPr lang="en-US" sz="2400" dirty="0">
              <a:latin typeface="Verdana" pitchFamily="34" charset="0"/>
              <a:ea typeface="Verdana" pitchFamily="34" charset="0"/>
              <a:cs typeface="Verdana"/>
            </a:endParaRPr>
          </a:p>
          <a:p>
            <a:pPr marL="889000" indent="-457200">
              <a:buFont typeface="+mj-lt"/>
              <a:buAutoNum type="alphaLcPeriod" startAt="4"/>
            </a:pPr>
            <a:r>
              <a:rPr lang="en-US" sz="2400" dirty="0">
                <a:latin typeface="Verdana" pitchFamily="34" charset="0"/>
                <a:ea typeface="Verdana" pitchFamily="34" charset="0"/>
                <a:cs typeface="Verdana"/>
              </a:rPr>
              <a:t>The interquartile range is _________.</a:t>
            </a:r>
          </a:p>
          <a:p>
            <a:pPr marL="889000" indent="-457200">
              <a:buFont typeface="+mj-lt"/>
              <a:buAutoNum type="alphaLcPeriod" startAt="4"/>
            </a:pPr>
            <a:endParaRPr lang="en-US" sz="2400" dirty="0">
              <a:latin typeface="Verdana" pitchFamily="34" charset="0"/>
              <a:ea typeface="Verdana" pitchFamily="34" charset="0"/>
              <a:cs typeface="Verdana"/>
            </a:endParaRPr>
          </a:p>
          <a:p>
            <a:pPr marL="889000" indent="-457200">
              <a:buFont typeface="+mj-lt"/>
              <a:buAutoNum type="alphaLcPeriod" startAt="4"/>
            </a:pPr>
            <a:r>
              <a:rPr lang="en-US" sz="2400" dirty="0">
                <a:latin typeface="Verdana" pitchFamily="34" charset="0"/>
                <a:ea typeface="Verdana" pitchFamily="34" charset="0"/>
                <a:cs typeface="Verdana"/>
              </a:rPr>
              <a:t>Write a description of the spread and distribution of the scores.</a:t>
            </a:r>
            <a:endParaRPr lang="en-PH" sz="2400" dirty="0">
              <a:latin typeface="Verdana" pitchFamily="34" charset="0"/>
              <a:ea typeface="Verdana" pitchFamily="34" charset="0"/>
            </a:endParaRPr>
          </a:p>
        </p:txBody>
      </p:sp>
      <p:grpSp>
        <p:nvGrpSpPr>
          <p:cNvPr id="7" name="Group 6">
            <a:extLst>
              <a:ext uri="{FF2B5EF4-FFF2-40B4-BE49-F238E27FC236}">
                <a16:creationId xmlns:a16="http://schemas.microsoft.com/office/drawing/2014/main" id="{3E281905-447C-499B-882E-6FEE440C11D7}"/>
              </a:ext>
            </a:extLst>
          </p:cNvPr>
          <p:cNvGrpSpPr/>
          <p:nvPr/>
        </p:nvGrpSpPr>
        <p:grpSpPr>
          <a:xfrm>
            <a:off x="2698201" y="534758"/>
            <a:ext cx="6946265" cy="2043479"/>
            <a:chOff x="1226883" y="2104292"/>
            <a:chExt cx="6946265" cy="2043479"/>
          </a:xfrm>
        </p:grpSpPr>
        <p:pic>
          <p:nvPicPr>
            <p:cNvPr id="8" name="Picture 7" descr="Chart&#10;&#10;Description automatically generated">
              <a:extLst>
                <a:ext uri="{FF2B5EF4-FFF2-40B4-BE49-F238E27FC236}">
                  <a16:creationId xmlns:a16="http://schemas.microsoft.com/office/drawing/2014/main" id="{51FCA08C-936B-4970-ABB8-A0B02D23D367}"/>
                </a:ext>
              </a:extLst>
            </p:cNvPr>
            <p:cNvPicPr/>
            <p:nvPr/>
          </p:nvPicPr>
          <p:blipFill rotWithShape="1">
            <a:blip r:embed="rId3" cstate="screen">
              <a:extLst>
                <a:ext uri="{28A0092B-C50C-407E-A947-70E740481C1C}">
                  <a14:useLocalDpi xmlns:a14="http://schemas.microsoft.com/office/drawing/2010/main"/>
                </a:ext>
              </a:extLst>
            </a:blip>
            <a:srcRect t="12655" b="63574"/>
            <a:stretch/>
          </p:blipFill>
          <p:spPr bwMode="auto">
            <a:xfrm>
              <a:off x="1226883" y="2306271"/>
              <a:ext cx="6946265" cy="1841500"/>
            </a:xfrm>
            <a:prstGeom prst="rect">
              <a:avLst/>
            </a:prstGeom>
            <a:ln>
              <a:noFill/>
            </a:ln>
            <a:extLst>
              <a:ext uri="{53640926-AAD7-44D8-BBD7-CCE9431645EC}">
                <a14:shadowObscured xmlns:a14="http://schemas.microsoft.com/office/drawing/2010/main"/>
              </a:ext>
            </a:extLst>
          </p:spPr>
        </p:pic>
        <p:sp>
          <p:nvSpPr>
            <p:cNvPr id="9" name="Rectangle 8">
              <a:extLst>
                <a:ext uri="{FF2B5EF4-FFF2-40B4-BE49-F238E27FC236}">
                  <a16:creationId xmlns:a16="http://schemas.microsoft.com/office/drawing/2014/main" id="{7659EBD2-71EA-40CF-9A2A-6B62D42D9A91}"/>
                </a:ext>
              </a:extLst>
            </p:cNvPr>
            <p:cNvSpPr/>
            <p:nvPr/>
          </p:nvSpPr>
          <p:spPr>
            <a:xfrm>
              <a:off x="2510954" y="2104292"/>
              <a:ext cx="4378122" cy="421654"/>
            </a:xfrm>
            <a:prstGeom prst="rect">
              <a:avLst/>
            </a:prstGeom>
          </p:spPr>
          <p:txBody>
            <a:bodyPr wrap="none">
              <a:spAutoFit/>
            </a:bodyPr>
            <a:lstStyle/>
            <a:p>
              <a:pPr>
                <a:lnSpc>
                  <a:spcPct val="107000"/>
                </a:lnSpc>
                <a:spcAft>
                  <a:spcPts val="800"/>
                </a:spcAft>
              </a:pPr>
              <a:r>
                <a:rPr lang="en-US" sz="2000" b="1" dirty="0">
                  <a:latin typeface="Verdana"/>
                  <a:ea typeface="游明朝"/>
                </a:rPr>
                <a:t>Number of Correct Questions</a:t>
              </a:r>
              <a:endParaRPr lang="en-PH" sz="2000" dirty="0">
                <a:latin typeface="Calibri"/>
                <a:ea typeface="游明朝"/>
              </a:endParaRPr>
            </a:p>
          </p:txBody>
        </p:sp>
      </p:grpSp>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38354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84223" y="373248"/>
            <a:ext cx="9974220" cy="1080296"/>
          </a:xfrm>
          <a:prstGeom prst="rect">
            <a:avLst/>
          </a:prstGeom>
          <a:noFill/>
        </p:spPr>
        <p:txBody>
          <a:bodyPr wrap="square" rtlCol="0">
            <a:spAutoFit/>
          </a:bodyPr>
          <a:lstStyle/>
          <a:p>
            <a:pPr marL="457200" lvl="1" indent="-457200">
              <a:lnSpc>
                <a:spcPct val="107000"/>
              </a:lnSpc>
              <a:buFont typeface="+mj-lt"/>
              <a:buAutoNum type="arabicPeriod" startAt="2"/>
            </a:pPr>
            <a:r>
              <a:rPr lang="en-US" sz="2000" dirty="0">
                <a:latin typeface="Verdana"/>
                <a:ea typeface="Verdana"/>
                <a:cs typeface="Verdana"/>
              </a:rPr>
              <a:t>The librarian at Franklin Middle School surveyed students when they returned from summer break on how many books they had read. She created a box plot to represent the results of her survey.</a:t>
            </a:r>
            <a:endParaRPr lang="en-PH" sz="2000" dirty="0">
              <a:latin typeface="Calibri"/>
              <a:ea typeface="游明朝"/>
            </a:endParaRPr>
          </a:p>
        </p:txBody>
      </p:sp>
      <p:grpSp>
        <p:nvGrpSpPr>
          <p:cNvPr id="4" name="Group 3"/>
          <p:cNvGrpSpPr/>
          <p:nvPr/>
        </p:nvGrpSpPr>
        <p:grpSpPr>
          <a:xfrm>
            <a:off x="2623503" y="1860113"/>
            <a:ext cx="6944995" cy="1971002"/>
            <a:chOff x="1099502" y="2301548"/>
            <a:chExt cx="6944995" cy="1971002"/>
          </a:xfrm>
        </p:grpSpPr>
        <p:pic>
          <p:nvPicPr>
            <p:cNvPr id="6" name="Picture 5" descr="Chart, box and whisker chart&#10;&#10;Description automatically generated"/>
            <p:cNvPicPr/>
            <p:nvPr/>
          </p:nvPicPr>
          <p:blipFill rotWithShape="1">
            <a:blip r:embed="rId3" cstate="screen">
              <a:extLst>
                <a:ext uri="{28A0092B-C50C-407E-A947-70E740481C1C}">
                  <a14:useLocalDpi xmlns:a14="http://schemas.microsoft.com/office/drawing/2010/main"/>
                </a:ext>
              </a:extLst>
            </a:blip>
            <a:srcRect t="12979" b="64269"/>
            <a:stretch/>
          </p:blipFill>
          <p:spPr bwMode="auto">
            <a:xfrm>
              <a:off x="1099502" y="2577100"/>
              <a:ext cx="6944995" cy="169545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2834185" y="2301548"/>
              <a:ext cx="3475631" cy="421654"/>
            </a:xfrm>
            <a:prstGeom prst="rect">
              <a:avLst/>
            </a:prstGeom>
          </p:spPr>
          <p:txBody>
            <a:bodyPr wrap="none">
              <a:spAutoFit/>
            </a:bodyPr>
            <a:lstStyle/>
            <a:p>
              <a:pPr algn="ctr">
                <a:lnSpc>
                  <a:spcPct val="107000"/>
                </a:lnSpc>
              </a:pPr>
              <a:r>
                <a:rPr lang="en-US" sz="2000" b="1" dirty="0">
                  <a:latin typeface="Verdana"/>
                  <a:ea typeface="Verdana"/>
                  <a:cs typeface="Verdana"/>
                </a:rPr>
                <a:t>Number of Books Read</a:t>
              </a:r>
              <a:endParaRPr lang="en-PH" sz="2000" dirty="0">
                <a:latin typeface="Calibri"/>
                <a:ea typeface="游明朝"/>
              </a:endParaRPr>
            </a:p>
          </p:txBody>
        </p:sp>
      </p:grpSp>
      <mc:AlternateContent xmlns:mc="http://schemas.openxmlformats.org/markup-compatibility/2006" xmlns:a14="http://schemas.microsoft.com/office/drawing/2010/main">
        <mc:Choice Requires="a14">
          <p:sp>
            <p:nvSpPr>
              <p:cNvPr id="7" name="Rectangle 6"/>
              <p:cNvSpPr/>
              <p:nvPr/>
            </p:nvSpPr>
            <p:spPr>
              <a:xfrm>
                <a:off x="1184223" y="3800231"/>
                <a:ext cx="9974220" cy="2862322"/>
              </a:xfrm>
              <a:prstGeom prst="rect">
                <a:avLst/>
              </a:prstGeom>
            </p:spPr>
            <p:txBody>
              <a:bodyPr wrap="square">
                <a:spAutoFit/>
              </a:bodyPr>
              <a:lstStyle/>
              <a:p>
                <a:pPr marL="457200"/>
                <a:r>
                  <a:rPr lang="en-US" sz="2000" dirty="0">
                    <a:latin typeface="Verdana" pitchFamily="34" charset="0"/>
                    <a:ea typeface="Verdana" pitchFamily="34" charset="0"/>
                    <a:cs typeface="Verdana"/>
                  </a:rPr>
                  <a:t>What percentage of students read between:</a:t>
                </a:r>
                <a:endParaRPr lang="en-PH" sz="2000" dirty="0">
                  <a:latin typeface="Verdana" pitchFamily="34" charset="0"/>
                  <a:ea typeface="Verdana" pitchFamily="34" charset="0"/>
                </a:endParaRPr>
              </a:p>
              <a:p>
                <a:pPr marL="457200"/>
                <a:r>
                  <a:rPr lang="en-US" sz="2000" dirty="0">
                    <a:latin typeface="Verdana" pitchFamily="34" charset="0"/>
                    <a:ea typeface="Verdana" pitchFamily="34" charset="0"/>
                    <a:cs typeface="Verdana"/>
                  </a:rPr>
                  <a:t> </a:t>
                </a:r>
                <a:endParaRPr lang="en-PH" sz="2000" dirty="0">
                  <a:latin typeface="Verdana" pitchFamily="34" charset="0"/>
                  <a:ea typeface="Verdana" pitchFamily="34" charset="0"/>
                </a:endParaRPr>
              </a:p>
              <a:p>
                <a:pPr marL="809625" lvl="1" indent="-352425">
                  <a:buFont typeface="+mj-lt"/>
                  <a:buAutoNum type="alphaLcPeriod"/>
                </a:pPr>
                <a:r>
                  <a:rPr lang="en-US" sz="2000" dirty="0">
                    <a:latin typeface="Verdana" pitchFamily="34" charset="0"/>
                    <a:ea typeface="Verdana" pitchFamily="34" charset="0"/>
                    <a:cs typeface="Cambria Math"/>
                  </a:rPr>
                  <a:t> </a:t>
                </a:r>
                <a14:m>
                  <m:oMath xmlns:m="http://schemas.openxmlformats.org/officeDocument/2006/math">
                    <m:r>
                      <a:rPr lang="en-US" sz="2000" i="1" dirty="0">
                        <a:latin typeface="Cambria Math"/>
                        <a:ea typeface="Verdana" pitchFamily="34" charset="0"/>
                        <a:cs typeface="Cambria Math"/>
                      </a:rPr>
                      <m:t>5</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and </a:t>
                </a:r>
                <a14:m>
                  <m:oMath xmlns:m="http://schemas.openxmlformats.org/officeDocument/2006/math">
                    <m:r>
                      <a:rPr lang="en-US" sz="2000" i="1" dirty="0">
                        <a:latin typeface="Cambria Math"/>
                        <a:ea typeface="Verdana" pitchFamily="34" charset="0"/>
                        <a:cs typeface="Cambria Math"/>
                      </a:rPr>
                      <m:t>10</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books over the summer? ________</a:t>
                </a:r>
              </a:p>
              <a:p>
                <a:pPr marL="809625" lvl="1" indent="-352425">
                  <a:buFont typeface="+mj-lt"/>
                  <a:buAutoNum type="alphaLcPeriod"/>
                </a:pPr>
                <a:endParaRPr lang="en-PH" sz="2000" dirty="0">
                  <a:latin typeface="Verdana" pitchFamily="34" charset="0"/>
                  <a:ea typeface="Verdana" pitchFamily="34" charset="0"/>
                </a:endParaRPr>
              </a:p>
              <a:p>
                <a:pPr marL="809625" lvl="1" indent="-352425">
                  <a:buFont typeface="+mj-lt"/>
                  <a:buAutoNum type="alphaLcPeriod"/>
                </a:pPr>
                <a:r>
                  <a:rPr lang="en-US" sz="2000" dirty="0">
                    <a:latin typeface="Verdana" pitchFamily="34" charset="0"/>
                    <a:ea typeface="Verdana" pitchFamily="34" charset="0"/>
                    <a:cs typeface="Cambria Math"/>
                  </a:rPr>
                  <a:t> </a:t>
                </a:r>
                <a14:m>
                  <m:oMath xmlns:m="http://schemas.openxmlformats.org/officeDocument/2006/math">
                    <m:r>
                      <a:rPr lang="en-US" sz="2000" i="1" dirty="0">
                        <a:latin typeface="Cambria Math"/>
                        <a:ea typeface="Verdana" pitchFamily="34" charset="0"/>
                        <a:cs typeface="Cambria Math"/>
                      </a:rPr>
                      <m:t>10</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and </a:t>
                </a:r>
                <a14:m>
                  <m:oMath xmlns:m="http://schemas.openxmlformats.org/officeDocument/2006/math">
                    <m:r>
                      <a:rPr lang="en-US" sz="2000" i="1" dirty="0">
                        <a:latin typeface="Cambria Math"/>
                        <a:ea typeface="Verdana" pitchFamily="34" charset="0"/>
                        <a:cs typeface="Cambria Math"/>
                      </a:rPr>
                      <m:t>15</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books over the summer? ________</a:t>
                </a:r>
              </a:p>
              <a:p>
                <a:pPr marL="809625" lvl="1" indent="-352425">
                  <a:buFont typeface="+mj-lt"/>
                  <a:buAutoNum type="alphaLcPeriod"/>
                </a:pPr>
                <a:endParaRPr lang="en-PH" sz="2000" dirty="0">
                  <a:latin typeface="Verdana" pitchFamily="34" charset="0"/>
                  <a:ea typeface="Verdana" pitchFamily="34" charset="0"/>
                </a:endParaRPr>
              </a:p>
              <a:p>
                <a:pPr marL="809625" lvl="1" indent="-352425">
                  <a:buFont typeface="+mj-lt"/>
                  <a:buAutoNum type="alphaLcPeriod"/>
                </a:pPr>
                <a:r>
                  <a:rPr lang="en-US" sz="2000" dirty="0">
                    <a:latin typeface="Verdana" pitchFamily="34" charset="0"/>
                    <a:ea typeface="Verdana" pitchFamily="34" charset="0"/>
                    <a:cs typeface="Cambria Math"/>
                  </a:rPr>
                  <a:t> </a:t>
                </a:r>
                <a14:m>
                  <m:oMath xmlns:m="http://schemas.openxmlformats.org/officeDocument/2006/math">
                    <m:r>
                      <a:rPr lang="en-US" sz="2000" i="1" dirty="0">
                        <a:latin typeface="Cambria Math"/>
                        <a:ea typeface="Verdana" pitchFamily="34" charset="0"/>
                        <a:cs typeface="Cambria Math"/>
                      </a:rPr>
                      <m:t>5</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and </a:t>
                </a:r>
                <a14:m>
                  <m:oMath xmlns:m="http://schemas.openxmlformats.org/officeDocument/2006/math">
                    <m:r>
                      <a:rPr lang="en-US" sz="2000" i="1" dirty="0">
                        <a:latin typeface="Cambria Math"/>
                        <a:ea typeface="Verdana" pitchFamily="34" charset="0"/>
                        <a:cs typeface="Cambria Math"/>
                      </a:rPr>
                      <m:t>6</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books over the summer? ________</a:t>
                </a:r>
              </a:p>
              <a:p>
                <a:pPr marL="809625" lvl="1" indent="-352425">
                  <a:buFont typeface="+mj-lt"/>
                  <a:buAutoNum type="alphaLcPeriod"/>
                </a:pPr>
                <a:endParaRPr lang="en-US" sz="2000" dirty="0">
                  <a:latin typeface="Verdana" pitchFamily="34" charset="0"/>
                  <a:ea typeface="Verdana" pitchFamily="34" charset="0"/>
                  <a:cs typeface="Verdana"/>
                </a:endParaRPr>
              </a:p>
              <a:p>
                <a:pPr marL="809625" lvl="1" indent="-352425">
                  <a:buFont typeface="+mj-lt"/>
                  <a:buAutoNum type="alphaLcPeriod"/>
                </a:pPr>
                <a:r>
                  <a:rPr lang="en-US" sz="2000" dirty="0">
                    <a:latin typeface="Verdana" pitchFamily="34" charset="0"/>
                    <a:ea typeface="Verdana" pitchFamily="34" charset="0"/>
                    <a:cs typeface="Cambria Math"/>
                  </a:rPr>
                  <a:t> </a:t>
                </a:r>
                <a14:m>
                  <m:oMath xmlns:m="http://schemas.openxmlformats.org/officeDocument/2006/math">
                    <m:r>
                      <a:rPr lang="en-US" sz="2000" i="1" dirty="0">
                        <a:latin typeface="Cambria Math"/>
                        <a:ea typeface="Verdana" pitchFamily="34" charset="0"/>
                        <a:cs typeface="Cambria Math"/>
                      </a:rPr>
                      <m:t>2</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and </a:t>
                </a:r>
                <a14:m>
                  <m:oMath xmlns:m="http://schemas.openxmlformats.org/officeDocument/2006/math">
                    <m:r>
                      <a:rPr lang="en-US" sz="2000" i="1" dirty="0">
                        <a:latin typeface="Cambria Math"/>
                        <a:ea typeface="Verdana" pitchFamily="34" charset="0"/>
                        <a:cs typeface="Cambria Math"/>
                      </a:rPr>
                      <m:t>10</m:t>
                    </m:r>
                    <m:r>
                      <a:rPr lang="en-US" sz="2000" i="1" dirty="0">
                        <a:latin typeface="Cambria Math"/>
                        <a:ea typeface="Verdana" pitchFamily="34" charset="0"/>
                        <a:cs typeface="Verdana"/>
                      </a:rPr>
                      <m:t> </m:t>
                    </m:r>
                  </m:oMath>
                </a14:m>
                <a:r>
                  <a:rPr lang="en-US" sz="2000" dirty="0">
                    <a:latin typeface="Verdana" pitchFamily="34" charset="0"/>
                    <a:ea typeface="Verdana" pitchFamily="34" charset="0"/>
                    <a:cs typeface="Verdana"/>
                  </a:rPr>
                  <a:t>books over the summer? ________</a:t>
                </a:r>
                <a:endParaRPr lang="en-PH" sz="2000" dirty="0">
                  <a:latin typeface="Verdana" pitchFamily="34" charset="0"/>
                  <a:ea typeface="Verdana" pitchFamily="34"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1184223" y="3800231"/>
                <a:ext cx="9974220" cy="2862322"/>
              </a:xfrm>
              <a:prstGeom prst="rect">
                <a:avLst/>
              </a:prstGeom>
              <a:blipFill rotWithShape="0">
                <a:blip r:embed="rId4"/>
                <a:stretch>
                  <a:fillRect t="-1064" b="-17021"/>
                </a:stretch>
              </a:blipFill>
            </p:spPr>
            <p:txBody>
              <a:bodyPr/>
              <a:lstStyle/>
              <a:p>
                <a:r>
                  <a:rPr lang="en-US">
                    <a:noFill/>
                  </a:rPr>
                  <a:t> </a:t>
                </a:r>
              </a:p>
            </p:txBody>
          </p:sp>
        </mc:Fallback>
      </mc:AlternateContent>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61067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21850" y="30342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9.4.7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74550" y="22521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21850" y="1091737"/>
            <a:ext cx="9604332" cy="2463367"/>
          </a:xfrm>
          <a:prstGeom prst="rect">
            <a:avLst/>
          </a:prstGeom>
          <a:noFill/>
        </p:spPr>
        <p:txBody>
          <a:bodyPr wrap="square" rtlCol="0">
            <a:spAutoFit/>
          </a:bodyPr>
          <a:lstStyle/>
          <a:p>
            <a:pPr>
              <a:lnSpc>
                <a:spcPct val="107000"/>
              </a:lnSpc>
            </a:pPr>
            <a:r>
              <a:rPr lang="en-US" sz="2400" dirty="0">
                <a:latin typeface="Verdana" pitchFamily="34" charset="0"/>
                <a:ea typeface="Verdana" pitchFamily="34" charset="0"/>
                <a:cs typeface="Verdana"/>
              </a:rPr>
              <a:t>Jamal missed class today and he needs help with what he missed.</a:t>
            </a:r>
          </a:p>
          <a:p>
            <a:pPr>
              <a:lnSpc>
                <a:spcPct val="107000"/>
              </a:lnSpc>
            </a:pPr>
            <a:endParaRPr lang="en-US" sz="2400" dirty="0">
              <a:latin typeface="Verdana" pitchFamily="34" charset="0"/>
              <a:ea typeface="Verdana" pitchFamily="34" charset="0"/>
              <a:cs typeface="Verdana"/>
            </a:endParaRPr>
          </a:p>
          <a:p>
            <a:pPr marL="457200" indent="-457200">
              <a:lnSpc>
                <a:spcPct val="107000"/>
              </a:lnSpc>
              <a:buFont typeface="+mj-lt"/>
              <a:buAutoNum type="arabicPeriod"/>
            </a:pPr>
            <a:r>
              <a:rPr lang="en-US" sz="2400" dirty="0">
                <a:latin typeface="Verdana" pitchFamily="34" charset="0"/>
                <a:ea typeface="Verdana" pitchFamily="34" charset="0"/>
                <a:cs typeface="Verdana"/>
              </a:rPr>
              <a:t>Write a note to Jamal letting him know what a box plot is and what is it used for. Draw a picture or diagram that may help him better understand.</a:t>
            </a:r>
            <a:endParaRPr lang="en-PH" sz="2400" dirty="0">
              <a:latin typeface="Verdana" pitchFamily="34" charset="0"/>
              <a:ea typeface="Verdana" pitchFamily="34" charset="0"/>
            </a:endParaRPr>
          </a:p>
        </p:txBody>
      </p:sp>
      <p:sp>
        <p:nvSpPr>
          <p:cNvPr id="10" name="Google Shape;282;g104476d1465_1_17"/>
          <p:cNvSpPr txBox="1"/>
          <p:nvPr/>
        </p:nvSpPr>
        <p:spPr>
          <a:xfrm>
            <a:off x="864887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8710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688893-23EA-4BD3-96FC-1FB980654795}">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2D65E202-08CF-4BD1-895F-13DE6D2D29CC}">
  <ds:schemaRefs>
    <ds:schemaRef ds:uri="http://schemas.microsoft.com/sharepoint/v3/contenttype/forms"/>
  </ds:schemaRefs>
</ds:datastoreItem>
</file>

<file path=customXml/itemProps3.xml><?xml version="1.0" encoding="utf-8"?>
<ds:datastoreItem xmlns:ds="http://schemas.openxmlformats.org/officeDocument/2006/customXml" ds:itemID="{B5817A9D-F3B3-4917-8159-FA2021EC03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1420</TotalTime>
  <Words>1569</Words>
  <Application>Microsoft Office PowerPoint</Application>
  <PresentationFormat>Widescreen</PresentationFormat>
  <Paragraphs>236</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 Black</vt:lpstr>
      <vt:lpstr>Calibri</vt:lpstr>
      <vt:lpstr>Cambria Math</vt:lpstr>
      <vt:lpstr>Century Gothic</vt:lpstr>
      <vt:lpstr>Courier New</vt:lpstr>
      <vt:lpstr>Verdana</vt:lpstr>
      <vt:lpstr>1_Office Theme</vt:lpstr>
      <vt:lpstr>6th Grade Accelerated Math  Unit 9, Lesson 4  Interpreting  Box Plots  Volume 2, pg. 56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32</cp:revision>
  <dcterms:created xsi:type="dcterms:W3CDTF">2015-03-17T18:51:18Z</dcterms:created>
  <dcterms:modified xsi:type="dcterms:W3CDTF">2023-07-07T05:27:31Z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