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8"/>
  </p:notesMasterIdLst>
  <p:sldIdLst>
    <p:sldId id="256" r:id="rId5"/>
    <p:sldId id="257" r:id="rId6"/>
    <p:sldId id="285" r:id="rId7"/>
    <p:sldId id="286" r:id="rId8"/>
    <p:sldId id="261" r:id="rId9"/>
    <p:sldId id="287" r:id="rId10"/>
    <p:sldId id="326" r:id="rId11"/>
    <p:sldId id="327" r:id="rId12"/>
    <p:sldId id="358" r:id="rId13"/>
    <p:sldId id="362" r:id="rId14"/>
    <p:sldId id="363" r:id="rId15"/>
    <p:sldId id="364" r:id="rId16"/>
    <p:sldId id="289" r:id="rId17"/>
    <p:sldId id="290" r:id="rId18"/>
    <p:sldId id="288" r:id="rId19"/>
    <p:sldId id="356" r:id="rId20"/>
    <p:sldId id="367" r:id="rId21"/>
    <p:sldId id="366" r:id="rId22"/>
    <p:sldId id="323" r:id="rId23"/>
    <p:sldId id="324" r:id="rId24"/>
    <p:sldId id="365" r:id="rId25"/>
    <p:sldId id="320" r:id="rId26"/>
    <p:sldId id="321" r:id="rId27"/>
    <p:sldId id="355" r:id="rId28"/>
    <p:sldId id="368" r:id="rId29"/>
    <p:sldId id="302" r:id="rId30"/>
    <p:sldId id="303" r:id="rId31"/>
    <p:sldId id="360" r:id="rId32"/>
    <p:sldId id="369" r:id="rId33"/>
    <p:sldId id="370" r:id="rId34"/>
    <p:sldId id="306" r:id="rId35"/>
    <p:sldId id="307" r:id="rId36"/>
    <p:sldId id="361"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75" autoAdjust="0"/>
    <p:restoredTop sz="94707" autoAdjust="0"/>
  </p:normalViewPr>
  <p:slideViewPr>
    <p:cSldViewPr snapToGrid="0">
      <p:cViewPr>
        <p:scale>
          <a:sx n="115" d="100"/>
          <a:sy n="115" d="100"/>
        </p:scale>
        <p:origin x="-102"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460413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03952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290711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203952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2203952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2164392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9.png"/><Relationship Id="rId7" Type="http://schemas.openxmlformats.org/officeDocument/2006/relationships/image" Target="../media/image18.tiff"/><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0.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tiff"/></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0.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9.png"/><Relationship Id="rId4" Type="http://schemas.openxmlformats.org/officeDocument/2006/relationships/image" Target="../media/image35.tiff"/></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9, Lesson 9</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Creating Box Plots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89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56928" y="21140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33428" y="44718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364105" y="1600200"/>
            <a:ext cx="94637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00000"/>
              </a:lnSpc>
              <a:spcBef>
                <a:spcPts val="0"/>
              </a:spcBef>
              <a:buSzPts val="1100"/>
              <a:buNone/>
            </a:pPr>
            <a:r>
              <a:rPr lang="en-US" sz="2400" dirty="0">
                <a:solidFill>
                  <a:schemeClr val="tx1"/>
                </a:solidFill>
                <a:latin typeface="Verdana" pitchFamily="34" charset="0"/>
                <a:ea typeface="Verdana" pitchFamily="34" charset="0"/>
                <a:cs typeface="Verdana"/>
                <a:sym typeface="Verdana"/>
              </a:rPr>
              <a:t>MA.6.DP.1.3 </a:t>
            </a:r>
          </a:p>
          <a:p>
            <a:pPr indent="0">
              <a:lnSpc>
                <a:spcPct val="100000"/>
              </a:lnSpc>
              <a:spcBef>
                <a:spcPts val="0"/>
              </a:spcBef>
              <a:buNone/>
            </a:pPr>
            <a:r>
              <a:rPr lang="en-US" sz="2400" dirty="0">
                <a:solidFill>
                  <a:schemeClr val="tx1"/>
                </a:solidFill>
                <a:latin typeface="Verdana" pitchFamily="34" charset="0"/>
                <a:ea typeface="Verdana" pitchFamily="34" charset="0"/>
                <a:cs typeface="Verdana"/>
                <a:sym typeface="Verdana"/>
              </a:rPr>
              <a:t>Given a box plot within a real-world context, determine the minimum, the lower quartile, the median, the upper quartile, and the maximum. Use this summary of the data to describe the spread and distribution of the data.</a:t>
            </a:r>
          </a:p>
          <a:p>
            <a:pPr indent="0">
              <a:lnSpc>
                <a:spcPct val="100000"/>
              </a:lnSpc>
              <a:spcBef>
                <a:spcPts val="0"/>
              </a:spcBef>
              <a:buNone/>
            </a:pPr>
            <a:endParaRPr lang="en-US" sz="2400" dirty="0">
              <a:solidFill>
                <a:schemeClr val="tx1"/>
              </a:solidFill>
              <a:latin typeface="Verdana" pitchFamily="34" charset="0"/>
              <a:ea typeface="Verdana" pitchFamily="34" charset="0"/>
              <a:cs typeface="Verdana"/>
              <a:sym typeface="Century Gothic"/>
            </a:endParaRPr>
          </a:p>
          <a:p>
            <a:pPr marL="0" indent="0">
              <a:lnSpc>
                <a:spcPct val="100000"/>
              </a:lnSpc>
              <a:spcBef>
                <a:spcPts val="0"/>
              </a:spcBef>
              <a:buSzPts val="1100"/>
              <a:buNone/>
            </a:pPr>
            <a:r>
              <a:rPr lang="en-US" sz="2400" dirty="0">
                <a:solidFill>
                  <a:schemeClr val="tx1"/>
                </a:solidFill>
                <a:latin typeface="Verdana" pitchFamily="34" charset="0"/>
                <a:ea typeface="Verdana" pitchFamily="34" charset="0"/>
                <a:cs typeface="Verdana"/>
                <a:sym typeface="Verdana"/>
              </a:rPr>
              <a:t>MA.6.DP.1.5 </a:t>
            </a:r>
          </a:p>
          <a:p>
            <a:pPr indent="0">
              <a:lnSpc>
                <a:spcPct val="100000"/>
              </a:lnSpc>
              <a:spcBef>
                <a:spcPts val="0"/>
              </a:spcBef>
              <a:buNone/>
            </a:pPr>
            <a:r>
              <a:rPr lang="en-US" sz="2400" dirty="0">
                <a:latin typeface="Verdana" pitchFamily="34" charset="0"/>
                <a:ea typeface="Verdana" pitchFamily="34" charset="0"/>
              </a:rPr>
              <a:t>Create box plots and histograms to represent sets of numerical data within real-world contexts.</a:t>
            </a:r>
            <a:endParaRPr lang="en-US" sz="2400" dirty="0">
              <a:solidFill>
                <a:schemeClr val="tx1"/>
              </a:solidFill>
              <a:latin typeface="Verdana" pitchFamily="34" charset="0"/>
              <a:ea typeface="Verdana" pitchFamily="34" charset="0"/>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898321"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722971"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645621" y="1596390"/>
            <a:ext cx="948851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499712" y="105611"/>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717550" y="394811"/>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499712" y="1600200"/>
            <a:ext cx="919257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30225">
              <a:buClr>
                <a:srgbClr val="434343"/>
              </a:buClr>
              <a:buSzPts val="3500"/>
              <a:buFont typeface="Verdana"/>
              <a:buChar char="❏"/>
            </a:pPr>
            <a:r>
              <a:rPr lang="en-US" sz="3500" dirty="0">
                <a:solidFill>
                  <a:schemeClr val="tx1"/>
                </a:solidFill>
                <a:latin typeface="Verdana"/>
                <a:ea typeface="Verdana"/>
                <a:cs typeface="Verdana"/>
                <a:sym typeface="Verdana"/>
              </a:rPr>
              <a:t>I can find key values given a box plot within a real world context.</a:t>
            </a:r>
          </a:p>
          <a:p>
            <a:pPr marL="536575" indent="-530225">
              <a:buClr>
                <a:srgbClr val="434343"/>
              </a:buClr>
              <a:buSzPts val="3500"/>
              <a:buFont typeface="Verdana"/>
              <a:buChar char="❏"/>
            </a:pPr>
            <a:endParaRPr lang="en-US" sz="3500" dirty="0">
              <a:solidFill>
                <a:schemeClr val="tx1"/>
              </a:solidFill>
              <a:latin typeface="Verdana"/>
              <a:ea typeface="Verdana"/>
              <a:cs typeface="Verdana"/>
              <a:sym typeface="Verdana"/>
            </a:endParaRPr>
          </a:p>
          <a:p>
            <a:pPr marL="536575" indent="-530225">
              <a:buClr>
                <a:srgbClr val="434343"/>
              </a:buClr>
              <a:buSzPts val="3500"/>
              <a:buFont typeface="Verdana"/>
              <a:buChar char="❏"/>
            </a:pPr>
            <a:r>
              <a:rPr lang="en-US" sz="3500" dirty="0">
                <a:solidFill>
                  <a:schemeClr val="tx1"/>
                </a:solidFill>
                <a:latin typeface="Verdana"/>
                <a:ea typeface="Verdana"/>
                <a:cs typeface="Verdana"/>
                <a:sym typeface="Verdana"/>
              </a:rPr>
              <a:t>I can create a box plot to represent data.</a:t>
            </a:r>
          </a:p>
        </p:txBody>
      </p:sp>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89</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94707" y="22782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9.9.1 Warm-Up: Sleep</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661655" y="14961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1408955" y="1386025"/>
                <a:ext cx="9781688" cy="3477875"/>
              </a:xfrm>
              <a:prstGeom prst="rect">
                <a:avLst/>
              </a:prstGeom>
              <a:noFill/>
            </p:spPr>
            <p:txBody>
              <a:bodyPr wrap="square" rtlCol="0">
                <a:spAutoFit/>
              </a:bodyPr>
              <a:lstStyle/>
              <a:p>
                <a:r>
                  <a:rPr lang="en-US" sz="2000" dirty="0">
                    <a:latin typeface="Verdana" pitchFamily="34" charset="0"/>
                    <a:ea typeface="Verdana" pitchFamily="34" charset="0"/>
                    <a:cs typeface="Verdana"/>
                  </a:rPr>
                  <a:t>Ten sixth-grade students were asked how much sleep, in hours, they usually get on a school night. Their responses are shown.</a:t>
                </a:r>
                <a:endParaRPr lang="en-PH" sz="2000" dirty="0">
                  <a:latin typeface="Verdana" pitchFamily="34" charset="0"/>
                  <a:ea typeface="Verdana" pitchFamily="34" charset="0"/>
                  <a:cs typeface="Verdana"/>
                </a:endParaRPr>
              </a:p>
              <a:p>
                <a:endParaRPr lang="en-PH" sz="2000" dirty="0">
                  <a:latin typeface="Verdana" pitchFamily="34" charset="0"/>
                  <a:ea typeface="Verdana" pitchFamily="34" charset="0"/>
                  <a:cs typeface="Verdana"/>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6, 7, 6.5, 7.5, 8, 8.5, 7, 6.5, 5, 7</m:t>
                      </m:r>
                    </m:oMath>
                  </m:oMathPara>
                </a14:m>
                <a:endParaRPr lang="en-PH" sz="2000" dirty="0">
                  <a:latin typeface="Verdana" pitchFamily="34" charset="0"/>
                  <a:ea typeface="Verdana" pitchFamily="34" charset="0"/>
                </a:endParaRPr>
              </a:p>
              <a:p>
                <a:endParaRPr lang="en-US" sz="2000" dirty="0">
                  <a:latin typeface="Verdana" pitchFamily="34" charset="0"/>
                  <a:ea typeface="Verdana" pitchFamily="34" charset="0"/>
                  <a:cs typeface="Verdana"/>
                </a:endParaRPr>
              </a:p>
              <a:p>
                <a:pPr marL="457200" indent="-457200">
                  <a:buFont typeface="+mj-lt"/>
                  <a:buAutoNum type="arabicPeriod"/>
                </a:pPr>
                <a:r>
                  <a:rPr lang="en-US" sz="2000" dirty="0">
                    <a:latin typeface="Verdana"/>
                    <a:ea typeface="Verdana"/>
                    <a:cs typeface="Verdana"/>
                  </a:rPr>
                  <a:t>Calculate the median number of hours of sleep for the students.</a:t>
                </a:r>
                <a:endParaRPr lang="en-US" sz="2000" i="1"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endParaRPr lang="en-US" sz="2000" dirty="0">
                  <a:latin typeface="Verdana"/>
                  <a:ea typeface="Verdana"/>
                  <a:cs typeface="Verdana"/>
                </a:endParaRPr>
              </a:p>
              <a:p>
                <a:pPr marL="457200" indent="-457200">
                  <a:buFont typeface="+mj-lt"/>
                  <a:buAutoNum type="arabicPeriod"/>
                </a:pPr>
                <a:r>
                  <a:rPr lang="en-US" sz="2000" dirty="0">
                    <a:latin typeface="Verdana"/>
                    <a:ea typeface="Verdana"/>
                    <a:cs typeface="Verdana"/>
                  </a:rPr>
                  <a:t>Calculate the range for number of hours of sleep for the students.</a:t>
                </a:r>
                <a:endParaRPr lang="en-US" sz="2000" dirty="0">
                  <a:latin typeface="Verdana" pitchFamily="34" charset="0"/>
                  <a:ea typeface="Verdana" pitchFamily="34" charset="0"/>
                  <a:cs typeface="Verdana"/>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408955" y="1386025"/>
                <a:ext cx="9781688" cy="3477875"/>
              </a:xfrm>
              <a:prstGeom prst="rect">
                <a:avLst/>
              </a:prstGeom>
              <a:blipFill rotWithShape="0">
                <a:blip r:embed="rId4"/>
                <a:stretch>
                  <a:fillRect l="-685" t="-876" b="-2277"/>
                </a:stretch>
              </a:blipFill>
            </p:spPr>
            <p:txBody>
              <a:bodyPr/>
              <a:lstStyle/>
              <a:p>
                <a:r>
                  <a:rPr lang="en-US">
                    <a:noFill/>
                  </a:rPr>
                  <a:t> </a:t>
                </a:r>
              </a:p>
            </p:txBody>
          </p:sp>
        </mc:Fallback>
      </mc:AlternateContent>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pic>
        <p:nvPicPr>
          <p:cNvPr id="11266" name="Picture 2" descr="Icon&#10;&#10;Description automatically generated">
            <a:extLst>
              <a:ext uri="{FF2B5EF4-FFF2-40B4-BE49-F238E27FC236}">
                <a16:creationId xmlns:a16="http://schemas.microsoft.com/office/drawing/2014/main" xmlns="" id="{8E68AE2B-31C4-664C-9668-81B7C1673C9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92434"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732"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450211" y="238952"/>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9.9.2 Refresher: Box Plots</a:t>
            </a:r>
          </a:p>
        </p:txBody>
      </p:sp>
      <p:pic>
        <p:nvPicPr>
          <p:cNvPr id="9" name="Picture 2" descr="Icon&#10;&#10;Description automatically generated">
            <a:extLst>
              <a:ext uri="{FF2B5EF4-FFF2-40B4-BE49-F238E27FC236}">
                <a16:creationId xmlns:a16="http://schemas.microsoft.com/office/drawing/2014/main" xmlns="" id="{522B94A7-8145-AF4C-A130-4689EF537F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00403" y="15949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2DC51FF2-AD43-3B4B-B9DE-330920D33388}"/>
              </a:ext>
            </a:extLst>
          </p:cNvPr>
          <p:cNvSpPr txBox="1"/>
          <p:nvPr/>
        </p:nvSpPr>
        <p:spPr>
          <a:xfrm>
            <a:off x="1558977" y="1084730"/>
            <a:ext cx="9330078" cy="830997"/>
          </a:xfrm>
          <a:prstGeom prst="rect">
            <a:avLst/>
          </a:prstGeom>
          <a:noFill/>
        </p:spPr>
        <p:txBody>
          <a:bodyPr wrap="square" rtlCol="0">
            <a:spAutoFit/>
          </a:bodyPr>
          <a:lstStyle/>
          <a:p>
            <a:r>
              <a:rPr lang="en-US" sz="2400" dirty="0">
                <a:latin typeface="Verdana"/>
                <a:ea typeface="Verdana"/>
                <a:cs typeface="Verdana"/>
              </a:rPr>
              <a:t>A blank box plot is shown. Label the blue boxes below using the words found in the bank.</a:t>
            </a:r>
            <a:endParaRPr lang="en-PH" sz="2000"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407684072"/>
                  </p:ext>
                </p:extLst>
              </p:nvPr>
            </p:nvGraphicFramePr>
            <p:xfrm>
              <a:off x="2132976" y="2266585"/>
              <a:ext cx="8410616" cy="1158240"/>
            </p:xfrm>
            <a:graphic>
              <a:graphicData uri="http://schemas.openxmlformats.org/drawingml/2006/table">
                <a:tbl>
                  <a:tblPr firstRow="1" firstCol="1" bandRow="1"/>
                  <a:tblGrid>
                    <a:gridCol w="8410616">
                      <a:extLst>
                        <a:ext uri="{9D8B030D-6E8A-4147-A177-3AD203B41FA5}">
                          <a16:colId xmlns:a16="http://schemas.microsoft.com/office/drawing/2014/main" xmlns="" val="20000"/>
                        </a:ext>
                      </a:extLst>
                    </a:gridCol>
                  </a:tblGrid>
                  <a:tr h="687070">
                    <a:tc>
                      <a:txBody>
                        <a:bodyPr/>
                        <a:lstStyle/>
                        <a:p>
                          <a:pPr marL="0" indent="0" algn="ctr">
                            <a:lnSpc>
                              <a:spcPct val="100000"/>
                            </a:lnSpc>
                            <a:spcAft>
                              <a:spcPts val="1200"/>
                            </a:spcAft>
                            <a:tabLst>
                              <a:tab pos="893763" algn="l"/>
                              <a:tab pos="2154238" algn="l"/>
                              <a:tab pos="2511425" algn="l"/>
                              <a:tab pos="5381625" algn="l"/>
                            </a:tabLst>
                          </a:pPr>
                          <a:r>
                            <a:rPr lang="en-US" sz="2400" dirty="0">
                              <a:solidFill>
                                <a:srgbClr val="000000"/>
                              </a:solidFill>
                              <a:effectLst/>
                              <a:latin typeface="Verdana" pitchFamily="34" charset="0"/>
                              <a:ea typeface="Verdana" pitchFamily="34" charset="0"/>
                              <a:cs typeface="Verdana"/>
                            </a:rPr>
                            <a:t>median       first quartile (</a:t>
                          </a:r>
                          <a14:m>
                            <m:oMath xmlns:m="http://schemas.openxmlformats.org/officeDocument/2006/math">
                              <m:sSub>
                                <m:sSubPr>
                                  <m:ctrlPr>
                                    <a:rPr lang="en-PH" sz="2400" i="1">
                                      <a:solidFill>
                                        <a:srgbClr val="000000"/>
                                      </a:solidFill>
                                      <a:effectLst/>
                                      <a:latin typeface="Cambria Math"/>
                                      <a:ea typeface="Cambria Math"/>
                                      <a:cs typeface="Cambria Math"/>
                                    </a:rPr>
                                  </m:ctrlPr>
                                </m:sSubPr>
                                <m:e>
                                  <m:r>
                                    <m:rPr>
                                      <m:sty m:val="p"/>
                                    </m:rPr>
                                    <a:rPr lang="en-US" sz="2400">
                                      <a:solidFill>
                                        <a:srgbClr val="000000"/>
                                      </a:solidFill>
                                      <a:effectLst/>
                                      <a:latin typeface="Cambria Math"/>
                                      <a:ea typeface="Cambria Math"/>
                                      <a:cs typeface="Cambria Math"/>
                                    </a:rPr>
                                    <m:t>Q</m:t>
                                  </m:r>
                                </m:e>
                                <m:sub>
                                  <m:r>
                                    <a:rPr lang="en-US" sz="2400" i="1">
                                      <a:solidFill>
                                        <a:srgbClr val="000000"/>
                                      </a:solidFill>
                                      <a:effectLst/>
                                      <a:latin typeface="Cambria Math"/>
                                      <a:ea typeface="Cambria Math"/>
                                      <a:cs typeface="Cambria Math"/>
                                    </a:rPr>
                                    <m:t>1</m:t>
                                  </m:r>
                                </m:sub>
                              </m:sSub>
                            </m:oMath>
                          </a14:m>
                          <a:r>
                            <a:rPr lang="en-US" sz="2400" dirty="0">
                              <a:solidFill>
                                <a:srgbClr val="000000"/>
                              </a:solidFill>
                              <a:effectLst/>
                              <a:latin typeface="Verdana" pitchFamily="34" charset="0"/>
                              <a:ea typeface="Verdana" pitchFamily="34" charset="0"/>
                              <a:cs typeface="Verdana"/>
                            </a:rPr>
                            <a:t>) 	minimum (min)</a:t>
                          </a:r>
                        </a:p>
                        <a:p>
                          <a:pPr marL="0" indent="0" algn="ctr">
                            <a:lnSpc>
                              <a:spcPct val="100000"/>
                            </a:lnSpc>
                            <a:spcAft>
                              <a:spcPts val="1200"/>
                            </a:spcAft>
                            <a:tabLst>
                              <a:tab pos="893763" algn="l"/>
                              <a:tab pos="2154238" algn="l"/>
                              <a:tab pos="2511425" algn="l"/>
                              <a:tab pos="3227388" algn="l"/>
                            </a:tabLst>
                          </a:pPr>
                          <a:r>
                            <a:rPr lang="en-US" sz="2400" dirty="0">
                              <a:solidFill>
                                <a:srgbClr val="000000"/>
                              </a:solidFill>
                              <a:effectLst/>
                              <a:latin typeface="Verdana" pitchFamily="34" charset="0"/>
                              <a:ea typeface="Verdana" pitchFamily="34" charset="0"/>
                              <a:cs typeface="Verdana"/>
                            </a:rPr>
                            <a:t>third quartile (</a:t>
                          </a:r>
                          <a14:m>
                            <m:oMath xmlns:m="http://schemas.openxmlformats.org/officeDocument/2006/math">
                              <m:sSub>
                                <m:sSubPr>
                                  <m:ctrlPr>
                                    <a:rPr lang="en-PH" sz="2400" i="1">
                                      <a:solidFill>
                                        <a:srgbClr val="000000"/>
                                      </a:solidFill>
                                      <a:effectLst/>
                                      <a:latin typeface="Cambria Math"/>
                                      <a:ea typeface="Cambria Math"/>
                                      <a:cs typeface="Cambria Math"/>
                                    </a:rPr>
                                  </m:ctrlPr>
                                </m:sSubPr>
                                <m:e>
                                  <m:r>
                                    <m:rPr>
                                      <m:sty m:val="p"/>
                                    </m:rPr>
                                    <a:rPr lang="en-US" sz="2400">
                                      <a:solidFill>
                                        <a:srgbClr val="000000"/>
                                      </a:solidFill>
                                      <a:effectLst/>
                                      <a:latin typeface="Cambria Math"/>
                                      <a:ea typeface="Cambria Math"/>
                                      <a:cs typeface="Cambria Math"/>
                                    </a:rPr>
                                    <m:t>Q</m:t>
                                  </m:r>
                                </m:e>
                                <m:sub>
                                  <m:r>
                                    <a:rPr lang="en-US" sz="2400" i="1">
                                      <a:solidFill>
                                        <a:srgbClr val="000000"/>
                                      </a:solidFill>
                                      <a:effectLst/>
                                      <a:latin typeface="Cambria Math"/>
                                      <a:ea typeface="Cambria Math"/>
                                      <a:cs typeface="Cambria Math"/>
                                    </a:rPr>
                                    <m:t>3</m:t>
                                  </m:r>
                                </m:sub>
                              </m:sSub>
                            </m:oMath>
                          </a14:m>
                          <a:r>
                            <a:rPr lang="en-US" sz="2400" dirty="0">
                              <a:solidFill>
                                <a:srgbClr val="000000"/>
                              </a:solidFill>
                              <a:effectLst/>
                              <a:latin typeface="Verdana" pitchFamily="34" charset="0"/>
                              <a:ea typeface="Verdana" pitchFamily="34" charset="0"/>
                              <a:cs typeface="Verdana"/>
                            </a:rPr>
                            <a:t>)		maximum (max)</a:t>
                          </a:r>
                          <a:endParaRPr lang="en-PH" sz="2400" dirty="0">
                            <a:effectLst/>
                            <a:latin typeface="Verdana" pitchFamily="34" charset="0"/>
                            <a:ea typeface="Verdana" pitchFamily="34" charset="0"/>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407684072"/>
                  </p:ext>
                </p:extLst>
              </p:nvPr>
            </p:nvGraphicFramePr>
            <p:xfrm>
              <a:off x="2132976" y="2266585"/>
              <a:ext cx="8410616" cy="1158240"/>
            </p:xfrm>
            <a:graphic>
              <a:graphicData uri="http://schemas.openxmlformats.org/drawingml/2006/table">
                <a:tbl>
                  <a:tblPr firstRow="1" firstCol="1" bandRow="1"/>
                  <a:tblGrid>
                    <a:gridCol w="8410616">
                      <a:extLst>
                        <a:ext uri="{9D8B030D-6E8A-4147-A177-3AD203B41FA5}">
                          <a16:colId xmlns:a16="http://schemas.microsoft.com/office/drawing/2014/main" val="20000"/>
                        </a:ext>
                      </a:extLst>
                    </a:gridCol>
                  </a:tblGrid>
                  <a:tr h="115824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2" t="-524" r="-217" b="-3665"/>
                          </a:stretch>
                        </a:blipFill>
                      </a:tcPr>
                    </a:tc>
                    <a:extLst>
                      <a:ext uri="{0D108BD9-81ED-4DB2-BD59-A6C34878D82A}">
                        <a16:rowId xmlns:a16="http://schemas.microsoft.com/office/drawing/2014/main" val="10000"/>
                      </a:ext>
                    </a:extLst>
                  </a:tr>
                </a:tbl>
              </a:graphicData>
            </a:graphic>
          </p:graphicFrame>
        </mc:Fallback>
      </mc:AlternateContent>
      <p:grpSp>
        <p:nvGrpSpPr>
          <p:cNvPr id="25" name="Group 24"/>
          <p:cNvGrpSpPr/>
          <p:nvPr/>
        </p:nvGrpSpPr>
        <p:grpSpPr>
          <a:xfrm>
            <a:off x="2105125" y="3594974"/>
            <a:ext cx="7997900" cy="2031867"/>
            <a:chOff x="998264" y="3547459"/>
            <a:chExt cx="7997900" cy="2031867"/>
          </a:xfrm>
        </p:grpSpPr>
        <p:pic>
          <p:nvPicPr>
            <p:cNvPr id="24" name="image5.png" descr="Box and whisker chart&#10;&#10;Description automatically generated"/>
            <p:cNvPicPr/>
            <p:nvPr/>
          </p:nvPicPr>
          <p:blipFill>
            <a:blip r:embed="rId5" cstate="screen">
              <a:extLst>
                <a:ext uri="{28A0092B-C50C-407E-A947-70E740481C1C}">
                  <a14:useLocalDpi xmlns:a14="http://schemas.microsoft.com/office/drawing/2010/main"/>
                </a:ext>
              </a:extLst>
            </a:blip>
            <a:srcRect/>
            <a:stretch>
              <a:fillRect/>
            </a:stretch>
          </p:blipFill>
          <p:spPr>
            <a:xfrm>
              <a:off x="998264" y="3547459"/>
              <a:ext cx="7934830" cy="1789067"/>
            </a:xfrm>
            <a:prstGeom prst="rect">
              <a:avLst/>
            </a:prstGeom>
            <a:ln/>
          </p:spPr>
        </p:pic>
        <p:grpSp>
          <p:nvGrpSpPr>
            <p:cNvPr id="6" name="Group 5"/>
            <p:cNvGrpSpPr/>
            <p:nvPr/>
          </p:nvGrpSpPr>
          <p:grpSpPr>
            <a:xfrm>
              <a:off x="1245658" y="4937910"/>
              <a:ext cx="7750506" cy="641416"/>
              <a:chOff x="1759091" y="4819387"/>
              <a:chExt cx="6529705" cy="540385"/>
            </a:xfrm>
          </p:grpSpPr>
          <p:sp>
            <p:nvSpPr>
              <p:cNvPr id="18" name="Rounded Rectangle 17"/>
              <p:cNvSpPr/>
              <p:nvPr/>
            </p:nvSpPr>
            <p:spPr>
              <a:xfrm>
                <a:off x="1759091" y="4844787"/>
                <a:ext cx="725805" cy="514985"/>
              </a:xfrm>
              <a:prstGeom prst="roundRect">
                <a:avLst>
                  <a:gd name="adj" fmla="val 16667"/>
                </a:avLst>
              </a:prstGeom>
              <a:noFill/>
              <a:ln w="1905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a:ea typeface="Cambria Math"/>
                    <a:cs typeface="Cambria Math"/>
                  </a:rPr>
                  <a:t> </a:t>
                </a:r>
                <a:endParaRPr lang="en-PH" sz="1600">
                  <a:latin typeface="Cambria Math"/>
                  <a:ea typeface="Cambria Math"/>
                  <a:cs typeface="Cambria Math"/>
                </a:endParaRPr>
              </a:p>
            </p:txBody>
          </p:sp>
          <p:sp>
            <p:nvSpPr>
              <p:cNvPr id="19" name="Rounded Rectangle 18"/>
              <p:cNvSpPr/>
              <p:nvPr/>
            </p:nvSpPr>
            <p:spPr>
              <a:xfrm>
                <a:off x="2876691" y="4844787"/>
                <a:ext cx="725805" cy="514985"/>
              </a:xfrm>
              <a:prstGeom prst="roundRect">
                <a:avLst>
                  <a:gd name="adj" fmla="val 16667"/>
                </a:avLst>
              </a:prstGeom>
              <a:noFill/>
              <a:ln w="1905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a:ea typeface="Cambria Math"/>
                    <a:cs typeface="Cambria Math"/>
                  </a:rPr>
                  <a:t> </a:t>
                </a:r>
                <a:endParaRPr lang="en-PH" sz="1600">
                  <a:latin typeface="Cambria Math"/>
                  <a:ea typeface="Cambria Math"/>
                  <a:cs typeface="Cambria Math"/>
                </a:endParaRPr>
              </a:p>
            </p:txBody>
          </p:sp>
          <p:sp>
            <p:nvSpPr>
              <p:cNvPr id="20" name="Rounded Rectangle 19"/>
              <p:cNvSpPr/>
              <p:nvPr/>
            </p:nvSpPr>
            <p:spPr>
              <a:xfrm>
                <a:off x="3981591" y="4844787"/>
                <a:ext cx="725805" cy="514985"/>
              </a:xfrm>
              <a:prstGeom prst="roundRect">
                <a:avLst>
                  <a:gd name="adj" fmla="val 16667"/>
                </a:avLst>
              </a:prstGeom>
              <a:noFill/>
              <a:ln w="1905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a:ea typeface="Cambria Math"/>
                    <a:cs typeface="Cambria Math"/>
                  </a:rPr>
                  <a:t> </a:t>
                </a:r>
                <a:endParaRPr lang="en-PH" sz="1600">
                  <a:latin typeface="Cambria Math"/>
                  <a:ea typeface="Cambria Math"/>
                  <a:cs typeface="Cambria Math"/>
                </a:endParaRPr>
              </a:p>
            </p:txBody>
          </p:sp>
          <p:sp>
            <p:nvSpPr>
              <p:cNvPr id="21" name="Rounded Rectangle 20"/>
              <p:cNvSpPr/>
              <p:nvPr/>
            </p:nvSpPr>
            <p:spPr>
              <a:xfrm>
                <a:off x="5619891" y="4844787"/>
                <a:ext cx="725805" cy="514985"/>
              </a:xfrm>
              <a:prstGeom prst="roundRect">
                <a:avLst>
                  <a:gd name="adj" fmla="val 16667"/>
                </a:avLst>
              </a:prstGeom>
              <a:noFill/>
              <a:ln w="1905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a:ea typeface="Cambria Math"/>
                    <a:cs typeface="Cambria Math"/>
                  </a:rPr>
                  <a:t> </a:t>
                </a:r>
                <a:endParaRPr lang="en-PH" sz="1600">
                  <a:latin typeface="Cambria Math"/>
                  <a:ea typeface="Cambria Math"/>
                  <a:cs typeface="Cambria Math"/>
                </a:endParaRPr>
              </a:p>
            </p:txBody>
          </p:sp>
          <p:sp>
            <p:nvSpPr>
              <p:cNvPr id="22" name="Rounded Rectangle 21"/>
              <p:cNvSpPr/>
              <p:nvPr/>
            </p:nvSpPr>
            <p:spPr>
              <a:xfrm>
                <a:off x="7562991" y="4819387"/>
                <a:ext cx="725805" cy="514985"/>
              </a:xfrm>
              <a:prstGeom prst="roundRect">
                <a:avLst>
                  <a:gd name="adj" fmla="val 16667"/>
                </a:avLst>
              </a:prstGeom>
              <a:noFill/>
              <a:ln w="19050" cap="flat" cmpd="sng">
                <a:solidFill>
                  <a:srgbClr val="0022FF"/>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600">
                    <a:latin typeface="Cambria Math"/>
                    <a:ea typeface="Cambria Math"/>
                    <a:cs typeface="Cambria Math"/>
                  </a:rPr>
                  <a:t> </a:t>
                </a:r>
                <a:endParaRPr lang="en-PH" sz="1600">
                  <a:latin typeface="Cambria Math"/>
                  <a:ea typeface="Cambria Math"/>
                  <a:cs typeface="Cambria Math"/>
                </a:endParaRPr>
              </a:p>
            </p:txBody>
          </p:sp>
        </p:grpSp>
      </p:grpSp>
      <p:sp>
        <p:nvSpPr>
          <p:cNvPr id="1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90</a:t>
            </a:r>
            <a:endParaRPr i="1" dirty="0">
              <a:latin typeface="Calibri"/>
              <a:ea typeface="Calibri"/>
              <a:cs typeface="Calibri"/>
              <a:sym typeface="Calibri"/>
            </a:endParaRPr>
          </a:p>
        </p:txBody>
      </p:sp>
      <p:pic>
        <p:nvPicPr>
          <p:cNvPr id="2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334125" y="373250"/>
            <a:ext cx="9674416" cy="5078313"/>
          </a:xfrm>
          <a:prstGeom prst="rect">
            <a:avLst/>
          </a:prstGeom>
          <a:noFill/>
        </p:spPr>
        <p:txBody>
          <a:bodyPr wrap="square" rtlCol="0">
            <a:spAutoFit/>
          </a:bodyPr>
          <a:lstStyle/>
          <a:p>
            <a:pPr marL="457200" lvl="3" indent="-457200">
              <a:buFont typeface="+mj-lt"/>
              <a:buAutoNum type="arabicPeriod"/>
            </a:pPr>
            <a:r>
              <a:rPr lang="en-US" sz="2400" dirty="0">
                <a:latin typeface="Verdana" pitchFamily="34" charset="0"/>
                <a:ea typeface="Verdana" pitchFamily="34" charset="0"/>
                <a:cs typeface="Verdana"/>
              </a:rPr>
              <a:t>Complete the statements. </a:t>
            </a:r>
            <a:endParaRPr lang="en-PH" sz="2400" dirty="0">
              <a:latin typeface="Verdana" pitchFamily="34" charset="0"/>
              <a:ea typeface="Verdana" pitchFamily="34" charset="0"/>
              <a:cs typeface="Cambria Math"/>
            </a:endParaRPr>
          </a:p>
          <a:p>
            <a:r>
              <a:rPr lang="en-US" sz="2400" dirty="0">
                <a:latin typeface="Verdana" pitchFamily="34" charset="0"/>
                <a:ea typeface="Verdana" pitchFamily="34" charset="0"/>
                <a:cs typeface="Verdana"/>
              </a:rPr>
              <a:t> </a:t>
            </a:r>
            <a:endParaRPr lang="en-PH" sz="2400" dirty="0">
              <a:latin typeface="Verdana" pitchFamily="34" charset="0"/>
              <a:ea typeface="Verdana" pitchFamily="34" charset="0"/>
              <a:cs typeface="Cambria Math"/>
            </a:endParaRPr>
          </a:p>
          <a:p>
            <a:pPr marL="452438">
              <a:lnSpc>
                <a:spcPct val="150000"/>
              </a:lnSpc>
            </a:pPr>
            <a:r>
              <a:rPr lang="en-US" sz="2400" dirty="0">
                <a:latin typeface="Verdana" pitchFamily="34" charset="0"/>
                <a:ea typeface="Verdana" pitchFamily="34" charset="0"/>
                <a:cs typeface="Verdana"/>
              </a:rPr>
              <a:t>The __________________ is a measure of spread determined by finding the distance between the first quartile and the third quartile. It measures the spread of the middle _________ of the data.</a:t>
            </a:r>
            <a:endParaRPr lang="en-PH" sz="2400" dirty="0">
              <a:latin typeface="Verdana" pitchFamily="34" charset="0"/>
              <a:ea typeface="Verdana" pitchFamily="34" charset="0"/>
              <a:cs typeface="Cambria Math"/>
            </a:endParaRPr>
          </a:p>
          <a:p>
            <a:pPr marL="452438"/>
            <a:r>
              <a:rPr lang="en-US" sz="2400" i="1" dirty="0">
                <a:latin typeface="Verdana" pitchFamily="34" charset="0"/>
                <a:ea typeface="Verdana" pitchFamily="34" charset="0"/>
                <a:cs typeface="Verdana"/>
              </a:rPr>
              <a:t>  </a:t>
            </a:r>
            <a:endParaRPr lang="en-PH" sz="2400" dirty="0">
              <a:latin typeface="Verdana" pitchFamily="34" charset="0"/>
              <a:ea typeface="Verdana" pitchFamily="34" charset="0"/>
              <a:cs typeface="Cambria Math"/>
            </a:endParaRPr>
          </a:p>
          <a:p>
            <a:pPr marL="452438">
              <a:lnSpc>
                <a:spcPct val="150000"/>
              </a:lnSpc>
            </a:pPr>
            <a:r>
              <a:rPr lang="en-US" sz="2400" dirty="0">
                <a:latin typeface="Verdana" pitchFamily="34" charset="0"/>
                <a:ea typeface="Verdana" pitchFamily="34" charset="0"/>
                <a:cs typeface="Verdana"/>
              </a:rPr>
              <a:t>The ______________ is another measure of spread determined by finding the difference between the largest data value and the smallest data value.</a:t>
            </a:r>
            <a:endParaRPr lang="en-PH" sz="2400" dirty="0">
              <a:latin typeface="Verdana" pitchFamily="34" charset="0"/>
              <a:ea typeface="Verdana" pitchFamily="34" charset="0"/>
              <a:cs typeface="Cambria Math"/>
            </a:endParaRPr>
          </a:p>
        </p:txBody>
      </p:sp>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19150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64302" y="373249"/>
                <a:ext cx="10214062" cy="5632311"/>
              </a:xfrm>
              <a:prstGeom prst="rect">
                <a:avLst/>
              </a:prstGeom>
              <a:noFill/>
            </p:spPr>
            <p:txBody>
              <a:bodyPr wrap="square" rtlCol="0">
                <a:spAutoFit/>
              </a:bodyPr>
              <a:lstStyle/>
              <a:p>
                <a:pPr marL="457200" lvl="3" indent="-457200">
                  <a:buFont typeface="+mj-lt"/>
                  <a:buAutoNum type="arabicPeriod" startAt="2"/>
                </a:pPr>
                <a:r>
                  <a:rPr lang="en-US" sz="2400" dirty="0">
                    <a:latin typeface="Verdana" pitchFamily="34" charset="0"/>
                    <a:ea typeface="Verdana" pitchFamily="34" charset="0"/>
                    <a:cs typeface="Verdana"/>
                  </a:rPr>
                  <a:t>Complete each statement.</a:t>
                </a:r>
                <a:endParaRPr lang="en-PH" sz="2400" dirty="0">
                  <a:latin typeface="Verdana" pitchFamily="34" charset="0"/>
                  <a:ea typeface="Verdana" pitchFamily="34" charset="0"/>
                  <a:cs typeface="Cambria Math"/>
                </a:endParaRPr>
              </a:p>
              <a:p>
                <a:r>
                  <a:rPr lang="en-US" sz="2400" i="1" dirty="0">
                    <a:latin typeface="Verdana" pitchFamily="34" charset="0"/>
                    <a:ea typeface="Verdana" pitchFamily="34" charset="0"/>
                    <a:cs typeface="Verdana"/>
                  </a:rPr>
                  <a:t> </a:t>
                </a:r>
                <a:endParaRPr lang="en-PH" sz="2400" dirty="0">
                  <a:latin typeface="Verdana" pitchFamily="34" charset="0"/>
                  <a:ea typeface="Verdana" pitchFamily="34" charset="0"/>
                  <a:cs typeface="Cambria Math"/>
                </a:endParaRPr>
              </a:p>
              <a:p>
                <a:pPr marL="889000" indent="-457200">
                  <a:lnSpc>
                    <a:spcPct val="150000"/>
                  </a:lnSpc>
                  <a:buFont typeface="+mj-lt"/>
                  <a:buAutoNum type="alphaLcPeriod"/>
                </a:pPr>
                <a:r>
                  <a:rPr lang="en-US" sz="2400" dirty="0">
                    <a:latin typeface="Verdana" pitchFamily="34" charset="0"/>
                    <a:ea typeface="Verdana" pitchFamily="34" charset="0"/>
                    <a:cs typeface="Verdana"/>
                  </a:rPr>
                  <a:t>____</a:t>
                </a:r>
                <a14:m>
                  <m:oMath xmlns:m="http://schemas.openxmlformats.org/officeDocument/2006/math">
                    <m:r>
                      <a:rPr lang="en-US" sz="2400" i="1">
                        <a:latin typeface="Cambria Math"/>
                        <a:ea typeface="Verdana"/>
                        <a:cs typeface="Verdana"/>
                      </a:rPr>
                      <m:t>%</m:t>
                    </m:r>
                  </m:oMath>
                </a14:m>
                <a:r>
                  <a:rPr lang="en-US" sz="2400" dirty="0">
                    <a:latin typeface="Verdana" pitchFamily="34" charset="0"/>
                    <a:ea typeface="Verdana" pitchFamily="34" charset="0"/>
                    <a:cs typeface="Verdana"/>
                  </a:rPr>
                  <a:t> of the data falls between the minimum and the first quartile (</a:t>
                </a:r>
                <a14:m>
                  <m:oMath xmlns:m="http://schemas.openxmlformats.org/officeDocument/2006/math">
                    <m:sSub>
                      <m:sSubPr>
                        <m:ctrlPr>
                          <a:rPr lang="en-PH" sz="2400" i="1">
                            <a:latin typeface="Cambria Math"/>
                            <a:ea typeface="Cambria Math"/>
                            <a:cs typeface="Cambria Math"/>
                          </a:rPr>
                        </m:ctrlPr>
                      </m:sSubPr>
                      <m:e>
                        <m:r>
                          <m:rPr>
                            <m:sty m:val="p"/>
                          </m:rPr>
                          <a:rPr lang="en-US" sz="2400">
                            <a:latin typeface="Cambria Math"/>
                            <a:ea typeface="Cambria Math"/>
                            <a:cs typeface="Cambria Math"/>
                          </a:rPr>
                          <m:t>Q</m:t>
                        </m:r>
                      </m:e>
                      <m:sub>
                        <m:r>
                          <a:rPr lang="en-US" sz="2400" i="1">
                            <a:latin typeface="Cambria Math"/>
                            <a:ea typeface="Cambria Math"/>
                            <a:cs typeface="Cambria Math"/>
                          </a:rPr>
                          <m:t>1</m:t>
                        </m:r>
                      </m:sub>
                    </m:sSub>
                  </m:oMath>
                </a14:m>
                <a:r>
                  <a:rPr lang="en-US" sz="2400" dirty="0">
                    <a:latin typeface="Verdana" pitchFamily="34" charset="0"/>
                    <a:ea typeface="Verdana" pitchFamily="34" charset="0"/>
                    <a:cs typeface="Verdana"/>
                  </a:rPr>
                  <a:t>).</a:t>
                </a:r>
              </a:p>
              <a:p>
                <a:pPr marL="889000" indent="-457200">
                  <a:buFont typeface="+mj-lt"/>
                  <a:buAutoNum type="alphaLcPeriod"/>
                </a:pPr>
                <a:endParaRPr lang="en-US" sz="2400" dirty="0">
                  <a:latin typeface="Verdana" pitchFamily="34" charset="0"/>
                  <a:ea typeface="Verdana" pitchFamily="34" charset="0"/>
                  <a:cs typeface="Verdana"/>
                </a:endParaRPr>
              </a:p>
              <a:p>
                <a:pPr marL="889000" indent="-457200">
                  <a:buFont typeface="+mj-lt"/>
                  <a:buAutoNum type="alphaLcPeriod"/>
                </a:pPr>
                <a:endParaRPr lang="en-US" sz="2400" dirty="0">
                  <a:latin typeface="Verdana" pitchFamily="34" charset="0"/>
                  <a:ea typeface="Verdana" pitchFamily="34" charset="0"/>
                  <a:cs typeface="Verdana"/>
                </a:endParaRPr>
              </a:p>
              <a:p>
                <a:pPr marL="889000" indent="-457200">
                  <a:lnSpc>
                    <a:spcPct val="150000"/>
                  </a:lnSpc>
                  <a:buFont typeface="+mj-lt"/>
                  <a:buAutoNum type="alphaLcPeriod"/>
                </a:pPr>
                <a:r>
                  <a:rPr lang="en-US" sz="2400" dirty="0">
                    <a:latin typeface="Verdana" pitchFamily="34" charset="0"/>
                    <a:ea typeface="Verdana" pitchFamily="34" charset="0"/>
                    <a:cs typeface="Verdana"/>
                  </a:rPr>
                  <a:t>____</a:t>
                </a:r>
                <a14:m>
                  <m:oMath xmlns:m="http://schemas.openxmlformats.org/officeDocument/2006/math">
                    <m:r>
                      <a:rPr lang="en-US" sz="2400" i="1">
                        <a:latin typeface="Cambria Math"/>
                        <a:ea typeface="Verdana"/>
                        <a:cs typeface="Verdana"/>
                      </a:rPr>
                      <m:t>%</m:t>
                    </m:r>
                  </m:oMath>
                </a14:m>
                <a:r>
                  <a:rPr lang="en-US" sz="2400" dirty="0">
                    <a:latin typeface="Verdana" pitchFamily="34" charset="0"/>
                    <a:ea typeface="Verdana" pitchFamily="34" charset="0"/>
                    <a:cs typeface="Verdana"/>
                  </a:rPr>
                  <a:t> of the data falls between the minimum and the third quartile (</a:t>
                </a:r>
                <a14:m>
                  <m:oMath xmlns:m="http://schemas.openxmlformats.org/officeDocument/2006/math">
                    <m:sSub>
                      <m:sSubPr>
                        <m:ctrlPr>
                          <a:rPr lang="en-PH" sz="2400" i="1">
                            <a:latin typeface="Cambria Math"/>
                            <a:ea typeface="Cambria Math"/>
                            <a:cs typeface="Cambria Math"/>
                          </a:rPr>
                        </m:ctrlPr>
                      </m:sSubPr>
                      <m:e>
                        <m:r>
                          <m:rPr>
                            <m:sty m:val="p"/>
                          </m:rPr>
                          <a:rPr lang="en-US" sz="2400">
                            <a:latin typeface="Cambria Math"/>
                            <a:ea typeface="Cambria Math"/>
                            <a:cs typeface="Cambria Math"/>
                          </a:rPr>
                          <m:t>Q</m:t>
                        </m:r>
                      </m:e>
                      <m:sub>
                        <m:r>
                          <a:rPr lang="en-US" sz="2400" i="1">
                            <a:latin typeface="Cambria Math"/>
                            <a:ea typeface="Cambria Math"/>
                            <a:cs typeface="Cambria Math"/>
                          </a:rPr>
                          <m:t>3</m:t>
                        </m:r>
                      </m:sub>
                    </m:sSub>
                  </m:oMath>
                </a14:m>
                <a:r>
                  <a:rPr lang="en-US" sz="2400" dirty="0">
                    <a:latin typeface="Verdana" pitchFamily="34" charset="0"/>
                    <a:ea typeface="Verdana" pitchFamily="34" charset="0"/>
                    <a:cs typeface="Verdana"/>
                  </a:rPr>
                  <a:t>).</a:t>
                </a:r>
              </a:p>
              <a:p>
                <a:pPr marL="889000" indent="-457200">
                  <a:buFont typeface="+mj-lt"/>
                  <a:buAutoNum type="alphaLcPeriod"/>
                </a:pPr>
                <a:endParaRPr lang="en-US" sz="2400" dirty="0">
                  <a:latin typeface="Verdana" pitchFamily="34" charset="0"/>
                  <a:ea typeface="Verdana" pitchFamily="34" charset="0"/>
                  <a:cs typeface="Verdana"/>
                </a:endParaRPr>
              </a:p>
              <a:p>
                <a:pPr marL="889000" indent="-457200">
                  <a:buFont typeface="+mj-lt"/>
                  <a:buAutoNum type="alphaLcPeriod"/>
                </a:pPr>
                <a:endParaRPr lang="en-US" sz="2400" dirty="0">
                  <a:latin typeface="Verdana" pitchFamily="34" charset="0"/>
                  <a:ea typeface="Verdana" pitchFamily="34" charset="0"/>
                  <a:cs typeface="Verdana"/>
                </a:endParaRPr>
              </a:p>
              <a:p>
                <a:pPr marL="889000" indent="-457200">
                  <a:lnSpc>
                    <a:spcPct val="150000"/>
                  </a:lnSpc>
                  <a:buFont typeface="+mj-lt"/>
                  <a:buAutoNum type="alphaLcPeriod"/>
                </a:pPr>
                <a:r>
                  <a:rPr lang="en-US" sz="2400" dirty="0">
                    <a:latin typeface="Verdana" pitchFamily="34" charset="0"/>
                    <a:ea typeface="Verdana" pitchFamily="34" charset="0"/>
                    <a:cs typeface="Verdana"/>
                  </a:rPr>
                  <a:t>____</a:t>
                </a:r>
                <a14:m>
                  <m:oMath xmlns:m="http://schemas.openxmlformats.org/officeDocument/2006/math">
                    <m:r>
                      <a:rPr lang="en-US" sz="2400" i="1">
                        <a:latin typeface="Cambria Math"/>
                        <a:ea typeface="Verdana"/>
                        <a:cs typeface="Verdana"/>
                      </a:rPr>
                      <m:t>%</m:t>
                    </m:r>
                  </m:oMath>
                </a14:m>
                <a:r>
                  <a:rPr lang="en-US" sz="2400" dirty="0">
                    <a:latin typeface="Verdana" pitchFamily="34" charset="0"/>
                    <a:ea typeface="Verdana" pitchFamily="34" charset="0"/>
                    <a:cs typeface="Verdana"/>
                  </a:rPr>
                  <a:t> of the data falls between the first quartile (</a:t>
                </a:r>
                <a14:m>
                  <m:oMath xmlns:m="http://schemas.openxmlformats.org/officeDocument/2006/math">
                    <m:sSub>
                      <m:sSubPr>
                        <m:ctrlPr>
                          <a:rPr lang="en-PH" sz="2400" i="1">
                            <a:latin typeface="Cambria Math"/>
                          </a:rPr>
                        </m:ctrlPr>
                      </m:sSubPr>
                      <m:e>
                        <m:r>
                          <m:rPr>
                            <m:sty m:val="p"/>
                          </m:rPr>
                          <a:rPr lang="en-US" sz="2400">
                            <a:latin typeface="Cambria Math"/>
                            <a:ea typeface="Cambria Math"/>
                            <a:cs typeface="Cambria Math"/>
                          </a:rPr>
                          <m:t>Q</m:t>
                        </m:r>
                      </m:e>
                      <m:sub>
                        <m:r>
                          <a:rPr lang="en-US" sz="2400" i="1">
                            <a:latin typeface="Cambria Math"/>
                            <a:ea typeface="Cambria Math"/>
                            <a:cs typeface="Cambria Math"/>
                          </a:rPr>
                          <m:t>1</m:t>
                        </m:r>
                      </m:sub>
                    </m:sSub>
                  </m:oMath>
                </a14:m>
                <a:r>
                  <a:rPr lang="en-US" sz="2400" dirty="0">
                    <a:latin typeface="Verdana" pitchFamily="34" charset="0"/>
                    <a:ea typeface="Verdana" pitchFamily="34" charset="0"/>
                    <a:cs typeface="Verdana"/>
                  </a:rPr>
                  <a:t>) and the third quartile (</a:t>
                </a:r>
                <a14:m>
                  <m:oMath xmlns:m="http://schemas.openxmlformats.org/officeDocument/2006/math">
                    <m:sSub>
                      <m:sSubPr>
                        <m:ctrlPr>
                          <a:rPr lang="en-PH" sz="2400" i="1">
                            <a:latin typeface="Cambria Math"/>
                          </a:rPr>
                        </m:ctrlPr>
                      </m:sSubPr>
                      <m:e>
                        <m:r>
                          <m:rPr>
                            <m:sty m:val="p"/>
                          </m:rPr>
                          <a:rPr lang="en-US" sz="2400">
                            <a:latin typeface="Cambria Math"/>
                            <a:ea typeface="Cambria Math"/>
                            <a:cs typeface="Cambria Math"/>
                          </a:rPr>
                          <m:t>Q</m:t>
                        </m:r>
                      </m:e>
                      <m:sub>
                        <m:r>
                          <a:rPr lang="en-US" sz="2400" i="1">
                            <a:latin typeface="Cambria Math"/>
                            <a:ea typeface="Cambria Math"/>
                            <a:cs typeface="Cambria Math"/>
                          </a:rPr>
                          <m:t>3</m:t>
                        </m:r>
                      </m:sub>
                    </m:sSub>
                  </m:oMath>
                </a14:m>
                <a:r>
                  <a:rPr lang="en-US" sz="2400" dirty="0">
                    <a:latin typeface="Verdana" pitchFamily="34" charset="0"/>
                    <a:ea typeface="Verdana" pitchFamily="34" charset="0"/>
                    <a:cs typeface="Verdana"/>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64302" y="373249"/>
                <a:ext cx="10214062" cy="5632311"/>
              </a:xfrm>
              <a:prstGeom prst="rect">
                <a:avLst/>
              </a:prstGeom>
              <a:blipFill rotWithShape="0">
                <a:blip r:embed="rId3"/>
                <a:stretch>
                  <a:fillRect l="-955" t="-866" r="-1731" b="-216"/>
                </a:stretch>
              </a:blipFill>
            </p:spPr>
            <p:txBody>
              <a:bodyPr/>
              <a:lstStyle/>
              <a:p>
                <a:r>
                  <a:rPr lang="en-US">
                    <a:noFill/>
                  </a:rPr>
                  <a:t> </a:t>
                </a:r>
              </a:p>
            </p:txBody>
          </p:sp>
        </mc:Fallback>
      </mc:AlternateContent>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69523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929390" y="373248"/>
            <a:ext cx="10483886" cy="5324535"/>
          </a:xfrm>
          <a:prstGeom prst="rect">
            <a:avLst/>
          </a:prstGeom>
          <a:noFill/>
        </p:spPr>
        <p:txBody>
          <a:bodyPr wrap="square" rtlCol="0">
            <a:spAutoFit/>
          </a:bodyPr>
          <a:lstStyle/>
          <a:p>
            <a:pPr marL="457200" indent="-457200">
              <a:buFont typeface="+mj-lt"/>
              <a:buAutoNum type="arabicPeriod" startAt="3"/>
            </a:pPr>
            <a:r>
              <a:rPr lang="en-US" sz="2000" dirty="0">
                <a:latin typeface="Verdana"/>
                <a:ea typeface="Verdana"/>
                <a:cs typeface="Verdana"/>
              </a:rPr>
              <a:t>The box plot shows the distribution of the daily number of people who were at a large community pool in July 2018.</a:t>
            </a:r>
          </a:p>
          <a:p>
            <a:pPr marL="457200" indent="-457200">
              <a:buFont typeface="+mj-lt"/>
              <a:buAutoNum type="arabicPeriod" startAt="3"/>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r>
              <a:rPr lang="en-US" sz="2000" dirty="0">
                <a:latin typeface="Verdana"/>
                <a:ea typeface="Verdana"/>
                <a:cs typeface="Verdana"/>
              </a:rPr>
              <a:t>What is the median number of people at the pool each day?</a:t>
            </a: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r>
              <a:rPr lang="en-US" sz="2000" dirty="0">
                <a:latin typeface="Verdana"/>
                <a:ea typeface="Verdana"/>
                <a:cs typeface="Verdana"/>
              </a:rPr>
              <a:t>What is the maximum number of people?</a:t>
            </a: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endParaRPr lang="en-US" sz="2000" dirty="0">
              <a:latin typeface="Verdana"/>
              <a:ea typeface="Verdana"/>
              <a:cs typeface="Verdana"/>
            </a:endParaRPr>
          </a:p>
          <a:p>
            <a:pPr marL="898525" indent="-457200">
              <a:buFont typeface="+mj-lt"/>
              <a:buAutoNum type="alphaLcPeriod"/>
            </a:pPr>
            <a:r>
              <a:rPr lang="en-US" sz="2000" dirty="0">
                <a:latin typeface="Verdana"/>
                <a:ea typeface="Verdana"/>
                <a:cs typeface="Verdana"/>
              </a:rPr>
              <a:t>What is the minimum number of people?  </a:t>
            </a:r>
            <a:endParaRPr lang="en-PH" sz="1800" dirty="0">
              <a:latin typeface="Cambria Math"/>
              <a:ea typeface="Cambria Math"/>
              <a:cs typeface="Cambria Math"/>
            </a:endParaRPr>
          </a:p>
        </p:txBody>
      </p:sp>
      <p:grpSp>
        <p:nvGrpSpPr>
          <p:cNvPr id="8" name="Group 7"/>
          <p:cNvGrpSpPr/>
          <p:nvPr/>
        </p:nvGrpSpPr>
        <p:grpSpPr>
          <a:xfrm>
            <a:off x="2560624" y="1274440"/>
            <a:ext cx="7565924" cy="2092116"/>
            <a:chOff x="916160" y="2416240"/>
            <a:chExt cx="7565924" cy="2092116"/>
          </a:xfrm>
        </p:grpSpPr>
        <p:pic>
          <p:nvPicPr>
            <p:cNvPr id="7" name="Picture 6" descr="Chart, shape&#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916160" y="2614596"/>
              <a:ext cx="7565924" cy="1893760"/>
            </a:xfrm>
            <a:prstGeom prst="rect">
              <a:avLst/>
            </a:prstGeom>
            <a:ln>
              <a:noFill/>
            </a:ln>
            <a:extLst>
              <a:ext uri="{53640926-AAD7-44D8-BBD7-CCE9431645EC}">
                <a14:shadowObscured xmlns:a14="http://schemas.microsoft.com/office/drawing/2010/main"/>
              </a:ext>
            </a:extLst>
          </p:spPr>
        </p:pic>
        <p:sp>
          <p:nvSpPr>
            <p:cNvPr id="3" name="Rectangle 2"/>
            <p:cNvSpPr/>
            <p:nvPr/>
          </p:nvSpPr>
          <p:spPr>
            <a:xfrm>
              <a:off x="1736921" y="2416240"/>
              <a:ext cx="5820824" cy="421654"/>
            </a:xfrm>
            <a:prstGeom prst="rect">
              <a:avLst/>
            </a:prstGeom>
          </p:spPr>
          <p:txBody>
            <a:bodyPr wrap="none">
              <a:spAutoFit/>
            </a:bodyPr>
            <a:lstStyle/>
            <a:p>
              <a:pPr algn="ctr">
                <a:lnSpc>
                  <a:spcPct val="107000"/>
                </a:lnSpc>
              </a:pPr>
              <a:r>
                <a:rPr lang="en-US" sz="2000" b="1" dirty="0">
                  <a:latin typeface="Verdana"/>
                  <a:ea typeface="Verdana"/>
                  <a:cs typeface="Verdana"/>
                </a:rPr>
                <a:t>Number of Patrons at Community Pool </a:t>
              </a:r>
              <a:endParaRPr lang="en-PH" sz="2000" dirty="0">
                <a:latin typeface="Cambria Math"/>
                <a:ea typeface="Cambria Math"/>
                <a:cs typeface="Cambria Math"/>
              </a:endParaRPr>
            </a:p>
          </p:txBody>
        </p:sp>
      </p:grpSp>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06799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274164" y="2331907"/>
                <a:ext cx="9794338" cy="1323439"/>
              </a:xfrm>
              <a:prstGeom prst="rect">
                <a:avLst/>
              </a:prstGeom>
              <a:noFill/>
            </p:spPr>
            <p:txBody>
              <a:bodyPr wrap="square" rtlCol="0">
                <a:spAutoFit/>
              </a:bodyPr>
              <a:lstStyle/>
              <a:p>
                <a:pPr marL="889000" indent="-457200">
                  <a:buFont typeface="+mj-lt"/>
                  <a:buAutoNum type="alphaLcPeriod" startAt="4"/>
                </a:pPr>
                <a:r>
                  <a:rPr lang="en-US" sz="2000" dirty="0">
                    <a:latin typeface="Verdana" pitchFamily="34" charset="0"/>
                    <a:ea typeface="Verdana" pitchFamily="34" charset="0"/>
                    <a:cs typeface="Verdana"/>
                  </a:rPr>
                  <a:t>Determine the value of the first quartile (</a:t>
                </a:r>
                <a14:m>
                  <m:oMath xmlns:m="http://schemas.openxmlformats.org/officeDocument/2006/math">
                    <m:sSub>
                      <m:sSubPr>
                        <m:ctrlPr>
                          <a:rPr lang="en-PH" sz="2000" i="1">
                            <a:latin typeface="Cambria Math"/>
                            <a:ea typeface="Cambria Math"/>
                            <a:cs typeface="Cambria Math"/>
                          </a:rPr>
                        </m:ctrlPr>
                      </m:sSubPr>
                      <m:e>
                        <m:r>
                          <m:rPr>
                            <m:sty m:val="p"/>
                          </m:rPr>
                          <a:rPr lang="en-US" sz="2000">
                            <a:latin typeface="Cambria Math"/>
                            <a:ea typeface="Cambria Math"/>
                            <a:cs typeface="Cambria Math"/>
                          </a:rPr>
                          <m:t>Q</m:t>
                        </m:r>
                      </m:e>
                      <m:sub>
                        <m:r>
                          <a:rPr lang="en-US" sz="2000" i="1">
                            <a:latin typeface="Cambria Math"/>
                            <a:ea typeface="Cambria Math"/>
                            <a:cs typeface="Cambria Math"/>
                          </a:rPr>
                          <m:t>1</m:t>
                        </m:r>
                      </m:sub>
                    </m:sSub>
                  </m:oMath>
                </a14:m>
                <a:r>
                  <a:rPr lang="en-US" sz="2000" dirty="0">
                    <a:latin typeface="Verdana" pitchFamily="34" charset="0"/>
                    <a:ea typeface="Verdana" pitchFamily="34" charset="0"/>
                    <a:cs typeface="Verdana"/>
                  </a:rPr>
                  <a:t>) from the box plot.</a:t>
                </a:r>
                <a:endParaRPr lang="en-PH" sz="2000" dirty="0">
                  <a:latin typeface="Verdana" pitchFamily="34" charset="0"/>
                  <a:ea typeface="Verdana" pitchFamily="34" charset="0"/>
                  <a:cs typeface="Verdana"/>
                </a:endParaRPr>
              </a:p>
              <a:p>
                <a:pPr marL="889000" indent="-457200">
                  <a:buFont typeface="+mj-lt"/>
                  <a:buAutoNum type="alphaLcPeriod" startAt="4"/>
                </a:pPr>
                <a:endParaRPr lang="en-PH" sz="2000" dirty="0">
                  <a:latin typeface="Verdana" pitchFamily="34" charset="0"/>
                  <a:ea typeface="Verdana" pitchFamily="34" charset="0"/>
                  <a:cs typeface="Verdana"/>
                </a:endParaRPr>
              </a:p>
              <a:p>
                <a:pPr marL="889000" indent="-457200">
                  <a:buFont typeface="+mj-lt"/>
                  <a:buAutoNum type="alphaLcPeriod" startAt="4"/>
                </a:pPr>
                <a:endParaRPr lang="en-PH" sz="2000" dirty="0">
                  <a:latin typeface="Verdana" pitchFamily="34" charset="0"/>
                  <a:ea typeface="Verdana" pitchFamily="34" charset="0"/>
                  <a:cs typeface="Verdana"/>
                </a:endParaRPr>
              </a:p>
              <a:p>
                <a:pPr marL="889000" indent="-457200">
                  <a:buFont typeface="+mj-lt"/>
                  <a:buAutoNum type="alphaLcPeriod" startAt="4"/>
                </a:pPr>
                <a:r>
                  <a:rPr lang="en-US" sz="2000" dirty="0">
                    <a:latin typeface="Verdana" pitchFamily="34" charset="0"/>
                    <a:ea typeface="Verdana" pitchFamily="34" charset="0"/>
                    <a:cs typeface="Verdana"/>
                  </a:rPr>
                  <a:t>Determine the value of the third quartile (</a:t>
                </a:r>
                <a14:m>
                  <m:oMath xmlns:m="http://schemas.openxmlformats.org/officeDocument/2006/math">
                    <m:sSub>
                      <m:sSubPr>
                        <m:ctrlPr>
                          <a:rPr lang="en-PH" sz="2000" i="1">
                            <a:latin typeface="Cambria Math"/>
                            <a:ea typeface="Cambria Math"/>
                            <a:cs typeface="Cambria Math"/>
                          </a:rPr>
                        </m:ctrlPr>
                      </m:sSubPr>
                      <m:e>
                        <m:r>
                          <m:rPr>
                            <m:sty m:val="p"/>
                          </m:rPr>
                          <a:rPr lang="en-US" sz="2000">
                            <a:latin typeface="Cambria Math"/>
                            <a:ea typeface="Cambria Math"/>
                            <a:cs typeface="Cambria Math"/>
                          </a:rPr>
                          <m:t>Q</m:t>
                        </m:r>
                      </m:e>
                      <m:sub>
                        <m:r>
                          <a:rPr lang="en-US" sz="2000" i="1">
                            <a:latin typeface="Cambria Math"/>
                            <a:ea typeface="Cambria Math"/>
                            <a:cs typeface="Cambria Math"/>
                          </a:rPr>
                          <m:t>3</m:t>
                        </m:r>
                      </m:sub>
                    </m:sSub>
                  </m:oMath>
                </a14:m>
                <a:r>
                  <a:rPr lang="en-US" sz="2000" dirty="0">
                    <a:latin typeface="Verdana" pitchFamily="34" charset="0"/>
                    <a:ea typeface="Verdana" pitchFamily="34" charset="0"/>
                    <a:cs typeface="Verdana"/>
                  </a:rPr>
                  <a:t>) from the box plot.</a:t>
                </a:r>
                <a:endParaRPr lang="en-PH" sz="2000"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274164" y="2331907"/>
                <a:ext cx="9794338" cy="1323439"/>
              </a:xfrm>
              <a:prstGeom prst="rect">
                <a:avLst/>
              </a:prstGeom>
              <a:blipFill rotWithShape="0">
                <a:blip r:embed="rId3"/>
                <a:stretch>
                  <a:fillRect t="-3226" b="-7373"/>
                </a:stretch>
              </a:blipFill>
            </p:spPr>
            <p:txBody>
              <a:bodyPr/>
              <a:lstStyle/>
              <a:p>
                <a:r>
                  <a:rPr lang="en-US">
                    <a:noFill/>
                  </a:rPr>
                  <a:t> </a:t>
                </a:r>
              </a:p>
            </p:txBody>
          </p:sp>
        </mc:Fallback>
      </mc:AlternateContent>
      <p:grpSp>
        <p:nvGrpSpPr>
          <p:cNvPr id="2" name="Group 1"/>
          <p:cNvGrpSpPr/>
          <p:nvPr/>
        </p:nvGrpSpPr>
        <p:grpSpPr>
          <a:xfrm>
            <a:off x="2391333" y="4217700"/>
            <a:ext cx="7560000" cy="1975009"/>
            <a:chOff x="1257300" y="2605088"/>
            <a:chExt cx="7560000" cy="1975009"/>
          </a:xfrm>
          <a:effectLst>
            <a:outerShdw blurRad="50800" dist="38100" dir="2700000" algn="tl" rotWithShape="0">
              <a:prstClr val="black">
                <a:alpha val="40000"/>
              </a:prstClr>
            </a:outerShdw>
          </a:effectLst>
        </p:grpSpPr>
        <mc:AlternateContent xmlns:mc="http://schemas.openxmlformats.org/markup-compatibility/2006" xmlns:a14="http://schemas.microsoft.com/office/drawing/2010/main">
          <mc:Choice Requires="a14">
            <p:sp>
              <p:nvSpPr>
                <p:cNvPr id="6" name="Rectangle: Rounded Corners 114"/>
                <p:cNvSpPr/>
                <p:nvPr/>
              </p:nvSpPr>
              <p:spPr>
                <a:xfrm>
                  <a:off x="1257300" y="2605088"/>
                  <a:ext cx="7560000" cy="1975009"/>
                </a:xfrm>
                <a:prstGeom prst="roundRect">
                  <a:avLst/>
                </a:prstGeom>
                <a:solidFill>
                  <a:srgbClr val="B7E7F5"/>
                </a:solidFill>
                <a:ln>
                  <a:solidFill>
                    <a:srgbClr val="B9E5F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spAutoFit/>
                </a:bodyPr>
                <a:lstStyle/>
                <a:p>
                  <a:pPr marL="539750">
                    <a:spcAft>
                      <a:spcPts val="1200"/>
                    </a:spcAft>
                  </a:pPr>
                  <a:r>
                    <a:rPr lang="en-US" sz="2000" dirty="0">
                      <a:solidFill>
                        <a:srgbClr val="00609E"/>
                      </a:solidFill>
                      <a:latin typeface="Verdana"/>
                      <a:ea typeface="Verdana"/>
                      <a:cs typeface="Verdana"/>
                    </a:rPr>
                    <a:t>The </a:t>
                  </a:r>
                  <a:r>
                    <a:rPr lang="en-US" sz="2000" b="1" dirty="0">
                      <a:solidFill>
                        <a:srgbClr val="00609E"/>
                      </a:solidFill>
                      <a:latin typeface="Verdana"/>
                      <a:ea typeface="Verdana"/>
                      <a:cs typeface="Verdana"/>
                    </a:rPr>
                    <a:t>five-number summary</a:t>
                  </a:r>
                  <a:r>
                    <a:rPr lang="en-US" sz="2000" dirty="0">
                      <a:solidFill>
                        <a:srgbClr val="00609E"/>
                      </a:solidFill>
                      <a:latin typeface="Verdana"/>
                      <a:ea typeface="Verdana"/>
                      <a:cs typeface="Verdana"/>
                    </a:rPr>
                    <a:t> are the values of the minimum, first quartile (</a:t>
                  </a:r>
                  <a14:m>
                    <m:oMath xmlns:m="http://schemas.openxmlformats.org/officeDocument/2006/math">
                      <m:sSub>
                        <m:sSubPr>
                          <m:ctrlPr>
                            <a:rPr lang="en-PH" sz="2000" i="1">
                              <a:solidFill>
                                <a:srgbClr val="00609E"/>
                              </a:solidFill>
                              <a:latin typeface="Cambria Math"/>
                              <a:ea typeface="Cambria Math"/>
                              <a:cs typeface="Cambria Math"/>
                            </a:rPr>
                          </m:ctrlPr>
                        </m:sSubPr>
                        <m:e>
                          <m:r>
                            <m:rPr>
                              <m:sty m:val="p"/>
                            </m:rPr>
                            <a:rPr lang="en-US" sz="2000">
                              <a:solidFill>
                                <a:srgbClr val="00609E"/>
                              </a:solidFill>
                              <a:latin typeface="Cambria Math"/>
                              <a:ea typeface="Cambria Math"/>
                              <a:cs typeface="Cambria Math"/>
                            </a:rPr>
                            <m:t>Q</m:t>
                          </m:r>
                        </m:e>
                        <m:sub>
                          <m:r>
                            <a:rPr lang="en-US" sz="2000" i="1">
                              <a:solidFill>
                                <a:srgbClr val="00609E"/>
                              </a:solidFill>
                              <a:latin typeface="Cambria Math"/>
                              <a:ea typeface="Cambria Math"/>
                              <a:cs typeface="Cambria Math"/>
                            </a:rPr>
                            <m:t>1</m:t>
                          </m:r>
                        </m:sub>
                      </m:sSub>
                    </m:oMath>
                  </a14:m>
                  <a:r>
                    <a:rPr lang="en-US" sz="2000" dirty="0">
                      <a:solidFill>
                        <a:srgbClr val="00609E"/>
                      </a:solidFill>
                      <a:latin typeface="Verdana"/>
                      <a:ea typeface="Verdana"/>
                      <a:cs typeface="Verdana"/>
                    </a:rPr>
                    <a:t>), median, third quartile (</a:t>
                  </a:r>
                  <a14:m>
                    <m:oMath xmlns:m="http://schemas.openxmlformats.org/officeDocument/2006/math">
                      <m:sSub>
                        <m:sSubPr>
                          <m:ctrlPr>
                            <a:rPr lang="en-PH" sz="2000" i="1">
                              <a:solidFill>
                                <a:srgbClr val="00609E"/>
                              </a:solidFill>
                              <a:latin typeface="Cambria Math"/>
                              <a:ea typeface="Cambria Math"/>
                              <a:cs typeface="Cambria Math"/>
                            </a:rPr>
                          </m:ctrlPr>
                        </m:sSubPr>
                        <m:e>
                          <m:r>
                            <m:rPr>
                              <m:sty m:val="p"/>
                            </m:rPr>
                            <a:rPr lang="en-US" sz="2000">
                              <a:solidFill>
                                <a:srgbClr val="00609E"/>
                              </a:solidFill>
                              <a:latin typeface="Cambria Math"/>
                              <a:ea typeface="Cambria Math"/>
                              <a:cs typeface="Cambria Math"/>
                            </a:rPr>
                            <m:t>Q</m:t>
                          </m:r>
                        </m:e>
                        <m:sub>
                          <m:r>
                            <a:rPr lang="en-US" sz="2000" i="1">
                              <a:solidFill>
                                <a:srgbClr val="00609E"/>
                              </a:solidFill>
                              <a:latin typeface="Cambria Math"/>
                              <a:ea typeface="Cambria Math"/>
                              <a:cs typeface="Cambria Math"/>
                            </a:rPr>
                            <m:t>3</m:t>
                          </m:r>
                        </m:sub>
                      </m:sSub>
                    </m:oMath>
                  </a14:m>
                  <a:r>
                    <a:rPr lang="en-US" sz="2000" dirty="0">
                      <a:solidFill>
                        <a:srgbClr val="00609E"/>
                      </a:solidFill>
                      <a:latin typeface="Verdana"/>
                      <a:ea typeface="Verdana"/>
                      <a:cs typeface="Verdana"/>
                    </a:rPr>
                    <a:t>), and the maximum. </a:t>
                  </a:r>
                  <a:endParaRPr lang="en-PH" sz="2000" dirty="0">
                    <a:latin typeface="Cambria Math"/>
                    <a:ea typeface="Cambria Math"/>
                    <a:cs typeface="Cambria Math"/>
                  </a:endParaRPr>
                </a:p>
                <a:p>
                  <a:pPr marL="539750"/>
                  <a:r>
                    <a:rPr lang="en-US" sz="2000" dirty="0">
                      <a:solidFill>
                        <a:srgbClr val="00609E"/>
                      </a:solidFill>
                      <a:latin typeface="Verdana"/>
                      <a:ea typeface="Verdana"/>
                      <a:cs typeface="Verdana"/>
                    </a:rPr>
                    <a:t>These are the values used to create a box plot to represent a data set.</a:t>
                  </a:r>
                  <a:endParaRPr lang="en-PH" sz="2000" dirty="0">
                    <a:latin typeface="Cambria Math"/>
                    <a:ea typeface="Cambria Math"/>
                    <a:cs typeface="Cambria Math"/>
                  </a:endParaRPr>
                </a:p>
              </p:txBody>
            </p:sp>
          </mc:Choice>
          <mc:Fallback xmlns="">
            <p:sp>
              <p:nvSpPr>
                <p:cNvPr id="6" name="Rectangle: Rounded Corners 114"/>
                <p:cNvSpPr>
                  <a:spLocks noRot="1" noChangeAspect="1" noMove="1" noResize="1" noEditPoints="1" noAdjustHandles="1" noChangeArrowheads="1" noChangeShapeType="1" noTextEdit="1"/>
                </p:cNvSpPr>
                <p:nvPr/>
              </p:nvSpPr>
              <p:spPr>
                <a:xfrm>
                  <a:off x="1257300" y="2605088"/>
                  <a:ext cx="7560000" cy="1975009"/>
                </a:xfrm>
                <a:prstGeom prst="roundRect">
                  <a:avLst/>
                </a:prstGeom>
                <a:blipFill rotWithShape="1">
                  <a:blip r:embed="rId5"/>
                  <a:stretch>
                    <a:fillRect/>
                  </a:stretch>
                </a:blipFill>
                <a:ln>
                  <a:solidFill>
                    <a:srgbClr val="B9E5F5"/>
                  </a:solidFill>
                </a:ln>
              </p:spPr>
              <p:txBody>
                <a:bodyPr/>
                <a:lstStyle/>
                <a:p>
                  <a:r>
                    <a:rPr lang="en-PH">
                      <a:noFill/>
                    </a:rPr>
                    <a:t> </a:t>
                  </a:r>
                </a:p>
              </p:txBody>
            </p:sp>
          </mc:Fallback>
        </mc:AlternateContent>
        <p:pic>
          <p:nvPicPr>
            <p:cNvPr id="7" name="Shape 27" descr="Icon&#10;&#10;Description automatically generated"/>
            <p:cNvPicPr/>
            <p:nvPr/>
          </p:nvPicPr>
          <p:blipFill rotWithShape="1">
            <a:blip r:embed="rId6" cstate="screen">
              <a:alphaModFix/>
              <a:extLst>
                <a:ext uri="{28A0092B-C50C-407E-A947-70E740481C1C}">
                  <a14:useLocalDpi xmlns:a14="http://schemas.microsoft.com/office/drawing/2010/main"/>
                </a:ext>
              </a:extLst>
            </a:blip>
            <a:srcRect/>
            <a:stretch/>
          </p:blipFill>
          <p:spPr>
            <a:xfrm>
              <a:off x="1359694" y="2768852"/>
              <a:ext cx="539750" cy="539115"/>
            </a:xfrm>
            <a:prstGeom prst="rect">
              <a:avLst/>
            </a:prstGeom>
            <a:noFill/>
            <a:ln>
              <a:noFill/>
            </a:ln>
            <a:effectLst>
              <a:outerShdw blurRad="50800" dist="38100" dir="2700000" algn="tl" rotWithShape="0">
                <a:prstClr val="black">
                  <a:alpha val="40000"/>
                </a:prstClr>
              </a:outerShdw>
            </a:effectLst>
          </p:spPr>
        </p:pic>
      </p:grpSp>
      <p:grpSp>
        <p:nvGrpSpPr>
          <p:cNvPr id="10" name="Group 9">
            <a:extLst>
              <a:ext uri="{FF2B5EF4-FFF2-40B4-BE49-F238E27FC236}">
                <a16:creationId xmlns:a16="http://schemas.microsoft.com/office/drawing/2014/main" xmlns="" id="{97255EF5-5C3A-47E0-9A5A-294514F28B5E}"/>
              </a:ext>
            </a:extLst>
          </p:cNvPr>
          <p:cNvGrpSpPr/>
          <p:nvPr/>
        </p:nvGrpSpPr>
        <p:grpSpPr>
          <a:xfrm>
            <a:off x="2493727" y="164731"/>
            <a:ext cx="7565924" cy="2092116"/>
            <a:chOff x="916160" y="2416240"/>
            <a:chExt cx="7565924" cy="2092116"/>
          </a:xfrm>
        </p:grpSpPr>
        <p:pic>
          <p:nvPicPr>
            <p:cNvPr id="11" name="Picture 10" descr="Chart, shape&#10;&#10;Description automatically generated">
              <a:extLst>
                <a:ext uri="{FF2B5EF4-FFF2-40B4-BE49-F238E27FC236}">
                  <a16:creationId xmlns:a16="http://schemas.microsoft.com/office/drawing/2014/main" xmlns="" id="{92EC2B83-C001-4EE7-95E3-BE554906A24B}"/>
                </a:ext>
              </a:extLst>
            </p:cNvPr>
            <p:cNvPicPr/>
            <p:nvPr/>
          </p:nvPicPr>
          <p:blipFill rotWithShape="1">
            <a:blip r:embed="rId7" cstate="screen">
              <a:extLst>
                <a:ext uri="{28A0092B-C50C-407E-A947-70E740481C1C}">
                  <a14:useLocalDpi xmlns:a14="http://schemas.microsoft.com/office/drawing/2010/main"/>
                </a:ext>
              </a:extLst>
            </a:blip>
            <a:srcRect/>
            <a:stretch/>
          </p:blipFill>
          <p:spPr bwMode="auto">
            <a:xfrm>
              <a:off x="916160" y="2614596"/>
              <a:ext cx="7565924" cy="1893760"/>
            </a:xfrm>
            <a:prstGeom prst="rect">
              <a:avLst/>
            </a:prstGeom>
            <a:ln>
              <a:noFill/>
            </a:ln>
            <a:extLst>
              <a:ext uri="{53640926-AAD7-44D8-BBD7-CCE9431645EC}">
                <a14:shadowObscured xmlns:a14="http://schemas.microsoft.com/office/drawing/2010/main"/>
              </a:ext>
            </a:extLst>
          </p:spPr>
        </p:pic>
        <p:sp>
          <p:nvSpPr>
            <p:cNvPr id="12" name="Rectangle 11">
              <a:extLst>
                <a:ext uri="{FF2B5EF4-FFF2-40B4-BE49-F238E27FC236}">
                  <a16:creationId xmlns:a16="http://schemas.microsoft.com/office/drawing/2014/main" xmlns="" id="{90EF1824-1823-44DE-876D-C0F0B3447125}"/>
                </a:ext>
              </a:extLst>
            </p:cNvPr>
            <p:cNvSpPr/>
            <p:nvPr/>
          </p:nvSpPr>
          <p:spPr>
            <a:xfrm>
              <a:off x="1736921" y="2416240"/>
              <a:ext cx="5820824" cy="421654"/>
            </a:xfrm>
            <a:prstGeom prst="rect">
              <a:avLst/>
            </a:prstGeom>
          </p:spPr>
          <p:txBody>
            <a:bodyPr wrap="none">
              <a:spAutoFit/>
            </a:bodyPr>
            <a:lstStyle/>
            <a:p>
              <a:pPr algn="ctr">
                <a:lnSpc>
                  <a:spcPct val="107000"/>
                </a:lnSpc>
              </a:pPr>
              <a:r>
                <a:rPr lang="en-US" sz="2000" b="1" dirty="0">
                  <a:latin typeface="Verdana"/>
                  <a:ea typeface="Verdana"/>
                  <a:cs typeface="Verdana"/>
                </a:rPr>
                <a:t>Number of Patrons at Community Pool </a:t>
              </a:r>
              <a:endParaRPr lang="en-PH" sz="2000" dirty="0">
                <a:latin typeface="Cambria Math"/>
                <a:ea typeface="Cambria Math"/>
                <a:cs typeface="Cambria Math"/>
              </a:endParaRPr>
            </a:p>
          </p:txBody>
        </p:sp>
      </p:grpSp>
      <p:sp>
        <p:nvSpPr>
          <p:cNvPr id="13"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24915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6645"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650420" y="-82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9.9.3 Guided Instruction: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The Five-Number Summary</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3">
            <a:alphaModFix/>
          </a:blip>
          <a:srcRect/>
          <a:stretch/>
        </p:blipFill>
        <p:spPr>
          <a:xfrm>
            <a:off x="903120" y="28097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1424066" y="1365005"/>
                <a:ext cx="9599900" cy="4785926"/>
              </a:xfrm>
              <a:prstGeom prst="rect">
                <a:avLst/>
              </a:prstGeom>
              <a:noFill/>
            </p:spPr>
            <p:txBody>
              <a:bodyPr wrap="square" rtlCol="0">
                <a:spAutoFit/>
              </a:bodyPr>
              <a:lstStyle/>
              <a:p>
                <a:pPr marL="452438" indent="-452438">
                  <a:buSzPts val="1800"/>
                  <a:buFont typeface="+mj-lt"/>
                  <a:buAutoNum type="arabicPeriod"/>
                </a:pPr>
                <a:r>
                  <a:rPr lang="en-US" sz="2000" dirty="0">
                    <a:latin typeface="Verdana" pitchFamily="34" charset="0"/>
                    <a:ea typeface="Verdana" pitchFamily="34" charset="0"/>
                    <a:cs typeface="Verdana"/>
                  </a:rPr>
                  <a:t>The ages of </a:t>
                </a:r>
                <a14:m>
                  <m:oMath xmlns:m="http://schemas.openxmlformats.org/officeDocument/2006/math">
                    <m:r>
                      <a:rPr lang="en-US" sz="2000" i="1">
                        <a:latin typeface="Cambria Math"/>
                        <a:ea typeface="Verdana"/>
                        <a:cs typeface="Verdana"/>
                      </a:rPr>
                      <m:t>20</m:t>
                    </m:r>
                  </m:oMath>
                </a14:m>
                <a:r>
                  <a:rPr lang="en-US" sz="2000" dirty="0">
                    <a:latin typeface="Verdana" pitchFamily="34" charset="0"/>
                    <a:ea typeface="Verdana" pitchFamily="34" charset="0"/>
                    <a:cs typeface="Verdana"/>
                  </a:rPr>
                  <a:t> customers who attended a special event at a local restaurant are shown in order from least to greatest.</a:t>
                </a:r>
              </a:p>
              <a:p>
                <a:pPr marL="457200" indent="-457200">
                  <a:buSzPts val="1800"/>
                  <a:buFont typeface="+mj-lt"/>
                  <a:buAutoNum type="arabicPeriod"/>
                </a:pPr>
                <a:endParaRPr lang="en-US" sz="2000" dirty="0">
                  <a:latin typeface="Verdana" pitchFamily="34" charset="0"/>
                  <a:ea typeface="Verdana" pitchFamily="34" charset="0"/>
                  <a:cs typeface="Cambria Math"/>
                </a:endParaRPr>
              </a:p>
              <a:p>
                <a:pPr>
                  <a:spcAft>
                    <a:spcPts val="600"/>
                  </a:spcAft>
                  <a:buSzPts val="1800"/>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7, 8, 9, 10 10, 11, 12, 15, 16, 20, 20,</m:t>
                      </m:r>
                    </m:oMath>
                  </m:oMathPara>
                </a14:m>
                <a:endParaRPr lang="en-PH" sz="2000" dirty="0">
                  <a:latin typeface="Verdana" pitchFamily="34" charset="0"/>
                  <a:ea typeface="Verdana" pitchFamily="34" charset="0"/>
                </a:endParaRPr>
              </a:p>
              <a:p>
                <a:pPr>
                  <a:buSzPts val="1800"/>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 22, 23, 24, 28, 30, 33, 35, 38, 42</m:t>
                      </m:r>
                    </m:oMath>
                  </m:oMathPara>
                </a14:m>
                <a:endParaRPr lang="en-PH" sz="2000" dirty="0">
                  <a:latin typeface="Verdana" pitchFamily="34" charset="0"/>
                  <a:ea typeface="Verdana" pitchFamily="34" charset="0"/>
                </a:endParaRPr>
              </a:p>
              <a:p>
                <a:pPr>
                  <a:buSzPts val="1800"/>
                </a:pPr>
                <a:endParaRPr lang="en-PH" sz="2000" dirty="0">
                  <a:latin typeface="Verdana" pitchFamily="34" charset="0"/>
                  <a:ea typeface="Verdana" pitchFamily="34" charset="0"/>
                </a:endParaRPr>
              </a:p>
              <a:p>
                <a:pPr marL="914400" lvl="1" indent="-457200">
                  <a:buFont typeface="+mj-lt"/>
                  <a:buAutoNum type="alphaLcPeriod"/>
                </a:pPr>
                <a:r>
                  <a:rPr lang="en-US" sz="2000" dirty="0">
                    <a:latin typeface="Verdana" pitchFamily="34" charset="0"/>
                    <a:ea typeface="Verdana" pitchFamily="34" charset="0"/>
                    <a:cs typeface="Verdana"/>
                  </a:rPr>
                  <a:t>Find the five-number summary of the data set.</a:t>
                </a:r>
                <a:endParaRPr lang="en-PH" sz="2000" dirty="0">
                  <a:latin typeface="Verdana" pitchFamily="34" charset="0"/>
                  <a:ea typeface="Verdana" pitchFamily="34" charset="0"/>
                  <a:cs typeface="Cambria Math"/>
                </a:endParaRPr>
              </a:p>
              <a:p>
                <a:pPr indent="457200"/>
                <a:r>
                  <a:rPr lang="en-US" sz="2000" i="1" dirty="0">
                    <a:latin typeface="Verdana" pitchFamily="34" charset="0"/>
                    <a:ea typeface="Verdana" pitchFamily="34" charset="0"/>
                    <a:cs typeface="Cambria Math"/>
                  </a:rPr>
                  <a:t> </a:t>
                </a:r>
                <a:endParaRPr lang="en-PH" sz="2000" dirty="0">
                  <a:latin typeface="Verdana" pitchFamily="34" charset="0"/>
                  <a:ea typeface="Verdana" pitchFamily="34" charset="0"/>
                  <a:cs typeface="Cambria Math"/>
                </a:endParaRPr>
              </a:p>
              <a:p>
                <a:pPr marL="914400">
                  <a:spcAft>
                    <a:spcPts val="1200"/>
                  </a:spcAft>
                </a:pPr>
                <a:r>
                  <a:rPr lang="en-US" sz="2000" dirty="0">
                    <a:latin typeface="Verdana" pitchFamily="34" charset="0"/>
                    <a:ea typeface="Verdana" pitchFamily="34" charset="0"/>
                    <a:cs typeface="Verdana"/>
                  </a:rPr>
                  <a:t>Minimum: _____________</a:t>
                </a:r>
              </a:p>
              <a:p>
                <a:pPr marL="914400">
                  <a:spcAft>
                    <a:spcPts val="1200"/>
                  </a:spcAft>
                </a:pPr>
                <a:r>
                  <a:rPr lang="en-US" sz="2000" dirty="0">
                    <a:latin typeface="Verdana" pitchFamily="34" charset="0"/>
                    <a:ea typeface="Verdana" pitchFamily="34" charset="0"/>
                    <a:cs typeface="Verdana"/>
                  </a:rPr>
                  <a:t>First quartile: _____________</a:t>
                </a:r>
              </a:p>
              <a:p>
                <a:pPr marL="914400">
                  <a:spcAft>
                    <a:spcPts val="1200"/>
                  </a:spcAft>
                </a:pPr>
                <a:r>
                  <a:rPr lang="en-US" sz="2000" dirty="0">
                    <a:latin typeface="Verdana" pitchFamily="34" charset="0"/>
                    <a:ea typeface="Verdana" pitchFamily="34" charset="0"/>
                    <a:cs typeface="Verdana"/>
                  </a:rPr>
                  <a:t>Median: _____________</a:t>
                </a:r>
              </a:p>
              <a:p>
                <a:pPr marL="914400">
                  <a:spcAft>
                    <a:spcPts val="1200"/>
                  </a:spcAft>
                </a:pPr>
                <a:r>
                  <a:rPr lang="en-US" sz="2000" dirty="0">
                    <a:latin typeface="Verdana" pitchFamily="34" charset="0"/>
                    <a:ea typeface="Verdana" pitchFamily="34" charset="0"/>
                    <a:cs typeface="Verdana"/>
                  </a:rPr>
                  <a:t>Third quartile: _____________</a:t>
                </a:r>
              </a:p>
              <a:p>
                <a:pPr marL="914400"/>
                <a:r>
                  <a:rPr lang="en-US" sz="2000" dirty="0">
                    <a:latin typeface="Verdana" pitchFamily="34" charset="0"/>
                    <a:ea typeface="Verdana" pitchFamily="34" charset="0"/>
                    <a:cs typeface="Verdana"/>
                  </a:rPr>
                  <a:t>Maximum: _____________</a:t>
                </a:r>
                <a:endParaRPr lang="en-PH" sz="2000" dirty="0">
                  <a:latin typeface="Verdana" pitchFamily="34" charset="0"/>
                  <a:ea typeface="Verdana" pitchFamily="34"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424066" y="1365005"/>
                <a:ext cx="9599900" cy="4785926"/>
              </a:xfrm>
              <a:prstGeom prst="rect">
                <a:avLst/>
              </a:prstGeom>
              <a:blipFill rotWithShape="0">
                <a:blip r:embed="rId4"/>
                <a:stretch>
                  <a:fillRect l="-572" t="-764" b="-1401"/>
                </a:stretch>
              </a:blipFill>
            </p:spPr>
            <p:txBody>
              <a:bodyPr/>
              <a:lstStyle/>
              <a:p>
                <a:r>
                  <a:rPr lang="en-US">
                    <a:noFill/>
                  </a:rPr>
                  <a:t> </a:t>
                </a:r>
              </a:p>
            </p:txBody>
          </p:sp>
        </mc:Fallback>
      </mc:AlternateContent>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109272" y="373249"/>
            <a:ext cx="10124122" cy="1277850"/>
          </a:xfrm>
          <a:prstGeom prst="rect">
            <a:avLst/>
          </a:prstGeom>
          <a:noFill/>
        </p:spPr>
        <p:txBody>
          <a:bodyPr wrap="square" rtlCol="0">
            <a:spAutoFit/>
          </a:bodyPr>
          <a:lstStyle/>
          <a:p>
            <a:pPr marL="914400" lvl="1" indent="-457200">
              <a:lnSpc>
                <a:spcPct val="107000"/>
              </a:lnSpc>
              <a:buFont typeface="+mj-lt"/>
              <a:buAutoNum type="alphaLcPeriod" startAt="2"/>
            </a:pPr>
            <a:r>
              <a:rPr lang="en-US" sz="2400" dirty="0">
                <a:latin typeface="Verdana"/>
                <a:ea typeface="Verdana"/>
                <a:cs typeface="Verdana"/>
              </a:rPr>
              <a:t>Discuss with your partner if the data the restaurant collected is reflective of the ages of customers who ate at the restaurant.</a:t>
            </a:r>
            <a:endParaRPr lang="en-PH" sz="2400" dirty="0">
              <a:latin typeface="Cambria Math"/>
              <a:ea typeface="Cambria Math"/>
              <a:cs typeface="Cambria Math"/>
            </a:endParaRPr>
          </a:p>
        </p:txBody>
      </p:sp>
      <p:grpSp>
        <p:nvGrpSpPr>
          <p:cNvPr id="2" name="Group 1"/>
          <p:cNvGrpSpPr/>
          <p:nvPr/>
        </p:nvGrpSpPr>
        <p:grpSpPr>
          <a:xfrm>
            <a:off x="3012528" y="4842641"/>
            <a:ext cx="6480000" cy="1173503"/>
            <a:chOff x="1257300" y="2861628"/>
            <a:chExt cx="6480000" cy="1173503"/>
          </a:xfrm>
        </p:grpSpPr>
        <p:sp>
          <p:nvSpPr>
            <p:cNvPr id="6" name="Rectangle: Rounded Corners 114"/>
            <p:cNvSpPr/>
            <p:nvPr/>
          </p:nvSpPr>
          <p:spPr>
            <a:xfrm>
              <a:off x="1257300" y="2861628"/>
              <a:ext cx="6480000" cy="1173503"/>
            </a:xfrm>
            <a:prstGeom prst="roundRect">
              <a:avLst/>
            </a:prstGeom>
            <a:solidFill>
              <a:srgbClr val="B7E7F5"/>
            </a:solidFill>
            <a:ln>
              <a:solidFill>
                <a:srgbClr val="B9E5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72000" rIns="91440" bIns="0" numCol="1" spcCol="0" rtlCol="0" fromWordArt="0" anchor="t" anchorCtr="0" forceAA="0" compatLnSpc="1">
              <a:prstTxWarp prst="textNoShape">
                <a:avLst/>
              </a:prstTxWarp>
              <a:spAutoFit/>
            </a:bodyPr>
            <a:lstStyle/>
            <a:p>
              <a:pPr marL="633413">
                <a:lnSpc>
                  <a:spcPct val="107000"/>
                </a:lnSpc>
              </a:pPr>
              <a:r>
                <a:rPr lang="en-US" sz="2000" b="1" dirty="0">
                  <a:solidFill>
                    <a:srgbClr val="00609E"/>
                  </a:solidFill>
                  <a:latin typeface="Verdana" pitchFamily="34" charset="0"/>
                  <a:ea typeface="Verdana" pitchFamily="34" charset="0"/>
                  <a:cs typeface="Verdana"/>
                </a:rPr>
                <a:t>Truthful data</a:t>
              </a:r>
              <a:r>
                <a:rPr lang="en-US" sz="2000" dirty="0">
                  <a:solidFill>
                    <a:srgbClr val="00609E"/>
                  </a:solidFill>
                  <a:latin typeface="Verdana" pitchFamily="34" charset="0"/>
                  <a:ea typeface="Verdana" pitchFamily="34" charset="0"/>
                  <a:cs typeface="Verdana"/>
                </a:rPr>
                <a:t> is data that is random, representative of the population, and has a large sample size.</a:t>
              </a:r>
              <a:endParaRPr lang="en-PH" sz="2000" dirty="0">
                <a:latin typeface="Verdana" pitchFamily="34" charset="0"/>
                <a:ea typeface="Verdana" pitchFamily="34" charset="0"/>
                <a:cs typeface="Cambria Math"/>
              </a:endParaRPr>
            </a:p>
          </p:txBody>
        </p:sp>
        <p:pic>
          <p:nvPicPr>
            <p:cNvPr id="7" name="Shape 27" descr="Icon&#10;&#10;Description automatically generated"/>
            <p:cNvPicPr/>
            <p:nvPr/>
          </p:nvPicPr>
          <p:blipFill rotWithShape="1">
            <a:blip r:embed="rId3" cstate="screen">
              <a:alphaModFix/>
              <a:extLst>
                <a:ext uri="{28A0092B-C50C-407E-A947-70E740481C1C}">
                  <a14:useLocalDpi xmlns:a14="http://schemas.microsoft.com/office/drawing/2010/main"/>
                </a:ext>
              </a:extLst>
            </a:blip>
            <a:srcRect/>
            <a:stretch/>
          </p:blipFill>
          <p:spPr>
            <a:xfrm>
              <a:off x="1362162" y="2955608"/>
              <a:ext cx="539750" cy="539115"/>
            </a:xfrm>
            <a:prstGeom prst="rect">
              <a:avLst/>
            </a:prstGeom>
            <a:noFill/>
            <a:ln>
              <a:noFill/>
            </a:ln>
            <a:effectLst>
              <a:outerShdw blurRad="50800" dist="38100" dir="2700000" algn="tl" rotWithShape="0">
                <a:prstClr val="black">
                  <a:alpha val="40000"/>
                </a:prstClr>
              </a:outerShdw>
            </a:effectLst>
          </p:spPr>
        </p:pic>
      </p:grpSp>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771834" y="383758"/>
            <a:ext cx="6869188" cy="1323439"/>
          </a:xfrm>
          <a:prstGeom prst="rect">
            <a:avLst/>
          </a:prstGeom>
          <a:noFill/>
        </p:spPr>
        <p:txBody>
          <a:bodyPr wrap="square" rtlCol="0">
            <a:spAutoFit/>
          </a:bodyPr>
          <a:lstStyle/>
          <a:p>
            <a:pPr marL="457200" indent="-457200">
              <a:buSzPct val="100000"/>
              <a:buFont typeface="+mj-lt"/>
              <a:buAutoNum type="arabicPeriod" startAt="2"/>
            </a:pPr>
            <a:r>
              <a:rPr lang="en-US" sz="2000" dirty="0">
                <a:latin typeface="Verdana"/>
                <a:ea typeface="Verdana"/>
                <a:cs typeface="Verdana"/>
              </a:rPr>
              <a:t>The birth weights, in ounces, of golden retriever puppies born at a kennel were recorded for the past month. </a:t>
            </a:r>
            <a:br>
              <a:rPr lang="en-US" sz="2000" dirty="0">
                <a:latin typeface="Verdana"/>
                <a:ea typeface="Verdana"/>
                <a:cs typeface="Verdana"/>
              </a:rPr>
            </a:br>
            <a:r>
              <a:rPr lang="en-US" sz="2000" dirty="0">
                <a:latin typeface="Verdana"/>
                <a:ea typeface="Verdana"/>
                <a:cs typeface="Verdana"/>
              </a:rPr>
              <a:t>The data is recorded in the table.</a:t>
            </a:r>
            <a:endParaRPr lang="en-PH" sz="1800" dirty="0">
              <a:latin typeface="Cambria Math"/>
              <a:ea typeface="Cambria Math"/>
              <a:cs typeface="Cambria Math"/>
            </a:endParaRPr>
          </a:p>
        </p:txBody>
      </p:sp>
      <p:pic>
        <p:nvPicPr>
          <p:cNvPr id="6" name="Picture 5" descr="A dog sitting in the grass&#10;&#10;Description automatically generated with low confidence"/>
          <p:cNvPicPr/>
          <p:nvPr/>
        </p:nvPicPr>
        <p:blipFill>
          <a:blip r:embed="rId3" cstate="print">
            <a:extLst>
              <a:ext uri="{28A0092B-C50C-407E-A947-70E740481C1C}">
                <a14:useLocalDpi xmlns:a14="http://schemas.microsoft.com/office/drawing/2010/main"/>
              </a:ext>
            </a:extLst>
          </a:blip>
          <a:stretch>
            <a:fillRect/>
          </a:stretch>
        </p:blipFill>
        <p:spPr>
          <a:xfrm>
            <a:off x="7925835" y="391294"/>
            <a:ext cx="2693880" cy="2996855"/>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575594278"/>
                  </p:ext>
                </p:extLst>
              </p:nvPr>
            </p:nvGraphicFramePr>
            <p:xfrm>
              <a:off x="2574048" y="1889722"/>
              <a:ext cx="4860000" cy="1404000"/>
            </p:xfrm>
            <a:graphic>
              <a:graphicData uri="http://schemas.openxmlformats.org/drawingml/2006/table">
                <a:tbl>
                  <a:tblPr bandRow="1"/>
                  <a:tblGrid>
                    <a:gridCol w="540000">
                      <a:extLst>
                        <a:ext uri="{9D8B030D-6E8A-4147-A177-3AD203B41FA5}">
                          <a16:colId xmlns:a16="http://schemas.microsoft.com/office/drawing/2014/main" xmlns="" val="20000"/>
                        </a:ext>
                      </a:extLst>
                    </a:gridCol>
                    <a:gridCol w="540000">
                      <a:extLst>
                        <a:ext uri="{9D8B030D-6E8A-4147-A177-3AD203B41FA5}">
                          <a16:colId xmlns:a16="http://schemas.microsoft.com/office/drawing/2014/main" xmlns="" val="20001"/>
                        </a:ext>
                      </a:extLst>
                    </a:gridCol>
                    <a:gridCol w="540000">
                      <a:extLst>
                        <a:ext uri="{9D8B030D-6E8A-4147-A177-3AD203B41FA5}">
                          <a16:colId xmlns:a16="http://schemas.microsoft.com/office/drawing/2014/main" xmlns="" val="20002"/>
                        </a:ext>
                      </a:extLst>
                    </a:gridCol>
                    <a:gridCol w="540000">
                      <a:extLst>
                        <a:ext uri="{9D8B030D-6E8A-4147-A177-3AD203B41FA5}">
                          <a16:colId xmlns:a16="http://schemas.microsoft.com/office/drawing/2014/main" xmlns="" val="20003"/>
                        </a:ext>
                      </a:extLst>
                    </a:gridCol>
                    <a:gridCol w="540000">
                      <a:extLst>
                        <a:ext uri="{9D8B030D-6E8A-4147-A177-3AD203B41FA5}">
                          <a16:colId xmlns:a16="http://schemas.microsoft.com/office/drawing/2014/main" xmlns="" val="20004"/>
                        </a:ext>
                      </a:extLst>
                    </a:gridCol>
                    <a:gridCol w="540000">
                      <a:extLst>
                        <a:ext uri="{9D8B030D-6E8A-4147-A177-3AD203B41FA5}">
                          <a16:colId xmlns:a16="http://schemas.microsoft.com/office/drawing/2014/main" xmlns="" val="20005"/>
                        </a:ext>
                      </a:extLst>
                    </a:gridCol>
                    <a:gridCol w="540000">
                      <a:extLst>
                        <a:ext uri="{9D8B030D-6E8A-4147-A177-3AD203B41FA5}">
                          <a16:colId xmlns:a16="http://schemas.microsoft.com/office/drawing/2014/main" xmlns="" val="20006"/>
                        </a:ext>
                      </a:extLst>
                    </a:gridCol>
                    <a:gridCol w="540000">
                      <a:extLst>
                        <a:ext uri="{9D8B030D-6E8A-4147-A177-3AD203B41FA5}">
                          <a16:colId xmlns:a16="http://schemas.microsoft.com/office/drawing/2014/main" xmlns="" val="20007"/>
                        </a:ext>
                      </a:extLst>
                    </a:gridCol>
                    <a:gridCol w="540000">
                      <a:extLst>
                        <a:ext uri="{9D8B030D-6E8A-4147-A177-3AD203B41FA5}">
                          <a16:colId xmlns:a16="http://schemas.microsoft.com/office/drawing/2014/main" xmlns="" val="20008"/>
                        </a:ext>
                      </a:extLst>
                    </a:gridCol>
                  </a:tblGrid>
                  <a:tr h="468000">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13</m:t>
                                </m:r>
                              </m:oMath>
                            </m:oMathPara>
                          </a14:m>
                          <a:endParaRPr lang="en-PH" sz="1800"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14</m:t>
                                </m:r>
                              </m:oMath>
                            </m:oMathPara>
                          </a14:m>
                          <a:endParaRPr lang="en-PH" sz="1800"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
                              </m:oMathParaPr>
                              <m:oMath xmlns:m="http://schemas.openxmlformats.org/officeDocument/2006/math">
                                <m:r>
                                  <a:rPr lang="en-US" sz="2000" i="1">
                                    <a:solidFill>
                                      <a:srgbClr val="000000"/>
                                    </a:solidFill>
                                    <a:effectLst/>
                                    <a:latin typeface="Cambria Math"/>
                                    <a:ea typeface="Cambria Math"/>
                                    <a:cs typeface="Cambria Math"/>
                                  </a:rPr>
                                  <m:t>15</m:t>
                                </m:r>
                              </m:oMath>
                            </m:oMathPara>
                          </a14:m>
                          <a:endParaRPr lang="en-PH" sz="1800"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15</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468000">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68000">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19</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20</m:t>
                                </m:r>
                              </m:oMath>
                            </m:oMathPara>
                          </a14:m>
                          <a:endParaRPr lang="en-PH" sz="180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algn="ctr">
                            <a:lnSpc>
                              <a:spcPct val="100000"/>
                            </a:lnSpc>
                            <a:spcAft>
                              <a:spcPts val="0"/>
                            </a:spcAft>
                          </a:pPr>
                          <a:r>
                            <a:rPr lang="en-US" sz="2000" i="1" dirty="0">
                              <a:solidFill>
                                <a:srgbClr val="000000"/>
                              </a:solidFill>
                              <a:effectLst/>
                              <a:latin typeface="Cambria Math"/>
                              <a:ea typeface="Cambria Math"/>
                              <a:cs typeface="Cambria Math"/>
                            </a:rPr>
                            <a:t> </a:t>
                          </a:r>
                          <a:endParaRPr lang="en-PH" sz="1800"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hMerge="1">
                      <a:txBody>
                        <a:bodyPr/>
                        <a:lstStyle/>
                        <a:p>
                          <a:endParaRPr lang="en-PH"/>
                        </a:p>
                      </a:txBody>
                      <a:tcPr/>
                    </a:tc>
                    <a:extLst>
                      <a:ext uri="{0D108BD9-81ED-4DB2-BD59-A6C34878D82A}">
                        <a16:rowId xmlns:a16="http://schemas.microsoft.com/office/drawing/2014/main" xmlns=""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575594278"/>
                  </p:ext>
                </p:extLst>
              </p:nvPr>
            </p:nvGraphicFramePr>
            <p:xfrm>
              <a:off x="1050048" y="1889722"/>
              <a:ext cx="4860000" cy="1404000"/>
            </p:xfrm>
            <a:graphic>
              <a:graphicData uri="http://schemas.openxmlformats.org/drawingml/2006/table">
                <a:tbl>
                  <a:tblPr bandRow="1"/>
                  <a:tblGrid>
                    <a:gridCol w="540000"/>
                    <a:gridCol w="540000"/>
                    <a:gridCol w="540000"/>
                    <a:gridCol w="540000"/>
                    <a:gridCol w="540000"/>
                    <a:gridCol w="540000"/>
                    <a:gridCol w="540000"/>
                    <a:gridCol w="540000"/>
                    <a:gridCol w="540000"/>
                  </a:tblGrid>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299" r="-796629"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1136" t="-1299" r="-705682"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98876" t="-1299" r="-597753"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2273" t="-1299" r="-504545"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7753" t="-1299" r="-398876"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3409" t="-1299" r="-303409"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96629" t="-1299" r="-200000"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04545" t="-1299" r="-102273"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95506" t="-1299" r="-1124" b="-200000"/>
                          </a:stretch>
                        </a:blipFill>
                      </a:tcPr>
                    </a:tc>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02632" r="-796629"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1136" t="-102632" r="-705682"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98876" t="-102632" r="-597753"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2273" t="-102632" r="-504545"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7753" t="-102632" r="-398876"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3409" t="-102632" r="-303409"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96629" t="-102632" r="-200000"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04545" t="-102632" r="-102273" b="-102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95506" t="-102632" r="-1124" b="-102632"/>
                          </a:stretch>
                        </a:blipFill>
                      </a:tcPr>
                    </a:tc>
                  </a:tr>
                  <a:tr h="468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0000" r="-796629"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1136" t="-200000" r="-705682"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98876" t="-200000" r="-597753"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2273" t="-200000" r="-504545"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7753" t="-200000" r="-398876"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3409" t="-200000" r="-303409" b="-129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96629" t="-200000" r="-200000" b="-1299"/>
                          </a:stretch>
                        </a:blipFill>
                      </a:tcPr>
                    </a:tc>
                    <a:tc gridSpan="2">
                      <a:txBody>
                        <a:bodyPr/>
                        <a:lstStyle/>
                        <a:p>
                          <a:pPr algn="ctr">
                            <a:lnSpc>
                              <a:spcPct val="100000"/>
                            </a:lnSpc>
                            <a:spcAft>
                              <a:spcPts val="0"/>
                            </a:spcAft>
                          </a:pPr>
                          <a:r>
                            <a:rPr lang="en-US" sz="2000" i="1" dirty="0">
                              <a:solidFill>
                                <a:srgbClr val="000000"/>
                              </a:solidFill>
                              <a:effectLst/>
                              <a:latin typeface="Cambria Math"/>
                              <a:ea typeface="Cambria Math"/>
                              <a:cs typeface="Cambria Math"/>
                            </a:rPr>
                            <a:t> </a:t>
                          </a:r>
                          <a:endParaRPr lang="en-PH" sz="1800"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hMerge="1">
                      <a:txBody>
                        <a:bodyPr/>
                        <a:lstStyle/>
                        <a:p>
                          <a:endParaRPr lang="en-PH"/>
                        </a:p>
                      </a:txBody>
                      <a:tcPr/>
                    </a:tc>
                  </a:tr>
                </a:tbl>
              </a:graphicData>
            </a:graphic>
          </p:graphicFrame>
        </mc:Fallback>
      </mc:AlternateContent>
      <p:sp>
        <p:nvSpPr>
          <p:cNvPr id="8" name="Rectangle 7"/>
          <p:cNvSpPr/>
          <p:nvPr/>
        </p:nvSpPr>
        <p:spPr>
          <a:xfrm>
            <a:off x="1094282" y="3520787"/>
            <a:ext cx="10154102" cy="2862322"/>
          </a:xfrm>
          <a:prstGeom prst="rect">
            <a:avLst/>
          </a:prstGeom>
        </p:spPr>
        <p:txBody>
          <a:bodyPr wrap="square">
            <a:spAutoFit/>
          </a:bodyPr>
          <a:lstStyle/>
          <a:p>
            <a:pPr marL="889000" lvl="1" indent="-457200">
              <a:buFont typeface="+mj-lt"/>
              <a:buAutoNum type="alphaLcPeriod"/>
            </a:pPr>
            <a:r>
              <a:rPr lang="en-US" sz="2000" dirty="0">
                <a:latin typeface="Verdana" pitchFamily="34" charset="0"/>
                <a:ea typeface="Verdana" pitchFamily="34" charset="0"/>
                <a:cs typeface="Verdana"/>
              </a:rPr>
              <a:t>Find the five-number summary of the data set.</a:t>
            </a:r>
            <a:endParaRPr lang="en-PH" sz="2000" dirty="0">
              <a:latin typeface="Verdana" pitchFamily="34" charset="0"/>
              <a:ea typeface="Verdana" pitchFamily="34" charset="0"/>
              <a:cs typeface="Cambria Math"/>
            </a:endParaRPr>
          </a:p>
          <a:p>
            <a:r>
              <a:rPr lang="en-US" sz="2000" i="1" dirty="0">
                <a:latin typeface="Verdana" pitchFamily="34" charset="0"/>
                <a:ea typeface="Verdana" pitchFamily="34" charset="0"/>
                <a:cs typeface="Verdana"/>
              </a:rPr>
              <a:t> </a:t>
            </a:r>
            <a:endParaRPr lang="en-PH" sz="2000" dirty="0">
              <a:latin typeface="Verdana" pitchFamily="34" charset="0"/>
              <a:ea typeface="Verdana" pitchFamily="34" charset="0"/>
              <a:cs typeface="Cambria Math"/>
            </a:endParaRPr>
          </a:p>
          <a:p>
            <a:pPr marL="893763">
              <a:spcAft>
                <a:spcPts val="1200"/>
              </a:spcAft>
            </a:pPr>
            <a:r>
              <a:rPr lang="en-US" sz="2000" dirty="0">
                <a:latin typeface="Verdana" pitchFamily="34" charset="0"/>
                <a:ea typeface="Verdana" pitchFamily="34" charset="0"/>
                <a:cs typeface="Verdana"/>
              </a:rPr>
              <a:t>Minimum: _____________</a:t>
            </a:r>
          </a:p>
          <a:p>
            <a:pPr marL="893763">
              <a:spcAft>
                <a:spcPts val="1200"/>
              </a:spcAft>
            </a:pPr>
            <a:r>
              <a:rPr lang="en-US" sz="2000" dirty="0">
                <a:latin typeface="Verdana" pitchFamily="34" charset="0"/>
                <a:ea typeface="Verdana" pitchFamily="34" charset="0"/>
                <a:cs typeface="Verdana"/>
              </a:rPr>
              <a:t>First quartile: _____________</a:t>
            </a:r>
          </a:p>
          <a:p>
            <a:pPr marL="893763">
              <a:spcAft>
                <a:spcPts val="1200"/>
              </a:spcAft>
            </a:pPr>
            <a:r>
              <a:rPr lang="en-US" sz="2000" dirty="0">
                <a:latin typeface="Verdana" pitchFamily="34" charset="0"/>
                <a:ea typeface="Verdana" pitchFamily="34" charset="0"/>
                <a:cs typeface="Verdana"/>
              </a:rPr>
              <a:t>Median: _____________</a:t>
            </a:r>
          </a:p>
          <a:p>
            <a:pPr marL="893763">
              <a:spcAft>
                <a:spcPts val="1200"/>
              </a:spcAft>
            </a:pPr>
            <a:r>
              <a:rPr lang="en-US" sz="2000" dirty="0">
                <a:latin typeface="Verdana" pitchFamily="34" charset="0"/>
                <a:ea typeface="Verdana" pitchFamily="34" charset="0"/>
                <a:cs typeface="Verdana"/>
              </a:rPr>
              <a:t>Third quartile: _____________</a:t>
            </a:r>
          </a:p>
          <a:p>
            <a:pPr marL="893763"/>
            <a:r>
              <a:rPr lang="en-US" sz="2000" dirty="0">
                <a:latin typeface="Verdana" pitchFamily="34" charset="0"/>
                <a:ea typeface="Verdana" pitchFamily="34" charset="0"/>
                <a:cs typeface="Verdana"/>
              </a:rPr>
              <a:t>Maximum: _____________</a:t>
            </a:r>
            <a:endParaRPr lang="en-PH" sz="2000" dirty="0">
              <a:latin typeface="Verdana" pitchFamily="34" charset="0"/>
              <a:ea typeface="Verdana" pitchFamily="34" charset="0"/>
            </a:endParaRPr>
          </a:p>
        </p:txBody>
      </p:sp>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92</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61598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154243" y="383760"/>
            <a:ext cx="9180658" cy="3170099"/>
          </a:xfrm>
          <a:prstGeom prst="rect">
            <a:avLst/>
          </a:prstGeom>
          <a:noFill/>
        </p:spPr>
        <p:txBody>
          <a:bodyPr wrap="square" rtlCol="0">
            <a:spAutoFit/>
          </a:bodyPr>
          <a:lstStyle/>
          <a:p>
            <a:pPr marL="914400" lvl="1" indent="-457200">
              <a:buFont typeface="+mj-lt"/>
              <a:buAutoNum type="alphaLcPeriod" startAt="2"/>
            </a:pPr>
            <a:r>
              <a:rPr lang="en-US" sz="2000" dirty="0">
                <a:latin typeface="Verdana" pitchFamily="34" charset="0"/>
                <a:ea typeface="Verdana" pitchFamily="34" charset="0"/>
                <a:cs typeface="Verdana"/>
              </a:rPr>
              <a:t>Discuss with your partner why the data may not be a true representation of the birth weight of all puppies.</a:t>
            </a:r>
          </a:p>
          <a:p>
            <a:pPr marL="914400" lvl="1" indent="-457200">
              <a:buFont typeface="+mj-lt"/>
              <a:buAutoNum type="alphaLcPeriod" startAt="2"/>
            </a:pPr>
            <a:endParaRPr lang="en-PH" sz="2000" dirty="0">
              <a:latin typeface="Verdana" pitchFamily="34" charset="0"/>
              <a:ea typeface="Verdana" pitchFamily="34" charset="0"/>
              <a:cs typeface="Cambria Math"/>
            </a:endParaRPr>
          </a:p>
          <a:p>
            <a:pPr marL="914400" lvl="1" indent="-457200">
              <a:buFont typeface="+mj-lt"/>
              <a:buAutoNum type="alphaLcPeriod" startAt="2"/>
            </a:pPr>
            <a:endParaRPr lang="en-PH" sz="2000" dirty="0">
              <a:latin typeface="Verdana" pitchFamily="34" charset="0"/>
              <a:ea typeface="Verdana" pitchFamily="34" charset="0"/>
              <a:cs typeface="Cambria Math"/>
            </a:endParaRPr>
          </a:p>
          <a:p>
            <a:pPr marL="914400" lvl="1" indent="-457200">
              <a:buFont typeface="+mj-lt"/>
              <a:buAutoNum type="alphaLcPeriod" startAt="2"/>
            </a:pPr>
            <a:endParaRPr lang="en-PH" sz="2000" dirty="0">
              <a:latin typeface="Verdana" pitchFamily="34" charset="0"/>
              <a:ea typeface="Verdana" pitchFamily="34" charset="0"/>
              <a:cs typeface="Cambria Math"/>
            </a:endParaRPr>
          </a:p>
          <a:p>
            <a:pPr marL="457200" indent="-457200">
              <a:buSzPct val="100000"/>
              <a:buFont typeface="+mj-lt"/>
              <a:buAutoNum type="arabicPeriod" startAt="3"/>
            </a:pPr>
            <a:r>
              <a:rPr lang="en-US" sz="2000" dirty="0">
                <a:latin typeface="Verdana" pitchFamily="34" charset="0"/>
                <a:ea typeface="Verdana" pitchFamily="34" charset="0"/>
                <a:cs typeface="Verdana"/>
              </a:rPr>
              <a:t>What differences did you notice when calculating the five-number summary for the two different data sets?</a:t>
            </a:r>
            <a:endParaRPr lang="en-PH" sz="2000" dirty="0">
              <a:latin typeface="Verdana" pitchFamily="34" charset="0"/>
              <a:ea typeface="Verdana" pitchFamily="34" charset="0"/>
              <a:cs typeface="Cambria Math"/>
            </a:endParaRPr>
          </a:p>
          <a:p>
            <a:pPr marL="914400" lvl="1" indent="-457200">
              <a:buFont typeface="+mj-lt"/>
              <a:buAutoNum type="alphaLcPeriod" startAt="2"/>
            </a:pPr>
            <a:endParaRPr lang="en-US" sz="2000" dirty="0">
              <a:latin typeface="Verdana" pitchFamily="34" charset="0"/>
              <a:ea typeface="Verdana" pitchFamily="34" charset="0"/>
              <a:cs typeface="Cambria Math"/>
            </a:endParaRPr>
          </a:p>
          <a:p>
            <a:pPr marL="452438"/>
            <a:r>
              <a:rPr lang="en-US" sz="2000" dirty="0">
                <a:latin typeface="Verdana" pitchFamily="34" charset="0"/>
                <a:ea typeface="Verdana" pitchFamily="34" charset="0"/>
                <a:cs typeface="Verdana"/>
              </a:rPr>
              <a:t>An illustration of the five-number summary for an even data set is shown.</a:t>
            </a:r>
            <a:endParaRPr lang="en-US" sz="2000" dirty="0">
              <a:latin typeface="Verdana" pitchFamily="34" charset="0"/>
              <a:ea typeface="Verdana" pitchFamily="34" charset="0"/>
              <a:cs typeface="Cambria Math"/>
            </a:endParaRPr>
          </a:p>
        </p:txBody>
      </p:sp>
      <p:grpSp>
        <p:nvGrpSpPr>
          <p:cNvPr id="3" name="Group 2"/>
          <p:cNvGrpSpPr/>
          <p:nvPr/>
        </p:nvGrpSpPr>
        <p:grpSpPr>
          <a:xfrm>
            <a:off x="2890698" y="3677884"/>
            <a:ext cx="6639202" cy="2522716"/>
            <a:chOff x="1366698" y="3507361"/>
            <a:chExt cx="6639202" cy="2522716"/>
          </a:xfrm>
        </p:grpSpPr>
        <p:sp>
          <p:nvSpPr>
            <p:cNvPr id="31" name="Rectangle 30"/>
            <p:cNvSpPr/>
            <p:nvPr/>
          </p:nvSpPr>
          <p:spPr>
            <a:xfrm>
              <a:off x="2171699" y="3508908"/>
              <a:ext cx="4800600" cy="1943100"/>
            </a:xfrm>
            <a:prstGeom prst="rect">
              <a:avLst/>
            </a:prstGeom>
            <a:noFill/>
            <a:ln>
              <a:noFill/>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3" name="Rectangle 42"/>
            <p:cNvSpPr/>
            <p:nvPr/>
          </p:nvSpPr>
          <p:spPr>
            <a:xfrm>
              <a:off x="3086099" y="4994808"/>
              <a:ext cx="457200"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4" name="Rectangle 43"/>
            <p:cNvSpPr/>
            <p:nvPr/>
          </p:nvSpPr>
          <p:spPr>
            <a:xfrm>
              <a:off x="5600699" y="4994808"/>
              <a:ext cx="457200"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5" name="Rectangle 44"/>
            <p:cNvSpPr/>
            <p:nvPr/>
          </p:nvSpPr>
          <p:spPr>
            <a:xfrm>
              <a:off x="4121367" y="5572877"/>
              <a:ext cx="1129863" cy="457200"/>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dirty="0">
                  <a:latin typeface="Verdana" pitchFamily="34" charset="0"/>
                  <a:ea typeface="Verdana" pitchFamily="34" charset="0"/>
                  <a:cs typeface="Verdana"/>
                </a:rPr>
                <a:t>Median</a:t>
              </a:r>
              <a:endParaRPr lang="en-PH" sz="2000" dirty="0">
                <a:solidFill>
                  <a:sysClr val="windowText" lastClr="000000"/>
                </a:solidFill>
                <a:latin typeface="Verdana" pitchFamily="34" charset="0"/>
                <a:ea typeface="Verdana" pitchFamily="34" charset="0"/>
                <a:cs typeface="Cambria Math"/>
              </a:endParaRPr>
            </a:p>
          </p:txBody>
        </p:sp>
        <p:grpSp>
          <p:nvGrpSpPr>
            <p:cNvPr id="2" name="Group 1"/>
            <p:cNvGrpSpPr/>
            <p:nvPr/>
          </p:nvGrpSpPr>
          <p:grpSpPr>
            <a:xfrm>
              <a:off x="1366698" y="3977238"/>
              <a:ext cx="6639202" cy="1470988"/>
              <a:chOff x="2171699" y="3931183"/>
              <a:chExt cx="4800600" cy="1063625"/>
            </a:xfrm>
          </p:grpSpPr>
          <p:cxnSp>
            <p:nvCxnSpPr>
              <p:cNvPr id="32" name="Straight Arrow Connector 31"/>
              <p:cNvCxnSpPr/>
              <p:nvPr/>
            </p:nvCxnSpPr>
            <p:spPr>
              <a:xfrm rot="10800000">
                <a:off x="3314699" y="4651908"/>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33" name="Straight Arrow Connector 32"/>
              <p:cNvCxnSpPr/>
              <p:nvPr/>
            </p:nvCxnSpPr>
            <p:spPr>
              <a:xfrm rot="10800000">
                <a:off x="5829299" y="4651908"/>
                <a:ext cx="0" cy="342900"/>
              </a:xfrm>
              <a:prstGeom prst="straightConnector1">
                <a:avLst/>
              </a:prstGeom>
              <a:noFill/>
              <a:ln w="12700" cap="flat" cmpd="sng">
                <a:solidFill>
                  <a:srgbClr val="000000"/>
                </a:solidFill>
                <a:prstDash val="solid"/>
                <a:miter lim="800000"/>
                <a:headEnd type="none" w="sm" len="sm"/>
                <a:tailEnd type="stealth" w="med" len="med"/>
              </a:ln>
            </p:spPr>
          </p:cxnSp>
          <p:cxnSp>
            <p:nvCxnSpPr>
              <p:cNvPr id="34" name="Straight Arrow Connector 33"/>
              <p:cNvCxnSpPr/>
              <p:nvPr/>
            </p:nvCxnSpPr>
            <p:spPr>
              <a:xfrm rot="10800000">
                <a:off x="4571999" y="4651908"/>
                <a:ext cx="0" cy="342900"/>
              </a:xfrm>
              <a:prstGeom prst="straightConnector1">
                <a:avLst/>
              </a:prstGeom>
              <a:noFill/>
              <a:ln w="12700" cap="flat" cmpd="sng">
                <a:solidFill>
                  <a:srgbClr val="000000"/>
                </a:solidFill>
                <a:prstDash val="solid"/>
                <a:miter lim="800000"/>
                <a:headEnd type="none" w="sm" len="sm"/>
                <a:tailEnd type="stealth" w="med" len="med"/>
              </a:ln>
            </p:spPr>
          </p:cxnSp>
          <p:sp>
            <p:nvSpPr>
              <p:cNvPr id="35" name="Rounded Rectangle 34"/>
              <p:cNvSpPr/>
              <p:nvPr/>
            </p:nvSpPr>
            <p:spPr>
              <a:xfrm>
                <a:off x="27431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36" name="Rounded Rectangle 35"/>
              <p:cNvSpPr/>
              <p:nvPr/>
            </p:nvSpPr>
            <p:spPr>
              <a:xfrm>
                <a:off x="21716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37" name="Rounded Rectangle 36"/>
              <p:cNvSpPr/>
              <p:nvPr/>
            </p:nvSpPr>
            <p:spPr>
              <a:xfrm>
                <a:off x="65150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38" name="Rounded Rectangle 37"/>
              <p:cNvSpPr/>
              <p:nvPr/>
            </p:nvSpPr>
            <p:spPr>
              <a:xfrm>
                <a:off x="59435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39" name="Rounded Rectangle 38"/>
              <p:cNvSpPr/>
              <p:nvPr/>
            </p:nvSpPr>
            <p:spPr>
              <a:xfrm>
                <a:off x="52577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0" name="Rounded Rectangle 39"/>
              <p:cNvSpPr/>
              <p:nvPr/>
            </p:nvSpPr>
            <p:spPr>
              <a:xfrm>
                <a:off x="46862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1" name="Rounded Rectangle 40"/>
              <p:cNvSpPr/>
              <p:nvPr/>
            </p:nvSpPr>
            <p:spPr>
              <a:xfrm>
                <a:off x="40004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2" name="Rounded Rectangle 41"/>
              <p:cNvSpPr/>
              <p:nvPr/>
            </p:nvSpPr>
            <p:spPr>
              <a:xfrm>
                <a:off x="3428999" y="4194708"/>
                <a:ext cx="457200" cy="342900"/>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6" name="Left Bracket 45"/>
              <p:cNvSpPr/>
              <p:nvPr/>
            </p:nvSpPr>
            <p:spPr>
              <a:xfrm rot="5400000">
                <a:off x="3235324" y="2867875"/>
                <a:ext cx="159384" cy="2286000"/>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7" name="Left Bracket 46"/>
              <p:cNvSpPr/>
              <p:nvPr/>
            </p:nvSpPr>
            <p:spPr>
              <a:xfrm rot="5400000">
                <a:off x="5749924" y="2867875"/>
                <a:ext cx="158750" cy="2286000"/>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grpSp>
        <p:sp>
          <p:nvSpPr>
            <p:cNvPr id="48" name="Rectangle 47"/>
            <p:cNvSpPr/>
            <p:nvPr/>
          </p:nvSpPr>
          <p:spPr>
            <a:xfrm>
              <a:off x="1919198" y="3507361"/>
              <a:ext cx="2057400" cy="3429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buClrTx/>
                <a:defRPr/>
              </a:pPr>
              <a:r>
                <a:rPr lang="en-US" sz="2000" dirty="0">
                  <a:latin typeface="Verdana" pitchFamily="34" charset="0"/>
                  <a:ea typeface="Verdana" pitchFamily="34" charset="0"/>
                  <a:cs typeface="Verdana"/>
                </a:rPr>
                <a:t>Lower Half</a:t>
              </a:r>
              <a:endParaRPr lang="en-PH" sz="2000" dirty="0">
                <a:solidFill>
                  <a:sysClr val="windowText" lastClr="000000"/>
                </a:solidFill>
                <a:latin typeface="Verdana" pitchFamily="34" charset="0"/>
                <a:ea typeface="Verdana" pitchFamily="34" charset="0"/>
                <a:cs typeface="Cambria Math"/>
              </a:endParaRPr>
            </a:p>
          </p:txBody>
        </p:sp>
        <p:sp>
          <p:nvSpPr>
            <p:cNvPr id="49" name="Rectangle 48"/>
            <p:cNvSpPr/>
            <p:nvPr/>
          </p:nvSpPr>
          <p:spPr>
            <a:xfrm>
              <a:off x="5396438" y="3508908"/>
              <a:ext cx="2057400" cy="342900"/>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buClrTx/>
                <a:defRPr/>
              </a:pPr>
              <a:r>
                <a:rPr lang="en-US" sz="2000" dirty="0">
                  <a:latin typeface="Verdana" pitchFamily="34" charset="0"/>
                  <a:ea typeface="Verdana" pitchFamily="34" charset="0"/>
                  <a:cs typeface="Verdana"/>
                </a:rPr>
                <a:t>Upper Half</a:t>
              </a:r>
              <a:endParaRPr lang="en-PH" sz="2000" dirty="0">
                <a:solidFill>
                  <a:sysClr val="windowText" lastClr="000000"/>
                </a:solidFill>
                <a:latin typeface="Verdana" pitchFamily="34" charset="0"/>
                <a:ea typeface="Verdana" pitchFamily="34" charset="0"/>
                <a:cs typeface="Cambria Math"/>
              </a:endParaRPr>
            </a:p>
          </p:txBody>
        </p:sp>
      </p:grpSp>
      <p:sp>
        <p:nvSpPr>
          <p:cNvPr id="2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92</a:t>
            </a:r>
            <a:endParaRPr i="1" dirty="0">
              <a:latin typeface="Calibri"/>
              <a:ea typeface="Calibri"/>
              <a:cs typeface="Calibri"/>
              <a:sym typeface="Calibri"/>
            </a:endParaRPr>
          </a:p>
        </p:txBody>
      </p:sp>
      <p:pic>
        <p:nvPicPr>
          <p:cNvPr id="2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02553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244184" y="352228"/>
            <a:ext cx="9854298" cy="750975"/>
          </a:xfrm>
          <a:prstGeom prst="rect">
            <a:avLst/>
          </a:prstGeom>
          <a:noFill/>
        </p:spPr>
        <p:txBody>
          <a:bodyPr wrap="square" rtlCol="0">
            <a:spAutoFit/>
          </a:bodyPr>
          <a:lstStyle/>
          <a:p>
            <a:pPr marL="452438">
              <a:lnSpc>
                <a:spcPct val="107000"/>
              </a:lnSpc>
            </a:pPr>
            <a:r>
              <a:rPr lang="en-US" sz="2000" dirty="0">
                <a:latin typeface="Verdana"/>
                <a:ea typeface="Verdana"/>
                <a:cs typeface="Verdana"/>
              </a:rPr>
              <a:t>An illustration of the five-number summary for an odd data set is shown.</a:t>
            </a:r>
            <a:endParaRPr lang="en-PH" sz="1800" dirty="0">
              <a:latin typeface="Cambria Math"/>
              <a:ea typeface="Cambria Math"/>
              <a:cs typeface="Cambria Math"/>
            </a:endParaRPr>
          </a:p>
        </p:txBody>
      </p:sp>
      <p:grpSp>
        <p:nvGrpSpPr>
          <p:cNvPr id="3" name="Group 2"/>
          <p:cNvGrpSpPr/>
          <p:nvPr/>
        </p:nvGrpSpPr>
        <p:grpSpPr>
          <a:xfrm>
            <a:off x="2623750" y="1150286"/>
            <a:ext cx="7325001" cy="2559522"/>
            <a:chOff x="1485899" y="2340928"/>
            <a:chExt cx="7325001" cy="2559522"/>
          </a:xfrm>
        </p:grpSpPr>
        <p:sp>
          <p:nvSpPr>
            <p:cNvPr id="34" name="Rectangle 33"/>
            <p:cNvSpPr/>
            <p:nvPr/>
          </p:nvSpPr>
          <p:spPr>
            <a:xfrm>
              <a:off x="1485900" y="2340928"/>
              <a:ext cx="6172200" cy="2176144"/>
            </a:xfrm>
            <a:prstGeom prst="rect">
              <a:avLst/>
            </a:prstGeom>
            <a:noFill/>
            <a:ln>
              <a:noFill/>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9" name="Rectangle 48"/>
            <p:cNvSpPr/>
            <p:nvPr/>
          </p:nvSpPr>
          <p:spPr>
            <a:xfrm>
              <a:off x="2628900" y="4012566"/>
              <a:ext cx="457200" cy="385763"/>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50" name="Rectangle 49"/>
            <p:cNvSpPr/>
            <p:nvPr/>
          </p:nvSpPr>
          <p:spPr>
            <a:xfrm>
              <a:off x="6057900" y="4012566"/>
              <a:ext cx="457200" cy="385763"/>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51" name="Rectangle 50"/>
            <p:cNvSpPr/>
            <p:nvPr/>
          </p:nvSpPr>
          <p:spPr>
            <a:xfrm>
              <a:off x="4588724" y="4395943"/>
              <a:ext cx="1119352" cy="504507"/>
            </a:xfrm>
            <a:prstGeom prst="rect">
              <a:avLst/>
            </a:prstGeom>
            <a:noFill/>
            <a:ln>
              <a:noFill/>
            </a:ln>
          </p:spPr>
          <p:txBody>
            <a:bodyPr spcFirstLastPara="1" wrap="square" lIns="91425" tIns="45700" rIns="91425" bIns="45700" anchor="t" anchorCtr="0">
              <a:noAutofit/>
            </a:bodyPr>
            <a:lstStyle/>
            <a:p>
              <a:pPr>
                <a:lnSpc>
                  <a:spcPct val="107000"/>
                </a:lnSpc>
                <a:spcAft>
                  <a:spcPts val="800"/>
                </a:spcAft>
                <a:buClrTx/>
                <a:defRPr/>
              </a:pPr>
              <a:r>
                <a:rPr lang="en-US" sz="2000" dirty="0">
                  <a:latin typeface="Verdana" pitchFamily="34" charset="0"/>
                  <a:ea typeface="Verdana" pitchFamily="34" charset="0"/>
                  <a:cs typeface="Verdana"/>
                </a:rPr>
                <a:t>Median</a:t>
              </a:r>
              <a:endParaRPr lang="en-PH" sz="2000" dirty="0">
                <a:solidFill>
                  <a:sysClr val="windowText" lastClr="000000"/>
                </a:solidFill>
                <a:latin typeface="Verdana" pitchFamily="34" charset="0"/>
                <a:ea typeface="Verdana" pitchFamily="34" charset="0"/>
                <a:cs typeface="Cambria Math"/>
              </a:endParaRPr>
            </a:p>
          </p:txBody>
        </p:sp>
        <p:grpSp>
          <p:nvGrpSpPr>
            <p:cNvPr id="2" name="Group 1"/>
            <p:cNvGrpSpPr/>
            <p:nvPr/>
          </p:nvGrpSpPr>
          <p:grpSpPr>
            <a:xfrm>
              <a:off x="1485899" y="2869359"/>
              <a:ext cx="7325001" cy="1383505"/>
              <a:chOff x="1485900" y="2846795"/>
              <a:chExt cx="6172200" cy="1165771"/>
            </a:xfrm>
          </p:grpSpPr>
          <p:sp>
            <p:nvSpPr>
              <p:cNvPr id="35" name="Rounded Rectangle 34"/>
              <p:cNvSpPr/>
              <p:nvPr/>
            </p:nvSpPr>
            <p:spPr>
              <a:xfrm>
                <a:off x="54864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cxnSp>
            <p:nvCxnSpPr>
              <p:cNvPr id="36" name="Straight Arrow Connector 35"/>
              <p:cNvCxnSpPr/>
              <p:nvPr/>
            </p:nvCxnSpPr>
            <p:spPr>
              <a:xfrm rot="10800000">
                <a:off x="6286500" y="3626803"/>
                <a:ext cx="0" cy="385763"/>
              </a:xfrm>
              <a:prstGeom prst="straightConnector1">
                <a:avLst/>
              </a:prstGeom>
              <a:noFill/>
              <a:ln w="12700" cap="flat" cmpd="sng">
                <a:solidFill>
                  <a:srgbClr val="000000"/>
                </a:solidFill>
                <a:prstDash val="solid"/>
                <a:miter lim="800000"/>
                <a:headEnd type="none" w="sm" len="sm"/>
                <a:tailEnd type="stealth" w="med" len="med"/>
              </a:ln>
            </p:spPr>
          </p:cxnSp>
          <p:cxnSp>
            <p:nvCxnSpPr>
              <p:cNvPr id="37" name="Straight Arrow Connector 36"/>
              <p:cNvCxnSpPr/>
              <p:nvPr/>
            </p:nvCxnSpPr>
            <p:spPr>
              <a:xfrm rot="10800000">
                <a:off x="4572000" y="3626803"/>
                <a:ext cx="0" cy="385763"/>
              </a:xfrm>
              <a:prstGeom prst="straightConnector1">
                <a:avLst/>
              </a:prstGeom>
              <a:noFill/>
              <a:ln w="12700" cap="flat" cmpd="sng">
                <a:solidFill>
                  <a:srgbClr val="000000"/>
                </a:solidFill>
                <a:prstDash val="solid"/>
                <a:miter lim="800000"/>
                <a:headEnd type="none" w="sm" len="sm"/>
                <a:tailEnd type="stealth" w="med" len="med"/>
              </a:ln>
            </p:spPr>
          </p:cxnSp>
          <p:cxnSp>
            <p:nvCxnSpPr>
              <p:cNvPr id="38" name="Straight Arrow Connector 37"/>
              <p:cNvCxnSpPr/>
              <p:nvPr/>
            </p:nvCxnSpPr>
            <p:spPr>
              <a:xfrm rot="10800000">
                <a:off x="2857500" y="3626803"/>
                <a:ext cx="0" cy="385763"/>
              </a:xfrm>
              <a:prstGeom prst="straightConnector1">
                <a:avLst/>
              </a:prstGeom>
              <a:noFill/>
              <a:ln w="12700" cap="flat" cmpd="sng">
                <a:solidFill>
                  <a:srgbClr val="000000"/>
                </a:solidFill>
                <a:prstDash val="solid"/>
                <a:miter lim="800000"/>
                <a:headEnd type="none" w="sm" len="sm"/>
                <a:tailEnd type="stealth" w="med" len="med"/>
              </a:ln>
            </p:spPr>
          </p:cxnSp>
          <p:sp>
            <p:nvSpPr>
              <p:cNvPr id="39" name="Rounded Rectangle 38"/>
              <p:cNvSpPr/>
              <p:nvPr/>
            </p:nvSpPr>
            <p:spPr>
              <a:xfrm>
                <a:off x="2628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0" name="Rounded Rectangle 39"/>
              <p:cNvSpPr/>
              <p:nvPr/>
            </p:nvSpPr>
            <p:spPr>
              <a:xfrm>
                <a:off x="32004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dirty="0">
                    <a:solidFill>
                      <a:sysClr val="windowText" lastClr="000000"/>
                    </a:solidFill>
                    <a:latin typeface="Verdana" pitchFamily="34" charset="0"/>
                    <a:ea typeface="Verdana" pitchFamily="34" charset="0"/>
                    <a:cs typeface="Cambria Math"/>
                  </a:rPr>
                  <a:t> </a:t>
                </a:r>
                <a:endParaRPr lang="en-PH" sz="2000" dirty="0">
                  <a:solidFill>
                    <a:sysClr val="windowText" lastClr="000000"/>
                  </a:solidFill>
                  <a:latin typeface="Verdana" pitchFamily="34" charset="0"/>
                  <a:ea typeface="Verdana" pitchFamily="34" charset="0"/>
                  <a:cs typeface="Cambria Math"/>
                </a:endParaRPr>
              </a:p>
            </p:txBody>
          </p:sp>
          <p:sp>
            <p:nvSpPr>
              <p:cNvPr id="41" name="Rounded Rectangle 40"/>
              <p:cNvSpPr/>
              <p:nvPr/>
            </p:nvSpPr>
            <p:spPr>
              <a:xfrm>
                <a:off x="3771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2" name="Rounded Rectangle 41"/>
              <p:cNvSpPr/>
              <p:nvPr/>
            </p:nvSpPr>
            <p:spPr>
              <a:xfrm>
                <a:off x="66294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3" name="Rounded Rectangle 42"/>
              <p:cNvSpPr/>
              <p:nvPr/>
            </p:nvSpPr>
            <p:spPr>
              <a:xfrm>
                <a:off x="6057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4" name="Rounded Rectangle 43"/>
              <p:cNvSpPr/>
              <p:nvPr/>
            </p:nvSpPr>
            <p:spPr>
              <a:xfrm>
                <a:off x="4914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5" name="Rounded Rectangle 44"/>
              <p:cNvSpPr/>
              <p:nvPr/>
            </p:nvSpPr>
            <p:spPr>
              <a:xfrm>
                <a:off x="43434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6" name="Rounded Rectangle 45"/>
              <p:cNvSpPr/>
              <p:nvPr/>
            </p:nvSpPr>
            <p:spPr>
              <a:xfrm>
                <a:off x="20574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7" name="Rounded Rectangle 46"/>
              <p:cNvSpPr/>
              <p:nvPr/>
            </p:nvSpPr>
            <p:spPr>
              <a:xfrm>
                <a:off x="7200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48" name="Rounded Rectangle 47"/>
              <p:cNvSpPr/>
              <p:nvPr/>
            </p:nvSpPr>
            <p:spPr>
              <a:xfrm>
                <a:off x="1485900" y="3112453"/>
                <a:ext cx="457200" cy="385763"/>
              </a:xfrm>
              <a:prstGeom prst="roundRect">
                <a:avLst>
                  <a:gd name="adj" fmla="val 16667"/>
                </a:avLst>
              </a:prstGeom>
              <a:noFill/>
              <a:ln w="9525" cap="flat" cmpd="sng">
                <a:solidFill>
                  <a:sysClr val="windowText" lastClr="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52" name="Left Bracket 51"/>
              <p:cNvSpPr/>
              <p:nvPr/>
            </p:nvSpPr>
            <p:spPr>
              <a:xfrm rot="5400000">
                <a:off x="2793167" y="1540163"/>
                <a:ext cx="129302" cy="2742565"/>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sp>
            <p:nvSpPr>
              <p:cNvPr id="53" name="Left Bracket 52"/>
              <p:cNvSpPr/>
              <p:nvPr/>
            </p:nvSpPr>
            <p:spPr>
              <a:xfrm rot="5400000">
                <a:off x="6221532" y="1540878"/>
                <a:ext cx="129302" cy="2742565"/>
              </a:xfrm>
              <a:prstGeom prst="leftBracket">
                <a:avLst>
                  <a:gd name="adj" fmla="val 8333"/>
                </a:avLst>
              </a:prstGeom>
              <a:noFill/>
              <a:ln w="12700"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a:lnSpc>
                    <a:spcPct val="107000"/>
                  </a:lnSpc>
                  <a:buClrTx/>
                  <a:defRPr/>
                </a:pPr>
                <a:r>
                  <a:rPr lang="en-US" sz="2000">
                    <a:solidFill>
                      <a:sysClr val="windowText" lastClr="000000"/>
                    </a:solidFill>
                    <a:latin typeface="Verdana" pitchFamily="34" charset="0"/>
                    <a:ea typeface="Verdana" pitchFamily="34" charset="0"/>
                    <a:cs typeface="Cambria Math"/>
                  </a:rPr>
                  <a:t> </a:t>
                </a:r>
                <a:endParaRPr lang="en-PH" sz="2000">
                  <a:solidFill>
                    <a:sysClr val="windowText" lastClr="000000"/>
                  </a:solidFill>
                  <a:latin typeface="Verdana" pitchFamily="34" charset="0"/>
                  <a:ea typeface="Verdana" pitchFamily="34" charset="0"/>
                  <a:cs typeface="Cambria Math"/>
                </a:endParaRPr>
              </a:p>
            </p:txBody>
          </p:sp>
        </p:grpSp>
        <p:sp>
          <p:nvSpPr>
            <p:cNvPr id="54" name="Rectangle 53"/>
            <p:cNvSpPr/>
            <p:nvPr/>
          </p:nvSpPr>
          <p:spPr>
            <a:xfrm>
              <a:off x="2085354" y="2428855"/>
              <a:ext cx="2057400" cy="385763"/>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buClrTx/>
                <a:defRPr/>
              </a:pPr>
              <a:r>
                <a:rPr lang="en-US" sz="2000" dirty="0">
                  <a:latin typeface="Verdana" pitchFamily="34" charset="0"/>
                  <a:ea typeface="Verdana" pitchFamily="34" charset="0"/>
                  <a:cs typeface="Verdana"/>
                </a:rPr>
                <a:t>Lower Half</a:t>
              </a:r>
              <a:endParaRPr lang="en-PH" sz="2000" dirty="0">
                <a:solidFill>
                  <a:sysClr val="windowText" lastClr="000000"/>
                </a:solidFill>
                <a:latin typeface="Verdana" pitchFamily="34" charset="0"/>
                <a:ea typeface="Verdana" pitchFamily="34" charset="0"/>
                <a:cs typeface="Cambria Math"/>
              </a:endParaRPr>
            </a:p>
          </p:txBody>
        </p:sp>
        <p:sp>
          <p:nvSpPr>
            <p:cNvPr id="55" name="Rectangle 54"/>
            <p:cNvSpPr/>
            <p:nvPr/>
          </p:nvSpPr>
          <p:spPr>
            <a:xfrm>
              <a:off x="6154422" y="2428855"/>
              <a:ext cx="2057400" cy="385763"/>
            </a:xfrm>
            <a:prstGeom prst="rect">
              <a:avLst/>
            </a:prstGeom>
            <a:noFill/>
            <a:ln>
              <a:noFill/>
            </a:ln>
          </p:spPr>
          <p:txBody>
            <a:bodyPr spcFirstLastPara="1" wrap="square" lIns="91425" tIns="45700" rIns="91425" bIns="45700" anchor="t" anchorCtr="0">
              <a:noAutofit/>
            </a:bodyPr>
            <a:lstStyle/>
            <a:p>
              <a:pPr algn="ctr">
                <a:lnSpc>
                  <a:spcPct val="107000"/>
                </a:lnSpc>
                <a:spcAft>
                  <a:spcPts val="800"/>
                </a:spcAft>
                <a:buClrTx/>
                <a:defRPr/>
              </a:pPr>
              <a:r>
                <a:rPr lang="en-US" sz="2000" dirty="0">
                  <a:latin typeface="Verdana" pitchFamily="34" charset="0"/>
                  <a:ea typeface="Verdana" pitchFamily="34" charset="0"/>
                  <a:cs typeface="Verdana"/>
                </a:rPr>
                <a:t>Upper Half</a:t>
              </a:r>
              <a:endParaRPr lang="en-PH" sz="2000" dirty="0">
                <a:solidFill>
                  <a:sysClr val="windowText" lastClr="000000"/>
                </a:solidFill>
                <a:latin typeface="Verdana" pitchFamily="34" charset="0"/>
                <a:ea typeface="Verdana" pitchFamily="34" charset="0"/>
                <a:cs typeface="Cambria Math"/>
              </a:endParaRPr>
            </a:p>
          </p:txBody>
        </p:sp>
      </p:grpSp>
      <p:sp>
        <p:nvSpPr>
          <p:cNvPr id="5" name="Rectangle 4"/>
          <p:cNvSpPr/>
          <p:nvPr/>
        </p:nvSpPr>
        <p:spPr>
          <a:xfrm>
            <a:off x="1244184" y="3814831"/>
            <a:ext cx="9854298" cy="707886"/>
          </a:xfrm>
          <a:prstGeom prst="rect">
            <a:avLst/>
          </a:prstGeom>
        </p:spPr>
        <p:txBody>
          <a:bodyPr wrap="square">
            <a:spAutoFit/>
          </a:bodyPr>
          <a:lstStyle/>
          <a:p>
            <a:pPr marL="457200" indent="-457200">
              <a:buSzPct val="100000"/>
              <a:buFont typeface="+mj-lt"/>
              <a:buAutoNum type="arabicPeriod" startAt="4"/>
            </a:pPr>
            <a:r>
              <a:rPr lang="en-US" sz="2000" dirty="0">
                <a:latin typeface="Verdana"/>
                <a:ea typeface="Century Gothic"/>
                <a:cs typeface="Century Gothic"/>
              </a:rPr>
              <a:t>Discuss with your partner your observations and any questions you have about the illustrations. </a:t>
            </a:r>
            <a:endParaRPr lang="en-PH" sz="2000" dirty="0">
              <a:latin typeface="Cambria Math"/>
              <a:ea typeface="Cambria Math"/>
              <a:cs typeface="Cambria Math"/>
            </a:endParaRPr>
          </a:p>
        </p:txBody>
      </p:sp>
      <p:sp>
        <p:nvSpPr>
          <p:cNvPr id="31"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92</a:t>
            </a:r>
            <a:endParaRPr i="1" dirty="0">
              <a:latin typeface="Calibri"/>
              <a:ea typeface="Calibri"/>
              <a:cs typeface="Calibri"/>
              <a:sym typeface="Calibri"/>
            </a:endParaRPr>
          </a:p>
        </p:txBody>
      </p:sp>
      <p:pic>
        <p:nvPicPr>
          <p:cNvPr id="3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47288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605450" y="-53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9.9.4 Guided Practice: Creating a Box Plot</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71144" y="19551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1595780" y="1386025"/>
            <a:ext cx="9408038" cy="1569660"/>
          </a:xfrm>
          <a:prstGeom prst="rect">
            <a:avLst/>
          </a:prstGeom>
          <a:noFill/>
        </p:spPr>
        <p:txBody>
          <a:bodyPr wrap="square" rtlCol="0">
            <a:spAutoFit/>
          </a:bodyPr>
          <a:lstStyle/>
          <a:p>
            <a:pPr marL="457200" lvl="3" indent="-457200">
              <a:buFont typeface="+mj-lt"/>
              <a:buAutoNum type="arabicPeriod"/>
            </a:pPr>
            <a:r>
              <a:rPr lang="en-US" sz="2400" dirty="0">
                <a:latin typeface="Verdana" pitchFamily="34" charset="0"/>
                <a:ea typeface="Verdana" pitchFamily="34" charset="0"/>
                <a:cs typeface="Verdana"/>
              </a:rPr>
              <a:t>Using the data and five-number summary on the birth weight, in ounces, of the golden retriever puppies born at a kennel in the last month, create a box plot from the steps listed. </a:t>
            </a:r>
            <a:endParaRPr lang="en-PH" sz="2400" dirty="0">
              <a:latin typeface="Verdana" pitchFamily="34" charset="0"/>
              <a:ea typeface="Verdana" pitchFamily="34" charset="0"/>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829458444"/>
                  </p:ext>
                </p:extLst>
              </p:nvPr>
            </p:nvGraphicFramePr>
            <p:xfrm>
              <a:off x="2678004" y="3214206"/>
              <a:ext cx="6480000" cy="2160000"/>
            </p:xfrm>
            <a:graphic>
              <a:graphicData uri="http://schemas.openxmlformats.org/drawingml/2006/table">
                <a:tbl>
                  <a:tblPr bandRow="1"/>
                  <a:tblGrid>
                    <a:gridCol w="720000">
                      <a:extLst>
                        <a:ext uri="{9D8B030D-6E8A-4147-A177-3AD203B41FA5}">
                          <a16:colId xmlns:a16="http://schemas.microsoft.com/office/drawing/2014/main" xmlns="" val="20000"/>
                        </a:ext>
                      </a:extLst>
                    </a:gridCol>
                    <a:gridCol w="720000">
                      <a:extLst>
                        <a:ext uri="{9D8B030D-6E8A-4147-A177-3AD203B41FA5}">
                          <a16:colId xmlns:a16="http://schemas.microsoft.com/office/drawing/2014/main" xmlns="" val="20001"/>
                        </a:ext>
                      </a:extLst>
                    </a:gridCol>
                    <a:gridCol w="720000">
                      <a:extLst>
                        <a:ext uri="{9D8B030D-6E8A-4147-A177-3AD203B41FA5}">
                          <a16:colId xmlns:a16="http://schemas.microsoft.com/office/drawing/2014/main" xmlns="" val="20002"/>
                        </a:ext>
                      </a:extLst>
                    </a:gridCol>
                    <a:gridCol w="720000">
                      <a:extLst>
                        <a:ext uri="{9D8B030D-6E8A-4147-A177-3AD203B41FA5}">
                          <a16:colId xmlns:a16="http://schemas.microsoft.com/office/drawing/2014/main" xmlns="" val="20003"/>
                        </a:ext>
                      </a:extLst>
                    </a:gridCol>
                    <a:gridCol w="720000">
                      <a:extLst>
                        <a:ext uri="{9D8B030D-6E8A-4147-A177-3AD203B41FA5}">
                          <a16:colId xmlns:a16="http://schemas.microsoft.com/office/drawing/2014/main" xmlns="" val="20004"/>
                        </a:ext>
                      </a:extLst>
                    </a:gridCol>
                    <a:gridCol w="720000">
                      <a:extLst>
                        <a:ext uri="{9D8B030D-6E8A-4147-A177-3AD203B41FA5}">
                          <a16:colId xmlns:a16="http://schemas.microsoft.com/office/drawing/2014/main" xmlns="" val="20005"/>
                        </a:ext>
                      </a:extLst>
                    </a:gridCol>
                    <a:gridCol w="720000">
                      <a:extLst>
                        <a:ext uri="{9D8B030D-6E8A-4147-A177-3AD203B41FA5}">
                          <a16:colId xmlns:a16="http://schemas.microsoft.com/office/drawing/2014/main" xmlns="" val="20006"/>
                        </a:ext>
                      </a:extLst>
                    </a:gridCol>
                    <a:gridCol w="720000">
                      <a:extLst>
                        <a:ext uri="{9D8B030D-6E8A-4147-A177-3AD203B41FA5}">
                          <a16:colId xmlns:a16="http://schemas.microsoft.com/office/drawing/2014/main" xmlns="" val="20007"/>
                        </a:ext>
                      </a:extLst>
                    </a:gridCol>
                    <a:gridCol w="720000">
                      <a:extLst>
                        <a:ext uri="{9D8B030D-6E8A-4147-A177-3AD203B41FA5}">
                          <a16:colId xmlns:a16="http://schemas.microsoft.com/office/drawing/2014/main" xmlns="" val="20008"/>
                        </a:ext>
                      </a:extLst>
                    </a:gridCol>
                  </a:tblGrid>
                  <a:tr h="7200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13</m:t>
                                </m:r>
                              </m:oMath>
                            </m:oMathPara>
                          </a14:m>
                          <a:endParaRPr lang="en-PH" sz="2000" dirty="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14</m:t>
                                </m:r>
                              </m:oMath>
                            </m:oMathPara>
                          </a14:m>
                          <a:endParaRPr lang="en-PH" sz="2000" dirty="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15</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15</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16</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7200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17</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7200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18</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19</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20</m:t>
                                </m:r>
                              </m:oMath>
                            </m:oMathPara>
                          </a14:m>
                          <a:endParaRPr lang="en-PH" sz="200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gridSpan="2">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Cambria Math"/>
                                    <a:cs typeface="Cambria Math"/>
                                  </a:rPr>
                                  <m:t> </m:t>
                                </m:r>
                              </m:oMath>
                            </m:oMathPara>
                          </a14:m>
                          <a:endParaRPr lang="en-PH" sz="2000" dirty="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c hMerge="1">
                      <a:txBody>
                        <a:bodyPr/>
                        <a:lstStyle/>
                        <a:p>
                          <a:endParaRPr lang="en-PH"/>
                        </a:p>
                      </a:txBody>
                      <a:tcPr/>
                    </a:tc>
                    <a:extLst>
                      <a:ext uri="{0D108BD9-81ED-4DB2-BD59-A6C34878D82A}">
                        <a16:rowId xmlns:a16="http://schemas.microsoft.com/office/drawing/2014/main" xmlns=""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829458444"/>
                  </p:ext>
                </p:extLst>
              </p:nvPr>
            </p:nvGraphicFramePr>
            <p:xfrm>
              <a:off x="1154004" y="3214206"/>
              <a:ext cx="6480000" cy="2160000"/>
            </p:xfrm>
            <a:graphic>
              <a:graphicData uri="http://schemas.openxmlformats.org/drawingml/2006/table">
                <a:tbl>
                  <a:tblPr bandRow="1"/>
                  <a:tblGrid>
                    <a:gridCol w="720000"/>
                    <a:gridCol w="720000"/>
                    <a:gridCol w="720000"/>
                    <a:gridCol w="720000"/>
                    <a:gridCol w="720000"/>
                    <a:gridCol w="720000"/>
                    <a:gridCol w="720000"/>
                    <a:gridCol w="720000"/>
                    <a:gridCol w="720000"/>
                  </a:tblGrid>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r="-801695"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000" r="-701695"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000" r="-601695"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0000" r="-501695"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6639" r="-397479"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0847" r="-300847"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00847" r="-200847"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00847" r="-100847" b="-2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800847" r="-847" b="-200847"/>
                          </a:stretch>
                        </a:blipFill>
                      </a:tcPr>
                    </a:tc>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99160" r="-801695"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000" t="-99160" r="-701695"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000" t="-99160" r="-601695"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0000" t="-99160" r="-501695"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6639" t="-99160" r="-397479"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0847" t="-99160" r="-300847"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00847" t="-99160" r="-200847"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00847" t="-99160" r="-100847" b="-99160"/>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800847" t="-99160" r="-847" b="-99160"/>
                          </a:stretch>
                        </a:blipFill>
                      </a:tcPr>
                    </a:tc>
                  </a:tr>
                  <a:tr h="7200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00847" r="-8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000" t="-200847" r="-7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00000" t="-200847" r="-6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00000" t="-200847" r="-50169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96639" t="-200847" r="-39747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500847" t="-200847" r="-300847"/>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600847" t="-200847" r="-200847"/>
                          </a:stretch>
                        </a:blipFill>
                      </a:tcPr>
                    </a:tc>
                    <a:tc gridSpan="2">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blipFill rotWithShape="1">
                          <a:blip r:embed="rId5"/>
                          <a:stretch>
                            <a:fillRect l="-350424" t="-200847" r="-424"/>
                          </a:stretch>
                        </a:blipFill>
                      </a:tcPr>
                    </a:tc>
                    <a:tc hMerge="1">
                      <a:txBody>
                        <a:bodyPr/>
                        <a:lstStyle/>
                        <a:p>
                          <a:endParaRPr lang="en-PH"/>
                        </a:p>
                      </a:txBody>
                      <a:tcPr/>
                    </a:tc>
                  </a:tr>
                </a:tbl>
              </a:graphicData>
            </a:graphic>
          </p:graphicFrame>
        </mc:Fallback>
      </mc:AlternateContent>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94282" y="383758"/>
                <a:ext cx="10154102" cy="5786199"/>
              </a:xfrm>
              <a:prstGeom prst="rect">
                <a:avLst/>
              </a:prstGeom>
              <a:noFill/>
            </p:spPr>
            <p:txBody>
              <a:bodyPr wrap="square" rtlCol="0">
                <a:spAutoFit/>
              </a:bodyPr>
              <a:lstStyle/>
              <a:p>
                <a:r>
                  <a:rPr lang="en-US" sz="2000" dirty="0">
                    <a:latin typeface="Verdana" pitchFamily="34" charset="0"/>
                    <a:ea typeface="Verdana" pitchFamily="34" charset="0"/>
                    <a:cs typeface="Verdana"/>
                  </a:rPr>
                  <a:t>Step 1: Label the axis by starting at a number slightly less than the minimum. Increase by the same interval, making sure each interval is equally spaced, until you reach (or pass) the maximum.</a:t>
                </a:r>
              </a:p>
              <a:p>
                <a:endParaRPr lang="en-PH" sz="2000" dirty="0">
                  <a:latin typeface="Verdana" pitchFamily="34" charset="0"/>
                  <a:ea typeface="Verdana" pitchFamily="34" charset="0"/>
                  <a:cs typeface="Verdana"/>
                </a:endParaRPr>
              </a:p>
              <a:p>
                <a:endParaRPr lang="en-US" sz="2000" dirty="0">
                  <a:latin typeface="Verdana" pitchFamily="34" charset="0"/>
                  <a:ea typeface="Verdana" pitchFamily="34" charset="0"/>
                  <a:cs typeface="Verdana"/>
                </a:endParaRPr>
              </a:p>
              <a:p>
                <a:endParaRPr lang="en-US" sz="2000" dirty="0">
                  <a:latin typeface="Verdana" pitchFamily="34" charset="0"/>
                  <a:ea typeface="Verdana" pitchFamily="34" charset="0"/>
                  <a:cs typeface="Verdana"/>
                </a:endParaRPr>
              </a:p>
              <a:p>
                <a:endParaRPr lang="en-US" sz="2000" dirty="0">
                  <a:latin typeface="Verdana" pitchFamily="34" charset="0"/>
                  <a:ea typeface="Verdana" pitchFamily="34" charset="0"/>
                  <a:cs typeface="Verdana"/>
                </a:endParaRPr>
              </a:p>
              <a:p>
                <a:pPr>
                  <a:spcAft>
                    <a:spcPts val="1200"/>
                  </a:spcAft>
                </a:pPr>
                <a:r>
                  <a:rPr lang="en-US" sz="2000" dirty="0">
                    <a:latin typeface="Verdana" pitchFamily="34" charset="0"/>
                    <a:ea typeface="Verdana" pitchFamily="34" charset="0"/>
                    <a:cs typeface="Verdana"/>
                  </a:rPr>
                  <a:t>Step 2: Place a dot above the axis for each value of the five-number summary.</a:t>
                </a:r>
              </a:p>
              <a:p>
                <a:pPr>
                  <a:spcAft>
                    <a:spcPts val="1200"/>
                  </a:spcAft>
                </a:pPr>
                <a:r>
                  <a:rPr lang="en-US" sz="2000" dirty="0">
                    <a:latin typeface="Verdana" pitchFamily="34" charset="0"/>
                    <a:ea typeface="Verdana" pitchFamily="34" charset="0"/>
                    <a:cs typeface="Verdana"/>
                  </a:rPr>
                  <a:t>Step 3: Draw the box from </a:t>
                </a:r>
                <a14:m>
                  <m:oMath xmlns:m="http://schemas.openxmlformats.org/officeDocument/2006/math">
                    <m:sSub>
                      <m:sSubPr>
                        <m:ctrlPr>
                          <a:rPr lang="en-PH" sz="2000" i="1">
                            <a:latin typeface="Cambria Math"/>
                            <a:ea typeface="Verdana"/>
                            <a:cs typeface="Verdana"/>
                          </a:rPr>
                        </m:ctrlPr>
                      </m:sSubPr>
                      <m:e>
                        <m:r>
                          <m:rPr>
                            <m:sty m:val="p"/>
                          </m:rPr>
                          <a:rPr lang="en-US" sz="2000">
                            <a:latin typeface="Cambria Math"/>
                            <a:ea typeface="Verdana"/>
                            <a:cs typeface="Verdana"/>
                          </a:rPr>
                          <m:t>Q</m:t>
                        </m:r>
                      </m:e>
                      <m:sub>
                        <m:r>
                          <a:rPr lang="en-US" sz="2000" i="1">
                            <a:latin typeface="Cambria Math"/>
                            <a:ea typeface="Verdana"/>
                            <a:cs typeface="Verdana"/>
                          </a:rPr>
                          <m:t>1</m:t>
                        </m:r>
                      </m:sub>
                    </m:sSub>
                  </m:oMath>
                </a14:m>
                <a:r>
                  <a:rPr lang="en-US" sz="2000" dirty="0">
                    <a:latin typeface="Verdana" pitchFamily="34" charset="0"/>
                    <a:ea typeface="Verdana" pitchFamily="34" charset="0"/>
                    <a:cs typeface="Verdana"/>
                  </a:rPr>
                  <a:t> to </a:t>
                </a:r>
                <a14:m>
                  <m:oMath xmlns:m="http://schemas.openxmlformats.org/officeDocument/2006/math">
                    <m:sSub>
                      <m:sSubPr>
                        <m:ctrlPr>
                          <a:rPr lang="en-PH" sz="2000" i="1">
                            <a:latin typeface="Cambria Math"/>
                            <a:ea typeface="Verdana"/>
                            <a:cs typeface="Verdana"/>
                          </a:rPr>
                        </m:ctrlPr>
                      </m:sSubPr>
                      <m:e>
                        <m:r>
                          <m:rPr>
                            <m:sty m:val="p"/>
                          </m:rPr>
                          <a:rPr lang="en-US" sz="2000">
                            <a:latin typeface="Cambria Math"/>
                            <a:ea typeface="Verdana"/>
                            <a:cs typeface="Verdana"/>
                          </a:rPr>
                          <m:t>Q</m:t>
                        </m:r>
                      </m:e>
                      <m:sub>
                        <m:r>
                          <a:rPr lang="en-US" sz="2000" i="1">
                            <a:latin typeface="Cambria Math"/>
                            <a:ea typeface="Verdana"/>
                            <a:cs typeface="Verdana"/>
                          </a:rPr>
                          <m:t>3</m:t>
                        </m:r>
                      </m:sub>
                    </m:sSub>
                  </m:oMath>
                </a14:m>
                <a:r>
                  <a:rPr lang="en-US" sz="2000" dirty="0">
                    <a:latin typeface="Verdana" pitchFamily="34" charset="0"/>
                    <a:ea typeface="Verdana" pitchFamily="34" charset="0"/>
                    <a:cs typeface="Verdana"/>
                  </a:rPr>
                  <a:t> with a line inside the box to represent the median.</a:t>
                </a:r>
              </a:p>
              <a:p>
                <a:pPr>
                  <a:spcAft>
                    <a:spcPts val="1200"/>
                  </a:spcAft>
                </a:pPr>
                <a:r>
                  <a:rPr lang="en-US" sz="2000" dirty="0">
                    <a:latin typeface="Verdana" pitchFamily="34" charset="0"/>
                    <a:ea typeface="Verdana" pitchFamily="34" charset="0"/>
                    <a:cs typeface="Verdana"/>
                  </a:rPr>
                  <a:t>Step 4: Connect the minimum and the maximum to each side of the box with a line.</a:t>
                </a:r>
              </a:p>
              <a:p>
                <a:r>
                  <a:rPr lang="en-US" sz="2000" dirty="0">
                    <a:latin typeface="Verdana" pitchFamily="34" charset="0"/>
                    <a:ea typeface="Verdana" pitchFamily="34" charset="0"/>
                    <a:cs typeface="Verdana"/>
                  </a:rPr>
                  <a:t>Step 5: Include a title and a label for the axis.</a:t>
                </a:r>
              </a:p>
              <a:p>
                <a:endParaRPr lang="en-US" sz="2000" dirty="0">
                  <a:latin typeface="Verdana" pitchFamily="34" charset="0"/>
                  <a:ea typeface="Verdana" pitchFamily="34" charset="0"/>
                  <a:cs typeface="Verdana"/>
                </a:endParaRPr>
              </a:p>
              <a:p>
                <a:pPr marL="457200" lvl="3" indent="-457200">
                  <a:buFont typeface="+mj-lt"/>
                  <a:buAutoNum type="arabicPeriod" startAt="2"/>
                </a:pPr>
                <a:r>
                  <a:rPr lang="en-US" sz="2000" dirty="0">
                    <a:latin typeface="Verdana"/>
                    <a:ea typeface="Verdana"/>
                    <a:cs typeface="Verdana"/>
                  </a:rPr>
                  <a:t>Compare your box plots with your partner. Make any revisions if necessary.</a:t>
                </a:r>
                <a:endParaRPr lang="en-PH" sz="2000" dirty="0">
                  <a:latin typeface="Cambria Math"/>
                  <a:ea typeface="Cambria Math"/>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94282" y="383758"/>
                <a:ext cx="10154102" cy="5786199"/>
              </a:xfrm>
              <a:prstGeom prst="rect">
                <a:avLst/>
              </a:prstGeom>
              <a:blipFill rotWithShape="0">
                <a:blip r:embed="rId3"/>
                <a:stretch>
                  <a:fillRect l="-661" t="-632" r="-1081" b="-948"/>
                </a:stretch>
              </a:blipFill>
            </p:spPr>
            <p:txBody>
              <a:bodyPr/>
              <a:lstStyle/>
              <a:p>
                <a:r>
                  <a:rPr lang="en-US">
                    <a:noFill/>
                  </a:rPr>
                  <a:t> </a:t>
                </a:r>
              </a:p>
            </p:txBody>
          </p:sp>
        </mc:Fallback>
      </mc:AlternateContent>
      <p:cxnSp>
        <p:nvCxnSpPr>
          <p:cNvPr id="6" name="Straight Arrow Connector 5"/>
          <p:cNvCxnSpPr/>
          <p:nvPr/>
        </p:nvCxnSpPr>
        <p:spPr>
          <a:xfrm>
            <a:off x="2211333" y="2113018"/>
            <a:ext cx="7920000" cy="0"/>
          </a:xfrm>
          <a:prstGeom prst="straightConnector1">
            <a:avLst/>
          </a:prstGeom>
          <a:noFill/>
          <a:ln w="28575" cap="flat" cmpd="sng">
            <a:solidFill>
              <a:schemeClr val="dk1"/>
            </a:solidFill>
            <a:prstDash val="solid"/>
            <a:miter lim="800000"/>
            <a:headEnd type="triangle" w="med" len="med"/>
            <a:tailEnd type="triangle" w="med" len="med"/>
          </a:ln>
        </p:spPr>
      </p:cxnSp>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995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92826" y="299581"/>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9.9.5 Try It: Creating a Box Plot</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8520" y="19242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1492826" y="1092132"/>
                <a:ext cx="9462380" cy="2754600"/>
              </a:xfrm>
              <a:prstGeom prst="rect">
                <a:avLst/>
              </a:prstGeom>
              <a:noFill/>
            </p:spPr>
            <p:txBody>
              <a:bodyPr wrap="square" rtlCol="0">
                <a:spAutoFit/>
              </a:bodyPr>
              <a:lstStyle/>
              <a:p>
                <a:pPr marL="457200" indent="-457200">
                  <a:buFont typeface="+mj-lt"/>
                  <a:buAutoNum type="arabicPeriod"/>
                </a:pPr>
                <a:r>
                  <a:rPr lang="en-US" sz="2400" dirty="0">
                    <a:latin typeface="Verdana" pitchFamily="34" charset="0"/>
                    <a:ea typeface="Verdana" pitchFamily="34" charset="0"/>
                    <a:cs typeface="Verdana"/>
                  </a:rPr>
                  <a:t>The ages of the </a:t>
                </a:r>
                <a14:m>
                  <m:oMath xmlns:m="http://schemas.openxmlformats.org/officeDocument/2006/math">
                    <m:r>
                      <a:rPr lang="en-US" sz="2400">
                        <a:latin typeface="Cambria Math"/>
                        <a:ea typeface="Verdana"/>
                        <a:cs typeface="Verdana"/>
                      </a:rPr>
                      <m:t>21</m:t>
                    </m:r>
                  </m:oMath>
                </a14:m>
                <a:r>
                  <a:rPr lang="en-US" sz="2400" dirty="0">
                    <a:latin typeface="Verdana" pitchFamily="34" charset="0"/>
                    <a:ea typeface="Verdana" pitchFamily="34" charset="0"/>
                    <a:cs typeface="Verdana"/>
                  </a:rPr>
                  <a:t> restaurant customers who attended a special event at a local restaurant are shown.</a:t>
                </a:r>
              </a:p>
              <a:p>
                <a:pPr marL="228600" algn="ctr"/>
                <a:endParaRPr lang="en-US" sz="2400" dirty="0">
                  <a:latin typeface="Cambria Math"/>
                  <a:ea typeface="Cambria Math"/>
                  <a:cs typeface="Cambria Math"/>
                </a:endParaRPr>
              </a:p>
              <a:p>
                <a:pPr marL="228600" algn="ctr">
                  <a:spcAft>
                    <a:spcPts val="600"/>
                  </a:spcAft>
                </a:pPr>
                <a14:m>
                  <m:oMathPara xmlns:m="http://schemas.openxmlformats.org/officeDocument/2006/math">
                    <m:oMathParaPr>
                      <m:jc m:val="centerGroup"/>
                    </m:oMathParaPr>
                    <m:oMath xmlns:m="http://schemas.openxmlformats.org/officeDocument/2006/math">
                      <m:r>
                        <a:rPr lang="en-US" sz="2400">
                          <a:latin typeface="Cambria Math"/>
                          <a:ea typeface="Cambria Math"/>
                          <a:cs typeface="Cambria Math"/>
                        </a:rPr>
                        <m:t>27, 28, 39, 18, 18, 21, 32, 25, 46, 40, 40, </m:t>
                      </m:r>
                    </m:oMath>
                  </m:oMathPara>
                </a14:m>
                <a:endParaRPr lang="en-PH" sz="2400" dirty="0">
                  <a:latin typeface="Verdana" pitchFamily="34" charset="0"/>
                  <a:ea typeface="Verdana" pitchFamily="34" charset="0"/>
                  <a:cs typeface="Cambria Math"/>
                </a:endParaRPr>
              </a:p>
              <a:p>
                <a:pPr marL="228600" algn="ctr"/>
                <a14:m>
                  <m:oMathPara xmlns:m="http://schemas.openxmlformats.org/officeDocument/2006/math">
                    <m:oMathParaPr>
                      <m:jc m:val="centerGroup"/>
                    </m:oMathParaPr>
                    <m:oMath xmlns:m="http://schemas.openxmlformats.org/officeDocument/2006/math">
                      <m:r>
                        <a:rPr lang="en-US" sz="2400">
                          <a:latin typeface="Cambria Math"/>
                          <a:ea typeface="Cambria Math"/>
                          <a:cs typeface="Cambria Math"/>
                        </a:rPr>
                        <m:t>22, 23, 24, 28, 30, 33, 35, 38, 42, 57</m:t>
                      </m:r>
                    </m:oMath>
                  </m:oMathPara>
                </a14:m>
                <a:endParaRPr lang="en-PH" sz="2400" dirty="0">
                  <a:latin typeface="Verdana" pitchFamily="34" charset="0"/>
                  <a:ea typeface="Verdana" pitchFamily="34" charset="0"/>
                  <a:cs typeface="Cambria Math"/>
                </a:endParaRPr>
              </a:p>
              <a:p>
                <a:r>
                  <a:rPr lang="en-US" sz="2400" i="1" dirty="0">
                    <a:latin typeface="Verdana" pitchFamily="34" charset="0"/>
                    <a:ea typeface="Verdana" pitchFamily="34" charset="0"/>
                    <a:cs typeface="Verdana"/>
                  </a:rPr>
                  <a:t> </a:t>
                </a:r>
                <a:endParaRPr lang="en-PH" sz="2400" dirty="0">
                  <a:latin typeface="Verdana" pitchFamily="34" charset="0"/>
                  <a:ea typeface="Verdana" pitchFamily="34" charset="0"/>
                  <a:cs typeface="Cambria Math"/>
                </a:endParaRPr>
              </a:p>
              <a:p>
                <a:pPr marL="914400" lvl="1" indent="-457200">
                  <a:buFont typeface="+mj-lt"/>
                  <a:buAutoNum type="alphaLcPeriod"/>
                </a:pPr>
                <a:r>
                  <a:rPr lang="en-US" sz="2400" dirty="0">
                    <a:latin typeface="Verdana" pitchFamily="34" charset="0"/>
                    <a:ea typeface="Verdana" pitchFamily="34" charset="0"/>
                    <a:cs typeface="Verdana"/>
                  </a:rPr>
                  <a:t>Determine the five-number summary for the data set.</a:t>
                </a:r>
                <a:endParaRPr lang="en-PH" sz="2400" dirty="0">
                  <a:latin typeface="Verdana" pitchFamily="34" charset="0"/>
                  <a:ea typeface="Verdana" pitchFamily="34" charset="0"/>
                  <a:cs typeface="Cambria Math"/>
                </a:endParaRPr>
              </a:p>
            </p:txBody>
          </p:sp>
        </mc:Choice>
        <mc:Fallback xmlns="">
          <p:sp>
            <p:nvSpPr>
              <p:cNvPr id="10" name="TextBox 9">
                <a:extLst>
                  <a:ext uri="{FF2B5EF4-FFF2-40B4-BE49-F238E27FC236}">
                    <a16:creationId xmlns:a16="http://schemas.microsoft.com/office/drawing/2014/main" xmlns:a14="http://schemas.microsoft.com/office/drawing/2010/main" xmlns="" id="{0AB6A3A1-5A0D-C84F-AC89-57E6782F43E5}"/>
                  </a:ext>
                </a:extLst>
              </p:cNvPr>
              <p:cNvSpPr txBox="1">
                <a:spLocks noRot="1" noChangeAspect="1" noMove="1" noResize="1" noEditPoints="1" noAdjustHandles="1" noChangeArrowheads="1" noChangeShapeType="1" noTextEdit="1"/>
              </p:cNvSpPr>
              <p:nvPr/>
            </p:nvSpPr>
            <p:spPr>
              <a:xfrm>
                <a:off x="1492826" y="1092132"/>
                <a:ext cx="9462380" cy="2754600"/>
              </a:xfrm>
              <a:prstGeom prst="rect">
                <a:avLst/>
              </a:prstGeom>
              <a:blipFill rotWithShape="0">
                <a:blip r:embed="rId4"/>
                <a:stretch>
                  <a:fillRect l="-1031" t="-1991" r="-1031" b="-3982"/>
                </a:stretch>
              </a:blipFill>
            </p:spPr>
            <p:txBody>
              <a:bodyPr/>
              <a:lstStyle/>
              <a:p>
                <a:r>
                  <a:rPr lang="en-US">
                    <a:noFill/>
                  </a:rPr>
                  <a:t> </a:t>
                </a:r>
              </a:p>
            </p:txBody>
          </p:sp>
        </mc:Fallback>
      </mc:AlternateContent>
      <p:sp>
        <p:nvSpPr>
          <p:cNvPr id="12"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34321" y="373249"/>
                <a:ext cx="10274024" cy="830997"/>
              </a:xfrm>
              <a:prstGeom prst="rect">
                <a:avLst/>
              </a:prstGeom>
              <a:noFill/>
            </p:spPr>
            <p:txBody>
              <a:bodyPr wrap="square" rtlCol="0">
                <a:spAutoFit/>
              </a:bodyPr>
              <a:lstStyle/>
              <a:p>
                <a:pPr marL="914400" lvl="1" indent="-457200">
                  <a:buFont typeface="+mj-lt"/>
                  <a:buAutoNum type="alphaLcPeriod" startAt="2"/>
                </a:pPr>
                <a:r>
                  <a:rPr lang="en-US" sz="2400" dirty="0">
                    <a:latin typeface="Verdana" pitchFamily="34" charset="0"/>
                    <a:ea typeface="Verdana" pitchFamily="34" charset="0"/>
                    <a:cs typeface="Verdana"/>
                  </a:rPr>
                  <a:t>Create a box plot using the data and </a:t>
                </a:r>
                <a:br>
                  <a:rPr lang="en-US" sz="2400" dirty="0">
                    <a:latin typeface="Verdana" pitchFamily="34" charset="0"/>
                    <a:ea typeface="Verdana" pitchFamily="34" charset="0"/>
                    <a:cs typeface="Verdana"/>
                  </a:rPr>
                </a:br>
                <a:r>
                  <a:rPr lang="en-US" sz="2400" dirty="0">
                    <a:latin typeface="Verdana" pitchFamily="34" charset="0"/>
                    <a:ea typeface="Verdana" pitchFamily="34" charset="0"/>
                    <a:cs typeface="Verdana"/>
                  </a:rPr>
                  <a:t>five-number summary for the </a:t>
                </a:r>
                <a14:m>
                  <m:oMath xmlns:m="http://schemas.openxmlformats.org/officeDocument/2006/math">
                    <m:r>
                      <a:rPr lang="en-US" sz="2400" i="1">
                        <a:latin typeface="Cambria Math"/>
                        <a:ea typeface="Verdana"/>
                        <a:cs typeface="Verdana"/>
                      </a:rPr>
                      <m:t>21</m:t>
                    </m:r>
                  </m:oMath>
                </a14:m>
                <a:r>
                  <a:rPr lang="en-US" sz="2400" dirty="0">
                    <a:latin typeface="Verdana" pitchFamily="34" charset="0"/>
                    <a:ea typeface="Verdana" pitchFamily="34" charset="0"/>
                    <a:cs typeface="Verdana"/>
                  </a:rPr>
                  <a:t> restaurant customers. </a:t>
                </a:r>
                <a:endParaRPr lang="en-PH" sz="2400"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34321" y="373249"/>
                <a:ext cx="10274024" cy="830997"/>
              </a:xfrm>
              <a:prstGeom prst="rect">
                <a:avLst/>
              </a:prstGeom>
              <a:blipFill rotWithShape="0">
                <a:blip r:embed="rId3"/>
                <a:stretch>
                  <a:fillRect t="-5839" b="-14599"/>
                </a:stretch>
              </a:blipFill>
            </p:spPr>
            <p:txBody>
              <a:bodyPr/>
              <a:lstStyle/>
              <a:p>
                <a:r>
                  <a:rPr lang="en-US">
                    <a:noFill/>
                  </a:rPr>
                  <a:t> </a:t>
                </a:r>
              </a:p>
            </p:txBody>
          </p:sp>
        </mc:Fallback>
      </mc:AlternateContent>
      <p:pic>
        <p:nvPicPr>
          <p:cNvPr id="6" name="Picture 5" descr="Chart, line chart, scatter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2841997" y="1740196"/>
            <a:ext cx="7492904" cy="2531183"/>
          </a:xfrm>
          <a:prstGeom prst="rect">
            <a:avLst/>
          </a:prstGeom>
        </p:spPr>
      </p:pic>
      <p:sp>
        <p:nvSpPr>
          <p:cNvPr id="3" name="Rectangle 2"/>
          <p:cNvSpPr/>
          <p:nvPr/>
        </p:nvSpPr>
        <p:spPr>
          <a:xfrm>
            <a:off x="1034321" y="4271379"/>
            <a:ext cx="10274024" cy="830997"/>
          </a:xfrm>
          <a:prstGeom prst="rect">
            <a:avLst/>
          </a:prstGeom>
        </p:spPr>
        <p:txBody>
          <a:bodyPr wrap="square">
            <a:spAutoFit/>
          </a:bodyPr>
          <a:lstStyle/>
          <a:p>
            <a:pPr marL="914400" lvl="1" indent="-457200">
              <a:buFont typeface="+mj-lt"/>
              <a:buAutoNum type="alphaLcPeriod" startAt="3"/>
            </a:pPr>
            <a:r>
              <a:rPr lang="en-US" sz="2400" dirty="0">
                <a:latin typeface="Verdana"/>
                <a:ea typeface="Verdana"/>
                <a:cs typeface="Verdana"/>
              </a:rPr>
              <a:t>Does the length of each part of the box plot need to be the same?</a:t>
            </a:r>
            <a:endParaRPr lang="en-PH" sz="2400" dirty="0">
              <a:latin typeface="Cambria Math"/>
              <a:ea typeface="Cambria Math"/>
              <a:cs typeface="Cambria Math"/>
            </a:endParaRPr>
          </a:p>
        </p:txBody>
      </p:sp>
      <p:sp>
        <p:nvSpPr>
          <p:cNvPr id="8"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38354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094282" y="373250"/>
                <a:ext cx="10154102" cy="4524315"/>
              </a:xfrm>
              <a:prstGeom prst="rect">
                <a:avLst/>
              </a:prstGeom>
              <a:noFill/>
            </p:spPr>
            <p:txBody>
              <a:bodyPr wrap="square" rtlCol="0">
                <a:spAutoFit/>
              </a:bodyPr>
              <a:lstStyle/>
              <a:p>
                <a:pPr marL="914400" lvl="1" indent="-457200">
                  <a:buFont typeface="+mj-lt"/>
                  <a:buAutoNum type="alphaLcPeriod" startAt="4"/>
                </a:pPr>
                <a:r>
                  <a:rPr lang="en-US" sz="2400" dirty="0">
                    <a:latin typeface="Verdana" pitchFamily="34" charset="0"/>
                    <a:ea typeface="Verdana" pitchFamily="34" charset="0"/>
                    <a:cs typeface="Verdana"/>
                  </a:rPr>
                  <a:t>Why is the actual length of each part not equal, even though they each represent </a:t>
                </a:r>
                <a14:m>
                  <m:oMath xmlns:m="http://schemas.openxmlformats.org/officeDocument/2006/math">
                    <m:r>
                      <a:rPr lang="en-US" sz="2400" i="1" dirty="0">
                        <a:latin typeface="Cambria Math"/>
                        <a:ea typeface="Verdana" pitchFamily="34" charset="0"/>
                        <a:cs typeface="Verdana"/>
                      </a:rPr>
                      <m:t>25%</m:t>
                    </m:r>
                  </m:oMath>
                </a14:m>
                <a:r>
                  <a:rPr lang="en-US" sz="2400" dirty="0">
                    <a:latin typeface="Verdana" pitchFamily="34" charset="0"/>
                    <a:ea typeface="Verdana" pitchFamily="34" charset="0"/>
                    <a:cs typeface="Verdana"/>
                  </a:rPr>
                  <a:t> of the data?</a:t>
                </a: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r>
                  <a:rPr lang="en-US" sz="2400" dirty="0">
                    <a:latin typeface="Verdana" pitchFamily="34" charset="0"/>
                    <a:ea typeface="Verdana" pitchFamily="34" charset="0"/>
                    <a:cs typeface="Verdana"/>
                  </a:rPr>
                  <a:t>What is the interquartile range for the data?</a:t>
                </a: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endParaRPr lang="en-US" sz="2400" dirty="0">
                  <a:latin typeface="Verdana" pitchFamily="34" charset="0"/>
                  <a:ea typeface="Verdana" pitchFamily="34" charset="0"/>
                  <a:cs typeface="Verdana"/>
                </a:endParaRPr>
              </a:p>
              <a:p>
                <a:pPr marL="914400" lvl="1" indent="-457200">
                  <a:buFont typeface="+mj-lt"/>
                  <a:buAutoNum type="alphaLcPeriod" startAt="4"/>
                </a:pPr>
                <a:r>
                  <a:rPr lang="en-US" sz="2400" dirty="0">
                    <a:latin typeface="Verdana" pitchFamily="34" charset="0"/>
                    <a:ea typeface="Verdana" pitchFamily="34" charset="0"/>
                    <a:cs typeface="Verdana"/>
                  </a:rPr>
                  <a:t>What is the range?</a:t>
                </a:r>
                <a:endParaRPr lang="en-PH" sz="2400"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094282" y="373250"/>
                <a:ext cx="10154102" cy="4524315"/>
              </a:xfrm>
              <a:prstGeom prst="rect">
                <a:avLst/>
              </a:prstGeom>
              <a:blipFill rotWithShape="0">
                <a:blip r:embed="rId3"/>
                <a:stretch>
                  <a:fillRect t="-1078" b="-2156"/>
                </a:stretch>
              </a:blipFill>
            </p:spPr>
            <p:txBody>
              <a:bodyPr/>
              <a:lstStyle/>
              <a:p>
                <a:r>
                  <a:rPr lang="en-US">
                    <a:noFill/>
                  </a:rPr>
                  <a:t> </a:t>
                </a:r>
              </a:p>
            </p:txBody>
          </p:sp>
        </mc:Fallback>
      </mc:AlternateContent>
      <p:sp>
        <p:nvSpPr>
          <p:cNvPr id="7"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21745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560479" y="123025"/>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E24E5F"/>
                </a:solidFill>
                <a:latin typeface="Verdana"/>
                <a:ea typeface="Verdana"/>
                <a:cs typeface="Verdana"/>
                <a:sym typeface="Verdana"/>
              </a:rPr>
              <a:t>9.9.6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813179" y="1230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759C3E41-93EC-B84D-963F-86A3B15AC1C6}"/>
              </a:ext>
            </a:extLst>
          </p:cNvPr>
          <p:cNvSpPr txBox="1"/>
          <p:nvPr/>
        </p:nvSpPr>
        <p:spPr>
          <a:xfrm>
            <a:off x="1420014" y="1099545"/>
            <a:ext cx="9608004" cy="1055354"/>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Tom Brady is considered by most to be one of the best NFL quarterbacks of all time. The five-number summary for his pass-completion percentages from 2000 to 2009 is shown.</a:t>
            </a:r>
            <a:endParaRPr lang="en-PH" sz="1800"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598432940"/>
                  </p:ext>
                </p:extLst>
              </p:nvPr>
            </p:nvGraphicFramePr>
            <p:xfrm>
              <a:off x="2637374" y="2295336"/>
              <a:ext cx="7596000" cy="1008000"/>
            </p:xfrm>
            <a:graphic>
              <a:graphicData uri="http://schemas.openxmlformats.org/drawingml/2006/table">
                <a:tbl>
                  <a:tblPr firstRow="1" firstCol="1" bandRow="1"/>
                  <a:tblGrid>
                    <a:gridCol w="180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gridCol w="1332000">
                      <a:extLst>
                        <a:ext uri="{9D8B030D-6E8A-4147-A177-3AD203B41FA5}">
                          <a16:colId xmlns:a16="http://schemas.microsoft.com/office/drawing/2014/main" xmlns="" val="20002"/>
                        </a:ext>
                      </a:extLst>
                    </a:gridCol>
                    <a:gridCol w="1332000">
                      <a:extLst>
                        <a:ext uri="{9D8B030D-6E8A-4147-A177-3AD203B41FA5}">
                          <a16:colId xmlns:a16="http://schemas.microsoft.com/office/drawing/2014/main" xmlns="" val="20003"/>
                        </a:ext>
                      </a:extLst>
                    </a:gridCol>
                    <a:gridCol w="1332000">
                      <a:extLst>
                        <a:ext uri="{9D8B030D-6E8A-4147-A177-3AD203B41FA5}">
                          <a16:colId xmlns:a16="http://schemas.microsoft.com/office/drawing/2014/main" xmlns="" val="20004"/>
                        </a:ext>
                      </a:extLst>
                    </a:gridCol>
                  </a:tblGrid>
                  <a:tr h="468000">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Minimum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Maximum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PH" sz="2000" b="1" i="1">
                                        <a:solidFill>
                                          <a:srgbClr val="000000"/>
                                        </a:solidFill>
                                        <a:effectLst/>
                                        <a:latin typeface="Cambria Math"/>
                                        <a:ea typeface="Verdana"/>
                                        <a:cs typeface="Verdana"/>
                                      </a:rPr>
                                    </m:ctrlPr>
                                  </m:sSubPr>
                                  <m:e>
                                    <m:r>
                                      <a:rPr lang="en-US" sz="2000" b="1" i="1">
                                        <a:solidFill>
                                          <a:srgbClr val="000000"/>
                                        </a:solidFill>
                                        <a:effectLst/>
                                        <a:latin typeface="Cambria Math"/>
                                        <a:ea typeface="Verdana"/>
                                        <a:cs typeface="Verdana"/>
                                      </a:rPr>
                                      <m:t>𝐐</m:t>
                                    </m:r>
                                  </m:e>
                                  <m:sub>
                                    <m:r>
                                      <a:rPr lang="en-US" sz="2000" b="1" i="1">
                                        <a:solidFill>
                                          <a:srgbClr val="000000"/>
                                        </a:solidFill>
                                        <a:effectLst/>
                                        <a:latin typeface="Cambria Math"/>
                                        <a:ea typeface="Verdana"/>
                                        <a:cs typeface="Verdana"/>
                                      </a:rPr>
                                      <m:t>𝟏</m:t>
                                    </m:r>
                                  </m:sub>
                                </m:sSub>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PH" sz="2000" b="1" i="1">
                                        <a:solidFill>
                                          <a:srgbClr val="000000"/>
                                        </a:solidFill>
                                        <a:effectLst/>
                                        <a:latin typeface="Cambria Math"/>
                                        <a:ea typeface="Verdana"/>
                                        <a:cs typeface="Verdana"/>
                                      </a:rPr>
                                    </m:ctrlPr>
                                  </m:sSubPr>
                                  <m:e>
                                    <m:r>
                                      <a:rPr lang="en-US" sz="2000" b="1" i="1">
                                        <a:solidFill>
                                          <a:srgbClr val="000000"/>
                                        </a:solidFill>
                                        <a:effectLst/>
                                        <a:latin typeface="Cambria Math"/>
                                        <a:ea typeface="Verdana"/>
                                        <a:cs typeface="Verdana"/>
                                      </a:rPr>
                                      <m:t>𝐐</m:t>
                                    </m:r>
                                  </m:e>
                                  <m:sub>
                                    <m:r>
                                      <a:rPr lang="en-US" sz="2000" b="1" i="1">
                                        <a:solidFill>
                                          <a:srgbClr val="000000"/>
                                        </a:solidFill>
                                        <a:effectLst/>
                                        <a:latin typeface="Cambria Math"/>
                                        <a:ea typeface="Verdana"/>
                                        <a:cs typeface="Verdana"/>
                                      </a:rPr>
                                      <m:t>𝟑</m:t>
                                    </m:r>
                                  </m:sub>
                                </m:sSub>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Median</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540000">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60.2</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68.9</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61.8</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65.7</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63.3</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598432940"/>
                  </p:ext>
                </p:extLst>
              </p:nvPr>
            </p:nvGraphicFramePr>
            <p:xfrm>
              <a:off x="1113374" y="2295336"/>
              <a:ext cx="7596000" cy="1008000"/>
            </p:xfrm>
            <a:graphic>
              <a:graphicData uri="http://schemas.openxmlformats.org/drawingml/2006/table">
                <a:tbl>
                  <a:tblPr firstRow="1" firstCol="1" bandRow="1"/>
                  <a:tblGrid>
                    <a:gridCol w="1800000"/>
                    <a:gridCol w="1800000"/>
                    <a:gridCol w="1332000"/>
                    <a:gridCol w="1332000"/>
                    <a:gridCol w="1332000"/>
                  </a:tblGrid>
                  <a:tr h="468000">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Minimum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Maximum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71560" t="-1299" r="-200459" b="-1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69863" t="-1299" r="-99543" b="-114286"/>
                          </a:stretch>
                        </a:blip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Median</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39" t="-88636" r="-32237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00000" t="-88636" r="-22128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271560" t="-88636" r="-20045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369863" t="-88636" r="-99543"/>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472018" t="-88636"/>
                          </a:stretch>
                        </a:blipFill>
                      </a:tcPr>
                    </a:tc>
                  </a:tr>
                </a:tbl>
              </a:graphicData>
            </a:graphic>
          </p:graphicFrame>
        </mc:Fallback>
      </mc:AlternateContent>
      <p:sp>
        <p:nvSpPr>
          <p:cNvPr id="5" name="Rectangle 4"/>
          <p:cNvSpPr/>
          <p:nvPr/>
        </p:nvSpPr>
        <p:spPr>
          <a:xfrm>
            <a:off x="1424067" y="3620718"/>
            <a:ext cx="9547216" cy="1323439"/>
          </a:xfrm>
          <a:prstGeom prst="rect">
            <a:avLst/>
          </a:prstGeom>
        </p:spPr>
        <p:txBody>
          <a:bodyPr wrap="square">
            <a:spAutoFit/>
          </a:bodyPr>
          <a:lstStyle/>
          <a:p>
            <a:pPr marL="889000" indent="-457200">
              <a:buFont typeface="+mj-lt"/>
              <a:buAutoNum type="alphaLcPeriod"/>
            </a:pPr>
            <a:r>
              <a:rPr lang="en-US" sz="2000" dirty="0">
                <a:latin typeface="Verdana"/>
                <a:ea typeface="Verdana"/>
                <a:cs typeface="Verdana"/>
              </a:rPr>
              <a:t>Discuss with your partner why the data used to determine the five-number summary for Tom Brady’s pass completion is more truthful than the data for golden retriever puppies, or the ages of the restaurant customers who attended a special event.</a:t>
            </a:r>
          </a:p>
        </p:txBody>
      </p:sp>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94</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199213" y="373249"/>
            <a:ext cx="9944240" cy="707886"/>
          </a:xfrm>
          <a:prstGeom prst="rect">
            <a:avLst/>
          </a:prstGeom>
          <a:noFill/>
        </p:spPr>
        <p:txBody>
          <a:bodyPr wrap="square" rtlCol="0">
            <a:spAutoFit/>
          </a:bodyPr>
          <a:lstStyle/>
          <a:p>
            <a:pPr marL="889000" indent="-457200">
              <a:buFont typeface="+mj-lt"/>
              <a:buAutoNum type="alphaLcPeriod" startAt="2"/>
            </a:pPr>
            <a:r>
              <a:rPr lang="en-US" sz="2000" dirty="0">
                <a:latin typeface="Verdana"/>
                <a:ea typeface="Verdana"/>
                <a:cs typeface="Verdana"/>
              </a:rPr>
              <a:t>Use the five-number summary to draw and label a box plot of the data set.</a:t>
            </a:r>
            <a:endParaRPr lang="en-PH" sz="2000" dirty="0">
              <a:latin typeface="Cambria Math"/>
              <a:ea typeface="Cambria Math"/>
              <a:cs typeface="Cambria Math"/>
            </a:endParaRPr>
          </a:p>
        </p:txBody>
      </p:sp>
      <p:sp>
        <p:nvSpPr>
          <p:cNvPr id="3" name="Rectangle 2"/>
          <p:cNvSpPr/>
          <p:nvPr/>
        </p:nvSpPr>
        <p:spPr>
          <a:xfrm>
            <a:off x="2048811" y="2576118"/>
            <a:ext cx="8670930" cy="421654"/>
          </a:xfrm>
          <a:prstGeom prst="rect">
            <a:avLst/>
          </a:prstGeom>
        </p:spPr>
        <p:txBody>
          <a:bodyPr wrap="square">
            <a:spAutoFit/>
          </a:bodyPr>
          <a:lstStyle/>
          <a:p>
            <a:pPr algn="ctr">
              <a:lnSpc>
                <a:spcPct val="107000"/>
              </a:lnSpc>
            </a:pPr>
            <a:r>
              <a:rPr lang="en-US" sz="2000" b="1" dirty="0">
                <a:latin typeface="Verdana" pitchFamily="34" charset="0"/>
                <a:ea typeface="Verdana" pitchFamily="34" charset="0"/>
                <a:cs typeface="Verdana"/>
              </a:rPr>
              <a:t>Tom Brady’s Completion Percentages 2000-2009</a:t>
            </a:r>
            <a:r>
              <a:rPr lang="en-US" sz="2000" dirty="0">
                <a:latin typeface="Verdana" pitchFamily="34" charset="0"/>
                <a:ea typeface="Verdana" pitchFamily="34" charset="0"/>
                <a:cs typeface="Cambria Math"/>
              </a:rPr>
              <a:t> </a:t>
            </a:r>
            <a:endParaRPr lang="en-PH" sz="2000" dirty="0">
              <a:latin typeface="Verdana" pitchFamily="34" charset="0"/>
              <a:ea typeface="Verdana" pitchFamily="34" charset="0"/>
              <a:cs typeface="Cambria Math"/>
            </a:endParaRPr>
          </a:p>
        </p:txBody>
      </p:sp>
      <p:pic>
        <p:nvPicPr>
          <p:cNvPr id="8" name="Picture 7" descr="Chart, scatter chart&#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2715578" y="4650918"/>
            <a:ext cx="7337399" cy="738771"/>
          </a:xfrm>
          <a:prstGeom prst="rect">
            <a:avLst/>
          </a:prstGeom>
          <a:ln>
            <a:noFill/>
          </a:ln>
          <a:extLst>
            <a:ext uri="{53640926-AAD7-44D8-BBD7-CCE9431645EC}">
              <a14:shadowObscured xmlns:a14="http://schemas.microsoft.com/office/drawing/2010/main"/>
            </a:ext>
          </a:extLst>
        </p:spPr>
      </p:pic>
      <p:sp>
        <p:nvSpPr>
          <p:cNvPr id="5" name="Rectangle 4"/>
          <p:cNvSpPr/>
          <p:nvPr/>
        </p:nvSpPr>
        <p:spPr>
          <a:xfrm>
            <a:off x="1199213" y="5336064"/>
            <a:ext cx="9944240" cy="707886"/>
          </a:xfrm>
          <a:prstGeom prst="rect">
            <a:avLst/>
          </a:prstGeom>
        </p:spPr>
        <p:txBody>
          <a:bodyPr wrap="square">
            <a:spAutoFit/>
          </a:bodyPr>
          <a:lstStyle/>
          <a:p>
            <a:pPr marL="889000" indent="-457200">
              <a:buFont typeface="+mj-lt"/>
              <a:buAutoNum type="alphaLcPeriod" startAt="3"/>
            </a:pPr>
            <a:r>
              <a:rPr lang="en-US" sz="2000" dirty="0">
                <a:latin typeface="Verdana"/>
                <a:ea typeface="Verdana"/>
                <a:cs typeface="Verdana"/>
              </a:rPr>
              <a:t>Determine an alternative scale that could be used to make the box plot.</a:t>
            </a:r>
            <a:endParaRPr lang="en-PH" sz="2000"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xmlns="" id="{0469E27B-3116-4B89-A31F-74A67A4638F2}"/>
                  </a:ext>
                </a:extLst>
              </p:cNvPr>
              <p:cNvGraphicFramePr>
                <a:graphicFrameLocks noGrp="1"/>
              </p:cNvGraphicFramePr>
              <p:nvPr>
                <p:extLst>
                  <p:ext uri="{D42A27DB-BD31-4B8C-83A1-F6EECF244321}">
                    <p14:modId xmlns:p14="http://schemas.microsoft.com/office/powerpoint/2010/main" val="3111229152"/>
                  </p:ext>
                </p:extLst>
              </p:nvPr>
            </p:nvGraphicFramePr>
            <p:xfrm>
              <a:off x="2456976" y="1287175"/>
              <a:ext cx="7596000" cy="1008000"/>
            </p:xfrm>
            <a:graphic>
              <a:graphicData uri="http://schemas.openxmlformats.org/drawingml/2006/table">
                <a:tbl>
                  <a:tblPr firstRow="1" firstCol="1" bandRow="1"/>
                  <a:tblGrid>
                    <a:gridCol w="180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gridCol w="1332000">
                      <a:extLst>
                        <a:ext uri="{9D8B030D-6E8A-4147-A177-3AD203B41FA5}">
                          <a16:colId xmlns:a16="http://schemas.microsoft.com/office/drawing/2014/main" xmlns="" val="20002"/>
                        </a:ext>
                      </a:extLst>
                    </a:gridCol>
                    <a:gridCol w="1332000">
                      <a:extLst>
                        <a:ext uri="{9D8B030D-6E8A-4147-A177-3AD203B41FA5}">
                          <a16:colId xmlns:a16="http://schemas.microsoft.com/office/drawing/2014/main" xmlns="" val="20003"/>
                        </a:ext>
                      </a:extLst>
                    </a:gridCol>
                    <a:gridCol w="1332000">
                      <a:extLst>
                        <a:ext uri="{9D8B030D-6E8A-4147-A177-3AD203B41FA5}">
                          <a16:colId xmlns:a16="http://schemas.microsoft.com/office/drawing/2014/main" xmlns="" val="20004"/>
                        </a:ext>
                      </a:extLst>
                    </a:gridCol>
                  </a:tblGrid>
                  <a:tr h="468000">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Minimum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Maximum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PH" sz="2000" b="1" i="1">
                                        <a:solidFill>
                                          <a:srgbClr val="000000"/>
                                        </a:solidFill>
                                        <a:effectLst/>
                                        <a:latin typeface="Cambria Math"/>
                                        <a:ea typeface="Verdana"/>
                                        <a:cs typeface="Verdana"/>
                                      </a:rPr>
                                    </m:ctrlPr>
                                  </m:sSubPr>
                                  <m:e>
                                    <m:r>
                                      <a:rPr lang="en-US" sz="2000" b="1" i="1">
                                        <a:solidFill>
                                          <a:srgbClr val="000000"/>
                                        </a:solidFill>
                                        <a:effectLst/>
                                        <a:latin typeface="Cambria Math"/>
                                        <a:ea typeface="Verdana"/>
                                        <a:cs typeface="Verdana"/>
                                      </a:rPr>
                                      <m:t>𝐐</m:t>
                                    </m:r>
                                  </m:e>
                                  <m:sub>
                                    <m:r>
                                      <a:rPr lang="en-US" sz="2000" b="1" i="1">
                                        <a:solidFill>
                                          <a:srgbClr val="000000"/>
                                        </a:solidFill>
                                        <a:effectLst/>
                                        <a:latin typeface="Cambria Math"/>
                                        <a:ea typeface="Verdana"/>
                                        <a:cs typeface="Verdana"/>
                                      </a:rPr>
                                      <m:t>𝟏</m:t>
                                    </m:r>
                                  </m:sub>
                                </m:sSub>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sSub>
                                  <m:sSubPr>
                                    <m:ctrlPr>
                                      <a:rPr lang="en-PH" sz="2000" b="1" i="1">
                                        <a:solidFill>
                                          <a:srgbClr val="000000"/>
                                        </a:solidFill>
                                        <a:effectLst/>
                                        <a:latin typeface="Cambria Math"/>
                                        <a:ea typeface="Verdana"/>
                                        <a:cs typeface="Verdana"/>
                                      </a:rPr>
                                    </m:ctrlPr>
                                  </m:sSubPr>
                                  <m:e>
                                    <m:r>
                                      <a:rPr lang="en-US" sz="2000" b="1" i="1">
                                        <a:solidFill>
                                          <a:srgbClr val="000000"/>
                                        </a:solidFill>
                                        <a:effectLst/>
                                        <a:latin typeface="Cambria Math"/>
                                        <a:ea typeface="Verdana"/>
                                        <a:cs typeface="Verdana"/>
                                      </a:rPr>
                                      <m:t>𝐐</m:t>
                                    </m:r>
                                  </m:e>
                                  <m:sub>
                                    <m:r>
                                      <a:rPr lang="en-US" sz="2000" b="1" i="1">
                                        <a:solidFill>
                                          <a:srgbClr val="000000"/>
                                        </a:solidFill>
                                        <a:effectLst/>
                                        <a:latin typeface="Cambria Math"/>
                                        <a:ea typeface="Verdana"/>
                                        <a:cs typeface="Verdana"/>
                                      </a:rPr>
                                      <m:t>𝟑</m:t>
                                    </m:r>
                                  </m:sub>
                                </m:sSub>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Median</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540000">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60.2</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68.9</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61.8</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65.7</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a:solidFill>
                                      <a:srgbClr val="000000"/>
                                    </a:solidFill>
                                    <a:effectLst/>
                                    <a:latin typeface="Cambria Math"/>
                                    <a:ea typeface="Verdana"/>
                                    <a:cs typeface="Verdana"/>
                                  </a:rPr>
                                  <m:t>63.3</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9" name="Table 8">
                <a:extLst>
                  <a:ext uri="{FF2B5EF4-FFF2-40B4-BE49-F238E27FC236}">
                    <a16:creationId xmlns:a16="http://schemas.microsoft.com/office/drawing/2014/main" id="{0469E27B-3116-4B89-A31F-74A67A4638F2}"/>
                  </a:ext>
                </a:extLst>
              </p:cNvPr>
              <p:cNvGraphicFramePr>
                <a:graphicFrameLocks noGrp="1"/>
              </p:cNvGraphicFramePr>
              <p:nvPr>
                <p:extLst>
                  <p:ext uri="{D42A27DB-BD31-4B8C-83A1-F6EECF244321}">
                    <p14:modId xmlns:p14="http://schemas.microsoft.com/office/powerpoint/2010/main" val="3111229152"/>
                  </p:ext>
                </p:extLst>
              </p:nvPr>
            </p:nvGraphicFramePr>
            <p:xfrm>
              <a:off x="932976" y="1287175"/>
              <a:ext cx="7596000" cy="1008000"/>
            </p:xfrm>
            <a:graphic>
              <a:graphicData uri="http://schemas.openxmlformats.org/drawingml/2006/table">
                <a:tbl>
                  <a:tblPr firstRow="1" firstCol="1" bandRow="1"/>
                  <a:tblGrid>
                    <a:gridCol w="18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332000">
                      <a:extLst>
                        <a:ext uri="{9D8B030D-6E8A-4147-A177-3AD203B41FA5}">
                          <a16:colId xmlns:a16="http://schemas.microsoft.com/office/drawing/2014/main" val="20002"/>
                        </a:ext>
                      </a:extLst>
                    </a:gridCol>
                    <a:gridCol w="1332000">
                      <a:extLst>
                        <a:ext uri="{9D8B030D-6E8A-4147-A177-3AD203B41FA5}">
                          <a16:colId xmlns:a16="http://schemas.microsoft.com/office/drawing/2014/main" val="20003"/>
                        </a:ext>
                      </a:extLst>
                    </a:gridCol>
                    <a:gridCol w="1332000">
                      <a:extLst>
                        <a:ext uri="{9D8B030D-6E8A-4147-A177-3AD203B41FA5}">
                          <a16:colId xmlns:a16="http://schemas.microsoft.com/office/drawing/2014/main" val="20004"/>
                        </a:ext>
                      </a:extLst>
                    </a:gridCol>
                  </a:tblGrid>
                  <a:tr h="468000">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Minimum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Maximum</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70776" t="-2597" r="-200913" b="-11948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72477" t="-2597" r="-101835" b="-119481"/>
                          </a:stretch>
                        </a:blipFill>
                      </a:tcPr>
                    </a:tc>
                    <a:tc>
                      <a:txBody>
                        <a:bodyPr/>
                        <a:lstStyle/>
                        <a:p>
                          <a:pPr algn="ctr">
                            <a:lnSpc>
                              <a:spcPct val="100000"/>
                            </a:lnSpc>
                            <a:spcAft>
                              <a:spcPts val="0"/>
                            </a:spcAft>
                          </a:pPr>
                          <a:r>
                            <a:rPr lang="en-US" sz="2000" b="1" dirty="0">
                              <a:solidFill>
                                <a:srgbClr val="000000"/>
                              </a:solidFill>
                              <a:effectLst/>
                              <a:latin typeface="Verdana" pitchFamily="34" charset="0"/>
                              <a:ea typeface="Verdana" pitchFamily="34" charset="0"/>
                              <a:cs typeface="Verdana"/>
                            </a:rPr>
                            <a:t>Median</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678" t="-88764" r="-323729" b="-337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38" t="-88764" r="-222635" b="-337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70776" t="-88764" r="-200913" b="-337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72477" t="-88764" r="-101835" b="-337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70320" t="-88764" r="-1370" b="-3371"/>
                          </a:stretch>
                        </a:blipFill>
                      </a:tcPr>
                    </a:tc>
                    <a:extLst>
                      <a:ext uri="{0D108BD9-81ED-4DB2-BD59-A6C34878D82A}">
                        <a16:rowId xmlns:a16="http://schemas.microsoft.com/office/drawing/2014/main" val="10001"/>
                      </a:ext>
                    </a:extLst>
                  </a:tr>
                </a:tbl>
              </a:graphicData>
            </a:graphic>
          </p:graphicFrame>
        </mc:Fallback>
      </mc:AlternateContent>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94</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46860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334125" y="456569"/>
                <a:ext cx="9674416" cy="1938992"/>
              </a:xfrm>
              <a:prstGeom prst="rect">
                <a:avLst/>
              </a:prstGeom>
              <a:noFill/>
            </p:spPr>
            <p:txBody>
              <a:bodyPr wrap="square" rtlCol="0">
                <a:spAutoFit/>
              </a:bodyPr>
              <a:lstStyle/>
              <a:p>
                <a:pPr marL="889000" indent="-457200">
                  <a:buFont typeface="+mj-lt"/>
                  <a:buAutoNum type="alphaLcPeriod" startAt="4"/>
                </a:pPr>
                <a:r>
                  <a:rPr lang="en-US" sz="2000" dirty="0">
                    <a:latin typeface="Verdana" pitchFamily="34" charset="0"/>
                    <a:ea typeface="Verdana" pitchFamily="34" charset="0"/>
                    <a:cs typeface="Verdana"/>
                  </a:rPr>
                  <a:t>What scale would you use if the data values ranged from </a:t>
                </a:r>
                <a14:m>
                  <m:oMath xmlns:m="http://schemas.openxmlformats.org/officeDocument/2006/math">
                    <m:r>
                      <a:rPr lang="en-US" sz="2000" i="1">
                        <a:latin typeface="Cambria Math"/>
                        <a:ea typeface="Verdana"/>
                        <a:cs typeface="Verdana"/>
                      </a:rPr>
                      <m:t>10.3</m:t>
                    </m:r>
                  </m:oMath>
                </a14:m>
                <a:r>
                  <a:rPr lang="en-US" sz="2000" dirty="0">
                    <a:latin typeface="Verdana" pitchFamily="34" charset="0"/>
                    <a:ea typeface="Verdana" pitchFamily="34" charset="0"/>
                    <a:cs typeface="Verdana"/>
                  </a:rPr>
                  <a:t> to </a:t>
                </a:r>
                <a14:m>
                  <m:oMath xmlns:m="http://schemas.openxmlformats.org/officeDocument/2006/math">
                    <m:r>
                      <a:rPr lang="en-US" sz="2000" i="1">
                        <a:latin typeface="Cambria Math"/>
                        <a:ea typeface="Verdana"/>
                        <a:cs typeface="Verdana"/>
                      </a:rPr>
                      <m:t>48.4</m:t>
                    </m:r>
                  </m:oMath>
                </a14:m>
                <a:r>
                  <a:rPr lang="en-US" sz="2000" dirty="0">
                    <a:latin typeface="Verdana" pitchFamily="34" charset="0"/>
                    <a:ea typeface="Verdana" pitchFamily="34" charset="0"/>
                    <a:cs typeface="Verdana"/>
                  </a:rPr>
                  <a:t>?</a:t>
                </a:r>
              </a:p>
              <a:p>
                <a:pPr marL="889000" indent="-457200">
                  <a:buFont typeface="+mj-lt"/>
                  <a:buAutoNum type="alphaLcPeriod" startAt="4"/>
                </a:pPr>
                <a:endParaRPr lang="en-US" sz="2000" dirty="0">
                  <a:latin typeface="Verdana" pitchFamily="34" charset="0"/>
                  <a:ea typeface="Verdana" pitchFamily="34" charset="0"/>
                  <a:cs typeface="Verdana"/>
                </a:endParaRPr>
              </a:p>
              <a:p>
                <a:pPr marL="889000" indent="-457200">
                  <a:buFont typeface="+mj-lt"/>
                  <a:buAutoNum type="alphaLcPeriod" startAt="4"/>
                </a:pPr>
                <a:endParaRPr lang="en-US" sz="2000" dirty="0">
                  <a:latin typeface="Verdana" pitchFamily="34" charset="0"/>
                  <a:ea typeface="Verdana" pitchFamily="34" charset="0"/>
                  <a:cs typeface="Verdana"/>
                </a:endParaRPr>
              </a:p>
              <a:p>
                <a:pPr marL="889000" indent="-457200">
                  <a:buFont typeface="+mj-lt"/>
                  <a:buAutoNum type="alphaLcPeriod" startAt="4"/>
                </a:pPr>
                <a:r>
                  <a:rPr lang="en-US" sz="2000" dirty="0">
                    <a:latin typeface="Verdana" pitchFamily="34" charset="0"/>
                    <a:ea typeface="Verdana" pitchFamily="34" charset="0"/>
                    <a:cs typeface="Verdana"/>
                  </a:rPr>
                  <a:t>Label the number line with your scale from Part D. Then, compare it with your partner. </a:t>
                </a:r>
                <a:endParaRPr lang="en-PH" sz="2000"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334125" y="456569"/>
                <a:ext cx="9674416" cy="1938992"/>
              </a:xfrm>
              <a:prstGeom prst="rect">
                <a:avLst/>
              </a:prstGeom>
              <a:blipFill rotWithShape="0">
                <a:blip r:embed="rId3"/>
                <a:stretch>
                  <a:fillRect t="-2201" r="-189" b="-4717"/>
                </a:stretch>
              </a:blipFill>
            </p:spPr>
            <p:txBody>
              <a:bodyPr/>
              <a:lstStyle/>
              <a:p>
                <a:r>
                  <a:rPr lang="en-US">
                    <a:noFill/>
                  </a:rPr>
                  <a:t> </a:t>
                </a:r>
              </a:p>
            </p:txBody>
          </p:sp>
        </mc:Fallback>
      </mc:AlternateContent>
      <p:pic>
        <p:nvPicPr>
          <p:cNvPr id="6" name="Picture 5" descr="Shape, rectangle&#10;&#10;Description automatically generated"/>
          <p:cNvPicPr/>
          <p:nvPr/>
        </p:nvPicPr>
        <p:blipFill rotWithShape="1">
          <a:blip r:embed="rId4" cstate="screen">
            <a:extLst>
              <a:ext uri="{28A0092B-C50C-407E-A947-70E740481C1C}">
                <a14:useLocalDpi xmlns:a14="http://schemas.microsoft.com/office/drawing/2010/main"/>
              </a:ext>
            </a:extLst>
          </a:blip>
          <a:srcRect/>
          <a:stretch/>
        </p:blipFill>
        <p:spPr bwMode="auto">
          <a:xfrm>
            <a:off x="2999310" y="2322218"/>
            <a:ext cx="7468993" cy="955463"/>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xmlns="" id="{2FA392D8-3ED3-7940-83A8-1451AA8A08D4}"/>
              </a:ext>
            </a:extLst>
          </p:cNvPr>
          <p:cNvSpPr txBox="1"/>
          <p:nvPr/>
        </p:nvSpPr>
        <p:spPr>
          <a:xfrm>
            <a:off x="1334125" y="3600953"/>
            <a:ext cx="9674416" cy="726033"/>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Tom Brady’s pass-completion percentages from 2009 to 2019 are listed in the table.</a:t>
            </a:r>
            <a:endParaRPr lang="en-PH" sz="1800"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997755047"/>
                  </p:ext>
                </p:extLst>
              </p:nvPr>
            </p:nvGraphicFramePr>
            <p:xfrm>
              <a:off x="2548594" y="4326986"/>
              <a:ext cx="7560000" cy="1872000"/>
            </p:xfrm>
            <a:graphic>
              <a:graphicData uri="http://schemas.openxmlformats.org/drawingml/2006/table">
                <a:tbl>
                  <a:tblPr bandRow="1"/>
                  <a:tblGrid>
                    <a:gridCol w="1080000">
                      <a:extLst>
                        <a:ext uri="{9D8B030D-6E8A-4147-A177-3AD203B41FA5}">
                          <a16:colId xmlns:a16="http://schemas.microsoft.com/office/drawing/2014/main" xmlns="" val="20000"/>
                        </a:ext>
                      </a:extLst>
                    </a:gridCol>
                    <a:gridCol w="1080000">
                      <a:extLst>
                        <a:ext uri="{9D8B030D-6E8A-4147-A177-3AD203B41FA5}">
                          <a16:colId xmlns:a16="http://schemas.microsoft.com/office/drawing/2014/main" xmlns="" val="20001"/>
                        </a:ext>
                      </a:extLst>
                    </a:gridCol>
                    <a:gridCol w="1080000">
                      <a:extLst>
                        <a:ext uri="{9D8B030D-6E8A-4147-A177-3AD203B41FA5}">
                          <a16:colId xmlns:a16="http://schemas.microsoft.com/office/drawing/2014/main" xmlns="" val="20002"/>
                        </a:ext>
                      </a:extLst>
                    </a:gridCol>
                    <a:gridCol w="1080000">
                      <a:extLst>
                        <a:ext uri="{9D8B030D-6E8A-4147-A177-3AD203B41FA5}">
                          <a16:colId xmlns:a16="http://schemas.microsoft.com/office/drawing/2014/main" xmlns="" val="20003"/>
                        </a:ext>
                      </a:extLst>
                    </a:gridCol>
                    <a:gridCol w="1080000">
                      <a:extLst>
                        <a:ext uri="{9D8B030D-6E8A-4147-A177-3AD203B41FA5}">
                          <a16:colId xmlns:a16="http://schemas.microsoft.com/office/drawing/2014/main" xmlns="" val="20004"/>
                        </a:ext>
                      </a:extLst>
                    </a:gridCol>
                    <a:gridCol w="1080000">
                      <a:extLst>
                        <a:ext uri="{9D8B030D-6E8A-4147-A177-3AD203B41FA5}">
                          <a16:colId xmlns:a16="http://schemas.microsoft.com/office/drawing/2014/main" xmlns="" val="20005"/>
                        </a:ext>
                      </a:extLst>
                    </a:gridCol>
                    <a:gridCol w="1080000">
                      <a:extLst>
                        <a:ext uri="{9D8B030D-6E8A-4147-A177-3AD203B41FA5}">
                          <a16:colId xmlns:a16="http://schemas.microsoft.com/office/drawing/2014/main" xmlns="" val="20006"/>
                        </a:ext>
                      </a:extLst>
                    </a:gridCol>
                  </a:tblGrid>
                  <a:tr h="468000">
                    <a:tc>
                      <a:txBody>
                        <a:bodyPr/>
                        <a:lstStyle/>
                        <a:p>
                          <a:pPr algn="ctr">
                            <a:lnSpc>
                              <a:spcPct val="100000"/>
                            </a:lnSpc>
                            <a:spcAft>
                              <a:spcPts val="800"/>
                            </a:spcAft>
                          </a:pPr>
                          <a:r>
                            <a:rPr lang="en-US" sz="2000" b="1" dirty="0">
                              <a:solidFill>
                                <a:srgbClr val="000000"/>
                              </a:solidFill>
                              <a:effectLst/>
                              <a:latin typeface="Verdana" pitchFamily="34" charset="0"/>
                              <a:ea typeface="Verdana" pitchFamily="34" charset="0"/>
                              <a:cs typeface="Verdana"/>
                            </a:rPr>
                            <a:t>Year</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2009</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2010</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2011</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2012</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a:ea typeface="Verdana" pitchFamily="34" charset="0"/>
                                    <a:cs typeface="Verdana"/>
                                  </a:rPr>
                                  <m:t>2013</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a:ea typeface="Verdana" pitchFamily="34" charset="0"/>
                                    <a:cs typeface="Verdana"/>
                                  </a:rPr>
                                  <m:t>2014</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65.7</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65.9</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65.6</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63.0</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60.5</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64.1</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Year</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2015</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2016</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2017</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2018</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Verdana"/>
                                    <a:cs typeface="Verdana"/>
                                  </a:rPr>
                                  <m:t>2019</m:t>
                                </m:r>
                              </m:oMath>
                            </m:oMathPara>
                          </a14:m>
                          <a:endParaRPr lang="en-US"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2000" b="1" i="0" dirty="0">
                              <a:solidFill>
                                <a:srgbClr val="000000"/>
                              </a:solidFill>
                              <a:effectLst/>
                              <a:latin typeface="+mj-lt"/>
                              <a:ea typeface="Verdana" pitchFamily="34" charset="0"/>
                              <a:cs typeface="Verdana"/>
                            </a:rPr>
                            <a:t> </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xmlns="" val="10002"/>
                      </a:ext>
                    </a:extLst>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64.4</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67.4</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66.3</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65.8</m:t>
                                </m:r>
                              </m:oMath>
                            </m:oMathPara>
                          </a14:m>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a:ea typeface="Cambria Math"/>
                                    <a:cs typeface="Cambria Math"/>
                                  </a:rPr>
                                  <m:t>60.8</m:t>
                                </m:r>
                              </m:oMath>
                            </m:oMathPara>
                          </a14:m>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0000"/>
                            </a:lnSpc>
                            <a:spcAft>
                              <a:spcPts val="0"/>
                            </a:spcAft>
                          </a:pPr>
                          <a:r>
                            <a:rPr lang="en-US" sz="2000" i="0" dirty="0">
                              <a:solidFill>
                                <a:srgbClr val="000000"/>
                              </a:solidFill>
                              <a:effectLst/>
                              <a:latin typeface="+mj-lt"/>
                              <a:ea typeface="Verdana" pitchFamily="34" charset="0"/>
                              <a:cs typeface="Cambria Math"/>
                            </a:rPr>
                            <a:t> </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997755047"/>
                  </p:ext>
                </p:extLst>
              </p:nvPr>
            </p:nvGraphicFramePr>
            <p:xfrm>
              <a:off x="1024594" y="4326986"/>
              <a:ext cx="7560000" cy="1872000"/>
            </p:xfrm>
            <a:graphic>
              <a:graphicData uri="http://schemas.openxmlformats.org/drawingml/2006/table">
                <a:tbl>
                  <a:tblPr bandRow="1"/>
                  <a:tblGrid>
                    <a:gridCol w="1080000"/>
                    <a:gridCol w="1080000"/>
                    <a:gridCol w="1080000"/>
                    <a:gridCol w="1080000"/>
                    <a:gridCol w="1080000"/>
                    <a:gridCol w="1080000"/>
                    <a:gridCol w="1080000"/>
                  </a:tblGrid>
                  <a:tr h="468000">
                    <a:tc>
                      <a:txBody>
                        <a:bodyPr/>
                        <a:lstStyle/>
                        <a:p>
                          <a:pPr algn="ctr">
                            <a:lnSpc>
                              <a:spcPct val="100000"/>
                            </a:lnSpc>
                            <a:spcAft>
                              <a:spcPts val="800"/>
                            </a:spcAft>
                          </a:pPr>
                          <a:r>
                            <a:rPr lang="en-US" sz="2000" b="1" dirty="0">
                              <a:solidFill>
                                <a:srgbClr val="000000"/>
                              </a:solidFill>
                              <a:effectLst/>
                              <a:latin typeface="Verdana" pitchFamily="34" charset="0"/>
                              <a:ea typeface="Verdana" pitchFamily="34" charset="0"/>
                              <a:cs typeface="Verdana"/>
                            </a:rPr>
                            <a:t>Year</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000" t="-1299" r="-501130" b="-3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0000" t="-1299" r="-401130" b="-3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98315" t="-1299" r="-298876" b="-3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400565" t="-1299" r="-200565" b="-3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500565" t="-1299" r="-100565" b="-3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600565" t="-1299" r="-565" b="-314286"/>
                          </a:stretch>
                        </a:blipFill>
                      </a:tcPr>
                    </a:tc>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000" t="-101299" r="-501130" b="-2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0000" t="-101299" r="-401130" b="-2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98315" t="-101299" r="-298876" b="-2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400565" t="-101299" r="-200565" b="-2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500565" t="-101299" r="-100565" b="-214286"/>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600565" t="-101299" r="-565" b="-214286"/>
                          </a:stretch>
                        </a:blipFill>
                      </a:tcPr>
                    </a:tc>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Year</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000" t="-203947" r="-501130" b="-1171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0000" t="-203947" r="-401130" b="-1171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98315" t="-203947" r="-298876" b="-1171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400565" t="-203947" r="-200565" b="-117105"/>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500565" t="-203947" r="-100565" b="-117105"/>
                          </a:stretch>
                        </a:blipFill>
                      </a:tcPr>
                    </a:tc>
                    <a:tc>
                      <a:txBody>
                        <a:bodyPr/>
                        <a:lstStyle/>
                        <a:p>
                          <a:pPr algn="ctr">
                            <a:lnSpc>
                              <a:spcPct val="100000"/>
                            </a:lnSpc>
                            <a:spcAft>
                              <a:spcPts val="0"/>
                            </a:spcAft>
                          </a:pPr>
                          <a:r>
                            <a:rPr lang="en-US" sz="2000" b="1" i="0" dirty="0" smtClean="0">
                              <a:solidFill>
                                <a:srgbClr val="000000"/>
                              </a:solidFill>
                              <a:effectLst/>
                              <a:latin typeface="+mj-lt"/>
                              <a:ea typeface="Verdana" pitchFamily="34" charset="0"/>
                              <a:cs typeface="Verdana"/>
                            </a:rPr>
                            <a:t> </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tcPr>
                    </a:tc>
                  </a:tr>
                  <a:tr h="468000">
                    <a:tc>
                      <a:txBody>
                        <a:bodyPr/>
                        <a:lstStyle/>
                        <a:p>
                          <a:pPr algn="ctr">
                            <a:lnSpc>
                              <a:spcPct val="100000"/>
                            </a:lnSpc>
                            <a:spcAft>
                              <a:spcPts val="800"/>
                            </a:spcAft>
                          </a:pPr>
                          <a:r>
                            <a:rPr lang="en-US" sz="2000" b="1">
                              <a:solidFill>
                                <a:srgbClr val="000000"/>
                              </a:solidFill>
                              <a:effectLst/>
                              <a:latin typeface="Verdana" pitchFamily="34" charset="0"/>
                              <a:ea typeface="Verdana" pitchFamily="34" charset="0"/>
                              <a:cs typeface="Verdana"/>
                            </a:rPr>
                            <a:t>%</a:t>
                          </a:r>
                          <a:endParaRPr lang="en-PH" sz="200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100000" t="-300000" r="-501130" b="-1558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00000" t="-300000" r="-401130" b="-1558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298315" t="-300000" r="-298876" b="-1558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400565" t="-300000" r="-200565" b="-15584"/>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500565" t="-300000" r="-100565" b="-15584"/>
                          </a:stretch>
                        </a:blipFill>
                      </a:tcPr>
                    </a:tc>
                    <a:tc>
                      <a:txBody>
                        <a:bodyPr/>
                        <a:lstStyle/>
                        <a:p>
                          <a:pPr algn="ctr">
                            <a:lnSpc>
                              <a:spcPct val="100000"/>
                            </a:lnSpc>
                            <a:spcAft>
                              <a:spcPts val="0"/>
                            </a:spcAft>
                          </a:pPr>
                          <a:r>
                            <a:rPr lang="en-US" sz="2000" i="0" dirty="0" smtClean="0">
                              <a:solidFill>
                                <a:srgbClr val="000000"/>
                              </a:solidFill>
                              <a:effectLst/>
                              <a:latin typeface="+mj-lt"/>
                              <a:ea typeface="Verdana" pitchFamily="34" charset="0"/>
                              <a:cs typeface="Cambria Math"/>
                            </a:rPr>
                            <a:t> </a:t>
                          </a:r>
                          <a:endParaRPr lang="en-PH" sz="2000"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r>
                </a:tbl>
              </a:graphicData>
            </a:graphic>
          </p:graphicFrame>
        </mc:Fallback>
      </mc:AlternateContent>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95</a:t>
            </a:r>
            <a:endParaRPr i="1" dirty="0">
              <a:latin typeface="Calibri"/>
              <a:ea typeface="Calibri"/>
              <a:cs typeface="Calibri"/>
              <a:sym typeface="Calibri"/>
            </a:endParaRPr>
          </a:p>
        </p:txBody>
      </p:sp>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56414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Rectangle 4"/>
          <p:cNvSpPr/>
          <p:nvPr/>
        </p:nvSpPr>
        <p:spPr>
          <a:xfrm>
            <a:off x="1008699" y="383289"/>
            <a:ext cx="10325268" cy="830997"/>
          </a:xfrm>
          <a:prstGeom prst="rect">
            <a:avLst/>
          </a:prstGeom>
        </p:spPr>
        <p:txBody>
          <a:bodyPr wrap="square">
            <a:spAutoFit/>
          </a:bodyPr>
          <a:lstStyle/>
          <a:p>
            <a:pPr marL="898525" indent="-457200">
              <a:buFont typeface="+mj-lt"/>
              <a:buAutoNum type="alphaLcPeriod"/>
            </a:pPr>
            <a:r>
              <a:rPr lang="en-US" sz="2400" dirty="0">
                <a:latin typeface="Verdana"/>
                <a:ea typeface="Verdana"/>
                <a:cs typeface="Verdana"/>
              </a:rPr>
              <a:t>Create a box plot of Tom Brady’s pass-completion </a:t>
            </a:r>
            <a:r>
              <a:rPr lang="en-US" sz="2400" dirty="0" smtClean="0">
                <a:latin typeface="Verdana"/>
                <a:ea typeface="Verdana"/>
                <a:cs typeface="Verdana"/>
              </a:rPr>
              <a:t>percentages. </a:t>
            </a:r>
            <a:endParaRPr lang="en-PH" sz="2400" dirty="0">
              <a:latin typeface="Cambria Math"/>
              <a:ea typeface="Cambria Math"/>
              <a:cs typeface="Cambria Math"/>
            </a:endParaRPr>
          </a:p>
        </p:txBody>
      </p:sp>
      <p:sp>
        <p:nvSpPr>
          <p:cNvPr id="7" name="Rectangle 6"/>
          <p:cNvSpPr/>
          <p:nvPr/>
        </p:nvSpPr>
        <p:spPr>
          <a:xfrm>
            <a:off x="2949224" y="1379817"/>
            <a:ext cx="6444219" cy="750975"/>
          </a:xfrm>
          <a:prstGeom prst="rect">
            <a:avLst/>
          </a:prstGeom>
        </p:spPr>
        <p:txBody>
          <a:bodyPr wrap="square">
            <a:spAutoFit/>
          </a:bodyPr>
          <a:lstStyle/>
          <a:p>
            <a:pPr algn="ctr">
              <a:lnSpc>
                <a:spcPct val="107000"/>
              </a:lnSpc>
            </a:pPr>
            <a:r>
              <a:rPr lang="en-US" sz="2000" b="1" dirty="0">
                <a:latin typeface="Verdana"/>
                <a:ea typeface="Verdana"/>
                <a:cs typeface="Verdana"/>
              </a:rPr>
              <a:t>Tom Brady’s Pass-Completion Percentages </a:t>
            </a:r>
            <a:br>
              <a:rPr lang="en-US" sz="2000" b="1" dirty="0">
                <a:latin typeface="Verdana"/>
                <a:ea typeface="Verdana"/>
                <a:cs typeface="Verdana"/>
              </a:rPr>
            </a:br>
            <a:r>
              <a:rPr lang="en-US" sz="2000" b="1" dirty="0">
                <a:latin typeface="Verdana"/>
                <a:ea typeface="Verdana"/>
                <a:cs typeface="Verdana"/>
              </a:rPr>
              <a:t>2009-2019</a:t>
            </a:r>
            <a:endParaRPr lang="en-PH" sz="2000" dirty="0">
              <a:latin typeface="Cambria Math"/>
              <a:ea typeface="Cambria Math"/>
              <a:cs typeface="Cambria Math"/>
            </a:endParaRPr>
          </a:p>
        </p:txBody>
      </p:sp>
      <p:pic>
        <p:nvPicPr>
          <p:cNvPr id="13" name="Picture 12" descr="Chart, scatter chart&#10;&#10;Description automatically generated"/>
          <p:cNvPicPr/>
          <p:nvPr/>
        </p:nvPicPr>
        <p:blipFill rotWithShape="1">
          <a:blip r:embed="rId3" cstate="screen">
            <a:extLst>
              <a:ext uri="{28A0092B-C50C-407E-A947-70E740481C1C}">
                <a14:useLocalDpi xmlns:a14="http://schemas.microsoft.com/office/drawing/2010/main"/>
              </a:ext>
            </a:extLst>
          </a:blip>
          <a:srcRect/>
          <a:stretch/>
        </p:blipFill>
        <p:spPr bwMode="auto">
          <a:xfrm>
            <a:off x="2580378" y="3593851"/>
            <a:ext cx="7306198" cy="804725"/>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xmlns="" id="{82EDEE8D-5690-4E28-BA6C-E42316D0E15A}"/>
              </a:ext>
            </a:extLst>
          </p:cNvPr>
          <p:cNvSpPr txBox="1"/>
          <p:nvPr/>
        </p:nvSpPr>
        <p:spPr>
          <a:xfrm>
            <a:off x="1244184" y="4590246"/>
            <a:ext cx="10325268" cy="1569660"/>
          </a:xfrm>
          <a:prstGeom prst="rect">
            <a:avLst/>
          </a:prstGeom>
          <a:noFill/>
        </p:spPr>
        <p:txBody>
          <a:bodyPr wrap="square" rtlCol="0">
            <a:spAutoFit/>
          </a:bodyPr>
          <a:lstStyle/>
          <a:p>
            <a:pPr marL="893763" indent="-452438">
              <a:buFont typeface="+mj-lt"/>
              <a:buAutoNum type="alphaLcPeriod" startAt="2"/>
            </a:pPr>
            <a:r>
              <a:rPr lang="en-US" sz="2400" dirty="0">
                <a:latin typeface="Verdana"/>
                <a:ea typeface="Verdana"/>
                <a:cs typeface="Verdana"/>
              </a:rPr>
              <a:t>Determine the interquartile range for Tom Brady’s pass-completion </a:t>
            </a:r>
            <a:r>
              <a:rPr lang="en-US" sz="2400" dirty="0" smtClean="0">
                <a:latin typeface="Verdana"/>
                <a:ea typeface="Verdana"/>
                <a:cs typeface="Verdana"/>
              </a:rPr>
              <a:t>percentages.</a:t>
            </a:r>
            <a:endParaRPr lang="en-US" sz="2400" dirty="0">
              <a:latin typeface="Verdana"/>
              <a:ea typeface="Verdana"/>
              <a:cs typeface="Verdana"/>
            </a:endParaRPr>
          </a:p>
          <a:p>
            <a:pPr marL="893763" indent="-452438">
              <a:buFont typeface="+mj-lt"/>
              <a:buAutoNum type="alphaLcPeriod" startAt="2"/>
            </a:pPr>
            <a:endParaRPr lang="en-US" sz="2400" dirty="0">
              <a:latin typeface="Verdana"/>
              <a:ea typeface="Verdana"/>
              <a:cs typeface="Verdana"/>
            </a:endParaRPr>
          </a:p>
          <a:p>
            <a:pPr marL="893763" indent="-452438">
              <a:buFont typeface="+mj-lt"/>
              <a:buAutoNum type="alphaLcPeriod" startAt="2"/>
            </a:pPr>
            <a:r>
              <a:rPr lang="en-US" sz="2400" dirty="0">
                <a:latin typeface="Verdana"/>
                <a:ea typeface="Verdana"/>
                <a:cs typeface="Verdana"/>
              </a:rPr>
              <a:t>What is the range of pass-completion percentages?</a:t>
            </a:r>
            <a:endParaRPr lang="en-PH" sz="2000" dirty="0">
              <a:latin typeface="Cambria Math"/>
              <a:ea typeface="Cambria Math"/>
              <a:cs typeface="Cambria Math"/>
            </a:endParaRPr>
          </a:p>
        </p:txBody>
      </p:sp>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95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1113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491123" y="241551"/>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9.9.7 Wrap-Up: Reflection</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665239" y="16334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1412539" y="1081225"/>
            <a:ext cx="9622954" cy="1631216"/>
          </a:xfrm>
          <a:prstGeom prst="rect">
            <a:avLst/>
          </a:prstGeom>
          <a:noFill/>
        </p:spPr>
        <p:txBody>
          <a:bodyPr wrap="square" rtlCol="0">
            <a:spAutoFit/>
          </a:bodyPr>
          <a:lstStyle/>
          <a:p>
            <a:r>
              <a:rPr lang="en-US" sz="2000" dirty="0">
                <a:latin typeface="Verdana" pitchFamily="34" charset="0"/>
                <a:ea typeface="Verdana" pitchFamily="34" charset="0"/>
                <a:cs typeface="Verdana"/>
              </a:rPr>
              <a:t>Place an </a:t>
            </a:r>
            <a:r>
              <a:rPr lang="en-US" sz="2000" b="1" dirty="0">
                <a:latin typeface="Verdana" pitchFamily="34" charset="0"/>
                <a:ea typeface="Verdana" pitchFamily="34" charset="0"/>
                <a:cs typeface="Verdana"/>
              </a:rPr>
              <a:t>X</a:t>
            </a:r>
            <a:r>
              <a:rPr lang="en-US" sz="2000" dirty="0">
                <a:latin typeface="Verdana" pitchFamily="34" charset="0"/>
                <a:ea typeface="Verdana" pitchFamily="34" charset="0"/>
                <a:cs typeface="Verdana"/>
              </a:rPr>
              <a:t> on the line to indicate your understanding of creating box plots. Then provide a brief explanation or evidence to support your self-assessment.</a:t>
            </a:r>
          </a:p>
          <a:p>
            <a:endParaRPr lang="en-US" sz="2000" dirty="0">
              <a:latin typeface="Verdana" pitchFamily="34" charset="0"/>
              <a:ea typeface="Verdana" pitchFamily="34" charset="0"/>
              <a:cs typeface="Cambria Math"/>
            </a:endParaRPr>
          </a:p>
          <a:p>
            <a:pPr marL="457200" lvl="3" indent="-457200">
              <a:buFont typeface="+mj-lt"/>
              <a:buAutoNum type="arabicPeriod"/>
            </a:pPr>
            <a:r>
              <a:rPr lang="en-US" sz="2000" dirty="0">
                <a:latin typeface="Verdana" pitchFamily="34" charset="0"/>
                <a:ea typeface="Verdana" pitchFamily="34" charset="0"/>
                <a:cs typeface="Verdana"/>
              </a:rPr>
              <a:t>I can find the five-number summary of a data set.</a:t>
            </a:r>
            <a:endParaRPr lang="en-PH" sz="2000" dirty="0">
              <a:latin typeface="Verdana" pitchFamily="34" charset="0"/>
              <a:ea typeface="Verdana" pitchFamily="34" charset="0"/>
              <a:cs typeface="Cambria Math"/>
            </a:endParaRPr>
          </a:p>
        </p:txBody>
      </p:sp>
      <p:graphicFrame>
        <p:nvGraphicFramePr>
          <p:cNvPr id="3" name="Table 2"/>
          <p:cNvGraphicFramePr>
            <a:graphicFrameLocks noGrp="1"/>
          </p:cNvGraphicFramePr>
          <p:nvPr>
            <p:extLst>
              <p:ext uri="{D42A27DB-BD31-4B8C-83A1-F6EECF244321}">
                <p14:modId xmlns:p14="http://schemas.microsoft.com/office/powerpoint/2010/main" val="1016689637"/>
              </p:ext>
            </p:extLst>
          </p:nvPr>
        </p:nvGraphicFramePr>
        <p:xfrm>
          <a:off x="2389500" y="2856636"/>
          <a:ext cx="8280000" cy="652272"/>
        </p:xfrm>
        <a:graphic>
          <a:graphicData uri="http://schemas.openxmlformats.org/drawingml/2006/table">
            <a:tbl>
              <a:tblPr bandRow="1"/>
              <a:tblGrid>
                <a:gridCol w="288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630">
                <a:tc>
                  <a:txBody>
                    <a:bodyPr/>
                    <a:lstStyle/>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need help.</a:t>
                      </a:r>
                      <a:endParaRPr lang="en-PH" sz="2000" dirty="0">
                        <a:effectLst/>
                        <a:latin typeface="Verdana" pitchFamily="34" charset="0"/>
                        <a:ea typeface="Verdana" pitchFamily="34" charset="0"/>
                        <a:cs typeface="Cambria Math"/>
                      </a:endParaRPr>
                    </a:p>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can’t get started.</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I’m getting there.</a:t>
                      </a:r>
                      <a:endParaRPr lang="en-PH" sz="2000" dirty="0">
                        <a:effectLst/>
                        <a:latin typeface="Verdana" pitchFamily="34" charset="0"/>
                        <a:ea typeface="Verdana" pitchFamily="34" charset="0"/>
                        <a:cs typeface="Cambria Math"/>
                      </a:endParaRPr>
                    </a:p>
                  </a:txBody>
                  <a:tcPr marL="68580" marR="68580" marT="0" marB="0" anchor="ctr">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 understand</a:t>
                      </a:r>
                      <a:endParaRPr lang="en-PH" sz="2000" dirty="0">
                        <a:effectLst/>
                        <a:latin typeface="Verdana" pitchFamily="34" charset="0"/>
                        <a:ea typeface="Verdana" pitchFamily="34" charset="0"/>
                        <a:cs typeface="Cambria Math"/>
                      </a:endParaRPr>
                    </a:p>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and have evidence.</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bl>
          </a:graphicData>
        </a:graphic>
      </p:graphicFrame>
      <p:cxnSp>
        <p:nvCxnSpPr>
          <p:cNvPr id="11" name="Straight Arrow Connector 10"/>
          <p:cNvCxnSpPr/>
          <p:nvPr/>
        </p:nvCxnSpPr>
        <p:spPr>
          <a:xfrm>
            <a:off x="2626908" y="3784163"/>
            <a:ext cx="7760677" cy="0"/>
          </a:xfrm>
          <a:prstGeom prst="straightConnector1">
            <a:avLst/>
          </a:prstGeom>
          <a:noFill/>
          <a:ln w="38100" cap="flat" cmpd="sng">
            <a:solidFill>
              <a:sysClr val="windowText" lastClr="000000"/>
            </a:solidFill>
            <a:prstDash val="solid"/>
            <a:miter lim="800000"/>
            <a:headEnd type="triangle" w="med" len="med"/>
            <a:tailEnd type="triangle" w="med" len="med"/>
          </a:ln>
        </p:spPr>
      </p:cxnSp>
      <p:sp>
        <p:nvSpPr>
          <p:cNvPr id="13" name="Rectangle 12"/>
          <p:cNvSpPr/>
          <p:nvPr/>
        </p:nvSpPr>
        <p:spPr>
          <a:xfrm>
            <a:off x="1412539" y="4328393"/>
            <a:ext cx="9622954" cy="400110"/>
          </a:xfrm>
          <a:prstGeom prst="rect">
            <a:avLst/>
          </a:prstGeom>
        </p:spPr>
        <p:txBody>
          <a:bodyPr wrap="square">
            <a:spAutoFit/>
          </a:bodyPr>
          <a:lstStyle/>
          <a:p>
            <a:pPr marL="457200" lvl="4" indent="-457200">
              <a:buFont typeface="+mj-lt"/>
              <a:buAutoNum type="arabicPeriod" startAt="2"/>
            </a:pPr>
            <a:r>
              <a:rPr lang="en-US" sz="2000" dirty="0">
                <a:latin typeface="Verdana"/>
                <a:ea typeface="Verdana"/>
                <a:cs typeface="Verdana"/>
              </a:rPr>
              <a:t>I can create an axis with the appropriate scale.</a:t>
            </a:r>
            <a:endParaRPr lang="en-PH" sz="2000" dirty="0">
              <a:latin typeface="Cambria Math"/>
              <a:ea typeface="Cambria Math"/>
              <a:cs typeface="Cambria Math"/>
            </a:endParaRPr>
          </a:p>
        </p:txBody>
      </p:sp>
      <p:graphicFrame>
        <p:nvGraphicFramePr>
          <p:cNvPr id="17" name="Table 16"/>
          <p:cNvGraphicFramePr>
            <a:graphicFrameLocks noGrp="1"/>
          </p:cNvGraphicFramePr>
          <p:nvPr>
            <p:extLst>
              <p:ext uri="{D42A27DB-BD31-4B8C-83A1-F6EECF244321}">
                <p14:modId xmlns:p14="http://schemas.microsoft.com/office/powerpoint/2010/main" val="4018937277"/>
              </p:ext>
            </p:extLst>
          </p:nvPr>
        </p:nvGraphicFramePr>
        <p:xfrm>
          <a:off x="2389500" y="4842732"/>
          <a:ext cx="8280000" cy="652272"/>
        </p:xfrm>
        <a:graphic>
          <a:graphicData uri="http://schemas.openxmlformats.org/drawingml/2006/table">
            <a:tbl>
              <a:tblPr bandRow="1"/>
              <a:tblGrid>
                <a:gridCol w="288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630">
                <a:tc>
                  <a:txBody>
                    <a:bodyPr/>
                    <a:lstStyle/>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need help.</a:t>
                      </a:r>
                      <a:endParaRPr lang="en-PH" sz="2000" dirty="0">
                        <a:effectLst/>
                        <a:latin typeface="Verdana" pitchFamily="34" charset="0"/>
                        <a:ea typeface="Verdana" pitchFamily="34" charset="0"/>
                        <a:cs typeface="Cambria Math"/>
                      </a:endParaRPr>
                    </a:p>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can’t get started.</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I’m getting there.</a:t>
                      </a:r>
                      <a:endParaRPr lang="en-PH" sz="2000" dirty="0">
                        <a:effectLst/>
                        <a:latin typeface="Verdana" pitchFamily="34" charset="0"/>
                        <a:ea typeface="Verdana" pitchFamily="34" charset="0"/>
                        <a:cs typeface="Cambria Math"/>
                      </a:endParaRPr>
                    </a:p>
                  </a:txBody>
                  <a:tcPr marL="68580" marR="68580" marT="0" marB="0" anchor="ctr">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 understand</a:t>
                      </a:r>
                      <a:endParaRPr lang="en-PH" sz="2000" dirty="0">
                        <a:effectLst/>
                        <a:latin typeface="Verdana" pitchFamily="34" charset="0"/>
                        <a:ea typeface="Verdana" pitchFamily="34" charset="0"/>
                        <a:cs typeface="Cambria Math"/>
                      </a:endParaRPr>
                    </a:p>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and have evidence.</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bl>
          </a:graphicData>
        </a:graphic>
      </p:graphicFrame>
      <p:cxnSp>
        <p:nvCxnSpPr>
          <p:cNvPr id="18" name="Straight Arrow Connector 17"/>
          <p:cNvCxnSpPr/>
          <p:nvPr/>
        </p:nvCxnSpPr>
        <p:spPr>
          <a:xfrm>
            <a:off x="2626908" y="5770259"/>
            <a:ext cx="7760677" cy="0"/>
          </a:xfrm>
          <a:prstGeom prst="straightConnector1">
            <a:avLst/>
          </a:prstGeom>
          <a:noFill/>
          <a:ln w="38100" cap="flat" cmpd="sng">
            <a:solidFill>
              <a:sysClr val="windowText" lastClr="000000"/>
            </a:solidFill>
            <a:prstDash val="solid"/>
            <a:miter lim="800000"/>
            <a:headEnd type="triangle" w="med" len="med"/>
            <a:tailEnd type="triangle" w="med" len="med"/>
          </a:ln>
        </p:spPr>
      </p:cxnSp>
      <p:sp>
        <p:nvSpPr>
          <p:cNvPr id="14"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96</a:t>
            </a:r>
            <a:endParaRPr i="1" dirty="0">
              <a:latin typeface="Calibri"/>
              <a:ea typeface="Calibri"/>
              <a:cs typeface="Calibri"/>
              <a:sym typeface="Calibri"/>
            </a:endParaRPr>
          </a:p>
        </p:txBody>
      </p:sp>
      <p:pic>
        <p:nvPicPr>
          <p:cNvPr id="15"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Rectangle 5"/>
          <p:cNvSpPr/>
          <p:nvPr/>
        </p:nvSpPr>
        <p:spPr>
          <a:xfrm>
            <a:off x="1424066" y="381876"/>
            <a:ext cx="9751466" cy="400110"/>
          </a:xfrm>
          <a:prstGeom prst="rect">
            <a:avLst/>
          </a:prstGeom>
        </p:spPr>
        <p:txBody>
          <a:bodyPr wrap="square">
            <a:spAutoFit/>
          </a:bodyPr>
          <a:lstStyle/>
          <a:p>
            <a:pPr marL="457200" lvl="3" indent="-457200">
              <a:buFont typeface="+mj-lt"/>
              <a:buAutoNum type="arabicPeriod" startAt="3"/>
            </a:pPr>
            <a:r>
              <a:rPr lang="en-US" sz="2000" dirty="0">
                <a:latin typeface="Verdana"/>
                <a:ea typeface="Verdana"/>
                <a:cs typeface="Verdana"/>
              </a:rPr>
              <a:t>I can find and interpret the interquartile range.</a:t>
            </a:r>
            <a:endParaRPr lang="en-PH" sz="2000" dirty="0">
              <a:latin typeface="Cambria Math"/>
              <a:ea typeface="Cambria Math"/>
              <a:cs typeface="Cambria Math"/>
            </a:endParaRPr>
          </a:p>
        </p:txBody>
      </p:sp>
      <p:graphicFrame>
        <p:nvGraphicFramePr>
          <p:cNvPr id="7" name="Table 6"/>
          <p:cNvGraphicFramePr>
            <a:graphicFrameLocks noGrp="1"/>
          </p:cNvGraphicFramePr>
          <p:nvPr>
            <p:extLst>
              <p:ext uri="{D42A27DB-BD31-4B8C-83A1-F6EECF244321}">
                <p14:modId xmlns:p14="http://schemas.microsoft.com/office/powerpoint/2010/main" val="1616690138"/>
              </p:ext>
            </p:extLst>
          </p:nvPr>
        </p:nvGraphicFramePr>
        <p:xfrm>
          <a:off x="2389500" y="943752"/>
          <a:ext cx="8280000" cy="652272"/>
        </p:xfrm>
        <a:graphic>
          <a:graphicData uri="http://schemas.openxmlformats.org/drawingml/2006/table">
            <a:tbl>
              <a:tblPr bandRow="1"/>
              <a:tblGrid>
                <a:gridCol w="288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468630">
                <a:tc>
                  <a:txBody>
                    <a:bodyPr/>
                    <a:lstStyle/>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need help.</a:t>
                      </a:r>
                      <a:endParaRPr lang="en-PH" sz="2000" dirty="0">
                        <a:effectLst/>
                        <a:latin typeface="Verdana" pitchFamily="34" charset="0"/>
                        <a:ea typeface="Verdana" pitchFamily="34" charset="0"/>
                        <a:cs typeface="Cambria Math"/>
                      </a:endParaRPr>
                    </a:p>
                    <a:p>
                      <a:pPr marR="50165" algn="ctr">
                        <a:lnSpc>
                          <a:spcPct val="107000"/>
                        </a:lnSpc>
                        <a:spcAft>
                          <a:spcPts val="0"/>
                        </a:spcAft>
                        <a:tabLst>
                          <a:tab pos="5181600" algn="l"/>
                        </a:tabLst>
                      </a:pPr>
                      <a:r>
                        <a:rPr lang="en-US" sz="2000" dirty="0">
                          <a:effectLst/>
                          <a:latin typeface="Verdana" pitchFamily="34" charset="0"/>
                          <a:ea typeface="Verdana" pitchFamily="34" charset="0"/>
                          <a:cs typeface="Verdana"/>
                        </a:rPr>
                        <a:t>I can’t get started.</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I’m getting there.</a:t>
                      </a:r>
                      <a:endParaRPr lang="en-PH" sz="2000" dirty="0">
                        <a:effectLst/>
                        <a:latin typeface="Verdana" pitchFamily="34" charset="0"/>
                        <a:ea typeface="Verdana" pitchFamily="34" charset="0"/>
                        <a:cs typeface="Cambria Math"/>
                      </a:endParaRPr>
                    </a:p>
                  </a:txBody>
                  <a:tcPr marL="68580" marR="68580" marT="0" marB="0" anchor="ctr">
                    <a:lnL>
                      <a:noFill/>
                    </a:lnL>
                    <a:lnR>
                      <a:noFill/>
                    </a:lnR>
                    <a:lnT>
                      <a:noFill/>
                    </a:lnT>
                    <a:lnB>
                      <a:noFill/>
                    </a:lnB>
                  </a:tcPr>
                </a:tc>
                <a:tc>
                  <a:txBody>
                    <a:bodyPr/>
                    <a:lstStyle/>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I understand</a:t>
                      </a:r>
                      <a:endParaRPr lang="en-PH" sz="2000" dirty="0">
                        <a:effectLst/>
                        <a:latin typeface="Verdana" pitchFamily="34" charset="0"/>
                        <a:ea typeface="Verdana" pitchFamily="34" charset="0"/>
                        <a:cs typeface="Cambria Math"/>
                      </a:endParaRPr>
                    </a:p>
                    <a:p>
                      <a:pPr marR="34290" algn="ctr">
                        <a:lnSpc>
                          <a:spcPct val="107000"/>
                        </a:lnSpc>
                        <a:spcAft>
                          <a:spcPts val="0"/>
                        </a:spcAft>
                        <a:tabLst>
                          <a:tab pos="5181600" algn="l"/>
                        </a:tabLst>
                      </a:pPr>
                      <a:r>
                        <a:rPr lang="en-US" sz="2000" dirty="0">
                          <a:effectLst/>
                          <a:latin typeface="Verdana" pitchFamily="34" charset="0"/>
                          <a:ea typeface="Verdana" pitchFamily="34" charset="0"/>
                          <a:cs typeface="Verdana"/>
                        </a:rPr>
                        <a:t>and have evidence.</a:t>
                      </a:r>
                      <a:endParaRPr lang="en-PH" sz="2000" dirty="0">
                        <a:effectLst/>
                        <a:latin typeface="Verdana" pitchFamily="34" charset="0"/>
                        <a:ea typeface="Verdana" pitchFamily="34" charset="0"/>
                        <a:cs typeface="Cambria Math"/>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bl>
          </a:graphicData>
        </a:graphic>
      </p:graphicFrame>
      <p:cxnSp>
        <p:nvCxnSpPr>
          <p:cNvPr id="8" name="Straight Arrow Connector 7"/>
          <p:cNvCxnSpPr/>
          <p:nvPr/>
        </p:nvCxnSpPr>
        <p:spPr>
          <a:xfrm>
            <a:off x="2626908" y="1871279"/>
            <a:ext cx="7760677" cy="0"/>
          </a:xfrm>
          <a:prstGeom prst="straightConnector1">
            <a:avLst/>
          </a:prstGeom>
          <a:noFill/>
          <a:ln w="38100" cap="flat" cmpd="sng">
            <a:solidFill>
              <a:sysClr val="windowText" lastClr="000000"/>
            </a:solidFill>
            <a:prstDash val="solid"/>
            <a:miter lim="800000"/>
            <a:headEnd type="triangle" w="med" len="med"/>
            <a:tailEnd type="triangle" w="med" len="med"/>
          </a:ln>
        </p:spPr>
      </p:cxnSp>
      <p:sp>
        <p:nvSpPr>
          <p:cNvPr id="10" name="Google Shape;282;g104476d1465_1_17"/>
          <p:cNvSpPr txBox="1"/>
          <p:nvPr/>
        </p:nvSpPr>
        <p:spPr>
          <a:xfrm>
            <a:off x="8708836"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96</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7062"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2624026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DE5049-9A0D-42DF-8B5E-301204777296}">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D379F20A-BDC6-4EE2-B47B-F4E90FD0FCF4}">
  <ds:schemaRefs>
    <ds:schemaRef ds:uri="http://schemas.microsoft.com/sharepoint/v3/contenttype/forms"/>
  </ds:schemaRefs>
</ds:datastoreItem>
</file>

<file path=customXml/itemProps3.xml><?xml version="1.0" encoding="utf-8"?>
<ds:datastoreItem xmlns:ds="http://schemas.openxmlformats.org/officeDocument/2006/customXml" ds:itemID="{5CBC81A7-00A3-47E8-A39E-8590D5F068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1391</TotalTime>
  <Words>1599</Words>
  <Application>Microsoft Office PowerPoint</Application>
  <PresentationFormat>Custom</PresentationFormat>
  <Paragraphs>384</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1_Office Theme</vt:lpstr>
      <vt:lpstr>6th Grade Accelerated Math  Unit 9, Lesson 9  Creating Box Plots  Volume 2, pg. 89  </vt:lpstr>
      <vt:lpstr>Benchmarks</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Try It</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34</cp:revision>
  <dcterms:created xsi:type="dcterms:W3CDTF">2015-03-17T18:51:18Z</dcterms:created>
  <dcterms:modified xsi:type="dcterms:W3CDTF">2023-07-07T09:12:43Z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