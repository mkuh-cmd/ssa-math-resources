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288" r:id="rId10"/>
    <p:sldId id="362" r:id="rId11"/>
    <p:sldId id="323" r:id="rId12"/>
    <p:sldId id="324" r:id="rId13"/>
    <p:sldId id="352" r:id="rId14"/>
    <p:sldId id="357" r:id="rId15"/>
    <p:sldId id="365" r:id="rId16"/>
    <p:sldId id="363" r:id="rId17"/>
    <p:sldId id="364" r:id="rId18"/>
    <p:sldId id="302" r:id="rId19"/>
    <p:sldId id="303" r:id="rId20"/>
    <p:sldId id="360" r:id="rId21"/>
    <p:sldId id="368" r:id="rId22"/>
    <p:sldId id="367" r:id="rId23"/>
    <p:sldId id="369" r:id="rId24"/>
    <p:sldId id="366" r:id="rId25"/>
    <p:sldId id="370" r:id="rId26"/>
    <p:sldId id="306" r:id="rId27"/>
    <p:sldId id="307" r:id="rId28"/>
    <p:sldId id="361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75" autoAdjust="0"/>
    <p:restoredTop sz="94707" autoAdjust="0"/>
  </p:normalViewPr>
  <p:slideViewPr>
    <p:cSldViewPr snapToGrid="0">
      <p:cViewPr varScale="1">
        <p:scale>
          <a:sx n="52" d="100"/>
          <a:sy n="52" d="100"/>
        </p:scale>
        <p:origin x="8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32003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632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643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7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5.tiff"/><Relationship Id="rId4" Type="http://schemas.openxmlformats.org/officeDocument/2006/relationships/image" Target="../media/image24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tiff"/><Relationship Id="rId4" Type="http://schemas.openxmlformats.org/officeDocument/2006/relationships/image" Target="../media/image26.tif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tif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tiff"/><Relationship Id="rId5" Type="http://schemas.openxmlformats.org/officeDocument/2006/relationships/image" Target="../media/image30.tiff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Comparing Distributions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83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69205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737135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635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737135" y="1600200"/>
            <a:ext cx="847366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MA.6.DP.1.2 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Given a numerical data set within a real-world context, find and interpret mean, median, mode, and range.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Century Gothic"/>
              <a:sym typeface="Verdan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100"/>
              <a:buNone/>
            </a:pPr>
            <a:r>
              <a:rPr lang="en-US" sz="24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/>
                <a:sym typeface="Verdana"/>
              </a:rPr>
              <a:t>MA.6.DP.1.4 </a:t>
            </a:r>
          </a:p>
          <a:p>
            <a:pPr marL="452438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Tx/>
              <a:buNone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Given a histogram or line plot within a real-world context, qualitatively describe and interpret the spread and distribution of the data, including any symmetry, </a:t>
            </a:r>
            <a:r>
              <a:rPr lang="en-US" sz="2400" dirty="0" err="1">
                <a:latin typeface="Verdana" pitchFamily="34" charset="0"/>
                <a:ea typeface="Verdana" pitchFamily="34" charset="0"/>
              </a:rPr>
              <a:t>skewness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, gaps, clusters, outliers, and the range.</a:t>
            </a:r>
            <a:endParaRPr lang="en-US" sz="2400" dirty="0">
              <a:solidFill>
                <a:srgbClr val="000000"/>
              </a:solidFill>
              <a:latin typeface="Verdana" pitchFamily="34" charset="0"/>
              <a:ea typeface="Verdana" pitchFamily="34" charset="0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361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722971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873770" y="1596390"/>
            <a:ext cx="833703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4785" y="-5144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485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693889" y="1600200"/>
            <a:ext cx="851691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02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find and interpret the mean and median of data sets.</a:t>
            </a:r>
          </a:p>
          <a:p>
            <a:pPr marL="536575" indent="-530225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6575" indent="-5302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use mean and median to compare data sets.</a:t>
            </a:r>
          </a:p>
          <a:p>
            <a:pPr marL="536575" indent="-530225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6575" indent="-530225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compare the distribution of data sets.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87211" y="165966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159" y="3370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87211" y="1386026"/>
            <a:ext cx="9473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游明朝"/>
              </a:rPr>
              <a:t>Which license plate doesn’t belong? Explain your reasoning.</a:t>
            </a:r>
            <a:endParaRPr lang="en-PH" sz="1600" dirty="0">
              <a:latin typeface="Calibri"/>
              <a:ea typeface="游明朝"/>
            </a:endParaRPr>
          </a:p>
        </p:txBody>
      </p:sp>
      <p:pic>
        <p:nvPicPr>
          <p:cNvPr id="9" name="Picture 8" descr="A picture containing text, outdoor, sign&#10;&#10;Description automatically generated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0952" y="2317465"/>
            <a:ext cx="6377096" cy="4009763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3081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9.8.2 Collaboration: Comparing Distributions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273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443081" y="1386025"/>
            <a:ext cx="894450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Clare recorded the amount of time students in the sixth, eighth, and tenth grades spent doing homework, in hours per week. She made a line plot of the data for each grade and provided the following summary.</a:t>
            </a:r>
            <a:endParaRPr lang="en-PH" sz="2400" dirty="0">
              <a:latin typeface="Verdana" pitchFamily="34" charset="0"/>
              <a:ea typeface="Verdana" pitchFamily="34" charset="0"/>
            </a:endParaRPr>
          </a:p>
          <a:p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 </a:t>
            </a:r>
            <a:endParaRPr lang="en-PH" sz="2400" dirty="0">
              <a:latin typeface="Verdana" pitchFamily="34" charset="0"/>
              <a:ea typeface="Verdana" pitchFamily="34" charset="0"/>
            </a:endParaRPr>
          </a:p>
          <a:p>
            <a:pPr marL="806450" lvl="1" indent="-3429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Students in sixth grade tend to spend less time on homework than students in eighth and tenth grades.</a:t>
            </a:r>
            <a:endParaRPr lang="en-PH" sz="2400" dirty="0">
              <a:latin typeface="Verdana" pitchFamily="34" charset="0"/>
              <a:ea typeface="Verdana" pitchFamily="34" charset="0"/>
              <a:cs typeface="Noto Sans Symbols"/>
            </a:endParaRPr>
          </a:p>
          <a:p>
            <a:pPr marL="806450" lvl="1" indent="-342900">
              <a:buFont typeface="Arial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The homework times for the tenth-grade students are more alike than the homework times for the eighth-grade students.</a:t>
            </a:r>
            <a:endParaRPr lang="en-PH" sz="2400" dirty="0">
              <a:latin typeface="Verdana" pitchFamily="34" charset="0"/>
              <a:ea typeface="Verdana" pitchFamily="34" charset="0"/>
              <a:cs typeface="Noto Sans Symbols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44380" y="373250"/>
            <a:ext cx="10453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400" dirty="0">
                <a:latin typeface="Verdana"/>
                <a:ea typeface="Verdana"/>
                <a:cs typeface="Verdana"/>
              </a:rPr>
              <a:t>Use Clare's summary to match each line plot to the correct grade (sixth, eighth, or tenth).</a:t>
            </a:r>
            <a:endParaRPr lang="en-PH" sz="1600" dirty="0">
              <a:latin typeface="Calibri"/>
              <a:ea typeface="游明朝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511712"/>
              </p:ext>
            </p:extLst>
          </p:nvPr>
        </p:nvGraphicFramePr>
        <p:xfrm>
          <a:off x="2620049" y="1347775"/>
          <a:ext cx="7200000" cy="3708000"/>
        </p:xfrm>
        <a:graphic>
          <a:graphicData uri="http://schemas.openxmlformats.org/drawingml/2006/table">
            <a:tbl>
              <a:tblPr firstRow="1" firstCol="1" bandRow="1"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Grade Level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Line Plot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Picture 14" descr="Chart, scatter 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808" b="42287"/>
          <a:stretch/>
        </p:blipFill>
        <p:spPr bwMode="auto">
          <a:xfrm>
            <a:off x="4856611" y="1978589"/>
            <a:ext cx="4791886" cy="13469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 descr="Chart, scatter chart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924" b="41565"/>
          <a:stretch/>
        </p:blipFill>
        <p:spPr bwMode="auto">
          <a:xfrm>
            <a:off x="4856611" y="3423235"/>
            <a:ext cx="4791886" cy="14903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8" name="Straight Connector 17"/>
          <p:cNvCxnSpPr/>
          <p:nvPr/>
        </p:nvCxnSpPr>
        <p:spPr>
          <a:xfrm flipH="1">
            <a:off x="2774732" y="2978725"/>
            <a:ext cx="184982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2774732" y="4526361"/>
            <a:ext cx="184982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173279"/>
              </p:ext>
            </p:extLst>
          </p:nvPr>
        </p:nvGraphicFramePr>
        <p:xfrm>
          <a:off x="2620049" y="373249"/>
          <a:ext cx="7200000" cy="3204000"/>
        </p:xfrm>
        <a:graphic>
          <a:graphicData uri="http://schemas.openxmlformats.org/drawingml/2006/table">
            <a:tbl>
              <a:tblPr firstRow="1" firstCol="1" bandRow="1"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Grade Level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Line Plot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6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Time (in hours)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b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" name="Picture 16" descr="Chart, scatter chart&#10;&#10;Description automatically generated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555" b="22084"/>
          <a:stretch/>
        </p:blipFill>
        <p:spPr bwMode="auto">
          <a:xfrm>
            <a:off x="4824631" y="869103"/>
            <a:ext cx="4813355" cy="24094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4" name="Straight Connector 3"/>
          <p:cNvCxnSpPr/>
          <p:nvPr/>
        </p:nvCxnSpPr>
        <p:spPr>
          <a:xfrm flipH="1">
            <a:off x="2774732" y="2869324"/>
            <a:ext cx="184982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4405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87797" y="113712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9.8.3 Guided Practice: Comparing Distributions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3491" y="28355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2060448" y="1274144"/>
            <a:ext cx="8327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A histogram and line plot of the number of goals scored by the top 15 women goal scorers during the 2019‑2020 NCAA Women’s Division 1 soccer season are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902760" y="2289807"/>
            <a:ext cx="6642512" cy="4375321"/>
            <a:chOff x="1015588" y="2377665"/>
            <a:chExt cx="6642512" cy="4375321"/>
          </a:xfrm>
        </p:grpSpPr>
        <p:sp>
          <p:nvSpPr>
            <p:cNvPr id="3" name="Rectangle 2"/>
            <p:cNvSpPr/>
            <p:nvPr/>
          </p:nvSpPr>
          <p:spPr>
            <a:xfrm>
              <a:off x="2286000" y="2377665"/>
              <a:ext cx="4572000" cy="70788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n-US" sz="2000" b="1" dirty="0">
                  <a:latin typeface="Verdana"/>
                  <a:ea typeface="游明朝"/>
                </a:rPr>
                <a:t>2019-2020 NCAA Women’s Division 1 Soccer Top Scorers</a:t>
              </a:r>
              <a:endParaRPr lang="en-PH" sz="2000" dirty="0">
                <a:latin typeface="Calibri"/>
                <a:ea typeface="游明朝"/>
              </a:endParaRPr>
            </a:p>
          </p:txBody>
        </p:sp>
        <p:pic>
          <p:nvPicPr>
            <p:cNvPr id="13" name="Picture 12" descr="Chart, histogram&#10;&#10;Description automatically generated"/>
            <p:cNvPicPr/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4759"/>
            <a:stretch/>
          </p:blipFill>
          <p:spPr bwMode="auto">
            <a:xfrm>
              <a:off x="1485900" y="2996733"/>
              <a:ext cx="6172200" cy="353250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5" name="Rectangle 4"/>
            <p:cNvSpPr/>
            <p:nvPr/>
          </p:nvSpPr>
          <p:spPr>
            <a:xfrm rot="16200000">
              <a:off x="458064" y="4562930"/>
              <a:ext cx="151515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Verdana"/>
                  <a:ea typeface="游明朝"/>
                </a:rPr>
                <a:t>Frequency</a:t>
              </a:r>
              <a:endParaRPr lang="en-PH" sz="2000" dirty="0">
                <a:latin typeface="Calibri"/>
                <a:ea typeface="游明朝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398440" y="6352876"/>
              <a:ext cx="23471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Verdana"/>
                  <a:ea typeface="Verdana"/>
                  <a:cs typeface="Verdana"/>
                </a:rPr>
                <a:t>Number of Goals</a:t>
              </a:r>
              <a:endParaRPr lang="en-PH" sz="2000" dirty="0">
                <a:latin typeface="Calibri"/>
                <a:ea typeface="游明朝"/>
              </a:endParaRPr>
            </a:p>
          </p:txBody>
        </p:sp>
      </p:grpSp>
      <p:sp>
        <p:nvSpPr>
          <p:cNvPr id="14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2837431"/>
            <a:ext cx="83271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8525" lvl="5" indent="-45720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The 				        can be used to </a:t>
            </a: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determine the mean.</a:t>
            </a:r>
          </a:p>
          <a:p>
            <a:pPr marL="898525" lvl="5" indent="-45720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5" indent="-45720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5" indent="-45720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5" indent="-45720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The 				        can be used to </a:t>
            </a: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determine the median.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623185" y="194572"/>
            <a:ext cx="6945630" cy="1896170"/>
            <a:chOff x="1099185" y="194572"/>
            <a:chExt cx="6945630" cy="1896170"/>
          </a:xfrm>
        </p:grpSpPr>
        <p:pic>
          <p:nvPicPr>
            <p:cNvPr id="7" name="Picture 6" descr="Chart, scatter chart&#10;&#10;Description automatically generated"/>
            <p:cNvPicPr/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60531" b="10149"/>
            <a:stretch/>
          </p:blipFill>
          <p:spPr bwMode="auto">
            <a:xfrm>
              <a:off x="1099185" y="194572"/>
              <a:ext cx="6945630" cy="149606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3398440" y="1690632"/>
              <a:ext cx="23471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Verdana"/>
                  <a:ea typeface="Verdana"/>
                  <a:cs typeface="Verdana"/>
                </a:rPr>
                <a:t>Number of Goals</a:t>
              </a:r>
              <a:endParaRPr lang="en-PH" sz="2000" dirty="0">
                <a:latin typeface="Calibri"/>
                <a:ea typeface="游明朝"/>
              </a:endParaRP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3633735" y="2558410"/>
            <a:ext cx="3635823" cy="11261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6800" rIns="91425" bIns="46800" anchor="b" anchorCtr="0">
            <a:spAutoFit/>
          </a:bodyPr>
          <a:lstStyle/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histogram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line plot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histogram and line plot 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33735" y="4582281"/>
            <a:ext cx="3635823" cy="1126125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6800" rIns="91425" bIns="46800" anchor="b" anchorCtr="0">
            <a:spAutoFit/>
          </a:bodyPr>
          <a:lstStyle/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histogram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line plot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histogram and line plot 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24262" y="362739"/>
            <a:ext cx="10094142" cy="228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lvl="5" indent="-457200"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Which measure of central tendency do you expect to be larger, the mean or the median? Explain your reasoning.</a:t>
            </a:r>
          </a:p>
          <a:p>
            <a:pPr marL="889000" lvl="5" indent="-457200"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89000" lvl="5" indent="-457200"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89000" lvl="5" indent="-457200"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457200" lvl="1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The table lists the data for the top 15 women goal scorers during the 2019-2020 NCAA Women’s Division 1 soccer season. </a:t>
            </a:r>
            <a:endParaRPr lang="en-PH" sz="2000" dirty="0">
              <a:latin typeface="Calibri"/>
              <a:ea typeface="游明朝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4758877"/>
                  </p:ext>
                </p:extLst>
              </p:nvPr>
            </p:nvGraphicFramePr>
            <p:xfrm>
              <a:off x="2639155" y="3321179"/>
              <a:ext cx="7200000" cy="3060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Evelyne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Viens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 South Fla.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Catarina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Macario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Stanford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Raimee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Sherle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Boise St.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61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Ally Watt, Texas A&amp;M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Tziarra King, NC State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48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Deyna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Castellanos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Florida St.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48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4758877"/>
                  </p:ext>
                </p:extLst>
              </p:nvPr>
            </p:nvGraphicFramePr>
            <p:xfrm>
              <a:off x="1115155" y="3321179"/>
              <a:ext cx="7200000" cy="3060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/>
                    <a:gridCol w="5040000"/>
                    <a:gridCol w="1080000"/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109859" r="-567797" b="-51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Evelyne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Viens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 South Fla.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109859" r="-565" b="-519718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209859" r="-567797" b="-41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Catarina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Macario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Stanford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209859" r="-565" b="-419718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314286" r="-567797" b="-32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Raimee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Sherle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Boise St.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314286" r="-565" b="-325714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408451" r="-567797" b="-2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Ally Watt, Texas A&amp;M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408451" r="-565" b="-221127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508451" r="-567797" b="-1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Tziarra King, NC State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508451" r="-565" b="-121127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608451" r="-567797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Deyna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Castellanos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Florida St.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608451" r="-565" b="-2112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442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19134" y="4888656"/>
            <a:ext cx="97043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lvl="2" indent="-45720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Find the mean number of goals. Interpret the mean.</a:t>
            </a:r>
          </a:p>
          <a:p>
            <a:pPr marL="889000" lvl="2" indent="-45720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Find the median number of goals. Interpret the median.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7704979"/>
                  </p:ext>
                </p:extLst>
              </p:nvPr>
            </p:nvGraphicFramePr>
            <p:xfrm>
              <a:off x="2639155" y="362693"/>
              <a:ext cx="7200000" cy="4356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Alexa Genas, Campbell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46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Morgan Weaver, Washington St.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Peyton DePriest, Middle Tenn.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Elise Flake, BYU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Samantha Dewey, Xavier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Hayley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Younginer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Wake Forest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Dakota Mills, Saint Joseph's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Katie McClure, Kansas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Taylor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Kornieck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Colorado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7704979"/>
                  </p:ext>
                </p:extLst>
              </p:nvPr>
            </p:nvGraphicFramePr>
            <p:xfrm>
              <a:off x="1115155" y="362693"/>
              <a:ext cx="7200000" cy="4356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/>
                    <a:gridCol w="5040000"/>
                    <a:gridCol w="1080000"/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108451" r="-567797" b="-81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Alexa Genas, Campbell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108451" r="-565" b="-819718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208451" r="-567797" b="-71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Morgan Weaver, Washington St.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208451" r="-565" b="-719718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308451" r="-567797" b="-6197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Peyton DePriest, Middle Tenn.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308451" r="-565" b="-619718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414286" r="-567797" b="-5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Elise Flake, BYU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414286" r="-565" b="-528571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507042" r="-567797" b="-4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Samantha Dewey, Xavier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507042" r="-565" b="-421127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607042" r="-567797" b="-3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Hayley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Younginer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Wake Forest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607042" r="-565" b="-321127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707042" r="-567797" b="-2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Dakota Mills, Saint Joseph's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707042" r="-565" b="-221127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807042" r="-567797" b="-1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Katie McClure, Kansas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807042" r="-565" b="-121127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5" t="-907042" r="-567797" b="-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Taylor </a:t>
                          </a:r>
                          <a:r>
                            <a:rPr lang="en-US" sz="2000" dirty="0" err="1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Kornieck</a:t>
                          </a: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, Colorado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797" t="-907042" r="-565" b="-2112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3179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09272" y="373247"/>
            <a:ext cx="1012412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8525" lvl="2" indent="-457200">
              <a:buFont typeface="+mj-lt"/>
              <a:buAutoNum type="alphaLcPeriod" startAt="3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Which value is larger, the mean or the median?</a:t>
            </a:r>
          </a:p>
          <a:p>
            <a:pPr marL="898525" lvl="2" indent="-457200"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2" indent="-457200"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2" indent="-457200"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2" indent="-457200"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2" indent="-457200"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2" indent="-457200">
              <a:buFont typeface="+mj-lt"/>
              <a:buAutoNum type="alphaLcPeriod" startAt="3"/>
            </a:pPr>
            <a:endParaRPr lang="en-US" sz="24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8525" lvl="2" indent="-457200">
              <a:buFont typeface="+mj-lt"/>
              <a:buAutoNum type="alphaLcPeriod" startAt="3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How would the mean and median change if you found the mean goals and median goals for the top 8 scorers?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5141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59370" y="373249"/>
            <a:ext cx="104239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lvl="2" indent="-457200">
              <a:buFont typeface="+mj-lt"/>
              <a:buAutoNum type="alphaLcPeriod" startAt="5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Find the mean number of goals for the top 8 scorers.</a:t>
            </a: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Find the median number of goals for the top 8 scorers.</a:t>
            </a: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2" indent="-457200">
              <a:buFont typeface="+mj-lt"/>
              <a:buAutoNum type="alphaLcPeriod" startAt="5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Discuss with your partner how the measures of central tendency changed. Write your conclusion. 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4925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620441" y="6277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9.8.4 Your Turn! 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644" y="9034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545944" y="1018164"/>
            <a:ext cx="93561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438" lvl="4" indent="-452438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The line plots show the top 15 women goal scorers during the 2016-2017 and 2019-2020 NCAA Women’s Division 1 soccer season. </a:t>
            </a:r>
            <a:endParaRPr lang="en-PH" sz="2000" dirty="0">
              <a:latin typeface="Calibri"/>
              <a:ea typeface="游明朝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397296" y="2189153"/>
            <a:ext cx="7913952" cy="1774807"/>
            <a:chOff x="615024" y="2033826"/>
            <a:chExt cx="7913952" cy="1774807"/>
          </a:xfrm>
        </p:grpSpPr>
        <p:sp>
          <p:nvSpPr>
            <p:cNvPr id="4" name="Rectangle 3"/>
            <p:cNvSpPr/>
            <p:nvPr/>
          </p:nvSpPr>
          <p:spPr>
            <a:xfrm>
              <a:off x="3125129" y="2033826"/>
              <a:ext cx="289374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Verdana"/>
                  <a:ea typeface="Verdana"/>
                  <a:cs typeface="Verdana"/>
                </a:rPr>
                <a:t>2016-2017 Season</a:t>
              </a:r>
              <a:endParaRPr lang="en-PH" sz="2000" dirty="0">
                <a:latin typeface="Calibri"/>
                <a:ea typeface="游明朝"/>
              </a:endParaRPr>
            </a:p>
          </p:txBody>
        </p:sp>
        <p:pic>
          <p:nvPicPr>
            <p:cNvPr id="14" name="Picture 13" descr="A picture containing chart&#10;&#10;Description automatically generated"/>
            <p:cNvPicPr/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71075"/>
            <a:stretch/>
          </p:blipFill>
          <p:spPr bwMode="auto">
            <a:xfrm>
              <a:off x="615024" y="2344479"/>
              <a:ext cx="7913952" cy="14641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17" name="Group 16"/>
          <p:cNvGrpSpPr/>
          <p:nvPr/>
        </p:nvGrpSpPr>
        <p:grpSpPr>
          <a:xfrm>
            <a:off x="2397296" y="4079905"/>
            <a:ext cx="7913952" cy="2107242"/>
            <a:chOff x="615024" y="3722601"/>
            <a:chExt cx="7913952" cy="2107242"/>
          </a:xfrm>
        </p:grpSpPr>
        <p:sp>
          <p:nvSpPr>
            <p:cNvPr id="7" name="Rectangle 6"/>
            <p:cNvSpPr/>
            <p:nvPr/>
          </p:nvSpPr>
          <p:spPr>
            <a:xfrm>
              <a:off x="3125129" y="3722601"/>
              <a:ext cx="2893741" cy="4216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/>
                  <a:ea typeface="Verdana"/>
                  <a:cs typeface="Verdana"/>
                </a:rPr>
                <a:t>2019-2020 Season</a:t>
              </a:r>
              <a:endParaRPr lang="en-PH" sz="2000" dirty="0">
                <a:latin typeface="Calibri"/>
                <a:ea typeface="游明朝"/>
              </a:endParaRPr>
            </a:p>
          </p:txBody>
        </p:sp>
        <p:pic>
          <p:nvPicPr>
            <p:cNvPr id="16" name="Picture 15" descr="Chart, scatter chart&#10;&#10;Description automatically generated"/>
            <p:cNvPicPr/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67958"/>
            <a:stretch/>
          </p:blipFill>
          <p:spPr bwMode="auto">
            <a:xfrm>
              <a:off x="615024" y="4027466"/>
              <a:ext cx="7913952" cy="16218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3398441" y="5429733"/>
              <a:ext cx="23471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Verdana"/>
                  <a:ea typeface="Verdana"/>
                  <a:cs typeface="Verdana"/>
                </a:rPr>
                <a:t>Number of Goals</a:t>
              </a:r>
              <a:endParaRPr lang="en-PH" sz="2000" dirty="0">
                <a:latin typeface="Calibri"/>
                <a:ea typeface="游明朝"/>
              </a:endParaRPr>
            </a:p>
          </p:txBody>
        </p:sp>
      </p:grpSp>
      <p:sp>
        <p:nvSpPr>
          <p:cNvPr id="15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891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094282" y="3803713"/>
                <a:ext cx="1015410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8525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What is different about the top 15 goal scorers during the 2016-2017 soccer season and the top 15 goal scorers during the 2019-2020 soccer season?</a:t>
                </a:r>
              </a:p>
              <a:p>
                <a:pPr marL="898525" lvl="5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898525" lvl="5" indent="-457200">
                  <a:buFont typeface="+mj-lt"/>
                  <a:buAutoNum type="alphaL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898525" lvl="5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Make a hypothesis determining whether the mean of the 2019-2020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/>
                  </a:rPr>
                  <a:t>season or the mean of the 2016‑2017 season is higher. Explain what influenced your hypothesis.</a:t>
                </a:r>
                <a:endParaRPr lang="en-PH" sz="20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282" y="3803713"/>
                <a:ext cx="10154102" cy="2554545"/>
              </a:xfrm>
              <a:prstGeom prst="rect">
                <a:avLst/>
              </a:prstGeom>
              <a:blipFill rotWithShape="0">
                <a:blip r:embed="rId3"/>
                <a:stretch>
                  <a:fillRect t="-1671" b="-7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525213B-632C-4368-826B-43CFEBE58E3F}"/>
              </a:ext>
            </a:extLst>
          </p:cNvPr>
          <p:cNvGrpSpPr/>
          <p:nvPr/>
        </p:nvGrpSpPr>
        <p:grpSpPr>
          <a:xfrm>
            <a:off x="2665476" y="0"/>
            <a:ext cx="7011715" cy="1690652"/>
            <a:chOff x="615024" y="2033826"/>
            <a:chExt cx="7913952" cy="17748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00062-9DF5-480D-8FEF-68741AE8E4F5}"/>
                </a:ext>
              </a:extLst>
            </p:cNvPr>
            <p:cNvSpPr/>
            <p:nvPr/>
          </p:nvSpPr>
          <p:spPr>
            <a:xfrm>
              <a:off x="2938951" y="2033826"/>
              <a:ext cx="3266096" cy="4200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Verdana"/>
                  <a:ea typeface="Verdana"/>
                  <a:cs typeface="Verdana"/>
                </a:rPr>
                <a:t>2016-2017 Season</a:t>
              </a:r>
              <a:endParaRPr lang="en-PH" sz="2000" dirty="0">
                <a:latin typeface="Calibri"/>
                <a:ea typeface="游明朝"/>
              </a:endParaRPr>
            </a:p>
          </p:txBody>
        </p:sp>
        <p:pic>
          <p:nvPicPr>
            <p:cNvPr id="11" name="Picture 10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08354CE6-D9B4-43EB-A31A-0E37D754EB6C}"/>
                </a:ext>
              </a:extLst>
            </p:cNvPr>
            <p:cNvPicPr/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71075"/>
            <a:stretch/>
          </p:blipFill>
          <p:spPr bwMode="auto">
            <a:xfrm>
              <a:off x="615024" y="2344479"/>
              <a:ext cx="7913952" cy="14641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0C8CB6-FD6C-4FE1-9D2E-11E7513E929C}"/>
              </a:ext>
            </a:extLst>
          </p:cNvPr>
          <p:cNvGrpSpPr/>
          <p:nvPr/>
        </p:nvGrpSpPr>
        <p:grpSpPr>
          <a:xfrm>
            <a:off x="2599684" y="1623127"/>
            <a:ext cx="7349066" cy="2060147"/>
            <a:chOff x="615024" y="3722601"/>
            <a:chExt cx="7913952" cy="211859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1CF93D-671A-4CA0-859E-B1564EB96AB1}"/>
                </a:ext>
              </a:extLst>
            </p:cNvPr>
            <p:cNvSpPr/>
            <p:nvPr/>
          </p:nvSpPr>
          <p:spPr>
            <a:xfrm>
              <a:off x="3013915" y="3722601"/>
              <a:ext cx="3116168" cy="4336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/>
                  <a:ea typeface="Verdana"/>
                  <a:cs typeface="Verdana"/>
                </a:rPr>
                <a:t>2019-2020 Season</a:t>
              </a:r>
              <a:endParaRPr lang="en-PH" sz="2000" dirty="0">
                <a:latin typeface="Calibri"/>
                <a:ea typeface="游明朝"/>
              </a:endParaRPr>
            </a:p>
          </p:txBody>
        </p:sp>
        <p:pic>
          <p:nvPicPr>
            <p:cNvPr id="15" name="Picture 14" descr="Chart, scatter chart&#10;&#10;Description automatically generated">
              <a:extLst>
                <a:ext uri="{FF2B5EF4-FFF2-40B4-BE49-F238E27FC236}">
                  <a16:creationId xmlns:a16="http://schemas.microsoft.com/office/drawing/2014/main" id="{4E126F66-A79C-4BFB-A284-99773994524A}"/>
                </a:ext>
              </a:extLst>
            </p:cNvPr>
            <p:cNvPicPr/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67958"/>
            <a:stretch/>
          </p:blipFill>
          <p:spPr bwMode="auto">
            <a:xfrm>
              <a:off x="615024" y="4027466"/>
              <a:ext cx="7913952" cy="16218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C046DD4-D69E-4570-BDEE-6FE147FF5BB6}"/>
                </a:ext>
              </a:extLst>
            </p:cNvPr>
            <p:cNvSpPr/>
            <p:nvPr/>
          </p:nvSpPr>
          <p:spPr>
            <a:xfrm>
              <a:off x="3308235" y="5429733"/>
              <a:ext cx="2527528" cy="4114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Verdana"/>
                  <a:ea typeface="Verdana"/>
                  <a:cs typeface="Verdana"/>
                </a:rPr>
                <a:t>Number of Goals</a:t>
              </a:r>
              <a:endParaRPr lang="en-PH" sz="2000" dirty="0">
                <a:latin typeface="Calibri"/>
                <a:ea typeface="游明朝"/>
              </a:endParaRPr>
            </a:p>
          </p:txBody>
        </p:sp>
      </p:grpSp>
      <p:sp>
        <p:nvSpPr>
          <p:cNvPr id="1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2891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259174" y="3787683"/>
            <a:ext cx="98243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lvl="5" indent="-457200"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Make a hypothesis determining whether the median of the 2019-2020 season or the median of the 2016-2017 season is higher. Explain what influenced your hypothesis.</a:t>
            </a:r>
          </a:p>
          <a:p>
            <a:pPr marL="889000" lvl="5" indent="-457200"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89000" lvl="5" indent="-457200"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Compare your predictions with your partner’s predictions. Make any adjustments needed based on your conversation.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E63F66-B300-42C7-A234-019EEB22D2E2}"/>
              </a:ext>
            </a:extLst>
          </p:cNvPr>
          <p:cNvGrpSpPr/>
          <p:nvPr/>
        </p:nvGrpSpPr>
        <p:grpSpPr>
          <a:xfrm>
            <a:off x="2665476" y="0"/>
            <a:ext cx="7011715" cy="1690652"/>
            <a:chOff x="615024" y="2033826"/>
            <a:chExt cx="7913952" cy="177480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8A2CF5-68A6-415F-A9B0-15D239275631}"/>
                </a:ext>
              </a:extLst>
            </p:cNvPr>
            <p:cNvSpPr/>
            <p:nvPr/>
          </p:nvSpPr>
          <p:spPr>
            <a:xfrm>
              <a:off x="2938951" y="2033826"/>
              <a:ext cx="3266096" cy="4200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Verdana"/>
                  <a:ea typeface="Verdana"/>
                  <a:cs typeface="Verdana"/>
                </a:rPr>
                <a:t>2016-2017 Season</a:t>
              </a:r>
              <a:endParaRPr lang="en-PH" sz="2000" dirty="0">
                <a:latin typeface="Calibri"/>
                <a:ea typeface="游明朝"/>
              </a:endParaRPr>
            </a:p>
          </p:txBody>
        </p:sp>
        <p:pic>
          <p:nvPicPr>
            <p:cNvPr id="9" name="Picture 8" descr="A picture containing chart&#10;&#10;Description automatically generated">
              <a:extLst>
                <a:ext uri="{FF2B5EF4-FFF2-40B4-BE49-F238E27FC236}">
                  <a16:creationId xmlns:a16="http://schemas.microsoft.com/office/drawing/2014/main" id="{DC717BCE-7E4A-4F22-815F-DB4C9FEF990D}"/>
                </a:ext>
              </a:extLst>
            </p:cNvPr>
            <p:cNvPicPr/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71075"/>
            <a:stretch/>
          </p:blipFill>
          <p:spPr bwMode="auto">
            <a:xfrm>
              <a:off x="615024" y="2344479"/>
              <a:ext cx="7913952" cy="14641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8F23DB-8849-46AE-A277-92F59A1A7335}"/>
              </a:ext>
            </a:extLst>
          </p:cNvPr>
          <p:cNvGrpSpPr/>
          <p:nvPr/>
        </p:nvGrpSpPr>
        <p:grpSpPr>
          <a:xfrm>
            <a:off x="2599684" y="1623127"/>
            <a:ext cx="7349066" cy="2060147"/>
            <a:chOff x="615024" y="3722601"/>
            <a:chExt cx="7913952" cy="211859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CE5B74-7F9C-48C0-B1F5-60ACAF8CA40C}"/>
                </a:ext>
              </a:extLst>
            </p:cNvPr>
            <p:cNvSpPr/>
            <p:nvPr/>
          </p:nvSpPr>
          <p:spPr>
            <a:xfrm>
              <a:off x="3013915" y="3722601"/>
              <a:ext cx="3116168" cy="4336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sz="2000" b="1" dirty="0">
                  <a:latin typeface="Verdana"/>
                  <a:ea typeface="Verdana"/>
                  <a:cs typeface="Verdana"/>
                </a:rPr>
                <a:t>2019-2020 Season</a:t>
              </a:r>
              <a:endParaRPr lang="en-PH" sz="2000" dirty="0">
                <a:latin typeface="Calibri"/>
                <a:ea typeface="游明朝"/>
              </a:endParaRPr>
            </a:p>
          </p:txBody>
        </p:sp>
        <p:pic>
          <p:nvPicPr>
            <p:cNvPr id="12" name="Picture 11" descr="Chart, scatter chart&#10;&#10;Description automatically generated">
              <a:extLst>
                <a:ext uri="{FF2B5EF4-FFF2-40B4-BE49-F238E27FC236}">
                  <a16:creationId xmlns:a16="http://schemas.microsoft.com/office/drawing/2014/main" id="{3CD8F207-66E8-4FD8-84ED-9BAAA8D18521}"/>
                </a:ext>
              </a:extLst>
            </p:cNvPr>
            <p:cNvPicPr/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67958"/>
            <a:stretch/>
          </p:blipFill>
          <p:spPr bwMode="auto">
            <a:xfrm>
              <a:off x="615024" y="4027466"/>
              <a:ext cx="7913952" cy="16218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462C96-1D55-4896-BA42-36F436B9C4C5}"/>
                </a:ext>
              </a:extLst>
            </p:cNvPr>
            <p:cNvSpPr/>
            <p:nvPr/>
          </p:nvSpPr>
          <p:spPr>
            <a:xfrm>
              <a:off x="3308235" y="5429733"/>
              <a:ext cx="2527528" cy="4114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Verdana"/>
                  <a:ea typeface="Verdana"/>
                  <a:cs typeface="Verdana"/>
                </a:rPr>
                <a:t>Number of Goals</a:t>
              </a:r>
              <a:endParaRPr lang="en-PH" sz="2000" dirty="0">
                <a:latin typeface="Calibri"/>
                <a:ea typeface="游明朝"/>
              </a:endParaRPr>
            </a:p>
          </p:txBody>
        </p:sp>
      </p:grpSp>
      <p:sp>
        <p:nvSpPr>
          <p:cNvPr id="15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3772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99213" y="383759"/>
            <a:ext cx="994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4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The table shows the list of the top 15 women goal scorers during the 2016-2017 NCAA Women’s Division 1 soccer season. </a:t>
            </a:r>
            <a:endParaRPr lang="en-PH" sz="2000" dirty="0">
              <a:latin typeface="Calibri"/>
              <a:ea typeface="游明朝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9209807"/>
                  </p:ext>
                </p:extLst>
              </p:nvPr>
            </p:nvGraphicFramePr>
            <p:xfrm>
              <a:off x="2609376" y="1501934"/>
              <a:ext cx="7200000" cy="4788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Savannah Jordan, Florida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81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Tabitha Tindell, FGCU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66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Rachel Hill, UConn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61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Mckenzie Meehan, Boston College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58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Aaliyah Lewis, Alabama St.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57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Tyler Lussi, Princeton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Valerie Sanderson, Memphis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Murielle Tiernan, Virginia Tech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49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Ashley Hatch, BYU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47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Ariela Lewis, Alabama St.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45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9209807"/>
                  </p:ext>
                </p:extLst>
              </p:nvPr>
            </p:nvGraphicFramePr>
            <p:xfrm>
              <a:off x="1085376" y="1501934"/>
              <a:ext cx="7200000" cy="4788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/>
                    <a:gridCol w="5040000"/>
                    <a:gridCol w="1080000"/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8451" r="-567797" b="-9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Savannah Jordan, Florida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108451" r="-565" b="-923944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8451" r="-567797" b="-8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Tabitha Tindell, FGCU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208451" r="-565" b="-823944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8451" r="-567797" b="-7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Rachel Hill, UConn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308451" r="-565" b="-723944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14286" r="-567797" b="-63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Mckenzie Meehan, Boston College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414286" r="-565" b="-634286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07042" r="-567797" b="-5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Aaliyah Lewis, Alabama St.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507042" r="-565" b="-5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607042" r="-567797" b="-4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Tyler Lussi, Princeton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607042" r="-565" b="-4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707042" r="-567797" b="-3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Valerie Sanderson, Memphis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707042" r="-565" b="-3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807042" r="-567797" b="-2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Murielle Tiernan, Virginia Tech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807042" r="-565" b="-2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907042" r="-567797" b="-1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Ashley Hatch, BYU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907042" r="-565" b="-1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7042" r="-567797" b="-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Ariela Lewis, Alabama St.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1007042" r="-565" b="-2535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7167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69233" y="4041358"/>
            <a:ext cx="10004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2438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Find the mean number of goals for the 2016-2017 soccer season.</a:t>
            </a:r>
          </a:p>
          <a:p>
            <a:pPr marL="893763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3763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3763" indent="-452438"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Verdana"/>
            </a:endParaRPr>
          </a:p>
          <a:p>
            <a:pPr marL="893763" indent="-452438"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Interpret the mean.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7121660"/>
                  </p:ext>
                </p:extLst>
              </p:nvPr>
            </p:nvGraphicFramePr>
            <p:xfrm>
              <a:off x="2609376" y="383758"/>
              <a:ext cx="7200000" cy="3492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Emily Gingrich, Saint Joseph's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43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Margaret Purce, Harvard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Jaycie Johnson, Nebraska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42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Hayley Dowd, Boston College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39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Rachel Holden, North Texas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Lauren Miller, North Dakota St.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Abby Reed, DePaul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38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7121660"/>
                  </p:ext>
                </p:extLst>
              </p:nvPr>
            </p:nvGraphicFramePr>
            <p:xfrm>
              <a:off x="1085376" y="383758"/>
              <a:ext cx="7200000" cy="3492000"/>
            </p:xfrm>
            <a:graphic>
              <a:graphicData uri="http://schemas.openxmlformats.org/drawingml/2006/table">
                <a:tbl>
                  <a:tblPr bandRow="1"/>
                  <a:tblGrid>
                    <a:gridCol w="1080000"/>
                    <a:gridCol w="5040000"/>
                    <a:gridCol w="1080000"/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Rank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Player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Goals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9859" r="-567797" b="-6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Emily Gingrich, Saint Joseph's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109859" r="-565" b="-623944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9859" r="-567797" b="-5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Margaret Purce, Harvard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209859" r="-565" b="-523944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14286" r="-567797" b="-43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Jaycie Johnson, Nebraska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314286" r="-565" b="-431429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08451" r="-567797" b="-3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Hayley Dowd, Boston College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408451" r="-565" b="-3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08451" r="-567797" b="-2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Rachel Holden, North Texas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508451" r="-565" b="-2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608451" r="-567797" b="-1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Lauren Miller, North Dakota St.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608451" r="-565" b="-125352"/>
                          </a:stretch>
                        </a:blipFill>
                      </a:tcPr>
                    </a:tc>
                  </a:tr>
                  <a:tr h="43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708451" r="-567797" b="-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Abby Reed, DePaul</a:t>
                          </a:r>
                          <a:endParaRPr lang="en-PH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567232" t="-708451" r="-565" b="-2535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9578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44381" y="373249"/>
            <a:ext cx="101719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Find the median number of goals for the 2016-2017 soccer season.</a:t>
            </a: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890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8890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Interpret the median.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0770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2007765" y="373250"/>
            <a:ext cx="83271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0" indent="-457200">
              <a:buFont typeface="+mj-lt"/>
              <a:buAutoNum type="alphaLcPeriod" startAt="5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Complete the statements. 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  <a:p>
            <a:pPr marL="893763"/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893763"/>
            <a:r>
              <a:rPr lang="en-US" sz="2000" dirty="0">
                <a:latin typeface="Verdana" pitchFamily="34" charset="0"/>
                <a:ea typeface="Verdana" pitchFamily="34" charset="0"/>
              </a:rPr>
              <a:t>The mean of the 2016-2017 soccer season is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PH" sz="2000" dirty="0">
                <a:latin typeface="Verdana" pitchFamily="34" charset="0"/>
                <a:ea typeface="Verdana" pitchFamily="34" charset="0"/>
              </a:rPr>
            </a:br>
            <a:br>
              <a:rPr lang="en-PH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than the mean of the 2019-2020 soccer season. The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value in the                        soccer season that likely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influenced the mean is ________.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endParaRPr lang="en-PH" sz="2000" dirty="0">
              <a:latin typeface="Verdana" pitchFamily="34" charset="0"/>
              <a:ea typeface="Verdana" pitchFamily="34" charset="0"/>
            </a:endParaRPr>
          </a:p>
          <a:p>
            <a:pPr marL="893763"/>
            <a:r>
              <a:rPr lang="en-US" sz="2000" dirty="0">
                <a:latin typeface="Verdana" pitchFamily="34" charset="0"/>
                <a:ea typeface="Verdana" pitchFamily="34" charset="0"/>
              </a:rPr>
              <a:t> 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  <a:p>
            <a:pPr marL="893763"/>
            <a:r>
              <a:rPr lang="en-US" sz="2000" dirty="0">
                <a:latin typeface="Verdana" pitchFamily="34" charset="0"/>
                <a:ea typeface="Verdana" pitchFamily="34" charset="0"/>
              </a:rPr>
              <a:t>The median of the 2016-2017 soccer season is  </a:t>
            </a: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br>
              <a:rPr lang="en-US" sz="2000" dirty="0">
                <a:latin typeface="Verdana" pitchFamily="34" charset="0"/>
                <a:ea typeface="Verdana" pitchFamily="34" charset="0"/>
              </a:rPr>
            </a:br>
            <a:r>
              <a:rPr lang="en-US" sz="2000" dirty="0">
                <a:latin typeface="Verdana" pitchFamily="34" charset="0"/>
                <a:ea typeface="Verdana" pitchFamily="34" charset="0"/>
              </a:rPr>
              <a:t>than the median of the 2019-2020 soccer season.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869185" y="775067"/>
            <a:ext cx="1465716" cy="80944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91425" tIns="46800" rIns="91425" bIns="46800" anchor="ctr" anchorCtr="0">
            <a:spAutoFit/>
          </a:bodyPr>
          <a:lstStyle/>
          <a:p>
            <a:pPr marL="273050" indent="-27305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less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  <a:p>
            <a:pPr marL="273050" indent="-273050" algn="just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greater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90065" y="2641677"/>
            <a:ext cx="1958359" cy="783148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ysClr val="windowText" lastClr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</a:rPr>
              <a:t>2016-2017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  <a:p>
            <a:pPr marL="273050" indent="-273050">
              <a:buClrTx/>
              <a:buSzPct val="100000"/>
              <a:buFont typeface="Courier New"/>
              <a:buChar char="o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 pitchFamily="34" charset="0"/>
                <a:ea typeface="Verdana" pitchFamily="34" charset="0"/>
              </a:rPr>
              <a:t>2019-2020</a:t>
            </a:r>
            <a:endParaRPr lang="en-PH" sz="2000" dirty="0">
              <a:solidFill>
                <a:sysClr val="windowText" lastClr="000000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88014" y="4539667"/>
            <a:ext cx="1604867" cy="785606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6800" rIns="91425" bIns="46800" anchor="ctr" anchorCtr="0">
            <a:spAutoFit/>
          </a:bodyPr>
          <a:lstStyle/>
          <a:p>
            <a:pPr marL="273050" indent="-27305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less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  <a:p>
            <a:pPr marL="273050" indent="-273050" algn="just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greater</a:t>
            </a:r>
            <a:endParaRPr lang="en-PH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2297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44335" y="82742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9.8.5 Wrap-Up: Ticket Out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7035" y="25383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444336" y="1386024"/>
                <a:ext cx="4515032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4" indent="-457200">
                  <a:spcBef>
                    <a:spcPts val="900"/>
                  </a:spcBef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Professional basketball players tend to be taller than professional baseball players.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two histograms, labeled A and B, show height distributions of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male professional baseball players and </a:t>
                </a:r>
                <a:br>
                  <a:rPr lang="en-PH" sz="2000" i="1" dirty="0">
                    <a:latin typeface="Cambria Math"/>
                    <a:ea typeface="Verdana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male professional basketball players.</a:t>
                </a:r>
                <a:endParaRPr lang="en-PH" sz="2000" dirty="0">
                  <a:latin typeface="Calibri"/>
                  <a:ea typeface="游明朝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336" y="1386024"/>
                <a:ext cx="4515032" cy="3477875"/>
              </a:xfrm>
              <a:prstGeom prst="rect">
                <a:avLst/>
              </a:prstGeom>
              <a:blipFill rotWithShape="0">
                <a:blip r:embed="rId4"/>
                <a:stretch>
                  <a:fillRect l="-1484" t="-1051" r="-405" b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6110881" y="1387617"/>
            <a:ext cx="4224020" cy="2313305"/>
            <a:chOff x="4791130" y="1198868"/>
            <a:chExt cx="4224020" cy="2313305"/>
          </a:xfrm>
        </p:grpSpPr>
        <p:pic>
          <p:nvPicPr>
            <p:cNvPr id="10" name="Picture 9" descr="Chart, histogram&#10;&#10;Description automatically generated"/>
            <p:cNvPicPr/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7367"/>
            <a:stretch/>
          </p:blipFill>
          <p:spPr bwMode="auto">
            <a:xfrm>
              <a:off x="4791130" y="1198868"/>
              <a:ext cx="4224020" cy="231330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843128" y="1198868"/>
              <a:ext cx="3834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>
                  <a:latin typeface="Verdana"/>
                  <a:ea typeface="游明朝"/>
                </a:rPr>
                <a:t>A</a:t>
              </a:r>
              <a:endParaRPr lang="en-PH" sz="2000" dirty="0">
                <a:latin typeface="Calibri"/>
                <a:ea typeface="游明朝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116597" y="3884065"/>
            <a:ext cx="4218305" cy="2573610"/>
            <a:chOff x="4721446" y="3827045"/>
            <a:chExt cx="4218305" cy="2573610"/>
          </a:xfrm>
        </p:grpSpPr>
        <p:grpSp>
          <p:nvGrpSpPr>
            <p:cNvPr id="4" name="Group 3"/>
            <p:cNvGrpSpPr/>
            <p:nvPr/>
          </p:nvGrpSpPr>
          <p:grpSpPr>
            <a:xfrm>
              <a:off x="4721446" y="3827045"/>
              <a:ext cx="4218305" cy="2188845"/>
              <a:chOff x="4925695" y="3700921"/>
              <a:chExt cx="4218305" cy="2188845"/>
            </a:xfrm>
          </p:grpSpPr>
          <p:pic>
            <p:nvPicPr>
              <p:cNvPr id="11" name="Picture 10" descr="Chart, histogram&#10;&#10;Description automatically generated"/>
              <p:cNvPicPr/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925695" y="3700921"/>
                <a:ext cx="4218305" cy="2188845"/>
              </a:xfrm>
              <a:prstGeom prst="rect">
                <a:avLst/>
              </a:prstGeom>
            </p:spPr>
          </p:pic>
          <p:sp>
            <p:nvSpPr>
              <p:cNvPr id="15" name="Rectangle 14"/>
              <p:cNvSpPr/>
              <p:nvPr/>
            </p:nvSpPr>
            <p:spPr>
              <a:xfrm>
                <a:off x="6843128" y="3700921"/>
                <a:ext cx="38023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b="1" dirty="0">
                    <a:latin typeface="Verdana"/>
                    <a:ea typeface="游明朝"/>
                  </a:rPr>
                  <a:t>B</a:t>
                </a:r>
                <a:endParaRPr lang="en-PH" sz="2000" dirty="0">
                  <a:latin typeface="Calibri"/>
                  <a:ea typeface="游明朝"/>
                </a:endParaRP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5866865" y="6000545"/>
              <a:ext cx="248177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Verdana"/>
                  <a:ea typeface="Verdana"/>
                  <a:cs typeface="Verdana"/>
                </a:rPr>
                <a:t>Height (in inches)</a:t>
              </a:r>
              <a:endParaRPr lang="en-PH" sz="2000" dirty="0">
                <a:latin typeface="Calibri"/>
                <a:ea typeface="游明朝"/>
              </a:endParaRPr>
            </a:p>
          </p:txBody>
        </p:sp>
      </p:grpSp>
      <p:sp>
        <p:nvSpPr>
          <p:cNvPr id="18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064302" y="373250"/>
            <a:ext cx="1021406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Choose one of the titles: “Heights of Baseball Players” or “Heights of Basketball Players” for each histogram.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Describe the spread and shape of the distribution of the heights of the basketball players.</a:t>
            </a:r>
            <a:endParaRPr lang="en-PH" sz="2400" dirty="0">
              <a:latin typeface="Calibri"/>
              <a:ea typeface="游明朝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734431"/>
              </p:ext>
            </p:extLst>
          </p:nvPr>
        </p:nvGraphicFramePr>
        <p:xfrm>
          <a:off x="3018440" y="1665321"/>
          <a:ext cx="7200000" cy="1620000"/>
        </p:xfrm>
        <a:graphic>
          <a:graphicData uri="http://schemas.openxmlformats.org/drawingml/2006/table">
            <a:tbl>
              <a:tblPr firstRow="1" firstCol="1" bandRow="1"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Histogram</a:t>
                      </a:r>
                      <a:endParaRPr lang="en-PH" sz="1400" dirty="0">
                        <a:effectLst/>
                        <a:latin typeface="Calibri"/>
                        <a:ea typeface="游明朝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A</a:t>
                      </a:r>
                      <a:endParaRPr lang="en-PH" sz="1400" dirty="0">
                        <a:effectLst/>
                        <a:latin typeface="Calibri"/>
                        <a:ea typeface="游明朝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B</a:t>
                      </a:r>
                      <a:endParaRPr lang="en-PH" sz="1400" dirty="0">
                        <a:effectLst/>
                        <a:latin typeface="Calibri"/>
                        <a:ea typeface="游明朝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/>
                          <a:ea typeface="Verdana"/>
                          <a:cs typeface="Verdana"/>
                        </a:rPr>
                        <a:t>Best Title</a:t>
                      </a:r>
                      <a:endParaRPr lang="en-PH" sz="1400" dirty="0">
                        <a:effectLst/>
                        <a:latin typeface="Calibri"/>
                        <a:ea typeface="游明朝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1400" dirty="0">
                        <a:effectLst/>
                        <a:latin typeface="Calibri"/>
                        <a:ea typeface="游明朝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 </a:t>
                      </a:r>
                      <a:endParaRPr lang="en-PH" sz="1400" dirty="0">
                        <a:effectLst/>
                        <a:latin typeface="Calibri"/>
                        <a:ea typeface="游明朝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69384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207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62402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1378</Words>
  <Application>Microsoft Office PowerPoint</Application>
  <PresentationFormat>Widescreen</PresentationFormat>
  <Paragraphs>316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Black</vt:lpstr>
      <vt:lpstr>Calibri</vt:lpstr>
      <vt:lpstr>Cambria Math</vt:lpstr>
      <vt:lpstr>Century Gothic</vt:lpstr>
      <vt:lpstr>Courier New</vt:lpstr>
      <vt:lpstr>Verdana</vt:lpstr>
      <vt:lpstr>1_Office Theme</vt:lpstr>
      <vt:lpstr>6th Grade Accelerated Math  Unit 9, Lesson 8  Comparing Distributions  Volume 2, pg. 83  </vt:lpstr>
      <vt:lpstr>Benchmarks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30</cp:revision>
  <dcterms:created xsi:type="dcterms:W3CDTF">2015-03-17T18:51:18Z</dcterms:created>
  <dcterms:modified xsi:type="dcterms:W3CDTF">2022-08-21T23:46:18Z</dcterms:modified>
</cp:coreProperties>
</file>