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19.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56" r:id="rId2"/>
    <p:sldId id="257" r:id="rId3"/>
    <p:sldId id="285" r:id="rId4"/>
    <p:sldId id="286" r:id="rId5"/>
    <p:sldId id="261" r:id="rId6"/>
    <p:sldId id="287" r:id="rId7"/>
    <p:sldId id="289" r:id="rId8"/>
    <p:sldId id="290" r:id="rId9"/>
    <p:sldId id="288" r:id="rId10"/>
    <p:sldId id="356" r:id="rId11"/>
    <p:sldId id="311" r:id="rId12"/>
    <p:sldId id="312" r:id="rId13"/>
    <p:sldId id="362" r:id="rId14"/>
    <p:sldId id="364" r:id="rId15"/>
    <p:sldId id="363" r:id="rId16"/>
    <p:sldId id="353" r:id="rId17"/>
    <p:sldId id="320" r:id="rId18"/>
    <p:sldId id="321" r:id="rId19"/>
    <p:sldId id="355" r:id="rId20"/>
    <p:sldId id="302" r:id="rId21"/>
    <p:sldId id="303" r:id="rId22"/>
    <p:sldId id="306" r:id="rId23"/>
    <p:sldId id="307"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65B0"/>
    <a:srgbClr val="DA4487"/>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94" autoAdjust="0"/>
    <p:restoredTop sz="94707" autoAdjust="0"/>
  </p:normalViewPr>
  <p:slideViewPr>
    <p:cSldViewPr snapToGrid="0">
      <p:cViewPr varScale="1">
        <p:scale>
          <a:sx n="61" d="100"/>
          <a:sy n="61" d="100"/>
        </p:scale>
        <p:origin x="108" y="11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62"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57" Type="http://schemas.openxmlformats.org/officeDocument/2006/relationships/viewProps" Target="viewProps.xml"/><Relationship Id="rId61"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60"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3152463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91886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5477802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5477802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5477802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5477802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8516506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2203952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0.png"/><Relationship Id="rId4" Type="http://schemas.openxmlformats.org/officeDocument/2006/relationships/image" Target="../media/image13.jp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tiff"/><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1.tiff"/><Relationship Id="rId4" Type="http://schemas.openxmlformats.org/officeDocument/2006/relationships/image" Target="../media/image20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5.tiff"/><Relationship Id="rId4" Type="http://schemas.openxmlformats.org/officeDocument/2006/relationships/image" Target="../media/image240.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6.tiff"/></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8.tiff"/><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6</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Accelerated Math</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lvl="0" algn="ctr">
              <a:lnSpc>
                <a:spcPct val="100000"/>
              </a:lnSpc>
              <a:buClr>
                <a:srgbClr val="000000"/>
              </a:buClr>
            </a:pPr>
            <a:r>
              <a:rPr lang="en-US" sz="3600" b="1" dirty="0">
                <a:solidFill>
                  <a:srgbClr val="417DBF"/>
                </a:solidFill>
                <a:latin typeface="Verdana"/>
                <a:ea typeface="Verdana"/>
                <a:cs typeface="Verdana"/>
                <a:sym typeface="Verdana"/>
              </a:rPr>
              <a:t>Unit 9, Lesson 5</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Describing and Interpreting Histograms –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Part 1</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63</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id="{52C00464-EFA3-6346-BE43-A03DFF537B3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0503" y="1692057"/>
            <a:ext cx="2973100" cy="34657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758788" y="1492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935288" y="3850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7371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63</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5376"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981200" y="1600200"/>
            <a:ext cx="8229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lnSpc>
                <a:spcPct val="100000"/>
              </a:lnSpc>
              <a:spcBef>
                <a:spcPts val="0"/>
              </a:spcBef>
              <a:buSzPts val="1100"/>
              <a:buNone/>
            </a:pPr>
            <a:r>
              <a:rPr lang="en-US" sz="3200" dirty="0">
                <a:solidFill>
                  <a:schemeClr val="tx1"/>
                </a:solidFill>
                <a:latin typeface="Verdana"/>
                <a:ea typeface="Verdana"/>
                <a:cs typeface="Verdana"/>
                <a:sym typeface="Verdana"/>
              </a:rPr>
              <a:t>MA.6.DP.1.4</a:t>
            </a:r>
          </a:p>
          <a:p>
            <a:pPr indent="0">
              <a:lnSpc>
                <a:spcPct val="100000"/>
              </a:lnSpc>
              <a:spcBef>
                <a:spcPts val="0"/>
              </a:spcBef>
              <a:buNone/>
            </a:pPr>
            <a:r>
              <a:rPr lang="en-US" sz="3200" dirty="0">
                <a:solidFill>
                  <a:schemeClr val="tx1"/>
                </a:solidFill>
                <a:latin typeface="Verdana"/>
                <a:ea typeface="Verdana"/>
                <a:cs typeface="Verdana"/>
                <a:sym typeface="Verdana"/>
              </a:rPr>
              <a:t>Given a histogram or line plot within a real-world context, qualitatively describe and interpret the spread and distribution of the data, including any symmetry, </a:t>
            </a:r>
            <a:r>
              <a:rPr lang="en-US" sz="3200" dirty="0" err="1">
                <a:solidFill>
                  <a:schemeClr val="tx1"/>
                </a:solidFill>
                <a:latin typeface="Verdana"/>
                <a:ea typeface="Verdana"/>
                <a:cs typeface="Verdana"/>
                <a:sym typeface="Verdana"/>
              </a:rPr>
              <a:t>skewness</a:t>
            </a:r>
            <a:r>
              <a:rPr lang="en-US" sz="3200" dirty="0">
                <a:solidFill>
                  <a:schemeClr val="tx1"/>
                </a:solidFill>
                <a:latin typeface="Verdana"/>
                <a:ea typeface="Verdana"/>
                <a:cs typeface="Verdana"/>
                <a:sym typeface="Verdana"/>
              </a:rPr>
              <a:t>, gaps, clusters, outliers, and the range.</a:t>
            </a:r>
            <a:endParaRPr lang="en-US" sz="1800"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677450" y="385000"/>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502100" y="1423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600200" y="1596390"/>
            <a:ext cx="957936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10" name="Google Shape;282;g104476d1465_1_17"/>
          <p:cNvSpPr txBox="1"/>
          <p:nvPr/>
        </p:nvSpPr>
        <p:spPr>
          <a:xfrm>
            <a:off x="87371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63</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53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361375" y="-51387"/>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579213" y="237813"/>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326513" y="1600200"/>
            <a:ext cx="953897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36575" indent="-530225">
              <a:buClr>
                <a:srgbClr val="434343"/>
              </a:buClr>
              <a:buSzPts val="3500"/>
              <a:buFont typeface="Verdana"/>
              <a:buChar char="❏"/>
            </a:pPr>
            <a:r>
              <a:rPr lang="en-US" sz="3500" dirty="0">
                <a:solidFill>
                  <a:schemeClr val="tx1"/>
                </a:solidFill>
                <a:latin typeface="Verdana"/>
                <a:ea typeface="Verdana"/>
                <a:cs typeface="Verdana"/>
                <a:sym typeface="Verdana"/>
              </a:rPr>
              <a:t>I can qualitatively describe and interpret a histogram within a real-world context.</a:t>
            </a:r>
          </a:p>
        </p:txBody>
      </p:sp>
      <p:sp>
        <p:nvSpPr>
          <p:cNvPr id="9" name="Google Shape;282;g104476d1465_1_17"/>
          <p:cNvSpPr txBox="1"/>
          <p:nvPr/>
        </p:nvSpPr>
        <p:spPr>
          <a:xfrm>
            <a:off x="87371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63</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53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p:cNvSpPr txBox="1"/>
          <p:nvPr/>
        </p:nvSpPr>
        <p:spPr>
          <a:xfrm>
            <a:off x="87371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64</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5376" y="6200599"/>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65988" y="276345"/>
            <a:ext cx="8019300" cy="5354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9.5.1 Warm-Up: Why Statistics?</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718688" y="170440"/>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1104900" y="1092132"/>
            <a:ext cx="9282684" cy="5016758"/>
          </a:xfrm>
          <a:prstGeom prst="rect">
            <a:avLst/>
          </a:prstGeom>
          <a:noFill/>
        </p:spPr>
        <p:txBody>
          <a:bodyPr wrap="square" rtlCol="0">
            <a:spAutoFit/>
          </a:bodyPr>
          <a:lstStyle/>
          <a:p>
            <a:r>
              <a:rPr lang="en-US" sz="2000" dirty="0">
                <a:latin typeface="Verdana" pitchFamily="34" charset="0"/>
                <a:ea typeface="Verdana" pitchFamily="34" charset="0"/>
                <a:cs typeface="Verdana"/>
              </a:rPr>
              <a:t>Eric </a:t>
            </a:r>
            <a:r>
              <a:rPr lang="en-US" sz="2000" dirty="0" err="1">
                <a:latin typeface="Verdana" pitchFamily="34" charset="0"/>
                <a:ea typeface="Verdana" pitchFamily="34" charset="0"/>
                <a:cs typeface="Verdana"/>
              </a:rPr>
              <a:t>Newburger</a:t>
            </a:r>
            <a:r>
              <a:rPr lang="en-US" sz="2000" dirty="0">
                <a:latin typeface="Verdana" pitchFamily="34" charset="0"/>
                <a:ea typeface="Verdana" pitchFamily="34" charset="0"/>
                <a:cs typeface="Verdana"/>
              </a:rPr>
              <a:t> relates the need for </a:t>
            </a:r>
            <a:br>
              <a:rPr lang="en-US" sz="2000" dirty="0">
                <a:latin typeface="Verdana" pitchFamily="34" charset="0"/>
                <a:ea typeface="Verdana" pitchFamily="34" charset="0"/>
                <a:cs typeface="Verdana"/>
              </a:rPr>
            </a:br>
            <a:r>
              <a:rPr lang="en-US" sz="2000" dirty="0">
                <a:latin typeface="Verdana" pitchFamily="34" charset="0"/>
                <a:ea typeface="Verdana" pitchFamily="34" charset="0"/>
                <a:cs typeface="Verdana"/>
              </a:rPr>
              <a:t>studying statistics to the need for </a:t>
            </a:r>
            <a:br>
              <a:rPr lang="en-US" sz="2000" dirty="0">
                <a:latin typeface="Verdana" pitchFamily="34" charset="0"/>
                <a:ea typeface="Verdana" pitchFamily="34" charset="0"/>
                <a:cs typeface="Verdana"/>
              </a:rPr>
            </a:br>
            <a:r>
              <a:rPr lang="en-US" sz="2000" dirty="0">
                <a:latin typeface="Verdana" pitchFamily="34" charset="0"/>
                <a:ea typeface="Verdana" pitchFamily="34" charset="0"/>
                <a:cs typeface="Verdana"/>
              </a:rPr>
              <a:t>using a microscope. He discusses </a:t>
            </a:r>
            <a:br>
              <a:rPr lang="en-US" sz="2000" dirty="0">
                <a:latin typeface="Verdana" pitchFamily="34" charset="0"/>
                <a:ea typeface="Verdana" pitchFamily="34" charset="0"/>
                <a:cs typeface="Verdana"/>
              </a:rPr>
            </a:br>
            <a:r>
              <a:rPr lang="en-US" sz="2000" dirty="0">
                <a:latin typeface="Verdana" pitchFamily="34" charset="0"/>
                <a:ea typeface="Verdana" pitchFamily="34" charset="0"/>
                <a:cs typeface="Verdana"/>
              </a:rPr>
              <a:t>how a microscope is used to study </a:t>
            </a:r>
            <a:br>
              <a:rPr lang="en-US" sz="2000" dirty="0">
                <a:latin typeface="Verdana" pitchFamily="34" charset="0"/>
                <a:ea typeface="Verdana" pitchFamily="34" charset="0"/>
                <a:cs typeface="Verdana"/>
              </a:rPr>
            </a:br>
            <a:r>
              <a:rPr lang="en-US" sz="2000" dirty="0">
                <a:latin typeface="Verdana" pitchFamily="34" charset="0"/>
                <a:ea typeface="Verdana" pitchFamily="34" charset="0"/>
                <a:cs typeface="Verdana"/>
              </a:rPr>
              <a:t>small things. It’s also needed to </a:t>
            </a:r>
            <a:br>
              <a:rPr lang="en-US" sz="2000" dirty="0">
                <a:latin typeface="Verdana" pitchFamily="34" charset="0"/>
                <a:ea typeface="Verdana" pitchFamily="34" charset="0"/>
                <a:cs typeface="Verdana"/>
              </a:rPr>
            </a:br>
            <a:r>
              <a:rPr lang="en-US" sz="2000" dirty="0">
                <a:latin typeface="Verdana" pitchFamily="34" charset="0"/>
                <a:ea typeface="Verdana" pitchFamily="34" charset="0"/>
                <a:cs typeface="Verdana"/>
              </a:rPr>
              <a:t>study things like food poisoning at </a:t>
            </a:r>
            <a:br>
              <a:rPr lang="en-US" sz="2000" dirty="0">
                <a:latin typeface="Verdana" pitchFamily="34" charset="0"/>
                <a:ea typeface="Verdana" pitchFamily="34" charset="0"/>
                <a:cs typeface="Verdana"/>
              </a:rPr>
            </a:br>
            <a:r>
              <a:rPr lang="en-US" sz="2000" dirty="0">
                <a:latin typeface="Verdana" pitchFamily="34" charset="0"/>
                <a:ea typeface="Verdana" pitchFamily="34" charset="0"/>
                <a:cs typeface="Verdana"/>
              </a:rPr>
              <a:t>a larger level to aid in </a:t>
            </a:r>
            <a:br>
              <a:rPr lang="en-US" sz="2000" dirty="0">
                <a:latin typeface="Verdana" pitchFamily="34" charset="0"/>
                <a:ea typeface="Verdana" pitchFamily="34" charset="0"/>
                <a:cs typeface="Verdana"/>
              </a:rPr>
            </a:br>
            <a:r>
              <a:rPr lang="en-US" sz="2000" dirty="0">
                <a:latin typeface="Verdana" pitchFamily="34" charset="0"/>
                <a:ea typeface="Verdana" pitchFamily="34" charset="0"/>
                <a:cs typeface="Verdana"/>
              </a:rPr>
              <a:t>understanding diseases and how viruses spread. </a:t>
            </a:r>
            <a:endParaRPr lang="en-PH" sz="2000" i="1" dirty="0">
              <a:latin typeface="Verdana" pitchFamily="34" charset="0"/>
              <a:ea typeface="Verdana" pitchFamily="34" charset="0"/>
              <a:cs typeface="Cambria Math"/>
            </a:endParaRPr>
          </a:p>
          <a:p>
            <a:pPr>
              <a:tabLst>
                <a:tab pos="3881755" algn="l"/>
              </a:tabLst>
            </a:pPr>
            <a:r>
              <a:rPr lang="en-US" sz="2000" dirty="0">
                <a:latin typeface="Verdana" pitchFamily="34" charset="0"/>
                <a:ea typeface="Verdana" pitchFamily="34" charset="0"/>
                <a:cs typeface="Verdana"/>
              </a:rPr>
              <a:t>	</a:t>
            </a:r>
            <a:endParaRPr lang="en-PH" sz="2000" i="1" dirty="0">
              <a:latin typeface="Verdana" pitchFamily="34" charset="0"/>
              <a:ea typeface="Verdana" pitchFamily="34" charset="0"/>
              <a:cs typeface="Cambria Math"/>
            </a:endParaRPr>
          </a:p>
          <a:p>
            <a:r>
              <a:rPr lang="en-US" sz="2000" dirty="0">
                <a:latin typeface="Verdana" pitchFamily="34" charset="0"/>
                <a:ea typeface="Verdana" pitchFamily="34" charset="0"/>
                <a:cs typeface="Verdana"/>
              </a:rPr>
              <a:t>In Mr. </a:t>
            </a:r>
            <a:r>
              <a:rPr lang="en-US" sz="2000" dirty="0" err="1">
                <a:latin typeface="Verdana" pitchFamily="34" charset="0"/>
                <a:ea typeface="Verdana" pitchFamily="34" charset="0"/>
                <a:cs typeface="Verdana"/>
              </a:rPr>
              <a:t>Newburger’s</a:t>
            </a:r>
            <a:r>
              <a:rPr lang="en-US" sz="2000" dirty="0">
                <a:latin typeface="Verdana" pitchFamily="34" charset="0"/>
                <a:ea typeface="Verdana" pitchFamily="34" charset="0"/>
                <a:cs typeface="Verdana"/>
              </a:rPr>
              <a:t> work, he explains you can take a big thing and shrink it down small enough to study and to understand. That’s the study of statistics. And when you want to understand something that is too small, you can use a tool (like the microscope), which is “why statistics.”</a:t>
            </a:r>
            <a:endParaRPr lang="en-PH" sz="2000" i="1" dirty="0">
              <a:latin typeface="Verdana" pitchFamily="34" charset="0"/>
              <a:ea typeface="Verdana" pitchFamily="34" charset="0"/>
              <a:cs typeface="Cambria Math"/>
            </a:endParaRPr>
          </a:p>
          <a:p>
            <a:pPr marL="457200" indent="-457200">
              <a:buFont typeface="+mj-lt"/>
              <a:buAutoNum type="arabicPeriod"/>
            </a:pPr>
            <a:endParaRPr lang="en-US" sz="2000" dirty="0">
              <a:latin typeface="Verdana" pitchFamily="34" charset="0"/>
              <a:ea typeface="Verdana" pitchFamily="34" charset="0"/>
              <a:cs typeface="Verdana"/>
            </a:endParaRPr>
          </a:p>
          <a:p>
            <a:pPr marL="457200" indent="-457200">
              <a:buFont typeface="+mj-lt"/>
              <a:buAutoNum type="arabicPeriod"/>
            </a:pPr>
            <a:r>
              <a:rPr lang="en-US" sz="2000" dirty="0">
                <a:latin typeface="Verdana" pitchFamily="34" charset="0"/>
                <a:ea typeface="Verdana" pitchFamily="34" charset="0"/>
                <a:cs typeface="Verdana"/>
              </a:rPr>
              <a:t>List two reasons why statistics are important.</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pic>
        <p:nvPicPr>
          <p:cNvPr id="9" name="image24.jpg" descr="Statistics in Schools - Why Statistics?"/>
          <p:cNvPicPr/>
          <p:nvPr/>
        </p:nvPicPr>
        <p:blipFill rotWithShape="1">
          <a:blip r:embed="rId4">
            <a:extLst>
              <a:ext uri="{28A0092B-C50C-407E-A947-70E740481C1C}">
                <a14:useLocalDpi xmlns:a14="http://schemas.microsoft.com/office/drawing/2010/main"/>
              </a:ext>
            </a:extLst>
          </a:blip>
          <a:srcRect t="13169" b="10733"/>
          <a:stretch/>
        </p:blipFill>
        <p:spPr bwMode="auto">
          <a:xfrm>
            <a:off x="5858245" y="1092132"/>
            <a:ext cx="3627043" cy="2069904"/>
          </a:xfrm>
          <a:prstGeom prst="rect">
            <a:avLst/>
          </a:prstGeom>
          <a:ln>
            <a:noFill/>
          </a:ln>
          <a:extLst>
            <a:ext uri="{53640926-AAD7-44D8-BBD7-CCE9431645EC}">
              <a14:shadowObscured xmlns:a14="http://schemas.microsoft.com/office/drawing/2010/main"/>
            </a:ext>
          </a:extLst>
        </p:spPr>
      </p:pic>
      <p:sp>
        <p:nvSpPr>
          <p:cNvPr id="11" name="Google Shape;282;g104476d1465_1_17"/>
          <p:cNvSpPr txBox="1"/>
          <p:nvPr/>
        </p:nvSpPr>
        <p:spPr>
          <a:xfrm>
            <a:off x="87371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64</a:t>
            </a:r>
            <a:endParaRPr i="1" dirty="0">
              <a:latin typeface="Calibri"/>
              <a:ea typeface="Calibri"/>
              <a:cs typeface="Calibri"/>
              <a:sym typeface="Calibri"/>
            </a:endParaRPr>
          </a:p>
        </p:txBody>
      </p:sp>
      <p:pic>
        <p:nvPicPr>
          <p:cNvPr id="12"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75376" y="6200599"/>
            <a:ext cx="563850" cy="657276"/>
          </a:xfrm>
          <a:prstGeom prst="rect">
            <a:avLst/>
          </a:prstGeom>
          <a:noFill/>
          <a:ln>
            <a:noFill/>
          </a:ln>
          <a:effectLst>
            <a:outerShdw blurRad="57150" dist="19050" dir="5400000" algn="bl" rotWithShape="0">
              <a:srgbClr val="000000">
                <a:alpha val="50000"/>
              </a:srgbClr>
            </a:outerShdw>
          </a:effectLst>
        </p:spPr>
      </p:pic>
      <p:pic>
        <p:nvPicPr>
          <p:cNvPr id="4" name="Picture 3">
            <a:extLst>
              <a:ext uri="{FF2B5EF4-FFF2-40B4-BE49-F238E27FC236}">
                <a16:creationId xmlns:a16="http://schemas.microsoft.com/office/drawing/2014/main" id="{A0881AD7-A73B-04A2-59C2-8F78E4C8CDBF}"/>
              </a:ext>
            </a:extLst>
          </p:cNvPr>
          <p:cNvPicPr>
            <a:picLocks noChangeAspect="1"/>
          </p:cNvPicPr>
          <p:nvPr/>
        </p:nvPicPr>
        <p:blipFill>
          <a:blip r:embed="rId6"/>
          <a:stretch>
            <a:fillRect/>
          </a:stretch>
        </p:blipFill>
        <p:spPr>
          <a:xfrm>
            <a:off x="9630843" y="1154979"/>
            <a:ext cx="2005736" cy="1944210"/>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7371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64</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53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02612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34097" y="-1825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9.5.2 Guided Instruction: Histograms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3">
            <a:alphaModFix/>
          </a:blip>
          <a:srcRect/>
          <a:stretch/>
        </p:blipFill>
        <p:spPr>
          <a:xfrm>
            <a:off x="486797" y="189012"/>
            <a:ext cx="747300" cy="747300"/>
          </a:xfrm>
          <a:prstGeom prst="rect">
            <a:avLst/>
          </a:prstGeom>
          <a:noFill/>
          <a:ln>
            <a:noFill/>
          </a:ln>
          <a:effectLst>
            <a:outerShdw blurRad="50800" dist="38100" dir="2700000" algn="tl" rotWithShape="0">
              <a:prstClr val="black">
                <a:alpha val="40000"/>
              </a:prstClr>
            </a:outerShdw>
          </a:effectLst>
        </p:spPr>
      </p:pic>
      <p:sp>
        <p:nvSpPr>
          <p:cNvPr id="13" name="TextBox 12">
            <a:extLst>
              <a:ext uri="{FF2B5EF4-FFF2-40B4-BE49-F238E27FC236}">
                <a16:creationId xmlns:a16="http://schemas.microsoft.com/office/drawing/2014/main" id="{C01B13E8-EC8D-E443-A329-C5E3593DD13A}"/>
              </a:ext>
            </a:extLst>
          </p:cNvPr>
          <p:cNvSpPr txBox="1"/>
          <p:nvPr/>
        </p:nvSpPr>
        <p:spPr>
          <a:xfrm>
            <a:off x="1346200" y="1386025"/>
            <a:ext cx="9755632" cy="852734"/>
          </a:xfrm>
          <a:prstGeom prst="rect">
            <a:avLst/>
          </a:prstGeom>
          <a:noFill/>
        </p:spPr>
        <p:txBody>
          <a:bodyPr wrap="square" rtlCol="0">
            <a:spAutoFit/>
          </a:bodyPr>
          <a:lstStyle/>
          <a:p>
            <a:r>
              <a:rPr lang="en-US" sz="2400" dirty="0">
                <a:latin typeface="Verdana"/>
                <a:ea typeface="Verdana"/>
                <a:cs typeface="Verdana"/>
              </a:rPr>
              <a:t>Numerical data can be displayed graphically in a variety of ways. One type of graph is a histogram.</a:t>
            </a:r>
            <a:endParaRPr lang="en-PH" sz="2000" i="1" dirty="0">
              <a:latin typeface="Cambria Math"/>
              <a:ea typeface="Cambria Math"/>
              <a:cs typeface="Cambria Math"/>
            </a:endParaRPr>
          </a:p>
        </p:txBody>
      </p:sp>
      <p:grpSp>
        <p:nvGrpSpPr>
          <p:cNvPr id="18" name="Group 17"/>
          <p:cNvGrpSpPr/>
          <p:nvPr/>
        </p:nvGrpSpPr>
        <p:grpSpPr>
          <a:xfrm>
            <a:off x="2624016" y="2560280"/>
            <a:ext cx="7200000" cy="1896538"/>
            <a:chOff x="0" y="-4025"/>
            <a:chExt cx="7200000" cy="1897140"/>
          </a:xfrm>
          <a:effectLst>
            <a:outerShdw blurRad="50800" dist="38100" dir="2700000" algn="tl" rotWithShape="0">
              <a:prstClr val="black">
                <a:alpha val="40000"/>
              </a:prstClr>
            </a:outerShdw>
          </a:effectLst>
        </p:grpSpPr>
        <p:grpSp>
          <p:nvGrpSpPr>
            <p:cNvPr id="19" name="Group 18"/>
            <p:cNvGrpSpPr/>
            <p:nvPr/>
          </p:nvGrpSpPr>
          <p:grpSpPr>
            <a:xfrm>
              <a:off x="0" y="-4025"/>
              <a:ext cx="7200000" cy="1897140"/>
              <a:chOff x="1937003" y="3325125"/>
              <a:chExt cx="7404827" cy="1897140"/>
            </a:xfrm>
          </p:grpSpPr>
          <p:sp>
            <p:nvSpPr>
              <p:cNvPr id="21" name="Rectangle 20"/>
              <p:cNvSpPr/>
              <p:nvPr/>
            </p:nvSpPr>
            <p:spPr>
              <a:xfrm>
                <a:off x="1937003" y="3329150"/>
                <a:ext cx="6817975" cy="1889075"/>
              </a:xfrm>
              <a:prstGeom prst="rect">
                <a:avLst/>
              </a:prstGeom>
              <a:noFill/>
              <a:ln>
                <a:noFill/>
              </a:ln>
            </p:spPr>
            <p:txBody>
              <a:bodyPr spcFirstLastPara="1" wrap="square" lIns="91425" tIns="91425" rIns="91425" bIns="91425" anchor="ctr" anchorCtr="0">
                <a:noAutofit/>
              </a:bodyPr>
              <a:lstStyle/>
              <a:p>
                <a:pPr>
                  <a:lnSpc>
                    <a:spcPct val="107000"/>
                  </a:lnSpc>
                </a:pPr>
                <a:r>
                  <a:rPr lang="en-US" sz="1600" i="1">
                    <a:latin typeface="Cambria Math"/>
                    <a:ea typeface="Cambria Math"/>
                    <a:cs typeface="Cambria Math"/>
                  </a:rPr>
                  <a:t> </a:t>
                </a:r>
                <a:endParaRPr lang="en-PH" sz="1600" i="1">
                  <a:latin typeface="Cambria Math"/>
                  <a:ea typeface="Cambria Math"/>
                  <a:cs typeface="Cambria Math"/>
                </a:endParaRPr>
              </a:p>
            </p:txBody>
          </p:sp>
          <p:grpSp>
            <p:nvGrpSpPr>
              <p:cNvPr id="22" name="Group 21"/>
              <p:cNvGrpSpPr/>
              <p:nvPr/>
            </p:nvGrpSpPr>
            <p:grpSpPr>
              <a:xfrm>
                <a:off x="1937003" y="3325125"/>
                <a:ext cx="7404827" cy="1897140"/>
                <a:chOff x="0" y="-4025"/>
                <a:chExt cx="7404827" cy="1897140"/>
              </a:xfrm>
            </p:grpSpPr>
            <p:sp>
              <p:nvSpPr>
                <p:cNvPr id="23" name="Rectangle 22"/>
                <p:cNvSpPr/>
                <p:nvPr/>
              </p:nvSpPr>
              <p:spPr>
                <a:xfrm>
                  <a:off x="0" y="0"/>
                  <a:ext cx="6817975" cy="901700"/>
                </a:xfrm>
                <a:prstGeom prst="rect">
                  <a:avLst/>
                </a:prstGeom>
                <a:noFill/>
                <a:ln>
                  <a:noFill/>
                </a:ln>
              </p:spPr>
              <p:txBody>
                <a:bodyPr spcFirstLastPara="1" wrap="square" lIns="91425" tIns="91425" rIns="91425" bIns="91425" anchor="ctr" anchorCtr="0">
                  <a:noAutofit/>
                </a:bodyPr>
                <a:lstStyle/>
                <a:p>
                  <a:pPr>
                    <a:lnSpc>
                      <a:spcPct val="107000"/>
                    </a:lnSpc>
                  </a:pPr>
                  <a:r>
                    <a:rPr lang="en-US" sz="1600" i="1">
                      <a:latin typeface="Cambria Math"/>
                      <a:ea typeface="Cambria Math"/>
                      <a:cs typeface="Cambria Math"/>
                    </a:rPr>
                    <a:t> </a:t>
                  </a:r>
                  <a:endParaRPr lang="en-PH" sz="1600" i="1">
                    <a:latin typeface="Cambria Math"/>
                    <a:ea typeface="Cambria Math"/>
                    <a:cs typeface="Cambria Math"/>
                  </a:endParaRPr>
                </a:p>
              </p:txBody>
            </p:sp>
            <p:sp>
              <p:nvSpPr>
                <p:cNvPr id="24" name="Rounded Rectangle 23"/>
                <p:cNvSpPr/>
                <p:nvPr/>
              </p:nvSpPr>
              <p:spPr>
                <a:xfrm>
                  <a:off x="0" y="-4025"/>
                  <a:ext cx="7404827" cy="1897140"/>
                </a:xfrm>
                <a:prstGeom prst="roundRect">
                  <a:avLst>
                    <a:gd name="adj" fmla="val 16667"/>
                  </a:avLst>
                </a:prstGeom>
                <a:solidFill>
                  <a:srgbClr val="E2EFD5"/>
                </a:solidFill>
                <a:ln w="12700" cap="flat" cmpd="sng">
                  <a:solidFill>
                    <a:srgbClr val="E2EFD5"/>
                  </a:solidFill>
                  <a:prstDash val="solid"/>
                  <a:miter lim="800000"/>
                  <a:headEnd type="none" w="sm" len="sm"/>
                  <a:tailEnd type="none" w="sm" len="sm"/>
                </a:ln>
              </p:spPr>
              <p:txBody>
                <a:bodyPr spcFirstLastPara="1" wrap="square" lIns="91425" tIns="72000" rIns="91425" bIns="0" anchor="ctr" anchorCtr="0">
                  <a:spAutoFit/>
                </a:bodyPr>
                <a:lstStyle/>
                <a:p>
                  <a:pPr marL="627063">
                    <a:spcAft>
                      <a:spcPts val="800"/>
                    </a:spcAft>
                  </a:pPr>
                  <a:r>
                    <a:rPr lang="en-US" sz="2000" dirty="0">
                      <a:solidFill>
                        <a:srgbClr val="6C993D"/>
                      </a:solidFill>
                      <a:latin typeface="Verdana"/>
                      <a:ea typeface="Verdana"/>
                      <a:cs typeface="Verdana"/>
                    </a:rPr>
                    <a:t>A </a:t>
                  </a:r>
                  <a:r>
                    <a:rPr lang="en-US" sz="2000" b="1" i="1" dirty="0">
                      <a:solidFill>
                        <a:srgbClr val="6C993D"/>
                      </a:solidFill>
                      <a:latin typeface="Verdana"/>
                      <a:ea typeface="Verdana"/>
                      <a:cs typeface="Verdana"/>
                    </a:rPr>
                    <a:t>histogram</a:t>
                  </a:r>
                  <a:r>
                    <a:rPr lang="en-US" sz="2000" dirty="0">
                      <a:solidFill>
                        <a:srgbClr val="6C993D"/>
                      </a:solidFill>
                      <a:latin typeface="Verdana"/>
                      <a:ea typeface="Verdana"/>
                      <a:cs typeface="Verdana"/>
                    </a:rPr>
                    <a:t> is a visual display of numerical data using bars along a number line with no spaces between the bars. The height of each bar represents either the frequency or relative frequency of data within that interval.</a:t>
                  </a:r>
                  <a:endParaRPr lang="en-PH" sz="1800" i="1" dirty="0">
                    <a:latin typeface="Cambria Math"/>
                    <a:ea typeface="Cambria Math"/>
                    <a:cs typeface="Cambria Math"/>
                  </a:endParaRPr>
                </a:p>
              </p:txBody>
            </p:sp>
          </p:grpSp>
        </p:grpSp>
        <p:pic>
          <p:nvPicPr>
            <p:cNvPr id="20" name="Picture 19" descr="Icon&#10;&#10;Description automatically generated"/>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40408" y="152400"/>
              <a:ext cx="548640" cy="548640"/>
            </a:xfrm>
            <a:prstGeom prst="rect">
              <a:avLst/>
            </a:prstGeom>
            <a:noFill/>
            <a:ln>
              <a:noFill/>
            </a:ln>
            <a:effectLst>
              <a:outerShdw blurRad="50800" dist="38100" dir="2700000" algn="tl" rotWithShape="0">
                <a:prstClr val="black">
                  <a:alpha val="40000"/>
                </a:prstClr>
              </a:outerShdw>
            </a:effectLst>
          </p:spPr>
        </p:pic>
      </p:grpSp>
      <p:sp>
        <p:nvSpPr>
          <p:cNvPr id="15" name="Google Shape;282;g104476d1465_1_17"/>
          <p:cNvSpPr txBox="1"/>
          <p:nvPr/>
        </p:nvSpPr>
        <p:spPr>
          <a:xfrm>
            <a:off x="87371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64</a:t>
            </a:r>
            <a:endParaRPr i="1" dirty="0">
              <a:latin typeface="Calibri"/>
              <a:ea typeface="Calibri"/>
              <a:cs typeface="Calibri"/>
              <a:sym typeface="Calibri"/>
            </a:endParaRPr>
          </a:p>
        </p:txBody>
      </p:sp>
      <p:pic>
        <p:nvPicPr>
          <p:cNvPr id="16"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753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02457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grpSp>
        <p:nvGrpSpPr>
          <p:cNvPr id="9" name="Group 8"/>
          <p:cNvGrpSpPr/>
          <p:nvPr/>
        </p:nvGrpSpPr>
        <p:grpSpPr>
          <a:xfrm>
            <a:off x="5329477" y="1385095"/>
            <a:ext cx="5096224" cy="4645407"/>
            <a:chOff x="2002440" y="1449289"/>
            <a:chExt cx="5096224" cy="4645407"/>
          </a:xfrm>
        </p:grpSpPr>
        <p:pic>
          <p:nvPicPr>
            <p:cNvPr id="6" name="Picture 5" descr="Chart, histogram&#10;&#10;Description automatically generated"/>
            <p:cNvPicPr/>
            <p:nvPr/>
          </p:nvPicPr>
          <p:blipFill>
            <a:blip r:embed="rId3" cstate="screen">
              <a:extLst>
                <a:ext uri="{28A0092B-C50C-407E-A947-70E740481C1C}">
                  <a14:useLocalDpi xmlns:a14="http://schemas.microsoft.com/office/drawing/2010/main"/>
                </a:ext>
              </a:extLst>
            </a:blip>
            <a:stretch>
              <a:fillRect/>
            </a:stretch>
          </p:blipFill>
          <p:spPr>
            <a:xfrm>
              <a:off x="2422121" y="1785446"/>
              <a:ext cx="4676543" cy="4085952"/>
            </a:xfrm>
            <a:prstGeom prst="rect">
              <a:avLst/>
            </a:prstGeom>
          </p:spPr>
        </p:pic>
        <p:sp>
          <p:nvSpPr>
            <p:cNvPr id="3" name="Rectangle 2"/>
            <p:cNvSpPr/>
            <p:nvPr/>
          </p:nvSpPr>
          <p:spPr>
            <a:xfrm>
              <a:off x="3707860" y="1449289"/>
              <a:ext cx="2105063" cy="421654"/>
            </a:xfrm>
            <a:prstGeom prst="rect">
              <a:avLst/>
            </a:prstGeom>
          </p:spPr>
          <p:txBody>
            <a:bodyPr wrap="none">
              <a:spAutoFit/>
            </a:bodyPr>
            <a:lstStyle/>
            <a:p>
              <a:pPr algn="ctr">
                <a:lnSpc>
                  <a:spcPct val="107000"/>
                </a:lnSpc>
                <a:spcAft>
                  <a:spcPts val="1000"/>
                </a:spcAft>
              </a:pPr>
              <a:r>
                <a:rPr lang="en-US" sz="2000" b="1" dirty="0">
                  <a:latin typeface="Verdana"/>
                  <a:ea typeface="Cambria Math"/>
                  <a:cs typeface="Cambria Math"/>
                </a:rPr>
                <a:t>Shark Length</a:t>
              </a:r>
              <a:endParaRPr lang="en-PH" sz="2000" i="1" dirty="0">
                <a:latin typeface="Cambria Math"/>
                <a:ea typeface="Cambria Math"/>
                <a:cs typeface="Cambria Math"/>
              </a:endParaRPr>
            </a:p>
          </p:txBody>
        </p:sp>
        <p:sp>
          <p:nvSpPr>
            <p:cNvPr id="5" name="Rectangle 4"/>
            <p:cNvSpPr/>
            <p:nvPr/>
          </p:nvSpPr>
          <p:spPr>
            <a:xfrm rot="16200000">
              <a:off x="1455688" y="3617595"/>
              <a:ext cx="1515158" cy="421654"/>
            </a:xfrm>
            <a:prstGeom prst="rect">
              <a:avLst/>
            </a:prstGeom>
          </p:spPr>
          <p:txBody>
            <a:bodyPr wrap="none">
              <a:spAutoFit/>
            </a:bodyPr>
            <a:lstStyle/>
            <a:p>
              <a:pPr>
                <a:lnSpc>
                  <a:spcPct val="107000"/>
                </a:lnSpc>
                <a:spcAft>
                  <a:spcPts val="800"/>
                </a:spcAft>
              </a:pPr>
              <a:r>
                <a:rPr lang="en-US" sz="2000" dirty="0">
                  <a:latin typeface="Verdana"/>
                  <a:ea typeface="Cambria Math"/>
                  <a:cs typeface="Cambria Math"/>
                </a:rPr>
                <a:t>Frequency</a:t>
              </a:r>
              <a:endParaRPr lang="en-PH" sz="2000" i="1" dirty="0">
                <a:latin typeface="Cambria Math"/>
                <a:ea typeface="Cambria Math"/>
                <a:cs typeface="Cambria Math"/>
              </a:endParaRPr>
            </a:p>
          </p:txBody>
        </p:sp>
        <p:sp>
          <p:nvSpPr>
            <p:cNvPr id="8" name="Rectangle 7"/>
            <p:cNvSpPr/>
            <p:nvPr/>
          </p:nvSpPr>
          <p:spPr>
            <a:xfrm>
              <a:off x="3657364" y="5673042"/>
              <a:ext cx="2206053" cy="421654"/>
            </a:xfrm>
            <a:prstGeom prst="rect">
              <a:avLst/>
            </a:prstGeom>
          </p:spPr>
          <p:txBody>
            <a:bodyPr wrap="none">
              <a:spAutoFit/>
            </a:bodyPr>
            <a:lstStyle/>
            <a:p>
              <a:pPr>
                <a:lnSpc>
                  <a:spcPct val="107000"/>
                </a:lnSpc>
                <a:spcAft>
                  <a:spcPts val="800"/>
                </a:spcAft>
              </a:pPr>
              <a:r>
                <a:rPr lang="en-US" sz="2000" dirty="0">
                  <a:latin typeface="Verdana"/>
                  <a:ea typeface="Cambria Math"/>
                  <a:cs typeface="Cambria Math"/>
                </a:rPr>
                <a:t>Length (in feet)</a:t>
              </a:r>
              <a:endParaRPr lang="en-PH" sz="2000" i="1" dirty="0">
                <a:latin typeface="Cambria Math"/>
                <a:ea typeface="Cambria Math"/>
                <a:cs typeface="Cambria Math"/>
              </a:endParaRPr>
            </a:p>
          </p:txBody>
        </p:sp>
      </p:grpSp>
      <p:sp>
        <p:nvSpPr>
          <p:cNvPr id="278" name="Google Shape;278;g104476d1465_1_17"/>
          <p:cNvSpPr/>
          <p:nvPr/>
        </p:nvSpPr>
        <p:spPr>
          <a:xfrm>
            <a:off x="0" y="-8226"/>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117600" y="373249"/>
                <a:ext cx="9217301" cy="5632311"/>
              </a:xfrm>
              <a:prstGeom prst="rect">
                <a:avLst/>
              </a:prstGeom>
              <a:noFill/>
            </p:spPr>
            <p:txBody>
              <a:bodyPr wrap="square" rtlCol="0">
                <a:spAutoFit/>
              </a:bodyPr>
              <a:lstStyle/>
              <a:p>
                <a:pPr marL="457200" indent="-457200">
                  <a:buFont typeface="+mj-lt"/>
                  <a:buAutoNum type="arabicPeriod"/>
                </a:pPr>
                <a:r>
                  <a:rPr lang="en-US" sz="2000" dirty="0">
                    <a:latin typeface="Verdana"/>
                    <a:ea typeface="Cambria Math"/>
                    <a:cs typeface="Cambria Math"/>
                  </a:rPr>
                  <a:t>The histogram summarizes the lengths, in feet (</a:t>
                </a:r>
                <a:r>
                  <a:rPr lang="en-US" sz="2000" dirty="0" err="1">
                    <a:latin typeface="Verdana"/>
                    <a:ea typeface="Cambria Math"/>
                    <a:cs typeface="Cambria Math"/>
                  </a:rPr>
                  <a:t>ft</a:t>
                </a:r>
                <a:r>
                  <a:rPr lang="en-US" sz="2000" dirty="0">
                    <a:latin typeface="Verdana"/>
                    <a:ea typeface="Cambria Math"/>
                    <a:cs typeface="Cambria Math"/>
                  </a:rPr>
                  <a:t>), of a group of adult female sharks.</a:t>
                </a:r>
                <a:endParaRPr lang="en-US" sz="2000" i="1" dirty="0">
                  <a:latin typeface="Verdana"/>
                  <a:ea typeface="Cambria Math"/>
                  <a:cs typeface="Cambria Math"/>
                </a:endParaRPr>
              </a:p>
              <a:p>
                <a:pPr marL="889000" indent="-457200">
                  <a:buFont typeface="+mj-lt"/>
                  <a:buAutoNum type="alphaLcPeriod"/>
                </a:pPr>
                <a:endParaRPr lang="en-US" sz="2000" dirty="0">
                  <a:latin typeface="Verdana"/>
                  <a:ea typeface="Verdana"/>
                  <a:cs typeface="Verdana"/>
                </a:endParaRPr>
              </a:p>
              <a:p>
                <a:pPr marL="889000" indent="-457200">
                  <a:buFont typeface="+mj-lt"/>
                  <a:buAutoNum type="alphaLcPeriod"/>
                </a:pPr>
                <a:r>
                  <a:rPr lang="en-US" sz="2000" dirty="0">
                    <a:latin typeface="Verdana"/>
                    <a:ea typeface="Verdana"/>
                    <a:cs typeface="Verdana"/>
                  </a:rPr>
                  <a:t>With your partner, </a:t>
                </a:r>
                <a:br>
                  <a:rPr lang="en-US" sz="2000" dirty="0">
                    <a:latin typeface="Verdana"/>
                    <a:ea typeface="Verdana"/>
                    <a:cs typeface="Verdana"/>
                  </a:rPr>
                </a:br>
                <a:r>
                  <a:rPr lang="en-US" sz="2000" dirty="0">
                    <a:latin typeface="Verdana"/>
                    <a:ea typeface="Verdana"/>
                    <a:cs typeface="Verdana"/>
                  </a:rPr>
                  <a:t>discuss the labels </a:t>
                </a:r>
                <a:br>
                  <a:rPr lang="en-US" sz="2000" dirty="0">
                    <a:latin typeface="Verdana"/>
                    <a:ea typeface="Verdana"/>
                    <a:cs typeface="Verdana"/>
                  </a:rPr>
                </a:br>
                <a:r>
                  <a:rPr lang="en-US" sz="2000" dirty="0">
                    <a:latin typeface="Verdana"/>
                    <a:ea typeface="Verdana"/>
                    <a:cs typeface="Verdana"/>
                  </a:rPr>
                  <a:t>for the vertical </a:t>
                </a:r>
                <a:br>
                  <a:rPr lang="en-US" sz="2000" dirty="0">
                    <a:latin typeface="Verdana"/>
                    <a:ea typeface="Verdana"/>
                    <a:cs typeface="Verdana"/>
                  </a:rPr>
                </a:br>
                <a:r>
                  <a:rPr lang="en-US" sz="2000" dirty="0">
                    <a:latin typeface="Verdana"/>
                    <a:ea typeface="Verdana"/>
                    <a:cs typeface="Verdana"/>
                  </a:rPr>
                  <a:t>and horizontal axes.</a:t>
                </a:r>
              </a:p>
              <a:p>
                <a:pPr marL="889000" indent="-457200">
                  <a:buFont typeface="+mj-lt"/>
                  <a:buAutoNum type="alphaLcPeriod"/>
                </a:pPr>
                <a:endParaRPr lang="en-US" sz="2000" dirty="0">
                  <a:latin typeface="Verdana"/>
                  <a:ea typeface="Verdana"/>
                  <a:cs typeface="Verdana"/>
                </a:endParaRPr>
              </a:p>
              <a:p>
                <a:pPr marL="889000" indent="-457200">
                  <a:buFont typeface="+mj-lt"/>
                  <a:buAutoNum type="alphaLcPeriod"/>
                </a:pPr>
                <a:endParaRPr lang="en-US" sz="2000" dirty="0">
                  <a:latin typeface="Verdana"/>
                  <a:ea typeface="Verdana"/>
                  <a:cs typeface="Verdana"/>
                </a:endParaRPr>
              </a:p>
              <a:p>
                <a:pPr marL="889000" indent="-457200">
                  <a:buFont typeface="+mj-lt"/>
                  <a:buAutoNum type="alphaLcPeriod"/>
                </a:pPr>
                <a:r>
                  <a:rPr lang="en-US" sz="2000" dirty="0">
                    <a:latin typeface="Verdana"/>
                    <a:ea typeface="Verdana"/>
                    <a:cs typeface="Verdana"/>
                  </a:rPr>
                  <a:t>How many sharks </a:t>
                </a:r>
                <a:br>
                  <a:rPr lang="en-US" sz="2000" dirty="0">
                    <a:latin typeface="Verdana"/>
                    <a:ea typeface="Verdana"/>
                    <a:cs typeface="Verdana"/>
                  </a:rPr>
                </a:br>
                <a:r>
                  <a:rPr lang="en-US" sz="2000" dirty="0">
                    <a:latin typeface="Verdana"/>
                    <a:ea typeface="Verdana"/>
                    <a:cs typeface="Verdana"/>
                  </a:rPr>
                  <a:t>were between </a:t>
                </a:r>
                <a:br>
                  <a:rPr lang="en-US" sz="2000" dirty="0">
                    <a:latin typeface="Verdana"/>
                    <a:ea typeface="Verdana"/>
                    <a:cs typeface="Verdana"/>
                  </a:rPr>
                </a:br>
                <a14:m>
                  <m:oMath xmlns:m="http://schemas.openxmlformats.org/officeDocument/2006/math">
                    <m:r>
                      <a:rPr lang="en-US" sz="2000" i="1">
                        <a:latin typeface="Cambria Math"/>
                        <a:ea typeface="Verdana"/>
                        <a:cs typeface="Verdana"/>
                      </a:rPr>
                      <m:t>15.5</m:t>
                    </m:r>
                  </m:oMath>
                </a14:m>
                <a:r>
                  <a:rPr lang="en-US" sz="2000" dirty="0">
                    <a:latin typeface="Verdana"/>
                    <a:ea typeface="Verdana"/>
                    <a:cs typeface="Verdana"/>
                  </a:rPr>
                  <a:t> </a:t>
                </a:r>
                <a:r>
                  <a:rPr lang="en-US" sz="2000" dirty="0" err="1">
                    <a:latin typeface="Verdana"/>
                    <a:ea typeface="Verdana"/>
                    <a:cs typeface="Verdana"/>
                  </a:rPr>
                  <a:t>ft</a:t>
                </a:r>
                <a:r>
                  <a:rPr lang="en-US" sz="2000" dirty="0">
                    <a:latin typeface="Verdana"/>
                    <a:ea typeface="Verdana"/>
                    <a:cs typeface="Verdana"/>
                  </a:rPr>
                  <a:t> and </a:t>
                </a:r>
                <a14:m>
                  <m:oMath xmlns:m="http://schemas.openxmlformats.org/officeDocument/2006/math">
                    <m:r>
                      <a:rPr lang="en-US" sz="2000" i="1">
                        <a:latin typeface="Cambria Math"/>
                        <a:ea typeface="Verdana"/>
                        <a:cs typeface="Verdana"/>
                      </a:rPr>
                      <m:t>16</m:t>
                    </m:r>
                  </m:oMath>
                </a14:m>
                <a:r>
                  <a:rPr lang="en-US" sz="2000" dirty="0">
                    <a:latin typeface="Verdana"/>
                    <a:ea typeface="Verdana"/>
                    <a:cs typeface="Verdana"/>
                  </a:rPr>
                  <a:t> </a:t>
                </a:r>
                <a:r>
                  <a:rPr lang="en-US" sz="2000" dirty="0" err="1">
                    <a:latin typeface="Verdana"/>
                    <a:ea typeface="Verdana"/>
                    <a:cs typeface="Verdana"/>
                  </a:rPr>
                  <a:t>ft</a:t>
                </a:r>
                <a:r>
                  <a:rPr lang="en-US" sz="2000" dirty="0">
                    <a:latin typeface="Verdana"/>
                    <a:ea typeface="Verdana"/>
                    <a:cs typeface="Verdana"/>
                  </a:rPr>
                  <a:t>?</a:t>
                </a:r>
                <a:endParaRPr lang="en-PH" sz="1800" i="1" dirty="0">
                  <a:latin typeface="Cambria Math"/>
                  <a:ea typeface="Cambria Math"/>
                  <a:cs typeface="Cambria Math"/>
                </a:endParaRPr>
              </a:p>
              <a:p>
                <a:pPr marL="889000" indent="-457200">
                  <a:buFont typeface="+mj-lt"/>
                  <a:buAutoNum type="alphaLcPeriod"/>
                </a:pPr>
                <a:endParaRPr lang="en-US" sz="2000" dirty="0">
                  <a:latin typeface="Verdana"/>
                  <a:ea typeface="Verdana"/>
                  <a:cs typeface="Verdana"/>
                </a:endParaRPr>
              </a:p>
              <a:p>
                <a:pPr marL="889000" indent="-457200">
                  <a:buFont typeface="+mj-lt"/>
                  <a:buAutoNum type="alphaLcPeriod"/>
                </a:pPr>
                <a:endParaRPr lang="en-US" sz="2000" dirty="0">
                  <a:latin typeface="Verdana"/>
                  <a:ea typeface="Verdana"/>
                  <a:cs typeface="Verdana"/>
                </a:endParaRPr>
              </a:p>
              <a:p>
                <a:pPr marL="889000" indent="-457200">
                  <a:buFont typeface="+mj-lt"/>
                  <a:buAutoNum type="alphaLcPeriod"/>
                </a:pPr>
                <a:r>
                  <a:rPr lang="en-US" sz="2000" dirty="0">
                    <a:latin typeface="Verdana"/>
                    <a:ea typeface="Verdana"/>
                    <a:cs typeface="Verdana"/>
                  </a:rPr>
                  <a:t>How many total </a:t>
                </a:r>
                <a:br>
                  <a:rPr lang="en-US" sz="2000" dirty="0">
                    <a:latin typeface="Verdana"/>
                    <a:ea typeface="Verdana"/>
                    <a:cs typeface="Verdana"/>
                  </a:rPr>
                </a:br>
                <a:r>
                  <a:rPr lang="en-US" sz="2000" dirty="0">
                    <a:latin typeface="Verdana"/>
                    <a:ea typeface="Verdana"/>
                    <a:cs typeface="Verdana"/>
                  </a:rPr>
                  <a:t>sharks were </a:t>
                </a:r>
                <a:br>
                  <a:rPr lang="en-US" sz="2000" dirty="0">
                    <a:latin typeface="Verdana"/>
                    <a:ea typeface="Verdana"/>
                    <a:cs typeface="Verdana"/>
                  </a:rPr>
                </a:br>
                <a:r>
                  <a:rPr lang="en-US" sz="2000" dirty="0">
                    <a:latin typeface="Verdana"/>
                    <a:ea typeface="Verdana"/>
                    <a:cs typeface="Verdana"/>
                  </a:rPr>
                  <a:t>measured to create </a:t>
                </a:r>
                <a:br>
                  <a:rPr lang="en-US" sz="2000" dirty="0">
                    <a:latin typeface="Verdana"/>
                    <a:ea typeface="Verdana"/>
                    <a:cs typeface="Verdana"/>
                  </a:rPr>
                </a:br>
                <a:r>
                  <a:rPr lang="en-US" sz="2000" dirty="0">
                    <a:latin typeface="Verdana"/>
                    <a:ea typeface="Verdana"/>
                    <a:cs typeface="Verdana"/>
                  </a:rPr>
                  <a:t>the histogram?</a:t>
                </a:r>
                <a:endParaRPr lang="en-US" sz="2000" dirty="0">
                  <a:latin typeface="Verdana"/>
                  <a:ea typeface="Cambria Math"/>
                  <a:cs typeface="Cambria Math"/>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117600" y="373249"/>
                <a:ext cx="9217301" cy="5632311"/>
              </a:xfrm>
              <a:prstGeom prst="rect">
                <a:avLst/>
              </a:prstGeom>
              <a:blipFill rotWithShape="0">
                <a:blip r:embed="rId4"/>
                <a:stretch>
                  <a:fillRect l="-728" t="-758" b="-974"/>
                </a:stretch>
              </a:blipFill>
            </p:spPr>
            <p:txBody>
              <a:bodyPr/>
              <a:lstStyle/>
              <a:p>
                <a:r>
                  <a:rPr lang="en-US">
                    <a:noFill/>
                  </a:rPr>
                  <a:t> </a:t>
                </a:r>
              </a:p>
            </p:txBody>
          </p:sp>
        </mc:Fallback>
      </mc:AlternateContent>
      <p:sp>
        <p:nvSpPr>
          <p:cNvPr id="11" name="Google Shape;282;g104476d1465_1_17"/>
          <p:cNvSpPr txBox="1"/>
          <p:nvPr/>
        </p:nvSpPr>
        <p:spPr>
          <a:xfrm>
            <a:off x="87371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64</a:t>
            </a:r>
            <a:endParaRPr i="1" dirty="0">
              <a:latin typeface="Calibri"/>
              <a:ea typeface="Calibri"/>
              <a:cs typeface="Calibri"/>
              <a:sym typeface="Calibri"/>
            </a:endParaRPr>
          </a:p>
        </p:txBody>
      </p:sp>
      <p:pic>
        <p:nvPicPr>
          <p:cNvPr id="12"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753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98233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244601" y="383759"/>
                <a:ext cx="9755642" cy="4708981"/>
              </a:xfrm>
              <a:prstGeom prst="rect">
                <a:avLst/>
              </a:prstGeom>
              <a:noFill/>
            </p:spPr>
            <p:txBody>
              <a:bodyPr wrap="square" rtlCol="0">
                <a:spAutoFit/>
              </a:bodyPr>
              <a:lstStyle/>
              <a:p>
                <a:pPr marL="457200" indent="-457200">
                  <a:buFont typeface="+mj-lt"/>
                  <a:buAutoNum type="arabicPeriod" startAt="2"/>
                </a:pPr>
                <a:r>
                  <a:rPr lang="en-US" sz="2000" dirty="0">
                    <a:latin typeface="Verdana" pitchFamily="34" charset="0"/>
                    <a:ea typeface="Verdana" pitchFamily="34" charset="0"/>
                    <a:cs typeface="Verdana"/>
                  </a:rPr>
                  <a:t>Each bar of a histogram includes the left-end value, but not the right-end value. For example, the first bar includes sharks that are </a:t>
                </a:r>
                <a14:m>
                  <m:oMath xmlns:m="http://schemas.openxmlformats.org/officeDocument/2006/math">
                    <m:r>
                      <a:rPr lang="en-US" sz="2000" i="1">
                        <a:latin typeface="Cambria Math"/>
                        <a:ea typeface="Verdana"/>
                        <a:cs typeface="Verdana"/>
                      </a:rPr>
                      <m:t>13</m:t>
                    </m:r>
                  </m:oMath>
                </a14:m>
                <a:r>
                  <a:rPr lang="en-US" sz="2000" dirty="0">
                    <a:latin typeface="Verdana" pitchFamily="34" charset="0"/>
                    <a:ea typeface="Verdana" pitchFamily="34" charset="0"/>
                    <a:cs typeface="Verdana"/>
                  </a:rPr>
                  <a:t> </a:t>
                </a:r>
                <a:r>
                  <a:rPr lang="en-US" sz="2000" dirty="0" err="1">
                    <a:latin typeface="Verdana" pitchFamily="34" charset="0"/>
                    <a:ea typeface="Verdana" pitchFamily="34" charset="0"/>
                    <a:cs typeface="Verdana"/>
                  </a:rPr>
                  <a:t>ft</a:t>
                </a:r>
                <a:r>
                  <a:rPr lang="en-US" sz="2000" dirty="0">
                    <a:latin typeface="Verdana" pitchFamily="34" charset="0"/>
                    <a:ea typeface="Verdana" pitchFamily="34" charset="0"/>
                    <a:cs typeface="Verdana"/>
                  </a:rPr>
                  <a:t> and </a:t>
                </a:r>
                <a14:m>
                  <m:oMath xmlns:m="http://schemas.openxmlformats.org/officeDocument/2006/math">
                    <m:r>
                      <a:rPr lang="en-US" sz="2000" i="1">
                        <a:latin typeface="Cambria Math"/>
                        <a:ea typeface="Verdana"/>
                        <a:cs typeface="Verdana"/>
                      </a:rPr>
                      <m:t>13.25</m:t>
                    </m:r>
                  </m:oMath>
                </a14:m>
                <a:r>
                  <a:rPr lang="en-US" sz="2000" dirty="0">
                    <a:latin typeface="Verdana" pitchFamily="34" charset="0"/>
                    <a:ea typeface="Verdana" pitchFamily="34" charset="0"/>
                    <a:cs typeface="Verdana"/>
                  </a:rPr>
                  <a:t> </a:t>
                </a:r>
                <a:r>
                  <a:rPr lang="en-US" sz="2000" dirty="0" err="1">
                    <a:latin typeface="Verdana" pitchFamily="34" charset="0"/>
                    <a:ea typeface="Verdana" pitchFamily="34" charset="0"/>
                    <a:cs typeface="Verdana"/>
                  </a:rPr>
                  <a:t>ft</a:t>
                </a:r>
                <a:r>
                  <a:rPr lang="en-US" sz="2000" dirty="0">
                    <a:latin typeface="Verdana" pitchFamily="34" charset="0"/>
                    <a:ea typeface="Verdana" pitchFamily="34" charset="0"/>
                    <a:cs typeface="Verdana"/>
                  </a:rPr>
                  <a:t>, but not </a:t>
                </a:r>
                <a14:m>
                  <m:oMath xmlns:m="http://schemas.openxmlformats.org/officeDocument/2006/math">
                    <m:r>
                      <a:rPr lang="en-US" sz="2000" i="1">
                        <a:latin typeface="Cambria Math"/>
                        <a:ea typeface="Verdana"/>
                        <a:cs typeface="Verdana"/>
                      </a:rPr>
                      <m:t>13.5</m:t>
                    </m:r>
                  </m:oMath>
                </a14:m>
                <a:r>
                  <a:rPr lang="en-US" sz="2000" dirty="0">
                    <a:latin typeface="Verdana" pitchFamily="34" charset="0"/>
                    <a:ea typeface="Verdana" pitchFamily="34" charset="0"/>
                    <a:cs typeface="Verdana"/>
                  </a:rPr>
                  <a:t> ft.</a:t>
                </a:r>
              </a:p>
              <a:p>
                <a:pPr marL="342900" indent="-342900">
                  <a:buFont typeface="+mj-lt"/>
                  <a:buAutoNum type="arabicPeriod"/>
                </a:pPr>
                <a:endParaRPr lang="en-US" sz="2000" dirty="0">
                  <a:latin typeface="Verdana" pitchFamily="34" charset="0"/>
                  <a:ea typeface="Verdana" pitchFamily="34" charset="0"/>
                  <a:cs typeface="Verdana"/>
                </a:endParaRPr>
              </a:p>
              <a:p>
                <a:pPr marL="889000" indent="-457200">
                  <a:buFont typeface="+mj-lt"/>
                  <a:buAutoNum type="alphaLcPeriod"/>
                </a:pPr>
                <a:r>
                  <a:rPr lang="en-US" sz="2000" dirty="0">
                    <a:latin typeface="Verdana" pitchFamily="34" charset="0"/>
                    <a:ea typeface="Verdana" pitchFamily="34" charset="0"/>
                    <a:cs typeface="Verdana"/>
                  </a:rPr>
                  <a:t>Discuss with your partner whether or not you can determine the exact lengths of each shark measured from the histogram. Summarize your discussion.</a:t>
                </a:r>
              </a:p>
              <a:p>
                <a:pPr marL="889000" indent="-457200">
                  <a:buFont typeface="+mj-lt"/>
                  <a:buAutoNum type="alphaLcPeriod"/>
                </a:pPr>
                <a:endParaRPr lang="en-US" sz="2000" dirty="0">
                  <a:latin typeface="Verdana" pitchFamily="34" charset="0"/>
                  <a:ea typeface="Verdana" pitchFamily="34" charset="0"/>
                  <a:cs typeface="Verdana"/>
                </a:endParaRPr>
              </a:p>
              <a:p>
                <a:pPr marL="889000" indent="-457200">
                  <a:buFont typeface="+mj-lt"/>
                  <a:buAutoNum type="alphaLcPeriod"/>
                </a:pPr>
                <a:endParaRPr lang="en-US" sz="2000" dirty="0">
                  <a:latin typeface="Verdana" pitchFamily="34" charset="0"/>
                  <a:ea typeface="Verdana" pitchFamily="34" charset="0"/>
                  <a:cs typeface="Verdana"/>
                </a:endParaRPr>
              </a:p>
              <a:p>
                <a:pPr marL="889000" indent="-457200">
                  <a:buFont typeface="+mj-lt"/>
                  <a:buAutoNum type="alphaLcPeriod"/>
                </a:pPr>
                <a:r>
                  <a:rPr lang="en-US" sz="2000" dirty="0">
                    <a:latin typeface="Verdana" pitchFamily="34" charset="0"/>
                    <a:ea typeface="Verdana" pitchFamily="34" charset="0"/>
                    <a:cs typeface="Verdana"/>
                  </a:rPr>
                  <a:t>Discuss with your partner your observations about the width of each bar.</a:t>
                </a:r>
              </a:p>
              <a:p>
                <a:pPr marL="889000" indent="-457200">
                  <a:buFont typeface="+mj-lt"/>
                  <a:buAutoNum type="alphaLcPeriod"/>
                </a:pPr>
                <a:endParaRPr lang="en-US" sz="2000" dirty="0">
                  <a:latin typeface="Verdana" pitchFamily="34" charset="0"/>
                  <a:ea typeface="Verdana" pitchFamily="34" charset="0"/>
                  <a:cs typeface="Verdana"/>
                </a:endParaRPr>
              </a:p>
              <a:p>
                <a:pPr marL="889000" indent="-457200">
                  <a:buFont typeface="+mj-lt"/>
                  <a:buAutoNum type="alphaLcPeriod"/>
                </a:pPr>
                <a:endParaRPr lang="en-US" sz="2000" dirty="0">
                  <a:latin typeface="Verdana" pitchFamily="34" charset="0"/>
                  <a:ea typeface="Verdana" pitchFamily="34" charset="0"/>
                  <a:cs typeface="Verdana"/>
                </a:endParaRPr>
              </a:p>
              <a:p>
                <a:pPr marL="457200" indent="-457200">
                  <a:buFont typeface="+mj-lt"/>
                  <a:buAutoNum type="arabicPeriod" startAt="3"/>
                </a:pPr>
                <a:r>
                  <a:rPr lang="en-US" sz="2000" dirty="0">
                    <a:latin typeface="Verdana" pitchFamily="34" charset="0"/>
                    <a:ea typeface="Verdana" pitchFamily="34" charset="0"/>
                    <a:cs typeface="Verdana"/>
                  </a:rPr>
                  <a:t>If male sharks were added to the sample, hypothesize what would happen to the spread of the data.</a:t>
                </a:r>
                <a:endParaRPr lang="en-PH" sz="2000" i="1" dirty="0">
                  <a:latin typeface="Verdana" pitchFamily="34" charset="0"/>
                  <a:ea typeface="Verdana" pitchFamily="34" charset="0"/>
                  <a:cs typeface="Cambria Math"/>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244601" y="383759"/>
                <a:ext cx="9755642" cy="4708981"/>
              </a:xfrm>
              <a:prstGeom prst="rect">
                <a:avLst/>
              </a:prstGeom>
              <a:blipFill rotWithShape="0">
                <a:blip r:embed="rId3"/>
                <a:stretch>
                  <a:fillRect l="-687" t="-907" r="-812" b="-1425"/>
                </a:stretch>
              </a:blipFill>
            </p:spPr>
            <p:txBody>
              <a:bodyPr/>
              <a:lstStyle/>
              <a:p>
                <a:r>
                  <a:rPr lang="en-US">
                    <a:noFill/>
                  </a:rPr>
                  <a:t> </a:t>
                </a:r>
              </a:p>
            </p:txBody>
          </p:sp>
        </mc:Fallback>
      </mc:AlternateContent>
      <p:sp>
        <p:nvSpPr>
          <p:cNvPr id="7" name="Google Shape;282;g104476d1465_1_17"/>
          <p:cNvSpPr txBox="1"/>
          <p:nvPr/>
        </p:nvSpPr>
        <p:spPr>
          <a:xfrm>
            <a:off x="87371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65</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53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615982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7371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65</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53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969715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65533"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9.5.3 Exploration: Histograms</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09235" y="308450"/>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152D1D4D-DCB8-A246-B186-D40316579D77}"/>
              </a:ext>
            </a:extLst>
          </p:cNvPr>
          <p:cNvSpPr txBox="1"/>
          <p:nvPr/>
        </p:nvSpPr>
        <p:spPr>
          <a:xfrm>
            <a:off x="1685720" y="1386025"/>
            <a:ext cx="9076592" cy="3416320"/>
          </a:xfrm>
          <a:prstGeom prst="rect">
            <a:avLst/>
          </a:prstGeom>
          <a:noFill/>
        </p:spPr>
        <p:txBody>
          <a:bodyPr wrap="square" rtlCol="0">
            <a:spAutoFit/>
          </a:bodyPr>
          <a:lstStyle/>
          <a:p>
            <a:r>
              <a:rPr lang="en-US" sz="2400" dirty="0">
                <a:latin typeface="Verdana"/>
                <a:ea typeface="Verdana"/>
                <a:cs typeface="Verdana"/>
              </a:rPr>
              <a:t>An earthworm farmer set up several containers of a certain species of earthworm so he could learn about their lengths. Lengths of earthworms provide information about their ages. The farmer measured the lengths of the earthworms in one container. </a:t>
            </a:r>
            <a:endParaRPr lang="en-PH" sz="2000" i="1" dirty="0">
              <a:latin typeface="Cambria Math"/>
              <a:ea typeface="Cambria Math"/>
              <a:cs typeface="Cambria Math"/>
            </a:endParaRPr>
          </a:p>
          <a:p>
            <a:pPr marL="514350"/>
            <a:r>
              <a:rPr lang="en-US" sz="2400" dirty="0">
                <a:latin typeface="Verdana"/>
                <a:ea typeface="Verdana"/>
                <a:cs typeface="Verdana"/>
              </a:rPr>
              <a:t> </a:t>
            </a:r>
            <a:endParaRPr lang="en-PH" sz="2000" i="1" dirty="0">
              <a:latin typeface="Cambria Math"/>
              <a:ea typeface="Cambria Math"/>
              <a:cs typeface="Cambria Math"/>
            </a:endParaRPr>
          </a:p>
          <a:p>
            <a:r>
              <a:rPr lang="en-US" sz="2400" dirty="0">
                <a:latin typeface="Verdana"/>
                <a:ea typeface="Cambria Math"/>
                <a:cs typeface="Cambria Math"/>
              </a:rPr>
              <a:t>The farmer recorded the earthworms’ lengths, in millimeters, in a table and then created a histogram to display the data. </a:t>
            </a:r>
            <a:endParaRPr lang="en-PH" sz="2000" i="1" dirty="0">
              <a:latin typeface="Cambria Math"/>
              <a:ea typeface="Cambria Math"/>
              <a:cs typeface="Cambria Math"/>
            </a:endParaRPr>
          </a:p>
        </p:txBody>
      </p:sp>
      <p:sp>
        <p:nvSpPr>
          <p:cNvPr id="11" name="Google Shape;282;g104476d1465_1_17"/>
          <p:cNvSpPr txBox="1"/>
          <p:nvPr/>
        </p:nvSpPr>
        <p:spPr>
          <a:xfrm>
            <a:off x="87371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65</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53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352480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1994712799"/>
                  </p:ext>
                </p:extLst>
              </p:nvPr>
            </p:nvGraphicFramePr>
            <p:xfrm>
              <a:off x="2571332" y="383758"/>
              <a:ext cx="7200000" cy="1872000"/>
            </p:xfrm>
            <a:graphic>
              <a:graphicData uri="http://schemas.openxmlformats.org/drawingml/2006/table">
                <a:tbl>
                  <a:tblPr firstRow="1" firstCol="1" bandRow="1"/>
                  <a:tblGrid>
                    <a:gridCol w="7200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720000">
                      <a:extLst>
                        <a:ext uri="{9D8B030D-6E8A-4147-A177-3AD203B41FA5}">
                          <a16:colId xmlns:a16="http://schemas.microsoft.com/office/drawing/2014/main" val="20002"/>
                        </a:ext>
                      </a:extLst>
                    </a:gridCol>
                    <a:gridCol w="720000">
                      <a:extLst>
                        <a:ext uri="{9D8B030D-6E8A-4147-A177-3AD203B41FA5}">
                          <a16:colId xmlns:a16="http://schemas.microsoft.com/office/drawing/2014/main" val="20003"/>
                        </a:ext>
                      </a:extLst>
                    </a:gridCol>
                    <a:gridCol w="720000">
                      <a:extLst>
                        <a:ext uri="{9D8B030D-6E8A-4147-A177-3AD203B41FA5}">
                          <a16:colId xmlns:a16="http://schemas.microsoft.com/office/drawing/2014/main" val="20004"/>
                        </a:ext>
                      </a:extLst>
                    </a:gridCol>
                    <a:gridCol w="720000">
                      <a:extLst>
                        <a:ext uri="{9D8B030D-6E8A-4147-A177-3AD203B41FA5}">
                          <a16:colId xmlns:a16="http://schemas.microsoft.com/office/drawing/2014/main" val="20005"/>
                        </a:ext>
                      </a:extLst>
                    </a:gridCol>
                    <a:gridCol w="720000">
                      <a:extLst>
                        <a:ext uri="{9D8B030D-6E8A-4147-A177-3AD203B41FA5}">
                          <a16:colId xmlns:a16="http://schemas.microsoft.com/office/drawing/2014/main" val="20006"/>
                        </a:ext>
                      </a:extLst>
                    </a:gridCol>
                    <a:gridCol w="720000">
                      <a:extLst>
                        <a:ext uri="{9D8B030D-6E8A-4147-A177-3AD203B41FA5}">
                          <a16:colId xmlns:a16="http://schemas.microsoft.com/office/drawing/2014/main" val="20007"/>
                        </a:ext>
                      </a:extLst>
                    </a:gridCol>
                    <a:gridCol w="720000">
                      <a:extLst>
                        <a:ext uri="{9D8B030D-6E8A-4147-A177-3AD203B41FA5}">
                          <a16:colId xmlns:a16="http://schemas.microsoft.com/office/drawing/2014/main" val="20008"/>
                        </a:ext>
                      </a:extLst>
                    </a:gridCol>
                    <a:gridCol w="720000">
                      <a:extLst>
                        <a:ext uri="{9D8B030D-6E8A-4147-A177-3AD203B41FA5}">
                          <a16:colId xmlns:a16="http://schemas.microsoft.com/office/drawing/2014/main" val="20009"/>
                        </a:ext>
                      </a:extLst>
                    </a:gridCol>
                  </a:tblGrid>
                  <a:tr h="468000">
                    <a:tc gridSpan="10">
                      <a:txBody>
                        <a:bodyPr/>
                        <a:lstStyle/>
                        <a:p>
                          <a:pPr algn="ctr">
                            <a:lnSpc>
                              <a:spcPct val="107000"/>
                            </a:lnSpc>
                            <a:spcBef>
                              <a:spcPts val="180"/>
                            </a:spcBef>
                            <a:spcAft>
                              <a:spcPts val="180"/>
                            </a:spcAft>
                          </a:pPr>
                          <a:r>
                            <a:rPr lang="en-US" sz="2000" b="1" i="0" dirty="0">
                              <a:effectLst/>
                              <a:latin typeface="Verdana" pitchFamily="34" charset="0"/>
                              <a:ea typeface="Verdana" pitchFamily="34" charset="0"/>
                              <a:cs typeface="Cambria Math"/>
                            </a:rPr>
                            <a:t>Earthworm Lengths in Millimeters (mm)</a:t>
                          </a:r>
                          <a:endParaRPr lang="en-PH" sz="2000" b="1" i="0" dirty="0">
                            <a:effectLst/>
                            <a:latin typeface="Verdana" pitchFamily="34" charset="0"/>
                            <a:ea typeface="Verdana" pitchFamily="34" charset="0"/>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PH"/>
                        </a:p>
                      </a:txBody>
                      <a:tcPr/>
                    </a:tc>
                    <a:tc hMerge="1">
                      <a:txBody>
                        <a:bodyPr/>
                        <a:lstStyle/>
                        <a:p>
                          <a:endParaRPr lang="en-PH"/>
                        </a:p>
                      </a:txBody>
                      <a:tcPr/>
                    </a:tc>
                    <a:tc hMerge="1">
                      <a:txBody>
                        <a:bodyPr/>
                        <a:lstStyle/>
                        <a:p>
                          <a:endParaRPr lang="en-PH"/>
                        </a:p>
                      </a:txBody>
                      <a:tcPr/>
                    </a:tc>
                    <a:tc hMerge="1">
                      <a:txBody>
                        <a:bodyPr/>
                        <a:lstStyle/>
                        <a:p>
                          <a:endParaRPr lang="en-PH"/>
                        </a:p>
                      </a:txBody>
                      <a:tcPr/>
                    </a:tc>
                    <a:tc hMerge="1">
                      <a:txBody>
                        <a:bodyPr/>
                        <a:lstStyle/>
                        <a:p>
                          <a:endParaRPr lang="en-PH"/>
                        </a:p>
                      </a:txBody>
                      <a:tcPr/>
                    </a:tc>
                    <a:tc hMerge="1">
                      <a:txBody>
                        <a:bodyPr/>
                        <a:lstStyle/>
                        <a:p>
                          <a:endParaRPr lang="en-PH"/>
                        </a:p>
                      </a:txBody>
                      <a:tcPr/>
                    </a:tc>
                    <a:tc hMerge="1">
                      <a:txBody>
                        <a:bodyPr/>
                        <a:lstStyle/>
                        <a:p>
                          <a:endParaRPr lang="en-PH"/>
                        </a:p>
                      </a:txBody>
                      <a:tcPr/>
                    </a:tc>
                    <a:tc hMerge="1">
                      <a:txBody>
                        <a:bodyPr/>
                        <a:lstStyle/>
                        <a:p>
                          <a:endParaRPr lang="en-PH"/>
                        </a:p>
                      </a:txBody>
                      <a:tcPr/>
                    </a:tc>
                    <a:tc hMerge="1">
                      <a:txBody>
                        <a:bodyPr/>
                        <a:lstStyle/>
                        <a:p>
                          <a:endParaRPr lang="en-PH"/>
                        </a:p>
                      </a:txBody>
                      <a:tcPr/>
                    </a:tc>
                    <a:extLst>
                      <a:ext uri="{0D108BD9-81ED-4DB2-BD59-A6C34878D82A}">
                        <a16:rowId xmlns:a16="http://schemas.microsoft.com/office/drawing/2014/main" val="10000"/>
                      </a:ext>
                    </a:extLst>
                  </a:tr>
                  <a:tr h="468000">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b="0" i="0">
                                    <a:effectLst/>
                                    <a:latin typeface="Cambria Math"/>
                                    <a:ea typeface="Calibri"/>
                                    <a:cs typeface="Times New Roman"/>
                                  </a:rPr>
                                  <m:t>6</m:t>
                                </m:r>
                              </m:oMath>
                            </m:oMathPara>
                          </a14:m>
                          <a:endParaRPr lang="en-PH" sz="2000" b="0" i="0" dirty="0">
                            <a:effectLst/>
                            <a:latin typeface="Verdana" pitchFamily="34" charset="0"/>
                            <a:ea typeface="Verdana" pitchFamily="34" charset="0"/>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b="0" i="0">
                                    <a:effectLst/>
                                    <a:latin typeface="Cambria Math"/>
                                    <a:ea typeface="Calibri"/>
                                    <a:cs typeface="Times New Roman"/>
                                  </a:rPr>
                                  <m:t>11</m:t>
                                </m:r>
                              </m:oMath>
                            </m:oMathPara>
                          </a14:m>
                          <a:endParaRPr lang="en-PH" sz="2000" b="0" i="0" dirty="0">
                            <a:effectLst/>
                            <a:latin typeface="Verdana" pitchFamily="34" charset="0"/>
                            <a:ea typeface="Verdana" pitchFamily="34" charset="0"/>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b="0" i="0">
                                    <a:effectLst/>
                                    <a:latin typeface="Cambria Math"/>
                                    <a:ea typeface="Calibri"/>
                                    <a:cs typeface="Times New Roman"/>
                                  </a:rPr>
                                  <m:t>18</m:t>
                                </m:r>
                              </m:oMath>
                            </m:oMathPara>
                          </a14:m>
                          <a:endParaRPr lang="en-PH" sz="2000" b="0" i="0">
                            <a:effectLst/>
                            <a:latin typeface="Verdana" pitchFamily="34" charset="0"/>
                            <a:ea typeface="Verdana" pitchFamily="34" charset="0"/>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b="0" i="0">
                                    <a:effectLst/>
                                    <a:latin typeface="Cambria Math"/>
                                    <a:ea typeface="Calibri"/>
                                    <a:cs typeface="Times New Roman"/>
                                  </a:rPr>
                                  <m:t>19</m:t>
                                </m:r>
                              </m:oMath>
                            </m:oMathPara>
                          </a14:m>
                          <a:endParaRPr lang="en-PH" sz="2000" b="0" i="0">
                            <a:effectLst/>
                            <a:latin typeface="Verdana" pitchFamily="34" charset="0"/>
                            <a:ea typeface="Verdana" pitchFamily="34" charset="0"/>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b="0" i="0">
                                    <a:effectLst/>
                                    <a:latin typeface="Cambria Math"/>
                                    <a:ea typeface="Calibri"/>
                                    <a:cs typeface="Times New Roman"/>
                                  </a:rPr>
                                  <m:t>20</m:t>
                                </m:r>
                              </m:oMath>
                            </m:oMathPara>
                          </a14:m>
                          <a:endParaRPr lang="en-PH" sz="2000" b="0" i="0">
                            <a:effectLst/>
                            <a:latin typeface="Verdana" pitchFamily="34" charset="0"/>
                            <a:ea typeface="Verdana" pitchFamily="34" charset="0"/>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b="0" i="0">
                                    <a:effectLst/>
                                    <a:latin typeface="Cambria Math"/>
                                    <a:ea typeface="Calibri"/>
                                    <a:cs typeface="Times New Roman"/>
                                  </a:rPr>
                                  <m:t>23</m:t>
                                </m:r>
                              </m:oMath>
                            </m:oMathPara>
                          </a14:m>
                          <a:endParaRPr lang="en-PH" sz="2000" b="0" i="0">
                            <a:effectLst/>
                            <a:latin typeface="Verdana" pitchFamily="34" charset="0"/>
                            <a:ea typeface="Verdana" pitchFamily="34" charset="0"/>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b="0" i="0">
                                    <a:effectLst/>
                                    <a:latin typeface="Cambria Math"/>
                                    <a:ea typeface="Calibri"/>
                                    <a:cs typeface="Times New Roman"/>
                                  </a:rPr>
                                  <m:t>23</m:t>
                                </m:r>
                              </m:oMath>
                            </m:oMathPara>
                          </a14:m>
                          <a:endParaRPr lang="en-PH" sz="2000" b="0" i="0">
                            <a:effectLst/>
                            <a:latin typeface="Verdana" pitchFamily="34" charset="0"/>
                            <a:ea typeface="Verdana" pitchFamily="34" charset="0"/>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b="0" i="0">
                                    <a:effectLst/>
                                    <a:latin typeface="Cambria Math"/>
                                    <a:ea typeface="Calibri"/>
                                    <a:cs typeface="Times New Roman"/>
                                  </a:rPr>
                                  <m:t>25</m:t>
                                </m:r>
                              </m:oMath>
                            </m:oMathPara>
                          </a14:m>
                          <a:endParaRPr lang="en-PH" sz="2000" b="0" i="0">
                            <a:effectLst/>
                            <a:latin typeface="Verdana" pitchFamily="34" charset="0"/>
                            <a:ea typeface="Verdana" pitchFamily="34" charset="0"/>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b="0" i="0">
                                    <a:effectLst/>
                                    <a:latin typeface="Cambria Math"/>
                                    <a:ea typeface="Calibri"/>
                                    <a:cs typeface="Times New Roman"/>
                                  </a:rPr>
                                  <m:t>25</m:t>
                                </m:r>
                              </m:oMath>
                            </m:oMathPara>
                          </a14:m>
                          <a:endParaRPr lang="en-PH" sz="2000" b="0" i="0">
                            <a:effectLst/>
                            <a:latin typeface="Verdana" pitchFamily="34" charset="0"/>
                            <a:ea typeface="Verdana" pitchFamily="34" charset="0"/>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b="0" i="0">
                                    <a:effectLst/>
                                    <a:latin typeface="Cambria Math"/>
                                    <a:ea typeface="Calibri"/>
                                    <a:cs typeface="Times New Roman"/>
                                  </a:rPr>
                                  <m:t>26</m:t>
                                </m:r>
                              </m:oMath>
                            </m:oMathPara>
                          </a14:m>
                          <a:endParaRPr lang="en-PH" sz="2000" b="0" i="0">
                            <a:effectLst/>
                            <a:latin typeface="Verdana" pitchFamily="34" charset="0"/>
                            <a:ea typeface="Verdana" pitchFamily="34" charset="0"/>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68000">
                    <a:tc>
                      <a:txBody>
                        <a:bodyPr/>
                        <a:lstStyle/>
                        <a:p>
                          <a:pPr algn="ctr">
                            <a:lnSpc>
                              <a:spcPct val="107000"/>
                            </a:lnSpc>
                            <a:spcBef>
                              <a:spcPts val="180"/>
                            </a:spcBef>
                            <a:spcAft>
                              <a:spcPts val="180"/>
                            </a:spcAft>
                          </a:pPr>
                          <a14:m>
                            <m:oMathPara xmlns:m="http://schemas.openxmlformats.org/officeDocument/2006/math">
                              <m:oMathParaPr>
                                <m:jc m:val="center"/>
                              </m:oMathParaPr>
                              <m:oMath xmlns:m="http://schemas.openxmlformats.org/officeDocument/2006/math">
                                <m:r>
                                  <a:rPr lang="en-US" sz="2000" b="0" i="0">
                                    <a:effectLst/>
                                    <a:latin typeface="Cambria Math"/>
                                    <a:ea typeface="Calibri"/>
                                    <a:cs typeface="Times New Roman"/>
                                  </a:rPr>
                                  <m:t>27</m:t>
                                </m:r>
                              </m:oMath>
                            </m:oMathPara>
                          </a14:m>
                          <a:endParaRPr lang="en-PH" sz="2000" b="0" i="0" dirty="0">
                            <a:effectLst/>
                            <a:latin typeface="Verdana" pitchFamily="34" charset="0"/>
                            <a:ea typeface="Verdana" pitchFamily="34" charset="0"/>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b="0" i="0">
                                    <a:effectLst/>
                                    <a:latin typeface="Cambria Math"/>
                                    <a:ea typeface="Calibri"/>
                                    <a:cs typeface="Times New Roman"/>
                                  </a:rPr>
                                  <m:t>27</m:t>
                                </m:r>
                              </m:oMath>
                            </m:oMathPara>
                          </a14:m>
                          <a:endParaRPr lang="en-PH" sz="2000" b="0" i="0">
                            <a:effectLst/>
                            <a:latin typeface="Verdana" pitchFamily="34" charset="0"/>
                            <a:ea typeface="Verdana" pitchFamily="34" charset="0"/>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b="0" i="0">
                                    <a:effectLst/>
                                    <a:latin typeface="Cambria Math"/>
                                    <a:ea typeface="Calibri"/>
                                    <a:cs typeface="Times New Roman"/>
                                  </a:rPr>
                                  <m:t>28</m:t>
                                </m:r>
                              </m:oMath>
                            </m:oMathPara>
                          </a14:m>
                          <a:endParaRPr lang="en-PH" sz="2000" b="0" i="0" dirty="0">
                            <a:effectLst/>
                            <a:latin typeface="Verdana" pitchFamily="34" charset="0"/>
                            <a:ea typeface="Verdana" pitchFamily="34" charset="0"/>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b="0" i="0">
                                    <a:effectLst/>
                                    <a:latin typeface="Cambria Math"/>
                                    <a:ea typeface="Calibri"/>
                                    <a:cs typeface="Times New Roman"/>
                                  </a:rPr>
                                  <m:t>29</m:t>
                                </m:r>
                              </m:oMath>
                            </m:oMathPara>
                          </a14:m>
                          <a:endParaRPr lang="en-PH" sz="2000" b="0" i="0" dirty="0">
                            <a:effectLst/>
                            <a:latin typeface="Verdana" pitchFamily="34" charset="0"/>
                            <a:ea typeface="Verdana" pitchFamily="34" charset="0"/>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b="0" i="0">
                                    <a:effectLst/>
                                    <a:latin typeface="Cambria Math"/>
                                    <a:ea typeface="Calibri"/>
                                    <a:cs typeface="Times New Roman"/>
                                  </a:rPr>
                                  <m:t>32</m:t>
                                </m:r>
                              </m:oMath>
                            </m:oMathPara>
                          </a14:m>
                          <a:endParaRPr lang="en-PH" sz="2000" b="0" i="0">
                            <a:effectLst/>
                            <a:latin typeface="Verdana" pitchFamily="34" charset="0"/>
                            <a:ea typeface="Verdana" pitchFamily="34" charset="0"/>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b="0" i="0">
                                    <a:effectLst/>
                                    <a:latin typeface="Cambria Math"/>
                                    <a:ea typeface="Calibri"/>
                                    <a:cs typeface="Times New Roman"/>
                                  </a:rPr>
                                  <m:t>33</m:t>
                                </m:r>
                              </m:oMath>
                            </m:oMathPara>
                          </a14:m>
                          <a:endParaRPr lang="en-PH" sz="2000" b="0" i="0" dirty="0">
                            <a:effectLst/>
                            <a:latin typeface="Verdana" pitchFamily="34" charset="0"/>
                            <a:ea typeface="Verdana" pitchFamily="34" charset="0"/>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b="0" i="0">
                                    <a:effectLst/>
                                    <a:latin typeface="Cambria Math"/>
                                    <a:ea typeface="Calibri"/>
                                    <a:cs typeface="Times New Roman"/>
                                  </a:rPr>
                                  <m:t>41</m:t>
                                </m:r>
                              </m:oMath>
                            </m:oMathPara>
                          </a14:m>
                          <a:endParaRPr lang="en-PH" sz="2000" b="0" i="0" dirty="0">
                            <a:effectLst/>
                            <a:latin typeface="Verdana" pitchFamily="34" charset="0"/>
                            <a:ea typeface="Verdana" pitchFamily="34" charset="0"/>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b="0" i="0">
                                    <a:effectLst/>
                                    <a:latin typeface="Cambria Math"/>
                                    <a:ea typeface="Calibri"/>
                                    <a:cs typeface="Times New Roman"/>
                                  </a:rPr>
                                  <m:t>42</m:t>
                                </m:r>
                              </m:oMath>
                            </m:oMathPara>
                          </a14:m>
                          <a:endParaRPr lang="en-PH" sz="2000" b="0" i="0">
                            <a:effectLst/>
                            <a:latin typeface="Verdana" pitchFamily="34" charset="0"/>
                            <a:ea typeface="Verdana" pitchFamily="34" charset="0"/>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b="0" i="0">
                                    <a:effectLst/>
                                    <a:latin typeface="Cambria Math"/>
                                    <a:ea typeface="Calibri"/>
                                    <a:cs typeface="Times New Roman"/>
                                  </a:rPr>
                                  <m:t>48</m:t>
                                </m:r>
                              </m:oMath>
                            </m:oMathPara>
                          </a14:m>
                          <a:endParaRPr lang="en-PH" sz="2000" b="0" i="0" dirty="0">
                            <a:effectLst/>
                            <a:latin typeface="Verdana" pitchFamily="34" charset="0"/>
                            <a:ea typeface="Verdana" pitchFamily="34" charset="0"/>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b="0" i="0">
                                    <a:effectLst/>
                                    <a:latin typeface="Cambria Math"/>
                                    <a:ea typeface="Calibri"/>
                                    <a:cs typeface="Times New Roman"/>
                                  </a:rPr>
                                  <m:t>52</m:t>
                                </m:r>
                              </m:oMath>
                            </m:oMathPara>
                          </a14:m>
                          <a:endParaRPr lang="en-PH" sz="2000" b="0" i="0" dirty="0">
                            <a:effectLst/>
                            <a:latin typeface="Verdana" pitchFamily="34" charset="0"/>
                            <a:ea typeface="Verdana" pitchFamily="34" charset="0"/>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68000">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b="0" i="0">
                                    <a:effectLst/>
                                    <a:latin typeface="Cambria Math"/>
                                    <a:ea typeface="Calibri"/>
                                    <a:cs typeface="Times New Roman"/>
                                  </a:rPr>
                                  <m:t>54</m:t>
                                </m:r>
                              </m:oMath>
                            </m:oMathPara>
                          </a14:m>
                          <a:endParaRPr lang="en-PH" sz="2000" b="0" i="0" dirty="0">
                            <a:effectLst/>
                            <a:latin typeface="Verdana" pitchFamily="34" charset="0"/>
                            <a:ea typeface="Verdana" pitchFamily="34" charset="0"/>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b="0" i="0">
                                    <a:effectLst/>
                                    <a:latin typeface="Cambria Math"/>
                                    <a:ea typeface="Calibri"/>
                                    <a:cs typeface="Times New Roman"/>
                                  </a:rPr>
                                  <m:t>59</m:t>
                                </m:r>
                              </m:oMath>
                            </m:oMathPara>
                          </a14:m>
                          <a:endParaRPr lang="en-PH" sz="2000" b="0" i="0">
                            <a:effectLst/>
                            <a:latin typeface="Verdana" pitchFamily="34" charset="0"/>
                            <a:ea typeface="Verdana" pitchFamily="34" charset="0"/>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b="0" i="0">
                                    <a:effectLst/>
                                    <a:latin typeface="Cambria Math"/>
                                    <a:ea typeface="Calibri"/>
                                    <a:cs typeface="Times New Roman"/>
                                  </a:rPr>
                                  <m:t>60</m:t>
                                </m:r>
                              </m:oMath>
                            </m:oMathPara>
                          </a14:m>
                          <a:endParaRPr lang="en-PH" sz="2000" b="0" i="0">
                            <a:effectLst/>
                            <a:latin typeface="Verdana" pitchFamily="34" charset="0"/>
                            <a:ea typeface="Verdana" pitchFamily="34" charset="0"/>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b="0" i="0">
                                    <a:effectLst/>
                                    <a:latin typeface="Cambria Math"/>
                                    <a:ea typeface="Calibri"/>
                                    <a:cs typeface="Times New Roman"/>
                                  </a:rPr>
                                  <m:t>77</m:t>
                                </m:r>
                              </m:oMath>
                            </m:oMathPara>
                          </a14:m>
                          <a:endParaRPr lang="en-PH" sz="2000" b="0" i="0" dirty="0">
                            <a:effectLst/>
                            <a:latin typeface="Verdana" pitchFamily="34" charset="0"/>
                            <a:ea typeface="Verdana" pitchFamily="34" charset="0"/>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Bef>
                              <a:spcPts val="180"/>
                            </a:spcBef>
                            <a:spcAft>
                              <a:spcPts val="180"/>
                            </a:spcAft>
                          </a:pPr>
                          <a14:m>
                            <m:oMathPara xmlns:m="http://schemas.openxmlformats.org/officeDocument/2006/math">
                              <m:oMathParaPr>
                                <m:jc m:val="centerGroup"/>
                              </m:oMathParaPr>
                              <m:oMath xmlns:m="http://schemas.openxmlformats.org/officeDocument/2006/math">
                                <m:r>
                                  <a:rPr lang="en-US" sz="2000" b="0" i="0">
                                    <a:effectLst/>
                                    <a:latin typeface="Cambria Math"/>
                                    <a:ea typeface="Calibri"/>
                                    <a:cs typeface="Times New Roman"/>
                                  </a:rPr>
                                  <m:t>93</m:t>
                                </m:r>
                              </m:oMath>
                            </m:oMathPara>
                          </a14:m>
                          <a:endParaRPr lang="en-PH" sz="2000" b="0" i="0" dirty="0">
                            <a:effectLst/>
                            <a:latin typeface="Verdana" pitchFamily="34" charset="0"/>
                            <a:ea typeface="Verdana" pitchFamily="34" charset="0"/>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gridSpan="5">
                      <a:txBody>
                        <a:bodyPr/>
                        <a:lstStyle/>
                        <a:p>
                          <a:pPr algn="ctr">
                            <a:lnSpc>
                              <a:spcPct val="107000"/>
                            </a:lnSpc>
                            <a:spcBef>
                              <a:spcPts val="180"/>
                            </a:spcBef>
                            <a:spcAft>
                              <a:spcPts val="180"/>
                            </a:spcAft>
                          </a:pPr>
                          <a:r>
                            <a:rPr lang="en-US" sz="2000" b="0" i="0" dirty="0">
                              <a:effectLst/>
                              <a:latin typeface="Verdana" pitchFamily="34" charset="0"/>
                              <a:ea typeface="Verdana" pitchFamily="34" charset="0"/>
                              <a:cs typeface="Times New Roman"/>
                            </a:rPr>
                            <a:t> </a:t>
                          </a:r>
                          <a:endParaRPr lang="en-PH" sz="2000" b="0" i="0" dirty="0">
                            <a:effectLst/>
                            <a:latin typeface="Verdana" pitchFamily="34" charset="0"/>
                            <a:ea typeface="Verdana" pitchFamily="34" charset="0"/>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tcPr>
                    </a:tc>
                    <a:tc hMerge="1">
                      <a:txBody>
                        <a:bodyPr/>
                        <a:lstStyle/>
                        <a:p>
                          <a:endParaRPr lang="en-PH"/>
                        </a:p>
                      </a:txBody>
                      <a:tcPr/>
                    </a:tc>
                    <a:tc hMerge="1">
                      <a:txBody>
                        <a:bodyPr/>
                        <a:lstStyle/>
                        <a:p>
                          <a:endParaRPr lang="en-PH"/>
                        </a:p>
                      </a:txBody>
                      <a:tcPr/>
                    </a:tc>
                    <a:tc hMerge="1">
                      <a:txBody>
                        <a:bodyPr/>
                        <a:lstStyle/>
                        <a:p>
                          <a:endParaRPr lang="en-PH"/>
                        </a:p>
                      </a:txBody>
                      <a:tcPr/>
                    </a:tc>
                    <a:tc hMerge="1">
                      <a:txBody>
                        <a:bodyPr/>
                        <a:lstStyle/>
                        <a:p>
                          <a:endParaRPr lang="en-PH"/>
                        </a:p>
                      </a:txBody>
                      <a:tcPr/>
                    </a:tc>
                    <a:extLst>
                      <a:ext uri="{0D108BD9-81ED-4DB2-BD59-A6C34878D82A}">
                        <a16:rowId xmlns:a16="http://schemas.microsoft.com/office/drawing/2014/main" val="10003"/>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1994712799"/>
                  </p:ext>
                </p:extLst>
              </p:nvPr>
            </p:nvGraphicFramePr>
            <p:xfrm>
              <a:off x="1047332" y="383758"/>
              <a:ext cx="7200000" cy="1872000"/>
            </p:xfrm>
            <a:graphic>
              <a:graphicData uri="http://schemas.openxmlformats.org/drawingml/2006/table">
                <a:tbl>
                  <a:tblPr firstRow="1" firstCol="1" bandRow="1"/>
                  <a:tblGrid>
                    <a:gridCol w="720000"/>
                    <a:gridCol w="720000"/>
                    <a:gridCol w="720000"/>
                    <a:gridCol w="720000"/>
                    <a:gridCol w="720000"/>
                    <a:gridCol w="720000"/>
                    <a:gridCol w="720000"/>
                    <a:gridCol w="720000"/>
                    <a:gridCol w="720000"/>
                    <a:gridCol w="720000"/>
                  </a:tblGrid>
                  <a:tr h="468000">
                    <a:tc gridSpan="10">
                      <a:txBody>
                        <a:bodyPr/>
                        <a:lstStyle/>
                        <a:p>
                          <a:pPr algn="ctr">
                            <a:lnSpc>
                              <a:spcPct val="107000"/>
                            </a:lnSpc>
                            <a:spcBef>
                              <a:spcPts val="180"/>
                            </a:spcBef>
                            <a:spcAft>
                              <a:spcPts val="180"/>
                            </a:spcAft>
                          </a:pPr>
                          <a:r>
                            <a:rPr lang="en-US" sz="2000" b="1" i="0" dirty="0">
                              <a:effectLst/>
                              <a:latin typeface="Verdana" pitchFamily="34" charset="0"/>
                              <a:ea typeface="Verdana" pitchFamily="34" charset="0"/>
                              <a:cs typeface="Cambria Math"/>
                            </a:rPr>
                            <a:t>Earthworm Lengths in Millimeters (mm)</a:t>
                          </a:r>
                          <a:endParaRPr lang="en-PH" sz="2000" b="1" i="0" dirty="0">
                            <a:effectLst/>
                            <a:latin typeface="Verdana" pitchFamily="34" charset="0"/>
                            <a:ea typeface="Verdana" pitchFamily="34" charset="0"/>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PH"/>
                        </a:p>
                      </a:txBody>
                      <a:tcPr/>
                    </a:tc>
                    <a:tc hMerge="1">
                      <a:txBody>
                        <a:bodyPr/>
                        <a:lstStyle/>
                        <a:p>
                          <a:endParaRPr lang="en-PH"/>
                        </a:p>
                      </a:txBody>
                      <a:tcPr/>
                    </a:tc>
                    <a:tc hMerge="1">
                      <a:txBody>
                        <a:bodyPr/>
                        <a:lstStyle/>
                        <a:p>
                          <a:endParaRPr lang="en-PH"/>
                        </a:p>
                      </a:txBody>
                      <a:tcPr/>
                    </a:tc>
                    <a:tc hMerge="1">
                      <a:txBody>
                        <a:bodyPr/>
                        <a:lstStyle/>
                        <a:p>
                          <a:endParaRPr lang="en-PH"/>
                        </a:p>
                      </a:txBody>
                      <a:tcPr/>
                    </a:tc>
                    <a:tc hMerge="1">
                      <a:txBody>
                        <a:bodyPr/>
                        <a:lstStyle/>
                        <a:p>
                          <a:endParaRPr lang="en-PH"/>
                        </a:p>
                      </a:txBody>
                      <a:tcPr/>
                    </a:tc>
                    <a:tc hMerge="1">
                      <a:txBody>
                        <a:bodyPr/>
                        <a:lstStyle/>
                        <a:p>
                          <a:endParaRPr lang="en-PH"/>
                        </a:p>
                      </a:txBody>
                      <a:tcPr/>
                    </a:tc>
                    <a:tc hMerge="1">
                      <a:txBody>
                        <a:bodyPr/>
                        <a:lstStyle/>
                        <a:p>
                          <a:endParaRPr lang="en-PH"/>
                        </a:p>
                      </a:txBody>
                      <a:tcPr/>
                    </a:tc>
                    <a:tc hMerge="1">
                      <a:txBody>
                        <a:bodyPr/>
                        <a:lstStyle/>
                        <a:p>
                          <a:endParaRPr lang="en-PH"/>
                        </a:p>
                      </a:txBody>
                      <a:tcPr/>
                    </a:tc>
                    <a:tc hMerge="1">
                      <a:txBody>
                        <a:bodyPr/>
                        <a:lstStyle/>
                        <a:p>
                          <a:endParaRPr lang="en-PH"/>
                        </a:p>
                      </a:txBody>
                      <a:tcPr/>
                    </a:tc>
                  </a:tr>
                  <a:tr h="468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847" t="-102597" r="-900847" b="-200000"/>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847" t="-102597" r="-800847" b="-200000"/>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00847" t="-102597" r="-700847" b="-200000"/>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300847" t="-102597" r="-600847" b="-200000"/>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397479" t="-102597" r="-495798" b="-200000"/>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501695" t="-102597" r="-400000" b="-200000"/>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601695" t="-102597" r="-300000" b="-200000"/>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701695" t="-102597" r="-200000" b="-200000"/>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801695" t="-102597" r="-100000" b="-200000"/>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901695" t="-102597" b="-200000"/>
                          </a:stretch>
                        </a:blipFill>
                      </a:tcPr>
                    </a:tc>
                  </a:tr>
                  <a:tr h="468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847" t="-205263" r="-900847" b="-102632"/>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847" t="-205263" r="-800847" b="-102632"/>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00847" t="-205263" r="-700847" b="-102632"/>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300847" t="-205263" r="-600847" b="-102632"/>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397479" t="-205263" r="-495798" b="-102632"/>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501695" t="-205263" r="-400000" b="-102632"/>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601695" t="-205263" r="-300000" b="-102632"/>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701695" t="-205263" r="-200000" b="-102632"/>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801695" t="-205263" r="-100000" b="-102632"/>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901695" t="-205263" b="-102632"/>
                          </a:stretch>
                        </a:blipFill>
                      </a:tcPr>
                    </a:tc>
                  </a:tr>
                  <a:tr h="468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847" t="-301299" r="-900847" b="-1299"/>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00847" t="-301299" r="-800847" b="-1299"/>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00847" t="-301299" r="-700847" b="-1299"/>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300847" t="-301299" r="-600847" b="-1299"/>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397479" t="-301299" r="-495798" b="-1299"/>
                          </a:stretch>
                        </a:blipFill>
                      </a:tcPr>
                    </a:tc>
                    <a:tc gridSpan="5">
                      <a:txBody>
                        <a:bodyPr/>
                        <a:lstStyle/>
                        <a:p>
                          <a:pPr algn="ctr">
                            <a:lnSpc>
                              <a:spcPct val="107000"/>
                            </a:lnSpc>
                            <a:spcBef>
                              <a:spcPts val="180"/>
                            </a:spcBef>
                            <a:spcAft>
                              <a:spcPts val="180"/>
                            </a:spcAft>
                          </a:pPr>
                          <a:r>
                            <a:rPr lang="en-US" sz="2000" b="0" i="0" dirty="0">
                              <a:effectLst/>
                              <a:latin typeface="Verdana" pitchFamily="34" charset="0"/>
                              <a:ea typeface="Verdana" pitchFamily="34" charset="0"/>
                              <a:cs typeface="Times New Roman"/>
                            </a:rPr>
                            <a:t> </a:t>
                          </a:r>
                          <a:endParaRPr lang="en-PH" sz="2000" b="0" i="0" dirty="0">
                            <a:effectLst/>
                            <a:latin typeface="Verdana" pitchFamily="34" charset="0"/>
                            <a:ea typeface="Verdana" pitchFamily="34" charset="0"/>
                            <a:cs typeface="Times New Roman"/>
                          </a:endParaRPr>
                        </a:p>
                      </a:txBody>
                      <a:tcPr marL="68580" marR="68580" marT="0" marB="0"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tcPr>
                    </a:tc>
                    <a:tc hMerge="1">
                      <a:txBody>
                        <a:bodyPr/>
                        <a:lstStyle/>
                        <a:p>
                          <a:endParaRPr lang="en-PH"/>
                        </a:p>
                      </a:txBody>
                      <a:tcPr/>
                    </a:tc>
                    <a:tc hMerge="1">
                      <a:txBody>
                        <a:bodyPr/>
                        <a:lstStyle/>
                        <a:p>
                          <a:endParaRPr lang="en-PH"/>
                        </a:p>
                      </a:txBody>
                      <a:tcPr/>
                    </a:tc>
                    <a:tc hMerge="1">
                      <a:txBody>
                        <a:bodyPr/>
                        <a:lstStyle/>
                        <a:p>
                          <a:endParaRPr lang="en-PH"/>
                        </a:p>
                      </a:txBody>
                      <a:tcPr/>
                    </a:tc>
                    <a:tc hMerge="1">
                      <a:txBody>
                        <a:bodyPr/>
                        <a:lstStyle/>
                        <a:p>
                          <a:endParaRPr lang="en-PH"/>
                        </a:p>
                      </a:txBody>
                      <a:tcPr/>
                    </a:tc>
                  </a:tr>
                </a:tbl>
              </a:graphicData>
            </a:graphic>
          </p:graphicFrame>
        </mc:Fallback>
      </mc:AlternateContent>
      <p:grpSp>
        <p:nvGrpSpPr>
          <p:cNvPr id="7" name="Group 6"/>
          <p:cNvGrpSpPr/>
          <p:nvPr/>
        </p:nvGrpSpPr>
        <p:grpSpPr>
          <a:xfrm>
            <a:off x="3185552" y="2447765"/>
            <a:ext cx="5659998" cy="4250750"/>
            <a:chOff x="1447752" y="2447765"/>
            <a:chExt cx="5659998" cy="4250750"/>
          </a:xfrm>
        </p:grpSpPr>
        <p:pic>
          <p:nvPicPr>
            <p:cNvPr id="9" name="Picture 8" descr="Chart&#10;&#10;Description automatically generated"/>
            <p:cNvPicPr/>
            <p:nvPr/>
          </p:nvPicPr>
          <p:blipFill>
            <a:blip r:embed="rId5" cstate="screen">
              <a:extLst>
                <a:ext uri="{28A0092B-C50C-407E-A947-70E740481C1C}">
                  <a14:useLocalDpi xmlns:a14="http://schemas.microsoft.com/office/drawing/2010/main"/>
                </a:ext>
              </a:extLst>
            </a:blip>
            <a:stretch>
              <a:fillRect/>
            </a:stretch>
          </p:blipFill>
          <p:spPr>
            <a:xfrm>
              <a:off x="1856935" y="2447765"/>
              <a:ext cx="5250815" cy="3850640"/>
            </a:xfrm>
            <a:prstGeom prst="rect">
              <a:avLst/>
            </a:prstGeom>
          </p:spPr>
        </p:pic>
        <p:sp>
          <p:nvSpPr>
            <p:cNvPr id="5" name="Rectangle 4"/>
            <p:cNvSpPr/>
            <p:nvPr/>
          </p:nvSpPr>
          <p:spPr>
            <a:xfrm rot="16200000">
              <a:off x="901000" y="4162258"/>
              <a:ext cx="1515158" cy="421654"/>
            </a:xfrm>
            <a:prstGeom prst="rect">
              <a:avLst/>
            </a:prstGeom>
          </p:spPr>
          <p:txBody>
            <a:bodyPr wrap="none">
              <a:spAutoFit/>
            </a:bodyPr>
            <a:lstStyle/>
            <a:p>
              <a:pPr>
                <a:lnSpc>
                  <a:spcPct val="107000"/>
                </a:lnSpc>
                <a:spcAft>
                  <a:spcPts val="800"/>
                </a:spcAft>
              </a:pPr>
              <a:r>
                <a:rPr lang="en-US" sz="2000" dirty="0">
                  <a:latin typeface="Verdana"/>
                  <a:ea typeface="Cambria Math"/>
                  <a:cs typeface="Cambria Math"/>
                </a:rPr>
                <a:t>Frequency</a:t>
              </a:r>
              <a:endParaRPr lang="en-PH" sz="2000" i="1" dirty="0">
                <a:latin typeface="Cambria Math"/>
                <a:ea typeface="Cambria Math"/>
                <a:cs typeface="Cambria Math"/>
              </a:endParaRPr>
            </a:p>
          </p:txBody>
        </p:sp>
        <p:sp>
          <p:nvSpPr>
            <p:cNvPr id="6" name="Rectangle 5"/>
            <p:cNvSpPr/>
            <p:nvPr/>
          </p:nvSpPr>
          <p:spPr>
            <a:xfrm>
              <a:off x="3077031" y="6298405"/>
              <a:ext cx="3140603" cy="400110"/>
            </a:xfrm>
            <a:prstGeom prst="rect">
              <a:avLst/>
            </a:prstGeom>
          </p:spPr>
          <p:txBody>
            <a:bodyPr wrap="none">
              <a:spAutoFit/>
            </a:bodyPr>
            <a:lstStyle/>
            <a:p>
              <a:r>
                <a:rPr lang="en-US" sz="2000" dirty="0">
                  <a:latin typeface="Verdana" pitchFamily="34" charset="0"/>
                  <a:ea typeface="Verdana" pitchFamily="34" charset="0"/>
                  <a:cs typeface="Calibri" pitchFamily="34" charset="0"/>
                </a:rPr>
                <a:t>Length (in millimeters)</a:t>
              </a:r>
              <a:endParaRPr lang="en-PH" sz="2000" i="1" dirty="0">
                <a:latin typeface="Verdana" pitchFamily="34" charset="0"/>
                <a:ea typeface="Verdana" pitchFamily="34" charset="0"/>
                <a:cs typeface="Calibri" pitchFamily="34" charset="0"/>
              </a:endParaRPr>
            </a:p>
          </p:txBody>
        </p:sp>
      </p:grpSp>
      <p:sp>
        <p:nvSpPr>
          <p:cNvPr id="10" name="Google Shape;282;g104476d1465_1_17"/>
          <p:cNvSpPr txBox="1"/>
          <p:nvPr/>
        </p:nvSpPr>
        <p:spPr>
          <a:xfrm>
            <a:off x="87371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65</a:t>
            </a:r>
            <a:endParaRPr i="1" dirty="0">
              <a:latin typeface="Calibri"/>
              <a:ea typeface="Calibri"/>
              <a:cs typeface="Calibri"/>
              <a:sym typeface="Calibri"/>
            </a:endParaRPr>
          </a:p>
        </p:txBody>
      </p:sp>
      <p:pic>
        <p:nvPicPr>
          <p:cNvPr id="11"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753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505141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2007765" y="383759"/>
            <a:ext cx="8327136" cy="5427127"/>
          </a:xfrm>
          <a:prstGeom prst="rect">
            <a:avLst/>
          </a:prstGeom>
          <a:noFill/>
        </p:spPr>
        <p:txBody>
          <a:bodyPr wrap="square" rtlCol="0">
            <a:spAutoFit/>
          </a:bodyPr>
          <a:lstStyle/>
          <a:p>
            <a:pPr marL="457200" lvl="1" indent="-457200">
              <a:spcAft>
                <a:spcPts val="800"/>
              </a:spcAft>
              <a:buFont typeface="+mj-lt"/>
              <a:buAutoNum type="arabicPeriod"/>
            </a:pPr>
            <a:r>
              <a:rPr lang="en-US" sz="2000" dirty="0">
                <a:latin typeface="Verdana" pitchFamily="34" charset="0"/>
                <a:ea typeface="Verdana" pitchFamily="34" charset="0"/>
                <a:cs typeface="Verdana"/>
              </a:rPr>
              <a:t>How many earthworms were measured in the data?</a:t>
            </a:r>
            <a:r>
              <a:rPr lang="en-PH" sz="2000" i="1" dirty="0">
                <a:latin typeface="Verdana" pitchFamily="34" charset="0"/>
                <a:ea typeface="Verdana" pitchFamily="34" charset="0"/>
                <a:cs typeface="Cambria Math"/>
              </a:rPr>
              <a:t> </a:t>
            </a:r>
            <a:r>
              <a:rPr lang="en-US" sz="2000" dirty="0">
                <a:latin typeface="Verdana" pitchFamily="34" charset="0"/>
                <a:ea typeface="Verdana" pitchFamily="34" charset="0"/>
                <a:cs typeface="Verdana"/>
              </a:rPr>
              <a:t> </a:t>
            </a:r>
            <a:endParaRPr lang="en-PH" sz="2000" i="1" dirty="0">
              <a:latin typeface="Verdana" pitchFamily="34" charset="0"/>
              <a:ea typeface="Verdana" pitchFamily="34" charset="0"/>
              <a:cs typeface="Cambria Math"/>
            </a:endParaRPr>
          </a:p>
          <a:p>
            <a:pPr marL="457200" lvl="1" indent="-457200">
              <a:buFont typeface="+mj-lt"/>
              <a:buAutoNum type="arabicPeriod"/>
            </a:pPr>
            <a:endParaRPr lang="en-US" sz="2000" dirty="0">
              <a:latin typeface="Verdana" pitchFamily="34" charset="0"/>
              <a:ea typeface="Verdana" pitchFamily="34" charset="0"/>
              <a:cs typeface="Verdana"/>
            </a:endParaRPr>
          </a:p>
          <a:p>
            <a:pPr marL="457200" lvl="1" indent="-457200">
              <a:buFont typeface="+mj-lt"/>
              <a:buAutoNum type="arabicPeriod"/>
            </a:pPr>
            <a:endParaRPr lang="en-US" sz="2000" dirty="0">
              <a:latin typeface="Verdana" pitchFamily="34" charset="0"/>
              <a:ea typeface="Verdana" pitchFamily="34" charset="0"/>
              <a:cs typeface="Verdana"/>
            </a:endParaRPr>
          </a:p>
          <a:p>
            <a:pPr marL="457200" lvl="1" indent="-457200">
              <a:buFont typeface="+mj-lt"/>
              <a:buAutoNum type="arabicPeriod"/>
            </a:pPr>
            <a:endParaRPr lang="en-US" sz="2000" dirty="0">
              <a:latin typeface="Verdana" pitchFamily="34" charset="0"/>
              <a:ea typeface="Verdana" pitchFamily="34" charset="0"/>
              <a:cs typeface="Verdana"/>
            </a:endParaRPr>
          </a:p>
          <a:p>
            <a:pPr marL="457200" lvl="1" indent="-457200">
              <a:buFont typeface="+mj-lt"/>
              <a:buAutoNum type="arabicPeriod"/>
            </a:pPr>
            <a:endParaRPr lang="en-US" sz="2000" dirty="0">
              <a:latin typeface="Verdana" pitchFamily="34" charset="0"/>
              <a:ea typeface="Verdana" pitchFamily="34" charset="0"/>
              <a:cs typeface="Verdana"/>
            </a:endParaRPr>
          </a:p>
          <a:p>
            <a:pPr marL="457200" lvl="1" indent="-457200">
              <a:buFont typeface="+mj-lt"/>
              <a:buAutoNum type="arabicPeriod"/>
            </a:pPr>
            <a:r>
              <a:rPr lang="en-US" sz="2000" dirty="0">
                <a:latin typeface="Verdana" pitchFamily="34" charset="0"/>
                <a:ea typeface="Verdana" pitchFamily="34" charset="0"/>
                <a:cs typeface="Verdana"/>
              </a:rPr>
              <a:t>The number of earthworms measured can be determined </a:t>
            </a:r>
            <a:br>
              <a:rPr lang="en-US" sz="2000" dirty="0">
                <a:latin typeface="Verdana" pitchFamily="34" charset="0"/>
                <a:ea typeface="Verdana" pitchFamily="34" charset="0"/>
                <a:cs typeface="Verdana"/>
              </a:rPr>
            </a:br>
            <a:br>
              <a:rPr lang="en-US" sz="2000" dirty="0">
                <a:latin typeface="Verdana" pitchFamily="34" charset="0"/>
                <a:ea typeface="Verdana" pitchFamily="34" charset="0"/>
                <a:cs typeface="Verdana"/>
              </a:rPr>
            </a:br>
            <a:br>
              <a:rPr lang="en-US" sz="2000" dirty="0">
                <a:latin typeface="Verdana" pitchFamily="34" charset="0"/>
                <a:ea typeface="Verdana" pitchFamily="34" charset="0"/>
                <a:cs typeface="Verdana"/>
              </a:rPr>
            </a:br>
            <a:r>
              <a:rPr lang="en-US" sz="2000" dirty="0">
                <a:latin typeface="Verdana" pitchFamily="34" charset="0"/>
                <a:ea typeface="Verdana" pitchFamily="34" charset="0"/>
                <a:cs typeface="Verdana"/>
              </a:rPr>
              <a:t>from  </a:t>
            </a:r>
            <a:endParaRPr lang="en-PH" sz="2000" i="1" dirty="0">
              <a:latin typeface="Verdana" pitchFamily="34" charset="0"/>
              <a:ea typeface="Verdana" pitchFamily="34" charset="0"/>
              <a:cs typeface="Cambria Math"/>
            </a:endParaRPr>
          </a:p>
          <a:p>
            <a:pPr marL="457200" lvl="1" indent="-457200">
              <a:buFont typeface="+mj-lt"/>
              <a:buAutoNum type="arabicPeriod"/>
            </a:pPr>
            <a:endParaRPr lang="en-US" sz="2000" dirty="0">
              <a:latin typeface="Verdana" pitchFamily="34" charset="0"/>
              <a:ea typeface="Verdana" pitchFamily="34" charset="0"/>
              <a:cs typeface="Cambria Math"/>
            </a:endParaRPr>
          </a:p>
          <a:p>
            <a:pPr marL="457200" lvl="1" indent="-457200">
              <a:buFont typeface="+mj-lt"/>
              <a:buAutoNum type="arabicPeriod"/>
            </a:pPr>
            <a:endParaRPr lang="en-US" sz="2000" dirty="0">
              <a:latin typeface="Verdana" pitchFamily="34" charset="0"/>
              <a:ea typeface="Verdana" pitchFamily="34" charset="0"/>
              <a:cs typeface="Cambria Math"/>
            </a:endParaRPr>
          </a:p>
          <a:p>
            <a:pPr marL="457200" lvl="1" indent="-457200">
              <a:buFont typeface="+mj-lt"/>
              <a:buAutoNum type="arabicPeriod"/>
            </a:pPr>
            <a:endParaRPr lang="en-US" sz="2000" dirty="0">
              <a:latin typeface="Verdana" pitchFamily="34" charset="0"/>
              <a:ea typeface="Verdana" pitchFamily="34" charset="0"/>
              <a:cs typeface="Cambria Math"/>
            </a:endParaRPr>
          </a:p>
          <a:p>
            <a:pPr marL="457200" lvl="1" indent="-457200">
              <a:buFont typeface="+mj-lt"/>
              <a:buAutoNum type="arabicPeriod"/>
            </a:pPr>
            <a:endParaRPr lang="en-US" sz="2000" dirty="0">
              <a:latin typeface="Verdana" pitchFamily="34" charset="0"/>
              <a:ea typeface="Verdana" pitchFamily="34" charset="0"/>
              <a:cs typeface="Cambria Math"/>
            </a:endParaRPr>
          </a:p>
          <a:p>
            <a:pPr marL="457200" lvl="1" indent="-457200">
              <a:buFont typeface="+mj-lt"/>
              <a:buAutoNum type="arabicPeriod"/>
            </a:pPr>
            <a:r>
              <a:rPr lang="en-US" sz="2000" dirty="0">
                <a:latin typeface="Verdana" pitchFamily="34" charset="0"/>
                <a:ea typeface="Verdana" pitchFamily="34" charset="0"/>
                <a:cs typeface="Cambria Math"/>
              </a:rPr>
              <a:t>The length of the shortest earthworm can </a:t>
            </a:r>
            <a:r>
              <a:rPr lang="en-US" sz="2000" dirty="0">
                <a:latin typeface="Verdana" pitchFamily="34" charset="0"/>
                <a:ea typeface="Verdana" pitchFamily="34" charset="0"/>
                <a:cs typeface="Verdana"/>
              </a:rPr>
              <a:t>determined </a:t>
            </a:r>
            <a:br>
              <a:rPr lang="en-US" sz="2000" dirty="0">
                <a:latin typeface="Verdana" pitchFamily="34" charset="0"/>
                <a:ea typeface="Verdana" pitchFamily="34" charset="0"/>
                <a:cs typeface="Verdana"/>
              </a:rPr>
            </a:br>
            <a:br>
              <a:rPr lang="en-US" sz="2000" dirty="0">
                <a:latin typeface="Verdana" pitchFamily="34" charset="0"/>
                <a:ea typeface="Verdana" pitchFamily="34" charset="0"/>
                <a:cs typeface="Verdana"/>
              </a:rPr>
            </a:br>
            <a:br>
              <a:rPr lang="en-US" sz="2000" dirty="0">
                <a:latin typeface="Verdana" pitchFamily="34" charset="0"/>
                <a:ea typeface="Verdana" pitchFamily="34" charset="0"/>
                <a:cs typeface="Verdana"/>
              </a:rPr>
            </a:br>
            <a:r>
              <a:rPr lang="en-US" sz="2000" dirty="0">
                <a:latin typeface="Verdana" pitchFamily="34" charset="0"/>
                <a:ea typeface="Verdana" pitchFamily="34" charset="0"/>
                <a:cs typeface="Verdana"/>
              </a:rPr>
              <a:t>from </a:t>
            </a:r>
            <a:endParaRPr lang="en-PH" sz="2000" i="1" dirty="0">
              <a:latin typeface="Verdana" pitchFamily="34" charset="0"/>
              <a:ea typeface="Verdana" pitchFamily="34" charset="0"/>
              <a:cs typeface="Cambria Math"/>
            </a:endParaRPr>
          </a:p>
        </p:txBody>
      </p:sp>
      <p:sp>
        <p:nvSpPr>
          <p:cNvPr id="7" name="Rounded Rectangle 6"/>
          <p:cNvSpPr/>
          <p:nvPr/>
        </p:nvSpPr>
        <p:spPr>
          <a:xfrm>
            <a:off x="3287654" y="2464676"/>
            <a:ext cx="2726024" cy="1464186"/>
          </a:xfrm>
          <a:prstGeom prst="roundRect">
            <a:avLst>
              <a:gd name="adj" fmla="val 16667"/>
            </a:avLst>
          </a:prstGeom>
          <a:noFill/>
          <a:ln w="19050" cap="flat" cmpd="sng">
            <a:solidFill>
              <a:sysClr val="windowText" lastClr="000000"/>
            </a:solidFill>
            <a:prstDash val="solid"/>
            <a:miter lim="800000"/>
            <a:headEnd type="none" w="sm" len="sm"/>
            <a:tailEnd type="none" w="sm" len="sm"/>
          </a:ln>
        </p:spPr>
        <p:txBody>
          <a:bodyPr spcFirstLastPara="1" wrap="square" lIns="91425" tIns="45700" rIns="91425" bIns="45700" anchor="ctr" anchorCtr="0">
            <a:spAutoFit/>
          </a:bodyPr>
          <a:lstStyle/>
          <a:p>
            <a:pPr marL="285750" indent="-285750">
              <a:buClrTx/>
              <a:buFont typeface="Courier New" pitchFamily="49" charset="0"/>
              <a:buChar char="o"/>
              <a:defRPr/>
            </a:pPr>
            <a:r>
              <a:rPr lang="en-US" sz="2000" dirty="0">
                <a:latin typeface="Verdana" pitchFamily="34" charset="0"/>
                <a:ea typeface="Verdana" pitchFamily="34" charset="0"/>
                <a:cs typeface="Verdana"/>
              </a:rPr>
              <a:t>the data set.</a:t>
            </a:r>
            <a:endParaRPr lang="en-PH" sz="2000" i="1" dirty="0">
              <a:solidFill>
                <a:sysClr val="windowText" lastClr="000000"/>
              </a:solidFill>
              <a:latin typeface="Verdana" pitchFamily="34" charset="0"/>
              <a:ea typeface="Verdana" pitchFamily="34" charset="0"/>
              <a:cs typeface="Cambria Math"/>
            </a:endParaRPr>
          </a:p>
          <a:p>
            <a:pPr marL="285750" indent="-285750">
              <a:buClrTx/>
              <a:buFont typeface="Courier New" pitchFamily="49" charset="0"/>
              <a:buChar char="o"/>
              <a:defRPr/>
            </a:pPr>
            <a:r>
              <a:rPr lang="en-US" sz="2000" dirty="0">
                <a:latin typeface="Verdana" pitchFamily="34" charset="0"/>
                <a:ea typeface="Verdana" pitchFamily="34" charset="0"/>
                <a:cs typeface="Verdana"/>
              </a:rPr>
              <a:t>the histogram. </a:t>
            </a:r>
            <a:endParaRPr lang="en-PH" sz="2000" i="1" dirty="0">
              <a:solidFill>
                <a:sysClr val="windowText" lastClr="000000"/>
              </a:solidFill>
              <a:latin typeface="Verdana" pitchFamily="34" charset="0"/>
              <a:ea typeface="Verdana" pitchFamily="34" charset="0"/>
              <a:cs typeface="Cambria Math"/>
            </a:endParaRPr>
          </a:p>
          <a:p>
            <a:pPr marL="273050" indent="-273050">
              <a:buClrTx/>
              <a:buFont typeface="Courier New" pitchFamily="49" charset="0"/>
              <a:buChar char="o"/>
              <a:defRPr/>
            </a:pPr>
            <a:r>
              <a:rPr lang="en-US" sz="2000" dirty="0">
                <a:latin typeface="Verdana" pitchFamily="34" charset="0"/>
                <a:ea typeface="Verdana" pitchFamily="34" charset="0"/>
                <a:cs typeface="Verdana"/>
              </a:rPr>
              <a:t>the data set and the histogram.</a:t>
            </a:r>
            <a:endParaRPr lang="en-PH" sz="2000" i="1" dirty="0">
              <a:solidFill>
                <a:sysClr val="windowText" lastClr="000000"/>
              </a:solidFill>
              <a:latin typeface="Verdana" pitchFamily="34" charset="0"/>
              <a:ea typeface="Verdana" pitchFamily="34" charset="0"/>
              <a:cs typeface="Cambria Math"/>
            </a:endParaRPr>
          </a:p>
        </p:txBody>
      </p:sp>
      <p:sp>
        <p:nvSpPr>
          <p:cNvPr id="8" name="Rounded Rectangle 7"/>
          <p:cNvSpPr/>
          <p:nvPr/>
        </p:nvSpPr>
        <p:spPr>
          <a:xfrm>
            <a:off x="3287654" y="4971465"/>
            <a:ext cx="2726024" cy="1464186"/>
          </a:xfrm>
          <a:prstGeom prst="roundRect">
            <a:avLst>
              <a:gd name="adj" fmla="val 16667"/>
            </a:avLst>
          </a:prstGeom>
          <a:noFill/>
          <a:ln w="19050" cap="flat" cmpd="sng">
            <a:solidFill>
              <a:sysClr val="windowText" lastClr="000000"/>
            </a:solidFill>
            <a:prstDash val="solid"/>
            <a:miter lim="800000"/>
            <a:headEnd type="none" w="sm" len="sm"/>
            <a:tailEnd type="none" w="sm" len="sm"/>
          </a:ln>
        </p:spPr>
        <p:txBody>
          <a:bodyPr spcFirstLastPara="1" wrap="square" lIns="91425" tIns="45700" rIns="91425" bIns="45700" anchor="ctr" anchorCtr="0">
            <a:spAutoFit/>
          </a:bodyPr>
          <a:lstStyle/>
          <a:p>
            <a:pPr marL="285750" indent="-285750">
              <a:buClrTx/>
              <a:buFont typeface="Courier New" pitchFamily="49" charset="0"/>
              <a:buChar char="o"/>
              <a:defRPr/>
            </a:pPr>
            <a:r>
              <a:rPr lang="en-US" sz="2000" dirty="0">
                <a:latin typeface="Verdana" pitchFamily="34" charset="0"/>
                <a:ea typeface="Verdana" pitchFamily="34" charset="0"/>
                <a:cs typeface="Verdana"/>
              </a:rPr>
              <a:t>the data set.</a:t>
            </a:r>
            <a:endParaRPr lang="en-PH" sz="2000" i="1" dirty="0">
              <a:solidFill>
                <a:sysClr val="windowText" lastClr="000000"/>
              </a:solidFill>
              <a:latin typeface="Verdana" pitchFamily="34" charset="0"/>
              <a:ea typeface="Verdana" pitchFamily="34" charset="0"/>
              <a:cs typeface="Cambria Math"/>
            </a:endParaRPr>
          </a:p>
          <a:p>
            <a:pPr marL="285750" indent="-285750">
              <a:buClrTx/>
              <a:buFont typeface="Courier New" pitchFamily="49" charset="0"/>
              <a:buChar char="o"/>
              <a:defRPr/>
            </a:pPr>
            <a:r>
              <a:rPr lang="en-US" sz="2000" dirty="0">
                <a:latin typeface="Verdana" pitchFamily="34" charset="0"/>
                <a:ea typeface="Verdana" pitchFamily="34" charset="0"/>
                <a:cs typeface="Verdana"/>
              </a:rPr>
              <a:t>the histogram. </a:t>
            </a:r>
            <a:endParaRPr lang="en-PH" sz="2000" i="1" dirty="0">
              <a:solidFill>
                <a:sysClr val="windowText" lastClr="000000"/>
              </a:solidFill>
              <a:latin typeface="Verdana" pitchFamily="34" charset="0"/>
              <a:ea typeface="Verdana" pitchFamily="34" charset="0"/>
              <a:cs typeface="Cambria Math"/>
            </a:endParaRPr>
          </a:p>
          <a:p>
            <a:pPr marL="285750" indent="-285750">
              <a:buClrTx/>
              <a:buFont typeface="Courier New" pitchFamily="49" charset="0"/>
              <a:buChar char="o"/>
              <a:defRPr/>
            </a:pPr>
            <a:r>
              <a:rPr lang="en-US" sz="2000" dirty="0">
                <a:latin typeface="Verdana" pitchFamily="34" charset="0"/>
                <a:ea typeface="Verdana" pitchFamily="34" charset="0"/>
                <a:cs typeface="Verdana"/>
              </a:rPr>
              <a:t>the data set and the histogram.</a:t>
            </a:r>
            <a:endParaRPr lang="en-PH" sz="2000" i="1" dirty="0">
              <a:solidFill>
                <a:sysClr val="windowText" lastClr="000000"/>
              </a:solidFill>
              <a:latin typeface="Verdana" pitchFamily="34" charset="0"/>
              <a:ea typeface="Verdana" pitchFamily="34" charset="0"/>
              <a:cs typeface="Cambria Math"/>
            </a:endParaRPr>
          </a:p>
        </p:txBody>
      </p:sp>
      <p:sp>
        <p:nvSpPr>
          <p:cNvPr id="10" name="Google Shape;282;g104476d1465_1_17"/>
          <p:cNvSpPr txBox="1"/>
          <p:nvPr/>
        </p:nvSpPr>
        <p:spPr>
          <a:xfrm>
            <a:off x="87371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66</a:t>
            </a:r>
            <a:endParaRPr i="1" dirty="0">
              <a:latin typeface="Calibri"/>
              <a:ea typeface="Calibri"/>
              <a:cs typeface="Calibri"/>
              <a:sym typeface="Calibri"/>
            </a:endParaRPr>
          </a:p>
        </p:txBody>
      </p:sp>
      <p:pic>
        <p:nvPicPr>
          <p:cNvPr id="11"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3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8227520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2007765" y="373992"/>
                <a:ext cx="8327136" cy="5324535"/>
              </a:xfrm>
              <a:prstGeom prst="rect">
                <a:avLst/>
              </a:prstGeom>
              <a:noFill/>
            </p:spPr>
            <p:txBody>
              <a:bodyPr wrap="square" rtlCol="0">
                <a:spAutoFit/>
              </a:bodyPr>
              <a:lstStyle/>
              <a:p>
                <a:pPr marL="457200" indent="-457200">
                  <a:buFont typeface="+mj-lt"/>
                  <a:buAutoNum type="arabicPeriod" startAt="4"/>
                </a:pPr>
                <a:r>
                  <a:rPr lang="en-US" sz="2000" dirty="0">
                    <a:latin typeface="Verdana"/>
                    <a:ea typeface="Verdana"/>
                    <a:cs typeface="Verdana"/>
                  </a:rPr>
                  <a:t>Place a “</a:t>
                </a:r>
                <a14:m>
                  <m:oMath xmlns:m="http://schemas.openxmlformats.org/officeDocument/2006/math">
                    <m:r>
                      <a:rPr lang="en-US" sz="2000" i="1">
                        <a:latin typeface="Cambria Math"/>
                        <a:ea typeface="Verdana"/>
                        <a:cs typeface="Verdana"/>
                      </a:rPr>
                      <m:t>∗</m:t>
                    </m:r>
                  </m:oMath>
                </a14:m>
                <a:r>
                  <a:rPr lang="en-US" sz="2000" dirty="0">
                    <a:latin typeface="Verdana"/>
                    <a:ea typeface="Verdana"/>
                    <a:cs typeface="Verdana"/>
                  </a:rPr>
                  <a:t>” above the bar that contains the value for the shortest earthworm</a:t>
                </a:r>
                <a:r>
                  <a:rPr lang="en-PH" sz="2000" dirty="0">
                    <a:latin typeface="Verdana"/>
                    <a:ea typeface="Verdana"/>
                    <a:cs typeface="Verdana"/>
                  </a:rPr>
                  <a:t>.</a:t>
                </a:r>
              </a:p>
              <a:p>
                <a:pPr marL="457200" indent="-457200">
                  <a:buFont typeface="+mj-lt"/>
                  <a:buAutoNum type="arabicPeriod" startAt="4"/>
                </a:pPr>
                <a:endParaRPr lang="en-PH" sz="2000" dirty="0">
                  <a:latin typeface="Verdana"/>
                  <a:ea typeface="Verdana"/>
                  <a:cs typeface="Verdana"/>
                </a:endParaRPr>
              </a:p>
              <a:p>
                <a:pPr marL="457200" indent="-457200">
                  <a:buFont typeface="+mj-lt"/>
                  <a:buAutoNum type="arabicPeriod" startAt="4"/>
                </a:pPr>
                <a:endParaRPr lang="en-PH" sz="2000" dirty="0">
                  <a:latin typeface="Verdana"/>
                  <a:ea typeface="Verdana"/>
                  <a:cs typeface="Verdana"/>
                </a:endParaRPr>
              </a:p>
              <a:p>
                <a:pPr marL="457200" indent="-457200">
                  <a:buFont typeface="+mj-lt"/>
                  <a:buAutoNum type="arabicPeriod" startAt="4"/>
                </a:pPr>
                <a:endParaRPr lang="en-PH" sz="2000" dirty="0">
                  <a:latin typeface="Verdana"/>
                  <a:ea typeface="Verdana"/>
                  <a:cs typeface="Verdana"/>
                </a:endParaRPr>
              </a:p>
              <a:p>
                <a:pPr marL="457200" indent="-457200">
                  <a:buFont typeface="+mj-lt"/>
                  <a:buAutoNum type="arabicPeriod" startAt="4"/>
                </a:pPr>
                <a:endParaRPr lang="en-PH" sz="2000" dirty="0">
                  <a:latin typeface="Verdana"/>
                  <a:ea typeface="Verdana"/>
                  <a:cs typeface="Verdana"/>
                </a:endParaRPr>
              </a:p>
              <a:p>
                <a:pPr marL="457200" indent="-457200">
                  <a:buFont typeface="+mj-lt"/>
                  <a:buAutoNum type="arabicPeriod" startAt="4"/>
                </a:pPr>
                <a:r>
                  <a:rPr lang="en-US" sz="2000" dirty="0">
                    <a:latin typeface="Verdana"/>
                    <a:ea typeface="Verdana"/>
                    <a:cs typeface="Verdana"/>
                  </a:rPr>
                  <a:t>Determine the length of the longest earthworm. Then, </a:t>
                </a:r>
                <a:r>
                  <a:rPr lang="en-US" sz="2000" dirty="0">
                    <a:latin typeface="Verdana"/>
                    <a:ea typeface="Cambria Math"/>
                    <a:cs typeface="Cambria Math"/>
                  </a:rPr>
                  <a:t>place a “</a:t>
                </a:r>
                <a14:m>
                  <m:oMath xmlns:m="http://schemas.openxmlformats.org/officeDocument/2006/math">
                    <m:r>
                      <a:rPr lang="en-US" sz="2000" i="1">
                        <a:latin typeface="Cambria Math"/>
                        <a:ea typeface="Cambria Math"/>
                        <a:cs typeface="Cambria Math"/>
                      </a:rPr>
                      <m:t>+</m:t>
                    </m:r>
                  </m:oMath>
                </a14:m>
                <a:r>
                  <a:rPr lang="en-US" sz="2000" dirty="0">
                    <a:latin typeface="Verdana"/>
                    <a:ea typeface="Cambria Math"/>
                    <a:cs typeface="Cambria Math"/>
                  </a:rPr>
                  <a:t>” above the bar that contains the value for the longest earthworm.</a:t>
                </a:r>
              </a:p>
              <a:p>
                <a:pPr marL="457200" indent="-457200">
                  <a:buFont typeface="+mj-lt"/>
                  <a:buAutoNum type="arabicPeriod" startAt="4"/>
                </a:pPr>
                <a:endParaRPr lang="en-US" sz="2000" dirty="0">
                  <a:latin typeface="Verdana"/>
                  <a:ea typeface="Cambria Math"/>
                  <a:cs typeface="Cambria Math"/>
                </a:endParaRPr>
              </a:p>
              <a:p>
                <a:pPr marL="457200" indent="-457200">
                  <a:buFont typeface="+mj-lt"/>
                  <a:buAutoNum type="arabicPeriod" startAt="4"/>
                </a:pPr>
                <a:endParaRPr lang="en-US" sz="2000" dirty="0">
                  <a:latin typeface="Verdana"/>
                  <a:ea typeface="Cambria Math"/>
                  <a:cs typeface="Cambria Math"/>
                </a:endParaRPr>
              </a:p>
              <a:p>
                <a:pPr marL="457200" indent="-457200">
                  <a:buFont typeface="+mj-lt"/>
                  <a:buAutoNum type="arabicPeriod" startAt="4"/>
                </a:pPr>
                <a:endParaRPr lang="en-US" sz="2000" dirty="0">
                  <a:latin typeface="Verdana"/>
                  <a:ea typeface="Cambria Math"/>
                  <a:cs typeface="Cambria Math"/>
                </a:endParaRPr>
              </a:p>
              <a:p>
                <a:pPr marL="457200" indent="-457200">
                  <a:buFont typeface="+mj-lt"/>
                  <a:buAutoNum type="arabicPeriod" startAt="4"/>
                </a:pPr>
                <a:endParaRPr lang="en-US" sz="2000" dirty="0">
                  <a:latin typeface="Verdana"/>
                  <a:ea typeface="Cambria Math"/>
                  <a:cs typeface="Cambria Math"/>
                </a:endParaRPr>
              </a:p>
              <a:p>
                <a:pPr marL="457200" indent="-457200">
                  <a:buFont typeface="+mj-lt"/>
                  <a:buAutoNum type="arabicPeriod" startAt="4"/>
                </a:pPr>
                <a:r>
                  <a:rPr lang="en-US" sz="2000" dirty="0">
                    <a:latin typeface="Verdana"/>
                    <a:ea typeface="Verdana"/>
                    <a:cs typeface="Verdana"/>
                  </a:rPr>
                  <a:t>T</a:t>
                </a:r>
                <a:r>
                  <a:rPr lang="en-US" sz="2000" dirty="0">
                    <a:latin typeface="Verdana"/>
                  </a:rPr>
                  <a:t>he mean length of the earthworms can be determined </a:t>
                </a:r>
                <a:br>
                  <a:rPr lang="en-US" sz="2000" dirty="0">
                    <a:latin typeface="Verdana"/>
                  </a:rPr>
                </a:br>
                <a:br>
                  <a:rPr lang="en-US" sz="2000" dirty="0">
                    <a:latin typeface="Verdana"/>
                  </a:rPr>
                </a:br>
                <a:br>
                  <a:rPr lang="en-US" sz="2000" dirty="0">
                    <a:latin typeface="Verdana"/>
                  </a:rPr>
                </a:br>
                <a:r>
                  <a:rPr lang="en-US" sz="2000" dirty="0">
                    <a:latin typeface="Verdana"/>
                    <a:ea typeface="Cambria Math"/>
                    <a:cs typeface="Cambria Math"/>
                  </a:rPr>
                  <a:t>from</a:t>
                </a:r>
                <a:endParaRPr lang="en-PH" sz="1800" i="1" dirty="0">
                  <a:latin typeface="Cambria Math"/>
                  <a:ea typeface="Cambria Math"/>
                  <a:cs typeface="Cambria Math"/>
                </a:endParaRPr>
              </a:p>
            </p:txBody>
          </p:sp>
        </mc:Choice>
        <mc:Fallback xmlns="">
          <p:sp>
            <p:nvSpPr>
              <p:cNvPr id="14" name="TextBox 13">
                <a:extLst>
                  <a:ext uri="{FF2B5EF4-FFF2-40B4-BE49-F238E27FC236}">
                    <a16:creationId xmlns:a16="http://schemas.microsoft.com/office/drawing/2014/main" xmlns="" id="{2FA392D8-3ED3-7940-83A8-1451AA8A08D4}"/>
                  </a:ext>
                </a:extLst>
              </p:cNvPr>
              <p:cNvSpPr txBox="1">
                <a:spLocks noRot="1" noChangeAspect="1" noMove="1" noResize="1" noEditPoints="1" noAdjustHandles="1" noChangeArrowheads="1" noChangeShapeType="1" noTextEdit="1"/>
              </p:cNvSpPr>
              <p:nvPr/>
            </p:nvSpPr>
            <p:spPr>
              <a:xfrm>
                <a:off x="483765" y="373991"/>
                <a:ext cx="8327136" cy="5324535"/>
              </a:xfrm>
              <a:prstGeom prst="rect">
                <a:avLst/>
              </a:prstGeom>
              <a:blipFill rotWithShape="1">
                <a:blip r:embed="rId4"/>
                <a:stretch>
                  <a:fillRect l="-732" t="-686" b="-1030"/>
                </a:stretch>
              </a:blipFill>
            </p:spPr>
            <p:txBody>
              <a:bodyPr/>
              <a:lstStyle/>
              <a:p>
                <a:r>
                  <a:rPr lang="en-PH">
                    <a:noFill/>
                  </a:rPr>
                  <a:t> </a:t>
                </a:r>
              </a:p>
            </p:txBody>
          </p:sp>
        </mc:Fallback>
      </mc:AlternateContent>
      <p:sp>
        <p:nvSpPr>
          <p:cNvPr id="6" name="Rounded Rectangle 5"/>
          <p:cNvSpPr/>
          <p:nvPr/>
        </p:nvSpPr>
        <p:spPr>
          <a:xfrm>
            <a:off x="3287654" y="4817441"/>
            <a:ext cx="2726024" cy="1464186"/>
          </a:xfrm>
          <a:prstGeom prst="roundRect">
            <a:avLst>
              <a:gd name="adj" fmla="val 16667"/>
            </a:avLst>
          </a:prstGeom>
          <a:noFill/>
          <a:ln w="19050" cap="flat" cmpd="sng">
            <a:solidFill>
              <a:sysClr val="windowText" lastClr="000000"/>
            </a:solidFill>
            <a:prstDash val="solid"/>
            <a:miter lim="800000"/>
            <a:headEnd type="none" w="sm" len="sm"/>
            <a:tailEnd type="none" w="sm" len="sm"/>
          </a:ln>
        </p:spPr>
        <p:txBody>
          <a:bodyPr spcFirstLastPara="1" wrap="square" lIns="91425" tIns="45700" rIns="91425" bIns="45700" anchor="ctr" anchorCtr="0">
            <a:spAutoFit/>
          </a:bodyPr>
          <a:lstStyle/>
          <a:p>
            <a:pPr marL="285750" indent="-285750">
              <a:buClrTx/>
              <a:buFont typeface="Courier New" pitchFamily="49" charset="0"/>
              <a:buChar char="o"/>
              <a:defRPr/>
            </a:pPr>
            <a:r>
              <a:rPr lang="en-US" sz="2000" dirty="0">
                <a:latin typeface="Verdana" pitchFamily="34" charset="0"/>
                <a:ea typeface="Verdana" pitchFamily="34" charset="0"/>
                <a:cs typeface="Verdana"/>
              </a:rPr>
              <a:t>the data set.</a:t>
            </a:r>
            <a:endParaRPr lang="en-PH" sz="2000" i="1" dirty="0">
              <a:solidFill>
                <a:sysClr val="windowText" lastClr="000000"/>
              </a:solidFill>
              <a:latin typeface="Verdana" pitchFamily="34" charset="0"/>
              <a:ea typeface="Verdana" pitchFamily="34" charset="0"/>
              <a:cs typeface="Cambria Math"/>
            </a:endParaRPr>
          </a:p>
          <a:p>
            <a:pPr marL="285750" indent="-285750">
              <a:buClrTx/>
              <a:buFont typeface="Courier New" pitchFamily="49" charset="0"/>
              <a:buChar char="o"/>
              <a:defRPr/>
            </a:pPr>
            <a:r>
              <a:rPr lang="en-US" sz="2000" dirty="0">
                <a:latin typeface="Verdana" pitchFamily="34" charset="0"/>
                <a:ea typeface="Verdana" pitchFamily="34" charset="0"/>
                <a:cs typeface="Verdana"/>
              </a:rPr>
              <a:t>the histogram. </a:t>
            </a:r>
            <a:endParaRPr lang="en-PH" sz="2000" i="1" dirty="0">
              <a:solidFill>
                <a:sysClr val="windowText" lastClr="000000"/>
              </a:solidFill>
              <a:latin typeface="Verdana" pitchFamily="34" charset="0"/>
              <a:ea typeface="Verdana" pitchFamily="34" charset="0"/>
              <a:cs typeface="Cambria Math"/>
            </a:endParaRPr>
          </a:p>
          <a:p>
            <a:pPr marL="285750" indent="-285750">
              <a:buClrTx/>
              <a:buFont typeface="Courier New" pitchFamily="49" charset="0"/>
              <a:buChar char="o"/>
              <a:defRPr/>
            </a:pPr>
            <a:r>
              <a:rPr lang="en-US" sz="2000" dirty="0">
                <a:latin typeface="Verdana" pitchFamily="34" charset="0"/>
                <a:ea typeface="Verdana" pitchFamily="34" charset="0"/>
                <a:cs typeface="Verdana"/>
              </a:rPr>
              <a:t>the data set and the histogram.</a:t>
            </a:r>
            <a:endParaRPr lang="en-PH" sz="2000" i="1" dirty="0">
              <a:solidFill>
                <a:sysClr val="windowText" lastClr="000000"/>
              </a:solidFill>
              <a:latin typeface="Verdana" pitchFamily="34" charset="0"/>
              <a:ea typeface="Verdana" pitchFamily="34" charset="0"/>
              <a:cs typeface="Cambria Math"/>
            </a:endParaRPr>
          </a:p>
        </p:txBody>
      </p:sp>
      <p:sp>
        <p:nvSpPr>
          <p:cNvPr id="8" name="Google Shape;282;g104476d1465_1_17"/>
          <p:cNvSpPr txBox="1"/>
          <p:nvPr/>
        </p:nvSpPr>
        <p:spPr>
          <a:xfrm>
            <a:off x="87371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66</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753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015079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143000" y="383759"/>
                <a:ext cx="10056666" cy="5361468"/>
              </a:xfrm>
              <a:prstGeom prst="rect">
                <a:avLst/>
              </a:prstGeom>
              <a:noFill/>
            </p:spPr>
            <p:txBody>
              <a:bodyPr wrap="square" rtlCol="0">
                <a:spAutoFit/>
              </a:bodyPr>
              <a:lstStyle/>
              <a:p>
                <a:pPr marL="625475" indent="-457200">
                  <a:lnSpc>
                    <a:spcPct val="107000"/>
                  </a:lnSpc>
                  <a:buFont typeface="+mj-lt"/>
                  <a:buAutoNum type="arabicPeriod" startAt="7"/>
                </a:pPr>
                <a:r>
                  <a:rPr lang="en-US" sz="2000" dirty="0">
                    <a:latin typeface="Verdana"/>
                    <a:ea typeface="Cambria Math"/>
                    <a:cs typeface="Cambria Math"/>
                  </a:rPr>
                  <a:t>What is the mean length of the earthworms?</a:t>
                </a:r>
              </a:p>
              <a:p>
                <a:pPr marL="625475" indent="-457200">
                  <a:lnSpc>
                    <a:spcPct val="107000"/>
                  </a:lnSpc>
                  <a:buFont typeface="+mj-lt"/>
                  <a:buAutoNum type="arabicPeriod" startAt="7"/>
                </a:pPr>
                <a:endParaRPr lang="en-US" sz="2000" dirty="0">
                  <a:latin typeface="Verdana"/>
                  <a:ea typeface="Verdana"/>
                  <a:cs typeface="Verdana"/>
                </a:endParaRPr>
              </a:p>
              <a:p>
                <a:pPr marL="625475" indent="-457200">
                  <a:lnSpc>
                    <a:spcPct val="107000"/>
                  </a:lnSpc>
                  <a:buFont typeface="+mj-lt"/>
                  <a:buAutoNum type="arabicPeriod" startAt="7"/>
                </a:pPr>
                <a:endParaRPr lang="en-US" sz="2000" dirty="0">
                  <a:latin typeface="Verdana"/>
                  <a:ea typeface="Verdana"/>
                  <a:cs typeface="Verdana"/>
                </a:endParaRPr>
              </a:p>
              <a:p>
                <a:pPr marL="625475" indent="-457200">
                  <a:lnSpc>
                    <a:spcPct val="107000"/>
                  </a:lnSpc>
                  <a:buFont typeface="+mj-lt"/>
                  <a:buAutoNum type="arabicPeriod" startAt="7"/>
                </a:pPr>
                <a:endParaRPr lang="en-US" sz="2000" dirty="0">
                  <a:latin typeface="Verdana"/>
                  <a:ea typeface="Verdana"/>
                  <a:cs typeface="Verdana"/>
                </a:endParaRPr>
              </a:p>
              <a:p>
                <a:pPr marL="625475" indent="-457200">
                  <a:lnSpc>
                    <a:spcPct val="107000"/>
                  </a:lnSpc>
                  <a:buFont typeface="+mj-lt"/>
                  <a:buAutoNum type="arabicPeriod" startAt="7"/>
                </a:pPr>
                <a:r>
                  <a:rPr lang="en-US" sz="2000" dirty="0">
                    <a:latin typeface="Verdana"/>
                    <a:ea typeface="Verdana"/>
                    <a:cs typeface="Verdana"/>
                  </a:rPr>
                  <a:t>Half of the earthworms are longer than </a:t>
                </a:r>
                <a:r>
                  <a:rPr lang="en-US" sz="2000" u="sng" dirty="0">
                    <a:latin typeface="Verdana"/>
                    <a:ea typeface="Verdana"/>
                    <a:cs typeface="Verdana"/>
                  </a:rPr>
                  <a:t>________</a:t>
                </a:r>
                <a:r>
                  <a:rPr lang="en-US" sz="2000" dirty="0">
                    <a:latin typeface="Verdana"/>
                    <a:ea typeface="Verdana"/>
                    <a:cs typeface="Verdana"/>
                  </a:rPr>
                  <a:t> millimeters.</a:t>
                </a:r>
              </a:p>
              <a:p>
                <a:pPr marL="457200" indent="-457200">
                  <a:lnSpc>
                    <a:spcPct val="107000"/>
                  </a:lnSpc>
                  <a:buFont typeface="+mj-lt"/>
                  <a:buAutoNum type="arabicPeriod" startAt="7"/>
                </a:pPr>
                <a:endParaRPr lang="en-US" sz="2000" dirty="0">
                  <a:latin typeface="Verdana"/>
                  <a:ea typeface="Cambria Math"/>
                  <a:cs typeface="Cambria Math"/>
                </a:endParaRPr>
              </a:p>
              <a:p>
                <a:pPr marL="457200" indent="-457200">
                  <a:lnSpc>
                    <a:spcPct val="107000"/>
                  </a:lnSpc>
                  <a:buFont typeface="+mj-lt"/>
                  <a:buAutoNum type="arabicPeriod" startAt="7"/>
                </a:pPr>
                <a:endParaRPr lang="en-US" sz="2000" dirty="0">
                  <a:latin typeface="Verdana"/>
                  <a:ea typeface="Cambria Math"/>
                  <a:cs typeface="Cambria Math"/>
                </a:endParaRPr>
              </a:p>
              <a:p>
                <a:pPr marL="457200" indent="-457200">
                  <a:lnSpc>
                    <a:spcPct val="107000"/>
                  </a:lnSpc>
                  <a:buFont typeface="+mj-lt"/>
                  <a:buAutoNum type="arabicPeriod" startAt="7"/>
                </a:pPr>
                <a:endParaRPr lang="en-US" sz="2000" dirty="0">
                  <a:latin typeface="Verdana"/>
                  <a:ea typeface="Cambria Math"/>
                  <a:cs typeface="Cambria Math"/>
                </a:endParaRPr>
              </a:p>
              <a:p>
                <a:pPr marL="625475" indent="-457200">
                  <a:lnSpc>
                    <a:spcPct val="107000"/>
                  </a:lnSpc>
                  <a:buFont typeface="+mj-lt"/>
                  <a:buAutoNum type="arabicPeriod" startAt="7"/>
                </a:pPr>
                <a:r>
                  <a:rPr lang="en-US" sz="2000" dirty="0">
                    <a:latin typeface="Verdana"/>
                    <a:ea typeface="Cambria Math"/>
                    <a:cs typeface="Cambria Math"/>
                  </a:rPr>
                  <a:t>Mark an “X” above the bar that contains the mean and mark an “M” above the bar that contains the median.</a:t>
                </a:r>
              </a:p>
              <a:p>
                <a:pPr marL="457200" indent="-457200">
                  <a:lnSpc>
                    <a:spcPct val="107000"/>
                  </a:lnSpc>
                  <a:buFont typeface="+mj-lt"/>
                  <a:buAutoNum type="arabicPeriod" startAt="7"/>
                </a:pPr>
                <a:endParaRPr lang="en-US" sz="2000" dirty="0">
                  <a:latin typeface="Verdana"/>
                  <a:ea typeface="Verdana"/>
                  <a:cs typeface="Verdana"/>
                </a:endParaRPr>
              </a:p>
              <a:p>
                <a:pPr marL="457200" indent="-457200">
                  <a:lnSpc>
                    <a:spcPct val="107000"/>
                  </a:lnSpc>
                  <a:buFont typeface="+mj-lt"/>
                  <a:buAutoNum type="arabicPeriod" startAt="7"/>
                </a:pPr>
                <a:endParaRPr lang="en-US" sz="2000" dirty="0">
                  <a:latin typeface="Verdana"/>
                  <a:ea typeface="Verdana"/>
                  <a:cs typeface="Verdana"/>
                </a:endParaRPr>
              </a:p>
              <a:p>
                <a:pPr marL="457200" indent="-457200">
                  <a:lnSpc>
                    <a:spcPct val="107000"/>
                  </a:lnSpc>
                  <a:buFont typeface="+mj-lt"/>
                  <a:buAutoNum type="arabicPeriod" startAt="7"/>
                </a:pPr>
                <a:endParaRPr lang="en-US" sz="2000" dirty="0">
                  <a:latin typeface="Verdana"/>
                  <a:ea typeface="Verdana"/>
                  <a:cs typeface="Verdana"/>
                </a:endParaRPr>
              </a:p>
              <a:p>
                <a:pPr marL="630238" indent="-630238">
                  <a:lnSpc>
                    <a:spcPct val="107000"/>
                  </a:lnSpc>
                  <a:buFont typeface="+mj-lt"/>
                  <a:buAutoNum type="arabicPeriod" startAt="7"/>
                </a:pPr>
                <a:r>
                  <a:rPr lang="en-US" sz="2000" dirty="0">
                    <a:latin typeface="Verdana"/>
                    <a:ea typeface="Verdana"/>
                    <a:cs typeface="Verdana"/>
                  </a:rPr>
                  <a:t>Discuss with your partner how the histogram would change if a </a:t>
                </a:r>
                <a14:m>
                  <m:oMath xmlns:m="http://schemas.openxmlformats.org/officeDocument/2006/math">
                    <m:r>
                      <a:rPr lang="en-US" sz="2000">
                        <a:latin typeface="Cambria Math"/>
                        <a:ea typeface="Verdana"/>
                        <a:cs typeface="Verdana"/>
                      </a:rPr>
                      <m:t>100</m:t>
                    </m:r>
                  </m:oMath>
                </a14:m>
                <a:r>
                  <a:rPr lang="en-US" sz="2000" dirty="0">
                    <a:latin typeface="Verdana"/>
                    <a:ea typeface="Verdana"/>
                    <a:cs typeface="Verdana"/>
                  </a:rPr>
                  <a:t>-millimeter long earthworm was added to the data set. Summarize your discussion.</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143000" y="383759"/>
                <a:ext cx="10056666" cy="5361468"/>
              </a:xfrm>
              <a:prstGeom prst="rect">
                <a:avLst/>
              </a:prstGeom>
              <a:blipFill rotWithShape="0">
                <a:blip r:embed="rId3"/>
                <a:stretch>
                  <a:fillRect l="-667" t="-910" r="-61" b="-683"/>
                </a:stretch>
              </a:blipFill>
            </p:spPr>
            <p:txBody>
              <a:bodyPr/>
              <a:lstStyle/>
              <a:p>
                <a:r>
                  <a:rPr lang="en-US">
                    <a:noFill/>
                  </a:rPr>
                  <a:t> </a:t>
                </a:r>
              </a:p>
            </p:txBody>
          </p:sp>
        </mc:Fallback>
      </mc:AlternateContent>
      <p:sp>
        <p:nvSpPr>
          <p:cNvPr id="7" name="Google Shape;282;g104476d1465_1_17"/>
          <p:cNvSpPr txBox="1"/>
          <p:nvPr/>
        </p:nvSpPr>
        <p:spPr>
          <a:xfrm>
            <a:off x="87371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66</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53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1022857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pic>
        <p:nvPicPr>
          <p:cNvPr id="7170" name="Picture 2">
            <a:extLst>
              <a:ext uri="{FF2B5EF4-FFF2-40B4-BE49-F238E27FC236}">
                <a16:creationId xmlns:a16="http://schemas.microsoft.com/office/drawing/2014/main" id="{B098E9CE-9B4F-0D4F-9369-4E0B8D4E3D1A}"/>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813171"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7371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67</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53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068580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08196" y="246810"/>
            <a:ext cx="8019300" cy="4800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3BEA6"/>
                </a:solidFill>
                <a:latin typeface="Verdana"/>
                <a:ea typeface="Verdana"/>
                <a:cs typeface="Verdana"/>
                <a:sym typeface="Verdana"/>
              </a:rPr>
              <a:t>9.5.4 Try It: Analyzing Histograms</a:t>
            </a:r>
          </a:p>
        </p:txBody>
      </p:sp>
      <p:pic>
        <p:nvPicPr>
          <p:cNvPr id="9" name="Picture 2">
            <a:extLst>
              <a:ext uri="{FF2B5EF4-FFF2-40B4-BE49-F238E27FC236}">
                <a16:creationId xmlns:a16="http://schemas.microsoft.com/office/drawing/2014/main" id="{E0B7508E-1910-D441-91B6-6EA6022F20CC}"/>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52442" y="11195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AB6A3A1-5A0D-C84F-AC89-57E6782F43E5}"/>
                  </a:ext>
                </a:extLst>
              </p:cNvPr>
              <p:cNvSpPr txBox="1"/>
              <p:nvPr/>
            </p:nvSpPr>
            <p:spPr>
              <a:xfrm>
                <a:off x="1402250" y="1012818"/>
                <a:ext cx="8985334" cy="4708981"/>
              </a:xfrm>
              <a:prstGeom prst="rect">
                <a:avLst/>
              </a:prstGeom>
              <a:noFill/>
            </p:spPr>
            <p:txBody>
              <a:bodyPr wrap="square" rtlCol="0">
                <a:spAutoFit/>
              </a:bodyPr>
              <a:lstStyle/>
              <a:p>
                <a:pPr marL="457200" indent="-457200">
                  <a:buFont typeface="+mj-lt"/>
                  <a:buAutoNum type="arabicPeriod"/>
                </a:pPr>
                <a:r>
                  <a:rPr lang="en-US" sz="2000" dirty="0">
                    <a:latin typeface="Verdana" pitchFamily="34" charset="0"/>
                    <a:ea typeface="Verdana" pitchFamily="34" charset="0"/>
                    <a:cs typeface="Verdana"/>
                  </a:rPr>
                  <a:t>In a study of wild bears, researchers measured the weights, in pounds (</a:t>
                </a:r>
                <a:r>
                  <a:rPr lang="en-US" sz="2000" dirty="0" err="1">
                    <a:latin typeface="Verdana" pitchFamily="34" charset="0"/>
                    <a:ea typeface="Verdana" pitchFamily="34" charset="0"/>
                    <a:cs typeface="Verdana"/>
                  </a:rPr>
                  <a:t>lb</a:t>
                </a:r>
                <a:r>
                  <a:rPr lang="en-US" sz="2000" dirty="0">
                    <a:latin typeface="Verdana" pitchFamily="34" charset="0"/>
                    <a:ea typeface="Verdana" pitchFamily="34" charset="0"/>
                    <a:cs typeface="Verdana"/>
                  </a:rPr>
                  <a:t>), of </a:t>
                </a:r>
                <a14:m>
                  <m:oMath xmlns:m="http://schemas.openxmlformats.org/officeDocument/2006/math">
                    <m:r>
                      <a:rPr lang="en-US" sz="2000" i="1">
                        <a:latin typeface="Cambria Math"/>
                        <a:ea typeface="Verdana"/>
                        <a:cs typeface="Verdana"/>
                      </a:rPr>
                      <m:t>143</m:t>
                    </m:r>
                  </m:oMath>
                </a14:m>
                <a:r>
                  <a:rPr lang="en-US" sz="2000" dirty="0">
                    <a:latin typeface="Verdana" pitchFamily="34" charset="0"/>
                    <a:ea typeface="Verdana" pitchFamily="34" charset="0"/>
                    <a:cs typeface="Verdana"/>
                  </a:rPr>
                  <a:t> wild bears that ranged in age from newborn to </a:t>
                </a:r>
                <a14:m>
                  <m:oMath xmlns:m="http://schemas.openxmlformats.org/officeDocument/2006/math">
                    <m:r>
                      <a:rPr lang="en-US" sz="2000" i="1">
                        <a:latin typeface="Cambria Math"/>
                        <a:ea typeface="Verdana"/>
                        <a:cs typeface="Verdana"/>
                      </a:rPr>
                      <m:t>15</m:t>
                    </m:r>
                  </m:oMath>
                </a14:m>
                <a:r>
                  <a:rPr lang="en-US" sz="2000" dirty="0">
                    <a:latin typeface="Verdana" pitchFamily="34" charset="0"/>
                    <a:ea typeface="Verdana" pitchFamily="34" charset="0"/>
                    <a:cs typeface="Verdana"/>
                  </a:rPr>
                  <a:t> years old. The data was used to make the histogram shown.</a:t>
                </a:r>
              </a:p>
              <a:p>
                <a:pPr marL="457200" indent="-457200">
                  <a:buFont typeface="+mj-lt"/>
                  <a:buAutoNum type="arabicPeriod"/>
                </a:pPr>
                <a:endParaRPr lang="en-US" sz="2000" dirty="0">
                  <a:latin typeface="Verdana" pitchFamily="34" charset="0"/>
                  <a:ea typeface="Verdana" pitchFamily="34" charset="0"/>
                  <a:cs typeface="Verdana"/>
                </a:endParaRPr>
              </a:p>
              <a:p>
                <a:pPr marL="889000" indent="-457200">
                  <a:buFont typeface="+mj-lt"/>
                  <a:buAutoNum type="alphaLcPeriod"/>
                </a:pPr>
                <a:r>
                  <a:rPr lang="en-US" sz="2000" dirty="0">
                    <a:latin typeface="Verdana" pitchFamily="34" charset="0"/>
                    <a:ea typeface="Verdana" pitchFamily="34" charset="0"/>
                    <a:cs typeface="Verdana"/>
                  </a:rPr>
                  <a:t>Could this sample </a:t>
                </a:r>
                <a:br>
                  <a:rPr lang="en-US" sz="2000" dirty="0">
                    <a:latin typeface="Verdana" pitchFamily="34" charset="0"/>
                    <a:ea typeface="Verdana" pitchFamily="34" charset="0"/>
                    <a:cs typeface="Verdana"/>
                  </a:rPr>
                </a:br>
                <a:r>
                  <a:rPr lang="en-US" sz="2000" dirty="0">
                    <a:latin typeface="Verdana" pitchFamily="34" charset="0"/>
                    <a:ea typeface="Verdana" pitchFamily="34" charset="0"/>
                    <a:cs typeface="Verdana"/>
                  </a:rPr>
                  <a:t>contain a bear </a:t>
                </a:r>
                <a:br>
                  <a:rPr lang="en-US" sz="2000" dirty="0">
                    <a:latin typeface="Verdana" pitchFamily="34" charset="0"/>
                    <a:ea typeface="Verdana" pitchFamily="34" charset="0"/>
                    <a:cs typeface="Verdana"/>
                  </a:rPr>
                </a:br>
                <a:r>
                  <a:rPr lang="en-US" sz="2000" dirty="0">
                    <a:latin typeface="Verdana" pitchFamily="34" charset="0"/>
                    <a:ea typeface="Verdana" pitchFamily="34" charset="0"/>
                    <a:cs typeface="Verdana"/>
                  </a:rPr>
                  <a:t>weighing </a:t>
                </a:r>
                <a14:m>
                  <m:oMath xmlns:m="http://schemas.openxmlformats.org/officeDocument/2006/math">
                    <m:r>
                      <a:rPr lang="en-US" sz="2000" i="1">
                        <a:latin typeface="Cambria Math"/>
                        <a:ea typeface="Verdana"/>
                        <a:cs typeface="Verdana"/>
                      </a:rPr>
                      <m:t>250</m:t>
                    </m:r>
                  </m:oMath>
                </a14:m>
                <a:r>
                  <a:rPr lang="en-US" sz="2000" dirty="0">
                    <a:latin typeface="Verdana" pitchFamily="34" charset="0"/>
                    <a:ea typeface="Verdana" pitchFamily="34" charset="0"/>
                    <a:cs typeface="Verdana"/>
                  </a:rPr>
                  <a:t> </a:t>
                </a:r>
                <a:r>
                  <a:rPr lang="en-US" sz="2000" dirty="0" err="1">
                    <a:latin typeface="Verdana" pitchFamily="34" charset="0"/>
                    <a:ea typeface="Verdana" pitchFamily="34" charset="0"/>
                    <a:cs typeface="Verdana"/>
                  </a:rPr>
                  <a:t>lbs</a:t>
                </a:r>
                <a:r>
                  <a:rPr lang="en-US" sz="2000" dirty="0">
                    <a:latin typeface="Verdana" pitchFamily="34" charset="0"/>
                    <a:ea typeface="Verdana" pitchFamily="34" charset="0"/>
                    <a:cs typeface="Verdana"/>
                  </a:rPr>
                  <a:t>? </a:t>
                </a:r>
                <a:br>
                  <a:rPr lang="en-US" sz="2000" dirty="0">
                    <a:latin typeface="Verdana" pitchFamily="34" charset="0"/>
                    <a:ea typeface="Verdana" pitchFamily="34" charset="0"/>
                    <a:cs typeface="Verdana"/>
                  </a:rPr>
                </a:br>
                <a:r>
                  <a:rPr lang="en-US" sz="2000" dirty="0">
                    <a:latin typeface="Verdana" pitchFamily="34" charset="0"/>
                    <a:ea typeface="Verdana" pitchFamily="34" charset="0"/>
                    <a:cs typeface="Verdana"/>
                  </a:rPr>
                  <a:t>Explain.</a:t>
                </a:r>
              </a:p>
              <a:p>
                <a:pPr marL="889000" indent="-457200">
                  <a:buFont typeface="+mj-lt"/>
                  <a:buAutoNum type="alphaLcPeriod"/>
                </a:pPr>
                <a:endParaRPr lang="en-US" sz="2000" dirty="0">
                  <a:latin typeface="Verdana" pitchFamily="34" charset="0"/>
                  <a:ea typeface="Verdana" pitchFamily="34" charset="0"/>
                  <a:cs typeface="Verdana"/>
                </a:endParaRPr>
              </a:p>
              <a:p>
                <a:pPr marL="889000" indent="-457200">
                  <a:buFont typeface="+mj-lt"/>
                  <a:buAutoNum type="alphaLcPeriod"/>
                </a:pPr>
                <a:endParaRPr lang="en-US" sz="2000" dirty="0">
                  <a:latin typeface="Verdana" pitchFamily="34" charset="0"/>
                  <a:ea typeface="Verdana" pitchFamily="34" charset="0"/>
                  <a:cs typeface="Verdana"/>
                </a:endParaRPr>
              </a:p>
              <a:p>
                <a:pPr marL="889000" indent="-457200">
                  <a:buFont typeface="+mj-lt"/>
                  <a:buAutoNum type="alphaLcPeriod"/>
                </a:pPr>
                <a:r>
                  <a:rPr lang="en-US" sz="2000" dirty="0">
                    <a:latin typeface="Verdana" pitchFamily="34" charset="0"/>
                    <a:ea typeface="Verdana" pitchFamily="34" charset="0"/>
                    <a:cs typeface="Verdana"/>
                  </a:rPr>
                  <a:t>Mark a “</a:t>
                </a:r>
                <a14:m>
                  <m:oMath xmlns:m="http://schemas.openxmlformats.org/officeDocument/2006/math">
                    <m:r>
                      <a:rPr lang="en-US" sz="2000" i="1">
                        <a:latin typeface="Cambria Math"/>
                        <a:ea typeface="Verdana"/>
                        <a:cs typeface="Verdana"/>
                      </a:rPr>
                      <m:t>∗</m:t>
                    </m:r>
                  </m:oMath>
                </a14:m>
                <a:r>
                  <a:rPr lang="en-US" sz="2000" dirty="0">
                    <a:latin typeface="Verdana" pitchFamily="34" charset="0"/>
                    <a:ea typeface="Verdana" pitchFamily="34" charset="0"/>
                    <a:cs typeface="Verdana"/>
                  </a:rPr>
                  <a:t>” above </a:t>
                </a:r>
                <a:br>
                  <a:rPr lang="en-US" sz="2000" dirty="0">
                    <a:latin typeface="Verdana" pitchFamily="34" charset="0"/>
                    <a:ea typeface="Verdana" pitchFamily="34" charset="0"/>
                    <a:cs typeface="Verdana"/>
                  </a:rPr>
                </a:br>
                <a:r>
                  <a:rPr lang="en-US" sz="2000" dirty="0">
                    <a:latin typeface="Verdana" pitchFamily="34" charset="0"/>
                    <a:ea typeface="Verdana" pitchFamily="34" charset="0"/>
                    <a:cs typeface="Verdana"/>
                  </a:rPr>
                  <a:t>that bar that </a:t>
                </a:r>
                <a:br>
                  <a:rPr lang="en-US" sz="2000" dirty="0">
                    <a:latin typeface="Verdana" pitchFamily="34" charset="0"/>
                    <a:ea typeface="Verdana" pitchFamily="34" charset="0"/>
                    <a:cs typeface="Verdana"/>
                  </a:rPr>
                </a:br>
                <a:r>
                  <a:rPr lang="en-US" sz="2000" dirty="0">
                    <a:latin typeface="Verdana" pitchFamily="34" charset="0"/>
                    <a:ea typeface="Verdana" pitchFamily="34" charset="0"/>
                    <a:cs typeface="Verdana"/>
                  </a:rPr>
                  <a:t>would contain a</a:t>
                </a:r>
                <a:endParaRPr lang="en-PH" sz="2000" i="1" dirty="0">
                  <a:latin typeface="Verdana" pitchFamily="34" charset="0"/>
                  <a:ea typeface="Verdana" pitchFamily="34" charset="0"/>
                  <a:cs typeface="Cambria Math"/>
                </a:endParaRPr>
              </a:p>
              <a:p>
                <a:pPr marL="914400"/>
                <a14:m>
                  <m:oMath xmlns:m="http://schemas.openxmlformats.org/officeDocument/2006/math">
                    <m:r>
                      <a:rPr lang="en-US" sz="2000" i="1">
                        <a:latin typeface="Cambria Math"/>
                        <a:ea typeface="Verdana"/>
                        <a:cs typeface="Verdana"/>
                      </a:rPr>
                      <m:t>250</m:t>
                    </m:r>
                  </m:oMath>
                </a14:m>
                <a:r>
                  <a:rPr lang="en-US" sz="2000" dirty="0">
                    <a:latin typeface="Verdana" pitchFamily="34" charset="0"/>
                    <a:ea typeface="Verdana" pitchFamily="34" charset="0"/>
                    <a:cs typeface="Verdana"/>
                  </a:rPr>
                  <a:t>-</a:t>
                </a:r>
                <a:r>
                  <a:rPr lang="en-US" sz="2000" dirty="0" err="1">
                    <a:latin typeface="Verdana" pitchFamily="34" charset="0"/>
                    <a:ea typeface="Verdana" pitchFamily="34" charset="0"/>
                    <a:cs typeface="Verdana"/>
                  </a:rPr>
                  <a:t>lb</a:t>
                </a:r>
                <a:r>
                  <a:rPr lang="en-US" sz="2000" dirty="0">
                    <a:latin typeface="Verdana" pitchFamily="34" charset="0"/>
                    <a:ea typeface="Verdana" pitchFamily="34" charset="0"/>
                    <a:cs typeface="Verdana"/>
                  </a:rPr>
                  <a:t> bear.</a:t>
                </a:r>
                <a:endParaRPr lang="en-PH" sz="2000" i="1" dirty="0">
                  <a:latin typeface="Verdana" pitchFamily="34" charset="0"/>
                  <a:ea typeface="Verdana" pitchFamily="34" charset="0"/>
                  <a:cs typeface="Cambria Math"/>
                </a:endParaRPr>
              </a:p>
            </p:txBody>
          </p:sp>
        </mc:Choice>
        <mc:Fallback xmlns="">
          <p:sp>
            <p:nvSpPr>
              <p:cNvPr id="10" name="TextBox 9">
                <a:extLst>
                  <a:ext uri="{FF2B5EF4-FFF2-40B4-BE49-F238E27FC236}">
                    <a16:creationId xmlns:a16="http://schemas.microsoft.com/office/drawing/2014/main" xmlns:a14="http://schemas.microsoft.com/office/drawing/2010/main" xmlns="" id="{0AB6A3A1-5A0D-C84F-AC89-57E6782F43E5}"/>
                  </a:ext>
                </a:extLst>
              </p:cNvPr>
              <p:cNvSpPr txBox="1">
                <a:spLocks noRot="1" noChangeAspect="1" noMove="1" noResize="1" noEditPoints="1" noAdjustHandles="1" noChangeArrowheads="1" noChangeShapeType="1" noTextEdit="1"/>
              </p:cNvSpPr>
              <p:nvPr/>
            </p:nvSpPr>
            <p:spPr>
              <a:xfrm>
                <a:off x="1402250" y="1012818"/>
                <a:ext cx="8985334" cy="4708981"/>
              </a:xfrm>
              <a:prstGeom prst="rect">
                <a:avLst/>
              </a:prstGeom>
              <a:blipFill rotWithShape="0">
                <a:blip r:embed="rId4"/>
                <a:stretch>
                  <a:fillRect l="-746" t="-906" b="-1294"/>
                </a:stretch>
              </a:blipFill>
            </p:spPr>
            <p:txBody>
              <a:bodyPr/>
              <a:lstStyle/>
              <a:p>
                <a:r>
                  <a:rPr lang="en-US">
                    <a:noFill/>
                  </a:rPr>
                  <a:t> </a:t>
                </a:r>
              </a:p>
            </p:txBody>
          </p:sp>
        </mc:Fallback>
      </mc:AlternateContent>
      <p:grpSp>
        <p:nvGrpSpPr>
          <p:cNvPr id="6" name="Group 5"/>
          <p:cNvGrpSpPr/>
          <p:nvPr/>
        </p:nvGrpSpPr>
        <p:grpSpPr>
          <a:xfrm>
            <a:off x="5434962" y="2304447"/>
            <a:ext cx="5110135" cy="4153229"/>
            <a:chOff x="988449" y="3182417"/>
            <a:chExt cx="5110135" cy="4153229"/>
          </a:xfrm>
        </p:grpSpPr>
        <p:pic>
          <p:nvPicPr>
            <p:cNvPr id="13" name="Picture 12" descr="Chart, histogram&#10;&#10;Description automatically generated"/>
            <p:cNvPicPr/>
            <p:nvPr/>
          </p:nvPicPr>
          <p:blipFill>
            <a:blip r:embed="rId5" cstate="screen">
              <a:extLst>
                <a:ext uri="{28A0092B-C50C-407E-A947-70E740481C1C}">
                  <a14:useLocalDpi xmlns:a14="http://schemas.microsoft.com/office/drawing/2010/main"/>
                </a:ext>
              </a:extLst>
            </a:blip>
            <a:stretch>
              <a:fillRect/>
            </a:stretch>
          </p:blipFill>
          <p:spPr>
            <a:xfrm>
              <a:off x="1471184" y="3484536"/>
              <a:ext cx="4627400" cy="3450999"/>
            </a:xfrm>
            <a:prstGeom prst="rect">
              <a:avLst/>
            </a:prstGeom>
          </p:spPr>
        </p:pic>
        <p:sp>
          <p:nvSpPr>
            <p:cNvPr id="3" name="Rectangle 2"/>
            <p:cNvSpPr/>
            <p:nvPr/>
          </p:nvSpPr>
          <p:spPr>
            <a:xfrm>
              <a:off x="2118525" y="3182417"/>
              <a:ext cx="2699778" cy="421654"/>
            </a:xfrm>
            <a:prstGeom prst="rect">
              <a:avLst/>
            </a:prstGeom>
          </p:spPr>
          <p:txBody>
            <a:bodyPr wrap="none">
              <a:spAutoFit/>
            </a:bodyPr>
            <a:lstStyle/>
            <a:p>
              <a:pPr>
                <a:lnSpc>
                  <a:spcPct val="107000"/>
                </a:lnSpc>
                <a:spcAft>
                  <a:spcPts val="800"/>
                </a:spcAft>
              </a:pPr>
              <a:r>
                <a:rPr lang="en-US" sz="2000" b="1" dirty="0">
                  <a:latin typeface="Verdana"/>
                  <a:ea typeface="Cambria Math"/>
                  <a:cs typeface="Cambria Math"/>
                </a:rPr>
                <a:t>Wild Bear Weight</a:t>
              </a:r>
              <a:endParaRPr lang="en-PH" sz="2000" i="1" dirty="0">
                <a:latin typeface="Cambria Math"/>
                <a:ea typeface="Cambria Math"/>
                <a:cs typeface="Cambria Math"/>
              </a:endParaRPr>
            </a:p>
          </p:txBody>
        </p:sp>
        <p:sp>
          <p:nvSpPr>
            <p:cNvPr id="4" name="Rectangle 3"/>
            <p:cNvSpPr/>
            <p:nvPr/>
          </p:nvSpPr>
          <p:spPr>
            <a:xfrm rot="16200000">
              <a:off x="430925" y="4773966"/>
              <a:ext cx="1515158" cy="400110"/>
            </a:xfrm>
            <a:prstGeom prst="rect">
              <a:avLst/>
            </a:prstGeom>
          </p:spPr>
          <p:txBody>
            <a:bodyPr wrap="none">
              <a:spAutoFit/>
            </a:bodyPr>
            <a:lstStyle/>
            <a:p>
              <a:r>
                <a:rPr lang="en-US" sz="2000" dirty="0">
                  <a:latin typeface="Verdana" pitchFamily="34" charset="0"/>
                  <a:ea typeface="Verdana" pitchFamily="34" charset="0"/>
                </a:rPr>
                <a:t>Frequency</a:t>
              </a:r>
              <a:endParaRPr lang="en-PH" sz="2000" dirty="0">
                <a:latin typeface="Verdana" pitchFamily="34" charset="0"/>
                <a:ea typeface="Verdana" pitchFamily="34" charset="0"/>
              </a:endParaRPr>
            </a:p>
          </p:txBody>
        </p:sp>
        <p:sp>
          <p:nvSpPr>
            <p:cNvPr id="5" name="Rectangle 4"/>
            <p:cNvSpPr/>
            <p:nvPr/>
          </p:nvSpPr>
          <p:spPr>
            <a:xfrm>
              <a:off x="2453430" y="6935536"/>
              <a:ext cx="2662908" cy="400110"/>
            </a:xfrm>
            <a:prstGeom prst="rect">
              <a:avLst/>
            </a:prstGeom>
          </p:spPr>
          <p:txBody>
            <a:bodyPr wrap="none">
              <a:spAutoFit/>
            </a:bodyPr>
            <a:lstStyle/>
            <a:p>
              <a:r>
                <a:rPr lang="en-US" sz="2000" dirty="0">
                  <a:latin typeface="Verdana" pitchFamily="34" charset="0"/>
                  <a:ea typeface="Verdana" pitchFamily="34" charset="0"/>
                </a:rPr>
                <a:t>Weight (in pounds)</a:t>
              </a:r>
              <a:endParaRPr lang="en-PH" sz="2000" i="1" dirty="0">
                <a:latin typeface="Verdana" pitchFamily="34" charset="0"/>
                <a:ea typeface="Verdana" pitchFamily="34" charset="0"/>
              </a:endParaRPr>
            </a:p>
          </p:txBody>
        </p:sp>
      </p:grpSp>
      <p:sp>
        <p:nvSpPr>
          <p:cNvPr id="14" name="Google Shape;282;g104476d1465_1_17"/>
          <p:cNvSpPr txBox="1"/>
          <p:nvPr/>
        </p:nvSpPr>
        <p:spPr>
          <a:xfrm>
            <a:off x="87371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67</a:t>
            </a:r>
            <a:endParaRPr i="1" dirty="0">
              <a:latin typeface="Calibri"/>
              <a:ea typeface="Calibri"/>
              <a:cs typeface="Calibri"/>
              <a:sym typeface="Calibri"/>
            </a:endParaRPr>
          </a:p>
        </p:txBody>
      </p:sp>
      <p:pic>
        <p:nvPicPr>
          <p:cNvPr id="15"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753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8403594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409700" y="4072102"/>
                <a:ext cx="9479454" cy="2700868"/>
              </a:xfrm>
              <a:prstGeom prst="rect">
                <a:avLst/>
              </a:prstGeom>
              <a:noFill/>
            </p:spPr>
            <p:txBody>
              <a:bodyPr wrap="square" rtlCol="0">
                <a:spAutoFit/>
              </a:bodyPr>
              <a:lstStyle/>
              <a:p>
                <a:pPr marL="889000" indent="-457200">
                  <a:lnSpc>
                    <a:spcPct val="107000"/>
                  </a:lnSpc>
                  <a:buFont typeface="+mj-lt"/>
                  <a:buAutoNum type="alphaLcPeriod" startAt="3"/>
                </a:pPr>
                <a:r>
                  <a:rPr lang="en-US" sz="2000" dirty="0">
                    <a:latin typeface="Verdana" pitchFamily="34" charset="0"/>
                    <a:ea typeface="Verdana" pitchFamily="34" charset="0"/>
                    <a:cs typeface="Verdana"/>
                  </a:rPr>
                  <a:t>Based on the graph, what can be concluded about the weight of the heaviest bear?</a:t>
                </a:r>
                <a:endParaRPr lang="en-PH" sz="2000" i="1" dirty="0">
                  <a:latin typeface="Verdana" pitchFamily="34" charset="0"/>
                  <a:ea typeface="Verdana" pitchFamily="34" charset="0"/>
                  <a:cs typeface="Verdana"/>
                </a:endParaRPr>
              </a:p>
              <a:p>
                <a:pPr marL="889000" indent="-457200">
                  <a:lnSpc>
                    <a:spcPct val="107000"/>
                  </a:lnSpc>
                  <a:buFont typeface="+mj-lt"/>
                  <a:buAutoNum type="alphaLcPeriod" startAt="3"/>
                </a:pPr>
                <a:endParaRPr lang="en-US" sz="2000" dirty="0">
                  <a:latin typeface="Verdana" pitchFamily="34" charset="0"/>
                  <a:ea typeface="Verdana" pitchFamily="34" charset="0"/>
                  <a:cs typeface="Verdana"/>
                </a:endParaRPr>
              </a:p>
              <a:p>
                <a:pPr marL="889000" indent="-457200">
                  <a:lnSpc>
                    <a:spcPct val="107000"/>
                  </a:lnSpc>
                  <a:buFont typeface="+mj-lt"/>
                  <a:buAutoNum type="alphaLcPeriod" startAt="3"/>
                </a:pPr>
                <a:r>
                  <a:rPr lang="en-US" sz="2000" dirty="0">
                    <a:latin typeface="Verdana" pitchFamily="34" charset="0"/>
                    <a:ea typeface="Verdana" pitchFamily="34" charset="0"/>
                    <a:cs typeface="Verdana"/>
                  </a:rPr>
                  <a:t>What is a typical weight for the bears in this graph? Include units.</a:t>
                </a:r>
                <a:r>
                  <a:rPr lang="en-PH" sz="2000" i="1" dirty="0">
                    <a:latin typeface="Verdana" pitchFamily="34" charset="0"/>
                    <a:ea typeface="Verdana" pitchFamily="34" charset="0"/>
                    <a:cs typeface="Cambria Math"/>
                  </a:rPr>
                  <a:t> </a:t>
                </a:r>
                <a:r>
                  <a:rPr lang="en-US" sz="2000" dirty="0">
                    <a:latin typeface="Verdana" pitchFamily="34" charset="0"/>
                    <a:ea typeface="Verdana" pitchFamily="34" charset="0"/>
                    <a:cs typeface="Verdana"/>
                  </a:rPr>
                  <a:t> </a:t>
                </a:r>
                <a:endParaRPr lang="en-PH" sz="2000" i="1" dirty="0">
                  <a:latin typeface="Verdana" pitchFamily="34" charset="0"/>
                  <a:ea typeface="Verdana" pitchFamily="34" charset="0"/>
                  <a:cs typeface="Cambria Math"/>
                </a:endParaRPr>
              </a:p>
              <a:p>
                <a:pPr marL="889000" indent="-457200">
                  <a:lnSpc>
                    <a:spcPct val="107000"/>
                  </a:lnSpc>
                  <a:buFont typeface="+mj-lt"/>
                  <a:buAutoNum type="alphaLcPeriod" startAt="3"/>
                </a:pPr>
                <a:endParaRPr lang="en-US" sz="2000" dirty="0">
                  <a:latin typeface="Verdana" pitchFamily="34" charset="0"/>
                  <a:ea typeface="Verdana" pitchFamily="34" charset="0"/>
                  <a:cs typeface="Verdana"/>
                </a:endParaRPr>
              </a:p>
              <a:p>
                <a:pPr marL="889000" indent="-457200">
                  <a:lnSpc>
                    <a:spcPct val="107000"/>
                  </a:lnSpc>
                  <a:buFont typeface="+mj-lt"/>
                  <a:buAutoNum type="alphaLcPeriod" startAt="3"/>
                </a:pPr>
                <a:r>
                  <a:rPr lang="en-US" sz="2000" dirty="0">
                    <a:latin typeface="Verdana" pitchFamily="34" charset="0"/>
                    <a:ea typeface="Verdana" pitchFamily="34" charset="0"/>
                    <a:cs typeface="Verdana"/>
                  </a:rPr>
                  <a:t>Do more than half of the bears in the study weigh less than </a:t>
                </a:r>
                <a14:m>
                  <m:oMath xmlns:m="http://schemas.openxmlformats.org/officeDocument/2006/math">
                    <m:r>
                      <a:rPr lang="en-US" sz="2000" i="1">
                        <a:latin typeface="Cambria Math"/>
                        <a:ea typeface="Verdana"/>
                        <a:cs typeface="Verdana"/>
                      </a:rPr>
                      <m:t>250</m:t>
                    </m:r>
                  </m:oMath>
                </a14:m>
                <a:r>
                  <a:rPr lang="en-US" sz="2000" dirty="0">
                    <a:latin typeface="Verdana" pitchFamily="34" charset="0"/>
                    <a:ea typeface="Verdana" pitchFamily="34" charset="0"/>
                    <a:cs typeface="Verdana"/>
                  </a:rPr>
                  <a:t> </a:t>
                </a:r>
                <a:r>
                  <a:rPr lang="en-US" sz="2000" dirty="0" err="1">
                    <a:latin typeface="Verdana" pitchFamily="34" charset="0"/>
                    <a:ea typeface="Verdana" pitchFamily="34" charset="0"/>
                    <a:cs typeface="Verdana"/>
                  </a:rPr>
                  <a:t>lbs</a:t>
                </a:r>
                <a:r>
                  <a:rPr lang="en-US" sz="2000" dirty="0">
                    <a:latin typeface="Verdana" pitchFamily="34" charset="0"/>
                    <a:ea typeface="Verdana" pitchFamily="34" charset="0"/>
                    <a:cs typeface="Verdana"/>
                  </a:rPr>
                  <a:t>? </a:t>
                </a:r>
                <a:endParaRPr lang="en-PH" sz="2000" i="1" dirty="0">
                  <a:latin typeface="Verdana" pitchFamily="34" charset="0"/>
                  <a:ea typeface="Verdana" pitchFamily="34" charset="0"/>
                  <a:cs typeface="Cambria Math"/>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409700" y="4072102"/>
                <a:ext cx="9479454" cy="2700868"/>
              </a:xfrm>
              <a:prstGeom prst="rect">
                <a:avLst/>
              </a:prstGeom>
              <a:blipFill rotWithShape="0">
                <a:blip r:embed="rId3"/>
                <a:stretch>
                  <a:fillRect t="-1806" b="-3160"/>
                </a:stretch>
              </a:blipFill>
            </p:spPr>
            <p:txBody>
              <a:bodyPr/>
              <a:lstStyle/>
              <a:p>
                <a:r>
                  <a:rPr lang="en-US">
                    <a:noFill/>
                  </a:rPr>
                  <a:t> </a:t>
                </a:r>
              </a:p>
            </p:txBody>
          </p:sp>
        </mc:Fallback>
      </mc:AlternateContent>
      <p:grpSp>
        <p:nvGrpSpPr>
          <p:cNvPr id="7" name="Group 6">
            <a:extLst>
              <a:ext uri="{FF2B5EF4-FFF2-40B4-BE49-F238E27FC236}">
                <a16:creationId xmlns:a16="http://schemas.microsoft.com/office/drawing/2014/main" id="{23F62E66-BBB5-4250-9D90-1B3A6EC09C05}"/>
              </a:ext>
            </a:extLst>
          </p:cNvPr>
          <p:cNvGrpSpPr/>
          <p:nvPr/>
        </p:nvGrpSpPr>
        <p:grpSpPr>
          <a:xfrm>
            <a:off x="3725530" y="85031"/>
            <a:ext cx="4989384" cy="3885227"/>
            <a:chOff x="983405" y="3182417"/>
            <a:chExt cx="5115179" cy="4183997"/>
          </a:xfrm>
        </p:grpSpPr>
        <p:pic>
          <p:nvPicPr>
            <p:cNvPr id="8" name="Picture 7" descr="Chart, histogram&#10;&#10;Description automatically generated">
              <a:extLst>
                <a:ext uri="{FF2B5EF4-FFF2-40B4-BE49-F238E27FC236}">
                  <a16:creationId xmlns:a16="http://schemas.microsoft.com/office/drawing/2014/main" id="{34D928EC-60DD-467E-A1D7-125047D1EA57}"/>
                </a:ext>
              </a:extLst>
            </p:cNvPr>
            <p:cNvPicPr/>
            <p:nvPr/>
          </p:nvPicPr>
          <p:blipFill>
            <a:blip r:embed="rId4" cstate="screen">
              <a:extLst>
                <a:ext uri="{28A0092B-C50C-407E-A947-70E740481C1C}">
                  <a14:useLocalDpi xmlns:a14="http://schemas.microsoft.com/office/drawing/2010/main"/>
                </a:ext>
              </a:extLst>
            </a:blip>
            <a:stretch>
              <a:fillRect/>
            </a:stretch>
          </p:blipFill>
          <p:spPr>
            <a:xfrm>
              <a:off x="1471184" y="3484536"/>
              <a:ext cx="4627400" cy="3450999"/>
            </a:xfrm>
            <a:prstGeom prst="rect">
              <a:avLst/>
            </a:prstGeom>
          </p:spPr>
        </p:pic>
        <p:sp>
          <p:nvSpPr>
            <p:cNvPr id="9" name="Rectangle 8">
              <a:extLst>
                <a:ext uri="{FF2B5EF4-FFF2-40B4-BE49-F238E27FC236}">
                  <a16:creationId xmlns:a16="http://schemas.microsoft.com/office/drawing/2014/main" id="{9E011848-4E97-4D29-9E99-AFEFC2B54CFB}"/>
                </a:ext>
              </a:extLst>
            </p:cNvPr>
            <p:cNvSpPr/>
            <p:nvPr/>
          </p:nvSpPr>
          <p:spPr>
            <a:xfrm>
              <a:off x="2118525" y="3182417"/>
              <a:ext cx="2767846" cy="454079"/>
            </a:xfrm>
            <a:prstGeom prst="rect">
              <a:avLst/>
            </a:prstGeom>
          </p:spPr>
          <p:txBody>
            <a:bodyPr wrap="none">
              <a:spAutoFit/>
            </a:bodyPr>
            <a:lstStyle/>
            <a:p>
              <a:pPr>
                <a:lnSpc>
                  <a:spcPct val="107000"/>
                </a:lnSpc>
                <a:spcAft>
                  <a:spcPts val="800"/>
                </a:spcAft>
              </a:pPr>
              <a:r>
                <a:rPr lang="en-US" sz="2000" b="1" dirty="0">
                  <a:latin typeface="Verdana"/>
                  <a:ea typeface="Cambria Math"/>
                  <a:cs typeface="Cambria Math"/>
                </a:rPr>
                <a:t>Wild Bear Weight</a:t>
              </a:r>
              <a:endParaRPr lang="en-PH" sz="2000" i="1" dirty="0">
                <a:latin typeface="Cambria Math"/>
                <a:ea typeface="Cambria Math"/>
                <a:cs typeface="Cambria Math"/>
              </a:endParaRPr>
            </a:p>
          </p:txBody>
        </p:sp>
        <p:sp>
          <p:nvSpPr>
            <p:cNvPr id="10" name="Rectangle 9">
              <a:extLst>
                <a:ext uri="{FF2B5EF4-FFF2-40B4-BE49-F238E27FC236}">
                  <a16:creationId xmlns:a16="http://schemas.microsoft.com/office/drawing/2014/main" id="{6323E634-6B28-4EBD-970D-78D275CC6620}"/>
                </a:ext>
              </a:extLst>
            </p:cNvPr>
            <p:cNvSpPr/>
            <p:nvPr/>
          </p:nvSpPr>
          <p:spPr>
            <a:xfrm rot="16200000">
              <a:off x="372668" y="4768922"/>
              <a:ext cx="1631672" cy="410198"/>
            </a:xfrm>
            <a:prstGeom prst="rect">
              <a:avLst/>
            </a:prstGeom>
          </p:spPr>
          <p:txBody>
            <a:bodyPr wrap="none">
              <a:spAutoFit/>
            </a:bodyPr>
            <a:lstStyle/>
            <a:p>
              <a:r>
                <a:rPr lang="en-US" sz="2000" dirty="0">
                  <a:latin typeface="Verdana" pitchFamily="34" charset="0"/>
                  <a:ea typeface="Verdana" pitchFamily="34" charset="0"/>
                </a:rPr>
                <a:t>Frequency</a:t>
              </a:r>
              <a:endParaRPr lang="en-PH" sz="2000" dirty="0">
                <a:latin typeface="Verdana" pitchFamily="34" charset="0"/>
                <a:ea typeface="Verdana" pitchFamily="34" charset="0"/>
              </a:endParaRPr>
            </a:p>
          </p:txBody>
        </p:sp>
        <p:sp>
          <p:nvSpPr>
            <p:cNvPr id="11" name="Rectangle 10">
              <a:extLst>
                <a:ext uri="{FF2B5EF4-FFF2-40B4-BE49-F238E27FC236}">
                  <a16:creationId xmlns:a16="http://schemas.microsoft.com/office/drawing/2014/main" id="{C0A19191-38FD-4A10-9B26-46844553B00D}"/>
                </a:ext>
              </a:extLst>
            </p:cNvPr>
            <p:cNvSpPr/>
            <p:nvPr/>
          </p:nvSpPr>
          <p:spPr>
            <a:xfrm>
              <a:off x="2453430" y="6935536"/>
              <a:ext cx="2730047" cy="430878"/>
            </a:xfrm>
            <a:prstGeom prst="rect">
              <a:avLst/>
            </a:prstGeom>
          </p:spPr>
          <p:txBody>
            <a:bodyPr wrap="none">
              <a:spAutoFit/>
            </a:bodyPr>
            <a:lstStyle/>
            <a:p>
              <a:r>
                <a:rPr lang="en-US" sz="2000" dirty="0">
                  <a:latin typeface="Verdana" pitchFamily="34" charset="0"/>
                  <a:ea typeface="Verdana" pitchFamily="34" charset="0"/>
                </a:rPr>
                <a:t>Weight (in pounds)</a:t>
              </a:r>
              <a:endParaRPr lang="en-PH" sz="2000" i="1" dirty="0">
                <a:latin typeface="Verdana" pitchFamily="34" charset="0"/>
                <a:ea typeface="Verdana" pitchFamily="34" charset="0"/>
              </a:endParaRPr>
            </a:p>
          </p:txBody>
        </p:sp>
      </p:grpSp>
      <p:sp>
        <p:nvSpPr>
          <p:cNvPr id="12" name="Google Shape;282;g104476d1465_1_17"/>
          <p:cNvSpPr txBox="1"/>
          <p:nvPr/>
        </p:nvSpPr>
        <p:spPr>
          <a:xfrm>
            <a:off x="87371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67</a:t>
            </a:r>
            <a:endParaRPr i="1" dirty="0">
              <a:latin typeface="Calibri"/>
              <a:ea typeface="Calibri"/>
              <a:cs typeface="Calibri"/>
              <a:sym typeface="Calibri"/>
            </a:endParaRPr>
          </a:p>
        </p:txBody>
      </p:sp>
      <p:pic>
        <p:nvPicPr>
          <p:cNvPr id="13"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753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4383545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7371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68</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53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908396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45319" y="-8226"/>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326050" y="118081"/>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E24E5F"/>
                </a:solidFill>
                <a:latin typeface="Verdana"/>
                <a:ea typeface="Verdana"/>
                <a:cs typeface="Verdana"/>
                <a:sym typeface="Verdana"/>
              </a:rPr>
              <a:t>9.5.5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3">
            <a:alphaModFix/>
          </a:blip>
          <a:srcRect/>
          <a:stretch/>
        </p:blipFill>
        <p:spPr>
          <a:xfrm>
            <a:off x="578750" y="118081"/>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9C3E41-93EC-B84D-963F-86A3B15AC1C6}"/>
                  </a:ext>
                </a:extLst>
              </p:cNvPr>
              <p:cNvSpPr txBox="1"/>
              <p:nvPr/>
            </p:nvSpPr>
            <p:spPr>
              <a:xfrm>
                <a:off x="1326050" y="1028675"/>
                <a:ext cx="9061534" cy="5346079"/>
              </a:xfrm>
              <a:prstGeom prst="rect">
                <a:avLst/>
              </a:prstGeom>
              <a:noFill/>
            </p:spPr>
            <p:txBody>
              <a:bodyPr wrap="square" rtlCol="0">
                <a:spAutoFit/>
              </a:bodyPr>
              <a:lstStyle/>
              <a:p>
                <a:pPr marL="457200" indent="-457200">
                  <a:buFont typeface="+mj-lt"/>
                  <a:buAutoNum type="arabicPeriod"/>
                </a:pPr>
                <a:r>
                  <a:rPr lang="en-US" sz="2000" dirty="0">
                    <a:highlight>
                      <a:srgbClr val="FFFFFF"/>
                    </a:highlight>
                    <a:latin typeface="Verdana" pitchFamily="34" charset="0"/>
                    <a:ea typeface="Verdana" pitchFamily="34" charset="0"/>
                    <a:cs typeface="Verdana"/>
                  </a:rPr>
                  <a:t>The histogram summarizes the data on the body lengths of the same </a:t>
                </a:r>
                <a14:m>
                  <m:oMath xmlns:m="http://schemas.openxmlformats.org/officeDocument/2006/math">
                    <m:r>
                      <a:rPr lang="en-US" sz="2000">
                        <a:highlight>
                          <a:srgbClr val="FFFFFF"/>
                        </a:highlight>
                        <a:latin typeface="Cambria Math"/>
                        <a:ea typeface="Cambria Math"/>
                        <a:cs typeface="Cambria Math"/>
                      </a:rPr>
                      <m:t>143</m:t>
                    </m:r>
                  </m:oMath>
                </a14:m>
                <a:r>
                  <a:rPr lang="en-US" sz="2000" dirty="0">
                    <a:highlight>
                      <a:srgbClr val="FFFFFF"/>
                    </a:highlight>
                    <a:latin typeface="Verdana" pitchFamily="34" charset="0"/>
                    <a:ea typeface="Verdana" pitchFamily="34" charset="0"/>
                    <a:cs typeface="Verdana"/>
                  </a:rPr>
                  <a:t> wild bears.</a:t>
                </a:r>
              </a:p>
              <a:p>
                <a:pPr marL="457200" marR="3749040" lvl="1">
                  <a:lnSpc>
                    <a:spcPct val="107000"/>
                  </a:lnSpc>
                </a:pPr>
                <a:endParaRPr lang="en-PH" sz="2000" i="1" dirty="0">
                  <a:latin typeface="Verdana" pitchFamily="34" charset="0"/>
                  <a:ea typeface="Verdana" pitchFamily="34" charset="0"/>
                  <a:cs typeface="Cambria Math"/>
                </a:endParaRPr>
              </a:p>
              <a:p>
                <a:pPr marL="898525" indent="-457200">
                  <a:buFont typeface="+mj-lt"/>
                  <a:buAutoNum type="alphaLcPeriod"/>
                </a:pPr>
                <a:r>
                  <a:rPr lang="en-US" sz="2000" dirty="0">
                    <a:latin typeface="Verdana" pitchFamily="34" charset="0"/>
                    <a:ea typeface="Verdana" pitchFamily="34" charset="0"/>
                    <a:cs typeface="Verdana"/>
                  </a:rPr>
                  <a:t>Does this sample contain a </a:t>
                </a:r>
                <a:br>
                  <a:rPr lang="en-US" sz="2000" dirty="0">
                    <a:latin typeface="Verdana" pitchFamily="34" charset="0"/>
                    <a:ea typeface="Verdana" pitchFamily="34" charset="0"/>
                    <a:cs typeface="Verdana"/>
                  </a:rPr>
                </a:br>
                <a:r>
                  <a:rPr lang="en-US" sz="2000" dirty="0">
                    <a:latin typeface="Verdana" pitchFamily="34" charset="0"/>
                    <a:ea typeface="Verdana" pitchFamily="34" charset="0"/>
                    <a:cs typeface="Verdana"/>
                  </a:rPr>
                  <a:t>bear that is </a:t>
                </a:r>
                <a14:m>
                  <m:oMath xmlns:m="http://schemas.openxmlformats.org/officeDocument/2006/math">
                    <m:r>
                      <a:rPr lang="en-US" sz="2000">
                        <a:latin typeface="Cambria Math"/>
                        <a:ea typeface="Verdana"/>
                        <a:cs typeface="Verdana"/>
                      </a:rPr>
                      <m:t>85</m:t>
                    </m:r>
                  </m:oMath>
                </a14:m>
                <a:r>
                  <a:rPr lang="en-US" sz="2000" dirty="0">
                    <a:latin typeface="Verdana" pitchFamily="34" charset="0"/>
                    <a:ea typeface="Verdana" pitchFamily="34" charset="0"/>
                    <a:cs typeface="Verdana"/>
                  </a:rPr>
                  <a:t> inches long? </a:t>
                </a:r>
                <a:br>
                  <a:rPr lang="en-US" sz="2000" dirty="0">
                    <a:latin typeface="Verdana" pitchFamily="34" charset="0"/>
                    <a:ea typeface="Verdana" pitchFamily="34" charset="0"/>
                    <a:cs typeface="Verdana"/>
                  </a:rPr>
                </a:br>
                <a:r>
                  <a:rPr lang="en-US" sz="2000" dirty="0">
                    <a:latin typeface="Verdana" pitchFamily="34" charset="0"/>
                    <a:ea typeface="Verdana" pitchFamily="34" charset="0"/>
                    <a:cs typeface="Verdana"/>
                  </a:rPr>
                  <a:t>Explain your reasoning.</a:t>
                </a:r>
              </a:p>
              <a:p>
                <a:pPr marL="898525" indent="-457200">
                  <a:buFont typeface="+mj-lt"/>
                  <a:buAutoNum type="alphaLcPeriod"/>
                </a:pPr>
                <a:endParaRPr lang="en-US" sz="2000" dirty="0">
                  <a:latin typeface="Verdana" pitchFamily="34" charset="0"/>
                  <a:ea typeface="Verdana" pitchFamily="34" charset="0"/>
                  <a:cs typeface="Verdana"/>
                </a:endParaRPr>
              </a:p>
              <a:p>
                <a:pPr marL="898525" indent="-457200">
                  <a:buFont typeface="+mj-lt"/>
                  <a:buAutoNum type="alphaLcPeriod"/>
                </a:pPr>
                <a:endParaRPr lang="en-US" sz="2000" dirty="0">
                  <a:latin typeface="Verdana" pitchFamily="34" charset="0"/>
                  <a:ea typeface="Verdana" pitchFamily="34" charset="0"/>
                  <a:cs typeface="Verdana"/>
                </a:endParaRPr>
              </a:p>
              <a:p>
                <a:pPr marL="898525" indent="-457200">
                  <a:buFont typeface="+mj-lt"/>
                  <a:buAutoNum type="alphaLcPeriod"/>
                </a:pPr>
                <a:endParaRPr lang="en-US" sz="2000" dirty="0">
                  <a:latin typeface="Verdana" pitchFamily="34" charset="0"/>
                  <a:ea typeface="Verdana" pitchFamily="34" charset="0"/>
                  <a:cs typeface="Verdana"/>
                </a:endParaRPr>
              </a:p>
              <a:p>
                <a:pPr marL="898525" indent="-457200">
                  <a:buFont typeface="+mj-lt"/>
                  <a:buAutoNum type="alphaLcPeriod"/>
                </a:pPr>
                <a:r>
                  <a:rPr lang="en-US" sz="2000" dirty="0">
                    <a:latin typeface="Verdana" pitchFamily="34" charset="0"/>
                    <a:ea typeface="Verdana" pitchFamily="34" charset="0"/>
                    <a:cs typeface="Verdana"/>
                  </a:rPr>
                  <a:t>What is a typical length for </a:t>
                </a:r>
                <a:br>
                  <a:rPr lang="en-US" sz="2000" dirty="0">
                    <a:latin typeface="Verdana" pitchFamily="34" charset="0"/>
                    <a:ea typeface="Verdana" pitchFamily="34" charset="0"/>
                    <a:cs typeface="Verdana"/>
                  </a:rPr>
                </a:br>
                <a:r>
                  <a:rPr lang="en-US" sz="2000" dirty="0">
                    <a:latin typeface="Verdana" pitchFamily="34" charset="0"/>
                    <a:ea typeface="Verdana" pitchFamily="34" charset="0"/>
                    <a:cs typeface="Verdana"/>
                  </a:rPr>
                  <a:t>the bears in this sample? </a:t>
                </a:r>
                <a:br>
                  <a:rPr lang="en-US" sz="2000" dirty="0">
                    <a:latin typeface="Verdana" pitchFamily="34" charset="0"/>
                    <a:ea typeface="Verdana" pitchFamily="34" charset="0"/>
                    <a:cs typeface="Verdana"/>
                  </a:rPr>
                </a:br>
                <a:r>
                  <a:rPr lang="en-US" sz="2000" dirty="0">
                    <a:latin typeface="Verdana" pitchFamily="34" charset="0"/>
                    <a:ea typeface="Verdana" pitchFamily="34" charset="0"/>
                    <a:cs typeface="Verdana"/>
                  </a:rPr>
                  <a:t>Include units.</a:t>
                </a:r>
              </a:p>
              <a:p>
                <a:pPr marL="898525" indent="-457200">
                  <a:buFont typeface="+mj-lt"/>
                  <a:buAutoNum type="alphaLcPeriod"/>
                </a:pPr>
                <a:endParaRPr lang="en-US" sz="2000" dirty="0">
                  <a:latin typeface="Verdana" pitchFamily="34" charset="0"/>
                  <a:ea typeface="Verdana" pitchFamily="34" charset="0"/>
                  <a:cs typeface="Verdana"/>
                </a:endParaRPr>
              </a:p>
              <a:p>
                <a:pPr marL="898525" indent="-457200">
                  <a:buFont typeface="+mj-lt"/>
                  <a:buAutoNum type="alphaLcPeriod"/>
                </a:pPr>
                <a:endParaRPr lang="en-US" sz="2000" dirty="0">
                  <a:latin typeface="Verdana" pitchFamily="34" charset="0"/>
                  <a:ea typeface="Verdana" pitchFamily="34" charset="0"/>
                  <a:cs typeface="Verdana"/>
                </a:endParaRPr>
              </a:p>
              <a:p>
                <a:pPr marL="898525" indent="-457200">
                  <a:buFont typeface="+mj-lt"/>
                  <a:buAutoNum type="alphaLcPeriod"/>
                </a:pPr>
                <a:endParaRPr lang="en-US" sz="2000" dirty="0">
                  <a:latin typeface="Verdana" pitchFamily="34" charset="0"/>
                  <a:ea typeface="Verdana" pitchFamily="34" charset="0"/>
                  <a:cs typeface="Verdana"/>
                </a:endParaRPr>
              </a:p>
              <a:p>
                <a:pPr marL="898525" indent="-457200">
                  <a:buFont typeface="+mj-lt"/>
                  <a:buAutoNum type="alphaLcPeriod"/>
                </a:pPr>
                <a:r>
                  <a:rPr lang="en-US" sz="2000" dirty="0">
                    <a:latin typeface="Verdana" pitchFamily="34" charset="0"/>
                    <a:ea typeface="Verdana" pitchFamily="34" charset="0"/>
                    <a:cs typeface="Verdana"/>
                  </a:rPr>
                  <a:t>Is the spread larger for the weight of bears or the length of bears? </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2" name="TextBox 11">
                <a:extLst>
                  <a:ext uri="{FF2B5EF4-FFF2-40B4-BE49-F238E27FC236}">
                    <a16:creationId xmlns:a16="http://schemas.microsoft.com/office/drawing/2014/main" xmlns:a14="http://schemas.microsoft.com/office/drawing/2010/main" xmlns="" id="{759C3E41-93EC-B84D-963F-86A3B15AC1C6}"/>
                  </a:ext>
                </a:extLst>
              </p:cNvPr>
              <p:cNvSpPr txBox="1">
                <a:spLocks noRot="1" noChangeAspect="1" noMove="1" noResize="1" noEditPoints="1" noAdjustHandles="1" noChangeArrowheads="1" noChangeShapeType="1" noTextEdit="1"/>
              </p:cNvSpPr>
              <p:nvPr/>
            </p:nvSpPr>
            <p:spPr>
              <a:xfrm>
                <a:off x="1326050" y="1028675"/>
                <a:ext cx="9061534" cy="5346079"/>
              </a:xfrm>
              <a:prstGeom prst="rect">
                <a:avLst/>
              </a:prstGeom>
              <a:blipFill rotWithShape="0">
                <a:blip r:embed="rId4"/>
                <a:stretch>
                  <a:fillRect l="-740" t="-798" b="-1140"/>
                </a:stretch>
              </a:blipFill>
            </p:spPr>
            <p:txBody>
              <a:bodyPr/>
              <a:lstStyle/>
              <a:p>
                <a:r>
                  <a:rPr lang="en-US">
                    <a:noFill/>
                  </a:rPr>
                  <a:t> </a:t>
                </a:r>
              </a:p>
            </p:txBody>
          </p:sp>
        </mc:Fallback>
      </mc:AlternateContent>
      <p:grpSp>
        <p:nvGrpSpPr>
          <p:cNvPr id="14" name="Group 13"/>
          <p:cNvGrpSpPr/>
          <p:nvPr/>
        </p:nvGrpSpPr>
        <p:grpSpPr>
          <a:xfrm>
            <a:off x="6586486" y="1491129"/>
            <a:ext cx="3801099" cy="4114542"/>
            <a:chOff x="2195118" y="2239653"/>
            <a:chExt cx="3801099" cy="4114542"/>
          </a:xfrm>
        </p:grpSpPr>
        <p:pic>
          <p:nvPicPr>
            <p:cNvPr id="10" name="Picture 9" descr="Chart, histogram&#10;&#10;Description automatically generated"/>
            <p:cNvPicPr/>
            <p:nvPr/>
          </p:nvPicPr>
          <p:blipFill>
            <a:blip r:embed="rId5" cstate="screen">
              <a:extLst>
                <a:ext uri="{28A0092B-C50C-407E-A947-70E740481C1C}">
                  <a14:useLocalDpi xmlns:a14="http://schemas.microsoft.com/office/drawing/2010/main"/>
                </a:ext>
              </a:extLst>
            </a:blip>
            <a:stretch>
              <a:fillRect/>
            </a:stretch>
          </p:blipFill>
          <p:spPr>
            <a:xfrm>
              <a:off x="2685327" y="2521891"/>
              <a:ext cx="3310890" cy="3432810"/>
            </a:xfrm>
            <a:prstGeom prst="rect">
              <a:avLst/>
            </a:prstGeom>
          </p:spPr>
        </p:pic>
        <p:sp>
          <p:nvSpPr>
            <p:cNvPr id="3" name="Rectangle 2"/>
            <p:cNvSpPr/>
            <p:nvPr/>
          </p:nvSpPr>
          <p:spPr>
            <a:xfrm>
              <a:off x="3347551" y="2239653"/>
              <a:ext cx="1986441" cy="421654"/>
            </a:xfrm>
            <a:prstGeom prst="rect">
              <a:avLst/>
            </a:prstGeom>
          </p:spPr>
          <p:txBody>
            <a:bodyPr wrap="none">
              <a:spAutoFit/>
            </a:bodyPr>
            <a:lstStyle/>
            <a:p>
              <a:pPr>
                <a:lnSpc>
                  <a:spcPct val="107000"/>
                </a:lnSpc>
                <a:spcAft>
                  <a:spcPts val="800"/>
                </a:spcAft>
              </a:pPr>
              <a:r>
                <a:rPr lang="en-US" sz="2000" b="1" dirty="0">
                  <a:latin typeface="Verdana"/>
                  <a:ea typeface="Verdana"/>
                  <a:cs typeface="Verdana"/>
                </a:rPr>
                <a:t>Body Length</a:t>
              </a:r>
              <a:endParaRPr lang="en-PH" sz="2000" i="1" dirty="0">
                <a:latin typeface="Cambria Math"/>
                <a:ea typeface="Cambria Math"/>
                <a:cs typeface="Cambria Math"/>
              </a:endParaRPr>
            </a:p>
          </p:txBody>
        </p:sp>
        <p:sp>
          <p:nvSpPr>
            <p:cNvPr id="5" name="Rectangle 4"/>
            <p:cNvSpPr/>
            <p:nvPr/>
          </p:nvSpPr>
          <p:spPr>
            <a:xfrm rot="16200000">
              <a:off x="1648366" y="4027469"/>
              <a:ext cx="1515158" cy="421654"/>
            </a:xfrm>
            <a:prstGeom prst="rect">
              <a:avLst/>
            </a:prstGeom>
          </p:spPr>
          <p:txBody>
            <a:bodyPr wrap="none">
              <a:spAutoFit/>
            </a:bodyPr>
            <a:lstStyle/>
            <a:p>
              <a:pPr>
                <a:lnSpc>
                  <a:spcPct val="107000"/>
                </a:lnSpc>
                <a:spcAft>
                  <a:spcPts val="800"/>
                </a:spcAft>
              </a:pPr>
              <a:r>
                <a:rPr lang="en-US" sz="2000" dirty="0">
                  <a:latin typeface="Verdana"/>
                  <a:ea typeface="Verdana"/>
                  <a:cs typeface="Verdana"/>
                </a:rPr>
                <a:t>Frequency</a:t>
              </a:r>
              <a:endParaRPr lang="en-PH" sz="2000" i="1" dirty="0">
                <a:latin typeface="Cambria Math"/>
                <a:ea typeface="Cambria Math"/>
                <a:cs typeface="Cambria Math"/>
              </a:endParaRPr>
            </a:p>
          </p:txBody>
        </p:sp>
        <p:sp>
          <p:nvSpPr>
            <p:cNvPr id="13" name="Rectangle 12"/>
            <p:cNvSpPr/>
            <p:nvPr/>
          </p:nvSpPr>
          <p:spPr>
            <a:xfrm>
              <a:off x="3079047" y="5932541"/>
              <a:ext cx="2523448" cy="421654"/>
            </a:xfrm>
            <a:prstGeom prst="rect">
              <a:avLst/>
            </a:prstGeom>
          </p:spPr>
          <p:txBody>
            <a:bodyPr wrap="none">
              <a:spAutoFit/>
            </a:bodyPr>
            <a:lstStyle/>
            <a:p>
              <a:pPr>
                <a:lnSpc>
                  <a:spcPct val="107000"/>
                </a:lnSpc>
                <a:spcAft>
                  <a:spcPts val="800"/>
                </a:spcAft>
              </a:pPr>
              <a:r>
                <a:rPr lang="en-US" sz="2000" dirty="0">
                  <a:latin typeface="Verdana"/>
                  <a:ea typeface="Verdana"/>
                  <a:cs typeface="Verdana"/>
                </a:rPr>
                <a:t>Length (in inches)</a:t>
              </a:r>
              <a:endParaRPr lang="en-PH" sz="2000" i="1" dirty="0">
                <a:latin typeface="Cambria Math"/>
                <a:ea typeface="Cambria Math"/>
                <a:cs typeface="Cambria Math"/>
              </a:endParaRPr>
            </a:p>
          </p:txBody>
        </p:sp>
      </p:grpSp>
      <p:sp>
        <p:nvSpPr>
          <p:cNvPr id="15" name="Google Shape;282;g104476d1465_1_17"/>
          <p:cNvSpPr txBox="1"/>
          <p:nvPr/>
        </p:nvSpPr>
        <p:spPr>
          <a:xfrm>
            <a:off x="87371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68</a:t>
            </a:r>
            <a:endParaRPr i="1" dirty="0">
              <a:latin typeface="Calibri"/>
              <a:ea typeface="Calibri"/>
              <a:cs typeface="Calibri"/>
              <a:sym typeface="Calibri"/>
            </a:endParaRPr>
          </a:p>
        </p:txBody>
      </p:sp>
      <p:pic>
        <p:nvPicPr>
          <p:cNvPr id="16"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753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012998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11" name="Google Shape;282;g104476d1465_1_17"/>
          <p:cNvSpPr txBox="1"/>
          <p:nvPr/>
        </p:nvSpPr>
        <p:spPr>
          <a:xfrm>
            <a:off x="87371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68</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53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351450" y="189330"/>
            <a:ext cx="80193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9.5.6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604150" y="111125"/>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1562100" y="1018164"/>
            <a:ext cx="8825484" cy="1080296"/>
          </a:xfrm>
          <a:prstGeom prst="rect">
            <a:avLst/>
          </a:prstGeom>
          <a:noFill/>
        </p:spPr>
        <p:txBody>
          <a:bodyPr wrap="square" rtlCol="0">
            <a:spAutoFit/>
          </a:bodyPr>
          <a:lstStyle/>
          <a:p>
            <a:pPr marL="457200" lvl="3" indent="-457200">
              <a:lnSpc>
                <a:spcPct val="107000"/>
              </a:lnSpc>
              <a:spcAft>
                <a:spcPts val="800"/>
              </a:spcAft>
              <a:buFont typeface="+mj-lt"/>
              <a:buAutoNum type="arabicPeriod"/>
            </a:pPr>
            <a:r>
              <a:rPr lang="en-US" sz="2000" dirty="0">
                <a:highlight>
                  <a:srgbClr val="FFFFFF"/>
                </a:highlight>
                <a:latin typeface="Verdana"/>
                <a:ea typeface="Verdana"/>
                <a:cs typeface="Verdana"/>
              </a:rPr>
              <a:t>Plot a point in one of the quadrants below to indicate your level of understanding of today’s learning target: “</a:t>
            </a:r>
            <a:r>
              <a:rPr lang="en-US" sz="2000" dirty="0">
                <a:latin typeface="Verdana"/>
                <a:ea typeface="Verdana"/>
                <a:cs typeface="Verdana"/>
              </a:rPr>
              <a:t>I can qualitatively describe and interpret a histogram within a real-world context.”</a:t>
            </a:r>
            <a:endParaRPr lang="en-PH" sz="2000" i="1" dirty="0">
              <a:latin typeface="Cambria Math"/>
              <a:ea typeface="Cambria Math"/>
              <a:cs typeface="Cambria Math"/>
            </a:endParaRPr>
          </a:p>
        </p:txBody>
      </p:sp>
      <p:pic>
        <p:nvPicPr>
          <p:cNvPr id="10" name="image1.png" descr="A close up of a flower&#10;&#10;Description automatically generated"/>
          <p:cNvPicPr/>
          <p:nvPr/>
        </p:nvPicPr>
        <p:blipFill>
          <a:blip r:embed="rId4"/>
          <a:srcRect/>
          <a:stretch>
            <a:fillRect/>
          </a:stretch>
        </p:blipFill>
        <p:spPr>
          <a:xfrm>
            <a:off x="3520968" y="2298156"/>
            <a:ext cx="5110783" cy="4559845"/>
          </a:xfrm>
          <a:prstGeom prst="rect">
            <a:avLst/>
          </a:prstGeom>
          <a:ln/>
        </p:spPr>
      </p:pic>
      <p:sp>
        <p:nvSpPr>
          <p:cNvPr id="13" name="Google Shape;282;g104476d1465_1_17"/>
          <p:cNvSpPr txBox="1"/>
          <p:nvPr/>
        </p:nvSpPr>
        <p:spPr>
          <a:xfrm>
            <a:off x="87371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68</a:t>
            </a:r>
            <a:endParaRPr i="1" dirty="0">
              <a:latin typeface="Calibri"/>
              <a:ea typeface="Calibri"/>
              <a:cs typeface="Calibri"/>
              <a:sym typeface="Calibri"/>
            </a:endParaRPr>
          </a:p>
        </p:txBody>
      </p:sp>
      <p:pic>
        <p:nvPicPr>
          <p:cNvPr id="14"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753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Props1.xml><?xml version="1.0" encoding="utf-8"?>
<ds:datastoreItem xmlns:ds="http://schemas.openxmlformats.org/officeDocument/2006/customXml" ds:itemID="{7C065554-0BDD-4049-BBAD-62E92A0B2CA3}"/>
</file>

<file path=customXml/itemProps2.xml><?xml version="1.0" encoding="utf-8"?>
<ds:datastoreItem xmlns:ds="http://schemas.openxmlformats.org/officeDocument/2006/customXml" ds:itemID="{A5DA44A7-6CE9-4288-8B38-2C155C1D40E7}"/>
</file>

<file path=customXml/itemProps3.xml><?xml version="1.0" encoding="utf-8"?>
<ds:datastoreItem xmlns:ds="http://schemas.openxmlformats.org/officeDocument/2006/customXml" ds:itemID="{70A31B4E-5FA5-4189-BE61-BC9A67E833CF}"/>
</file>

<file path=docProps/app.xml><?xml version="1.0" encoding="utf-8"?>
<Properties xmlns="http://schemas.openxmlformats.org/officeDocument/2006/extended-properties" xmlns:vt="http://schemas.openxmlformats.org/officeDocument/2006/docPropsVTypes">
  <TotalTime>1368</TotalTime>
  <Words>1231</Words>
  <Application>Microsoft Office PowerPoint</Application>
  <PresentationFormat>Widescreen</PresentationFormat>
  <Paragraphs>206</Paragraphs>
  <Slides>23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Arial Black</vt:lpstr>
      <vt:lpstr>Calibri</vt:lpstr>
      <vt:lpstr>Cambria Math</vt:lpstr>
      <vt:lpstr>Century Gothic</vt:lpstr>
      <vt:lpstr>Courier New</vt:lpstr>
      <vt:lpstr>Verdana</vt:lpstr>
      <vt:lpstr>1_Office Theme</vt:lpstr>
      <vt:lpstr>6th Grade Accelerated Math  Unit 9, Lesson 5  Describing and Interpreting Histograms –  Part 1  Volume 2, pg. 63  </vt:lpstr>
      <vt:lpstr>Benchmark</vt:lpstr>
      <vt:lpstr>PowerPoint Presentation</vt:lpstr>
      <vt:lpstr>PowerPoint Presentation</vt:lpstr>
      <vt:lpstr>Warm-Up</vt:lpstr>
      <vt:lpstr>PowerPoint Presentation</vt:lpstr>
      <vt:lpstr>Guided Instruction</vt:lpstr>
      <vt:lpstr>PowerPoint Presentation</vt:lpstr>
      <vt:lpstr>PowerPoint Presentation</vt:lpstr>
      <vt:lpstr>PowerPoint Presentation</vt:lpstr>
      <vt:lpstr>Exploration</vt:lpstr>
      <vt:lpstr>PowerPoint Presentation</vt:lpstr>
      <vt:lpstr>PowerPoint Presentation</vt:lpstr>
      <vt:lpstr>PowerPoint Presentation</vt:lpstr>
      <vt:lpstr>PowerPoint Presentation</vt:lpstr>
      <vt:lpstr>PowerPoint Presentation</vt:lpstr>
      <vt:lpstr>Try It</vt:lpstr>
      <vt:lpstr>PowerPoint Presentation</vt:lpstr>
      <vt:lpstr>PowerPoint Presentation</vt:lpstr>
      <vt:lpstr>Your Turn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Cassie O'Connor</cp:lastModifiedBy>
  <cp:revision>29</cp:revision>
  <dcterms:created xsi:type="dcterms:W3CDTF">2015-03-17T18:51:18Z</dcterms:created>
  <dcterms:modified xsi:type="dcterms:W3CDTF">2022-08-21T22:13:02Z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ies>
</file>