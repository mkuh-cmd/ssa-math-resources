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85" r:id="rId7"/>
    <p:sldId id="286" r:id="rId8"/>
    <p:sldId id="261" r:id="rId9"/>
    <p:sldId id="287" r:id="rId10"/>
    <p:sldId id="289" r:id="rId11"/>
    <p:sldId id="290" r:id="rId12"/>
    <p:sldId id="356" r:id="rId13"/>
    <p:sldId id="362" r:id="rId14"/>
    <p:sldId id="368" r:id="rId15"/>
    <p:sldId id="363" r:id="rId16"/>
    <p:sldId id="364" r:id="rId17"/>
    <p:sldId id="365" r:id="rId18"/>
    <p:sldId id="311" r:id="rId19"/>
    <p:sldId id="312" r:id="rId20"/>
    <p:sldId id="353" r:id="rId21"/>
    <p:sldId id="323" r:id="rId22"/>
    <p:sldId id="324" r:id="rId23"/>
    <p:sldId id="357" r:id="rId24"/>
    <p:sldId id="366" r:id="rId25"/>
    <p:sldId id="367" r:id="rId26"/>
    <p:sldId id="302" r:id="rId27"/>
    <p:sldId id="303" r:id="rId28"/>
    <p:sldId id="360" r:id="rId29"/>
    <p:sldId id="306" r:id="rId30"/>
    <p:sldId id="30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68"/>
    <p:restoredTop sz="94695"/>
  </p:normalViewPr>
  <p:slideViewPr>
    <p:cSldViewPr snapToGrid="0">
      <p:cViewPr>
        <p:scale>
          <a:sx n="115" d="100"/>
          <a:sy n="115" d="100"/>
        </p:scale>
        <p:origin x="-10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94706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6016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67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Types of Data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41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xmlns="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205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65835" y="15059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35" y="3863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59988" y="1600200"/>
            <a:ext cx="85508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MA.6.DP.1.1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Recognize and formulate a statistical question that would generate numerical data.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809" y="33937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65459" y="96744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88109" y="1596390"/>
            <a:ext cx="872269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65609" y="11506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47" y="40426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603717" y="1600200"/>
            <a:ext cx="86070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963" indent="-455613">
              <a:buClr>
                <a:srgbClr val="434343"/>
              </a:buClr>
              <a:buSzPct val="125000"/>
              <a:buFont typeface="Wingdings" pitchFamily="2" charset="2"/>
              <a:buChar char="q"/>
            </a:pPr>
            <a:r>
              <a:rPr lang="en-US" sz="2000" dirty="0">
                <a:latin typeface="Verdana"/>
                <a:ea typeface="Verdana"/>
                <a:cs typeface="Verdana"/>
              </a:rPr>
              <a:t>I can classify data as categorical or numerical.</a:t>
            </a: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17728" y="31723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9.1.1 Warm-Up: Using Data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428" y="2390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1645920" y="1224100"/>
            <a:ext cx="87416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At the end of the school year, the school administration will ask students to participate in a survey about their favorite class.</a:t>
            </a: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are two possible questions the survey could ask?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Verdana"/>
                <a:ea typeface="Verdana"/>
                <a:cs typeface="Verdana"/>
              </a:rPr>
              <a:t>Makayla</a:t>
            </a:r>
            <a:r>
              <a:rPr lang="en-US" sz="2000" dirty="0">
                <a:latin typeface="Verdana"/>
                <a:ea typeface="Verdana"/>
                <a:cs typeface="Verdana"/>
              </a:rPr>
              <a:t> thinks it would be helpful to ask students to rank their current classes on a scale of 1-6, with 1 being the students’ favorite class and 6 representing their least favorite. Explain how this data could be useful.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17728" y="-3596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9.1.2 Guided Instruction: Types of Data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428" y="1712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2060448" y="1386025"/>
            <a:ext cx="8327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</a:rPr>
              <a:t>Examples and non-examples of statistical questions are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60448" y="1306397"/>
            <a:ext cx="7992528" cy="1359783"/>
            <a:chOff x="2031300" y="3100015"/>
            <a:chExt cx="7992528" cy="1359971"/>
          </a:xfrm>
        </p:grpSpPr>
        <p:grpSp>
          <p:nvGrpSpPr>
            <p:cNvPr id="10" name="Group 9"/>
            <p:cNvGrpSpPr/>
            <p:nvPr/>
          </p:nvGrpSpPr>
          <p:grpSpPr>
            <a:xfrm>
              <a:off x="2031300" y="3100015"/>
              <a:ext cx="7992528" cy="1359971"/>
              <a:chOff x="2031300" y="3112155"/>
              <a:chExt cx="7992528" cy="1335691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2031300" y="3112155"/>
                <a:ext cx="7992528" cy="1335691"/>
                <a:chOff x="2031300" y="3223467"/>
                <a:chExt cx="7992528" cy="1335691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/>
                      <a:ea typeface="Cambria Math"/>
                      <a:cs typeface="Cambria Math"/>
                    </a:rPr>
                    <a:t> </a:t>
                  </a:r>
                </a:p>
              </p:txBody>
            </p:sp>
            <p:grpSp>
              <p:nvGrpSpPr>
                <p:cNvPr id="16" name="Group 15"/>
                <p:cNvGrpSpPr/>
                <p:nvPr/>
              </p:nvGrpSpPr>
              <p:grpSpPr>
                <a:xfrm>
                  <a:off x="2031300" y="3223467"/>
                  <a:ext cx="7992528" cy="1335691"/>
                  <a:chOff x="2031300" y="3223467"/>
                  <a:chExt cx="7992528" cy="1335691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/>
                        <a:ea typeface="Cambria Math"/>
                        <a:cs typeface="Cambria Math"/>
                      </a:rPr>
                      <a:t> </a:t>
                    </a:r>
                  </a:p>
                </p:txBody>
              </p:sp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2031300" y="3223467"/>
                    <a:ext cx="7992528" cy="1335691"/>
                    <a:chOff x="0" y="-150133"/>
                    <a:chExt cx="7992528" cy="1335691"/>
                  </a:xfrm>
                </p:grpSpPr>
                <p:sp>
                  <p:nvSpPr>
                    <p:cNvPr id="19" name="Rectangle 18"/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p:txBody>
                </p:sp>
                <p:sp>
                  <p:nvSpPr>
                    <p:cNvPr id="20" name="Rounded Rectangle 19"/>
                    <p:cNvSpPr/>
                    <p:nvPr/>
                  </p:nvSpPr>
                  <p:spPr>
                    <a:xfrm>
                      <a:off x="0" y="-150133"/>
                      <a:ext cx="7992528" cy="1335691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A </a:t>
                      </a: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statistical question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 is a question that can be answered by collecting data. Often, there will be variability in the data.</a:t>
                      </a:r>
                      <a:endParaRPr lang="en-US" sz="2000" i="1" dirty="0">
                        <a:latin typeface="Cambria Math"/>
                        <a:ea typeface="Cambria Math"/>
                        <a:cs typeface="Cambria Math"/>
                      </a:endParaRPr>
                    </a:p>
                  </p:txBody>
                </p:sp>
                <p:pic>
                  <p:nvPicPr>
                    <p:cNvPr id="21" name="Shape 11" descr="Icon&#10;&#10;Description automatically generated"/>
                    <p:cNvPicPr preferRelativeResize="0"/>
                    <p:nvPr/>
                  </p:nvPicPr>
                  <p:blipFill rotWithShape="1">
                    <a:blip r:embed="rId4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38545" y="54942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sp>
        <p:nvSpPr>
          <p:cNvPr id="23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334874"/>
              </p:ext>
            </p:extLst>
          </p:nvPr>
        </p:nvGraphicFramePr>
        <p:xfrm>
          <a:off x="2186840" y="3424824"/>
          <a:ext cx="9360000" cy="2679764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6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Statistical Questions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NOT Statistical Questions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/>
                        <a:buChar char="●"/>
                      </a:pP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How many siblings do the students in my class have?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/>
                        <a:buChar char="●"/>
                      </a:pP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How tall are the players on the girls’ basketball team? 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/>
                        <a:buChar char="●"/>
                      </a:pP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What is the favorite song of the 6</a:t>
                      </a:r>
                      <a:r>
                        <a:rPr lang="en-US" sz="2000" i="0" baseline="300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th</a:t>
                      </a: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 graders at my school?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●"/>
                        <a:tabLst/>
                        <a:defRPr/>
                      </a:pPr>
                      <a:r>
                        <a:rPr lang="en-US" sz="2000" dirty="0" smtClean="0">
                          <a:latin typeface="Verdana" pitchFamily="34" charset="0"/>
                          <a:ea typeface="Verdana" pitchFamily="34" charset="0"/>
                        </a:rPr>
                        <a:t>What time does school start?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●"/>
                        <a:tabLst/>
                        <a:defRPr/>
                      </a:pPr>
                      <a:r>
                        <a:rPr lang="en-US" sz="2000" dirty="0" smtClean="0">
                          <a:latin typeface="Verdana" pitchFamily="34" charset="0"/>
                          <a:ea typeface="Verdana" pitchFamily="34" charset="0"/>
                        </a:rPr>
                        <a:t>Who is the President of the United States?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●"/>
                        <a:tabLst/>
                        <a:defRPr/>
                      </a:pPr>
                      <a:r>
                        <a:rPr lang="en-US" sz="2000" dirty="0" smtClean="0">
                          <a:latin typeface="Verdana" pitchFamily="34" charset="0"/>
                          <a:ea typeface="Verdana" pitchFamily="34" charset="0"/>
                        </a:rPr>
                        <a:t>What is Avery’s favorite color?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294228" y="520394"/>
            <a:ext cx="90406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With your partner, discuss the differences between the two types of questions. What do you notice?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do you think “variability in the data” means?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495550" y="3230949"/>
            <a:ext cx="7557426" cy="1054076"/>
            <a:chOff x="2031300" y="3252878"/>
            <a:chExt cx="7557426" cy="1054222"/>
          </a:xfrm>
        </p:grpSpPr>
        <p:grpSp>
          <p:nvGrpSpPr>
            <p:cNvPr id="20" name="Group 19"/>
            <p:cNvGrpSpPr/>
            <p:nvPr/>
          </p:nvGrpSpPr>
          <p:grpSpPr>
            <a:xfrm>
              <a:off x="2031300" y="3252878"/>
              <a:ext cx="7557426" cy="1054222"/>
              <a:chOff x="2031300" y="3262288"/>
              <a:chExt cx="7557426" cy="10354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2031300" y="3262288"/>
                <a:ext cx="7557426" cy="1035400"/>
                <a:chOff x="2031300" y="3373600"/>
                <a:chExt cx="7557426" cy="1035400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/>
                      <a:ea typeface="Cambria Math"/>
                      <a:cs typeface="Cambria Math"/>
                    </a:rPr>
                    <a:t> </a:t>
                  </a:r>
                </a:p>
              </p:txBody>
            </p:sp>
            <p:grpSp>
              <p:nvGrpSpPr>
                <p:cNvPr id="24" name="Group 23"/>
                <p:cNvGrpSpPr/>
                <p:nvPr/>
              </p:nvGrpSpPr>
              <p:grpSpPr>
                <a:xfrm>
                  <a:off x="2031300" y="3373600"/>
                  <a:ext cx="7557426" cy="981532"/>
                  <a:chOff x="2031300" y="3373600"/>
                  <a:chExt cx="7557426" cy="981532"/>
                </a:xfrm>
              </p:grpSpPr>
              <p:sp>
                <p:nvSpPr>
                  <p:cNvPr id="25" name="Rectangle 24"/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/>
                        <a:ea typeface="Cambria Math"/>
                        <a:cs typeface="Cambria Math"/>
                      </a:rPr>
                      <a:t> </a:t>
                    </a:r>
                  </a:p>
                </p:txBody>
              </p: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031300" y="3373600"/>
                    <a:ext cx="7557426" cy="981532"/>
                    <a:chOff x="0" y="0"/>
                    <a:chExt cx="7557426" cy="981532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p:txBody>
                </p:sp>
                <p:sp>
                  <p:nvSpPr>
                    <p:cNvPr id="28" name="Rounded Rectangle 27"/>
                    <p:cNvSpPr/>
                    <p:nvPr/>
                  </p:nvSpPr>
                  <p:spPr>
                    <a:xfrm>
                      <a:off x="0" y="53892"/>
                      <a:ext cx="7557426" cy="92764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Data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 are values that are collected together for reference or analysis.</a:t>
                      </a:r>
                      <a:endParaRPr lang="en-US" sz="2000" i="1" dirty="0"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p:txBody>
                </p:sp>
                <p:pic>
                  <p:nvPicPr>
                    <p:cNvPr id="29" name="Shape 11" descr="Icon&#10;&#10;Description automatically generated"/>
                    <p:cNvPicPr preferRelativeResize="0"/>
                    <p:nvPr/>
                  </p:nvPicPr>
                  <p:blipFill rotWithShape="1">
                    <a:blip r:embed="rId3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38545" y="195286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sp>
        <p:nvSpPr>
          <p:cNvPr id="1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167618" y="520393"/>
            <a:ext cx="100074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</a:rPr>
              <a:t>Work together to develop a statistical question. Use your question to gather five data values from your classmates. The answers to your question should all be numeric. Your classmates’ responses are the data values.</a:t>
            </a: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Complete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0" y="2549525"/>
          <a:ext cx="6758940" cy="37185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3517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17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17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517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517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Question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71600">
                <a:tc gridSpan="5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Data 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103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097280" y="520394"/>
            <a:ext cx="1014810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Does the data from your question show a lot of variability or little variability?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how you determined </a:t>
            </a:r>
            <a:r>
              <a:rPr lang="en-US" sz="2000" dirty="0">
                <a:latin typeface="Verdana"/>
                <a:ea typeface="Cambria Math"/>
                <a:cs typeface="Cambria Math"/>
              </a:rPr>
              <a:t>your description of the</a:t>
            </a:r>
            <a:r>
              <a:rPr lang="en-US" sz="2000" dirty="0">
                <a:latin typeface="Verdana"/>
                <a:ea typeface="Verdana"/>
                <a:cs typeface="Verdana"/>
              </a:rPr>
              <a:t> variability.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2695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041009" y="520394"/>
            <a:ext cx="102606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  <a:tabLst>
                <a:tab pos="22860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Two statistical questions are shown.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/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b="1" dirty="0">
                <a:latin typeface="Verdana"/>
                <a:ea typeface="Verdana"/>
                <a:cs typeface="Verdana"/>
              </a:rPr>
              <a:t>Question 1: </a:t>
            </a:r>
            <a:r>
              <a:rPr lang="en-US" sz="2000" dirty="0">
                <a:latin typeface="Verdana"/>
                <a:ea typeface="Verdana"/>
                <a:cs typeface="Verdana"/>
              </a:rPr>
              <a:t>“How many siblings do the students at my school have?”</a:t>
            </a:r>
            <a:r>
              <a:rPr lang="en-US" sz="2000" b="1" dirty="0">
                <a:latin typeface="Verdana"/>
                <a:ea typeface="Verdana"/>
                <a:cs typeface="Verdana"/>
              </a:rPr>
              <a:t/>
            </a:r>
            <a:br>
              <a:rPr lang="en-US" sz="2000" b="1" dirty="0">
                <a:latin typeface="Verdana"/>
                <a:ea typeface="Verdana"/>
                <a:cs typeface="Verdana"/>
              </a:rPr>
            </a:br>
            <a:r>
              <a:rPr lang="en-US" sz="2000" b="1" dirty="0">
                <a:latin typeface="Verdana"/>
                <a:ea typeface="Verdana"/>
                <a:cs typeface="Verdana"/>
              </a:rPr>
              <a:t>Question 2: </a:t>
            </a:r>
            <a:r>
              <a:rPr lang="en-US" sz="2000" dirty="0">
                <a:latin typeface="Verdana"/>
                <a:ea typeface="Verdana"/>
                <a:cs typeface="Verdana"/>
              </a:rPr>
              <a:t>“How many hours do the teachers at my school spend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>	outdoors on </a:t>
            </a:r>
            <a:r>
              <a:rPr lang="en-US" sz="2000" dirty="0">
                <a:latin typeface="Verdana"/>
                <a:ea typeface="Verdana"/>
                <a:cs typeface="Verdana"/>
              </a:rPr>
              <a:t>a weekend?”</a:t>
            </a:r>
            <a:r>
              <a:rPr lang="en-US" sz="2000" dirty="0">
                <a:latin typeface="Verdana"/>
                <a:ea typeface="Verdana"/>
                <a:cs typeface="Verdana"/>
              </a:rPr>
              <a:t/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Explain which question you would expect to have more variability.</a:t>
            </a: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your choice with your partner.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9080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083212" y="520393"/>
            <a:ext cx="10176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Data can fall into two different classifications — categorical or numerical.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48728" y="1811213"/>
            <a:ext cx="8045211" cy="944371"/>
            <a:chOff x="2031299" y="3382729"/>
            <a:chExt cx="8045211" cy="944793"/>
          </a:xfrm>
        </p:grpSpPr>
        <p:grpSp>
          <p:nvGrpSpPr>
            <p:cNvPr id="7" name="Group 6"/>
            <p:cNvGrpSpPr/>
            <p:nvPr/>
          </p:nvGrpSpPr>
          <p:grpSpPr>
            <a:xfrm>
              <a:off x="2031299" y="3382729"/>
              <a:ext cx="8045211" cy="944793"/>
              <a:chOff x="2031299" y="3389820"/>
              <a:chExt cx="8045211" cy="927925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300" y="3554781"/>
                <a:ext cx="6629400" cy="450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40" rIns="91425" bIns="0" anchor="ctr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031299" y="3389820"/>
                <a:ext cx="8045211" cy="927925"/>
                <a:chOff x="2031299" y="3501132"/>
                <a:chExt cx="8045211" cy="927925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2031300" y="3666093"/>
                  <a:ext cx="6629400" cy="450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40" rIns="91425" bIns="0" anchor="ctr" anchorCtr="0">
                  <a:sp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/>
                      <a:ea typeface="Cambria Math"/>
                      <a:cs typeface="Cambria Math"/>
                    </a:rPr>
                    <a:t> </a:t>
                  </a:r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2031299" y="3501132"/>
                  <a:ext cx="8045211" cy="927925"/>
                  <a:chOff x="2031299" y="3501132"/>
                  <a:chExt cx="8045211" cy="927925"/>
                </a:xfrm>
              </p:grpSpPr>
              <p:sp>
                <p:nvSpPr>
                  <p:cNvPr id="13" name="Rectangle 12"/>
                  <p:cNvSpPr/>
                  <p:nvPr/>
                </p:nvSpPr>
                <p:spPr>
                  <a:xfrm>
                    <a:off x="2031300" y="3554794"/>
                    <a:ext cx="6629400" cy="4504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40" rIns="91425" bIns="0" anchor="ctr" anchorCtr="0">
                    <a:sp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/>
                        <a:ea typeface="Cambria Math"/>
                        <a:cs typeface="Cambria Math"/>
                      </a:rPr>
                      <a:t> </a:t>
                    </a:r>
                  </a:p>
                </p:txBody>
              </p:sp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2031299" y="3501132"/>
                    <a:ext cx="8045211" cy="927925"/>
                    <a:chOff x="-1" y="127532"/>
                    <a:chExt cx="8045211" cy="927925"/>
                  </a:xfrm>
                </p:grpSpPr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0" y="181194"/>
                      <a:ext cx="6629400" cy="4504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p:txBody>
                </p:sp>
                <p:sp>
                  <p:nvSpPr>
                    <p:cNvPr id="17" name="Rounded Rectangle 16"/>
                    <p:cNvSpPr/>
                    <p:nvPr/>
                  </p:nvSpPr>
                  <p:spPr>
                    <a:xfrm>
                      <a:off x="-1" y="127532"/>
                      <a:ext cx="8045211" cy="92792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Categorical data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 is a type of data that is divided into groups. Categorical data are qualitative.</a:t>
                      </a:r>
                      <a:endParaRPr lang="en-US" sz="2000" i="1" dirty="0">
                        <a:latin typeface="Cambria Math"/>
                        <a:ea typeface="Cambria Math"/>
                        <a:cs typeface="Cambria Math"/>
                      </a:endParaRPr>
                    </a:p>
                  </p:txBody>
                </p:sp>
                <p:pic>
                  <p:nvPicPr>
                    <p:cNvPr id="18" name="Shape 11" descr="Icon&#10;&#10;Description automatically generated"/>
                    <p:cNvPicPr preferRelativeResize="0"/>
                    <p:nvPr/>
                  </p:nvPicPr>
                  <p:blipFill rotWithShape="1">
                    <a:blip r:embed="rId3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38545" y="279550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grpSp>
        <p:nvGrpSpPr>
          <p:cNvPr id="19" name="Group 18"/>
          <p:cNvGrpSpPr/>
          <p:nvPr/>
        </p:nvGrpSpPr>
        <p:grpSpPr>
          <a:xfrm>
            <a:off x="2148727" y="3533719"/>
            <a:ext cx="8045211" cy="944372"/>
            <a:chOff x="2031299" y="3382728"/>
            <a:chExt cx="8045211" cy="944794"/>
          </a:xfrm>
        </p:grpSpPr>
        <p:grpSp>
          <p:nvGrpSpPr>
            <p:cNvPr id="20" name="Group 19"/>
            <p:cNvGrpSpPr/>
            <p:nvPr/>
          </p:nvGrpSpPr>
          <p:grpSpPr>
            <a:xfrm>
              <a:off x="2031299" y="3382728"/>
              <a:ext cx="8045211" cy="944794"/>
              <a:chOff x="2031299" y="3389815"/>
              <a:chExt cx="8045211" cy="927925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2031300" y="3554781"/>
                <a:ext cx="6629400" cy="450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40" rIns="91425" bIns="0" anchor="ctr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2031299" y="3389815"/>
                <a:ext cx="8045211" cy="927925"/>
                <a:chOff x="2031299" y="3501127"/>
                <a:chExt cx="8045211" cy="927925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2031300" y="3666093"/>
                  <a:ext cx="6629400" cy="450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40" rIns="91425" bIns="0" anchor="ctr" anchorCtr="0">
                  <a:sp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/>
                      <a:ea typeface="Cambria Math"/>
                      <a:cs typeface="Cambria Math"/>
                    </a:rPr>
                    <a:t> </a:t>
                  </a:r>
                </a:p>
              </p:txBody>
            </p:sp>
            <p:grpSp>
              <p:nvGrpSpPr>
                <p:cNvPr id="24" name="Group 23"/>
                <p:cNvGrpSpPr/>
                <p:nvPr/>
              </p:nvGrpSpPr>
              <p:grpSpPr>
                <a:xfrm>
                  <a:off x="2031299" y="3501127"/>
                  <a:ext cx="8045211" cy="927925"/>
                  <a:chOff x="2031299" y="3501127"/>
                  <a:chExt cx="8045211" cy="927925"/>
                </a:xfrm>
              </p:grpSpPr>
              <p:sp>
                <p:nvSpPr>
                  <p:cNvPr id="25" name="Rectangle 24"/>
                  <p:cNvSpPr/>
                  <p:nvPr/>
                </p:nvSpPr>
                <p:spPr>
                  <a:xfrm>
                    <a:off x="2031300" y="3554794"/>
                    <a:ext cx="6629400" cy="4504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40" rIns="91425" bIns="0" anchor="ctr" anchorCtr="0">
                    <a:sp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/>
                        <a:ea typeface="Cambria Math"/>
                        <a:cs typeface="Cambria Math"/>
                      </a:rPr>
                      <a:t> </a:t>
                    </a:r>
                  </a:p>
                </p:txBody>
              </p: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031299" y="3501127"/>
                    <a:ext cx="8045211" cy="927925"/>
                    <a:chOff x="-1" y="127527"/>
                    <a:chExt cx="8045211" cy="927925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0" y="181194"/>
                      <a:ext cx="6629400" cy="4504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p:txBody>
                </p:sp>
                <p:sp>
                  <p:nvSpPr>
                    <p:cNvPr id="28" name="Rounded Rectangle 27"/>
                    <p:cNvSpPr/>
                    <p:nvPr/>
                  </p:nvSpPr>
                  <p:spPr>
                    <a:xfrm>
                      <a:off x="-1" y="127527"/>
                      <a:ext cx="8045211" cy="92792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5715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Numerical data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, or quantitative data, is a type of data that is measurable. It is collected in the form of numbers.</a:t>
                      </a:r>
                      <a:endParaRPr lang="en-US" sz="2000" dirty="0">
                        <a:latin typeface="Cambria Math"/>
                        <a:ea typeface="Cambria Math"/>
                        <a:cs typeface="Cambria Math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29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034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111348" y="520393"/>
            <a:ext cx="10119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In the table, classify the type of data described, or provide an example of data with that classification.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609850" y="1368425"/>
              <a:ext cx="7505700" cy="47701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5019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019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5019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Data Description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Examples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Data Classification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 err="1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m&amp;m</a:t>
                          </a: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colors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red, blue, green, yellow, brown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number of pets a student has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Verdana"/>
                                  </a:rPr>
                                  <m:t>0, 2, 1, 4, 8, 2, 2, 1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zip code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categorical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numerical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1085850" y="1368425"/>
              <a:ext cx="7505700" cy="47701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501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019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01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Data Description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Examples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Data Classification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 err="1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m&amp;m</a:t>
                          </a: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colors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red, blue, green, yellow, brown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number of pets a student has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4839" r="-100505" b="-3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zip code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categorical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95528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numerical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2006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15251" y="295746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9.1.3 Exploration: Class Survey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997" y="18736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1083212" y="1155193"/>
            <a:ext cx="10281608" cy="3504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Answer the following questions. Write your answers in the table under the number that corresponds to each question.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How many letters are in your first name? 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How old are you, in years?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your favorite food?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your favorite sport?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How many languages do you speak fluently?</a:t>
            </a:r>
          </a:p>
          <a:p>
            <a:pPr marL="914400" indent="-4572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languages do you speak fluently?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628900" y="4778375"/>
          <a:ext cx="7296150" cy="17068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Your Responses to Each Question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a.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b.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c.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d.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e.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f.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308295" y="520394"/>
            <a:ext cx="97260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Review the display of the combined class data.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Which data sets are categorical?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Which data sets are numerical?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16474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9.1.4 Guided Practice: Classifying Data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666" y="22635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1416474" y="1386026"/>
            <a:ext cx="8971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A city parks department recently collected information about the breeds of dogs visiting a local dog park. They discovered that over 50 breeds of dogs visited the park on Saturday.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/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Determine if the data is categorical or numerical.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Explain your thinking.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56603" y="520393"/>
            <a:ext cx="104294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At the beginning of the season, the football coach creates a roster with the players’ names, ages, grade levels, and uniform numbers.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Which of the variables are categorical?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Which of the variables are quantitative?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For each variable, explain how you determined the type of data.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336431" y="520393"/>
            <a:ext cx="966980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the average weight of an elephant, in pounds?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your guess? _______________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Compare your answer with four other students.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What do you notice?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Is this categorical or numerical data?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1595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252025" y="520394"/>
            <a:ext cx="983861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/>
                <a:ea typeface="Verdana"/>
                <a:cs typeface="Verdana"/>
              </a:rPr>
              <a:t>Create a statistical question that will result in categorical data being collected.</a:t>
            </a:r>
          </a:p>
          <a:p>
            <a:pPr marL="457200" indent="-457200">
              <a:buFont typeface="+mj-lt"/>
              <a:buAutoNum type="arabicPeriod" startAt="4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/>
                <a:ea typeface="Verdana"/>
                <a:cs typeface="Verdana"/>
              </a:rPr>
              <a:t>Create a statistical question that will result in quantitative data being collected.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2961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17728" y="13066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9.1.5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428" y="1306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1417728" y="1052651"/>
            <a:ext cx="9612576" cy="4606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2000"/>
              </a:spcAft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Classify each variable as Categorical (C) or Numerical (N).</a:t>
            </a:r>
          </a:p>
          <a:p>
            <a:pPr marL="9144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Social media followers _____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Color of cars in the faculty parking lot _____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Shoe size _____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Cost of a drink _____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Zip code _____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914400" indent="-457200">
              <a:lnSpc>
                <a:spcPct val="150000"/>
              </a:lnSpc>
              <a:spcAft>
                <a:spcPts val="20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Type of pets you have _____</a:t>
            </a:r>
            <a:endParaRPr lang="en-US" sz="1800" i="1" dirty="0">
              <a:latin typeface="Cambria Math"/>
              <a:ea typeface="Cambria Math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Will the question, “What is your favorite television or movie streaming service to use?” result in categorical or quantitative data? Explain how you made your choice.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350498" y="520393"/>
            <a:ext cx="9641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</a:rPr>
              <a:t>Given this bar chart, classify the data as categorical or quantitative.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 descr="Chart, bar 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51" b="6422"/>
          <a:stretch/>
        </p:blipFill>
        <p:spPr bwMode="auto">
          <a:xfrm>
            <a:off x="3142426" y="1350645"/>
            <a:ext cx="6057815" cy="35021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21044" y="19068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9.1.6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744" y="11247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1406769" y="1037434"/>
            <a:ext cx="9634494" cy="75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/>
                <a:ea typeface="Verdana"/>
                <a:cs typeface="Verdana"/>
              </a:rPr>
              <a:t>Bradley’s teacher asked him to circle the numerical data in the table below.  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24659" y="1914017"/>
          <a:ext cx="8046720" cy="2903712"/>
        </p:xfrm>
        <a:graphic>
          <a:graphicData uri="http://schemas.openxmlformats.org/drawingml/2006/table">
            <a:tbl>
              <a:tblPr bandRow="1"/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Name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Student ID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Age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Hair Color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Grade Level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Rachel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1254866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10</a:t>
                      </a:r>
                      <a:endPara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Brown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Elijah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2548631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11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Brown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Chase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2645852</a:t>
                      </a:r>
                      <a:r>
                        <a:rPr lang="en-US" sz="20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a:t>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11</a:t>
                      </a:r>
                      <a:r>
                        <a:rPr lang="en-US" sz="20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a:t>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Blonde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Ben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2548654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10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Black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3498850" y="2527301"/>
            <a:ext cx="2054225" cy="2397125"/>
          </a:xfrm>
          <a:prstGeom prst="ellipse">
            <a:avLst/>
          </a:prstGeom>
          <a:noFill/>
          <a:ln w="38100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/>
                <a:ea typeface="Cambria Math"/>
                <a:cs typeface="Cambria Math"/>
              </a:rPr>
              <a:t> </a:t>
            </a:r>
          </a:p>
        </p:txBody>
      </p:sp>
      <p:sp>
        <p:nvSpPr>
          <p:cNvPr id="14" name="Oval 13"/>
          <p:cNvSpPr/>
          <p:nvPr/>
        </p:nvSpPr>
        <p:spPr>
          <a:xfrm>
            <a:off x="5609653" y="2527300"/>
            <a:ext cx="986522" cy="2330450"/>
          </a:xfrm>
          <a:prstGeom prst="ellipse">
            <a:avLst/>
          </a:prstGeom>
          <a:noFill/>
          <a:ln w="38100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/>
                <a:ea typeface="Cambria Math"/>
                <a:cs typeface="Cambria Math"/>
              </a:rPr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6769" y="5035405"/>
            <a:ext cx="9419610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His teacher said that his response was incorrect. Correct his mistake and explain what mistake he made. </a:t>
            </a:r>
            <a:endParaRPr lang="en-US" sz="20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64063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20E163-1346-4173-938A-D11982550E29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6B0840FF-5C94-4FD0-9EE6-F3681B8171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B39E9A-36CA-4B4A-A0FF-2074068C87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1038</Words>
  <Application>Microsoft Office PowerPoint</Application>
  <PresentationFormat>Custom</PresentationFormat>
  <Paragraphs>264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1_Office Theme</vt:lpstr>
      <vt:lpstr>6th Grade Accelerated Math   Unit 9, Lesson 1  Types of Data  Volume 2, pg. 41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Sensei</cp:lastModifiedBy>
  <cp:revision>21</cp:revision>
  <dcterms:created xsi:type="dcterms:W3CDTF">2015-03-17T18:51:18Z</dcterms:created>
  <dcterms:modified xsi:type="dcterms:W3CDTF">2023-07-07T06:15:49Z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