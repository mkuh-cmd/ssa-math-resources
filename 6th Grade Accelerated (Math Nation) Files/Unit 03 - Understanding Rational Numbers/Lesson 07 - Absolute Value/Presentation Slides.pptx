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4" r:id="rId24"/>
    <p:sldId id="280" r:id="rId25"/>
    <p:sldId id="278" r:id="rId26"/>
    <p:sldId id="279" r:id="rId27"/>
    <p:sldId id="285" r:id="rId28"/>
    <p:sldId id="281" r:id="rId29"/>
    <p:sldId id="282" r:id="rId30"/>
    <p:sldId id="283" r:id="rId3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5"/>
    <p:restoredTop sz="94695"/>
  </p:normalViewPr>
  <p:slideViewPr>
    <p:cSldViewPr snapToGrid="0" snapToObjects="1">
      <p:cViewPr varScale="1">
        <p:scale>
          <a:sx n="79" d="100"/>
          <a:sy n="79" d="100"/>
        </p:scale>
        <p:origin x="82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4" name="Shape 17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xfrm>
            <a:off x="5299678" y="1070920"/>
            <a:ext cx="6526001" cy="3618001"/>
          </a:xfrm>
          <a:prstGeom prst="rect">
            <a:avLst/>
          </a:prstGeom>
        </p:spPr>
        <p:txBody>
          <a:bodyPr lIns="91424" tIns="91424" rIns="91424" bIns="91424" anchor="b"/>
          <a:lstStyle>
            <a:lvl1pPr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Title Text</a:t>
            </a:r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10657" y="6240956"/>
            <a:ext cx="226943" cy="23079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3"/>
            <a:ext cx="9144000" cy="2387701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8"/>
            <a:ext cx="9144000" cy="1655701"/>
          </a:xfrm>
          <a:prstGeom prst="rect">
            <a:avLst/>
          </a:prstGeom>
        </p:spPr>
        <p:txBody>
          <a:bodyPr/>
          <a:lstStyle>
            <a:lvl1pPr marL="361950" indent="-266700" algn="ctr">
              <a:buClrTx/>
              <a:buSzTx/>
              <a:buFontTx/>
              <a:buNone/>
              <a:defRPr sz="1800"/>
            </a:lvl1pPr>
            <a:lvl2pPr marL="361950" indent="209550" algn="ctr">
              <a:buClrTx/>
              <a:buSzTx/>
              <a:buFontTx/>
              <a:buNone/>
              <a:defRPr sz="1800"/>
            </a:lvl2pPr>
            <a:lvl3pPr marL="361950" indent="685800" algn="ctr">
              <a:buClrTx/>
              <a:buSzTx/>
              <a:buFontTx/>
              <a:buNone/>
              <a:defRPr sz="1800"/>
            </a:lvl3pPr>
            <a:lvl4pPr marL="361950" indent="1152525" algn="ctr">
              <a:buClrTx/>
              <a:buSzTx/>
              <a:buFontTx/>
              <a:buNone/>
              <a:defRPr sz="1800"/>
            </a:lvl4pPr>
            <a:lvl5pPr marL="361950" indent="1609725" algn="ctr">
              <a:buClrTx/>
              <a:buSzTx/>
              <a:buFontTx/>
              <a:buNone/>
              <a:defRPr sz="1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/>
          <a:lstStyle>
            <a:lvl1pPr indent="-342900"/>
            <a:lvl3pPr marL="1508760" indent="-480060"/>
            <a:lvl4pPr marL="2039815" indent="-553915"/>
            <a:lvl5pPr marL="2497015" indent="-553915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1" cy="2852700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Title Text</a:t>
            </a:r>
          </a:p>
        </p:txBody>
      </p:sp>
      <p:sp>
        <p:nvSpPr>
          <p:cNvPr id="4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5"/>
            <a:ext cx="10515601" cy="1500301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/>
          <a:lstStyle>
            <a:lvl1pPr indent="-342900"/>
            <a:lvl3pPr marL="1508760" indent="-480060"/>
            <a:lvl4pPr marL="2039815" indent="-553915"/>
            <a:lvl5pPr marL="2497015" indent="-553915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Google Shape;42;p80"/>
          <p:cNvSpPr txBox="1">
            <a:spLocks noGrp="1"/>
          </p:cNvSpPr>
          <p:nvPr>
            <p:ph type="body" sz="half" idx="13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/>
          <a:lstStyle>
            <a:lvl1pPr indent="-342900">
              <a:defRPr/>
            </a:lvl1pPr>
          </a:lstStyle>
          <a:p>
            <a:pPr indent="-342900"/>
            <a:endParaRPr/>
          </a:p>
        </p:txBody>
      </p:sp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xfrm>
            <a:off x="839789" y="365126"/>
            <a:ext cx="10515601" cy="13257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3"/>
            <a:ext cx="5157601" cy="823801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1800" b="1"/>
            </a:lvl1pPr>
            <a:lvl2pPr marL="228600" indent="457200">
              <a:buClrTx/>
              <a:buSzTx/>
              <a:buFontTx/>
              <a:buNone/>
              <a:defRPr sz="1800" b="1"/>
            </a:lvl2pPr>
            <a:lvl3pPr marL="228600" indent="914400">
              <a:buClrTx/>
              <a:buSzTx/>
              <a:buFontTx/>
              <a:buNone/>
              <a:defRPr sz="1800" b="1"/>
            </a:lvl3pPr>
            <a:lvl4pPr marL="228600" indent="1371600">
              <a:buClrTx/>
              <a:buSzTx/>
              <a:buFontTx/>
              <a:buNone/>
              <a:defRPr sz="1800" b="1"/>
            </a:lvl4pPr>
            <a:lvl5pPr marL="228600" indent="1828800">
              <a:buClrTx/>
              <a:buSzTx/>
              <a:buFontTx/>
              <a:buNone/>
              <a:defRPr sz="18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5" name="Google Shape;49;p81"/>
          <p:cNvSpPr txBox="1">
            <a:spLocks noGrp="1"/>
          </p:cNvSpPr>
          <p:nvPr>
            <p:ph type="body" sz="half" idx="13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</p:spPr>
        <p:txBody>
          <a:bodyPr/>
          <a:lstStyle>
            <a:lvl1pPr indent="-342900">
              <a:defRPr/>
            </a:lvl1pPr>
          </a:lstStyle>
          <a:p>
            <a:pPr indent="-342900"/>
            <a:endParaRPr/>
          </a:p>
        </p:txBody>
      </p:sp>
      <p:sp>
        <p:nvSpPr>
          <p:cNvPr id="66" name="Google Shape;50;p81"/>
          <p:cNvSpPr txBox="1">
            <a:spLocks noGrp="1"/>
          </p:cNvSpPr>
          <p:nvPr>
            <p:ph type="body" sz="quarter" idx="14"/>
          </p:nvPr>
        </p:nvSpPr>
        <p:spPr>
          <a:xfrm>
            <a:off x="6172200" y="1681163"/>
            <a:ext cx="5183200" cy="823801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1800" b="1"/>
            </a:lvl1pPr>
          </a:lstStyle>
          <a:p>
            <a:pPr marL="228600" indent="0">
              <a:buClrTx/>
              <a:buSzTx/>
              <a:buFontTx/>
              <a:buNone/>
              <a:defRPr sz="1800" b="1"/>
            </a:pPr>
            <a:endParaRPr/>
          </a:p>
        </p:txBody>
      </p:sp>
      <p:sp>
        <p:nvSpPr>
          <p:cNvPr id="67" name="Google Shape;51;p81"/>
          <p:cNvSpPr txBox="1">
            <a:spLocks noGrp="1"/>
          </p:cNvSpPr>
          <p:nvPr>
            <p:ph type="body" sz="half" idx="15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</p:spPr>
        <p:txBody>
          <a:bodyPr/>
          <a:lstStyle>
            <a:lvl1pPr indent="-342900">
              <a:defRPr/>
            </a:lvl1pPr>
          </a:lstStyle>
          <a:p>
            <a:pPr indent="-342900"/>
            <a:endParaRPr/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>
            <a:spLocks noGrp="1"/>
          </p:cNvSpPr>
          <p:nvPr>
            <p:ph type="title"/>
          </p:nvPr>
        </p:nvSpPr>
        <p:spPr>
          <a:xfrm>
            <a:off x="839789" y="457200"/>
            <a:ext cx="3932401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9" y="987426"/>
            <a:ext cx="6172401" cy="4873501"/>
          </a:xfrm>
          <a:prstGeom prst="rect">
            <a:avLst/>
          </a:prstGeom>
        </p:spPr>
        <p:txBody>
          <a:bodyPr/>
          <a:lstStyle>
            <a:lvl1pPr indent="-381000">
              <a:buSzPts val="2400"/>
              <a:defRPr sz="2400"/>
            </a:lvl1pPr>
            <a:lvl2pPr marL="966107" indent="-413657">
              <a:buSzPts val="2400"/>
              <a:defRPr sz="2400"/>
            </a:lvl2pPr>
            <a:lvl3pPr marL="1485900" indent="-457200">
              <a:buSzPts val="2400"/>
              <a:defRPr sz="2400"/>
            </a:lvl3pPr>
            <a:lvl4pPr marL="2023110" indent="-518160">
              <a:buSzPts val="2400"/>
              <a:defRPr sz="2400"/>
            </a:lvl4pPr>
            <a:lvl5pPr marL="2480310" indent="-518160">
              <a:buSzPts val="2400"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Google Shape;63;p84"/>
          <p:cNvSpPr txBox="1">
            <a:spLocks noGrp="1"/>
          </p:cNvSpPr>
          <p:nvPr>
            <p:ph type="body" sz="quarter" idx="13"/>
          </p:nvPr>
        </p:nvSpPr>
        <p:spPr>
          <a:xfrm>
            <a:off x="839789" y="2057400"/>
            <a:ext cx="3932401" cy="3811500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200"/>
            </a:lvl1pPr>
          </a:lstStyle>
          <a:p>
            <a:pPr marL="228600" indent="0">
              <a:buClrTx/>
              <a:buSzTx/>
              <a:buFontTx/>
              <a:buNone/>
              <a:defRPr sz="1200"/>
            </a:pPr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itle Text"/>
          <p:cNvSpPr txBox="1">
            <a:spLocks noGrp="1"/>
          </p:cNvSpPr>
          <p:nvPr>
            <p:ph type="title"/>
          </p:nvPr>
        </p:nvSpPr>
        <p:spPr>
          <a:xfrm>
            <a:off x="839789" y="457200"/>
            <a:ext cx="3932401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94" name="Google Shape;69;p85"/>
          <p:cNvSpPr>
            <a:spLocks noGrp="1"/>
          </p:cNvSpPr>
          <p:nvPr>
            <p:ph type="pic" sz="half" idx="13"/>
          </p:nvPr>
        </p:nvSpPr>
        <p:spPr>
          <a:xfrm>
            <a:off x="5183189" y="987426"/>
            <a:ext cx="6172401" cy="4873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9" y="2057400"/>
            <a:ext cx="3932401" cy="3811500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200"/>
            </a:lvl1pPr>
            <a:lvl2pPr marL="228600" indent="457200">
              <a:buClrTx/>
              <a:buSzTx/>
              <a:buFontTx/>
              <a:buNone/>
              <a:defRPr sz="1200"/>
            </a:lvl2pPr>
            <a:lvl3pPr marL="228600" indent="914400">
              <a:buClrTx/>
              <a:buSzTx/>
              <a:buFontTx/>
              <a:buNone/>
              <a:defRPr sz="1200"/>
            </a:lvl3pPr>
            <a:lvl4pPr marL="228600" indent="1371600">
              <a:buClrTx/>
              <a:buSzTx/>
              <a:buFontTx/>
              <a:buNone/>
              <a:defRPr sz="1200"/>
            </a:lvl4pPr>
            <a:lvl5pPr marL="228600" indent="1828800">
              <a:buClrTx/>
              <a:buSzTx/>
              <a:buFontTx/>
              <a:buNone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6"/>
            <a:ext cx="4351200" cy="10515601"/>
          </a:xfrm>
          <a:prstGeom prst="rect">
            <a:avLst/>
          </a:prstGeom>
        </p:spPr>
        <p:txBody>
          <a:bodyPr/>
          <a:lstStyle>
            <a:lvl1pPr indent="-342900"/>
            <a:lvl3pPr marL="1508760" indent="-480060"/>
            <a:lvl4pPr marL="2039815" indent="-553915"/>
            <a:lvl5pPr marL="2497015" indent="-553915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Text"/>
          <p:cNvSpPr txBox="1">
            <a:spLocks noGrp="1"/>
          </p:cNvSpPr>
          <p:nvPr>
            <p:ph type="title"/>
          </p:nvPr>
        </p:nvSpPr>
        <p:spPr>
          <a:xfrm rot="5400000">
            <a:off x="7133450" y="1956676"/>
            <a:ext cx="5811901" cy="26288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3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1"/>
          </a:xfrm>
          <a:prstGeom prst="rect">
            <a:avLst/>
          </a:prstGeom>
        </p:spPr>
        <p:txBody>
          <a:bodyPr/>
          <a:lstStyle>
            <a:lvl1pPr indent="-342900"/>
            <a:lvl3pPr marL="1508760" indent="-480060"/>
            <a:lvl4pPr marL="2039815" indent="-553915"/>
            <a:lvl5pPr marL="2497015" indent="-553915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87;p88" descr="Google Shape;87;p8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6868" y="5603083"/>
            <a:ext cx="3413763" cy="1828801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Google Shape;88;p88"/>
          <p:cNvSpPr/>
          <p:nvPr/>
        </p:nvSpPr>
        <p:spPr>
          <a:xfrm>
            <a:off x="-2" y="0"/>
            <a:ext cx="198003" cy="6858000"/>
          </a:xfrm>
          <a:prstGeom prst="rect">
            <a:avLst/>
          </a:prstGeom>
          <a:solidFill>
            <a:srgbClr val="2776B6"/>
          </a:solidFill>
          <a:ln w="12700">
            <a:solidFill>
              <a:srgbClr val="42719B"/>
            </a:solidFill>
            <a:miter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1800"/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10657" y="6240956"/>
            <a:ext cx="226943" cy="23079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90;p89" descr="Google Shape;90;p8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1800"/>
          </a:p>
        </p:txBody>
      </p:sp>
      <p:sp>
        <p:nvSpPr>
          <p:cNvPr id="132" name="Google Shape;92;p89"/>
          <p:cNvSpPr/>
          <p:nvPr/>
        </p:nvSpPr>
        <p:spPr>
          <a:xfrm>
            <a:off x="4851173" y="0"/>
            <a:ext cx="7340801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1800"/>
          </a:p>
        </p:txBody>
      </p:sp>
      <p:pic>
        <p:nvPicPr>
          <p:cNvPr id="133" name="Google Shape;93;p89" descr="Google Shape;93;p8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9639" y="5553347"/>
            <a:ext cx="3474725" cy="186146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10657" y="6240956"/>
            <a:ext cx="226943" cy="23079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95;p90" descr="Google Shape;95;p9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1800"/>
          </a:p>
        </p:txBody>
      </p:sp>
      <p:sp>
        <p:nvSpPr>
          <p:cNvPr id="143" name="Google Shape;97;p90"/>
          <p:cNvSpPr/>
          <p:nvPr/>
        </p:nvSpPr>
        <p:spPr>
          <a:xfrm>
            <a:off x="4851173" y="0"/>
            <a:ext cx="7340801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1800"/>
          </a:p>
        </p:txBody>
      </p:sp>
      <p:pic>
        <p:nvPicPr>
          <p:cNvPr id="144" name="Google Shape;98;p90" descr="Google Shape;98;p9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9639" y="5553347"/>
            <a:ext cx="3474725" cy="1861460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10657" y="6240956"/>
            <a:ext cx="226943" cy="23079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00;p91" descr="Google Shape;100;p9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1800"/>
          </a:p>
        </p:txBody>
      </p:sp>
      <p:sp>
        <p:nvSpPr>
          <p:cNvPr id="154" name="Google Shape;102;p91"/>
          <p:cNvSpPr/>
          <p:nvPr/>
        </p:nvSpPr>
        <p:spPr>
          <a:xfrm>
            <a:off x="4851173" y="0"/>
            <a:ext cx="7340801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1800"/>
          </a:p>
        </p:txBody>
      </p:sp>
      <p:pic>
        <p:nvPicPr>
          <p:cNvPr id="155" name="Google Shape;103;p91" descr="Google Shape;103;p9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9639" y="5553347"/>
            <a:ext cx="3474725" cy="1861460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10657" y="6240956"/>
            <a:ext cx="226943" cy="23079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05;p92" descr="Google Shape;105;p9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1800"/>
          </a:p>
        </p:txBody>
      </p:sp>
      <p:sp>
        <p:nvSpPr>
          <p:cNvPr id="165" name="Google Shape;107;p92"/>
          <p:cNvSpPr/>
          <p:nvPr/>
        </p:nvSpPr>
        <p:spPr>
          <a:xfrm>
            <a:off x="4851173" y="0"/>
            <a:ext cx="7340801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1800"/>
          </a:p>
        </p:txBody>
      </p:sp>
      <p:pic>
        <p:nvPicPr>
          <p:cNvPr id="166" name="Google Shape;108;p92" descr="Google Shape;108;p9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9639" y="5553347"/>
            <a:ext cx="3474725" cy="186146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10657" y="6240956"/>
            <a:ext cx="226943" cy="23079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5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126857" y="6423508"/>
            <a:ext cx="226943" cy="230790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61950" algn="l" defTabSz="91440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1550" marR="0" indent="-400050" algn="l" defTabSz="91440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01139" marR="0" indent="-453389" algn="l" defTabSz="91440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22230" marR="0" indent="-507755" algn="l" defTabSz="91440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9430" marR="0" indent="-507755" algn="l" defTabSz="91440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6630" marR="0" indent="-507755" algn="l" defTabSz="91440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3830" marR="0" indent="-507755" algn="l" defTabSz="91440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51030" marR="0" indent="-507755" algn="l" defTabSz="91440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8230" marR="0" indent="-507755" algn="l" defTabSz="91440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13;g104476d1465_0_0"/>
          <p:cNvSpPr txBox="1">
            <a:spLocks noGrp="1"/>
          </p:cNvSpPr>
          <p:nvPr>
            <p:ph type="title" idx="4294967295"/>
          </p:nvPr>
        </p:nvSpPr>
        <p:spPr>
          <a:xfrm>
            <a:off x="5742834" y="2054275"/>
            <a:ext cx="4925167" cy="3194456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 defTabSz="402336">
              <a:lnSpc>
                <a:spcPct val="100000"/>
              </a:lnSpc>
              <a:defRPr sz="22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sz="3800" dirty="0"/>
              <a:t>6th Grade Accelerated</a:t>
            </a:r>
            <a:r>
              <a:rPr lang="en-US" sz="3800" dirty="0"/>
              <a:t> Math</a:t>
            </a:r>
            <a:endParaRPr sz="3800" dirty="0"/>
          </a:p>
          <a:p>
            <a:pPr algn="ctr" defTabSz="402336">
              <a:lnSpc>
                <a:spcPct val="100000"/>
              </a:lnSpc>
              <a:defRPr sz="22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defRPr>
            </a:pPr>
            <a:endParaRPr sz="3800" dirty="0"/>
          </a:p>
          <a:p>
            <a:pPr algn="ctr" defTabSz="402336">
              <a:lnSpc>
                <a:spcPct val="100000"/>
              </a:lnSpc>
              <a:defRPr sz="22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sz="3800" dirty="0"/>
              <a:t>Unit 3, Lesson 7</a:t>
            </a:r>
            <a:br>
              <a:rPr sz="3800" dirty="0"/>
            </a:br>
            <a:br>
              <a:rPr sz="3800" dirty="0"/>
            </a:br>
            <a:r>
              <a:rPr sz="3800" dirty="0"/>
              <a:t>Absolute Value</a:t>
            </a:r>
            <a:br>
              <a:rPr sz="3800" dirty="0"/>
            </a:br>
            <a:br>
              <a:rPr sz="3800" dirty="0"/>
            </a:br>
            <a:r>
              <a:rPr sz="2800" dirty="0"/>
              <a:t>Volume 1, pg. 111</a:t>
            </a:r>
          </a:p>
          <a:p>
            <a:pPr algn="ctr" defTabSz="402336">
              <a:lnSpc>
                <a:spcPct val="100000"/>
              </a:lnSpc>
              <a:defRPr sz="2200"/>
            </a:pPr>
            <a:endParaRPr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7" name="Google Shape;114;g104476d1465_0_0"/>
          <p:cNvSpPr/>
          <p:nvPr/>
        </p:nvSpPr>
        <p:spPr>
          <a:xfrm>
            <a:off x="-1573225" y="3938167"/>
            <a:ext cx="1152601" cy="1"/>
          </a:xfrm>
          <a:prstGeom prst="line">
            <a:avLst/>
          </a:prstGeom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8" name="Google Shape;115;g104476d1465_0_0"/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179" name="Google Shape;116;g104476d1465_0_0" descr="Google Shape;116;g104476d1465_0_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39" y="1518525"/>
            <a:ext cx="3270827" cy="3812849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22;g104476d1465_1_17"/>
          <p:cNvSpPr/>
          <p:nvPr/>
        </p:nvSpPr>
        <p:spPr>
          <a:xfrm>
            <a:off x="0" y="-8348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82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11749" y="103637"/>
            <a:ext cx="7509900" cy="1325700"/>
          </a:xfrm>
          <a:prstGeom prst="rect">
            <a:avLst/>
          </a:prstGeom>
        </p:spPr>
        <p:txBody>
          <a:bodyPr/>
          <a:lstStyle>
            <a:lvl1pPr>
              <a:defRPr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dirty="0"/>
              <a:t>Benchmark</a:t>
            </a:r>
          </a:p>
        </p:txBody>
      </p:sp>
      <p:pic>
        <p:nvPicPr>
          <p:cNvPr id="183" name="Google Shape;124;g104476d1465_1_17" descr="Google Shape;124;g104476d1465_1_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0" y="339412"/>
            <a:ext cx="747301" cy="747301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  <p:sp>
        <p:nvSpPr>
          <p:cNvPr id="184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volume 1, pg. </a:t>
            </a:r>
            <a:r>
              <a:rPr dirty="0"/>
              <a:t>111</a:t>
            </a:r>
          </a:p>
        </p:txBody>
      </p:sp>
      <p:pic>
        <p:nvPicPr>
          <p:cNvPr id="185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  <p:sp>
        <p:nvSpPr>
          <p:cNvPr id="186" name="Google Shape;127;g104476d1465_1_17"/>
          <p:cNvSpPr txBox="1"/>
          <p:nvPr/>
        </p:nvSpPr>
        <p:spPr>
          <a:xfrm>
            <a:off x="1511749" y="1600200"/>
            <a:ext cx="8699051" cy="4205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pPr>
              <a:lnSpc>
                <a:spcPct val="90000"/>
              </a:lnSpc>
              <a:spcBef>
                <a:spcPts val="700"/>
              </a:spcBef>
              <a:defRPr sz="3500">
                <a:latin typeface="Verdana"/>
                <a:ea typeface="Verdana"/>
                <a:cs typeface="Verdana"/>
                <a:sym typeface="Verdana"/>
              </a:defRPr>
            </a:pPr>
            <a:r>
              <a:rPr sz="3500" dirty="0"/>
              <a:t>MA.6.NSO.1.3</a:t>
            </a:r>
          </a:p>
          <a:p>
            <a:pPr marL="466725">
              <a:lnSpc>
                <a:spcPct val="90000"/>
              </a:lnSpc>
              <a:spcBef>
                <a:spcPts val="700"/>
              </a:spcBef>
              <a:defRPr sz="3500">
                <a:latin typeface="Verdana"/>
                <a:ea typeface="Verdana"/>
                <a:cs typeface="Verdana"/>
                <a:sym typeface="Verdana"/>
              </a:defRPr>
            </a:pPr>
            <a:r>
              <a:rPr sz="3500" dirty="0"/>
              <a:t>Given a mathematical or real-world context, interpret the absolute value of a number as the distance from zero on a number line. Find the absolute value of rational numbers.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33;p1" descr="Google Shape;133;p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50" y="270091"/>
            <a:ext cx="747301" cy="747301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  <p:sp>
        <p:nvSpPr>
          <p:cNvPr id="190" name="Google Shape;135;p1"/>
          <p:cNvSpPr txBox="1"/>
          <p:nvPr/>
        </p:nvSpPr>
        <p:spPr>
          <a:xfrm>
            <a:off x="1385901" y="228665"/>
            <a:ext cx="8024425" cy="923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lnSpc>
                <a:spcPct val="90000"/>
              </a:lnSpc>
              <a:defRPr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dirty="0"/>
              <a:t>Integrated Mathematical Thinking and Reasoning Standards</a:t>
            </a:r>
          </a:p>
        </p:txBody>
      </p:sp>
      <p:sp>
        <p:nvSpPr>
          <p:cNvPr id="192" name="Google Shape;137;p1"/>
          <p:cNvSpPr txBox="1"/>
          <p:nvPr/>
        </p:nvSpPr>
        <p:spPr>
          <a:xfrm>
            <a:off x="1143000" y="1596390"/>
            <a:ext cx="9067800" cy="3970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>
              <a:defRPr sz="2600">
                <a:latin typeface="Verdana"/>
                <a:ea typeface="Verdana"/>
                <a:cs typeface="Verdana"/>
                <a:sym typeface="Verdana"/>
              </a:defRPr>
            </a:pPr>
            <a:r>
              <a:rPr sz="2800" dirty="0"/>
              <a:t>MA.K12.MTR.2.1 Demonstrate understanding by representing problems in multiple ways.</a:t>
            </a:r>
          </a:p>
          <a:p>
            <a:pPr indent="457200">
              <a:defRPr sz="2600"/>
            </a:pPr>
            <a:endParaRPr sz="28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defRPr sz="2600">
                <a:latin typeface="Verdana"/>
                <a:ea typeface="Verdana"/>
                <a:cs typeface="Verdana"/>
                <a:sym typeface="Verdana"/>
              </a:defRPr>
            </a:pPr>
            <a:r>
              <a:rPr sz="2800" dirty="0"/>
              <a:t>MA.K12.MTR.5.1 Use patterns and structure to help understand and connect mathematical concepts.</a:t>
            </a:r>
          </a:p>
          <a:p>
            <a:pPr>
              <a:defRPr sz="2600"/>
            </a:pPr>
            <a:endParaRPr sz="28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defRPr sz="2600">
                <a:latin typeface="Verdana"/>
                <a:ea typeface="Verdana"/>
                <a:cs typeface="Verdana"/>
                <a:sym typeface="Verdana"/>
              </a:defRPr>
            </a:pPr>
            <a:r>
              <a:rPr sz="2800" dirty="0"/>
              <a:t>MA.K12.MTR.7.1 Apply mathematics to real-world contexts.</a:t>
            </a:r>
          </a:p>
        </p:txBody>
      </p:sp>
      <p:sp>
        <p:nvSpPr>
          <p:cNvPr id="193" name="Google Shape;138;p1"/>
          <p:cNvSpPr/>
          <p:nvPr/>
        </p:nvSpPr>
        <p:spPr>
          <a:xfrm>
            <a:off x="0" y="-8348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volume 1, pg. </a:t>
            </a:r>
            <a:r>
              <a:rPr dirty="0"/>
              <a:t>111</a:t>
            </a:r>
          </a:p>
        </p:txBody>
      </p:sp>
      <p:pic>
        <p:nvPicPr>
          <p:cNvPr id="9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1" build="p" bldLvl="5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45;p2"/>
          <p:cNvSpPr txBox="1"/>
          <p:nvPr/>
        </p:nvSpPr>
        <p:spPr>
          <a:xfrm>
            <a:off x="1469417" y="300297"/>
            <a:ext cx="7958402" cy="74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lnSpc>
                <a:spcPct val="90000"/>
              </a:lnSpc>
              <a:defRPr sz="4700" b="1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t>Learning Targets</a:t>
            </a:r>
          </a:p>
        </p:txBody>
      </p:sp>
      <p:pic>
        <p:nvPicPr>
          <p:cNvPr id="197" name="Google Shape;146;p2" descr="Google Shape;146;p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56" y="298266"/>
            <a:ext cx="747301" cy="747300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199" name="Google Shape;148;p2"/>
          <p:cNvSpPr txBox="1"/>
          <p:nvPr/>
        </p:nvSpPr>
        <p:spPr>
          <a:xfrm>
            <a:off x="1469417" y="1600201"/>
            <a:ext cx="9253166" cy="3000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marL="466725" indent="-466725" defTabSz="457200">
              <a:lnSpc>
                <a:spcPct val="107916"/>
              </a:lnSpc>
              <a:buSzPct val="100000"/>
              <a:buFont typeface="Wingdings" pitchFamily="2" charset="2"/>
              <a:buChar char="q"/>
              <a:defRPr sz="1800">
                <a:latin typeface="Verdana"/>
                <a:ea typeface="Verdana"/>
                <a:cs typeface="Verdana"/>
                <a:sym typeface="Verdana"/>
              </a:defRPr>
            </a:pPr>
            <a:r>
              <a:rPr sz="3500" dirty="0"/>
              <a:t>I can find the absolute value of a rational number. </a:t>
            </a:r>
          </a:p>
          <a:p>
            <a:pPr marL="466725" indent="-466725" defTabSz="457200">
              <a:lnSpc>
                <a:spcPct val="107916"/>
              </a:lnSpc>
              <a:buSzPct val="100000"/>
              <a:buFont typeface="Wingdings" pitchFamily="2" charset="2"/>
              <a:buChar char="q"/>
              <a:defRPr sz="1800">
                <a:latin typeface="Verdana"/>
                <a:ea typeface="Verdana"/>
                <a:cs typeface="Verdana"/>
                <a:sym typeface="Verdana"/>
              </a:defRPr>
            </a:pPr>
            <a:r>
              <a:rPr sz="3500" dirty="0"/>
              <a:t>I can find the absolute value of a value and interpret it within the context.</a:t>
            </a:r>
          </a:p>
        </p:txBody>
      </p:sp>
      <p:sp>
        <p:nvSpPr>
          <p:cNvPr id="200" name="Google Shape;149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volume 1, pg. </a:t>
            </a:r>
            <a:r>
              <a:rPr dirty="0"/>
              <a:t>111</a:t>
            </a:r>
          </a:p>
        </p:txBody>
      </p:sp>
      <p:pic>
        <p:nvPicPr>
          <p:cNvPr id="9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1" build="p" bldLvl="5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155;g104476d1465_1_39"/>
          <p:cNvSpPr/>
          <p:nvPr/>
        </p:nvSpPr>
        <p:spPr>
          <a:xfrm>
            <a:off x="0" y="-8473"/>
            <a:ext cx="2731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204" name="Google Shape;157;g104476d1465_1_39" descr="Google Shape;157;g104476d1465_1_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49" y="2879326"/>
            <a:ext cx="1031752" cy="1031751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205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1" cy="1325701"/>
          </a:xfrm>
          <a:prstGeom prst="rect">
            <a:avLst/>
          </a:prstGeom>
        </p:spPr>
        <p:txBody>
          <a:bodyPr/>
          <a:lstStyle>
            <a:lvl1pPr algn="ctr">
              <a:defRPr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dirty="0"/>
              <a:t>Warm-Up</a:t>
            </a: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volume 1, pg. </a:t>
            </a:r>
            <a:r>
              <a:rPr dirty="0"/>
              <a:t>111</a:t>
            </a:r>
          </a:p>
        </p:txBody>
      </p:sp>
      <p:pic>
        <p:nvPicPr>
          <p:cNvPr id="8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166;p4"/>
          <p:cNvSpPr txBox="1"/>
          <p:nvPr/>
        </p:nvSpPr>
        <p:spPr>
          <a:xfrm>
            <a:off x="1348764" y="292800"/>
            <a:ext cx="9672149" cy="590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9" tIns="45699" rIns="45699" bIns="45699" anchor="ctr">
            <a:spAutoFit/>
          </a:bodyPr>
          <a:lstStyle>
            <a:lvl1pPr>
              <a:lnSpc>
                <a:spcPct val="90000"/>
              </a:lnSpc>
              <a:defRPr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t>3.7.1 Warm-Up: Would You Rather?</a:t>
            </a:r>
          </a:p>
        </p:txBody>
      </p:sp>
      <p:pic>
        <p:nvPicPr>
          <p:cNvPr id="210" name="Google Shape;167;p4" descr="Google Shape;167;p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63" y="214953"/>
            <a:ext cx="747301" cy="747300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212" name="Google Shape;169;p4"/>
          <p:cNvSpPr txBox="1"/>
          <p:nvPr/>
        </p:nvSpPr>
        <p:spPr>
          <a:xfrm>
            <a:off x="1231900" y="1386025"/>
            <a:ext cx="9984232" cy="39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9" tIns="45699" rIns="45699" bIns="45699">
            <a:spAutoFit/>
          </a:bodyPr>
          <a:lstStyle>
            <a:lvl1pPr defTabSz="457200">
              <a:lnSpc>
                <a:spcPct val="107916"/>
              </a:lnSpc>
              <a:buSzPct val="100000"/>
              <a:buFont typeface="Verdana"/>
              <a:buAutoNum type="arabicPeriod"/>
              <a:defRPr sz="18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marL="466725" indent="-466725"/>
            <a:r>
              <a:rPr dirty="0"/>
              <a:t>Would you rather have Pile A or Pile B? Justify your reasoning. </a:t>
            </a:r>
          </a:p>
        </p:txBody>
      </p:sp>
      <p:sp>
        <p:nvSpPr>
          <p:cNvPr id="213" name="Google Shape;170;p4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214" name="penny.png" descr="pen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811" y="2336451"/>
            <a:ext cx="2840264" cy="212000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0C73D4-0DA2-E445-B8F2-347E816FB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236281"/>
              </p:ext>
            </p:extLst>
          </p:nvPr>
        </p:nvGraphicFramePr>
        <p:xfrm>
          <a:off x="6224016" y="2336449"/>
          <a:ext cx="3262968" cy="212000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31146">
                  <a:extLst>
                    <a:ext uri="{9D8B030D-6E8A-4147-A177-3AD203B41FA5}">
                      <a16:colId xmlns:a16="http://schemas.microsoft.com/office/drawing/2014/main" val="3289253088"/>
                    </a:ext>
                  </a:extLst>
                </a:gridCol>
                <a:gridCol w="1631822">
                  <a:extLst>
                    <a:ext uri="{9D8B030D-6E8A-4147-A177-3AD203B41FA5}">
                      <a16:colId xmlns:a16="http://schemas.microsoft.com/office/drawing/2014/main" val="1874390494"/>
                    </a:ext>
                  </a:extLst>
                </a:gridCol>
              </a:tblGrid>
              <a:tr h="4204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Pile A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Pile B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315121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14 pennies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 pennies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7321225"/>
                  </a:ext>
                </a:extLst>
              </a:tr>
              <a:tr h="4380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 nickels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 nickels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2393686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 dimes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 dimes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6245263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 quarter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 quarters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32154787"/>
                  </a:ext>
                </a:extLst>
              </a:tr>
            </a:tbl>
          </a:graphicData>
        </a:graphic>
      </p:graphicFrame>
      <p:sp>
        <p:nvSpPr>
          <p:cNvPr id="10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volume 1, pg. </a:t>
            </a:r>
            <a:r>
              <a:rPr dirty="0"/>
              <a:t>111</a:t>
            </a:r>
          </a:p>
        </p:txBody>
      </p:sp>
      <p:pic>
        <p:nvPicPr>
          <p:cNvPr id="11" name="Google Shape;126;g104476d1465_1_17" descr="Google Shape;126;g104476d1465_1_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5;p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19" name="Google Shape;217;p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1" cy="132570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9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sz="5000" dirty="0"/>
              <a:t>Exploration</a:t>
            </a:r>
          </a:p>
        </p:txBody>
      </p:sp>
      <p:pic>
        <p:nvPicPr>
          <p:cNvPr id="221" name="Google Shape;219;p9" descr="Google Shape;219;p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951" y="2814305"/>
            <a:ext cx="1156229" cy="1156229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11</a:t>
            </a:r>
            <a:r>
              <a:rPr lang="en-US" dirty="0"/>
              <a:t>2</a:t>
            </a:r>
            <a:endParaRPr dirty="0"/>
          </a:p>
        </p:txBody>
      </p:sp>
      <p:pic>
        <p:nvPicPr>
          <p:cNvPr id="8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6;p10"/>
          <p:cNvSpPr txBox="1"/>
          <p:nvPr/>
        </p:nvSpPr>
        <p:spPr>
          <a:xfrm>
            <a:off x="1373547" y="368949"/>
            <a:ext cx="8866626" cy="590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9" tIns="45699" rIns="45699" bIns="45699" anchor="ctr">
            <a:spAutoFit/>
          </a:bodyPr>
          <a:lstStyle>
            <a:lvl1pPr>
              <a:lnSpc>
                <a:spcPct val="90000"/>
              </a:lnSpc>
              <a:defRPr sz="36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t>3.7.2 Exploration: Jumping Bugs</a:t>
            </a:r>
          </a:p>
        </p:txBody>
      </p:sp>
      <p:pic>
        <p:nvPicPr>
          <p:cNvPr id="226" name="Google Shape;228;p10" descr="Google Shape;228;p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48" y="249667"/>
            <a:ext cx="752255" cy="752255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Google Shape;229;p10"/>
              <p:cNvSpPr txBox="1"/>
              <p:nvPr/>
            </p:nvSpPr>
            <p:spPr>
              <a:xfrm>
                <a:off x="889000" y="1386025"/>
                <a:ext cx="10670032" cy="452427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/>
              <a:p>
                <a: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sz="2400" dirty="0"/>
                  <a:t>A bug is jumping around on the number line. His home is located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dirty="0"/>
                  <a:t>. Use a cut out of the bug to answer the following questions about the bug’s location.</a:t>
                </a:r>
              </a:p>
              <a:p>
                <a: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400" dirty="0"/>
              </a:p>
              <a:p>
                <a: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sz="2400" dirty="0"/>
              </a:p>
              <a:p>
                <a: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sz="2400" dirty="0"/>
              </a:p>
              <a:p>
                <a: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sz="2400" dirty="0"/>
              </a:p>
              <a:p>
                <a:pPr marL="457200" indent="-457200">
                  <a:buSzPct val="100000"/>
                  <a:buFont typeface="+mj-lt"/>
                  <a:buAutoNum type="arabi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sz="2400" dirty="0"/>
                  <a:t>The bug starts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dirty="0"/>
                  <a:t> and jumps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dirty="0"/>
                  <a:t> units to the right.</a:t>
                </a:r>
                <a:endParaRPr lang="en-US" sz="2400" dirty="0"/>
              </a:p>
              <a:p>
                <a:pPr marL="922338" indent="-455613">
                  <a:buSzPct val="100000"/>
                  <a:buFont typeface="+mj-lt"/>
                  <a:buAutoNum type="alphaL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sz="2400" dirty="0"/>
                  <a:t>What is the bug’s new location?</a:t>
                </a:r>
                <a:endParaRPr lang="en-US" sz="2400" dirty="0"/>
              </a:p>
              <a:p>
                <a:pPr marL="922338" indent="-455613">
                  <a:buSzPct val="100000"/>
                  <a:buFont typeface="+mj-lt"/>
                  <a:buAutoNum type="alphaL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400" dirty="0"/>
              </a:p>
              <a:p>
                <a:pPr marL="922338" indent="-455613">
                  <a:buSzPct val="100000"/>
                  <a:buFont typeface="+mj-lt"/>
                  <a:buAutoNum type="alphaL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400" dirty="0"/>
              </a:p>
              <a:p>
                <a:pPr marL="922338" indent="-455613">
                  <a:buSzPct val="100000"/>
                  <a:buFont typeface="+mj-lt"/>
                  <a:buAutoNum type="alphaL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sz="2400" dirty="0"/>
                  <a:t>How far away from home is the bug?</a:t>
                </a:r>
              </a:p>
            </p:txBody>
          </p:sp>
        </mc:Choice>
        <mc:Fallback xmlns="">
          <p:sp>
            <p:nvSpPr>
              <p:cNvPr id="227" name="Google Shape;229;p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" y="1386025"/>
                <a:ext cx="10670032" cy="4524273"/>
              </a:xfrm>
              <a:prstGeom prst="rect">
                <a:avLst/>
              </a:prstGeom>
              <a:blipFill rotWithShape="0">
                <a:blip r:embed="rId3"/>
                <a:stretch>
                  <a:fillRect l="-1314" t="-1077" r="-1143" b="-201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" name="Google Shape;230;p1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229" name="Screen Shot 2022-02-15 at 11.44.56 AM.png" descr="Screen Shot 2022-02-15 at 11.44.56 AM.png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302"/>
          <a:stretch/>
        </p:blipFill>
        <p:spPr>
          <a:xfrm>
            <a:off x="2139678" y="2906486"/>
            <a:ext cx="7896882" cy="951539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11</a:t>
            </a:r>
            <a:r>
              <a:rPr lang="en-US" dirty="0"/>
              <a:t>2</a:t>
            </a:r>
            <a:endParaRPr dirty="0"/>
          </a:p>
        </p:txBody>
      </p:sp>
      <p:pic>
        <p:nvPicPr>
          <p:cNvPr id="10" name="Google Shape;126;g104476d1465_1_17" descr="Google Shape;126;g104476d1465_1_1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Google Shape;238;p11"/>
              <p:cNvSpPr txBox="1"/>
              <p:nvPr/>
            </p:nvSpPr>
            <p:spPr>
              <a:xfrm>
                <a:off x="1016000" y="374090"/>
                <a:ext cx="10310666" cy="341627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lang="en-US" sz="2400" dirty="0"/>
                  <a:t> </a:t>
                </a:r>
                <a:endParaRPr sz="2400" dirty="0"/>
              </a:p>
              <a:p>
                <a:pPr marL="922338" indent="-455613">
                  <a:buSzPct val="100000"/>
                  <a:buFont typeface="+mj-lt"/>
                  <a:buAutoNum type="alphaL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sz="2400" dirty="0"/>
                  <a:t>If the bug starts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dirty="0"/>
                  <a:t> and jumps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dirty="0"/>
                  <a:t> units to the left, what is the bug’s new location?</a:t>
                </a:r>
                <a:endParaRPr lang="en-US" sz="2400" dirty="0"/>
              </a:p>
              <a:p>
                <a:pPr marL="922338" indent="-455613">
                  <a:buSzPct val="100000"/>
                  <a:buFont typeface="+mj-lt"/>
                  <a:buAutoNum type="alphaL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400" dirty="0"/>
              </a:p>
              <a:p>
                <a:pPr marL="922338" indent="-455613">
                  <a:buSzPct val="100000"/>
                  <a:buFont typeface="+mj-lt"/>
                  <a:buAutoNum type="alphaL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400" dirty="0"/>
              </a:p>
              <a:p>
                <a:pPr marL="922338" indent="-455613">
                  <a:buSzPct val="100000"/>
                  <a:buFont typeface="+mj-lt"/>
                  <a:buAutoNum type="alphaL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400" dirty="0"/>
              </a:p>
              <a:p>
                <a:pPr marL="922338" indent="-455613">
                  <a:buSzPct val="100000"/>
                  <a:buFont typeface="+mj-lt"/>
                  <a:buAutoNum type="alphaL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400" dirty="0"/>
              </a:p>
              <a:p>
                <a:pPr marL="922338" indent="-455613">
                  <a:buSzPct val="100000"/>
                  <a:buFont typeface="+mj-lt"/>
                  <a:buAutoNum type="alphaL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sz="2400" dirty="0"/>
                  <a:t>How far away from home is the bug?</a:t>
                </a:r>
              </a:p>
              <a:p>
                <a: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sz="2400" dirty="0"/>
              </a:p>
            </p:txBody>
          </p:sp>
        </mc:Choice>
        <mc:Fallback xmlns="">
          <p:sp>
            <p:nvSpPr>
              <p:cNvPr id="233" name="Google Shape;238;p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74090"/>
                <a:ext cx="10310666" cy="3416277"/>
              </a:xfrm>
              <a:prstGeom prst="rect">
                <a:avLst/>
              </a:prstGeom>
              <a:blipFill rotWithShape="0">
                <a:blip r:embed="rId2"/>
                <a:stretch>
                  <a:fillRect l="-1360" t="-142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Google Shape;239;p11"/>
          <p:cNvSpPr/>
          <p:nvPr/>
        </p:nvSpPr>
        <p:spPr>
          <a:xfrm>
            <a:off x="0" y="-8473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11</a:t>
            </a:r>
            <a:r>
              <a:rPr lang="en-US" dirty="0"/>
              <a:t>2</a:t>
            </a:r>
            <a:endParaRPr dirty="0"/>
          </a:p>
        </p:txBody>
      </p:sp>
      <p:pic>
        <p:nvPicPr>
          <p:cNvPr id="7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Google Shape;238;p11"/>
              <p:cNvSpPr txBox="1"/>
              <p:nvPr/>
            </p:nvSpPr>
            <p:spPr>
              <a:xfrm>
                <a:off x="889000" y="374090"/>
                <a:ext cx="10564666" cy="230828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>
                <a:lvl1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marL="457200" indent="-457200">
                  <a:buFont typeface="+mj-lt"/>
                  <a:buAutoNum type="arabicPeriod" startAt="3"/>
                </a:pPr>
                <a:r>
                  <a:rPr dirty="0"/>
                  <a:t>Mr. Rodriguez told his class to begin with the bug at home. Then the bug should jump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dirty="0"/>
                  <a:t> units. When Micah and Brianna did this, they discovered that their bugs were in two different locations. Discuss with your partner how this may have happened. Write your explanation or draw a picture of what could have happened.</a:t>
                </a:r>
              </a:p>
            </p:txBody>
          </p:sp>
        </mc:Choice>
        <mc:Fallback xmlns="">
          <p:sp>
            <p:nvSpPr>
              <p:cNvPr id="238" name="Google Shape;238;p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" y="374090"/>
                <a:ext cx="10564666" cy="2308282"/>
              </a:xfrm>
              <a:prstGeom prst="rect">
                <a:avLst/>
              </a:prstGeom>
              <a:blipFill rotWithShape="0">
                <a:blip r:embed="rId2"/>
                <a:stretch>
                  <a:fillRect l="-1327" t="-2111" r="-1962" b="-501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Google Shape;239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11</a:t>
            </a:r>
            <a:r>
              <a:rPr lang="en-US" dirty="0"/>
              <a:t>2</a:t>
            </a:r>
            <a:endParaRPr dirty="0"/>
          </a:p>
        </p:txBody>
      </p:sp>
      <p:pic>
        <p:nvPicPr>
          <p:cNvPr id="7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305;p18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43" name="Google Shape;307;p18"/>
          <p:cNvSpPr txBox="1">
            <a:spLocks noGrp="1"/>
          </p:cNvSpPr>
          <p:nvPr>
            <p:ph type="title" idx="4294967295"/>
          </p:nvPr>
        </p:nvSpPr>
        <p:spPr>
          <a:xfrm>
            <a:off x="5664866" y="2766145"/>
            <a:ext cx="4480752" cy="1325701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786384">
              <a:defRPr sz="4214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sz="5000" dirty="0"/>
              <a:t>Guided Instruction</a:t>
            </a:r>
          </a:p>
        </p:txBody>
      </p:sp>
      <p:pic>
        <p:nvPicPr>
          <p:cNvPr id="244" name="Google Shape;308;p18" descr="Google Shape;308;p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075" y="2849921"/>
            <a:ext cx="1145793" cy="1158151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11</a:t>
            </a:r>
            <a:r>
              <a:rPr lang="en-US" dirty="0"/>
              <a:t>3</a:t>
            </a:r>
            <a:endParaRPr dirty="0"/>
          </a:p>
        </p:txBody>
      </p:sp>
      <p:pic>
        <p:nvPicPr>
          <p:cNvPr id="8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316;p19"/>
          <p:cNvSpPr txBox="1"/>
          <p:nvPr/>
        </p:nvSpPr>
        <p:spPr>
          <a:xfrm>
            <a:off x="1237151" y="66736"/>
            <a:ext cx="8019299" cy="1089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lnSpc>
                <a:spcPct val="90000"/>
              </a:lnSpc>
              <a:defRPr sz="36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t>3.7.3 Guided Instruction: Absolute Value and Zero</a:t>
            </a:r>
          </a:p>
        </p:txBody>
      </p:sp>
      <p:pic>
        <p:nvPicPr>
          <p:cNvPr id="249" name="Google Shape;317;p19" descr="Google Shape;317;p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50" y="155892"/>
            <a:ext cx="747301" cy="747300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251" name="Google Shape;319;p19"/>
          <p:cNvSpPr txBox="1"/>
          <p:nvPr/>
        </p:nvSpPr>
        <p:spPr>
          <a:xfrm>
            <a:off x="952500" y="1386025"/>
            <a:ext cx="10543032" cy="2862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>
              <a:defRPr sz="2400">
                <a:latin typeface="Verdana"/>
                <a:ea typeface="Verdana"/>
                <a:cs typeface="Verdana"/>
                <a:sym typeface="Verdana"/>
              </a:defRPr>
            </a:pPr>
            <a:r>
              <a:rPr sz="2400" dirty="0"/>
              <a:t>Recall how opposite numbers relate to zero. Complete the explanation below by writing a word in each blank.</a:t>
            </a:r>
          </a:p>
          <a:p>
            <a:pPr>
              <a:defRPr sz="2400">
                <a:latin typeface="Verdana"/>
                <a:ea typeface="Verdana"/>
                <a:cs typeface="Verdana"/>
                <a:sym typeface="Verdana"/>
              </a:defRPr>
            </a:pPr>
            <a:endParaRPr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400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400" dirty="0"/>
              <a:t>Pairs of opposite values are the same ______________ from zero on the number line. They are mirror images of each other, with a line of symmetry through __________. </a:t>
            </a:r>
          </a:p>
        </p:txBody>
      </p:sp>
      <p:sp>
        <p:nvSpPr>
          <p:cNvPr id="252" name="Google Shape;320;p19"/>
          <p:cNvSpPr/>
          <p:nvPr/>
        </p:nvSpPr>
        <p:spPr>
          <a:xfrm>
            <a:off x="-9907" y="-8473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54" name="Absolute value is the distance a number is from…"/>
          <p:cNvSpPr txBox="1"/>
          <p:nvPr/>
        </p:nvSpPr>
        <p:spPr>
          <a:xfrm>
            <a:off x="2994729" y="5127055"/>
            <a:ext cx="581569" cy="299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marL="575944" defTabSz="457200">
              <a:lnSpc>
                <a:spcPct val="107916"/>
              </a:lnSpc>
              <a:defRPr sz="1800">
                <a:solidFill>
                  <a:srgbClr val="7EA74C"/>
                </a:solidFill>
                <a:latin typeface="Verdana"/>
                <a:ea typeface="Verdana"/>
                <a:cs typeface="Verdana"/>
                <a:sym typeface="Verdana"/>
              </a:defRPr>
            </a:pPr>
            <a:endParaRPr sz="18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2414E4-EADE-9944-9E57-30C746654C0B}"/>
              </a:ext>
            </a:extLst>
          </p:cNvPr>
          <p:cNvGrpSpPr/>
          <p:nvPr/>
        </p:nvGrpSpPr>
        <p:grpSpPr>
          <a:xfrm>
            <a:off x="2687320" y="4731138"/>
            <a:ext cx="6817360" cy="1433588"/>
            <a:chOff x="0" y="-532139"/>
            <a:chExt cx="6817975" cy="14338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C24C0F-3117-2E49-93EA-5FE5F054B6B7}"/>
                </a:ext>
              </a:extLst>
            </p:cNvPr>
            <p:cNvSpPr/>
            <p:nvPr/>
          </p:nvSpPr>
          <p:spPr>
            <a:xfrm>
              <a:off x="0" y="0"/>
              <a:ext cx="6817975" cy="9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100">
                  <a:solidFill>
                    <a:srgbClr val="6C993C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en-US" sz="110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A531EA04-A872-2D40-A464-178AE4B514E5}"/>
                    </a:ext>
                  </a:extLst>
                </p:cNvPr>
                <p:cNvSpPr/>
                <p:nvPr/>
              </p:nvSpPr>
              <p:spPr>
                <a:xfrm>
                  <a:off x="0" y="-532139"/>
                  <a:ext cx="6629400" cy="96473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3EFD5"/>
                </a:solidFill>
                <a:ln w="12700" cap="flat" cmpd="sng">
                  <a:solidFill>
                    <a:srgbClr val="E3EFD5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575945">
                    <a:lnSpc>
                      <a:spcPct val="107000"/>
                    </a:lnSpc>
                  </a:pPr>
                  <a:r>
                    <a:rPr lang="en-US" sz="1800" b="1" i="1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Absolute value</a:t>
                  </a:r>
                  <a:r>
                    <a:rPr lang="en-US" sz="1800" b="1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800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is the distance a number is from zero (</a:t>
                  </a:r>
                  <a14:m>
                    <m:oMath xmlns:m="http://schemas.openxmlformats.org/officeDocument/2006/math">
                      <m:r>
                        <a:rPr lang="en-US" sz="1800" i="1">
                          <a:solidFill>
                            <a:srgbClr val="6C993C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a14:m>
                  <a:r>
                    <a:rPr lang="en-US" sz="1800" dirty="0">
                      <a:solidFill>
                        <a:srgbClr val="6C993C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) on a number line.</a:t>
                  </a:r>
                  <a:endParaRPr lang="en-US" sz="1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A531EA04-A872-2D40-A464-178AE4B514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532139"/>
                  <a:ext cx="6629400" cy="964734"/>
                </a:xfrm>
                <a:prstGeom prst="roundRect">
                  <a:avLst>
                    <a:gd name="adj" fmla="val 16667"/>
                  </a:avLst>
                </a:prstGeom>
                <a:blipFill rotWithShape="0">
                  <a:blip r:embed="rId3"/>
                  <a:stretch>
                    <a:fillRect r="-275"/>
                  </a:stretch>
                </a:blipFill>
                <a:ln w="12700" cap="flat" cmpd="sng">
                  <a:solidFill>
                    <a:srgbClr val="E3EFD5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Shape 7" descr="Icon&#10;&#10;Description automatically generated">
            <a:extLst>
              <a:ext uri="{FF2B5EF4-FFF2-40B4-BE49-F238E27FC236}">
                <a16:creationId xmlns:a16="http://schemas.microsoft.com/office/drawing/2014/main" id="{5EB57EA0-99C0-174A-AEE6-5CFEEFF3CC30}"/>
              </a:ext>
            </a:extLst>
          </p:cNvPr>
          <p:cNvPicPr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06171" y="4943545"/>
            <a:ext cx="539750" cy="5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</a:t>
            </a:r>
            <a:r>
              <a:t>11</a:t>
            </a:r>
            <a:r>
              <a:rPr lang="en-US" dirty="0"/>
              <a:t>3</a:t>
            </a:r>
            <a:endParaRPr dirty="0"/>
          </a:p>
        </p:txBody>
      </p:sp>
      <p:pic>
        <p:nvPicPr>
          <p:cNvPr id="16" name="Google Shape;126;g104476d1465_1_17" descr="Google Shape;126;g104476d1465_1_1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Google Shape;328;p20"/>
              <p:cNvSpPr txBox="1"/>
              <p:nvPr/>
            </p:nvSpPr>
            <p:spPr>
              <a:xfrm>
                <a:off x="1117600" y="288746"/>
                <a:ext cx="9956800" cy="637792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/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sz="2000" dirty="0"/>
                  <a:t>The absolute value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 dirty="0"/>
                  <a:t> is ______ because it is  units from  on the</a:t>
                </a:r>
                <a:br>
                  <a:rPr sz="2000" dirty="0"/>
                </a:br>
                <a:r>
                  <a:rPr sz="2000" dirty="0"/>
                  <a:t>number line. </a:t>
                </a: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sz="2000" dirty="0"/>
                  <a:t>The absolute value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sz="2000" dirty="0"/>
                  <a:t> is ______ because it is  units from on the number line.</a:t>
                </a: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0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 startAt="2"/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sz="2000" dirty="0"/>
                  <a:t>The values  and  are opposites. Each value is  units from zero. A number and its opposite have the same ________________________.</a:t>
                </a:r>
              </a:p>
              <a:p>
                <a:pPr marL="457200" indent="-457200" defTabSz="457200">
                  <a:lnSpc>
                    <a:spcPct val="107916"/>
                  </a:lnSpc>
                  <a:defRPr sz="18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sz="2000" dirty="0"/>
              </a:p>
            </p:txBody>
          </p:sp>
        </mc:Choice>
        <mc:Fallback xmlns="">
          <p:sp>
            <p:nvSpPr>
              <p:cNvPr id="259" name="Google Shape;328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600" y="288746"/>
                <a:ext cx="9956800" cy="6377922"/>
              </a:xfrm>
              <a:prstGeom prst="rect">
                <a:avLst/>
              </a:prstGeom>
              <a:blipFill rotWithShape="0">
                <a:blip r:embed="rId2"/>
                <a:stretch>
                  <a:fillRect l="-1102" t="-573" r="-97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0" name="Google Shape;329;p20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261" name="lin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22550" y="1358899"/>
            <a:ext cx="6946900" cy="9491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Screen Shot 2022-02-15 at 12.01.50 PM.png" descr="Screen Shot 2022-02-15 at 12.01.50 PM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9008" y="1021878"/>
            <a:ext cx="1537668" cy="71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Screen Shot 2022-02-15 at 12.02.51 PM.png" descr="Screen Shot 2022-02-15 at 12.02.51 PM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1480" y="777258"/>
            <a:ext cx="232725" cy="295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line.png" descr="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2550" y="3908288"/>
            <a:ext cx="6946900" cy="889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Screen Shot 2022-02-15 at 12.01.50 PM.png" descr="Screen Shot 2022-02-15 at 12.01.50 PM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0908" y="3574578"/>
            <a:ext cx="1537668" cy="71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Screen Shot 2022-02-15 at 12.02.51 PM.png" descr="Screen Shot 2022-02-15 at 12.02.51 PM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3380" y="3369954"/>
            <a:ext cx="232725" cy="295892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</a:t>
            </a:r>
            <a:r>
              <a:t>11</a:t>
            </a:r>
            <a:r>
              <a:rPr lang="en-US" dirty="0"/>
              <a:t>3</a:t>
            </a:r>
            <a:endParaRPr dirty="0"/>
          </a:p>
        </p:txBody>
      </p:sp>
      <p:pic>
        <p:nvPicPr>
          <p:cNvPr id="13" name="Google Shape;126;g104476d1465_1_17" descr="Google Shape;126;g104476d1465_1_17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335;p21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70" name="Google Shape;337;p21"/>
          <p:cNvSpPr txBox="1">
            <a:spLocks noGrp="1"/>
          </p:cNvSpPr>
          <p:nvPr>
            <p:ph type="title" idx="4294967295"/>
          </p:nvPr>
        </p:nvSpPr>
        <p:spPr>
          <a:xfrm>
            <a:off x="5225954" y="2766145"/>
            <a:ext cx="4480752" cy="1325701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786384">
              <a:defRPr sz="4214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sz="5000" dirty="0"/>
              <a:t>Guided Practice</a:t>
            </a:r>
          </a:p>
        </p:txBody>
      </p:sp>
      <p:pic>
        <p:nvPicPr>
          <p:cNvPr id="272" name="Google Shape;339;p21" descr="Google Shape;339;p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722" y="2852923"/>
            <a:ext cx="1152146" cy="1152145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</a:t>
            </a:r>
            <a:r>
              <a:t>11</a:t>
            </a:r>
            <a:r>
              <a:rPr lang="en-US" dirty="0"/>
              <a:t>3</a:t>
            </a:r>
            <a:endParaRPr dirty="0"/>
          </a:p>
        </p:txBody>
      </p:sp>
      <p:pic>
        <p:nvPicPr>
          <p:cNvPr id="8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346;p22"/>
          <p:cNvSpPr txBox="1"/>
          <p:nvPr/>
        </p:nvSpPr>
        <p:spPr>
          <a:xfrm>
            <a:off x="1313351" y="164854"/>
            <a:ext cx="8019299" cy="1089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lnSpc>
                <a:spcPct val="90000"/>
              </a:lnSpc>
              <a:defRPr sz="36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dirty="0"/>
              <a:t>3.7.4 Guided Practice: Absolute Value and Zero</a:t>
            </a:r>
          </a:p>
        </p:txBody>
      </p:sp>
      <p:pic>
        <p:nvPicPr>
          <p:cNvPr id="277" name="Google Shape;348;p22" descr="Google Shape;348;p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543" y="212774"/>
            <a:ext cx="749809" cy="749809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Google Shape;349;p22"/>
              <p:cNvSpPr txBox="1"/>
              <p:nvPr/>
            </p:nvSpPr>
            <p:spPr>
              <a:xfrm>
                <a:off x="1313351" y="1386025"/>
                <a:ext cx="9821330" cy="371918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/>
              <a:p>
                <a:pPr defTabSz="457200">
                  <a:lnSpc>
                    <a:spcPct val="107916"/>
                  </a:lnSpc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lang="en-US" sz="2400" dirty="0"/>
                  <a:t>Absolute value is represented using the notation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/>
                  <a:t>. The notation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r>
                  <a:rPr lang="en-US" sz="2400" dirty="0"/>
                  <a:t>is read, “the absolute value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.”</a:t>
                </a:r>
              </a:p>
              <a:p>
                <a:pPr defTabSz="457200">
                  <a:lnSpc>
                    <a:spcPct val="107916"/>
                  </a:lnSpc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400" dirty="0"/>
              </a:p>
              <a:p>
                <a:pPr marL="457200" indent="-457200" defTabSz="457200">
                  <a:lnSpc>
                    <a:spcPct val="107916"/>
                  </a:lnSpc>
                  <a:buFont typeface="+mj-lt"/>
                  <a:buAutoNum type="arabi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lang="en-US" sz="2400" dirty="0"/>
                  <a:t> </a:t>
                </a:r>
              </a:p>
              <a:p>
                <a:pPr marL="922338" indent="-455613">
                  <a:lnSpc>
                    <a:spcPct val="150000"/>
                  </a:lnSpc>
                  <a:buSzPct val="100000"/>
                  <a:buFont typeface="+mj-lt"/>
                  <a:buAutoNum type="alphaL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lang="en-US" sz="2400" dirty="0"/>
                  <a:t>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|−8|</m:t>
                    </m:r>
                  </m:oMath>
                </a14:m>
                <a:r>
                  <a:rPr lang="en-US" sz="2400" dirty="0"/>
                  <a:t>=_______ because the distance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is ____. </a:t>
                </a:r>
              </a:p>
              <a:p>
                <a:pPr marL="922338" indent="-455613">
                  <a:lnSpc>
                    <a:spcPct val="150000"/>
                  </a:lnSpc>
                  <a:buSzPct val="100000"/>
                  <a:buFont typeface="+mj-lt"/>
                  <a:buAutoNum type="alphaLcPeriod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r>
                  <a:rPr lang="en-US" sz="2400" dirty="0"/>
                  <a:t>What other number has the same absolute value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lang="en-US" sz="2400" dirty="0"/>
                  <a:t>? </a:t>
                </a:r>
              </a:p>
              <a:p>
                <a:pPr>
                  <a:buSzPct val="100000"/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pPr>
                <a:endParaRPr lang="en-US" sz="2400" dirty="0"/>
              </a:p>
            </p:txBody>
          </p:sp>
        </mc:Choice>
        <mc:Fallback xmlns="">
          <p:sp>
            <p:nvSpPr>
              <p:cNvPr id="278" name="Google Shape;349;p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351" y="1386025"/>
                <a:ext cx="9821330" cy="3719181"/>
              </a:xfrm>
              <a:prstGeom prst="rect">
                <a:avLst/>
              </a:prstGeom>
              <a:blipFill rotWithShape="0">
                <a:blip r:embed="rId3"/>
                <a:stretch>
                  <a:fillRect l="-1427" t="-1967" r="-148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9" name="Google Shape;350;p22"/>
          <p:cNvSpPr/>
          <p:nvPr/>
        </p:nvSpPr>
        <p:spPr>
          <a:xfrm>
            <a:off x="0" y="-8473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</a:t>
            </a:r>
            <a:r>
              <a:t>11</a:t>
            </a:r>
            <a:r>
              <a:rPr lang="en-US" dirty="0"/>
              <a:t>3</a:t>
            </a:r>
            <a:endParaRPr dirty="0"/>
          </a:p>
        </p:txBody>
      </p:sp>
      <p:pic>
        <p:nvPicPr>
          <p:cNvPr id="9" name="Google Shape;126;g104476d1465_1_17" descr="Google Shape;126;g104476d1465_1_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Google Shape;358;p23"/>
              <p:cNvSpPr txBox="1"/>
              <p:nvPr/>
            </p:nvSpPr>
            <p:spPr>
              <a:xfrm>
                <a:off x="1016000" y="386282"/>
                <a:ext cx="10160000" cy="615459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>
                <a:lvl1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marL="922338" indent="-455613">
                  <a:buFont typeface="+mj-lt"/>
                  <a:buAutoNum type="alphaLcPeriod" startAt="3"/>
                </a:pPr>
                <a:r>
                  <a:rPr lang="en-US" dirty="0"/>
                  <a:t>Use the number line to show the other number that has the same absolute value as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dirty="0"/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dirty="0"/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dirty="0"/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On the number line, plot and label all numbers with an absolute value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Hector and his partner, Salih, were given the following two problems to complete.</a:t>
                </a:r>
              </a:p>
              <a:p>
                <a:pPr marL="466725"/>
                <a:endParaRPr lang="en-US" i="1" dirty="0">
                  <a:latin typeface="Cambria Math" panose="02040503050406030204" pitchFamily="18" charset="0"/>
                </a:endParaRPr>
              </a:p>
              <a:p>
                <a:pPr marL="466725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5.5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=_______</m:t>
                    </m:r>
                  </m:oMath>
                </a14:m>
                <a:r>
                  <a:rPr lang="en-US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_________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=3.2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4" name="Google Shape;358;p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86282"/>
                <a:ext cx="10160000" cy="6154591"/>
              </a:xfrm>
              <a:prstGeom prst="rect">
                <a:avLst/>
              </a:prstGeom>
              <a:blipFill rotWithShape="0">
                <a:blip r:embed="rId2"/>
                <a:stretch>
                  <a:fillRect l="-1381" t="-79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5" name="Google Shape;359;p23"/>
          <p:cNvSpPr/>
          <p:nvPr/>
        </p:nvSpPr>
        <p:spPr>
          <a:xfrm>
            <a:off x="0" y="-8473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7C9F637C-0F01-A543-9C62-90B1BB53A65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0843" y="1508063"/>
            <a:ext cx="7330314" cy="1001485"/>
          </a:xfrm>
          <a:prstGeom prst="rect">
            <a:avLst/>
          </a:prstGeom>
        </p:spPr>
      </p:pic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57DF46F4-B5C9-FF4E-AB15-5FBEA678AA0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6496" y="3607795"/>
            <a:ext cx="5399009" cy="1371177"/>
          </a:xfrm>
          <a:prstGeom prst="rect">
            <a:avLst/>
          </a:prstGeom>
        </p:spPr>
      </p:pic>
      <p:sp>
        <p:nvSpPr>
          <p:cNvPr id="8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</a:t>
            </a:r>
            <a:r>
              <a:t>11</a:t>
            </a:r>
            <a:r>
              <a:rPr lang="en-US" dirty="0"/>
              <a:t>3</a:t>
            </a:r>
            <a:endParaRPr dirty="0"/>
          </a:p>
        </p:txBody>
      </p:sp>
      <p:pic>
        <p:nvPicPr>
          <p:cNvPr id="9" name="Google Shape;126;g104476d1465_1_17" descr="Google Shape;126;g104476d1465_1_1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358;p23"/>
          <p:cNvSpPr txBox="1"/>
          <p:nvPr/>
        </p:nvSpPr>
        <p:spPr>
          <a:xfrm>
            <a:off x="1003300" y="386282"/>
            <a:ext cx="10185400" cy="3785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2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marL="466725"/>
            <a:r>
              <a:rPr lang="en-US" dirty="0"/>
              <a:t>Hector and Salih had the same answer for one of the blanks but two different answers for the other. Their teacher told them they both had the correct answers.</a:t>
            </a:r>
          </a:p>
          <a:p>
            <a:endParaRPr lang="en-US" dirty="0"/>
          </a:p>
          <a:p>
            <a:pPr marL="922338" indent="-455613">
              <a:buFont typeface="+mj-lt"/>
              <a:buAutoNum type="alphaLcPeriod"/>
            </a:pPr>
            <a:r>
              <a:rPr lang="en-US" dirty="0"/>
              <a:t>Which problem can have more than one correct answer?</a:t>
            </a:r>
          </a:p>
          <a:p>
            <a:pPr marL="922338" indent="-455613">
              <a:buFont typeface="+mj-lt"/>
              <a:buAutoNum type="alphaLcPeriod"/>
            </a:pPr>
            <a:endParaRPr lang="en-US" dirty="0"/>
          </a:p>
          <a:p>
            <a:pPr marL="922338" indent="-455613">
              <a:buFont typeface="+mj-lt"/>
              <a:buAutoNum type="alphaLcPeriod"/>
            </a:pPr>
            <a:endParaRPr lang="en-US" dirty="0"/>
          </a:p>
          <a:p>
            <a:pPr marL="922338" indent="-455613">
              <a:buFont typeface="+mj-lt"/>
              <a:buAutoNum type="alphaLcPeriod"/>
            </a:pPr>
            <a:r>
              <a:rPr lang="en-US" dirty="0"/>
              <a:t>Use the number line to explain how this is possible.</a:t>
            </a:r>
          </a:p>
          <a:p>
            <a:pPr marL="922338" indent="-455613">
              <a:buFont typeface="+mj-lt"/>
              <a:buAutoNum type="alphaLcPeriod"/>
            </a:pPr>
            <a:endParaRPr lang="en-US" dirty="0"/>
          </a:p>
          <a:p>
            <a:pPr marL="457200" indent="-457200">
              <a:buFont typeface="+mj-lt"/>
              <a:buAutoNum type="alphaLcPeriod"/>
            </a:pPr>
            <a:endParaRPr lang="en-US" dirty="0"/>
          </a:p>
        </p:txBody>
      </p:sp>
      <p:sp>
        <p:nvSpPr>
          <p:cNvPr id="290" name="Google Shape;359;p23"/>
          <p:cNvSpPr/>
          <p:nvPr/>
        </p:nvSpPr>
        <p:spPr>
          <a:xfrm>
            <a:off x="0" y="-8473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72CD94C3-9F0A-5A44-9BF9-DC75823ABA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0735" y="4795629"/>
            <a:ext cx="7358016" cy="968514"/>
          </a:xfrm>
          <a:prstGeom prst="rect">
            <a:avLst/>
          </a:prstGeom>
        </p:spPr>
      </p:pic>
      <p:sp>
        <p:nvSpPr>
          <p:cNvPr id="7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11</a:t>
            </a:r>
            <a:r>
              <a:rPr lang="en-US" dirty="0"/>
              <a:t>4</a:t>
            </a:r>
            <a:endParaRPr dirty="0"/>
          </a:p>
        </p:txBody>
      </p:sp>
      <p:pic>
        <p:nvPicPr>
          <p:cNvPr id="8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185;p6"/>
          <p:cNvSpPr/>
          <p:nvPr/>
        </p:nvSpPr>
        <p:spPr>
          <a:xfrm>
            <a:off x="0" y="-8473"/>
            <a:ext cx="2731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94" name="Google Shape;187;p6"/>
          <p:cNvSpPr txBox="1">
            <a:spLocks noGrp="1"/>
          </p:cNvSpPr>
          <p:nvPr>
            <p:ph type="title" idx="4294967295"/>
          </p:nvPr>
        </p:nvSpPr>
        <p:spPr>
          <a:xfrm>
            <a:off x="5665259" y="2766145"/>
            <a:ext cx="5002743" cy="132570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9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sz="5000" dirty="0"/>
              <a:t>Collaboration</a:t>
            </a:r>
          </a:p>
        </p:txBody>
      </p:sp>
      <p:pic>
        <p:nvPicPr>
          <p:cNvPr id="296" name="Google Shape;189;p6" descr="Google Shape;189;p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115" y="2852923"/>
            <a:ext cx="1152145" cy="1152145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11</a:t>
            </a:r>
            <a:r>
              <a:rPr lang="en-US" dirty="0"/>
              <a:t>4</a:t>
            </a:r>
            <a:endParaRPr dirty="0"/>
          </a:p>
        </p:txBody>
      </p:sp>
      <p:pic>
        <p:nvPicPr>
          <p:cNvPr id="8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196;p7"/>
          <p:cNvSpPr txBox="1"/>
          <p:nvPr/>
        </p:nvSpPr>
        <p:spPr>
          <a:xfrm>
            <a:off x="1458384" y="257118"/>
            <a:ext cx="8019299" cy="950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lnSpc>
                <a:spcPct val="90000"/>
              </a:lnSpc>
              <a:defRPr sz="31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t>3.7.5 Collaboration: Absolute Value and Opposites in the Real World </a:t>
            </a:r>
          </a:p>
        </p:txBody>
      </p:sp>
      <p:pic>
        <p:nvPicPr>
          <p:cNvPr id="301" name="Google Shape;198;p7" descr="Google Shape;198;p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476" y="357706"/>
            <a:ext cx="749809" cy="749810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Google Shape;199;p7"/>
              <p:cNvSpPr txBox="1"/>
              <p:nvPr/>
            </p:nvSpPr>
            <p:spPr>
              <a:xfrm>
                <a:off x="1219200" y="1386025"/>
                <a:ext cx="9168384" cy="489360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>
                <a:lvl1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A tiger was rescued by The Brevard Zoo in Melbourne, Florida. The zoo veterinarian examined the tiger and determined the animal’s weight to be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29.6</m:t>
                    </m:r>
                  </m:oMath>
                </a14:m>
                <a:r>
                  <a:rPr lang="en-US" dirty="0"/>
                  <a:t> pounds below average.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marL="922338" indent="-455613">
                  <a:buFont typeface="+mj-lt"/>
                  <a:buAutoNum type="alphaLcPeriod"/>
                </a:pPr>
                <a:r>
                  <a:rPr lang="en-US" dirty="0"/>
                  <a:t>What value represents this situation?</a:t>
                </a:r>
              </a:p>
              <a:p>
                <a:pPr marL="922338" indent="-455613">
                  <a:buFont typeface="+mj-lt"/>
                  <a:buAutoNum type="alphaLcPeriod"/>
                </a:pPr>
                <a:endParaRPr lang="en-US" dirty="0"/>
              </a:p>
              <a:p>
                <a:pPr marL="922338" indent="-455613">
                  <a:buFont typeface="+mj-lt"/>
                  <a:buAutoNum type="alphaLcPeriod"/>
                </a:pPr>
                <a:endParaRPr lang="en-US" dirty="0"/>
              </a:p>
              <a:p>
                <a:pPr marL="922338" indent="-455613">
                  <a:buFont typeface="+mj-lt"/>
                  <a:buAutoNum type="alphaLcPeriod"/>
                </a:pPr>
                <a:endParaRPr lang="en-US" dirty="0"/>
              </a:p>
              <a:p>
                <a:pPr marL="922338" indent="-455613">
                  <a:buFont typeface="+mj-lt"/>
                  <a:buAutoNum type="alphaLcPeriod"/>
                </a:pPr>
                <a:r>
                  <a:rPr lang="en-US" dirty="0"/>
                  <a:t>What is the absolute value of the value that represents the tiger’s weight loss?</a:t>
                </a:r>
              </a:p>
              <a:p>
                <a:pPr marL="922338" indent="-455613">
                  <a:buFont typeface="+mj-lt"/>
                  <a:buAutoNum type="alphaLcPeriod"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02" name="Google Shape;199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386025"/>
                <a:ext cx="9168384" cy="4893605"/>
              </a:xfrm>
              <a:prstGeom prst="rect">
                <a:avLst/>
              </a:prstGeom>
              <a:blipFill rotWithShape="0">
                <a:blip r:embed="rId3"/>
                <a:stretch>
                  <a:fillRect l="-1529" t="-996" r="-6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3" name="Google Shape;200;p7"/>
          <p:cNvSpPr/>
          <p:nvPr/>
        </p:nvSpPr>
        <p:spPr>
          <a:xfrm>
            <a:off x="0" y="-8473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11</a:t>
            </a:r>
            <a:r>
              <a:rPr lang="en-US" dirty="0"/>
              <a:t>4</a:t>
            </a:r>
            <a:endParaRPr dirty="0"/>
          </a:p>
        </p:txBody>
      </p:sp>
      <p:pic>
        <p:nvPicPr>
          <p:cNvPr id="9" name="Google Shape;126;g104476d1465_1_17" descr="Google Shape;126;g104476d1465_1_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Google Shape;208;p8"/>
              <p:cNvSpPr txBox="1"/>
              <p:nvPr/>
            </p:nvSpPr>
            <p:spPr>
              <a:xfrm>
                <a:off x="1168400" y="410666"/>
                <a:ext cx="10005866" cy="526293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>
                <a:lvl1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marL="922338" indent="-455613">
                  <a:buFont typeface="+mj-lt"/>
                  <a:buAutoNum type="alphaLcPeriod" startAt="3"/>
                </a:pPr>
                <a:r>
                  <a:rPr lang="en-US" dirty="0"/>
                  <a:t>Model the tiger’s weight loss on the number line.</a:t>
                </a:r>
              </a:p>
              <a:p>
                <a:pPr marL="922338" indent="-455613">
                  <a:buFont typeface="+mj-lt"/>
                  <a:buAutoNum type="alphaLcPeriod" startAt="3"/>
                </a:pPr>
                <a:endParaRPr lang="en-US" dirty="0"/>
              </a:p>
              <a:p>
                <a:pPr marL="922338" indent="-455613">
                  <a:buFont typeface="+mj-lt"/>
                  <a:buAutoNum type="alphaLcPeriod" startAt="3"/>
                </a:pPr>
                <a:endParaRPr lang="en-US" dirty="0"/>
              </a:p>
              <a:p>
                <a:pPr marL="922338" indent="-455613">
                  <a:buFont typeface="+mj-lt"/>
                  <a:buAutoNum type="alphaLcPeriod" startAt="3"/>
                </a:pPr>
                <a:endParaRPr lang="en-US" dirty="0"/>
              </a:p>
              <a:p>
                <a:pPr marL="922338" indent="-455613">
                  <a:buFont typeface="+mj-lt"/>
                  <a:buAutoNum type="alphaLcPeriod" startAt="3"/>
                </a:pPr>
                <a:endParaRPr lang="en-US" dirty="0"/>
              </a:p>
              <a:p>
                <a:pPr marL="922338" indent="-455613">
                  <a:buFont typeface="+mj-lt"/>
                  <a:buAutoNum type="alphaLcPeriod" startAt="3"/>
                </a:pPr>
                <a:r>
                  <a:rPr lang="en-US" dirty="0"/>
                  <a:t>What does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represent in this situation? </a:t>
                </a:r>
              </a:p>
              <a:p>
                <a:pPr marL="922338" indent="-455613">
                  <a:buFont typeface="+mj-lt"/>
                  <a:buAutoNum type="alphaLcPeriod" startAt="3"/>
                </a:pPr>
                <a:endParaRPr lang="en-US" dirty="0"/>
              </a:p>
              <a:p>
                <a:pPr marL="466725"/>
                <a:endParaRPr lang="en-US" dirty="0"/>
              </a:p>
              <a:p>
                <a:pPr marL="922338" indent="-455613">
                  <a:buFont typeface="+mj-lt"/>
                  <a:buAutoNum type="alphaLcPeriod" startAt="3"/>
                </a:pPr>
                <a:endParaRPr lang="en-US" dirty="0"/>
              </a:p>
              <a:p>
                <a:pPr marL="466725"/>
                <a:endParaRPr lang="en-US" dirty="0"/>
              </a:p>
              <a:p>
                <a:pPr marL="923925" indent="-457200">
                  <a:buFont typeface="+mj-lt"/>
                  <a:buAutoNum type="alphaLcPeriod" startAt="5"/>
                </a:pPr>
                <a:r>
                  <a:rPr lang="en-US" dirty="0"/>
                  <a:t>If the tiger’s weight had been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29.6</m:t>
                    </m:r>
                  </m:oMath>
                </a14:m>
                <a:r>
                  <a:rPr lang="en-US" dirty="0"/>
                  <a:t> pounds above average instead of below, what would be the same about this situation?</a:t>
                </a:r>
              </a:p>
              <a:p>
                <a:pPr marL="922338" indent="-455613">
                  <a:buFont typeface="+mj-lt"/>
                  <a:buAutoNum type="alphaLcPeriod" startAt="3"/>
                </a:pPr>
                <a:endParaRPr lang="en-US" dirty="0"/>
              </a:p>
            </p:txBody>
          </p:sp>
        </mc:Choice>
        <mc:Fallback xmlns="">
          <p:sp>
            <p:nvSpPr>
              <p:cNvPr id="307" name="Google Shape;208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00" y="410666"/>
                <a:ext cx="10005866" cy="5262937"/>
              </a:xfrm>
              <a:prstGeom prst="rect">
                <a:avLst/>
              </a:prstGeom>
              <a:blipFill rotWithShape="0">
                <a:blip r:embed="rId2"/>
                <a:stretch>
                  <a:fillRect t="-926" r="-73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" name="Google Shape;209;p8"/>
          <p:cNvSpPr/>
          <p:nvPr/>
        </p:nvSpPr>
        <p:spPr>
          <a:xfrm>
            <a:off x="0" y="-8473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ED1813-5D57-A54F-A612-14727DC69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0101" y="1550848"/>
            <a:ext cx="8142464" cy="580541"/>
          </a:xfrm>
          <a:prstGeom prst="rect">
            <a:avLst/>
          </a:prstGeom>
        </p:spPr>
      </p:pic>
      <p:sp>
        <p:nvSpPr>
          <p:cNvPr id="7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pg. 11</a:t>
            </a:r>
            <a:r>
              <a:rPr lang="en-US" dirty="0"/>
              <a:t>4</a:t>
            </a:r>
            <a:endParaRPr dirty="0"/>
          </a:p>
        </p:txBody>
      </p:sp>
      <p:pic>
        <p:nvPicPr>
          <p:cNvPr id="8" name="Google Shape;126;g104476d1465_1_17" descr="Google Shape;126;g104476d1465_1_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208;p8"/>
          <p:cNvSpPr txBox="1"/>
          <p:nvPr/>
        </p:nvSpPr>
        <p:spPr>
          <a:xfrm>
            <a:off x="1320800" y="410665"/>
            <a:ext cx="9701066" cy="1938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2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marL="457200" indent="-457200">
              <a:buFont typeface="+mj-lt"/>
              <a:buAutoNum type="arabicPeriod" startAt="2"/>
            </a:pPr>
            <a:r>
              <a:rPr lang="en-US" dirty="0"/>
              <a:t>Simone is doing research on different rides at the Strawberry Festival. She attaches an accelerator to a bumper car to measure the velocity of her car. She recorded the velocities, in miles per hour (mph), in the table.</a:t>
            </a:r>
          </a:p>
        </p:txBody>
      </p:sp>
      <p:sp>
        <p:nvSpPr>
          <p:cNvPr id="313" name="Google Shape;209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CD1A1D6-0295-8342-B548-16055B0FB9F5}"/>
              </a:ext>
            </a:extLst>
          </p:cNvPr>
          <p:cNvGrpSpPr/>
          <p:nvPr/>
        </p:nvGrpSpPr>
        <p:grpSpPr>
          <a:xfrm>
            <a:off x="2727960" y="2555034"/>
            <a:ext cx="6736080" cy="729109"/>
            <a:chOff x="-174151" y="-236031"/>
            <a:chExt cx="6992126" cy="113773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9C225B-19D8-F84B-B203-33B1FC3CFD82}"/>
                </a:ext>
              </a:extLst>
            </p:cNvPr>
            <p:cNvSpPr/>
            <p:nvPr/>
          </p:nvSpPr>
          <p:spPr>
            <a:xfrm>
              <a:off x="0" y="0"/>
              <a:ext cx="6817975" cy="9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10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4E6ABDF-D9EB-7540-B329-D2BF6F4D3F51}"/>
                </a:ext>
              </a:extLst>
            </p:cNvPr>
            <p:cNvSpPr/>
            <p:nvPr/>
          </p:nvSpPr>
          <p:spPr>
            <a:xfrm>
              <a:off x="-174151" y="-236031"/>
              <a:ext cx="6992002" cy="901698"/>
            </a:xfrm>
            <a:prstGeom prst="roundRect">
              <a:avLst>
                <a:gd name="adj" fmla="val 16667"/>
              </a:avLst>
            </a:prstGeom>
            <a:solidFill>
              <a:srgbClr val="E3EFD5"/>
            </a:solidFill>
            <a:ln w="12700" cap="flat" cmpd="sng">
              <a:solidFill>
                <a:srgbClr val="E3EF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800" b="1" i="1" dirty="0">
                  <a:solidFill>
                    <a:srgbClr val="6C993C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Speed</a:t>
              </a:r>
              <a:r>
                <a:rPr lang="en-US" sz="1800" dirty="0">
                  <a:solidFill>
                    <a:srgbClr val="6C993C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is the absolute value of velocity.</a:t>
              </a:r>
              <a:endParaRPr lang="en-US" sz="11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7E33EB4-09B1-8C40-A3A5-7B923F046E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2244251"/>
                  </p:ext>
                </p:extLst>
              </p:nvPr>
            </p:nvGraphicFramePr>
            <p:xfrm>
              <a:off x="1847591" y="3640819"/>
              <a:ext cx="8664593" cy="201847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88">
                      <a:extLst>
                        <a:ext uri="{9D8B030D-6E8A-4147-A177-3AD203B41FA5}">
                          <a16:colId xmlns:a16="http://schemas.microsoft.com/office/drawing/2014/main" val="3859629966"/>
                        </a:ext>
                      </a:extLst>
                    </a:gridCol>
                    <a:gridCol w="1256368">
                      <a:extLst>
                        <a:ext uri="{9D8B030D-6E8A-4147-A177-3AD203B41FA5}">
                          <a16:colId xmlns:a16="http://schemas.microsoft.com/office/drawing/2014/main" val="4050516763"/>
                        </a:ext>
                      </a:extLst>
                    </a:gridCol>
                    <a:gridCol w="1487421">
                      <a:extLst>
                        <a:ext uri="{9D8B030D-6E8A-4147-A177-3AD203B41FA5}">
                          <a16:colId xmlns:a16="http://schemas.microsoft.com/office/drawing/2014/main" val="697005893"/>
                        </a:ext>
                      </a:extLst>
                    </a:gridCol>
                    <a:gridCol w="1355848">
                      <a:extLst>
                        <a:ext uri="{9D8B030D-6E8A-4147-A177-3AD203B41FA5}">
                          <a16:colId xmlns:a16="http://schemas.microsoft.com/office/drawing/2014/main" val="4260685144"/>
                        </a:ext>
                      </a:extLst>
                    </a:gridCol>
                    <a:gridCol w="1492234">
                      <a:extLst>
                        <a:ext uri="{9D8B030D-6E8A-4147-A177-3AD203B41FA5}">
                          <a16:colId xmlns:a16="http://schemas.microsoft.com/office/drawing/2014/main" val="1507621470"/>
                        </a:ext>
                      </a:extLst>
                    </a:gridCol>
                    <a:gridCol w="1632634">
                      <a:extLst>
                        <a:ext uri="{9D8B030D-6E8A-4147-A177-3AD203B41FA5}">
                          <a16:colId xmlns:a16="http://schemas.microsoft.com/office/drawing/2014/main" val="705883672"/>
                        </a:ext>
                      </a:extLst>
                    </a:gridCol>
                  </a:tblGrid>
                  <a:tr h="65144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Time (seconds)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Velocity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(mph)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Time (seconds)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Velocity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(mph)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Time (seconds)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Velocity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(mph)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509070"/>
                      </a:ext>
                    </a:extLst>
                  </a:tr>
                  <a:tr h="4556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−3.1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−2.4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−5.2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52366892"/>
                      </a:ext>
                    </a:extLst>
                  </a:tr>
                  <a:tr h="4556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−2.7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−6.3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3.1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2782927"/>
                      </a:ext>
                    </a:extLst>
                  </a:tr>
                  <a:tr h="4556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4.8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2.7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−7.8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607556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7E33EB4-09B1-8C40-A3A5-7B923F046E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2244251"/>
                  </p:ext>
                </p:extLst>
              </p:nvPr>
            </p:nvGraphicFramePr>
            <p:xfrm>
              <a:off x="323590" y="3640819"/>
              <a:ext cx="8664593" cy="201847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88">
                      <a:extLst>
                        <a:ext uri="{9D8B030D-6E8A-4147-A177-3AD203B41FA5}">
                          <a16:colId xmlns:a16="http://schemas.microsoft.com/office/drawing/2014/main" val="3859629966"/>
                        </a:ext>
                      </a:extLst>
                    </a:gridCol>
                    <a:gridCol w="1256368">
                      <a:extLst>
                        <a:ext uri="{9D8B030D-6E8A-4147-A177-3AD203B41FA5}">
                          <a16:colId xmlns:a16="http://schemas.microsoft.com/office/drawing/2014/main" val="4050516763"/>
                        </a:ext>
                      </a:extLst>
                    </a:gridCol>
                    <a:gridCol w="1487421">
                      <a:extLst>
                        <a:ext uri="{9D8B030D-6E8A-4147-A177-3AD203B41FA5}">
                          <a16:colId xmlns:a16="http://schemas.microsoft.com/office/drawing/2014/main" val="697005893"/>
                        </a:ext>
                      </a:extLst>
                    </a:gridCol>
                    <a:gridCol w="1355848">
                      <a:extLst>
                        <a:ext uri="{9D8B030D-6E8A-4147-A177-3AD203B41FA5}">
                          <a16:colId xmlns:a16="http://schemas.microsoft.com/office/drawing/2014/main" val="4260685144"/>
                        </a:ext>
                      </a:extLst>
                    </a:gridCol>
                    <a:gridCol w="1492234">
                      <a:extLst>
                        <a:ext uri="{9D8B030D-6E8A-4147-A177-3AD203B41FA5}">
                          <a16:colId xmlns:a16="http://schemas.microsoft.com/office/drawing/2014/main" val="1507621470"/>
                        </a:ext>
                      </a:extLst>
                    </a:gridCol>
                    <a:gridCol w="1632634">
                      <a:extLst>
                        <a:ext uri="{9D8B030D-6E8A-4147-A177-3AD203B41FA5}">
                          <a16:colId xmlns:a16="http://schemas.microsoft.com/office/drawing/2014/main" val="705883672"/>
                        </a:ext>
                      </a:extLst>
                    </a:gridCol>
                  </a:tblGrid>
                  <a:tr h="65144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Time (seconds)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Velocity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(mph)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Time (seconds)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Velocity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(mph)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Time (seconds)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Velocity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(mph)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509070"/>
                      </a:ext>
                    </a:extLst>
                  </a:tr>
                  <a:tr h="4556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77" t="-163889" r="-500000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6162" t="-163889" r="-475758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82906" t="-163889" r="-302564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9346" t="-163889" r="-230841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4359" t="-163889" r="-111111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30233" t="-163889" r="-775" b="-2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366892"/>
                      </a:ext>
                    </a:extLst>
                  </a:tr>
                  <a:tr h="4556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77" t="-263889" r="-500000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6162" t="-263889" r="-475758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82906" t="-263889" r="-302564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9346" t="-263889" r="-230841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4359" t="-263889" r="-111111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30233" t="-263889" r="-775" b="-1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782927"/>
                      </a:ext>
                    </a:extLst>
                  </a:tr>
                  <a:tr h="4556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77" t="-363889" r="-500000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6162" t="-363889" r="-475758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82906" t="-363889" r="-302564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9346" t="-363889" r="-230841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4359" t="-363889" r="-111111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30233" t="-363889" r="-775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07556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</a:t>
            </a:r>
            <a:r>
              <a:t>. </a:t>
            </a:r>
            <a:r>
              <a:rPr dirty="0"/>
              <a:t>11</a:t>
            </a:r>
            <a:r>
              <a:rPr lang="en-US" dirty="0"/>
              <a:t>5</a:t>
            </a:r>
            <a:endParaRPr dirty="0"/>
          </a:p>
        </p:txBody>
      </p:sp>
      <p:pic>
        <p:nvPicPr>
          <p:cNvPr id="11" name="Google Shape;126;g104476d1465_1_17" descr="Google Shape;126;g104476d1465_1_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208;p8"/>
          <p:cNvSpPr txBox="1"/>
          <p:nvPr/>
        </p:nvSpPr>
        <p:spPr>
          <a:xfrm>
            <a:off x="1257300" y="410666"/>
            <a:ext cx="9828066" cy="5262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2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marL="922338" indent="-455613">
              <a:buFont typeface="+mj-lt"/>
              <a:buAutoNum type="alphaLcPeriod"/>
            </a:pPr>
            <a:r>
              <a:rPr lang="en-US" dirty="0"/>
              <a:t>Determine when the bumper car is at the same speed. List the times and the speed of the car at those times.</a:t>
            </a:r>
          </a:p>
          <a:p>
            <a:pPr marL="922338" indent="-455613">
              <a:buFont typeface="+mj-lt"/>
              <a:buAutoNum type="alphaLcPeriod"/>
            </a:pPr>
            <a:endParaRPr lang="en-US" dirty="0"/>
          </a:p>
          <a:p>
            <a:pPr marL="922338" indent="-455613">
              <a:buFont typeface="+mj-lt"/>
              <a:buAutoNum type="alphaLcPeriod"/>
            </a:pPr>
            <a:endParaRPr lang="en-US" dirty="0"/>
          </a:p>
          <a:p>
            <a:pPr marL="922338" indent="-455613">
              <a:buFont typeface="+mj-lt"/>
              <a:buAutoNum type="alphaLcPeriod"/>
            </a:pPr>
            <a:endParaRPr lang="en-US" dirty="0"/>
          </a:p>
          <a:p>
            <a:pPr marL="922338" indent="-455613">
              <a:buFont typeface="+mj-lt"/>
              <a:buAutoNum type="alphaLcPeriod"/>
            </a:pPr>
            <a:r>
              <a:rPr lang="en-US" dirty="0"/>
              <a:t>At what time is the bumper car traveling at the slowest speed?</a:t>
            </a:r>
          </a:p>
          <a:p>
            <a:pPr marL="922338" indent="-455613">
              <a:buFont typeface="+mj-lt"/>
              <a:buAutoNum type="alphaLcPeriod"/>
            </a:pPr>
            <a:endParaRPr lang="en-US" dirty="0"/>
          </a:p>
          <a:p>
            <a:pPr marL="922338" indent="-455613">
              <a:buFont typeface="+mj-lt"/>
              <a:buAutoNum type="alphaLcPeriod"/>
            </a:pPr>
            <a:endParaRPr lang="en-US" dirty="0"/>
          </a:p>
          <a:p>
            <a:pPr marL="922338" indent="-455613">
              <a:buFont typeface="+mj-lt"/>
              <a:buAutoNum type="alphaLcPeriod"/>
            </a:pPr>
            <a:endParaRPr lang="en-US" dirty="0"/>
          </a:p>
          <a:p>
            <a:pPr marL="922338" indent="-455613">
              <a:buFont typeface="+mj-lt"/>
              <a:buAutoNum type="alphaLcPeriod"/>
            </a:pPr>
            <a:endParaRPr lang="en-US" dirty="0"/>
          </a:p>
          <a:p>
            <a:pPr marL="922338" indent="-455613">
              <a:buFont typeface="+mj-lt"/>
              <a:buAutoNum type="alphaLcPeriod"/>
            </a:pPr>
            <a:r>
              <a:rPr lang="en-US" dirty="0"/>
              <a:t>At what time is the bumper car traveling at the fastest speed?</a:t>
            </a:r>
          </a:p>
          <a:p>
            <a:pPr marL="922338" indent="-455613">
              <a:buFont typeface="+mj-lt"/>
              <a:buAutoNum type="alphaLcPeriod"/>
            </a:pPr>
            <a:endParaRPr lang="en-US" dirty="0"/>
          </a:p>
        </p:txBody>
      </p:sp>
      <p:sp>
        <p:nvSpPr>
          <p:cNvPr id="318" name="Google Shape;209;p8"/>
          <p:cNvSpPr/>
          <p:nvPr/>
        </p:nvSpPr>
        <p:spPr>
          <a:xfrm>
            <a:off x="0" y="-8473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</a:t>
            </a:r>
            <a:r>
              <a:t>. </a:t>
            </a:r>
            <a:r>
              <a:rPr dirty="0"/>
              <a:t>11</a:t>
            </a:r>
            <a:r>
              <a:rPr lang="en-US" dirty="0"/>
              <a:t>5</a:t>
            </a:r>
            <a:endParaRPr dirty="0"/>
          </a:p>
        </p:txBody>
      </p:sp>
      <p:pic>
        <p:nvPicPr>
          <p:cNvPr id="7" name="Google Shape;126;g104476d1465_1_17" descr="Google Shape;126;g104476d1465_1_1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Google Shape;208;p8"/>
              <p:cNvSpPr txBox="1"/>
              <p:nvPr/>
            </p:nvSpPr>
            <p:spPr>
              <a:xfrm>
                <a:off x="1168400" y="410666"/>
                <a:ext cx="10005866" cy="526293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>
                <a:lvl1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marL="457200" indent="-457200">
                  <a:buFont typeface="+mj-lt"/>
                  <a:buAutoNum type="arabicPeriod" startAt="3"/>
                </a:pPr>
                <a:r>
                  <a:rPr lang="en-US" dirty="0"/>
                  <a:t>Before Bryan goes snow skiing, he asks a friend about the weather. The friend says that the temperature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5°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 away from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dirty="0"/>
              </a:p>
              <a:p>
                <a:pPr marL="466725"/>
                <a:r>
                  <a:rPr lang="en-US" dirty="0"/>
                  <a:t>Select all the temperatures that are possible.</a:t>
                </a:r>
              </a:p>
              <a:p>
                <a:pPr marL="466725"/>
                <a:endParaRPr lang="en-US" dirty="0"/>
              </a:p>
              <a:p>
                <a:pPr marL="809625" indent="-34290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809625" indent="-34290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809625" indent="-34290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809625" indent="-34290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809625" indent="-34290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17" name="Google Shape;208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00" y="410666"/>
                <a:ext cx="10005866" cy="5262937"/>
              </a:xfrm>
              <a:prstGeom prst="rect">
                <a:avLst/>
              </a:prstGeom>
              <a:blipFill rotWithShape="0">
                <a:blip r:embed="rId2"/>
                <a:stretch>
                  <a:fillRect l="-1402" t="-92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8" name="Google Shape;209;p8"/>
          <p:cNvSpPr/>
          <p:nvPr/>
        </p:nvSpPr>
        <p:spPr>
          <a:xfrm>
            <a:off x="0" y="-8473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</a:t>
            </a:r>
            <a:r>
              <a:t>. </a:t>
            </a:r>
            <a:r>
              <a:rPr dirty="0"/>
              <a:t>11</a:t>
            </a:r>
            <a:r>
              <a:rPr lang="en-US" dirty="0"/>
              <a:t>5</a:t>
            </a:r>
            <a:endParaRPr dirty="0"/>
          </a:p>
        </p:txBody>
      </p:sp>
      <p:pic>
        <p:nvPicPr>
          <p:cNvPr id="7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788959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Google Shape;448;p32"/>
              <p:cNvSpPr txBox="1"/>
              <p:nvPr/>
            </p:nvSpPr>
            <p:spPr>
              <a:xfrm>
                <a:off x="914400" y="398472"/>
                <a:ext cx="10363200" cy="156961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>
                <a:lvl1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/>
                  <a:t>A part of the city of New Orleans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lang="en-US" dirty="0"/>
                  <a:t> feet below sea level. We can use “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−19 </m:t>
                    </m:r>
                  </m:oMath>
                </a14:m>
                <a:r>
                  <a:rPr lang="en-US" dirty="0"/>
                  <a:t>feet” to describe its elevation, and “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|−19| </m:t>
                    </m:r>
                  </m:oMath>
                </a14:m>
                <a:r>
                  <a:rPr lang="en-US" dirty="0"/>
                  <a:t>feet” to describe its vertical distance from sea level. In the context of elevation, what do each of the following numbers describe?</a:t>
                </a:r>
              </a:p>
            </p:txBody>
          </p:sp>
        </mc:Choice>
        <mc:Fallback xmlns="">
          <p:sp>
            <p:nvSpPr>
              <p:cNvPr id="335" name="Google Shape;448;p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98472"/>
                <a:ext cx="10363200" cy="1569618"/>
              </a:xfrm>
              <a:prstGeom prst="rect">
                <a:avLst/>
              </a:prstGeom>
              <a:blipFill rotWithShape="0">
                <a:blip r:embed="rId2"/>
                <a:stretch>
                  <a:fillRect l="-1353" t="-6202" r="-1176" b="-775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6" name="Google Shape;449;p3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0306568-C035-9D44-9F61-3E95CDB8A7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3153158"/>
                  </p:ext>
                </p:extLst>
              </p:nvPr>
            </p:nvGraphicFramePr>
            <p:xfrm>
              <a:off x="3017203" y="2790879"/>
              <a:ext cx="6157595" cy="358267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28227">
                      <a:extLst>
                        <a:ext uri="{9D8B030D-6E8A-4147-A177-3AD203B41FA5}">
                          <a16:colId xmlns:a16="http://schemas.microsoft.com/office/drawing/2014/main" val="267648155"/>
                        </a:ext>
                      </a:extLst>
                    </a:gridCol>
                    <a:gridCol w="4929368">
                      <a:extLst>
                        <a:ext uri="{9D8B030D-6E8A-4147-A177-3AD203B41FA5}">
                          <a16:colId xmlns:a16="http://schemas.microsoft.com/office/drawing/2014/main" val="427559653"/>
                        </a:ext>
                      </a:extLst>
                    </a:gridCol>
                  </a:tblGrid>
                  <a:tr h="66167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Meaning in Context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393307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feet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99233194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feet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55618662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feet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28408682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feet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335826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0306568-C035-9D44-9F61-3E95CDB8A7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3153158"/>
                  </p:ext>
                </p:extLst>
              </p:nvPr>
            </p:nvGraphicFramePr>
            <p:xfrm>
              <a:off x="1493202" y="2790879"/>
              <a:ext cx="6157595" cy="358267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28227">
                      <a:extLst>
                        <a:ext uri="{9D8B030D-6E8A-4147-A177-3AD203B41FA5}">
                          <a16:colId xmlns:a16="http://schemas.microsoft.com/office/drawing/2014/main" val="267648155"/>
                        </a:ext>
                      </a:extLst>
                    </a:gridCol>
                    <a:gridCol w="4929368">
                      <a:extLst>
                        <a:ext uri="{9D8B030D-6E8A-4147-A177-3AD203B41FA5}">
                          <a16:colId xmlns:a16="http://schemas.microsoft.com/office/drawing/2014/main" val="427559653"/>
                        </a:ext>
                      </a:extLst>
                    </a:gridCol>
                  </a:tblGrid>
                  <a:tr h="66167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Meaning in Context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393307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31" t="-91379" r="-402062" b="-3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99233194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31" t="-191379" r="-402062" b="-2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55618662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31" t="-296491" r="-402062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28408682"/>
                      </a:ext>
                    </a:extLst>
                  </a:tr>
                  <a:tr h="730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31" t="-389655" r="-402062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335826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</a:t>
            </a:r>
            <a:r>
              <a:t>. </a:t>
            </a:r>
            <a:r>
              <a:rPr dirty="0"/>
              <a:t>11</a:t>
            </a:r>
            <a:r>
              <a:rPr lang="en-US" dirty="0"/>
              <a:t>5</a:t>
            </a:r>
            <a:endParaRPr dirty="0"/>
          </a:p>
        </p:txBody>
      </p:sp>
      <p:pic>
        <p:nvPicPr>
          <p:cNvPr id="8" name="Google Shape;126;g104476d1465_1_17" descr="Google Shape;126;g104476d1465_1_1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425;p30"/>
          <p:cNvSpPr/>
          <p:nvPr/>
        </p:nvSpPr>
        <p:spPr>
          <a:xfrm>
            <a:off x="0" y="-8473"/>
            <a:ext cx="2731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22" name="Google Shape;427;p30"/>
          <p:cNvSpPr txBox="1">
            <a:spLocks noGrp="1"/>
          </p:cNvSpPr>
          <p:nvPr>
            <p:ph type="title" idx="4294967295"/>
          </p:nvPr>
        </p:nvSpPr>
        <p:spPr>
          <a:xfrm>
            <a:off x="5664866" y="2766145"/>
            <a:ext cx="4480752" cy="1325701"/>
          </a:xfrm>
          <a:prstGeom prst="rect">
            <a:avLst/>
          </a:prstGeom>
        </p:spPr>
        <p:txBody>
          <a:bodyPr/>
          <a:lstStyle>
            <a:lvl1pPr algn="ctr">
              <a:defRPr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dirty="0"/>
              <a:t>Your Turn</a:t>
            </a:r>
          </a:p>
        </p:txBody>
      </p:sp>
      <p:pic>
        <p:nvPicPr>
          <p:cNvPr id="323" name="Google Shape;428;p30" descr="Google Shape;428;p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728" y="2897927"/>
            <a:ext cx="1122441" cy="1062144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</a:t>
            </a:r>
            <a:r>
              <a:t>. </a:t>
            </a:r>
            <a:r>
              <a:rPr dirty="0"/>
              <a:t>11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8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436;p31"/>
          <p:cNvSpPr txBox="1"/>
          <p:nvPr/>
        </p:nvSpPr>
        <p:spPr>
          <a:xfrm>
            <a:off x="1421538" y="195615"/>
            <a:ext cx="8019299" cy="687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lnSpc>
                <a:spcPct val="90000"/>
              </a:lnSpc>
              <a:defRPr sz="43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t>3.7.6 Your Turn!</a:t>
            </a:r>
          </a:p>
        </p:txBody>
      </p:sp>
      <p:pic>
        <p:nvPicPr>
          <p:cNvPr id="328" name="Google Shape;437;p31" descr="Google Shape;437;p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37" y="165884"/>
            <a:ext cx="747301" cy="747300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Google Shape;439;p31"/>
              <p:cNvSpPr txBox="1"/>
              <p:nvPr/>
            </p:nvSpPr>
            <p:spPr>
              <a:xfrm>
                <a:off x="1641270" y="1386025"/>
                <a:ext cx="9165492" cy="35684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>
                <a:lvl1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Complete each statement and model it on the number line given.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marL="922338" indent="-455613">
                  <a:buFont typeface="+mj-lt"/>
                  <a:buAutoNum type="alphaLcPeriod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−7.8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_________</m:t>
                    </m:r>
                  </m:oMath>
                </a14:m>
                <a:endParaRPr lang="en-US" dirty="0"/>
              </a:p>
              <a:p>
                <a:pPr marL="922338" indent="-455613">
                  <a:buFont typeface="+mj-lt"/>
                  <a:buAutoNum type="alphaLcPeriod"/>
                </a:pPr>
                <a:endParaRPr lang="en-US" dirty="0"/>
              </a:p>
              <a:p>
                <a:pPr marL="922338" indent="-455613">
                  <a:buFont typeface="+mj-lt"/>
                  <a:buAutoNum type="alphaLcPeriod"/>
                </a:pPr>
                <a:endParaRPr lang="en-US" dirty="0"/>
              </a:p>
              <a:p>
                <a:pPr marL="922338" indent="-455613">
                  <a:buFont typeface="+mj-lt"/>
                  <a:buAutoNum type="alphaLcPeriod"/>
                </a:pPr>
                <a:endParaRPr lang="en-US" dirty="0"/>
              </a:p>
              <a:p>
                <a:pPr marL="466725"/>
                <a:endParaRPr lang="en-US" dirty="0"/>
              </a:p>
              <a:p>
                <a:pPr marL="923925" indent="-457200">
                  <a:buFont typeface="+mj-lt"/>
                  <a:buAutoNum type="alphaLcPeriod" startAt="2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______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0" name="Google Shape;439;p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270" y="1386025"/>
                <a:ext cx="9165492" cy="3568499"/>
              </a:xfrm>
              <a:prstGeom prst="rect">
                <a:avLst/>
              </a:prstGeom>
              <a:blipFill rotWithShape="0">
                <a:blip r:embed="rId3"/>
                <a:stretch>
                  <a:fillRect l="-1529" t="-1365" b="-34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1" name="Google Shape;440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226E7A50-E502-1A49-A51F-974A16DF325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3696" y="2996624"/>
            <a:ext cx="8363888" cy="1070333"/>
          </a:xfrm>
          <a:prstGeom prst="rect">
            <a:avLst/>
          </a:prstGeom>
        </p:spPr>
      </p:pic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9D6519DA-461A-9447-8856-6238F124875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2427"/>
          <a:stretch/>
        </p:blipFill>
        <p:spPr>
          <a:xfrm>
            <a:off x="2060448" y="5031092"/>
            <a:ext cx="8363888" cy="830289"/>
          </a:xfrm>
          <a:prstGeom prst="rect">
            <a:avLst/>
          </a:prstGeom>
        </p:spPr>
      </p:pic>
      <p:sp>
        <p:nvSpPr>
          <p:cNvPr id="10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</a:t>
            </a:r>
            <a:r>
              <a:t>. </a:t>
            </a:r>
            <a:r>
              <a:rPr dirty="0"/>
              <a:t>11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11" name="Google Shape;126;g104476d1465_1_17" descr="Google Shape;126;g104476d1465_1_1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Google Shape;448;p32"/>
              <p:cNvSpPr txBox="1"/>
              <p:nvPr/>
            </p:nvSpPr>
            <p:spPr>
              <a:xfrm>
                <a:off x="965200" y="398472"/>
                <a:ext cx="10261600" cy="120028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>
                <a:lvl1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The absolute value of the elevation of Enterprise, Florida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19.7</m:t>
                    </m:r>
                  </m:oMath>
                </a14:m>
                <a:r>
                  <a:rPr lang="en-US" dirty="0"/>
                  <a:t> feet. In relation to sea level, write the two values that could represent the elevation of Enterprise, Florida.</a:t>
                </a:r>
              </a:p>
            </p:txBody>
          </p:sp>
        </mc:Choice>
        <mc:Fallback xmlns="">
          <p:sp>
            <p:nvSpPr>
              <p:cNvPr id="335" name="Google Shape;448;p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" y="398472"/>
                <a:ext cx="10261600" cy="1200286"/>
              </a:xfrm>
              <a:prstGeom prst="rect">
                <a:avLst/>
              </a:prstGeom>
              <a:blipFill rotWithShape="0">
                <a:blip r:embed="rId2"/>
                <a:stretch>
                  <a:fillRect l="-1366" t="-4061" b="-1066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6" name="Google Shape;449;p3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</a:t>
            </a:r>
            <a:r>
              <a:t>. </a:t>
            </a:r>
            <a:r>
              <a:rPr dirty="0"/>
              <a:t>11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7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2202944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455;p33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41" name="Google Shape;458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1" cy="1325701"/>
          </a:xfrm>
          <a:prstGeom prst="rect">
            <a:avLst/>
          </a:prstGeom>
        </p:spPr>
        <p:txBody>
          <a:bodyPr/>
          <a:lstStyle>
            <a:lvl1pPr algn="ctr">
              <a:defRPr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dirty="0"/>
              <a:t>Wrap-Up</a:t>
            </a:r>
          </a:p>
        </p:txBody>
      </p:sp>
      <p:pic>
        <p:nvPicPr>
          <p:cNvPr id="342" name="Google Shape;459;p33" descr="Google Shape;459;p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331" y="2933693"/>
            <a:ext cx="1008300" cy="1016514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</a:t>
            </a:r>
            <a:r>
              <a:t>. </a:t>
            </a:r>
            <a:r>
              <a:rPr dirty="0"/>
              <a:t>11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8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467;p34"/>
          <p:cNvSpPr txBox="1"/>
          <p:nvPr/>
        </p:nvSpPr>
        <p:spPr>
          <a:xfrm>
            <a:off x="1462613" y="248671"/>
            <a:ext cx="8019299" cy="1089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lnSpc>
                <a:spcPct val="90000"/>
              </a:lnSpc>
              <a:defRPr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t>3.7.7 Wrap-Up: Ticket Out the Door</a:t>
            </a:r>
          </a:p>
        </p:txBody>
      </p:sp>
      <p:pic>
        <p:nvPicPr>
          <p:cNvPr id="347" name="Google Shape;468;p34" descr="Google Shape;468;p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62" y="273460"/>
            <a:ext cx="747301" cy="747300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Google Shape;469;p34"/>
              <p:cNvSpPr txBox="1"/>
              <p:nvPr/>
            </p:nvSpPr>
            <p:spPr>
              <a:xfrm>
                <a:off x="1380463" y="1386025"/>
                <a:ext cx="9687106" cy="153473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>
                <a:lvl1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Complete the statement and model it on the number line.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=__________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8" name="Google Shape;469;p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463" y="1386025"/>
                <a:ext cx="9687106" cy="1534737"/>
              </a:xfrm>
              <a:prstGeom prst="rect">
                <a:avLst/>
              </a:prstGeom>
              <a:blipFill rotWithShape="0">
                <a:blip r:embed="rId3"/>
                <a:stretch>
                  <a:fillRect l="-1447" t="-3175" r="-6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9" name="Google Shape;470;p3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E6F11596-A50F-B046-9339-AD5F8F3CDF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2550" y="4168786"/>
            <a:ext cx="8760509" cy="1153120"/>
          </a:xfrm>
          <a:prstGeom prst="rect">
            <a:avLst/>
          </a:prstGeom>
        </p:spPr>
      </p:pic>
      <p:sp>
        <p:nvSpPr>
          <p:cNvPr id="9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</a:t>
            </a:r>
            <a:r>
              <a:t>. </a:t>
            </a:r>
            <a:r>
              <a:rPr dirty="0"/>
              <a:t>11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10" name="Google Shape;126;g104476d1465_1_17" descr="Google Shape;126;g104476d1465_1_1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Google Shape;478;p35"/>
              <p:cNvSpPr txBox="1"/>
              <p:nvPr/>
            </p:nvSpPr>
            <p:spPr>
              <a:xfrm>
                <a:off x="927100" y="422856"/>
                <a:ext cx="10337800" cy="156961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>
                <a:spAutoFit/>
              </a:bodyPr>
              <a:lstStyle>
                <a:lvl1pPr>
                  <a:defRPr sz="2400"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The number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−220 </m:t>
                    </m:r>
                  </m:oMath>
                </a14:m>
                <a:r>
                  <a:rPr lang="en-US" dirty="0"/>
                  <a:t>represents a withdrawal in dollars from a checking account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220</m:t>
                    </m:r>
                  </m:oMath>
                </a14:m>
                <a:r>
                  <a:rPr lang="en-US" dirty="0"/>
                  <a:t> represents a deposit in dollars to the same checking account. What do the absolute values of these values mean in terms of this context? </a:t>
                </a:r>
              </a:p>
            </p:txBody>
          </p:sp>
        </mc:Choice>
        <mc:Fallback xmlns="">
          <p:sp>
            <p:nvSpPr>
              <p:cNvPr id="353" name="Google Shape;478;p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" y="422856"/>
                <a:ext cx="10337800" cy="1569618"/>
              </a:xfrm>
              <a:prstGeom prst="rect">
                <a:avLst/>
              </a:prstGeom>
              <a:blipFill rotWithShape="0">
                <a:blip r:embed="rId2"/>
                <a:stretch>
                  <a:fillRect l="-1356" t="-29457" r="-1533" b="-775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Google Shape;479;p35"/>
          <p:cNvSpPr/>
          <p:nvPr/>
        </p:nvSpPr>
        <p:spPr>
          <a:xfrm>
            <a:off x="0" y="-8473"/>
            <a:ext cx="223200" cy="6866100"/>
          </a:xfrm>
          <a:prstGeom prst="rect">
            <a:avLst/>
          </a:prstGeom>
          <a:solidFill>
            <a:srgbClr val="FCBD1E"/>
          </a:solidFill>
          <a:ln>
            <a:solidFill>
              <a:srgbClr val="FCBD1E"/>
            </a:solidFill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48249" y="6457550"/>
            <a:ext cx="2634002" cy="40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 algn="r">
              <a:defRPr i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volume 1, pg</a:t>
            </a:r>
            <a:r>
              <a:t>. </a:t>
            </a:r>
            <a:r>
              <a:rPr dirty="0"/>
              <a:t>11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7" name="Google Shape;126;g104476d1465_1_17" descr="Google Shape;126;g104476d1465_1_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477" y="6200475"/>
            <a:ext cx="563851" cy="657277"/>
          </a:xfrm>
          <a:prstGeom prst="rect">
            <a:avLst/>
          </a:prstGeom>
          <a:ln w="12700">
            <a:miter lim="400000"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C401BE35-BCB8-4817-ACA6-239AA635D421}"/>
</file>

<file path=customXml/itemProps2.xml><?xml version="1.0" encoding="utf-8"?>
<ds:datastoreItem xmlns:ds="http://schemas.openxmlformats.org/officeDocument/2006/customXml" ds:itemID="{0007391A-AF3C-43A4-942C-AA6EDF1390C1}"/>
</file>

<file path=customXml/itemProps3.xml><?xml version="1.0" encoding="utf-8"?>
<ds:datastoreItem xmlns:ds="http://schemas.openxmlformats.org/officeDocument/2006/customXml" ds:itemID="{B68679A1-746F-41CB-8B95-F54A361441C9}"/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1359</Words>
  <Application>Microsoft Office PowerPoint</Application>
  <PresentationFormat>Widescreen</PresentationFormat>
  <Paragraphs>223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 Black</vt:lpstr>
      <vt:lpstr>Calibri</vt:lpstr>
      <vt:lpstr>Cambria Math</vt:lpstr>
      <vt:lpstr>Verdana</vt:lpstr>
      <vt:lpstr>Wingdings</vt:lpstr>
      <vt:lpstr>1_Office Theme</vt:lpstr>
      <vt:lpstr>6th Grade Accelerated Math  Unit 3, Lesson 7  Absolute Value  Volume 1, pg. 111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 Unit 3, Lesson 7  Absolute Value  Volume 1, pg. 111 </dc:title>
  <cp:lastModifiedBy>Cassie O'Connor</cp:lastModifiedBy>
  <cp:revision>5</cp:revision>
  <dcterms:modified xsi:type="dcterms:W3CDTF">2022-06-29T05:06:00Z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