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1"/>
  </p:notesMasterIdLst>
  <p:sldIdLst>
    <p:sldId id="256" r:id="rId5"/>
    <p:sldId id="257" r:id="rId6"/>
    <p:sldId id="285" r:id="rId7"/>
    <p:sldId id="286" r:id="rId8"/>
    <p:sldId id="261" r:id="rId9"/>
    <p:sldId id="287" r:id="rId10"/>
    <p:sldId id="317" r:id="rId11"/>
    <p:sldId id="318" r:id="rId12"/>
    <p:sldId id="319" r:id="rId13"/>
    <p:sldId id="332" r:id="rId14"/>
    <p:sldId id="314" r:id="rId15"/>
    <p:sldId id="315" r:id="rId16"/>
    <p:sldId id="316" r:id="rId17"/>
    <p:sldId id="334" r:id="rId18"/>
    <p:sldId id="320" r:id="rId19"/>
    <p:sldId id="321" r:id="rId20"/>
    <p:sldId id="322" r:id="rId21"/>
    <p:sldId id="289" r:id="rId22"/>
    <p:sldId id="290" r:id="rId23"/>
    <p:sldId id="308" r:id="rId24"/>
    <p:sldId id="335" r:id="rId25"/>
    <p:sldId id="302" r:id="rId26"/>
    <p:sldId id="303" r:id="rId27"/>
    <p:sldId id="309" r:id="rId28"/>
    <p:sldId id="306" r:id="rId29"/>
    <p:sldId id="307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D1E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99"/>
    <p:restoredTop sz="94695"/>
  </p:normalViewPr>
  <p:slideViewPr>
    <p:cSldViewPr snapToGrid="0">
      <p:cViewPr>
        <p:scale>
          <a:sx n="117" d="100"/>
          <a:sy n="117" d="100"/>
        </p:scale>
        <p:origin x="-180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55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662733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6425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72677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8341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5.tiff"/><Relationship Id="rId4" Type="http://schemas.openxmlformats.org/officeDocument/2006/relationships/image" Target="../media/image2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8.tiff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.tif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5.tiff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Grade Accelerated Math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</a:rPr>
              <a:t>Numbers and the Number Line – Part 2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82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=""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40288" y="594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688" y="33316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=""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440288" y="1600200"/>
            <a:ext cx="877051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latin typeface="Verdana" pitchFamily="34" charset="0"/>
                <a:ea typeface="Verdana" pitchFamily="34" charset="0"/>
              </a:rPr>
              <a:t>MA.6.NSO.1.1 </a:t>
            </a:r>
          </a:p>
          <a:p>
            <a:pPr marL="444500" indent="0">
              <a:buSzPts val="1100"/>
              <a:buNone/>
            </a:pPr>
            <a:r>
              <a:rPr lang="en-US" sz="2400" dirty="0">
                <a:latin typeface="Verdana" pitchFamily="34" charset="0"/>
                <a:ea typeface="Verdana" pitchFamily="34" charset="0"/>
              </a:rPr>
              <a:t>Extend previous understanding of numbers to define rational numbers. Plot, order, and compare rational numbers.</a:t>
            </a:r>
          </a:p>
          <a:p>
            <a:pPr marL="0" indent="0">
              <a:buSzPts val="1100"/>
              <a:buNone/>
            </a:pPr>
            <a:endParaRPr lang="en-US" sz="2400" dirty="0" smtClean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400" dirty="0" smtClean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</a:t>
            </a:r>
            <a:r>
              <a:rPr lang="en-US" sz="2400" dirty="0" smtClean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6.NSO.1.2 </a:t>
            </a:r>
            <a:endParaRPr lang="en-US" sz="24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Given a mathematical or real-world context, represent quantities that have opposite direction using rational numbers. Compare them on a number line and explain the meaning of zero within its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2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639900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639900" y="1596390"/>
            <a:ext cx="85709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="" xmlns:a16="http://schemas.microsoft.com/office/drawing/2014/main" id="{0EC4A24D-AC58-5143-9A1A-1E71E28DFCF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82119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957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482119" y="1600200"/>
            <a:ext cx="872868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 can determine how far a number and its opposite are from zero.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 can represent a number and its opposite on a number line.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 can compare a quantity and its opposite on a horizontal or vertical line and explain the meaning of zero within the context.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7BA09A98-EDA0-5343-AD77-8F8E8C4F0E7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3785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40350" y="-2599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3.2.1 Warm-Up: Word Pairs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=""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298" y="20415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143000" y="1386026"/>
            <a:ext cx="92445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the pairs of words above?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do you think this may be used in the study of mathematics?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="" xmlns:a16="http://schemas.microsoft.com/office/drawing/2014/main" id="{C2564F7E-689E-724F-BBC4-EC8DFC52E66C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87A28F08-79C0-1641-9FEC-53105F45A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159570"/>
              </p:ext>
            </p:extLst>
          </p:nvPr>
        </p:nvGraphicFramePr>
        <p:xfrm>
          <a:off x="3641271" y="1189438"/>
          <a:ext cx="4539343" cy="3044574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893234">
                  <a:extLst>
                    <a:ext uri="{9D8B030D-6E8A-4147-A177-3AD203B41FA5}">
                      <a16:colId xmlns="" xmlns:a16="http://schemas.microsoft.com/office/drawing/2014/main" val="1851903412"/>
                    </a:ext>
                  </a:extLst>
                </a:gridCol>
                <a:gridCol w="2646109">
                  <a:extLst>
                    <a:ext uri="{9D8B030D-6E8A-4147-A177-3AD203B41FA5}">
                      <a16:colId xmlns="" xmlns:a16="http://schemas.microsoft.com/office/drawing/2014/main" val="3550171483"/>
                    </a:ext>
                  </a:extLst>
                </a:gridCol>
              </a:tblGrid>
              <a:tr h="33828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Up</a:t>
                      </a: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Down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878610162"/>
                  </a:ext>
                </a:extLst>
              </a:tr>
              <a:tr h="33828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Left</a:t>
                      </a: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Right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90000495"/>
                  </a:ext>
                </a:extLst>
              </a:tr>
              <a:tr h="676572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Clockwise</a:t>
                      </a: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Counterclockwise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409247095"/>
                  </a:ext>
                </a:extLst>
              </a:tr>
              <a:tr h="33828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Increase</a:t>
                      </a: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Decrease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945747684"/>
                  </a:ext>
                </a:extLst>
              </a:tr>
              <a:tr h="33828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Ebb</a:t>
                      </a: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Flow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808119774"/>
                  </a:ext>
                </a:extLst>
              </a:tr>
              <a:tr h="33828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West</a:t>
                      </a: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East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403351073"/>
                  </a:ext>
                </a:extLst>
              </a:tr>
              <a:tr h="33828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North</a:t>
                      </a: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South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44093323"/>
                  </a:ext>
                </a:extLst>
              </a:tr>
              <a:tr h="33828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Gain</a:t>
                      </a: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Lose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631628984"/>
                  </a:ext>
                </a:extLst>
              </a:tr>
            </a:tbl>
          </a:graphicData>
        </a:graphic>
      </p:graphicFrame>
      <p:sp>
        <p:nvSpPr>
          <p:cNvPr id="10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02250" y="-8101"/>
            <a:ext cx="93165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3.2.2 Activity: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</a:rPr>
              <a:t>Folded Number Line</a:t>
            </a:r>
            <a:endParaRPr lang="en-US"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2442" y="27984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1003300" y="1386025"/>
                <a:ext cx="10441432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a separate sheet of paper, create a number line with integers from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answer the following questions. Fold the number line so that the vertical crease goes through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two sides of the number line match up perfectly.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the number line is folded, which number is the same distance away from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 the number 4?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00" y="1386025"/>
                <a:ext cx="10441432" cy="3416320"/>
              </a:xfrm>
              <a:prstGeom prst="rect">
                <a:avLst/>
              </a:prstGeom>
              <a:blipFill rotWithShape="0">
                <a:blip r:embed="rId4"/>
                <a:stretch>
                  <a:fillRect l="-935" t="-1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="" xmlns:a16="http://schemas.microsoft.com/office/drawing/2014/main" id="{52361296-D9C8-B349-AAC1-3DD5FF74197C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863600" y="337513"/>
                <a:ext cx="1046480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the number line is folded, which number is the same distance away from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the number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the number line is folded, what do you notice about the numbers that are the same distance away from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337513"/>
                <a:ext cx="10464800" cy="3416320"/>
              </a:xfrm>
              <a:prstGeom prst="rect">
                <a:avLst/>
              </a:prstGeom>
              <a:blipFill rotWithShape="0">
                <a:blip r:embed="rId3"/>
                <a:stretch>
                  <a:fillRect l="-932" t="-1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44C210D6-0F1D-3545-B73D-9B9FC6EA035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863600" y="337513"/>
                <a:ext cx="104648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another pair of numbers that are the same distance away from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Two numbers that are the same distance from zero on the number line are called __________________. 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337513"/>
                <a:ext cx="10464800" cy="3785652"/>
              </a:xfrm>
              <a:prstGeom prst="rect">
                <a:avLst/>
              </a:prstGeom>
              <a:blipFill rotWithShape="0">
                <a:blip r:embed="rId3"/>
                <a:stretch>
                  <a:fillRect l="-932" t="-1288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44C210D6-0F1D-3545-B73D-9B9FC6EA035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51375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=""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58384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3.2.3 Collaboration: Opposites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7776" y="32287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850900" y="1386026"/>
                <a:ext cx="10746232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 your partner, choose values for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𝑊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𝐹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value for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𝑊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any rational number between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−8 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that is not an integer. The value for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𝐹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any rational number between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8 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that is not an integer.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value for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𝑊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_______. The value for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𝐹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_______.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900" y="1386026"/>
                <a:ext cx="10746232" cy="3046988"/>
              </a:xfrm>
              <a:prstGeom prst="rect">
                <a:avLst/>
              </a:prstGeom>
              <a:blipFill rotWithShape="0">
                <a:blip r:embed="rId4"/>
                <a:stretch>
                  <a:fillRect l="-908" t="-3200" r="-1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="" xmlns:a16="http://schemas.microsoft.com/office/drawing/2014/main" id="{D252DD22-4545-6844-9D1D-323C0B41ADF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Chart, box and whisker chart&#10;&#10;Description automatically generated">
            <a:extLst>
              <a:ext uri="{FF2B5EF4-FFF2-40B4-BE49-F238E27FC236}">
                <a16:creationId xmlns="" xmlns:a16="http://schemas.microsoft.com/office/drawing/2014/main" id="{16DFABC2-E46E-0141-9D7A-659105714E9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65" t="53823" r="5178"/>
          <a:stretch/>
        </p:blipFill>
        <p:spPr bwMode="auto">
          <a:xfrm>
            <a:off x="2612708" y="1429660"/>
            <a:ext cx="6966585" cy="863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3A90BC03-898D-482B-B5D8-FEB22E40B60A}"/>
              </a:ext>
            </a:extLst>
          </p:cNvPr>
          <p:cNvGrpSpPr/>
          <p:nvPr/>
        </p:nvGrpSpPr>
        <p:grpSpPr>
          <a:xfrm>
            <a:off x="901700" y="233509"/>
            <a:ext cx="10388600" cy="6624491"/>
            <a:chOff x="-546967" y="410665"/>
            <a:chExt cx="10388600" cy="66244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="" xmlns:a16="http://schemas.microsoft.com/office/drawing/2014/main" id="{2AA35BC6-D428-FC41-BDE5-6438AB8840FC}"/>
                    </a:ext>
                  </a:extLst>
                </p:cNvPr>
                <p:cNvSpPr txBox="1"/>
                <p:nvPr/>
              </p:nvSpPr>
              <p:spPr>
                <a:xfrm>
                  <a:off x="-546967" y="410665"/>
                  <a:ext cx="10388600" cy="4154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457200" indent="-457200">
                    <a:buFont typeface="+mj-lt"/>
                    <a:buAutoNum type="arabicPeriod"/>
                  </a:pPr>
                  <a:r>
                    <a:rPr lang="en-US" sz="24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Plot and label both numbers on the number line. </a:t>
                  </a:r>
                </a:p>
                <a:p>
                  <a:pPr marL="457200" indent="-457200">
                    <a:buFont typeface="+mj-lt"/>
                    <a:buAutoNum type="arabicPeriod"/>
                  </a:pPr>
                  <a:endPara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  <a:p>
                  <a:pPr marL="457200" indent="-457200">
                    <a:buFont typeface="+mj-lt"/>
                    <a:buAutoNum type="arabicPeriod"/>
                  </a:pPr>
                  <a:endPara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  <a:p>
                  <a:pPr marL="457200" indent="-457200">
                    <a:buFont typeface="+mj-lt"/>
                    <a:buAutoNum type="arabicPeriod"/>
                  </a:pPr>
                  <a:endPara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  <a:p>
                  <a:pPr marL="457200" indent="-457200">
                    <a:buFont typeface="+mj-lt"/>
                    <a:buAutoNum type="arabicPeriod"/>
                  </a:pPr>
                  <a:endPara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  <a:p>
                  <a:pPr marL="457200" indent="-457200">
                    <a:buFont typeface="+mj-lt"/>
                    <a:buAutoNum type="arabicPeriod"/>
                  </a:pPr>
                  <a:endPara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  <a:p>
                  <a:pPr marL="457200" indent="-457200">
                    <a:buFont typeface="+mj-lt"/>
                    <a:buAutoNum type="arabicPeriod"/>
                  </a:pPr>
                  <a:r>
                    <a:rPr lang="en-US" sz="24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Plot the opposite of </a:t>
                  </a:r>
                  <a14:m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𝑊</m:t>
                      </m:r>
                    </m:oMath>
                  </a14:m>
                  <a:r>
                    <a:rPr lang="en-US" sz="24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. Label the point </a:t>
                  </a:r>
                  <a14:m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𝑋</m:t>
                      </m:r>
                    </m:oMath>
                  </a14:m>
                  <a:r>
                    <a:rPr lang="en-US" sz="24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.</a:t>
                  </a:r>
                </a:p>
                <a:p>
                  <a:pPr marL="457200" indent="-457200">
                    <a:buFont typeface="+mj-lt"/>
                    <a:buAutoNum type="arabicPeriod"/>
                  </a:pPr>
                  <a:endPara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  <a:p>
                  <a:pPr marL="457200" indent="-457200">
                    <a:buFont typeface="+mj-lt"/>
                    <a:buAutoNum type="arabicPeriod"/>
                  </a:pPr>
                  <a:r>
                    <a:rPr lang="en-US" sz="24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What is the value of point </a:t>
                  </a:r>
                  <a14:m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𝑋</m:t>
                      </m:r>
                    </m:oMath>
                  </a14:m>
                  <a:r>
                    <a:rPr lang="en-US" sz="24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?</a:t>
                  </a:r>
                </a:p>
                <a:p>
                  <a:pPr marL="457200" indent="-457200">
                    <a:buFont typeface="+mj-lt"/>
                    <a:buAutoNum type="arabicPeriod"/>
                  </a:pPr>
                  <a:endPara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  <a:p>
                  <a:pPr marL="457200" indent="-457200">
                    <a:buFont typeface="+mj-lt"/>
                    <a:buAutoNum type="arabicPeriod"/>
                  </a:pPr>
                  <a:r>
                    <a:rPr lang="en-US" sz="24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How far is point </a:t>
                  </a:r>
                  <a14:m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𝑋</m:t>
                      </m:r>
                    </m:oMath>
                  </a14:m>
                  <a:r>
                    <a:rPr lang="en-US" sz="24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from </a:t>
                  </a:r>
                  <a14:m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0</m:t>
                      </m:r>
                    </m:oMath>
                  </a14:m>
                  <a:r>
                    <a:rPr lang="en-US" sz="24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?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2AA35BC6-D428-FC41-BDE5-6438AB8840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46967" y="410665"/>
                  <a:ext cx="10388600" cy="415498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939" t="-1173" b="-21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="" xmlns:a16="http://schemas.microsoft.com/office/drawing/2014/main" id="{65033947-7284-44DB-97D1-91F49A2530D9}"/>
                    </a:ext>
                  </a:extLst>
                </p:cNvPr>
                <p:cNvSpPr txBox="1"/>
                <p:nvPr/>
              </p:nvSpPr>
              <p:spPr>
                <a:xfrm>
                  <a:off x="-546967" y="4726832"/>
                  <a:ext cx="9357868" cy="23083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457200" indent="-457200">
                    <a:buFont typeface="+mj-lt"/>
                    <a:buAutoNum type="arabicPeriod" startAt="5"/>
                  </a:pPr>
                  <a:r>
                    <a:rPr lang="en-US" sz="24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Plot the opposite of </a:t>
                  </a:r>
                  <a14:m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𝐹</m:t>
                      </m:r>
                    </m:oMath>
                  </a14:m>
                  <a:r>
                    <a:rPr lang="en-US" sz="24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. Label the point </a:t>
                  </a:r>
                  <a14:m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𝐺</m:t>
                      </m:r>
                    </m:oMath>
                  </a14:m>
                  <a:r>
                    <a:rPr lang="en-US" sz="24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.</a:t>
                  </a:r>
                </a:p>
                <a:p>
                  <a:pPr marL="457200" indent="-457200">
                    <a:buFont typeface="+mj-lt"/>
                    <a:buAutoNum type="arabicPeriod" startAt="5"/>
                  </a:pPr>
                  <a:endPara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  <a:p>
                  <a:pPr marL="457200" indent="-457200">
                    <a:buFont typeface="+mj-lt"/>
                    <a:buAutoNum type="arabicPeriod" startAt="6"/>
                  </a:pPr>
                  <a:r>
                    <a:rPr lang="en-US" sz="24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What is the value of point </a:t>
                  </a:r>
                  <a14:m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𝐺</m:t>
                      </m:r>
                    </m:oMath>
                  </a14:m>
                  <a:r>
                    <a:rPr lang="en-US" sz="24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?</a:t>
                  </a:r>
                </a:p>
                <a:p>
                  <a:pPr marL="457200" indent="-457200">
                    <a:buFont typeface="+mj-lt"/>
                    <a:buAutoNum type="arabicPeriod" startAt="6"/>
                  </a:pPr>
                  <a:endPara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  <a:p>
                  <a:pPr marL="457200" indent="-457200">
                    <a:buFont typeface="+mj-lt"/>
                    <a:buAutoNum type="arabicPeriod" startAt="6"/>
                  </a:pPr>
                  <a:r>
                    <a:rPr lang="en-US" sz="24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How far is point </a:t>
                  </a:r>
                  <a14:m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𝐺</m:t>
                      </m:r>
                    </m:oMath>
                  </a14:m>
                  <a:r>
                    <a:rPr lang="en-US" sz="24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from </a:t>
                  </a:r>
                  <a14:m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0</m:t>
                      </m:r>
                    </m:oMath>
                  </a14:m>
                  <a:r>
                    <a:rPr lang="en-US" sz="24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?</a:t>
                  </a:r>
                </a:p>
                <a:p>
                  <a:endPara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65033947-7284-44DB-97D1-91F49A2530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46967" y="4726832"/>
                  <a:ext cx="9357868" cy="2308324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042" t="-2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927100" y="410665"/>
                <a:ext cx="1048846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8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Noah said, “The expression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read ‘negative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’ or ‘the opposite of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’. So, 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rational number,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will always be a negative number.”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points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explain to Noah that the opposite of a value could be positive.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00" y="410665"/>
                <a:ext cx="10488466" cy="2677656"/>
              </a:xfrm>
              <a:prstGeom prst="rect">
                <a:avLst/>
              </a:prstGeom>
              <a:blipFill rotWithShape="0">
                <a:blip r:embed="rId3"/>
                <a:stretch>
                  <a:fillRect l="-872" t="-17273" r="-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2094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=""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58060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3.2.4 Try It: Opposites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8252" y="28794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1244600" y="1386026"/>
                <a:ext cx="9958832" cy="374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number line below to answer the following problems.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>
                  <a:tabLst>
                    <a:tab pos="447675" algn="l"/>
                  </a:tabLst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  <a:tabLst>
                    <a:tab pos="906463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Label the tick marks on the number line. Then plot the value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20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its opposite on the number line. </a:t>
                </a:r>
              </a:p>
              <a:p>
                <a:pPr marL="457200">
                  <a:buFont typeface="+mj-lt"/>
                  <a:buAutoNum type="alphaLcPeriod"/>
                  <a:tabLst>
                    <a:tab pos="447675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  <a:tabLst>
                    <a:tab pos="447675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value is larger,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20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or its opposite?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1386026"/>
                <a:ext cx="9958832" cy="3741665"/>
              </a:xfrm>
              <a:prstGeom prst="rect">
                <a:avLst/>
              </a:prstGeom>
              <a:blipFill rotWithShape="0">
                <a:blip r:embed="rId4"/>
                <a:stretch>
                  <a:fillRect l="-673" t="-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="" xmlns:a16="http://schemas.microsoft.com/office/drawing/2014/main" id="{8A539B00-8E96-3740-8C2B-62EF12D58B8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Text Box 3">
            <a:extLst>
              <a:ext uri="{FF2B5EF4-FFF2-40B4-BE49-F238E27FC236}">
                <a16:creationId xmlns="" xmlns:a16="http://schemas.microsoft.com/office/drawing/2014/main" id="{CC6380D2-9576-5D43-BACF-B46D19E2F02E}"/>
              </a:ext>
            </a:extLst>
          </p:cNvPr>
          <p:cNvSpPr txBox="1"/>
          <p:nvPr/>
        </p:nvSpPr>
        <p:spPr>
          <a:xfrm>
            <a:off x="2538311" y="2959081"/>
            <a:ext cx="520700" cy="36131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</a:pPr>
            <a:r>
              <a:rPr lang="en-US" sz="1800">
                <a:latin typeface="Arial" panose="020B0604020202020204" pitchFamily="34" charset="0"/>
                <a:ea typeface="Times New Roman" panose="02020603050405020304" pitchFamily="18" charset="0"/>
              </a:rPr>
              <a:t>-5</a:t>
            </a:r>
            <a:endParaRPr lang="en-US" sz="12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ext Box 4">
            <a:extLst>
              <a:ext uri="{FF2B5EF4-FFF2-40B4-BE49-F238E27FC236}">
                <a16:creationId xmlns="" xmlns:a16="http://schemas.microsoft.com/office/drawing/2014/main" id="{3B7D1CEB-286C-2046-9CD5-F69A174FA073}"/>
              </a:ext>
            </a:extLst>
          </p:cNvPr>
          <p:cNvSpPr txBox="1"/>
          <p:nvPr/>
        </p:nvSpPr>
        <p:spPr>
          <a:xfrm>
            <a:off x="5740616" y="2961621"/>
            <a:ext cx="520700" cy="36131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</a:pPr>
            <a:r>
              <a:rPr lang="en-US" sz="1800">
                <a:latin typeface="Arial" panose="020B0604020202020204" pitchFamily="34" charset="0"/>
                <a:ea typeface="Times New Roman" panose="02020603050405020304" pitchFamily="18" charset="0"/>
              </a:rPr>
              <a:t>0</a:t>
            </a:r>
            <a:endParaRPr lang="en-US" sz="12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Text Box 5">
            <a:extLst>
              <a:ext uri="{FF2B5EF4-FFF2-40B4-BE49-F238E27FC236}">
                <a16:creationId xmlns="" xmlns:a16="http://schemas.microsoft.com/office/drawing/2014/main" id="{0D28EDD0-A6C1-4A44-8ED6-B8E8FD5284B6}"/>
              </a:ext>
            </a:extLst>
          </p:cNvPr>
          <p:cNvSpPr txBox="1"/>
          <p:nvPr/>
        </p:nvSpPr>
        <p:spPr>
          <a:xfrm>
            <a:off x="8921966" y="2954636"/>
            <a:ext cx="520700" cy="36131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</a:pPr>
            <a:r>
              <a:rPr lang="en-US" sz="1800">
                <a:latin typeface="Arial" panose="020B0604020202020204" pitchFamily="34" charset="0"/>
                <a:ea typeface="Times New Roman" panose="02020603050405020304" pitchFamily="18" charset="0"/>
              </a:rPr>
              <a:t>5</a:t>
            </a:r>
            <a:endParaRPr lang="en-US" sz="12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6" name="Picture 15" descr="Chart, box and whisker chart&#10;&#10;Description automatically generated">
            <a:extLst>
              <a:ext uri="{FF2B5EF4-FFF2-40B4-BE49-F238E27FC236}">
                <a16:creationId xmlns="" xmlns:a16="http://schemas.microsoft.com/office/drawing/2014/main" id="{EDEB1CC8-E7DB-9F48-B7F9-47A167123D8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65" t="53823" r="5178" b="25079"/>
          <a:stretch/>
        </p:blipFill>
        <p:spPr bwMode="auto">
          <a:xfrm>
            <a:off x="2430460" y="2573377"/>
            <a:ext cx="6946900" cy="3930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22347CCE-34A7-8044-BA67-B5895157AE55}"/>
                  </a:ext>
                </a:extLst>
              </p:cNvPr>
              <p:cNvSpPr txBox="1"/>
              <p:nvPr/>
            </p:nvSpPr>
            <p:spPr>
              <a:xfrm>
                <a:off x="952500" y="349705"/>
                <a:ext cx="7703821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vertical number line to answer the following problems.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Label the tick marks on the number line. Plot and label the value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−3.8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its opposite on the number line. 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value is larger,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−3.8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its opposite?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2347CCE-34A7-8044-BA67-B5895157A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349705"/>
                <a:ext cx="7703821" cy="3785652"/>
              </a:xfrm>
              <a:prstGeom prst="rect">
                <a:avLst/>
              </a:prstGeom>
              <a:blipFill rotWithShape="0">
                <a:blip r:embed="rId3"/>
                <a:stretch>
                  <a:fillRect l="-1187" t="-1288" r="-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E55548A-47DB-5443-92E0-7B6639097BA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8" name="Picture 7" descr="A picture containing antenna&#10;&#10;Description automatically generated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6015" y="267046"/>
            <a:ext cx="1091738" cy="614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466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=""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49850" y="-2308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3.2.5 Guided Instruction: </a:t>
            </a: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</a:rPr>
              <a:t>Comparing a Quantity and Its Opposite</a:t>
            </a:r>
            <a:endParaRPr lang="en-US" sz="28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=""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550" y="26038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723900" y="1386026"/>
                <a:ext cx="9663684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each pair of values on the number line. Choose an answer to correctly fill in the blank. 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−0.25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0.25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value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−0.25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                  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0.25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−0.25  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     0.25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386026"/>
                <a:ext cx="9663684" cy="4708981"/>
              </a:xfrm>
              <a:prstGeom prst="rect">
                <a:avLst/>
              </a:prstGeom>
              <a:blipFill rotWithShape="0">
                <a:blip r:embed="rId4"/>
                <a:stretch>
                  <a:fillRect l="-694" t="-647" b="-9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F7A98FFB-A3E6-7642-B96E-3A3B8C27BD7F}"/>
              </a:ext>
            </a:extLst>
          </p:cNvPr>
          <p:cNvSpPr/>
          <p:nvPr/>
        </p:nvSpPr>
        <p:spPr>
          <a:xfrm>
            <a:off x="-4107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Rectangle: Rounded Corners 15">
            <a:extLst>
              <a:ext uri="{FF2B5EF4-FFF2-40B4-BE49-F238E27FC236}">
                <a16:creationId xmlns="" xmlns:a16="http://schemas.microsoft.com/office/drawing/2014/main" id="{6AC7686B-882F-DA41-AC77-62EFEE16BCFD}"/>
              </a:ext>
            </a:extLst>
          </p:cNvPr>
          <p:cNvSpPr/>
          <p:nvPr/>
        </p:nvSpPr>
        <p:spPr>
          <a:xfrm>
            <a:off x="4106044" y="4843443"/>
            <a:ext cx="1541554" cy="7366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greater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7">
            <a:extLst>
              <a:ext uri="{FF2B5EF4-FFF2-40B4-BE49-F238E27FC236}">
                <a16:creationId xmlns="" xmlns:a16="http://schemas.microsoft.com/office/drawing/2014/main" id="{43A5094C-E6D5-7249-9D47-8A39C93E7A6E}"/>
              </a:ext>
            </a:extLst>
          </p:cNvPr>
          <p:cNvSpPr/>
          <p:nvPr/>
        </p:nvSpPr>
        <p:spPr>
          <a:xfrm>
            <a:off x="2575920" y="5457640"/>
            <a:ext cx="1025299" cy="7366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200" indent="-449263">
              <a:lnSpc>
                <a:spcPct val="107000"/>
              </a:lnSpc>
              <a:buFont typeface="Courier New" panose="02070309020205020404" pitchFamily="49" charset="0"/>
              <a:buChar char="o"/>
              <a:tabLst>
                <a:tab pos="171450" algn="l"/>
              </a:tabLst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49263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171450" algn="l"/>
              </a:tabLst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0CA1D8B3-11F4-6A4A-B3F3-BD355E74C108}"/>
              </a:ext>
            </a:extLst>
          </p:cNvPr>
          <p:cNvGrpSpPr/>
          <p:nvPr/>
        </p:nvGrpSpPr>
        <p:grpSpPr>
          <a:xfrm>
            <a:off x="2603500" y="3987209"/>
            <a:ext cx="6985000" cy="750189"/>
            <a:chOff x="1079500" y="3568425"/>
            <a:chExt cx="6985000" cy="750189"/>
          </a:xfrm>
        </p:grpSpPr>
        <p:pic>
          <p:nvPicPr>
            <p:cNvPr id="14" name="Picture 13" descr="Chart, box and whisker chart&#10;&#10;Description automatically generated">
              <a:extLst>
                <a:ext uri="{FF2B5EF4-FFF2-40B4-BE49-F238E27FC236}">
                  <a16:creationId xmlns="" xmlns:a16="http://schemas.microsoft.com/office/drawing/2014/main" id="{981CBF1E-49A6-5E45-8FCE-B5FA896EFE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819" t="36033" r="9651" b="45200"/>
            <a:stretch/>
          </p:blipFill>
          <p:spPr bwMode="auto">
            <a:xfrm>
              <a:off x="1079500" y="3568425"/>
              <a:ext cx="6985000" cy="46736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5" name="Text Box 7">
              <a:extLst>
                <a:ext uri="{FF2B5EF4-FFF2-40B4-BE49-F238E27FC236}">
                  <a16:creationId xmlns="" xmlns:a16="http://schemas.microsoft.com/office/drawing/2014/main" id="{071AF0EC-C8FA-C94F-AA67-B49D5D86C089}"/>
                </a:ext>
              </a:extLst>
            </p:cNvPr>
            <p:cNvSpPr txBox="1"/>
            <p:nvPr/>
          </p:nvSpPr>
          <p:spPr>
            <a:xfrm>
              <a:off x="2282843" y="3957299"/>
              <a:ext cx="520700" cy="36131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1800">
                  <a:latin typeface="Arial" panose="020B0604020202020204" pitchFamily="34" charset="0"/>
                  <a:ea typeface="Times New Roman" panose="02020603050405020304" pitchFamily="18" charset="0"/>
                </a:rPr>
                <a:t>-1</a:t>
              </a:r>
              <a:endParaRPr lang="en-US" sz="120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" name="Text Box 9">
              <a:extLst>
                <a:ext uri="{FF2B5EF4-FFF2-40B4-BE49-F238E27FC236}">
                  <a16:creationId xmlns="" xmlns:a16="http://schemas.microsoft.com/office/drawing/2014/main" id="{4287DA02-D9BE-7F43-B5D0-82B2813E63FC}"/>
                </a:ext>
              </a:extLst>
            </p:cNvPr>
            <p:cNvSpPr txBox="1"/>
            <p:nvPr/>
          </p:nvSpPr>
          <p:spPr>
            <a:xfrm>
              <a:off x="4368818" y="3948409"/>
              <a:ext cx="520700" cy="36131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1800">
                  <a:latin typeface="Arial" panose="020B0604020202020204" pitchFamily="34" charset="0"/>
                  <a:ea typeface="Times New Roman" panose="02020603050405020304" pitchFamily="18" charset="0"/>
                </a:rPr>
                <a:t>0</a:t>
              </a:r>
              <a:endParaRPr lang="en-US" sz="120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7" name="Text Box 10">
              <a:extLst>
                <a:ext uri="{FF2B5EF4-FFF2-40B4-BE49-F238E27FC236}">
                  <a16:creationId xmlns="" xmlns:a16="http://schemas.microsoft.com/office/drawing/2014/main" id="{D5AD615F-7880-2C40-A0AB-A457B298D692}"/>
                </a:ext>
              </a:extLst>
            </p:cNvPr>
            <p:cNvSpPr txBox="1"/>
            <p:nvPr/>
          </p:nvSpPr>
          <p:spPr>
            <a:xfrm>
              <a:off x="6391293" y="3952854"/>
              <a:ext cx="520700" cy="36131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1800">
                  <a:latin typeface="Arial" panose="020B0604020202020204" pitchFamily="34" charset="0"/>
                  <a:ea typeface="Times New Roman" panose="02020603050405020304" pitchFamily="18" charset="0"/>
                </a:rPr>
                <a:t>1</a:t>
              </a:r>
              <a:endParaRPr lang="en-US" sz="120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19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8F01536C-6C79-5845-9029-ACB3C9C2A496}"/>
                  </a:ext>
                </a:extLst>
              </p:cNvPr>
              <p:cNvSpPr txBox="1"/>
              <p:nvPr/>
            </p:nvSpPr>
            <p:spPr>
              <a:xfrm>
                <a:off x="1003300" y="288746"/>
                <a:ext cx="9256268" cy="4911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2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−2</m:t>
                    </m:r>
                    <m:f>
                      <m:fPr>
                        <m:type m:val="skw"/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.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7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2337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value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type m:val="skw"/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               than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−2</m:t>
                    </m:r>
                    <m:f>
                      <m:fPr>
                        <m:type m:val="skw"/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49263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2"/>
                </a:pP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type m:val="skw"/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−2</m:t>
                    </m:r>
                    <m:f>
                      <m:fPr>
                        <m:type m:val="skw"/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F01536C-6C79-5845-9029-ACB3C9C2A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00" y="288746"/>
                <a:ext cx="9256268" cy="4911729"/>
              </a:xfrm>
              <a:prstGeom prst="rect">
                <a:avLst/>
              </a:prstGeom>
              <a:blipFill rotWithShape="0">
                <a:blip r:embed="rId3"/>
                <a:stretch>
                  <a:fillRect l="-1054" t="-3970" b="-17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Rectangle: Rounded Corners 15">
            <a:extLst>
              <a:ext uri="{FF2B5EF4-FFF2-40B4-BE49-F238E27FC236}">
                <a16:creationId xmlns="" xmlns:a16="http://schemas.microsoft.com/office/drawing/2014/main" id="{F8454074-6430-544D-901D-E3650D6F8BCC}"/>
              </a:ext>
            </a:extLst>
          </p:cNvPr>
          <p:cNvSpPr/>
          <p:nvPr/>
        </p:nvSpPr>
        <p:spPr>
          <a:xfrm>
            <a:off x="4623661" y="3784075"/>
            <a:ext cx="1541554" cy="7366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greater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17">
            <a:extLst>
              <a:ext uri="{FF2B5EF4-FFF2-40B4-BE49-F238E27FC236}">
                <a16:creationId xmlns="" xmlns:a16="http://schemas.microsoft.com/office/drawing/2014/main" id="{BF0C7379-C478-5649-A6F5-076DC74592F5}"/>
              </a:ext>
            </a:extLst>
          </p:cNvPr>
          <p:cNvSpPr/>
          <p:nvPr/>
        </p:nvSpPr>
        <p:spPr>
          <a:xfrm>
            <a:off x="2762471" y="4520675"/>
            <a:ext cx="1025299" cy="7366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200" indent="-449263">
              <a:lnSpc>
                <a:spcPct val="107000"/>
              </a:lnSpc>
              <a:buFont typeface="Courier New" panose="02070309020205020404" pitchFamily="49" charset="0"/>
              <a:buChar char="o"/>
              <a:tabLst>
                <a:tab pos="171450" algn="l"/>
              </a:tabLst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49263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171450" algn="l"/>
              </a:tabLst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B57C84E4-4E0C-404B-84C7-97135B33E5A6}"/>
              </a:ext>
            </a:extLst>
          </p:cNvPr>
          <p:cNvGrpSpPr/>
          <p:nvPr/>
        </p:nvGrpSpPr>
        <p:grpSpPr>
          <a:xfrm>
            <a:off x="2622550" y="2687072"/>
            <a:ext cx="6946900" cy="770935"/>
            <a:chOff x="1098550" y="2846025"/>
            <a:chExt cx="6946900" cy="770935"/>
          </a:xfrm>
        </p:grpSpPr>
        <p:sp>
          <p:nvSpPr>
            <p:cNvPr id="10" name="Text Box 12">
              <a:extLst>
                <a:ext uri="{FF2B5EF4-FFF2-40B4-BE49-F238E27FC236}">
                  <a16:creationId xmlns="" xmlns:a16="http://schemas.microsoft.com/office/drawing/2014/main" id="{B9325268-5AAA-4C40-8C52-14A53D743B71}"/>
                </a:ext>
              </a:extLst>
            </p:cNvPr>
            <p:cNvSpPr txBox="1"/>
            <p:nvPr/>
          </p:nvSpPr>
          <p:spPr>
            <a:xfrm>
              <a:off x="3241040" y="3249930"/>
              <a:ext cx="520700" cy="36131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1800">
                  <a:latin typeface="Arial" panose="020B0604020202020204" pitchFamily="34" charset="0"/>
                  <a:ea typeface="Times New Roman" panose="02020603050405020304" pitchFamily="18" charset="0"/>
                </a:rPr>
                <a:t>-1</a:t>
              </a:r>
              <a:endParaRPr lang="en-US" sz="120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1" name="Text Box 13">
              <a:extLst>
                <a:ext uri="{FF2B5EF4-FFF2-40B4-BE49-F238E27FC236}">
                  <a16:creationId xmlns="" xmlns:a16="http://schemas.microsoft.com/office/drawing/2014/main" id="{D2E7DC2E-9CEB-2847-9D5C-6D4AAFAD1216}"/>
                </a:ext>
              </a:extLst>
            </p:cNvPr>
            <p:cNvSpPr txBox="1"/>
            <p:nvPr/>
          </p:nvSpPr>
          <p:spPr>
            <a:xfrm>
              <a:off x="4380865" y="3241040"/>
              <a:ext cx="520700" cy="36131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1800">
                  <a:latin typeface="Arial" panose="020B0604020202020204" pitchFamily="34" charset="0"/>
                  <a:ea typeface="Times New Roman" panose="02020603050405020304" pitchFamily="18" charset="0"/>
                </a:rPr>
                <a:t>0</a:t>
              </a:r>
              <a:endParaRPr lang="en-US" sz="120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3" name="Text Box 14">
              <a:extLst>
                <a:ext uri="{FF2B5EF4-FFF2-40B4-BE49-F238E27FC236}">
                  <a16:creationId xmlns="" xmlns:a16="http://schemas.microsoft.com/office/drawing/2014/main" id="{2125CE50-8A4D-B247-BE38-F8F70105B41E}"/>
                </a:ext>
              </a:extLst>
            </p:cNvPr>
            <p:cNvSpPr txBox="1"/>
            <p:nvPr/>
          </p:nvSpPr>
          <p:spPr>
            <a:xfrm>
              <a:off x="5382260" y="3255645"/>
              <a:ext cx="520700" cy="36131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1800">
                  <a:latin typeface="Arial" panose="020B0604020202020204" pitchFamily="34" charset="0"/>
                  <a:ea typeface="Times New Roman" panose="02020603050405020304" pitchFamily="18" charset="0"/>
                </a:rPr>
                <a:t>1</a:t>
              </a:r>
              <a:endParaRPr lang="en-US" sz="120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4" name="Picture 13" descr="Chart, box and whisker chart&#10;&#10;Description automatically generated">
              <a:extLst>
                <a:ext uri="{FF2B5EF4-FFF2-40B4-BE49-F238E27FC236}">
                  <a16:creationId xmlns="" xmlns:a16="http://schemas.microsoft.com/office/drawing/2014/main" id="{8B0D7AB9-DE9D-104E-BAD9-C19526D9C0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819" t="36033" r="9651" b="45200"/>
            <a:stretch/>
          </p:blipFill>
          <p:spPr bwMode="auto">
            <a:xfrm>
              <a:off x="1098550" y="2846025"/>
              <a:ext cx="6946900" cy="46418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6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F01536C-6C79-5845-9029-ACB3C9C2A496}"/>
              </a:ext>
            </a:extLst>
          </p:cNvPr>
          <p:cNvSpPr txBox="1"/>
          <p:nvPr/>
        </p:nvSpPr>
        <p:spPr>
          <a:xfrm>
            <a:off x="1932432" y="288745"/>
            <a:ext cx="83271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49263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each comparison, the number on a horizontal </a:t>
            </a:r>
          </a:p>
          <a:p>
            <a:pPr marL="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number line that is farther to the               is the </a:t>
            </a:r>
          </a:p>
          <a:p>
            <a:pPr marL="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greater value. </a:t>
            </a:r>
          </a:p>
          <a:p>
            <a:pPr marL="457200" indent="-44926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4926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49263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comparing opposites, the                  value </a:t>
            </a:r>
          </a:p>
          <a:p>
            <a:pPr marL="457200" indent="-449263">
              <a:buFont typeface="+mj-lt"/>
              <a:buAutoNum type="arabicPeriod" startAt="4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will always be the greater value.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5" name="Rectangle: Rounded Corners 15">
            <a:extLst>
              <a:ext uri="{FF2B5EF4-FFF2-40B4-BE49-F238E27FC236}">
                <a16:creationId xmlns="" xmlns:a16="http://schemas.microsoft.com/office/drawing/2014/main" id="{18CAC36F-C903-F24F-AE0D-0C320DD13BD1}"/>
              </a:ext>
            </a:extLst>
          </p:cNvPr>
          <p:cNvSpPr/>
          <p:nvPr/>
        </p:nvSpPr>
        <p:spPr>
          <a:xfrm>
            <a:off x="7705439" y="907866"/>
            <a:ext cx="1288329" cy="7366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="" xmlns:a16="http://schemas.microsoft.com/office/drawing/2014/main" id="{7820E6A7-EA6C-324B-A0C4-B006678224C3}"/>
              </a:ext>
            </a:extLst>
          </p:cNvPr>
          <p:cNvSpPr/>
          <p:nvPr/>
        </p:nvSpPr>
        <p:spPr>
          <a:xfrm>
            <a:off x="7514542" y="2664737"/>
            <a:ext cx="1670122" cy="82169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8380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=""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=""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326050" y="271409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3.2.6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=""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8750" y="271409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1130300" y="1386026"/>
                <a:ext cx="10187432" cy="1362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and label each value and its opposite on the number line: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9.5, 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4.2, −7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300" y="1386026"/>
                <a:ext cx="10187432" cy="1362745"/>
              </a:xfrm>
              <a:prstGeom prst="rect">
                <a:avLst/>
              </a:prstGeom>
              <a:blipFill rotWithShape="0">
                <a:blip r:embed="rId4"/>
                <a:stretch>
                  <a:fillRect l="-897" t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B65A09A0-1E94-F34F-9AC7-848B14CF3F5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9" descr="Chart, box and whisker chart&#10;&#10;Description automatically generated">
            <a:extLst>
              <a:ext uri="{FF2B5EF4-FFF2-40B4-BE49-F238E27FC236}">
                <a16:creationId xmlns="" xmlns:a16="http://schemas.microsoft.com/office/drawing/2014/main" id="{AB39858E-E7BB-E242-8DAD-E64D31FC145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65" t="53823" r="5178"/>
          <a:stretch/>
        </p:blipFill>
        <p:spPr bwMode="auto">
          <a:xfrm>
            <a:off x="2750566" y="4862104"/>
            <a:ext cx="6946900" cy="8610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1041400" y="398473"/>
                <a:ext cx="10109200" cy="5415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Pairs of opposite numbers are                      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distance from zero on a number line. </a:t>
                </a: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49263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each comparison statement for the pairs of numbers you plotted in problem #1. For each statement, use &lt; or &gt; in the first blank and the opposite of the given number in the second blank. </a:t>
                </a:r>
              </a:p>
              <a:p>
                <a:pPr marL="914400" lvl="1" indent="-449263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9.5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_____ ______</a:t>
                </a:r>
              </a:p>
              <a:p>
                <a:pPr marL="914400" lvl="1" indent="-449263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_____ ______</a:t>
                </a:r>
              </a:p>
              <a:p>
                <a:pPr marL="914400" lvl="1" indent="-449263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4.2  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 ______</a:t>
                </a:r>
              </a:p>
              <a:p>
                <a:pPr marL="914400" lvl="1" indent="-449263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−7</m:t>
                    </m:r>
                    <m:f>
                      <m:fPr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_____ ______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400" y="398473"/>
                <a:ext cx="10109200" cy="5415970"/>
              </a:xfrm>
              <a:prstGeom prst="rect">
                <a:avLst/>
              </a:prstGeom>
              <a:blipFill rotWithShape="0">
                <a:blip r:embed="rId3"/>
                <a:stretch>
                  <a:fillRect l="-965" t="-900" r="-1749" b="-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C20EB48B-0C2A-FF47-ACB6-866A7F95956C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Rectangle: Rounded Corners 15">
            <a:extLst>
              <a:ext uri="{FF2B5EF4-FFF2-40B4-BE49-F238E27FC236}">
                <a16:creationId xmlns="" xmlns:a16="http://schemas.microsoft.com/office/drawing/2014/main" id="{25D99D26-93E9-1D48-930F-78E01D5F7B03}"/>
              </a:ext>
            </a:extLst>
          </p:cNvPr>
          <p:cNvSpPr/>
          <p:nvPr/>
        </p:nvSpPr>
        <p:spPr>
          <a:xfrm>
            <a:off x="6380164" y="215446"/>
            <a:ext cx="1926363" cy="82169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same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different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=""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77164" y="-810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3.2.7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=""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012" y="1975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270000" y="1386026"/>
            <a:ext cx="9908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relationship between a number and its opposite? Use the words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number line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and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zero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in your explanation.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31AAE36C-5822-464A-8B2B-DAD96F65814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6736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Props1.xml><?xml version="1.0" encoding="utf-8"?>
<ds:datastoreItem xmlns:ds="http://schemas.openxmlformats.org/officeDocument/2006/customXml" ds:itemID="{39765D2F-8FF7-4133-A167-E39CBFB156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6ed4-5234-49bf-a7f7-5f171c3a2f56"/>
    <ds:schemaRef ds:uri="aecc3118-db6a-47b0-8115-3eb3ee12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F75E9C3-9DBA-44A2-BCD5-8CDE4ABB12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54581E-C534-4F4F-B40C-699CD1EDC986}">
  <ds:schemaRefs>
    <ds:schemaRef ds:uri="http://schemas.microsoft.com/office/2006/metadata/properties"/>
    <ds:schemaRef ds:uri="http://schemas.microsoft.com/office/infopath/2007/PartnerControls"/>
    <ds:schemaRef ds:uri="c8f36ed4-5234-49bf-a7f7-5f171c3a2f56"/>
    <ds:schemaRef ds:uri="aecc3118-db6a-47b0-8115-3eb3ee12f27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1370</TotalTime>
  <Words>939</Words>
  <Application>Microsoft Office PowerPoint</Application>
  <PresentationFormat>Custom</PresentationFormat>
  <Paragraphs>236</Paragraphs>
  <Slides>26</Slides>
  <Notes>26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1_Office Theme</vt:lpstr>
      <vt:lpstr>6th Grade Accelerated Math  Unit 3, Lesson 2  Numbers and the Number Line – Part 2  Volume 1, pg. 82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Sensei</cp:lastModifiedBy>
  <cp:revision>27</cp:revision>
  <dcterms:created xsi:type="dcterms:W3CDTF">2015-03-17T18:51:18Z</dcterms:created>
  <dcterms:modified xsi:type="dcterms:W3CDTF">2023-07-06T01:07:58Z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  <property fmtid="{D5CDD505-2E9C-101B-9397-08002B2CF9AE}" pid="3" name="MediaServiceImageTags">
    <vt:lpwstr/>
  </property>
</Properties>
</file>