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46"/>
  </p:notesMasterIdLst>
  <p:sldIdLst>
    <p:sldId id="256" r:id="rId5"/>
    <p:sldId id="257" r:id="rId6"/>
    <p:sldId id="285" r:id="rId7"/>
    <p:sldId id="286" r:id="rId8"/>
    <p:sldId id="261" r:id="rId9"/>
    <p:sldId id="287" r:id="rId10"/>
    <p:sldId id="311" r:id="rId11"/>
    <p:sldId id="312" r:id="rId12"/>
    <p:sldId id="313" r:id="rId13"/>
    <p:sldId id="289" r:id="rId14"/>
    <p:sldId id="290" r:id="rId15"/>
    <p:sldId id="308" r:id="rId16"/>
    <p:sldId id="332" r:id="rId17"/>
    <p:sldId id="333" r:id="rId18"/>
    <p:sldId id="334" r:id="rId19"/>
    <p:sldId id="335" r:id="rId20"/>
    <p:sldId id="336" r:id="rId21"/>
    <p:sldId id="337" r:id="rId22"/>
    <p:sldId id="317" r:id="rId23"/>
    <p:sldId id="318" r:id="rId24"/>
    <p:sldId id="319" r:id="rId25"/>
    <p:sldId id="338" r:id="rId26"/>
    <p:sldId id="340" r:id="rId27"/>
    <p:sldId id="329" r:id="rId28"/>
    <p:sldId id="330" r:id="rId29"/>
    <p:sldId id="331" r:id="rId30"/>
    <p:sldId id="341" r:id="rId31"/>
    <p:sldId id="342" r:id="rId32"/>
    <p:sldId id="349" r:id="rId33"/>
    <p:sldId id="343" r:id="rId34"/>
    <p:sldId id="346" r:id="rId35"/>
    <p:sldId id="320" r:id="rId36"/>
    <p:sldId id="321" r:id="rId37"/>
    <p:sldId id="310" r:id="rId38"/>
    <p:sldId id="302" r:id="rId39"/>
    <p:sldId id="303" r:id="rId40"/>
    <p:sldId id="309" r:id="rId41"/>
    <p:sldId id="347" r:id="rId42"/>
    <p:sldId id="306" r:id="rId43"/>
    <p:sldId id="307" r:id="rId44"/>
    <p:sldId id="348" r:id="rId4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0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7" autoAdjust="0"/>
    <p:restoredTop sz="94695"/>
  </p:normalViewPr>
  <p:slideViewPr>
    <p:cSldViewPr snapToGrid="0">
      <p:cViewPr varScale="1">
        <p:scale>
          <a:sx n="112" d="100"/>
          <a:sy n="112" d="100"/>
        </p:scale>
        <p:origin x="-180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61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60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64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5657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3244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8877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5081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9038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1700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5170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4940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31338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33250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17849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91391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70399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7915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18693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6548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54.tiff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241087" y="1661864"/>
            <a:ext cx="5928662" cy="397928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</a:rPr>
              <a:t>Rational Numbers and the Number Line – Part </a:t>
            </a:r>
            <a:r>
              <a:rPr lang="en-US" sz="3800" b="1" dirty="0" smtClean="0">
                <a:solidFill>
                  <a:srgbClr val="417DBF"/>
                </a:solidFill>
                <a:latin typeface="Verdana"/>
              </a:rPr>
              <a:t>1</a:t>
            </a:r>
            <a:br>
              <a:rPr lang="en-US" sz="3800" b="1" dirty="0" smtClean="0">
                <a:solidFill>
                  <a:srgbClr val="417DBF"/>
                </a:solidFill>
                <a:latin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75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30546" y="9162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46" y="32739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981200" y="1600200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MA.6.NSO.1.1 </a:t>
            </a:r>
          </a:p>
          <a:p>
            <a:pPr marL="444500" indent="0">
              <a:buSzPts val="1100"/>
              <a:buNone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Extend previous understanding of numbers to define rational numbers. Plot, order, and compare rational numbers.</a:t>
            </a:r>
          </a:p>
          <a:p>
            <a:pPr marL="0" indent="0">
              <a:buSzPts val="1100"/>
              <a:buNone/>
            </a:pPr>
            <a:endParaRPr lang="en-US" sz="2400" dirty="0" smtClean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400" dirty="0" smtClean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</a:t>
            </a:r>
            <a:r>
              <a:rPr lang="en-US" sz="2400" dirty="0" smtClean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6.NSO.1.2 </a:t>
            </a: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</a:rPr>
              <a:t>Given a mathematical or real-world context, represent quantities that have opposite direction using rational numbers. Compare them on a number line and explain the meaning of zero within its context.</a:t>
            </a:r>
            <a:endParaRPr lang="en-US" sz="16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194" y="3304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85844" y="8781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33728" y="1596390"/>
            <a:ext cx="951230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10143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81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97152" y="1600200"/>
            <a:ext cx="899769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demonstrate an understanding of negative numbers.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recognize that a number in the real number system can have a variety of classifications.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plot rational numbers on a horizontal and vertical number line. 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3048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92608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3.1.1 Warm-Up: Creating Zero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556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=""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669464" y="1386025"/>
                <a:ext cx="9109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only digits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at most one time each, so that the equation is true.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Switch your answer with a partner to check. Ask your partner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strategy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finding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answer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write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strategy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below.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464" y="1386025"/>
                <a:ext cx="9109104" cy="3416320"/>
              </a:xfrm>
              <a:prstGeom prst="rect">
                <a:avLst/>
              </a:prstGeom>
              <a:blipFill rotWithShape="1">
                <a:blip r:embed="rId4"/>
                <a:stretch>
                  <a:fillRect l="-1071" t="-160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1F42107A-48A6-1642-8000-0394E1B2AB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2"/>
          <a:stretch/>
        </p:blipFill>
        <p:spPr>
          <a:xfrm flipV="1">
            <a:off x="2786024" y="2374378"/>
            <a:ext cx="7032098" cy="674694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61610" y="8202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3.1.2 Exploration: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How Can Negative Numbers Exist?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312" y="33015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560576" y="1386026"/>
                <a:ext cx="932688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Negative numbers are numbers less than zero.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Examples include: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temperature below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degrees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amount of money owed, or debt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contestant’s score on Jeopardy (when someone misses a question,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they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loses points, so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score could be a negative amount)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the examples of negative numbers with your partner.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576" y="1386026"/>
                <a:ext cx="9326880" cy="4524315"/>
              </a:xfrm>
              <a:prstGeom prst="rect">
                <a:avLst/>
              </a:prstGeom>
              <a:blipFill rotWithShape="1">
                <a:blip r:embed="rId4"/>
                <a:stretch>
                  <a:fillRect l="-980" t="-107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6200F4BF-3C27-A748-A63E-5BC45D572750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060704" y="374089"/>
                <a:ext cx="1022125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which of the contexts in the table could have a value less than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write an example or explain your thinking.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04" y="374089"/>
                <a:ext cx="10221258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894" t="-3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9C305F44-C716-1E40-9F84-3722CBDDE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846272"/>
              </p:ext>
            </p:extLst>
          </p:nvPr>
        </p:nvGraphicFramePr>
        <p:xfrm>
          <a:off x="2978919" y="1825626"/>
          <a:ext cx="6234162" cy="4351337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289460">
                  <a:extLst>
                    <a:ext uri="{9D8B030D-6E8A-4147-A177-3AD203B41FA5}">
                      <a16:colId xmlns="" xmlns:a16="http://schemas.microsoft.com/office/drawing/2014/main" val="1526780736"/>
                    </a:ext>
                  </a:extLst>
                </a:gridCol>
                <a:gridCol w="4944702">
                  <a:extLst>
                    <a:ext uri="{9D8B030D-6E8A-4147-A177-3AD203B41FA5}">
                      <a16:colId xmlns="" xmlns:a16="http://schemas.microsoft.com/office/drawing/2014/main" val="2361776712"/>
                    </a:ext>
                  </a:extLst>
                </a:gridCol>
              </a:tblGrid>
              <a:tr h="43513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Context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Example or Explanation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98979746"/>
                  </a:ext>
                </a:extLst>
              </a:tr>
              <a:tr h="13054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Direction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536056692"/>
                  </a:ext>
                </a:extLst>
              </a:tr>
              <a:tr h="13054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Points in a game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268221452"/>
                  </a:ext>
                </a:extLst>
              </a:tr>
              <a:tr h="13054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Time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3765" marR="6376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621572281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52557" y="-4378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3.1.3 Guided Instruction: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The Real Number System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257" y="24541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048512" y="1386026"/>
            <a:ext cx="10351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values in blue on the number line are some of the numbers in the set of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natural numbers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F7A98FFB-A3E6-7642-B96E-3A3B8C27BD7F}"/>
              </a:ext>
            </a:extLst>
          </p:cNvPr>
          <p:cNvSpPr/>
          <p:nvPr/>
        </p:nvSpPr>
        <p:spPr>
          <a:xfrm>
            <a:off x="0" y="-11686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AAF411EB-E972-C84C-8DE6-9E377D394CF0}"/>
              </a:ext>
            </a:extLst>
          </p:cNvPr>
          <p:cNvGrpSpPr/>
          <p:nvPr/>
        </p:nvGrpSpPr>
        <p:grpSpPr>
          <a:xfrm>
            <a:off x="2791823" y="4581845"/>
            <a:ext cx="6817360" cy="1058395"/>
            <a:chOff x="1267823" y="4581844"/>
            <a:chExt cx="6817360" cy="1058395"/>
          </a:xfrm>
        </p:grpSpPr>
        <p:grpSp>
          <p:nvGrpSpPr>
            <p:cNvPr id="10" name="Group 9">
              <a:extLst>
                <a:ext uri="{FF2B5EF4-FFF2-40B4-BE49-F238E27FC236}">
                  <a16:creationId xmlns="" xmlns:a16="http://schemas.microsoft.com/office/drawing/2014/main" id="{B3F2A795-C4E5-FB49-8125-B08186A86D8C}"/>
                </a:ext>
              </a:extLst>
            </p:cNvPr>
            <p:cNvGrpSpPr/>
            <p:nvPr/>
          </p:nvGrpSpPr>
          <p:grpSpPr>
            <a:xfrm>
              <a:off x="1267823" y="4581844"/>
              <a:ext cx="6817360" cy="1058395"/>
              <a:chOff x="0" y="-93847"/>
              <a:chExt cx="6817975" cy="105858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" name="Rectangle 13">
                <a:extLst>
                  <a:ext uri="{FF2B5EF4-FFF2-40B4-BE49-F238E27FC236}">
                    <a16:creationId xmlns="" xmlns:a16="http://schemas.microsoft.com/office/drawing/2014/main" id="{9C1D1648-D048-4B42-9F0B-9BB42B2F5F73}"/>
                  </a:ext>
                </a:extLst>
              </p:cNvPr>
              <p:cNvSpPr/>
              <p:nvPr/>
            </p:nvSpPr>
            <p:spPr>
              <a:xfrm>
                <a:off x="0" y="0"/>
                <a:ext cx="6817975" cy="90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ounded Rectangle 14">
                    <a:extLst>
                      <a:ext uri="{FF2B5EF4-FFF2-40B4-BE49-F238E27FC236}">
                        <a16:creationId xmlns="" xmlns:a16="http://schemas.microsoft.com/office/drawing/2014/main" id="{BDD24D09-EBA6-AC4E-8E1A-9C8909202B87}"/>
                      </a:ext>
                    </a:extLst>
                  </p:cNvPr>
                  <p:cNvSpPr/>
                  <p:nvPr/>
                </p:nvSpPr>
                <p:spPr>
                  <a:xfrm>
                    <a:off x="0" y="-93847"/>
                    <a:ext cx="6629400" cy="105858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3EFD5"/>
                  </a:solidFill>
                  <a:ln w="12700" cap="flat" cmpd="sng">
                    <a:solidFill>
                      <a:srgbClr val="E3EFD5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742950">
                      <a:lnSpc>
                        <a:spcPct val="107000"/>
                      </a:lnSpc>
                    </a:pPr>
                    <a:r>
                      <a:rPr lang="en-US" sz="2000" b="1" i="1" dirty="0">
                        <a:solidFill>
                          <a:srgbClr val="6C993C"/>
                        </a:solidFill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rPr>
                      <a:t>Natural numbers</a:t>
                    </a:r>
                    <a:r>
                      <a:rPr lang="en-US" sz="2000" dirty="0">
                        <a:solidFill>
                          <a:srgbClr val="6C993C"/>
                        </a:solidFill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rPr>
                      <a:t> are the counting numbers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C"/>
                            </a:solidFill>
                            <a:latin typeface="Cambria Math" panose="02040503050406030204" pitchFamily="18" charset="0"/>
                            <a:ea typeface="Century Gothic" panose="020B0502020202020204" pitchFamily="34" charset="0"/>
                            <a:cs typeface="Century Gothic" panose="020B0502020202020204" pitchFamily="34" charset="0"/>
                          </a:rPr>
                          <m:t>{1, 2, 3, 4, 5…}</m:t>
                        </m:r>
                      </m:oMath>
                    </a14:m>
                    <a:r>
                      <a:rPr lang="en-US" sz="2000" dirty="0">
                        <a:solidFill>
                          <a:srgbClr val="6C993C"/>
                        </a:solidFill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rPr>
                      <a:t>.</a:t>
                    </a:r>
                    <a:endParaRPr lang="en-US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Rounded Rectangle 14">
                    <a:extLst>
                      <a:ext uri="{FF2B5EF4-FFF2-40B4-BE49-F238E27FC236}">
                        <a16:creationId xmlns:a16="http://schemas.microsoft.com/office/drawing/2014/main" id="{BDD24D09-EBA6-AC4E-8E1A-9C8909202B8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-93847"/>
                    <a:ext cx="6629400" cy="1058580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 cmpd="sng">
                    <a:solidFill>
                      <a:srgbClr val="E3EFD5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Shape 7" descr="Icon&#10;&#10;Description automatically generated">
              <a:extLst>
                <a:ext uri="{FF2B5EF4-FFF2-40B4-BE49-F238E27FC236}">
                  <a16:creationId xmlns="" xmlns:a16="http://schemas.microsoft.com/office/drawing/2014/main" id="{98E1C719-8283-F547-98E3-51CBAED65BFE}"/>
                </a:ext>
              </a:extLst>
            </p:cNvPr>
            <p:cNvPicPr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40724" y="4732278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A3475568-AEBB-6A48-B651-14A14B3491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3305" y="3122568"/>
            <a:ext cx="6685390" cy="597592"/>
          </a:xfrm>
          <a:prstGeom prst="rect">
            <a:avLst/>
          </a:prstGeom>
        </p:spPr>
      </p:pic>
      <p:sp>
        <p:nvSpPr>
          <p:cNvPr id="1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755904" y="288746"/>
            <a:ext cx="10680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values in red on the number line are some of the numbers in the set of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whole numbers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BF3CDF0-C968-1247-A713-B9770044E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923" y="2628474"/>
            <a:ext cx="7355160" cy="65727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2FE2C9BB-1AD1-E34E-8193-6DA177CE291C}"/>
              </a:ext>
            </a:extLst>
          </p:cNvPr>
          <p:cNvGrpSpPr/>
          <p:nvPr/>
        </p:nvGrpSpPr>
        <p:grpSpPr>
          <a:xfrm>
            <a:off x="2791823" y="4581845"/>
            <a:ext cx="6817360" cy="1058395"/>
            <a:chOff x="1267823" y="4581844"/>
            <a:chExt cx="6817360" cy="1058395"/>
          </a:xfrm>
        </p:grpSpPr>
        <p:grpSp>
          <p:nvGrpSpPr>
            <p:cNvPr id="16" name="Group 15">
              <a:extLst>
                <a:ext uri="{FF2B5EF4-FFF2-40B4-BE49-F238E27FC236}">
                  <a16:creationId xmlns="" xmlns:a16="http://schemas.microsoft.com/office/drawing/2014/main" id="{F8F916E2-5C31-5B4A-9391-A47DDF30CA7B}"/>
                </a:ext>
              </a:extLst>
            </p:cNvPr>
            <p:cNvGrpSpPr/>
            <p:nvPr/>
          </p:nvGrpSpPr>
          <p:grpSpPr>
            <a:xfrm>
              <a:off x="1267823" y="4581844"/>
              <a:ext cx="6817360" cy="1058395"/>
              <a:chOff x="0" y="-156695"/>
              <a:chExt cx="6817975" cy="105839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="" xmlns:a16="http://schemas.microsoft.com/office/drawing/2014/main" id="{389DB028-7FA7-FD4D-B19C-076BFE15F455}"/>
                  </a:ext>
                </a:extLst>
              </p:cNvPr>
              <p:cNvSpPr/>
              <p:nvPr/>
            </p:nvSpPr>
            <p:spPr>
              <a:xfrm>
                <a:off x="0" y="0"/>
                <a:ext cx="6817975" cy="90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ounded Rectangle 17">
                    <a:extLst>
                      <a:ext uri="{FF2B5EF4-FFF2-40B4-BE49-F238E27FC236}">
                        <a16:creationId xmlns="" xmlns:a16="http://schemas.microsoft.com/office/drawing/2014/main" id="{EFB779A5-88E7-DB47-936D-785EFF6BDEF8}"/>
                      </a:ext>
                    </a:extLst>
                  </p:cNvPr>
                  <p:cNvSpPr/>
                  <p:nvPr/>
                </p:nvSpPr>
                <p:spPr>
                  <a:xfrm>
                    <a:off x="0" y="-156695"/>
                    <a:ext cx="6629998" cy="1058395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3EFD5"/>
                  </a:solidFill>
                  <a:ln w="12700" cap="flat" cmpd="sng">
                    <a:solidFill>
                      <a:srgbClr val="E3EFD5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742950">
                      <a:lnSpc>
                        <a:spcPct val="107000"/>
                      </a:lnSpc>
                    </a:pPr>
                    <a:r>
                      <a:rPr lang="en-US" sz="2000" b="1" i="1" dirty="0">
                        <a:solidFill>
                          <a:srgbClr val="6C993C"/>
                        </a:solidFill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rPr>
                      <a:t>Whole numbers</a:t>
                    </a:r>
                    <a:r>
                      <a:rPr lang="en-US" sz="2000" dirty="0">
                        <a:solidFill>
                          <a:srgbClr val="6C993C"/>
                        </a:solidFill>
                        <a:latin typeface="Verdana" panose="020B060403050404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</a:rPr>
                      <a:t> are natural numbers and zero.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C"/>
                            </a:solidFill>
                            <a:latin typeface="Cambria Math" panose="02040503050406030204" pitchFamily="18" charset="0"/>
                            <a:ea typeface="Century Gothic" panose="020B0502020202020204" pitchFamily="34" charset="0"/>
                            <a:cs typeface="Century Gothic" panose="020B0502020202020204" pitchFamily="34" charset="0"/>
                          </a:rPr>
                          <m:t>{0, 1, 2, 3, 4, 5…}</m:t>
                        </m:r>
                      </m:oMath>
                    </a14:m>
                    <a:endParaRPr lang="en-US" sz="20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" name="Rounded Rectangle 17">
                    <a:extLst>
                      <a:ext uri="{FF2B5EF4-FFF2-40B4-BE49-F238E27FC236}">
                        <a16:creationId xmlns:a16="http://schemas.microsoft.com/office/drawing/2014/main" id="{EFB779A5-88E7-DB47-936D-785EFF6BDE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-156695"/>
                    <a:ext cx="6629998" cy="1058395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 cmpd="sng">
                    <a:solidFill>
                      <a:srgbClr val="E3EFD5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9" name="Shape 7" descr="Icon&#10;&#10;Description automatically generated">
              <a:extLst>
                <a:ext uri="{FF2B5EF4-FFF2-40B4-BE49-F238E27FC236}">
                  <a16:creationId xmlns="" xmlns:a16="http://schemas.microsoft.com/office/drawing/2014/main" id="{056AC0F0-7CAF-1443-9311-B618EADAA932}"/>
                </a:ext>
              </a:extLst>
            </p:cNvPr>
            <p:cNvPicPr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18047" y="4751474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2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225DEAF4-358D-E446-972E-B4CD3F36CBDA}"/>
              </a:ext>
            </a:extLst>
          </p:cNvPr>
          <p:cNvGrpSpPr/>
          <p:nvPr/>
        </p:nvGrpSpPr>
        <p:grpSpPr>
          <a:xfrm>
            <a:off x="2781300" y="4425150"/>
            <a:ext cx="6629400" cy="1210794"/>
            <a:chOff x="1257300" y="4425150"/>
            <a:chExt cx="6629400" cy="12107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>
                  <a:extLst>
                    <a:ext uri="{FF2B5EF4-FFF2-40B4-BE49-F238E27FC236}">
                      <a16:creationId xmlns="" xmlns:a16="http://schemas.microsoft.com/office/drawing/2014/main" id="{A0AC8A9A-BCAC-E14D-B250-1289553C615C}"/>
                    </a:ext>
                  </a:extLst>
                </p:cNvPr>
                <p:cNvSpPr/>
                <p:nvPr/>
              </p:nvSpPr>
              <p:spPr>
                <a:xfrm>
                  <a:off x="1257300" y="4425150"/>
                  <a:ext cx="6629400" cy="121079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690563">
                    <a:lnSpc>
                      <a:spcPct val="107000"/>
                    </a:lnSpc>
                  </a:pP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entury Gothic" panose="020B0502020202020204" pitchFamily="34" charset="0"/>
                      <a:cs typeface="Century Gothic" panose="020B0502020202020204" pitchFamily="34" charset="0"/>
                    </a:rPr>
                    <a:t>Integers</a:t>
                  </a:r>
                  <a:r>
                    <a:rPr lang="en-US" sz="20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entury Gothic" panose="020B0502020202020204" pitchFamily="34" charset="0"/>
                      <a:cs typeface="Century Gothic" panose="020B0502020202020204" pitchFamily="34" charset="0"/>
                    </a:rPr>
                    <a:t> 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entury Gothic" panose="020B0502020202020204" pitchFamily="34" charset="0"/>
                      <a:cs typeface="Century Gothic" panose="020B0502020202020204" pitchFamily="34" charset="0"/>
                    </a:rPr>
                    <a:t>are whole numbers and their opposites.</a:t>
                  </a:r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marL="690563">
                    <a:lnSpc>
                      <a:spcPct val="107000"/>
                    </a:lnSpc>
                  </a:pP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Century Gothic" panose="020B0502020202020204" pitchFamily="34" charset="0"/>
                          <a:cs typeface="Century Gothic" panose="020B0502020202020204" pitchFamily="34" charset="0"/>
                        </a:rPr>
                        <m:t>{…−4, −3, −2, −1, 0, 1, 2, 3, 4…}</m:t>
                      </m:r>
                    </m:oMath>
                  </a14:m>
                  <a:r>
                    <a:rPr lang="en-US" sz="2000" dirty="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</mc:Choice>
          <mc:Fallback xmlns=""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A0AC8A9A-BCAC-E14D-B250-1289553C61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300" y="4425150"/>
                  <a:ext cx="6629400" cy="1210794"/>
                </a:xfrm>
                <a:prstGeom prst="roundRect">
                  <a:avLst>
                    <a:gd name="adj" fmla="val 16667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" name="Shape 11" descr="Icon&#10;&#10;Description automatically generated">
              <a:extLst>
                <a:ext uri="{FF2B5EF4-FFF2-40B4-BE49-F238E27FC236}">
                  <a16:creationId xmlns="" xmlns:a16="http://schemas.microsoft.com/office/drawing/2014/main" id="{49BEC285-9D48-6540-90CC-E3E5E36FCA60}"/>
                </a:ext>
              </a:extLst>
            </p:cNvPr>
            <p:cNvPicPr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78313" y="4597876"/>
              <a:ext cx="539750" cy="5492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65632" y="288745"/>
            <a:ext cx="10460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values in green on the number line are some of the values in the set of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integers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D6F1868A-CA97-DA4C-AE68-1A084D7FD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8442" y="2708367"/>
            <a:ext cx="6784968" cy="60642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2733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072896" y="288746"/>
            <a:ext cx="1004620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number lines to help to answer each of the following questions.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set of natural numbers and the set of whole numbers?</a:t>
            </a:r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set of integers?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9496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50976" y="288745"/>
                <a:ext cx="930859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49263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type of number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lvl="1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type of number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" y="288745"/>
                <a:ext cx="9308592" cy="3416320"/>
              </a:xfrm>
              <a:prstGeom prst="rect">
                <a:avLst/>
              </a:prstGeom>
              <a:blipFill rotWithShape="0">
                <a:blip r:embed="rId3"/>
                <a:stretch>
                  <a:fillRect t="-1604"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6267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280160" y="288745"/>
            <a:ext cx="89794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7" lvl="1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numbers that appear in all three sets. </a:t>
            </a:r>
          </a:p>
          <a:p>
            <a:pPr marL="914400" lvl="1" indent="-449263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8336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38784" y="288746"/>
                <a:ext cx="10314432" cy="2470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Camaria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wondered to herself, “What about numbers such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−1.75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?”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These numbers are examples of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rational numbers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84" y="288746"/>
                <a:ext cx="10314432" cy="2470741"/>
              </a:xfrm>
              <a:prstGeom prst="rect">
                <a:avLst/>
              </a:prstGeom>
              <a:blipFill rotWithShape="0">
                <a:blip r:embed="rId3"/>
                <a:stretch>
                  <a:fillRect l="-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29AADF05-5732-024B-99CE-CEB02DFDF528}"/>
              </a:ext>
            </a:extLst>
          </p:cNvPr>
          <p:cNvGrpSpPr/>
          <p:nvPr/>
        </p:nvGrpSpPr>
        <p:grpSpPr>
          <a:xfrm>
            <a:off x="2782798" y="3234170"/>
            <a:ext cx="6817995" cy="850153"/>
            <a:chOff x="1258797" y="3234169"/>
            <a:chExt cx="6817995" cy="850153"/>
          </a:xfrm>
        </p:grpSpPr>
        <p:grpSp>
          <p:nvGrpSpPr>
            <p:cNvPr id="7" name="Group 6">
              <a:extLst>
                <a:ext uri="{FF2B5EF4-FFF2-40B4-BE49-F238E27FC236}">
                  <a16:creationId xmlns="" xmlns:a16="http://schemas.microsoft.com/office/drawing/2014/main" id="{7FC734FD-088C-4B42-933F-40EB6ED024B1}"/>
                </a:ext>
              </a:extLst>
            </p:cNvPr>
            <p:cNvGrpSpPr/>
            <p:nvPr/>
          </p:nvGrpSpPr>
          <p:grpSpPr>
            <a:xfrm>
              <a:off x="1258797" y="3234169"/>
              <a:ext cx="6817995" cy="850153"/>
              <a:chOff x="0" y="-1"/>
              <a:chExt cx="6818400" cy="101191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Rectangle 8">
                <a:extLst>
                  <a:ext uri="{FF2B5EF4-FFF2-40B4-BE49-F238E27FC236}">
                    <a16:creationId xmlns="" xmlns:a16="http://schemas.microsoft.com/office/drawing/2014/main" id="{520C32A9-E3AE-134C-8792-F01770D9CC2C}"/>
                  </a:ext>
                </a:extLst>
              </p:cNvPr>
              <p:cNvSpPr/>
              <p:nvPr/>
            </p:nvSpPr>
            <p:spPr>
              <a:xfrm>
                <a:off x="0" y="0"/>
                <a:ext cx="6818400" cy="90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1200">
                    <a:solidFill>
                      <a:srgbClr val="6C993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n-US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="" xmlns:a16="http://schemas.microsoft.com/office/drawing/2014/main" id="{49A690CE-159D-2942-8F7C-B8F402CFB37F}"/>
                  </a:ext>
                </a:extLst>
              </p:cNvPr>
              <p:cNvSpPr/>
              <p:nvPr/>
            </p:nvSpPr>
            <p:spPr>
              <a:xfrm>
                <a:off x="0" y="-1"/>
                <a:ext cx="6629794" cy="1011918"/>
              </a:xfrm>
              <a:prstGeom prst="roundRect">
                <a:avLst>
                  <a:gd name="adj" fmla="val 16667"/>
                </a:avLst>
              </a:prstGeom>
              <a:solidFill>
                <a:srgbClr val="E3EFD5"/>
              </a:solidFill>
              <a:ln w="12700" cap="flat" cmpd="sng">
                <a:solidFill>
                  <a:srgbClr val="E3EFD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685800" marR="12065">
                  <a:lnSpc>
                    <a:spcPct val="107000"/>
                  </a:lnSpc>
                </a:pPr>
                <a:r>
                  <a:rPr lang="en-US" sz="2000" b="1" i="1" dirty="0">
                    <a:solidFill>
                      <a:srgbClr val="6C993C"/>
                    </a:solidFill>
                    <a:latin typeface="Verdana" panose="020B0604030504040204" pitchFamily="34" charset="0"/>
                    <a:ea typeface="Century Gothic" panose="020B0502020202020204" pitchFamily="34" charset="0"/>
                    <a:cs typeface="Century Gothic" panose="020B0502020202020204" pitchFamily="34" charset="0"/>
                  </a:rPr>
                  <a:t>Rational numbers</a:t>
                </a:r>
                <a:r>
                  <a:rPr lang="en-US" sz="2000" dirty="0">
                    <a:solidFill>
                      <a:srgbClr val="6C993C"/>
                    </a:solidFill>
                    <a:latin typeface="Verdana" panose="020B0604030504040204" pitchFamily="34" charset="0"/>
                    <a:ea typeface="Century Gothic" panose="020B0502020202020204" pitchFamily="34" charset="0"/>
                    <a:cs typeface="Century Gothic" panose="020B0502020202020204" pitchFamily="34" charset="0"/>
                  </a:rPr>
                  <a:t> are numbers that can be expressed as the ratio of two integers.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pic>
          <p:nvPicPr>
            <p:cNvPr id="8" name="Shape 7" descr="Icon&#10;&#10;Description automatically generated">
              <a:extLst>
                <a:ext uri="{FF2B5EF4-FFF2-40B4-BE49-F238E27FC236}">
                  <a16:creationId xmlns="" xmlns:a16="http://schemas.microsoft.com/office/drawing/2014/main" id="{29A688BD-309E-554F-9D4C-D2361FD3ED06}"/>
                </a:ext>
              </a:extLst>
            </p:cNvPr>
            <p:cNvPicPr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94597" y="3356544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2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1605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060704" y="288746"/>
            <a:ext cx="100705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Use the definition of rational numbers to write each as a ratio of two integers.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In your study of mathematics, you will learn about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</a:rPr>
              <a:t>irrational numbers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, which are numbers that cannot be written as a ratio of two integers.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id="{80BEB1B7-77E3-0A4B-B369-2F79F9F2A2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4519836"/>
                  </p:ext>
                </p:extLst>
              </p:nvPr>
            </p:nvGraphicFramePr>
            <p:xfrm>
              <a:off x="3552825" y="1400292"/>
              <a:ext cx="5086350" cy="192214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11030">
                      <a:extLst>
                        <a:ext uri="{9D8B030D-6E8A-4147-A177-3AD203B41FA5}">
                          <a16:colId xmlns="" xmlns:a16="http://schemas.microsoft.com/office/drawing/2014/main" val="4104821830"/>
                        </a:ext>
                      </a:extLst>
                    </a:gridCol>
                    <a:gridCol w="3075320">
                      <a:extLst>
                        <a:ext uri="{9D8B030D-6E8A-4147-A177-3AD203B41FA5}">
                          <a16:colId xmlns="" xmlns:a16="http://schemas.microsoft.com/office/drawing/2014/main" val="64129030"/>
                        </a:ext>
                      </a:extLst>
                    </a:gridCol>
                  </a:tblGrid>
                  <a:tr h="4794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</a:t>
                          </a:r>
                          <a:endParaRPr lang="en-US" sz="12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 of Two Integers</a:t>
                          </a:r>
                          <a:endParaRPr lang="en-US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85355968"/>
                      </a:ext>
                    </a:extLst>
                  </a:tr>
                  <a:tr h="7213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−1.5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635875693"/>
                      </a:ext>
                    </a:extLst>
                  </a:tr>
                  <a:tr h="7213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1453823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0BEB1B7-77E3-0A4B-B369-2F79F9F2A2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4519836"/>
                  </p:ext>
                </p:extLst>
              </p:nvPr>
            </p:nvGraphicFramePr>
            <p:xfrm>
              <a:off x="2028825" y="1400291"/>
              <a:ext cx="5086350" cy="192214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11030">
                      <a:extLst>
                        <a:ext uri="{9D8B030D-6E8A-4147-A177-3AD203B41FA5}">
                          <a16:colId xmlns:a16="http://schemas.microsoft.com/office/drawing/2014/main" val="4104821830"/>
                        </a:ext>
                      </a:extLst>
                    </a:gridCol>
                    <a:gridCol w="3075320">
                      <a:extLst>
                        <a:ext uri="{9D8B030D-6E8A-4147-A177-3AD203B41FA5}">
                          <a16:colId xmlns:a16="http://schemas.microsoft.com/office/drawing/2014/main" val="64129030"/>
                        </a:ext>
                      </a:extLst>
                    </a:gridCol>
                  </a:tblGrid>
                  <a:tr h="4794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</a:t>
                          </a:r>
                          <a:endParaRPr lang="en-US" sz="12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Ratio of Two Integers</a:t>
                          </a:r>
                          <a:endParaRPr lang="en-US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55968"/>
                      </a:ext>
                    </a:extLst>
                  </a:tr>
                  <a:tr h="721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9" t="-68421" r="-153459" b="-10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5875693"/>
                      </a:ext>
                    </a:extLst>
                  </a:tr>
                  <a:tr h="721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9" t="-168421" r="-153459" b="-35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453823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FE8CB6A-D6ED-F345-ACB9-DA31B2EFCADB}"/>
              </a:ext>
            </a:extLst>
          </p:cNvPr>
          <p:cNvGrpSpPr/>
          <p:nvPr/>
        </p:nvGrpSpPr>
        <p:grpSpPr>
          <a:xfrm>
            <a:off x="2817632" y="5157212"/>
            <a:ext cx="6817995" cy="956310"/>
            <a:chOff x="0" y="0"/>
            <a:chExt cx="6818400" cy="901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57F22D6A-25CE-404B-A71F-F2CD3A392B14}"/>
                </a:ext>
              </a:extLst>
            </p:cNvPr>
            <p:cNvSpPr/>
            <p:nvPr/>
          </p:nvSpPr>
          <p:spPr>
            <a:xfrm>
              <a:off x="0" y="0"/>
              <a:ext cx="6818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="" xmlns:a16="http://schemas.microsoft.com/office/drawing/2014/main" id="{AED630A1-2307-9A4A-9557-F468643F24B7}"/>
                </a:ext>
              </a:extLst>
            </p:cNvPr>
            <p:cNvSpPr/>
            <p:nvPr/>
          </p:nvSpPr>
          <p:spPr>
            <a:xfrm>
              <a:off x="0" y="1"/>
              <a:ext cx="6629794" cy="901699"/>
            </a:xfrm>
            <a:prstGeom prst="roundRect">
              <a:avLst>
                <a:gd name="adj" fmla="val 16667"/>
              </a:avLst>
            </a:prstGeom>
            <a:solidFill>
              <a:srgbClr val="E3EFD5"/>
            </a:solidFill>
            <a:ln w="12700" cap="flat" cmpd="sng">
              <a:solidFill>
                <a:srgbClr val="E3EF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800100">
                <a:lnSpc>
                  <a:spcPct val="107000"/>
                </a:lnSpc>
              </a:pPr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The set of</a:t>
              </a:r>
              <a:r>
                <a:rPr lang="en-US" sz="2000" b="1" i="1" dirty="0">
                  <a:solidFill>
                    <a:srgbClr val="6C993C"/>
                  </a:solidFill>
                  <a:latin typeface="Verdana" panose="020B060403050404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 real numbers </a:t>
              </a:r>
              <a:r>
                <a:rPr lang="en-US" sz="2000" dirty="0">
                  <a:solidFill>
                    <a:srgbClr val="6C993C"/>
                  </a:solidFill>
                  <a:latin typeface="Verdana" panose="020B060403050404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is the set of all rational and irrational numbers.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pic>
        <p:nvPicPr>
          <p:cNvPr id="8" name="Shape 7" descr="Icon&#10;&#10;Description automatically generated">
            <a:extLst>
              <a:ext uri="{FF2B5EF4-FFF2-40B4-BE49-F238E27FC236}">
                <a16:creationId xmlns="" xmlns:a16="http://schemas.microsoft.com/office/drawing/2014/main" id="{5097BF29-66F3-B946-AE2A-4D3F7CEAF313}"/>
              </a:ext>
            </a:extLst>
          </p:cNvPr>
          <p:cNvPicPr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58601" y="5277227"/>
            <a:ext cx="539750" cy="539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2802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3693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8478" y="21703"/>
            <a:ext cx="1029241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3.1.4 Activity: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Horizontal Number Line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8670" y="30964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255776" y="1386026"/>
                <a:ext cx="993648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a sheet of paper, follow the steps to make your own number line.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1260475" indent="-126047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1: Use a straightedge or a ruler to draw a horizontal line. Mark the middle point of the line and label it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60475" indent="-126047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2: To the right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draw tick marks that are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centimeter apart. Label the tick marks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1, 2, 3 . . . 10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776" y="1386026"/>
                <a:ext cx="9936480" cy="3785652"/>
              </a:xfrm>
              <a:prstGeom prst="rect">
                <a:avLst/>
              </a:prstGeom>
              <a:blipFill rotWithShape="0">
                <a:blip r:embed="rId4"/>
                <a:stretch>
                  <a:fillRect l="-920" t="-1288" r="-798" b="-5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52361296-D9C8-B349-AAC1-3DD5FF74197C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938784" y="337513"/>
                <a:ext cx="1031443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60475" indent="-126047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3: Fold your paper so that a vertical crease goes through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two sides of the number line match up perfectly. 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260475" indent="-126047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4: Use the fold to help you trace the tick marks that you already drew onto the opposite side of the number line. Unfold and label the tick marks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−1, −2, −3. . . −10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This represents the negative side of your number line.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84" y="337513"/>
                <a:ext cx="10314432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887"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938784" y="337513"/>
                <a:ext cx="1031443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number line to answer each of the following questions.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far away the number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from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 units to the _________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positive number and a negative number where each is further away from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the number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 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84" y="337513"/>
                <a:ext cx="10314432" cy="3416320"/>
              </a:xfrm>
              <a:prstGeom prst="rect">
                <a:avLst/>
              </a:prstGeom>
              <a:blipFill rotWithShape="0">
                <a:blip r:embed="rId3"/>
                <a:stretch>
                  <a:fillRect l="-887" t="-1426" r="-1182" b="-17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9995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963168" y="337513"/>
                <a:ext cx="1026566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far away the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from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 units to the ________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positive number and a negative number that are each further away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68" y="337513"/>
                <a:ext cx="10265664" cy="3046988"/>
              </a:xfrm>
              <a:prstGeom prst="rect">
                <a:avLst/>
              </a:prstGeom>
              <a:blipFill rotWithShape="0">
                <a:blip r:embed="rId3"/>
                <a:stretch>
                  <a:fillRect l="-891" t="-15200" r="-101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44C210D6-0F1D-3545-B73D-9B9FC6EA03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0208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61610" y="-39654"/>
            <a:ext cx="923323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3.1.5 Bring It Together: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Plotting Rational Numbers on Number Lines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1194816" y="1386026"/>
                <a:ext cx="100584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plotting numbers on a number line, the sign of the number indicates which direction from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move on the number line.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a horizontal number line, positive numbers </a:t>
                </a:r>
              </a:p>
              <a:p>
                <a:pPr marL="914400" indent="-457200">
                  <a:buFont typeface="Arial" panose="020B0604020202020204" pitchFamily="34" charset="0"/>
                  <a:buChar char="•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to the		  of zero. </a:t>
                </a:r>
              </a:p>
              <a:p>
                <a:pPr marL="9144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>
                  <a:buFont typeface="Arial" panose="020B0604020202020204" pitchFamily="34" charset="0"/>
                  <a:buChar char="•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a vertical number line, positive numbers </a:t>
                </a:r>
              </a:p>
              <a:p>
                <a:pPr marL="914400" indent="-457200">
                  <a:buFont typeface="Arial" panose="020B0604020202020204" pitchFamily="34" charset="0"/>
                  <a:buChar char="•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		   zero.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816" y="1386026"/>
                <a:ext cx="10058400" cy="4524315"/>
              </a:xfrm>
              <a:prstGeom prst="rect">
                <a:avLst/>
              </a:prstGeom>
              <a:blipFill rotWithShape="0">
                <a:blip r:embed="rId3"/>
                <a:stretch>
                  <a:fillRect l="-909" t="-1077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="" xmlns:a16="http://schemas.microsoft.com/office/drawing/2014/main" id="{DDCAA414-9CC3-4943-A102-E2350E85095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D3DB54BA-95EF-0743-9EF5-C43F31582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1120" y="24393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F58A1848-82ED-4A44-97AA-86A931C71912}"/>
              </a:ext>
            </a:extLst>
          </p:cNvPr>
          <p:cNvSpPr/>
          <p:nvPr/>
        </p:nvSpPr>
        <p:spPr>
          <a:xfrm>
            <a:off x="3825426" y="3437017"/>
            <a:ext cx="1276985" cy="7543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right</a:t>
            </a:r>
            <a:endParaRPr lang="en-US" sz="2000" dirty="0">
              <a:ea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left</a:t>
            </a:r>
            <a:endParaRPr lang="en-US" sz="2000" dirty="0">
              <a:ea typeface="Times New Roman" panose="02020603050405020304" pitchFamily="18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5902816F-1CE6-CE4A-96E2-9BC9B4FBC561}"/>
              </a:ext>
            </a:extLst>
          </p:cNvPr>
          <p:cNvSpPr/>
          <p:nvPr/>
        </p:nvSpPr>
        <p:spPr>
          <a:xfrm>
            <a:off x="2844696" y="5255941"/>
            <a:ext cx="1376825" cy="7543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above</a:t>
            </a:r>
            <a:endParaRPr lang="en-US" sz="2000" dirty="0">
              <a:ea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below</a:t>
            </a:r>
            <a:endParaRPr lang="en-US" sz="2000" dirty="0">
              <a:ea typeface="Times New Roman" panose="02020603050405020304" pitchFamily="18" charset="0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1932432" y="435049"/>
            <a:ext cx="83271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a horizontal number line, negative </a:t>
            </a:r>
          </a:p>
          <a:p>
            <a:pPr marL="914400" indent="-449263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numbers are to the	        of zero. </a:t>
            </a:r>
          </a:p>
          <a:p>
            <a:pPr marL="914400" indent="-449263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a vertical number line, negative numbers </a:t>
            </a:r>
          </a:p>
          <a:p>
            <a:pPr marL="914400" indent="-449263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are 		  zero.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62E774B0-081B-E44E-B35C-583D052F0C5D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CC3E2A83-AC41-DF42-90F8-D5F4B42297DF}"/>
              </a:ext>
            </a:extLst>
          </p:cNvPr>
          <p:cNvSpPr/>
          <p:nvPr/>
        </p:nvSpPr>
        <p:spPr>
          <a:xfrm>
            <a:off x="6014181" y="1031422"/>
            <a:ext cx="1299605" cy="7543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>
                <a:latin typeface="Verdana" panose="020B0604030504040204" pitchFamily="34" charset="0"/>
                <a:ea typeface="Times New Roman" panose="02020603050405020304" pitchFamily="18" charset="0"/>
              </a:rPr>
              <a:t>right</a:t>
            </a:r>
            <a:endParaRPr lang="en-US" sz="2000">
              <a:ea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>
                <a:latin typeface="Verdana" panose="020B0604030504040204" pitchFamily="34" charset="0"/>
                <a:ea typeface="Times New Roman" panose="02020603050405020304" pitchFamily="18" charset="0"/>
              </a:rPr>
              <a:t>left</a:t>
            </a:r>
            <a:endParaRPr lang="en-US" sz="2000">
              <a:ea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="" xmlns:a16="http://schemas.microsoft.com/office/drawing/2014/main" id="{17DF1DBD-799F-0D4D-B4DB-EDBEAAABB9D8}"/>
              </a:ext>
            </a:extLst>
          </p:cNvPr>
          <p:cNvSpPr/>
          <p:nvPr/>
        </p:nvSpPr>
        <p:spPr>
          <a:xfrm>
            <a:off x="3524986" y="3600452"/>
            <a:ext cx="1383246" cy="7543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>
                <a:latin typeface="Verdana" panose="020B0604030504040204" pitchFamily="34" charset="0"/>
                <a:ea typeface="Times New Roman" panose="02020603050405020304" pitchFamily="18" charset="0"/>
              </a:rPr>
              <a:t>above</a:t>
            </a:r>
            <a:endParaRPr lang="en-US" sz="2000">
              <a:ea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>
                <a:latin typeface="Verdana" panose="020B0604030504040204" pitchFamily="34" charset="0"/>
                <a:ea typeface="Times New Roman" panose="02020603050405020304" pitchFamily="18" charset="0"/>
              </a:rPr>
              <a:t>below</a:t>
            </a:r>
            <a:endParaRPr lang="en-US" sz="2000">
              <a:ea typeface="Times New Roman" panose="02020603050405020304" pitchFamily="18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1231392" y="435050"/>
                <a:ext cx="972921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8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number line is shown with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type of numbers are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Estimate the location of points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7938"/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392" y="435050"/>
                <a:ext cx="9729216" cy="4524315"/>
              </a:xfrm>
              <a:prstGeom prst="rect">
                <a:avLst/>
              </a:prstGeom>
              <a:blipFill rotWithShape="0">
                <a:blip r:embed="rId3"/>
                <a:stretch>
                  <a:fillRect l="-877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62E774B0-081B-E44E-B35C-583D052F0C5D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 descr="A close up of a antenna&#10;&#10;Description automatically generated">
            <a:extLst>
              <a:ext uri="{FF2B5EF4-FFF2-40B4-BE49-F238E27FC236}">
                <a16:creationId xmlns="" xmlns:a16="http://schemas.microsoft.com/office/drawing/2014/main" id="{680A9EEE-E3DC-914E-8C2F-3F2E288BB7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3"/>
          <a:stretch/>
        </p:blipFill>
        <p:spPr bwMode="auto">
          <a:xfrm>
            <a:off x="2959418" y="1195069"/>
            <a:ext cx="6273165" cy="8102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354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1402080" y="435049"/>
                <a:ext cx="9387840" cy="3755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49263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914400" lvl="1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values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−3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4.3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  <a:p>
                <a:pPr marL="465137" lvl="1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7" lvl="1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did the tick marks between each integer help you determine where to plot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4.3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7938"/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0" y="435049"/>
                <a:ext cx="9387840" cy="3755836"/>
              </a:xfrm>
              <a:prstGeom prst="rect">
                <a:avLst/>
              </a:prstGeom>
              <a:blipFill rotWithShape="0">
                <a:blip r:embed="rId3"/>
                <a:stretch>
                  <a:fillRect l="-909" t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62E774B0-081B-E44E-B35C-583D052F0C5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099" y="320749"/>
            <a:ext cx="8710821" cy="100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48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1182624" y="435049"/>
                <a:ext cx="9826752" cy="1364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1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did the tick marks between each integer help you determine where to plot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−3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7938"/>
                <a:endParaRPr lang="en-US" sz="24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624" y="435049"/>
                <a:ext cx="9826752" cy="1364476"/>
              </a:xfrm>
              <a:prstGeom prst="rect">
                <a:avLst/>
              </a:prstGeom>
              <a:blipFill rotWithShape="0">
                <a:blip r:embed="rId3"/>
                <a:stretch>
                  <a:fillRect l="-931" t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62E774B0-081B-E44E-B35C-583D052F0C5D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6662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1097280" y="435049"/>
            <a:ext cx="999744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5137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4926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the number line, make a tick mark that is halfway between each value on the number line. Label each tick mark with the value of its location.</a:t>
            </a:r>
          </a:p>
          <a:p>
            <a:pPr marL="465137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62E774B0-081B-E44E-B35C-583D052F0C5D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A picture containing bird&#10;&#10;Description automatically generated">
            <a:extLst>
              <a:ext uri="{FF2B5EF4-FFF2-40B4-BE49-F238E27FC236}">
                <a16:creationId xmlns="" xmlns:a16="http://schemas.microsoft.com/office/drawing/2014/main" id="{55B12727-14B4-6D4B-9FB6-E7C592A6D5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761" b="60855"/>
          <a:stretch/>
        </p:blipFill>
        <p:spPr bwMode="auto">
          <a:xfrm>
            <a:off x="2277349" y="1529565"/>
            <a:ext cx="7637303" cy="9349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9037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902208" y="435050"/>
                <a:ext cx="10387584" cy="2459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2337" lvl="1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Make another tick mark halfway between each value and the tick marks that were previously made. Label each with the value of its location.</a:t>
                </a:r>
              </a:p>
              <a:p>
                <a:pPr marL="914400" lvl="1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7" lvl="1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values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−1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08" y="435050"/>
                <a:ext cx="10387584" cy="2459199"/>
              </a:xfrm>
              <a:prstGeom prst="rect">
                <a:avLst/>
              </a:prstGeom>
              <a:blipFill rotWithShape="0">
                <a:blip r:embed="rId3"/>
                <a:stretch>
                  <a:fillRect t="-1980" b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62E774B0-081B-E44E-B35C-583D052F0C5D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3020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1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=""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8478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3.1.6 Try It: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Plotting Rational Numbers on a Number Line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8670" y="34827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1448478" y="1386026"/>
                <a:ext cx="9243238" cy="998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numbers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horizontal number line.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478" y="1386026"/>
                <a:ext cx="9243238" cy="998863"/>
              </a:xfrm>
              <a:prstGeom prst="rect">
                <a:avLst/>
              </a:prstGeom>
              <a:blipFill rotWithShape="0">
                <a:blip r:embed="rId4"/>
                <a:stretch>
                  <a:fillRect l="-1055" b="-11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8A539B00-8E96-3740-8C2B-62EF12D58B8D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3" name="Picture 12" descr="A picture containing chart&#10;&#10;Description automatically generated">
            <a:extLst>
              <a:ext uri="{FF2B5EF4-FFF2-40B4-BE49-F238E27FC236}">
                <a16:creationId xmlns="" xmlns:a16="http://schemas.microsoft.com/office/drawing/2014/main" id="{B2249AAA-AD76-9B4A-BF16-18348B3AF63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713" b="63808"/>
          <a:stretch/>
        </p:blipFill>
        <p:spPr bwMode="auto">
          <a:xfrm>
            <a:off x="2482297" y="4258492"/>
            <a:ext cx="7227407" cy="16147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987552" y="422857"/>
                <a:ext cx="742492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rational numbers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−0.25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6.2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vertical number line.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552" y="422857"/>
                <a:ext cx="7424928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1232" t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770AEB55-C0B0-E249-801E-7B66B61DDE11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picture containing music, bassoon&#10;&#10;Description automatically generated">
            <a:extLst>
              <a:ext uri="{FF2B5EF4-FFF2-40B4-BE49-F238E27FC236}">
                <a16:creationId xmlns="" xmlns:a16="http://schemas.microsoft.com/office/drawing/2014/main" id="{3920936D-CE35-5D4B-8DCD-1481F9E788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67" r="56254"/>
          <a:stretch/>
        </p:blipFill>
        <p:spPr bwMode="auto">
          <a:xfrm>
            <a:off x="9948750" y="422857"/>
            <a:ext cx="444146" cy="5511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=""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46532" y="201463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3.1.7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232" y="201463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2060448" y="1386025"/>
            <a:ext cx="83271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 numbers are                   than zero. On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horizontal number line, negative numbers are </a:t>
            </a:r>
          </a:p>
          <a:p>
            <a:pPr marL="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the		   of zero. On a vertical number</a:t>
            </a:r>
          </a:p>
          <a:p>
            <a:pPr marL="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line, negative numbers are                 zero.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B65A09A0-1E94-F34F-9AC7-848B14CF3F5C}"/>
              </a:ext>
            </a:extLst>
          </p:cNvPr>
          <p:cNvSpPr/>
          <p:nvPr/>
        </p:nvSpPr>
        <p:spPr>
          <a:xfrm>
            <a:off x="-6399" y="-822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="" xmlns:a16="http://schemas.microsoft.com/office/drawing/2014/main" id="{562B0774-B3F0-B747-9419-C341C8CBCE64}"/>
              </a:ext>
            </a:extLst>
          </p:cNvPr>
          <p:cNvSpPr/>
          <p:nvPr/>
        </p:nvSpPr>
        <p:spPr>
          <a:xfrm>
            <a:off x="6096000" y="1284388"/>
            <a:ext cx="1782794" cy="7543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greater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C4C253E7-62C9-F246-816B-0CBA58882E54}"/>
              </a:ext>
            </a:extLst>
          </p:cNvPr>
          <p:cNvSpPr/>
          <p:nvPr/>
        </p:nvSpPr>
        <p:spPr>
          <a:xfrm>
            <a:off x="3588159" y="2707233"/>
            <a:ext cx="1476875" cy="7543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right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left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="" xmlns:a16="http://schemas.microsoft.com/office/drawing/2014/main" id="{C978175D-A660-A143-9C53-D72C9680B9A1}"/>
              </a:ext>
            </a:extLst>
          </p:cNvPr>
          <p:cNvSpPr/>
          <p:nvPr/>
        </p:nvSpPr>
        <p:spPr>
          <a:xfrm>
            <a:off x="6843983" y="3424825"/>
            <a:ext cx="1592693" cy="75438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above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below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048512" y="398474"/>
                <a:ext cx="100949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integers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horizontal number line.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12" y="398474"/>
                <a:ext cx="10094976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906" t="-6569" r="-132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3EDFF89-CB46-ED4C-B8D6-2406B48F2E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6532" y="3707621"/>
            <a:ext cx="7558937" cy="728935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109472" y="398474"/>
                <a:ext cx="6292814" cy="1140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rational numbers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6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vertical number line.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472" y="398474"/>
                <a:ext cx="6292814" cy="1140825"/>
              </a:xfrm>
              <a:prstGeom prst="rect">
                <a:avLst/>
              </a:prstGeom>
              <a:blipFill rotWithShape="0">
                <a:blip r:embed="rId3"/>
                <a:stretch>
                  <a:fillRect l="-1453" r="-678" b="-2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Chart, histogram&#10;&#10;Description automatically generated">
            <a:extLst>
              <a:ext uri="{FF2B5EF4-FFF2-40B4-BE49-F238E27FC236}">
                <a16:creationId xmlns="" xmlns:a16="http://schemas.microsoft.com/office/drawing/2014/main" id="{BD82CAA0-6375-4340-9806-DF39BA1E0B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3690" y="307608"/>
            <a:ext cx="1703137" cy="5778959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2439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1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=""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19376" y="-72674"/>
            <a:ext cx="940471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3.1.8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926" y="2409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902208" y="1386026"/>
                <a:ext cx="10643616" cy="1368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the rational numbers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−25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−12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12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208" y="1386026"/>
                <a:ext cx="10643616" cy="1368195"/>
              </a:xfrm>
              <a:prstGeom prst="rect">
                <a:avLst/>
              </a:prstGeom>
              <a:blipFill rotWithShape="0">
                <a:blip r:embed="rId4"/>
                <a:stretch>
                  <a:fillRect l="-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="" xmlns:a16="http://schemas.microsoft.com/office/drawing/2014/main" id="{D531D3A0-9BD7-F84B-8CFB-DCA0798B4FC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2550" y="3341464"/>
            <a:ext cx="6946900" cy="1524635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731520" y="422858"/>
                <a:ext cx="9528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to estimate the value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22858"/>
                <a:ext cx="9528048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6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770AEB55-C0B0-E249-801E-7B66B61DDE11}"/>
              </a:ext>
            </a:extLst>
          </p:cNvPr>
          <p:cNvSpPr/>
          <p:nvPr/>
        </p:nvSpPr>
        <p:spPr>
          <a:xfrm>
            <a:off x="0" y="-822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picture containing object, clock&#10;&#10;Description automatically generated">
            <a:extLst>
              <a:ext uri="{FF2B5EF4-FFF2-40B4-BE49-F238E27FC236}">
                <a16:creationId xmlns="" xmlns:a16="http://schemas.microsoft.com/office/drawing/2014/main" id="{F21C0443-1499-E749-9B2E-52825B288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550" y="1267733"/>
            <a:ext cx="6946900" cy="94361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704638" y="6457800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28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49096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AF835D7C-CDBB-4734-BCB1-E83740CBB5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E79A42-A67A-457B-80A4-6FAAC470AC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0155C0-5448-4D79-8B50-A9C00B83F01E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1346</Words>
  <Application>Microsoft Office PowerPoint</Application>
  <PresentationFormat>Custom</PresentationFormat>
  <Paragraphs>297</Paragraphs>
  <Slides>41</Slides>
  <Notes>41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1_Office Theme</vt:lpstr>
      <vt:lpstr>6th Grade Accelerated Math  Unit 3, Lesson 1  Rational Numbers and the Number Line – Part 1  Volume 1, pg. 75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Sensei</cp:lastModifiedBy>
  <cp:revision>27</cp:revision>
  <dcterms:created xsi:type="dcterms:W3CDTF">2015-03-17T18:51:18Z</dcterms:created>
  <dcterms:modified xsi:type="dcterms:W3CDTF">2023-07-07T10:59:34Z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