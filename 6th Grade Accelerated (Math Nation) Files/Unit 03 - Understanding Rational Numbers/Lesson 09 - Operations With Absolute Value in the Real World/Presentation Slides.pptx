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5"/>
  </p:notesMasterIdLst>
  <p:sldIdLst>
    <p:sldId id="256" r:id="rId2"/>
    <p:sldId id="257" r:id="rId3"/>
    <p:sldId id="285" r:id="rId4"/>
    <p:sldId id="286" r:id="rId5"/>
    <p:sldId id="261" r:id="rId6"/>
    <p:sldId id="287" r:id="rId7"/>
    <p:sldId id="314" r:id="rId8"/>
    <p:sldId id="315" r:id="rId9"/>
    <p:sldId id="288" r:id="rId10"/>
    <p:sldId id="326" r:id="rId11"/>
    <p:sldId id="316" r:id="rId12"/>
    <p:sldId id="289" r:id="rId13"/>
    <p:sldId id="290" r:id="rId14"/>
    <p:sldId id="308" r:id="rId15"/>
    <p:sldId id="327" r:id="rId16"/>
    <p:sldId id="328" r:id="rId17"/>
    <p:sldId id="329" r:id="rId18"/>
    <p:sldId id="330" r:id="rId19"/>
    <p:sldId id="331" r:id="rId20"/>
    <p:sldId id="320" r:id="rId21"/>
    <p:sldId id="321" r:id="rId22"/>
    <p:sldId id="322" r:id="rId23"/>
    <p:sldId id="323" r:id="rId24"/>
    <p:sldId id="324" r:id="rId25"/>
    <p:sldId id="325" r:id="rId26"/>
    <p:sldId id="332" r:id="rId27"/>
    <p:sldId id="302" r:id="rId28"/>
    <p:sldId id="303" r:id="rId29"/>
    <p:sldId id="309" r:id="rId30"/>
    <p:sldId id="333" r:id="rId31"/>
    <p:sldId id="306" r:id="rId32"/>
    <p:sldId id="307" r:id="rId33"/>
    <p:sldId id="310"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BD1E"/>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67"/>
    <p:restoredTop sz="94695"/>
  </p:normalViewPr>
  <p:slideViewPr>
    <p:cSldViewPr snapToGrid="0">
      <p:cViewPr varScale="1">
        <p:scale>
          <a:sx n="103" d="100"/>
          <a:sy n="103" d="100"/>
        </p:scale>
        <p:origin x="114" y="21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643576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406588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6140536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511012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8634905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8132884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4250097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8194919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566362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7284934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540458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26456451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5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5.png"/><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5.png"/><Relationship Id="rId4" Type="http://schemas.openxmlformats.org/officeDocument/2006/relationships/image" Target="../media/image34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9</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Operations With Absolute Value in the Real World </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122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66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40367" y="97088"/>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16867" y="332863"/>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245476" y="1600200"/>
            <a:ext cx="9701048"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MA.6.NSO.1.4</a:t>
            </a:r>
          </a:p>
          <a:p>
            <a:pPr indent="0">
              <a:buNone/>
            </a:pPr>
            <a:r>
              <a:rPr lang="en-US" sz="3500" dirty="0">
                <a:solidFill>
                  <a:schemeClr val="tx1"/>
                </a:solidFill>
                <a:latin typeface="Verdana"/>
                <a:ea typeface="Verdana"/>
                <a:cs typeface="Verdana"/>
                <a:sym typeface="Verdana"/>
              </a:rPr>
              <a:t>Solve mathematical and real-world problems involving absolute value, including the comparison of absolute values.</a:t>
            </a: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620519" y="347867"/>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45169" y="105234"/>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45169" y="1596390"/>
            <a:ext cx="988942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id="{0EC4A24D-AC58-5143-9A1A-1E71E28DFCF5}"/>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122</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56938" y="-51387"/>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74776" y="237813"/>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308538" y="1600200"/>
            <a:ext cx="9574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solidFill>
                  <a:schemeClr val="tx1"/>
                </a:solidFill>
                <a:latin typeface="Verdana"/>
                <a:ea typeface="Verdana"/>
                <a:cs typeface="Verdana"/>
                <a:sym typeface="Verdana"/>
              </a:rPr>
              <a:t>I can perform operations that involve the absolute value of two numbers.</a:t>
            </a:r>
          </a:p>
        </p:txBody>
      </p:sp>
      <p:sp>
        <p:nvSpPr>
          <p:cNvPr id="8" name="Google Shape;278;g104476d1465_1_17">
            <a:extLst>
              <a:ext uri="{FF2B5EF4-FFF2-40B4-BE49-F238E27FC236}">
                <a16:creationId xmlns:a16="http://schemas.microsoft.com/office/drawing/2014/main" id="{7BA09A98-EDA0-5343-AD77-8F8E8C4F0E72}"/>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122</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1933"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F2A67"/>
                </a:solidFill>
                <a:latin typeface="Verdana"/>
                <a:ea typeface="Verdana"/>
                <a:cs typeface="Verdana"/>
                <a:sym typeface="Verdana"/>
              </a:rPr>
              <a:t>3.9.1 Warm-Up: Math Fail </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18881" y="289200"/>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040524" y="1386026"/>
            <a:ext cx="9347060"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sign?</a:t>
            </a:r>
          </a:p>
        </p:txBody>
      </p:sp>
      <p:sp>
        <p:nvSpPr>
          <p:cNvPr id="9" name="Google Shape;278;g104476d1465_1_17">
            <a:extLst>
              <a:ext uri="{FF2B5EF4-FFF2-40B4-BE49-F238E27FC236}">
                <a16:creationId xmlns:a16="http://schemas.microsoft.com/office/drawing/2014/main" id="{C2564F7E-689E-724F-BBC4-EC8DFC52E66C}"/>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descr="Graphical user interface, text, application, chat or text message&#10;&#10;Description automatically generated">
            <a:extLst>
              <a:ext uri="{FF2B5EF4-FFF2-40B4-BE49-F238E27FC236}">
                <a16:creationId xmlns:a16="http://schemas.microsoft.com/office/drawing/2014/main" id="{32D19328-AA86-0146-AD36-DE6B6EB72A5F}"/>
              </a:ext>
            </a:extLst>
          </p:cNvPr>
          <p:cNvPicPr>
            <a:picLocks noChangeAspect="1"/>
          </p:cNvPicPr>
          <p:nvPr/>
        </p:nvPicPr>
        <p:blipFill>
          <a:blip r:embed="rId4"/>
          <a:stretch>
            <a:fillRect/>
          </a:stretch>
        </p:blipFill>
        <p:spPr>
          <a:xfrm>
            <a:off x="4089983" y="2197217"/>
            <a:ext cx="2743200" cy="3200400"/>
          </a:xfrm>
          <a:prstGeom prst="rect">
            <a:avLst/>
          </a:prstGeom>
        </p:spPr>
      </p:pic>
      <p:sp>
        <p:nvSpPr>
          <p:cNvPr id="10"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123</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45084" y="603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3.9.2 Collaboration: Absolute Value and Profit</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11614" y="34827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308538" y="1386026"/>
                <a:ext cx="9079046" cy="489364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Landon starts a lawn-mowing business to earn money. All of his profits are being saved for college.</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r>
                  <a:rPr lang="en-US" sz="2400" dirty="0">
                    <a:latin typeface="Verdana" panose="020B0604030504040204" pitchFamily="34" charset="0"/>
                    <a:ea typeface="Verdana" panose="020B0604030504040204" pitchFamily="34" charset="0"/>
                    <a:cs typeface="Verdana" panose="020B0604030504040204" pitchFamily="34" charset="0"/>
                  </a:rPr>
                  <a:t>His father lends him a lawnmower to use for free, but he must pay for the gas and other supplies. For each lawn, his expenses are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$7.30</m:t>
                    </m:r>
                  </m:oMath>
                </a14:m>
                <a:r>
                  <a:rPr lang="en-US" sz="2400" dirty="0">
                    <a:latin typeface="Verdana" panose="020B0604030504040204" pitchFamily="34" charset="0"/>
                    <a:ea typeface="Verdana" panose="020B0604030504040204" pitchFamily="34" charset="0"/>
                    <a:cs typeface="Verdana" panose="020B0604030504040204" pitchFamily="34" charset="0"/>
                  </a:rPr>
                  <a:t>, and he earns an average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$40.00.</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1308538" y="1386026"/>
                <a:ext cx="9079046" cy="4893647"/>
              </a:xfrm>
              <a:prstGeom prst="rect">
                <a:avLst/>
              </a:prstGeom>
              <a:blipFill rotWithShape="0">
                <a:blip r:embed="rId4"/>
                <a:stretch>
                  <a:fillRect l="-1075" t="-996" r="-2216"/>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D252DD22-4545-6844-9D1D-323C0B41ADF5}"/>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12" name="Group 11">
            <a:extLst>
              <a:ext uri="{FF2B5EF4-FFF2-40B4-BE49-F238E27FC236}">
                <a16:creationId xmlns:a16="http://schemas.microsoft.com/office/drawing/2014/main" id="{A99CA48C-2DE8-8941-B53F-87FE0B00DD67}"/>
              </a:ext>
            </a:extLst>
          </p:cNvPr>
          <p:cNvGrpSpPr/>
          <p:nvPr/>
        </p:nvGrpSpPr>
        <p:grpSpPr>
          <a:xfrm>
            <a:off x="2728080" y="2890980"/>
            <a:ext cx="6735961" cy="952992"/>
            <a:chOff x="-174027" y="-133687"/>
            <a:chExt cx="6992002" cy="1035387"/>
          </a:xfrm>
        </p:grpSpPr>
        <p:sp>
          <p:nvSpPr>
            <p:cNvPr id="13" name="Rectangle 12">
              <a:extLst>
                <a:ext uri="{FF2B5EF4-FFF2-40B4-BE49-F238E27FC236}">
                  <a16:creationId xmlns:a16="http://schemas.microsoft.com/office/drawing/2014/main" id="{6F36C0F8-686C-454A-804C-17E0D7EE0332}"/>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pPr>
                <a:lnSpc>
                  <a:spcPct val="107000"/>
                </a:lnSpc>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4" name="Rounded Rectangle 13">
              <a:extLst>
                <a:ext uri="{FF2B5EF4-FFF2-40B4-BE49-F238E27FC236}">
                  <a16:creationId xmlns:a16="http://schemas.microsoft.com/office/drawing/2014/main" id="{10689ECC-F3D1-0743-8365-AA02960C459F}"/>
                </a:ext>
              </a:extLst>
            </p:cNvPr>
            <p:cNvSpPr/>
            <p:nvPr/>
          </p:nvSpPr>
          <p:spPr>
            <a:xfrm>
              <a:off x="-174027" y="-133687"/>
              <a:ext cx="6992002" cy="980347"/>
            </a:xfrm>
            <a:prstGeom prst="roundRect">
              <a:avLst>
                <a:gd name="adj" fmla="val 16667"/>
              </a:avLst>
            </a:prstGeom>
            <a:solidFill>
              <a:srgbClr val="E3EFD5"/>
            </a:solidFill>
            <a:ln w="12700" cap="flat" cmpd="sng">
              <a:solidFill>
                <a:srgbClr val="E3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a:lnSpc>
                  <a:spcPct val="107000"/>
                </a:lnSpc>
                <a:spcAft>
                  <a:spcPts val="800"/>
                </a:spcAft>
              </a:pPr>
              <a:r>
                <a:rPr lang="en-US" sz="1800" b="1" i="1" dirty="0">
                  <a:solidFill>
                    <a:srgbClr val="6C993C"/>
                  </a:solidFill>
                  <a:latin typeface="Verdana" panose="020B0604030504040204" pitchFamily="34" charset="0"/>
                  <a:ea typeface="Verdana" panose="020B0604030504040204" pitchFamily="34" charset="0"/>
                  <a:cs typeface="Verdana" panose="020B0604030504040204" pitchFamily="34" charset="0"/>
                </a:rPr>
                <a:t>Profit</a:t>
              </a:r>
              <a:r>
                <a:rPr lang="en-US" sz="1800" b="1" dirty="0">
                  <a:solidFill>
                    <a:srgbClr val="6C993C"/>
                  </a:solidFill>
                  <a:latin typeface="Verdana" panose="020B0604030504040204" pitchFamily="34" charset="0"/>
                  <a:ea typeface="Verdana" panose="020B0604030504040204" pitchFamily="34" charset="0"/>
                  <a:cs typeface="Verdana" panose="020B0604030504040204" pitchFamily="34" charset="0"/>
                </a:rPr>
                <a:t> </a:t>
              </a:r>
              <a:r>
                <a:rPr lang="en-US" sz="1800" dirty="0">
                  <a:solidFill>
                    <a:srgbClr val="6C993C"/>
                  </a:solidFill>
                  <a:latin typeface="Verdana" panose="020B0604030504040204" pitchFamily="34" charset="0"/>
                  <a:ea typeface="Verdana" panose="020B0604030504040204" pitchFamily="34" charset="0"/>
                  <a:cs typeface="Verdana" panose="020B0604030504040204" pitchFamily="34" charset="0"/>
                </a:rPr>
                <a:t>is the difference between the amount earned (revenue) and the amount spent.</a:t>
              </a:r>
              <a:endParaRPr lang="en-US" sz="1600" dirty="0">
                <a:latin typeface="Cambria Math" panose="02040503050406030204" pitchFamily="18" charset="0"/>
                <a:ea typeface="Cambria Math" panose="02040503050406030204" pitchFamily="18" charset="0"/>
                <a:cs typeface="Cambria Math" panose="02040503050406030204" pitchFamily="18" charset="0"/>
              </a:endParaRPr>
            </a:p>
          </p:txBody>
        </p:sp>
      </p:grpSp>
      <p:sp>
        <p:nvSpPr>
          <p:cNvPr id="16"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123</a:t>
            </a:r>
            <a:endParaRPr i="1" dirty="0">
              <a:latin typeface="Calibri"/>
              <a:ea typeface="Calibri"/>
              <a:cs typeface="Calibri"/>
              <a:sym typeface="Calibri"/>
            </a:endParaRPr>
          </a:p>
        </p:txBody>
      </p:sp>
      <p:pic>
        <p:nvPicPr>
          <p:cNvPr id="17"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150883" y="520393"/>
            <a:ext cx="10090970" cy="3785652"/>
          </a:xfrm>
          <a:prstGeom prst="rect">
            <a:avLst/>
          </a:prstGeom>
          <a:noFill/>
        </p:spPr>
        <p:txBody>
          <a:bodyPr wrap="square" rtlCol="0">
            <a:spAutoFit/>
          </a:bodyPr>
          <a:lstStyle/>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In this situation, revenue is represented with a</a:t>
            </a: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a:r>
              <a:rPr lang="en-US" sz="2400" dirty="0">
                <a:latin typeface="Verdana" panose="020B0604030504040204" pitchFamily="34" charset="0"/>
                <a:ea typeface="Verdana" panose="020B0604030504040204" pitchFamily="34" charset="0"/>
                <a:cs typeface="Verdana" panose="020B0604030504040204" pitchFamily="34" charset="0"/>
              </a:rPr>
              <a:t>                  value and an expense is</a:t>
            </a:r>
          </a:p>
          <a:p>
            <a:pPr marL="917575"/>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a:r>
              <a:rPr lang="en-US" sz="2400" dirty="0">
                <a:latin typeface="Verdana" panose="020B0604030504040204" pitchFamily="34" charset="0"/>
                <a:ea typeface="Verdana" panose="020B0604030504040204" pitchFamily="34" charset="0"/>
                <a:cs typeface="Verdana" panose="020B0604030504040204" pitchFamily="34" charset="0"/>
              </a:rPr>
              <a:t>represented by a                    value. </a:t>
            </a:r>
          </a:p>
          <a:p>
            <a:pPr marL="917575"/>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Write a value to represent each situation.</a:t>
            </a:r>
          </a:p>
          <a:p>
            <a:pPr marL="1374775"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2950EAF9-F430-CC4A-9F7C-2EC37538C1F0}"/>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5" name="Picture 4" descr="A picture containing shape&#10;&#10;Description automatically generated">
            <a:extLst>
              <a:ext uri="{FF2B5EF4-FFF2-40B4-BE49-F238E27FC236}">
                <a16:creationId xmlns:a16="http://schemas.microsoft.com/office/drawing/2014/main" id="{D4C09D7B-628A-D94A-BE04-74EDE20E50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75977" y="1012027"/>
            <a:ext cx="2052670" cy="1003300"/>
          </a:xfrm>
          <a:prstGeom prst="rect">
            <a:avLst/>
          </a:prstGeom>
        </p:spPr>
      </p:pic>
      <p:pic>
        <p:nvPicPr>
          <p:cNvPr id="10" name="Picture 9" descr="A picture containing shape&#10;&#10;Description automatically generated">
            <a:extLst>
              <a:ext uri="{FF2B5EF4-FFF2-40B4-BE49-F238E27FC236}">
                <a16:creationId xmlns:a16="http://schemas.microsoft.com/office/drawing/2014/main" id="{88BA83AA-2CD0-6242-951F-4D03325FF55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53741" y="1718003"/>
            <a:ext cx="2052670" cy="1003300"/>
          </a:xfrm>
          <a:prstGeom prst="rect">
            <a:avLst/>
          </a:prstGeom>
        </p:spPr>
      </p:pic>
      <p:graphicFrame>
        <p:nvGraphicFramePr>
          <p:cNvPr id="2" name="Table 1">
            <a:extLst>
              <a:ext uri="{FF2B5EF4-FFF2-40B4-BE49-F238E27FC236}">
                <a16:creationId xmlns:a16="http://schemas.microsoft.com/office/drawing/2014/main" id="{D92B374A-ECDD-BE4A-A7A3-CA4444439C03}"/>
              </a:ext>
            </a:extLst>
          </p:cNvPr>
          <p:cNvGraphicFramePr>
            <a:graphicFrameLocks noGrp="1"/>
          </p:cNvGraphicFramePr>
          <p:nvPr>
            <p:extLst>
              <p:ext uri="{D42A27DB-BD31-4B8C-83A1-F6EECF244321}">
                <p14:modId xmlns:p14="http://schemas.microsoft.com/office/powerpoint/2010/main" val="3103926625"/>
              </p:ext>
            </p:extLst>
          </p:nvPr>
        </p:nvGraphicFramePr>
        <p:xfrm>
          <a:off x="3324565" y="4388846"/>
          <a:ext cx="5542870" cy="1472893"/>
        </p:xfrm>
        <a:graphic>
          <a:graphicData uri="http://schemas.openxmlformats.org/drawingml/2006/table">
            <a:tbl>
              <a:tblPr bandRow="1">
                <a:tableStyleId>{A91F0D33-8C57-4600-99A7-42BC86742BE1}</a:tableStyleId>
              </a:tblPr>
              <a:tblGrid>
                <a:gridCol w="3122659">
                  <a:extLst>
                    <a:ext uri="{9D8B030D-6E8A-4147-A177-3AD203B41FA5}">
                      <a16:colId xmlns:a16="http://schemas.microsoft.com/office/drawing/2014/main" val="1768535042"/>
                    </a:ext>
                  </a:extLst>
                </a:gridCol>
                <a:gridCol w="2420211">
                  <a:extLst>
                    <a:ext uri="{9D8B030D-6E8A-4147-A177-3AD203B41FA5}">
                      <a16:colId xmlns:a16="http://schemas.microsoft.com/office/drawing/2014/main" val="2099022161"/>
                    </a:ext>
                  </a:extLst>
                </a:gridCol>
              </a:tblGrid>
              <a:tr h="555905">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Landon’s Finances</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a:t>
                      </a:r>
                    </a:p>
                  </a:txBody>
                  <a:tcPr marL="68580" marR="68580" marT="0" marB="0" anchor="ctr">
                    <a:solidFill>
                      <a:schemeClr val="bg1">
                        <a:lumMod val="75000"/>
                      </a:schemeClr>
                    </a:solidFill>
                  </a:tcPr>
                </a:tc>
                <a:extLst>
                  <a:ext uri="{0D108BD9-81ED-4DB2-BD59-A6C34878D82A}">
                    <a16:rowId xmlns:a16="http://schemas.microsoft.com/office/drawing/2014/main" val="2023049063"/>
                  </a:ext>
                </a:extLst>
              </a:tr>
              <a:tr h="458494">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Expenses per lawn</a:t>
                      </a:r>
                    </a:p>
                  </a:txBody>
                  <a:tcPr marL="68580" marR="68580" marT="0" marB="0" anchor="ct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2125390917"/>
                  </a:ext>
                </a:extLst>
              </a:tr>
              <a:tr h="458494">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Revenue per lawn</a:t>
                      </a: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1566713944"/>
                  </a:ext>
                </a:extLst>
              </a:tr>
            </a:tbl>
          </a:graphicData>
        </a:graphic>
      </p:graphicFrame>
      <p:sp>
        <p:nvSpPr>
          <p:cNvPr id="9"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123</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1513490" y="410666"/>
                <a:ext cx="9315686" cy="4524315"/>
              </a:xfrm>
              <a:prstGeom prst="rect">
                <a:avLst/>
              </a:prstGeom>
              <a:noFill/>
            </p:spPr>
            <p:txBody>
              <a:bodyPr wrap="square" rtlCol="0">
                <a:spAutoFit/>
              </a:bodyPr>
              <a:lstStyle/>
              <a:p>
                <a:pPr marL="922338" indent="-45561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Use an inequality symbol,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&lt;</m:t>
                    </m:r>
                  </m:oMath>
                </a14:m>
                <a:r>
                  <a:rPr lang="en-US" sz="24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&gt;</m:t>
                    </m:r>
                  </m:oMath>
                </a14:m>
                <a:r>
                  <a:rPr lang="en-US" sz="2400" dirty="0">
                    <a:latin typeface="Verdana" panose="020B0604030504040204" pitchFamily="34" charset="0"/>
                    <a:ea typeface="Verdana" panose="020B0604030504040204" pitchFamily="34" charset="0"/>
                    <a:cs typeface="Verdana" panose="020B0604030504040204" pitchFamily="34" charset="0"/>
                  </a:rPr>
                  <a:t>, to compare the absolute values of Landon’s expenses to revenue for each lawn he mows.</a:t>
                </a:r>
              </a:p>
              <a:p>
                <a:pPr marL="922338" indent="-45561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How does the inequality show that Landon will make a profit? </a:t>
                </a:r>
              </a:p>
              <a:p>
                <a:pPr marL="922338" indent="-45561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1513490" y="410666"/>
                <a:ext cx="9315686" cy="4524315"/>
              </a:xfrm>
              <a:prstGeom prst="rect">
                <a:avLst/>
              </a:prstGeom>
              <a:blipFill rotWithShape="0">
                <a:blip r:embed="rId3"/>
                <a:stretch>
                  <a:fillRect t="-1211" r="-98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24B490A-71D6-FD45-903D-95450FDFCF80}"/>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descr="Icon&#10;&#10;Description automatically generated with medium confidence">
            <a:extLst>
              <a:ext uri="{FF2B5EF4-FFF2-40B4-BE49-F238E27FC236}">
                <a16:creationId xmlns:a16="http://schemas.microsoft.com/office/drawing/2014/main" id="{D14BA986-3275-A841-B0FE-D7C4EB0C51EB}"/>
              </a:ext>
            </a:extLst>
          </p:cNvPr>
          <p:cNvPicPr>
            <a:picLocks noChangeAspect="1"/>
          </p:cNvPicPr>
          <p:nvPr/>
        </p:nvPicPr>
        <p:blipFill>
          <a:blip r:embed="rId4"/>
          <a:stretch>
            <a:fillRect/>
          </a:stretch>
        </p:blipFill>
        <p:spPr>
          <a:xfrm>
            <a:off x="3974894" y="2047181"/>
            <a:ext cx="4242213" cy="1058148"/>
          </a:xfrm>
          <a:prstGeom prst="rect">
            <a:avLst/>
          </a:prstGeom>
        </p:spPr>
      </p:pic>
      <p:sp>
        <p:nvSpPr>
          <p:cNvPr id="8"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0374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2AA35BC6-D428-FC41-BDE5-6438AB8840FC}"/>
              </a:ext>
            </a:extLst>
          </p:cNvPr>
          <p:cNvSpPr txBox="1"/>
          <p:nvPr/>
        </p:nvSpPr>
        <p:spPr>
          <a:xfrm>
            <a:off x="914400" y="410665"/>
            <a:ext cx="10513866" cy="2677656"/>
          </a:xfrm>
          <a:prstGeom prst="rect">
            <a:avLst/>
          </a:prstGeom>
          <a:noFill/>
        </p:spPr>
        <p:txBody>
          <a:bodyPr wrap="square" rtlCol="0">
            <a:spAutoFit/>
          </a:bodyPr>
          <a:lstStyle/>
          <a:p>
            <a:pPr marL="922338" indent="-455613">
              <a:buFont typeface="+mj-lt"/>
              <a:buAutoNum type="alphaLcPeriod" startAt="5"/>
            </a:pPr>
            <a:r>
              <a:rPr lang="en-US" sz="2400" dirty="0">
                <a:latin typeface="Verdana" panose="020B0604030504040204" pitchFamily="34" charset="0"/>
                <a:ea typeface="Verdana" panose="020B0604030504040204" pitchFamily="34" charset="0"/>
                <a:cs typeface="Verdana" panose="020B0604030504040204" pitchFamily="34" charset="0"/>
              </a:rPr>
              <a:t>To make a profit, total expenses of a business</a:t>
            </a:r>
          </a:p>
          <a:p>
            <a:pPr marL="457200" indent="-457200">
              <a:buFont typeface="+mj-lt"/>
              <a:buAutoNum type="alphaL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a:r>
              <a:rPr lang="en-US" sz="2400" dirty="0">
                <a:latin typeface="Verdana" panose="020B0604030504040204" pitchFamily="34" charset="0"/>
                <a:ea typeface="Verdana" panose="020B0604030504040204" pitchFamily="34" charset="0"/>
                <a:cs typeface="Verdana" panose="020B0604030504040204" pitchFamily="34" charset="0"/>
              </a:rPr>
              <a:t>must be                       total revenue. A </a:t>
            </a:r>
          </a:p>
          <a:p>
            <a:pPr marL="922338"/>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a:r>
              <a:rPr lang="en-US" sz="2400" dirty="0">
                <a:latin typeface="Verdana" panose="020B0604030504040204" pitchFamily="34" charset="0"/>
                <a:ea typeface="Verdana" panose="020B0604030504040204" pitchFamily="34" charset="0"/>
                <a:cs typeface="Verdana" panose="020B0604030504040204" pitchFamily="34" charset="0"/>
              </a:rPr>
              <a:t>business is not profitable when the total</a:t>
            </a:r>
          </a:p>
          <a:p>
            <a:pPr marL="922338"/>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a:r>
              <a:rPr lang="en-US" sz="2400" dirty="0">
                <a:latin typeface="Verdana" panose="020B0604030504040204" pitchFamily="34" charset="0"/>
                <a:ea typeface="Verdana" panose="020B0604030504040204" pitchFamily="34" charset="0"/>
                <a:cs typeface="Verdana" panose="020B0604030504040204" pitchFamily="34" charset="0"/>
              </a:rPr>
              <a:t>                        greater than the  </a:t>
            </a:r>
          </a:p>
        </p:txBody>
      </p:sp>
      <p:sp>
        <p:nvSpPr>
          <p:cNvPr id="6" name="Google Shape;278;g104476d1465_1_17">
            <a:extLst>
              <a:ext uri="{FF2B5EF4-FFF2-40B4-BE49-F238E27FC236}">
                <a16:creationId xmlns:a16="http://schemas.microsoft.com/office/drawing/2014/main" id="{D24B490A-71D6-FD45-903D-95450FDFCF80}"/>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descr="A picture containing shape&#10;&#10;Description automatically generated">
            <a:extLst>
              <a:ext uri="{FF2B5EF4-FFF2-40B4-BE49-F238E27FC236}">
                <a16:creationId xmlns:a16="http://schemas.microsoft.com/office/drawing/2014/main" id="{992D6F9B-3D56-C44D-84B3-FA1FFDEBE9E1}"/>
              </a:ext>
            </a:extLst>
          </p:cNvPr>
          <p:cNvPicPr>
            <a:picLocks noChangeAspect="1"/>
          </p:cNvPicPr>
          <p:nvPr/>
        </p:nvPicPr>
        <p:blipFill rotWithShape="1">
          <a:blip r:embed="rId3"/>
          <a:srcRect l="2105"/>
          <a:stretch/>
        </p:blipFill>
        <p:spPr>
          <a:xfrm>
            <a:off x="3236158" y="859383"/>
            <a:ext cx="2362200" cy="1060450"/>
          </a:xfrm>
          <a:prstGeom prst="rect">
            <a:avLst/>
          </a:prstGeom>
        </p:spPr>
      </p:pic>
      <p:pic>
        <p:nvPicPr>
          <p:cNvPr id="9" name="Picture 8" descr="Text&#10;&#10;Description automatically generated with low confidence">
            <a:extLst>
              <a:ext uri="{FF2B5EF4-FFF2-40B4-BE49-F238E27FC236}">
                <a16:creationId xmlns:a16="http://schemas.microsoft.com/office/drawing/2014/main" id="{43FFA914-DEE2-B240-B850-4B31197C0E6B}"/>
              </a:ext>
            </a:extLst>
          </p:cNvPr>
          <p:cNvPicPr>
            <a:picLocks noChangeAspect="1"/>
          </p:cNvPicPr>
          <p:nvPr/>
        </p:nvPicPr>
        <p:blipFill>
          <a:blip r:embed="rId4"/>
          <a:stretch>
            <a:fillRect/>
          </a:stretch>
        </p:blipFill>
        <p:spPr>
          <a:xfrm>
            <a:off x="1785845" y="2368551"/>
            <a:ext cx="2671008" cy="1060450"/>
          </a:xfrm>
          <a:prstGeom prst="rect">
            <a:avLst/>
          </a:prstGeom>
        </p:spPr>
      </p:pic>
      <p:pic>
        <p:nvPicPr>
          <p:cNvPr id="11" name="Picture 10" descr="Shape&#10;&#10;Description automatically generated with medium confidence">
            <a:extLst>
              <a:ext uri="{FF2B5EF4-FFF2-40B4-BE49-F238E27FC236}">
                <a16:creationId xmlns:a16="http://schemas.microsoft.com/office/drawing/2014/main" id="{269C3380-82BA-9440-9F1C-ADC1D559BA78}"/>
              </a:ext>
            </a:extLst>
          </p:cNvPr>
          <p:cNvPicPr>
            <a:picLocks noChangeAspect="1"/>
          </p:cNvPicPr>
          <p:nvPr/>
        </p:nvPicPr>
        <p:blipFill>
          <a:blip r:embed="rId5"/>
          <a:stretch>
            <a:fillRect/>
          </a:stretch>
        </p:blipFill>
        <p:spPr>
          <a:xfrm>
            <a:off x="7057848" y="2279853"/>
            <a:ext cx="2141937" cy="978808"/>
          </a:xfrm>
          <a:prstGeom prst="rect">
            <a:avLst/>
          </a:prstGeom>
        </p:spPr>
      </p:pic>
      <p:sp>
        <p:nvSpPr>
          <p:cNvPr id="10"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37436" y="-5306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2800" b="1" dirty="0">
                <a:solidFill>
                  <a:srgbClr val="54B5D1"/>
                </a:solidFill>
                <a:latin typeface="Verdana"/>
                <a:ea typeface="Verdana"/>
                <a:cs typeface="Verdana"/>
                <a:sym typeface="Verdana"/>
              </a:rPr>
              <a:t>3.9.3 Guided Instruction: Operations With Absolute Value in the Real World  </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590136" y="154202"/>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337436" y="1171042"/>
                <a:ext cx="8997465" cy="230832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Javier and his family drove to a picnic area on a mountain. From the picnic area, the family hiked to the mountain’s summit, which was an elevation change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1,516</m:t>
                    </m:r>
                  </m:oMath>
                </a14:m>
                <a:r>
                  <a:rPr lang="en-US" sz="2400" dirty="0">
                    <a:latin typeface="Verdana" panose="020B0604030504040204" pitchFamily="34" charset="0"/>
                    <a:ea typeface="Verdana" panose="020B0604030504040204" pitchFamily="34" charset="0"/>
                    <a:cs typeface="Verdana" panose="020B0604030504040204" pitchFamily="34" charset="0"/>
                  </a:rPr>
                  <a:t> feet (ft). They hiked back to the picnic area to eat lunch. After lunch, they hiked down to the lake, which was an elevation change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2,347</m:t>
                    </m:r>
                  </m:oMath>
                </a14:m>
                <a:r>
                  <a:rPr lang="en-US" sz="2400" dirty="0">
                    <a:latin typeface="Verdana" panose="020B0604030504040204" pitchFamily="34" charset="0"/>
                    <a:ea typeface="Verdana" panose="020B0604030504040204" pitchFamily="34" charset="0"/>
                    <a:cs typeface="Verdana" panose="020B0604030504040204" pitchFamily="34" charset="0"/>
                  </a:rPr>
                  <a:t> ft.</a:t>
                </a: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337436" y="1171042"/>
                <a:ext cx="8997465" cy="2308324"/>
              </a:xfrm>
              <a:prstGeom prst="rect">
                <a:avLst/>
              </a:prstGeom>
              <a:blipFill rotWithShape="0">
                <a:blip r:embed="rId4"/>
                <a:stretch>
                  <a:fillRect l="-1016" t="-2111" r="-1084" b="-4749"/>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F7A98FFB-A3E6-7642-B96E-3A3B8C27BD7F}"/>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Diagram&#10;&#10;Description automatically generated">
            <a:extLst>
              <a:ext uri="{FF2B5EF4-FFF2-40B4-BE49-F238E27FC236}">
                <a16:creationId xmlns:a16="http://schemas.microsoft.com/office/drawing/2014/main" id="{8C1CCB10-3204-0C4E-BBA1-5773A44F529B}"/>
              </a:ext>
            </a:extLst>
          </p:cNvPr>
          <p:cNvPicPr>
            <a:picLocks noChangeAspect="1"/>
          </p:cNvPicPr>
          <p:nvPr/>
        </p:nvPicPr>
        <p:blipFill>
          <a:blip r:embed="rId5"/>
          <a:stretch>
            <a:fillRect/>
          </a:stretch>
        </p:blipFill>
        <p:spPr>
          <a:xfrm>
            <a:off x="4076505" y="3930683"/>
            <a:ext cx="4038990" cy="2727093"/>
          </a:xfrm>
          <a:prstGeom prst="rect">
            <a:avLst/>
          </a:prstGeom>
        </p:spPr>
      </p:pic>
      <p:sp>
        <p:nvSpPr>
          <p:cNvPr id="10"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646386" y="288745"/>
                <a:ext cx="10899228" cy="1569660"/>
              </a:xfrm>
              <a:prstGeom prst="rect">
                <a:avLst/>
              </a:prstGeom>
              <a:noFill/>
            </p:spPr>
            <p:txBody>
              <a:bodyPr wrap="square" rtlCol="0">
                <a:spAutoFit/>
              </a:bodyPr>
              <a:lstStyle/>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In the table, write the value that represents the position of each location if the value of the position of the picnic area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Then, plot each value at the estimated location on the number line.</a:t>
                </a: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646386" y="288745"/>
                <a:ext cx="10899228" cy="1569660"/>
              </a:xfrm>
              <a:prstGeom prst="rect">
                <a:avLst/>
              </a:prstGeom>
              <a:blipFill rotWithShape="0">
                <a:blip r:embed="rId3"/>
                <a:stretch>
                  <a:fillRect t="-3101" r="-783" b="-775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132551E-02DD-6A43-9F52-A70D434DE096}"/>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4662F25-DC99-DC4A-B8F9-09BD12B8FDC0}"/>
                  </a:ext>
                </a:extLst>
              </p:cNvPr>
              <p:cNvGraphicFramePr>
                <a:graphicFrameLocks noGrp="1"/>
              </p:cNvGraphicFramePr>
              <p:nvPr>
                <p:extLst>
                  <p:ext uri="{D42A27DB-BD31-4B8C-83A1-F6EECF244321}">
                    <p14:modId xmlns:p14="http://schemas.microsoft.com/office/powerpoint/2010/main" val="1360130446"/>
                  </p:ext>
                </p:extLst>
              </p:nvPr>
            </p:nvGraphicFramePr>
            <p:xfrm>
              <a:off x="2958628" y="4353551"/>
              <a:ext cx="4076700" cy="2304225"/>
            </p:xfrm>
            <a:graphic>
              <a:graphicData uri="http://schemas.openxmlformats.org/drawingml/2006/table">
                <a:tbl>
                  <a:tblPr bandRow="1">
                    <a:tableStyleId>{A91F0D33-8C57-4600-99A7-42BC86742BE1}</a:tableStyleId>
                  </a:tblPr>
                  <a:tblGrid>
                    <a:gridCol w="2266244">
                      <a:extLst>
                        <a:ext uri="{9D8B030D-6E8A-4147-A177-3AD203B41FA5}">
                          <a16:colId xmlns:a16="http://schemas.microsoft.com/office/drawing/2014/main" val="961461265"/>
                        </a:ext>
                      </a:extLst>
                    </a:gridCol>
                    <a:gridCol w="1810456">
                      <a:extLst>
                        <a:ext uri="{9D8B030D-6E8A-4147-A177-3AD203B41FA5}">
                          <a16:colId xmlns:a16="http://schemas.microsoft.com/office/drawing/2014/main" val="1745320341"/>
                        </a:ext>
                      </a:extLst>
                    </a:gridCol>
                  </a:tblGrid>
                  <a:tr h="563245">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Location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a:t>
                          </a:r>
                        </a:p>
                      </a:txBody>
                      <a:tcPr marL="68580" marR="68580" marT="0" marB="0" anchor="ctr">
                        <a:solidFill>
                          <a:schemeClr val="bg1">
                            <a:lumMod val="75000"/>
                          </a:schemeClr>
                        </a:solidFill>
                      </a:tcPr>
                    </a:tc>
                    <a:extLst>
                      <a:ext uri="{0D108BD9-81ED-4DB2-BD59-A6C34878D82A}">
                        <a16:rowId xmlns:a16="http://schemas.microsoft.com/office/drawing/2014/main" val="1409114874"/>
                      </a:ext>
                    </a:extLst>
                  </a:tr>
                  <a:tr h="558800">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Picnic area</a:t>
                          </a:r>
                        </a:p>
                      </a:txBody>
                      <a:tcPr marL="68580" marR="68580" marT="0" marB="0" anchor="ct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rPr>
                                  <m:t>0</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3465067636"/>
                      </a:ext>
                    </a:extLst>
                  </a:tr>
                  <a:tr h="558800">
                    <a:tc>
                      <a:txBody>
                        <a:bodyPr/>
                        <a:lstStyle/>
                        <a:p>
                          <a:pPr marL="0" marR="0"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Mountain summit</a:t>
                          </a:r>
                        </a:p>
                      </a:txBody>
                      <a:tcPr marL="68580" marR="68580" marT="0" marB="0" anchor="ct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1716984737"/>
                      </a:ext>
                    </a:extLst>
                  </a:tr>
                  <a:tr h="558800">
                    <a:tc>
                      <a:txBody>
                        <a:bodyPr/>
                        <a:lstStyle/>
                        <a:p>
                          <a:pPr marL="0" marR="0"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Lake</a:t>
                          </a:r>
                        </a:p>
                      </a:txBody>
                      <a:tcPr marL="68580" marR="68580" marT="0" marB="0" anchor="ct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3168144306"/>
                      </a:ext>
                    </a:extLst>
                  </a:tr>
                </a:tbl>
              </a:graphicData>
            </a:graphic>
          </p:graphicFrame>
        </mc:Choice>
        <mc:Fallback xmlns="">
          <p:graphicFrame>
            <p:nvGraphicFramePr>
              <p:cNvPr id="2" name="Table 1">
                <a:extLst>
                  <a:ext uri="{FF2B5EF4-FFF2-40B4-BE49-F238E27FC236}">
                    <a16:creationId xmlns:a16="http://schemas.microsoft.com/office/drawing/2014/main" id="{F4662F25-DC99-DC4A-B8F9-09BD12B8FDC0}"/>
                  </a:ext>
                </a:extLst>
              </p:cNvPr>
              <p:cNvGraphicFramePr>
                <a:graphicFrameLocks noGrp="1"/>
              </p:cNvGraphicFramePr>
              <p:nvPr>
                <p:extLst>
                  <p:ext uri="{D42A27DB-BD31-4B8C-83A1-F6EECF244321}">
                    <p14:modId xmlns:p14="http://schemas.microsoft.com/office/powerpoint/2010/main" val="1360130446"/>
                  </p:ext>
                </p:extLst>
              </p:nvPr>
            </p:nvGraphicFramePr>
            <p:xfrm>
              <a:off x="1434628" y="4353550"/>
              <a:ext cx="4076700" cy="2304225"/>
            </p:xfrm>
            <a:graphic>
              <a:graphicData uri="http://schemas.openxmlformats.org/drawingml/2006/table">
                <a:tbl>
                  <a:tblPr bandRow="1">
                    <a:tableStyleId>{A91F0D33-8C57-4600-99A7-42BC86742BE1}</a:tableStyleId>
                  </a:tblPr>
                  <a:tblGrid>
                    <a:gridCol w="2266244">
                      <a:extLst>
                        <a:ext uri="{9D8B030D-6E8A-4147-A177-3AD203B41FA5}">
                          <a16:colId xmlns:a16="http://schemas.microsoft.com/office/drawing/2014/main" val="961461265"/>
                        </a:ext>
                      </a:extLst>
                    </a:gridCol>
                    <a:gridCol w="1810456">
                      <a:extLst>
                        <a:ext uri="{9D8B030D-6E8A-4147-A177-3AD203B41FA5}">
                          <a16:colId xmlns:a16="http://schemas.microsoft.com/office/drawing/2014/main" val="1745320341"/>
                        </a:ext>
                      </a:extLst>
                    </a:gridCol>
                  </a:tblGrid>
                  <a:tr h="563245">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Location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a:t>
                          </a:r>
                        </a:p>
                      </a:txBody>
                      <a:tcPr marL="68580" marR="68580" marT="0" marB="0" anchor="ctr">
                        <a:solidFill>
                          <a:schemeClr val="bg1">
                            <a:lumMod val="75000"/>
                          </a:schemeClr>
                        </a:solidFill>
                      </a:tcPr>
                    </a:tc>
                    <a:extLst>
                      <a:ext uri="{0D108BD9-81ED-4DB2-BD59-A6C34878D82A}">
                        <a16:rowId xmlns:a16="http://schemas.microsoft.com/office/drawing/2014/main" val="1409114874"/>
                      </a:ext>
                    </a:extLst>
                  </a:tr>
                  <a:tr h="558800">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Picnic area</a:t>
                          </a:r>
                        </a:p>
                      </a:txBody>
                      <a:tcPr marL="68580" marR="68580" marT="0" marB="0" anchor="ctr"/>
                    </a:tc>
                    <a:tc>
                      <a:txBody>
                        <a:bodyPr/>
                        <a:lstStyle/>
                        <a:p>
                          <a:endParaRPr lang="en-US"/>
                        </a:p>
                      </a:txBody>
                      <a:tcPr marL="68580" marR="68580" marT="0" marB="0" anchor="ctr">
                        <a:blipFill>
                          <a:blip r:embed="rId5"/>
                          <a:stretch>
                            <a:fillRect l="-125168" t="-102174" r="-336" b="-214130"/>
                          </a:stretch>
                        </a:blipFill>
                      </a:tcPr>
                    </a:tc>
                    <a:extLst>
                      <a:ext uri="{0D108BD9-81ED-4DB2-BD59-A6C34878D82A}">
                        <a16:rowId xmlns:a16="http://schemas.microsoft.com/office/drawing/2014/main" val="3465067636"/>
                      </a:ext>
                    </a:extLst>
                  </a:tr>
                  <a:tr h="623380">
                    <a:tc>
                      <a:txBody>
                        <a:bodyPr/>
                        <a:lstStyle/>
                        <a:p>
                          <a:pPr marL="0" marR="0"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Mountain summit</a:t>
                          </a:r>
                        </a:p>
                      </a:txBody>
                      <a:tcPr marL="68580" marR="68580" marT="0" marB="0" anchor="ct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1716984737"/>
                      </a:ext>
                    </a:extLst>
                  </a:tr>
                  <a:tr h="558800">
                    <a:tc>
                      <a:txBody>
                        <a:bodyPr/>
                        <a:lstStyle/>
                        <a:p>
                          <a:pPr marL="0" marR="0"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Lake</a:t>
                          </a:r>
                        </a:p>
                      </a:txBody>
                      <a:tcPr marL="68580" marR="68580" marT="0" marB="0" anchor="ct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3168144306"/>
                      </a:ext>
                    </a:extLst>
                  </a:tr>
                </a:tbl>
              </a:graphicData>
            </a:graphic>
          </p:graphicFrame>
        </mc:Fallback>
      </mc:AlternateContent>
      <p:pic>
        <p:nvPicPr>
          <p:cNvPr id="4" name="Picture 3" descr="Chart, histogram, scatter chart&#10;&#10;Description automatically generated">
            <a:extLst>
              <a:ext uri="{FF2B5EF4-FFF2-40B4-BE49-F238E27FC236}">
                <a16:creationId xmlns:a16="http://schemas.microsoft.com/office/drawing/2014/main" id="{6D762EF6-DFDB-4C43-9C06-C0EF55F0183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769368" y="2148774"/>
            <a:ext cx="1724764" cy="4051827"/>
          </a:xfrm>
          <a:prstGeom prst="rect">
            <a:avLst/>
          </a:prstGeom>
        </p:spPr>
      </p:pic>
      <p:pic>
        <p:nvPicPr>
          <p:cNvPr id="8" name="Picture 7" descr="Diagram&#10;&#10;Description automatically generated">
            <a:extLst>
              <a:ext uri="{FF2B5EF4-FFF2-40B4-BE49-F238E27FC236}">
                <a16:creationId xmlns:a16="http://schemas.microsoft.com/office/drawing/2014/main" id="{B8BA2D3C-C9D3-46FC-A6B9-2BDED71933F8}"/>
              </a:ext>
            </a:extLst>
          </p:cNvPr>
          <p:cNvPicPr>
            <a:picLocks noChangeAspect="1"/>
          </p:cNvPicPr>
          <p:nvPr/>
        </p:nvPicPr>
        <p:blipFill>
          <a:blip r:embed="rId7"/>
          <a:stretch>
            <a:fillRect/>
          </a:stretch>
        </p:blipFill>
        <p:spPr>
          <a:xfrm>
            <a:off x="3682738" y="1886278"/>
            <a:ext cx="3352590" cy="2263641"/>
          </a:xfrm>
          <a:prstGeom prst="rect">
            <a:avLst/>
          </a:prstGeom>
        </p:spPr>
      </p:pic>
      <p:sp>
        <p:nvSpPr>
          <p:cNvPr id="9"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pic>
        <p:nvPicPr>
          <p:cNvPr id="10"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8AE5E1E0-A54D-BE42-84B5-F917038ADE99}"/>
              </a:ext>
            </a:extLst>
          </p:cNvPr>
          <p:cNvSpPr txBox="1"/>
          <p:nvPr/>
        </p:nvSpPr>
        <p:spPr>
          <a:xfrm>
            <a:off x="1355834" y="158264"/>
            <a:ext cx="9480330" cy="5632311"/>
          </a:xfrm>
          <a:prstGeom prst="rect">
            <a:avLst/>
          </a:prstGeom>
          <a:noFill/>
        </p:spPr>
        <p:txBody>
          <a:bodyPr wrap="square" rtlCol="0">
            <a:spAutoFit/>
          </a:bodyPr>
          <a:lstStyle/>
          <a:p>
            <a:pPr marL="922338" indent="-455613">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Represent the distance of each location from the picnic area.</a:t>
            </a: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operation would you use with the representations in the table to find the distance from the lake to the mountain summit?</a:t>
            </a: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D132551E-02DD-6A43-9F52-A70D434DE096}"/>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a16="http://schemas.microsoft.com/office/drawing/2014/main" id="{7324127C-12CE-7F47-8A0D-CA34055FD167}"/>
              </a:ext>
            </a:extLst>
          </p:cNvPr>
          <p:cNvGraphicFramePr>
            <a:graphicFrameLocks noGrp="1"/>
          </p:cNvGraphicFramePr>
          <p:nvPr>
            <p:extLst>
              <p:ext uri="{D42A27DB-BD31-4B8C-83A1-F6EECF244321}">
                <p14:modId xmlns:p14="http://schemas.microsoft.com/office/powerpoint/2010/main" val="2235382485"/>
              </p:ext>
            </p:extLst>
          </p:nvPr>
        </p:nvGraphicFramePr>
        <p:xfrm>
          <a:off x="3490912" y="1132459"/>
          <a:ext cx="5210175" cy="1640205"/>
        </p:xfrm>
        <a:graphic>
          <a:graphicData uri="http://schemas.openxmlformats.org/drawingml/2006/table">
            <a:tbl>
              <a:tblPr bandRow="1">
                <a:tableStyleId>{A91F0D33-8C57-4600-99A7-42BC86742BE1}</a:tableStyleId>
              </a:tblPr>
              <a:tblGrid>
                <a:gridCol w="2523758">
                  <a:extLst>
                    <a:ext uri="{9D8B030D-6E8A-4147-A177-3AD203B41FA5}">
                      <a16:colId xmlns:a16="http://schemas.microsoft.com/office/drawing/2014/main" val="1915225244"/>
                    </a:ext>
                  </a:extLst>
                </a:gridCol>
                <a:gridCol w="2686417">
                  <a:extLst>
                    <a:ext uri="{9D8B030D-6E8A-4147-A177-3AD203B41FA5}">
                      <a16:colId xmlns:a16="http://schemas.microsoft.com/office/drawing/2014/main" val="2948007290"/>
                    </a:ext>
                  </a:extLst>
                </a:gridCol>
              </a:tblGrid>
              <a:tr h="708025">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Location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from Picnic Area</a:t>
                      </a:r>
                    </a:p>
                  </a:txBody>
                  <a:tcPr marL="68580" marR="68580" marT="0" marB="0" anchor="ctr">
                    <a:solidFill>
                      <a:schemeClr val="bg1">
                        <a:lumMod val="75000"/>
                      </a:schemeClr>
                    </a:solidFill>
                  </a:tcPr>
                </a:tc>
                <a:extLst>
                  <a:ext uri="{0D108BD9-81ED-4DB2-BD59-A6C34878D82A}">
                    <a16:rowId xmlns:a16="http://schemas.microsoft.com/office/drawing/2014/main" val="4152172723"/>
                  </a:ext>
                </a:extLst>
              </a:tr>
              <a:tr h="466090">
                <a:tc>
                  <a:txBody>
                    <a:bodyPr/>
                    <a:lstStyle/>
                    <a:p>
                      <a:pPr marL="0" marR="0"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Mountain summit</a:t>
                      </a:r>
                    </a:p>
                  </a:txBody>
                  <a:tcPr marL="68580" marR="68580" marT="0" marB="0" anchor="ct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1346805480"/>
                  </a:ext>
                </a:extLst>
              </a:tr>
              <a:tr h="466090">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Lake</a:t>
                      </a:r>
                    </a:p>
                  </a:txBody>
                  <a:tcPr marL="68580" marR="68580" marT="0" marB="0" anchor="ct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2198461905"/>
                  </a:ext>
                </a:extLst>
              </a:tr>
            </a:tbl>
          </a:graphicData>
        </a:graphic>
      </p:graphicFrame>
      <p:sp>
        <p:nvSpPr>
          <p:cNvPr id="7"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83125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8AE5E1E0-A54D-BE42-84B5-F917038ADE99}"/>
              </a:ext>
            </a:extLst>
          </p:cNvPr>
          <p:cNvSpPr txBox="1"/>
          <p:nvPr/>
        </p:nvSpPr>
        <p:spPr>
          <a:xfrm>
            <a:off x="945931" y="288746"/>
            <a:ext cx="10300138" cy="5632311"/>
          </a:xfrm>
          <a:prstGeom prst="rect">
            <a:avLst/>
          </a:prstGeom>
          <a:noFill/>
        </p:spPr>
        <p:txBody>
          <a:bodyPr wrap="square" rtlCol="0">
            <a:spAutoFit/>
          </a:bodyPr>
          <a:lstStyle/>
          <a:p>
            <a:pPr marL="923925"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What is the distance from the lake to the mountain summit? </a:t>
            </a:r>
          </a:p>
          <a:p>
            <a:pPr marL="922338" indent="-455613">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What operation would you use to determine how much farther a hike to the lake is than a hike to the  mountain summit?</a:t>
            </a:r>
          </a:p>
          <a:p>
            <a:pPr marL="4572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6"/>
            </a:pPr>
            <a:r>
              <a:rPr lang="en-US" sz="2400" dirty="0">
                <a:latin typeface="Verdana" panose="020B0604030504040204" pitchFamily="34" charset="0"/>
                <a:ea typeface="Verdana" panose="020B0604030504040204" pitchFamily="34" charset="0"/>
                <a:cs typeface="Verdana" panose="020B0604030504040204" pitchFamily="34" charset="0"/>
              </a:rPr>
              <a:t>How much farther is a hike to the lake than a hike to the mountain summit?</a:t>
            </a:r>
          </a:p>
          <a:p>
            <a:pPr marL="457200" indent="-457200">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D132551E-02DD-6A43-9F52-A70D434DE096}"/>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125</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26754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2347CCE-34A7-8044-BA67-B5895157AE55}"/>
                  </a:ext>
                </a:extLst>
              </p:cNvPr>
              <p:cNvSpPr txBox="1"/>
              <p:nvPr/>
            </p:nvSpPr>
            <p:spPr>
              <a:xfrm>
                <a:off x="1119352" y="349706"/>
                <a:ext cx="9953296" cy="489364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Chloe is starting a painting business. The supplies she purchased for the business cost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$825</m:t>
                    </m:r>
                  </m:oMath>
                </a14:m>
                <a:r>
                  <a:rPr lang="en-US" sz="2400" dirty="0">
                    <a:latin typeface="Verdana" panose="020B0604030504040204" pitchFamily="34" charset="0"/>
                    <a:ea typeface="Verdana" panose="020B0604030504040204" pitchFamily="34" charset="0"/>
                    <a:cs typeface="Verdana" panose="020B0604030504040204" pitchFamily="34" charset="0"/>
                  </a:rPr>
                  <a:t>. She will earn a fee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$80 </m:t>
                    </m:r>
                  </m:oMath>
                </a14:m>
                <a:r>
                  <a:rPr lang="en-US" sz="2400" dirty="0">
                    <a:latin typeface="Verdana" panose="020B0604030504040204" pitchFamily="34" charset="0"/>
                    <a:ea typeface="Verdana" panose="020B0604030504040204" pitchFamily="34" charset="0"/>
                    <a:cs typeface="Verdana" panose="020B0604030504040204" pitchFamily="34" charset="0"/>
                  </a:rPr>
                  <a:t>for each room that she paints. Chloe wants to determine how many rooms she will need to paint before she starts making a profit.</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increase her profit.</a:t>
                </a: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decrease her profit. </a:t>
                </a:r>
              </a:p>
            </p:txBody>
          </p:sp>
        </mc:Choice>
        <mc:Fallback>
          <p:sp>
            <p:nvSpPr>
              <p:cNvPr id="5" name="TextBox 4">
                <a:extLst>
                  <a:ext uri="{FF2B5EF4-FFF2-40B4-BE49-F238E27FC236}">
                    <a16:creationId xmlns:a16="http://schemas.microsoft.com/office/drawing/2014/main" id="{22347CCE-34A7-8044-BA67-B5895157AE55}"/>
                  </a:ext>
                </a:extLst>
              </p:cNvPr>
              <p:cNvSpPr txBox="1">
                <a:spLocks noRot="1" noChangeAspect="1" noMove="1" noResize="1" noEditPoints="1" noAdjustHandles="1" noChangeArrowheads="1" noChangeShapeType="1" noTextEdit="1"/>
              </p:cNvSpPr>
              <p:nvPr/>
            </p:nvSpPr>
            <p:spPr>
              <a:xfrm>
                <a:off x="1119352" y="349706"/>
                <a:ext cx="9953296" cy="4893647"/>
              </a:xfrm>
              <a:prstGeom prst="rect">
                <a:avLst/>
              </a:prstGeom>
              <a:blipFill>
                <a:blip r:embed="rId3"/>
                <a:stretch>
                  <a:fillRect l="-980" t="-996" r="-1777" b="-186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E55548A-47DB-5443-92E0-7B6639097BA6}"/>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Shape&#10;&#10;Description automatically generated">
            <a:extLst>
              <a:ext uri="{FF2B5EF4-FFF2-40B4-BE49-F238E27FC236}">
                <a16:creationId xmlns:a16="http://schemas.microsoft.com/office/drawing/2014/main" id="{3F59BE46-5072-FC42-95BF-3425EB475454}"/>
              </a:ext>
            </a:extLst>
          </p:cNvPr>
          <p:cNvPicPr>
            <a:picLocks noChangeAspect="1"/>
          </p:cNvPicPr>
          <p:nvPr/>
        </p:nvPicPr>
        <p:blipFill rotWithShape="1">
          <a:blip r:embed="rId4"/>
          <a:srcRect l="3398"/>
          <a:stretch/>
        </p:blipFill>
        <p:spPr>
          <a:xfrm>
            <a:off x="2047836" y="2658732"/>
            <a:ext cx="3642845" cy="1084068"/>
          </a:xfrm>
          <a:prstGeom prst="rect">
            <a:avLst/>
          </a:prstGeom>
        </p:spPr>
      </p:pic>
      <p:pic>
        <p:nvPicPr>
          <p:cNvPr id="8" name="Picture 7" descr="Shape&#10;&#10;Description automatically generated">
            <a:extLst>
              <a:ext uri="{FF2B5EF4-FFF2-40B4-BE49-F238E27FC236}">
                <a16:creationId xmlns:a16="http://schemas.microsoft.com/office/drawing/2014/main" id="{51A1A0DF-823C-C948-9646-F9B01C209253}"/>
              </a:ext>
            </a:extLst>
          </p:cNvPr>
          <p:cNvPicPr>
            <a:picLocks noChangeAspect="1"/>
          </p:cNvPicPr>
          <p:nvPr/>
        </p:nvPicPr>
        <p:blipFill rotWithShape="1">
          <a:blip r:embed="rId4"/>
          <a:srcRect l="3398"/>
          <a:stretch/>
        </p:blipFill>
        <p:spPr>
          <a:xfrm>
            <a:off x="2047836" y="4475396"/>
            <a:ext cx="3642849" cy="1084069"/>
          </a:xfrm>
          <a:prstGeom prst="rect">
            <a:avLst/>
          </a:prstGeom>
        </p:spPr>
      </p:pic>
      <p:sp>
        <p:nvSpPr>
          <p:cNvPr id="9"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125</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99615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22347CCE-34A7-8044-BA67-B5895157AE55}"/>
              </a:ext>
            </a:extLst>
          </p:cNvPr>
          <p:cNvSpPr txBox="1"/>
          <p:nvPr/>
        </p:nvSpPr>
        <p:spPr>
          <a:xfrm>
            <a:off x="1182414" y="349706"/>
            <a:ext cx="9827172" cy="4893647"/>
          </a:xfrm>
          <a:prstGeom prst="rect">
            <a:avLst/>
          </a:prstGeom>
          <a:noFill/>
        </p:spPr>
        <p:txBody>
          <a:bodyPr wrap="square" rtlCol="0">
            <a:spAutoFit/>
          </a:bodyPr>
          <a:lstStyle/>
          <a:p>
            <a:pPr marL="922338" indent="-45561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Write a value in the blank for each absolute value and a word in the remaining blank to complete each sentence.</a:t>
            </a:r>
          </a:p>
          <a:p>
            <a:pPr marL="466725"/>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r>
              <a:rPr lang="en-US" sz="2400" dirty="0">
                <a:latin typeface="Verdana" panose="020B0604030504040204" pitchFamily="34" charset="0"/>
                <a:ea typeface="Verdana" panose="020B0604030504040204" pitchFamily="34" charset="0"/>
                <a:cs typeface="Verdana" panose="020B0604030504040204" pitchFamily="34" charset="0"/>
              </a:rPr>
              <a:t>To find the revenue, Chloe multiplies the number </a:t>
            </a:r>
          </a:p>
          <a:p>
            <a:pPr marL="466725"/>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r>
              <a:rPr lang="en-US" sz="2400" dirty="0">
                <a:latin typeface="Verdana" panose="020B0604030504040204" pitchFamily="34" charset="0"/>
                <a:ea typeface="Verdana" panose="020B0604030504040204" pitchFamily="34" charset="0"/>
                <a:cs typeface="Verdana" panose="020B0604030504040204" pitchFamily="34" charset="0"/>
              </a:rPr>
              <a:t>of rooms she paints by </a:t>
            </a:r>
          </a:p>
          <a:p>
            <a:pPr marL="466725"/>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r>
              <a:rPr lang="en-US" sz="2400" dirty="0">
                <a:latin typeface="Verdana" panose="020B0604030504040204" pitchFamily="34" charset="0"/>
                <a:ea typeface="Verdana" panose="020B0604030504040204" pitchFamily="34" charset="0"/>
                <a:cs typeface="Verdana" panose="020B0604030504040204" pitchFamily="34" charset="0"/>
              </a:rPr>
              <a:t>To find the profit, Chloe subtracts                 </a:t>
            </a:r>
          </a:p>
          <a:p>
            <a:pPr marL="466725"/>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r>
              <a:rPr lang="en-US" sz="2400" dirty="0">
                <a:latin typeface="Verdana" panose="020B0604030504040204" pitchFamily="34" charset="0"/>
                <a:ea typeface="Verdana" panose="020B0604030504040204" pitchFamily="34" charset="0"/>
                <a:cs typeface="Verdana" panose="020B0604030504040204" pitchFamily="34" charset="0"/>
              </a:rPr>
              <a:t>from the _____________.</a:t>
            </a:r>
          </a:p>
          <a:p>
            <a:pPr marL="466725"/>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DE55548A-47DB-5443-92E0-7B6639097BA6}"/>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Shape, rectangle&#10;&#10;Description automatically generated">
            <a:extLst>
              <a:ext uri="{FF2B5EF4-FFF2-40B4-BE49-F238E27FC236}">
                <a16:creationId xmlns:a16="http://schemas.microsoft.com/office/drawing/2014/main" id="{C604B84A-CFF9-5F42-A3EC-2C3282795D47}"/>
              </a:ext>
            </a:extLst>
          </p:cNvPr>
          <p:cNvPicPr>
            <a:picLocks noChangeAspect="1"/>
          </p:cNvPicPr>
          <p:nvPr/>
        </p:nvPicPr>
        <p:blipFill>
          <a:blip r:embed="rId3"/>
          <a:stretch>
            <a:fillRect/>
          </a:stretch>
        </p:blipFill>
        <p:spPr>
          <a:xfrm>
            <a:off x="5411627" y="2333923"/>
            <a:ext cx="1908250" cy="925212"/>
          </a:xfrm>
          <a:prstGeom prst="rect">
            <a:avLst/>
          </a:prstGeom>
        </p:spPr>
      </p:pic>
      <p:pic>
        <p:nvPicPr>
          <p:cNvPr id="7" name="Picture 6" descr="Shape, rectangle&#10;&#10;Description automatically generated">
            <a:extLst>
              <a:ext uri="{FF2B5EF4-FFF2-40B4-BE49-F238E27FC236}">
                <a16:creationId xmlns:a16="http://schemas.microsoft.com/office/drawing/2014/main" id="{6E229D86-B07B-CC49-9282-76B838AD8C50}"/>
              </a:ext>
            </a:extLst>
          </p:cNvPr>
          <p:cNvPicPr>
            <a:picLocks noChangeAspect="1"/>
          </p:cNvPicPr>
          <p:nvPr/>
        </p:nvPicPr>
        <p:blipFill>
          <a:blip r:embed="rId4"/>
          <a:stretch>
            <a:fillRect/>
          </a:stretch>
        </p:blipFill>
        <p:spPr>
          <a:xfrm>
            <a:off x="7030954" y="3406338"/>
            <a:ext cx="1751164" cy="919915"/>
          </a:xfrm>
          <a:prstGeom prst="rect">
            <a:avLst/>
          </a:prstGeom>
        </p:spPr>
      </p:pic>
      <p:sp>
        <p:nvSpPr>
          <p:cNvPr id="8"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125</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14333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22347CCE-34A7-8044-BA67-B5895157AE55}"/>
              </a:ext>
            </a:extLst>
          </p:cNvPr>
          <p:cNvSpPr txBox="1"/>
          <p:nvPr/>
        </p:nvSpPr>
        <p:spPr>
          <a:xfrm>
            <a:off x="1277007" y="349705"/>
            <a:ext cx="8982561" cy="1569660"/>
          </a:xfrm>
          <a:prstGeom prst="rect">
            <a:avLst/>
          </a:prstGeom>
          <a:noFill/>
        </p:spPr>
        <p:txBody>
          <a:bodyPr wrap="square" rtlCol="0">
            <a:spAutoFit/>
          </a:bodyPr>
          <a:lstStyle/>
          <a:p>
            <a:pPr marL="922338" indent="-455613">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In the table, complete the mathematical statement and then perform the operations to determine if the number of rooms painted would result in a profit.</a:t>
            </a:r>
          </a:p>
        </p:txBody>
      </p:sp>
      <p:sp>
        <p:nvSpPr>
          <p:cNvPr id="6" name="Google Shape;278;g104476d1465_1_17">
            <a:extLst>
              <a:ext uri="{FF2B5EF4-FFF2-40B4-BE49-F238E27FC236}">
                <a16:creationId xmlns:a16="http://schemas.microsoft.com/office/drawing/2014/main" id="{DE55548A-47DB-5443-92E0-7B6639097BA6}"/>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C0C1718B-6F53-1F4E-979A-A0201EB8D12C}"/>
                  </a:ext>
                </a:extLst>
              </p:cNvPr>
              <p:cNvGraphicFramePr>
                <a:graphicFrameLocks noGrp="1"/>
              </p:cNvGraphicFramePr>
              <p:nvPr>
                <p:extLst>
                  <p:ext uri="{D42A27DB-BD31-4B8C-83A1-F6EECF244321}">
                    <p14:modId xmlns:p14="http://schemas.microsoft.com/office/powerpoint/2010/main" val="4238683705"/>
                  </p:ext>
                </p:extLst>
              </p:nvPr>
            </p:nvGraphicFramePr>
            <p:xfrm>
              <a:off x="2482340" y="2575068"/>
              <a:ext cx="7227321" cy="2969831"/>
            </p:xfrm>
            <a:graphic>
              <a:graphicData uri="http://schemas.openxmlformats.org/drawingml/2006/table">
                <a:tbl>
                  <a:tblPr firstRow="1" firstCol="1" bandRow="1">
                    <a:tableStyleId>{A91F0D33-8C57-4600-99A7-42BC86742BE1}</a:tableStyleId>
                  </a:tblPr>
                  <a:tblGrid>
                    <a:gridCol w="2688771">
                      <a:extLst>
                        <a:ext uri="{9D8B030D-6E8A-4147-A177-3AD203B41FA5}">
                          <a16:colId xmlns:a16="http://schemas.microsoft.com/office/drawing/2014/main" val="3843693172"/>
                        </a:ext>
                      </a:extLst>
                    </a:gridCol>
                    <a:gridCol w="2612176">
                      <a:extLst>
                        <a:ext uri="{9D8B030D-6E8A-4147-A177-3AD203B41FA5}">
                          <a16:colId xmlns:a16="http://schemas.microsoft.com/office/drawing/2014/main" val="3449011883"/>
                        </a:ext>
                      </a:extLst>
                    </a:gridCol>
                    <a:gridCol w="1926374">
                      <a:extLst>
                        <a:ext uri="{9D8B030D-6E8A-4147-A177-3AD203B41FA5}">
                          <a16:colId xmlns:a16="http://schemas.microsoft.com/office/drawing/2014/main" val="4026758587"/>
                        </a:ext>
                      </a:extLst>
                    </a:gridCol>
                  </a:tblGrid>
                  <a:tr h="1030035">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Number of Rooms</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Mathematical Statement</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Profit</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(Yes or No)</a:t>
                          </a:r>
                        </a:p>
                      </a:txBody>
                      <a:tcPr marL="68580" marR="68580" marT="0" marB="0" anchor="ctr">
                        <a:solidFill>
                          <a:schemeClr val="bg1">
                            <a:lumMod val="75000"/>
                          </a:schemeClr>
                        </a:solidFill>
                      </a:tcPr>
                    </a:tc>
                    <a:extLst>
                      <a:ext uri="{0D108BD9-81ED-4DB2-BD59-A6C34878D82A}">
                        <a16:rowId xmlns:a16="http://schemas.microsoft.com/office/drawing/2014/main" val="1782821864"/>
                      </a:ext>
                    </a:extLst>
                  </a:tr>
                  <a:tr h="48494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m:t>
                                </m:r>
                                <m:d>
                                  <m:dPr>
                                    <m:begChr m:val="|"/>
                                    <m:endChr m:val="|"/>
                                    <m:ctrlPr>
                                      <a:rPr lang="en-US" sz="2000" i="1">
                                        <a:effectLst/>
                                        <a:latin typeface="Cambria Math" panose="02040503050406030204" pitchFamily="18" charset="0"/>
                                      </a:rPr>
                                    </m:ctrlPr>
                                  </m:dPr>
                                  <m:e>
                                    <m:r>
                                      <a:rPr lang="en-US" sz="2000">
                                        <a:effectLst/>
                                        <a:latin typeface="Cambria Math" panose="02040503050406030204" pitchFamily="18" charset="0"/>
                                      </a:rPr>
                                      <m:t>_______</m:t>
                                    </m:r>
                                  </m:e>
                                </m:d>
                                <m:r>
                                  <a:rPr lang="en-US" sz="2000">
                                    <a:effectLst/>
                                    <a:latin typeface="Cambria Math" panose="02040503050406030204" pitchFamily="18" charset="0"/>
                                  </a:rPr>
                                  <m:t> — </m:t>
                                </m:r>
                                <m:d>
                                  <m:dPr>
                                    <m:begChr m:val="|"/>
                                    <m:endChr m:val="|"/>
                                    <m:ctrlPr>
                                      <a:rPr lang="en-US" sz="2000" i="1">
                                        <a:effectLst/>
                                        <a:latin typeface="Cambria Math" panose="02040503050406030204" pitchFamily="18" charset="0"/>
                                      </a:rPr>
                                    </m:ctrlPr>
                                  </m:dPr>
                                  <m:e>
                                    <m:r>
                                      <a:rPr lang="en-US" sz="2000">
                                        <a:effectLst/>
                                        <a:latin typeface="Cambria Math" panose="02040503050406030204" pitchFamily="18" charset="0"/>
                                      </a:rPr>
                                      <m:t>_______</m:t>
                                    </m:r>
                                  </m:e>
                                </m:d>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3435210720"/>
                      </a:ext>
                    </a:extLst>
                  </a:tr>
                  <a:tr h="48494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10</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10</m:t>
                                </m:r>
                                <m:d>
                                  <m:dPr>
                                    <m:begChr m:val="|"/>
                                    <m:endChr m:val="|"/>
                                    <m:ctrlPr>
                                      <a:rPr lang="en-US" sz="2000" i="1">
                                        <a:effectLst/>
                                        <a:latin typeface="Cambria Math" panose="02040503050406030204" pitchFamily="18" charset="0"/>
                                      </a:rPr>
                                    </m:ctrlPr>
                                  </m:dPr>
                                  <m:e>
                                    <m:r>
                                      <a:rPr lang="en-US" sz="2000">
                                        <a:effectLst/>
                                        <a:latin typeface="Cambria Math" panose="02040503050406030204" pitchFamily="18" charset="0"/>
                                      </a:rPr>
                                      <m:t>_______</m:t>
                                    </m:r>
                                  </m:e>
                                </m:d>
                                <m:r>
                                  <a:rPr lang="en-US" sz="2000">
                                    <a:effectLst/>
                                    <a:latin typeface="Cambria Math" panose="02040503050406030204" pitchFamily="18" charset="0"/>
                                  </a:rPr>
                                  <m:t> — </m:t>
                                </m:r>
                                <m:d>
                                  <m:dPr>
                                    <m:begChr m:val="|"/>
                                    <m:endChr m:val="|"/>
                                    <m:ctrlPr>
                                      <a:rPr lang="en-US" sz="2000" i="1">
                                        <a:effectLst/>
                                        <a:latin typeface="Cambria Math" panose="02040503050406030204" pitchFamily="18" charset="0"/>
                                      </a:rPr>
                                    </m:ctrlPr>
                                  </m:dPr>
                                  <m:e>
                                    <m:r>
                                      <a:rPr lang="en-US" sz="2000">
                                        <a:effectLst/>
                                        <a:latin typeface="Cambria Math" panose="02040503050406030204" pitchFamily="18" charset="0"/>
                                      </a:rPr>
                                      <m:t>_______</m:t>
                                    </m:r>
                                  </m:e>
                                </m:d>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142903365"/>
                      </a:ext>
                    </a:extLst>
                  </a:tr>
                  <a:tr h="48494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13</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13</m:t>
                                </m:r>
                                <m:d>
                                  <m:dPr>
                                    <m:begChr m:val="|"/>
                                    <m:endChr m:val="|"/>
                                    <m:ctrlPr>
                                      <a:rPr lang="en-US" sz="2000" i="1">
                                        <a:effectLst/>
                                        <a:latin typeface="Cambria Math" panose="02040503050406030204" pitchFamily="18" charset="0"/>
                                      </a:rPr>
                                    </m:ctrlPr>
                                  </m:dPr>
                                  <m:e>
                                    <m:r>
                                      <a:rPr lang="en-US" sz="2000">
                                        <a:effectLst/>
                                        <a:latin typeface="Cambria Math" panose="02040503050406030204" pitchFamily="18" charset="0"/>
                                      </a:rPr>
                                      <m:t>______</m:t>
                                    </m:r>
                                  </m:e>
                                </m:d>
                                <m:r>
                                  <a:rPr lang="en-US" sz="2000">
                                    <a:effectLst/>
                                    <a:latin typeface="Cambria Math" panose="02040503050406030204" pitchFamily="18" charset="0"/>
                                  </a:rPr>
                                  <m:t> — </m:t>
                                </m:r>
                                <m:d>
                                  <m:dPr>
                                    <m:begChr m:val="|"/>
                                    <m:endChr m:val="|"/>
                                    <m:ctrlPr>
                                      <a:rPr lang="en-US" sz="2000" i="1">
                                        <a:effectLst/>
                                        <a:latin typeface="Cambria Math" panose="02040503050406030204" pitchFamily="18" charset="0"/>
                                      </a:rPr>
                                    </m:ctrlPr>
                                  </m:dPr>
                                  <m:e>
                                    <m:r>
                                      <a:rPr lang="en-US" sz="2000">
                                        <a:effectLst/>
                                        <a:latin typeface="Cambria Math" panose="02040503050406030204" pitchFamily="18" charset="0"/>
                                      </a:rPr>
                                      <m:t>_______</m:t>
                                    </m:r>
                                  </m:e>
                                </m:d>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3130570145"/>
                      </a:ext>
                    </a:extLst>
                  </a:tr>
                  <a:tr h="48494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m:t>
                                </m:r>
                                <m:d>
                                  <m:dPr>
                                    <m:begChr m:val="|"/>
                                    <m:endChr m:val="|"/>
                                    <m:ctrlPr>
                                      <a:rPr lang="en-US" sz="2000" i="1">
                                        <a:effectLst/>
                                        <a:latin typeface="Cambria Math" panose="02040503050406030204" pitchFamily="18" charset="0"/>
                                      </a:rPr>
                                    </m:ctrlPr>
                                  </m:dPr>
                                  <m:e>
                                    <m:r>
                                      <a:rPr lang="en-US" sz="2000">
                                        <a:effectLst/>
                                        <a:latin typeface="Cambria Math" panose="02040503050406030204" pitchFamily="18" charset="0"/>
                                      </a:rPr>
                                      <m:t>_______</m:t>
                                    </m:r>
                                  </m:e>
                                </m:d>
                                <m:r>
                                  <a:rPr lang="en-US" sz="2000">
                                    <a:effectLst/>
                                    <a:latin typeface="Cambria Math" panose="02040503050406030204" pitchFamily="18" charset="0"/>
                                  </a:rPr>
                                  <m:t> — </m:t>
                                </m:r>
                                <m:d>
                                  <m:dPr>
                                    <m:begChr m:val="|"/>
                                    <m:endChr m:val="|"/>
                                    <m:ctrlPr>
                                      <a:rPr lang="en-US" sz="2000" i="1">
                                        <a:effectLst/>
                                        <a:latin typeface="Cambria Math" panose="02040503050406030204" pitchFamily="18" charset="0"/>
                                      </a:rPr>
                                    </m:ctrlPr>
                                  </m:dPr>
                                  <m:e>
                                    <m:r>
                                      <a:rPr lang="en-US" sz="2000">
                                        <a:effectLst/>
                                        <a:latin typeface="Cambria Math" panose="02040503050406030204" pitchFamily="18" charset="0"/>
                                      </a:rPr>
                                      <m:t>_______</m:t>
                                    </m:r>
                                  </m:e>
                                </m:d>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1466878630"/>
                      </a:ext>
                    </a:extLst>
                  </a:tr>
                </a:tbl>
              </a:graphicData>
            </a:graphic>
          </p:graphicFrame>
        </mc:Choice>
        <mc:Fallback xmlns="">
          <p:graphicFrame>
            <p:nvGraphicFramePr>
              <p:cNvPr id="2" name="Table 1">
                <a:extLst>
                  <a:ext uri="{FF2B5EF4-FFF2-40B4-BE49-F238E27FC236}">
                    <a16:creationId xmlns:a16="http://schemas.microsoft.com/office/drawing/2014/main" id="{C0C1718B-6F53-1F4E-979A-A0201EB8D12C}"/>
                  </a:ext>
                </a:extLst>
              </p:cNvPr>
              <p:cNvGraphicFramePr>
                <a:graphicFrameLocks noGrp="1"/>
              </p:cNvGraphicFramePr>
              <p:nvPr>
                <p:extLst>
                  <p:ext uri="{D42A27DB-BD31-4B8C-83A1-F6EECF244321}">
                    <p14:modId xmlns:p14="http://schemas.microsoft.com/office/powerpoint/2010/main" val="4238683705"/>
                  </p:ext>
                </p:extLst>
              </p:nvPr>
            </p:nvGraphicFramePr>
            <p:xfrm>
              <a:off x="958339" y="2575067"/>
              <a:ext cx="7227321" cy="2969831"/>
            </p:xfrm>
            <a:graphic>
              <a:graphicData uri="http://schemas.openxmlformats.org/drawingml/2006/table">
                <a:tbl>
                  <a:tblPr firstRow="1" firstCol="1" bandRow="1">
                    <a:tableStyleId>{A91F0D33-8C57-4600-99A7-42BC86742BE1}</a:tableStyleId>
                  </a:tblPr>
                  <a:tblGrid>
                    <a:gridCol w="2688771">
                      <a:extLst>
                        <a:ext uri="{9D8B030D-6E8A-4147-A177-3AD203B41FA5}">
                          <a16:colId xmlns:a16="http://schemas.microsoft.com/office/drawing/2014/main" val="3843693172"/>
                        </a:ext>
                      </a:extLst>
                    </a:gridCol>
                    <a:gridCol w="2612176">
                      <a:extLst>
                        <a:ext uri="{9D8B030D-6E8A-4147-A177-3AD203B41FA5}">
                          <a16:colId xmlns:a16="http://schemas.microsoft.com/office/drawing/2014/main" val="3449011883"/>
                        </a:ext>
                      </a:extLst>
                    </a:gridCol>
                    <a:gridCol w="1926374">
                      <a:extLst>
                        <a:ext uri="{9D8B030D-6E8A-4147-A177-3AD203B41FA5}">
                          <a16:colId xmlns:a16="http://schemas.microsoft.com/office/drawing/2014/main" val="4026758587"/>
                        </a:ext>
                      </a:extLst>
                    </a:gridCol>
                  </a:tblGrid>
                  <a:tr h="1030035">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Number of Rooms</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Mathematical Statement</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Profit</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(Yes or No)</a:t>
                          </a:r>
                        </a:p>
                      </a:txBody>
                      <a:tcPr marL="68580" marR="68580" marT="0" marB="0" anchor="ctr">
                        <a:solidFill>
                          <a:schemeClr val="bg1">
                            <a:lumMod val="75000"/>
                          </a:schemeClr>
                        </a:solidFill>
                      </a:tcPr>
                    </a:tc>
                    <a:extLst>
                      <a:ext uri="{0D108BD9-81ED-4DB2-BD59-A6C34878D82A}">
                        <a16:rowId xmlns:a16="http://schemas.microsoft.com/office/drawing/2014/main" val="1782821864"/>
                      </a:ext>
                    </a:extLst>
                  </a:tr>
                  <a:tr h="484949">
                    <a:tc>
                      <a:txBody>
                        <a:bodyPr/>
                        <a:lstStyle/>
                        <a:p>
                          <a:endParaRPr lang="en-US"/>
                        </a:p>
                      </a:txBody>
                      <a:tcPr marL="68580" marR="68580" marT="0" marB="0" anchor="ctr">
                        <a:blipFill>
                          <a:blip r:embed="rId4"/>
                          <a:stretch>
                            <a:fillRect l="-472" t="-215789" r="-169340" b="-307895"/>
                          </a:stretch>
                        </a:blipFill>
                      </a:tcPr>
                    </a:tc>
                    <a:tc>
                      <a:txBody>
                        <a:bodyPr/>
                        <a:lstStyle/>
                        <a:p>
                          <a:endParaRPr lang="en-US"/>
                        </a:p>
                      </a:txBody>
                      <a:tcPr marL="68580" marR="68580" marT="0" marB="0" anchor="ctr">
                        <a:blipFill>
                          <a:blip r:embed="rId4"/>
                          <a:stretch>
                            <a:fillRect l="-103398" t="-215789" r="-74272" b="-307895"/>
                          </a:stretch>
                        </a:blipFill>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3435210720"/>
                      </a:ext>
                    </a:extLst>
                  </a:tr>
                  <a:tr h="484949">
                    <a:tc>
                      <a:txBody>
                        <a:bodyPr/>
                        <a:lstStyle/>
                        <a:p>
                          <a:endParaRPr lang="en-US"/>
                        </a:p>
                      </a:txBody>
                      <a:tcPr marL="68580" marR="68580" marT="0" marB="0" anchor="ctr">
                        <a:blipFill>
                          <a:blip r:embed="rId4"/>
                          <a:stretch>
                            <a:fillRect l="-472" t="-315789" r="-169340" b="-207895"/>
                          </a:stretch>
                        </a:blipFill>
                      </a:tcPr>
                    </a:tc>
                    <a:tc>
                      <a:txBody>
                        <a:bodyPr/>
                        <a:lstStyle/>
                        <a:p>
                          <a:endParaRPr lang="en-US"/>
                        </a:p>
                      </a:txBody>
                      <a:tcPr marL="68580" marR="68580" marT="0" marB="0" anchor="ctr">
                        <a:blipFill>
                          <a:blip r:embed="rId4"/>
                          <a:stretch>
                            <a:fillRect l="-103398" t="-315789" r="-74272" b="-207895"/>
                          </a:stretch>
                        </a:blipFill>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142903365"/>
                      </a:ext>
                    </a:extLst>
                  </a:tr>
                  <a:tr h="484949">
                    <a:tc>
                      <a:txBody>
                        <a:bodyPr/>
                        <a:lstStyle/>
                        <a:p>
                          <a:endParaRPr lang="en-US"/>
                        </a:p>
                      </a:txBody>
                      <a:tcPr marL="68580" marR="68580" marT="0" marB="0" anchor="ctr">
                        <a:blipFill>
                          <a:blip r:embed="rId4"/>
                          <a:stretch>
                            <a:fillRect l="-472" t="-405128" r="-169340" b="-102564"/>
                          </a:stretch>
                        </a:blipFill>
                      </a:tcPr>
                    </a:tc>
                    <a:tc>
                      <a:txBody>
                        <a:bodyPr/>
                        <a:lstStyle/>
                        <a:p>
                          <a:endParaRPr lang="en-US"/>
                        </a:p>
                      </a:txBody>
                      <a:tcPr marL="68580" marR="68580" marT="0" marB="0" anchor="ctr">
                        <a:blipFill>
                          <a:blip r:embed="rId4"/>
                          <a:stretch>
                            <a:fillRect l="-103398" t="-405128" r="-74272" b="-102564"/>
                          </a:stretch>
                        </a:blipFill>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3130570145"/>
                      </a:ext>
                    </a:extLst>
                  </a:tr>
                  <a:tr h="484949">
                    <a:tc>
                      <a:txBody>
                        <a:bodyPr/>
                        <a:lstStyle/>
                        <a:p>
                          <a:endParaRPr lang="en-US"/>
                        </a:p>
                      </a:txBody>
                      <a:tcPr marL="68580" marR="68580" marT="0" marB="0" anchor="ctr">
                        <a:blipFill>
                          <a:blip r:embed="rId4"/>
                          <a:stretch>
                            <a:fillRect l="-472" t="-518421" r="-169340" b="-5263"/>
                          </a:stretch>
                        </a:blipFill>
                      </a:tcPr>
                    </a:tc>
                    <a:tc>
                      <a:txBody>
                        <a:bodyPr/>
                        <a:lstStyle/>
                        <a:p>
                          <a:endParaRPr lang="en-US"/>
                        </a:p>
                      </a:txBody>
                      <a:tcPr marL="68580" marR="68580" marT="0" marB="0" anchor="ctr">
                        <a:blipFill>
                          <a:blip r:embed="rId4"/>
                          <a:stretch>
                            <a:fillRect l="-103398" t="-518421" r="-74272" b="-5263"/>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1466878630"/>
                      </a:ext>
                    </a:extLst>
                  </a:tr>
                </a:tbl>
              </a:graphicData>
            </a:graphic>
          </p:graphicFrame>
        </mc:Fallback>
      </mc:AlternateContent>
      <p:sp>
        <p:nvSpPr>
          <p:cNvPr id="7"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125</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14160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0052"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3.9.4 Try It: </a:t>
            </a:r>
            <a:r>
              <a:rPr lang="en-US" sz="3200" b="1">
                <a:solidFill>
                  <a:srgbClr val="33BEA6"/>
                </a:solidFill>
                <a:latin typeface="Verdana"/>
                <a:ea typeface="Verdana"/>
                <a:cs typeface="Verdana"/>
                <a:sym typeface="Verdana"/>
              </a:rPr>
              <a:t>Operations With </a:t>
            </a:r>
            <a:r>
              <a:rPr lang="en-US" sz="3200" b="1" dirty="0">
                <a:solidFill>
                  <a:srgbClr val="33BEA6"/>
                </a:solidFill>
                <a:latin typeface="Verdana"/>
                <a:ea typeface="Verdana"/>
                <a:cs typeface="Verdana"/>
                <a:sym typeface="Verdana"/>
              </a:rPr>
              <a:t>Absolute Value in the Real World</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15746" y="36963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1450052" y="1386025"/>
                <a:ext cx="8937532" cy="378565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Logan, Mia, and Xavier all live on the same street as their school, which runs from east to west.</a:t>
                </a:r>
              </a:p>
              <a:p>
                <a:pPr marL="466725" indent="-336550">
                  <a:buSzPct val="13000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Logan lives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4</m:t>
                    </m:r>
                  </m:oMath>
                </a14:m>
                <a:r>
                  <a:rPr lang="en-US" sz="2400" dirty="0">
                    <a:latin typeface="Verdana" panose="020B0604030504040204" pitchFamily="34" charset="0"/>
                    <a:ea typeface="Verdana" panose="020B0604030504040204" pitchFamily="34" charset="0"/>
                    <a:cs typeface="Verdana" panose="020B0604030504040204" pitchFamily="34" charset="0"/>
                  </a:rPr>
                  <a:t> blocks to the west of the school.</a:t>
                </a:r>
              </a:p>
              <a:p>
                <a:pPr marL="466725" indent="-336550">
                  <a:buSzPct val="13000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Mia lives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5</m:t>
                    </m:r>
                  </m:oMath>
                </a14:m>
                <a:r>
                  <a:rPr lang="en-US" sz="2400" dirty="0">
                    <a:latin typeface="Verdana" panose="020B0604030504040204" pitchFamily="34" charset="0"/>
                    <a:ea typeface="Verdana" panose="020B0604030504040204" pitchFamily="34" charset="0"/>
                    <a:cs typeface="Verdana" panose="020B0604030504040204" pitchFamily="34" charset="0"/>
                  </a:rPr>
                  <a:t> blocks to the east of the school.</a:t>
                </a:r>
              </a:p>
              <a:p>
                <a:pPr marL="466725" indent="-336550">
                  <a:buSzPct val="13000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Xavier lives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blocks to the west of the school.</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Use the number line to model the position of each house and the school along the street. Label the location of each person’s house and the school.</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1450052" y="1386025"/>
                <a:ext cx="8937532" cy="3785652"/>
              </a:xfrm>
              <a:prstGeom prst="rect">
                <a:avLst/>
              </a:prstGeom>
              <a:blipFill rotWithShape="0">
                <a:blip r:embed="rId4"/>
                <a:stretch>
                  <a:fillRect l="-1091" t="-1288"/>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8A539B00-8E96-3740-8C2B-62EF12D58B8D}"/>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a16="http://schemas.microsoft.com/office/drawing/2014/main" id="{2AEFE31B-3871-9D44-8083-1A0458A5C0F7}"/>
              </a:ext>
            </a:extLst>
          </p:cNvPr>
          <p:cNvPicPr>
            <a:picLocks noChangeAspect="1"/>
          </p:cNvPicPr>
          <p:nvPr/>
        </p:nvPicPr>
        <p:blipFill>
          <a:blip r:embed="rId5"/>
          <a:stretch>
            <a:fillRect/>
          </a:stretch>
        </p:blipFill>
        <p:spPr>
          <a:xfrm>
            <a:off x="2519850" y="5460121"/>
            <a:ext cx="7490208" cy="657276"/>
          </a:xfrm>
          <a:prstGeom prst="rect">
            <a:avLst/>
          </a:prstGeom>
        </p:spPr>
      </p:pic>
      <p:sp>
        <p:nvSpPr>
          <p:cNvPr id="12"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126</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22347CCE-34A7-8044-BA67-B5895157AE55}"/>
              </a:ext>
            </a:extLst>
          </p:cNvPr>
          <p:cNvSpPr txBox="1"/>
          <p:nvPr/>
        </p:nvSpPr>
        <p:spPr>
          <a:xfrm>
            <a:off x="993228" y="131992"/>
            <a:ext cx="9266340" cy="5262979"/>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write the mathematical sentence using absolute values. Then, use the mathematical sentence to determine each answer. </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How far does Logan live from Mia?</a:t>
            </a: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How far does Mia live from Xavier?</a:t>
            </a: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How far does Xavier live from Logan?</a:t>
            </a: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Was the same operation used to find each distance?</a:t>
            </a:r>
          </a:p>
        </p:txBody>
      </p:sp>
      <p:sp>
        <p:nvSpPr>
          <p:cNvPr id="6" name="Google Shape;278;g104476d1465_1_17">
            <a:extLst>
              <a:ext uri="{FF2B5EF4-FFF2-40B4-BE49-F238E27FC236}">
                <a16:creationId xmlns:a16="http://schemas.microsoft.com/office/drawing/2014/main" id="{DE55548A-47DB-5443-92E0-7B6639097BA6}"/>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126</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61466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126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29110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09162" y="603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3.9.5 Collaboration: Halfway Point </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74856" y="28691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835572" y="1386026"/>
                <a:ext cx="8624114" cy="452431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Mount Ojos del Salado is the highest mountain in Chile. Its peak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6,893</m:t>
                    </m:r>
                  </m:oMath>
                </a14:m>
                <a:r>
                  <a:rPr lang="en-US" sz="2400" dirty="0">
                    <a:latin typeface="Verdana" panose="020B0604030504040204" pitchFamily="34" charset="0"/>
                    <a:ea typeface="Verdana" panose="020B0604030504040204" pitchFamily="34" charset="0"/>
                    <a:cs typeface="Verdana" panose="020B0604030504040204" pitchFamily="34" charset="0"/>
                  </a:rPr>
                  <a:t> meters above sea level. The lowest point of the Atacama Trench, just off the coast of Peru and Chile,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8,065</m:t>
                    </m:r>
                  </m:oMath>
                </a14:m>
                <a:r>
                  <a:rPr lang="en-US" sz="2400" dirty="0">
                    <a:latin typeface="Verdana" panose="020B0604030504040204" pitchFamily="34" charset="0"/>
                    <a:ea typeface="Verdana" panose="020B0604030504040204" pitchFamily="34" charset="0"/>
                    <a:cs typeface="Verdana" panose="020B0604030504040204" pitchFamily="34" charset="0"/>
                  </a:rPr>
                  <a:t> meters below sea level.</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Work with your partner to answer each question.</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Determine how to label the number line so that you can approximate a location on the number line that represents Mount Ojos del Salado, Atacama Trench, and sea level.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835572" y="1386026"/>
                <a:ext cx="8624114" cy="4524315"/>
              </a:xfrm>
              <a:prstGeom prst="rect">
                <a:avLst/>
              </a:prstGeom>
              <a:blipFill rotWithShape="0">
                <a:blip r:embed="rId4"/>
                <a:stretch>
                  <a:fillRect l="-1060" t="-1077" r="-2332"/>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D252DD22-4545-6844-9D1D-323C0B41ADF5}"/>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Chart&#10;&#10;Description automatically generated">
            <a:extLst>
              <a:ext uri="{FF2B5EF4-FFF2-40B4-BE49-F238E27FC236}">
                <a16:creationId xmlns:a16="http://schemas.microsoft.com/office/drawing/2014/main" id="{9C7E4818-0B92-F340-8F3A-44C4D01CF38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442486" y="984977"/>
            <a:ext cx="1146561" cy="5071650"/>
          </a:xfrm>
          <a:prstGeom prst="rect">
            <a:avLst/>
          </a:prstGeom>
        </p:spPr>
      </p:pic>
      <p:sp>
        <p:nvSpPr>
          <p:cNvPr id="12"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126</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95544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2AA35BC6-D428-FC41-BDE5-6438AB8840FC}"/>
              </a:ext>
            </a:extLst>
          </p:cNvPr>
          <p:cNvSpPr txBox="1"/>
          <p:nvPr/>
        </p:nvSpPr>
        <p:spPr>
          <a:xfrm>
            <a:off x="930166" y="410666"/>
            <a:ext cx="10482334" cy="5632311"/>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Label the number line and place a point at the approximate location for Mount Ojos del Salado, Atacama Trench, and sea level.</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Write a mathematical sentence using absolute value to find the difference in elevations between Mount Ojos del Salado and the Atacama Trench.</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D24B490A-71D6-FD45-903D-95450FDFCF80}"/>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126</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31921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2AA35BC6-D428-FC41-BDE5-6438AB8840FC}"/>
              </a:ext>
            </a:extLst>
          </p:cNvPr>
          <p:cNvSpPr txBox="1"/>
          <p:nvPr/>
        </p:nvSpPr>
        <p:spPr>
          <a:xfrm>
            <a:off x="804041" y="410666"/>
            <a:ext cx="10734584" cy="4154984"/>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With your partner, discuss how the halfway point between the peak of Mount Ojos del Salado and the Atacama Trench can be found. Write down all of the strategies that were discussed.</a:t>
            </a: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Explain how to determine if the halfway point’s elevation is above sea level or below sea level.</a:t>
            </a: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D24B490A-71D6-FD45-903D-95450FDFCF80}"/>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21924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127</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242843" y="209085"/>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3.9.6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495543" y="209085"/>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835571" y="1222813"/>
                <a:ext cx="8225598" cy="489364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captain of a fishing vessel is standing on the deck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23</m:t>
                    </m:r>
                  </m:oMath>
                </a14:m>
                <a:r>
                  <a:rPr lang="en-US" sz="2400" dirty="0">
                    <a:latin typeface="Verdana" panose="020B0604030504040204" pitchFamily="34" charset="0"/>
                    <a:ea typeface="Verdana" panose="020B0604030504040204" pitchFamily="34" charset="0"/>
                    <a:cs typeface="Verdana" panose="020B0604030504040204" pitchFamily="34" charset="0"/>
                  </a:rPr>
                  <a:t> feet above sea level. He holds a rope tied to a fishing net below him that is underwater at a depth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38</m:t>
                    </m:r>
                  </m:oMath>
                </a14:m>
                <a:r>
                  <a:rPr lang="en-US" sz="2400" dirty="0">
                    <a:latin typeface="Verdana" panose="020B0604030504040204" pitchFamily="34" charset="0"/>
                    <a:ea typeface="Verdana" panose="020B0604030504040204" pitchFamily="34" charset="0"/>
                    <a:cs typeface="Verdana" panose="020B0604030504040204" pitchFamily="34" charset="0"/>
                  </a:rPr>
                  <a:t> feet.</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Draw a model of this situation using the number line. </a:t>
                </a: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Write a mathematical sentence using absolute value to determine the length of the rope.</a:t>
                </a: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835571" y="1222813"/>
                <a:ext cx="8225598" cy="4893647"/>
              </a:xfrm>
              <a:prstGeom prst="rect">
                <a:avLst/>
              </a:prstGeom>
              <a:blipFill rotWithShape="0">
                <a:blip r:embed="rId4"/>
                <a:stretch>
                  <a:fillRect l="-1112" t="-998" r="-2372"/>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B65A09A0-1E94-F34F-9AC7-848B14CF3F5C}"/>
              </a:ext>
            </a:extLst>
          </p:cNvPr>
          <p:cNvSpPr/>
          <p:nvPr/>
        </p:nvSpPr>
        <p:spPr>
          <a:xfrm>
            <a:off x="0" y="-810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Background pattern&#10;&#10;Description automatically generated">
            <a:extLst>
              <a:ext uri="{FF2B5EF4-FFF2-40B4-BE49-F238E27FC236}">
                <a16:creationId xmlns:a16="http://schemas.microsoft.com/office/drawing/2014/main" id="{6287ECAD-B180-B345-A1A8-1EA5231D1D24}"/>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17656" r="26352"/>
          <a:stretch/>
        </p:blipFill>
        <p:spPr>
          <a:xfrm>
            <a:off x="9061169" y="390164"/>
            <a:ext cx="1031096" cy="5918200"/>
          </a:xfrm>
          <a:prstGeom prst="rect">
            <a:avLst/>
          </a:prstGeom>
        </p:spPr>
      </p:pic>
      <p:sp>
        <p:nvSpPr>
          <p:cNvPr id="10"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127</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1198179" y="398474"/>
                <a:ext cx="9061389" cy="5262979"/>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Aryan owes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$325.46 </m:t>
                    </m:r>
                  </m:oMath>
                </a14:m>
                <a:r>
                  <a:rPr lang="en-US" sz="2400" dirty="0">
                    <a:latin typeface="Verdana" panose="020B0604030504040204" pitchFamily="34" charset="0"/>
                    <a:ea typeface="Verdana" panose="020B0604030504040204" pitchFamily="34" charset="0"/>
                    <a:cs typeface="Verdana" panose="020B0604030504040204" pitchFamily="34" charset="0"/>
                  </a:rPr>
                  <a:t>for recent purchases he made using his credit card, and he owes his parents another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$187.27</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Write a mathematical statement using absolute value that can be used to determine Aryan’s total debt.</a:t>
                </a: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value of Aryan’s total debt?</a:t>
                </a: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5" name="TextBox 4">
                <a:extLst>
                  <a:ext uri="{FF2B5EF4-FFF2-40B4-BE49-F238E27FC236}">
                    <a16:creationId xmlns:a16="http://schemas.microsoft.com/office/drawing/2014/main" xmlns:a14="http://schemas.microsoft.com/office/drawing/2010/main" xmlns="" id="{08C67FCF-92C3-654A-BF40-5BDF7A4F9271}"/>
                  </a:ext>
                </a:extLst>
              </p:cNvPr>
              <p:cNvSpPr txBox="1">
                <a:spLocks noRot="1" noChangeAspect="1" noMove="1" noResize="1" noEditPoints="1" noAdjustHandles="1" noChangeArrowheads="1" noChangeShapeType="1" noTextEdit="1"/>
              </p:cNvSpPr>
              <p:nvPr/>
            </p:nvSpPr>
            <p:spPr>
              <a:xfrm>
                <a:off x="1198179" y="398474"/>
                <a:ext cx="9061389" cy="5262979"/>
              </a:xfrm>
              <a:prstGeom prst="rect">
                <a:avLst/>
              </a:prstGeom>
              <a:blipFill rotWithShape="0">
                <a:blip r:embed="rId3"/>
                <a:stretch>
                  <a:fillRect l="-1077" t="-8796" r="-1615"/>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C20EB48B-0C2A-FF47-ACB6-866A7F95956C}"/>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128</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436146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E9D117-FAE6-F74F-940B-9CD1479755BE}"/>
                  </a:ext>
                </a:extLst>
              </p:cNvPr>
              <p:cNvSpPr txBox="1"/>
              <p:nvPr/>
            </p:nvSpPr>
            <p:spPr>
              <a:xfrm>
                <a:off x="961697" y="422857"/>
                <a:ext cx="10268606" cy="2308324"/>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When Brenda places a package of chicken in the freezer, the chicken is at a temperature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41°</m:t>
                    </m:r>
                  </m:oMath>
                </a14:m>
                <a:r>
                  <a:rPr lang="en-US" sz="2400" dirty="0">
                    <a:latin typeface="Verdana" panose="020B0604030504040204" pitchFamily="34" charset="0"/>
                    <a:ea typeface="Verdana" panose="020B0604030504040204" pitchFamily="34" charset="0"/>
                    <a:cs typeface="Verdana" panose="020B0604030504040204" pitchFamily="34" charset="0"/>
                  </a:rPr>
                  <a:t> Fahrenheit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While in the freezer, the temperature of the chicken changes </a:t>
                </a:r>
                <a14:m>
                  <m:oMath xmlns:m="http://schemas.openxmlformats.org/officeDocument/2006/math">
                    <m:r>
                      <a:rPr lang="en-US" sz="2400" i="1" dirty="0">
                        <a:latin typeface="Cambria Math" panose="02040503050406030204" pitchFamily="18" charset="0"/>
                        <a:ea typeface="Cambria Math" panose="02040503050406030204" pitchFamily="18" charset="0"/>
                        <a:cs typeface="Verdana" panose="020B0604030504040204" pitchFamily="34" charset="0"/>
                      </a:rPr>
                      <m:t>−</m:t>
                    </m:r>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every hour until it reaches the temperature of the freezer. What is the temperature of the chicken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m:t>
                    </m:r>
                  </m:oMath>
                </a14:m>
                <a:r>
                  <a:rPr lang="en-US" sz="2400" dirty="0">
                    <a:latin typeface="Verdana" panose="020B0604030504040204" pitchFamily="34" charset="0"/>
                    <a:ea typeface="Verdana" panose="020B0604030504040204" pitchFamily="34" charset="0"/>
                    <a:cs typeface="Verdana" panose="020B0604030504040204" pitchFamily="34" charset="0"/>
                  </a:rPr>
                  <a:t> hours after Brenda puts it in the freezer?  </a:t>
                </a:r>
              </a:p>
            </p:txBody>
          </p:sp>
        </mc:Choice>
        <mc:Fallback xmlns="">
          <p:sp>
            <p:nvSpPr>
              <p:cNvPr id="5" name="TextBox 4">
                <a:extLst>
                  <a:ext uri="{FF2B5EF4-FFF2-40B4-BE49-F238E27FC236}">
                    <a16:creationId xmlns:a16="http://schemas.microsoft.com/office/drawing/2014/main" xmlns:a14="http://schemas.microsoft.com/office/drawing/2010/main" xmlns="" id="{4CE9D117-FAE6-F74F-940B-9CD1479755BE}"/>
                  </a:ext>
                </a:extLst>
              </p:cNvPr>
              <p:cNvSpPr txBox="1">
                <a:spLocks noRot="1" noChangeAspect="1" noMove="1" noResize="1" noEditPoints="1" noAdjustHandles="1" noChangeArrowheads="1" noChangeShapeType="1" noTextEdit="1"/>
              </p:cNvSpPr>
              <p:nvPr/>
            </p:nvSpPr>
            <p:spPr>
              <a:xfrm>
                <a:off x="961697" y="422857"/>
                <a:ext cx="10268606" cy="2308324"/>
              </a:xfrm>
              <a:prstGeom prst="rect">
                <a:avLst/>
              </a:prstGeom>
              <a:blipFill rotWithShape="0">
                <a:blip r:embed="rId3"/>
                <a:stretch>
                  <a:fillRect l="-950" t="-2111" r="-1900" b="-501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770AEB55-C0B0-E249-801E-7B66B61DDE11}"/>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128</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676825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93008"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3.9.7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577806" y="27619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198179" y="1386026"/>
            <a:ext cx="9189405" cy="415498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Check all of the statements below that describe your understanding of and ability to work with absolute values.</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compare the absolute value of two numbers.</a:t>
            </a:r>
          </a:p>
          <a:p>
            <a:pPr marL="922338" indent="-455613">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need support on how to compare the absolute value of two numbers.</a:t>
            </a:r>
          </a:p>
          <a:p>
            <a:pPr marL="922338" indent="-455613">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perform operations that involve the absolute value of two numbers.</a:t>
            </a:r>
          </a:p>
          <a:p>
            <a:pPr marL="922338" indent="-455613">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need support to perform operations that involve absolute value.</a:t>
            </a:r>
          </a:p>
        </p:txBody>
      </p:sp>
      <p:sp>
        <p:nvSpPr>
          <p:cNvPr id="8" name="Google Shape;278;g104476d1465_1_17">
            <a:extLst>
              <a:ext uri="{FF2B5EF4-FFF2-40B4-BE49-F238E27FC236}">
                <a16:creationId xmlns:a16="http://schemas.microsoft.com/office/drawing/2014/main" id="{31AAE36C-5822-464A-8B2B-DAD96F65814D}"/>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128</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4CE9D117-FAE6-F74F-940B-9CD1479755BE}"/>
              </a:ext>
            </a:extLst>
          </p:cNvPr>
          <p:cNvSpPr txBox="1"/>
          <p:nvPr/>
        </p:nvSpPr>
        <p:spPr>
          <a:xfrm>
            <a:off x="898634" y="422857"/>
            <a:ext cx="10394732" cy="3046988"/>
          </a:xfrm>
          <a:prstGeom prst="rect">
            <a:avLst/>
          </a:prstGeom>
          <a:noFill/>
        </p:spPr>
        <p:txBody>
          <a:bodyPr wrap="square" rtlCol="0">
            <a:spAutoFit/>
          </a:bodyPr>
          <a:lstStyle/>
          <a:p>
            <a:pPr marL="922338" indent="-455613">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interpret comparisons of absolute values in real-world contexts.</a:t>
            </a:r>
          </a:p>
          <a:p>
            <a:pPr marL="922338" indent="-455613">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need support interpreting comparisons of absolute values in real-world contexts.</a:t>
            </a:r>
          </a:p>
          <a:p>
            <a:pPr marL="922338" indent="-455613">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perform operations that involve absolute value when solving real-world problems.</a:t>
            </a:r>
          </a:p>
          <a:p>
            <a:pPr marL="922338" indent="-455613">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need support to perform operations that involve absolute value when solving real-world problems.</a:t>
            </a:r>
          </a:p>
        </p:txBody>
      </p:sp>
      <p:sp>
        <p:nvSpPr>
          <p:cNvPr id="6" name="Google Shape;278;g104476d1465_1_17">
            <a:extLst>
              <a:ext uri="{FF2B5EF4-FFF2-40B4-BE49-F238E27FC236}">
                <a16:creationId xmlns:a16="http://schemas.microsoft.com/office/drawing/2014/main" id="{770AEB55-C0B0-E249-801E-7B66B61DDE11}"/>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62328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128</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6151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1381</TotalTime>
  <Words>1619</Words>
  <Application>Microsoft Office PowerPoint</Application>
  <PresentationFormat>Widescreen</PresentationFormat>
  <Paragraphs>273</Paragraphs>
  <Slides>33</Slides>
  <Notes>33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Arial Black</vt:lpstr>
      <vt:lpstr>Calibri</vt:lpstr>
      <vt:lpstr>Cambria Math</vt:lpstr>
      <vt:lpstr>Century Gothic</vt:lpstr>
      <vt:lpstr>Verdana</vt:lpstr>
      <vt:lpstr>Wingdings</vt:lpstr>
      <vt:lpstr>1_Office Theme</vt:lpstr>
      <vt:lpstr>6th Grade Accelerated Math  Unit 3, Lesson 9  Operations With Absolute Value in the Real World   Volume 1, pg. 122  </vt:lpstr>
      <vt:lpstr>Benchmark</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Collaboration</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Heather  Rideout</cp:lastModifiedBy>
  <cp:revision>23</cp:revision>
  <dcterms:created xsi:type="dcterms:W3CDTF">2015-03-17T18:51:18Z</dcterms:created>
  <dcterms:modified xsi:type="dcterms:W3CDTF">2023-01-13T19:38:39Z</dcterms:modified>
</cp:coreProperties>
</file>