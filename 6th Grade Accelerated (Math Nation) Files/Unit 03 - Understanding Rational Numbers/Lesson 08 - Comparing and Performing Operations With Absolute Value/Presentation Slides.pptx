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8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0.xml" ContentType="application/vnd.openxmlformats-officedocument.presentationml.slid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7.xml" ContentType="application/vnd.openxmlformats-officedocument.presentationml.slide+xml"/>
  <Override PartName="/ppt/slides/slide6.xml" ContentType="application/vnd.openxmlformats-officedocument.presentationml.slide+xml"/>
  <Override PartName="/ppt/slides/slide5.xml" ContentType="application/vnd.openxmlformats-officedocument.presentationml.slide+xml"/>
  <Override PartName="/ppt/slides/slide4.xml" ContentType="application/vnd.openxmlformats-officedocument.presentationml.slide+xml"/>
  <Override PartName="/ppt/slides/slide3.xml" ContentType="application/vnd.openxmlformats-officedocument.presentationml.slide+xml"/>
  <Override PartName="/ppt/slides/slide9.xml" ContentType="application/vnd.openxmlformats-officedocument.presentationml.slide+xml"/>
  <Override PartName="/ppt/slides/slide16.xml" ContentType="application/vnd.openxmlformats-officedocument.presentationml.slide+xml"/>
  <Override PartName="/ppt/slides/slide18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17.xml" ContentType="application/vnd.openxmlformats-officedocument.presentationml.slide+xml"/>
  <Override PartName="/ppt/slides/slide25.xml" ContentType="application/vnd.openxmlformats-officedocument.presentationml.slide+xml"/>
  <Override PartName="/ppt/slides/slide23.xml" ContentType="application/vnd.openxmlformats-officedocument.presentationml.slide+xml"/>
  <Override PartName="/ppt/slides/slide19.xml" ContentType="application/vnd.openxmlformats-officedocument.presentationml.slide+xml"/>
  <Override PartName="/ppt/slides/slide24.xml" ContentType="application/vnd.openxmlformats-officedocument.presentationml.slide+xml"/>
  <Override PartName="/ppt/slides/slide20.xml" ContentType="application/vnd.openxmlformats-officedocument.presentationml.slide+xml"/>
  <Override PartName="/ppt/slides/slide22.xml" ContentType="application/vnd.openxmlformats-officedocument.presentationml.slide+xml"/>
  <Override PartName="/ppt/slides/slide21.xml" ContentType="application/vnd.openxmlformats-officedocument.presentationml.slide+xml"/>
  <Override PartName="/ppt/notesSlides/notesSlide2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1.xml" ContentType="application/vnd.openxmlformats-officedocument.presentationml.notesSlide+xml"/>
  <Override PartName="/ppt/slideLayouts/slideLayout17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6.xml" ContentType="application/vnd.openxmlformats-officedocument.presentationml.notesSlide+xml"/>
  <Override PartName="/ppt/slideLayouts/slideLayout14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10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6.xml" ContentType="application/vnd.openxmlformats-officedocument.presentationml.notesSlide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theme/theme2.xml" ContentType="application/vnd.openxmlformats-officedocument.theme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  <Override PartName="/customXml/itemProps2.xml" ContentType="application/vnd.openxmlformats-officedocument.customXmlProperties+xml"/>
  <Override PartName="/customXml/itemProps1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32"/>
  </p:notesMasterIdLst>
  <p:sldIdLst>
    <p:sldId id="256" r:id="rId2"/>
    <p:sldId id="257" r:id="rId3"/>
    <p:sldId id="285" r:id="rId4"/>
    <p:sldId id="286" r:id="rId5"/>
    <p:sldId id="261" r:id="rId6"/>
    <p:sldId id="287" r:id="rId7"/>
    <p:sldId id="288" r:id="rId8"/>
    <p:sldId id="311" r:id="rId9"/>
    <p:sldId id="312" r:id="rId10"/>
    <p:sldId id="313" r:id="rId11"/>
    <p:sldId id="320" r:id="rId12"/>
    <p:sldId id="289" r:id="rId13"/>
    <p:sldId id="290" r:id="rId14"/>
    <p:sldId id="308" r:id="rId15"/>
    <p:sldId id="322" r:id="rId16"/>
    <p:sldId id="316" r:id="rId17"/>
    <p:sldId id="314" r:id="rId18"/>
    <p:sldId id="315" r:id="rId19"/>
    <p:sldId id="321" r:id="rId20"/>
    <p:sldId id="317" r:id="rId21"/>
    <p:sldId id="318" r:id="rId22"/>
    <p:sldId id="319" r:id="rId23"/>
    <p:sldId id="323" r:id="rId24"/>
    <p:sldId id="302" r:id="rId25"/>
    <p:sldId id="303" r:id="rId26"/>
    <p:sldId id="309" r:id="rId27"/>
    <p:sldId id="324" r:id="rId28"/>
    <p:sldId id="306" r:id="rId29"/>
    <p:sldId id="307" r:id="rId30"/>
    <p:sldId id="310" r:id="rId31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http://customooxmlschemas.google.com/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55" roundtripDataSignature="AMtx7miXGu+iP6Z2M0kNO/4dLqrShsAMT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CBD1E"/>
    <a:srgbClr val="C9DF6F"/>
    <a:srgbClr val="417DBF"/>
    <a:srgbClr val="3F2A67"/>
    <a:srgbClr val="E24E5F"/>
    <a:srgbClr val="26B7D4"/>
    <a:srgbClr val="54B5D1"/>
    <a:srgbClr val="33BEA6"/>
    <a:srgbClr val="2DA48F"/>
    <a:srgbClr val="52BDA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A91F0D33-8C57-4600-99A7-42BC86742BE1}">
  <a:tblStyle styleId="{A91F0D33-8C57-4600-99A7-42BC86742BE1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9333"/>
    <p:restoredTop sz="94549"/>
  </p:normalViewPr>
  <p:slideViewPr>
    <p:cSldViewPr snapToGrid="0">
      <p:cViewPr>
        <p:scale>
          <a:sx n="105" d="100"/>
          <a:sy n="105" d="100"/>
        </p:scale>
        <p:origin x="-656" y="25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1" Type="http://schemas.openxmlformats.org/officeDocument/2006/relationships/slide" Target="slides/slide20.xml"/><Relationship Id="rId55" Type="http://customschemas.google.com/relationships/presentationmetadata" Target="metadata"/><Relationship Id="rId25" Type="http://schemas.openxmlformats.org/officeDocument/2006/relationships/slide" Target="slides/slide24.xml"/><Relationship Id="rId7" Type="http://schemas.openxmlformats.org/officeDocument/2006/relationships/slide" Target="slides/slide6.xml"/><Relationship Id="rId59" Type="http://schemas.openxmlformats.org/officeDocument/2006/relationships/tableStyles" Target="tableStyles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62" Type="http://schemas.openxmlformats.org/officeDocument/2006/relationships/customXml" Target="../customXml/item3.xml"/><Relationship Id="rId24" Type="http://schemas.openxmlformats.org/officeDocument/2006/relationships/slide" Target="slides/slide23.xml"/><Relationship Id="rId1" Type="http://schemas.openxmlformats.org/officeDocument/2006/relationships/slideMaster" Target="slideMasters/slideMaster1.xml"/><Relationship Id="rId32" Type="http://schemas.openxmlformats.org/officeDocument/2006/relationships/notesMaster" Target="notesMasters/notesMaster1.xml"/><Relationship Id="rId6" Type="http://schemas.openxmlformats.org/officeDocument/2006/relationships/slide" Target="slides/slide5.xml"/><Relationship Id="rId58" Type="http://schemas.openxmlformats.org/officeDocument/2006/relationships/theme" Target="theme/theme1.xml"/><Relationship Id="rId11" Type="http://schemas.openxmlformats.org/officeDocument/2006/relationships/slide" Target="slides/slide10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5" Type="http://schemas.openxmlformats.org/officeDocument/2006/relationships/slide" Target="slides/slide4.xml"/><Relationship Id="rId57" Type="http://schemas.openxmlformats.org/officeDocument/2006/relationships/viewProps" Target="viewProps.xml"/><Relationship Id="rId15" Type="http://schemas.openxmlformats.org/officeDocument/2006/relationships/slide" Target="slides/slide14.xml"/><Relationship Id="rId61" Type="http://schemas.openxmlformats.org/officeDocument/2006/relationships/customXml" Target="../customXml/item2.xml"/><Relationship Id="rId31" Type="http://schemas.openxmlformats.org/officeDocument/2006/relationships/slide" Target="slides/slide30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60" Type="http://schemas.openxmlformats.org/officeDocument/2006/relationships/customXml" Target="../customXml/item1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" Type="http://schemas.openxmlformats.org/officeDocument/2006/relationships/slide" Target="slides/slide3.xml"/><Relationship Id="rId30" Type="http://schemas.openxmlformats.org/officeDocument/2006/relationships/slide" Target="slides/slide29.xml"/><Relationship Id="rId9" Type="http://schemas.openxmlformats.org/officeDocument/2006/relationships/slide" Target="slides/slide8.xml"/><Relationship Id="rId56" Type="http://schemas.openxmlformats.org/officeDocument/2006/relationships/presProps" Target="presProps.xml"/><Relationship Id="rId14" Type="http://schemas.openxmlformats.org/officeDocument/2006/relationships/slide" Target="slides/slide13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104476d146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8" name="Google Shape;258;g104476d1465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32868339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4684046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8337895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06399360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0524138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12050934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42904148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04696362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9188651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5627792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84807107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48376870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1341473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803800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63999061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05831350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173400840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61877759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226408268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76513645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016563242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336110232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54045842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765837277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16688106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37328106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30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34849265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eg"/><Relationship Id="rId3" Type="http://schemas.openxmlformats.org/officeDocument/2006/relationships/image" Target="../media/image4.png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eg"/><Relationship Id="rId3" Type="http://schemas.openxmlformats.org/officeDocument/2006/relationships/image" Target="../media/image4.png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jpeg"/><Relationship Id="rId3" Type="http://schemas.openxmlformats.org/officeDocument/2006/relationships/image" Target="../media/image4.png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jpeg"/><Relationship Id="rId3" Type="http://schemas.openxmlformats.org/officeDocument/2006/relationships/image" Target="../media/image4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Slide">
  <p:cSld name="1_Title Slide">
    <p:bg>
      <p:bgPr>
        <a:blipFill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a:blip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56"/>
          <p:cNvSpPr txBox="1">
            <a:spLocks noGrp="1"/>
          </p:cNvSpPr>
          <p:nvPr>
            <p:ph type="ctrTitle"/>
          </p:nvPr>
        </p:nvSpPr>
        <p:spPr>
          <a:xfrm>
            <a:off x="5299677" y="1070919"/>
            <a:ext cx="6526000" cy="361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 Black"/>
              <a:buNone/>
              <a:defRPr sz="30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77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77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/>
            </a:lvl3pPr>
            <a:lvl4pPr lvl="3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20" name="Google Shape;20;p77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77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77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uk-UA" smtClean="0"/>
              <a:pPr/>
              <a:t>‹#›</a:t>
            </a:fld>
            <a:endParaRPr lang="uk-UA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78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7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6" name="Google Shape;26;p78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78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78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uk-UA" smtClean="0"/>
              <a:pPr/>
              <a:t>‹#›</a:t>
            </a:fld>
            <a:endParaRPr lang="uk-UA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9"/>
          <p:cNvSpPr txBox="1">
            <a:spLocks noGrp="1"/>
          </p:cNvSpPr>
          <p:nvPr>
            <p:ph type="title"/>
          </p:nvPr>
        </p:nvSpPr>
        <p:spPr>
          <a:xfrm>
            <a:off x="831851" y="1709739"/>
            <a:ext cx="10515600" cy="285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79"/>
          <p:cNvSpPr txBox="1"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2" name="Google Shape;32;p79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79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79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uk-UA" smtClean="0"/>
              <a:pPr/>
              <a:t>‹#›</a:t>
            </a:fld>
            <a:endParaRPr lang="uk-UA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80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8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8" name="Google Shape;38;p80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9" name="Google Shape;39;p80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80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80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uk-UA" smtClean="0"/>
              <a:pPr/>
              <a:t>‹#›</a:t>
            </a:fld>
            <a:endParaRPr lang="uk-UA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1"/>
          <p:cNvSpPr txBox="1">
            <a:spLocks noGrp="1"/>
          </p:cNvSpPr>
          <p:nvPr>
            <p:ph type="title"/>
          </p:nvPr>
        </p:nvSpPr>
        <p:spPr>
          <a:xfrm>
            <a:off x="839788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81"/>
          <p:cNvSpPr txBox="1">
            <a:spLocks noGrp="1"/>
          </p:cNvSpPr>
          <p:nvPr>
            <p:ph type="body" idx="1"/>
          </p:nvPr>
        </p:nvSpPr>
        <p:spPr>
          <a:xfrm>
            <a:off x="839789" y="1681163"/>
            <a:ext cx="51576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5" name="Google Shape;45;p81"/>
          <p:cNvSpPr txBox="1">
            <a:spLocks noGrp="1"/>
          </p:cNvSpPr>
          <p:nvPr>
            <p:ph type="body" idx="2"/>
          </p:nvPr>
        </p:nvSpPr>
        <p:spPr>
          <a:xfrm>
            <a:off x="839789" y="2505075"/>
            <a:ext cx="51576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81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2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7" name="Google Shape;47;p81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2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8" name="Google Shape;48;p81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81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81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uk-UA" smtClean="0"/>
              <a:pPr/>
              <a:t>‹#›</a:t>
            </a:fld>
            <a:endParaRPr lang="uk-UA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82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2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82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82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uk-UA" smtClean="0"/>
              <a:pPr/>
              <a:t>‹#›</a:t>
            </a:fld>
            <a:endParaRPr lang="uk-UA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83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83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83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uk-UA" smtClean="0"/>
              <a:pPr/>
              <a:t>‹#›</a:t>
            </a:fld>
            <a:endParaRPr lang="uk-UA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84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4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84"/>
          <p:cNvSpPr txBox="1">
            <a:spLocks noGrp="1"/>
          </p:cNvSpPr>
          <p:nvPr>
            <p:ph type="body" idx="1"/>
          </p:nvPr>
        </p:nvSpPr>
        <p:spPr>
          <a:xfrm>
            <a:off x="5183188" y="987426"/>
            <a:ext cx="6172400" cy="487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63" name="Google Shape;63;p84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4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64" name="Google Shape;64;p84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84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84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uk-UA" smtClean="0"/>
              <a:pPr/>
              <a:t>‹#›</a:t>
            </a:fld>
            <a:endParaRPr lang="uk-UA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85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4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85"/>
          <p:cNvSpPr>
            <a:spLocks noGrp="1"/>
          </p:cNvSpPr>
          <p:nvPr>
            <p:ph type="pic" idx="2"/>
          </p:nvPr>
        </p:nvSpPr>
        <p:spPr>
          <a:xfrm>
            <a:off x="5183188" y="987426"/>
            <a:ext cx="6172400" cy="4873500"/>
          </a:xfrm>
          <a:prstGeom prst="rect">
            <a:avLst/>
          </a:prstGeom>
          <a:noFill/>
          <a:ln>
            <a:noFill/>
          </a:ln>
        </p:spPr>
      </p:sp>
      <p:sp>
        <p:nvSpPr>
          <p:cNvPr id="70" name="Google Shape;70;p85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4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71" name="Google Shape;71;p85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85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85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uk-UA" smtClean="0"/>
              <a:pPr/>
              <a:t>‹#›</a:t>
            </a:fld>
            <a:endParaRPr lang="uk-UA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86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86"/>
          <p:cNvSpPr txBox="1">
            <a:spLocks noGrp="1"/>
          </p:cNvSpPr>
          <p:nvPr>
            <p:ph type="body" idx="1"/>
          </p:nvPr>
        </p:nvSpPr>
        <p:spPr>
          <a:xfrm rot="5400000">
            <a:off x="3920400" y="-1256575"/>
            <a:ext cx="4351200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86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86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86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uk-UA" smtClean="0"/>
              <a:pPr/>
              <a:t>‹#›</a:t>
            </a:fld>
            <a:endParaRPr lang="uk-UA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87"/>
          <p:cNvSpPr txBox="1">
            <a:spLocks noGrp="1"/>
          </p:cNvSpPr>
          <p:nvPr>
            <p:ph type="title"/>
          </p:nvPr>
        </p:nvSpPr>
        <p:spPr>
          <a:xfrm rot="5400000">
            <a:off x="7133450" y="1956675"/>
            <a:ext cx="5811900" cy="26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87"/>
          <p:cNvSpPr txBox="1">
            <a:spLocks noGrp="1"/>
          </p:cNvSpPr>
          <p:nvPr>
            <p:ph type="body" idx="1"/>
          </p:nvPr>
        </p:nvSpPr>
        <p:spPr>
          <a:xfrm rot="5400000">
            <a:off x="1799350" y="-596125"/>
            <a:ext cx="5811900" cy="773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3" name="Google Shape;83;p87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87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87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uk-UA" smtClean="0"/>
              <a:pPr/>
              <a:t>‹#›</a:t>
            </a:fld>
            <a:endParaRPr lang="uk-UA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 Slide">
  <p:cSld name="Text Slide">
    <p:bg>
      <p:bgPr>
        <a:solidFill>
          <a:schemeClr val="lt1"/>
        </a:solidFill>
        <a:effectLst/>
      </p:bgPr>
    </p:bg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Google Shape;87;p88" descr="A picture containing text, sign, seat&#10;&#10;Description automatically generated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76869" y="5603082"/>
            <a:ext cx="3413760" cy="1828800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88"/>
          <p:cNvSpPr/>
          <p:nvPr/>
        </p:nvSpPr>
        <p:spPr>
          <a:xfrm>
            <a:off x="0" y="0"/>
            <a:ext cx="198000" cy="6858000"/>
          </a:xfrm>
          <a:prstGeom prst="rect">
            <a:avLst/>
          </a:prstGeom>
          <a:solidFill>
            <a:srgbClr val="2776B6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2">
  <p:cSld name="Divider 2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89" descr="ANation-PPT22_5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89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89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3" name="Google Shape;93;p89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3">
  <p:cSld name="Divider 3"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Google Shape;95;p90" descr="ANation-PPT22_6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90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90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8" name="Google Shape;98;p90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1">
  <p:cSld name="Divider 1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p91" descr="ANation-PPT22_2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91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91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3" name="Google Shape;103;p91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4">
  <p:cSld name="Divider 4"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" name="Google Shape;105;p92" descr="ANation-PPT2_7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92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92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8" name="Google Shape;108;p92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55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5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55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55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55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uk-UA" smtClean="0"/>
              <a:pPr/>
              <a:t>‹#›</a:t>
            </a:fld>
            <a:endParaRPr lang="uk-UA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4" Type="http://schemas.openxmlformats.org/officeDocument/2006/relationships/image" Target="../media/image10.png"/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4" Type="http://schemas.openxmlformats.org/officeDocument/2006/relationships/image" Target="../media/image10.png"/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4" Type="http://schemas.openxmlformats.org/officeDocument/2006/relationships/image" Target="../media/image10.png"/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image" Target="../media/image13.png"/><Relationship Id="rId5" Type="http://schemas.openxmlformats.org/officeDocument/2006/relationships/image" Target="../media/image14.png"/><Relationship Id="rId6" Type="http://schemas.openxmlformats.org/officeDocument/2006/relationships/image" Target="../media/image10.png"/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4" Type="http://schemas.openxmlformats.org/officeDocument/2006/relationships/image" Target="../media/image10.png"/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4" Type="http://schemas.openxmlformats.org/officeDocument/2006/relationships/image" Target="../media/image160.png"/><Relationship Id="rId5" Type="http://schemas.openxmlformats.org/officeDocument/2006/relationships/image" Target="../media/image14.png"/><Relationship Id="rId6" Type="http://schemas.openxmlformats.org/officeDocument/2006/relationships/image" Target="../media/image10.png"/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5" Type="http://schemas.openxmlformats.org/officeDocument/2006/relationships/image" Target="../media/image18.png"/><Relationship Id="rId6" Type="http://schemas.openxmlformats.org/officeDocument/2006/relationships/image" Target="../media/image19.png"/><Relationship Id="rId7" Type="http://schemas.openxmlformats.org/officeDocument/2006/relationships/image" Target="../media/image10.png"/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4" Type="http://schemas.openxmlformats.org/officeDocument/2006/relationships/image" Target="../media/image21.png"/><Relationship Id="rId5" Type="http://schemas.openxmlformats.org/officeDocument/2006/relationships/image" Target="../media/image10.png"/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4" Type="http://schemas.openxmlformats.org/officeDocument/2006/relationships/image" Target="../media/image10.png"/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4" Type="http://schemas.openxmlformats.org/officeDocument/2006/relationships/image" Target="../media/image23.png"/><Relationship Id="rId5" Type="http://schemas.openxmlformats.org/officeDocument/2006/relationships/image" Target="../media/image24.png"/><Relationship Id="rId6" Type="http://schemas.openxmlformats.org/officeDocument/2006/relationships/image" Target="../media/image10.png"/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5" Type="http://schemas.openxmlformats.org/officeDocument/2006/relationships/image" Target="../media/image26.png"/><Relationship Id="rId6" Type="http://schemas.openxmlformats.org/officeDocument/2006/relationships/image" Target="../media/image10.png"/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4" Type="http://schemas.openxmlformats.org/officeDocument/2006/relationships/image" Target="../media/image27.png"/><Relationship Id="rId5" Type="http://schemas.openxmlformats.org/officeDocument/2006/relationships/image" Target="../media/image10.png"/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0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4" Type="http://schemas.openxmlformats.org/officeDocument/2006/relationships/image" Target="../media/image10.png"/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4" Type="http://schemas.openxmlformats.org/officeDocument/2006/relationships/image" Target="../media/image10.png"/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4" Type="http://schemas.openxmlformats.org/officeDocument/2006/relationships/image" Target="../media/image290.png"/><Relationship Id="rId5" Type="http://schemas.openxmlformats.org/officeDocument/2006/relationships/image" Target="../media/image30.png"/><Relationship Id="rId6" Type="http://schemas.openxmlformats.org/officeDocument/2006/relationships/image" Target="../media/image10.png"/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4" Type="http://schemas.openxmlformats.org/officeDocument/2006/relationships/image" Target="../media/image10.png"/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4" Type="http://schemas.openxmlformats.org/officeDocument/2006/relationships/image" Target="../media/image31.png"/><Relationship Id="rId5" Type="http://schemas.openxmlformats.org/officeDocument/2006/relationships/image" Target="../media/image32.png"/><Relationship Id="rId6" Type="http://schemas.openxmlformats.org/officeDocument/2006/relationships/image" Target="../media/image10.png"/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4" Type="http://schemas.openxmlformats.org/officeDocument/2006/relationships/image" Target="../media/image10.png"/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4" Type="http://schemas.openxmlformats.org/officeDocument/2006/relationships/image" Target="../media/image10.png"/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4" Type="http://schemas.openxmlformats.org/officeDocument/2006/relationships/image" Target="../media/image10.png"/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4" Type="http://schemas.openxmlformats.org/officeDocument/2006/relationships/image" Target="../media/image36.png"/><Relationship Id="rId5" Type="http://schemas.openxmlformats.org/officeDocument/2006/relationships/image" Target="../media/image10.png"/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4" Type="http://schemas.openxmlformats.org/officeDocument/2006/relationships/image" Target="../media/image10.png"/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4" Type="http://schemas.openxmlformats.org/officeDocument/2006/relationships/image" Target="../media/image10.png"/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4" Type="http://schemas.openxmlformats.org/officeDocument/2006/relationships/image" Target="../media/image10.png"/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4" Type="http://schemas.openxmlformats.org/officeDocument/2006/relationships/image" Target="../media/image40.png"/><Relationship Id="rId5" Type="http://schemas.openxmlformats.org/officeDocument/2006/relationships/image" Target="../media/image10.png"/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5" Type="http://schemas.openxmlformats.org/officeDocument/2006/relationships/image" Target="../media/image42.png"/><Relationship Id="rId6" Type="http://schemas.openxmlformats.org/officeDocument/2006/relationships/image" Target="../media/image43.png"/><Relationship Id="rId7" Type="http://schemas.openxmlformats.org/officeDocument/2006/relationships/image" Target="../media/image44.png"/><Relationship Id="rId8" Type="http://schemas.openxmlformats.org/officeDocument/2006/relationships/image" Target="../media/image10.png"/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3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g104476d1465_0_0"/>
          <p:cNvSpPr txBox="1">
            <a:spLocks noGrp="1"/>
          </p:cNvSpPr>
          <p:nvPr>
            <p:ph type="ctrTitle" idx="4294967295"/>
          </p:nvPr>
        </p:nvSpPr>
        <p:spPr>
          <a:xfrm>
            <a:off x="5742834" y="2054277"/>
            <a:ext cx="4925167" cy="3194455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6</a:t>
            </a:r>
            <a:r>
              <a:rPr lang="en-US" sz="3800" b="1" baseline="30000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th</a:t>
            </a:r>
            <a: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 Grade Accelerated Math</a:t>
            </a: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endParaRPr lang="en-US" sz="3800" b="1" dirty="0">
              <a:solidFill>
                <a:srgbClr val="417DB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algn="ctr">
              <a:lnSpc>
                <a:spcPct val="100000"/>
              </a:lnSpc>
              <a:buClr>
                <a:srgbClr val="000000"/>
              </a:buClr>
            </a:pPr>
            <a: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Unit 3, Lesson 8</a:t>
            </a: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/>
            </a: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Comparing and Performing Operations with Absolute Value </a:t>
            </a: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/>
            </a: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2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Volume 1, pg. 117</a:t>
            </a:r>
          </a:p>
          <a:p>
            <a:pPr algn="ctr">
              <a:lnSpc>
                <a:spcPct val="100000"/>
              </a:lnSpc>
              <a:buClr>
                <a:srgbClr val="000000"/>
              </a:buClr>
            </a:pPr>
            <a:endParaRPr lang="en-US" sz="3400" b="1" dirty="0">
              <a:solidFill>
                <a:srgbClr val="417DB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algn="ctr">
              <a:lnSpc>
                <a:spcPct val="75000"/>
              </a:lnSpc>
            </a:pPr>
            <a:endParaRPr sz="3100" dirty="0">
              <a:solidFill>
                <a:srgbClr val="417DBF"/>
              </a:solidFill>
            </a:endParaRPr>
          </a:p>
        </p:txBody>
      </p:sp>
      <p:cxnSp>
        <p:nvCxnSpPr>
          <p:cNvPr id="262" name="Google Shape;262;g104476d1465_0_0"/>
          <p:cNvCxnSpPr/>
          <p:nvPr/>
        </p:nvCxnSpPr>
        <p:spPr>
          <a:xfrm>
            <a:off x="-1573225" y="3938167"/>
            <a:ext cx="1152600" cy="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0" name="Google Shape;309;g104476d1465_1_39">
            <a:extLst>
              <a:ext uri="{FF2B5EF4-FFF2-40B4-BE49-F238E27FC236}">
                <a16:creationId xmlns:a16="http://schemas.microsoft.com/office/drawing/2014/main" xmlns="" id="{566F1422-A32C-7745-9E85-5AF7B9DBC697}"/>
              </a:ext>
            </a:extLst>
          </p:cNvPr>
          <p:cNvSpPr/>
          <p:nvPr/>
        </p:nvSpPr>
        <p:spPr>
          <a:xfrm>
            <a:off x="0" y="0"/>
            <a:ext cx="4094106" cy="6866100"/>
          </a:xfrm>
          <a:prstGeom prst="rect">
            <a:avLst/>
          </a:prstGeom>
          <a:solidFill>
            <a:srgbClr val="FCBD1E"/>
          </a:solidFill>
          <a:ln w="9525" cap="flat" cmpd="sng">
            <a:solidFill>
              <a:srgbClr val="FCBD1E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" name="Picture 2" descr="A blue sign with white text&#10;&#10;Description automatically generated with medium confidence">
            <a:extLst>
              <a:ext uri="{FF2B5EF4-FFF2-40B4-BE49-F238E27FC236}">
                <a16:creationId xmlns:a16="http://schemas.microsoft.com/office/drawing/2014/main" xmlns="" id="{5DE477E5-56CA-9D49-B76A-D5EDA7B79A42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11640" y="1526626"/>
            <a:ext cx="3270825" cy="3812847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FCBD1E"/>
          </a:solidFill>
          <a:ln w="9525" cap="flat" cmpd="sng">
            <a:solidFill>
              <a:srgbClr val="FCBD1E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279" name="Google Shape;279;g104476d1465_1_17"/>
          <p:cNvSpPr txBox="1">
            <a:spLocks noGrp="1"/>
          </p:cNvSpPr>
          <p:nvPr>
            <p:ph type="title" idx="4294967295"/>
          </p:nvPr>
        </p:nvSpPr>
        <p:spPr>
          <a:xfrm>
            <a:off x="1521867" y="80521"/>
            <a:ext cx="75099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>
              <a:buSzPts val="5400"/>
            </a:pPr>
            <a:r>
              <a:rPr lang="en-US" sz="47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Benchmark</a:t>
            </a:r>
            <a:endParaRPr sz="3700" b="1" dirty="0">
              <a:solidFill>
                <a:srgbClr val="54B5D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281" name="Google Shape;281;g104476d1465_1_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98367" y="316296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282" name="Google Shape;282;g104476d1465_1_17"/>
          <p:cNvSpPr txBox="1"/>
          <p:nvPr/>
        </p:nvSpPr>
        <p:spPr>
          <a:xfrm>
            <a:off x="8663102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117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01328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280;g104476d1465_1_17">
            <a:extLst>
              <a:ext uri="{FF2B5EF4-FFF2-40B4-BE49-F238E27FC236}">
                <a16:creationId xmlns:a16="http://schemas.microsoft.com/office/drawing/2014/main" xmlns="" id="{527A9F9F-07B8-ED47-B967-E5507C67DBC5}"/>
              </a:ext>
            </a:extLst>
          </p:cNvPr>
          <p:cNvSpPr txBox="1">
            <a:spLocks/>
          </p:cNvSpPr>
          <p:nvPr/>
        </p:nvSpPr>
        <p:spPr>
          <a:xfrm>
            <a:off x="1521867" y="1600200"/>
            <a:ext cx="8688933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619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indent="0">
              <a:buSzPts val="1100"/>
              <a:buNone/>
            </a:pPr>
            <a:r>
              <a:rPr lang="en-US" sz="3500" dirty="0">
                <a:solidFill>
                  <a:schemeClr val="tx1"/>
                </a:solidFill>
                <a:latin typeface="Verdana"/>
                <a:ea typeface="Verdana"/>
                <a:cs typeface="Verdana"/>
                <a:sym typeface="Verdana"/>
              </a:rPr>
              <a:t>MA.6.NSO.1.4</a:t>
            </a:r>
          </a:p>
          <a:p>
            <a:pPr indent="0">
              <a:buNone/>
            </a:pPr>
            <a:r>
              <a:rPr lang="en-US" sz="3500" dirty="0">
                <a:solidFill>
                  <a:schemeClr val="tx1"/>
                </a:solidFill>
                <a:latin typeface="Verdana"/>
                <a:ea typeface="Verdana"/>
                <a:cs typeface="Verdana"/>
                <a:sym typeface="Verdana"/>
              </a:rPr>
              <a:t>Solve mathematical and real-world problems involving absolute value, including the comparison of absolute value.</a:t>
            </a:r>
            <a:endParaRPr lang="en-US" dirty="0">
              <a:solidFill>
                <a:schemeClr val="tx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1" name="Google Shape;281;g104476d1465_1_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40426" y="284537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295;g103996e1364_0_10">
            <a:extLst>
              <a:ext uri="{FF2B5EF4-FFF2-40B4-BE49-F238E27FC236}">
                <a16:creationId xmlns:a16="http://schemas.microsoft.com/office/drawing/2014/main" xmlns="" id="{08B3C7FF-E6D0-2145-9A84-003D15672764}"/>
              </a:ext>
            </a:extLst>
          </p:cNvPr>
          <p:cNvSpPr txBox="1">
            <a:spLocks/>
          </p:cNvSpPr>
          <p:nvPr/>
        </p:nvSpPr>
        <p:spPr>
          <a:xfrm>
            <a:off x="1465076" y="41904"/>
            <a:ext cx="8024426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0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Integrated Mathematical Thinking and Reasoning Standards</a:t>
            </a:r>
          </a:p>
        </p:txBody>
      </p:sp>
      <p:sp>
        <p:nvSpPr>
          <p:cNvPr id="11" name="Google Shape;296;g103996e1364_0_10">
            <a:extLst>
              <a:ext uri="{FF2B5EF4-FFF2-40B4-BE49-F238E27FC236}">
                <a16:creationId xmlns:a16="http://schemas.microsoft.com/office/drawing/2014/main" xmlns="" id="{A6E18E39-B007-D647-9935-55A748533A45}"/>
              </a:ext>
            </a:extLst>
          </p:cNvPr>
          <p:cNvSpPr txBox="1">
            <a:spLocks/>
          </p:cNvSpPr>
          <p:nvPr/>
        </p:nvSpPr>
        <p:spPr>
          <a:xfrm>
            <a:off x="1580827" y="1596390"/>
            <a:ext cx="8629973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523"/>
            </a:pPr>
            <a:r>
              <a:rPr lang="en-US" sz="24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MA.K12.MTR.2.1 Demonstrate understanding by representing problems in multiple ways.</a:t>
            </a:r>
          </a:p>
          <a:p>
            <a:pPr marL="457200">
              <a:buSzPts val="523"/>
            </a:pPr>
            <a:endParaRPr lang="en-US" sz="24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  <a:p>
            <a:pPr>
              <a:buSzPts val="523"/>
            </a:pPr>
            <a:r>
              <a:rPr lang="en-US" sz="24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MA.K12.MTR.4.1 Engage in discussions that reflect on the mathematical thinking of self and others.</a:t>
            </a:r>
          </a:p>
          <a:p>
            <a:pPr>
              <a:buSzPts val="523"/>
            </a:pPr>
            <a:endParaRPr lang="en-US" sz="24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  <a:p>
            <a:pPr>
              <a:buSzPts val="523"/>
            </a:pPr>
            <a:r>
              <a:rPr lang="en-US" sz="24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MA.K12.MTR.6.1 Assess the reasonableness of solutions.</a:t>
            </a:r>
          </a:p>
          <a:p>
            <a:pPr>
              <a:buSzPts val="523"/>
            </a:pPr>
            <a:endParaRPr lang="en-US" sz="24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  <a:p>
            <a:pPr>
              <a:buSzPts val="523"/>
            </a:pPr>
            <a:r>
              <a:rPr lang="en-US" sz="24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MA.K12.MTR.7.1 </a:t>
            </a:r>
            <a:r>
              <a:rPr lang="en-US" sz="24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Apply mathematics to real-world contexts.</a:t>
            </a:r>
            <a:endParaRPr lang="en-US" sz="24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</p:txBody>
      </p:sp>
      <p:sp>
        <p:nvSpPr>
          <p:cNvPr id="9" name="Google Shape;278;g104476d1465_1_17">
            <a:extLst>
              <a:ext uri="{FF2B5EF4-FFF2-40B4-BE49-F238E27FC236}">
                <a16:creationId xmlns:a16="http://schemas.microsoft.com/office/drawing/2014/main" xmlns="" id="{0EC4A24D-AC58-5143-9A1A-1E71E28DFCF5}"/>
              </a:ext>
            </a:extLst>
          </p:cNvPr>
          <p:cNvSpPr/>
          <p:nvPr/>
        </p:nvSpPr>
        <p:spPr>
          <a:xfrm>
            <a:off x="0" y="-8226"/>
            <a:ext cx="223200" cy="6866100"/>
          </a:xfrm>
          <a:prstGeom prst="rect">
            <a:avLst/>
          </a:prstGeom>
          <a:solidFill>
            <a:srgbClr val="FCBD1E"/>
          </a:solidFill>
          <a:ln w="9525" cap="flat" cmpd="sng">
            <a:solidFill>
              <a:srgbClr val="FCBD1E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12" name="Google Shape;282;g104476d1465_1_17"/>
          <p:cNvSpPr txBox="1"/>
          <p:nvPr/>
        </p:nvSpPr>
        <p:spPr>
          <a:xfrm>
            <a:off x="8663102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117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01328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0808422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301;g103996e1364_0_16">
            <a:extLst>
              <a:ext uri="{FF2B5EF4-FFF2-40B4-BE49-F238E27FC236}">
                <a16:creationId xmlns:a16="http://schemas.microsoft.com/office/drawing/2014/main" xmlns="" id="{5771FBFA-7311-BB45-8AFF-04B380531EE6}"/>
              </a:ext>
            </a:extLst>
          </p:cNvPr>
          <p:cNvSpPr txBox="1">
            <a:spLocks/>
          </p:cNvSpPr>
          <p:nvPr/>
        </p:nvSpPr>
        <p:spPr>
          <a:xfrm>
            <a:off x="1356209" y="0"/>
            <a:ext cx="79584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4700" b="1" dirty="0">
                <a:solidFill>
                  <a:srgbClr val="52BDA6"/>
                </a:solidFill>
                <a:latin typeface="Verdana"/>
                <a:ea typeface="Verdana"/>
                <a:cs typeface="Verdana"/>
                <a:sym typeface="Verdana"/>
              </a:rPr>
              <a:t>Learning Targets</a:t>
            </a:r>
          </a:p>
        </p:txBody>
      </p:sp>
      <p:pic>
        <p:nvPicPr>
          <p:cNvPr id="12" name="Google Shape;303;g103996e1364_0_16">
            <a:extLst>
              <a:ext uri="{FF2B5EF4-FFF2-40B4-BE49-F238E27FC236}">
                <a16:creationId xmlns:a16="http://schemas.microsoft.com/office/drawing/2014/main" xmlns="" id="{81DC7EB0-4FED-FC45-BAEC-D699ED5C2169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4047" y="289200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4" name="Google Shape;302;g103996e1364_0_16">
            <a:extLst>
              <a:ext uri="{FF2B5EF4-FFF2-40B4-BE49-F238E27FC236}">
                <a16:creationId xmlns:a16="http://schemas.microsoft.com/office/drawing/2014/main" xmlns="" id="{9B7C98EC-F13C-9146-B728-D7044DB4247D}"/>
              </a:ext>
            </a:extLst>
          </p:cNvPr>
          <p:cNvSpPr txBox="1">
            <a:spLocks/>
          </p:cNvSpPr>
          <p:nvPr/>
        </p:nvSpPr>
        <p:spPr>
          <a:xfrm>
            <a:off x="1356209" y="1600200"/>
            <a:ext cx="8854591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342900" indent="-342900">
              <a:buFont typeface="Wingdings" pitchFamily="2" charset="2"/>
              <a:buChar char="q"/>
            </a:pPr>
            <a:r>
              <a:rPr lang="en-US" sz="35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 can compare the absolute value of two numbers.</a:t>
            </a:r>
          </a:p>
          <a:p>
            <a:pPr marL="342900" indent="-342900">
              <a:buFont typeface="Wingdings" pitchFamily="2" charset="2"/>
              <a:buChar char="q"/>
            </a:pPr>
            <a:r>
              <a:rPr lang="en-US" sz="35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 can perform operations that involve the absolute values of two numbers.</a:t>
            </a:r>
          </a:p>
        </p:txBody>
      </p:sp>
      <p:sp>
        <p:nvSpPr>
          <p:cNvPr id="8" name="Google Shape;278;g104476d1465_1_17">
            <a:extLst>
              <a:ext uri="{FF2B5EF4-FFF2-40B4-BE49-F238E27FC236}">
                <a16:creationId xmlns:a16="http://schemas.microsoft.com/office/drawing/2014/main" xmlns="" id="{7BA09A98-EDA0-5343-AD77-8F8E8C4F0E72}"/>
              </a:ext>
            </a:extLst>
          </p:cNvPr>
          <p:cNvSpPr/>
          <p:nvPr/>
        </p:nvSpPr>
        <p:spPr>
          <a:xfrm>
            <a:off x="0" y="-8226"/>
            <a:ext cx="223200" cy="6866100"/>
          </a:xfrm>
          <a:prstGeom prst="rect">
            <a:avLst/>
          </a:prstGeom>
          <a:solidFill>
            <a:srgbClr val="FCBD1E"/>
          </a:solidFill>
          <a:ln w="9525" cap="flat" cmpd="sng">
            <a:solidFill>
              <a:srgbClr val="FCBD1E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9" name="Google Shape;282;g104476d1465_1_17"/>
          <p:cNvSpPr txBox="1"/>
          <p:nvPr/>
        </p:nvSpPr>
        <p:spPr>
          <a:xfrm>
            <a:off x="8663102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117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01328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0714203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FCBD1E"/>
          </a:solidFill>
          <a:ln w="9525" cap="flat" cmpd="sng">
            <a:solidFill>
              <a:srgbClr val="FCBD1E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2" name="Google Shape;312;g104476d1465_1_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35550" y="2879325"/>
            <a:ext cx="1031750" cy="103175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844350" y="2766145"/>
            <a:ext cx="40482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Warm-Up</a:t>
            </a:r>
            <a:endParaRPr sz="5100" b="1" dirty="0">
              <a:solidFill>
                <a:srgbClr val="3F2A67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8" name="Google Shape;282;g104476d1465_1_17"/>
          <p:cNvSpPr txBox="1"/>
          <p:nvPr/>
        </p:nvSpPr>
        <p:spPr>
          <a:xfrm>
            <a:off x="8663102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117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01328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324;g103996e1364_0_25">
            <a:extLst>
              <a:ext uri="{FF2B5EF4-FFF2-40B4-BE49-F238E27FC236}">
                <a16:creationId xmlns:a16="http://schemas.microsoft.com/office/drawing/2014/main" xmlns="" id="{DB5796CA-12EB-BB4C-8338-B127D750A026}"/>
              </a:ext>
            </a:extLst>
          </p:cNvPr>
          <p:cNvSpPr txBox="1">
            <a:spLocks/>
          </p:cNvSpPr>
          <p:nvPr/>
        </p:nvSpPr>
        <p:spPr>
          <a:xfrm>
            <a:off x="1428964" y="60325"/>
            <a:ext cx="80193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</a:pPr>
            <a:r>
              <a:rPr lang="en-US" sz="36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3.8.1 Warm-Up: Rational Numbers in the Real World</a:t>
            </a:r>
          </a:p>
        </p:txBody>
      </p:sp>
      <p:pic>
        <p:nvPicPr>
          <p:cNvPr id="13" name="Google Shape;326;g103996e1364_0_25">
            <a:extLst>
              <a:ext uri="{FF2B5EF4-FFF2-40B4-BE49-F238E27FC236}">
                <a16:creationId xmlns:a16="http://schemas.microsoft.com/office/drawing/2014/main" xmlns="" id="{0B25478F-1F7B-DF44-A9BD-898178E878B3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81664" y="313282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E1D7562E-134F-D14B-AF1A-DF40E11EF758}"/>
              </a:ext>
            </a:extLst>
          </p:cNvPr>
          <p:cNvSpPr txBox="1"/>
          <p:nvPr/>
        </p:nvSpPr>
        <p:spPr>
          <a:xfrm>
            <a:off x="1428964" y="1386025"/>
            <a:ext cx="8958620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For each of the following problems, ask a classmate for his/her explanation. Once you have received their explanation, write a summary in the space provided in the box. Your classmate should read your summary and initial that it is correct.</a:t>
            </a:r>
          </a:p>
          <a:p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Repeat this with a different classmate for each of the remaining problems. </a:t>
            </a:r>
          </a:p>
          <a:p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9" name="Google Shape;278;g104476d1465_1_17">
            <a:extLst>
              <a:ext uri="{FF2B5EF4-FFF2-40B4-BE49-F238E27FC236}">
                <a16:creationId xmlns:a16="http://schemas.microsoft.com/office/drawing/2014/main" xmlns="" id="{C2564F7E-689E-724F-BBC4-EC8DFC52E66C}"/>
              </a:ext>
            </a:extLst>
          </p:cNvPr>
          <p:cNvSpPr/>
          <p:nvPr/>
        </p:nvSpPr>
        <p:spPr>
          <a:xfrm>
            <a:off x="0" y="-8226"/>
            <a:ext cx="223200" cy="6866100"/>
          </a:xfrm>
          <a:prstGeom prst="rect">
            <a:avLst/>
          </a:prstGeom>
          <a:solidFill>
            <a:srgbClr val="FCBD1E"/>
          </a:solidFill>
          <a:ln w="9525" cap="flat" cmpd="sng">
            <a:solidFill>
              <a:srgbClr val="FCBD1E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10" name="Google Shape;282;g104476d1465_1_17"/>
          <p:cNvSpPr txBox="1"/>
          <p:nvPr/>
        </p:nvSpPr>
        <p:spPr>
          <a:xfrm>
            <a:off x="8663102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117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01328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9490299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278;g104476d1465_1_17">
            <a:extLst>
              <a:ext uri="{FF2B5EF4-FFF2-40B4-BE49-F238E27FC236}">
                <a16:creationId xmlns:a16="http://schemas.microsoft.com/office/drawing/2014/main" xmlns="" id="{2950EAF9-F430-CC4A-9F7C-2EC37538C1F0}"/>
              </a:ext>
            </a:extLst>
          </p:cNvPr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FCBD1E"/>
          </a:solidFill>
          <a:ln w="9525" cap="flat" cmpd="sng">
            <a:solidFill>
              <a:srgbClr val="FCBD1E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xmlns="" id="{3865B957-1544-0A4B-B3E1-959D15B3DBD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460909682"/>
                  </p:ext>
                </p:extLst>
              </p:nvPr>
            </p:nvGraphicFramePr>
            <p:xfrm>
              <a:off x="1794626" y="89653"/>
              <a:ext cx="7006474" cy="6670345"/>
            </p:xfrm>
            <a:graphic>
              <a:graphicData uri="http://schemas.openxmlformats.org/drawingml/2006/table">
                <a:tbl>
                  <a:tblPr bandRow="1">
                    <a:tableStyleId>{A91F0D33-8C57-4600-99A7-42BC86742BE1}</a:tableStyleId>
                  </a:tblPr>
                  <a:tblGrid>
                    <a:gridCol w="3176136">
                      <a:extLst>
                        <a:ext uri="{9D8B030D-6E8A-4147-A177-3AD203B41FA5}">
                          <a16:colId xmlns:a16="http://schemas.microsoft.com/office/drawing/2014/main" xmlns="" val="3760331130"/>
                        </a:ext>
                      </a:extLst>
                    </a:gridCol>
                    <a:gridCol w="3830338">
                      <a:extLst>
                        <a:ext uri="{9D8B030D-6E8A-4147-A177-3AD203B41FA5}">
                          <a16:colId xmlns:a16="http://schemas.microsoft.com/office/drawing/2014/main" xmlns="" val="1029695036"/>
                        </a:ext>
                      </a:extLst>
                    </a:gridCol>
                  </a:tblGrid>
                  <a:tr h="3104185">
                    <a:tc>
                      <a:txBody>
                        <a:bodyPr/>
                        <a:lstStyle/>
                        <a:p>
                          <a:pPr marL="342900" marR="0" lvl="0" indent="-34290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Font typeface="Verdana" panose="020B0604030504040204" pitchFamily="34" charset="0"/>
                            <a:buAutoNum type="arabicPeriod"/>
                          </a:pPr>
                          <a:r>
                            <a:rPr lang="en-US" sz="18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Describe the relationship between two numbers that have the same absolute value.</a:t>
                          </a:r>
                        </a:p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/>
                          </a:r>
                          <a:br>
                            <a:rPr lang="en-US" sz="18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</a:br>
                          <a:endParaRPr lang="en-US" sz="18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  <a:p>
                          <a:pPr marL="0" marR="0" algn="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</a:p>
                        <a:p>
                          <a:pPr marL="0" marR="0" algn="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 </a:t>
                          </a:r>
                        </a:p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</a:p>
                        <a:p>
                          <a:pPr marL="0" marR="0" algn="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Initials: ______</a:t>
                          </a:r>
                        </a:p>
                      </a:txBody>
                      <a:tcPr marL="38698" marR="38698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342900" marR="0" lvl="0" indent="-34290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Font typeface="+mj-lt"/>
                            <a:buAutoNum type="arabicPeriod" startAt="2"/>
                          </a:pPr>
                          <a:r>
                            <a:rPr lang="en-US" sz="18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In an American football game, the offensive team makes gains or losses on each play. Gains are represented by positive values and losses by negative values. What does </a:t>
                          </a:r>
                          <a14:m>
                            <m:oMath xmlns:m="http://schemas.openxmlformats.org/officeDocument/2006/math">
                              <m:r>
                                <a:rPr lang="en-US" sz="1800" i="1" dirty="0" smtClean="0">
                                  <a:effectLst/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  <a:cs typeface="Verdana" panose="020B0604030504040204" pitchFamily="34" charset="0"/>
                                </a:rPr>
                                <m:t>0</m:t>
                              </m:r>
                            </m:oMath>
                          </a14:m>
                          <a:r>
                            <a:rPr lang="en-US" sz="18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 represent in this context?</a:t>
                          </a:r>
                        </a:p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/>
                          </a:r>
                          <a:br>
                            <a:rPr lang="en-US" sz="18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</a:br>
                          <a:endParaRPr lang="en-US" sz="18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  <a:p>
                          <a:pPr marL="0" marR="0" algn="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Initials: ______</a:t>
                          </a:r>
                        </a:p>
                      </a:txBody>
                      <a:tcPr marL="38698" marR="38698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3315112119"/>
                      </a:ext>
                    </a:extLst>
                  </a:tr>
                  <a:tr h="3333845">
                    <a:tc gridSpan="2">
                      <a:txBody>
                        <a:bodyPr/>
                        <a:lstStyle/>
                        <a:p>
                          <a:pPr marL="342900" marR="0" lvl="0" indent="-34290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Font typeface="+mj-lt"/>
                            <a:buAutoNum type="arabicPeriod" startAt="3"/>
                          </a:pPr>
                          <a:r>
                            <a:rPr lang="en-US" sz="18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Elijah, Noah, and Isabella live on the same street. The locations of their houses are modeled on the number line.</a:t>
                          </a:r>
                        </a:p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</a:p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</a:p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</a:p>
                        <a:p>
                          <a:pPr marL="44704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/>
                          </a:r>
                          <a:br>
                            <a:rPr lang="en-US" sz="18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</a:br>
                          <a:r>
                            <a:rPr lang="en-US" sz="18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Describe where they live relative to each other in two sentences. Include the words distance and absolute value.</a:t>
                          </a:r>
                        </a:p>
                        <a:p>
                          <a:pPr marL="0" marR="0" algn="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</a:p>
                        <a:p>
                          <a:pPr marL="0" marR="0" algn="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</a:p>
                        <a:p>
                          <a:pPr marL="0" marR="0" algn="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Initials: ______</a:t>
                          </a:r>
                        </a:p>
                      </a:txBody>
                      <a:tcPr marL="38698" marR="38698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xmlns="" val="1539583298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id="{3865B957-1544-0A4B-B3E1-959D15B3DBD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460909682"/>
                  </p:ext>
                </p:extLst>
              </p:nvPr>
            </p:nvGraphicFramePr>
            <p:xfrm>
              <a:off x="270626" y="89652"/>
              <a:ext cx="7006474" cy="6670345"/>
            </p:xfrm>
            <a:graphic>
              <a:graphicData uri="http://schemas.openxmlformats.org/drawingml/2006/table">
                <a:tbl>
                  <a:tblPr bandRow="1">
                    <a:tableStyleId>{A91F0D33-8C57-4600-99A7-42BC86742BE1}</a:tableStyleId>
                  </a:tblPr>
                  <a:tblGrid>
                    <a:gridCol w="3176136">
                      <a:extLst>
                        <a:ext uri="{9D8B030D-6E8A-4147-A177-3AD203B41FA5}">
                          <a16:colId xmlns:a16="http://schemas.microsoft.com/office/drawing/2014/main" val="3760331130"/>
                        </a:ext>
                      </a:extLst>
                    </a:gridCol>
                    <a:gridCol w="3830338">
                      <a:extLst>
                        <a:ext uri="{9D8B030D-6E8A-4147-A177-3AD203B41FA5}">
                          <a16:colId xmlns:a16="http://schemas.microsoft.com/office/drawing/2014/main" val="1029695036"/>
                        </a:ext>
                      </a:extLst>
                    </a:gridCol>
                  </a:tblGrid>
                  <a:tr h="3104185">
                    <a:tc>
                      <a:txBody>
                        <a:bodyPr/>
                        <a:lstStyle/>
                        <a:p>
                          <a:pPr marL="342900" marR="0" lvl="0" indent="-34290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Font typeface="Verdana" panose="020B0604030504040204" pitchFamily="34" charset="0"/>
                            <a:buAutoNum type="arabicPeriod"/>
                          </a:pPr>
                          <a:r>
                            <a:rPr lang="en-US" sz="18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Describe the relationship between two numbers that have the same absolute value.</a:t>
                          </a:r>
                        </a:p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br>
                            <a:rPr lang="en-US" sz="18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</a:br>
                          <a:endParaRPr lang="en-US" sz="18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  <a:p>
                          <a:pPr marL="0" marR="0" algn="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</a:p>
                        <a:p>
                          <a:pPr marL="0" marR="0" algn="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 </a:t>
                          </a:r>
                        </a:p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</a:p>
                        <a:p>
                          <a:pPr marL="0" marR="0" algn="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Initials: ______</a:t>
                          </a:r>
                        </a:p>
                      </a:txBody>
                      <a:tcPr marL="38698" marR="38698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38698" marR="38698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83113" t="-2449" r="-662" b="-11918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15112119"/>
                      </a:ext>
                    </a:extLst>
                  </a:tr>
                  <a:tr h="3566160">
                    <a:tc gridSpan="2">
                      <a:txBody>
                        <a:bodyPr/>
                        <a:lstStyle/>
                        <a:p>
                          <a:pPr marL="342900" marR="0" lvl="0" indent="-34290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Font typeface="+mj-lt"/>
                            <a:buAutoNum type="arabicPeriod" startAt="3"/>
                          </a:pPr>
                          <a:r>
                            <a:rPr lang="en-US" sz="18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Elijah, Noah, and Isabella live on the same street. The locations of their houses are modeled on the number line.</a:t>
                          </a:r>
                        </a:p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</a:p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</a:p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</a:p>
                        <a:p>
                          <a:pPr marL="44704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br>
                            <a:rPr lang="en-US" sz="18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</a:br>
                          <a:r>
                            <a:rPr lang="en-US" sz="18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Describe where they live relative to each other in two sentences. Include the words distance and absolute value.</a:t>
                          </a:r>
                        </a:p>
                        <a:p>
                          <a:pPr marL="0" marR="0" algn="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</a:p>
                        <a:p>
                          <a:pPr marL="0" marR="0" algn="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</a:p>
                        <a:p>
                          <a:pPr marL="0" marR="0" algn="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Initials: ______</a:t>
                          </a:r>
                        </a:p>
                      </a:txBody>
                      <a:tcPr marL="38698" marR="38698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539583298"/>
                      </a:ext>
                    </a:extLst>
                  </a:tr>
                </a:tbl>
              </a:graphicData>
            </a:graphic>
          </p:graphicFrame>
        </mc:Fallback>
      </mc:AlternateContent>
      <p:pic>
        <p:nvPicPr>
          <p:cNvPr id="5" name="Picture 4" descr="Chart, box and whisker chart&#10;&#10;Description automatically generated">
            <a:extLst>
              <a:ext uri="{FF2B5EF4-FFF2-40B4-BE49-F238E27FC236}">
                <a16:creationId xmlns:a16="http://schemas.microsoft.com/office/drawing/2014/main" xmlns="" id="{2DBA9728-B06C-F647-996F-1B387E15B7A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57500" y="3803650"/>
            <a:ext cx="5156200" cy="1181100"/>
          </a:xfrm>
          <a:prstGeom prst="rect">
            <a:avLst/>
          </a:prstGeom>
        </p:spPr>
      </p:pic>
      <p:sp>
        <p:nvSpPr>
          <p:cNvPr id="7" name="Google Shape;282;g104476d1465_1_17"/>
          <p:cNvSpPr txBox="1"/>
          <p:nvPr/>
        </p:nvSpPr>
        <p:spPr>
          <a:xfrm>
            <a:off x="8663102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117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" name="Google Shape;283;g104476d1465_1_17"/>
          <p:cNvPicPr preferRelativeResize="0"/>
          <p:nvPr/>
        </p:nvPicPr>
        <p:blipFill>
          <a:blip r:embed="rId6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01328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5982330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FCBD1E"/>
          </a:solidFill>
          <a:ln w="9525" cap="flat" cmpd="sng">
            <a:solidFill>
              <a:srgbClr val="FCBD1E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844350" y="2766145"/>
            <a:ext cx="439693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Exploration</a:t>
            </a:r>
            <a:endParaRPr sz="5100" b="1" dirty="0">
              <a:solidFill>
                <a:srgbClr val="33BEA6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1026" name="Picture 2" descr="Icon&#10;&#10;Description automatically generated">
            <a:extLst>
              <a:ext uri="{FF2B5EF4-FFF2-40B4-BE49-F238E27FC236}">
                <a16:creationId xmlns:a16="http://schemas.microsoft.com/office/drawing/2014/main" xmlns="" id="{467567E5-BEAF-E24A-A492-D25759172D7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630950" y="2814305"/>
            <a:ext cx="1156228" cy="1156228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Google Shape;282;g104476d1465_1_17"/>
          <p:cNvSpPr txBox="1"/>
          <p:nvPr/>
        </p:nvSpPr>
        <p:spPr>
          <a:xfrm>
            <a:off x="8663102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118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01328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419697153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324;g103996e1364_0_25">
            <a:extLst>
              <a:ext uri="{FF2B5EF4-FFF2-40B4-BE49-F238E27FC236}">
                <a16:creationId xmlns:a16="http://schemas.microsoft.com/office/drawing/2014/main" xmlns="" id="{DB5796CA-12EB-BB4C-8338-B127D750A026}"/>
              </a:ext>
            </a:extLst>
          </p:cNvPr>
          <p:cNvSpPr txBox="1">
            <a:spLocks/>
          </p:cNvSpPr>
          <p:nvPr/>
        </p:nvSpPr>
        <p:spPr>
          <a:xfrm>
            <a:off x="1428509" y="60325"/>
            <a:ext cx="80193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</a:pPr>
            <a:r>
              <a:rPr lang="en-US" sz="28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3.8.2 Exploration: Comparing and Interpreting Absolute Value in Context</a:t>
            </a:r>
          </a:p>
        </p:txBody>
      </p:sp>
      <p:pic>
        <p:nvPicPr>
          <p:cNvPr id="7" name="Picture 2" descr="Icon&#10;&#10;Description automatically generated">
            <a:extLst>
              <a:ext uri="{FF2B5EF4-FFF2-40B4-BE49-F238E27FC236}">
                <a16:creationId xmlns:a16="http://schemas.microsoft.com/office/drawing/2014/main" xmlns="" id="{A741EC39-D81C-A945-833B-CFC11AA40A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672211" y="308450"/>
            <a:ext cx="752254" cy="752254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xmlns="" id="{152D1D4D-DCB8-A246-B186-D40316579D77}"/>
                  </a:ext>
                </a:extLst>
              </p:cNvPr>
              <p:cNvSpPr txBox="1"/>
              <p:nvPr/>
            </p:nvSpPr>
            <p:spPr>
              <a:xfrm>
                <a:off x="1424465" y="1386025"/>
                <a:ext cx="9599102" cy="304698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Recall this scenario from the Warm-Up with some additional information.</a:t>
                </a:r>
              </a:p>
              <a:p>
                <a:pPr marL="457200" indent="-457200">
                  <a:buFont typeface="+mj-lt"/>
                  <a:buAutoNum type="arabicPeriod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65138"/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Elijah, Noah, and Isabella live on the same street that runs west to east. The locations of their houses are modeled on the number line, where each unit represents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1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kilometer.</a:t>
                </a:r>
              </a:p>
              <a:p>
                <a:pPr marL="457200" indent="-457200">
                  <a:buFont typeface="+mj-lt"/>
                  <a:buAutoNum type="arabicPeriod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152D1D4D-DCB8-A246-B186-D40316579D7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24465" y="1386025"/>
                <a:ext cx="9599102" cy="3046988"/>
              </a:xfrm>
              <a:prstGeom prst="rect">
                <a:avLst/>
              </a:prstGeom>
              <a:blipFill rotWithShape="0">
                <a:blip r:embed="rId4"/>
                <a:stretch>
                  <a:fillRect l="-1017" t="-1600" r="-6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Google Shape;278;g104476d1465_1_17">
            <a:extLst>
              <a:ext uri="{FF2B5EF4-FFF2-40B4-BE49-F238E27FC236}">
                <a16:creationId xmlns:a16="http://schemas.microsoft.com/office/drawing/2014/main" xmlns="" id="{6200F4BF-3C27-A748-A63E-5BC45D572750}"/>
              </a:ext>
            </a:extLst>
          </p:cNvPr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FCBD1E"/>
          </a:solidFill>
          <a:ln w="9525" cap="flat" cmpd="sng">
            <a:solidFill>
              <a:srgbClr val="FCBD1E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" name="Picture 2" descr="Chart, box and whisker chart&#10;&#10;Description automatically generated">
            <a:extLst>
              <a:ext uri="{FF2B5EF4-FFF2-40B4-BE49-F238E27FC236}">
                <a16:creationId xmlns:a16="http://schemas.microsoft.com/office/drawing/2014/main" xmlns="" id="{B52F91CC-4C5C-1944-8DB6-710CE0F7039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39706" y="4584095"/>
            <a:ext cx="6018784" cy="1378687"/>
          </a:xfrm>
          <a:prstGeom prst="rect">
            <a:avLst/>
          </a:prstGeom>
        </p:spPr>
      </p:pic>
      <p:sp>
        <p:nvSpPr>
          <p:cNvPr id="11" name="Text Box 27">
            <a:extLst>
              <a:ext uri="{FF2B5EF4-FFF2-40B4-BE49-F238E27FC236}">
                <a16:creationId xmlns:a16="http://schemas.microsoft.com/office/drawing/2014/main" xmlns="" id="{33520218-D7C3-5F41-BBF8-E087EA2CFEEB}"/>
              </a:ext>
            </a:extLst>
          </p:cNvPr>
          <p:cNvSpPr txBox="1"/>
          <p:nvPr/>
        </p:nvSpPr>
        <p:spPr>
          <a:xfrm>
            <a:off x="9258491" y="5465756"/>
            <a:ext cx="847725" cy="444500"/>
          </a:xfrm>
          <a:prstGeom prst="rect">
            <a:avLst/>
          </a:prstGeom>
          <a:solidFill>
            <a:schemeClr val="lt1"/>
          </a:solidFill>
          <a:ln w="6350">
            <a:noFill/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spcAft>
                <a:spcPts val="1000"/>
              </a:spcAft>
            </a:pPr>
            <a:r>
              <a:rPr lang="en-US" dirty="0">
                <a:latin typeface="Verdana" panose="020B0604030504040204" pitchFamily="34" charset="0"/>
                <a:ea typeface="Times New Roman" panose="02020603050405020304" pitchFamily="18" charset="0"/>
                <a:cs typeface="Cambria" panose="02040503050406030204" pitchFamily="18" charset="0"/>
              </a:rPr>
              <a:t>EAST</a:t>
            </a:r>
            <a:endParaRPr lang="en-US" sz="1200" dirty="0">
              <a:latin typeface="Cambria" panose="02040503050406030204" pitchFamily="18" charset="0"/>
              <a:ea typeface="Times New Roman" panose="02020603050405020304" pitchFamily="18" charset="0"/>
              <a:cs typeface="Cambria" panose="02040503050406030204" pitchFamily="18" charset="0"/>
            </a:endParaRPr>
          </a:p>
        </p:txBody>
      </p:sp>
      <p:sp>
        <p:nvSpPr>
          <p:cNvPr id="12" name="Text Box 26">
            <a:extLst>
              <a:ext uri="{FF2B5EF4-FFF2-40B4-BE49-F238E27FC236}">
                <a16:creationId xmlns:a16="http://schemas.microsoft.com/office/drawing/2014/main" xmlns="" id="{F45EA450-D0AF-854A-B82D-5C9144D0730C}"/>
              </a:ext>
            </a:extLst>
          </p:cNvPr>
          <p:cNvSpPr txBox="1"/>
          <p:nvPr/>
        </p:nvSpPr>
        <p:spPr>
          <a:xfrm>
            <a:off x="2515806" y="5471975"/>
            <a:ext cx="723900" cy="444500"/>
          </a:xfrm>
          <a:prstGeom prst="rect">
            <a:avLst/>
          </a:prstGeom>
          <a:solidFill>
            <a:schemeClr val="lt1"/>
          </a:solidFill>
          <a:ln w="6350">
            <a:noFill/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spcAft>
                <a:spcPts val="1000"/>
              </a:spcAft>
            </a:pPr>
            <a:r>
              <a:rPr lang="en-US" dirty="0">
                <a:latin typeface="Verdana" panose="020B0604030504040204" pitchFamily="34" charset="0"/>
                <a:ea typeface="Times New Roman" panose="02020603050405020304" pitchFamily="18" charset="0"/>
                <a:cs typeface="Cambria" panose="02040503050406030204" pitchFamily="18" charset="0"/>
              </a:rPr>
              <a:t>WEST</a:t>
            </a:r>
            <a:endParaRPr lang="en-US" sz="1200" dirty="0">
              <a:latin typeface="Cambria" panose="02040503050406030204" pitchFamily="18" charset="0"/>
              <a:ea typeface="Times New Roman" panose="02020603050405020304" pitchFamily="18" charset="0"/>
              <a:cs typeface="Cambria" panose="02040503050406030204" pitchFamily="18" charset="0"/>
            </a:endParaRPr>
          </a:p>
        </p:txBody>
      </p:sp>
      <p:sp>
        <p:nvSpPr>
          <p:cNvPr id="13" name="Google Shape;282;g104476d1465_1_17"/>
          <p:cNvSpPr txBox="1"/>
          <p:nvPr/>
        </p:nvSpPr>
        <p:spPr>
          <a:xfrm>
            <a:off x="8663102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118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" name="Google Shape;283;g104476d1465_1_17"/>
          <p:cNvPicPr preferRelativeResize="0"/>
          <p:nvPr/>
        </p:nvPicPr>
        <p:blipFill>
          <a:blip r:embed="rId6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01328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23524808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xmlns="" id="{B74EB5C6-2FDE-474B-866F-02AD6706D73C}"/>
                  </a:ext>
                </a:extLst>
              </p:cNvPr>
              <p:cNvSpPr txBox="1"/>
              <p:nvPr/>
            </p:nvSpPr>
            <p:spPr>
              <a:xfrm>
                <a:off x="1162373" y="374090"/>
                <a:ext cx="10017920" cy="489364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917575" indent="-452438">
                  <a:buFont typeface="+mj-lt"/>
                  <a:buAutoNum type="alphaLcPeriod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Noah’s house is located at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0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on the number line model. Represent the distance from Noah’s house to both Isabella’s house and Elijah’s house using absolute value.</a:t>
                </a:r>
              </a:p>
              <a:p>
                <a:pPr marL="917575" indent="-452438">
                  <a:buFont typeface="+mj-lt"/>
                  <a:buAutoNum type="alphaLcPeriod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7575" indent="-452438">
                  <a:buFont typeface="+mj-lt"/>
                  <a:buAutoNum type="alphaLcPeriod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7575" indent="-452438">
                  <a:buFont typeface="+mj-lt"/>
                  <a:buAutoNum type="alphaLcPeriod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7575" indent="-452438">
                  <a:buFont typeface="+mj-lt"/>
                  <a:buAutoNum type="alphaLcPeriod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7575" indent="-452438">
                  <a:buFont typeface="+mj-lt"/>
                  <a:buAutoNum type="alphaLcPeriod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7575" indent="-452438">
                  <a:buFont typeface="+mj-lt"/>
                  <a:buAutoNum type="alphaLcPeriod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7575" indent="-452438">
                  <a:buFont typeface="+mj-lt"/>
                  <a:buAutoNum type="alphaLcPeriod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7575" indent="-452438">
                  <a:buFont typeface="+mj-lt"/>
                  <a:buAutoNum type="alphaLcPeriod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How do the absolute values in the table compare to each other?</a:t>
                </a:r>
              </a:p>
              <a:p>
                <a:pPr marL="917575" indent="-452438">
                  <a:buFont typeface="+mj-lt"/>
                  <a:buAutoNum type="alphaLcPeriod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B74EB5C6-2FDE-474B-866F-02AD6706D7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62373" y="374090"/>
                <a:ext cx="10017920" cy="4893647"/>
              </a:xfrm>
              <a:prstGeom prst="rect">
                <a:avLst/>
              </a:prstGeom>
              <a:blipFill rotWithShape="0">
                <a:blip r:embed="rId3"/>
                <a:stretch>
                  <a:fillRect t="-1121" r="-60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Google Shape;278;g104476d1465_1_17">
            <a:extLst>
              <a:ext uri="{FF2B5EF4-FFF2-40B4-BE49-F238E27FC236}">
                <a16:creationId xmlns:a16="http://schemas.microsoft.com/office/drawing/2014/main" xmlns="" id="{B7C7682D-5C91-9243-8900-6899F3FEF344}"/>
              </a:ext>
            </a:extLst>
          </p:cNvPr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FCBD1E"/>
          </a:solidFill>
          <a:ln w="9525" cap="flat" cmpd="sng">
            <a:solidFill>
              <a:srgbClr val="FCBD1E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" name="Table 1">
                <a:extLst>
                  <a:ext uri="{FF2B5EF4-FFF2-40B4-BE49-F238E27FC236}">
                    <a16:creationId xmlns:a16="http://schemas.microsoft.com/office/drawing/2014/main" xmlns="" id="{7C47028C-8F32-9E46-B014-526F6DC2AC79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115001982"/>
                  </p:ext>
                </p:extLst>
              </p:nvPr>
            </p:nvGraphicFramePr>
            <p:xfrm>
              <a:off x="3147900" y="2238562"/>
              <a:ext cx="6800850" cy="1308100"/>
            </p:xfrm>
            <a:graphic>
              <a:graphicData uri="http://schemas.openxmlformats.org/drawingml/2006/table">
                <a:tbl>
                  <a:tblPr bandRow="1">
                    <a:tableStyleId>{A91F0D33-8C57-4600-99A7-42BC86742BE1}</a:tableStyleId>
                  </a:tblPr>
                  <a:tblGrid>
                    <a:gridCol w="2000250">
                      <a:extLst>
                        <a:ext uri="{9D8B030D-6E8A-4147-A177-3AD203B41FA5}">
                          <a16:colId xmlns:a16="http://schemas.microsoft.com/office/drawing/2014/main" xmlns="" val="3720522092"/>
                        </a:ext>
                      </a:extLst>
                    </a:gridCol>
                    <a:gridCol w="2288540">
                      <a:extLst>
                        <a:ext uri="{9D8B030D-6E8A-4147-A177-3AD203B41FA5}">
                          <a16:colId xmlns:a16="http://schemas.microsoft.com/office/drawing/2014/main" xmlns="" val="738567214"/>
                        </a:ext>
                      </a:extLst>
                    </a:gridCol>
                    <a:gridCol w="2512060">
                      <a:extLst>
                        <a:ext uri="{9D8B030D-6E8A-4147-A177-3AD203B41FA5}">
                          <a16:colId xmlns:a16="http://schemas.microsoft.com/office/drawing/2014/main" xmlns="" val="3208647487"/>
                        </a:ext>
                      </a:extLst>
                    </a:gridCol>
                  </a:tblGrid>
                  <a:tr h="3937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</a:p>
                      </a:txBody>
                      <a:tcPr marL="68580" marR="68580" marT="0" marB="0" anchor="ctr">
                        <a:lnL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Elijah’s House</a:t>
                          </a: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Isabella’s House</a:t>
                          </a: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3873367411"/>
                      </a:ext>
                    </a:extLst>
                  </a:tr>
                  <a:tr h="536575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Distance from Noah’s House </a:t>
                          </a: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d>
                                  <m:dPr>
                                    <m:begChr m:val="|"/>
                                    <m:endChr m:val="|"/>
                                    <m:ctrlPr>
                                      <a:rPr lang="en-US" sz="2000" i="1" smtClean="0">
                                        <a:effectLst/>
                                        <a:latin typeface="Cambria Math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__</m:t>
                                    </m:r>
                                    <m:r>
                                      <a:rPr lang="en-US" sz="2000" b="0" i="0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_</m:t>
                                    </m:r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_____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d>
                                  <m:dPr>
                                    <m:begChr m:val="|"/>
                                    <m:endChr m:val="|"/>
                                    <m:ctrlPr>
                                      <a:rPr lang="en-US" sz="2000" i="1" smtClean="0">
                                        <a:effectLst/>
                                        <a:latin typeface="Cambria Math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___</m:t>
                                    </m:r>
                                    <m:r>
                                      <a:rPr lang="en-US" sz="2000" b="0" i="0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_</m:t>
                                    </m:r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____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3927756457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" name="Table 1">
                <a:extLst>
                  <a:ext uri="{FF2B5EF4-FFF2-40B4-BE49-F238E27FC236}">
                    <a16:creationId xmlns:a16="http://schemas.microsoft.com/office/drawing/2014/main" id="{7C47028C-8F32-9E46-B014-526F6DC2AC79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115001982"/>
                  </p:ext>
                </p:extLst>
              </p:nvPr>
            </p:nvGraphicFramePr>
            <p:xfrm>
              <a:off x="1623900" y="2238562"/>
              <a:ext cx="6800850" cy="1308100"/>
            </p:xfrm>
            <a:graphic>
              <a:graphicData uri="http://schemas.openxmlformats.org/drawingml/2006/table">
                <a:tbl>
                  <a:tblPr bandRow="1">
                    <a:tableStyleId>{A91F0D33-8C57-4600-99A7-42BC86742BE1}</a:tableStyleId>
                  </a:tblPr>
                  <a:tblGrid>
                    <a:gridCol w="2000250">
                      <a:extLst>
                        <a:ext uri="{9D8B030D-6E8A-4147-A177-3AD203B41FA5}">
                          <a16:colId xmlns:a16="http://schemas.microsoft.com/office/drawing/2014/main" val="3720522092"/>
                        </a:ext>
                      </a:extLst>
                    </a:gridCol>
                    <a:gridCol w="2288540">
                      <a:extLst>
                        <a:ext uri="{9D8B030D-6E8A-4147-A177-3AD203B41FA5}">
                          <a16:colId xmlns:a16="http://schemas.microsoft.com/office/drawing/2014/main" val="738567214"/>
                        </a:ext>
                      </a:extLst>
                    </a:gridCol>
                    <a:gridCol w="2512060">
                      <a:extLst>
                        <a:ext uri="{9D8B030D-6E8A-4147-A177-3AD203B41FA5}">
                          <a16:colId xmlns:a16="http://schemas.microsoft.com/office/drawing/2014/main" val="3208647487"/>
                        </a:ext>
                      </a:extLst>
                    </a:gridCol>
                  </a:tblGrid>
                  <a:tr h="3937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</a:p>
                      </a:txBody>
                      <a:tcPr marL="68580" marR="68580" marT="0" marB="0" anchor="ctr">
                        <a:lnL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Elijah’s House</a:t>
                          </a: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Isabella’s House</a:t>
                          </a: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873367411"/>
                      </a:ext>
                    </a:extLst>
                  </a:tr>
                  <a:tr h="9144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Distance from Noah’s House </a:t>
                          </a: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87293" t="-46575" r="-109945" b="-1643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171212" t="-46575" r="-505" b="-1643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27756457"/>
                      </a:ext>
                    </a:extLst>
                  </a:tr>
                </a:tbl>
              </a:graphicData>
            </a:graphic>
          </p:graphicFrame>
        </mc:Fallback>
      </mc:AlternateContent>
      <p:pic>
        <p:nvPicPr>
          <p:cNvPr id="4" name="Picture 3" descr="A picture containing icon&#10;&#10;Description automatically generated">
            <a:extLst>
              <a:ext uri="{FF2B5EF4-FFF2-40B4-BE49-F238E27FC236}">
                <a16:creationId xmlns:a16="http://schemas.microsoft.com/office/drawing/2014/main" xmlns="" id="{9F6BC07B-51D3-9344-8B37-05506C572A4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64733" y="5172218"/>
            <a:ext cx="4013200" cy="1028383"/>
          </a:xfrm>
          <a:prstGeom prst="rect">
            <a:avLst/>
          </a:prstGeom>
        </p:spPr>
      </p:pic>
      <p:sp>
        <p:nvSpPr>
          <p:cNvPr id="8" name="Google Shape;282;g104476d1465_1_17"/>
          <p:cNvSpPr txBox="1"/>
          <p:nvPr/>
        </p:nvSpPr>
        <p:spPr>
          <a:xfrm>
            <a:off x="8663102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118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283;g104476d1465_1_17"/>
          <p:cNvPicPr preferRelativeResize="0"/>
          <p:nvPr/>
        </p:nvPicPr>
        <p:blipFill>
          <a:blip r:embed="rId7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01328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68783482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xmlns="" id="{8AE5E1E0-A54D-BE42-84B5-F917038ADE99}"/>
              </a:ext>
            </a:extLst>
          </p:cNvPr>
          <p:cNvSpPr txBox="1"/>
          <p:nvPr/>
        </p:nvSpPr>
        <p:spPr>
          <a:xfrm>
            <a:off x="1932432" y="288745"/>
            <a:ext cx="8327136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17575" indent="-452438">
              <a:buFont typeface="+mj-lt"/>
              <a:buAutoNum type="alphaLcPeriod" startAt="3"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Isabella lives _____ kilometers to the        </a:t>
            </a:r>
          </a:p>
          <a:p>
            <a:pPr marL="917575" indent="-452438">
              <a:buFont typeface="+mj-lt"/>
              <a:buAutoNum type="alphaLcPeriod" startAt="3"/>
            </a:pPr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17575"/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of Noah. Elijah lives ______ kilometers to the        </a:t>
            </a:r>
          </a:p>
          <a:p>
            <a:pPr marL="917575"/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17575"/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            of Noah. Isabella lives                 </a:t>
            </a:r>
          </a:p>
          <a:p>
            <a:pPr marL="917575"/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17575"/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Noah than Elijah does.</a:t>
            </a:r>
          </a:p>
          <a:p>
            <a:pPr marL="457200" indent="-457200">
              <a:buFont typeface="+mj-lt"/>
              <a:buAutoNum type="alphaLcPeriod" startAt="3"/>
            </a:pPr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6" name="Google Shape;278;g104476d1465_1_17">
            <a:extLst>
              <a:ext uri="{FF2B5EF4-FFF2-40B4-BE49-F238E27FC236}">
                <a16:creationId xmlns:a16="http://schemas.microsoft.com/office/drawing/2014/main" xmlns="" id="{D132551E-02DD-6A43-9F52-A70D434DE096}"/>
              </a:ext>
            </a:extLst>
          </p:cNvPr>
          <p:cNvSpPr/>
          <p:nvPr/>
        </p:nvSpPr>
        <p:spPr>
          <a:xfrm>
            <a:off x="0" y="-8226"/>
            <a:ext cx="223200" cy="6866100"/>
          </a:xfrm>
          <a:prstGeom prst="rect">
            <a:avLst/>
          </a:prstGeom>
          <a:solidFill>
            <a:srgbClr val="FCBD1E"/>
          </a:solidFill>
          <a:ln w="9525" cap="flat" cmpd="sng">
            <a:solidFill>
              <a:srgbClr val="FCBD1E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" name="Picture 2" descr="Shape&#10;&#10;Description automatically generated with medium confidence">
            <a:extLst>
              <a:ext uri="{FF2B5EF4-FFF2-40B4-BE49-F238E27FC236}">
                <a16:creationId xmlns:a16="http://schemas.microsoft.com/office/drawing/2014/main" xmlns="" id="{31AFDB26-7668-694C-9E37-D4CCDB539370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7804"/>
          <a:stretch/>
        </p:blipFill>
        <p:spPr>
          <a:xfrm>
            <a:off x="8862568" y="61318"/>
            <a:ext cx="1397000" cy="884621"/>
          </a:xfrm>
          <a:prstGeom prst="rect">
            <a:avLst/>
          </a:prstGeom>
        </p:spPr>
      </p:pic>
      <p:pic>
        <p:nvPicPr>
          <p:cNvPr id="8" name="Picture 7" descr="Shape&#10;&#10;Description automatically generated with medium confidence">
            <a:extLst>
              <a:ext uri="{FF2B5EF4-FFF2-40B4-BE49-F238E27FC236}">
                <a16:creationId xmlns:a16="http://schemas.microsoft.com/office/drawing/2014/main" xmlns="" id="{F47836B7-4BE8-EB47-BEE8-5B74041B809C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7804"/>
          <a:stretch/>
        </p:blipFill>
        <p:spPr>
          <a:xfrm>
            <a:off x="2842768" y="1509118"/>
            <a:ext cx="1397000" cy="884621"/>
          </a:xfrm>
          <a:prstGeom prst="rect">
            <a:avLst/>
          </a:prstGeom>
        </p:spPr>
      </p:pic>
      <p:pic>
        <p:nvPicPr>
          <p:cNvPr id="7" name="Picture 6" descr="A picture containing text&#10;&#10;Description automatically generated">
            <a:extLst>
              <a:ext uri="{FF2B5EF4-FFF2-40B4-BE49-F238E27FC236}">
                <a16:creationId xmlns:a16="http://schemas.microsoft.com/office/drawing/2014/main" xmlns="" id="{EF0BED10-B9D9-C840-B774-476159B2A11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84320" y="1603242"/>
            <a:ext cx="2268656" cy="989959"/>
          </a:xfrm>
          <a:prstGeom prst="rect">
            <a:avLst/>
          </a:prstGeom>
        </p:spPr>
      </p:pic>
      <p:sp>
        <p:nvSpPr>
          <p:cNvPr id="9" name="Google Shape;282;g104476d1465_1_17"/>
          <p:cNvSpPr txBox="1"/>
          <p:nvPr/>
        </p:nvSpPr>
        <p:spPr>
          <a:xfrm>
            <a:off x="8663102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118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" name="Google Shape;283;g104476d1465_1_17"/>
          <p:cNvPicPr preferRelativeResize="0"/>
          <p:nvPr/>
        </p:nvPicPr>
        <p:blipFill>
          <a:blip r:embed="rId5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01328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21542873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FCBD1E"/>
          </a:solidFill>
          <a:ln w="9525" cap="flat" cmpd="sng">
            <a:solidFill>
              <a:srgbClr val="FCBD1E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664867" y="2766145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Guided Instruction</a:t>
            </a:r>
            <a:endParaRPr sz="5100" b="1" dirty="0">
              <a:solidFill>
                <a:srgbClr val="54B5D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7" name="Google Shape;338;g103996e1364_0_315">
            <a:extLst>
              <a:ext uri="{FF2B5EF4-FFF2-40B4-BE49-F238E27FC236}">
                <a16:creationId xmlns:a16="http://schemas.microsoft.com/office/drawing/2014/main" xmlns="" id="{2AC58C8F-2DD8-F347-9ECA-58EE9E1B7E9C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519075" y="2849920"/>
            <a:ext cx="1145792" cy="115815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9" name="Google Shape;282;g104476d1465_1_17"/>
          <p:cNvSpPr txBox="1"/>
          <p:nvPr/>
        </p:nvSpPr>
        <p:spPr>
          <a:xfrm>
            <a:off x="8663102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118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01328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70261244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343;g103996e1364_0_321">
            <a:extLst>
              <a:ext uri="{FF2B5EF4-FFF2-40B4-BE49-F238E27FC236}">
                <a16:creationId xmlns:a16="http://schemas.microsoft.com/office/drawing/2014/main" xmlns="" id="{21B1DF8E-16A0-FA4E-8CEB-434668DFA68D}"/>
              </a:ext>
            </a:extLst>
          </p:cNvPr>
          <p:cNvSpPr txBox="1">
            <a:spLocks/>
          </p:cNvSpPr>
          <p:nvPr/>
        </p:nvSpPr>
        <p:spPr>
          <a:xfrm>
            <a:off x="1295484" y="-19719"/>
            <a:ext cx="80193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</a:pPr>
            <a:r>
              <a:rPr lang="en-US" sz="36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3.8.3 Guided Instruction: Comparing Absolute Values</a:t>
            </a:r>
          </a:p>
        </p:txBody>
      </p:sp>
      <p:pic>
        <p:nvPicPr>
          <p:cNvPr id="9" name="Google Shape;345;g103996e1364_0_321">
            <a:extLst>
              <a:ext uri="{FF2B5EF4-FFF2-40B4-BE49-F238E27FC236}">
                <a16:creationId xmlns:a16="http://schemas.microsoft.com/office/drawing/2014/main" xmlns="" id="{CBDD45DF-949B-9F42-BFF6-A7167F0CF795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184" y="187545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xmlns="" id="{C01B13E8-EC8D-E443-A329-C5E3593DD13A}"/>
                  </a:ext>
                </a:extLst>
              </p:cNvPr>
              <p:cNvSpPr txBox="1"/>
              <p:nvPr/>
            </p:nvSpPr>
            <p:spPr>
              <a:xfrm>
                <a:off x="1100380" y="1386025"/>
                <a:ext cx="9287204" cy="415498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A number line is shown with the integers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−7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−5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−3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2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4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, and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5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plotted.</a:t>
                </a:r>
              </a:p>
              <a:p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Discuss with your partner which statements are true. Be prepared to explain your thinking.</a:t>
                </a:r>
              </a:p>
              <a:p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C01B13E8-EC8D-E443-A329-C5E3593DD13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00380" y="1386025"/>
                <a:ext cx="9287204" cy="4154984"/>
              </a:xfrm>
              <a:prstGeom prst="rect">
                <a:avLst/>
              </a:prstGeom>
              <a:blipFill rotWithShape="0">
                <a:blip r:embed="rId4"/>
                <a:stretch>
                  <a:fillRect l="-1051" t="-1320" r="-2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Google Shape;278;g104476d1465_1_17">
            <a:extLst>
              <a:ext uri="{FF2B5EF4-FFF2-40B4-BE49-F238E27FC236}">
                <a16:creationId xmlns:a16="http://schemas.microsoft.com/office/drawing/2014/main" xmlns="" id="{F7A98FFB-A3E6-7642-B96E-3A3B8C27BD7F}"/>
              </a:ext>
            </a:extLst>
          </p:cNvPr>
          <p:cNvSpPr/>
          <p:nvPr/>
        </p:nvSpPr>
        <p:spPr>
          <a:xfrm>
            <a:off x="0" y="-8226"/>
            <a:ext cx="223200" cy="6866100"/>
          </a:xfrm>
          <a:prstGeom prst="rect">
            <a:avLst/>
          </a:prstGeom>
          <a:solidFill>
            <a:srgbClr val="FCBD1E"/>
          </a:solidFill>
          <a:ln w="9525" cap="flat" cmpd="sng">
            <a:solidFill>
              <a:srgbClr val="FCBD1E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C9FB2C23-2D7A-BA41-9942-0F9077D52D7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04416" y="2675377"/>
            <a:ext cx="8788400" cy="788141"/>
          </a:xfrm>
          <a:prstGeom prst="rect">
            <a:avLst/>
          </a:prstGeom>
        </p:spPr>
      </p:pic>
      <p:sp>
        <p:nvSpPr>
          <p:cNvPr id="10" name="Google Shape;282;g104476d1465_1_17"/>
          <p:cNvSpPr txBox="1"/>
          <p:nvPr/>
        </p:nvSpPr>
        <p:spPr>
          <a:xfrm>
            <a:off x="8663102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118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" name="Google Shape;283;g104476d1465_1_17"/>
          <p:cNvPicPr preferRelativeResize="0"/>
          <p:nvPr/>
        </p:nvPicPr>
        <p:blipFill>
          <a:blip r:embed="rId6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01328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90245789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xmlns="" id="{8AE5E1E0-A54D-BE42-84B5-F917038ADE99}"/>
                  </a:ext>
                </a:extLst>
              </p:cNvPr>
              <p:cNvSpPr txBox="1"/>
              <p:nvPr/>
            </p:nvSpPr>
            <p:spPr>
              <a:xfrm>
                <a:off x="1131376" y="288746"/>
                <a:ext cx="9929248" cy="563231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 startAt="2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 startAt="2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 startAt="2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 startAt="2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 startAt="2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 startAt="2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 startAt="2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 startAt="2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 startAt="2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 startAt="2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 startAt="2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 startAt="2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 startAt="2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 startAt="2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Does the comparison of 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−7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−3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match the comparison of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|−7|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|−3|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?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8AE5E1E0-A54D-BE42-84B5-F917038ADE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31376" y="288746"/>
                <a:ext cx="9929248" cy="5632311"/>
              </a:xfrm>
              <a:prstGeom prst="rect">
                <a:avLst/>
              </a:prstGeom>
              <a:blipFill rotWithShape="0">
                <a:blip r:embed="rId3"/>
                <a:stretch>
                  <a:fillRect l="-983" b="-140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Google Shape;278;g104476d1465_1_17">
            <a:extLst>
              <a:ext uri="{FF2B5EF4-FFF2-40B4-BE49-F238E27FC236}">
                <a16:creationId xmlns:a16="http://schemas.microsoft.com/office/drawing/2014/main" xmlns="" id="{D132551E-02DD-6A43-9F52-A70D434DE096}"/>
              </a:ext>
            </a:extLst>
          </p:cNvPr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FCBD1E"/>
          </a:solidFill>
          <a:ln w="9525" cap="flat" cmpd="sng">
            <a:solidFill>
              <a:srgbClr val="FCBD1E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" name="Table 1">
                <a:extLst>
                  <a:ext uri="{FF2B5EF4-FFF2-40B4-BE49-F238E27FC236}">
                    <a16:creationId xmlns:a16="http://schemas.microsoft.com/office/drawing/2014/main" xmlns="" id="{1FAAB875-364F-4844-ABAF-D91F184546D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555367"/>
                  </p:ext>
                </p:extLst>
              </p:nvPr>
            </p:nvGraphicFramePr>
            <p:xfrm>
              <a:off x="2866565" y="288746"/>
              <a:ext cx="6458871" cy="4351339"/>
            </p:xfrm>
            <a:graphic>
              <a:graphicData uri="http://schemas.openxmlformats.org/drawingml/2006/table">
                <a:tbl>
                  <a:tblPr bandRow="1">
                    <a:tableStyleId>{A91F0D33-8C57-4600-99A7-42BC86742BE1}</a:tableStyleId>
                  </a:tblPr>
                  <a:tblGrid>
                    <a:gridCol w="2061036">
                      <a:extLst>
                        <a:ext uri="{9D8B030D-6E8A-4147-A177-3AD203B41FA5}">
                          <a16:colId xmlns:a16="http://schemas.microsoft.com/office/drawing/2014/main" xmlns="" val="406845904"/>
                        </a:ext>
                      </a:extLst>
                    </a:gridCol>
                    <a:gridCol w="4397835">
                      <a:extLst>
                        <a:ext uri="{9D8B030D-6E8A-4147-A177-3AD203B41FA5}">
                          <a16:colId xmlns:a16="http://schemas.microsoft.com/office/drawing/2014/main" xmlns="" val="2199643744"/>
                        </a:ext>
                      </a:extLst>
                    </a:gridCol>
                  </a:tblGrid>
                  <a:tr h="1011143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Mathematical Statement</a:t>
                          </a:r>
                        </a:p>
                      </a:txBody>
                      <a:tcPr marL="67202" marR="67202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Explanation</a:t>
                          </a:r>
                        </a:p>
                      </a:txBody>
                      <a:tcPr marL="67202" marR="67202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2530420553"/>
                      </a:ext>
                    </a:extLst>
                  </a:tr>
                  <a:tr h="835049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−7&lt;−3</m:t>
                                </m:r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Verdana" panose="020B0604030504040204" pitchFamily="34" charset="0"/>
                          </a:endParaRPr>
                        </a:p>
                      </a:txBody>
                      <a:tcPr marL="67202" marR="67202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en-US" sz="12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7202" marR="67202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2038561790"/>
                      </a:ext>
                    </a:extLst>
                  </a:tr>
                  <a:tr h="835049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 xmlns:m="http://schemas.openxmlformats.org/officeDocument/2006/math"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sz="2000" i="1">
                                      <a:effectLst/>
                                      <a:latin typeface="Cambria Math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000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−7</m:t>
                                  </m:r>
                                </m:e>
                              </m:d>
                            </m:oMath>
                          </a14:m>
                          <a:r>
                            <a:rPr lang="en-US" sz="2000" dirty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Verdana" panose="020B0604030504040204" pitchFamily="34" charset="0"/>
                            </a:rPr>
                            <a:t> </a:t>
                          </a: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is</a:t>
                          </a:r>
                          <a:r>
                            <a:rPr lang="en-US" sz="2000" dirty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Verdana" panose="020B0604030504040204" pitchFamily="34" charset="0"/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r>
                                <a:rPr lang="en-US" sz="20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7</m:t>
                              </m:r>
                            </m:oMath>
                          </a14:m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Verdana" panose="020B0604030504040204" pitchFamily="34" charset="0"/>
                          </a:endParaRPr>
                        </a:p>
                      </a:txBody>
                      <a:tcPr marL="67202" marR="67202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en-US" sz="12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7202" marR="67202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2830501105"/>
                      </a:ext>
                    </a:extLst>
                  </a:tr>
                  <a:tr h="835049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 xmlns:m="http://schemas.openxmlformats.org/officeDocument/2006/math"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sz="2000" i="1">
                                      <a:effectLst/>
                                      <a:latin typeface="Cambria Math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000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−3</m:t>
                                  </m:r>
                                </m:e>
                              </m:d>
                            </m:oMath>
                          </a14:m>
                          <a:r>
                            <a:rPr lang="en-US" sz="2000" dirty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Verdana" panose="020B0604030504040204" pitchFamily="34" charset="0"/>
                            </a:rPr>
                            <a:t> </a:t>
                          </a: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is</a:t>
                          </a:r>
                          <a:r>
                            <a:rPr lang="en-US" sz="2000" dirty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Verdana" panose="020B0604030504040204" pitchFamily="34" charset="0"/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r>
                                <a:rPr lang="en-US" sz="20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3</m:t>
                              </m:r>
                            </m:oMath>
                          </a14:m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Verdana" panose="020B0604030504040204" pitchFamily="34" charset="0"/>
                          </a:endParaRPr>
                        </a:p>
                      </a:txBody>
                      <a:tcPr marL="67202" marR="67202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en-US" sz="12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7202" marR="67202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137413292"/>
                      </a:ext>
                    </a:extLst>
                  </a:tr>
                  <a:tr h="835049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 dirty="0" smtClean="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|−7|&lt;|−3|</m:t>
                                </m:r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Verdana" panose="020B0604030504040204" pitchFamily="34" charset="0"/>
                          </a:endParaRPr>
                        </a:p>
                      </a:txBody>
                      <a:tcPr marL="67202" marR="67202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en-US" sz="12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7202" marR="67202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422049773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" name="Table 1">
                <a:extLst>
                  <a:ext uri="{FF2B5EF4-FFF2-40B4-BE49-F238E27FC236}">
                    <a16:creationId xmlns:a16="http://schemas.microsoft.com/office/drawing/2014/main" id="{1FAAB875-364F-4844-ABAF-D91F184546D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555367"/>
                  </p:ext>
                </p:extLst>
              </p:nvPr>
            </p:nvGraphicFramePr>
            <p:xfrm>
              <a:off x="1342564" y="288745"/>
              <a:ext cx="6458871" cy="4351339"/>
            </p:xfrm>
            <a:graphic>
              <a:graphicData uri="http://schemas.openxmlformats.org/drawingml/2006/table">
                <a:tbl>
                  <a:tblPr bandRow="1">
                    <a:tableStyleId>{A91F0D33-8C57-4600-99A7-42BC86742BE1}</a:tableStyleId>
                  </a:tblPr>
                  <a:tblGrid>
                    <a:gridCol w="2061036">
                      <a:extLst>
                        <a:ext uri="{9D8B030D-6E8A-4147-A177-3AD203B41FA5}">
                          <a16:colId xmlns:a16="http://schemas.microsoft.com/office/drawing/2014/main" val="406845904"/>
                        </a:ext>
                      </a:extLst>
                    </a:gridCol>
                    <a:gridCol w="4397835">
                      <a:extLst>
                        <a:ext uri="{9D8B030D-6E8A-4147-A177-3AD203B41FA5}">
                          <a16:colId xmlns:a16="http://schemas.microsoft.com/office/drawing/2014/main" val="2199643744"/>
                        </a:ext>
                      </a:extLst>
                    </a:gridCol>
                  </a:tblGrid>
                  <a:tr h="1011143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Mathematical Statement</a:t>
                          </a:r>
                        </a:p>
                      </a:txBody>
                      <a:tcPr marL="67202" marR="67202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Explanation</a:t>
                          </a:r>
                        </a:p>
                      </a:txBody>
                      <a:tcPr marL="67202" marR="67202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530420553"/>
                      </a:ext>
                    </a:extLst>
                  </a:tr>
                  <a:tr h="835049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7202" marR="67202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t="-121212" r="-213497" b="-30151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en-US" sz="12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7202" marR="67202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038561790"/>
                      </a:ext>
                    </a:extLst>
                  </a:tr>
                  <a:tr h="835049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7202" marR="67202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t="-221212" r="-213497" b="-20151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en-US" sz="12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7202" marR="67202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830501105"/>
                      </a:ext>
                    </a:extLst>
                  </a:tr>
                  <a:tr h="835049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7202" marR="67202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t="-321212" r="-213497" b="-10151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en-US" sz="12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7202" marR="67202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137413292"/>
                      </a:ext>
                    </a:extLst>
                  </a:tr>
                  <a:tr h="835049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7202" marR="67202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t="-421212" r="-213497" b="-151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en-US" sz="12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7202" marR="67202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4220497733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7" name="Google Shape;282;g104476d1465_1_17"/>
          <p:cNvSpPr txBox="1"/>
          <p:nvPr/>
        </p:nvSpPr>
        <p:spPr>
          <a:xfrm>
            <a:off x="8663102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118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" name="Google Shape;283;g104476d1465_1_17"/>
          <p:cNvPicPr preferRelativeResize="0"/>
          <p:nvPr/>
        </p:nvPicPr>
        <p:blipFill>
          <a:blip r:embed="rId6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01328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39381335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xmlns="" id="{2AA35BC6-D428-FC41-BDE5-6438AB8840FC}"/>
              </a:ext>
            </a:extLst>
          </p:cNvPr>
          <p:cNvSpPr txBox="1"/>
          <p:nvPr/>
        </p:nvSpPr>
        <p:spPr>
          <a:xfrm>
            <a:off x="1038386" y="410665"/>
            <a:ext cx="9296515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 startAt="3"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With your partner, discuss why comparing two negative values and comparing the absolute value of the same two negative numbers may be different. Summarize your discussion below.</a:t>
            </a:r>
          </a:p>
          <a:p>
            <a:pPr marL="457200" indent="-457200">
              <a:buFont typeface="+mj-lt"/>
              <a:buAutoNum type="arabicPeriod" startAt="3"/>
            </a:pPr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 startAt="3"/>
            </a:pPr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 startAt="3"/>
            </a:pPr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 startAt="3"/>
            </a:pPr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 startAt="3"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For each row, use the symbols &gt;, &lt; , or = to compare each pair of values.</a:t>
            </a:r>
          </a:p>
          <a:p>
            <a:pPr marL="457200" indent="-457200">
              <a:buFont typeface="+mj-lt"/>
              <a:buAutoNum type="arabicPeriod" startAt="3"/>
            </a:pPr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6" name="Google Shape;278;g104476d1465_1_17">
            <a:extLst>
              <a:ext uri="{FF2B5EF4-FFF2-40B4-BE49-F238E27FC236}">
                <a16:creationId xmlns:a16="http://schemas.microsoft.com/office/drawing/2014/main" xmlns="" id="{D24B490A-71D6-FD45-903D-95450FDFCF80}"/>
              </a:ext>
            </a:extLst>
          </p:cNvPr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FCBD1E"/>
          </a:solidFill>
          <a:ln w="9525" cap="flat" cmpd="sng">
            <a:solidFill>
              <a:srgbClr val="FCBD1E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" name="Table 1">
                <a:extLst>
                  <a:ext uri="{FF2B5EF4-FFF2-40B4-BE49-F238E27FC236}">
                    <a16:creationId xmlns:a16="http://schemas.microsoft.com/office/drawing/2014/main" xmlns="" id="{C66C2A95-CA07-124E-B01A-54A6473DB0EF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303041696"/>
                  </p:ext>
                </p:extLst>
              </p:nvPr>
            </p:nvGraphicFramePr>
            <p:xfrm>
              <a:off x="2858770" y="4259748"/>
              <a:ext cx="6245860" cy="2269490"/>
            </p:xfrm>
            <a:graphic>
              <a:graphicData uri="http://schemas.openxmlformats.org/drawingml/2006/table">
                <a:tbl>
                  <a:tblPr firstRow="1" firstCol="1" bandRow="1">
                    <a:tableStyleId>{A91F0D33-8C57-4600-99A7-42BC86742BE1}</a:tableStyleId>
                  </a:tblPr>
                  <a:tblGrid>
                    <a:gridCol w="1482725">
                      <a:extLst>
                        <a:ext uri="{9D8B030D-6E8A-4147-A177-3AD203B41FA5}">
                          <a16:colId xmlns:a16="http://schemas.microsoft.com/office/drawing/2014/main" xmlns="" val="2629783554"/>
                        </a:ext>
                      </a:extLst>
                    </a:gridCol>
                    <a:gridCol w="2228850">
                      <a:extLst>
                        <a:ext uri="{9D8B030D-6E8A-4147-A177-3AD203B41FA5}">
                          <a16:colId xmlns:a16="http://schemas.microsoft.com/office/drawing/2014/main" xmlns="" val="1666529142"/>
                        </a:ext>
                      </a:extLst>
                    </a:gridCol>
                    <a:gridCol w="2534285">
                      <a:extLst>
                        <a:ext uri="{9D8B030D-6E8A-4147-A177-3AD203B41FA5}">
                          <a16:colId xmlns:a16="http://schemas.microsoft.com/office/drawing/2014/main" xmlns="" val="2466111784"/>
                        </a:ext>
                      </a:extLst>
                    </a:gridCol>
                  </a:tblGrid>
                  <a:tr h="56769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</a:p>
                      </a:txBody>
                      <a:tcPr marL="68580" marR="6858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Inequality</a:t>
                          </a: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Absolute Value Inequality</a:t>
                          </a: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2658452568"/>
                      </a:ext>
                    </a:extLst>
                  </a:tr>
                  <a:tr h="5461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Pair 1</a:t>
                          </a: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 xmlns:m="http://schemas.openxmlformats.org/officeDocument/2006/math">
                              <m:r>
                                <a:rPr lang="en-US" sz="2000" i="1" dirty="0" smtClean="0">
                                  <a:effectLst/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oMath>
                          </a14:m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 ___ </a:t>
                          </a:r>
                          <a14:m>
                            <m:oMath xmlns:m="http://schemas.openxmlformats.org/officeDocument/2006/math">
                              <m:r>
                                <a:rPr lang="en-US" sz="2000" i="1" dirty="0" smtClean="0">
                                  <a:effectLst/>
                                  <a:latin typeface="Cambria Math" panose="02040503050406030204" pitchFamily="18" charset="0"/>
                                </a:rPr>
                                <m:t>−5</m:t>
                              </m:r>
                            </m:oMath>
                          </a14:m>
                          <a:endParaRPr lang="en-US" sz="20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 xmlns:m="http://schemas.openxmlformats.org/officeDocument/2006/math">
                              <m:r>
                                <a:rPr lang="en-US" sz="2000">
                                  <a:effectLst/>
                                  <a:latin typeface="Cambria Math" panose="02040503050406030204" pitchFamily="18" charset="0"/>
                                </a:rPr>
                                <m:t>|4|</m:t>
                              </m:r>
                            </m:oMath>
                          </a14:m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 ___ </a:t>
                          </a:r>
                          <a14:m>
                            <m:oMath xmlns:m="http://schemas.openxmlformats.org/officeDocument/2006/math">
                              <m:r>
                                <a:rPr lang="en-US" sz="2000">
                                  <a:effectLst/>
                                  <a:latin typeface="Cambria Math" panose="02040503050406030204" pitchFamily="18" charset="0"/>
                                </a:rPr>
                                <m:t>|−5|</m:t>
                              </m:r>
                            </m:oMath>
                          </a14:m>
                          <a:endParaRPr lang="en-US" sz="20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40099936"/>
                      </a:ext>
                    </a:extLst>
                  </a:tr>
                  <a:tr h="56769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Pair 2</a:t>
                          </a: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 xmlns:m="http://schemas.openxmlformats.org/officeDocument/2006/math">
                              <m:r>
                                <a:rPr lang="en-US" sz="2000">
                                  <a:effectLst/>
                                  <a:latin typeface="Cambria Math" panose="02040503050406030204" pitchFamily="18" charset="0"/>
                                </a:rPr>
                                <m:t>−3</m:t>
                              </m:r>
                            </m:oMath>
                          </a14:m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 ___ </a:t>
                          </a:r>
                          <a14:m>
                            <m:oMath xmlns:m="http://schemas.openxmlformats.org/officeDocument/2006/math">
                              <m:r>
                                <a:rPr lang="en-US" sz="2000">
                                  <a:effectLst/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oMath>
                          </a14:m>
                          <a:endParaRPr lang="en-US" sz="20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 xmlns:m="http://schemas.openxmlformats.org/officeDocument/2006/math">
                              <m:r>
                                <a:rPr lang="en-US" sz="2000">
                                  <a:effectLst/>
                                  <a:latin typeface="Cambria Math" panose="02040503050406030204" pitchFamily="18" charset="0"/>
                                </a:rPr>
                                <m:t>|−3|</m:t>
                              </m:r>
                            </m:oMath>
                          </a14:m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 ___ </a:t>
                          </a:r>
                          <a14:m>
                            <m:oMath xmlns:m="http://schemas.openxmlformats.org/officeDocument/2006/math">
                              <m:r>
                                <a:rPr lang="en-US" sz="2000">
                                  <a:effectLst/>
                                  <a:latin typeface="Cambria Math" panose="02040503050406030204" pitchFamily="18" charset="0"/>
                                </a:rPr>
                                <m:t>|2|</m:t>
                              </m:r>
                            </m:oMath>
                          </a14:m>
                          <a:endParaRPr lang="en-US" sz="20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4112130092"/>
                      </a:ext>
                    </a:extLst>
                  </a:tr>
                  <a:tr h="5461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Pair 3</a:t>
                          </a: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 xmlns:m="http://schemas.openxmlformats.org/officeDocument/2006/math">
                              <m:r>
                                <a:rPr lang="en-US" sz="2000">
                                  <a:effectLst/>
                                  <a:latin typeface="Cambria Math" panose="02040503050406030204" pitchFamily="18" charset="0"/>
                                </a:rPr>
                                <m:t>6</m:t>
                              </m:r>
                            </m:oMath>
                          </a14:m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 ___ </a:t>
                          </a:r>
                          <a14:m>
                            <m:oMath xmlns:m="http://schemas.openxmlformats.org/officeDocument/2006/math">
                              <m:r>
                                <a:rPr lang="en-US" sz="2000">
                                  <a:effectLst/>
                                  <a:latin typeface="Cambria Math" panose="02040503050406030204" pitchFamily="18" charset="0"/>
                                </a:rPr>
                                <m:t>−6</m:t>
                              </m:r>
                            </m:oMath>
                          </a14:m>
                          <a:endParaRPr lang="en-US" sz="20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 xmlns:m="http://schemas.openxmlformats.org/officeDocument/2006/math">
                              <m:r>
                                <a:rPr lang="en-US" sz="2000">
                                  <a:effectLst/>
                                  <a:latin typeface="Cambria Math" panose="02040503050406030204" pitchFamily="18" charset="0"/>
                                </a:rPr>
                                <m:t>|6|</m:t>
                              </m:r>
                            </m:oMath>
                          </a14:m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 ___ </a:t>
                          </a:r>
                          <a14:m>
                            <m:oMath xmlns:m="http://schemas.openxmlformats.org/officeDocument/2006/math">
                              <m:r>
                                <a:rPr lang="en-US" sz="2000">
                                  <a:effectLst/>
                                  <a:latin typeface="Cambria Math" panose="02040503050406030204" pitchFamily="18" charset="0"/>
                                </a:rPr>
                                <m:t>|−6|</m:t>
                              </m:r>
                            </m:oMath>
                          </a14:m>
                          <a:endParaRPr lang="en-US" sz="20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10090311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" name="Table 1">
                <a:extLst>
                  <a:ext uri="{FF2B5EF4-FFF2-40B4-BE49-F238E27FC236}">
                    <a16:creationId xmlns:a16="http://schemas.microsoft.com/office/drawing/2014/main" id="{C66C2A95-CA07-124E-B01A-54A6473DB0EF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303041696"/>
                  </p:ext>
                </p:extLst>
              </p:nvPr>
            </p:nvGraphicFramePr>
            <p:xfrm>
              <a:off x="1334770" y="4259748"/>
              <a:ext cx="6245860" cy="2269490"/>
            </p:xfrm>
            <a:graphic>
              <a:graphicData uri="http://schemas.openxmlformats.org/drawingml/2006/table">
                <a:tbl>
                  <a:tblPr firstRow="1" firstCol="1" bandRow="1">
                    <a:tableStyleId>{A91F0D33-8C57-4600-99A7-42BC86742BE1}</a:tableStyleId>
                  </a:tblPr>
                  <a:tblGrid>
                    <a:gridCol w="1482725">
                      <a:extLst>
                        <a:ext uri="{9D8B030D-6E8A-4147-A177-3AD203B41FA5}">
                          <a16:colId xmlns:a16="http://schemas.microsoft.com/office/drawing/2014/main" val="2629783554"/>
                        </a:ext>
                      </a:extLst>
                    </a:gridCol>
                    <a:gridCol w="2228850">
                      <a:extLst>
                        <a:ext uri="{9D8B030D-6E8A-4147-A177-3AD203B41FA5}">
                          <a16:colId xmlns:a16="http://schemas.microsoft.com/office/drawing/2014/main" val="1666529142"/>
                        </a:ext>
                      </a:extLst>
                    </a:gridCol>
                    <a:gridCol w="2534285">
                      <a:extLst>
                        <a:ext uri="{9D8B030D-6E8A-4147-A177-3AD203B41FA5}">
                          <a16:colId xmlns:a16="http://schemas.microsoft.com/office/drawing/2014/main" val="2466111784"/>
                        </a:ext>
                      </a:extLst>
                    </a:gridCol>
                  </a:tblGrid>
                  <a:tr h="6096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</a:p>
                      </a:txBody>
                      <a:tcPr marL="68580" marR="6858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Inequality</a:t>
                          </a: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Absolute Value Inequality</a:t>
                          </a: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58452568"/>
                      </a:ext>
                    </a:extLst>
                  </a:tr>
                  <a:tr h="5461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Pair 1</a:t>
                          </a: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67429" t="-122727" r="-115429" b="-20454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46500" t="-122727" r="-1000" b="-20454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40099936"/>
                      </a:ext>
                    </a:extLst>
                  </a:tr>
                  <a:tr h="56769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Pair 2</a:t>
                          </a: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67429" t="-217778" r="-115429" b="-1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46500" t="-217778" r="-1000" b="-10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12130092"/>
                      </a:ext>
                    </a:extLst>
                  </a:tr>
                  <a:tr h="5461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Pair 3</a:t>
                          </a: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67429" t="-332558" r="-115429" b="-46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46500" t="-332558" r="-1000" b="-465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00903111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7" name="Google Shape;282;g104476d1465_1_17"/>
          <p:cNvSpPr txBox="1"/>
          <p:nvPr/>
        </p:nvSpPr>
        <p:spPr>
          <a:xfrm>
            <a:off x="8663102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119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" name="Google Shape;283;g104476d1465_1_17"/>
          <p:cNvPicPr preferRelativeResize="0"/>
          <p:nvPr/>
        </p:nvPicPr>
        <p:blipFill>
          <a:blip r:embed="rId5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01328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90353113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xmlns="" id="{2AA35BC6-D428-FC41-BDE5-6438AB8840FC}"/>
              </a:ext>
            </a:extLst>
          </p:cNvPr>
          <p:cNvSpPr txBox="1"/>
          <p:nvPr/>
        </p:nvSpPr>
        <p:spPr>
          <a:xfrm>
            <a:off x="960895" y="410666"/>
            <a:ext cx="9374006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 startAt="5"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What do you notice about the comparisons?</a:t>
            </a:r>
          </a:p>
          <a:p>
            <a:pPr marL="457200" indent="-457200">
              <a:buFont typeface="+mj-lt"/>
              <a:buAutoNum type="arabicPeriod" startAt="5"/>
            </a:pPr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 startAt="5"/>
            </a:pPr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 startAt="5"/>
            </a:pPr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 startAt="5"/>
            </a:pPr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 startAt="5"/>
            </a:pPr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 startAt="5"/>
            </a:pPr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 startAt="5"/>
            </a:pPr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 startAt="5"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When comparing the absolute values of two </a:t>
            </a:r>
          </a:p>
          <a:p>
            <a:pPr marL="457200" indent="-457200">
              <a:buFont typeface="+mj-lt"/>
              <a:buAutoNum type="arabicPeriod" startAt="5"/>
            </a:pPr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65138"/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numbers, numbers that are closer to zero will </a:t>
            </a:r>
          </a:p>
          <a:p>
            <a:pPr marL="457200" indent="-457200">
              <a:buFont typeface="+mj-lt"/>
              <a:buAutoNum type="arabicPeriod" startAt="5"/>
            </a:pPr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65138"/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always have the __________ absolute value.</a:t>
            </a:r>
          </a:p>
          <a:p>
            <a:pPr marL="457200" indent="-457200">
              <a:buFont typeface="+mj-lt"/>
              <a:buAutoNum type="arabicPeriod" startAt="5"/>
            </a:pPr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6" name="Google Shape;278;g104476d1465_1_17">
            <a:extLst>
              <a:ext uri="{FF2B5EF4-FFF2-40B4-BE49-F238E27FC236}">
                <a16:creationId xmlns:a16="http://schemas.microsoft.com/office/drawing/2014/main" xmlns="" id="{D24B490A-71D6-FD45-903D-95450FDFCF80}"/>
              </a:ext>
            </a:extLst>
          </p:cNvPr>
          <p:cNvSpPr/>
          <p:nvPr/>
        </p:nvSpPr>
        <p:spPr>
          <a:xfrm>
            <a:off x="0" y="-8226"/>
            <a:ext cx="223200" cy="6866100"/>
          </a:xfrm>
          <a:prstGeom prst="rect">
            <a:avLst/>
          </a:prstGeom>
          <a:solidFill>
            <a:srgbClr val="FCBD1E"/>
          </a:solidFill>
          <a:ln w="9525" cap="flat" cmpd="sng">
            <a:solidFill>
              <a:srgbClr val="FCBD1E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7" name="Google Shape;282;g104476d1465_1_17"/>
          <p:cNvSpPr txBox="1"/>
          <p:nvPr/>
        </p:nvSpPr>
        <p:spPr>
          <a:xfrm>
            <a:off x="8663102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119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01328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25184684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FCBD1E"/>
          </a:solidFill>
          <a:ln w="9525" cap="flat" cmpd="sng">
            <a:solidFill>
              <a:srgbClr val="FCBD1E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665258" y="2766145"/>
            <a:ext cx="5002742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Collaboration</a:t>
            </a:r>
            <a:endParaRPr sz="5100" b="1" dirty="0">
              <a:solidFill>
                <a:srgbClr val="33BEA6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xmlns="" id="{D0821C8B-4657-A74D-94B5-D6CF373A17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513114" y="2852923"/>
            <a:ext cx="1152144" cy="1152144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Google Shape;282;g104476d1465_1_17"/>
          <p:cNvSpPr txBox="1"/>
          <p:nvPr/>
        </p:nvSpPr>
        <p:spPr>
          <a:xfrm>
            <a:off x="8663102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119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01328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56078870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324;g103996e1364_0_25">
            <a:extLst>
              <a:ext uri="{FF2B5EF4-FFF2-40B4-BE49-F238E27FC236}">
                <a16:creationId xmlns:a16="http://schemas.microsoft.com/office/drawing/2014/main" xmlns="" id="{DB5796CA-12EB-BB4C-8338-B127D750A026}"/>
              </a:ext>
            </a:extLst>
          </p:cNvPr>
          <p:cNvSpPr txBox="1">
            <a:spLocks/>
          </p:cNvSpPr>
          <p:nvPr/>
        </p:nvSpPr>
        <p:spPr>
          <a:xfrm>
            <a:off x="1489702" y="0"/>
            <a:ext cx="80193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</a:pPr>
            <a:r>
              <a:rPr lang="en-US" sz="36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3.8.4 Collaboration: Inequality Mix and Match</a:t>
            </a:r>
          </a:p>
        </p:txBody>
      </p:sp>
      <p:pic>
        <p:nvPicPr>
          <p:cNvPr id="9" name="Picture 2">
            <a:extLst>
              <a:ext uri="{FF2B5EF4-FFF2-40B4-BE49-F238E27FC236}">
                <a16:creationId xmlns:a16="http://schemas.microsoft.com/office/drawing/2014/main" xmlns="" id="{A80EBD0F-404F-0B4B-AC09-DA5A6DF6026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677902" y="287946"/>
            <a:ext cx="749808" cy="749808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xmlns="" id="{E44DF7DE-9172-3E4E-B74A-7A51585FB6EA}"/>
              </a:ext>
            </a:extLst>
          </p:cNvPr>
          <p:cNvSpPr txBox="1"/>
          <p:nvPr/>
        </p:nvSpPr>
        <p:spPr>
          <a:xfrm>
            <a:off x="1427710" y="1386026"/>
            <a:ext cx="8959874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Work with your partner to complete the table.</a:t>
            </a:r>
          </a:p>
          <a:p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Partner A will select two numbers and one comparison symbol. At least one of the numbers must be written as an absolute value.  </a:t>
            </a:r>
          </a:p>
          <a:p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Partner B will then write the mathematical statement in words. The following phrases may be helpful: is equal to, the absolute value of, is greater than, is less than.</a:t>
            </a:r>
          </a:p>
          <a:p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Switch roles until each partner has taken two turns. An example is shown in the first row.</a:t>
            </a:r>
          </a:p>
        </p:txBody>
      </p:sp>
      <p:sp>
        <p:nvSpPr>
          <p:cNvPr id="11" name="Google Shape;278;g104476d1465_1_17">
            <a:extLst>
              <a:ext uri="{FF2B5EF4-FFF2-40B4-BE49-F238E27FC236}">
                <a16:creationId xmlns:a16="http://schemas.microsoft.com/office/drawing/2014/main" xmlns="" id="{D252DD22-4545-6844-9D1D-323C0B41ADF5}"/>
              </a:ext>
            </a:extLst>
          </p:cNvPr>
          <p:cNvSpPr/>
          <p:nvPr/>
        </p:nvSpPr>
        <p:spPr>
          <a:xfrm>
            <a:off x="0" y="-8226"/>
            <a:ext cx="223200" cy="6866100"/>
          </a:xfrm>
          <a:prstGeom prst="rect">
            <a:avLst/>
          </a:prstGeom>
          <a:solidFill>
            <a:srgbClr val="FCBD1E"/>
          </a:solidFill>
          <a:ln w="9525" cap="flat" cmpd="sng">
            <a:solidFill>
              <a:srgbClr val="FCBD1E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12" name="Google Shape;282;g104476d1465_1_17"/>
          <p:cNvSpPr txBox="1"/>
          <p:nvPr/>
        </p:nvSpPr>
        <p:spPr>
          <a:xfrm>
            <a:off x="8663102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119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01328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67443704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278;g104476d1465_1_17">
            <a:extLst>
              <a:ext uri="{FF2B5EF4-FFF2-40B4-BE49-F238E27FC236}">
                <a16:creationId xmlns:a16="http://schemas.microsoft.com/office/drawing/2014/main" xmlns="" id="{D24B490A-71D6-FD45-903D-95450FDFCF80}"/>
              </a:ext>
            </a:extLst>
          </p:cNvPr>
          <p:cNvSpPr/>
          <p:nvPr/>
        </p:nvSpPr>
        <p:spPr>
          <a:xfrm>
            <a:off x="0" y="-8226"/>
            <a:ext cx="223200" cy="6866100"/>
          </a:xfrm>
          <a:prstGeom prst="rect">
            <a:avLst/>
          </a:prstGeom>
          <a:solidFill>
            <a:srgbClr val="FCBD1E"/>
          </a:solidFill>
          <a:ln w="9525" cap="flat" cmpd="sng">
            <a:solidFill>
              <a:srgbClr val="FCBD1E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" name="Table 1">
                <a:extLst>
                  <a:ext uri="{FF2B5EF4-FFF2-40B4-BE49-F238E27FC236}">
                    <a16:creationId xmlns:a16="http://schemas.microsoft.com/office/drawing/2014/main" xmlns="" id="{4C800C7A-5C9D-1945-ACC3-B9823765F9C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644103543"/>
                  </p:ext>
                </p:extLst>
              </p:nvPr>
            </p:nvGraphicFramePr>
            <p:xfrm>
              <a:off x="2834482" y="101599"/>
              <a:ext cx="6523037" cy="2386894"/>
            </p:xfrm>
            <a:graphic>
              <a:graphicData uri="http://schemas.openxmlformats.org/drawingml/2006/table">
                <a:tbl>
                  <a:tblPr bandRow="1">
                    <a:tableStyleId>{A91F0D33-8C57-4600-99A7-42BC86742BE1}</a:tableStyleId>
                  </a:tblPr>
                  <a:tblGrid>
                    <a:gridCol w="1023614">
                      <a:extLst>
                        <a:ext uri="{9D8B030D-6E8A-4147-A177-3AD203B41FA5}">
                          <a16:colId xmlns:a16="http://schemas.microsoft.com/office/drawing/2014/main" xmlns="" val="2939135240"/>
                        </a:ext>
                      </a:extLst>
                    </a:gridCol>
                    <a:gridCol w="1024263">
                      <a:extLst>
                        <a:ext uri="{9D8B030D-6E8A-4147-A177-3AD203B41FA5}">
                          <a16:colId xmlns:a16="http://schemas.microsoft.com/office/drawing/2014/main" xmlns="" val="3529145033"/>
                        </a:ext>
                      </a:extLst>
                    </a:gridCol>
                    <a:gridCol w="1024263">
                      <a:extLst>
                        <a:ext uri="{9D8B030D-6E8A-4147-A177-3AD203B41FA5}">
                          <a16:colId xmlns:a16="http://schemas.microsoft.com/office/drawing/2014/main" xmlns="" val="2496985204"/>
                        </a:ext>
                      </a:extLst>
                    </a:gridCol>
                    <a:gridCol w="1024263">
                      <a:extLst>
                        <a:ext uri="{9D8B030D-6E8A-4147-A177-3AD203B41FA5}">
                          <a16:colId xmlns:a16="http://schemas.microsoft.com/office/drawing/2014/main" xmlns="" val="3540764006"/>
                        </a:ext>
                      </a:extLst>
                    </a:gridCol>
                    <a:gridCol w="757047">
                      <a:extLst>
                        <a:ext uri="{9D8B030D-6E8A-4147-A177-3AD203B41FA5}">
                          <a16:colId xmlns:a16="http://schemas.microsoft.com/office/drawing/2014/main" xmlns="" val="1887286654"/>
                        </a:ext>
                      </a:extLst>
                    </a:gridCol>
                    <a:gridCol w="1669587">
                      <a:extLst>
                        <a:ext uri="{9D8B030D-6E8A-4147-A177-3AD203B41FA5}">
                          <a16:colId xmlns:a16="http://schemas.microsoft.com/office/drawing/2014/main" xmlns="" val="3522824154"/>
                        </a:ext>
                      </a:extLst>
                    </a:gridCol>
                  </a:tblGrid>
                  <a:tr h="429348">
                    <a:tc gridSpan="5"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Numbers</a:t>
                          </a: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Symbol</a:t>
                          </a: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90726833"/>
                      </a:ext>
                    </a:extLst>
                  </a:tr>
                  <a:tr h="625558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 dirty="0" smtClean="0">
                                    <a:effectLst/>
                                    <a:latin typeface="Cambria Math" panose="02040503050406030204" pitchFamily="18" charset="0"/>
                                  </a:rPr>
                                  <m:t>−0.7</m:t>
                                </m:r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d>
                                  <m:dPr>
                                    <m:begChr m:val="|"/>
                                    <m:endChr m:val="|"/>
                                    <m:ctrlPr>
                                      <a:rPr lang="en-US" sz="2000" i="1">
                                        <a:effectLst/>
                                        <a:latin typeface="Cambria Math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−9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</a:rPr>
                                  <m:t>11</m:t>
                                </m:r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</a:rPr>
                                  <m:t>14</m:t>
                                </m:r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d>
                                  <m:dPr>
                                    <m:begChr m:val="|"/>
                                    <m:endChr m:val="|"/>
                                    <m:ctrlPr>
                                      <a:rPr lang="en-US" sz="2000" i="1">
                                        <a:effectLst/>
                                        <a:latin typeface="Cambria Math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−8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 xmlns:m="http://schemas.openxmlformats.org/officeDocument/2006/math">
                              <m:r>
                                <a:rPr lang="en-US" sz="2000">
                                  <a:effectLst/>
                                  <a:latin typeface="Cambria Math" panose="02040503050406030204" pitchFamily="18" charset="0"/>
                                </a:rPr>
                                <m:t>&lt;</m:t>
                              </m:r>
                            </m:oMath>
                          </a14:m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2014139518"/>
                      </a:ext>
                    </a:extLst>
                  </a:tr>
                  <a:tr h="656569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US" sz="2000" i="1">
                                        <a:effectLst/>
                                        <a:latin typeface="Cambria Math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−6</m:t>
                                    </m:r>
                                  </m:num>
                                  <m:den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</a:rPr>
                                  <m:t>−2.2</m:t>
                                </m:r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d>
                                  <m:dPr>
                                    <m:begChr m:val="|"/>
                                    <m:endChr m:val="|"/>
                                    <m:ctrlPr>
                                      <a:rPr lang="en-US" sz="2000" i="1">
                                        <a:effectLst/>
                                        <a:latin typeface="Cambria Math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2.5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</a:rPr>
                                  <m:t>8</m:t>
                                </m:r>
                              </m:oMath>
                            </m:oMathPara>
                          </a14:m>
                          <a:endParaRPr lang="en-US" sz="20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d>
                                  <m:dPr>
                                    <m:begChr m:val="|"/>
                                    <m:endChr m:val="|"/>
                                    <m:ctrlPr>
                                      <a:rPr lang="en-US" sz="2000" i="1">
                                        <a:effectLst/>
                                        <a:latin typeface="Cambria Math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0.7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866020835"/>
                      </a:ext>
                    </a:extLst>
                  </a:tr>
                  <a:tr h="675419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d>
                                  <m:dPr>
                                    <m:begChr m:val="|"/>
                                    <m:endChr m:val="|"/>
                                    <m:ctrlPr>
                                      <a:rPr lang="en-US" sz="2000" i="1">
                                        <a:effectLst/>
                                        <a:latin typeface="Cambria Math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−14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d>
                                  <m:dPr>
                                    <m:begChr m:val="|"/>
                                    <m:endChr m:val="|"/>
                                    <m:ctrlPr>
                                      <a:rPr lang="en-US" sz="2000" i="1">
                                        <a:effectLst/>
                                        <a:latin typeface="Cambria Math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20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US" sz="2000" i="1">
                                        <a:effectLst/>
                                        <a:latin typeface="Cambria Math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7</m:t>
                                    </m:r>
                                  </m:num>
                                  <m:den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d>
                                  <m:dPr>
                                    <m:begChr m:val="|"/>
                                    <m:endChr m:val="|"/>
                                    <m:ctrlPr>
                                      <a:rPr lang="en-US" sz="2000" i="1">
                                        <a:effectLst/>
                                        <a:latin typeface="Cambria Math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15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d>
                                  <m:dPr>
                                    <m:begChr m:val="|"/>
                                    <m:endChr m:val="|"/>
                                    <m:ctrlPr>
                                      <a:rPr lang="en-US" sz="2000" i="1">
                                        <a:effectLst/>
                                        <a:latin typeface="Cambria Math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f>
                                      <m:fPr>
                                        <m:ctrlPr>
                                          <a:rPr lang="en-US" sz="2000" i="1">
                                            <a:effectLst/>
                                            <a:latin typeface="Cambria Math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sz="20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5</m:t>
                                        </m:r>
                                      </m:num>
                                      <m:den>
                                        <m:r>
                                          <a:rPr lang="en-US" sz="20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den>
                                    </m:f>
                                  </m:e>
                                </m:d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 xmlns:m="http://schemas.openxmlformats.org/officeDocument/2006/math">
                              <m:r>
                                <a:rPr lang="en-US" sz="2000">
                                  <a:effectLst/>
                                  <a:latin typeface="Cambria Math" panose="02040503050406030204" pitchFamily="18" charset="0"/>
                                </a:rPr>
                                <m:t>&gt;</m:t>
                              </m:r>
                            </m:oMath>
                          </a14:m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2041167717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" name="Table 1">
                <a:extLst>
                  <a:ext uri="{FF2B5EF4-FFF2-40B4-BE49-F238E27FC236}">
                    <a16:creationId xmlns:a16="http://schemas.microsoft.com/office/drawing/2014/main" id="{4C800C7A-5C9D-1945-ACC3-B9823765F9C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644103543"/>
                  </p:ext>
                </p:extLst>
              </p:nvPr>
            </p:nvGraphicFramePr>
            <p:xfrm>
              <a:off x="1310481" y="101599"/>
              <a:ext cx="6523037" cy="2386894"/>
            </p:xfrm>
            <a:graphic>
              <a:graphicData uri="http://schemas.openxmlformats.org/drawingml/2006/table">
                <a:tbl>
                  <a:tblPr bandRow="1">
                    <a:tableStyleId>{A91F0D33-8C57-4600-99A7-42BC86742BE1}</a:tableStyleId>
                  </a:tblPr>
                  <a:tblGrid>
                    <a:gridCol w="1023614">
                      <a:extLst>
                        <a:ext uri="{9D8B030D-6E8A-4147-A177-3AD203B41FA5}">
                          <a16:colId xmlns:a16="http://schemas.microsoft.com/office/drawing/2014/main" val="2939135240"/>
                        </a:ext>
                      </a:extLst>
                    </a:gridCol>
                    <a:gridCol w="1024263">
                      <a:extLst>
                        <a:ext uri="{9D8B030D-6E8A-4147-A177-3AD203B41FA5}">
                          <a16:colId xmlns:a16="http://schemas.microsoft.com/office/drawing/2014/main" val="3529145033"/>
                        </a:ext>
                      </a:extLst>
                    </a:gridCol>
                    <a:gridCol w="1024263">
                      <a:extLst>
                        <a:ext uri="{9D8B030D-6E8A-4147-A177-3AD203B41FA5}">
                          <a16:colId xmlns:a16="http://schemas.microsoft.com/office/drawing/2014/main" val="2496985204"/>
                        </a:ext>
                      </a:extLst>
                    </a:gridCol>
                    <a:gridCol w="1024263">
                      <a:extLst>
                        <a:ext uri="{9D8B030D-6E8A-4147-A177-3AD203B41FA5}">
                          <a16:colId xmlns:a16="http://schemas.microsoft.com/office/drawing/2014/main" val="3540764006"/>
                        </a:ext>
                      </a:extLst>
                    </a:gridCol>
                    <a:gridCol w="757047">
                      <a:extLst>
                        <a:ext uri="{9D8B030D-6E8A-4147-A177-3AD203B41FA5}">
                          <a16:colId xmlns:a16="http://schemas.microsoft.com/office/drawing/2014/main" val="1887286654"/>
                        </a:ext>
                      </a:extLst>
                    </a:gridCol>
                    <a:gridCol w="1669587">
                      <a:extLst>
                        <a:ext uri="{9D8B030D-6E8A-4147-A177-3AD203B41FA5}">
                          <a16:colId xmlns:a16="http://schemas.microsoft.com/office/drawing/2014/main" val="3522824154"/>
                        </a:ext>
                      </a:extLst>
                    </a:gridCol>
                  </a:tblGrid>
                  <a:tr h="429348">
                    <a:tc gridSpan="5"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Numbers</a:t>
                          </a: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Symbol</a:t>
                          </a: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90726833"/>
                      </a:ext>
                    </a:extLst>
                  </a:tr>
                  <a:tr h="625558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235" t="-70000" r="-537037" b="-216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02500" t="-70000" r="-443750" b="-216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200000" t="-70000" r="-338272" b="-216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300000" t="-70000" r="-238272" b="-216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549153" t="-70000" r="-227119" b="-216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290152" t="-70000" r="-1515" b="-216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14139518"/>
                      </a:ext>
                    </a:extLst>
                  </a:tr>
                  <a:tr h="656569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235" t="-163462" r="-537037" b="-10769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02500" t="-163462" r="-443750" b="-10769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200000" t="-163462" r="-338272" b="-10769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300000" t="-163462" r="-238272" b="-10769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549153" t="-163462" r="-227119" b="-10769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290152" t="-163462" r="-1515" b="-10769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866020835"/>
                      </a:ext>
                    </a:extLst>
                  </a:tr>
                  <a:tr h="675419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235" t="-258491" r="-537037" b="-566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02500" t="-258491" r="-443750" b="-566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200000" t="-258491" r="-338272" b="-566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300000" t="-258491" r="-238272" b="-566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549153" t="-258491" r="-227119" b="-566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290152" t="-258491" r="-1515" b="-566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41167717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xmlns="" id="{B947F168-A525-2A47-AF68-048D807D97C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748151445"/>
                  </p:ext>
                </p:extLst>
              </p:nvPr>
            </p:nvGraphicFramePr>
            <p:xfrm>
              <a:off x="2834481" y="2488493"/>
              <a:ext cx="6523038" cy="4050284"/>
            </p:xfrm>
            <a:graphic>
              <a:graphicData uri="http://schemas.openxmlformats.org/drawingml/2006/table">
                <a:tbl>
                  <a:tblPr bandRow="1">
                    <a:tableStyleId>{A91F0D33-8C57-4600-99A7-42BC86742BE1}</a:tableStyleId>
                  </a:tblPr>
                  <a:tblGrid>
                    <a:gridCol w="1430341">
                      <a:extLst>
                        <a:ext uri="{9D8B030D-6E8A-4147-A177-3AD203B41FA5}">
                          <a16:colId xmlns:a16="http://schemas.microsoft.com/office/drawing/2014/main" xmlns="" val="315075782"/>
                        </a:ext>
                      </a:extLst>
                    </a:gridCol>
                    <a:gridCol w="2072478">
                      <a:extLst>
                        <a:ext uri="{9D8B030D-6E8A-4147-A177-3AD203B41FA5}">
                          <a16:colId xmlns:a16="http://schemas.microsoft.com/office/drawing/2014/main" xmlns="" val="3130106372"/>
                        </a:ext>
                      </a:extLst>
                    </a:gridCol>
                    <a:gridCol w="3020219">
                      <a:extLst>
                        <a:ext uri="{9D8B030D-6E8A-4147-A177-3AD203B41FA5}">
                          <a16:colId xmlns:a16="http://schemas.microsoft.com/office/drawing/2014/main" xmlns="" val="246161415"/>
                        </a:ext>
                      </a:extLst>
                    </a:gridCol>
                  </a:tblGrid>
                  <a:tr h="640424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Partner</a:t>
                          </a: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Mathematical Statement</a:t>
                          </a: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Statement in Words</a:t>
                          </a: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2436721808"/>
                      </a:ext>
                    </a:extLst>
                  </a:tr>
                  <a:tr h="586653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i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Example</a:t>
                          </a: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 dirty="0" smtClean="0">
                                    <a:effectLst/>
                                    <a:latin typeface="Cambria Math" panose="02040503050406030204" pitchFamily="18" charset="0"/>
                                  </a:rPr>
                                  <m:t>|3|&lt;4</m:t>
                                </m:r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the absolute value of </a:t>
                          </a:r>
                          <a14:m>
                            <m:oMath xmlns:m="http://schemas.openxmlformats.org/officeDocument/2006/math">
                              <m:r>
                                <a:rPr lang="en-US" sz="2000" i="1" dirty="0" smtClean="0">
                                  <a:effectLst/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  <a:cs typeface="Verdana" panose="020B0604030504040204" pitchFamily="34" charset="0"/>
                                </a:rPr>
                                <m:t>3</m:t>
                              </m:r>
                            </m:oMath>
                          </a14:m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 is less than </a:t>
                          </a:r>
                          <a14:m>
                            <m:oMath xmlns:m="http://schemas.openxmlformats.org/officeDocument/2006/math">
                              <m:r>
                                <a:rPr lang="en-US" sz="2000" i="1" dirty="0" smtClean="0">
                                  <a:effectLst/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  <a:cs typeface="Verdana" panose="020B0604030504040204" pitchFamily="34" charset="0"/>
                                </a:rPr>
                                <m:t>4</m:t>
                              </m:r>
                            </m:oMath>
                          </a14:m>
                          <a:endParaRPr lang="en-US" sz="20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556323884"/>
                      </a:ext>
                    </a:extLst>
                  </a:tr>
                  <a:tr h="700065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Partner A</a:t>
                          </a: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4291722311"/>
                      </a:ext>
                    </a:extLst>
                  </a:tr>
                  <a:tr h="700065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Partner B</a:t>
                          </a: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3631612198"/>
                      </a:ext>
                    </a:extLst>
                  </a:tr>
                  <a:tr h="700065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Partner A</a:t>
                          </a: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2530671217"/>
                      </a:ext>
                    </a:extLst>
                  </a:tr>
                  <a:tr h="700065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Partner B</a:t>
                          </a: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245651486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id="{B947F168-A525-2A47-AF68-048D807D97C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748151445"/>
                  </p:ext>
                </p:extLst>
              </p:nvPr>
            </p:nvGraphicFramePr>
            <p:xfrm>
              <a:off x="1310481" y="2488493"/>
              <a:ext cx="6523038" cy="4050284"/>
            </p:xfrm>
            <a:graphic>
              <a:graphicData uri="http://schemas.openxmlformats.org/drawingml/2006/table">
                <a:tbl>
                  <a:tblPr bandRow="1">
                    <a:tableStyleId>{A91F0D33-8C57-4600-99A7-42BC86742BE1}</a:tableStyleId>
                  </a:tblPr>
                  <a:tblGrid>
                    <a:gridCol w="1430341">
                      <a:extLst>
                        <a:ext uri="{9D8B030D-6E8A-4147-A177-3AD203B41FA5}">
                          <a16:colId xmlns:a16="http://schemas.microsoft.com/office/drawing/2014/main" val="315075782"/>
                        </a:ext>
                      </a:extLst>
                    </a:gridCol>
                    <a:gridCol w="2072478">
                      <a:extLst>
                        <a:ext uri="{9D8B030D-6E8A-4147-A177-3AD203B41FA5}">
                          <a16:colId xmlns:a16="http://schemas.microsoft.com/office/drawing/2014/main" val="3130106372"/>
                        </a:ext>
                      </a:extLst>
                    </a:gridCol>
                    <a:gridCol w="3020219">
                      <a:extLst>
                        <a:ext uri="{9D8B030D-6E8A-4147-A177-3AD203B41FA5}">
                          <a16:colId xmlns:a16="http://schemas.microsoft.com/office/drawing/2014/main" val="246161415"/>
                        </a:ext>
                      </a:extLst>
                    </a:gridCol>
                  </a:tblGrid>
                  <a:tr h="640424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Partner</a:t>
                          </a: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Mathematical Statement</a:t>
                          </a: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Statement in Words</a:t>
                          </a: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36721808"/>
                      </a:ext>
                    </a:extLst>
                  </a:tr>
                  <a:tr h="6096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i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Example</a:t>
                          </a: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69939" t="-114583" r="-147239" b="-4625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116387" t="-114583" r="-840" b="-4625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56323884"/>
                      </a:ext>
                    </a:extLst>
                  </a:tr>
                  <a:tr h="700065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Partner A</a:t>
                          </a: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4291722311"/>
                      </a:ext>
                    </a:extLst>
                  </a:tr>
                  <a:tr h="700065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Partner B</a:t>
                          </a: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631612198"/>
                      </a:ext>
                    </a:extLst>
                  </a:tr>
                  <a:tr h="700065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Partner A</a:t>
                          </a: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530671217"/>
                      </a:ext>
                    </a:extLst>
                  </a:tr>
                  <a:tr h="700065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Partner B</a:t>
                          </a: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245651486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7" name="Google Shape;282;g104476d1465_1_17"/>
          <p:cNvSpPr txBox="1"/>
          <p:nvPr/>
        </p:nvSpPr>
        <p:spPr>
          <a:xfrm>
            <a:off x="8663102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119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" name="Google Shape;283;g104476d1465_1_17"/>
          <p:cNvPicPr preferRelativeResize="0"/>
          <p:nvPr/>
        </p:nvPicPr>
        <p:blipFill>
          <a:blip r:embed="rId6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01328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70159880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-8226"/>
            <a:ext cx="2731200" cy="6866100"/>
          </a:xfrm>
          <a:prstGeom prst="rect">
            <a:avLst/>
          </a:prstGeom>
          <a:solidFill>
            <a:srgbClr val="FCBD1E"/>
          </a:solidFill>
          <a:ln w="9525" cap="flat" cmpd="sng">
            <a:solidFill>
              <a:srgbClr val="FCBD1E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664867" y="2766145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Guided Instruction</a:t>
            </a:r>
            <a:endParaRPr sz="5100" b="1" dirty="0">
              <a:solidFill>
                <a:srgbClr val="54B5D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7" name="Google Shape;338;g103996e1364_0_315">
            <a:extLst>
              <a:ext uri="{FF2B5EF4-FFF2-40B4-BE49-F238E27FC236}">
                <a16:creationId xmlns:a16="http://schemas.microsoft.com/office/drawing/2014/main" xmlns="" id="{2AC58C8F-2DD8-F347-9ECA-58EE9E1B7E9C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519075" y="2849920"/>
            <a:ext cx="1145792" cy="115815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9" name="Google Shape;282;g104476d1465_1_17"/>
          <p:cNvSpPr txBox="1"/>
          <p:nvPr/>
        </p:nvSpPr>
        <p:spPr>
          <a:xfrm>
            <a:off x="8663102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120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01328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90915990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343;g103996e1364_0_321">
            <a:extLst>
              <a:ext uri="{FF2B5EF4-FFF2-40B4-BE49-F238E27FC236}">
                <a16:creationId xmlns:a16="http://schemas.microsoft.com/office/drawing/2014/main" xmlns="" id="{21B1DF8E-16A0-FA4E-8CEB-434668DFA68D}"/>
              </a:ext>
            </a:extLst>
          </p:cNvPr>
          <p:cNvSpPr txBox="1">
            <a:spLocks/>
          </p:cNvSpPr>
          <p:nvPr/>
        </p:nvSpPr>
        <p:spPr>
          <a:xfrm>
            <a:off x="1428964" y="-34755"/>
            <a:ext cx="80193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</a:pPr>
            <a:r>
              <a:rPr lang="en-US" sz="32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3.8.5 Guided Instruction: Operations Using Absolute Value </a:t>
            </a:r>
          </a:p>
        </p:txBody>
      </p:sp>
      <p:pic>
        <p:nvPicPr>
          <p:cNvPr id="9" name="Google Shape;345;g103996e1364_0_321">
            <a:extLst>
              <a:ext uri="{FF2B5EF4-FFF2-40B4-BE49-F238E27FC236}">
                <a16:creationId xmlns:a16="http://schemas.microsoft.com/office/drawing/2014/main" xmlns="" id="{CBDD45DF-949B-9F42-BFF6-A7167F0CF795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81664" y="172509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xmlns="" id="{C01B13E8-EC8D-E443-A329-C5E3593DD13A}"/>
                  </a:ext>
                </a:extLst>
              </p:cNvPr>
              <p:cNvSpPr txBox="1"/>
              <p:nvPr/>
            </p:nvSpPr>
            <p:spPr>
              <a:xfrm>
                <a:off x="1428964" y="1386025"/>
                <a:ext cx="8958620" cy="193899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/>
                </a:pPr>
                <a:r>
                  <a:rPr lang="en-US" sz="2400" dirty="0" err="1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Ty’shaun</a:t>
                </a: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and Gabby were asked to explain their strategies for determining the sum of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|−7|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|5|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.</a:t>
                </a:r>
              </a:p>
              <a:p>
                <a:pPr marL="457200" indent="-457200">
                  <a:buFont typeface="+mj-lt"/>
                  <a:buAutoNum type="arabicPeriod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65138"/>
                <a:r>
                  <a:rPr lang="en-US" sz="2400" dirty="0" err="1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Ty’shaun</a:t>
                </a: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modeled his thinking on the number line.</a:t>
                </a:r>
              </a:p>
              <a:p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C01B13E8-EC8D-E443-A329-C5E3593DD13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28964" y="1386025"/>
                <a:ext cx="8958620" cy="1938992"/>
              </a:xfrm>
              <a:prstGeom prst="rect">
                <a:avLst/>
              </a:prstGeom>
              <a:blipFill rotWithShape="0">
                <a:blip r:embed="rId4"/>
                <a:stretch>
                  <a:fillRect l="-1020" t="-25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Google Shape;278;g104476d1465_1_17">
            <a:extLst>
              <a:ext uri="{FF2B5EF4-FFF2-40B4-BE49-F238E27FC236}">
                <a16:creationId xmlns:a16="http://schemas.microsoft.com/office/drawing/2014/main" xmlns="" id="{F7A98FFB-A3E6-7642-B96E-3A3B8C27BD7F}"/>
              </a:ext>
            </a:extLst>
          </p:cNvPr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FCBD1E"/>
          </a:solidFill>
          <a:ln w="9525" cap="flat" cmpd="sng">
            <a:solidFill>
              <a:srgbClr val="FCBD1E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" name="Picture 2" descr="Chart, box and whisker chart&#10;&#10;Description automatically generated">
            <a:extLst>
              <a:ext uri="{FF2B5EF4-FFF2-40B4-BE49-F238E27FC236}">
                <a16:creationId xmlns:a16="http://schemas.microsoft.com/office/drawing/2014/main" xmlns="" id="{E90A3EF4-7424-B74A-80B6-C3AAC2F1101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90393" y="3939702"/>
            <a:ext cx="7886700" cy="2154211"/>
          </a:xfrm>
          <a:prstGeom prst="rect">
            <a:avLst/>
          </a:prstGeom>
        </p:spPr>
      </p:pic>
      <p:sp>
        <p:nvSpPr>
          <p:cNvPr id="10" name="Google Shape;282;g104476d1465_1_17"/>
          <p:cNvSpPr txBox="1"/>
          <p:nvPr/>
        </p:nvSpPr>
        <p:spPr>
          <a:xfrm>
            <a:off x="8663102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120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" name="Google Shape;283;g104476d1465_1_17"/>
          <p:cNvPicPr preferRelativeResize="0"/>
          <p:nvPr/>
        </p:nvPicPr>
        <p:blipFill>
          <a:blip r:embed="rId6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01328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90754969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xmlns="" id="{8AE5E1E0-A54D-BE42-84B5-F917038ADE99}"/>
                  </a:ext>
                </a:extLst>
              </p:cNvPr>
              <p:cNvSpPr txBox="1"/>
              <p:nvPr/>
            </p:nvSpPr>
            <p:spPr>
              <a:xfrm>
                <a:off x="914400" y="288746"/>
                <a:ext cx="9345168" cy="452431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65138"/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Gabby’s explanation was “I know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|−7|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is a distance of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7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from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0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|5|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is a distance of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5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from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0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. The sum of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7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5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is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12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, so the sum of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|−7|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|5|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is also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12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.”</a:t>
                </a:r>
              </a:p>
              <a:p>
                <a:pPr marL="465138"/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65138"/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65138"/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Explain which strategy makes more sense to you.</a:t>
                </a:r>
              </a:p>
              <a:p>
                <a:pPr marL="465138"/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65138"/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65138"/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65138"/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65138"/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65138"/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8AE5E1E0-A54D-BE42-84B5-F917038ADE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4400" y="288746"/>
                <a:ext cx="9345168" cy="4524315"/>
              </a:xfrm>
              <a:prstGeom prst="rect">
                <a:avLst/>
              </a:prstGeom>
              <a:blipFill rotWithShape="0">
                <a:blip r:embed="rId3"/>
                <a:stretch>
                  <a:fillRect t="-12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Google Shape;278;g104476d1465_1_17">
            <a:extLst>
              <a:ext uri="{FF2B5EF4-FFF2-40B4-BE49-F238E27FC236}">
                <a16:creationId xmlns:a16="http://schemas.microsoft.com/office/drawing/2014/main" xmlns="" id="{D132551E-02DD-6A43-9F52-A70D434DE096}"/>
              </a:ext>
            </a:extLst>
          </p:cNvPr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FCBD1E"/>
          </a:solidFill>
          <a:ln w="9525" cap="flat" cmpd="sng">
            <a:solidFill>
              <a:srgbClr val="FCBD1E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7" name="Google Shape;282;g104476d1465_1_17"/>
          <p:cNvSpPr txBox="1"/>
          <p:nvPr/>
        </p:nvSpPr>
        <p:spPr>
          <a:xfrm>
            <a:off x="8663102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120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01328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84865072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xmlns="" id="{8AE5E1E0-A54D-BE42-84B5-F917038ADE99}"/>
                  </a:ext>
                </a:extLst>
              </p:cNvPr>
              <p:cNvSpPr txBox="1"/>
              <p:nvPr/>
            </p:nvSpPr>
            <p:spPr>
              <a:xfrm>
                <a:off x="1162373" y="288745"/>
                <a:ext cx="9097195" cy="437004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 startAt="2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Find the value of each expression.</a:t>
                </a:r>
              </a:p>
              <a:p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7575" indent="-452438">
                  <a:buFont typeface="+mj-lt"/>
                  <a:buAutoNum type="alphaLcPeriod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sz="2400" i="1">
                            <a:latin typeface="Cambria Math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</m:ctrlPr>
                      </m:d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  <m:t>−18</m:t>
                        </m:r>
                      </m:e>
                    </m:d>
                    <m:r>
                      <a:rPr lang="en-US" sz="2400" i="1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−</m:t>
                    </m:r>
                    <m:d>
                      <m:dPr>
                        <m:begChr m:val="|"/>
                        <m:endChr m:val="|"/>
                        <m:ctrlPr>
                          <a:rPr lang="en-US" sz="2400" i="1">
                            <a:latin typeface="Cambria Math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</m:ctrlPr>
                      </m:d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  <m:t>−13</m:t>
                        </m:r>
                      </m:e>
                    </m:d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              b.  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12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Verdana" panose="020B0604030504040204" pitchFamily="34" charset="0"/>
                      </a:rPr>
                      <m:t>×</m:t>
                    </m:r>
                    <m:d>
                      <m:dPr>
                        <m:begChr m:val="|"/>
                        <m:endChr m:val="|"/>
                        <m:ctrlPr>
                          <a:rPr lang="en-US" sz="2400" i="1">
                            <a:latin typeface="Cambria Math" charset="0"/>
                            <a:ea typeface="Cambria Math" panose="02040503050406030204" pitchFamily="18" charset="0"/>
                            <a:cs typeface="Verdana" panose="020B0604030504040204" pitchFamily="34" charset="0"/>
                          </a:rPr>
                        </m:ctrlPr>
                      </m:d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Verdana" panose="020B0604030504040204" pitchFamily="34" charset="0"/>
                          </a:rPr>
                          <m:t>−4</m:t>
                        </m:r>
                      </m:e>
                    </m:d>
                  </m:oMath>
                </a14:m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lphaLcPeriod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lphaLcPeriod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lphaLcPeriod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lphaLcPeriod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lphaLcPeriod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lphaLcPeriod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7575" indent="-452438">
                  <a:buFont typeface="+mj-lt"/>
                  <a:buAutoNum type="alphaLcPeriod" startAt="3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i="1">
                            <a:latin typeface="Cambria Math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</m:ctrlPr>
                      </m:fPr>
                      <m:num>
                        <m:d>
                          <m:dPr>
                            <m:begChr m:val="|"/>
                            <m:endChr m:val="|"/>
                            <m:ctrlPr>
                              <a:rPr lang="en-US" sz="2400" i="1">
                                <a:latin typeface="Cambria Math" charset="0"/>
                                <a:ea typeface="Verdana" panose="020B0604030504040204" pitchFamily="34" charset="0"/>
                                <a:cs typeface="Verdana" panose="020B0604030504040204" pitchFamily="34" charset="0"/>
                              </a:rPr>
                            </m:ctrlPr>
                          </m:d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  <a:ea typeface="Verdana" panose="020B0604030504040204" pitchFamily="34" charset="0"/>
                                <a:cs typeface="Verdana" panose="020B0604030504040204" pitchFamily="34" charset="0"/>
                              </a:rPr>
                              <m:t>45</m:t>
                            </m:r>
                          </m:e>
                        </m:d>
                      </m:num>
                      <m:den>
                        <m:d>
                          <m:dPr>
                            <m:begChr m:val="|"/>
                            <m:endChr m:val="|"/>
                            <m:ctrlPr>
                              <a:rPr lang="en-US" sz="2400" i="1">
                                <a:latin typeface="Cambria Math" charset="0"/>
                                <a:ea typeface="Verdana" panose="020B0604030504040204" pitchFamily="34" charset="0"/>
                                <a:cs typeface="Verdana" panose="020B0604030504040204" pitchFamily="34" charset="0"/>
                              </a:rPr>
                            </m:ctrlPr>
                          </m:d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  <a:ea typeface="Verdana" panose="020B0604030504040204" pitchFamily="34" charset="0"/>
                                <a:cs typeface="Verdana" panose="020B0604030504040204" pitchFamily="34" charset="0"/>
                              </a:rPr>
                              <m:t>−3</m:t>
                            </m:r>
                          </m:e>
                        </m:d>
                      </m:den>
                    </m:f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                            d.  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sz="2400" i="1">
                            <a:latin typeface="Cambria Math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</m:ctrlPr>
                      </m:d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  <m:t>−22</m:t>
                        </m:r>
                      </m:e>
                    </m:d>
                    <m:r>
                      <a:rPr lang="en-US" sz="2400" i="1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+</m:t>
                    </m:r>
                    <m:d>
                      <m:dPr>
                        <m:begChr m:val="|"/>
                        <m:endChr m:val="|"/>
                        <m:ctrlPr>
                          <a:rPr lang="en-US" sz="2400" i="1">
                            <a:latin typeface="Cambria Math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</m:ctrlPr>
                      </m:d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  <m:t>31</m:t>
                        </m:r>
                      </m:e>
                    </m:d>
                    <m:r>
                      <a:rPr lang="en-US" sz="2400" i="1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+</m:t>
                    </m:r>
                    <m:d>
                      <m:dPr>
                        <m:begChr m:val="|"/>
                        <m:endChr m:val="|"/>
                        <m:ctrlPr>
                          <a:rPr lang="en-US" sz="2400" i="1">
                            <a:latin typeface="Cambria Math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</m:ctrlPr>
                      </m:d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  <m:t>40</m:t>
                        </m:r>
                      </m:e>
                    </m:d>
                  </m:oMath>
                </a14:m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8AE5E1E0-A54D-BE42-84B5-F917038ADE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62373" y="288745"/>
                <a:ext cx="9097195" cy="4370042"/>
              </a:xfrm>
              <a:prstGeom prst="rect">
                <a:avLst/>
              </a:prstGeom>
              <a:blipFill rotWithShape="0">
                <a:blip r:embed="rId3"/>
                <a:stretch>
                  <a:fillRect l="-1072" t="-11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Google Shape;278;g104476d1465_1_17">
            <a:extLst>
              <a:ext uri="{FF2B5EF4-FFF2-40B4-BE49-F238E27FC236}">
                <a16:creationId xmlns:a16="http://schemas.microsoft.com/office/drawing/2014/main" xmlns="" id="{D132551E-02DD-6A43-9F52-A70D434DE096}"/>
              </a:ext>
            </a:extLst>
          </p:cNvPr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FCBD1E"/>
          </a:solidFill>
          <a:ln w="9525" cap="flat" cmpd="sng">
            <a:solidFill>
              <a:srgbClr val="FCBD1E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7" name="Google Shape;282;g104476d1465_1_17"/>
          <p:cNvSpPr txBox="1"/>
          <p:nvPr/>
        </p:nvSpPr>
        <p:spPr>
          <a:xfrm>
            <a:off x="8663102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120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01328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418743892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FCBD1E"/>
          </a:solidFill>
          <a:ln w="9525" cap="flat" cmpd="sng">
            <a:solidFill>
              <a:srgbClr val="FCBD1E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664867" y="2766145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E24E5F"/>
                </a:solidFill>
                <a:latin typeface="Verdana"/>
                <a:ea typeface="Verdana"/>
                <a:cs typeface="Verdana"/>
                <a:sym typeface="Verdana"/>
              </a:rPr>
              <a:t>Your Turn</a:t>
            </a:r>
            <a:endParaRPr sz="5100" b="1" dirty="0">
              <a:solidFill>
                <a:srgbClr val="E24E5F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8" name="Google Shape;423;g103996e1364_0_416">
            <a:extLst>
              <a:ext uri="{FF2B5EF4-FFF2-40B4-BE49-F238E27FC236}">
                <a16:creationId xmlns:a16="http://schemas.microsoft.com/office/drawing/2014/main" xmlns="" id="{93D338D9-F4F3-AC46-BAB5-0DC7D3916679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412728" y="2897929"/>
            <a:ext cx="1122440" cy="1062143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7" name="Google Shape;282;g104476d1465_1_17"/>
          <p:cNvSpPr txBox="1"/>
          <p:nvPr/>
        </p:nvSpPr>
        <p:spPr>
          <a:xfrm>
            <a:off x="8663102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121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01328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79083965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428;g103996e1364_0_428">
            <a:extLst>
              <a:ext uri="{FF2B5EF4-FFF2-40B4-BE49-F238E27FC236}">
                <a16:creationId xmlns:a16="http://schemas.microsoft.com/office/drawing/2014/main" xmlns="" id="{07112538-C7A8-8B4A-B739-C3032B04086A}"/>
              </a:ext>
            </a:extLst>
          </p:cNvPr>
          <p:cNvSpPr txBox="1">
            <a:spLocks/>
          </p:cNvSpPr>
          <p:nvPr/>
        </p:nvSpPr>
        <p:spPr>
          <a:xfrm>
            <a:off x="1428964" y="91393"/>
            <a:ext cx="8019300" cy="74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4300" b="1" dirty="0">
                <a:solidFill>
                  <a:srgbClr val="E24E5F"/>
                </a:solidFill>
                <a:latin typeface="Verdana"/>
                <a:ea typeface="Verdana"/>
                <a:cs typeface="Verdana"/>
                <a:sym typeface="Verdana"/>
              </a:rPr>
              <a:t>3.8.6 Your Turn!</a:t>
            </a:r>
          </a:p>
        </p:txBody>
      </p:sp>
      <p:pic>
        <p:nvPicPr>
          <p:cNvPr id="9" name="Google Shape;430;g103996e1364_0_428">
            <a:extLst>
              <a:ext uri="{FF2B5EF4-FFF2-40B4-BE49-F238E27FC236}">
                <a16:creationId xmlns:a16="http://schemas.microsoft.com/office/drawing/2014/main" xmlns="" id="{032D5487-B5A9-DE4B-AE87-33198BE16145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81664" y="91393"/>
            <a:ext cx="747300" cy="747300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xmlns="" id="{759C3E41-93EC-B84D-963F-86A3B15AC1C6}"/>
                  </a:ext>
                </a:extLst>
              </p:cNvPr>
              <p:cNvSpPr txBox="1"/>
              <p:nvPr/>
            </p:nvSpPr>
            <p:spPr>
              <a:xfrm>
                <a:off x="1428964" y="1386026"/>
                <a:ext cx="8958620" cy="452431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Use the symbols 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&gt;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, 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&lt;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, or 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=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 to compare each pair of values.</a:t>
                </a:r>
              </a:p>
              <a:p>
                <a:pPr marL="457200" indent="-457200">
                  <a:buFont typeface="+mj-lt"/>
                  <a:buAutoNum type="arabicPeriod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7575" indent="-452438">
                  <a:buFont typeface="+mj-lt"/>
                  <a:buAutoNum type="alphaLcPeriod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|−42| ____ −25 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               d.  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|−512| ____ 284</m:t>
                    </m:r>
                  </m:oMath>
                </a14:m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7575" indent="-452438">
                  <a:buFont typeface="+mj-lt"/>
                  <a:buAutoNum type="alphaLcPeriod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7575" indent="-452438">
                  <a:buFont typeface="+mj-lt"/>
                  <a:buAutoNum type="alphaLcPeriod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7575" indent="-452438">
                  <a:buFont typeface="+mj-lt"/>
                  <a:buAutoNum type="alphaLcPeriod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7575" indent="-452438">
                  <a:buFont typeface="+mj-lt"/>
                  <a:buAutoNum type="alphaLcPeriod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−21 ____ |18|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                    e.  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|−176| ____ |176| </m:t>
                    </m:r>
                  </m:oMath>
                </a14:m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7575" indent="-452438">
                  <a:buFont typeface="+mj-lt"/>
                  <a:buAutoNum type="alphaLcPeriod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7575" indent="-452438">
                  <a:buFont typeface="+mj-lt"/>
                  <a:buAutoNum type="alphaLcPeriod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7575" indent="-452438">
                  <a:buFont typeface="+mj-lt"/>
                  <a:buAutoNum type="alphaLcPeriod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7575" indent="-452438">
                  <a:buFont typeface="+mj-lt"/>
                  <a:buAutoNum type="alphaLcPeriod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|−582| ____ |−790|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           f.  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|−38| ____ 0</m:t>
                    </m:r>
                  </m:oMath>
                </a14:m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759C3E41-93EC-B84D-963F-86A3B15AC1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28964" y="1386026"/>
                <a:ext cx="8958620" cy="4524315"/>
              </a:xfrm>
              <a:prstGeom prst="rect">
                <a:avLst/>
              </a:prstGeom>
              <a:blipFill rotWithShape="0">
                <a:blip r:embed="rId4"/>
                <a:stretch>
                  <a:fillRect l="-1020" t="-1211" r="-1020" b="-1265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Google Shape;278;g104476d1465_1_17">
            <a:extLst>
              <a:ext uri="{FF2B5EF4-FFF2-40B4-BE49-F238E27FC236}">
                <a16:creationId xmlns:a16="http://schemas.microsoft.com/office/drawing/2014/main" xmlns="" id="{B65A09A0-1E94-F34F-9AC7-848B14CF3F5C}"/>
              </a:ext>
            </a:extLst>
          </p:cNvPr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FCBD1E"/>
          </a:solidFill>
          <a:ln w="9525" cap="flat" cmpd="sng">
            <a:solidFill>
              <a:srgbClr val="FCBD1E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10" name="Google Shape;282;g104476d1465_1_17"/>
          <p:cNvSpPr txBox="1"/>
          <p:nvPr/>
        </p:nvSpPr>
        <p:spPr>
          <a:xfrm>
            <a:off x="8663102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121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" name="Google Shape;283;g104476d1465_1_17"/>
          <p:cNvPicPr preferRelativeResize="0"/>
          <p:nvPr/>
        </p:nvPicPr>
        <p:blipFill>
          <a:blip r:embed="rId5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01328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10129987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xmlns="" id="{08C67FCF-92C3-654A-BF40-5BDF7A4F9271}"/>
                  </a:ext>
                </a:extLst>
              </p:cNvPr>
              <p:cNvSpPr txBox="1"/>
              <p:nvPr/>
            </p:nvSpPr>
            <p:spPr>
              <a:xfrm>
                <a:off x="1193369" y="254745"/>
                <a:ext cx="9066199" cy="600164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 startAt="2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An octopus is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47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feet below sea level at the same time a dolphin is at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108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feet below sea level.</a:t>
                </a:r>
              </a:p>
              <a:p>
                <a:pPr marL="457200" indent="-457200">
                  <a:buFont typeface="+mj-lt"/>
                  <a:buAutoNum type="arabicPeriod" startAt="2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7575" indent="-452438">
                  <a:buFont typeface="+mj-lt"/>
                  <a:buAutoNum type="alphaLcPeriod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Write a value to describe the position of each sea animal relative to sea level.</a:t>
                </a:r>
              </a:p>
              <a:p>
                <a:pPr marL="917575" indent="-452438">
                  <a:buFont typeface="+mj-lt"/>
                  <a:buAutoNum type="alphaLcPeriod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7575" indent="-452438">
                  <a:buFont typeface="+mj-lt"/>
                  <a:buAutoNum type="alphaLcPeriod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65137"/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22337" indent="-457200">
                  <a:buFont typeface="+mj-lt"/>
                  <a:buAutoNum type="alphaLcPeriod" startAt="2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Use an inequality symbol, &lt; or &gt;, to write an inequality comparing the distance each sea animal is from sea level.</a:t>
                </a:r>
              </a:p>
              <a:p>
                <a:pPr marL="917575" indent="-452438">
                  <a:buFont typeface="+mj-lt"/>
                  <a:buAutoNum type="alphaLcPeriod" startAt="2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2287588" indent="-452438"/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|_________| ___ |_________|</a:t>
                </a:r>
              </a:p>
              <a:p>
                <a:pPr marL="2287588" indent="-452438"/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22337" indent="-457200">
                  <a:buFont typeface="+mj-lt"/>
                  <a:buAutoNum type="alphaLcPeriod" startAt="3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What does this inequality statement indicate about the locations of each sea animal?</a:t>
                </a:r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08C67FCF-92C3-654A-BF40-5BDF7A4F927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93369" y="254745"/>
                <a:ext cx="9066199" cy="6001643"/>
              </a:xfrm>
              <a:prstGeom prst="rect">
                <a:avLst/>
              </a:prstGeom>
              <a:blipFill rotWithShape="0">
                <a:blip r:embed="rId3"/>
                <a:stretch>
                  <a:fillRect l="-1076" t="-915" r="-1681" b="-142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Google Shape;278;g104476d1465_1_17">
            <a:extLst>
              <a:ext uri="{FF2B5EF4-FFF2-40B4-BE49-F238E27FC236}">
                <a16:creationId xmlns:a16="http://schemas.microsoft.com/office/drawing/2014/main" xmlns="" id="{C20EB48B-0C2A-FF47-ACB6-866A7F95956C}"/>
              </a:ext>
            </a:extLst>
          </p:cNvPr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FCBD1E"/>
          </a:solidFill>
          <a:ln w="9525" cap="flat" cmpd="sng">
            <a:solidFill>
              <a:srgbClr val="FCBD1E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xmlns="" id="{DD549D15-DB3A-A948-A7B1-B15947DEEAF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4988161"/>
              </p:ext>
            </p:extLst>
          </p:nvPr>
        </p:nvGraphicFramePr>
        <p:xfrm>
          <a:off x="4267200" y="2262664"/>
          <a:ext cx="3657600" cy="789940"/>
        </p:xfrm>
        <a:graphic>
          <a:graphicData uri="http://schemas.openxmlformats.org/drawingml/2006/table">
            <a:tbl>
              <a:tblPr bandRow="1">
                <a:tableStyleId>{A91F0D33-8C57-4600-99A7-42BC86742BE1}</a:tableStyleId>
              </a:tblPr>
              <a:tblGrid>
                <a:gridCol w="1828800">
                  <a:extLst>
                    <a:ext uri="{9D8B030D-6E8A-4147-A177-3AD203B41FA5}">
                      <a16:colId xmlns:a16="http://schemas.microsoft.com/office/drawing/2014/main" xmlns="" val="2480451701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xmlns="" val="358641421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Octopus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Dolphin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806569096"/>
                  </a:ext>
                </a:extLst>
              </a:tr>
              <a:tr h="48514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 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 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622828285"/>
                  </a:ext>
                </a:extLst>
              </a:tr>
            </a:tbl>
          </a:graphicData>
        </a:graphic>
      </p:graphicFrame>
      <p:sp>
        <p:nvSpPr>
          <p:cNvPr id="7" name="Google Shape;282;g104476d1465_1_17"/>
          <p:cNvSpPr txBox="1"/>
          <p:nvPr/>
        </p:nvSpPr>
        <p:spPr>
          <a:xfrm>
            <a:off x="8663102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121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01328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84361462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xmlns="" id="{08C67FCF-92C3-654A-BF40-5BDF7A4F9271}"/>
                  </a:ext>
                </a:extLst>
              </p:cNvPr>
              <p:cNvSpPr txBox="1"/>
              <p:nvPr/>
            </p:nvSpPr>
            <p:spPr>
              <a:xfrm>
                <a:off x="1100380" y="398473"/>
                <a:ext cx="9159188" cy="618066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 startAt="2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Find the value of each expression.</a:t>
                </a:r>
              </a:p>
              <a:p>
                <a:pPr marL="457200" indent="-457200">
                  <a:buFont typeface="+mj-lt"/>
                  <a:buAutoNum type="arabicPeriod" startAt="2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7575" indent="-452438">
                  <a:buFont typeface="+mj-lt"/>
                  <a:buAutoNum type="alphaLcPeriod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|−58|+12=________  </m:t>
                    </m:r>
                  </m:oMath>
                </a14:m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7575" indent="-452438">
                  <a:buFont typeface="+mj-lt"/>
                  <a:buAutoNum type="alphaLcPeriod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7575" indent="-452438">
                  <a:buFont typeface="+mj-lt"/>
                  <a:buAutoNum type="alphaLcPeriod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7575" indent="-452438">
                  <a:buFont typeface="+mj-lt"/>
                  <a:buAutoNum type="alphaLcPeriod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7575" indent="-452438">
                  <a:buFont typeface="+mj-lt"/>
                  <a:buAutoNum type="alphaLcPeriod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7575" indent="-452438">
                  <a:buFont typeface="+mj-lt"/>
                  <a:buAutoNum type="alphaLcPeriod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|−13 |×5=________   </m:t>
                    </m:r>
                  </m:oMath>
                </a14:m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7575" indent="-452438">
                  <a:buFont typeface="+mj-lt"/>
                  <a:buAutoNum type="alphaLcPeriod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7575" indent="-452438">
                  <a:buFont typeface="+mj-lt"/>
                  <a:buAutoNum type="alphaLcPeriod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7575" indent="-452438">
                  <a:buFont typeface="+mj-lt"/>
                  <a:buAutoNum type="alphaLcPeriod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7575" indent="-452438">
                  <a:buFont typeface="+mj-lt"/>
                  <a:buAutoNum type="alphaLcPeriod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7575" indent="-452438">
                  <a:buFont typeface="+mj-lt"/>
                  <a:buAutoNum type="alphaLcPeriod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i="1" dirty="0">
                            <a:latin typeface="Cambria Math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</m:ctrlPr>
                      </m:fPr>
                      <m:num>
                        <m:d>
                          <m:dPr>
                            <m:begChr m:val="|"/>
                            <m:endChr m:val="|"/>
                            <m:ctrlPr>
                              <a:rPr lang="en-US" sz="2400" i="1" dirty="0">
                                <a:latin typeface="Cambria Math" charset="0"/>
                                <a:ea typeface="Verdana" panose="020B0604030504040204" pitchFamily="34" charset="0"/>
                                <a:cs typeface="Verdana" panose="020B0604030504040204" pitchFamily="34" charset="0"/>
                              </a:rPr>
                            </m:ctrlPr>
                          </m:dPr>
                          <m:e>
                            <m:r>
                              <a:rPr lang="en-US" sz="2400" i="1" dirty="0">
                                <a:latin typeface="Cambria Math" panose="02040503050406030204" pitchFamily="18" charset="0"/>
                                <a:ea typeface="Verdana" panose="020B0604030504040204" pitchFamily="34" charset="0"/>
                                <a:cs typeface="Verdana" panose="020B0604030504040204" pitchFamily="34" charset="0"/>
                              </a:rPr>
                              <m:t>−36</m:t>
                            </m:r>
                          </m:e>
                        </m:d>
                      </m:num>
                      <m:den>
                        <m:r>
                          <a:rPr lang="en-US" sz="2400" i="1" dirty="0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  <m:t>9</m:t>
                        </m:r>
                      </m:den>
                    </m:f>
                    <m:r>
                      <a:rPr lang="en-US" sz="24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 =________</m:t>
                    </m:r>
                  </m:oMath>
                </a14:m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7575" indent="-452438">
                  <a:buFont typeface="+mj-lt"/>
                  <a:buAutoNum type="alphaLcPeriod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7575" indent="-452438">
                  <a:buFont typeface="+mj-lt"/>
                  <a:buAutoNum type="alphaLcPeriod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7575" indent="-452438">
                  <a:buFont typeface="+mj-lt"/>
                  <a:buAutoNum type="alphaLcPeriod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08C67FCF-92C3-654A-BF40-5BDF7A4F927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00380" y="398473"/>
                <a:ext cx="9159188" cy="6180666"/>
              </a:xfrm>
              <a:prstGeom prst="rect">
                <a:avLst/>
              </a:prstGeom>
              <a:blipFill rotWithShape="0">
                <a:blip r:embed="rId3"/>
                <a:stretch>
                  <a:fillRect l="-1065" t="-7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Google Shape;278;g104476d1465_1_17">
            <a:extLst>
              <a:ext uri="{FF2B5EF4-FFF2-40B4-BE49-F238E27FC236}">
                <a16:creationId xmlns:a16="http://schemas.microsoft.com/office/drawing/2014/main" xmlns="" id="{C20EB48B-0C2A-FF47-ACB6-866A7F95956C}"/>
              </a:ext>
            </a:extLst>
          </p:cNvPr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FCBD1E"/>
          </a:solidFill>
          <a:ln w="9525" cap="flat" cmpd="sng">
            <a:solidFill>
              <a:srgbClr val="FCBD1E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7" name="Google Shape;282;g104476d1465_1_17"/>
          <p:cNvSpPr txBox="1"/>
          <p:nvPr/>
        </p:nvSpPr>
        <p:spPr>
          <a:xfrm>
            <a:off x="8663102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121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01328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38293939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-8226"/>
            <a:ext cx="2731200" cy="6866100"/>
          </a:xfrm>
          <a:prstGeom prst="rect">
            <a:avLst/>
          </a:prstGeom>
          <a:solidFill>
            <a:srgbClr val="FCBD1E"/>
          </a:solidFill>
          <a:ln w="9525" cap="flat" cmpd="sng">
            <a:solidFill>
              <a:srgbClr val="FCBD1E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250339" y="2779100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Wrap-Up</a:t>
            </a:r>
            <a:endParaRPr sz="5100" b="1" dirty="0">
              <a:solidFill>
                <a:srgbClr val="3F2A67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7" name="Google Shape;450;g103996e1364_0_457">
            <a:extLst>
              <a:ext uri="{FF2B5EF4-FFF2-40B4-BE49-F238E27FC236}">
                <a16:creationId xmlns:a16="http://schemas.microsoft.com/office/drawing/2014/main" xmlns="" id="{DE95225C-59B5-E847-AFA2-B83DCFFA10D8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429333" y="2933695"/>
            <a:ext cx="1008299" cy="1016513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8" name="Google Shape;282;g104476d1465_1_17"/>
          <p:cNvSpPr txBox="1"/>
          <p:nvPr/>
        </p:nvSpPr>
        <p:spPr>
          <a:xfrm>
            <a:off x="8663102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122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01328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67690871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456;g103996e1364_0_463">
            <a:extLst>
              <a:ext uri="{FF2B5EF4-FFF2-40B4-BE49-F238E27FC236}">
                <a16:creationId xmlns:a16="http://schemas.microsoft.com/office/drawing/2014/main" xmlns="" id="{68C03D65-F0BF-3F41-B52A-024F47388982}"/>
              </a:ext>
            </a:extLst>
          </p:cNvPr>
          <p:cNvSpPr txBox="1">
            <a:spLocks/>
          </p:cNvSpPr>
          <p:nvPr/>
        </p:nvSpPr>
        <p:spPr>
          <a:xfrm>
            <a:off x="1470038" y="-114255"/>
            <a:ext cx="9409771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3.8.7 Wrap-Up: Ticket Out the Door</a:t>
            </a:r>
          </a:p>
        </p:txBody>
      </p:sp>
      <p:pic>
        <p:nvPicPr>
          <p:cNvPr id="9" name="Google Shape;458;g103996e1364_0_463">
            <a:extLst>
              <a:ext uri="{FF2B5EF4-FFF2-40B4-BE49-F238E27FC236}">
                <a16:creationId xmlns:a16="http://schemas.microsoft.com/office/drawing/2014/main" xmlns="" id="{EEA44D6C-2366-AC41-B1B5-EDDC34786A66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40589" y="168123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xmlns="" id="{0370EDB7-6994-3D43-ABF9-E04CBAFB9CD9}"/>
              </a:ext>
            </a:extLst>
          </p:cNvPr>
          <p:cNvSpPr txBox="1"/>
          <p:nvPr/>
        </p:nvSpPr>
        <p:spPr>
          <a:xfrm>
            <a:off x="960895" y="1386026"/>
            <a:ext cx="1052624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The table shows the elevation, in meters (m), of five locations.</a:t>
            </a:r>
          </a:p>
        </p:txBody>
      </p:sp>
      <p:sp>
        <p:nvSpPr>
          <p:cNvPr id="8" name="Google Shape;278;g104476d1465_1_17">
            <a:extLst>
              <a:ext uri="{FF2B5EF4-FFF2-40B4-BE49-F238E27FC236}">
                <a16:creationId xmlns:a16="http://schemas.microsoft.com/office/drawing/2014/main" xmlns="" id="{31AAE36C-5822-464A-8B2B-DAD96F65814D}"/>
              </a:ext>
            </a:extLst>
          </p:cNvPr>
          <p:cNvSpPr/>
          <p:nvPr/>
        </p:nvSpPr>
        <p:spPr>
          <a:xfrm>
            <a:off x="0" y="-8100"/>
            <a:ext cx="223200" cy="6866100"/>
          </a:xfrm>
          <a:prstGeom prst="rect">
            <a:avLst/>
          </a:prstGeom>
          <a:solidFill>
            <a:srgbClr val="FCBD1E"/>
          </a:solidFill>
          <a:ln w="9525" cap="flat" cmpd="sng">
            <a:solidFill>
              <a:srgbClr val="FCBD1E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" name="Table 1">
                <a:extLst>
                  <a:ext uri="{FF2B5EF4-FFF2-40B4-BE49-F238E27FC236}">
                    <a16:creationId xmlns:a16="http://schemas.microsoft.com/office/drawing/2014/main" xmlns="" id="{68BC618E-AE30-EC4A-A178-F4A895614FE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154311129"/>
                  </p:ext>
                </p:extLst>
              </p:nvPr>
            </p:nvGraphicFramePr>
            <p:xfrm>
              <a:off x="2832366" y="2795422"/>
              <a:ext cx="6783300" cy="2160906"/>
            </p:xfrm>
            <a:graphic>
              <a:graphicData uri="http://schemas.openxmlformats.org/drawingml/2006/table">
                <a:tbl>
                  <a:tblPr firstRow="1" firstCol="1" bandRow="1">
                    <a:tableStyleId>{A91F0D33-8C57-4600-99A7-42BC86742BE1}</a:tableStyleId>
                  </a:tblPr>
                  <a:tblGrid>
                    <a:gridCol w="4437864">
                      <a:extLst>
                        <a:ext uri="{9D8B030D-6E8A-4147-A177-3AD203B41FA5}">
                          <a16:colId xmlns:a16="http://schemas.microsoft.com/office/drawing/2014/main" xmlns="" val="1314757508"/>
                        </a:ext>
                      </a:extLst>
                    </a:gridCol>
                    <a:gridCol w="2345436">
                      <a:extLst>
                        <a:ext uri="{9D8B030D-6E8A-4147-A177-3AD203B41FA5}">
                          <a16:colId xmlns:a16="http://schemas.microsoft.com/office/drawing/2014/main" xmlns="" val="1678427819"/>
                        </a:ext>
                      </a:extLst>
                    </a:gridCol>
                  </a:tblGrid>
                  <a:tr h="439093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Location</a:t>
                          </a: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Elevation (m)</a:t>
                          </a: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320863102"/>
                      </a:ext>
                    </a:extLst>
                  </a:tr>
                  <a:tr h="347309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Vpadina Kaundy, Kazakhstan</a:t>
                          </a: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0" i="1" smtClean="0">
                                    <a:effectLst/>
                                    <a:latin typeface="Cambria Math" panose="02040503050406030204" pitchFamily="18" charset="0"/>
                                    <a:ea typeface="Verdana" panose="020B0604030504040204" pitchFamily="34" charset="0"/>
                                    <a:cs typeface="Verdana" panose="020B0604030504040204" pitchFamily="34" charset="0"/>
                                  </a:rPr>
                                  <m:t>−132</m:t>
                                </m:r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86838301"/>
                      </a:ext>
                    </a:extLst>
                  </a:tr>
                  <a:tr h="347309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Laguna del Carbón, Argentina</a:t>
                          </a: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0" i="1" smtClean="0">
                                    <a:effectLst/>
                                    <a:latin typeface="Cambria Math" panose="02040503050406030204" pitchFamily="18" charset="0"/>
                                    <a:ea typeface="Verdana" panose="020B0604030504040204" pitchFamily="34" charset="0"/>
                                    <a:cs typeface="Verdana" panose="020B0604030504040204" pitchFamily="34" charset="0"/>
                                  </a:rPr>
                                  <m:t>−105</m:t>
                                </m:r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3671099684"/>
                      </a:ext>
                    </a:extLst>
                  </a:tr>
                  <a:tr h="347309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Zuidplaspolder, Netherlands</a:t>
                          </a: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0" i="1" smtClean="0">
                                    <a:effectLst/>
                                    <a:latin typeface="Cambria Math" panose="02040503050406030204" pitchFamily="18" charset="0"/>
                                    <a:ea typeface="Verdana" panose="020B0604030504040204" pitchFamily="34" charset="0"/>
                                    <a:cs typeface="Verdana" panose="020B0604030504040204" pitchFamily="34" charset="0"/>
                                  </a:rPr>
                                  <m:t>−7</m:t>
                                </m:r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274236807"/>
                      </a:ext>
                    </a:extLst>
                  </a:tr>
                  <a:tr h="339943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Fort Myers, Florida</a:t>
                          </a: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0" i="1" smtClean="0">
                                    <a:effectLst/>
                                    <a:latin typeface="Cambria Math" panose="02040503050406030204" pitchFamily="18" charset="0"/>
                                    <a:ea typeface="Verdana" panose="020B0604030504040204" pitchFamily="34" charset="0"/>
                                    <a:cs typeface="Verdana" panose="020B0604030504040204" pitchFamily="34" charset="0"/>
                                  </a:rPr>
                                  <m:t>2</m:t>
                                </m:r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197590636"/>
                      </a:ext>
                    </a:extLst>
                  </a:tr>
                  <a:tr h="339943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Britton Hill, Lakewood, Florida</a:t>
                          </a: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0" i="1" smtClean="0">
                                    <a:effectLst/>
                                    <a:latin typeface="Cambria Math" panose="02040503050406030204" pitchFamily="18" charset="0"/>
                                    <a:ea typeface="Verdana" panose="020B0604030504040204" pitchFamily="34" charset="0"/>
                                    <a:cs typeface="Verdana" panose="020B0604030504040204" pitchFamily="34" charset="0"/>
                                  </a:rPr>
                                  <m:t>105</m:t>
                                </m:r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336458286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" name="Table 1">
                <a:extLst>
                  <a:ext uri="{FF2B5EF4-FFF2-40B4-BE49-F238E27FC236}">
                    <a16:creationId xmlns:a16="http://schemas.microsoft.com/office/drawing/2014/main" id="{68BC618E-AE30-EC4A-A178-F4A895614FE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154311129"/>
                  </p:ext>
                </p:extLst>
              </p:nvPr>
            </p:nvGraphicFramePr>
            <p:xfrm>
              <a:off x="2832366" y="2795422"/>
              <a:ext cx="6783300" cy="2160906"/>
            </p:xfrm>
            <a:graphic>
              <a:graphicData uri="http://schemas.openxmlformats.org/drawingml/2006/table">
                <a:tbl>
                  <a:tblPr firstRow="1" firstCol="1" bandRow="1">
                    <a:tableStyleId>{A91F0D33-8C57-4600-99A7-42BC86742BE1}</a:tableStyleId>
                  </a:tblPr>
                  <a:tblGrid>
                    <a:gridCol w="4437864">
                      <a:extLst>
                        <a:ext uri="{9D8B030D-6E8A-4147-A177-3AD203B41FA5}">
                          <a16:colId xmlns:a16="http://schemas.microsoft.com/office/drawing/2014/main" val="1314757508"/>
                        </a:ext>
                      </a:extLst>
                    </a:gridCol>
                    <a:gridCol w="2345436">
                      <a:extLst>
                        <a:ext uri="{9D8B030D-6E8A-4147-A177-3AD203B41FA5}">
                          <a16:colId xmlns:a16="http://schemas.microsoft.com/office/drawing/2014/main" val="1678427819"/>
                        </a:ext>
                      </a:extLst>
                    </a:gridCol>
                  </a:tblGrid>
                  <a:tr h="439093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Location</a:t>
                          </a: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Elevation (m)</a:t>
                          </a: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320863102"/>
                      </a:ext>
                    </a:extLst>
                  </a:tr>
                  <a:tr h="347309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Vpadina Kaundy, Kazakhstan</a:t>
                          </a: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89610" t="-125862" r="-519" b="-42758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86838301"/>
                      </a:ext>
                    </a:extLst>
                  </a:tr>
                  <a:tr h="347309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Laguna del Carbón, Argentina</a:t>
                          </a: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89610" t="-229825" r="-519" b="-33508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671099684"/>
                      </a:ext>
                    </a:extLst>
                  </a:tr>
                  <a:tr h="347309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Zuidplaspolder, Netherlands</a:t>
                          </a: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89610" t="-329825" r="-519" b="-23508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4236807"/>
                      </a:ext>
                    </a:extLst>
                  </a:tr>
                  <a:tr h="339943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Fort Myers, Florida</a:t>
                          </a: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89610" t="-437500" r="-519" b="-13928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97590636"/>
                      </a:ext>
                    </a:extLst>
                  </a:tr>
                  <a:tr h="339943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Britton Hill, Lakewood, Florida</a:t>
                          </a: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89610" t="-537500" r="-519" b="-3928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6458286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10" name="Google Shape;282;g104476d1465_1_17"/>
          <p:cNvSpPr txBox="1"/>
          <p:nvPr/>
        </p:nvSpPr>
        <p:spPr>
          <a:xfrm>
            <a:off x="8663102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122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" name="Google Shape;283;g104476d1465_1_17"/>
          <p:cNvPicPr preferRelativeResize="0"/>
          <p:nvPr/>
        </p:nvPicPr>
        <p:blipFill>
          <a:blip r:embed="rId5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01328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55399561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xmlns="" id="{4CE9D117-FAE6-F74F-940B-9CD1479755BE}"/>
                  </a:ext>
                </a:extLst>
              </p:cNvPr>
              <p:cNvSpPr txBox="1"/>
              <p:nvPr/>
            </p:nvSpPr>
            <p:spPr>
              <a:xfrm>
                <a:off x="1394847" y="422858"/>
                <a:ext cx="9402306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65138"/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For each pair, use 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&lt;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, 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&gt;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, or 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=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 to compare their distances from sea level.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4CE9D117-FAE6-F74F-940B-9CD1479755B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94847" y="422858"/>
                <a:ext cx="9402306" cy="830997"/>
              </a:xfrm>
              <a:prstGeom prst="rect">
                <a:avLst/>
              </a:prstGeom>
              <a:blipFill rotWithShape="0">
                <a:blip r:embed="rId3"/>
                <a:stretch>
                  <a:fillRect t="-6569" b="-1532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Google Shape;278;g104476d1465_1_17">
            <a:extLst>
              <a:ext uri="{FF2B5EF4-FFF2-40B4-BE49-F238E27FC236}">
                <a16:creationId xmlns:a16="http://schemas.microsoft.com/office/drawing/2014/main" xmlns="" id="{770AEB55-C0B0-E249-801E-7B66B61DDE11}"/>
              </a:ext>
            </a:extLst>
          </p:cNvPr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FCBD1E"/>
          </a:solidFill>
          <a:ln w="9525" cap="flat" cmpd="sng">
            <a:solidFill>
              <a:srgbClr val="FCBD1E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" name="Table 1">
                <a:extLst>
                  <a:ext uri="{FF2B5EF4-FFF2-40B4-BE49-F238E27FC236}">
                    <a16:creationId xmlns:a16="http://schemas.microsoft.com/office/drawing/2014/main" xmlns="" id="{FB596B31-F994-3A40-94E0-7A33949911E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51489888"/>
                  </p:ext>
                </p:extLst>
              </p:nvPr>
            </p:nvGraphicFramePr>
            <p:xfrm>
              <a:off x="2685732" y="1692638"/>
              <a:ext cx="7263018" cy="706120"/>
            </p:xfrm>
            <a:graphic>
              <a:graphicData uri="http://schemas.openxmlformats.org/drawingml/2006/table">
                <a:tbl>
                  <a:tblPr firstRow="1" firstCol="1" bandRow="1">
                    <a:tableStyleId>{A91F0D33-8C57-4600-99A7-42BC86742BE1}</a:tableStyleId>
                  </a:tblPr>
                  <a:tblGrid>
                    <a:gridCol w="4769168">
                      <a:extLst>
                        <a:ext uri="{9D8B030D-6E8A-4147-A177-3AD203B41FA5}">
                          <a16:colId xmlns:a16="http://schemas.microsoft.com/office/drawing/2014/main" xmlns="" val="368139164"/>
                        </a:ext>
                      </a:extLst>
                    </a:gridCol>
                    <a:gridCol w="2493850">
                      <a:extLst>
                        <a:ext uri="{9D8B030D-6E8A-4147-A177-3AD203B41FA5}">
                          <a16:colId xmlns:a16="http://schemas.microsoft.com/office/drawing/2014/main" xmlns="" val="1476900249"/>
                        </a:ext>
                      </a:extLst>
                    </a:gridCol>
                  </a:tblGrid>
                  <a:tr h="354965"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 err="1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Zuidplaspolder</a:t>
                          </a: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, Netherlands</a:t>
                          </a:r>
                        </a:p>
                      </a:txBody>
                      <a:tcPr marL="68580" marR="68580" marT="0" marB="0" anchor="ctr"/>
                    </a:tc>
                    <a:tc rowSpan="2"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 xmlns:m="http://schemas.openxmlformats.org/officeDocument/2006/math"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sz="2000" i="1">
                                      <a:effectLst/>
                                      <a:latin typeface="Cambria Math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000">
                                      <a:effectLst/>
                                      <a:latin typeface="Cambria Math" panose="02040503050406030204" pitchFamily="18" charset="0"/>
                                    </a:rPr>
                                    <m:t>_______</m:t>
                                  </m:r>
                                </m:e>
                              </m:d>
                            </m:oMath>
                          </a14:m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 ___ </a:t>
                          </a:r>
                          <a14:m>
                            <m:oMath xmlns:m="http://schemas.openxmlformats.org/officeDocument/2006/math"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sz="2000" i="1">
                                      <a:effectLst/>
                                      <a:latin typeface="Cambria Math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000">
                                      <a:effectLst/>
                                      <a:latin typeface="Cambria Math" panose="02040503050406030204" pitchFamily="18" charset="0"/>
                                    </a:rPr>
                                    <m:t>_______</m:t>
                                  </m:r>
                                </m:e>
                              </m:d>
                            </m:oMath>
                          </a14:m>
                          <a:endParaRPr lang="en-US" sz="20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xmlns="" val="3451439979"/>
                      </a:ext>
                    </a:extLst>
                  </a:tr>
                  <a:tr h="351155"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Fort Myers, Florida</a:t>
                          </a:r>
                        </a:p>
                      </a:txBody>
                      <a:tcPr marL="68580" marR="68580" marT="0" marB="0" anchor="ctr"/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xmlns="" val="2330420788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" name="Table 1">
                <a:extLst>
                  <a:ext uri="{FF2B5EF4-FFF2-40B4-BE49-F238E27FC236}">
                    <a16:creationId xmlns:a16="http://schemas.microsoft.com/office/drawing/2014/main" id="{FB596B31-F994-3A40-94E0-7A33949911E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51489888"/>
                  </p:ext>
                </p:extLst>
              </p:nvPr>
            </p:nvGraphicFramePr>
            <p:xfrm>
              <a:off x="1161732" y="1692638"/>
              <a:ext cx="7263018" cy="706120"/>
            </p:xfrm>
            <a:graphic>
              <a:graphicData uri="http://schemas.openxmlformats.org/drawingml/2006/table">
                <a:tbl>
                  <a:tblPr firstRow="1" firstCol="1" bandRow="1">
                    <a:tableStyleId>{A91F0D33-8C57-4600-99A7-42BC86742BE1}</a:tableStyleId>
                  </a:tblPr>
                  <a:tblGrid>
                    <a:gridCol w="4769168">
                      <a:extLst>
                        <a:ext uri="{9D8B030D-6E8A-4147-A177-3AD203B41FA5}">
                          <a16:colId xmlns:a16="http://schemas.microsoft.com/office/drawing/2014/main" val="368139164"/>
                        </a:ext>
                      </a:extLst>
                    </a:gridCol>
                    <a:gridCol w="2493850">
                      <a:extLst>
                        <a:ext uri="{9D8B030D-6E8A-4147-A177-3AD203B41FA5}">
                          <a16:colId xmlns:a16="http://schemas.microsoft.com/office/drawing/2014/main" val="1476900249"/>
                        </a:ext>
                      </a:extLst>
                    </a:gridCol>
                  </a:tblGrid>
                  <a:tr h="354965"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 err="1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Zuidplaspolder</a:t>
                          </a: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, Netherlands</a:t>
                          </a:r>
                        </a:p>
                      </a:txBody>
                      <a:tcPr marL="68580" marR="68580" marT="0" marB="0" anchor="ctr"/>
                    </a:tc>
                    <a:tc rowSpan="2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blipFill>
                          <a:blip r:embed="rId5"/>
                          <a:stretch>
                            <a:fillRect l="-191371" t="-7143" r="-508" b="-1964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451439979"/>
                      </a:ext>
                    </a:extLst>
                  </a:tr>
                  <a:tr h="351155"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Fort Myers, Florida</a:t>
                          </a:r>
                        </a:p>
                      </a:txBody>
                      <a:tcPr marL="68580" marR="68580" marT="0" marB="0" anchor="ctr"/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330420788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xmlns="" id="{74AE3CB7-8011-2A40-BFB0-80838D6AEB6C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310141274"/>
                  </p:ext>
                </p:extLst>
              </p:nvPr>
            </p:nvGraphicFramePr>
            <p:xfrm>
              <a:off x="2685732" y="3124200"/>
              <a:ext cx="7263018" cy="609600"/>
            </p:xfrm>
            <a:graphic>
              <a:graphicData uri="http://schemas.openxmlformats.org/drawingml/2006/table">
                <a:tbl>
                  <a:tblPr firstRow="1" firstCol="1" bandRow="1">
                    <a:tableStyleId>{A91F0D33-8C57-4600-99A7-42BC86742BE1}</a:tableStyleId>
                  </a:tblPr>
                  <a:tblGrid>
                    <a:gridCol w="4769168">
                      <a:extLst>
                        <a:ext uri="{9D8B030D-6E8A-4147-A177-3AD203B41FA5}">
                          <a16:colId xmlns:a16="http://schemas.microsoft.com/office/drawing/2014/main" xmlns="" val="1188308657"/>
                        </a:ext>
                      </a:extLst>
                    </a:gridCol>
                    <a:gridCol w="2493850">
                      <a:extLst>
                        <a:ext uri="{9D8B030D-6E8A-4147-A177-3AD203B41FA5}">
                          <a16:colId xmlns:a16="http://schemas.microsoft.com/office/drawing/2014/main" xmlns="" val="4209914253"/>
                        </a:ext>
                      </a:extLst>
                    </a:gridCol>
                  </a:tblGrid>
                  <a:tr h="300990"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Britton Hill, Lakewood, Florida</a:t>
                          </a:r>
                        </a:p>
                      </a:txBody>
                      <a:tcPr marL="68580" marR="68580" marT="0" marB="0" anchor="ctr"/>
                    </a:tc>
                    <a:tc rowSpan="2"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 xmlns:m="http://schemas.openxmlformats.org/officeDocument/2006/math"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sz="2000" i="1">
                                      <a:effectLst/>
                                      <a:latin typeface="Cambria Math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000">
                                      <a:effectLst/>
                                      <a:latin typeface="Cambria Math" panose="02040503050406030204" pitchFamily="18" charset="0"/>
                                    </a:rPr>
                                    <m:t>_______</m:t>
                                  </m:r>
                                </m:e>
                              </m:d>
                            </m:oMath>
                          </a14:m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 ___ </a:t>
                          </a:r>
                          <a14:m>
                            <m:oMath xmlns:m="http://schemas.openxmlformats.org/officeDocument/2006/math"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sz="2000" i="1">
                                      <a:effectLst/>
                                      <a:latin typeface="Cambria Math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000">
                                      <a:effectLst/>
                                      <a:latin typeface="Cambria Math" panose="02040503050406030204" pitchFamily="18" charset="0"/>
                                    </a:rPr>
                                    <m:t>_______</m:t>
                                  </m:r>
                                </m:e>
                              </m:d>
                            </m:oMath>
                          </a14:m>
                          <a:endParaRPr lang="en-US" sz="20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xmlns="" val="347734517"/>
                      </a:ext>
                    </a:extLst>
                  </a:tr>
                  <a:tr h="297815"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Laguna del Carbón, Argentina</a:t>
                          </a:r>
                        </a:p>
                      </a:txBody>
                      <a:tcPr marL="68580" marR="68580" marT="0" marB="0" anchor="ctr"/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xmlns="" val="100192203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id="{74AE3CB7-8011-2A40-BFB0-80838D6AEB6C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310141274"/>
                  </p:ext>
                </p:extLst>
              </p:nvPr>
            </p:nvGraphicFramePr>
            <p:xfrm>
              <a:off x="1161732" y="3124200"/>
              <a:ext cx="7263018" cy="609600"/>
            </p:xfrm>
            <a:graphic>
              <a:graphicData uri="http://schemas.openxmlformats.org/drawingml/2006/table">
                <a:tbl>
                  <a:tblPr firstRow="1" firstCol="1" bandRow="1">
                    <a:tableStyleId>{A91F0D33-8C57-4600-99A7-42BC86742BE1}</a:tableStyleId>
                  </a:tblPr>
                  <a:tblGrid>
                    <a:gridCol w="4769168">
                      <a:extLst>
                        <a:ext uri="{9D8B030D-6E8A-4147-A177-3AD203B41FA5}">
                          <a16:colId xmlns:a16="http://schemas.microsoft.com/office/drawing/2014/main" val="1188308657"/>
                        </a:ext>
                      </a:extLst>
                    </a:gridCol>
                    <a:gridCol w="2493850">
                      <a:extLst>
                        <a:ext uri="{9D8B030D-6E8A-4147-A177-3AD203B41FA5}">
                          <a16:colId xmlns:a16="http://schemas.microsoft.com/office/drawing/2014/main" val="4209914253"/>
                        </a:ext>
                      </a:extLst>
                    </a:gridCol>
                  </a:tblGrid>
                  <a:tr h="304800"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Britton Hill, Lakewood, Florida</a:t>
                          </a:r>
                        </a:p>
                      </a:txBody>
                      <a:tcPr marL="68580" marR="68580" marT="0" marB="0" anchor="ctr"/>
                    </a:tc>
                    <a:tc rowSpan="2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blipFill>
                          <a:blip r:embed="rId6"/>
                          <a:stretch>
                            <a:fillRect l="-191371" t="-12500" r="-508" b="-2708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47734517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Laguna del </a:t>
                          </a:r>
                          <a:r>
                            <a:rPr lang="en-US" sz="2000" dirty="0" err="1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Carbón</a:t>
                          </a: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, Argentina</a:t>
                          </a:r>
                        </a:p>
                      </a:txBody>
                      <a:tcPr marL="68580" marR="68580" marT="0" marB="0" anchor="ctr"/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1922031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Table 3">
                <a:extLst>
                  <a:ext uri="{FF2B5EF4-FFF2-40B4-BE49-F238E27FC236}">
                    <a16:creationId xmlns:a16="http://schemas.microsoft.com/office/drawing/2014/main" xmlns="" id="{35F3DCDE-7143-A743-A465-0864106FF163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294953968"/>
                  </p:ext>
                </p:extLst>
              </p:nvPr>
            </p:nvGraphicFramePr>
            <p:xfrm>
              <a:off x="2685732" y="4459243"/>
              <a:ext cx="7263018" cy="616585"/>
            </p:xfrm>
            <a:graphic>
              <a:graphicData uri="http://schemas.openxmlformats.org/drawingml/2006/table">
                <a:tbl>
                  <a:tblPr firstRow="1" firstCol="1" bandRow="1">
                    <a:tableStyleId>{A91F0D33-8C57-4600-99A7-42BC86742BE1}</a:tableStyleId>
                  </a:tblPr>
                  <a:tblGrid>
                    <a:gridCol w="4769168">
                      <a:extLst>
                        <a:ext uri="{9D8B030D-6E8A-4147-A177-3AD203B41FA5}">
                          <a16:colId xmlns:a16="http://schemas.microsoft.com/office/drawing/2014/main" xmlns="" val="1425265000"/>
                        </a:ext>
                      </a:extLst>
                    </a:gridCol>
                    <a:gridCol w="2493850">
                      <a:extLst>
                        <a:ext uri="{9D8B030D-6E8A-4147-A177-3AD203B41FA5}">
                          <a16:colId xmlns:a16="http://schemas.microsoft.com/office/drawing/2014/main" xmlns="" val="3596689505"/>
                        </a:ext>
                      </a:extLst>
                    </a:gridCol>
                  </a:tblGrid>
                  <a:tr h="309880"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Laguna del Carbón, Argentina</a:t>
                          </a:r>
                        </a:p>
                      </a:txBody>
                      <a:tcPr marL="68580" marR="68580" marT="0" marB="0" anchor="ctr"/>
                    </a:tc>
                    <a:tc rowSpan="2"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 xmlns:m="http://schemas.openxmlformats.org/officeDocument/2006/math"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sz="2000" i="1">
                                      <a:effectLst/>
                                      <a:latin typeface="Cambria Math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000">
                                      <a:effectLst/>
                                      <a:latin typeface="Cambria Math" panose="02040503050406030204" pitchFamily="18" charset="0"/>
                                    </a:rPr>
                                    <m:t>_______</m:t>
                                  </m:r>
                                </m:e>
                              </m:d>
                            </m:oMath>
                          </a14:m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 ___ </a:t>
                          </a:r>
                          <a14:m>
                            <m:oMath xmlns:m="http://schemas.openxmlformats.org/officeDocument/2006/math"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sz="2000" i="1">
                                      <a:effectLst/>
                                      <a:latin typeface="Cambria Math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000">
                                      <a:effectLst/>
                                      <a:latin typeface="Cambria Math" panose="02040503050406030204" pitchFamily="18" charset="0"/>
                                    </a:rPr>
                                    <m:t>_______</m:t>
                                  </m:r>
                                </m:e>
                              </m:d>
                            </m:oMath>
                          </a14:m>
                          <a:endParaRPr lang="en-US" sz="20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xmlns="" val="2618279415"/>
                      </a:ext>
                    </a:extLst>
                  </a:tr>
                  <a:tr h="306705"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Vpadina Kaundy, Kazakhstan</a:t>
                          </a:r>
                        </a:p>
                      </a:txBody>
                      <a:tcPr marL="68580" marR="68580" marT="0" marB="0" anchor="ctr"/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xmlns="" val="1867142746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Table 3">
                <a:extLst>
                  <a:ext uri="{FF2B5EF4-FFF2-40B4-BE49-F238E27FC236}">
                    <a16:creationId xmlns:a16="http://schemas.microsoft.com/office/drawing/2014/main" id="{35F3DCDE-7143-A743-A465-0864106FF163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294953968"/>
                  </p:ext>
                </p:extLst>
              </p:nvPr>
            </p:nvGraphicFramePr>
            <p:xfrm>
              <a:off x="1161732" y="4459242"/>
              <a:ext cx="7263018" cy="616585"/>
            </p:xfrm>
            <a:graphic>
              <a:graphicData uri="http://schemas.openxmlformats.org/drawingml/2006/table">
                <a:tbl>
                  <a:tblPr firstRow="1" firstCol="1" bandRow="1">
                    <a:tableStyleId>{A91F0D33-8C57-4600-99A7-42BC86742BE1}</a:tableStyleId>
                  </a:tblPr>
                  <a:tblGrid>
                    <a:gridCol w="4769168">
                      <a:extLst>
                        <a:ext uri="{9D8B030D-6E8A-4147-A177-3AD203B41FA5}">
                          <a16:colId xmlns:a16="http://schemas.microsoft.com/office/drawing/2014/main" val="1425265000"/>
                        </a:ext>
                      </a:extLst>
                    </a:gridCol>
                    <a:gridCol w="2493850">
                      <a:extLst>
                        <a:ext uri="{9D8B030D-6E8A-4147-A177-3AD203B41FA5}">
                          <a16:colId xmlns:a16="http://schemas.microsoft.com/office/drawing/2014/main" val="3596689505"/>
                        </a:ext>
                      </a:extLst>
                    </a:gridCol>
                  </a:tblGrid>
                  <a:tr h="309880"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Laguna del </a:t>
                          </a:r>
                          <a:r>
                            <a:rPr lang="en-US" sz="2000" dirty="0" err="1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Carbón</a:t>
                          </a: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, Argentina</a:t>
                          </a:r>
                        </a:p>
                      </a:txBody>
                      <a:tcPr marL="68580" marR="68580" marT="0" marB="0" anchor="ctr"/>
                    </a:tc>
                    <a:tc rowSpan="2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blipFill>
                          <a:blip r:embed="rId7"/>
                          <a:stretch>
                            <a:fillRect l="-191371" t="-12245" r="-508" b="-2449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18279415"/>
                      </a:ext>
                    </a:extLst>
                  </a:tr>
                  <a:tr h="306705"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 err="1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Vpadina</a:t>
                          </a: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 </a:t>
                          </a:r>
                          <a:r>
                            <a:rPr lang="en-US" sz="2000" dirty="0" err="1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Kaundy</a:t>
                          </a: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, Kazakhstan</a:t>
                          </a:r>
                        </a:p>
                      </a:txBody>
                      <a:tcPr marL="68580" marR="68580" marT="0" marB="0" anchor="ctr"/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867142746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9" name="Google Shape;282;g104476d1465_1_17"/>
          <p:cNvSpPr txBox="1"/>
          <p:nvPr/>
        </p:nvSpPr>
        <p:spPr>
          <a:xfrm>
            <a:off x="8663102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122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" name="Google Shape;283;g104476d1465_1_17"/>
          <p:cNvPicPr preferRelativeResize="0"/>
          <p:nvPr/>
        </p:nvPicPr>
        <p:blipFill>
          <a:blip r:embed="rId8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01328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123396402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5BA71AFB6E4EB4AB3FD645FC79B11BE" ma:contentTypeVersion="14" ma:contentTypeDescription="Create a new document." ma:contentTypeScope="" ma:versionID="c6de188039f2115276cd22936a35b493">
  <xsd:schema xmlns:xsd="http://www.w3.org/2001/XMLSchema" xmlns:xs="http://www.w3.org/2001/XMLSchema" xmlns:p="http://schemas.microsoft.com/office/2006/metadata/properties" xmlns:ns2="c8f36ed4-5234-49bf-a7f7-5f171c3a2f56" xmlns:ns3="aecc3118-db6a-47b0-8115-3eb3ee12f279" targetNamespace="http://schemas.microsoft.com/office/2006/metadata/properties" ma:root="true" ma:fieldsID="3d1530f6c55cd2fbfcc1e1abc0d9cffe" ns2:_="" ns3:_="">
    <xsd:import namespace="c8f36ed4-5234-49bf-a7f7-5f171c3a2f56"/>
    <xsd:import namespace="aecc3118-db6a-47b0-8115-3eb3ee12f279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LengthInSeconds" minOccurs="0"/>
                <xsd:element ref="ns2:MediaServiceSearchPropertie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8f36ed4-5234-49bf-a7f7-5f171c3a2f5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e4125260-8dc9-4871-9a4d-e9e8d429e3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  <xsd:element name="MediaServiceSearchProperties" ma:index="2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2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ecc3118-db6a-47b0-8115-3eb3ee12f279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14" nillable="true" ma:displayName="Taxonomy Catch All Column" ma:hidden="true" ma:list="{d1b4dde3-b3bf-4934-b5d8-236f7d7596ba}" ma:internalName="TaxCatchAll" ma:showField="CatchAllData" ma:web="aecc3118-db6a-47b0-8115-3eb3ee12f27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c8f36ed4-5234-49bf-a7f7-5f171c3a2f56">
      <Terms xmlns="http://schemas.microsoft.com/office/infopath/2007/PartnerControls"/>
    </lcf76f155ced4ddcb4097134ff3c332f>
    <TaxCatchAll xmlns="aecc3118-db6a-47b0-8115-3eb3ee12f279" xsi:nil="true"/>
  </documentManagement>
</p:properties>
</file>

<file path=customXml/itemProps1.xml><?xml version="1.0" encoding="utf-8"?>
<ds:datastoreItem xmlns:ds="http://schemas.openxmlformats.org/officeDocument/2006/customXml" ds:itemID="{0A4B5B9A-3B40-4C73-B03C-FE35C965F4B6}"/>
</file>

<file path=customXml/itemProps2.xml><?xml version="1.0" encoding="utf-8"?>
<ds:datastoreItem xmlns:ds="http://schemas.openxmlformats.org/officeDocument/2006/customXml" ds:itemID="{5444EBF2-8D8C-4F10-B6EC-E686138083A9}"/>
</file>

<file path=customXml/itemProps3.xml><?xml version="1.0" encoding="utf-8"?>
<ds:datastoreItem xmlns:ds="http://schemas.openxmlformats.org/officeDocument/2006/customXml" ds:itemID="{F562308B-3D43-4459-9063-79894F0B8C63}"/>
</file>

<file path=docProps/app.xml><?xml version="1.0" encoding="utf-8"?>
<Properties xmlns="http://schemas.openxmlformats.org/officeDocument/2006/extended-properties" xmlns:vt="http://schemas.openxmlformats.org/officeDocument/2006/docPropsVTypes">
  <TotalTime>1359</TotalTime>
  <Words>1418</Words>
  <Application>Microsoft Macintosh PowerPoint</Application>
  <PresentationFormat>Widescreen</PresentationFormat>
  <Paragraphs>328</Paragraphs>
  <Slides>30</Slides>
  <Notes>30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40" baseType="lpstr">
      <vt:lpstr>Arial</vt:lpstr>
      <vt:lpstr>Arial Black</vt:lpstr>
      <vt:lpstr>Calibri</vt:lpstr>
      <vt:lpstr>Cambria</vt:lpstr>
      <vt:lpstr>Cambria Math</vt:lpstr>
      <vt:lpstr>Century Gothic</vt:lpstr>
      <vt:lpstr>Times New Roman</vt:lpstr>
      <vt:lpstr>Verdana</vt:lpstr>
      <vt:lpstr>Wingdings</vt:lpstr>
      <vt:lpstr>1_Office Theme</vt:lpstr>
      <vt:lpstr>6th Grade Accelerated Math  Unit 3, Lesson 8  Comparing and Performing Operations with Absolute Value   Volume 1, pg. 117  </vt:lpstr>
      <vt:lpstr>Benchmark</vt:lpstr>
      <vt:lpstr>PowerPoint Presentation</vt:lpstr>
      <vt:lpstr>PowerPoint Presentation</vt:lpstr>
      <vt:lpstr>Warm-Up</vt:lpstr>
      <vt:lpstr>PowerPoint Presentation</vt:lpstr>
      <vt:lpstr>PowerPoint Presentation</vt:lpstr>
      <vt:lpstr>Exploration</vt:lpstr>
      <vt:lpstr>PowerPoint Presentation</vt:lpstr>
      <vt:lpstr>PowerPoint Presentation</vt:lpstr>
      <vt:lpstr>PowerPoint Presentation</vt:lpstr>
      <vt:lpstr>Guided Instruction</vt:lpstr>
      <vt:lpstr>PowerPoint Presentation</vt:lpstr>
      <vt:lpstr>PowerPoint Presentation</vt:lpstr>
      <vt:lpstr>PowerPoint Presentation</vt:lpstr>
      <vt:lpstr>PowerPoint Presentation</vt:lpstr>
      <vt:lpstr>Collaboration</vt:lpstr>
      <vt:lpstr>PowerPoint Presentation</vt:lpstr>
      <vt:lpstr>PowerPoint Presentation</vt:lpstr>
      <vt:lpstr>Guided Instruction</vt:lpstr>
      <vt:lpstr>PowerPoint Presentation</vt:lpstr>
      <vt:lpstr>PowerPoint Presentation</vt:lpstr>
      <vt:lpstr>PowerPoint Presentation</vt:lpstr>
      <vt:lpstr>Your Turn</vt:lpstr>
      <vt:lpstr>PowerPoint Presentation</vt:lpstr>
      <vt:lpstr>PowerPoint Presentation</vt:lpstr>
      <vt:lpstr>PowerPoint Presentation</vt:lpstr>
      <vt:lpstr>Wrap-Up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15.0032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Algebra 2 Unit 4 Lesson 4  </dc:title>
  <dc:creator>Karen McKenzie</dc:creator>
  <cp:lastModifiedBy>jslater9816@gmail.com</cp:lastModifiedBy>
  <cp:revision>21</cp:revision>
  <dcterms:created xsi:type="dcterms:W3CDTF">2015-03-17T18:51:18Z</dcterms:created>
  <dcterms:modified xsi:type="dcterms:W3CDTF">2022-07-26T02:25:01Z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0x01010045BA71AFB6E4EB4AB3FD645FC79B11BE</vt:lpwstr>
  </property>
</Properties>
</file>