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311" r:id="rId10"/>
    <p:sldId id="312" r:id="rId11"/>
    <p:sldId id="288" r:id="rId12"/>
    <p:sldId id="289" r:id="rId13"/>
    <p:sldId id="290" r:id="rId14"/>
    <p:sldId id="316" r:id="rId15"/>
    <p:sldId id="333" r:id="rId16"/>
    <p:sldId id="320" r:id="rId17"/>
    <p:sldId id="321" r:id="rId18"/>
    <p:sldId id="313" r:id="rId19"/>
    <p:sldId id="302" r:id="rId20"/>
    <p:sldId id="303" r:id="rId21"/>
    <p:sldId id="309" r:id="rId22"/>
    <p:sldId id="306" r:id="rId23"/>
    <p:sldId id="30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FCBD1E"/>
    <a:srgbClr val="C9DF6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34" autoAdjust="0"/>
    <p:restoredTop sz="94767"/>
  </p:normalViewPr>
  <p:slideViewPr>
    <p:cSldViewPr snapToGrid="0">
      <p:cViewPr varScale="1">
        <p:scale>
          <a:sx n="85" d="100"/>
          <a:sy n="85" d="100"/>
        </p:scale>
        <p:origin x="184" y="6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55" Type="http://customschemas.google.com/relationships/presentationmetadata" Target="metadata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0856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28.JP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Plotting, Ordering, and Comparing Rational Numbers – Part 2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93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66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66988" y="12146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488" y="35724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66988" y="1600200"/>
            <a:ext cx="92580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MA.6.NSO.1.1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Extend previous understanding of numbers to define rational numbers. Plot, order, and compare rational numbers.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Century Gothic"/>
              <a:sym typeface="Century Gothic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389" y="3573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618039" y="114676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723869" y="1596390"/>
            <a:ext cx="933202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0EC4A24D-AC58-5143-9A1A-1E71E28DFC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621205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092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621205" y="1600200"/>
            <a:ext cx="89495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I can plot, compare, and order rational numbers.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  <a:sym typeface="Verdana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7BA09A98-EDA0-5343-AD77-8F8E8C4F0E72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60545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3.4.1 Warm-Up: Find the Error 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398" y="34193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2060448" y="1386026"/>
            <a:ext cx="83271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A student plotted the following numbers.</a:t>
            </a:r>
          </a:p>
          <a:p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Which values are plotted correctly?</a:t>
            </a:r>
          </a:p>
          <a:p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Which values are NOT plotted correctly?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C2564F7E-689E-724F-BBC4-EC8DFC52E6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A screenshot of a graph&#10;&#10;Description automatically generated with low confidence">
            <a:extLst>
              <a:ext uri="{FF2B5EF4-FFF2-40B4-BE49-F238E27FC236}">
                <a16:creationId xmlns:a16="http://schemas.microsoft.com/office/drawing/2014/main" xmlns="" id="{415A0C7E-D7DA-43D3-AA97-376329200F4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1026" y="2175224"/>
            <a:ext cx="7527724" cy="1325701"/>
          </a:xfrm>
          <a:prstGeom prst="rect">
            <a:avLst/>
          </a:prstGeom>
        </p:spPr>
      </p:pic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7955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32795" y="60325"/>
            <a:ext cx="877801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3.4.2 Activity: Class Number Line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1717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3547ABD-563B-A148-B65C-C7679A7B43D4}"/>
              </a:ext>
            </a:extLst>
          </p:cNvPr>
          <p:cNvSpPr txBox="1"/>
          <p:nvPr/>
        </p:nvSpPr>
        <p:spPr>
          <a:xfrm>
            <a:off x="1371525" y="1936631"/>
            <a:ext cx="910055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teacher will give you a sticky note with a rational number written on the front.</a:t>
            </a:r>
          </a:p>
          <a:p>
            <a:endParaRPr lang="en-US" sz="2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your name on the back of the sticky note and place your number in the correct location on the class number line.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52361296-D9C8-B349-AAC1-3DD5FF74197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00519" y="95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3.4.3 Exploration: Comparing Points on a Number Line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9271" y="34704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52D1D4D-DCB8-A246-B186-D40316579D77}"/>
              </a:ext>
            </a:extLst>
          </p:cNvPr>
          <p:cNvSpPr txBox="1"/>
          <p:nvPr/>
        </p:nvSpPr>
        <p:spPr>
          <a:xfrm>
            <a:off x="1229193" y="1386026"/>
            <a:ext cx="98842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number line is shown with points 𝑀, 𝑁, 𝑃, and 𝑅. Work with your partner to answer the questions about the number line. </a:t>
            </a: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	1. Use each of the given phrases to describe or compare the values of points 𝑀, 𝑁, 𝑃, 𝑅. Each statement will use one or two of the points.</a:t>
            </a: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6200F4BF-3C27-A748-A63E-5BC45D572750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Chart, box and whisker chart&#10;&#10;Description automatically generated">
            <a:extLst>
              <a:ext uri="{FF2B5EF4-FFF2-40B4-BE49-F238E27FC236}">
                <a16:creationId xmlns:a16="http://schemas.microsoft.com/office/drawing/2014/main" xmlns="" id="{11DF2C88-412E-46A6-A99E-B3CAC8B45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370" y="2403385"/>
            <a:ext cx="7318261" cy="926619"/>
          </a:xfrm>
          <a:prstGeom prst="rect">
            <a:avLst/>
          </a:prstGeom>
        </p:spPr>
      </p:pic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xmlns="" id="{18E88659-3A5C-4ADA-9ECB-6BC4803B649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2155" y="4433887"/>
            <a:ext cx="5478355" cy="2217638"/>
          </a:xfrm>
          <a:prstGeom prst="rect">
            <a:avLst/>
          </a:prstGeom>
        </p:spPr>
      </p:pic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839449" y="520393"/>
            <a:ext cx="1066376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Verdana" panose="020B0604030504040204" pitchFamily="34" charset="0"/>
                <a:ea typeface="Verdana" panose="020B0604030504040204" pitchFamily="34" charset="0"/>
              </a:rPr>
              <a:t>2. If 𝑃 is 2½, what are the values of 𝑀, 𝑁, and 𝑅? </a:t>
            </a:r>
          </a:p>
          <a:p>
            <a:endParaRPr lang="en-US" sz="3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3000" dirty="0">
                <a:latin typeface="Verdana" panose="020B0604030504040204" pitchFamily="34" charset="0"/>
                <a:ea typeface="Verdana" panose="020B0604030504040204" pitchFamily="34" charset="0"/>
              </a:rPr>
              <a:t>3. If 𝑁 is −0.4, what are the values of 𝑀, 𝑃, and 𝑅?</a:t>
            </a:r>
          </a:p>
          <a:p>
            <a:endParaRPr lang="en-US" sz="3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3000" dirty="0">
                <a:latin typeface="Verdana" panose="020B0604030504040204" pitchFamily="34" charset="0"/>
                <a:ea typeface="Verdana" panose="020B0604030504040204" pitchFamily="34" charset="0"/>
              </a:rPr>
              <a:t>4. If 𝑅 is 200%, what are the values of 𝑀, 𝑁, and 𝑃? </a:t>
            </a:r>
          </a:p>
          <a:p>
            <a:endParaRPr lang="en-US" sz="3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3000" dirty="0">
                <a:latin typeface="Verdana" panose="020B0604030504040204" pitchFamily="34" charset="0"/>
                <a:ea typeface="Verdana" panose="020B0604030504040204" pitchFamily="34" charset="0"/>
              </a:rPr>
              <a:t>5. If 𝑀 is −1⅔, what are the values of 𝑁, 𝑃, and 𝑅?</a:t>
            </a:r>
            <a:endParaRPr lang="en-US" sz="3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2950EAF9-F430-CC4A-9F7C-2EC37538C1F0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523210" y="0"/>
            <a:ext cx="944609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3.4.4 Guided Instruction: Comparing Rational Numbers in Different Forms 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990" y="19054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01B13E8-EC8D-E443-A329-C5E3593DD13A}"/>
              </a:ext>
            </a:extLst>
          </p:cNvPr>
          <p:cNvSpPr txBox="1"/>
          <p:nvPr/>
        </p:nvSpPr>
        <p:spPr>
          <a:xfrm>
            <a:off x="1094282" y="1846298"/>
            <a:ext cx="10191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1. Use the symbols &gt;, &lt;, or = to compare each pair of values.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F7A98FFB-A3E6-7642-B96E-3A3B8C27BD7F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Chart&#10;&#10;Description automatically generated with medium confidence">
            <a:extLst>
              <a:ext uri="{FF2B5EF4-FFF2-40B4-BE49-F238E27FC236}">
                <a16:creationId xmlns:a16="http://schemas.microsoft.com/office/drawing/2014/main" xmlns="" id="{454EABF7-3E13-4AB3-9E31-03374CA00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784" y="2970000"/>
            <a:ext cx="8854043" cy="2645191"/>
          </a:xfrm>
          <a:prstGeom prst="rect">
            <a:avLst/>
          </a:prstGeom>
        </p:spPr>
      </p:pic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1049311" y="410665"/>
            <a:ext cx="102440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1963" indent="-461963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Emma and Noah shared their strategy for comparing values written as fractions. Write your strategy in the box and note any </a:t>
            </a: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differences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from Emma’s or Noah’s strategy.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4B490A-71D6-FD45-903D-95450FDFCF80}"/>
              </a:ext>
            </a:extLst>
          </p:cNvPr>
          <p:cNvSpPr/>
          <p:nvPr/>
        </p:nvSpPr>
        <p:spPr>
          <a:xfrm>
            <a:off x="0" y="-979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Text, table&#10;&#10;Description automatically generated with medium confidence">
            <a:extLst>
              <a:ext uri="{FF2B5EF4-FFF2-40B4-BE49-F238E27FC236}">
                <a16:creationId xmlns:a16="http://schemas.microsoft.com/office/drawing/2014/main" xmlns="" id="{99291739-A81B-479C-A75A-33FE15F02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606" y="1999789"/>
            <a:ext cx="7178259" cy="4326792"/>
          </a:xfrm>
          <a:prstGeom prst="rect">
            <a:avLst/>
          </a:prstGeom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869430" y="410665"/>
            <a:ext cx="106038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 indent="-403225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3. Angel and Sophia share their strategies for comparing a value written as a decimal to a value written as a fraction. Write your strategy in the box and note any </a:t>
            </a: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</a:rPr>
              <a:t>similarities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 from Angel’s or Sophia’s strategy.</a:t>
            </a: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4B490A-71D6-FD45-903D-95450FDFCF80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xmlns="" id="{04066D3C-6C72-42B6-AF58-CD9C485D7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370" y="1905540"/>
            <a:ext cx="7628281" cy="4503810"/>
          </a:xfrm>
          <a:prstGeom prst="rect">
            <a:avLst/>
          </a:prstGeom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172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53594" y="15771"/>
            <a:ext cx="98081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3.4.5 Try It: Plotting, Ordering, and Comparing Rational Numbers in Different Forms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7311" y="30070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AB6A3A1-5A0D-C84F-AC89-57E6782F43E5}"/>
              </a:ext>
            </a:extLst>
          </p:cNvPr>
          <p:cNvSpPr txBox="1"/>
          <p:nvPr/>
        </p:nvSpPr>
        <p:spPr>
          <a:xfrm>
            <a:off x="944380" y="1553907"/>
            <a:ext cx="910859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</a:p>
          <a:p>
            <a:pPr marL="925513" indent="-80645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	a. Plot each value on the number line. Label 	each point </a:t>
            </a:r>
          </a:p>
          <a:p>
            <a:pPr marL="1314450" indent="-4445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with its numeric value.</a:t>
            </a: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65188" indent="-223838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b. What strategies did you use that were helpful </a:t>
            </a:r>
          </a:p>
          <a:p>
            <a:pPr marL="1270000" indent="-2540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when plotting the rational numbers written in different forms on the number line?</a:t>
            </a:r>
          </a:p>
          <a:p>
            <a:pPr marL="865188" indent="-223838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  <a:p>
            <a:pPr marL="865188" indent="-223838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c. Order the values from greatest to least.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8A539B00-8E96-3740-8C2B-62EF12D58B8D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Chart, diagram&#10;&#10;Description automatically generated with medium confidence">
            <a:extLst>
              <a:ext uri="{FF2B5EF4-FFF2-40B4-BE49-F238E27FC236}">
                <a16:creationId xmlns:a16="http://schemas.microsoft.com/office/drawing/2014/main" xmlns="" id="{EEF27271-0D24-4171-A02F-F138FEB25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414" y="2869375"/>
            <a:ext cx="7148051" cy="1631474"/>
          </a:xfrm>
          <a:prstGeom prst="rect">
            <a:avLst/>
          </a:prstGeom>
        </p:spPr>
      </p:pic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74EB5C6-2FDE-474B-866F-02AD6706D73C}"/>
              </a:ext>
            </a:extLst>
          </p:cNvPr>
          <p:cNvSpPr txBox="1"/>
          <p:nvPr/>
        </p:nvSpPr>
        <p:spPr>
          <a:xfrm>
            <a:off x="719528" y="2698505"/>
            <a:ext cx="1033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	d. Complete the inequality statement to show </a:t>
            </a:r>
          </a:p>
          <a:p>
            <a:pPr marL="137318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the relationship between the values plotted on the number line.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0F89609-DA92-401E-9DCB-C05DAB1B8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432" y="4380592"/>
            <a:ext cx="8327136" cy="7380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EC0798E-338A-4DB8-97C6-0BD1765FC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4935" y="1434738"/>
            <a:ext cx="8122130" cy="931391"/>
          </a:xfrm>
          <a:prstGeom prst="rect">
            <a:avLst/>
          </a:prstGeom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04547" y="139717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3.4.6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247" y="139717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59C3E41-93EC-B84D-963F-86A3B15AC1C6}"/>
              </a:ext>
            </a:extLst>
          </p:cNvPr>
          <p:cNvSpPr txBox="1"/>
          <p:nvPr/>
        </p:nvSpPr>
        <p:spPr>
          <a:xfrm>
            <a:off x="899410" y="973070"/>
            <a:ext cx="1021659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Order the values from least to greatest.</a:t>
            </a:r>
          </a:p>
          <a:p>
            <a:pPr marL="457200" indent="-457200"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the values on the number line. Label each point with its numeric value.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B65A09A0-1E94-F34F-9AC7-848B14CF3F5C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picture containing text, clock&#10;&#10;Description automatically generated">
            <a:extLst>
              <a:ext uri="{FF2B5EF4-FFF2-40B4-BE49-F238E27FC236}">
                <a16:creationId xmlns:a16="http://schemas.microsoft.com/office/drawing/2014/main" xmlns="" id="{AC07820B-61E1-4751-9274-5F70472A7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336" y="2035444"/>
            <a:ext cx="5440087" cy="9525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C8AE05B-1587-4A56-8038-0B582115C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335" y="4728394"/>
            <a:ext cx="5503264" cy="590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1546C093-4478-4C5C-A15F-2F500A0C0F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6658" y="5750107"/>
            <a:ext cx="6297189" cy="590362"/>
          </a:xfrm>
          <a:prstGeom prst="rect">
            <a:avLst/>
          </a:prstGeom>
        </p:spPr>
      </p:pic>
      <p:pic>
        <p:nvPicPr>
          <p:cNvPr id="11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8C67FCF-92C3-654A-BF40-5BDF7A4F9271}"/>
              </a:ext>
            </a:extLst>
          </p:cNvPr>
          <p:cNvSpPr txBox="1"/>
          <p:nvPr/>
        </p:nvSpPr>
        <p:spPr>
          <a:xfrm>
            <a:off x="854439" y="398473"/>
            <a:ext cx="104831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3. Order the values from greatest to least.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4. Use the symbols &gt; , &lt;, or = to compare each pair of values.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C20EB48B-0C2A-FF47-ACB6-866A7F95956C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picture containing watch, clock&#10;&#10;Description automatically generated">
            <a:extLst>
              <a:ext uri="{FF2B5EF4-FFF2-40B4-BE49-F238E27FC236}">
                <a16:creationId xmlns:a16="http://schemas.microsoft.com/office/drawing/2014/main" xmlns="" id="{3471DC6E-EBCD-4C33-9DA2-198E0B231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565" y="1278194"/>
            <a:ext cx="7714870" cy="1100886"/>
          </a:xfrm>
          <a:prstGeom prst="rect">
            <a:avLst/>
          </a:prstGeom>
        </p:spPr>
      </p:pic>
      <p:pic>
        <p:nvPicPr>
          <p:cNvPr id="7" name="Picture 6" descr="Diagram, schematic&#10;&#10;Description automatically generated">
            <a:extLst>
              <a:ext uri="{FF2B5EF4-FFF2-40B4-BE49-F238E27FC236}">
                <a16:creationId xmlns:a16="http://schemas.microsoft.com/office/drawing/2014/main" xmlns="" id="{2FB9C4BB-A9CA-49E4-8C9A-D0C341EE1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185" y="3076129"/>
            <a:ext cx="8102881" cy="3124471"/>
          </a:xfrm>
          <a:prstGeom prst="rect">
            <a:avLst/>
          </a:prstGeom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02787" y="-58570"/>
            <a:ext cx="936394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3.4.7 Wrap-Up: Ticket Out the Door 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337" y="23063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854439" y="1243130"/>
            <a:ext cx="1048312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Use the values 3.6, −4 4/5 , 0.7, −1 1/5 , 15/4 , 89%, and − 7/8. Plot the values on the number line. Label each point with its numeric value.</a:t>
            </a:r>
          </a:p>
          <a:p>
            <a:pPr marL="457200" indent="-457200"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List the values 3.6, −4 4/5, 0.7, −1 1/5, 15/4, 89%, and − 7/8 from least to greatest.</a:t>
            </a:r>
          </a:p>
          <a:p>
            <a:pPr marL="457200" indent="-457200"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Use the symbols &lt;, &gt;, or = to compare each pair of values.</a:t>
            </a:r>
          </a:p>
          <a:p>
            <a:pPr marL="457200" indent="-457200"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31AAE36C-5822-464A-8B2B-DAD96F65814D}"/>
              </a:ext>
            </a:extLst>
          </p:cNvPr>
          <p:cNvSpPr/>
          <p:nvPr/>
        </p:nvSpPr>
        <p:spPr>
          <a:xfrm>
            <a:off x="0" y="1287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BA5A25A-8383-4408-B7BC-AAD8F0735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009" y="2691487"/>
            <a:ext cx="8305893" cy="7544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3CAD94-99FA-4450-980D-265FFDE68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2539" y="5648713"/>
            <a:ext cx="7978831" cy="670618"/>
          </a:xfrm>
          <a:prstGeom prst="rect">
            <a:avLst/>
          </a:prstGeom>
        </p:spPr>
      </p:pic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0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9D9C9AA-B730-41CB-9C4D-8C54B6CF3005}"/>
              </a:ext>
            </a:extLst>
          </p:cNvPr>
          <p:cNvSpPr txBox="1"/>
          <p:nvPr/>
        </p:nvSpPr>
        <p:spPr>
          <a:xfrm>
            <a:off x="86638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683</Words>
  <Application>Microsoft Macintosh PowerPoint</Application>
  <PresentationFormat>Widescreen</PresentationFormat>
  <Paragraphs>137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Arial Black</vt:lpstr>
      <vt:lpstr>Calibri</vt:lpstr>
      <vt:lpstr>Century Gothic</vt:lpstr>
      <vt:lpstr>Verdana</vt:lpstr>
      <vt:lpstr>1_Office Theme</vt:lpstr>
      <vt:lpstr>6th Grade Accelerated Math   Unit 3, Lesson 4  Plotting, Ordering, and Comparing Rational Numbers – Part 2  Volume 1, pg. 93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Exploration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jslater9816@gmail.com</cp:lastModifiedBy>
  <cp:revision>21</cp:revision>
  <dcterms:created xsi:type="dcterms:W3CDTF">2015-03-17T18:51:18Z</dcterms:created>
  <dcterms:modified xsi:type="dcterms:W3CDTF">2022-07-26T00:12:51Z</dcterms:modified>
</cp:coreProperties>
</file>