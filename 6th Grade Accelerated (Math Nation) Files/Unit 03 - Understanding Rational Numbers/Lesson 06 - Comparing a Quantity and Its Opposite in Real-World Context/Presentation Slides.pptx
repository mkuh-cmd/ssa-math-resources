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3" r:id="rId11"/>
    <p:sldId id="294" r:id="rId12"/>
    <p:sldId id="295" r:id="rId13"/>
    <p:sldId id="272" r:id="rId14"/>
    <p:sldId id="273" r:id="rId15"/>
    <p:sldId id="274" r:id="rId16"/>
    <p:sldId id="296" r:id="rId17"/>
    <p:sldId id="297" r:id="rId18"/>
    <p:sldId id="298" r:id="rId19"/>
    <p:sldId id="284" r:id="rId20"/>
    <p:sldId id="285" r:id="rId21"/>
    <p:sldId id="287" r:id="rId22"/>
    <p:sldId id="288" r:id="rId23"/>
    <p:sldId id="289" r:id="rId24"/>
    <p:sldId id="299" r:id="rId25"/>
    <p:sldId id="290" r:id="rId26"/>
    <p:sldId id="291" r:id="rId27"/>
    <p:sldId id="292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gmwbqYbtu5YpsP+R29NhyWnQlF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22"/>
    <p:restoredTop sz="94695"/>
  </p:normalViewPr>
  <p:slideViewPr>
    <p:cSldViewPr snapToGrid="0">
      <p:cViewPr varScale="1">
        <p:scale>
          <a:sx n="79" d="100"/>
          <a:sy n="79" d="100"/>
        </p:scale>
        <p:origin x="104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63" Type="http://schemas.openxmlformats.org/officeDocument/2006/relationships/viewProps" Target="viewProps.xml"/><Relationship Id="rId68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6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66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8934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2576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972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5122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3060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0988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14216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tiff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0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3.tiff"/><Relationship Id="rId4" Type="http://schemas.openxmlformats.org/officeDocument/2006/relationships/image" Target="../media/image2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4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5.tif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2.tiff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0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Comparing a Quantity and Its Opposite in Real-World Context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105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185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332466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966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8041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256266" y="1600200"/>
            <a:ext cx="96794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.6.NSO.1.2</a:t>
            </a:r>
          </a:p>
          <a:p>
            <a:pPr marL="457200" lvl="1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represent quantities that have opposite direction using rational numbers. Compare them on a number line and explain the meaning of zero within its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268" y="26810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491544" y="-2109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378568" y="1596390"/>
            <a:ext cx="100226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sz="24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  <a:endParaRPr sz="24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8041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369292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51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369292" y="1600200"/>
            <a:ext cx="94534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a quantity and its opposite on a horizontal or vertical line and explain the meaning of zero within the context.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structure of a horizontal and vertical number line to plot rational numbers from a real-world context.</a:t>
            </a:r>
          </a:p>
        </p:txBody>
      </p:sp>
      <p:sp>
        <p:nvSpPr>
          <p:cNvPr id="149" name="Google Shape;149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8041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8041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498572" y="60325"/>
            <a:ext cx="96721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3.6.1 Warm-Up: Ordering Elevations</a:t>
            </a:r>
            <a:endParaRPr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046" y="3079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694046" y="1386025"/>
            <a:ext cx="3828742" cy="243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Four images from locations across the United States are shown. </a:t>
            </a:r>
          </a:p>
          <a:p>
            <a:r>
              <a:rPr lang="en-US" sz="2000" dirty="0">
                <a:latin typeface="Verdana"/>
                <a:ea typeface="Verdana"/>
                <a:cs typeface="Verdana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Write an integer that represents each elevation. </a:t>
            </a:r>
          </a:p>
          <a:p>
            <a:endParaRPr sz="1200" dirty="0"/>
          </a:p>
        </p:txBody>
      </p:sp>
      <p:sp>
        <p:nvSpPr>
          <p:cNvPr id="170" name="Google Shape;170;p4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817F31-448B-C543-A5C9-F46164D0F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200594"/>
              </p:ext>
            </p:extLst>
          </p:nvPr>
        </p:nvGraphicFramePr>
        <p:xfrm>
          <a:off x="4702048" y="1471749"/>
          <a:ext cx="5807202" cy="45545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0477">
                  <a:extLst>
                    <a:ext uri="{9D8B030D-6E8A-4147-A177-3AD203B41FA5}">
                      <a16:colId xmlns:a16="http://schemas.microsoft.com/office/drawing/2014/main" val="1592494802"/>
                    </a:ext>
                  </a:extLst>
                </a:gridCol>
                <a:gridCol w="3006725">
                  <a:extLst>
                    <a:ext uri="{9D8B030D-6E8A-4147-A177-3AD203B41FA5}">
                      <a16:colId xmlns:a16="http://schemas.microsoft.com/office/drawing/2014/main" val="4159692111"/>
                    </a:ext>
                  </a:extLst>
                </a:gridCol>
              </a:tblGrid>
              <a:tr h="22772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Integer: ________</a:t>
                      </a:r>
                    </a:p>
                  </a:txBody>
                  <a:tcPr marL="68272" marR="6827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Integer: ________</a:t>
                      </a:r>
                    </a:p>
                  </a:txBody>
                  <a:tcPr marL="68272" marR="6827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858787"/>
                  </a:ext>
                </a:extLst>
              </a:tr>
              <a:tr h="22772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Integer: ________</a:t>
                      </a:r>
                    </a:p>
                  </a:txBody>
                  <a:tcPr marL="68272" marR="6827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Integer: ________</a:t>
                      </a:r>
                    </a:p>
                  </a:txBody>
                  <a:tcPr marL="68272" marR="6827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096529"/>
                  </a:ext>
                </a:extLst>
              </a:tr>
            </a:tbl>
          </a:graphicData>
        </a:graphic>
      </p:graphicFrame>
      <p:pic>
        <p:nvPicPr>
          <p:cNvPr id="14" name="Picture 13" descr="A stone with writing on it&#10;&#10;Description automatically generated with low confidence">
            <a:extLst>
              <a:ext uri="{FF2B5EF4-FFF2-40B4-BE49-F238E27FC236}">
                <a16:creationId xmlns:a16="http://schemas.microsoft.com/office/drawing/2014/main" id="{46E99E4E-E322-7A49-BB5E-0EC15F0C3CD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13" t="13402" r="11307" b="30032"/>
          <a:stretch/>
        </p:blipFill>
        <p:spPr bwMode="auto">
          <a:xfrm>
            <a:off x="5097113" y="1740860"/>
            <a:ext cx="2085866" cy="15771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 descr="A sign in a rocky area&#10;&#10;Description automatically generated with low confidence">
            <a:extLst>
              <a:ext uri="{FF2B5EF4-FFF2-40B4-BE49-F238E27FC236}">
                <a16:creationId xmlns:a16="http://schemas.microsoft.com/office/drawing/2014/main" id="{267224DA-338A-E845-A880-35461D21FF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03" r="3003"/>
          <a:stretch>
            <a:fillRect/>
          </a:stretch>
        </p:blipFill>
        <p:spPr bwMode="auto">
          <a:xfrm>
            <a:off x="8076058" y="1740860"/>
            <a:ext cx="1976918" cy="15771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 descr="A sign on a sidewalk&#10;&#10;Description automatically generated with low confidence">
            <a:extLst>
              <a:ext uri="{FF2B5EF4-FFF2-40B4-BE49-F238E27FC236}">
                <a16:creationId xmlns:a16="http://schemas.microsoft.com/office/drawing/2014/main" id="{0971D219-87EA-7647-AC07-73332C0880D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371" t="11851" r="16290" b="7160"/>
          <a:stretch/>
        </p:blipFill>
        <p:spPr bwMode="auto">
          <a:xfrm>
            <a:off x="5355672" y="3893216"/>
            <a:ext cx="1709395" cy="16400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 descr="178 Feet Below Sea Level - Furnace Creek - Death Valley National ...">
            <a:extLst>
              <a:ext uri="{FF2B5EF4-FFF2-40B4-BE49-F238E27FC236}">
                <a16:creationId xmlns:a16="http://schemas.microsoft.com/office/drawing/2014/main" id="{1AE1A2B3-7679-2841-9FEE-6B0EC12D76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8277" y="3948214"/>
            <a:ext cx="2152480" cy="15850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25;g104476d1465_1_17"/>
          <p:cNvSpPr txBox="1"/>
          <p:nvPr/>
        </p:nvSpPr>
        <p:spPr>
          <a:xfrm>
            <a:off x="868041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26;g104476d1465_1_17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/>
        </p:nvSpPr>
        <p:spPr>
          <a:xfrm>
            <a:off x="1116281" y="520393"/>
            <a:ext cx="1011010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 the letter of the pictures from lowest elevation to highest.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   _____   _____   _____  </a:t>
            </a:r>
          </a:p>
          <a:p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8041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1483865" y="342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3.6.2 Collaboration: A Quantity and Its Opposite</a:t>
            </a:r>
            <a:endParaRPr dirty="0"/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6557" y="32218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866899" y="1386026"/>
                <a:ext cx="10608868" cy="48936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its opposite on the number line.  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What do you notice about the distance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8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its opposite from zero? 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9" y="1386026"/>
                <a:ext cx="10608868" cy="4893607"/>
              </a:xfrm>
              <a:prstGeom prst="rect">
                <a:avLst/>
              </a:prstGeom>
              <a:blipFill rotWithShape="0">
                <a:blip r:embed="rId4"/>
                <a:stretch>
                  <a:fillRect l="-862" t="-9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12BCF997-2F92-9348-8768-A19B29CCB4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3746" b="26765"/>
          <a:stretch/>
        </p:blipFill>
        <p:spPr bwMode="auto">
          <a:xfrm>
            <a:off x="2267759" y="2988897"/>
            <a:ext cx="7916477" cy="9933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163782" y="425258"/>
            <a:ext cx="986443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for each situation given. </a:t>
            </a:r>
          </a:p>
        </p:txBody>
      </p:sp>
      <p:sp>
        <p:nvSpPr>
          <p:cNvPr id="209" name="Google Shape;209;p8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AF37330-7B65-3C4E-989D-2267568BA7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6868273"/>
                  </p:ext>
                </p:extLst>
              </p:nvPr>
            </p:nvGraphicFramePr>
            <p:xfrm>
              <a:off x="2930717" y="1126397"/>
              <a:ext cx="6330567" cy="532093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78182">
                      <a:extLst>
                        <a:ext uri="{9D8B030D-6E8A-4147-A177-3AD203B41FA5}">
                          <a16:colId xmlns:a16="http://schemas.microsoft.com/office/drawing/2014/main" val="285241758"/>
                        </a:ext>
                      </a:extLst>
                    </a:gridCol>
                    <a:gridCol w="1576750">
                      <a:extLst>
                        <a:ext uri="{9D8B030D-6E8A-4147-A177-3AD203B41FA5}">
                          <a16:colId xmlns:a16="http://schemas.microsoft.com/office/drawing/2014/main" val="1221222325"/>
                        </a:ext>
                      </a:extLst>
                    </a:gridCol>
                    <a:gridCol w="1757640">
                      <a:extLst>
                        <a:ext uri="{9D8B030D-6E8A-4147-A177-3AD203B41FA5}">
                          <a16:colId xmlns:a16="http://schemas.microsoft.com/office/drawing/2014/main" val="3558897016"/>
                        </a:ext>
                      </a:extLst>
                    </a:gridCol>
                    <a:gridCol w="1617995">
                      <a:extLst>
                        <a:ext uri="{9D8B030D-6E8A-4147-A177-3AD203B41FA5}">
                          <a16:colId xmlns:a16="http://schemas.microsoft.com/office/drawing/2014/main" val="2878530339"/>
                        </a:ext>
                      </a:extLst>
                    </a:gridCol>
                  </a:tblGrid>
                  <a:tr h="8629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𝟕𝟖</m:t>
                              </m:r>
                              <m:r>
                                <a:rPr lang="en-US" sz="18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8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 Above Sea Level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  <m:r>
                                <a:rPr lang="en-US" sz="18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n-US" sz="18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Below Zero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Withdrawal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𝟐𝟕</m:t>
                              </m:r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𝟔𝟖</m:t>
                              </m:r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197747"/>
                      </a:ext>
                    </a:extLst>
                  </a:tr>
                  <a:tr h="1079062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Number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8372937"/>
                      </a:ext>
                    </a:extLst>
                  </a:tr>
                  <a:tr h="705394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Opposite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2568911"/>
                      </a:ext>
                    </a:extLst>
                  </a:tr>
                  <a:tr h="2673532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of Zero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051841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AF37330-7B65-3C4E-989D-2267568BA7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6868273"/>
                  </p:ext>
                </p:extLst>
              </p:nvPr>
            </p:nvGraphicFramePr>
            <p:xfrm>
              <a:off x="1406716" y="1126397"/>
              <a:ext cx="6330567" cy="532093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78182">
                      <a:extLst>
                        <a:ext uri="{9D8B030D-6E8A-4147-A177-3AD203B41FA5}">
                          <a16:colId xmlns:a16="http://schemas.microsoft.com/office/drawing/2014/main" val="285241758"/>
                        </a:ext>
                      </a:extLst>
                    </a:gridCol>
                    <a:gridCol w="1576750">
                      <a:extLst>
                        <a:ext uri="{9D8B030D-6E8A-4147-A177-3AD203B41FA5}">
                          <a16:colId xmlns:a16="http://schemas.microsoft.com/office/drawing/2014/main" val="1221222325"/>
                        </a:ext>
                      </a:extLst>
                    </a:gridCol>
                    <a:gridCol w="1757640">
                      <a:extLst>
                        <a:ext uri="{9D8B030D-6E8A-4147-A177-3AD203B41FA5}">
                          <a16:colId xmlns:a16="http://schemas.microsoft.com/office/drawing/2014/main" val="3558897016"/>
                        </a:ext>
                      </a:extLst>
                    </a:gridCol>
                    <a:gridCol w="1617995">
                      <a:extLst>
                        <a:ext uri="{9D8B030D-6E8A-4147-A177-3AD203B41FA5}">
                          <a16:colId xmlns:a16="http://schemas.microsoft.com/office/drawing/2014/main" val="2878530339"/>
                        </a:ext>
                      </a:extLst>
                    </a:gridCol>
                  </a:tblGrid>
                  <a:tr h="86295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710" t="-7353" r="-216129" b="-5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8345" t="-7353" r="-92806" b="-5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1406" t="-7353" r="-781" b="-519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197747"/>
                      </a:ext>
                    </a:extLst>
                  </a:tr>
                  <a:tr h="1079062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Number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8372937"/>
                      </a:ext>
                    </a:extLst>
                  </a:tr>
                  <a:tr h="705394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Opposite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2568911"/>
                      </a:ext>
                    </a:extLst>
                  </a:tr>
                  <a:tr h="2673532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of Zero</a:t>
                          </a:r>
                        </a:p>
                      </a:txBody>
                      <a:tcPr marL="40505" marR="4050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0505" marR="40505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051841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9598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208;p8"/>
              <p:cNvSpPr txBox="1"/>
              <p:nvPr/>
            </p:nvSpPr>
            <p:spPr>
              <a:xfrm>
                <a:off x="938151" y="410666"/>
                <a:ext cx="10466364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Omar is at the bookstore on Florida Avenue buying a book about training dogs. He also plans to visit Nolan’s Pet Shop and Rover’s Pet Shop to compare prices for a new leash for his dog. All three stores are on the same street. Nolan’s Pet Shop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blocks west of the bookstore. Rover’s Pet Shop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blocks east of the bookstore. </a:t>
                </a:r>
              </a:p>
              <a:p>
                <a:pPr marL="342900" indent="-3429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Model the locations of the three stores in relation to each other on the number line. </a:t>
                </a:r>
              </a:p>
              <a:p>
                <a:pPr marL="342900" lvl="2" indent="-3429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8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151" y="410666"/>
                <a:ext cx="10466364" cy="3785611"/>
              </a:xfrm>
              <a:prstGeom prst="rect">
                <a:avLst/>
              </a:prstGeom>
              <a:blipFill rotWithShape="0">
                <a:blip r:embed="rId3"/>
                <a:stretch>
                  <a:fillRect l="-932" t="-1288" r="-15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Google Shape;209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E20389-32FA-DB47-9040-5A3522E32507}"/>
              </a:ext>
            </a:extLst>
          </p:cNvPr>
          <p:cNvGrpSpPr/>
          <p:nvPr/>
        </p:nvGrpSpPr>
        <p:grpSpPr>
          <a:xfrm>
            <a:off x="2310677" y="5124523"/>
            <a:ext cx="7721312" cy="646467"/>
            <a:chOff x="786677" y="5124522"/>
            <a:chExt cx="7721312" cy="64646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432DBF-CDDE-6E4B-8C7E-A22DCADBD992}"/>
                </a:ext>
              </a:extLst>
            </p:cNvPr>
            <p:cNvSpPr/>
            <p:nvPr/>
          </p:nvSpPr>
          <p:spPr>
            <a:xfrm>
              <a:off x="786677" y="5124522"/>
              <a:ext cx="7721312" cy="609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tabLst>
                  <a:tab pos="255905" algn="l"/>
                </a:tabLst>
              </a:pPr>
              <a:r>
                <a:rPr lang="en-US" sz="3200" dirty="0">
                  <a:solidFill>
                    <a:srgbClr val="231F20"/>
                  </a:solidFill>
                  <a:latin typeface="Calibri" panose="020F0502020204030204" pitchFamily="34" charset="0"/>
                  <a:ea typeface="Myriad Pro"/>
                  <a:cs typeface="Myriad Pro"/>
                </a:rPr>
                <a:t>West		</a:t>
              </a:r>
              <a:r>
                <a:rPr lang="en-US" dirty="0">
                  <a:solidFill>
                    <a:srgbClr val="231F20"/>
                  </a:solidFill>
                  <a:latin typeface="Calibri" panose="020F0502020204030204" pitchFamily="34" charset="0"/>
                  <a:ea typeface="Myriad Pro"/>
                  <a:cs typeface="Myriad Pro"/>
                </a:rPr>
                <a:t> 					          </a:t>
              </a:r>
              <a:r>
                <a:rPr lang="en-US" sz="3200" dirty="0">
                  <a:solidFill>
                    <a:srgbClr val="231F20"/>
                  </a:solidFill>
                  <a:latin typeface="Calibri" panose="020F0502020204030204" pitchFamily="34" charset="0"/>
                  <a:ea typeface="Myriad Pro"/>
                  <a:cs typeface="Myriad Pro"/>
                </a:rPr>
                <a:t>East</a:t>
              </a:r>
              <a:endParaRPr lang="en-US" dirty="0">
                <a:solidFill>
                  <a:srgbClr val="231F20"/>
                </a:solidFill>
                <a:latin typeface="Calibri" panose="020F0502020204030204" pitchFamily="34" charset="0"/>
                <a:ea typeface="Myriad Pro"/>
                <a:cs typeface="Myriad Pro"/>
              </a:endParaRPr>
            </a:p>
          </p:txBody>
        </p:sp>
        <p:pic>
          <p:nvPicPr>
            <p:cNvPr id="8" name="Picture 7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328B23C6-454A-704A-A397-2870ACA8F3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5416" b="32194"/>
            <a:stretch/>
          </p:blipFill>
          <p:spPr bwMode="auto">
            <a:xfrm>
              <a:off x="1820313" y="5142339"/>
              <a:ext cx="5775960" cy="62865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0328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771896" y="410666"/>
            <a:ext cx="1079887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2337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does zero represent in this situation?</a:t>
            </a: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pet store is farther away from the bookstore? Explain how you know.</a:t>
            </a:r>
          </a:p>
        </p:txBody>
      </p:sp>
      <p:sp>
        <p:nvSpPr>
          <p:cNvPr id="209" name="Google Shape;209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766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7" name="Google Shape;277;p15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1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/>
          <p:nvPr/>
        </p:nvSpPr>
        <p:spPr>
          <a:xfrm>
            <a:off x="147861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3.6.3 Try It: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A Quantity and Its Opposite</a:t>
            </a:r>
            <a:endParaRPr sz="3600" b="1" dirty="0">
              <a:solidFill>
                <a:srgbClr val="33BEA6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288" name="Google Shape;288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308" y="34827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Google Shape;289;p16"/>
              <p:cNvSpPr txBox="1"/>
              <p:nvPr/>
            </p:nvSpPr>
            <p:spPr>
              <a:xfrm>
                <a:off x="1294410" y="1386025"/>
                <a:ext cx="9859212" cy="1415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On the number line, plot and label a deposit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$64.87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a withdrawal for the same amount from a bank account. What does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represent in this situation?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289" name="Google Shape;289;p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410" y="1386025"/>
                <a:ext cx="9859212" cy="1415732"/>
              </a:xfrm>
              <a:prstGeom prst="rect">
                <a:avLst/>
              </a:prstGeom>
              <a:blipFill rotWithShape="0">
                <a:blip r:embed="rId4"/>
                <a:stretch>
                  <a:fillRect l="-927" t="-3863" r="-1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0" name="Google Shape;290;p16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D907E0B6-34B1-5B48-9530-0935EBF90AA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2969" b="33281"/>
          <a:stretch/>
        </p:blipFill>
        <p:spPr bwMode="auto">
          <a:xfrm>
            <a:off x="2749614" y="4926828"/>
            <a:ext cx="6948805" cy="10902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Google Shape;298;p17"/>
              <p:cNvSpPr txBox="1"/>
              <p:nvPr/>
            </p:nvSpPr>
            <p:spPr>
              <a:xfrm>
                <a:off x="950026" y="349705"/>
                <a:ext cx="10291948" cy="10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On the number line, locate and label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17℃ 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below zero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17℃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above zero. What does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represent in this situation?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298" name="Google Shape;298;p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26" y="349705"/>
                <a:ext cx="10291948" cy="1046400"/>
              </a:xfrm>
              <a:prstGeom prst="rect">
                <a:avLst/>
              </a:prstGeom>
              <a:blipFill rotWithShape="0">
                <a:blip r:embed="rId3"/>
                <a:stretch>
                  <a:fillRect l="-948" t="-44186" b="-2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Google Shape;299;p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3A528110-6188-214A-91F4-5057BA82075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536" b="34515"/>
          <a:stretch/>
        </p:blipFill>
        <p:spPr bwMode="auto">
          <a:xfrm>
            <a:off x="2623502" y="4540334"/>
            <a:ext cx="6946900" cy="6705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Google Shape;298;p17"/>
              <p:cNvSpPr txBox="1"/>
              <p:nvPr/>
            </p:nvSpPr>
            <p:spPr>
              <a:xfrm>
                <a:off x="843149" y="349706"/>
                <a:ext cx="8771828" cy="3046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Carlos is at the ice cream shop. His house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9.5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blocks north of the shop. The park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9.5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blocks south of the ice cream shop.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and label all three places on the number line. </a:t>
                </a:r>
              </a:p>
              <a:p>
                <a:pPr marL="914400" lvl="1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at the ice cream shop, is Carlos closer to the park or his house?</a:t>
                </a:r>
              </a:p>
            </p:txBody>
          </p:sp>
        </mc:Choice>
        <mc:Fallback xmlns="">
          <p:sp>
            <p:nvSpPr>
              <p:cNvPr id="298" name="Google Shape;298;p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9" y="349706"/>
                <a:ext cx="8771828" cy="3046948"/>
              </a:xfrm>
              <a:prstGeom prst="rect">
                <a:avLst/>
              </a:prstGeom>
              <a:blipFill rotWithShape="0">
                <a:blip r:embed="rId3"/>
                <a:stretch>
                  <a:fillRect l="-1042" t="-1800" r="-2224" b="-36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Google Shape;299;p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Picture 7" descr="A picture containing chart&#10;&#10;Description automatically generated">
            <a:extLst>
              <a:ext uri="{FF2B5EF4-FFF2-40B4-BE49-F238E27FC236}">
                <a16:creationId xmlns:a16="http://schemas.microsoft.com/office/drawing/2014/main" id="{B83A463C-C802-9A4A-BE30-03CF747D262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164" r="32116"/>
          <a:stretch/>
        </p:blipFill>
        <p:spPr bwMode="auto">
          <a:xfrm>
            <a:off x="9440092" y="511112"/>
            <a:ext cx="1227909" cy="5305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3498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/>
        </p:nvSpPr>
        <p:spPr>
          <a:xfrm>
            <a:off x="665018" y="349705"/>
            <a:ext cx="1086196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rational number that represents the description, the rational number’s opposite, and the meaning of the opposite in context of the description.</a:t>
            </a:r>
          </a:p>
        </p:txBody>
      </p:sp>
      <p:sp>
        <p:nvSpPr>
          <p:cNvPr id="299" name="Google Shape;299;p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23D6A4F-4882-3645-A28C-7B1E99B17E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276337"/>
                  </p:ext>
                </p:extLst>
              </p:nvPr>
            </p:nvGraphicFramePr>
            <p:xfrm>
              <a:off x="2816741" y="1438066"/>
              <a:ext cx="6727852" cy="493660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54922">
                      <a:extLst>
                        <a:ext uri="{9D8B030D-6E8A-4147-A177-3AD203B41FA5}">
                          <a16:colId xmlns:a16="http://schemas.microsoft.com/office/drawing/2014/main" val="2366591318"/>
                        </a:ext>
                      </a:extLst>
                    </a:gridCol>
                    <a:gridCol w="1404329">
                      <a:extLst>
                        <a:ext uri="{9D8B030D-6E8A-4147-A177-3AD203B41FA5}">
                          <a16:colId xmlns:a16="http://schemas.microsoft.com/office/drawing/2014/main" val="3574864904"/>
                        </a:ext>
                      </a:extLst>
                    </a:gridCol>
                    <a:gridCol w="1345570">
                      <a:extLst>
                        <a:ext uri="{9D8B030D-6E8A-4147-A177-3AD203B41FA5}">
                          <a16:colId xmlns:a16="http://schemas.microsoft.com/office/drawing/2014/main" val="1872080247"/>
                        </a:ext>
                      </a:extLst>
                    </a:gridCol>
                    <a:gridCol w="2223031">
                      <a:extLst>
                        <a:ext uri="{9D8B030D-6E8A-4147-A177-3AD203B41FA5}">
                          <a16:colId xmlns:a16="http://schemas.microsoft.com/office/drawing/2014/main" val="3708065579"/>
                        </a:ext>
                      </a:extLst>
                    </a:gridCol>
                  </a:tblGrid>
                  <a:tr h="70739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Number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Opposite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of Opposite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77361"/>
                      </a:ext>
                    </a:extLst>
                  </a:tr>
                  <a:tr h="863490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 atom’s positive charge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oMath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64436411"/>
                      </a:ext>
                    </a:extLst>
                  </a:tr>
                  <a:tr h="83503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deposit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  <m:r>
                                <a:rPr lang="en-US" sz="18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84</m:t>
                              </m:r>
                            </m:oMath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0388734"/>
                      </a:ext>
                    </a:extLst>
                  </a:tr>
                  <a:tr h="860626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540</m:t>
                              </m:r>
                            </m:oMath>
                          </a14:m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 below sea level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2301088"/>
                      </a:ext>
                    </a:extLst>
                  </a:tr>
                  <a:tr h="83503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rise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41</m:t>
                              </m:r>
                              <m:r>
                                <a:rPr lang="en-US" sz="18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8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℃</m:t>
                              </m:r>
                            </m:oMath>
                          </a14:m>
                          <a:endParaRPr lang="en-US" sz="1800" b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87951183"/>
                      </a:ext>
                    </a:extLst>
                  </a:tr>
                  <a:tr h="83503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loss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  <m:r>
                                <a:rPr lang="en-US" sz="18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pounds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31774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23D6A4F-4882-3645-A28C-7B1E99B17E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276337"/>
                  </p:ext>
                </p:extLst>
              </p:nvPr>
            </p:nvGraphicFramePr>
            <p:xfrm>
              <a:off x="1292741" y="1438066"/>
              <a:ext cx="6727852" cy="493660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54922">
                      <a:extLst>
                        <a:ext uri="{9D8B030D-6E8A-4147-A177-3AD203B41FA5}">
                          <a16:colId xmlns:a16="http://schemas.microsoft.com/office/drawing/2014/main" val="2366591318"/>
                        </a:ext>
                      </a:extLst>
                    </a:gridCol>
                    <a:gridCol w="1404329">
                      <a:extLst>
                        <a:ext uri="{9D8B030D-6E8A-4147-A177-3AD203B41FA5}">
                          <a16:colId xmlns:a16="http://schemas.microsoft.com/office/drawing/2014/main" val="3574864904"/>
                        </a:ext>
                      </a:extLst>
                    </a:gridCol>
                    <a:gridCol w="1345570">
                      <a:extLst>
                        <a:ext uri="{9D8B030D-6E8A-4147-A177-3AD203B41FA5}">
                          <a16:colId xmlns:a16="http://schemas.microsoft.com/office/drawing/2014/main" val="1872080247"/>
                        </a:ext>
                      </a:extLst>
                    </a:gridCol>
                    <a:gridCol w="2223031">
                      <a:extLst>
                        <a:ext uri="{9D8B030D-6E8A-4147-A177-3AD203B41FA5}">
                          <a16:colId xmlns:a16="http://schemas.microsoft.com/office/drawing/2014/main" val="3708065579"/>
                        </a:ext>
                      </a:extLst>
                    </a:gridCol>
                  </a:tblGrid>
                  <a:tr h="70739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Number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Opposite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of Opposite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77361"/>
                      </a:ext>
                    </a:extLst>
                  </a:tr>
                  <a:tr h="863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83824" r="-282734" b="-392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64436411"/>
                      </a:ext>
                    </a:extLst>
                  </a:tr>
                  <a:tr h="8350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89394" r="-282734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0388734"/>
                      </a:ext>
                    </a:extLst>
                  </a:tr>
                  <a:tr h="8606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85075" r="-28273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2301088"/>
                      </a:ext>
                    </a:extLst>
                  </a:tr>
                  <a:tr h="8350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90909" r="-282734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87951183"/>
                      </a:ext>
                    </a:extLst>
                  </a:tr>
                  <a:tr h="8350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90909" r="-282734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001" marR="4500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31774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3002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Google Shape;298;p17"/>
              <p:cNvSpPr txBox="1"/>
              <p:nvPr/>
            </p:nvSpPr>
            <p:spPr>
              <a:xfrm>
                <a:off x="914400" y="349705"/>
                <a:ext cx="10363200" cy="830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With a partner, choose one description and describe what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could represent in that situation.</a:t>
                </a:r>
              </a:p>
            </p:txBody>
          </p:sp>
        </mc:Choice>
        <mc:Fallback xmlns="">
          <p:sp>
            <p:nvSpPr>
              <p:cNvPr id="298" name="Google Shape;298;p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9705"/>
                <a:ext cx="10363200" cy="830956"/>
              </a:xfrm>
              <a:prstGeom prst="rect">
                <a:avLst/>
              </a:prstGeom>
              <a:blipFill rotWithShape="0">
                <a:blip r:embed="rId3"/>
                <a:stretch>
                  <a:fillRect l="-941" t="-55474" b="-29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Google Shape;299;p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5532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97" name="Google Shape;397;p27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9" name="Google Shape;399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5255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8"/>
          <p:cNvSpPr txBox="1"/>
          <p:nvPr/>
        </p:nvSpPr>
        <p:spPr>
          <a:xfrm>
            <a:off x="1564351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3.6.4 Bring It Together: </a:t>
            </a:r>
            <a:r>
              <a:rPr lang="en-US" sz="40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A Quantity and Its Opposite</a:t>
            </a:r>
            <a:endParaRPr sz="1200" dirty="0"/>
          </a:p>
        </p:txBody>
      </p:sp>
      <p:sp>
        <p:nvSpPr>
          <p:cNvPr id="408" name="Google Shape;408;p28"/>
          <p:cNvSpPr txBox="1"/>
          <p:nvPr/>
        </p:nvSpPr>
        <p:spPr>
          <a:xfrm>
            <a:off x="997527" y="1386025"/>
            <a:ext cx="1045297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</a:rPr>
              <a:t>Work with a partner to write answers to the following questions.</a:t>
            </a:r>
          </a:p>
          <a:p>
            <a:r>
              <a:rPr lang="en-US" sz="2400" dirty="0">
                <a:latin typeface="Verdana"/>
                <a:ea typeface="Verdana"/>
                <a:cs typeface="Verdana"/>
              </a:rPr>
              <a:t> </a:t>
            </a:r>
          </a:p>
          <a:p>
            <a:pPr marL="457200" indent="-449263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What is the relationship between any number and its opposite when plotted on a number line?</a:t>
            </a:r>
          </a:p>
        </p:txBody>
      </p:sp>
      <p:sp>
        <p:nvSpPr>
          <p:cNvPr id="409" name="Google Shape;409;p28"/>
          <p:cNvSpPr/>
          <p:nvPr/>
        </p:nvSpPr>
        <p:spPr>
          <a:xfrm>
            <a:off x="0" y="-12827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10" name="Google Shape;410;p28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623" y="255734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418;p29">
            <a:extLst>
              <a:ext uri="{FF2B5EF4-FFF2-40B4-BE49-F238E27FC236}">
                <a16:creationId xmlns:a16="http://schemas.microsoft.com/office/drawing/2014/main" id="{EB585755-F361-4AA9-B79C-9D06948E84DE}"/>
              </a:ext>
            </a:extLst>
          </p:cNvPr>
          <p:cNvSpPr txBox="1"/>
          <p:nvPr/>
        </p:nvSpPr>
        <p:spPr>
          <a:xfrm>
            <a:off x="997527" y="4445571"/>
            <a:ext cx="1045297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How can you use this relationship to locate the opposite of a given number on the number line? </a:t>
            </a: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/>
        </p:nvSpPr>
        <p:spPr>
          <a:xfrm>
            <a:off x="1379805" y="28738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3.6.5 Your Turn!</a:t>
            </a:r>
            <a:endParaRPr dirty="0"/>
          </a:p>
        </p:txBody>
      </p:sp>
      <p:pic>
        <p:nvPicPr>
          <p:cNvPr id="437" name="Google Shape;4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505" y="28738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Google Shape;439;p31"/>
              <p:cNvSpPr txBox="1"/>
              <p:nvPr/>
            </p:nvSpPr>
            <p:spPr>
              <a:xfrm>
                <a:off x="843148" y="1386026"/>
                <a:ext cx="7935093" cy="25237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Janney notices that her room’s temperature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4°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F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below the recommended temperature, and Ivan’s bedroom temperature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4°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F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above the recommended temperature. Plot the values on the number line and explain what zero represents in this situation. 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439" name="Google Shape;439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386026"/>
                <a:ext cx="7935093" cy="2523727"/>
              </a:xfrm>
              <a:prstGeom prst="rect">
                <a:avLst/>
              </a:prstGeom>
              <a:blipFill rotWithShape="0">
                <a:blip r:embed="rId4"/>
                <a:stretch>
                  <a:fillRect l="-1152" t="-1932" r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Google Shape;440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Picture 7" descr="A picture containing chart&#10;&#10;Description automatically generated">
            <a:extLst>
              <a:ext uri="{FF2B5EF4-FFF2-40B4-BE49-F238E27FC236}">
                <a16:creationId xmlns:a16="http://schemas.microsoft.com/office/drawing/2014/main" id="{F44F977C-84B3-234A-A9D8-F6C10ACC616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164" r="32116"/>
          <a:stretch/>
        </p:blipFill>
        <p:spPr bwMode="auto">
          <a:xfrm>
            <a:off x="9561196" y="1034685"/>
            <a:ext cx="1106805" cy="4780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Google Shape;448;p32"/>
              <p:cNvSpPr txBox="1"/>
              <p:nvPr/>
            </p:nvSpPr>
            <p:spPr>
              <a:xfrm>
                <a:off x="819397" y="398474"/>
                <a:ext cx="9440171" cy="25237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Finn wants to visit his friend Simon who lives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22.7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blocks west. He also wants to visit his grandparents who live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22.7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blocks east. </a:t>
                </a:r>
              </a:p>
              <a:p>
                <a:r>
                  <a:rPr lang="en-US" sz="2400" dirty="0">
                    <a:latin typeface="Verdana"/>
                    <a:ea typeface="Verdana"/>
                    <a:cs typeface="Verdana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Plot and label the locations of Simon and Finn’s grandparents on the number line. 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448" name="Google Shape;448;p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97" y="398474"/>
                <a:ext cx="9440171" cy="2523727"/>
              </a:xfrm>
              <a:prstGeom prst="rect">
                <a:avLst/>
              </a:prstGeom>
              <a:blipFill rotWithShape="0">
                <a:blip r:embed="rId3"/>
                <a:stretch>
                  <a:fillRect l="-968" t="-2174" r="-10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9" name="Google Shape;449;p32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3450AC6-17AA-D542-9F45-E1EDD86F8344}"/>
              </a:ext>
            </a:extLst>
          </p:cNvPr>
          <p:cNvGrpSpPr/>
          <p:nvPr/>
        </p:nvGrpSpPr>
        <p:grpSpPr>
          <a:xfrm>
            <a:off x="2235344" y="4238167"/>
            <a:ext cx="7721312" cy="646467"/>
            <a:chOff x="786677" y="5124522"/>
            <a:chExt cx="7721312" cy="64646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3F52381-BEB7-1047-BEA9-749CC7E4E760}"/>
                </a:ext>
              </a:extLst>
            </p:cNvPr>
            <p:cNvSpPr/>
            <p:nvPr/>
          </p:nvSpPr>
          <p:spPr>
            <a:xfrm>
              <a:off x="786677" y="5124522"/>
              <a:ext cx="7721312" cy="609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tabLst>
                  <a:tab pos="255905" algn="l"/>
                </a:tabLst>
              </a:pPr>
              <a:r>
                <a:rPr lang="en-US" sz="3200" dirty="0">
                  <a:solidFill>
                    <a:srgbClr val="231F20"/>
                  </a:solidFill>
                  <a:latin typeface="Calibri" panose="020F0502020204030204" pitchFamily="34" charset="0"/>
                  <a:ea typeface="Myriad Pro"/>
                  <a:cs typeface="Myriad Pro"/>
                </a:rPr>
                <a:t>West		</a:t>
              </a:r>
              <a:r>
                <a:rPr lang="en-US" dirty="0">
                  <a:solidFill>
                    <a:srgbClr val="231F20"/>
                  </a:solidFill>
                  <a:latin typeface="Calibri" panose="020F0502020204030204" pitchFamily="34" charset="0"/>
                  <a:ea typeface="Myriad Pro"/>
                  <a:cs typeface="Myriad Pro"/>
                </a:rPr>
                <a:t> 					          </a:t>
              </a:r>
              <a:r>
                <a:rPr lang="en-US" sz="3200" dirty="0">
                  <a:solidFill>
                    <a:srgbClr val="231F20"/>
                  </a:solidFill>
                  <a:latin typeface="Calibri" panose="020F0502020204030204" pitchFamily="34" charset="0"/>
                  <a:ea typeface="Myriad Pro"/>
                  <a:cs typeface="Myriad Pro"/>
                </a:rPr>
                <a:t>East</a:t>
              </a:r>
              <a:endParaRPr lang="en-US" dirty="0">
                <a:solidFill>
                  <a:srgbClr val="231F20"/>
                </a:solidFill>
                <a:latin typeface="Calibri" panose="020F0502020204030204" pitchFamily="34" charset="0"/>
                <a:ea typeface="Myriad Pro"/>
                <a:cs typeface="Myriad Pro"/>
              </a:endParaRPr>
            </a:p>
          </p:txBody>
        </p:sp>
        <p:pic>
          <p:nvPicPr>
            <p:cNvPr id="10" name="Picture 9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6F8B8F5D-FB78-ED4B-83A7-E062F133B0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5416" b="32194"/>
            <a:stretch/>
          </p:blipFill>
          <p:spPr bwMode="auto">
            <a:xfrm>
              <a:off x="1820313" y="5142339"/>
              <a:ext cx="5775960" cy="62865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2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2"/>
          <p:cNvSpPr txBox="1"/>
          <p:nvPr/>
        </p:nvSpPr>
        <p:spPr>
          <a:xfrm>
            <a:off x="688769" y="398474"/>
            <a:ext cx="9570799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does zero represent in this situation? </a:t>
            </a: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Does Finn live closer to his grandparents or Simon? 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1751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478694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3.6.6 Wrap-Up: Ticket Out the Door</a:t>
            </a:r>
            <a:endParaRPr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244" y="20322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9" name="Google Shape;469;p34"/>
          <p:cNvSpPr txBox="1"/>
          <p:nvPr/>
        </p:nvSpPr>
        <p:spPr>
          <a:xfrm>
            <a:off x="1396544" y="1386026"/>
            <a:ext cx="8991040" cy="32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</a:rPr>
              <a:t>Complete the following in the table.</a:t>
            </a:r>
          </a:p>
          <a:p>
            <a:r>
              <a:rPr lang="en-US" sz="2400" dirty="0">
                <a:latin typeface="Verdana"/>
                <a:ea typeface="Verdana"/>
                <a:cs typeface="Verdana"/>
              </a:rPr>
              <a:t> </a:t>
            </a:r>
          </a:p>
          <a:p>
            <a:pPr marL="914400" indent="-449263">
              <a:buFont typeface="Arial" panose="020B0604020202020204" pitchFamily="34" charset="0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</a:rPr>
              <a:t>Write the rational number that represents the situation.</a:t>
            </a:r>
          </a:p>
          <a:p>
            <a:pPr marL="914400" indent="-449263">
              <a:buFont typeface="Arial" panose="020B0604020202020204" pitchFamily="34" charset="0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</a:rPr>
              <a:t>Write the opposite of the rational number.</a:t>
            </a:r>
          </a:p>
          <a:p>
            <a:pPr marL="914400" indent="-449263">
              <a:buFont typeface="Arial" panose="020B0604020202020204" pitchFamily="34" charset="0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</a:rPr>
              <a:t>Represent the rational number and its opposite on the number line with appropriate labels.</a:t>
            </a:r>
          </a:p>
          <a:p>
            <a:pPr marL="914400" indent="-449263">
              <a:buFont typeface="Arial" panose="020B0604020202020204" pitchFamily="34" charset="0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</a:rPr>
              <a:t>Explain the meaning of zero in the situation.</a:t>
            </a:r>
          </a:p>
          <a:p>
            <a:endParaRPr dirty="0"/>
          </a:p>
        </p:txBody>
      </p:sp>
      <p:sp>
        <p:nvSpPr>
          <p:cNvPr id="470" name="Google Shape;470;p34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5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9CB9E3C-D8C1-F14C-9B1F-8AD3C46F3B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938335"/>
                  </p:ext>
                </p:extLst>
              </p:nvPr>
            </p:nvGraphicFramePr>
            <p:xfrm>
              <a:off x="2586446" y="296091"/>
              <a:ext cx="7019109" cy="599052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15618">
                      <a:extLst>
                        <a:ext uri="{9D8B030D-6E8A-4147-A177-3AD203B41FA5}">
                          <a16:colId xmlns:a16="http://schemas.microsoft.com/office/drawing/2014/main" val="1671002136"/>
                        </a:ext>
                      </a:extLst>
                    </a:gridCol>
                    <a:gridCol w="2772253">
                      <a:extLst>
                        <a:ext uri="{9D8B030D-6E8A-4147-A177-3AD203B41FA5}">
                          <a16:colId xmlns:a16="http://schemas.microsoft.com/office/drawing/2014/main" val="4100957165"/>
                        </a:ext>
                      </a:extLst>
                    </a:gridCol>
                    <a:gridCol w="2831238">
                      <a:extLst>
                        <a:ext uri="{9D8B030D-6E8A-4147-A177-3AD203B41FA5}">
                          <a16:colId xmlns:a16="http://schemas.microsoft.com/office/drawing/2014/main" val="367431867"/>
                        </a:ext>
                      </a:extLst>
                    </a:gridCol>
                  </a:tblGrid>
                  <a:tr h="523789"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Deposit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US" sz="1800" b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𝟑𝟒</m:t>
                              </m:r>
                            </m:oMath>
                          </a14:m>
                          <a:endParaRPr lang="en-US" sz="1800" b="1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𝟏𝟕</m:t>
                              </m:r>
                              <m:r>
                                <a:rPr lang="en-US" sz="1800" b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Below Zero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7569059"/>
                      </a:ext>
                    </a:extLst>
                  </a:tr>
                  <a:tr h="494519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Number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4253608"/>
                      </a:ext>
                    </a:extLst>
                  </a:tr>
                  <a:tr h="376474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Opposite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7306080"/>
                      </a:ext>
                    </a:extLst>
                  </a:tr>
                  <a:tr h="1786054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endParaRPr lang="en-US" sz="18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6419090"/>
                      </a:ext>
                    </a:extLst>
                  </a:tr>
                  <a:tr h="254721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of Zero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09320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9CB9E3C-D8C1-F14C-9B1F-8AD3C46F3B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938335"/>
                  </p:ext>
                </p:extLst>
              </p:nvPr>
            </p:nvGraphicFramePr>
            <p:xfrm>
              <a:off x="1062445" y="296091"/>
              <a:ext cx="7019109" cy="599052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15618">
                      <a:extLst>
                        <a:ext uri="{9D8B030D-6E8A-4147-A177-3AD203B41FA5}">
                          <a16:colId xmlns:a16="http://schemas.microsoft.com/office/drawing/2014/main" val="1671002136"/>
                        </a:ext>
                      </a:extLst>
                    </a:gridCol>
                    <a:gridCol w="2772253">
                      <a:extLst>
                        <a:ext uri="{9D8B030D-6E8A-4147-A177-3AD203B41FA5}">
                          <a16:colId xmlns:a16="http://schemas.microsoft.com/office/drawing/2014/main" val="4100957165"/>
                        </a:ext>
                      </a:extLst>
                    </a:gridCol>
                    <a:gridCol w="2831238">
                      <a:extLst>
                        <a:ext uri="{9D8B030D-6E8A-4147-A177-3AD203B41FA5}">
                          <a16:colId xmlns:a16="http://schemas.microsoft.com/office/drawing/2014/main" val="367431867"/>
                        </a:ext>
                      </a:extLst>
                    </a:gridCol>
                  </a:tblGrid>
                  <a:tr h="523789"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142" t="-2439" r="-102283" b="-1056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8430" t="-2439" r="-448" b="-1056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7569059"/>
                      </a:ext>
                    </a:extLst>
                  </a:tr>
                  <a:tr h="551434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Number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4253608"/>
                      </a:ext>
                    </a:extLst>
                  </a:tr>
                  <a:tr h="376474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Opposite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7306080"/>
                      </a:ext>
                    </a:extLst>
                  </a:tr>
                  <a:tr h="1991614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endParaRPr lang="en-US" sz="18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6419090"/>
                      </a:ext>
                    </a:extLst>
                  </a:tr>
                  <a:tr h="254721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of Zero</a:t>
                          </a:r>
                        </a:p>
                      </a:txBody>
                      <a:tcPr marL="41967" marR="419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lnSpc>
                              <a:spcPct val="10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55905" algn="l"/>
                            </a:tabLst>
                          </a:pP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967" marR="419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093203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3DFF97E-AF72-0945-9889-411851B53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4178852" y="2553179"/>
            <a:ext cx="2441575" cy="398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68D2C3-9724-5342-B89E-8E31A4257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 flipV="1">
            <a:off x="7267952" y="2593503"/>
            <a:ext cx="1889761" cy="308113"/>
          </a:xfrm>
          <a:prstGeom prst="rect">
            <a:avLst/>
          </a:prstGeom>
        </p:spPr>
      </p:pic>
      <p:sp>
        <p:nvSpPr>
          <p:cNvPr id="8" name="Google Shape;125;g104476d1465_1_17"/>
          <p:cNvSpPr txBox="1"/>
          <p:nvPr/>
        </p:nvSpPr>
        <p:spPr>
          <a:xfrm>
            <a:off x="8680412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863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F23991E9-F9CC-44B7-BC8B-97F80B939444}"/>
</file>

<file path=customXml/itemProps2.xml><?xml version="1.0" encoding="utf-8"?>
<ds:datastoreItem xmlns:ds="http://schemas.openxmlformats.org/officeDocument/2006/customXml" ds:itemID="{8FEF00F3-07E7-4845-B450-3729D4FDEFC1}"/>
</file>

<file path=customXml/itemProps3.xml><?xml version="1.0" encoding="utf-8"?>
<ds:datastoreItem xmlns:ds="http://schemas.openxmlformats.org/officeDocument/2006/customXml" ds:itemID="{97263FBA-D042-4991-BABF-27FF2D390D65}"/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1101</Words>
  <Application>Microsoft Office PowerPoint</Application>
  <PresentationFormat>Widescreen</PresentationFormat>
  <Paragraphs>228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Black</vt:lpstr>
      <vt:lpstr>Calibri</vt:lpstr>
      <vt:lpstr>Cambria Math</vt:lpstr>
      <vt:lpstr>Verdana</vt:lpstr>
      <vt:lpstr>Wingdings</vt:lpstr>
      <vt:lpstr>1_Office Theme</vt:lpstr>
      <vt:lpstr>6th Grade Accelerated Math  Unit 3, Lesson 6  Comparing a Quantity and Its Opposite in Real-World Context  Volume 1, pg. 105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  Unit 3, Lesson 6  Lesson Name  Volume x, pg. #  </dc:title>
  <dc:creator>Karen McKenzie</dc:creator>
  <cp:lastModifiedBy>Cassie O'Connor</cp:lastModifiedBy>
  <cp:revision>6</cp:revision>
  <dcterms:created xsi:type="dcterms:W3CDTF">2015-03-17T18:51:18Z</dcterms:created>
  <dcterms:modified xsi:type="dcterms:W3CDTF">2022-06-29T05:05:27Z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