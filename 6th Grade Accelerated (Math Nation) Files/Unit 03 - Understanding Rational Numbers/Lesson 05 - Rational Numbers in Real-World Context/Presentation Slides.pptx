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5"/>
  </p:notesMasterIdLst>
  <p:sldIdLst>
    <p:sldId id="256" r:id="rId5"/>
    <p:sldId id="257" r:id="rId6"/>
    <p:sldId id="286" r:id="rId7"/>
    <p:sldId id="261" r:id="rId8"/>
    <p:sldId id="287" r:id="rId9"/>
    <p:sldId id="288" r:id="rId10"/>
    <p:sldId id="314" r:id="rId11"/>
    <p:sldId id="315" r:id="rId12"/>
    <p:sldId id="316" r:id="rId13"/>
    <p:sldId id="339" r:id="rId14"/>
    <p:sldId id="289" r:id="rId15"/>
    <p:sldId id="290" r:id="rId16"/>
    <p:sldId id="313" r:id="rId17"/>
    <p:sldId id="333" r:id="rId18"/>
    <p:sldId id="334" r:id="rId19"/>
    <p:sldId id="335" r:id="rId20"/>
    <p:sldId id="336" r:id="rId21"/>
    <p:sldId id="337" r:id="rId22"/>
    <p:sldId id="340" r:id="rId23"/>
    <p:sldId id="332" r:id="rId24"/>
    <p:sldId id="320" r:id="rId25"/>
    <p:sldId id="321" r:id="rId26"/>
    <p:sldId id="341" r:id="rId27"/>
    <p:sldId id="319" r:id="rId28"/>
    <p:sldId id="338" r:id="rId29"/>
    <p:sldId id="302" r:id="rId30"/>
    <p:sldId id="303" r:id="rId31"/>
    <p:sldId id="309" r:id="rId32"/>
    <p:sldId id="306" r:id="rId33"/>
    <p:sldId id="307"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D1E"/>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354423-3AFB-49EB-8C25-6D072CAC0791}" v="31" dt="2022-02-16T17:44:45.379"/>
  </p1510:revLst>
</p1510:revInfo>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018"/>
    <p:restoredTop sz="94695"/>
  </p:normalViewPr>
  <p:slideViewPr>
    <p:cSldViewPr snapToGrid="0">
      <p:cViewPr>
        <p:scale>
          <a:sx n="115" d="100"/>
          <a:sy n="115" d="100"/>
        </p:scale>
        <p:origin x="-10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5346080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646479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967857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18918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3974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657740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812542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7759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97460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626020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674032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540458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400" b="1" dirty="0">
                <a:solidFill>
                  <a:srgbClr val="417DBF"/>
                </a:solidFill>
                <a:latin typeface="Verdana"/>
                <a:ea typeface="Verdana"/>
                <a:cs typeface="Verdana"/>
                <a:sym typeface="Verdana"/>
              </a:rPr>
              <a:t>Rational Numbers in Real-World Context</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266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71898"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48398"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1277007" y="1600200"/>
            <a:ext cx="9637986" cy="4205700"/>
          </a:xfrm>
          <a:prstGeom prst="rect">
            <a:avLst/>
          </a:prstGeom>
          <a:no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latin typeface="Verdana" pitchFamily="34" charset="0"/>
                <a:ea typeface="Verdana" pitchFamily="34" charset="0"/>
              </a:rPr>
              <a:t>MA.6.NSO.1.1 </a:t>
            </a:r>
          </a:p>
          <a:p>
            <a:pPr marL="444500" indent="0">
              <a:buSzPts val="1100"/>
              <a:buNone/>
            </a:pPr>
            <a:r>
              <a:rPr lang="en-US" sz="2800" dirty="0">
                <a:latin typeface="Verdana" pitchFamily="34" charset="0"/>
                <a:ea typeface="Verdana" pitchFamily="34" charset="0"/>
              </a:rPr>
              <a:t>Extend previous understanding of numbers to define rational numbers. Plot, order, and compare rational numbers.</a:t>
            </a:r>
          </a:p>
          <a:p>
            <a:pPr marL="0" indent="0">
              <a:buSzPts val="1100"/>
              <a:buNone/>
            </a:pPr>
            <a:endParaRPr lang="en-US" sz="2800" dirty="0" smtClean="0">
              <a:solidFill>
                <a:schemeClr val="tx1"/>
              </a:solidFill>
              <a:latin typeface="Verdana"/>
              <a:ea typeface="Verdana"/>
              <a:cs typeface="Verdana"/>
              <a:sym typeface="Verdana"/>
            </a:endParaRPr>
          </a:p>
          <a:p>
            <a:pPr marL="0" indent="0">
              <a:buSzPts val="1100"/>
              <a:buNone/>
            </a:pPr>
            <a:r>
              <a:rPr lang="en-US" sz="2800" dirty="0" smtClean="0">
                <a:solidFill>
                  <a:schemeClr val="tx1"/>
                </a:solidFill>
                <a:latin typeface="Verdana"/>
                <a:ea typeface="Verdana"/>
                <a:cs typeface="Verdana"/>
                <a:sym typeface="Verdana"/>
              </a:rPr>
              <a:t>MA.6.NSO.1.2 </a:t>
            </a:r>
            <a:endParaRPr lang="en-US" sz="2800" dirty="0">
              <a:solidFill>
                <a:schemeClr val="tx1"/>
              </a:solidFill>
              <a:latin typeface="Verdana"/>
              <a:ea typeface="Verdana"/>
              <a:cs typeface="Verdana"/>
              <a:sym typeface="Verdana"/>
            </a:endParaRPr>
          </a:p>
          <a:p>
            <a:pPr indent="0">
              <a:buNone/>
            </a:pPr>
            <a:r>
              <a:rPr lang="en-US" sz="2800" dirty="0">
                <a:latin typeface="Verdana" panose="020B0604030504040204" pitchFamily="34" charset="0"/>
                <a:ea typeface="Verdana" panose="020B0604030504040204" pitchFamily="34" charset="0"/>
              </a:rPr>
              <a:t>Given a mathematical or real-world context, represent quantities that have opposite directions using rational numbers. Compare them on a number line and explain the meaning of zero within its context.</a:t>
            </a:r>
            <a:endParaRPr lang="en-US" sz="2800" dirty="0">
              <a:solidFill>
                <a:schemeClr val="tx1"/>
              </a:solidFill>
              <a:latin typeface="Verdana" panose="020B0604030504040204" pitchFamily="34" charset="0"/>
              <a:ea typeface="Verdana" panose="020B0604030504040204" pitchFamily="34" charset="0"/>
              <a:cs typeface="Century Gothic"/>
              <a:sym typeface="Century Gothic"/>
            </a:endParaRPr>
          </a:p>
        </p:txBody>
      </p:sp>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98</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464821" y="125253"/>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682659" y="41445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1024759" y="1600200"/>
            <a:ext cx="1014248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600" dirty="0">
                <a:latin typeface="Verdana" panose="020B0604030504040204" pitchFamily="34" charset="0"/>
                <a:ea typeface="Verdana" panose="020B0604030504040204" pitchFamily="34" charset="0"/>
              </a:rPr>
              <a:t>I can determine positive and negative values in relation to real-world contexts.</a:t>
            </a:r>
          </a:p>
          <a:p>
            <a:pPr marL="457200" indent="-450850">
              <a:buClr>
                <a:srgbClr val="434343"/>
              </a:buClr>
              <a:buSzPts val="3500"/>
              <a:buFont typeface="Verdana"/>
              <a:buChar char="❏"/>
            </a:pPr>
            <a:r>
              <a:rPr lang="en-US" sz="3600" dirty="0">
                <a:latin typeface="Verdana" panose="020B0604030504040204" pitchFamily="34" charset="0"/>
                <a:ea typeface="Verdana" panose="020B0604030504040204" pitchFamily="34" charset="0"/>
              </a:rPr>
              <a:t>I can plot negative rational values given a real-world context.</a:t>
            </a:r>
            <a:endParaRPr lang="en-US" sz="3500" dirty="0">
              <a:solidFill>
                <a:schemeClr val="tx1"/>
              </a:solidFill>
              <a:latin typeface="Verdana" panose="020B0604030504040204" pitchFamily="34" charset="0"/>
              <a:ea typeface="Verdana" panose="020B0604030504040204" pitchFamily="34" charset="0"/>
              <a:cs typeface="Verdana"/>
              <a:sym typeface="Verdana"/>
            </a:endParaRPr>
          </a:p>
        </p:txBody>
      </p:sp>
      <p:sp>
        <p:nvSpPr>
          <p:cNvPr id="8" name="Google Shape;278;g104476d1465_1_17">
            <a:extLst>
              <a:ext uri="{FF2B5EF4-FFF2-40B4-BE49-F238E27FC236}">
                <a16:creationId xmlns="" xmlns:a16="http://schemas.microsoft.com/office/drawing/2014/main" id="{7BA09A98-EDA0-5343-AD77-8F8E8C4F0E7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98</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98</a:t>
            </a:r>
            <a:endParaRPr i="1" dirty="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88953"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400" b="1" dirty="0">
                <a:solidFill>
                  <a:srgbClr val="3F2A67"/>
                </a:solidFill>
                <a:latin typeface="Verdana"/>
                <a:ea typeface="Verdana"/>
                <a:cs typeface="Verdana"/>
                <a:sym typeface="Verdana"/>
              </a:rPr>
              <a:t>3.5.1 Warm-Up: Mathematician Katherine Johnson</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641653" y="208970"/>
            <a:ext cx="747300" cy="747300"/>
          </a:xfrm>
          <a:prstGeom prst="rect">
            <a:avLst/>
          </a:prstGeom>
          <a:noFill/>
          <a:ln>
            <a:noFill/>
          </a:ln>
          <a:effectLst>
            <a:outerShdw blurRad="50800" dist="38100" dir="2700000" algn="tl" rotWithShape="0">
              <a:prstClr val="black">
                <a:alpha val="40000"/>
              </a:prstClr>
            </a:outerShdw>
          </a:effectLst>
        </p:spPr>
      </p:pic>
      <p:sp>
        <p:nvSpPr>
          <p:cNvPr id="9" name="Google Shape;278;g104476d1465_1_17">
            <a:extLst>
              <a:ext uri="{FF2B5EF4-FFF2-40B4-BE49-F238E27FC236}">
                <a16:creationId xmlns="" xmlns:a16="http://schemas.microsoft.com/office/drawing/2014/main" id="{C2564F7E-689E-724F-BBC4-EC8DFC52E66C}"/>
              </a:ext>
            </a:extLst>
          </p:cNvPr>
          <p:cNvSpPr/>
          <p:nvPr/>
        </p:nvSpPr>
        <p:spPr>
          <a:xfrm>
            <a:off x="12642"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3" name="Group 2">
            <a:extLst>
              <a:ext uri="{FF2B5EF4-FFF2-40B4-BE49-F238E27FC236}">
                <a16:creationId xmlns="" xmlns:a16="http://schemas.microsoft.com/office/drawing/2014/main" id="{52762DBB-2CEA-478A-8817-64622F18E04D}"/>
              </a:ext>
            </a:extLst>
          </p:cNvPr>
          <p:cNvGrpSpPr/>
          <p:nvPr/>
        </p:nvGrpSpPr>
        <p:grpSpPr>
          <a:xfrm>
            <a:off x="848504" y="1325700"/>
            <a:ext cx="10528776" cy="5324535"/>
            <a:chOff x="-882299" y="2082770"/>
            <a:chExt cx="10528776" cy="5324535"/>
          </a:xfrm>
        </p:grpSpPr>
        <p:sp>
          <p:nvSpPr>
            <p:cNvPr id="2" name="TextBox 1">
              <a:extLst>
                <a:ext uri="{FF2B5EF4-FFF2-40B4-BE49-F238E27FC236}">
                  <a16:creationId xmlns="" xmlns:a16="http://schemas.microsoft.com/office/drawing/2014/main" id="{E1D7562E-134F-D14B-AF1A-DF40E11EF758}"/>
                </a:ext>
              </a:extLst>
            </p:cNvPr>
            <p:cNvSpPr txBox="1"/>
            <p:nvPr/>
          </p:nvSpPr>
          <p:spPr>
            <a:xfrm>
              <a:off x="-882299" y="2082770"/>
              <a:ext cx="10528776" cy="532453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rPr>
                <a:t>Born in 1918, Katherine Johnson was</a:t>
              </a:r>
            </a:p>
            <a:p>
              <a:r>
                <a:rPr lang="en-US" sz="2000" dirty="0">
                  <a:latin typeface="Verdana" panose="020B0604030504040204" pitchFamily="34" charset="0"/>
                  <a:ea typeface="Verdana" panose="020B0604030504040204" pitchFamily="34" charset="0"/>
                </a:rPr>
                <a:t> always fascinated by numbers. </a:t>
              </a:r>
            </a:p>
            <a:p>
              <a:r>
                <a:rPr lang="en-US" sz="2000" dirty="0">
                  <a:latin typeface="Verdana" panose="020B0604030504040204" pitchFamily="34" charset="0"/>
                  <a:ea typeface="Verdana" panose="020B0604030504040204" pitchFamily="34" charset="0"/>
                </a:rPr>
                <a:t>Graduating from </a:t>
              </a:r>
            </a:p>
            <a:p>
              <a:r>
                <a:rPr lang="en-US" sz="2000" dirty="0">
                  <a:latin typeface="Verdana" panose="020B0604030504040204" pitchFamily="34" charset="0"/>
                  <a:ea typeface="Verdana" panose="020B0604030504040204" pitchFamily="34" charset="0"/>
                </a:rPr>
                <a:t>high school at 14 and from </a:t>
              </a:r>
            </a:p>
            <a:p>
              <a:r>
                <a:rPr lang="en-US" sz="2000" dirty="0">
                  <a:latin typeface="Verdana" panose="020B0604030504040204" pitchFamily="34" charset="0"/>
                  <a:ea typeface="Verdana" panose="020B0604030504040204" pitchFamily="34" charset="0"/>
                </a:rPr>
                <a:t>college at 18, she went on </a:t>
              </a:r>
            </a:p>
            <a:p>
              <a:r>
                <a:rPr lang="en-US" sz="2000" dirty="0">
                  <a:latin typeface="Verdana" panose="020B0604030504040204" pitchFamily="34" charset="0"/>
                  <a:ea typeface="Verdana" panose="020B0604030504040204" pitchFamily="34" charset="0"/>
                </a:rPr>
                <a:t>to become one of the first </a:t>
              </a:r>
            </a:p>
            <a:p>
              <a:r>
                <a:rPr lang="en-US" sz="2000" dirty="0">
                  <a:latin typeface="Verdana" panose="020B0604030504040204" pitchFamily="34" charset="0"/>
                  <a:ea typeface="Verdana" panose="020B0604030504040204" pitchFamily="34" charset="0"/>
                </a:rPr>
                <a:t>African American </a:t>
              </a:r>
            </a:p>
            <a:p>
              <a:r>
                <a:rPr lang="en-US" sz="2000" dirty="0">
                  <a:latin typeface="Verdana" panose="020B0604030504040204" pitchFamily="34" charset="0"/>
                  <a:ea typeface="Verdana" panose="020B0604030504040204" pitchFamily="34" charset="0"/>
                </a:rPr>
                <a:t>mathematicians with the </a:t>
              </a:r>
            </a:p>
            <a:p>
              <a:r>
                <a:rPr lang="en-US" sz="2000" dirty="0">
                  <a:latin typeface="Verdana" panose="020B0604030504040204" pitchFamily="34" charset="0"/>
                  <a:ea typeface="Verdana" panose="020B0604030504040204" pitchFamily="34" charset="0"/>
                </a:rPr>
                <a:t>job title of “computer” at </a:t>
              </a:r>
            </a:p>
            <a:p>
              <a:r>
                <a:rPr lang="en-US" sz="2000" dirty="0">
                  <a:latin typeface="Verdana" panose="020B0604030504040204" pitchFamily="34" charset="0"/>
                  <a:ea typeface="Verdana" panose="020B0604030504040204" pitchFamily="34" charset="0"/>
                </a:rPr>
                <a:t>NASA, where she worked for three decades. As a computer, she personally checked the calculations made by electronic computers. Katherine calculated the launch window for America’s first human space flight. Her calculations were critical to the success of the Apollo Moon landing program and the start of NASA’s Space Shuttle program. In 2015, she received the Presidential Medal of Freedom from President Obama. In its official announcement, the White House cited Katherine’s influence on every major space program from Mercury to the Shuttle Program.</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a:extLst>
                <a:ext uri="{FF2B5EF4-FFF2-40B4-BE49-F238E27FC236}">
                  <a16:creationId xmlns="" xmlns:a16="http://schemas.microsoft.com/office/drawing/2014/main" id="{DE2A1896-83C0-4DC6-A7F7-5CED9D1D3CE1}"/>
                </a:ext>
              </a:extLst>
            </p:cNvPr>
            <p:cNvPicPr>
              <a:picLocks noChangeAspect="1"/>
            </p:cNvPicPr>
            <p:nvPr/>
          </p:nvPicPr>
          <p:blipFill>
            <a:blip r:embed="rId4"/>
            <a:stretch>
              <a:fillRect/>
            </a:stretch>
          </p:blipFill>
          <p:spPr>
            <a:xfrm>
              <a:off x="4590881" y="2234363"/>
              <a:ext cx="4070351" cy="2063055"/>
            </a:xfrm>
            <a:prstGeom prst="rect">
              <a:avLst/>
            </a:prstGeom>
          </p:spPr>
        </p:pic>
      </p:gr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1072056" y="702237"/>
            <a:ext cx="10047890" cy="1077218"/>
          </a:xfrm>
          <a:prstGeom prst="rect">
            <a:avLst/>
          </a:prstGeom>
          <a:noFill/>
        </p:spPr>
        <p:txBody>
          <a:bodyPr wrap="square" rtlCol="0">
            <a:spAutoFit/>
          </a:bodyPr>
          <a:lstStyle/>
          <a:p>
            <a:pPr marL="514350" indent="-514350">
              <a:buFont typeface="+mj-lt"/>
              <a:buAutoNum type="arabicPeriod"/>
            </a:pPr>
            <a:r>
              <a:rPr lang="en-US" sz="3200" dirty="0">
                <a:latin typeface="Verdana" panose="020B0604030504040204" pitchFamily="34" charset="0"/>
                <a:ea typeface="Verdana" panose="020B0604030504040204" pitchFamily="34" charset="0"/>
              </a:rPr>
              <a:t>What stands out to you the most about Katherine Johnson?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2950EAF9-F430-CC4A-9F7C-2EC37538C1F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98</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99</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415686" y="4826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3.5.2 Collaboration: Exploring Elevation</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65878" y="3362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867103" y="1386025"/>
            <a:ext cx="10713826" cy="4693593"/>
          </a:xfrm>
          <a:prstGeom prst="rect">
            <a:avLst/>
          </a:prstGeom>
          <a:noFill/>
        </p:spPr>
        <p:txBody>
          <a:bodyPr wrap="square" rtlCol="0">
            <a:spAutoFit/>
          </a:bodyPr>
          <a:lstStyle/>
          <a:p>
            <a:r>
              <a:rPr lang="en-US" sz="2300" dirty="0">
                <a:latin typeface="Verdana" panose="020B0604030504040204" pitchFamily="34" charset="0"/>
                <a:ea typeface="Verdana" panose="020B0604030504040204" pitchFamily="34" charset="0"/>
                <a:cs typeface="Verdana" panose="020B0604030504040204" pitchFamily="34" charset="0"/>
              </a:rPr>
              <a:t>The picture shows different locations relative to sea level.</a:t>
            </a: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endParaRPr lang="en-US" sz="23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300" dirty="0">
                <a:latin typeface="Verdana" panose="020B0604030504040204" pitchFamily="34" charset="0"/>
                <a:ea typeface="Verdana" panose="020B0604030504040204" pitchFamily="34" charset="0"/>
              </a:rPr>
              <a:t>Describe how the picture can be used to explain the word elevation.</a:t>
            </a:r>
            <a:endParaRPr lang="en-US" sz="23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 xmlns:a16="http://schemas.microsoft.com/office/drawing/2014/main" id="{D252DD22-4545-6844-9D1D-323C0B41AD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A screenshot of a computer&#10;&#10;Description automatically generated with low confidence">
            <a:extLst>
              <a:ext uri="{FF2B5EF4-FFF2-40B4-BE49-F238E27FC236}">
                <a16:creationId xmlns="" xmlns:a16="http://schemas.microsoft.com/office/drawing/2014/main" id="{23DF7F25-EC7C-4E4F-BC60-2946658375B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19249" y="1895859"/>
            <a:ext cx="6209534" cy="3673924"/>
          </a:xfrm>
          <a:prstGeom prst="rect">
            <a:avLst/>
          </a:prstGeom>
        </p:spPr>
      </p:pic>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99</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2AA35BC6-D428-FC41-BDE5-6438AB8840FC}"/>
              </a:ext>
            </a:extLst>
          </p:cNvPr>
          <p:cNvSpPr txBox="1"/>
          <p:nvPr/>
        </p:nvSpPr>
        <p:spPr>
          <a:xfrm>
            <a:off x="945931" y="410666"/>
            <a:ext cx="10450804" cy="1384995"/>
          </a:xfrm>
          <a:prstGeom prst="rect">
            <a:avLst/>
          </a:prstGeom>
          <a:noFill/>
        </p:spPr>
        <p:txBody>
          <a:bodyPr wrap="square" rtlCol="0">
            <a:spAutoFit/>
          </a:bodyPr>
          <a:lstStyle/>
          <a:p>
            <a:pPr marL="457200" indent="-457200">
              <a:buFont typeface="+mj-lt"/>
              <a:buAutoNum type="arabicPeriod" startAt="2"/>
            </a:pPr>
            <a:r>
              <a:rPr lang="en-US" sz="2100" dirty="0">
                <a:latin typeface="Verdana" panose="020B0604030504040204" pitchFamily="34" charset="0"/>
                <a:ea typeface="Verdana" panose="020B0604030504040204" pitchFamily="34" charset="0"/>
              </a:rPr>
              <a:t>Ask two classmates for their description of the word elevation. Write their description in the table. You are the only person who should write in the first column of the table. Have your classmate initial next to your summary of their description stating that your summary is correct.</a:t>
            </a:r>
            <a:endParaRPr lang="en-US" sz="21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D24B490A-71D6-FD45-903D-95450FDFCF80}"/>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CF3DB24A-66D5-4FF1-996E-ED6436DB86A1}"/>
              </a:ext>
            </a:extLst>
          </p:cNvPr>
          <p:cNvPicPr>
            <a:picLocks noChangeAspect="1"/>
          </p:cNvPicPr>
          <p:nvPr/>
        </p:nvPicPr>
        <p:blipFill>
          <a:blip r:embed="rId3"/>
          <a:stretch>
            <a:fillRect/>
          </a:stretch>
        </p:blipFill>
        <p:spPr>
          <a:xfrm>
            <a:off x="2778561" y="2384688"/>
            <a:ext cx="6634879" cy="3807124"/>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99</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2AA35BC6-D428-FC41-BDE5-6438AB8840FC}"/>
              </a:ext>
            </a:extLst>
          </p:cNvPr>
          <p:cNvSpPr txBox="1"/>
          <p:nvPr/>
        </p:nvSpPr>
        <p:spPr>
          <a:xfrm>
            <a:off x="930166" y="3743815"/>
            <a:ext cx="10482334" cy="2585323"/>
          </a:xfrm>
          <a:prstGeom prst="rect">
            <a:avLst/>
          </a:prstGeom>
          <a:noFill/>
        </p:spPr>
        <p:txBody>
          <a:bodyPr wrap="square" rtlCol="0">
            <a:spAutoFit/>
          </a:bodyPr>
          <a:lstStyle/>
          <a:p>
            <a:pPr marL="514350" indent="-514350">
              <a:buFont typeface="+mj-lt"/>
              <a:buAutoNum type="arabicPeriod" startAt="3"/>
            </a:pPr>
            <a:r>
              <a:rPr lang="en-US" sz="2700" dirty="0">
                <a:latin typeface="Verdana" panose="020B0604030504040204" pitchFamily="34" charset="0"/>
                <a:ea typeface="Verdana" panose="020B0604030504040204" pitchFamily="34" charset="0"/>
                <a:cs typeface="Verdana" panose="020B0604030504040204" pitchFamily="34" charset="0"/>
              </a:rPr>
              <a:t>Using the picture, name one thing that is below sea level.</a:t>
            </a:r>
          </a:p>
          <a:p>
            <a:endParaRPr lang="en-US" sz="2700" dirty="0">
              <a:latin typeface="Verdana" panose="020B0604030504040204" pitchFamily="34" charset="0"/>
              <a:ea typeface="Verdana" panose="020B0604030504040204" pitchFamily="34" charset="0"/>
              <a:cs typeface="Verdana" panose="020B0604030504040204" pitchFamily="34" charset="0"/>
            </a:endParaRPr>
          </a:p>
          <a:p>
            <a:endParaRPr lang="en-US" sz="2700" dirty="0">
              <a:latin typeface="Verdana" panose="020B0604030504040204" pitchFamily="34" charset="0"/>
              <a:ea typeface="Verdana" panose="020B0604030504040204" pitchFamily="34" charset="0"/>
              <a:cs typeface="Verdana" panose="020B0604030504040204" pitchFamily="34" charset="0"/>
            </a:endParaRPr>
          </a:p>
          <a:p>
            <a:endParaRPr lang="en-US" sz="2700" dirty="0">
              <a:latin typeface="Verdana" panose="020B0604030504040204" pitchFamily="34" charset="0"/>
              <a:ea typeface="Verdana" panose="020B0604030504040204" pitchFamily="34" charset="0"/>
              <a:cs typeface="Verdana" panose="020B0604030504040204" pitchFamily="34" charset="0"/>
            </a:endParaRPr>
          </a:p>
          <a:p>
            <a:r>
              <a:rPr lang="en-US" sz="2700" dirty="0">
                <a:latin typeface="Verdana" panose="020B0604030504040204" pitchFamily="34" charset="0"/>
                <a:ea typeface="Verdana" panose="020B0604030504040204" pitchFamily="34" charset="0"/>
                <a:cs typeface="Verdana" panose="020B0604030504040204" pitchFamily="34" charset="0"/>
              </a:rPr>
              <a:t>4. Name one thing that is above sea level.</a:t>
            </a:r>
          </a:p>
        </p:txBody>
      </p:sp>
      <p:sp>
        <p:nvSpPr>
          <p:cNvPr id="6" name="Google Shape;278;g104476d1465_1_17">
            <a:extLst>
              <a:ext uri="{FF2B5EF4-FFF2-40B4-BE49-F238E27FC236}">
                <a16:creationId xmlns="" xmlns:a16="http://schemas.microsoft.com/office/drawing/2014/main" id="{D24B490A-71D6-FD45-903D-95450FDFCF8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A screenshot of a computer&#10;&#10;Description automatically generated with low confidence">
            <a:extLst>
              <a:ext uri="{FF2B5EF4-FFF2-40B4-BE49-F238E27FC236}">
                <a16:creationId xmlns="" xmlns:a16="http://schemas.microsoft.com/office/drawing/2014/main" id="{87DFE7DA-F7A7-4F6A-B2FB-3C71AEC18F3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91233" y="-58647"/>
            <a:ext cx="6209534" cy="3673924"/>
          </a:xfrm>
          <a:prstGeom prst="rect">
            <a:avLst/>
          </a:prstGeom>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99</a:t>
            </a:r>
            <a:endParaRPr i="1" dirty="0">
              <a:latin typeface="Calibri"/>
              <a:ea typeface="Calibri"/>
              <a:cs typeface="Calibri"/>
              <a:sym typeface="Calibri"/>
            </a:endParaRPr>
          </a:p>
        </p:txBody>
      </p:sp>
    </p:spTree>
    <p:extLst>
      <p:ext uri="{BB962C8B-B14F-4D97-AF65-F5344CB8AC3E}">
        <p14:creationId xmlns:p14="http://schemas.microsoft.com/office/powerpoint/2010/main" val="3155490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100</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581547" y="-43424"/>
            <a:ext cx="94212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3.5.3 Guided Instruction: Positive and Negative Values in the Real World</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597652" y="236771"/>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 xmlns:a16="http://schemas.microsoft.com/office/drawing/2014/main" id="{C01B13E8-EC8D-E443-A329-C5E3593DD13A}"/>
              </a:ext>
            </a:extLst>
          </p:cNvPr>
          <p:cNvSpPr txBox="1"/>
          <p:nvPr/>
        </p:nvSpPr>
        <p:spPr>
          <a:xfrm>
            <a:off x="945931" y="3387108"/>
            <a:ext cx="10300138" cy="1508105"/>
          </a:xfrm>
          <a:prstGeom prst="rect">
            <a:avLst/>
          </a:prstGeom>
          <a:noFill/>
        </p:spPr>
        <p:txBody>
          <a:bodyPr wrap="square" rtlCol="0">
            <a:spAutoFit/>
          </a:bodyPr>
          <a:lstStyle/>
          <a:p>
            <a:r>
              <a:rPr lang="en-US" sz="2300" dirty="0">
                <a:latin typeface="Verdana" panose="020B0604030504040204" pitchFamily="34" charset="0"/>
                <a:ea typeface="Verdana" panose="020B0604030504040204" pitchFamily="34" charset="0"/>
              </a:rPr>
              <a:t>Elevation is represented using positive and negative values. </a:t>
            </a:r>
          </a:p>
          <a:p>
            <a:endParaRPr lang="en-US" sz="2300" dirty="0">
              <a:latin typeface="Verdana" panose="020B0604030504040204" pitchFamily="34" charset="0"/>
              <a:ea typeface="Verdana" panose="020B0604030504040204" pitchFamily="34" charset="0"/>
            </a:endParaRPr>
          </a:p>
          <a:p>
            <a:pPr marL="457200" indent="-457200">
              <a:buFont typeface="+mj-lt"/>
              <a:buAutoNum type="arabicPeriod"/>
            </a:pPr>
            <a:r>
              <a:rPr lang="en-US" sz="2300" dirty="0">
                <a:latin typeface="Verdana" panose="020B0604030504040204" pitchFamily="34" charset="0"/>
                <a:ea typeface="Verdana" panose="020B0604030504040204" pitchFamily="34" charset="0"/>
              </a:rPr>
              <a:t>If sea level is equivalent to an elevation of 0 units, then what type of value is an elevation that is below sea level?</a:t>
            </a:r>
            <a:endParaRPr lang="en-US" sz="23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 xmlns:a16="http://schemas.microsoft.com/office/drawing/2014/main" id="{F7A98FFB-A3E6-7642-B96E-3A3B8C27BD7F}"/>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 name="Rectangle: Rounded Corners 2">
            <a:extLst>
              <a:ext uri="{FF2B5EF4-FFF2-40B4-BE49-F238E27FC236}">
                <a16:creationId xmlns="" xmlns:a16="http://schemas.microsoft.com/office/drawing/2014/main" id="{1380539B-08FA-4E4C-A2D7-8922520934F3}"/>
              </a:ext>
            </a:extLst>
          </p:cNvPr>
          <p:cNvSpPr/>
          <p:nvPr/>
        </p:nvSpPr>
        <p:spPr>
          <a:xfrm>
            <a:off x="2445146" y="1464996"/>
            <a:ext cx="6853084" cy="1325700"/>
          </a:xfrm>
          <a:prstGeom prst="roundRect">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accent6">
                    <a:lumMod val="75000"/>
                  </a:schemeClr>
                </a:solidFill>
                <a:latin typeface="Verdana" panose="020B0604030504040204" pitchFamily="34" charset="0"/>
                <a:ea typeface="Verdana" panose="020B0604030504040204" pitchFamily="34" charset="0"/>
              </a:rPr>
              <a:t>Elevation</a:t>
            </a:r>
            <a:r>
              <a:rPr lang="en-US" sz="2000" dirty="0">
                <a:solidFill>
                  <a:schemeClr val="accent6">
                    <a:lumMod val="75000"/>
                  </a:schemeClr>
                </a:solidFill>
                <a:latin typeface="Verdana" panose="020B0604030504040204" pitchFamily="34" charset="0"/>
                <a:ea typeface="Verdana" panose="020B0604030504040204" pitchFamily="34" charset="0"/>
              </a:rPr>
              <a:t> is the vertical distance a location or object is from a given level, such as sea level.</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100</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B74EB5C6-2FDE-474B-866F-02AD6706D73C}"/>
              </a:ext>
            </a:extLst>
          </p:cNvPr>
          <p:cNvSpPr txBox="1"/>
          <p:nvPr/>
        </p:nvSpPr>
        <p:spPr>
          <a:xfrm>
            <a:off x="1119353" y="893363"/>
            <a:ext cx="7064596" cy="4308872"/>
          </a:xfrm>
          <a:prstGeom prst="rect">
            <a:avLst/>
          </a:prstGeom>
          <a:noFill/>
        </p:spPr>
        <p:txBody>
          <a:bodyPr wrap="square" rtlCol="0">
            <a:spAutoFit/>
          </a:bodyPr>
          <a:lstStyle/>
          <a:p>
            <a:r>
              <a:rPr lang="en-US" sz="2700" dirty="0">
                <a:latin typeface="Verdana" panose="020B0604030504040204" pitchFamily="34" charset="0"/>
                <a:ea typeface="Verdana" panose="020B0604030504040204" pitchFamily="34" charset="0"/>
              </a:rPr>
              <a:t>2. Write each situation as an integer. Plot it on the vertical number line. </a:t>
            </a:r>
          </a:p>
          <a:p>
            <a:pPr marL="514350" indent="-514350">
              <a:buAutoNum type="alphaLcPeriod"/>
            </a:pPr>
            <a:endParaRPr lang="en-US" sz="2200" dirty="0">
              <a:latin typeface="Verdana" panose="020B0604030504040204" pitchFamily="34" charset="0"/>
              <a:ea typeface="Verdana" panose="020B0604030504040204" pitchFamily="34" charset="0"/>
            </a:endParaRPr>
          </a:p>
          <a:p>
            <a:pPr marL="514350" indent="-514350">
              <a:buAutoNum type="alphaLcPeriod"/>
            </a:pPr>
            <a:endParaRPr lang="en-US" sz="2200" dirty="0">
              <a:latin typeface="Verdana" panose="020B0604030504040204" pitchFamily="34" charset="0"/>
              <a:ea typeface="Verdana" panose="020B0604030504040204" pitchFamily="34" charset="0"/>
            </a:endParaRPr>
          </a:p>
          <a:p>
            <a:pPr marL="514350" indent="-514350">
              <a:buAutoNum type="alphaLcPeriod"/>
            </a:pPr>
            <a:endParaRPr lang="en-US" sz="2200" dirty="0">
              <a:latin typeface="Verdana" panose="020B0604030504040204" pitchFamily="34" charset="0"/>
              <a:ea typeface="Verdana" panose="020B0604030504040204" pitchFamily="34" charset="0"/>
            </a:endParaRPr>
          </a:p>
          <a:p>
            <a:pPr marL="923925" indent="-501650">
              <a:buAutoNum type="alphaLcPeriod"/>
            </a:pPr>
            <a:r>
              <a:rPr lang="en-US" sz="2200" dirty="0">
                <a:latin typeface="Verdana" panose="020B0604030504040204" pitchFamily="34" charset="0"/>
                <a:ea typeface="Verdana" panose="020B0604030504040204" pitchFamily="34" charset="0"/>
              </a:rPr>
              <a:t>A hiker is 37 feet above sea level. </a:t>
            </a:r>
          </a:p>
          <a:p>
            <a:pPr marL="923925" indent="-501650">
              <a:buAutoNum type="alphaLcPeriod"/>
            </a:pPr>
            <a:endParaRPr lang="en-US" sz="2200" dirty="0">
              <a:latin typeface="Verdana" panose="020B0604030504040204" pitchFamily="34" charset="0"/>
              <a:ea typeface="Verdana" panose="020B0604030504040204" pitchFamily="34" charset="0"/>
            </a:endParaRPr>
          </a:p>
          <a:p>
            <a:pPr marL="923925" indent="-501650">
              <a:buAutoNum type="alphaLcPeriod"/>
            </a:pPr>
            <a:r>
              <a:rPr lang="en-US" sz="2200" dirty="0">
                <a:latin typeface="Verdana" panose="020B0604030504040204" pitchFamily="34" charset="0"/>
                <a:ea typeface="Verdana" panose="020B0604030504040204" pitchFamily="34" charset="0"/>
              </a:rPr>
              <a:t>A diver is 19 feet below sea level. </a:t>
            </a:r>
          </a:p>
          <a:p>
            <a:pPr marL="923925" indent="-501650">
              <a:buAutoNum type="alphaLcPeriod"/>
            </a:pPr>
            <a:endParaRPr lang="en-US" sz="2200" dirty="0">
              <a:latin typeface="Verdana" panose="020B0604030504040204" pitchFamily="34" charset="0"/>
              <a:ea typeface="Verdana" panose="020B0604030504040204" pitchFamily="34" charset="0"/>
            </a:endParaRPr>
          </a:p>
          <a:p>
            <a:pPr marL="923925" indent="-501650">
              <a:buAutoNum type="alphaLcPeriod"/>
            </a:pPr>
            <a:r>
              <a:rPr lang="en-US" sz="2200" dirty="0">
                <a:latin typeface="Verdana" panose="020B0604030504040204" pitchFamily="34" charset="0"/>
                <a:ea typeface="Verdana" panose="020B0604030504040204" pitchFamily="34" charset="0"/>
              </a:rPr>
              <a:t>How are these two integers related? </a:t>
            </a:r>
          </a:p>
          <a:p>
            <a:pPr marL="923925" indent="-501650">
              <a:buAutoNum type="alphaLcPeriod"/>
            </a:pPr>
            <a:endParaRPr lang="en-US" sz="2200" dirty="0">
              <a:latin typeface="Verdana" panose="020B0604030504040204" pitchFamily="34" charset="0"/>
              <a:ea typeface="Verdana" panose="020B0604030504040204" pitchFamily="34" charset="0"/>
            </a:endParaRPr>
          </a:p>
          <a:p>
            <a:pPr marL="923925" indent="-501650">
              <a:buAutoNum type="alphaLcPeriod"/>
            </a:pPr>
            <a:r>
              <a:rPr lang="en-US" sz="2200" dirty="0">
                <a:latin typeface="Verdana" panose="020B0604030504040204" pitchFamily="34" charset="0"/>
                <a:ea typeface="Verdana" panose="020B0604030504040204" pitchFamily="34" charset="0"/>
              </a:rPr>
              <a:t>What does 0 represent in this situation?</a:t>
            </a: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FDE4452F-3A47-41C1-B866-579A24C2E24F}"/>
              </a:ext>
            </a:extLst>
          </p:cNvPr>
          <p:cNvPicPr>
            <a:picLocks noChangeAspect="1"/>
          </p:cNvPicPr>
          <p:nvPr/>
        </p:nvPicPr>
        <p:blipFill>
          <a:blip r:embed="rId3"/>
          <a:stretch>
            <a:fillRect/>
          </a:stretch>
        </p:blipFill>
        <p:spPr>
          <a:xfrm>
            <a:off x="8085264" y="893363"/>
            <a:ext cx="727126" cy="5219468"/>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100</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B74EB5C6-2FDE-474B-866F-02AD6706D73C}"/>
              </a:ext>
            </a:extLst>
          </p:cNvPr>
          <p:cNvSpPr txBox="1"/>
          <p:nvPr/>
        </p:nvSpPr>
        <p:spPr>
          <a:xfrm>
            <a:off x="788277" y="136279"/>
            <a:ext cx="10941268" cy="2862322"/>
          </a:xfrm>
          <a:prstGeom prst="rect">
            <a:avLst/>
          </a:prstGeom>
          <a:noFill/>
        </p:spPr>
        <p:txBody>
          <a:bodyPr wrap="square" rtlCol="0">
            <a:spAutoFit/>
          </a:bodyPr>
          <a:lstStyle/>
          <a:p>
            <a:pPr marL="406400" indent="-392113"/>
            <a:r>
              <a:rPr lang="en-US" sz="2000" dirty="0">
                <a:latin typeface="Verdana" panose="020B0604030504040204" pitchFamily="34" charset="0"/>
                <a:ea typeface="Verdana" panose="020B0604030504040204" pitchFamily="34" charset="0"/>
              </a:rPr>
              <a:t>3. Samuel L. Gravely, Jr. pioneered the way with a plethora of firsts for African Americans in the military. Gravely was the first African American Navy Vice Admiral, first African American to command a Navy warship, first African American to command a warship during combat, first African American to command a Navy fleet, and first African American to obtain Flag Rank in the military. If the Navy fleet included a submarine that was submerged 780 feet below sea level, which students’ interpretation of the situation is correct? Circle the name of the student with the correct answer. For any statement that has an error, write a corrected statement.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 xmlns:a16="http://schemas.microsoft.com/office/drawing/2014/main" id="{7F19FD90-763F-47F3-8D4F-A0D771F99C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15943" y="3196479"/>
            <a:ext cx="7157387" cy="3004119"/>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100</a:t>
            </a:r>
            <a:endParaRPr i="1" dirty="0">
              <a:latin typeface="Calibri"/>
              <a:ea typeface="Calibri"/>
              <a:cs typeface="Calibri"/>
              <a:sym typeface="Calibri"/>
            </a:endParaRPr>
          </a:p>
        </p:txBody>
      </p:sp>
    </p:spTree>
    <p:extLst>
      <p:ext uri="{BB962C8B-B14F-4D97-AF65-F5344CB8AC3E}">
        <p14:creationId xmlns:p14="http://schemas.microsoft.com/office/powerpoint/2010/main" val="1092196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Rounded Corners 1">
            <a:extLst>
              <a:ext uri="{FF2B5EF4-FFF2-40B4-BE49-F238E27FC236}">
                <a16:creationId xmlns="" xmlns:a16="http://schemas.microsoft.com/office/drawing/2014/main" id="{2415C421-056E-4017-ADD2-C08445624CB6}"/>
              </a:ext>
            </a:extLst>
          </p:cNvPr>
          <p:cNvSpPr/>
          <p:nvPr/>
        </p:nvSpPr>
        <p:spPr>
          <a:xfrm>
            <a:off x="2133600" y="688259"/>
            <a:ext cx="7839186" cy="1573161"/>
          </a:xfrm>
          <a:prstGeom prst="roundRect">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75000"/>
                  </a:schemeClr>
                </a:solidFill>
                <a:latin typeface="Verdana" panose="020B0604030504040204" pitchFamily="34" charset="0"/>
                <a:ea typeface="Verdana" panose="020B0604030504040204" pitchFamily="34" charset="0"/>
              </a:rPr>
              <a:t>A </a:t>
            </a:r>
            <a:r>
              <a:rPr lang="en-US" sz="2400" b="1" dirty="0">
                <a:solidFill>
                  <a:schemeClr val="accent6">
                    <a:lumMod val="75000"/>
                  </a:schemeClr>
                </a:solidFill>
                <a:latin typeface="Verdana" panose="020B0604030504040204" pitchFamily="34" charset="0"/>
                <a:ea typeface="Verdana" panose="020B0604030504040204" pitchFamily="34" charset="0"/>
              </a:rPr>
              <a:t>bank deposit </a:t>
            </a:r>
            <a:r>
              <a:rPr lang="en-US" sz="2400" dirty="0">
                <a:solidFill>
                  <a:schemeClr val="accent6">
                    <a:lumMod val="75000"/>
                  </a:schemeClr>
                </a:solidFill>
                <a:latin typeface="Verdana" panose="020B0604030504040204" pitchFamily="34" charset="0"/>
                <a:ea typeface="Verdana" panose="020B0604030504040204" pitchFamily="34" charset="0"/>
              </a:rPr>
              <a:t>is the amount of money a person gives the bank for safekeeping in their account.</a:t>
            </a:r>
          </a:p>
        </p:txBody>
      </p:sp>
      <p:sp>
        <p:nvSpPr>
          <p:cNvPr id="8" name="Rectangle: Rounded Corners 7">
            <a:extLst>
              <a:ext uri="{FF2B5EF4-FFF2-40B4-BE49-F238E27FC236}">
                <a16:creationId xmlns="" xmlns:a16="http://schemas.microsoft.com/office/drawing/2014/main" id="{C1F5343D-E053-43BE-ADFE-CACB0EFE15DF}"/>
              </a:ext>
            </a:extLst>
          </p:cNvPr>
          <p:cNvSpPr/>
          <p:nvPr/>
        </p:nvSpPr>
        <p:spPr>
          <a:xfrm>
            <a:off x="2133600" y="2638245"/>
            <a:ext cx="7919376" cy="1573161"/>
          </a:xfrm>
          <a:prstGeom prst="roundRect">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6">
                    <a:lumMod val="75000"/>
                  </a:schemeClr>
                </a:solidFill>
                <a:latin typeface="Verdana" panose="020B0604030504040204" pitchFamily="34" charset="0"/>
                <a:ea typeface="Verdana" panose="020B0604030504040204" pitchFamily="34" charset="0"/>
              </a:rPr>
              <a:t>A </a:t>
            </a:r>
            <a:r>
              <a:rPr lang="en-US" sz="2400" b="1" dirty="0">
                <a:solidFill>
                  <a:schemeClr val="accent6">
                    <a:lumMod val="75000"/>
                  </a:schemeClr>
                </a:solidFill>
                <a:latin typeface="Verdana" panose="020B0604030504040204" pitchFamily="34" charset="0"/>
                <a:ea typeface="Verdana" panose="020B0604030504040204" pitchFamily="34" charset="0"/>
              </a:rPr>
              <a:t>bank withdrawal </a:t>
            </a:r>
            <a:r>
              <a:rPr lang="en-US" sz="2400" dirty="0">
                <a:solidFill>
                  <a:schemeClr val="accent6">
                    <a:lumMod val="75000"/>
                  </a:schemeClr>
                </a:solidFill>
                <a:latin typeface="Verdana" panose="020B0604030504040204" pitchFamily="34" charset="0"/>
                <a:ea typeface="Verdana" panose="020B0604030504040204" pitchFamily="34" charset="0"/>
              </a:rPr>
              <a:t>is the amount of money removed from a bank account.</a:t>
            </a:r>
          </a:p>
        </p:txBody>
      </p:sp>
      <p:sp>
        <p:nvSpPr>
          <p:cNvPr id="9" name="Rectangle: Rounded Corners 8">
            <a:extLst>
              <a:ext uri="{FF2B5EF4-FFF2-40B4-BE49-F238E27FC236}">
                <a16:creationId xmlns="" xmlns:a16="http://schemas.microsoft.com/office/drawing/2014/main" id="{0B277E35-C335-4491-854C-B94191574F8F}"/>
              </a:ext>
            </a:extLst>
          </p:cNvPr>
          <p:cNvSpPr/>
          <p:nvPr/>
        </p:nvSpPr>
        <p:spPr>
          <a:xfrm>
            <a:off x="2219214" y="4596582"/>
            <a:ext cx="7753573" cy="1573161"/>
          </a:xfrm>
          <a:prstGeom prst="roundRect">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600" dirty="0">
                <a:solidFill>
                  <a:schemeClr val="accent6">
                    <a:lumMod val="75000"/>
                  </a:schemeClr>
                </a:solidFill>
                <a:latin typeface="Verdana" panose="020B0604030504040204" pitchFamily="34" charset="0"/>
                <a:ea typeface="Verdana" panose="020B0604030504040204" pitchFamily="34" charset="0"/>
              </a:rPr>
              <a:t>An </a:t>
            </a:r>
            <a:r>
              <a:rPr lang="en-US" sz="2600" b="1" dirty="0">
                <a:solidFill>
                  <a:schemeClr val="accent6">
                    <a:lumMod val="75000"/>
                  </a:schemeClr>
                </a:solidFill>
                <a:latin typeface="Verdana" panose="020B0604030504040204" pitchFamily="34" charset="0"/>
                <a:ea typeface="Verdana" panose="020B0604030504040204" pitchFamily="34" charset="0"/>
              </a:rPr>
              <a:t>expense</a:t>
            </a:r>
            <a:r>
              <a:rPr lang="en-US" sz="2600" dirty="0">
                <a:solidFill>
                  <a:schemeClr val="accent6">
                    <a:lumMod val="75000"/>
                  </a:schemeClr>
                </a:solidFill>
                <a:latin typeface="Verdana" panose="020B0604030504040204" pitchFamily="34" charset="0"/>
                <a:ea typeface="Verdana" panose="020B0604030504040204" pitchFamily="34" charset="0"/>
              </a:rPr>
              <a:t> is a cost or the amount of money spent.</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100</a:t>
            </a:r>
            <a:endParaRPr i="1" dirty="0">
              <a:latin typeface="Calibri"/>
              <a:ea typeface="Calibri"/>
              <a:cs typeface="Calibri"/>
              <a:sym typeface="Calibri"/>
            </a:endParaRPr>
          </a:p>
        </p:txBody>
      </p:sp>
    </p:spTree>
    <p:extLst>
      <p:ext uri="{BB962C8B-B14F-4D97-AF65-F5344CB8AC3E}">
        <p14:creationId xmlns:p14="http://schemas.microsoft.com/office/powerpoint/2010/main" val="3192324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 xmlns:a16="http://schemas.microsoft.com/office/drawing/2014/main" id="{B7C7682D-5C91-9243-8900-6899F3FEF344}"/>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Box 9">
            <a:extLst>
              <a:ext uri="{FF2B5EF4-FFF2-40B4-BE49-F238E27FC236}">
                <a16:creationId xmlns="" xmlns:a16="http://schemas.microsoft.com/office/drawing/2014/main" id="{FBFB29C5-EF65-45AE-BC81-1F98EA2ED33A}"/>
              </a:ext>
            </a:extLst>
          </p:cNvPr>
          <p:cNvSpPr txBox="1"/>
          <p:nvPr/>
        </p:nvSpPr>
        <p:spPr>
          <a:xfrm>
            <a:off x="756746" y="136279"/>
            <a:ext cx="10229886" cy="1200329"/>
          </a:xfrm>
          <a:prstGeom prst="rect">
            <a:avLst/>
          </a:prstGeom>
          <a:noFill/>
        </p:spPr>
        <p:txBody>
          <a:bodyPr wrap="square" rtlCol="0">
            <a:spAutoFit/>
          </a:bodyPr>
          <a:lstStyle/>
          <a:p>
            <a:pPr marL="406400" indent="-406400"/>
            <a:r>
              <a:rPr lang="en-US" sz="2400" dirty="0">
                <a:latin typeface="Verdana" panose="020B0604030504040204" pitchFamily="34" charset="0"/>
                <a:ea typeface="Verdana" panose="020B0604030504040204" pitchFamily="34" charset="0"/>
              </a:rPr>
              <a:t>4. The following people have money in their bank accounts. Determine the positive and negative values that represent the effect each situation has on their account balance.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4" name="Picture 3">
            <a:extLst>
              <a:ext uri="{FF2B5EF4-FFF2-40B4-BE49-F238E27FC236}">
                <a16:creationId xmlns="" xmlns:a16="http://schemas.microsoft.com/office/drawing/2014/main" id="{67EFF514-0324-48B4-8014-D47A339B6DC4}"/>
              </a:ext>
            </a:extLst>
          </p:cNvPr>
          <p:cNvPicPr>
            <a:picLocks noChangeAspect="1"/>
          </p:cNvPicPr>
          <p:nvPr/>
        </p:nvPicPr>
        <p:blipFill>
          <a:blip r:embed="rId3"/>
          <a:stretch>
            <a:fillRect/>
          </a:stretch>
        </p:blipFill>
        <p:spPr>
          <a:xfrm>
            <a:off x="2739597" y="1879960"/>
            <a:ext cx="6264183" cy="4435224"/>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101</a:t>
            </a:r>
            <a:endParaRPr i="1" dirty="0">
              <a:latin typeface="Calibri"/>
              <a:ea typeface="Calibri"/>
              <a:cs typeface="Calibri"/>
              <a:sym typeface="Calibri"/>
            </a:endParaRPr>
          </a:p>
        </p:txBody>
      </p:sp>
    </p:spTree>
    <p:extLst>
      <p:ext uri="{BB962C8B-B14F-4D97-AF65-F5344CB8AC3E}">
        <p14:creationId xmlns:p14="http://schemas.microsoft.com/office/powerpoint/2010/main" val="3731288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101</a:t>
            </a:r>
            <a:endParaRPr i="1" dirty="0">
              <a:latin typeface="Calibri"/>
              <a:ea typeface="Calibri"/>
              <a:cs typeface="Calibri"/>
              <a:sym typeface="Calibri"/>
            </a:endParaRPr>
          </a:p>
        </p:txBody>
      </p:sp>
    </p:spTree>
    <p:extLst>
      <p:ext uri="{BB962C8B-B14F-4D97-AF65-F5344CB8AC3E}">
        <p14:creationId xmlns:p14="http://schemas.microsoft.com/office/powerpoint/2010/main" val="392094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98555" y="0"/>
            <a:ext cx="874380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3.5.4 Collaboration: </a:t>
            </a:r>
            <a:r>
              <a:rPr lang="en-US" sz="3600" b="1" dirty="0" smtClean="0">
                <a:solidFill>
                  <a:srgbClr val="33BEA6"/>
                </a:solidFill>
                <a:latin typeface="Verdana"/>
                <a:ea typeface="Verdana"/>
                <a:cs typeface="Verdana"/>
                <a:sym typeface="Verdana"/>
              </a:rPr>
              <a:t>Above or Below Zero</a:t>
            </a:r>
            <a:endParaRPr lang="en-US" sz="3600" b="1" dirty="0">
              <a:solidFill>
                <a:srgbClr val="33BEA6"/>
              </a:solidFill>
              <a:latin typeface="Verdana"/>
              <a:ea typeface="Verdana"/>
              <a:cs typeface="Verdana"/>
              <a:sym typeface="Verdana"/>
            </a:endParaRP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7270"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1024759" y="1386025"/>
            <a:ext cx="10108108" cy="707886"/>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rPr>
              <a:t>Represent each change in temperature on the number line. Answer the question for each situation.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78;g104476d1465_1_17">
            <a:extLst>
              <a:ext uri="{FF2B5EF4-FFF2-40B4-BE49-F238E27FC236}">
                <a16:creationId xmlns="" xmlns:a16="http://schemas.microsoft.com/office/drawing/2014/main" id="{D252DD22-4545-6844-9D1D-323C0B41ADF5}"/>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Table&#10;&#10;Description automatically generated">
            <a:extLst>
              <a:ext uri="{FF2B5EF4-FFF2-40B4-BE49-F238E27FC236}">
                <a16:creationId xmlns="" xmlns:a16="http://schemas.microsoft.com/office/drawing/2014/main" id="{4D45476F-4240-48E3-95B9-E703526F8A46}"/>
              </a:ext>
            </a:extLst>
          </p:cNvPr>
          <p:cNvPicPr>
            <a:picLocks noChangeAspect="1"/>
          </p:cNvPicPr>
          <p:nvPr/>
        </p:nvPicPr>
        <p:blipFill>
          <a:blip r:embed="rId4"/>
          <a:stretch>
            <a:fillRect/>
          </a:stretch>
        </p:blipFill>
        <p:spPr>
          <a:xfrm>
            <a:off x="2591326" y="2607703"/>
            <a:ext cx="7009348" cy="3336180"/>
          </a:xfrm>
          <a:prstGeom prst="rect">
            <a:avLst/>
          </a:prstGeom>
        </p:spPr>
      </p:pic>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101</a:t>
            </a:r>
            <a:endParaRPr i="1" dirty="0">
              <a:latin typeface="Calibri"/>
              <a:ea typeface="Calibri"/>
              <a:cs typeface="Calibri"/>
              <a:sym typeface="Calibri"/>
            </a:endParaRPr>
          </a:p>
        </p:txBody>
      </p:sp>
    </p:spTree>
    <p:extLst>
      <p:ext uri="{BB962C8B-B14F-4D97-AF65-F5344CB8AC3E}">
        <p14:creationId xmlns:p14="http://schemas.microsoft.com/office/powerpoint/2010/main" val="3692262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 xmlns:a16="http://schemas.microsoft.com/office/drawing/2014/main" id="{D252DD22-4545-6844-9D1D-323C0B41ADF5}"/>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Picture 11" descr="Table&#10;&#10;Description automatically generated">
            <a:extLst>
              <a:ext uri="{FF2B5EF4-FFF2-40B4-BE49-F238E27FC236}">
                <a16:creationId xmlns="" xmlns:a16="http://schemas.microsoft.com/office/drawing/2014/main" id="{03968835-FC6B-473C-8405-1AE68E454573}"/>
              </a:ext>
            </a:extLst>
          </p:cNvPr>
          <p:cNvPicPr>
            <a:picLocks noChangeAspect="1"/>
          </p:cNvPicPr>
          <p:nvPr/>
        </p:nvPicPr>
        <p:blipFill>
          <a:blip r:embed="rId3"/>
          <a:stretch>
            <a:fillRect/>
          </a:stretch>
        </p:blipFill>
        <p:spPr>
          <a:xfrm>
            <a:off x="2960370" y="194035"/>
            <a:ext cx="6271260" cy="6263640"/>
          </a:xfrm>
          <a:prstGeom prst="rect">
            <a:avLst/>
          </a:prstGeom>
        </p:spPr>
      </p:pic>
      <p:pic>
        <p:nvPicPr>
          <p:cNvPr id="6"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101</a:t>
            </a:r>
            <a:endParaRPr i="1" dirty="0">
              <a:latin typeface="Calibri"/>
              <a:ea typeface="Calibri"/>
              <a:cs typeface="Calibri"/>
              <a:sym typeface="Calibri"/>
            </a:endParaRPr>
          </a:p>
        </p:txBody>
      </p:sp>
    </p:spTree>
    <p:extLst>
      <p:ext uri="{BB962C8B-B14F-4D97-AF65-F5344CB8AC3E}">
        <p14:creationId xmlns:p14="http://schemas.microsoft.com/office/powerpoint/2010/main" val="828820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2AA35BC6-D428-FC41-BDE5-6438AB8840FC}"/>
              </a:ext>
            </a:extLst>
          </p:cNvPr>
          <p:cNvSpPr txBox="1"/>
          <p:nvPr/>
        </p:nvSpPr>
        <p:spPr>
          <a:xfrm>
            <a:off x="1072055" y="387959"/>
            <a:ext cx="10563300"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rPr>
              <a:t>Numbers below 0 are useful in contexts other than temperature.</a:t>
            </a:r>
          </a:p>
          <a:p>
            <a:endParaRPr lang="en-US" sz="2400" dirty="0">
              <a:latin typeface="Verdana" panose="020B0604030504040204" pitchFamily="34" charset="0"/>
              <a:ea typeface="Verdana" panose="020B0604030504040204" pitchFamily="34" charset="0"/>
            </a:endParaRPr>
          </a:p>
          <a:p>
            <a:pPr marL="406400" indent="-406400"/>
            <a:r>
              <a:rPr lang="en-US" sz="2400" dirty="0">
                <a:latin typeface="Verdana" panose="020B0604030504040204" pitchFamily="34" charset="0"/>
                <a:ea typeface="Verdana" panose="020B0604030504040204" pitchFamily="34" charset="0"/>
              </a:rPr>
              <a:t>2. With your partner, discuss and list other examples where numbers below zero can be used to represent a situation.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 xmlns:a16="http://schemas.microsoft.com/office/drawing/2014/main" id="{D24B490A-71D6-FD45-903D-95450FDFCF80}"/>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102</a:t>
            </a:r>
            <a:endParaRPr i="1" dirty="0">
              <a:latin typeface="Calibri"/>
              <a:ea typeface="Calibri"/>
              <a:cs typeface="Calibri"/>
              <a:sym typeface="Calibri"/>
            </a:endParaRPr>
          </a:p>
        </p:txBody>
      </p:sp>
    </p:spTree>
    <p:extLst>
      <p:ext uri="{BB962C8B-B14F-4D97-AF65-F5344CB8AC3E}">
        <p14:creationId xmlns:p14="http://schemas.microsoft.com/office/powerpoint/2010/main" val="872798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102</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76276" y="0"/>
            <a:ext cx="95565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3.5.5 Try It: Representing the Real World </a:t>
            </a:r>
            <a:r>
              <a:rPr lang="en-US" sz="3200" b="1" dirty="0" smtClean="0">
                <a:solidFill>
                  <a:srgbClr val="33BEA6"/>
                </a:solidFill>
                <a:latin typeface="Verdana"/>
                <a:ea typeface="Verdana"/>
                <a:cs typeface="Verdana"/>
                <a:sym typeface="Verdana"/>
              </a:rPr>
              <a:t>With </a:t>
            </a:r>
            <a:r>
              <a:rPr lang="en-US" sz="3200" b="1" dirty="0">
                <a:solidFill>
                  <a:srgbClr val="33BEA6"/>
                </a:solidFill>
                <a:latin typeface="Verdana"/>
                <a:ea typeface="Verdana"/>
                <a:cs typeface="Verdana"/>
                <a:sym typeface="Verdana"/>
              </a:rPr>
              <a:t>Positive and Negative Values </a:t>
            </a:r>
          </a:p>
        </p:txBody>
      </p:sp>
      <p:pic>
        <p:nvPicPr>
          <p:cNvPr id="9" name="Picture 2">
            <a:extLst>
              <a:ext uri="{FF2B5EF4-FFF2-40B4-BE49-F238E27FC236}">
                <a16:creationId xmlns=""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6468" y="2879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0AB6A3A1-5A0D-C84F-AC89-57E6782F43E5}"/>
              </a:ext>
            </a:extLst>
          </p:cNvPr>
          <p:cNvSpPr txBox="1"/>
          <p:nvPr/>
        </p:nvSpPr>
        <p:spPr>
          <a:xfrm>
            <a:off x="867103" y="1386026"/>
            <a:ext cx="9520481" cy="3816429"/>
          </a:xfrm>
          <a:prstGeom prst="rect">
            <a:avLst/>
          </a:prstGeom>
          <a:noFill/>
        </p:spPr>
        <p:txBody>
          <a:bodyPr wrap="square" rtlCol="0">
            <a:spAutoFit/>
          </a:bodyPr>
          <a:lstStyle/>
          <a:p>
            <a:pPr marL="457200" indent="-457200">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In a bank account, every time money is added or taken out of the account, a new balance is calculated. What does each of the following mean?</a:t>
            </a:r>
          </a:p>
          <a:p>
            <a:pPr marL="457200" indent="-457200">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9900">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  an account balance of −$23.56</a:t>
            </a:r>
          </a:p>
          <a:p>
            <a:pPr marL="4699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9900">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9900"/>
            <a:r>
              <a:rPr lang="en-US" sz="2200" dirty="0">
                <a:latin typeface="Verdana" panose="020B0604030504040204" pitchFamily="34" charset="0"/>
                <a:ea typeface="Verdana" panose="020B0604030504040204" pitchFamily="34" charset="0"/>
                <a:cs typeface="Verdana" panose="020B0604030504040204" pitchFamily="34" charset="0"/>
              </a:rPr>
              <a:t>b.  an account balance of $143.21</a:t>
            </a:r>
          </a:p>
          <a:p>
            <a:pPr marL="469900"/>
            <a:endParaRPr lang="en-US" sz="2200" dirty="0">
              <a:latin typeface="Verdana" panose="020B0604030504040204" pitchFamily="34" charset="0"/>
              <a:ea typeface="Verdana" panose="020B0604030504040204" pitchFamily="34" charset="0"/>
              <a:cs typeface="Verdana" panose="020B0604030504040204" pitchFamily="34" charset="0"/>
            </a:endParaRPr>
          </a:p>
          <a:p>
            <a:pPr marL="469900"/>
            <a:endParaRPr lang="en-US" sz="2200" dirty="0">
              <a:latin typeface="Verdana" panose="020B0604030504040204" pitchFamily="34" charset="0"/>
              <a:ea typeface="Verdana" panose="020B0604030504040204" pitchFamily="34" charset="0"/>
              <a:cs typeface="Verdana" panose="020B0604030504040204" pitchFamily="34" charset="0"/>
            </a:endParaRPr>
          </a:p>
          <a:p>
            <a:pPr marL="469900"/>
            <a:r>
              <a:rPr lang="en-US" sz="2200" dirty="0">
                <a:latin typeface="Verdana" panose="020B0604030504040204" pitchFamily="34" charset="0"/>
                <a:ea typeface="Verdana" panose="020B0604030504040204" pitchFamily="34" charset="0"/>
                <a:cs typeface="Verdana" panose="020B0604030504040204" pitchFamily="34" charset="0"/>
              </a:rPr>
              <a:t>c.  an account balance of $0</a:t>
            </a:r>
          </a:p>
        </p:txBody>
      </p:sp>
      <p:sp>
        <p:nvSpPr>
          <p:cNvPr id="11" name="Google Shape;278;g104476d1465_1_17">
            <a:extLst>
              <a:ext uri="{FF2B5EF4-FFF2-40B4-BE49-F238E27FC236}">
                <a16:creationId xmlns="" xmlns:a16="http://schemas.microsoft.com/office/drawing/2014/main" id="{8A539B00-8E96-3740-8C2B-62EF12D58B8D}"/>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102</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TextBox 9">
            <a:extLst>
              <a:ext uri="{FF2B5EF4-FFF2-40B4-BE49-F238E27FC236}">
                <a16:creationId xmlns="" xmlns:a16="http://schemas.microsoft.com/office/drawing/2014/main" id="{0AB6A3A1-5A0D-C84F-AC89-57E6782F43E5}"/>
              </a:ext>
            </a:extLst>
          </p:cNvPr>
          <p:cNvSpPr txBox="1"/>
          <p:nvPr/>
        </p:nvSpPr>
        <p:spPr>
          <a:xfrm>
            <a:off x="851338" y="536152"/>
            <a:ext cx="10639990" cy="4493538"/>
          </a:xfrm>
          <a:prstGeom prst="rect">
            <a:avLst/>
          </a:prstGeom>
          <a:noFill/>
        </p:spPr>
        <p:txBody>
          <a:bodyPr wrap="square" rtlCol="0">
            <a:spAutoFit/>
          </a:bodyPr>
          <a:lstStyle/>
          <a:p>
            <a:pPr marL="406400" indent="-406400"/>
            <a:r>
              <a:rPr lang="en-US" sz="2200" dirty="0">
                <a:latin typeface="Verdana" panose="020B0604030504040204" pitchFamily="34" charset="0"/>
                <a:ea typeface="Verdana" panose="020B0604030504040204" pitchFamily="34" charset="0"/>
                <a:cs typeface="Verdana" panose="020B0604030504040204" pitchFamily="34" charset="0"/>
              </a:rPr>
              <a:t>2. The change in position of the ball during each play of a football game is measured in yards.</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integer best represents a gain of 5 yards?</a:t>
            </a:r>
          </a:p>
          <a:p>
            <a:pPr marL="923925" indent="-454025">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r>
              <a:rPr lang="en-US" sz="2200" dirty="0">
                <a:latin typeface="Verdana" panose="020B0604030504040204" pitchFamily="34" charset="0"/>
                <a:ea typeface="Verdana" panose="020B0604030504040204" pitchFamily="34" charset="0"/>
                <a:cs typeface="Verdana" panose="020B0604030504040204" pitchFamily="34" charset="0"/>
              </a:rPr>
              <a:t>b.  What integer best represents a loss of 15 yards?</a:t>
            </a:r>
          </a:p>
          <a:p>
            <a:pPr marL="923925" indent="-454025"/>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r>
              <a:rPr lang="en-US" sz="2200" dirty="0">
                <a:latin typeface="Verdana" panose="020B0604030504040204" pitchFamily="34" charset="0"/>
                <a:ea typeface="Verdana" panose="020B0604030504040204" pitchFamily="34" charset="0"/>
                <a:cs typeface="Verdana" panose="020B0604030504040204" pitchFamily="34" charset="0"/>
              </a:rPr>
              <a:t>c.  What does the number 0 represent in this context?</a:t>
            </a:r>
          </a:p>
          <a:p>
            <a:pPr marL="923925" indent="-454025"/>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endParaRPr lang="en-US" sz="2200" dirty="0">
              <a:latin typeface="Verdana" panose="020B0604030504040204" pitchFamily="34" charset="0"/>
              <a:ea typeface="Verdana" panose="020B0604030504040204" pitchFamily="34" charset="0"/>
              <a:cs typeface="Verdana" panose="020B0604030504040204" pitchFamily="34" charset="0"/>
            </a:endParaRPr>
          </a:p>
          <a:p>
            <a:pPr marL="923925" indent="-454025"/>
            <a:r>
              <a:rPr lang="en-US" sz="2200" dirty="0">
                <a:latin typeface="Verdana" panose="020B0604030504040204" pitchFamily="34" charset="0"/>
                <a:ea typeface="Verdana" panose="020B0604030504040204" pitchFamily="34" charset="0"/>
                <a:cs typeface="Verdana" panose="020B0604030504040204" pitchFamily="34" charset="0"/>
              </a:rPr>
              <a:t>d.  Plot all three values on the number line. </a:t>
            </a:r>
          </a:p>
        </p:txBody>
      </p:sp>
      <p:sp>
        <p:nvSpPr>
          <p:cNvPr id="11" name="Google Shape;278;g104476d1465_1_17">
            <a:extLst>
              <a:ext uri="{FF2B5EF4-FFF2-40B4-BE49-F238E27FC236}">
                <a16:creationId xmlns="" xmlns:a16="http://schemas.microsoft.com/office/drawing/2014/main" id="{8A539B00-8E96-3740-8C2B-62EF12D58B8D}"/>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568EDB99-A9CF-4D66-9BD0-90D00795F176}"/>
              </a:ext>
            </a:extLst>
          </p:cNvPr>
          <p:cNvPicPr>
            <a:picLocks noChangeAspect="1"/>
          </p:cNvPicPr>
          <p:nvPr/>
        </p:nvPicPr>
        <p:blipFill>
          <a:blip r:embed="rId3"/>
          <a:stretch>
            <a:fillRect/>
          </a:stretch>
        </p:blipFill>
        <p:spPr>
          <a:xfrm>
            <a:off x="2721013" y="5429654"/>
            <a:ext cx="6749975" cy="628059"/>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spTree>
    <p:extLst>
      <p:ext uri="{BB962C8B-B14F-4D97-AF65-F5344CB8AC3E}">
        <p14:creationId xmlns:p14="http://schemas.microsoft.com/office/powerpoint/2010/main" val="2515714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B6C08EE3-8247-C14E-9600-35165D5C8679}"/>
              </a:ext>
            </a:extLst>
          </p:cNvPr>
          <p:cNvSpPr txBox="1"/>
          <p:nvPr/>
        </p:nvSpPr>
        <p:spPr>
          <a:xfrm>
            <a:off x="819807" y="337513"/>
            <a:ext cx="10552386" cy="1446550"/>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The average monthly rainfall for a city was calculated based on records kept over the past 50 years. The chart shows the difference between the average monthly rainfall and the rainfall amount this year for these months. </a:t>
            </a:r>
          </a:p>
        </p:txBody>
      </p:sp>
      <p:sp>
        <p:nvSpPr>
          <p:cNvPr id="6" name="Google Shape;278;g104476d1465_1_17">
            <a:extLst>
              <a:ext uri="{FF2B5EF4-FFF2-40B4-BE49-F238E27FC236}">
                <a16:creationId xmlns="" xmlns:a16="http://schemas.microsoft.com/office/drawing/2014/main" id="{44C210D6-0F1D-3545-B73D-9B9FC6EA0352}"/>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ED269406-1C98-4CEE-BD82-A6A4E2CF60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44737" y="2122618"/>
            <a:ext cx="4913522" cy="4368849"/>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spTree>
    <p:extLst>
      <p:ext uri="{BB962C8B-B14F-4D97-AF65-F5344CB8AC3E}">
        <p14:creationId xmlns:p14="http://schemas.microsoft.com/office/powerpoint/2010/main" val="2771154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B6C08EE3-8247-C14E-9600-35165D5C8679}"/>
              </a:ext>
            </a:extLst>
          </p:cNvPr>
          <p:cNvSpPr txBox="1"/>
          <p:nvPr/>
        </p:nvSpPr>
        <p:spPr>
          <a:xfrm>
            <a:off x="993228" y="347345"/>
            <a:ext cx="10920060" cy="1107996"/>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Explain what the value in the chart means for the</a:t>
            </a:r>
          </a:p>
          <a:p>
            <a:r>
              <a:rPr lang="en-US" sz="2200" dirty="0">
                <a:latin typeface="Verdana" panose="020B0604030504040204" pitchFamily="34" charset="0"/>
                <a:ea typeface="Verdana" panose="020B0604030504040204" pitchFamily="34" charset="0"/>
                <a:cs typeface="Verdana" panose="020B0604030504040204" pitchFamily="34" charset="0"/>
              </a:rPr>
              <a:t>following months in the context of this problem. Then,</a:t>
            </a:r>
          </a:p>
          <a:p>
            <a:r>
              <a:rPr lang="en-US" sz="2200" dirty="0">
                <a:latin typeface="Verdana" panose="020B0604030504040204" pitchFamily="34" charset="0"/>
                <a:ea typeface="Verdana" panose="020B0604030504040204" pitchFamily="34" charset="0"/>
                <a:cs typeface="Verdana" panose="020B0604030504040204" pitchFamily="34" charset="0"/>
              </a:rPr>
              <a:t>plot and label each month’s value on the number line.</a:t>
            </a:r>
          </a:p>
        </p:txBody>
      </p:sp>
      <p:sp>
        <p:nvSpPr>
          <p:cNvPr id="6" name="Google Shape;278;g104476d1465_1_17">
            <a:extLst>
              <a:ext uri="{FF2B5EF4-FFF2-40B4-BE49-F238E27FC236}">
                <a16:creationId xmlns="" xmlns:a16="http://schemas.microsoft.com/office/drawing/2014/main" id="{44C210D6-0F1D-3545-B73D-9B9FC6EA0352}"/>
              </a:ext>
            </a:extLst>
          </p:cNvPr>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descr="Table&#10;&#10;Description automatically generated">
            <a:extLst>
              <a:ext uri="{FF2B5EF4-FFF2-40B4-BE49-F238E27FC236}">
                <a16:creationId xmlns="" xmlns:a16="http://schemas.microsoft.com/office/drawing/2014/main" id="{5BB05D04-9B73-4DA8-AC72-28698441727E}"/>
              </a:ext>
            </a:extLst>
          </p:cNvPr>
          <p:cNvPicPr>
            <a:picLocks noChangeAspect="1"/>
          </p:cNvPicPr>
          <p:nvPr/>
        </p:nvPicPr>
        <p:blipFill>
          <a:blip r:embed="rId3"/>
          <a:stretch>
            <a:fillRect/>
          </a:stretch>
        </p:blipFill>
        <p:spPr>
          <a:xfrm>
            <a:off x="2390231" y="1658589"/>
            <a:ext cx="7411538" cy="4586006"/>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103</a:t>
            </a:r>
            <a:endParaRPr i="1" dirty="0">
              <a:latin typeface="Calibri"/>
              <a:ea typeface="Calibri"/>
              <a:cs typeface="Calibri"/>
              <a:sym typeface="Calibri"/>
            </a:endParaRPr>
          </a:p>
        </p:txBody>
      </p:sp>
    </p:spTree>
    <p:extLst>
      <p:ext uri="{BB962C8B-B14F-4D97-AF65-F5344CB8AC3E}">
        <p14:creationId xmlns:p14="http://schemas.microsoft.com/office/powerpoint/2010/main" val="3542417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305905" y="15890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3.5.6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3">
            <a:alphaModFix/>
          </a:blip>
          <a:srcRect/>
          <a:stretch/>
        </p:blipFill>
        <p:spPr>
          <a:xfrm>
            <a:off x="558605" y="158900"/>
            <a:ext cx="747300" cy="747300"/>
          </a:xfrm>
          <a:prstGeom prst="rect">
            <a:avLst/>
          </a:prstGeom>
          <a:noFill/>
          <a:ln>
            <a:noFill/>
          </a:ln>
        </p:spPr>
      </p:pic>
      <p:sp>
        <p:nvSpPr>
          <p:cNvPr id="12" name="TextBox 11">
            <a:extLst>
              <a:ext uri="{FF2B5EF4-FFF2-40B4-BE49-F238E27FC236}">
                <a16:creationId xmlns="" xmlns:a16="http://schemas.microsoft.com/office/drawing/2014/main" id="{759C3E41-93EC-B84D-963F-86A3B15AC1C6}"/>
              </a:ext>
            </a:extLst>
          </p:cNvPr>
          <p:cNvSpPr txBox="1"/>
          <p:nvPr/>
        </p:nvSpPr>
        <p:spPr>
          <a:xfrm>
            <a:off x="1087821" y="1189381"/>
            <a:ext cx="9696594" cy="430887"/>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rPr>
              <a:t>1. Write a value that represents each description. </a:t>
            </a: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 xmlns:a16="http://schemas.microsoft.com/office/drawing/2014/main" id="{B65A09A0-1E94-F34F-9AC7-848B14CF3F5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1BFFEC2D-73B3-49B4-B728-BFF576B4DFA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731575" y="1903448"/>
            <a:ext cx="6385618" cy="4554225"/>
          </a:xfrm>
          <a:prstGeom prst="rect">
            <a:avLst/>
          </a:prstGeom>
        </p:spPr>
      </p:pic>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 xmlns:a16="http://schemas.microsoft.com/office/drawing/2014/main" id="{08C67FCF-92C3-654A-BF40-5BDF7A4F9271}"/>
              </a:ext>
            </a:extLst>
          </p:cNvPr>
          <p:cNvSpPr txBox="1"/>
          <p:nvPr/>
        </p:nvSpPr>
        <p:spPr>
          <a:xfrm>
            <a:off x="993228" y="398473"/>
            <a:ext cx="10613976" cy="3416320"/>
          </a:xfrm>
          <a:prstGeom prst="rect">
            <a:avLst/>
          </a:prstGeom>
          <a:noFill/>
        </p:spPr>
        <p:txBody>
          <a:bodyPr wrap="square" rtlCol="0">
            <a:spAutoFit/>
          </a:bodyPr>
          <a:lstStyle/>
          <a:p>
            <a:pPr marL="469900" indent="-469900"/>
            <a:r>
              <a:rPr lang="en-US" sz="2400" dirty="0">
                <a:latin typeface="Verdana" panose="020B0604030504040204" pitchFamily="34" charset="0"/>
                <a:ea typeface="Verdana" panose="020B0604030504040204" pitchFamily="34" charset="0"/>
                <a:cs typeface="Verdana" panose="020B0604030504040204" pitchFamily="34" charset="0"/>
              </a:rPr>
              <a:t>2. Read each statement and select the correct description of each situation.</a:t>
            </a:r>
          </a:p>
          <a:p>
            <a:r>
              <a:rPr lang="en-US" sz="2400" dirty="0">
                <a:latin typeface="Verdana" panose="020B0604030504040204" pitchFamily="34" charset="0"/>
                <a:ea typeface="Verdana" panose="020B0604030504040204" pitchFamily="34" charset="0"/>
                <a:cs typeface="Verdana" panose="020B0604030504040204" pitchFamily="34" charset="0"/>
              </a:rPr>
              <a:t>     a. A diver is 60 feet below the surface of the ocean.</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6" name="Google Shape;278;g104476d1465_1_17">
            <a:extLst>
              <a:ext uri="{FF2B5EF4-FFF2-40B4-BE49-F238E27FC236}">
                <a16:creationId xmlns="" xmlns:a16="http://schemas.microsoft.com/office/drawing/2014/main" id="{C20EB48B-0C2A-FF47-ACB6-866A7F95956C}"/>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C56E72CB-5BAB-4A49-9CB3-0258206997E0}"/>
              </a:ext>
            </a:extLst>
          </p:cNvPr>
          <p:cNvPicPr>
            <a:picLocks noChangeAspect="1"/>
          </p:cNvPicPr>
          <p:nvPr/>
        </p:nvPicPr>
        <p:blipFill>
          <a:blip r:embed="rId3"/>
          <a:stretch>
            <a:fillRect/>
          </a:stretch>
        </p:blipFill>
        <p:spPr>
          <a:xfrm>
            <a:off x="2083324" y="1725054"/>
            <a:ext cx="8176245" cy="1407541"/>
          </a:xfrm>
          <a:prstGeom prst="rect">
            <a:avLst/>
          </a:prstGeom>
        </p:spPr>
      </p:pic>
      <p:pic>
        <p:nvPicPr>
          <p:cNvPr id="7" name="Picture 6">
            <a:extLst>
              <a:ext uri="{FF2B5EF4-FFF2-40B4-BE49-F238E27FC236}">
                <a16:creationId xmlns="" xmlns:a16="http://schemas.microsoft.com/office/drawing/2014/main" id="{AAB35233-D0E4-412A-8D61-05823FCC7445}"/>
              </a:ext>
            </a:extLst>
          </p:cNvPr>
          <p:cNvPicPr>
            <a:picLocks noChangeAspect="1"/>
          </p:cNvPicPr>
          <p:nvPr/>
        </p:nvPicPr>
        <p:blipFill>
          <a:blip r:embed="rId4"/>
          <a:stretch>
            <a:fillRect/>
          </a:stretch>
        </p:blipFill>
        <p:spPr>
          <a:xfrm>
            <a:off x="2136648" y="4905067"/>
            <a:ext cx="8327137" cy="1060741"/>
          </a:xfrm>
          <a:prstGeom prst="rect">
            <a:avLst/>
          </a:prstGeom>
        </p:spPr>
      </p:pic>
      <p:sp>
        <p:nvSpPr>
          <p:cNvPr id="2" name="TextBox 1">
            <a:extLst>
              <a:ext uri="{FF2B5EF4-FFF2-40B4-BE49-F238E27FC236}">
                <a16:creationId xmlns="" xmlns:a16="http://schemas.microsoft.com/office/drawing/2014/main" id="{7B1C39DA-A092-4472-A8A1-4A89F81E6324}"/>
              </a:ext>
            </a:extLst>
          </p:cNvPr>
          <p:cNvSpPr txBox="1"/>
          <p:nvPr/>
        </p:nvSpPr>
        <p:spPr>
          <a:xfrm>
            <a:off x="1639614" y="4070459"/>
            <a:ext cx="8695287" cy="830997"/>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elevation of the bottom of a boat with respect to sea level is given as −5 feet.</a:t>
            </a:r>
            <a:endParaRPr lang="en-US" sz="2400" dirty="0"/>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458015" y="-103713"/>
            <a:ext cx="98150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3.5.7 Wrap-Up: Ticket </a:t>
            </a:r>
            <a:r>
              <a:rPr lang="en-US" sz="3600" b="1">
                <a:solidFill>
                  <a:srgbClr val="3F2A67"/>
                </a:solidFill>
                <a:latin typeface="Verdana"/>
                <a:ea typeface="Verdana"/>
                <a:cs typeface="Verdana"/>
                <a:sym typeface="Verdana"/>
              </a:rPr>
              <a:t>Out </a:t>
            </a:r>
            <a:r>
              <a:rPr lang="en-US" sz="3600" b="1" smtClean="0">
                <a:solidFill>
                  <a:srgbClr val="3F2A67"/>
                </a:solidFill>
                <a:latin typeface="Verdana"/>
                <a:ea typeface="Verdana"/>
                <a:cs typeface="Verdana"/>
                <a:sym typeface="Verdana"/>
              </a:rPr>
              <a:t>the </a:t>
            </a:r>
            <a:r>
              <a:rPr lang="en-US" sz="3600" b="1" dirty="0">
                <a:solidFill>
                  <a:srgbClr val="3F2A67"/>
                </a:solidFill>
                <a:latin typeface="Verdana"/>
                <a:ea typeface="Verdana"/>
                <a:cs typeface="Verdana"/>
                <a:sym typeface="Verdana"/>
              </a:rPr>
              <a:t>Door</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628565" y="18548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693973" y="1645506"/>
            <a:ext cx="10954720" cy="4555093"/>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Keisha observes that one location is 55.2 feet above sea level and another is 46.8 feet below sea level.</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rational number represents a location of 55.2 feet above sea level?</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rational number represents a location of 46.8 feet below sea level?</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Plot and label each rational number on the number line.</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200" dirty="0">
                <a:latin typeface="Verdana" panose="020B0604030504040204" pitchFamily="34" charset="0"/>
                <a:ea typeface="Verdana" panose="020B0604030504040204" pitchFamily="34" charset="0"/>
              </a:rPr>
              <a:t>What does zero represent in this situation?</a:t>
            </a:r>
            <a:endParaRPr lang="en-US" sz="22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278;g104476d1465_1_17">
            <a:extLst>
              <a:ext uri="{FF2B5EF4-FFF2-40B4-BE49-F238E27FC236}">
                <a16:creationId xmlns="" xmlns:a16="http://schemas.microsoft.com/office/drawing/2014/main" id="{31AAE36C-5822-464A-8B2B-DAD96F65814D}"/>
              </a:ext>
            </a:extLst>
          </p:cNvPr>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 xmlns:a16="http://schemas.microsoft.com/office/drawing/2014/main" id="{08FA844D-26A2-4B70-83D3-235D4FDFCCF1}"/>
              </a:ext>
            </a:extLst>
          </p:cNvPr>
          <p:cNvPicPr>
            <a:picLocks noChangeAspect="1"/>
          </p:cNvPicPr>
          <p:nvPr/>
        </p:nvPicPr>
        <p:blipFill>
          <a:blip r:embed="rId4"/>
          <a:stretch>
            <a:fillRect/>
          </a:stretch>
        </p:blipFill>
        <p:spPr>
          <a:xfrm>
            <a:off x="2007765" y="4642353"/>
            <a:ext cx="8327136" cy="917793"/>
          </a:xfrm>
          <a:prstGeom prst="rect">
            <a:avLst/>
          </a:prstGeom>
        </p:spPr>
      </p:pic>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7280" y="6200599"/>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87936C75-14A1-4A3E-8FCA-A63EDEB70950}"/>
              </a:ext>
            </a:extLst>
          </p:cNvPr>
          <p:cNvSpPr txBox="1"/>
          <p:nvPr/>
        </p:nvSpPr>
        <p:spPr>
          <a:xfrm>
            <a:off x="863905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104</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61FD41-2EF4-418A-BA40-1B01D3173811}">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A44D307E-3304-4A6C-8F8B-34165EF1E2B0}">
  <ds:schemaRefs>
    <ds:schemaRef ds:uri="http://schemas.microsoft.com/sharepoint/v3/contenttype/forms"/>
  </ds:schemaRefs>
</ds:datastoreItem>
</file>

<file path=customXml/itemProps3.xml><?xml version="1.0" encoding="utf-8"?>
<ds:datastoreItem xmlns:ds="http://schemas.openxmlformats.org/officeDocument/2006/customXml" ds:itemID="{4F58B1BF-5929-4654-B210-24BF89C2D6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1402</TotalTime>
  <Words>1273</Words>
  <Application>Microsoft Office PowerPoint</Application>
  <PresentationFormat>Custom</PresentationFormat>
  <Paragraphs>184</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1_Office Theme</vt:lpstr>
      <vt:lpstr>6th Grade Accelerated Math  Unit 3, Lesson 5  Rational Numbers in Real-World Context  Volume 1, pg. 98  </vt:lpstr>
      <vt:lpstr>Benchmark</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23</cp:revision>
  <dcterms:created xsi:type="dcterms:W3CDTF">2015-03-17T18:51:18Z</dcterms:created>
  <dcterms:modified xsi:type="dcterms:W3CDTF">2023-07-06T01:16:28Z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