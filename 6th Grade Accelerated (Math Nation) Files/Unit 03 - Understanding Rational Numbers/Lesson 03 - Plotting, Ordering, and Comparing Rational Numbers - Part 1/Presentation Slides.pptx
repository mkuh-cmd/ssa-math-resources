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85" r:id="rId4"/>
    <p:sldId id="286" r:id="rId5"/>
    <p:sldId id="261" r:id="rId6"/>
    <p:sldId id="287" r:id="rId7"/>
    <p:sldId id="289" r:id="rId8"/>
    <p:sldId id="290" r:id="rId9"/>
    <p:sldId id="332" r:id="rId10"/>
    <p:sldId id="333" r:id="rId11"/>
    <p:sldId id="334" r:id="rId12"/>
    <p:sldId id="335" r:id="rId13"/>
    <p:sldId id="336" r:id="rId14"/>
    <p:sldId id="337" r:id="rId15"/>
    <p:sldId id="338" r:id="rId16"/>
    <p:sldId id="339" r:id="rId17"/>
    <p:sldId id="311" r:id="rId18"/>
    <p:sldId id="312" r:id="rId19"/>
    <p:sldId id="313" r:id="rId20"/>
    <p:sldId id="340" r:id="rId21"/>
    <p:sldId id="302" r:id="rId22"/>
    <p:sldId id="303" r:id="rId23"/>
    <p:sldId id="309" r:id="rId24"/>
    <p:sldId id="342" r:id="rId25"/>
    <p:sldId id="343" r:id="rId26"/>
    <p:sldId id="344" r:id="rId27"/>
    <p:sldId id="306" r:id="rId28"/>
    <p:sldId id="307" r:id="rId29"/>
    <p:sldId id="310"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BD1E"/>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9"/>
    <p:restoredTop sz="94695"/>
  </p:normalViewPr>
  <p:slideViewPr>
    <p:cSldViewPr snapToGrid="0">
      <p:cViewPr varScale="1">
        <p:scale>
          <a:sx n="79" d="100"/>
          <a:sy n="79" d="100"/>
        </p:scale>
        <p:origin x="830"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32925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905892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591920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684468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3775775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086364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1609110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2530209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8999995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540458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68260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1476888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7985218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tiff"/><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0.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4.tiff"/><Relationship Id="rId5"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29.tiff"/><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0.tiff"/><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3.png"/><Relationship Id="rId7"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38.png"/><Relationship Id="rId11" Type="http://schemas.openxmlformats.org/officeDocument/2006/relationships/image" Target="../media/image10.png"/><Relationship Id="rId5" Type="http://schemas.openxmlformats.org/officeDocument/2006/relationships/image" Target="../media/image36.png"/><Relationship Id="rId10" Type="http://schemas.openxmlformats.org/officeDocument/2006/relationships/image" Target="../media/image43.png"/><Relationship Id="rId4" Type="http://schemas.openxmlformats.org/officeDocument/2006/relationships/image" Target="../media/image34.png"/><Relationship Id="rId9"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a:t>
            </a:r>
            <a:r>
              <a:rPr lang="en-US" sz="3800" b="1">
                <a:solidFill>
                  <a:srgbClr val="417DBF"/>
                </a:solidFill>
                <a:latin typeface="Verdana"/>
                <a:ea typeface="Verdana"/>
                <a:cs typeface="Verdana"/>
                <a:sym typeface="Verdana"/>
              </a:rPr>
              <a:t>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3</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rPr>
              <a:t>Plotting, Ordering, and Comparing Rational Numbers – 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87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66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22850" y="984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599350" y="3342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346650" y="1600200"/>
            <a:ext cx="886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a:t>
            </a:r>
            <a:r>
              <a:rPr lang="en-US" sz="2400" dirty="0">
                <a:latin typeface="Verdana" panose="020B0604030504040204" pitchFamily="34" charset="0"/>
                <a:ea typeface="Verdana" panose="020B0604030504040204" pitchFamily="34" charset="0"/>
                <a:cs typeface="Verdana" panose="020B0604030504040204" pitchFamily="34" charset="0"/>
              </a:rPr>
              <a:t>6.NSO.1.1 </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Extend previous understanding of numbers to define rational numbers. Plot, order, and compare rational numbers.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764450" y="3850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589100" y="1423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511750" y="1596390"/>
            <a:ext cx="86990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
        <p:nvSpPr>
          <p:cNvPr id="9" name="Google Shape;278;g104476d1465_1_17">
            <a:extLst>
              <a:ext uri="{FF2B5EF4-FFF2-40B4-BE49-F238E27FC236}">
                <a16:creationId xmlns:a16="http://schemas.microsoft.com/office/drawing/2014/main" id="{0EC4A24D-AC58-5143-9A1A-1E71E28DFCF5}"/>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71038"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98338" y="2817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71038" y="1600200"/>
            <a:ext cx="873976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plot and compare rational numbers represented as a decimal or percent.</a:t>
            </a: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plot, compare, and order fractional representations of rational numbers.</a:t>
            </a:r>
          </a:p>
        </p:txBody>
      </p:sp>
      <p:sp>
        <p:nvSpPr>
          <p:cNvPr id="8" name="Google Shape;278;g104476d1465_1_17">
            <a:extLst>
              <a:ext uri="{FF2B5EF4-FFF2-40B4-BE49-F238E27FC236}">
                <a16:creationId xmlns:a16="http://schemas.microsoft.com/office/drawing/2014/main" id="{7BA09A98-EDA0-5343-AD77-8F8E8C4F0E72}"/>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87950" y="0"/>
            <a:ext cx="944317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3.3.1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540650" y="25146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054100" y="1386026"/>
                <a:ext cx="10339832" cy="3170099"/>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diagram gives the temperature, in Fahrenheit </a:t>
                </a:r>
                <a14:m>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m:t>
                        </m:r>
                      </m:e>
                    </m:d>
                  </m:oMath>
                </a14:m>
                <a:r>
                  <a:rPr lang="en-US" sz="2000" dirty="0">
                    <a:latin typeface="Verdana" panose="020B0604030504040204" pitchFamily="34" charset="0"/>
                    <a:ea typeface="Verdana" panose="020B0604030504040204" pitchFamily="34" charset="0"/>
                    <a:cs typeface="Verdana" panose="020B0604030504040204" pitchFamily="34" charset="0"/>
                  </a:rPr>
                  <a:t> and in Celsius </a:t>
                </a:r>
                <a14:m>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m:t>
                        </m:r>
                      </m:e>
                    </m:d>
                  </m:oMath>
                </a14:m>
                <a:r>
                  <a:rPr lang="en-US" sz="2000" dirty="0">
                    <a:latin typeface="Verdana" panose="020B0604030504040204" pitchFamily="34" charset="0"/>
                    <a:ea typeface="Verdana" panose="020B0604030504040204" pitchFamily="34" charset="0"/>
                    <a:cs typeface="Verdana" panose="020B0604030504040204" pitchFamily="34" charset="0"/>
                  </a:rPr>
                  <a:t>, for Memphis, Tennessee, and Bangor, Maine.</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temperatures? </a:t>
                </a: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054100" y="1386026"/>
                <a:ext cx="10339832" cy="3170099"/>
              </a:xfrm>
              <a:prstGeom prst="rect">
                <a:avLst/>
              </a:prstGeom>
              <a:blipFill rotWithShape="0">
                <a:blip r:embed="rId4"/>
                <a:stretch>
                  <a:fillRect l="-649" t="-1154" b="-2500"/>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C2564F7E-689E-724F-BBC4-EC8DFC52E66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image2.png" descr="A picture containing diagram&#10;&#10;Description automatically generated">
            <a:extLst>
              <a:ext uri="{FF2B5EF4-FFF2-40B4-BE49-F238E27FC236}">
                <a16:creationId xmlns:a16="http://schemas.microsoft.com/office/drawing/2014/main" id="{E092D837-E24D-A847-BE17-7EF2C745D2B6}"/>
              </a:ext>
            </a:extLst>
          </p:cNvPr>
          <p:cNvPicPr/>
          <p:nvPr/>
        </p:nvPicPr>
        <p:blipFill>
          <a:blip r:embed="rId5"/>
          <a:srcRect/>
          <a:stretch>
            <a:fillRect/>
          </a:stretch>
        </p:blipFill>
        <p:spPr>
          <a:xfrm>
            <a:off x="3116263" y="2254525"/>
            <a:ext cx="5959475" cy="1786890"/>
          </a:xfrm>
          <a:prstGeom prst="rect">
            <a:avLst/>
          </a:prstGeom>
          <a:ln/>
        </p:spPr>
      </p:pic>
      <p:sp>
        <p:nvSpPr>
          <p:cNvPr id="12"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78601"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3.3.2 Guided Instruction: </a:t>
            </a:r>
            <a:r>
              <a:rPr lang="en-US" sz="3200" b="1" dirty="0">
                <a:solidFill>
                  <a:srgbClr val="54B5D1"/>
                </a:solidFill>
                <a:latin typeface="Verdana"/>
                <a:ea typeface="Verdana"/>
                <a:cs typeface="Verdana"/>
              </a:rPr>
              <a:t>Comparing and Ordering Decimals </a:t>
            </a:r>
            <a:endParaRPr lang="en-US" sz="3200" b="1" dirty="0">
              <a:solidFill>
                <a:srgbClr val="54B5D1"/>
              </a:solidFill>
              <a:latin typeface="Verdana"/>
              <a:ea typeface="Verdana"/>
              <a:cs typeface="Verdana"/>
              <a:sym typeface="Verdana"/>
            </a:endParaRP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31301" y="207264"/>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378601" y="1169464"/>
                <a:ext cx="9094735" cy="1200329"/>
              </a:xfrm>
              <a:prstGeom prst="rect">
                <a:avLst/>
              </a:prstGeom>
              <a:noFill/>
            </p:spPr>
            <p:txBody>
              <a:bodyPr wrap="square" rtlCol="0">
                <a:spAutoFit/>
              </a:bodyPr>
              <a:lstStyle/>
              <a:p>
                <a:pPr marL="342900" indent="-3429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table shows the lowest temperature, in degrees Celsius </a:t>
                </a:r>
                <a14:m>
                  <m:oMath xmlns:m="http://schemas.openxmlformats.org/officeDocument/2006/math">
                    <m:d>
                      <m:dPr>
                        <m:ctrlPr>
                          <a:rPr lang="en-US" sz="2400" i="1">
                            <a:latin typeface="Cambria Math" panose="02040503050406030204" pitchFamily="18" charset="0"/>
                          </a:rPr>
                        </m:ctrlPr>
                      </m:dPr>
                      <m:e>
                        <m:r>
                          <a:rPr lang="en-US" sz="2400" i="1">
                            <a:latin typeface="Cambria Math" panose="02040503050406030204" pitchFamily="18" charset="0"/>
                          </a:rPr>
                          <m:t>℃</m:t>
                        </m:r>
                      </m:e>
                    </m:d>
                  </m:oMath>
                </a14:m>
                <a:r>
                  <a:rPr lang="en-US" sz="2400" dirty="0">
                    <a:latin typeface="Verdana" panose="020B0604030504040204" pitchFamily="34" charset="0"/>
                    <a:ea typeface="Verdana" panose="020B0604030504040204" pitchFamily="34" charset="0"/>
                    <a:cs typeface="Verdana" panose="020B0604030504040204" pitchFamily="34" charset="0"/>
                  </a:rPr>
                  <a:t>, for each day during the week of October 14, 2019, in Anchorage, Alaska.</a:t>
                </a: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378601" y="1169464"/>
                <a:ext cx="9094735" cy="1200329"/>
              </a:xfrm>
              <a:prstGeom prst="rect">
                <a:avLst/>
              </a:prstGeom>
              <a:blipFill rotWithShape="0">
                <a:blip r:embed="rId4"/>
                <a:stretch>
                  <a:fillRect l="-1005" t="-4061" b="-10660"/>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F7A98FFB-A3E6-7642-B96E-3A3B8C27BD7F}"/>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C800F92A-6D07-5C4B-9922-2FFA33AEA656}"/>
                  </a:ext>
                </a:extLst>
              </p:cNvPr>
              <p:cNvGraphicFramePr>
                <a:graphicFrameLocks noGrp="1"/>
              </p:cNvGraphicFramePr>
              <p:nvPr>
                <p:extLst>
                  <p:ext uri="{D42A27DB-BD31-4B8C-83A1-F6EECF244321}">
                    <p14:modId xmlns:p14="http://schemas.microsoft.com/office/powerpoint/2010/main" val="811097542"/>
                  </p:ext>
                </p:extLst>
              </p:nvPr>
            </p:nvGraphicFramePr>
            <p:xfrm>
              <a:off x="2743199" y="2502974"/>
              <a:ext cx="6705602" cy="1217186"/>
            </p:xfrm>
            <a:graphic>
              <a:graphicData uri="http://schemas.openxmlformats.org/drawingml/2006/table">
                <a:tbl>
                  <a:tblPr bandRow="1">
                    <a:tableStyleId>{A91F0D33-8C57-4600-99A7-42BC86742BE1}</a:tableStyleId>
                  </a:tblPr>
                  <a:tblGrid>
                    <a:gridCol w="1891942">
                      <a:extLst>
                        <a:ext uri="{9D8B030D-6E8A-4147-A177-3AD203B41FA5}">
                          <a16:colId xmlns:a16="http://schemas.microsoft.com/office/drawing/2014/main" val="1283434338"/>
                        </a:ext>
                      </a:extLst>
                    </a:gridCol>
                    <a:gridCol w="687575">
                      <a:extLst>
                        <a:ext uri="{9D8B030D-6E8A-4147-A177-3AD203B41FA5}">
                          <a16:colId xmlns:a16="http://schemas.microsoft.com/office/drawing/2014/main" val="818796386"/>
                        </a:ext>
                      </a:extLst>
                    </a:gridCol>
                    <a:gridCol w="687575">
                      <a:extLst>
                        <a:ext uri="{9D8B030D-6E8A-4147-A177-3AD203B41FA5}">
                          <a16:colId xmlns:a16="http://schemas.microsoft.com/office/drawing/2014/main" val="3735327555"/>
                        </a:ext>
                      </a:extLst>
                    </a:gridCol>
                    <a:gridCol w="687575">
                      <a:extLst>
                        <a:ext uri="{9D8B030D-6E8A-4147-A177-3AD203B41FA5}">
                          <a16:colId xmlns:a16="http://schemas.microsoft.com/office/drawing/2014/main" val="1478831032"/>
                        </a:ext>
                      </a:extLst>
                    </a:gridCol>
                    <a:gridCol w="687575">
                      <a:extLst>
                        <a:ext uri="{9D8B030D-6E8A-4147-A177-3AD203B41FA5}">
                          <a16:colId xmlns:a16="http://schemas.microsoft.com/office/drawing/2014/main" val="1125402436"/>
                        </a:ext>
                      </a:extLst>
                    </a:gridCol>
                    <a:gridCol w="687575">
                      <a:extLst>
                        <a:ext uri="{9D8B030D-6E8A-4147-A177-3AD203B41FA5}">
                          <a16:colId xmlns:a16="http://schemas.microsoft.com/office/drawing/2014/main" val="1952270672"/>
                        </a:ext>
                      </a:extLst>
                    </a:gridCol>
                    <a:gridCol w="687575">
                      <a:extLst>
                        <a:ext uri="{9D8B030D-6E8A-4147-A177-3AD203B41FA5}">
                          <a16:colId xmlns:a16="http://schemas.microsoft.com/office/drawing/2014/main" val="541942837"/>
                        </a:ext>
                      </a:extLst>
                    </a:gridCol>
                    <a:gridCol w="688210">
                      <a:extLst>
                        <a:ext uri="{9D8B030D-6E8A-4147-A177-3AD203B41FA5}">
                          <a16:colId xmlns:a16="http://schemas.microsoft.com/office/drawing/2014/main" val="1962591321"/>
                        </a:ext>
                      </a:extLst>
                    </a:gridCol>
                  </a:tblGrid>
                  <a:tr h="564515">
                    <a:tc>
                      <a:txBody>
                        <a:bodyPr/>
                        <a:lstStyle/>
                        <a:p>
                          <a:pPr marL="0" marR="0" algn="ctr">
                            <a:lnSpc>
                              <a:spcPct val="107000"/>
                            </a:lnSpc>
                            <a:spcBef>
                              <a:spcPts val="0"/>
                            </a:spcBef>
                            <a:spcAft>
                              <a:spcPts val="800"/>
                            </a:spcAft>
                          </a:pPr>
                          <a:r>
                            <a:rPr lang="en-US" sz="1800" b="1" dirty="0">
                              <a:effectLst/>
                            </a:rPr>
                            <a:t>Day</a:t>
                          </a:r>
                          <a:endParaRPr lang="en-US" sz="1600" b="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1800">
                              <a:effectLst/>
                            </a:rPr>
                            <a:t>Mon</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a:effectLst/>
                            </a:rPr>
                            <a:t>Tue</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a:effectLst/>
                            </a:rPr>
                            <a:t>Wed</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a:effectLst/>
                            </a:rPr>
                            <a:t>Thu</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a:effectLst/>
                            </a:rPr>
                            <a:t>Fri</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a:effectLst/>
                            </a:rPr>
                            <a:t>Sat</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a:effectLst/>
                            </a:rPr>
                            <a:t>Sun</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1916906"/>
                      </a:ext>
                    </a:extLst>
                  </a:tr>
                  <a:tr h="652671">
                    <a:tc>
                      <a:txBody>
                        <a:bodyPr/>
                        <a:lstStyle/>
                        <a:p>
                          <a:pPr marL="0" marR="0" algn="ctr">
                            <a:lnSpc>
                              <a:spcPct val="107000"/>
                            </a:lnSpc>
                            <a:spcBef>
                              <a:spcPts val="0"/>
                            </a:spcBef>
                            <a:spcAft>
                              <a:spcPts val="800"/>
                            </a:spcAft>
                          </a:pPr>
                          <a:r>
                            <a:rPr lang="en-US" sz="1800" b="1" dirty="0">
                              <a:effectLst/>
                            </a:rPr>
                            <a:t>Temperature (</a:t>
                          </a:r>
                          <a14:m>
                            <m:oMath xmlns:m="http://schemas.openxmlformats.org/officeDocument/2006/math">
                              <m:r>
                                <a:rPr lang="en-US" sz="1800" b="1">
                                  <a:effectLst/>
                                  <a:latin typeface="Cambria Math" panose="02040503050406030204" pitchFamily="18" charset="0"/>
                                </a:rPr>
                                <m:t>℃</m:t>
                              </m:r>
                            </m:oMath>
                          </a14:m>
                          <a:r>
                            <a:rPr lang="en-US" sz="1800" b="1" dirty="0">
                              <a:effectLst/>
                            </a:rPr>
                            <a:t>)</a:t>
                          </a:r>
                          <a:endParaRPr lang="en-US" sz="1600" b="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4.2</m:t>
                                </m:r>
                              </m:oMath>
                            </m:oMathPara>
                          </a14:m>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−3.7</m:t>
                                </m:r>
                              </m:oMath>
                            </m:oMathPara>
                          </a14:m>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−0.75</m:t>
                                </m:r>
                              </m:oMath>
                            </m:oMathPara>
                          </a14:m>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1.3</m:t>
                                </m:r>
                              </m:oMath>
                            </m:oMathPara>
                          </a14:m>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2.8</m:t>
                                </m:r>
                              </m:oMath>
                            </m:oMathPara>
                          </a14:m>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−0.1</m:t>
                                </m:r>
                              </m:oMath>
                            </m:oMathPara>
                          </a14:m>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−2.6</m:t>
                                </m:r>
                              </m:oMath>
                            </m:oMathPara>
                          </a14:m>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1088183"/>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C800F92A-6D07-5C4B-9922-2FFA33AEA656}"/>
                  </a:ext>
                </a:extLst>
              </p:cNvPr>
              <p:cNvGraphicFramePr>
                <a:graphicFrameLocks noGrp="1"/>
              </p:cNvGraphicFramePr>
              <p:nvPr>
                <p:extLst>
                  <p:ext uri="{D42A27DB-BD31-4B8C-83A1-F6EECF244321}">
                    <p14:modId xmlns:p14="http://schemas.microsoft.com/office/powerpoint/2010/main" val="811097542"/>
                  </p:ext>
                </p:extLst>
              </p:nvPr>
            </p:nvGraphicFramePr>
            <p:xfrm>
              <a:off x="2743199" y="2502974"/>
              <a:ext cx="6705602" cy="1217186"/>
            </p:xfrm>
            <a:graphic>
              <a:graphicData uri="http://schemas.openxmlformats.org/drawingml/2006/table">
                <a:tbl>
                  <a:tblPr bandRow="1">
                    <a:tableStyleId>{A91F0D33-8C57-4600-99A7-42BC86742BE1}</a:tableStyleId>
                  </a:tblPr>
                  <a:tblGrid>
                    <a:gridCol w="1891942">
                      <a:extLst>
                        <a:ext uri="{9D8B030D-6E8A-4147-A177-3AD203B41FA5}">
                          <a16:colId xmlns:a16="http://schemas.microsoft.com/office/drawing/2014/main" xmlns:a14="http://schemas.microsoft.com/office/drawing/2010/main" xmlns="" val="1283434338"/>
                        </a:ext>
                      </a:extLst>
                    </a:gridCol>
                    <a:gridCol w="687575">
                      <a:extLst>
                        <a:ext uri="{9D8B030D-6E8A-4147-A177-3AD203B41FA5}">
                          <a16:colId xmlns:a16="http://schemas.microsoft.com/office/drawing/2014/main" xmlns:a14="http://schemas.microsoft.com/office/drawing/2010/main" xmlns="" val="818796386"/>
                        </a:ext>
                      </a:extLst>
                    </a:gridCol>
                    <a:gridCol w="687575">
                      <a:extLst>
                        <a:ext uri="{9D8B030D-6E8A-4147-A177-3AD203B41FA5}">
                          <a16:colId xmlns:a16="http://schemas.microsoft.com/office/drawing/2014/main" xmlns:a14="http://schemas.microsoft.com/office/drawing/2010/main" xmlns="" val="3735327555"/>
                        </a:ext>
                      </a:extLst>
                    </a:gridCol>
                    <a:gridCol w="687575">
                      <a:extLst>
                        <a:ext uri="{9D8B030D-6E8A-4147-A177-3AD203B41FA5}">
                          <a16:colId xmlns:a16="http://schemas.microsoft.com/office/drawing/2014/main" xmlns:a14="http://schemas.microsoft.com/office/drawing/2010/main" xmlns="" val="1478831032"/>
                        </a:ext>
                      </a:extLst>
                    </a:gridCol>
                    <a:gridCol w="687575">
                      <a:extLst>
                        <a:ext uri="{9D8B030D-6E8A-4147-A177-3AD203B41FA5}">
                          <a16:colId xmlns:a16="http://schemas.microsoft.com/office/drawing/2014/main" xmlns:a14="http://schemas.microsoft.com/office/drawing/2010/main" xmlns="" val="1125402436"/>
                        </a:ext>
                      </a:extLst>
                    </a:gridCol>
                    <a:gridCol w="687575">
                      <a:extLst>
                        <a:ext uri="{9D8B030D-6E8A-4147-A177-3AD203B41FA5}">
                          <a16:colId xmlns:a16="http://schemas.microsoft.com/office/drawing/2014/main" xmlns:a14="http://schemas.microsoft.com/office/drawing/2010/main" xmlns="" val="1952270672"/>
                        </a:ext>
                      </a:extLst>
                    </a:gridCol>
                    <a:gridCol w="687575">
                      <a:extLst>
                        <a:ext uri="{9D8B030D-6E8A-4147-A177-3AD203B41FA5}">
                          <a16:colId xmlns:a16="http://schemas.microsoft.com/office/drawing/2014/main" xmlns:a14="http://schemas.microsoft.com/office/drawing/2010/main" xmlns="" val="541942837"/>
                        </a:ext>
                      </a:extLst>
                    </a:gridCol>
                    <a:gridCol w="688210">
                      <a:extLst>
                        <a:ext uri="{9D8B030D-6E8A-4147-A177-3AD203B41FA5}">
                          <a16:colId xmlns:a16="http://schemas.microsoft.com/office/drawing/2014/main" xmlns:a14="http://schemas.microsoft.com/office/drawing/2010/main" xmlns="" val="1962591321"/>
                        </a:ext>
                      </a:extLst>
                    </a:gridCol>
                  </a:tblGrid>
                  <a:tr h="564515">
                    <a:tc>
                      <a:txBody>
                        <a:bodyPr/>
                        <a:lstStyle/>
                        <a:p>
                          <a:pPr marL="0" marR="0" algn="ctr">
                            <a:lnSpc>
                              <a:spcPct val="107000"/>
                            </a:lnSpc>
                            <a:spcBef>
                              <a:spcPts val="0"/>
                            </a:spcBef>
                            <a:spcAft>
                              <a:spcPts val="800"/>
                            </a:spcAft>
                          </a:pPr>
                          <a:r>
                            <a:rPr lang="en-US" sz="1800" b="1" dirty="0">
                              <a:effectLst/>
                            </a:rPr>
                            <a:t>Day</a:t>
                          </a:r>
                          <a:endParaRPr lang="en-US" sz="1600" b="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1800">
                              <a:effectLst/>
                            </a:rPr>
                            <a:t>Mon</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a:effectLst/>
                            </a:rPr>
                            <a:t>Tue</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a:effectLst/>
                            </a:rPr>
                            <a:t>Wed</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a:effectLst/>
                            </a:rPr>
                            <a:t>Thu</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a:effectLst/>
                            </a:rPr>
                            <a:t>Fri</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a:effectLst/>
                            </a:rPr>
                            <a:t>Sat</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a:effectLst/>
                            </a:rPr>
                            <a:t>Sun</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131916906"/>
                      </a:ext>
                    </a:extLst>
                  </a:tr>
                  <a:tr h="65267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5"/>
                          <a:stretch>
                            <a:fillRect l="-322" t="-87037" r="-254984" b="-1296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5"/>
                          <a:stretch>
                            <a:fillRect l="-276106" t="-87037" r="-601770" b="-1296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5"/>
                          <a:stretch>
                            <a:fillRect l="-376106" t="-87037" r="-501770" b="-1296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5"/>
                          <a:stretch>
                            <a:fillRect l="-476106" t="-87037" r="-401770" b="-1296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5"/>
                          <a:stretch>
                            <a:fillRect l="-576106" t="-87037" r="-301770" b="-1296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5"/>
                          <a:stretch>
                            <a:fillRect l="-676106" t="-87037" r="-201770" b="-1296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5"/>
                          <a:stretch>
                            <a:fillRect l="-776106" t="-87037" r="-101770" b="-1296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5"/>
                          <a:stretch>
                            <a:fillRect l="-876106" t="-87037" r="-1770" b="-12963"/>
                          </a:stretch>
                        </a:blipFill>
                      </a:tcPr>
                    </a:tc>
                    <a:extLst>
                      <a:ext uri="{0D108BD9-81ED-4DB2-BD59-A6C34878D82A}">
                        <a16:rowId xmlns:a16="http://schemas.microsoft.com/office/drawing/2014/main" xmlns:a14="http://schemas.microsoft.com/office/drawing/2010/main" xmlns="" val="461088183"/>
                      </a:ext>
                    </a:extLst>
                  </a:tr>
                </a:tbl>
              </a:graphicData>
            </a:graphic>
          </p:graphicFrame>
        </mc:Fallback>
      </mc:AlternateContent>
      <p:pic>
        <p:nvPicPr>
          <p:cNvPr id="11" name="Picture 10" descr="A screenshot of a social media post&#10;&#10;Description automatically generated">
            <a:extLst>
              <a:ext uri="{FF2B5EF4-FFF2-40B4-BE49-F238E27FC236}">
                <a16:creationId xmlns:a16="http://schemas.microsoft.com/office/drawing/2014/main" id="{6B29F057-4AB0-45EC-9ED8-D8ED702A951C}"/>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33358"/>
          <a:stretch/>
        </p:blipFill>
        <p:spPr bwMode="auto">
          <a:xfrm>
            <a:off x="2872740" y="3790482"/>
            <a:ext cx="6446520" cy="1246505"/>
          </a:xfrm>
          <a:prstGeom prst="rect">
            <a:avLst/>
          </a:prstGeom>
          <a:ln>
            <a:noFill/>
          </a:ln>
          <a:extLst>
            <a:ext uri="{53640926-AAD7-44D8-BBD7-CCE9431645EC}">
              <a14:shadowObscured xmlns:a14="http://schemas.microsoft.com/office/drawing/2010/main"/>
            </a:ext>
          </a:extLst>
        </p:spPr>
      </p:pic>
      <p:sp>
        <p:nvSpPr>
          <p:cNvPr id="12" name="TextBox 11">
            <a:extLst>
              <a:ext uri="{FF2B5EF4-FFF2-40B4-BE49-F238E27FC236}">
                <a16:creationId xmlns:a16="http://schemas.microsoft.com/office/drawing/2014/main" id="{81160462-4F6F-4BCE-AEAE-235777EBDF9D}"/>
              </a:ext>
            </a:extLst>
          </p:cNvPr>
          <p:cNvSpPr txBox="1"/>
          <p:nvPr/>
        </p:nvSpPr>
        <p:spPr>
          <a:xfrm>
            <a:off x="1378601" y="5107308"/>
            <a:ext cx="8893473" cy="1323439"/>
          </a:xfrm>
          <a:prstGeom prst="rect">
            <a:avLst/>
          </a:prstGeom>
          <a:noFill/>
        </p:spPr>
        <p:txBody>
          <a:bodyPr wrap="square">
            <a:spAutoFit/>
          </a:bodyPr>
          <a:lstStyle/>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Plot the temperatures on the number line.</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Which temperature did you plot farthest to the left?</a:t>
            </a:r>
          </a:p>
        </p:txBody>
      </p:sp>
      <p:sp>
        <p:nvSpPr>
          <p:cNvPr id="14"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88</a:t>
            </a:r>
            <a:endParaRPr i="1" dirty="0">
              <a:latin typeface="Calibri"/>
              <a:ea typeface="Calibri"/>
              <a:cs typeface="Calibri"/>
              <a:sym typeface="Calibri"/>
            </a:endParaRPr>
          </a:p>
        </p:txBody>
      </p:sp>
      <p:pic>
        <p:nvPicPr>
          <p:cNvPr id="15"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8AE5E1E0-A54D-BE42-84B5-F917038ADE99}"/>
              </a:ext>
            </a:extLst>
          </p:cNvPr>
          <p:cNvSpPr txBox="1"/>
          <p:nvPr/>
        </p:nvSpPr>
        <p:spPr>
          <a:xfrm>
            <a:off x="965200" y="288745"/>
            <a:ext cx="10261600" cy="3785652"/>
          </a:xfrm>
          <a:prstGeom prst="rect">
            <a:avLst/>
          </a:prstGeom>
          <a:noFill/>
        </p:spPr>
        <p:txBody>
          <a:bodyPr wrap="square" rtlCol="0">
            <a:spAutoFit/>
          </a:bodyPr>
          <a:lstStyle/>
          <a:p>
            <a:pPr marL="922337"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day of the week is represented by the value that was plotted farthest to the left?</a:t>
            </a:r>
          </a:p>
          <a:p>
            <a:pPr marL="922337"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Why does the location of the temperature that is plotted farthest to the left help determine which day had the lowermost temperature?</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D132551E-02DD-6A43-9F52-A70D434DE096}"/>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88</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2200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028700" y="288745"/>
                <a:ext cx="10134600" cy="3416320"/>
              </a:xfrm>
              <a:prstGeom prst="rect">
                <a:avLst/>
              </a:prstGeom>
              <a:noFill/>
            </p:spPr>
            <p:txBody>
              <a:bodyPr wrap="square" rtlCol="0">
                <a:spAutoFit/>
              </a:bodyPr>
              <a:lstStyle/>
              <a:p>
                <a:pPr marL="914400" indent="-449263">
                  <a:buFont typeface="+mj-lt"/>
                  <a:buAutoNum type="alphaLcPeriod" startAt="5"/>
                </a:pPr>
                <a:r>
                  <a:rPr lang="en-US" sz="2400" dirty="0">
                    <a:latin typeface="Verdana" panose="020B0604030504040204" pitchFamily="34" charset="0"/>
                    <a:ea typeface="Verdana" panose="020B0604030504040204" pitchFamily="34" charset="0"/>
                    <a:cs typeface="Verdana" panose="020B0604030504040204" pitchFamily="34" charset="0"/>
                  </a:rPr>
                  <a:t>Interpret the temperature in this context.</a:t>
                </a:r>
              </a:p>
              <a:p>
                <a:pPr marL="914400" indent="-449263"/>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49263"/>
                <a:r>
                  <a:rPr lang="en-US" sz="2400" i="1"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r>
                  <a:rPr lang="en-US" sz="2400" i="1" dirty="0">
                    <a:latin typeface="Verdana" panose="020B0604030504040204" pitchFamily="34" charset="0"/>
                    <a:ea typeface="Verdana" panose="020B0604030504040204" pitchFamily="34" charset="0"/>
                    <a:cs typeface="Verdana" panose="020B0604030504040204" pitchFamily="34" charset="0"/>
                  </a:rPr>
                  <a:t>During the week of October 14, 2019, the </a:t>
                </a:r>
              </a:p>
              <a:p>
                <a:pPr marL="914400" indent="-449263"/>
                <a:endParaRPr lang="en-US" sz="2400" i="1" dirty="0">
                  <a:latin typeface="Verdana" panose="020B0604030504040204" pitchFamily="34" charset="0"/>
                  <a:ea typeface="Verdana" panose="020B0604030504040204" pitchFamily="34" charset="0"/>
                  <a:cs typeface="Verdana" panose="020B0604030504040204" pitchFamily="34" charset="0"/>
                </a:endParaRPr>
              </a:p>
              <a:p>
                <a:pPr marL="914400" indent="-449263"/>
                <a:r>
                  <a:rPr lang="en-US" sz="2400" i="1" dirty="0">
                    <a:latin typeface="Verdana" panose="020B0604030504040204" pitchFamily="34" charset="0"/>
                    <a:ea typeface="Verdana" panose="020B0604030504040204" pitchFamily="34" charset="0"/>
                    <a:cs typeface="Verdana" panose="020B0604030504040204" pitchFamily="34" charset="0"/>
                  </a:rPr>
                  <a:t>lowermost temperature was ______</a:t>
                </a:r>
                <a14:m>
                  <m:oMath xmlns:m="http://schemas.openxmlformats.org/officeDocument/2006/math">
                    <m:r>
                      <a:rPr lang="en-US" sz="2400" i="1">
                        <a:latin typeface="Cambria Math" panose="02040503050406030204" pitchFamily="18" charset="0"/>
                      </a:rPr>
                      <m:t>℃</m:t>
                    </m:r>
                  </m:oMath>
                </a14:m>
                <a:r>
                  <a:rPr lang="en-US" sz="2400" i="1" dirty="0">
                    <a:latin typeface="Verdana" panose="020B0604030504040204" pitchFamily="34" charset="0"/>
                    <a:ea typeface="Verdana" panose="020B0604030504040204" pitchFamily="34" charset="0"/>
                    <a:cs typeface="Verdana" panose="020B0604030504040204" pitchFamily="34" charset="0"/>
                  </a:rPr>
                  <a:t>. This was</a:t>
                </a:r>
              </a:p>
              <a:p>
                <a:pPr marL="914400" indent="-449263"/>
                <a:endParaRPr lang="en-US" sz="2400" i="1" dirty="0">
                  <a:latin typeface="Verdana" panose="020B0604030504040204" pitchFamily="34" charset="0"/>
                  <a:ea typeface="Verdana" panose="020B0604030504040204" pitchFamily="34" charset="0"/>
                  <a:cs typeface="Verdana" panose="020B0604030504040204" pitchFamily="34" charset="0"/>
                </a:endParaRPr>
              </a:p>
              <a:p>
                <a:pPr marL="914400" indent="-449263"/>
                <a:r>
                  <a:rPr lang="en-US" sz="2400" i="1" dirty="0">
                    <a:latin typeface="Verdana" panose="020B0604030504040204" pitchFamily="34" charset="0"/>
                    <a:ea typeface="Verdana" panose="020B0604030504040204" pitchFamily="34" charset="0"/>
                    <a:cs typeface="Verdana" panose="020B0604030504040204" pitchFamily="34" charset="0"/>
                  </a:rPr>
                  <a:t>the             	  temperature reached that week.</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1028700" y="288745"/>
                <a:ext cx="10134600" cy="3416320"/>
              </a:xfrm>
              <a:prstGeom prst="rect">
                <a:avLst/>
              </a:prstGeom>
              <a:blipFill rotWithShape="0">
                <a:blip r:embed="rId3"/>
                <a:stretch>
                  <a:fillRect t="-1426"/>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132551E-02DD-6A43-9F52-A70D434DE09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Rectangle: Rounded Corners 1">
            <a:extLst>
              <a:ext uri="{FF2B5EF4-FFF2-40B4-BE49-F238E27FC236}">
                <a16:creationId xmlns:a16="http://schemas.microsoft.com/office/drawing/2014/main" id="{099F62F4-8235-364C-928B-261538656D1B}"/>
              </a:ext>
            </a:extLst>
          </p:cNvPr>
          <p:cNvSpPr/>
          <p:nvPr/>
        </p:nvSpPr>
        <p:spPr>
          <a:xfrm>
            <a:off x="2167119" y="2637424"/>
            <a:ext cx="1785846" cy="787400"/>
          </a:xfrm>
          <a:prstGeom prst="roundRect">
            <a:avLst>
              <a:gd name="adj" fmla="val 16667"/>
            </a:avLst>
          </a:prstGeom>
          <a:noFill/>
          <a:ln w="12700" cap="flat" cmpd="sng">
            <a:solidFill>
              <a:schemeClr val="tx1"/>
            </a:solidFill>
            <a:prstDash val="solid"/>
            <a:miter lim="800000"/>
            <a:headEnd type="none" w="sm" len="sm"/>
            <a:tailEnd type="none" w="sm" len="sm"/>
          </a:ln>
        </p:spPr>
        <p:txBody>
          <a:bodyPr spcFirstLastPara="1" wrap="square" lIns="91425" tIns="45700" rIns="91425" bIns="45700" anchor="ctr" anchorCtr="0">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warmest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coldest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9"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88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98568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977900" y="288745"/>
                <a:ext cx="10236200" cy="2677656"/>
              </a:xfrm>
              <a:prstGeom prst="rect">
                <a:avLst/>
              </a:prstGeom>
              <a:noFill/>
            </p:spPr>
            <p:txBody>
              <a:bodyPr wrap="square" rtlCol="0">
                <a:spAutoFit/>
              </a:bodyPr>
              <a:lstStyle/>
              <a:p>
                <a:pPr marL="922337" indent="-457200">
                  <a:buFont typeface="+mj-lt"/>
                  <a:buAutoNum type="alphaLcPeriod" startAt="6"/>
                </a:pPr>
                <a:r>
                  <a:rPr lang="en-US" sz="2400" dirty="0">
                    <a:latin typeface="Verdana" panose="020B0604030504040204" pitchFamily="34" charset="0"/>
                    <a:ea typeface="Verdana" panose="020B0604030504040204" pitchFamily="34" charset="0"/>
                    <a:cs typeface="Verdana" panose="020B0604030504040204" pitchFamily="34" charset="0"/>
                  </a:rPr>
                  <a:t>The inequality symbols, </a:t>
                </a:r>
                <a14:m>
                  <m:oMath xmlns:m="http://schemas.openxmlformats.org/officeDocument/2006/math">
                    <m:r>
                      <a:rPr lang="en-US" sz="2400" i="1">
                        <a:latin typeface="Cambria Math" panose="02040503050406030204" pitchFamily="18" charset="0"/>
                      </a:rPr>
                      <m:t>&lt;</m:t>
                    </m:r>
                  </m:oMath>
                </a14:m>
                <a:r>
                  <a:rPr lang="en-US" sz="24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400" i="1">
                        <a:latin typeface="Cambria Math" panose="02040503050406030204" pitchFamily="18" charset="0"/>
                      </a:rPr>
                      <m:t>&gt;</m:t>
                    </m:r>
                  </m:oMath>
                </a14:m>
                <a:r>
                  <a:rPr lang="en-US" sz="2400" dirty="0">
                    <a:latin typeface="Verdana" panose="020B0604030504040204" pitchFamily="34" charset="0"/>
                    <a:ea typeface="Verdana" panose="020B0604030504040204" pitchFamily="34" charset="0"/>
                    <a:cs typeface="Verdana" panose="020B0604030504040204" pitchFamily="34" charset="0"/>
                  </a:rPr>
                  <a:t>, can be used to compare two of the daily low temperatures. Write an inequality that shows the relationship between two of the low temperatures for the week of October 14, 2019.</a:t>
                </a:r>
              </a:p>
              <a:p>
                <a:pPr marL="922337"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977900" y="288745"/>
                <a:ext cx="10236200" cy="2677656"/>
              </a:xfrm>
              <a:prstGeom prst="rect">
                <a:avLst/>
              </a:prstGeom>
              <a:blipFill rotWithShape="0">
                <a:blip r:embed="rId3"/>
                <a:stretch>
                  <a:fillRect t="-2045" r="-1071"/>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132551E-02DD-6A43-9F52-A70D434DE09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88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51046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8AE5E1E0-A54D-BE42-84B5-F917038ADE99}"/>
              </a:ext>
            </a:extLst>
          </p:cNvPr>
          <p:cNvSpPr txBox="1"/>
          <p:nvPr/>
        </p:nvSpPr>
        <p:spPr>
          <a:xfrm>
            <a:off x="1028700" y="288745"/>
            <a:ext cx="10134600" cy="1200329"/>
          </a:xfrm>
          <a:prstGeom prst="rect">
            <a:avLst/>
          </a:prstGeom>
          <a:noFill/>
        </p:spPr>
        <p:txBody>
          <a:bodyPr wrap="square" rtlCol="0">
            <a:spAutoFit/>
          </a:bodyPr>
          <a:lstStyle/>
          <a:p>
            <a:pPr marL="457200" indent="-449263">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Jayden, a data analyst, is comparing the populations of four different states to the population of the United States. His data is shown in the table.</a:t>
            </a:r>
          </a:p>
        </p:txBody>
      </p:sp>
      <p:sp>
        <p:nvSpPr>
          <p:cNvPr id="6" name="Google Shape;278;g104476d1465_1_17">
            <a:extLst>
              <a:ext uri="{FF2B5EF4-FFF2-40B4-BE49-F238E27FC236}">
                <a16:creationId xmlns:a16="http://schemas.microsoft.com/office/drawing/2014/main" id="{D132551E-02DD-6A43-9F52-A70D434DE09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EFCF37E-ED12-FB44-8FF4-EBAB581DE8A7}"/>
                  </a:ext>
                </a:extLst>
              </p:cNvPr>
              <p:cNvGraphicFramePr>
                <a:graphicFrameLocks noGrp="1"/>
              </p:cNvGraphicFramePr>
              <p:nvPr>
                <p:extLst>
                  <p:ext uri="{D42A27DB-BD31-4B8C-83A1-F6EECF244321}">
                    <p14:modId xmlns:p14="http://schemas.microsoft.com/office/powerpoint/2010/main" val="2032508666"/>
                  </p:ext>
                </p:extLst>
              </p:nvPr>
            </p:nvGraphicFramePr>
            <p:xfrm>
              <a:off x="2733675" y="2242212"/>
              <a:ext cx="6724650" cy="3394048"/>
            </p:xfrm>
            <a:graphic>
              <a:graphicData uri="http://schemas.openxmlformats.org/drawingml/2006/table">
                <a:tbl>
                  <a:tblPr bandRow="1">
                    <a:tableStyleId>{A91F0D33-8C57-4600-99A7-42BC86742BE1}</a:tableStyleId>
                  </a:tblPr>
                  <a:tblGrid>
                    <a:gridCol w="1540894">
                      <a:extLst>
                        <a:ext uri="{9D8B030D-6E8A-4147-A177-3AD203B41FA5}">
                          <a16:colId xmlns:a16="http://schemas.microsoft.com/office/drawing/2014/main" val="3404007945"/>
                        </a:ext>
                      </a:extLst>
                    </a:gridCol>
                    <a:gridCol w="2591878">
                      <a:extLst>
                        <a:ext uri="{9D8B030D-6E8A-4147-A177-3AD203B41FA5}">
                          <a16:colId xmlns:a16="http://schemas.microsoft.com/office/drawing/2014/main" val="963935859"/>
                        </a:ext>
                      </a:extLst>
                    </a:gridCol>
                    <a:gridCol w="2591878">
                      <a:extLst>
                        <a:ext uri="{9D8B030D-6E8A-4147-A177-3AD203B41FA5}">
                          <a16:colId xmlns:a16="http://schemas.microsoft.com/office/drawing/2014/main" val="555467092"/>
                        </a:ext>
                      </a:extLst>
                    </a:gridCol>
                  </a:tblGrid>
                  <a:tr h="1415388">
                    <a:tc>
                      <a:txBody>
                        <a:bodyPr/>
                        <a:lstStyle/>
                        <a:p>
                          <a:pPr marL="0" marR="0" algn="ctr">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State</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Population as a Portion of the U.S. Population</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(decimal form)</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Population as a Percentage of the U.S. Population</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(percent form)</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05899899"/>
                      </a:ext>
                    </a:extLst>
                  </a:tr>
                  <a:tr h="494665">
                    <a:tc>
                      <a:txBody>
                        <a:bodyPr/>
                        <a:lstStyle/>
                        <a:p>
                          <a:pPr marL="0" marR="0" algn="ctr">
                            <a:lnSpc>
                              <a:spcPct val="107000"/>
                            </a:lnSpc>
                            <a:spcBef>
                              <a:spcPts val="0"/>
                            </a:spcBef>
                            <a:spcAft>
                              <a:spcPts val="800"/>
                            </a:spcAft>
                          </a:pPr>
                          <a:r>
                            <a:rPr lang="en-US" sz="1800">
                              <a:effectLst/>
                              <a:latin typeface="Verdana" panose="020B0604030504040204" pitchFamily="34" charset="0"/>
                              <a:ea typeface="Verdana" panose="020B0604030504040204" pitchFamily="34" charset="0"/>
                              <a:cs typeface="Verdana" panose="020B0604030504040204" pitchFamily="34" charset="0"/>
                            </a:rPr>
                            <a:t>California</a:t>
                          </a:r>
                          <a:endParaRPr lang="en-US"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0.119</m:t>
                                </m:r>
                              </m:oMath>
                            </m:oMathPara>
                          </a14:m>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5565344"/>
                      </a:ext>
                    </a:extLst>
                  </a:tr>
                  <a:tr h="494665">
                    <a:tc>
                      <a:txBody>
                        <a:bodyPr/>
                        <a:lstStyle/>
                        <a:p>
                          <a:pPr marL="0" marR="0" algn="ctr">
                            <a:lnSpc>
                              <a:spcPct val="107000"/>
                            </a:lnSpc>
                            <a:spcBef>
                              <a:spcPts val="0"/>
                            </a:spcBef>
                            <a:spcAft>
                              <a:spcPts val="800"/>
                            </a:spcAft>
                          </a:pPr>
                          <a:r>
                            <a:rPr lang="en-US" sz="1800">
                              <a:effectLst/>
                              <a:latin typeface="Verdana" panose="020B0604030504040204" pitchFamily="34" charset="0"/>
                              <a:ea typeface="Verdana" panose="020B0604030504040204" pitchFamily="34" charset="0"/>
                              <a:cs typeface="Verdana" panose="020B0604030504040204" pitchFamily="34" charset="0"/>
                            </a:rPr>
                            <a:t>Florida</a:t>
                          </a:r>
                          <a:endParaRPr lang="en-US"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6.4%</m:t>
                                </m:r>
                              </m:oMath>
                            </m:oMathPara>
                          </a14:m>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1286238"/>
                      </a:ext>
                    </a:extLst>
                  </a:tr>
                  <a:tr h="494665">
                    <a:tc>
                      <a:txBody>
                        <a:bodyPr/>
                        <a:lstStyle/>
                        <a:p>
                          <a:pPr marL="0" marR="0" algn="ctr">
                            <a:lnSpc>
                              <a:spcPct val="107000"/>
                            </a:lnSpc>
                            <a:spcBef>
                              <a:spcPts val="0"/>
                            </a:spcBef>
                            <a:spcAft>
                              <a:spcPts val="800"/>
                            </a:spcAft>
                          </a:pPr>
                          <a:r>
                            <a:rPr lang="en-US" sz="1800">
                              <a:effectLst/>
                              <a:latin typeface="Verdana" panose="020B0604030504040204" pitchFamily="34" charset="0"/>
                              <a:ea typeface="Verdana" panose="020B0604030504040204" pitchFamily="34" charset="0"/>
                              <a:cs typeface="Verdana" panose="020B0604030504040204" pitchFamily="34" charset="0"/>
                            </a:rPr>
                            <a:t>New York</a:t>
                          </a:r>
                          <a:endParaRPr lang="en-US"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5.9%</m:t>
                                </m:r>
                              </m:oMath>
                            </m:oMathPara>
                          </a14:m>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8641348"/>
                      </a:ext>
                    </a:extLst>
                  </a:tr>
                  <a:tr h="494665">
                    <a:tc>
                      <a:txBody>
                        <a:bodyPr/>
                        <a:lstStyle/>
                        <a:p>
                          <a:pPr marL="0" marR="0" algn="ctr">
                            <a:lnSpc>
                              <a:spcPct val="107000"/>
                            </a:lnSpc>
                            <a:spcBef>
                              <a:spcPts val="0"/>
                            </a:spcBef>
                            <a:spcAft>
                              <a:spcPts val="800"/>
                            </a:spcAft>
                          </a:pPr>
                          <a:r>
                            <a:rPr lang="en-US" sz="1800">
                              <a:effectLst/>
                              <a:latin typeface="Verdana" panose="020B0604030504040204" pitchFamily="34" charset="0"/>
                              <a:ea typeface="Verdana" panose="020B0604030504040204" pitchFamily="34" charset="0"/>
                              <a:cs typeface="Verdana" panose="020B0604030504040204" pitchFamily="34" charset="0"/>
                            </a:rPr>
                            <a:t>Texas</a:t>
                          </a:r>
                          <a:endParaRPr lang="en-US"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0.087</m:t>
                                </m:r>
                              </m:oMath>
                            </m:oMathPara>
                          </a14:m>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0186489"/>
                      </a:ext>
                    </a:extLst>
                  </a:tr>
                </a:tbl>
              </a:graphicData>
            </a:graphic>
          </p:graphicFrame>
        </mc:Choice>
        <mc:Fallback xmlns="">
          <p:graphicFrame>
            <p:nvGraphicFramePr>
              <p:cNvPr id="2" name="Table 1">
                <a:extLst>
                  <a:ext uri="{FF2B5EF4-FFF2-40B4-BE49-F238E27FC236}">
                    <a16:creationId xmlns:a16="http://schemas.microsoft.com/office/drawing/2014/main" id="{8EFCF37E-ED12-FB44-8FF4-EBAB581DE8A7}"/>
                  </a:ext>
                </a:extLst>
              </p:cNvPr>
              <p:cNvGraphicFramePr>
                <a:graphicFrameLocks noGrp="1"/>
              </p:cNvGraphicFramePr>
              <p:nvPr>
                <p:extLst>
                  <p:ext uri="{D42A27DB-BD31-4B8C-83A1-F6EECF244321}">
                    <p14:modId xmlns:p14="http://schemas.microsoft.com/office/powerpoint/2010/main" val="2032508666"/>
                  </p:ext>
                </p:extLst>
              </p:nvPr>
            </p:nvGraphicFramePr>
            <p:xfrm>
              <a:off x="1209675" y="2242212"/>
              <a:ext cx="6724650" cy="3394048"/>
            </p:xfrm>
            <a:graphic>
              <a:graphicData uri="http://schemas.openxmlformats.org/drawingml/2006/table">
                <a:tbl>
                  <a:tblPr bandRow="1">
                    <a:tableStyleId>{A91F0D33-8C57-4600-99A7-42BC86742BE1}</a:tableStyleId>
                  </a:tblPr>
                  <a:tblGrid>
                    <a:gridCol w="1540894">
                      <a:extLst>
                        <a:ext uri="{9D8B030D-6E8A-4147-A177-3AD203B41FA5}">
                          <a16:colId xmlns:a16="http://schemas.microsoft.com/office/drawing/2014/main" val="3404007945"/>
                        </a:ext>
                      </a:extLst>
                    </a:gridCol>
                    <a:gridCol w="2591878">
                      <a:extLst>
                        <a:ext uri="{9D8B030D-6E8A-4147-A177-3AD203B41FA5}">
                          <a16:colId xmlns:a16="http://schemas.microsoft.com/office/drawing/2014/main" val="963935859"/>
                        </a:ext>
                      </a:extLst>
                    </a:gridCol>
                    <a:gridCol w="2591878">
                      <a:extLst>
                        <a:ext uri="{9D8B030D-6E8A-4147-A177-3AD203B41FA5}">
                          <a16:colId xmlns:a16="http://schemas.microsoft.com/office/drawing/2014/main" val="555467092"/>
                        </a:ext>
                      </a:extLst>
                    </a:gridCol>
                  </a:tblGrid>
                  <a:tr h="1415388">
                    <a:tc>
                      <a:txBody>
                        <a:bodyPr/>
                        <a:lstStyle/>
                        <a:p>
                          <a:pPr marL="0" marR="0" algn="ctr">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State</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Population as a Portion of the U.S. Population</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(decimal form)</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Population as a Percentage of the U.S. Population</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(percent form)</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05899899"/>
                      </a:ext>
                    </a:extLst>
                  </a:tr>
                  <a:tr h="494665">
                    <a:tc>
                      <a:txBody>
                        <a:bodyPr/>
                        <a:lstStyle/>
                        <a:p>
                          <a:pPr marL="0" marR="0" algn="ctr">
                            <a:lnSpc>
                              <a:spcPct val="107000"/>
                            </a:lnSpc>
                            <a:spcBef>
                              <a:spcPts val="0"/>
                            </a:spcBef>
                            <a:spcAft>
                              <a:spcPts val="800"/>
                            </a:spcAft>
                          </a:pPr>
                          <a:r>
                            <a:rPr lang="en-US" sz="1800">
                              <a:effectLst/>
                              <a:latin typeface="Verdana" panose="020B0604030504040204" pitchFamily="34" charset="0"/>
                              <a:ea typeface="Verdana" panose="020B0604030504040204" pitchFamily="34" charset="0"/>
                              <a:cs typeface="Verdana" panose="020B0604030504040204" pitchFamily="34" charset="0"/>
                            </a:rPr>
                            <a:t>California</a:t>
                          </a:r>
                          <a:endParaRPr lang="en-US"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9512" t="-289744" r="-100000" b="-305128"/>
                          </a:stretch>
                        </a:blipFill>
                      </a:tcPr>
                    </a:tc>
                    <a:tc>
                      <a:txBody>
                        <a:bodyPr/>
                        <a:lstStyle/>
                        <a:p>
                          <a:pPr marL="0" marR="0" algn="ctr">
                            <a:lnSpc>
                              <a:spcPct val="107000"/>
                            </a:lnSpc>
                            <a:spcBef>
                              <a:spcPts val="0"/>
                            </a:spcBef>
                            <a:spcAft>
                              <a:spcPts val="8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5565344"/>
                      </a:ext>
                    </a:extLst>
                  </a:tr>
                  <a:tr h="494665">
                    <a:tc>
                      <a:txBody>
                        <a:bodyPr/>
                        <a:lstStyle/>
                        <a:p>
                          <a:pPr marL="0" marR="0" algn="ctr">
                            <a:lnSpc>
                              <a:spcPct val="107000"/>
                            </a:lnSpc>
                            <a:spcBef>
                              <a:spcPts val="0"/>
                            </a:spcBef>
                            <a:spcAft>
                              <a:spcPts val="800"/>
                            </a:spcAft>
                          </a:pPr>
                          <a:r>
                            <a:rPr lang="en-US" sz="1800">
                              <a:effectLst/>
                              <a:latin typeface="Verdana" panose="020B0604030504040204" pitchFamily="34" charset="0"/>
                              <a:ea typeface="Verdana" panose="020B0604030504040204" pitchFamily="34" charset="0"/>
                              <a:cs typeface="Verdana" panose="020B0604030504040204" pitchFamily="34" charset="0"/>
                            </a:rPr>
                            <a:t>Florida</a:t>
                          </a:r>
                          <a:endParaRPr lang="en-US"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0294" t="-389744" r="-490" b="-205128"/>
                          </a:stretch>
                        </a:blipFill>
                      </a:tcPr>
                    </a:tc>
                    <a:extLst>
                      <a:ext uri="{0D108BD9-81ED-4DB2-BD59-A6C34878D82A}">
                        <a16:rowId xmlns:a16="http://schemas.microsoft.com/office/drawing/2014/main" val="3121286238"/>
                      </a:ext>
                    </a:extLst>
                  </a:tr>
                  <a:tr h="494665">
                    <a:tc>
                      <a:txBody>
                        <a:bodyPr/>
                        <a:lstStyle/>
                        <a:p>
                          <a:pPr marL="0" marR="0" algn="ctr">
                            <a:lnSpc>
                              <a:spcPct val="107000"/>
                            </a:lnSpc>
                            <a:spcBef>
                              <a:spcPts val="0"/>
                            </a:spcBef>
                            <a:spcAft>
                              <a:spcPts val="800"/>
                            </a:spcAft>
                          </a:pPr>
                          <a:r>
                            <a:rPr lang="en-US" sz="1800">
                              <a:effectLst/>
                              <a:latin typeface="Verdana" panose="020B0604030504040204" pitchFamily="34" charset="0"/>
                              <a:ea typeface="Verdana" panose="020B0604030504040204" pitchFamily="34" charset="0"/>
                              <a:cs typeface="Verdana" panose="020B0604030504040204" pitchFamily="34" charset="0"/>
                            </a:rPr>
                            <a:t>New York</a:t>
                          </a:r>
                          <a:endParaRPr lang="en-US"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0294" t="-489744" r="-490" b="-105128"/>
                          </a:stretch>
                        </a:blipFill>
                      </a:tcPr>
                    </a:tc>
                    <a:extLst>
                      <a:ext uri="{0D108BD9-81ED-4DB2-BD59-A6C34878D82A}">
                        <a16:rowId xmlns:a16="http://schemas.microsoft.com/office/drawing/2014/main" val="2398641348"/>
                      </a:ext>
                    </a:extLst>
                  </a:tr>
                  <a:tr h="494665">
                    <a:tc>
                      <a:txBody>
                        <a:bodyPr/>
                        <a:lstStyle/>
                        <a:p>
                          <a:pPr marL="0" marR="0" algn="ctr">
                            <a:lnSpc>
                              <a:spcPct val="107000"/>
                            </a:lnSpc>
                            <a:spcBef>
                              <a:spcPts val="0"/>
                            </a:spcBef>
                            <a:spcAft>
                              <a:spcPts val="800"/>
                            </a:spcAft>
                          </a:pPr>
                          <a:r>
                            <a:rPr lang="en-US" sz="1800">
                              <a:effectLst/>
                              <a:latin typeface="Verdana" panose="020B0604030504040204" pitchFamily="34" charset="0"/>
                              <a:ea typeface="Verdana" panose="020B0604030504040204" pitchFamily="34" charset="0"/>
                              <a:cs typeface="Verdana" panose="020B0604030504040204" pitchFamily="34" charset="0"/>
                            </a:rPr>
                            <a:t>Texas</a:t>
                          </a:r>
                          <a:endParaRPr lang="en-US"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9512" t="-589744" r="-100000" b="-5128"/>
                          </a:stretch>
                        </a:blipFill>
                      </a:tcPr>
                    </a:tc>
                    <a:tc>
                      <a:txBody>
                        <a:bodyPr/>
                        <a:lstStyle/>
                        <a:p>
                          <a:pPr marL="0" marR="0" algn="ctr">
                            <a:lnSpc>
                              <a:spcPct val="107000"/>
                            </a:lnSpc>
                            <a:spcBef>
                              <a:spcPts val="0"/>
                            </a:spcBef>
                            <a:spcAft>
                              <a:spcPts val="8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0186489"/>
                      </a:ext>
                    </a:extLst>
                  </a:tr>
                </a:tbl>
              </a:graphicData>
            </a:graphic>
          </p:graphicFrame>
        </mc:Fallback>
      </mc:AlternateContent>
      <p:sp>
        <p:nvSpPr>
          <p:cNvPr id="8"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89</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79014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8AE5E1E0-A54D-BE42-84B5-F917038ADE99}"/>
              </a:ext>
            </a:extLst>
          </p:cNvPr>
          <p:cNvSpPr txBox="1"/>
          <p:nvPr/>
        </p:nvSpPr>
        <p:spPr>
          <a:xfrm>
            <a:off x="1193800" y="288745"/>
            <a:ext cx="9804400" cy="2308324"/>
          </a:xfrm>
          <a:prstGeom prst="rect">
            <a:avLst/>
          </a:prstGeom>
          <a:noFill/>
        </p:spPr>
        <p:txBody>
          <a:bodyPr wrap="square" rtlCol="0">
            <a:spAutoFit/>
          </a:bodyPr>
          <a:lstStyle/>
          <a:p>
            <a:pPr marL="922337"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Choose two states to compare. Write or describe your comparison.</a:t>
            </a:r>
          </a:p>
          <a:p>
            <a:pPr marL="457200" lvl="4" indent="-449263">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D132551E-02DD-6A43-9F52-A70D434DE09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89</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73249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901700" y="288745"/>
                <a:ext cx="10388600" cy="4352217"/>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Olivia and Anthony’s strategies for comparing California and New York are explained below.</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i="1" dirty="0">
                    <a:latin typeface="Verdana" panose="020B0604030504040204" pitchFamily="34" charset="0"/>
                    <a:ea typeface="Verdana" panose="020B0604030504040204" pitchFamily="34" charset="0"/>
                    <a:cs typeface="Verdana" panose="020B0604030504040204" pitchFamily="34" charset="0"/>
                  </a:rPr>
                  <a:t>Olivia explained, “I know that percent represents the part per 100, so the population of New York is approximately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6</m:t>
                        </m:r>
                      </m:num>
                      <m:den>
                        <m:r>
                          <a:rPr lang="en-US" sz="2000" i="1">
                            <a:latin typeface="Cambria Math" panose="02040503050406030204" pitchFamily="18" charset="0"/>
                          </a:rPr>
                          <m:t>100</m:t>
                        </m:r>
                      </m:den>
                    </m:f>
                  </m:oMath>
                </a14:m>
                <a:r>
                  <a:rPr lang="en-US" sz="2000" i="1" dirty="0">
                    <a:latin typeface="Verdana" panose="020B0604030504040204" pitchFamily="34" charset="0"/>
                    <a:ea typeface="Verdana" panose="020B0604030504040204" pitchFamily="34" charset="0"/>
                    <a:cs typeface="Verdana" panose="020B0604030504040204" pitchFamily="34" charset="0"/>
                  </a:rPr>
                  <a:t> of the population of the U.S. The portion of the U.S. population living in California is approximately </a:t>
                </a:r>
                <a14:m>
                  <m:oMath xmlns:m="http://schemas.openxmlformats.org/officeDocument/2006/math">
                    <m:r>
                      <a:rPr lang="en-US" sz="2000" i="1">
                        <a:latin typeface="Cambria Math" panose="02040503050406030204" pitchFamily="18" charset="0"/>
                      </a:rPr>
                      <m:t>12</m:t>
                    </m:r>
                  </m:oMath>
                </a14:m>
                <a:r>
                  <a:rPr lang="en-US" sz="2000" i="1" dirty="0">
                    <a:latin typeface="Verdana" panose="020B0604030504040204" pitchFamily="34" charset="0"/>
                    <a:ea typeface="Verdana" panose="020B0604030504040204" pitchFamily="34" charset="0"/>
                    <a:cs typeface="Verdana" panose="020B0604030504040204" pitchFamily="34" charset="0"/>
                  </a:rPr>
                  <a:t> hundredths, or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12</m:t>
                        </m:r>
                      </m:num>
                      <m:den>
                        <m:r>
                          <a:rPr lang="en-US" sz="2000" i="1">
                            <a:latin typeface="Cambria Math" panose="02040503050406030204" pitchFamily="18" charset="0"/>
                          </a:rPr>
                          <m:t>100</m:t>
                        </m:r>
                      </m:den>
                    </m:f>
                  </m:oMath>
                </a14:m>
                <a:r>
                  <a:rPr lang="en-US" sz="2000" i="1" dirty="0">
                    <a:latin typeface="Verdana" panose="020B0604030504040204" pitchFamily="34" charset="0"/>
                    <a:ea typeface="Verdana" panose="020B0604030504040204" pitchFamily="34" charset="0"/>
                    <a:cs typeface="Verdana" panose="020B0604030504040204" pitchFamily="34" charset="0"/>
                  </a:rPr>
                  <a:t>. Therefore, more people live in California than in New York.”</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i="1" dirty="0">
                    <a:latin typeface="Verdana" panose="020B0604030504040204" pitchFamily="34" charset="0"/>
                    <a:ea typeface="Verdana" panose="020B0604030504040204" pitchFamily="34" charset="0"/>
                    <a:cs typeface="Verdana" panose="020B0604030504040204" pitchFamily="34" charset="0"/>
                  </a:rPr>
                  <a:t>Anthony explained, “I can convert </a:t>
                </a:r>
                <a14:m>
                  <m:oMath xmlns:m="http://schemas.openxmlformats.org/officeDocument/2006/math">
                    <m:r>
                      <a:rPr lang="en-US" sz="2000" i="1">
                        <a:latin typeface="Cambria Math" panose="02040503050406030204" pitchFamily="18" charset="0"/>
                      </a:rPr>
                      <m:t>5.9%</m:t>
                    </m:r>
                  </m:oMath>
                </a14:m>
                <a:r>
                  <a:rPr lang="en-US" sz="2000" i="1" dirty="0">
                    <a:latin typeface="Verdana" panose="020B0604030504040204" pitchFamily="34" charset="0"/>
                    <a:ea typeface="Verdana" panose="020B0604030504040204" pitchFamily="34" charset="0"/>
                    <a:cs typeface="Verdana" panose="020B0604030504040204" pitchFamily="34" charset="0"/>
                  </a:rPr>
                  <a:t> to a decimal by dividing </a:t>
                </a:r>
                <a14:m>
                  <m:oMath xmlns:m="http://schemas.openxmlformats.org/officeDocument/2006/math">
                    <m:r>
                      <a:rPr lang="en-US" sz="2000" i="1">
                        <a:latin typeface="Cambria Math" panose="02040503050406030204" pitchFamily="18" charset="0"/>
                      </a:rPr>
                      <m:t>5.9</m:t>
                    </m:r>
                  </m:oMath>
                </a14:m>
                <a:r>
                  <a:rPr lang="en-US" sz="2000" i="1" dirty="0">
                    <a:latin typeface="Verdana" panose="020B0604030504040204" pitchFamily="34" charset="0"/>
                    <a:ea typeface="Verdana" panose="020B0604030504040204" pitchFamily="34" charset="0"/>
                    <a:cs typeface="Verdana" panose="020B0604030504040204" pitchFamily="34" charset="0"/>
                  </a:rPr>
                  <a:t> by </a:t>
                </a:r>
                <a14:m>
                  <m:oMath xmlns:m="http://schemas.openxmlformats.org/officeDocument/2006/math">
                    <m:r>
                      <a:rPr lang="en-US" sz="2000" i="1">
                        <a:latin typeface="Cambria Math" panose="02040503050406030204" pitchFamily="18" charset="0"/>
                      </a:rPr>
                      <m:t>100</m:t>
                    </m:r>
                  </m:oMath>
                </a14:m>
                <a:r>
                  <a:rPr lang="en-US" sz="2000" i="1" dirty="0">
                    <a:latin typeface="Verdana" panose="020B0604030504040204" pitchFamily="34" charset="0"/>
                    <a:ea typeface="Verdana" panose="020B0604030504040204" pitchFamily="34" charset="0"/>
                    <a:cs typeface="Verdana" panose="020B0604030504040204" pitchFamily="34" charset="0"/>
                  </a:rPr>
                  <a:t>. So </a:t>
                </a:r>
                <a14:m>
                  <m:oMath xmlns:m="http://schemas.openxmlformats.org/officeDocument/2006/math">
                    <m:r>
                      <a:rPr lang="en-US" sz="2000" i="1">
                        <a:latin typeface="Cambria Math" panose="02040503050406030204" pitchFamily="18" charset="0"/>
                      </a:rPr>
                      <m:t>5.9%</m:t>
                    </m:r>
                  </m:oMath>
                </a14:m>
                <a:r>
                  <a:rPr lang="en-US" sz="2000" i="1" dirty="0">
                    <a:latin typeface="Verdana" panose="020B0604030504040204" pitchFamily="34" charset="0"/>
                    <a:ea typeface="Verdana" panose="020B0604030504040204" pitchFamily="34" charset="0"/>
                    <a:cs typeface="Verdana" panose="020B0604030504040204" pitchFamily="34" charset="0"/>
                  </a:rPr>
                  <a:t> can also be represented by </a:t>
                </a:r>
                <a14:m>
                  <m:oMath xmlns:m="http://schemas.openxmlformats.org/officeDocument/2006/math">
                    <m:r>
                      <a:rPr lang="en-US" sz="2000" i="1">
                        <a:latin typeface="Cambria Math" panose="02040503050406030204" pitchFamily="18" charset="0"/>
                      </a:rPr>
                      <m:t>0.059</m:t>
                    </m:r>
                  </m:oMath>
                </a14:m>
                <a:r>
                  <a:rPr lang="en-US" sz="2000" i="1" dirty="0">
                    <a:latin typeface="Verdana" panose="020B0604030504040204" pitchFamily="34" charset="0"/>
                    <a:ea typeface="Verdana" panose="020B0604030504040204" pitchFamily="34" charset="0"/>
                    <a:cs typeface="Verdana" panose="020B0604030504040204" pitchFamily="34" charset="0"/>
                  </a:rPr>
                  <a:t>. I know </a:t>
                </a:r>
                <a14:m>
                  <m:oMath xmlns:m="http://schemas.openxmlformats.org/officeDocument/2006/math">
                    <m:r>
                      <a:rPr lang="en-US" sz="2000" i="1">
                        <a:latin typeface="Cambria Math" panose="02040503050406030204" pitchFamily="18" charset="0"/>
                      </a:rPr>
                      <m:t>0.119</m:t>
                    </m:r>
                  </m:oMath>
                </a14:m>
                <a:r>
                  <a:rPr lang="en-US" sz="2000" i="1" dirty="0">
                    <a:latin typeface="Verdana" panose="020B0604030504040204" pitchFamily="34" charset="0"/>
                    <a:ea typeface="Verdana" panose="020B0604030504040204" pitchFamily="34" charset="0"/>
                    <a:cs typeface="Verdana" panose="020B0604030504040204" pitchFamily="34" charset="0"/>
                  </a:rPr>
                  <a:t> is greater than </a:t>
                </a:r>
                <a14:m>
                  <m:oMath xmlns:m="http://schemas.openxmlformats.org/officeDocument/2006/math">
                    <m:r>
                      <a:rPr lang="en-US" sz="2000" i="1">
                        <a:latin typeface="Cambria Math" panose="02040503050406030204" pitchFamily="18" charset="0"/>
                      </a:rPr>
                      <m:t>0.059</m:t>
                    </m:r>
                  </m:oMath>
                </a14:m>
                <a:r>
                  <a:rPr lang="en-US" sz="2000" i="1" dirty="0">
                    <a:latin typeface="Verdana" panose="020B0604030504040204" pitchFamily="34" charset="0"/>
                    <a:ea typeface="Verdana" panose="020B0604030504040204" pitchFamily="34" charset="0"/>
                    <a:cs typeface="Verdana" panose="020B0604030504040204" pitchFamily="34" charset="0"/>
                  </a:rPr>
                  <a:t>. Therefore, more people live in California than in New York.”</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901700" y="288745"/>
                <a:ext cx="10388600" cy="4352217"/>
              </a:xfrm>
              <a:prstGeom prst="rect">
                <a:avLst/>
              </a:prstGeom>
              <a:blipFill rotWithShape="0">
                <a:blip r:embed="rId3"/>
                <a:stretch>
                  <a:fillRect t="-840" b="-1541"/>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132551E-02DD-6A43-9F52-A70D434DE09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46398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8AE5E1E0-A54D-BE42-84B5-F917038ADE99}"/>
              </a:ext>
            </a:extLst>
          </p:cNvPr>
          <p:cNvSpPr txBox="1"/>
          <p:nvPr/>
        </p:nvSpPr>
        <p:spPr>
          <a:xfrm>
            <a:off x="876300" y="288745"/>
            <a:ext cx="10439400" cy="1446550"/>
          </a:xfrm>
          <a:prstGeom prst="rect">
            <a:avLst/>
          </a:prstGeom>
          <a:noFill/>
        </p:spPr>
        <p:txBody>
          <a:bodyPr wrap="square" rtlCol="0">
            <a:spAutoFit/>
          </a:bodyPr>
          <a:lstStyle/>
          <a:p>
            <a:pPr marL="914400"/>
            <a:r>
              <a:rPr lang="en-US" sz="2400" dirty="0">
                <a:latin typeface="Verdana" panose="020B0604030504040204" pitchFamily="34" charset="0"/>
                <a:ea typeface="Verdana" panose="020B0604030504040204" pitchFamily="34" charset="0"/>
                <a:cs typeface="Verdana" panose="020B0604030504040204" pitchFamily="34" charset="0"/>
              </a:rPr>
              <a:t>Olivia and Anthony both used different methods to come to the same conclusion. Discuss their methods with a partner. </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6" name="Google Shape;278;g104476d1465_1_17">
            <a:extLst>
              <a:ext uri="{FF2B5EF4-FFF2-40B4-BE49-F238E27FC236}">
                <a16:creationId xmlns:a16="http://schemas.microsoft.com/office/drawing/2014/main" id="{D132551E-02DD-6A43-9F52-A70D434DE09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id="{C5CB75C6-B54B-6845-8A40-4EFB4F7A581E}"/>
              </a:ext>
            </a:extLst>
          </p:cNvPr>
          <p:cNvGraphicFramePr>
            <a:graphicFrameLocks noGrp="1"/>
          </p:cNvGraphicFramePr>
          <p:nvPr>
            <p:extLst>
              <p:ext uri="{D42A27DB-BD31-4B8C-83A1-F6EECF244321}">
                <p14:modId xmlns:p14="http://schemas.microsoft.com/office/powerpoint/2010/main" val="2080661047"/>
              </p:ext>
            </p:extLst>
          </p:nvPr>
        </p:nvGraphicFramePr>
        <p:xfrm>
          <a:off x="2911374" y="1825063"/>
          <a:ext cx="6369253" cy="4401058"/>
        </p:xfrm>
        <a:graphic>
          <a:graphicData uri="http://schemas.openxmlformats.org/drawingml/2006/table">
            <a:tbl>
              <a:tblPr bandRow="1">
                <a:tableStyleId>{A91F0D33-8C57-4600-99A7-42BC86742BE1}</a:tableStyleId>
              </a:tblPr>
              <a:tblGrid>
                <a:gridCol w="3063691">
                  <a:extLst>
                    <a:ext uri="{9D8B030D-6E8A-4147-A177-3AD203B41FA5}">
                      <a16:colId xmlns:a16="http://schemas.microsoft.com/office/drawing/2014/main" val="4239837852"/>
                    </a:ext>
                  </a:extLst>
                </a:gridCol>
                <a:gridCol w="3305562">
                  <a:extLst>
                    <a:ext uri="{9D8B030D-6E8A-4147-A177-3AD203B41FA5}">
                      <a16:colId xmlns:a16="http://schemas.microsoft.com/office/drawing/2014/main" val="2524804915"/>
                    </a:ext>
                  </a:extLst>
                </a:gridCol>
              </a:tblGrid>
              <a:tr h="311359">
                <a:tc>
                  <a:txBody>
                    <a:bodyPr/>
                    <a:lstStyle/>
                    <a:p>
                      <a:pPr marL="0" marR="0" algn="ctr">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Olivia’s Method</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4499" marR="644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Anthony’s Method</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4499" marR="644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707629749"/>
                  </a:ext>
                </a:extLst>
              </a:tr>
              <a:tr h="4089699">
                <a:tc>
                  <a:txBody>
                    <a:bodyPr/>
                    <a:lstStyle/>
                    <a:p>
                      <a:pPr marL="0" marR="0">
                        <a:lnSpc>
                          <a:spcPct val="107000"/>
                        </a:lnSpc>
                        <a:spcBef>
                          <a:spcPts val="0"/>
                        </a:spcBef>
                        <a:spcAft>
                          <a:spcPts val="800"/>
                        </a:spcAft>
                      </a:pPr>
                      <a:r>
                        <a:rPr lang="en-US" sz="1700" dirty="0">
                          <a:effectLst/>
                        </a:rPr>
                        <a:t> </a:t>
                      </a:r>
                      <a:endParaRPr lang="en-US" sz="1500" dirty="0">
                        <a:effectLst/>
                      </a:endParaRPr>
                    </a:p>
                    <a:p>
                      <a:pPr marL="0" marR="0">
                        <a:lnSpc>
                          <a:spcPct val="107000"/>
                        </a:lnSpc>
                        <a:spcBef>
                          <a:spcPts val="0"/>
                        </a:spcBef>
                        <a:spcAft>
                          <a:spcPts val="800"/>
                        </a:spcAft>
                      </a:pPr>
                      <a:r>
                        <a:rPr lang="en-US" sz="1700" dirty="0">
                          <a:effectLst/>
                        </a:rPr>
                        <a:t> </a:t>
                      </a:r>
                      <a:endParaRPr lang="en-US" sz="1500" dirty="0">
                        <a:effectLst/>
                      </a:endParaRPr>
                    </a:p>
                    <a:p>
                      <a:pPr marL="0" marR="0">
                        <a:lnSpc>
                          <a:spcPct val="107000"/>
                        </a:lnSpc>
                        <a:spcBef>
                          <a:spcPts val="0"/>
                        </a:spcBef>
                        <a:spcAft>
                          <a:spcPts val="800"/>
                        </a:spcAft>
                      </a:pPr>
                      <a:r>
                        <a:rPr lang="en-US" sz="1700" dirty="0">
                          <a:effectLst/>
                        </a:rPr>
                        <a:t> </a:t>
                      </a:r>
                      <a:endParaRPr lang="en-US" sz="1500" dirty="0">
                        <a:effectLst/>
                      </a:endParaRPr>
                    </a:p>
                    <a:p>
                      <a:pPr marL="0" marR="0">
                        <a:lnSpc>
                          <a:spcPct val="107000"/>
                        </a:lnSpc>
                        <a:spcBef>
                          <a:spcPts val="0"/>
                        </a:spcBef>
                        <a:spcAft>
                          <a:spcPts val="800"/>
                        </a:spcAft>
                      </a:pPr>
                      <a:r>
                        <a:rPr lang="en-US" sz="1700" dirty="0">
                          <a:effectLst/>
                        </a:rPr>
                        <a:t> </a:t>
                      </a:r>
                      <a:endParaRPr lang="en-US" sz="1500" dirty="0">
                        <a:effectLst/>
                      </a:endParaRPr>
                    </a:p>
                    <a:p>
                      <a:pPr marL="0" marR="0">
                        <a:lnSpc>
                          <a:spcPct val="107000"/>
                        </a:lnSpc>
                        <a:spcBef>
                          <a:spcPts val="0"/>
                        </a:spcBef>
                        <a:spcAft>
                          <a:spcPts val="800"/>
                        </a:spcAft>
                      </a:pPr>
                      <a:r>
                        <a:rPr lang="en-US" sz="1700" dirty="0">
                          <a:effectLst/>
                        </a:rPr>
                        <a:t> </a:t>
                      </a:r>
                      <a:endParaRPr lang="en-US" sz="15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4499" marR="6449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700" dirty="0">
                          <a:effectLst/>
                        </a:rPr>
                        <a:t> </a:t>
                      </a:r>
                      <a:endParaRPr lang="en-US" sz="15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4499" marR="6449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0239038"/>
                  </a:ext>
                </a:extLst>
              </a:tr>
            </a:tbl>
          </a:graphicData>
        </a:graphic>
      </p:graphicFrame>
      <p:sp>
        <p:nvSpPr>
          <p:cNvPr id="8"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89</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22837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8AE5E1E0-A54D-BE42-84B5-F917038ADE99}"/>
              </a:ext>
            </a:extLst>
          </p:cNvPr>
          <p:cNvSpPr txBox="1"/>
          <p:nvPr/>
        </p:nvSpPr>
        <p:spPr>
          <a:xfrm>
            <a:off x="774700" y="288746"/>
            <a:ext cx="10642600" cy="4893647"/>
          </a:xfrm>
          <a:prstGeom prst="rect">
            <a:avLst/>
          </a:prstGeom>
          <a:noFill/>
        </p:spPr>
        <p:txBody>
          <a:bodyPr wrap="square" rtlCol="0">
            <a:spAutoFit/>
          </a:bodyPr>
          <a:lstStyle/>
          <a:p>
            <a:pPr marL="914400" indent="-44926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Complete each inequality statement below to compare the given values.</a:t>
            </a: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In which of the four states does the highest portion of the U.S. population live?</a:t>
            </a:r>
          </a:p>
          <a:p>
            <a:pPr marL="914400" indent="-44926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In which of the four states does the smallest portion of the U.S. population live?</a:t>
            </a: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D132551E-02DD-6A43-9F52-A70D434DE09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B66C38C-5566-B847-BBEA-8EB3A24E295A}"/>
                  </a:ext>
                </a:extLst>
              </p:cNvPr>
              <p:cNvGraphicFramePr>
                <a:graphicFrameLocks noGrp="1"/>
              </p:cNvGraphicFramePr>
              <p:nvPr>
                <p:extLst>
                  <p:ext uri="{D42A27DB-BD31-4B8C-83A1-F6EECF244321}">
                    <p14:modId xmlns:p14="http://schemas.microsoft.com/office/powerpoint/2010/main" val="3171063821"/>
                  </p:ext>
                </p:extLst>
              </p:nvPr>
            </p:nvGraphicFramePr>
            <p:xfrm>
              <a:off x="2976699" y="1362098"/>
              <a:ext cx="6743700" cy="384175"/>
            </p:xfrm>
            <a:graphic>
              <a:graphicData uri="http://schemas.openxmlformats.org/drawingml/2006/table">
                <a:tbl>
                  <a:tblPr bandRow="1">
                    <a:tableStyleId>{A91F0D33-8C57-4600-99A7-42BC86742BE1}</a:tableStyleId>
                  </a:tblPr>
                  <a:tblGrid>
                    <a:gridCol w="2341827">
                      <a:extLst>
                        <a:ext uri="{9D8B030D-6E8A-4147-A177-3AD203B41FA5}">
                          <a16:colId xmlns:a16="http://schemas.microsoft.com/office/drawing/2014/main" val="4115926335"/>
                        </a:ext>
                      </a:extLst>
                    </a:gridCol>
                    <a:gridCol w="2227591">
                      <a:extLst>
                        <a:ext uri="{9D8B030D-6E8A-4147-A177-3AD203B41FA5}">
                          <a16:colId xmlns:a16="http://schemas.microsoft.com/office/drawing/2014/main" val="2134626180"/>
                        </a:ext>
                      </a:extLst>
                    </a:gridCol>
                    <a:gridCol w="2174282">
                      <a:extLst>
                        <a:ext uri="{9D8B030D-6E8A-4147-A177-3AD203B41FA5}">
                          <a16:colId xmlns:a16="http://schemas.microsoft.com/office/drawing/2014/main" val="3109578392"/>
                        </a:ext>
                      </a:extLst>
                    </a:gridCol>
                  </a:tblGrid>
                  <a:tr h="384175">
                    <a:tc>
                      <a:txBody>
                        <a:bodyPr/>
                        <a:lstStyle/>
                        <a:p>
                          <a:pPr marL="501015" marR="0" indent="-457200">
                            <a:lnSpc>
                              <a:spcPct val="107000"/>
                            </a:lnSpc>
                            <a:spcBef>
                              <a:spcPts val="0"/>
                            </a:spcBef>
                            <a:spcAft>
                              <a:spcPts val="800"/>
                            </a:spcAft>
                          </a:pPr>
                          <a14:m>
                            <m:oMath xmlns:m="http://schemas.openxmlformats.org/officeDocument/2006/math">
                              <m:r>
                                <a:rPr lang="en-US" sz="2000">
                                  <a:effectLst/>
                                  <a:latin typeface="Cambria Math" panose="02040503050406030204" pitchFamily="18" charset="0"/>
                                </a:rPr>
                                <m:t>0.119</m:t>
                              </m:r>
                            </m:oMath>
                          </a14:m>
                          <a:r>
                            <a:rPr lang="en-US" sz="2000" dirty="0">
                              <a:effectLst/>
                            </a:rPr>
                            <a:t> ___ </a:t>
                          </a:r>
                          <a14:m>
                            <m:oMath xmlns:m="http://schemas.openxmlformats.org/officeDocument/2006/math">
                              <m:r>
                                <a:rPr lang="en-US" sz="2000">
                                  <a:effectLst/>
                                  <a:latin typeface="Cambria Math" panose="02040503050406030204" pitchFamily="18" charset="0"/>
                                </a:rPr>
                                <m:t>6.4%</m:t>
                              </m:r>
                            </m:oMath>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389255" marR="0" indent="-457200">
                            <a:lnSpc>
                              <a:spcPct val="107000"/>
                            </a:lnSpc>
                            <a:spcBef>
                              <a:spcPts val="0"/>
                            </a:spcBef>
                            <a:spcAft>
                              <a:spcPts val="800"/>
                            </a:spcAft>
                          </a:pPr>
                          <a14:m>
                            <m:oMath xmlns:m="http://schemas.openxmlformats.org/officeDocument/2006/math">
                              <m:r>
                                <a:rPr lang="en-US" sz="2000">
                                  <a:effectLst/>
                                  <a:latin typeface="Cambria Math" panose="02040503050406030204" pitchFamily="18" charset="0"/>
                                </a:rPr>
                                <m:t>6.4%</m:t>
                              </m:r>
                            </m:oMath>
                          </a14:m>
                          <a:r>
                            <a:rPr lang="en-US" sz="2000">
                              <a:effectLst/>
                            </a:rPr>
                            <a:t> ___ </a:t>
                          </a:r>
                          <a14:m>
                            <m:oMath xmlns:m="http://schemas.openxmlformats.org/officeDocument/2006/math">
                              <m:r>
                                <a:rPr lang="en-US" sz="2000">
                                  <a:effectLst/>
                                  <a:latin typeface="Cambria Math" panose="02040503050406030204" pitchFamily="18" charset="0"/>
                                </a:rPr>
                                <m:t>0.087</m:t>
                              </m:r>
                            </m:oMath>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443865" marR="0" indent="-457200">
                            <a:lnSpc>
                              <a:spcPct val="107000"/>
                            </a:lnSpc>
                            <a:spcBef>
                              <a:spcPts val="0"/>
                            </a:spcBef>
                            <a:spcAft>
                              <a:spcPts val="800"/>
                            </a:spcAft>
                          </a:pPr>
                          <a14:m>
                            <m:oMath xmlns:m="http://schemas.openxmlformats.org/officeDocument/2006/math">
                              <m:r>
                                <a:rPr lang="en-US" sz="2000">
                                  <a:effectLst/>
                                  <a:latin typeface="Cambria Math" panose="02040503050406030204" pitchFamily="18" charset="0"/>
                                </a:rPr>
                                <m:t>0.087</m:t>
                              </m:r>
                            </m:oMath>
                          </a14:m>
                          <a:r>
                            <a:rPr lang="en-US" sz="2000" dirty="0">
                              <a:effectLst/>
                            </a:rPr>
                            <a:t> ___ </a:t>
                          </a:r>
                          <a14:m>
                            <m:oMath xmlns:m="http://schemas.openxmlformats.org/officeDocument/2006/math">
                              <m:r>
                                <a:rPr lang="en-US" sz="2000">
                                  <a:effectLst/>
                                  <a:latin typeface="Cambria Math" panose="02040503050406030204" pitchFamily="18" charset="0"/>
                                </a:rPr>
                                <m:t>5.9%</m:t>
                              </m:r>
                            </m:oMath>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784206263"/>
                      </a:ext>
                    </a:extLst>
                  </a:tr>
                </a:tbl>
              </a:graphicData>
            </a:graphic>
          </p:graphicFrame>
        </mc:Choice>
        <mc:Fallback xmlns="">
          <p:graphicFrame>
            <p:nvGraphicFramePr>
              <p:cNvPr id="4" name="Table 3">
                <a:extLst>
                  <a:ext uri="{FF2B5EF4-FFF2-40B4-BE49-F238E27FC236}">
                    <a16:creationId xmlns:a16="http://schemas.microsoft.com/office/drawing/2014/main" id="{CB66C38C-5566-B847-BBEA-8EB3A24E295A}"/>
                  </a:ext>
                </a:extLst>
              </p:cNvPr>
              <p:cNvGraphicFramePr>
                <a:graphicFrameLocks noGrp="1"/>
              </p:cNvGraphicFramePr>
              <p:nvPr>
                <p:extLst>
                  <p:ext uri="{D42A27DB-BD31-4B8C-83A1-F6EECF244321}">
                    <p14:modId xmlns:p14="http://schemas.microsoft.com/office/powerpoint/2010/main" val="3171063821"/>
                  </p:ext>
                </p:extLst>
              </p:nvPr>
            </p:nvGraphicFramePr>
            <p:xfrm>
              <a:off x="1452699" y="1362097"/>
              <a:ext cx="6743700" cy="384175"/>
            </p:xfrm>
            <a:graphic>
              <a:graphicData uri="http://schemas.openxmlformats.org/drawingml/2006/table">
                <a:tbl>
                  <a:tblPr bandRow="1">
                    <a:tableStyleId>{A91F0D33-8C57-4600-99A7-42BC86742BE1}</a:tableStyleId>
                  </a:tblPr>
                  <a:tblGrid>
                    <a:gridCol w="2341827">
                      <a:extLst>
                        <a:ext uri="{9D8B030D-6E8A-4147-A177-3AD203B41FA5}">
                          <a16:colId xmlns:a16="http://schemas.microsoft.com/office/drawing/2014/main" val="4115926335"/>
                        </a:ext>
                      </a:extLst>
                    </a:gridCol>
                    <a:gridCol w="2227591">
                      <a:extLst>
                        <a:ext uri="{9D8B030D-6E8A-4147-A177-3AD203B41FA5}">
                          <a16:colId xmlns:a16="http://schemas.microsoft.com/office/drawing/2014/main" val="2134626180"/>
                        </a:ext>
                      </a:extLst>
                    </a:gridCol>
                    <a:gridCol w="2174282">
                      <a:extLst>
                        <a:ext uri="{9D8B030D-6E8A-4147-A177-3AD203B41FA5}">
                          <a16:colId xmlns:a16="http://schemas.microsoft.com/office/drawing/2014/main" val="3109578392"/>
                        </a:ext>
                      </a:extLst>
                    </a:gridCol>
                  </a:tblGrid>
                  <a:tr h="384175">
                    <a:tc>
                      <a:txBody>
                        <a:bodyPr/>
                        <a:lstStyle/>
                        <a:p>
                          <a:endParaRPr lang="en-US"/>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9375" r="-188281" b="-29688"/>
                          </a:stretch>
                        </a:blipFill>
                      </a:tcPr>
                    </a:tc>
                    <a:tc>
                      <a:txBody>
                        <a:bodyPr/>
                        <a:lstStyle/>
                        <a:p>
                          <a:endParaRPr lang="en-US"/>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4918" t="-9375" r="-97541" b="-29688"/>
                          </a:stretch>
                        </a:blipFill>
                      </a:tcPr>
                    </a:tc>
                    <a:tc>
                      <a:txBody>
                        <a:bodyPr/>
                        <a:lstStyle/>
                        <a:p>
                          <a:endParaRPr lang="en-US"/>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10084" t="-9375" b="-29688"/>
                          </a:stretch>
                        </a:blipFill>
                      </a:tcPr>
                    </a:tc>
                    <a:extLst>
                      <a:ext uri="{0D108BD9-81ED-4DB2-BD59-A6C34878D82A}">
                        <a16:rowId xmlns:a16="http://schemas.microsoft.com/office/drawing/2014/main" val="2784206263"/>
                      </a:ext>
                    </a:extLst>
                  </a:tr>
                </a:tbl>
              </a:graphicData>
            </a:graphic>
          </p:graphicFrame>
        </mc:Fallback>
      </mc:AlternateContent>
      <p:sp>
        <p:nvSpPr>
          <p:cNvPr id="8"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90</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8257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0133"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3.3.3 Exploration: </a:t>
            </a:r>
            <a:r>
              <a:rPr lang="en-US" sz="3600" b="1" dirty="0">
                <a:solidFill>
                  <a:srgbClr val="33BEA6"/>
                </a:solidFill>
                <a:latin typeface="Verdana"/>
                <a:ea typeface="Verdana"/>
                <a:cs typeface="Verdana"/>
              </a:rPr>
              <a:t>Plotting and Comparing Fractions</a:t>
            </a:r>
            <a:endParaRPr lang="en-US" sz="3600" b="1" dirty="0">
              <a:solidFill>
                <a:srgbClr val="33BEA6"/>
              </a:solidFill>
              <a:latin typeface="Verdana"/>
              <a:ea typeface="Verdana"/>
              <a:cs typeface="Verdana"/>
              <a:sym typeface="Verdana"/>
            </a:endParaRP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8435" y="308451"/>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1410689" y="1386026"/>
            <a:ext cx="9626654"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Plot and label the rational numbers on the number line below.</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78;g104476d1465_1_17">
            <a:extLst>
              <a:ext uri="{FF2B5EF4-FFF2-40B4-BE49-F238E27FC236}">
                <a16:creationId xmlns:a16="http://schemas.microsoft.com/office/drawing/2014/main" id="{6200F4BF-3C27-A748-A63E-5BC45D572750}"/>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FD03933-1E46-724E-A3EA-D354FCD026A4}"/>
                  </a:ext>
                </a:extLst>
              </p:cNvPr>
              <p:cNvSpPr/>
              <p:nvPr/>
            </p:nvSpPr>
            <p:spPr>
              <a:xfrm>
                <a:off x="3731209" y="2288532"/>
                <a:ext cx="4503156" cy="565026"/>
              </a:xfrm>
              <a:prstGeom prst="rect">
                <a:avLst/>
              </a:prstGeom>
            </p:spPr>
            <p:txBody>
              <a:bodyPr wrap="none">
                <a:spAutoFit/>
              </a:bodyPr>
              <a:lstStyle/>
              <a:p>
                <a:pPr algn="ctr">
                  <a:lnSpc>
                    <a:spcPct val="107000"/>
                  </a:lnSpc>
                </a:pP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−3</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5</m:t>
                        </m:r>
                      </m:num>
                      <m:den>
                        <m:r>
                          <a:rPr lang="en-US" sz="2000" i="1">
                            <a:latin typeface="Cambria Math" panose="02040503050406030204" pitchFamily="18" charset="0"/>
                            <a:ea typeface="Verdana" panose="020B0604030504040204" pitchFamily="34" charset="0"/>
                            <a:cs typeface="Verdana" panose="020B0604030504040204" pitchFamily="34" charset="0"/>
                          </a:rPr>
                          <m:t>8</m:t>
                        </m:r>
                      </m:den>
                    </m:f>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5</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−3</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DFD03933-1E46-724E-A3EA-D354FCD026A4}"/>
                  </a:ext>
                </a:extLst>
              </p:cNvPr>
              <p:cNvSpPr>
                <a:spLocks noRot="1" noChangeAspect="1" noMove="1" noResize="1" noEditPoints="1" noAdjustHandles="1" noChangeArrowheads="1" noChangeShapeType="1" noTextEdit="1"/>
              </p:cNvSpPr>
              <p:nvPr/>
            </p:nvSpPr>
            <p:spPr>
              <a:xfrm>
                <a:off x="2207209" y="2288532"/>
                <a:ext cx="4503156" cy="565026"/>
              </a:xfrm>
              <a:prstGeom prst="rect">
                <a:avLst/>
              </a:prstGeom>
              <a:blipFill>
                <a:blip r:embed="rId5"/>
                <a:stretch>
                  <a:fillRect b="-2222"/>
                </a:stretch>
              </a:blipFill>
            </p:spPr>
            <p:txBody>
              <a:bodyPr/>
              <a:lstStyle/>
              <a:p>
                <a:r>
                  <a:rPr lang="en-US">
                    <a:noFill/>
                  </a:rPr>
                  <a:t> </a:t>
                </a:r>
              </a:p>
            </p:txBody>
          </p:sp>
        </mc:Fallback>
      </mc:AlternateContent>
      <p:pic>
        <p:nvPicPr>
          <p:cNvPr id="11" name="Picture 10" descr="A picture containing bird&#10;&#10;Description automatically generated">
            <a:extLst>
              <a:ext uri="{FF2B5EF4-FFF2-40B4-BE49-F238E27FC236}">
                <a16:creationId xmlns:a16="http://schemas.microsoft.com/office/drawing/2014/main" id="{504CB567-F98A-1C4B-8A49-3B04B5BD7B5E}"/>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18513" b="50081"/>
          <a:stretch/>
        </p:blipFill>
        <p:spPr bwMode="auto">
          <a:xfrm>
            <a:off x="2770505" y="3690799"/>
            <a:ext cx="6650990" cy="1662430"/>
          </a:xfrm>
          <a:prstGeom prst="rect">
            <a:avLst/>
          </a:prstGeom>
          <a:ln>
            <a:noFill/>
          </a:ln>
          <a:extLst>
            <a:ext uri="{53640926-AAD7-44D8-BBD7-CCE9431645EC}">
              <a14:shadowObscured xmlns:a14="http://schemas.microsoft.com/office/drawing/2010/main"/>
            </a:ext>
          </a:extLst>
        </p:spPr>
      </p:pic>
      <p:sp>
        <p:nvSpPr>
          <p:cNvPr id="12"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90</a:t>
            </a:r>
            <a:endParaRPr i="1" dirty="0">
              <a:latin typeface="Calibri"/>
              <a:ea typeface="Calibri"/>
              <a:cs typeface="Calibri"/>
              <a:sym typeface="Calibri"/>
            </a:endParaRPr>
          </a:p>
        </p:txBody>
      </p:sp>
      <p:pic>
        <p:nvPicPr>
          <p:cNvPr id="14"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952500" y="374090"/>
                <a:ext cx="10437666" cy="300248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Using the rational numbers plotted above, answer the following questions.</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Andre says that </a:t>
                </a:r>
                <a14:m>
                  <m:oMath xmlns:m="http://schemas.openxmlformats.org/officeDocument/2006/math">
                    <m:f>
                      <m:fPr>
                        <m:ctrlPr>
                          <a:rPr lang="en-US" sz="2400" i="1">
                            <a:latin typeface="Cambria Math" panose="02040503050406030204" pitchFamily="18" charset="0"/>
                          </a:rPr>
                        </m:ctrlPr>
                      </m:fPr>
                      <m:num>
                        <m:r>
                          <a:rPr lang="en-US" sz="2400">
                            <a:latin typeface="Cambria Math" panose="02040503050406030204" pitchFamily="18" charset="0"/>
                          </a:rPr>
                          <m:t>1</m:t>
                        </m:r>
                      </m:num>
                      <m:den>
                        <m:r>
                          <a:rPr lang="en-US" sz="2400">
                            <a:latin typeface="Cambria Math" panose="02040503050406030204" pitchFamily="18" charset="0"/>
                          </a:rPr>
                          <m:t>4</m:t>
                        </m:r>
                      </m:den>
                    </m:f>
                  </m:oMath>
                </a14:m>
                <a:r>
                  <a:rPr lang="en-US" sz="2400" dirty="0">
                    <a:latin typeface="Verdana" panose="020B0604030504040204" pitchFamily="34" charset="0"/>
                    <a:ea typeface="Verdana" panose="020B0604030504040204" pitchFamily="34" charset="0"/>
                    <a:cs typeface="Verdana" panose="020B0604030504040204" pitchFamily="34" charset="0"/>
                  </a:rPr>
                  <a:t> is less than </a:t>
                </a:r>
                <a14:m>
                  <m:oMath xmlns:m="http://schemas.openxmlformats.org/officeDocument/2006/math">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a:latin typeface="Cambria Math" panose="02040503050406030204" pitchFamily="18" charset="0"/>
                          </a:rPr>
                          <m:t>3</m:t>
                        </m:r>
                      </m:num>
                      <m:den>
                        <m:r>
                          <a:rPr lang="en-US" sz="2400">
                            <a:latin typeface="Cambria Math" panose="02040503050406030204" pitchFamily="18" charset="0"/>
                          </a:rPr>
                          <m:t>4</m:t>
                        </m:r>
                      </m:den>
                    </m:f>
                  </m:oMath>
                </a14:m>
                <a:r>
                  <a:rPr lang="en-US" sz="2400" dirty="0">
                    <a:latin typeface="Verdana" panose="020B0604030504040204" pitchFamily="34" charset="0"/>
                    <a:ea typeface="Verdana" panose="020B0604030504040204" pitchFamily="34" charset="0"/>
                    <a:cs typeface="Verdana" panose="020B0604030504040204" pitchFamily="34" charset="0"/>
                  </a:rPr>
                  <a:t> because out of the two values, </a:t>
                </a:r>
                <a14:m>
                  <m:oMath xmlns:m="http://schemas.openxmlformats.org/officeDocument/2006/math">
                    <m:f>
                      <m:fPr>
                        <m:ctrlPr>
                          <a:rPr lang="en-US" sz="2400" i="1">
                            <a:latin typeface="Cambria Math" panose="02040503050406030204" pitchFamily="18" charset="0"/>
                          </a:rPr>
                        </m:ctrlPr>
                      </m:fPr>
                      <m:num>
                        <m:r>
                          <a:rPr lang="en-US" sz="2400">
                            <a:latin typeface="Cambria Math" panose="02040503050406030204" pitchFamily="18" charset="0"/>
                          </a:rPr>
                          <m:t>1</m:t>
                        </m:r>
                      </m:num>
                      <m:den>
                        <m:r>
                          <a:rPr lang="en-US" sz="2400">
                            <a:latin typeface="Cambria Math" panose="02040503050406030204" pitchFamily="18" charset="0"/>
                          </a:rPr>
                          <m:t>4</m:t>
                        </m:r>
                      </m:den>
                    </m:f>
                  </m:oMath>
                </a14:m>
                <a:r>
                  <a:rPr lang="en-US" sz="2400" dirty="0">
                    <a:latin typeface="Verdana" panose="020B0604030504040204" pitchFamily="34" charset="0"/>
                    <a:ea typeface="Verdana" panose="020B0604030504040204" pitchFamily="34" charset="0"/>
                    <a:cs typeface="Verdana" panose="020B0604030504040204" pitchFamily="34" charset="0"/>
                  </a:rPr>
                  <a:t> is closer to </a:t>
                </a:r>
                <a14:m>
                  <m:oMath xmlns:m="http://schemas.openxmlformats.org/officeDocument/2006/math">
                    <m:r>
                      <a:rPr lang="en-US" sz="2400">
                        <a:latin typeface="Cambria Math" panose="02040503050406030204" pitchFamily="18"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Explain why you agree or disagree with Andre.</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952500" y="374090"/>
                <a:ext cx="10437666" cy="3002489"/>
              </a:xfrm>
              <a:prstGeom prst="rect">
                <a:avLst/>
              </a:prstGeom>
              <a:blipFill rotWithShape="0">
                <a:blip r:embed="rId3"/>
                <a:stretch>
                  <a:fillRect l="-876" t="-1623" r="-701"/>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B7C7682D-5C91-9243-8900-6899F3FEF344}"/>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87834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1003300" y="374089"/>
                <a:ext cx="10336066" cy="4154984"/>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Complete the table for each pair of numbers.</a:t>
                </a:r>
              </a:p>
              <a:p>
                <a:pPr marL="45720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Is the value that is farther from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always the greater value? Explain your reasoning.</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1003300" y="374089"/>
                <a:ext cx="10336066" cy="4154984"/>
              </a:xfrm>
              <a:prstGeom prst="rect">
                <a:avLst/>
              </a:prstGeom>
              <a:blipFill rotWithShape="0">
                <a:blip r:embed="rId3"/>
                <a:stretch>
                  <a:fillRect l="-944" t="-117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B7C7682D-5C91-9243-8900-6899F3FEF344}"/>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F313ABEC-BB43-3047-878F-A88EAC0FA485}"/>
                  </a:ext>
                </a:extLst>
              </p:cNvPr>
              <p:cNvGraphicFramePr>
                <a:graphicFrameLocks noGrp="1"/>
              </p:cNvGraphicFramePr>
              <p:nvPr>
                <p:extLst>
                  <p:ext uri="{D42A27DB-BD31-4B8C-83A1-F6EECF244321}">
                    <p14:modId xmlns:p14="http://schemas.microsoft.com/office/powerpoint/2010/main" val="1526836057"/>
                  </p:ext>
                </p:extLst>
              </p:nvPr>
            </p:nvGraphicFramePr>
            <p:xfrm>
              <a:off x="2724150" y="1030901"/>
              <a:ext cx="6743700" cy="2056765"/>
            </p:xfrm>
            <a:graphic>
              <a:graphicData uri="http://schemas.openxmlformats.org/drawingml/2006/table">
                <a:tbl>
                  <a:tblPr firstRow="1" firstCol="1" bandRow="1">
                    <a:tableStyleId>{A91F0D33-8C57-4600-99A7-42BC86742BE1}</a:tableStyleId>
                  </a:tblPr>
                  <a:tblGrid>
                    <a:gridCol w="1778000">
                      <a:extLst>
                        <a:ext uri="{9D8B030D-6E8A-4147-A177-3AD203B41FA5}">
                          <a16:colId xmlns:a16="http://schemas.microsoft.com/office/drawing/2014/main" val="358017863"/>
                        </a:ext>
                      </a:extLst>
                    </a:gridCol>
                    <a:gridCol w="2393950">
                      <a:extLst>
                        <a:ext uri="{9D8B030D-6E8A-4147-A177-3AD203B41FA5}">
                          <a16:colId xmlns:a16="http://schemas.microsoft.com/office/drawing/2014/main" val="1690179791"/>
                        </a:ext>
                      </a:extLst>
                    </a:gridCol>
                    <a:gridCol w="2571750">
                      <a:extLst>
                        <a:ext uri="{9D8B030D-6E8A-4147-A177-3AD203B41FA5}">
                          <a16:colId xmlns:a16="http://schemas.microsoft.com/office/drawing/2014/main" val="3562018786"/>
                        </a:ext>
                      </a:extLst>
                    </a:gridCol>
                  </a:tblGrid>
                  <a:tr h="59372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Pair</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Farthest Distance From </a:t>
                          </a:r>
                          <a14:m>
                            <m:oMath xmlns:m="http://schemas.openxmlformats.org/officeDocument/2006/math">
                              <m:r>
                                <a:rPr lang="en-US" sz="1800" b="1" smtClean="0">
                                  <a:effectLst/>
                                  <a:latin typeface="Cambria Math" panose="02040503050406030204" pitchFamily="18" charset="0"/>
                                </a:rPr>
                                <m:t>𝟎</m:t>
                              </m:r>
                            </m:oMath>
                          </a14:m>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Greater Value</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226785727"/>
                      </a:ext>
                    </a:extLst>
                  </a:tr>
                  <a:tr h="731520">
                    <a:tc>
                      <a:txBody>
                        <a:bodyPr/>
                        <a:lstStyle/>
                        <a:p>
                          <a:pPr marL="0" marR="0" algn="ctr">
                            <a:lnSpc>
                              <a:spcPct val="107000"/>
                            </a:lnSpc>
                            <a:spcBef>
                              <a:spcPts val="0"/>
                            </a:spcBef>
                            <a:spcAft>
                              <a:spcPts val="0"/>
                            </a:spcAft>
                          </a:pPr>
                          <a14:m>
                            <m:oMath xmlns:m="http://schemas.openxmlformats.org/officeDocument/2006/math">
                              <m:f>
                                <m:fPr>
                                  <m:ctrlPr>
                                    <a:rPr lang="en-US" sz="1800" i="1">
                                      <a:effectLst/>
                                      <a:latin typeface="Cambria Math" panose="02040503050406030204" pitchFamily="18" charset="0"/>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4</m:t>
                                  </m:r>
                                </m:den>
                              </m:f>
                            </m:oMath>
                          </a14:m>
                          <a:r>
                            <a:rPr lang="en-US" sz="1800">
                              <a:effectLst/>
                            </a:rPr>
                            <a:t>  or  </a:t>
                          </a:r>
                          <a14:m>
                            <m:oMath xmlns:m="http://schemas.openxmlformats.org/officeDocument/2006/math">
                              <m:f>
                                <m:fPr>
                                  <m:ctrlPr>
                                    <a:rPr lang="en-US" sz="1800" i="1">
                                      <a:effectLst/>
                                      <a:latin typeface="Cambria Math" panose="02040503050406030204" pitchFamily="18" charset="0"/>
                                    </a:rPr>
                                  </m:ctrlPr>
                                </m:fPr>
                                <m:num>
                                  <m:r>
                                    <a:rPr lang="en-US" sz="1800">
                                      <a:effectLst/>
                                      <a:latin typeface="Cambria Math" panose="02040503050406030204" pitchFamily="18" charset="0"/>
                                    </a:rPr>
                                    <m:t>5</m:t>
                                  </m:r>
                                </m:num>
                                <m:den>
                                  <m:r>
                                    <a:rPr lang="en-US" sz="1800">
                                      <a:effectLst/>
                                      <a:latin typeface="Cambria Math" panose="02040503050406030204" pitchFamily="18" charset="0"/>
                                    </a:rPr>
                                    <m:t>4</m:t>
                                  </m:r>
                                </m:den>
                              </m:f>
                            </m:oMath>
                          </a14:m>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7781977"/>
                      </a:ext>
                    </a:extLst>
                  </a:tr>
                  <a:tr h="731520">
                    <a:tc>
                      <a:txBody>
                        <a:bodyPr/>
                        <a:lstStyle/>
                        <a:p>
                          <a:pPr marL="0" marR="0" algn="ct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m:t>
                              </m:r>
                              <m:f>
                                <m:fPr>
                                  <m:ctrlPr>
                                    <a:rPr lang="en-US" sz="1800" i="1">
                                      <a:effectLst/>
                                      <a:latin typeface="Cambria Math" panose="02040503050406030204" pitchFamily="18" charset="0"/>
                                    </a:rPr>
                                  </m:ctrlPr>
                                </m:fPr>
                                <m:num>
                                  <m:r>
                                    <a:rPr lang="en-US" sz="1800">
                                      <a:effectLst/>
                                      <a:latin typeface="Cambria Math" panose="02040503050406030204" pitchFamily="18" charset="0"/>
                                    </a:rPr>
                                    <m:t>3</m:t>
                                  </m:r>
                                </m:num>
                                <m:den>
                                  <m:r>
                                    <a:rPr lang="en-US" sz="1800">
                                      <a:effectLst/>
                                      <a:latin typeface="Cambria Math" panose="02040503050406030204" pitchFamily="18" charset="0"/>
                                    </a:rPr>
                                    <m:t>4</m:t>
                                  </m:r>
                                </m:den>
                              </m:f>
                            </m:oMath>
                          </a14:m>
                          <a:r>
                            <a:rPr lang="en-US" sz="1800">
                              <a:effectLst/>
                            </a:rPr>
                            <a:t>  or  </a:t>
                          </a:r>
                          <a14:m>
                            <m:oMath xmlns:m="http://schemas.openxmlformats.org/officeDocument/2006/math">
                              <m:f>
                                <m:fPr>
                                  <m:ctrlPr>
                                    <a:rPr lang="en-US" sz="1800" i="1">
                                      <a:effectLst/>
                                      <a:latin typeface="Cambria Math" panose="02040503050406030204" pitchFamily="18" charset="0"/>
                                    </a:rPr>
                                  </m:ctrlPr>
                                </m:fPr>
                                <m:num>
                                  <m:r>
                                    <a:rPr lang="en-US" sz="1800">
                                      <a:effectLst/>
                                      <a:latin typeface="Cambria Math" panose="02040503050406030204" pitchFamily="18" charset="0"/>
                                    </a:rPr>
                                    <m:t>5</m:t>
                                  </m:r>
                                </m:num>
                                <m:den>
                                  <m:r>
                                    <a:rPr lang="en-US" sz="1800">
                                      <a:effectLst/>
                                      <a:latin typeface="Cambria Math" panose="02040503050406030204" pitchFamily="18" charset="0"/>
                                    </a:rPr>
                                    <m:t>8</m:t>
                                  </m:r>
                                </m:den>
                              </m:f>
                            </m:oMath>
                          </a14:m>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rPr>
                            <a:t> </a:t>
                          </a:r>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1316925"/>
                      </a:ext>
                    </a:extLst>
                  </a:tr>
                </a:tbl>
              </a:graphicData>
            </a:graphic>
          </p:graphicFrame>
        </mc:Choice>
        <mc:Fallback xmlns="">
          <p:graphicFrame>
            <p:nvGraphicFramePr>
              <p:cNvPr id="4" name="Table 3">
                <a:extLst>
                  <a:ext uri="{FF2B5EF4-FFF2-40B4-BE49-F238E27FC236}">
                    <a16:creationId xmlns:a16="http://schemas.microsoft.com/office/drawing/2014/main" id="{F313ABEC-BB43-3047-878F-A88EAC0FA485}"/>
                  </a:ext>
                </a:extLst>
              </p:cNvPr>
              <p:cNvGraphicFramePr>
                <a:graphicFrameLocks noGrp="1"/>
              </p:cNvGraphicFramePr>
              <p:nvPr>
                <p:extLst>
                  <p:ext uri="{D42A27DB-BD31-4B8C-83A1-F6EECF244321}">
                    <p14:modId xmlns:p14="http://schemas.microsoft.com/office/powerpoint/2010/main" val="1526836057"/>
                  </p:ext>
                </p:extLst>
              </p:nvPr>
            </p:nvGraphicFramePr>
            <p:xfrm>
              <a:off x="1200150" y="1030900"/>
              <a:ext cx="6743700" cy="2056765"/>
            </p:xfrm>
            <a:graphic>
              <a:graphicData uri="http://schemas.openxmlformats.org/drawingml/2006/table">
                <a:tbl>
                  <a:tblPr firstRow="1" firstCol="1" bandRow="1">
                    <a:tableStyleId>{A91F0D33-8C57-4600-99A7-42BC86742BE1}</a:tableStyleId>
                  </a:tblPr>
                  <a:tblGrid>
                    <a:gridCol w="1778000">
                      <a:extLst>
                        <a:ext uri="{9D8B030D-6E8A-4147-A177-3AD203B41FA5}">
                          <a16:colId xmlns:a16="http://schemas.microsoft.com/office/drawing/2014/main" val="358017863"/>
                        </a:ext>
                      </a:extLst>
                    </a:gridCol>
                    <a:gridCol w="2393950">
                      <a:extLst>
                        <a:ext uri="{9D8B030D-6E8A-4147-A177-3AD203B41FA5}">
                          <a16:colId xmlns:a16="http://schemas.microsoft.com/office/drawing/2014/main" val="1690179791"/>
                        </a:ext>
                      </a:extLst>
                    </a:gridCol>
                    <a:gridCol w="2571750">
                      <a:extLst>
                        <a:ext uri="{9D8B030D-6E8A-4147-A177-3AD203B41FA5}">
                          <a16:colId xmlns:a16="http://schemas.microsoft.com/office/drawing/2014/main" val="3562018786"/>
                        </a:ext>
                      </a:extLst>
                    </a:gridCol>
                  </a:tblGrid>
                  <a:tr h="59372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Pair</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4603" t="-12766" r="-107937" b="-248936"/>
                          </a:stretch>
                        </a:blip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Greater Value</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226785727"/>
                      </a:ext>
                    </a:extLst>
                  </a:tr>
                  <a:tr h="73152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14" t="-91379" r="-280714" b="-101724"/>
                          </a:stretch>
                        </a:blipFill>
                      </a:tcPr>
                    </a:tc>
                    <a:tc>
                      <a:txBody>
                        <a:bodyPr/>
                        <a:lstStyle/>
                        <a:p>
                          <a:pPr marL="0" marR="0">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7781977"/>
                      </a:ext>
                    </a:extLst>
                  </a:tr>
                  <a:tr h="73152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14" t="-191379" r="-280714" b="-1724"/>
                          </a:stretch>
                        </a:blipFill>
                      </a:tcPr>
                    </a:tc>
                    <a:tc>
                      <a:txBody>
                        <a:bodyPr/>
                        <a:lstStyle/>
                        <a:p>
                          <a:pPr marL="0" marR="0">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rPr>
                            <a:t> </a:t>
                          </a:r>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1316925"/>
                      </a:ext>
                    </a:extLst>
                  </a:tr>
                </a:tbl>
              </a:graphicData>
            </a:graphic>
          </p:graphicFrame>
        </mc:Fallback>
      </mc:AlternateContent>
      <p:sp>
        <p:nvSpPr>
          <p:cNvPr id="7"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91</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70892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91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27888" y="21272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3.3.4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80588" y="218075"/>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079500" y="1386025"/>
                <a:ext cx="10289032" cy="2677656"/>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Explain why each inequality statement is true or false.</a:t>
                </a: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14:m>
                  <m:oMath xmlns:m="http://schemas.openxmlformats.org/officeDocument/2006/math">
                    <m:r>
                      <a:rPr lang="en-US" sz="2400">
                        <a:latin typeface="Cambria Math" panose="02040503050406030204" pitchFamily="18" charset="0"/>
                      </a:rPr>
                      <m:t>−5.2 &lt; −7.1</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14:m>
                  <m:oMath xmlns:m="http://schemas.openxmlformats.org/officeDocument/2006/math">
                    <m:r>
                      <a:rPr lang="en-US" sz="2400">
                        <a:latin typeface="Cambria Math" panose="02040503050406030204" pitchFamily="18" charset="0"/>
                      </a:rPr>
                      <m:t>3.1 &gt; 38%</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079500" y="1386025"/>
                <a:ext cx="10289032" cy="2677656"/>
              </a:xfrm>
              <a:prstGeom prst="rect">
                <a:avLst/>
              </a:prstGeom>
              <a:blipFill rotWithShape="0">
                <a:blip r:embed="rId4"/>
                <a:stretch>
                  <a:fillRect l="-889" t="-1818" b="-22045"/>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B65A09A0-1E94-F34F-9AC7-848B14CF3F5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91</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08C67FCF-92C3-654A-BF40-5BDF7A4F9271}"/>
              </a:ext>
            </a:extLst>
          </p:cNvPr>
          <p:cNvSpPr txBox="1"/>
          <p:nvPr/>
        </p:nvSpPr>
        <p:spPr>
          <a:xfrm>
            <a:off x="863600" y="398473"/>
            <a:ext cx="10464800" cy="1569660"/>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Use the symbols &lt;, &gt; or = to compare each pair of values.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C20EB48B-0C2A-FF47-ACB6-866A7F95956C}"/>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8C7A36D-EE79-5E46-809E-15031BCAA4BC}"/>
                  </a:ext>
                </a:extLst>
              </p:cNvPr>
              <p:cNvGraphicFramePr>
                <a:graphicFrameLocks noGrp="1"/>
              </p:cNvGraphicFramePr>
              <p:nvPr>
                <p:extLst>
                  <p:ext uri="{D42A27DB-BD31-4B8C-83A1-F6EECF244321}">
                    <p14:modId xmlns:p14="http://schemas.microsoft.com/office/powerpoint/2010/main" val="1637483069"/>
                  </p:ext>
                </p:extLst>
              </p:nvPr>
            </p:nvGraphicFramePr>
            <p:xfrm>
              <a:off x="2886075" y="1922302"/>
              <a:ext cx="6419851" cy="830326"/>
            </p:xfrm>
            <a:graphic>
              <a:graphicData uri="http://schemas.openxmlformats.org/drawingml/2006/table">
                <a:tbl>
                  <a:tblPr bandRow="1">
                    <a:tableStyleId>{A91F0D33-8C57-4600-99A7-42BC86742BE1}</a:tableStyleId>
                  </a:tblPr>
                  <a:tblGrid>
                    <a:gridCol w="2139527">
                      <a:extLst>
                        <a:ext uri="{9D8B030D-6E8A-4147-A177-3AD203B41FA5}">
                          <a16:colId xmlns:a16="http://schemas.microsoft.com/office/drawing/2014/main" val="2020840488"/>
                        </a:ext>
                      </a:extLst>
                    </a:gridCol>
                    <a:gridCol w="2140162">
                      <a:extLst>
                        <a:ext uri="{9D8B030D-6E8A-4147-A177-3AD203B41FA5}">
                          <a16:colId xmlns:a16="http://schemas.microsoft.com/office/drawing/2014/main" val="1460046054"/>
                        </a:ext>
                      </a:extLst>
                    </a:gridCol>
                    <a:gridCol w="2140162">
                      <a:extLst>
                        <a:ext uri="{9D8B030D-6E8A-4147-A177-3AD203B41FA5}">
                          <a16:colId xmlns:a16="http://schemas.microsoft.com/office/drawing/2014/main" val="3136874152"/>
                        </a:ext>
                      </a:extLst>
                    </a:gridCol>
                  </a:tblGrid>
                  <a:tr h="522605">
                    <a:tc>
                      <a:txBody>
                        <a:bodyPr/>
                        <a:lstStyle/>
                        <a:p>
                          <a:pPr marL="342900" marR="0" lvl="0" indent="-342900">
                            <a:lnSpc>
                              <a:spcPct val="107000"/>
                            </a:lnSpc>
                            <a:spcBef>
                              <a:spcPts val="0"/>
                            </a:spcBef>
                            <a:spcAft>
                              <a:spcPts val="0"/>
                            </a:spcAft>
                            <a:buFont typeface="+mj-lt"/>
                            <a:buAutoNum type="alphaLcPeriod"/>
                          </a:pPr>
                          <a:r>
                            <a:rPr lang="en-US" sz="2000" baseline="0" dirty="0">
                              <a:effectLst/>
                              <a:latin typeface="Cambria Math" panose="02040503050406030204" pitchFamily="18" charset="0"/>
                              <a:ea typeface="Cambria Math" panose="02040503050406030204" pitchFamily="18" charset="0"/>
                            </a:rPr>
                            <a:t> </a:t>
                          </a:r>
                          <a14:m>
                            <m:oMath xmlns:m="http://schemas.openxmlformats.org/officeDocument/2006/math">
                              <m:r>
                                <a:rPr lang="en-US" sz="2000">
                                  <a:effectLst/>
                                  <a:latin typeface="Cambria Math" panose="02040503050406030204" pitchFamily="18" charset="0"/>
                                </a:rPr>
                                <m:t>−</m:t>
                              </m:r>
                              <m:f>
                                <m:fPr>
                                  <m:ctrlPr>
                                    <a:rPr lang="en-US" sz="2000" i="1">
                                      <a:effectLst/>
                                      <a:latin typeface="Cambria Math" panose="02040503050406030204" pitchFamily="18" charset="0"/>
                                    </a:rPr>
                                  </m:ctrlPr>
                                </m:fPr>
                                <m:num>
                                  <m:r>
                                    <a:rPr lang="en-US" sz="2000">
                                      <a:effectLst/>
                                      <a:latin typeface="Cambria Math" panose="02040503050406030204" pitchFamily="18" charset="0"/>
                                    </a:rPr>
                                    <m:t>4</m:t>
                                  </m:r>
                                </m:num>
                                <m:den>
                                  <m:r>
                                    <a:rPr lang="en-US" sz="2000">
                                      <a:effectLst/>
                                      <a:latin typeface="Cambria Math" panose="02040503050406030204" pitchFamily="18" charset="0"/>
                                    </a:rPr>
                                    <m:t>3</m:t>
                                  </m:r>
                                </m:den>
                              </m:f>
                            </m:oMath>
                          </a14:m>
                          <a:r>
                            <a:rPr lang="en-US" sz="1800" dirty="0">
                              <a:effectLst/>
                              <a:latin typeface="Verdana" panose="020B0604030504040204" pitchFamily="34" charset="0"/>
                              <a:ea typeface="Verdana" panose="020B0604030504040204" pitchFamily="34" charset="0"/>
                              <a:cs typeface="Verdana" panose="020B0604030504040204" pitchFamily="34" charset="0"/>
                            </a:rPr>
                            <a:t>  ___ </a:t>
                          </a:r>
                          <a14:m>
                            <m:oMath xmlns:m="http://schemas.openxmlformats.org/officeDocument/2006/math">
                              <m:r>
                                <a:rPr lang="en-US" sz="2000">
                                  <a:effectLst/>
                                  <a:latin typeface="Cambria Math" panose="02040503050406030204" pitchFamily="18" charset="0"/>
                                </a:rPr>
                                <m:t>−</m:t>
                              </m:r>
                              <m:f>
                                <m:fPr>
                                  <m:ctrlPr>
                                    <a:rPr lang="en-US" sz="2000" i="1">
                                      <a:effectLst/>
                                      <a:latin typeface="Cambria Math" panose="02040503050406030204" pitchFamily="18" charset="0"/>
                                    </a:rPr>
                                  </m:ctrlPr>
                                </m:fPr>
                                <m:num>
                                  <m:r>
                                    <a:rPr lang="en-US" sz="2000">
                                      <a:effectLst/>
                                      <a:latin typeface="Cambria Math" panose="02040503050406030204" pitchFamily="18" charset="0"/>
                                    </a:rPr>
                                    <m:t>3</m:t>
                                  </m:r>
                                </m:num>
                                <m:den>
                                  <m:r>
                                    <a:rPr lang="en-US" sz="2000">
                                      <a:effectLst/>
                                      <a:latin typeface="Cambria Math" panose="02040503050406030204" pitchFamily="18" charset="0"/>
                                    </a:rPr>
                                    <m:t>2</m:t>
                                  </m:r>
                                </m:den>
                              </m:f>
                            </m:oMath>
                          </a14:m>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342900" marR="0" lvl="0" indent="-342900">
                            <a:lnSpc>
                              <a:spcPct val="107000"/>
                            </a:lnSpc>
                            <a:spcBef>
                              <a:spcPts val="0"/>
                            </a:spcBef>
                            <a:spcAft>
                              <a:spcPts val="0"/>
                            </a:spcAft>
                            <a:buFont typeface="+mj-lt"/>
                            <a:buAutoNum type="alphaLcPeriod" startAt="2"/>
                          </a:pPr>
                          <a14:m>
                            <m:oMath xmlns:m="http://schemas.openxmlformats.org/officeDocument/2006/math">
                              <m:r>
                                <a:rPr lang="en-US" sz="1800" b="0" i="0" smtClean="0">
                                  <a:effectLst/>
                                  <a:latin typeface="Cambria Math" panose="02040503050406030204" pitchFamily="18" charset="0"/>
                                </a:rPr>
                                <m:t> </m:t>
                              </m:r>
                              <m:r>
                                <a:rPr lang="en-US" sz="1800">
                                  <a:effectLst/>
                                  <a:latin typeface="Cambria Math" panose="02040503050406030204" pitchFamily="18" charset="0"/>
                                </a:rPr>
                                <m:t>0.75</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___ </a:t>
                          </a:r>
                          <a14:m>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3</m:t>
                                  </m:r>
                                </m:num>
                                <m:den>
                                  <m:r>
                                    <a:rPr lang="en-US" sz="2000">
                                      <a:effectLst/>
                                      <a:latin typeface="Cambria Math" panose="02040503050406030204" pitchFamily="18" charset="0"/>
                                    </a:rPr>
                                    <m:t>2</m:t>
                                  </m:r>
                                </m:den>
                              </m:f>
                            </m:oMath>
                          </a14:m>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457200" marR="0" lvl="0" indent="-457200">
                            <a:lnSpc>
                              <a:spcPct val="107000"/>
                            </a:lnSpc>
                            <a:spcBef>
                              <a:spcPts val="0"/>
                            </a:spcBef>
                            <a:spcAft>
                              <a:spcPts val="800"/>
                            </a:spcAft>
                            <a:buFont typeface="+mj-lt"/>
                            <a:buAutoNum type="alphaLcPeriod" startAt="3"/>
                          </a:pPr>
                          <a:r>
                            <a:rPr lang="en-US" sz="2000" i="0" baseline="0" dirty="0">
                              <a:effectLst/>
                              <a:latin typeface="Cambria Math" panose="02040503050406030204" pitchFamily="18" charset="0"/>
                              <a:ea typeface="Cambria Math" panose="02040503050406030204" pitchFamily="18" charset="0"/>
                            </a:rPr>
                            <a:t> </a:t>
                          </a:r>
                          <a14:m>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3</m:t>
                                  </m:r>
                                </m:num>
                                <m:den>
                                  <m:r>
                                    <a:rPr lang="en-US" sz="2000">
                                      <a:effectLst/>
                                      <a:latin typeface="Cambria Math" panose="02040503050406030204" pitchFamily="18" charset="0"/>
                                    </a:rPr>
                                    <m:t>2</m:t>
                                  </m:r>
                                </m:den>
                              </m:f>
                            </m:oMath>
                          </a14:m>
                          <a:r>
                            <a:rPr lang="en-US" sz="1800" dirty="0">
                              <a:effectLst/>
                              <a:latin typeface="Verdana" panose="020B0604030504040204" pitchFamily="34" charset="0"/>
                              <a:ea typeface="Verdana" panose="020B0604030504040204" pitchFamily="34" charset="0"/>
                              <a:cs typeface="Verdana" panose="020B0604030504040204" pitchFamily="34" charset="0"/>
                            </a:rPr>
                            <a:t>  ___ </a:t>
                          </a:r>
                          <a14:m>
                            <m:oMath xmlns:m="http://schemas.openxmlformats.org/officeDocument/2006/math">
                              <m:r>
                                <a:rPr lang="en-US" sz="1800">
                                  <a:effectLst/>
                                  <a:latin typeface="Cambria Math" panose="02040503050406030204" pitchFamily="18" charset="0"/>
                                </a:rPr>
                                <m:t>1.5</m:t>
                              </m:r>
                            </m:oMath>
                          </a14:m>
                          <a:endParaRPr lang="en-US" sz="11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8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92615868"/>
                      </a:ext>
                    </a:extLst>
                  </a:tr>
                </a:tbl>
              </a:graphicData>
            </a:graphic>
          </p:graphicFrame>
        </mc:Choice>
        <mc:Fallback xmlns="">
          <p:graphicFrame>
            <p:nvGraphicFramePr>
              <p:cNvPr id="2" name="Table 1">
                <a:extLst>
                  <a:ext uri="{FF2B5EF4-FFF2-40B4-BE49-F238E27FC236}">
                    <a16:creationId xmlns:a16="http://schemas.microsoft.com/office/drawing/2014/main" id="{B8C7A36D-EE79-5E46-809E-15031BCAA4BC}"/>
                  </a:ext>
                </a:extLst>
              </p:cNvPr>
              <p:cNvGraphicFramePr>
                <a:graphicFrameLocks noGrp="1"/>
              </p:cNvGraphicFramePr>
              <p:nvPr>
                <p:extLst>
                  <p:ext uri="{D42A27DB-BD31-4B8C-83A1-F6EECF244321}">
                    <p14:modId xmlns:p14="http://schemas.microsoft.com/office/powerpoint/2010/main" val="1637483069"/>
                  </p:ext>
                </p:extLst>
              </p:nvPr>
            </p:nvGraphicFramePr>
            <p:xfrm>
              <a:off x="1362074" y="1922302"/>
              <a:ext cx="6419851" cy="830326"/>
            </p:xfrm>
            <a:graphic>
              <a:graphicData uri="http://schemas.openxmlformats.org/drawingml/2006/table">
                <a:tbl>
                  <a:tblPr bandRow="1">
                    <a:tableStyleId>{A91F0D33-8C57-4600-99A7-42BC86742BE1}</a:tableStyleId>
                  </a:tblPr>
                  <a:tblGrid>
                    <a:gridCol w="2139527">
                      <a:extLst>
                        <a:ext uri="{9D8B030D-6E8A-4147-A177-3AD203B41FA5}">
                          <a16:colId xmlns:a16="http://schemas.microsoft.com/office/drawing/2014/main" val="2020840488"/>
                        </a:ext>
                      </a:extLst>
                    </a:gridCol>
                    <a:gridCol w="2140162">
                      <a:extLst>
                        <a:ext uri="{9D8B030D-6E8A-4147-A177-3AD203B41FA5}">
                          <a16:colId xmlns:a16="http://schemas.microsoft.com/office/drawing/2014/main" val="1460046054"/>
                        </a:ext>
                      </a:extLst>
                    </a:gridCol>
                    <a:gridCol w="2140162">
                      <a:extLst>
                        <a:ext uri="{9D8B030D-6E8A-4147-A177-3AD203B41FA5}">
                          <a16:colId xmlns:a16="http://schemas.microsoft.com/office/drawing/2014/main" val="3136874152"/>
                        </a:ext>
                      </a:extLst>
                    </a:gridCol>
                  </a:tblGrid>
                  <a:tr h="830326">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r="-200285"/>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99716" r="-99716"/>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0285"/>
                          </a:stretch>
                        </a:blipFill>
                      </a:tcPr>
                    </a:tc>
                    <a:extLst>
                      <a:ext uri="{0D108BD9-81ED-4DB2-BD59-A6C34878D82A}">
                        <a16:rowId xmlns:a16="http://schemas.microsoft.com/office/drawing/2014/main" val="392615868"/>
                      </a:ext>
                    </a:extLst>
                  </a:tr>
                </a:tbl>
              </a:graphicData>
            </a:graphic>
          </p:graphicFrame>
        </mc:Fallback>
      </mc:AlternateContent>
      <p:sp>
        <p:nvSpPr>
          <p:cNvPr id="8"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91</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43614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08C67FCF-92C3-654A-BF40-5BDF7A4F9271}"/>
              </a:ext>
            </a:extLst>
          </p:cNvPr>
          <p:cNvSpPr txBox="1"/>
          <p:nvPr/>
        </p:nvSpPr>
        <p:spPr>
          <a:xfrm>
            <a:off x="825500" y="398474"/>
            <a:ext cx="10541000" cy="5632311"/>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Plot the following values on the number line. Label each point with its numeric value.</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inequality statement to show the relationship between the values.</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C20EB48B-0C2A-FF47-ACB6-866A7F95956C}"/>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D37102C5-0971-6044-A708-4C84024E8EB4}"/>
                  </a:ext>
                </a:extLst>
              </p:cNvPr>
              <p:cNvSpPr/>
              <p:nvPr/>
            </p:nvSpPr>
            <p:spPr>
              <a:xfrm>
                <a:off x="4711646" y="1405637"/>
                <a:ext cx="2768707"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800">
                          <a:latin typeface="Cambria Math" panose="02040503050406030204" pitchFamily="18" charset="0"/>
                        </a:rPr>
                        <m:t>1.5   −</m:t>
                      </m:r>
                      <m:f>
                        <m:fPr>
                          <m:ctrlPr>
                            <a:rPr lang="en-US" sz="1800" i="1">
                              <a:solidFill>
                                <a:srgbClr val="836967"/>
                              </a:solidFill>
                              <a:latin typeface="Cambria Math" panose="02040503050406030204" pitchFamily="18" charset="0"/>
                            </a:rPr>
                          </m:ctrlPr>
                        </m:fPr>
                        <m:num>
                          <m:r>
                            <a:rPr lang="en-US" sz="1800">
                              <a:latin typeface="Cambria Math" panose="02040503050406030204" pitchFamily="18" charset="0"/>
                            </a:rPr>
                            <m:t>3</m:t>
                          </m:r>
                        </m:num>
                        <m:den>
                          <m:r>
                            <a:rPr lang="en-US" sz="1800">
                              <a:latin typeface="Cambria Math" panose="02040503050406030204" pitchFamily="18" charset="0"/>
                            </a:rPr>
                            <m:t>2</m:t>
                          </m:r>
                        </m:den>
                      </m:f>
                      <m:r>
                        <a:rPr lang="en-US" sz="1800">
                          <a:latin typeface="Cambria Math" panose="02040503050406030204" pitchFamily="18" charset="0"/>
                        </a:rPr>
                        <m:t>    −</m:t>
                      </m:r>
                      <m:f>
                        <m:fPr>
                          <m:ctrlPr>
                            <a:rPr lang="en-US" sz="1800" i="1">
                              <a:solidFill>
                                <a:srgbClr val="836967"/>
                              </a:solidFill>
                              <a:latin typeface="Cambria Math" panose="02040503050406030204" pitchFamily="18" charset="0"/>
                            </a:rPr>
                          </m:ctrlPr>
                        </m:fPr>
                        <m:num>
                          <m:r>
                            <a:rPr lang="en-US" sz="1800">
                              <a:latin typeface="Cambria Math" panose="02040503050406030204" pitchFamily="18" charset="0"/>
                            </a:rPr>
                            <m:t>4</m:t>
                          </m:r>
                        </m:num>
                        <m:den>
                          <m:r>
                            <a:rPr lang="en-US" sz="1800">
                              <a:latin typeface="Cambria Math" panose="02040503050406030204" pitchFamily="18" charset="0"/>
                            </a:rPr>
                            <m:t>3</m:t>
                          </m:r>
                        </m:den>
                      </m:f>
                      <m:r>
                        <a:rPr lang="en-US" sz="1800">
                          <a:latin typeface="Cambria Math" panose="02040503050406030204" pitchFamily="18" charset="0"/>
                        </a:rPr>
                        <m:t>    0.75    </m:t>
                      </m:r>
                      <m:f>
                        <m:fPr>
                          <m:ctrlPr>
                            <a:rPr lang="en-US" sz="1800" i="1">
                              <a:solidFill>
                                <a:srgbClr val="836967"/>
                              </a:solidFill>
                              <a:latin typeface="Cambria Math" panose="02040503050406030204" pitchFamily="18" charset="0"/>
                            </a:rPr>
                          </m:ctrlPr>
                        </m:fPr>
                        <m:num>
                          <m:r>
                            <a:rPr lang="en-US" sz="1800">
                              <a:latin typeface="Cambria Math" panose="02040503050406030204" pitchFamily="18" charset="0"/>
                            </a:rPr>
                            <m:t>3</m:t>
                          </m:r>
                        </m:num>
                        <m:den>
                          <m:r>
                            <a:rPr lang="en-US" sz="1800">
                              <a:latin typeface="Cambria Math" panose="02040503050406030204" pitchFamily="18" charset="0"/>
                            </a:rPr>
                            <m:t>2</m:t>
                          </m:r>
                        </m:den>
                      </m:f>
                    </m:oMath>
                  </m:oMathPara>
                </a14:m>
                <a:endParaRPr lang="en-US" sz="1800" dirty="0"/>
              </a:p>
            </p:txBody>
          </p:sp>
        </mc:Choice>
        <mc:Fallback xmlns="">
          <p:sp>
            <p:nvSpPr>
              <p:cNvPr id="3" name="Rectangle 2">
                <a:extLst>
                  <a:ext uri="{FF2B5EF4-FFF2-40B4-BE49-F238E27FC236}">
                    <a16:creationId xmlns:a16="http://schemas.microsoft.com/office/drawing/2014/main" id="{D37102C5-0971-6044-A708-4C84024E8EB4}"/>
                  </a:ext>
                </a:extLst>
              </p:cNvPr>
              <p:cNvSpPr>
                <a:spLocks noRot="1" noChangeAspect="1" noMove="1" noResize="1" noEditPoints="1" noAdjustHandles="1" noChangeArrowheads="1" noChangeShapeType="1" noTextEdit="1"/>
              </p:cNvSpPr>
              <p:nvPr/>
            </p:nvSpPr>
            <p:spPr>
              <a:xfrm>
                <a:off x="3187645" y="1405637"/>
                <a:ext cx="2768707" cy="612732"/>
              </a:xfrm>
              <a:prstGeom prst="rect">
                <a:avLst/>
              </a:prstGeom>
              <a:blipFill>
                <a:blip r:embed="rId4"/>
                <a:stretch>
                  <a:fillRect b="-4082"/>
                </a:stretch>
              </a:blipFill>
            </p:spPr>
            <p:txBody>
              <a:bodyPr/>
              <a:lstStyle/>
              <a:p>
                <a:r>
                  <a:rPr lang="en-US">
                    <a:noFill/>
                  </a:rPr>
                  <a:t> </a:t>
                </a:r>
              </a:p>
            </p:txBody>
          </p:sp>
        </mc:Fallback>
      </mc:AlternateContent>
      <p:pic>
        <p:nvPicPr>
          <p:cNvPr id="8" name="Picture 7" descr="A picture containing bird&#10;&#10;Description automatically generated">
            <a:extLst>
              <a:ext uri="{FF2B5EF4-FFF2-40B4-BE49-F238E27FC236}">
                <a16:creationId xmlns:a16="http://schemas.microsoft.com/office/drawing/2014/main" id="{C6A24D15-704D-3E44-9C55-557BF0E0B704}"/>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18513" b="50081"/>
          <a:stretch/>
        </p:blipFill>
        <p:spPr bwMode="auto">
          <a:xfrm>
            <a:off x="3696653" y="2372216"/>
            <a:ext cx="4798695" cy="119951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0FED45F-B554-5840-8580-1965EC0424F0}"/>
                  </a:ext>
                </a:extLst>
              </p:cNvPr>
              <p:cNvSpPr/>
              <p:nvPr/>
            </p:nvSpPr>
            <p:spPr>
              <a:xfrm>
                <a:off x="3801941" y="5520354"/>
                <a:ext cx="4588114" cy="322845"/>
              </a:xfrm>
              <a:prstGeom prst="rect">
                <a:avLst/>
              </a:prstGeom>
            </p:spPr>
            <p:txBody>
              <a:bodyPr wrap="none">
                <a:spAutoFit/>
              </a:bodyPr>
              <a:lstStyle/>
              <a:p>
                <a:pPr algn="ctr">
                  <a:lnSpc>
                    <a:spcPct val="107000"/>
                  </a:lnSpc>
                </a:pPr>
                <a:r>
                  <a:rPr lang="en-US" dirty="0">
                    <a:latin typeface="Verdana" panose="020B0604030504040204" pitchFamily="34" charset="0"/>
                    <a:ea typeface="Verdana" panose="020B0604030504040204" pitchFamily="34" charset="0"/>
                    <a:cs typeface="Verdana" panose="020B0604030504040204" pitchFamily="34" charset="0"/>
                  </a:rPr>
                  <a:t>_______  </a:t>
                </a:r>
                <a14:m>
                  <m:oMath xmlns:m="http://schemas.openxmlformats.org/officeDocument/2006/math">
                    <m:r>
                      <a:rPr lang="en-US" i="1">
                        <a:latin typeface="Cambria Math" panose="02040503050406030204" pitchFamily="18" charset="0"/>
                        <a:ea typeface="Cambria Math" panose="02040503050406030204" pitchFamily="18" charset="0"/>
                        <a:cs typeface="Cambria Math" panose="02040503050406030204" pitchFamily="18" charset="0"/>
                      </a:rPr>
                      <m:t>&gt;</m:t>
                    </m:r>
                  </m:oMath>
                </a14:m>
                <a:r>
                  <a:rPr lang="en-US" dirty="0">
                    <a:latin typeface="Verdana" panose="020B0604030504040204" pitchFamily="34" charset="0"/>
                    <a:ea typeface="Verdana" panose="020B0604030504040204" pitchFamily="34" charset="0"/>
                    <a:cs typeface="Verdana" panose="020B0604030504040204" pitchFamily="34" charset="0"/>
                  </a:rPr>
                  <a:t>  _______  </a:t>
                </a:r>
                <a14:m>
                  <m:oMath xmlns:m="http://schemas.openxmlformats.org/officeDocument/2006/math">
                    <m:r>
                      <a:rPr lang="en-US" i="1">
                        <a:latin typeface="Cambria Math" panose="02040503050406030204" pitchFamily="18" charset="0"/>
                        <a:ea typeface="Cambria Math" panose="02040503050406030204" pitchFamily="18" charset="0"/>
                        <a:cs typeface="Cambria Math" panose="02040503050406030204" pitchFamily="18" charset="0"/>
                      </a:rPr>
                      <m:t>&gt;</m:t>
                    </m:r>
                  </m:oMath>
                </a14:m>
                <a:r>
                  <a:rPr lang="en-US" dirty="0">
                    <a:latin typeface="Verdana" panose="020B0604030504040204" pitchFamily="34" charset="0"/>
                    <a:ea typeface="Verdana" panose="020B0604030504040204" pitchFamily="34" charset="0"/>
                    <a:cs typeface="Verdana" panose="020B0604030504040204" pitchFamily="34" charset="0"/>
                  </a:rPr>
                  <a:t>  _______  </a:t>
                </a:r>
                <a14:m>
                  <m:oMath xmlns:m="http://schemas.openxmlformats.org/officeDocument/2006/math">
                    <m:r>
                      <a:rPr lang="en-US" i="1">
                        <a:latin typeface="Cambria Math" panose="02040503050406030204" pitchFamily="18" charset="0"/>
                        <a:ea typeface="Cambria Math" panose="02040503050406030204" pitchFamily="18" charset="0"/>
                        <a:cs typeface="Cambria Math" panose="02040503050406030204" pitchFamily="18" charset="0"/>
                      </a:rPr>
                      <m:t>&gt;</m:t>
                    </m:r>
                  </m:oMath>
                </a14:m>
                <a:r>
                  <a:rPr lang="en-US" dirty="0">
                    <a:latin typeface="Verdana" panose="020B0604030504040204" pitchFamily="34" charset="0"/>
                    <a:ea typeface="Verdana" panose="020B0604030504040204" pitchFamily="34" charset="0"/>
                    <a:cs typeface="Verdana" panose="020B0604030504040204" pitchFamily="34" charset="0"/>
                  </a:rPr>
                  <a:t>  _______ </a:t>
                </a:r>
                <a:endParaRPr lang="en-US" sz="1200"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4" name="Rectangle 3">
                <a:extLst>
                  <a:ext uri="{FF2B5EF4-FFF2-40B4-BE49-F238E27FC236}">
                    <a16:creationId xmlns:a16="http://schemas.microsoft.com/office/drawing/2014/main" id="{40FED45F-B554-5840-8580-1965EC0424F0}"/>
                  </a:ext>
                </a:extLst>
              </p:cNvPr>
              <p:cNvSpPr>
                <a:spLocks noRot="1" noChangeAspect="1" noMove="1" noResize="1" noEditPoints="1" noAdjustHandles="1" noChangeArrowheads="1" noChangeShapeType="1" noTextEdit="1"/>
              </p:cNvSpPr>
              <p:nvPr/>
            </p:nvSpPr>
            <p:spPr>
              <a:xfrm>
                <a:off x="2277940" y="5520353"/>
                <a:ext cx="4588115" cy="310919"/>
              </a:xfrm>
              <a:prstGeom prst="rect">
                <a:avLst/>
              </a:prstGeom>
              <a:blipFill>
                <a:blip r:embed="rId6"/>
                <a:stretch>
                  <a:fillRect t="-7692" b="-15385"/>
                </a:stretch>
              </a:blipFill>
            </p:spPr>
            <p:txBody>
              <a:bodyPr/>
              <a:lstStyle/>
              <a:p>
                <a:r>
                  <a:rPr lang="en-US">
                    <a:noFill/>
                  </a:rPr>
                  <a:t> </a:t>
                </a:r>
              </a:p>
            </p:txBody>
          </p:sp>
        </mc:Fallback>
      </mc:AlternateContent>
      <p:sp>
        <p:nvSpPr>
          <p:cNvPr id="10"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92</a:t>
            </a:r>
            <a:endParaRPr i="1" dirty="0">
              <a:latin typeface="Calibri"/>
              <a:ea typeface="Calibri"/>
              <a:cs typeface="Calibri"/>
              <a:sym typeface="Calibri"/>
            </a:endParaRPr>
          </a:p>
        </p:txBody>
      </p:sp>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34116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711200" y="398473"/>
                <a:ext cx="10769600" cy="4154984"/>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Select all the values that are greater than </a:t>
                </a:r>
                <a14:m>
                  <m:oMath xmlns:m="http://schemas.openxmlformats.org/officeDocument/2006/math">
                    <m:r>
                      <a:rPr lang="en-US" sz="2400" i="1">
                        <a:latin typeface="Cambria Math" panose="02040503050406030204" pitchFamily="18" charset="0"/>
                      </a:rPr>
                      <m:t>−5</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Wingdings" pitchFamily="2" charset="2"/>
                  <a:buChar char="q"/>
                </a:pPr>
                <a14:m>
                  <m:oMath xmlns:m="http://schemas.openxmlformats.org/officeDocument/2006/math">
                    <m:r>
                      <a:rPr lang="en-US" sz="2400" i="1">
                        <a:latin typeface="Cambria Math" panose="02040503050406030204" pitchFamily="18" charset="0"/>
                      </a:rPr>
                      <m:t>1.324</m:t>
                    </m:r>
                  </m:oMath>
                </a14:m>
                <a:endParaRPr lang="en-US" sz="2400" dirty="0"/>
              </a:p>
              <a:p>
                <a:pPr marL="914400" indent="-449263">
                  <a:buFont typeface="Wingdings" pitchFamily="2" charset="2"/>
                  <a:buChar char="q"/>
                </a:pPr>
                <a14:m>
                  <m:oMath xmlns:m="http://schemas.openxmlformats.org/officeDocument/2006/math">
                    <m:r>
                      <a:rPr lang="en-US" sz="2400" i="1">
                        <a:latin typeface="Cambria Math" panose="02040503050406030204" pitchFamily="18" charset="0"/>
                      </a:rPr>
                      <m:t>−6.2</m:t>
                    </m:r>
                  </m:oMath>
                </a14:m>
                <a:endParaRPr lang="en-US" sz="2400" dirty="0"/>
              </a:p>
              <a:p>
                <a:pPr marL="914400" indent="-449263">
                  <a:buFont typeface="Wingdings" pitchFamily="2" charset="2"/>
                  <a:buChar char="q"/>
                </a:pPr>
                <a14:m>
                  <m:oMath xmlns:m="http://schemas.openxmlformats.org/officeDocument/2006/math">
                    <m:r>
                      <a:rPr lang="en-US" sz="2400" i="1">
                        <a:latin typeface="Cambria Math" panose="02040503050406030204" pitchFamily="18" charset="0"/>
                      </a:rPr>
                      <m:t>−12.67</m:t>
                    </m:r>
                  </m:oMath>
                </a14:m>
                <a:endParaRPr lang="en-US" sz="2400" dirty="0"/>
              </a:p>
              <a:p>
                <a:pPr marL="914400" indent="-449263">
                  <a:buFont typeface="Wingdings" pitchFamily="2" charset="2"/>
                  <a:buChar char="q"/>
                </a:pPr>
                <a14:m>
                  <m:oMath xmlns:m="http://schemas.openxmlformats.org/officeDocument/2006/math">
                    <m:r>
                      <a:rPr lang="en-US" sz="2400" i="1">
                        <a:latin typeface="Cambria Math" panose="02040503050406030204" pitchFamily="18" charset="0"/>
                      </a:rPr>
                      <m:t>0.231</m:t>
                    </m:r>
                  </m:oMath>
                </a14:m>
                <a:endParaRPr lang="en-US" sz="2400" dirty="0"/>
              </a:p>
              <a:p>
                <a:pPr marL="914400" indent="-449263">
                  <a:buFont typeface="Wingdings" pitchFamily="2" charset="2"/>
                  <a:buChar char="q"/>
                </a:pPr>
                <a14:m>
                  <m:oMath xmlns:m="http://schemas.openxmlformats.org/officeDocument/2006/math">
                    <m:r>
                      <a:rPr lang="en-US" sz="2400" i="1">
                        <a:latin typeface="Cambria Math" panose="02040503050406030204" pitchFamily="18" charset="0"/>
                      </a:rPr>
                      <m:t>−1.4</m:t>
                    </m:r>
                  </m:oMath>
                </a14:m>
                <a:endParaRPr lang="en-US" sz="2400" dirty="0"/>
              </a:p>
              <a:p>
                <a:pPr marL="914400" indent="-449263">
                  <a:buFont typeface="Wingdings" pitchFamily="2" charset="2"/>
                  <a:buChar char="q"/>
                </a:pPr>
                <a14:m>
                  <m:oMath xmlns:m="http://schemas.openxmlformats.org/officeDocument/2006/math">
                    <m:r>
                      <a:rPr lang="en-US" sz="2400" i="1">
                        <a:latin typeface="Cambria Math" panose="02040503050406030204" pitchFamily="18" charset="0"/>
                      </a:rPr>
                      <m:t>−4.789</m:t>
                    </m:r>
                  </m:oMath>
                </a14:m>
                <a:endParaRPr lang="en-US" sz="2400" dirty="0"/>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711200" y="398473"/>
                <a:ext cx="10769600" cy="4154984"/>
              </a:xfrm>
              <a:prstGeom prst="rect">
                <a:avLst/>
              </a:prstGeom>
              <a:blipFill rotWithShape="0">
                <a:blip r:embed="rId3"/>
                <a:stretch>
                  <a:fillRect l="-906" t="-132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C20EB48B-0C2A-FF47-ACB6-866A7F95956C}"/>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43777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08C67FCF-92C3-654A-BF40-5BDF7A4F9271}"/>
              </a:ext>
            </a:extLst>
          </p:cNvPr>
          <p:cNvSpPr txBox="1"/>
          <p:nvPr/>
        </p:nvSpPr>
        <p:spPr>
          <a:xfrm>
            <a:off x="1016000" y="398473"/>
            <a:ext cx="10160000" cy="1569660"/>
          </a:xfrm>
          <a:prstGeom prst="rect">
            <a:avLst/>
          </a:prstGeom>
          <a:noFill/>
        </p:spPr>
        <p:txBody>
          <a:bodyPr wrap="square" rtlCol="0">
            <a:spAutoFit/>
          </a:bodyPr>
          <a:lstStyle/>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Order these values from least to greatest. </a:t>
            </a: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C20EB48B-0C2A-FF47-ACB6-866A7F95956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49C523F-FEE0-E944-B767-CAF0E268D3F2}"/>
                  </a:ext>
                </a:extLst>
              </p:cNvPr>
              <p:cNvSpPr/>
              <p:nvPr/>
            </p:nvSpPr>
            <p:spPr>
              <a:xfrm>
                <a:off x="2578133" y="1741124"/>
                <a:ext cx="7035734" cy="67050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0.43,  −4</m:t>
                      </m:r>
                      <m:f>
                        <m:fPr>
                          <m:ctrlPr>
                            <a:rPr lang="en-US" sz="2000" i="1">
                              <a:solidFill>
                                <a:srgbClr val="836967"/>
                              </a:solidFill>
                              <a:latin typeface="Cambria Math" panose="02040503050406030204" pitchFamily="18" charset="0"/>
                            </a:rPr>
                          </m:ctrlPr>
                        </m:fPr>
                        <m:num>
                          <m:r>
                            <a:rPr lang="en-US" sz="2000">
                              <a:latin typeface="Cambria Math" panose="02040503050406030204" pitchFamily="18" charset="0"/>
                            </a:rPr>
                            <m:t>1</m:t>
                          </m:r>
                        </m:num>
                        <m:den>
                          <m:r>
                            <a:rPr lang="en-US" sz="2000">
                              <a:latin typeface="Cambria Math" panose="02040503050406030204" pitchFamily="18" charset="0"/>
                            </a:rPr>
                            <m:t>5</m:t>
                          </m:r>
                        </m:den>
                      </m:f>
                      <m:r>
                        <a:rPr lang="en-US" sz="2000">
                          <a:latin typeface="Cambria Math" panose="02040503050406030204" pitchFamily="18" charset="0"/>
                        </a:rPr>
                        <m:t>,  0,  50%,  −</m:t>
                      </m:r>
                      <m:f>
                        <m:fPr>
                          <m:ctrlPr>
                            <a:rPr lang="en-US" sz="2000" i="1">
                              <a:solidFill>
                                <a:srgbClr val="836967"/>
                              </a:solidFill>
                              <a:latin typeface="Cambria Math" panose="02040503050406030204" pitchFamily="18" charset="0"/>
                            </a:rPr>
                          </m:ctrlPr>
                        </m:fPr>
                        <m:num>
                          <m:r>
                            <a:rPr lang="en-US" sz="2000">
                              <a:latin typeface="Cambria Math" panose="02040503050406030204" pitchFamily="18" charset="0"/>
                            </a:rPr>
                            <m:t>3</m:t>
                          </m:r>
                        </m:num>
                        <m:den>
                          <m:r>
                            <a:rPr lang="en-US" sz="2000">
                              <a:latin typeface="Cambria Math" panose="02040503050406030204" pitchFamily="18" charset="0"/>
                            </a:rPr>
                            <m:t>2</m:t>
                          </m:r>
                        </m:den>
                      </m:f>
                      <m:r>
                        <a:rPr lang="en-US" sz="2000">
                          <a:latin typeface="Cambria Math" panose="02040503050406030204" pitchFamily="18" charset="0"/>
                        </a:rPr>
                        <m:t>,  −6.712,  19%</m:t>
                      </m:r>
                    </m:oMath>
                  </m:oMathPara>
                </a14:m>
                <a:endParaRPr lang="en-US" sz="2000" dirty="0"/>
              </a:p>
            </p:txBody>
          </p:sp>
        </mc:Choice>
        <mc:Fallback xmlns="">
          <p:sp>
            <p:nvSpPr>
              <p:cNvPr id="2" name="Rectangle 1">
                <a:extLst>
                  <a:ext uri="{FF2B5EF4-FFF2-40B4-BE49-F238E27FC236}">
                    <a16:creationId xmlns:a16="http://schemas.microsoft.com/office/drawing/2014/main" id="{649C523F-FEE0-E944-B767-CAF0E268D3F2}"/>
                  </a:ext>
                </a:extLst>
              </p:cNvPr>
              <p:cNvSpPr>
                <a:spLocks noRot="1" noChangeAspect="1" noMove="1" noResize="1" noEditPoints="1" noAdjustHandles="1" noChangeArrowheads="1" noChangeShapeType="1" noTextEdit="1"/>
              </p:cNvSpPr>
              <p:nvPr/>
            </p:nvSpPr>
            <p:spPr>
              <a:xfrm>
                <a:off x="1054133" y="1741123"/>
                <a:ext cx="7035734" cy="670505"/>
              </a:xfrm>
              <a:prstGeom prst="rect">
                <a:avLst/>
              </a:prstGeom>
              <a:blipFill>
                <a:blip r:embed="rId4"/>
                <a:stretch>
                  <a:fillRect b="-5556"/>
                </a:stretch>
              </a:blipFill>
            </p:spPr>
            <p:txBody>
              <a:bodyPr/>
              <a:lstStyle/>
              <a:p>
                <a:r>
                  <a:rPr lang="en-US">
                    <a:noFill/>
                  </a:rPr>
                  <a:t> </a:t>
                </a:r>
              </a:p>
            </p:txBody>
          </p:sp>
        </mc:Fallback>
      </mc:AlternateContent>
      <p:pic>
        <p:nvPicPr>
          <p:cNvPr id="7" name="Picture 6" descr="A picture containing bird&#10;&#10;Description automatically generated">
            <a:extLst>
              <a:ext uri="{FF2B5EF4-FFF2-40B4-BE49-F238E27FC236}">
                <a16:creationId xmlns:a16="http://schemas.microsoft.com/office/drawing/2014/main" id="{79C9B774-708B-4048-91E8-EEAE67AC74E6}"/>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18513" b="50081"/>
          <a:stretch/>
        </p:blipFill>
        <p:spPr bwMode="auto">
          <a:xfrm>
            <a:off x="2719946" y="3786053"/>
            <a:ext cx="6752108" cy="1687106"/>
          </a:xfrm>
          <a:prstGeom prst="rect">
            <a:avLst/>
          </a:prstGeom>
          <a:ln>
            <a:noFill/>
          </a:ln>
          <a:extLst>
            <a:ext uri="{53640926-AAD7-44D8-BBD7-CCE9431645EC}">
              <a14:shadowObscured xmlns:a14="http://schemas.microsoft.com/office/drawing/2010/main"/>
            </a:ext>
          </a:extLst>
        </p:spPr>
      </p:pic>
      <p:sp>
        <p:nvSpPr>
          <p:cNvPr id="9"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92</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87521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506412" y="-1631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3.3.5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02063" y="244482"/>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168400" y="1386026"/>
            <a:ext cx="10111232" cy="830997"/>
          </a:xfrm>
          <a:prstGeom prst="rect">
            <a:avLst/>
          </a:prstGeom>
          <a:noFill/>
        </p:spPr>
        <p:txBody>
          <a:bodyPr wrap="square" rtlCol="0">
            <a:spAutoFit/>
          </a:bodyPr>
          <a:lstStyle/>
          <a:p>
            <a:pPr marL="342900" lvl="3" indent="-3429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Circle the emoji that best represents your understanding of the lesson today.</a:t>
            </a:r>
          </a:p>
        </p:txBody>
      </p:sp>
      <p:sp>
        <p:nvSpPr>
          <p:cNvPr id="8" name="Google Shape;278;g104476d1465_1_17">
            <a:extLst>
              <a:ext uri="{FF2B5EF4-FFF2-40B4-BE49-F238E27FC236}">
                <a16:creationId xmlns:a16="http://schemas.microsoft.com/office/drawing/2014/main" id="{31AAE36C-5822-464A-8B2B-DAD96F65814D}"/>
              </a:ext>
            </a:extLst>
          </p:cNvPr>
          <p:cNvSpPr/>
          <p:nvPr/>
        </p:nvSpPr>
        <p:spPr>
          <a:xfrm>
            <a:off x="0" y="-8225"/>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2" name="Group 1">
            <a:extLst>
              <a:ext uri="{FF2B5EF4-FFF2-40B4-BE49-F238E27FC236}">
                <a16:creationId xmlns:a16="http://schemas.microsoft.com/office/drawing/2014/main" id="{4C0886E6-3933-4F4E-8429-E2934843C8AB}"/>
              </a:ext>
            </a:extLst>
          </p:cNvPr>
          <p:cNvGrpSpPr/>
          <p:nvPr/>
        </p:nvGrpSpPr>
        <p:grpSpPr>
          <a:xfrm>
            <a:off x="2678430" y="3424825"/>
            <a:ext cx="6835140" cy="1631218"/>
            <a:chOff x="995850" y="3208965"/>
            <a:chExt cx="6835140" cy="1631218"/>
          </a:xfrm>
        </p:grpSpPr>
        <p:pic>
          <p:nvPicPr>
            <p:cNvPr id="10" name="image4.png" descr="Chart&#10;&#10;Description automatically generated">
              <a:extLst>
                <a:ext uri="{FF2B5EF4-FFF2-40B4-BE49-F238E27FC236}">
                  <a16:creationId xmlns:a16="http://schemas.microsoft.com/office/drawing/2014/main" id="{D7F71C49-835D-7F4D-9DD1-A9B5340ED66F}"/>
                </a:ext>
              </a:extLst>
            </p:cNvPr>
            <p:cNvPicPr/>
            <p:nvPr/>
          </p:nvPicPr>
          <p:blipFill>
            <a:blip r:embed="rId4" cstate="screen">
              <a:extLst>
                <a:ext uri="{28A0092B-C50C-407E-A947-70E740481C1C}">
                  <a14:useLocalDpi xmlns:a14="http://schemas.microsoft.com/office/drawing/2010/main"/>
                </a:ext>
              </a:extLst>
            </a:blip>
            <a:srcRect t="46060" b="42611"/>
            <a:stretch>
              <a:fillRect/>
            </a:stretch>
          </p:blipFill>
          <p:spPr>
            <a:xfrm>
              <a:off x="995850" y="4333453"/>
              <a:ext cx="6835140" cy="506730"/>
            </a:xfrm>
            <a:prstGeom prst="rect">
              <a:avLst/>
            </a:prstGeom>
            <a:ln/>
          </p:spPr>
        </p:pic>
        <p:pic>
          <p:nvPicPr>
            <p:cNvPr id="17" name="image17.png" descr="Icon&#10;&#10;Description automatically generated">
              <a:extLst>
                <a:ext uri="{FF2B5EF4-FFF2-40B4-BE49-F238E27FC236}">
                  <a16:creationId xmlns:a16="http://schemas.microsoft.com/office/drawing/2014/main" id="{D9454CDF-86C3-EC49-8A92-2CAC3322DA11}"/>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1093822" y="3208965"/>
              <a:ext cx="914400" cy="914400"/>
            </a:xfrm>
            <a:prstGeom prst="rect">
              <a:avLst/>
            </a:prstGeom>
            <a:ln/>
          </p:spPr>
        </p:pic>
        <p:pic>
          <p:nvPicPr>
            <p:cNvPr id="18" name="image19.png" descr="Icon&#10;&#10;Description automatically generated">
              <a:extLst>
                <a:ext uri="{FF2B5EF4-FFF2-40B4-BE49-F238E27FC236}">
                  <a16:creationId xmlns:a16="http://schemas.microsoft.com/office/drawing/2014/main" id="{FA514307-0520-6E4E-A140-A4ECF662314C}"/>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2236822" y="3208965"/>
              <a:ext cx="914400" cy="914400"/>
            </a:xfrm>
            <a:prstGeom prst="rect">
              <a:avLst/>
            </a:prstGeom>
            <a:ln/>
          </p:spPr>
        </p:pic>
        <p:pic>
          <p:nvPicPr>
            <p:cNvPr id="19" name="image22.png" descr="Icon&#10;&#10;Description automatically generated">
              <a:extLst>
                <a:ext uri="{FF2B5EF4-FFF2-40B4-BE49-F238E27FC236}">
                  <a16:creationId xmlns:a16="http://schemas.microsoft.com/office/drawing/2014/main" id="{2123B1EB-B12C-E746-8C88-07089807A611}"/>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3379822" y="3208965"/>
              <a:ext cx="914400" cy="914400"/>
            </a:xfrm>
            <a:prstGeom prst="rect">
              <a:avLst/>
            </a:prstGeom>
            <a:ln/>
          </p:spPr>
        </p:pic>
        <p:pic>
          <p:nvPicPr>
            <p:cNvPr id="20" name="image20.png" descr="Icon&#10;&#10;Description automatically generated">
              <a:extLst>
                <a:ext uri="{FF2B5EF4-FFF2-40B4-BE49-F238E27FC236}">
                  <a16:creationId xmlns:a16="http://schemas.microsoft.com/office/drawing/2014/main" id="{8620D7E2-E549-E749-9732-692F0A98E1E4}"/>
                </a:ext>
              </a:extLst>
            </p:cNvPr>
            <p:cNvPicPr/>
            <p:nvPr/>
          </p:nvPicPr>
          <p:blipFill>
            <a:blip r:embed="rId8" cstate="screen">
              <a:extLst>
                <a:ext uri="{28A0092B-C50C-407E-A947-70E740481C1C}">
                  <a14:useLocalDpi xmlns:a14="http://schemas.microsoft.com/office/drawing/2010/main"/>
                </a:ext>
              </a:extLst>
            </a:blip>
            <a:srcRect/>
            <a:stretch>
              <a:fillRect/>
            </a:stretch>
          </p:blipFill>
          <p:spPr>
            <a:xfrm>
              <a:off x="4511392" y="3208965"/>
              <a:ext cx="914400" cy="914400"/>
            </a:xfrm>
            <a:prstGeom prst="rect">
              <a:avLst/>
            </a:prstGeom>
            <a:ln/>
          </p:spPr>
        </p:pic>
        <p:pic>
          <p:nvPicPr>
            <p:cNvPr id="21" name="image21.png" descr="Icon&#10;&#10;Description automatically generated">
              <a:extLst>
                <a:ext uri="{FF2B5EF4-FFF2-40B4-BE49-F238E27FC236}">
                  <a16:creationId xmlns:a16="http://schemas.microsoft.com/office/drawing/2014/main" id="{DF017B3A-BABF-694E-970B-5C4643203660}"/>
                </a:ext>
              </a:extLst>
            </p:cNvPr>
            <p:cNvPicPr/>
            <p:nvPr/>
          </p:nvPicPr>
          <p:blipFill>
            <a:blip r:embed="rId9" cstate="screen">
              <a:extLst>
                <a:ext uri="{28A0092B-C50C-407E-A947-70E740481C1C}">
                  <a14:useLocalDpi xmlns:a14="http://schemas.microsoft.com/office/drawing/2010/main"/>
                </a:ext>
              </a:extLst>
            </a:blip>
            <a:srcRect/>
            <a:stretch>
              <a:fillRect/>
            </a:stretch>
          </p:blipFill>
          <p:spPr>
            <a:xfrm>
              <a:off x="5653757" y="3208965"/>
              <a:ext cx="914400" cy="914400"/>
            </a:xfrm>
            <a:prstGeom prst="rect">
              <a:avLst/>
            </a:prstGeom>
            <a:ln/>
          </p:spPr>
        </p:pic>
        <p:pic>
          <p:nvPicPr>
            <p:cNvPr id="22" name="image8.png" descr="Icon&#10;&#10;Description automatically generated">
              <a:extLst>
                <a:ext uri="{FF2B5EF4-FFF2-40B4-BE49-F238E27FC236}">
                  <a16:creationId xmlns:a16="http://schemas.microsoft.com/office/drawing/2014/main" id="{2DBA5E44-963C-AB47-B128-A70BC863FD7E}"/>
                </a:ext>
              </a:extLst>
            </p:cNvPr>
            <p:cNvPicPr/>
            <p:nvPr/>
          </p:nvPicPr>
          <p:blipFill>
            <a:blip r:embed="rId10" cstate="screen">
              <a:extLst>
                <a:ext uri="{28A0092B-C50C-407E-A947-70E740481C1C}">
                  <a14:useLocalDpi xmlns:a14="http://schemas.microsoft.com/office/drawing/2010/main"/>
                </a:ext>
              </a:extLst>
            </a:blip>
            <a:srcRect/>
            <a:stretch>
              <a:fillRect/>
            </a:stretch>
          </p:blipFill>
          <p:spPr>
            <a:xfrm>
              <a:off x="6796122" y="3208965"/>
              <a:ext cx="914400" cy="914400"/>
            </a:xfrm>
            <a:prstGeom prst="rect">
              <a:avLst/>
            </a:prstGeom>
            <a:ln/>
          </p:spPr>
        </p:pic>
      </p:grpSp>
      <p:sp>
        <p:nvSpPr>
          <p:cNvPr id="16"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92</a:t>
            </a:r>
            <a:endParaRPr i="1" dirty="0">
              <a:latin typeface="Calibri"/>
              <a:ea typeface="Calibri"/>
              <a:cs typeface="Calibri"/>
              <a:sym typeface="Calibri"/>
            </a:endParaRPr>
          </a:p>
        </p:txBody>
      </p:sp>
      <p:pic>
        <p:nvPicPr>
          <p:cNvPr id="24" name="Google Shape;283;g104476d1465_1_17"/>
          <p:cNvPicPr preferRelativeResize="0"/>
          <p:nvPr/>
        </p:nvPicPr>
        <p:blipFill>
          <a:blip r:embed="rId11"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4CE9D117-FAE6-F74F-940B-9CD1479755BE}"/>
              </a:ext>
            </a:extLst>
          </p:cNvPr>
          <p:cNvSpPr txBox="1"/>
          <p:nvPr/>
        </p:nvSpPr>
        <p:spPr>
          <a:xfrm>
            <a:off x="914400" y="422858"/>
            <a:ext cx="10363200"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an explanation of why you chose that emoji.</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770AEB55-C0B0-E249-801E-7B66B61DDE11}"/>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609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92</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91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1314</TotalTime>
  <Words>1170</Words>
  <Application>Microsoft Office PowerPoint</Application>
  <PresentationFormat>Widescreen</PresentationFormat>
  <Paragraphs>245</Paragraphs>
  <Slides>29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Arial Black</vt:lpstr>
      <vt:lpstr>Calibri</vt:lpstr>
      <vt:lpstr>Cambria</vt:lpstr>
      <vt:lpstr>Cambria Math</vt:lpstr>
      <vt:lpstr>Century Gothic</vt:lpstr>
      <vt:lpstr>Courier New</vt:lpstr>
      <vt:lpstr>Verdana</vt:lpstr>
      <vt:lpstr>Wingdings</vt:lpstr>
      <vt:lpstr>1_Office Theme</vt:lpstr>
      <vt:lpstr>6th Grade Accelerated Math  Unit 3, Lesson 3  Plotting, Ordering, and Comparing Rational Numbers – Part 1  Volume 1, pg. 87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25</cp:revision>
  <dcterms:created xsi:type="dcterms:W3CDTF">2015-03-17T18:51:18Z</dcterms:created>
  <dcterms:modified xsi:type="dcterms:W3CDTF">2022-06-29T05:03:20Z</dcterms:modified>
</cp:coreProperties>
</file>