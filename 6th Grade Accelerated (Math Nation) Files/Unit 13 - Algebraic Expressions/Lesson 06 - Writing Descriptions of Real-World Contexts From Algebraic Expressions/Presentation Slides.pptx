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7" r:id="rId9"/>
    <p:sldId id="318" r:id="rId10"/>
    <p:sldId id="344" r:id="rId11"/>
    <p:sldId id="314" r:id="rId12"/>
    <p:sldId id="315" r:id="rId13"/>
    <p:sldId id="342" r:id="rId14"/>
    <p:sldId id="355" r:id="rId15"/>
    <p:sldId id="356" r:id="rId16"/>
    <p:sldId id="352" r:id="rId17"/>
    <p:sldId id="353" r:id="rId18"/>
    <p:sldId id="354" r:id="rId19"/>
    <p:sldId id="306" r:id="rId20"/>
    <p:sldId id="307" r:id="rId21"/>
    <p:sldId id="351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276C46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12"/>
    <p:restoredTop sz="94695"/>
  </p:normalViewPr>
  <p:slideViewPr>
    <p:cSldViewPr snapToGrid="0">
      <p:cViewPr varScale="1">
        <p:scale>
          <a:sx n="77" d="100"/>
          <a:sy n="77" d="100"/>
        </p:scale>
        <p:origin x="57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8468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9287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981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981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981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9287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745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en.wikipedia.org/wiki/Madam_C._J._Walker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hyperlink" Target="https://en.wikipedia.org/wiki/Madam_C._J._Walker" TargetMode="Externa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Descriptions of Real-World Contexts from Algebraic Expressions</a:t>
            </a:r>
            <a:b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291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95207" y="19807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707" y="43384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95207" y="1600200"/>
            <a:ext cx="861559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MA.6.AR.1.1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real-world context, translate written descriptions into algebraic expressions and translate algebraic expressions into written descriptions.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050" y="4312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76700" y="18865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76700" y="1596390"/>
            <a:ext cx="98263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8469" y="-2400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7" y="26519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88469" y="1600200"/>
            <a:ext cx="92150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5475" indent="-619125">
              <a:buClr>
                <a:srgbClr val="434343"/>
              </a:buClr>
              <a:buSzPts val="3500"/>
              <a:buFont typeface="Wingdings" pitchFamily="2" charset="2"/>
              <a:buChar char="q"/>
              <a:tabLst>
                <a:tab pos="722313" algn="l"/>
              </a:tabLst>
            </a:pPr>
            <a:r>
              <a:rPr lang="en-US" sz="3500" dirty="0">
                <a:latin typeface="Verdana" pitchFamily="34" charset="0"/>
                <a:ea typeface="Verdana" pitchFamily="34" charset="0"/>
              </a:rPr>
              <a:t>I can create a real-world context from an algebraic expression.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0588" y="-90207"/>
            <a:ext cx="1054783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13.6.1 Warm-Up: Self-Made Millionaire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88" y="2102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440588" y="1386022"/>
                <a:ext cx="508891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Madam C.J. Walker was the first African American </a:t>
                </a:r>
                <a:br>
                  <a:rPr lang="en-US" sz="2400" dirty="0">
                    <a:latin typeface="Verdana"/>
                    <a:ea typeface="MS Mincho"/>
                    <a:cs typeface="Times New Roman"/>
                  </a:rPr>
                </a:b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self-made millionaire. </a:t>
                </a:r>
                <a:br>
                  <a:rPr lang="en-US" sz="2400" dirty="0">
                    <a:latin typeface="Verdana"/>
                    <a:ea typeface="MS Mincho"/>
                    <a:cs typeface="Times New Roman"/>
                  </a:rPr>
                </a:b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She made her fortune by inventing and selling specialized hair products, including an innovative Edge Control product that sold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$0.35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each beginning in 1905.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8" y="1386022"/>
                <a:ext cx="5088912" cy="3416320"/>
              </a:xfrm>
              <a:prstGeom prst="rect">
                <a:avLst/>
              </a:prstGeom>
              <a:blipFill rotWithShape="0">
                <a:blip r:embed="rId4"/>
                <a:stretch>
                  <a:fillRect l="-1796" t="-1426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Madam C. J. Walker - Wikipedia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225870" y="1417590"/>
            <a:ext cx="2722880" cy="401447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10343" y="520392"/>
                <a:ext cx="573813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Create an algebraic expression to describe the total revenue Madam C.J. Walker earned for selling any number of Edge Control products,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𝑒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.</a:t>
                </a:r>
                <a:endParaRPr lang="en-US" sz="1600" dirty="0">
                  <a:latin typeface="Cambria"/>
                  <a:ea typeface="MS Mincho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520392"/>
                <a:ext cx="5738133" cy="1938992"/>
              </a:xfrm>
              <a:prstGeom prst="rect">
                <a:avLst/>
              </a:prstGeom>
              <a:blipFill rotWithShape="0">
                <a:blip r:embed="rId3"/>
                <a:stretch>
                  <a:fillRect l="-1594" t="-2516" r="-255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Madam C. J. Walker - Wikipedia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64017" y="520392"/>
            <a:ext cx="3270885" cy="338963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9334" y="-1456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13.6.2 Activity: Matching Real-World Contexts to Expressions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26" y="27337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660320" y="1386026"/>
                <a:ext cx="9127392" cy="3736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Match each real-world situation with the correct expression.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UcPeriod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Ryan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songs. His friend bought him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more songs. How many songs does Ryan have?</a:t>
                </a:r>
              </a:p>
              <a:p>
                <a:pPr marL="914400" indent="-457200">
                  <a:buFont typeface="+mj-lt"/>
                  <a:buAutoNum type="alphaUcPeriod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/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b.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20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d.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20−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UcPeriod" startAt="2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UcPeriod" startAt="2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Karen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flowers. Helen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times more flowers than Karen. How many flowers does Helen have?</a:t>
                </a:r>
              </a:p>
              <a:p>
                <a:pPr marL="914400" indent="-457200">
                  <a:buFont typeface="+mj-lt"/>
                  <a:buAutoNum type="alphaUcPeriod" startAt="2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/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b.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20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d.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20−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320" y="1386026"/>
                <a:ext cx="9127392" cy="3736023"/>
              </a:xfrm>
              <a:prstGeom prst="rect">
                <a:avLst/>
              </a:prstGeom>
              <a:blipFill rotWithShape="0">
                <a:blip r:embed="rId4"/>
                <a:stretch>
                  <a:fillRect l="-734" t="-979" b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322614" y="520394"/>
                <a:ext cx="9697438" cy="3736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UcPeriod" startAt="3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George earned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points in a card game. Bruno earned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fewer points than George. How many points did </a:t>
                </a:r>
                <a:br>
                  <a:rPr lang="en-US" sz="2000" dirty="0">
                    <a:latin typeface="Verdana"/>
                    <a:ea typeface="MS Mincho"/>
                    <a:cs typeface="Times New Roman"/>
                  </a:rPr>
                </a:b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Bruno earn?</a:t>
                </a:r>
              </a:p>
              <a:p>
                <a:pPr marL="914400" indent="-457200">
                  <a:buFont typeface="+mj-lt"/>
                  <a:buAutoNum type="alphaUcPeriod" startAt="3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/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b.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20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d.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20−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UcPeriod" startAt="4"/>
                </a:pP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Maria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books and wants to put an equal number of books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MS Mincho"/>
                        <a:cs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 bookshelves. How many books go on </a:t>
                </a:r>
                <a:br>
                  <a:rPr lang="en-US" sz="2000" dirty="0">
                    <a:latin typeface="Verdana"/>
                    <a:ea typeface="MS Mincho"/>
                    <a:cs typeface="Times New Roman"/>
                  </a:rPr>
                </a:br>
                <a:r>
                  <a:rPr lang="en-US" sz="2000" dirty="0">
                    <a:latin typeface="Verdana"/>
                    <a:ea typeface="MS Mincho"/>
                    <a:cs typeface="Times New Roman"/>
                  </a:rPr>
                  <a:t>each shelf?</a:t>
                </a:r>
              </a:p>
              <a:p>
                <a:pPr marL="914400" indent="-457200">
                  <a:buFont typeface="+mj-lt"/>
                  <a:buAutoNum type="alphaUcPeriod" startAt="4"/>
                </a:pPr>
                <a:endParaRPr lang="en-US" sz="2000" dirty="0">
                  <a:latin typeface="Verdana"/>
                  <a:ea typeface="MS Mincho"/>
                  <a:cs typeface="Times New Roman"/>
                </a:endParaRPr>
              </a:p>
              <a:p>
                <a:pPr marL="914400"/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b.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20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 panose="020B060403050404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d.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20−</m:t>
                    </m:r>
                    <m:r>
                      <a:rPr lang="en-US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614" y="520394"/>
                <a:ext cx="9697438" cy="3736023"/>
              </a:xfrm>
              <a:prstGeom prst="rect">
                <a:avLst/>
              </a:prstGeom>
              <a:blipFill rotWithShape="0">
                <a:blip r:embed="rId3"/>
                <a:stretch>
                  <a:fillRect t="-979" r="-691" b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74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933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13.6.3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Writing Real-World Contexts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2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439334" y="1386025"/>
            <a:ext cx="9569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expression, create a real-world scenario that the algebraic expression could represent.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627484"/>
                  </p:ext>
                </p:extLst>
              </p:nvPr>
            </p:nvGraphicFramePr>
            <p:xfrm>
              <a:off x="2628901" y="2312305"/>
              <a:ext cx="7419975" cy="377672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352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336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36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Your </a:t>
                          </a:r>
                          <a:b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Real-World Scenario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What does the variable represent?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𝑟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21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100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/>
                                        <a:ea typeface="Cambria Math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627484"/>
                  </p:ext>
                </p:extLst>
              </p:nvPr>
            </p:nvGraphicFramePr>
            <p:xfrm>
              <a:off x="1104900" y="2312305"/>
              <a:ext cx="7419975" cy="377672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352675"/>
                    <a:gridCol w="2533650"/>
                    <a:gridCol w="2533650"/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Your </a:t>
                          </a:r>
                          <a:b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Real-World Scenario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What does the variable represent?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853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21429" r="-21554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853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21429" r="-21554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64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57143" r="-215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2131777"/>
                  </p:ext>
                </p:extLst>
              </p:nvPr>
            </p:nvGraphicFramePr>
            <p:xfrm>
              <a:off x="2528776" y="520393"/>
              <a:ext cx="7419975" cy="3566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3526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336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36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Your </a:t>
                          </a:r>
                          <a:b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Real-World Scenario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What does the variable represent?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17+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57−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48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2131777"/>
                  </p:ext>
                </p:extLst>
              </p:nvPr>
            </p:nvGraphicFramePr>
            <p:xfrm>
              <a:off x="1004775" y="520393"/>
              <a:ext cx="7419975" cy="3566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352675"/>
                    <a:gridCol w="2533650"/>
                    <a:gridCol w="2533650"/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Expression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Your </a:t>
                          </a:r>
                          <a:b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Real-World Scenario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What does the variable represent?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</a:tr>
                  <a:tr h="853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59" t="-121429" r="-215544" b="-20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853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59" t="-221429" r="-215544" b="-10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853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59" t="-321429" r="-215544" b="-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Cambria Math" pitchFamily="18" charset="0"/>
                            <a:ea typeface="Cambria Math" pitchFamily="18" charset="0"/>
                          </a:endParaRPr>
                        </a:p>
                      </a:txBody>
                      <a:tcPr marT="274320" marB="2743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0626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12371" y="520394"/>
            <a:ext cx="10317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pick four expressions from Question 1 and use them to complete the following table.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877351"/>
              </p:ext>
            </p:extLst>
          </p:nvPr>
        </p:nvGraphicFramePr>
        <p:xfrm>
          <a:off x="2528776" y="2015818"/>
          <a:ext cx="7806124" cy="40538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86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Your Partner’s 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Does the Expression Accurately Represent the Scenario?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Similarities Between Your and Your Partner’s Scenarios for the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Yes</a:t>
                      </a:r>
                    </a:p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No</a:t>
                      </a:r>
                    </a:p>
                  </a:txBody>
                  <a:tcPr marL="640080"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Yes</a:t>
                      </a:r>
                    </a:p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No</a:t>
                      </a:r>
                    </a:p>
                  </a:txBody>
                  <a:tcPr marL="640080"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5504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13492"/>
              </p:ext>
            </p:extLst>
          </p:nvPr>
        </p:nvGraphicFramePr>
        <p:xfrm>
          <a:off x="2462101" y="520393"/>
          <a:ext cx="7806124" cy="40538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86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Your Partner’s 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Does the Expression Accurately Represent the Scenario?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Similarities Between Your and Your Partner’s Scenarios for the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Yes</a:t>
                      </a:r>
                    </a:p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No</a:t>
                      </a:r>
                    </a:p>
                  </a:txBody>
                  <a:tcPr marL="640080"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Yes</a:t>
                      </a:r>
                    </a:p>
                    <a:p>
                      <a:pPr marL="228600" indent="-228600" algn="l">
                        <a:buFont typeface="Verdana" pitchFamily="34" charset="0"/>
                        <a:buChar char="□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No</a:t>
                      </a:r>
                    </a:p>
                  </a:txBody>
                  <a:tcPr marL="640080"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228600" marB="228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8148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057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08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918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13.6.4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37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439180" y="1386025"/>
            <a:ext cx="956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scenarios are displayed. For each scenario, write an algebraic expression to match.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6595"/>
              </p:ext>
            </p:extLst>
          </p:nvPr>
        </p:nvGraphicFramePr>
        <p:xfrm>
          <a:off x="2144947" y="2274205"/>
          <a:ext cx="7732479" cy="40538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874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246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541302"/>
              </p:ext>
            </p:extLst>
          </p:nvPr>
        </p:nvGraphicFramePr>
        <p:xfrm>
          <a:off x="2097322" y="520393"/>
          <a:ext cx="7732479" cy="40538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874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 marT="457200" marB="457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2930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81663" y="-810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13.6.5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213" y="1347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660320" y="1386025"/>
                <a:ext cx="912739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Frank has a plant that measured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h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inches tall last week. This week the plant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8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 inches tall.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MS Mincho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Circle the expression that represents the number of inches,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MS Mincho"/>
                        <a:cs typeface="Times New Roman"/>
                      </a:rPr>
                      <m:t>h</m:t>
                    </m:r>
                  </m:oMath>
                </a14:m>
                <a:r>
                  <a:rPr lang="en-US" sz="2400" dirty="0">
                    <a:latin typeface="Verdana"/>
                    <a:ea typeface="MS Mincho"/>
                    <a:cs typeface="Times New Roman"/>
                  </a:rPr>
                  <a:t>, the plant grew in a week.</a:t>
                </a:r>
              </a:p>
              <a:p>
                <a:pPr marL="457200"/>
                <a:endParaRPr lang="en-US" sz="2400" dirty="0">
                  <a:latin typeface="Verdana"/>
                  <a:ea typeface="MS Mincho"/>
                  <a:cs typeface="Times New Roman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8−</m:t>
                    </m:r>
                    <m:r>
                      <a:rPr lang="en-US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your choice.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320" y="1386025"/>
                <a:ext cx="9127392" cy="3416320"/>
              </a:xfrm>
              <a:prstGeom prst="rect">
                <a:avLst/>
              </a:prstGeom>
              <a:blipFill rotWithShape="0">
                <a:blip r:embed="rId4"/>
                <a:stretch>
                  <a:fillRect l="-1001" t="-1604" r="-1469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94014" y="520394"/>
            <a:ext cx="10154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the expression not chosen, describe a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situation that the expression might represent.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90576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7323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790</Words>
  <Application>Microsoft Office PowerPoint</Application>
  <PresentationFormat>Widescreen</PresentationFormat>
  <Paragraphs>128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6th Grade Accelerated Math  Unit 13, Lesson 6  Writing Descriptions of Real-World Contexts from Algebraic Expressions  Volume 2, pg. 291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25</cp:revision>
  <dcterms:created xsi:type="dcterms:W3CDTF">2015-03-17T18:51:18Z</dcterms:created>
  <dcterms:modified xsi:type="dcterms:W3CDTF">2022-07-02T04:25:34Z</dcterms:modified>
</cp:coreProperties>
</file>