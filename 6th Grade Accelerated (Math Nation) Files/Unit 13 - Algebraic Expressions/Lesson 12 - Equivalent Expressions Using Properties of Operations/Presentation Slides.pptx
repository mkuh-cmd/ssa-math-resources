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26" r:id="rId8"/>
    <p:sldId id="327" r:id="rId9"/>
    <p:sldId id="358" r:id="rId10"/>
    <p:sldId id="365" r:id="rId11"/>
    <p:sldId id="371" r:id="rId12"/>
    <p:sldId id="372" r:id="rId13"/>
    <p:sldId id="289" r:id="rId14"/>
    <p:sldId id="290" r:id="rId15"/>
    <p:sldId id="370" r:id="rId16"/>
    <p:sldId id="323" r:id="rId17"/>
    <p:sldId id="324" r:id="rId18"/>
    <p:sldId id="373" r:id="rId19"/>
    <p:sldId id="302" r:id="rId20"/>
    <p:sldId id="303" r:id="rId21"/>
    <p:sldId id="374" r:id="rId22"/>
    <p:sldId id="375"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3465B0"/>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851"/>
    <p:restoredTop sz="94695"/>
  </p:normalViewPr>
  <p:slideViewPr>
    <p:cSldViewPr snapToGrid="0">
      <p:cViewPr varScale="1">
        <p:scale>
          <a:sx n="79" d="100"/>
          <a:sy n="79" d="100"/>
        </p:scale>
        <p:origin x="30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59806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536221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432854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09582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960726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018957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69009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0.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6</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13, Lesson 12</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Equivalent Expressions Using Properties of Operations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4B5489E8-A9E4-D643-B52C-586DE904DF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63188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083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31880" y="1600200"/>
            <a:ext cx="892824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MA.7.AR.1.2</a:t>
            </a:r>
          </a:p>
          <a:p>
            <a:pPr indent="0">
              <a:buNone/>
            </a:pPr>
            <a:r>
              <a:rPr lang="en-US" sz="2000" dirty="0">
                <a:latin typeface="Verdana" panose="020B0604030504040204" pitchFamily="34" charset="0"/>
                <a:ea typeface="Verdana" panose="020B0604030504040204" pitchFamily="34" charset="0"/>
                <a:cs typeface="Verdana" panose="020B0604030504040204" pitchFamily="34" charset="0"/>
              </a:rPr>
              <a:t>Determine whether two linear expressions are equivalent.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63293" y="414471"/>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87943" y="171838"/>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03948" y="1596390"/>
            <a:ext cx="95718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81362" y="7563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99200" y="36483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43987" y="1609531"/>
            <a:ext cx="910402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use properties of operations to write equivalent forms of an algebraic expression.</a:t>
            </a:r>
          </a:p>
          <a:p>
            <a:pPr marL="285750" indent="-285750">
              <a:buFont typeface="Wingdings" pitchFamily="2" charset="2"/>
              <a:buChar char="q"/>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determine whether two linear expressions are equivalent.</a:t>
            </a:r>
          </a:p>
        </p:txBody>
      </p:sp>
      <p:sp>
        <p:nvSpPr>
          <p:cNvPr id="9"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7124" y="14051"/>
            <a:ext cx="102601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13.12.1 Warm-Up: Fact or Fiction?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29825" y="219761"/>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1603948" y="1208009"/>
            <a:ext cx="9245662"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whether each equation below is fact (true) or fiction (false).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120EB02-55D4-AC41-A521-EEC99AA18583}"/>
                  </a:ext>
                </a:extLst>
              </p:cNvPr>
              <p:cNvGraphicFramePr>
                <a:graphicFrameLocks noGrp="1"/>
              </p:cNvGraphicFramePr>
              <p:nvPr>
                <p:extLst>
                  <p:ext uri="{D42A27DB-BD31-4B8C-83A1-F6EECF244321}">
                    <p14:modId xmlns:p14="http://schemas.microsoft.com/office/powerpoint/2010/main" val="1292931396"/>
                  </p:ext>
                </p:extLst>
              </p:nvPr>
            </p:nvGraphicFramePr>
            <p:xfrm>
              <a:off x="2695575" y="2280761"/>
              <a:ext cx="6800850" cy="3592830"/>
            </p:xfrm>
            <a:graphic>
              <a:graphicData uri="http://schemas.openxmlformats.org/drawingml/2006/table">
                <a:tbl>
                  <a:tblPr firstRow="1" firstCol="1" bandRow="1">
                    <a:tableStyleId>{A91F0D33-8C57-4600-99A7-42BC86742BE1}</a:tableStyleId>
                  </a:tblPr>
                  <a:tblGrid>
                    <a:gridCol w="3934460">
                      <a:extLst>
                        <a:ext uri="{9D8B030D-6E8A-4147-A177-3AD203B41FA5}">
                          <a16:colId xmlns:a16="http://schemas.microsoft.com/office/drawing/2014/main" val="3996941494"/>
                        </a:ext>
                      </a:extLst>
                    </a:gridCol>
                    <a:gridCol w="2866390">
                      <a:extLst>
                        <a:ext uri="{9D8B030D-6E8A-4147-A177-3AD203B41FA5}">
                          <a16:colId xmlns:a16="http://schemas.microsoft.com/office/drawing/2014/main" val="2328916249"/>
                        </a:ext>
                      </a:extLst>
                    </a:gridCol>
                  </a:tblGrid>
                  <a:tr h="27622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 or Fiction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9647529"/>
                      </a:ext>
                    </a:extLst>
                  </a:tr>
                  <a:tr h="791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30+8</m:t>
                                    </m:r>
                                  </m:e>
                                </m:d>
                                <m:r>
                                  <a:rPr lang="en-US" sz="2000">
                                    <a:effectLst/>
                                    <a:latin typeface="Cambria Math" panose="02040503050406030204" pitchFamily="18" charset="0"/>
                                  </a:rPr>
                                  <m:t>∙9=270+72</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96422"/>
                      </a:ext>
                    </a:extLst>
                  </a:tr>
                  <a:tr h="791210">
                    <a:tc>
                      <a:txBody>
                        <a:bodyPr/>
                        <a:lstStyle/>
                        <a:p>
                          <a:pPr marL="0" marR="0" algn="ctr">
                            <a:spcBef>
                              <a:spcPts val="0"/>
                            </a:spcBef>
                            <a:spcAft>
                              <a:spcPts val="0"/>
                            </a:spcAft>
                          </a:pPr>
                          <a:br>
                            <a:rPr lang="x-none" sz="2000">
                              <a:effectLst/>
                              <a:latin typeface="Verdana" panose="020B0604030504040204" pitchFamily="34" charset="0"/>
                              <a:ea typeface="Verdana" panose="020B0604030504040204" pitchFamily="34" charset="0"/>
                              <a:cs typeface="Verdana" panose="020B0604030504040204" pitchFamily="34" charset="0"/>
                            </a:rPr>
                          </a:b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4+5(9−15)=9(9−15)</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985792"/>
                      </a:ext>
                    </a:extLst>
                  </a:tr>
                  <a:tr h="791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d>
                                  <m:dPr>
                                    <m:ctrlPr>
                                      <a:rPr lang="x-none" sz="2000" i="1">
                                        <a:effectLst/>
                                        <a:latin typeface="Cambria Math" panose="02040503050406030204" pitchFamily="18" charset="0"/>
                                      </a:rPr>
                                    </m:ctrlPr>
                                  </m:dPr>
                                  <m:e>
                                    <m:r>
                                      <a:rPr lang="en-US" sz="2000">
                                        <a:effectLst/>
                                        <a:latin typeface="Cambria Math" panose="02040503050406030204" pitchFamily="18" charset="0"/>
                                      </a:rPr>
                                      <m:t>7+8</m:t>
                                    </m:r>
                                  </m:e>
                                </m:d>
                                <m:r>
                                  <a:rPr lang="en-US" sz="2000">
                                    <a:effectLst/>
                                    <a:latin typeface="Cambria Math" panose="02040503050406030204" pitchFamily="18" charset="0"/>
                                  </a:rPr>
                                  <m:t>=</m:t>
                                </m:r>
                                <m:d>
                                  <m:dPr>
                                    <m:ctrlPr>
                                      <a:rPr lang="x-none" sz="2000" i="1">
                                        <a:effectLst/>
                                        <a:latin typeface="Cambria Math" panose="02040503050406030204" pitchFamily="18" charset="0"/>
                                      </a:rPr>
                                    </m:ctrlPr>
                                  </m:dPr>
                                  <m:e>
                                    <m:r>
                                      <a:rPr lang="en-US" sz="2000">
                                        <a:effectLst/>
                                        <a:latin typeface="Cambria Math" panose="02040503050406030204" pitchFamily="18" charset="0"/>
                                      </a:rPr>
                                      <m:t>2∙7</m:t>
                                    </m:r>
                                  </m:e>
                                </m:d>
                                <m:r>
                                  <a:rPr lang="en-US" sz="2000">
                                    <a:effectLst/>
                                    <a:latin typeface="Cambria Math" panose="02040503050406030204" pitchFamily="18" charset="0"/>
                                  </a:rPr>
                                  <m:t>+8</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205179"/>
                      </a:ext>
                    </a:extLst>
                  </a:tr>
                  <a:tr h="791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5+4</m:t>
                                    </m:r>
                                  </m:e>
                                </m:d>
                                <m:r>
                                  <a:rPr lang="en-US" sz="2000">
                                    <a:effectLst/>
                                    <a:latin typeface="Cambria Math" panose="02040503050406030204" pitchFamily="18" charset="0"/>
                                  </a:rPr>
                                  <m:t>−10=5+(4−10)</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545184"/>
                      </a:ext>
                    </a:extLst>
                  </a:tr>
                </a:tbl>
              </a:graphicData>
            </a:graphic>
          </p:graphicFrame>
        </mc:Choice>
        <mc:Fallback xmlns="">
          <p:graphicFrame>
            <p:nvGraphicFramePr>
              <p:cNvPr id="2" name="Table 1">
                <a:extLst>
                  <a:ext uri="{FF2B5EF4-FFF2-40B4-BE49-F238E27FC236}">
                    <a16:creationId xmlns:a16="http://schemas.microsoft.com/office/drawing/2014/main" id="{A120EB02-55D4-AC41-A521-EEC99AA18583}"/>
                  </a:ext>
                </a:extLst>
              </p:cNvPr>
              <p:cNvGraphicFramePr>
                <a:graphicFrameLocks noGrp="1"/>
              </p:cNvGraphicFramePr>
              <p:nvPr>
                <p:extLst>
                  <p:ext uri="{D42A27DB-BD31-4B8C-83A1-F6EECF244321}">
                    <p14:modId xmlns:p14="http://schemas.microsoft.com/office/powerpoint/2010/main" val="1292931396"/>
                  </p:ext>
                </p:extLst>
              </p:nvPr>
            </p:nvGraphicFramePr>
            <p:xfrm>
              <a:off x="1171575" y="2280761"/>
              <a:ext cx="6800850" cy="3592830"/>
            </p:xfrm>
            <a:graphic>
              <a:graphicData uri="http://schemas.openxmlformats.org/drawingml/2006/table">
                <a:tbl>
                  <a:tblPr firstRow="1" firstCol="1" bandRow="1">
                    <a:tableStyleId>{A91F0D33-8C57-4600-99A7-42BC86742BE1}</a:tableStyleId>
                  </a:tblPr>
                  <a:tblGrid>
                    <a:gridCol w="3934460">
                      <a:extLst>
                        <a:ext uri="{9D8B030D-6E8A-4147-A177-3AD203B41FA5}">
                          <a16:colId xmlns:a16="http://schemas.microsoft.com/office/drawing/2014/main" val="3996941494"/>
                        </a:ext>
                      </a:extLst>
                    </a:gridCol>
                    <a:gridCol w="2866390">
                      <a:extLst>
                        <a:ext uri="{9D8B030D-6E8A-4147-A177-3AD203B41FA5}">
                          <a16:colId xmlns:a16="http://schemas.microsoft.com/office/drawing/2014/main" val="2328916249"/>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 or Fiction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9647529"/>
                      </a:ext>
                    </a:extLst>
                  </a:tr>
                  <a:tr h="7912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23" t="-47619" r="-73226" b="-322222"/>
                          </a:stretch>
                        </a:blipFill>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en-CO" sz="20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96422"/>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23" t="-129167" r="-73226" b="-181944"/>
                          </a:stretch>
                        </a:blipFill>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en-CO" sz="20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985792"/>
                      </a:ext>
                    </a:extLst>
                  </a:tr>
                  <a:tr h="7912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23" t="-266129" r="-73226" b="-111290"/>
                          </a:stretch>
                        </a:blipFill>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en-CO" sz="20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205179"/>
                      </a:ext>
                    </a:extLst>
                  </a:tr>
                  <a:tr h="7912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23" t="-360317" r="-73226" b="-9524"/>
                          </a:stretch>
                        </a:blipFill>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Fact</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Fiction</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545184"/>
                      </a:ext>
                    </a:extLst>
                  </a:tr>
                </a:tbl>
              </a:graphicData>
            </a:graphic>
          </p:graphicFrame>
        </mc:Fallback>
      </mc:AlternateContent>
      <p:sp>
        <p:nvSpPr>
          <p:cNvPr id="9"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0486" y="-31099"/>
            <a:ext cx="965221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13.12.2 Refresher: Rewriting Expressions Using Properties of Operations</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0858" y="15203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EEC4E3-DFCF-C94C-B80D-045F3E6BF764}"/>
                  </a:ext>
                </a:extLst>
              </p:cNvPr>
              <p:cNvSpPr/>
              <p:nvPr/>
            </p:nvSpPr>
            <p:spPr>
              <a:xfrm>
                <a:off x="1259175" y="1305035"/>
                <a:ext cx="9956196" cy="4708981"/>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Fill in the missing blanks for each property.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commutative property of addition</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 + 12</m:t>
                    </m:r>
                  </m:oMath>
                </a14:m>
                <a:r>
                  <a:rPr lang="en-US" sz="2000" dirty="0">
                    <a:latin typeface="+mj-lt"/>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can be rewritten as ________________. </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Both expressions have a sum of ______________.</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commutative property of addition</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+ 5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______________. Both expressions will have the same sum regardless of the value of </a:t>
                </a: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r>
                  <a:rPr lang="x-none" sz="2000" dirty="0"/>
                  <a:t> </a:t>
                </a:r>
              </a:p>
              <a:p>
                <a:pPr marL="923925" indent="-455613">
                  <a:buFont typeface="+mj-lt"/>
                  <a:buAutoNum type="alphaLcPeriod" startAt="2"/>
                </a:pPr>
                <a:endParaRPr lang="x-none" sz="2000" dirty="0"/>
              </a:p>
              <a:p>
                <a:pPr marL="923925" indent="-455613">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commutative property of multiplication</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 Both expressions have a product of ____________.</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C0EEC4E3-DFCF-C94C-B80D-045F3E6BF764}"/>
                  </a:ext>
                </a:extLst>
              </p:cNvPr>
              <p:cNvSpPr>
                <a:spLocks noRot="1" noChangeAspect="1" noMove="1" noResize="1" noEditPoints="1" noAdjustHandles="1" noChangeArrowheads="1" noChangeShapeType="1" noTextEdit="1"/>
              </p:cNvSpPr>
              <p:nvPr/>
            </p:nvSpPr>
            <p:spPr>
              <a:xfrm>
                <a:off x="1259175" y="1305035"/>
                <a:ext cx="9956196" cy="4708981"/>
              </a:xfrm>
              <a:prstGeom prst="rect">
                <a:avLst/>
              </a:prstGeom>
              <a:blipFill rotWithShape="0">
                <a:blip r:embed="rId4"/>
                <a:stretch>
                  <a:fillRect l="-674" t="-906" r="-1225"/>
                </a:stretch>
              </a:blipFill>
            </p:spPr>
            <p:txBody>
              <a:bodyPr/>
              <a:lstStyle/>
              <a:p>
                <a:r>
                  <a:rPr lang="en-US">
                    <a:noFill/>
                  </a:rPr>
                  <a:t> </a:t>
                </a:r>
              </a:p>
            </p:txBody>
          </p:sp>
        </mc:Fallback>
      </mc:AlternateContent>
      <p:sp>
        <p:nvSpPr>
          <p:cNvPr id="8"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3EC5D109-F45B-6944-B79D-3B749EDFC949}"/>
                  </a:ext>
                </a:extLst>
              </p:cNvPr>
              <p:cNvSpPr/>
              <p:nvPr/>
            </p:nvSpPr>
            <p:spPr>
              <a:xfrm>
                <a:off x="1259175" y="1045729"/>
                <a:ext cx="9956196" cy="4093428"/>
              </a:xfrm>
              <a:prstGeom prst="rect">
                <a:avLst/>
              </a:prstGeom>
            </p:spPr>
            <p:txBody>
              <a:bodyPr wrap="square">
                <a:spAutoFit/>
              </a:bodyPr>
              <a:lstStyle/>
              <a:p>
                <a:pPr marL="923925" indent="-469900">
                  <a:buFont typeface="+mj-lt"/>
                  <a:buAutoNum type="alphaL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commutative property of multiplication</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)(0.5)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_______________. Both expressions will have the same product regardless of the value of 𝑦.</a:t>
                </a:r>
              </a:p>
              <a:p>
                <a:pPr marL="923925" indent="-469900">
                  <a:buFont typeface="+mj-lt"/>
                  <a:buAutoNum type="alphaL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469900">
                  <a:buFont typeface="+mj-lt"/>
                  <a:buAutoNum type="alphaL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469900">
                  <a:buFont typeface="+mj-lt"/>
                  <a:buAutoNum type="alphaL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associative property of addition</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i="1" dirty="0">
                  <a:latin typeface="Cambria Math" panose="02040503050406030204" pitchFamily="18" charset="0"/>
                  <a:ea typeface="Times New Roman" panose="02020603050405020304" pitchFamily="18" charset="0"/>
                  <a:cs typeface="Times New Roman" panose="02020603050405020304" pitchFamily="18" charset="0"/>
                </a:endParaRPr>
              </a:p>
              <a:p>
                <a:pPr marL="9239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 + (6 + 1)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 Both sums are equal to ______________.</a:t>
                </a:r>
              </a:p>
              <a:p>
                <a:pPr marL="923925" indent="-469900">
                  <a:buFont typeface="+mj-lt"/>
                  <a:buAutoNum type="alphaL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469900">
                  <a:buFont typeface="+mj-lt"/>
                  <a:buAutoNum type="alphaL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000" dirty="0">
                    <a:latin typeface="Verdana" panose="020B0604030504040204" pitchFamily="34" charset="0"/>
                    <a:ea typeface="Times New Roman" panose="02020603050405020304" pitchFamily="18" charset="0"/>
                    <a:cs typeface="Times New Roman" panose="02020603050405020304" pitchFamily="18" charset="0"/>
                  </a:rPr>
                  <a:t>f.   Using the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associative property of addition</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i="1" dirty="0">
                  <a:latin typeface="Cambria Math" panose="02040503050406030204" pitchFamily="18" charset="0"/>
                  <a:ea typeface="Times New Roman" panose="02020603050405020304" pitchFamily="18" charset="0"/>
                  <a:cs typeface="Times New Roman" panose="02020603050405020304" pitchFamily="18" charset="0"/>
                </a:endParaRPr>
              </a:p>
              <a:p>
                <a:pPr marL="923925"/>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 (−2</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+ 5)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 Both expressions will have the same sum regardless of the value of 𝑥.</a:t>
                </a:r>
              </a:p>
            </p:txBody>
          </p:sp>
        </mc:Choice>
        <mc:Fallback xmlns="">
          <p:sp>
            <p:nvSpPr>
              <p:cNvPr id="12" name="Rectangle 11">
                <a:extLst>
                  <a:ext uri="{FF2B5EF4-FFF2-40B4-BE49-F238E27FC236}">
                    <a16:creationId xmlns:a16="http://schemas.microsoft.com/office/drawing/2014/main" id="{3EC5D109-F45B-6944-B79D-3B749EDFC949}"/>
                  </a:ext>
                </a:extLst>
              </p:cNvPr>
              <p:cNvSpPr>
                <a:spLocks noRot="1" noChangeAspect="1" noMove="1" noResize="1" noEditPoints="1" noAdjustHandles="1" noChangeArrowheads="1" noChangeShapeType="1" noTextEdit="1"/>
              </p:cNvSpPr>
              <p:nvPr/>
            </p:nvSpPr>
            <p:spPr>
              <a:xfrm>
                <a:off x="1259175" y="1045729"/>
                <a:ext cx="9956196" cy="4093428"/>
              </a:xfrm>
              <a:prstGeom prst="rect">
                <a:avLst/>
              </a:prstGeom>
              <a:blipFill>
                <a:blip r:embed="rId3"/>
                <a:stretch>
                  <a:fillRect t="-1043" b="-1788"/>
                </a:stretch>
              </a:blipFill>
            </p:spPr>
            <p:txBody>
              <a:bodyPr/>
              <a:lstStyle/>
              <a:p>
                <a:r>
                  <a:rPr lang="en-US">
                    <a:noFill/>
                  </a:rPr>
                  <a:t> </a:t>
                </a:r>
              </a:p>
            </p:txBody>
          </p:sp>
        </mc:Fallback>
      </mc:AlternateContent>
      <p:sp>
        <p:nvSpPr>
          <p:cNvPr id="6"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19150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F1DA885-A8F2-A948-B14C-68E743E59EFC}"/>
                  </a:ext>
                </a:extLst>
              </p:cNvPr>
              <p:cNvSpPr/>
              <p:nvPr/>
            </p:nvSpPr>
            <p:spPr>
              <a:xfrm>
                <a:off x="1139253" y="596301"/>
                <a:ext cx="10275064" cy="4708981"/>
              </a:xfrm>
              <a:prstGeom prst="rect">
                <a:avLst/>
              </a:prstGeom>
            </p:spPr>
            <p:txBody>
              <a:bodyPr wrap="square">
                <a:spAutoFit/>
              </a:bodyPr>
              <a:lstStyle/>
              <a:p>
                <a:pPr marL="923925" indent="-469900">
                  <a:buFont typeface="+mj-lt"/>
                  <a:buAutoNum type="alphaLcPeriod" startAt="7"/>
                </a:pPr>
                <a:r>
                  <a:rPr lang="en-US" sz="2000" dirty="0">
                    <a:latin typeface="Verdana" panose="020B0604030504040204" pitchFamily="34" charset="0"/>
                    <a:ea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rPr>
                  <a:t>associative property of multiplication</a:t>
                </a:r>
                <a:r>
                  <a:rPr lang="en-US" sz="2000" dirty="0">
                    <a:latin typeface="Verdana" panose="020B0604030504040204" pitchFamily="34" charset="0"/>
                    <a:ea typeface="Times New Roman" panose="02020603050405020304" pitchFamily="18" charset="0"/>
                  </a:rPr>
                  <a:t>, </a:t>
                </a:r>
                <a:endParaRPr lang="en-US" sz="2000" i="1" dirty="0">
                  <a:latin typeface="Cambria Math" panose="02040503050406030204" pitchFamily="18" charset="0"/>
                  <a:ea typeface="Times New Roman" panose="02020603050405020304" pitchFamily="18" charset="0"/>
                </a:endParaRPr>
              </a:p>
              <a:p>
                <a:pPr marL="923925"/>
                <a14:m>
                  <m:oMath xmlns:m="http://schemas.openxmlformats.org/officeDocument/2006/math">
                    <m:r>
                      <a:rPr lang="en-US" sz="2000" i="1" dirty="0">
                        <a:latin typeface="Cambria Math" panose="02040503050406030204" pitchFamily="18" charset="0"/>
                        <a:ea typeface="Times New Roman" panose="02020603050405020304" pitchFamily="18" charset="0"/>
                      </a:rPr>
                      <m:t>2 ∙ (7 ∙ 3)</m:t>
                    </m:r>
                  </m:oMath>
                </a14:m>
                <a:r>
                  <a:rPr lang="en-US" sz="2000" dirty="0">
                    <a:latin typeface="Verdana" panose="020B0604030504040204" pitchFamily="34" charset="0"/>
                    <a:ea typeface="Times New Roman" panose="02020603050405020304" pitchFamily="18" charset="0"/>
                  </a:rPr>
                  <a:t> can be rewritten as _____________. Both products are equal to _____________.</a:t>
                </a:r>
              </a:p>
              <a:p>
                <a:pPr marL="923925" indent="-469900"/>
                <a:r>
                  <a:rPr lang="en-US" sz="2000" dirty="0">
                    <a:latin typeface="Verdana" panose="020B0604030504040204" pitchFamily="34" charset="0"/>
                    <a:ea typeface="Times New Roman" panose="02020603050405020304" pitchFamily="18" charset="0"/>
                  </a:rPr>
                  <a:t> </a:t>
                </a:r>
              </a:p>
              <a:p>
                <a:pPr marL="923925" indent="-469900">
                  <a:buFont typeface="+mj-lt"/>
                  <a:buAutoNum type="alphaLcPeriod" startAt="8"/>
                </a:pPr>
                <a:r>
                  <a:rPr lang="en-US" sz="2000" dirty="0">
                    <a:latin typeface="Verdana" panose="020B0604030504040204" pitchFamily="34" charset="0"/>
                    <a:ea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rPr>
                  <a:t>associative property of multiplication</a:t>
                </a:r>
                <a:r>
                  <a:rPr lang="en-US" sz="2000" dirty="0">
                    <a:latin typeface="Verdana" panose="020B0604030504040204" pitchFamily="34" charset="0"/>
                    <a:ea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rPr>
                      <m:t>(−6)(4</m:t>
                    </m:r>
                    <m:r>
                      <a:rPr lang="en-US" sz="2000" i="1" dirty="0">
                        <a:latin typeface="Cambria Math" panose="02040503050406030204" pitchFamily="18" charset="0"/>
                        <a:ea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rPr>
                      <m:t>)</m:t>
                    </m:r>
                  </m:oMath>
                </a14:m>
                <a:r>
                  <a:rPr lang="en-US" sz="2000" dirty="0">
                    <a:latin typeface="Verdana" panose="020B0604030504040204" pitchFamily="34" charset="0"/>
                    <a:ea typeface="Times New Roman" panose="02020603050405020304" pitchFamily="18" charset="0"/>
                  </a:rPr>
                  <a:t> can be rewritten as _____________. Both expressions will have the same product regardless of the value of 𝑦.</a:t>
                </a:r>
              </a:p>
              <a:p>
                <a:pPr marL="923925" indent="-469900"/>
                <a:r>
                  <a:rPr lang="en-US" sz="2000" dirty="0">
                    <a:latin typeface="Verdana" panose="020B0604030504040204" pitchFamily="34" charset="0"/>
                    <a:ea typeface="Times New Roman" panose="02020603050405020304" pitchFamily="18" charset="0"/>
                  </a:rPr>
                  <a:t> </a:t>
                </a:r>
              </a:p>
              <a:p>
                <a:pPr marL="923925" indent="-469900">
                  <a:buFont typeface="+mj-lt"/>
                  <a:buAutoNum type="alphaLcPeriod" startAt="9"/>
                </a:pPr>
                <a:r>
                  <a:rPr lang="en-US" sz="2000" dirty="0">
                    <a:latin typeface="Verdana" panose="020B0604030504040204" pitchFamily="34" charset="0"/>
                    <a:ea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rPr>
                  <a:t>distributive property of multiplication over addition</a:t>
                </a:r>
                <a:r>
                  <a:rPr lang="en-US" sz="2000" dirty="0">
                    <a:latin typeface="Verdana" panose="020B0604030504040204" pitchFamily="34" charset="0"/>
                    <a:ea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rPr>
                      <m:t>5(6 + 2)</m:t>
                    </m:r>
                  </m:oMath>
                </a14:m>
                <a:r>
                  <a:rPr lang="en-US" sz="2000" dirty="0">
                    <a:latin typeface="Verdana" panose="020B0604030504040204" pitchFamily="34" charset="0"/>
                    <a:ea typeface="Times New Roman" panose="02020603050405020304" pitchFamily="18" charset="0"/>
                  </a:rPr>
                  <a:t> can be rewritten as _____________. Both expressions have a value of ______________.</a:t>
                </a:r>
              </a:p>
              <a:p>
                <a:pPr marL="923925" indent="-469900"/>
                <a:r>
                  <a:rPr lang="en-US" sz="2000" dirty="0">
                    <a:latin typeface="Verdana" panose="020B0604030504040204" pitchFamily="34" charset="0"/>
                    <a:ea typeface="Times New Roman" panose="02020603050405020304" pitchFamily="18" charset="0"/>
                  </a:rPr>
                  <a:t> </a:t>
                </a:r>
              </a:p>
              <a:p>
                <a:pPr marL="923925" indent="-469900">
                  <a:buFont typeface="+mj-lt"/>
                  <a:buAutoNum type="alphaLcPeriod" startAt="10"/>
                </a:pPr>
                <a:r>
                  <a:rPr lang="en-US" sz="2000" dirty="0">
                    <a:latin typeface="Verdana" panose="020B0604030504040204" pitchFamily="34" charset="0"/>
                    <a:ea typeface="Times New Roman" panose="02020603050405020304" pitchFamily="18" charset="0"/>
                  </a:rPr>
                  <a:t>Using the </a:t>
                </a:r>
                <a:r>
                  <a:rPr lang="en-US" sz="2000" b="1" i="1" dirty="0">
                    <a:latin typeface="Verdana" panose="020B0604030504040204" pitchFamily="34" charset="0"/>
                    <a:ea typeface="Times New Roman" panose="02020603050405020304" pitchFamily="18" charset="0"/>
                  </a:rPr>
                  <a:t>distributive property of multiplication over addition</a:t>
                </a:r>
                <a:r>
                  <a:rPr lang="en-US" sz="2000" dirty="0">
                    <a:latin typeface="Verdana" panose="020B0604030504040204" pitchFamily="34" charset="0"/>
                    <a:ea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rPr>
                      <m:t>7(3</m:t>
                    </m:r>
                    <m:r>
                      <a:rPr lang="en-US" sz="2000" i="1" dirty="0">
                        <a:latin typeface="Cambria Math" panose="02040503050406030204" pitchFamily="18" charset="0"/>
                        <a:ea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rPr>
                      <m:t> + 8)</m:t>
                    </m:r>
                  </m:oMath>
                </a14:m>
                <a:r>
                  <a:rPr lang="en-US" sz="2000" dirty="0">
                    <a:latin typeface="Verdana" panose="020B0604030504040204" pitchFamily="34" charset="0"/>
                    <a:ea typeface="Times New Roman" panose="02020603050405020304" pitchFamily="18" charset="0"/>
                  </a:rPr>
                  <a:t> can be rewritten as _____________. Both expressions will have the same product regardless of the value of 𝑦.</a:t>
                </a:r>
              </a:p>
            </p:txBody>
          </p:sp>
        </mc:Choice>
        <mc:Fallback xmlns="">
          <p:sp>
            <p:nvSpPr>
              <p:cNvPr id="2" name="Rectangle 1">
                <a:extLst>
                  <a:ext uri="{FF2B5EF4-FFF2-40B4-BE49-F238E27FC236}">
                    <a16:creationId xmlns:a16="http://schemas.microsoft.com/office/drawing/2014/main" xmlns:a14="http://schemas.microsoft.com/office/drawing/2010/main" xmlns="" id="{1F1DA885-A8F2-A948-B14C-68E743E59EFC}"/>
                  </a:ext>
                </a:extLst>
              </p:cNvPr>
              <p:cNvSpPr>
                <a:spLocks noRot="1" noChangeAspect="1" noMove="1" noResize="1" noEditPoints="1" noAdjustHandles="1" noChangeArrowheads="1" noChangeShapeType="1" noTextEdit="1"/>
              </p:cNvSpPr>
              <p:nvPr/>
            </p:nvSpPr>
            <p:spPr>
              <a:xfrm>
                <a:off x="1139253" y="596301"/>
                <a:ext cx="10275064" cy="4708981"/>
              </a:xfrm>
              <a:prstGeom prst="rect">
                <a:avLst/>
              </a:prstGeom>
              <a:blipFill rotWithShape="0">
                <a:blip r:embed="rId3"/>
                <a:stretch>
                  <a:fillRect t="-1684" r="-772" b="-3627"/>
                </a:stretch>
              </a:blipFill>
            </p:spPr>
            <p:txBody>
              <a:bodyPr/>
              <a:lstStyle/>
              <a:p>
                <a:r>
                  <a:rPr lang="en-US">
                    <a:noFill/>
                  </a:rPr>
                  <a:t> </a:t>
                </a:r>
              </a:p>
            </p:txBody>
          </p:sp>
        </mc:Fallback>
      </mc:AlternateContent>
      <p:sp>
        <p:nvSpPr>
          <p:cNvPr id="6"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76323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no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1F1DA885-A8F2-A948-B14C-68E743E59EFC}"/>
              </a:ext>
            </a:extLst>
          </p:cNvPr>
          <p:cNvSpPr/>
          <p:nvPr/>
        </p:nvSpPr>
        <p:spPr>
          <a:xfrm>
            <a:off x="1334125" y="1349410"/>
            <a:ext cx="9523750" cy="1323439"/>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rPr>
              <a:t>Discuss with your partner why the associative property and the commutative property do not hold true for subtraction and division. Give an example of each to show mathematically that these properties do not apply to subtraction and division.</a:t>
            </a:r>
          </a:p>
        </p:txBody>
      </p:sp>
      <p:sp>
        <p:nvSpPr>
          <p:cNvPr id="6"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85635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F1DA885-A8F2-A948-B14C-68E743E59EFC}"/>
                  </a:ext>
                </a:extLst>
              </p:cNvPr>
              <p:cNvSpPr/>
              <p:nvPr/>
            </p:nvSpPr>
            <p:spPr>
              <a:xfrm>
                <a:off x="1079292" y="1349411"/>
                <a:ext cx="10033416" cy="1022331"/>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rPr>
                  <a:t>Jay gave the example </a:t>
                </a:r>
                <a14:m>
                  <m:oMath xmlns:m="http://schemas.openxmlformats.org/officeDocument/2006/math">
                    <m:r>
                      <a:rPr lang="en-US" sz="2000" i="1" dirty="0">
                        <a:latin typeface="Cambria Math" panose="02040503050406030204" pitchFamily="18" charset="0"/>
                        <a:ea typeface="Times New Roman" panose="02020603050405020304" pitchFamily="18" charset="0"/>
                      </a:rPr>
                      <m:t>6+</m:t>
                    </m:r>
                    <m:sPre>
                      <m:sPrePr>
                        <m:ctrlPr>
                          <a:rPr lang="en-US" sz="2000" i="1" dirty="0">
                            <a:latin typeface="Cambria Math" panose="02040503050406030204" pitchFamily="18" charset="0"/>
                            <a:ea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rPr>
                          <m:t>11</m:t>
                        </m:r>
                      </m:e>
                    </m:sPre>
                  </m:oMath>
                </a14:m>
                <a:r>
                  <a:rPr lang="en-US" sz="2000" dirty="0">
                    <a:latin typeface="Verdana" panose="020B0604030504040204" pitchFamily="34" charset="0"/>
                    <a:ea typeface="Times New Roman" panose="02020603050405020304" pitchFamily="18" charset="0"/>
                  </a:rPr>
                  <a:t> is equal to</a:t>
                </a:r>
                <a14:m>
                  <m:oMath xmlns:m="http://schemas.openxmlformats.org/officeDocument/2006/math">
                    <m:sPre>
                      <m:sPrePr>
                        <m:ctrlPr>
                          <a:rPr lang="en-US" sz="2000" i="1" dirty="0">
                            <a:latin typeface="Cambria Math" panose="02040503050406030204" pitchFamily="18" charset="0"/>
                            <a:ea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rPr>
                          <m:t>11</m:t>
                        </m:r>
                      </m:e>
                    </m:sPre>
                    <m:r>
                      <a:rPr lang="en-US" sz="2000" i="1" dirty="0">
                        <a:latin typeface="Cambria Math" panose="02040503050406030204" pitchFamily="18" charset="0"/>
                        <a:ea typeface="Times New Roman" panose="02020603050405020304" pitchFamily="18" charset="0"/>
                      </a:rPr>
                      <m:t>+</m:t>
                    </m:r>
                    <m:r>
                      <a:rPr lang="es-ES" sz="2000" i="1" dirty="0">
                        <a:latin typeface="Cambria Math" panose="02040503050406030204" pitchFamily="18" charset="0"/>
                        <a:ea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rPr>
                  <a:t> to show that subtraction is commutative. Explain to Jay why his example does not show that subtraction is commutative.</a:t>
                </a:r>
              </a:p>
            </p:txBody>
          </p:sp>
        </mc:Choice>
        <mc:Fallback xmlns="">
          <p:sp>
            <p:nvSpPr>
              <p:cNvPr id="2" name="Rectangle 1">
                <a:extLst>
                  <a:ext uri="{FF2B5EF4-FFF2-40B4-BE49-F238E27FC236}">
                    <a16:creationId xmlns:a16="http://schemas.microsoft.com/office/drawing/2014/main" xmlns:a14="http://schemas.microsoft.com/office/drawing/2010/main" xmlns="" id="{1F1DA885-A8F2-A948-B14C-68E743E59EFC}"/>
                  </a:ext>
                </a:extLst>
              </p:cNvPr>
              <p:cNvSpPr>
                <a:spLocks noRot="1" noChangeAspect="1" noMove="1" noResize="1" noEditPoints="1" noAdjustHandles="1" noChangeArrowheads="1" noChangeShapeType="1" noTextEdit="1"/>
              </p:cNvSpPr>
              <p:nvPr/>
            </p:nvSpPr>
            <p:spPr>
              <a:xfrm>
                <a:off x="1079292" y="1349411"/>
                <a:ext cx="10033416" cy="1022331"/>
              </a:xfrm>
              <a:prstGeom prst="rect">
                <a:avLst/>
              </a:prstGeom>
              <a:blipFill rotWithShape="0">
                <a:blip r:embed="rId3"/>
                <a:stretch>
                  <a:fillRect l="-668" t="-4167" r="-790" b="-9524"/>
                </a:stretch>
              </a:blipFill>
            </p:spPr>
            <p:txBody>
              <a:bodyPr/>
              <a:lstStyle/>
              <a:p>
                <a:r>
                  <a:rPr lang="en-US">
                    <a:noFill/>
                  </a:rPr>
                  <a:t> </a:t>
                </a:r>
              </a:p>
            </p:txBody>
          </p:sp>
        </mc:Fallback>
      </mc:AlternateContent>
      <p:sp>
        <p:nvSpPr>
          <p:cNvPr id="6"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46007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5158" y="-4566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13.12.3 Guided Instruction: Equivalent Expressions Using Properties of Operations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81203" y="1672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65CEBC6-0C26-3645-AB91-CC52DC9589E3}"/>
                  </a:ext>
                </a:extLst>
              </p:cNvPr>
              <p:cNvSpPr/>
              <p:nvPr/>
            </p:nvSpPr>
            <p:spPr>
              <a:xfrm>
                <a:off x="1925216" y="1361497"/>
                <a:ext cx="8481527" cy="5016758"/>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Algebraic expressions are considered equivalent if when evaluating the expression by substituting values in for variables, the resulting values are the same.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Algebraic expressions are also considered equivalent when one expression is rewritten using one or more of the properties of operations.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699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property can be used to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a:r>
                  <a:rPr lang="en-US" sz="2000" dirty="0">
                    <a:latin typeface="Verdana" panose="020B0604030504040204" pitchFamily="34" charset="0"/>
                    <a:ea typeface="Verdana" panose="020B0604030504040204" pitchFamily="34" charset="0"/>
                    <a:cs typeface="Verdana" panose="020B0604030504040204" pitchFamily="34" charset="0"/>
                  </a:rPr>
                  <a:t>state that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+2)−3</m:t>
                    </m:r>
                    <m:r>
                      <a:rPr lang="en-US" sz="2000" i="1" dirty="0">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+10−3</m:t>
                    </m:r>
                    <m:r>
                      <a:rPr lang="en-US" sz="2000" i="1" dirty="0">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F65CEBC6-0C26-3645-AB91-CC52DC9589E3}"/>
                  </a:ext>
                </a:extLst>
              </p:cNvPr>
              <p:cNvSpPr>
                <a:spLocks noRot="1" noChangeAspect="1" noMove="1" noResize="1" noEditPoints="1" noAdjustHandles="1" noChangeArrowheads="1" noChangeShapeType="1" noTextEdit="1"/>
              </p:cNvSpPr>
              <p:nvPr/>
            </p:nvSpPr>
            <p:spPr>
              <a:xfrm>
                <a:off x="401215" y="1361497"/>
                <a:ext cx="8481527" cy="5016758"/>
              </a:xfrm>
              <a:prstGeom prst="rect">
                <a:avLst/>
              </a:prstGeom>
              <a:blipFill>
                <a:blip r:embed="rId5"/>
                <a:stretch>
                  <a:fillRect l="-747" t="-758" r="-1345"/>
                </a:stretch>
              </a:blipFill>
            </p:spPr>
            <p:txBody>
              <a:bodyPr/>
              <a:lstStyle/>
              <a:p>
                <a:r>
                  <a:rPr lang="en-US">
                    <a:noFill/>
                  </a:rPr>
                  <a:t> </a:t>
                </a:r>
              </a:p>
            </p:txBody>
          </p:sp>
        </mc:Fallback>
      </mc:AlternateContent>
      <p:pic>
        <p:nvPicPr>
          <p:cNvPr id="4" name="Picture 3" descr="Text&#10;&#10;Description automatically generated with medium confidence">
            <a:extLst>
              <a:ext uri="{FF2B5EF4-FFF2-40B4-BE49-F238E27FC236}">
                <a16:creationId xmlns:a16="http://schemas.microsoft.com/office/drawing/2014/main" id="{1B94C226-71C5-DA44-A067-BF7AA6988A4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453711" y="4328353"/>
            <a:ext cx="2240508" cy="1168151"/>
          </a:xfrm>
          <a:prstGeom prst="rect">
            <a:avLst/>
          </a:prstGeom>
        </p:spPr>
      </p:pic>
      <p:sp>
        <p:nvSpPr>
          <p:cNvPr id="10"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2D3422D-4E5D-C34F-8197-7BF9020CDABA}"/>
                  </a:ext>
                </a:extLst>
              </p:cNvPr>
              <p:cNvSpPr/>
              <p:nvPr/>
            </p:nvSpPr>
            <p:spPr>
              <a:xfrm>
                <a:off x="1925216" y="337915"/>
                <a:ext cx="8481527" cy="3304110"/>
              </a:xfrm>
              <a:prstGeom prst="rect">
                <a:avLst/>
              </a:prstGeom>
            </p:spPr>
            <p:txBody>
              <a:bodyPr wrap="square">
                <a:spAutoFit/>
              </a:bodyPr>
              <a:lstStyle/>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699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property can be used to </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a:r>
                  <a:rPr lang="en-US" sz="2000" dirty="0">
                    <a:latin typeface="Verdana" panose="020B0604030504040204" pitchFamily="34" charset="0"/>
                    <a:ea typeface="Verdana" panose="020B0604030504040204" pitchFamily="34" charset="0"/>
                    <a:cs typeface="Verdana" panose="020B0604030504040204" pitchFamily="34" charset="0"/>
                  </a:rPr>
                  <a:t>state that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3</m:t>
                        </m:r>
                      </m:den>
                    </m:f>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8</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5</m:t>
                        </m:r>
                      </m:num>
                      <m:den>
                        <m:r>
                          <a:rPr lang="es-ES" sz="2000" i="1" dirty="0">
                            <a:latin typeface="Cambria Math" panose="02040503050406030204" pitchFamily="18" charset="0"/>
                            <a:ea typeface="Verdana" panose="020B0604030504040204" pitchFamily="34" charset="0"/>
                            <a:cs typeface="Verdana" panose="020B0604030504040204" pitchFamily="34" charset="0"/>
                          </a:rPr>
                          <m:t>6</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3</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5</m:t>
                        </m:r>
                      </m:num>
                      <m:den>
                        <m:r>
                          <a:rPr lang="es-ES" sz="2000" i="1" dirty="0">
                            <a:latin typeface="Cambria Math" panose="02040503050406030204" pitchFamily="18" charset="0"/>
                            <a:ea typeface="Verdana" panose="020B0604030504040204" pitchFamily="34" charset="0"/>
                            <a:cs typeface="Verdana" panose="020B0604030504040204" pitchFamily="34" charset="0"/>
                          </a:rPr>
                          <m:t>6</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8</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Which properties can be used to show that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−4)+5(3+6</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+30</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−8+15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Rectangle 13">
                <a:extLst>
                  <a:ext uri="{FF2B5EF4-FFF2-40B4-BE49-F238E27FC236}">
                    <a16:creationId xmlns:a16="http://schemas.microsoft.com/office/drawing/2014/main" id="{02D3422D-4E5D-C34F-8197-7BF9020CDABA}"/>
                  </a:ext>
                </a:extLst>
              </p:cNvPr>
              <p:cNvSpPr>
                <a:spLocks noRot="1" noChangeAspect="1" noMove="1" noResize="1" noEditPoints="1" noAdjustHandles="1" noChangeArrowheads="1" noChangeShapeType="1" noTextEdit="1"/>
              </p:cNvSpPr>
              <p:nvPr/>
            </p:nvSpPr>
            <p:spPr>
              <a:xfrm>
                <a:off x="401215" y="337915"/>
                <a:ext cx="8481527" cy="3304110"/>
              </a:xfrm>
              <a:prstGeom prst="rect">
                <a:avLst/>
              </a:prstGeom>
              <a:blipFill>
                <a:blip r:embed="rId4"/>
                <a:stretch>
                  <a:fillRect l="-747" b="-2299"/>
                </a:stretch>
              </a:blipFill>
            </p:spPr>
            <p:txBody>
              <a:bodyPr/>
              <a:lstStyle/>
              <a:p>
                <a:r>
                  <a:rPr lang="en-US">
                    <a:noFill/>
                  </a:rPr>
                  <a:t> </a:t>
                </a:r>
              </a:p>
            </p:txBody>
          </p:sp>
        </mc:Fallback>
      </mc:AlternateContent>
      <p:pic>
        <p:nvPicPr>
          <p:cNvPr id="16" name="Picture 15" descr="Text&#10;&#10;Description automatically generated with medium confidence">
            <a:extLst>
              <a:ext uri="{FF2B5EF4-FFF2-40B4-BE49-F238E27FC236}">
                <a16:creationId xmlns:a16="http://schemas.microsoft.com/office/drawing/2014/main" id="{691081DE-EFD2-9347-905E-E6BC28D9D21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69479" y="216123"/>
            <a:ext cx="2402209" cy="1252458"/>
          </a:xfrm>
          <a:prstGeom prst="rect">
            <a:avLst/>
          </a:prstGeom>
        </p:spPr>
      </p:pic>
      <p:sp>
        <p:nvSpPr>
          <p:cNvPr id="7"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79042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1843"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13.12.4 Guided Practice: Rewriting Expressions Using Properties of Operations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9503" y="25066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8E93443-AE1C-E74A-AE78-CC15B1FA9136}"/>
              </a:ext>
            </a:extLst>
          </p:cNvPr>
          <p:cNvSpPr/>
          <p:nvPr/>
        </p:nvSpPr>
        <p:spPr>
          <a:xfrm>
            <a:off x="1471843" y="1320388"/>
            <a:ext cx="9416002" cy="707886"/>
          </a:xfrm>
          <a:prstGeom prst="rect">
            <a:avLst/>
          </a:prstGeom>
        </p:spPr>
        <p:txBody>
          <a:bodyPr wrap="square">
            <a:spAutoFit/>
          </a:bodyPr>
          <a:lstStyle/>
          <a:p>
            <a:pPr marL="468313" indent="-455613">
              <a:buFont typeface="Verdana" panose="020B0604030504040204" pitchFamily="34" charset="0"/>
              <a:buAutoNum type="arabicPeriod"/>
            </a:pPr>
            <a:r>
              <a:rPr lang="en-GB" sz="2000" dirty="0">
                <a:latin typeface="Verdana" panose="020B0604030504040204" pitchFamily="34" charset="0"/>
                <a:ea typeface="Times New Roman" panose="02020603050405020304" pitchFamily="18" charset="0"/>
              </a:rPr>
              <a:t>Write an equivalent expression using a property of operations. State the property used.</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A5ACECE-0364-3A4E-9C13-D5A22D1A0036}"/>
                  </a:ext>
                </a:extLst>
              </p:cNvPr>
              <p:cNvGraphicFramePr>
                <a:graphicFrameLocks noGrp="1"/>
              </p:cNvGraphicFramePr>
              <p:nvPr>
                <p:extLst>
                  <p:ext uri="{D42A27DB-BD31-4B8C-83A1-F6EECF244321}">
                    <p14:modId xmlns:p14="http://schemas.microsoft.com/office/powerpoint/2010/main" val="3648859658"/>
                  </p:ext>
                </p:extLst>
              </p:nvPr>
            </p:nvGraphicFramePr>
            <p:xfrm>
              <a:off x="2252738" y="2425852"/>
              <a:ext cx="7800238" cy="3120096"/>
            </p:xfrm>
            <a:graphic>
              <a:graphicData uri="http://schemas.openxmlformats.org/drawingml/2006/table">
                <a:tbl>
                  <a:tblPr firstRow="1" firstCol="1" bandRow="1">
                    <a:tableStyleId>{A91F0D33-8C57-4600-99A7-42BC86742BE1}</a:tableStyleId>
                  </a:tblPr>
                  <a:tblGrid>
                    <a:gridCol w="2647025">
                      <a:extLst>
                        <a:ext uri="{9D8B030D-6E8A-4147-A177-3AD203B41FA5}">
                          <a16:colId xmlns:a16="http://schemas.microsoft.com/office/drawing/2014/main" val="1215042321"/>
                        </a:ext>
                      </a:extLst>
                    </a:gridCol>
                    <a:gridCol w="2772696">
                      <a:extLst>
                        <a:ext uri="{9D8B030D-6E8A-4147-A177-3AD203B41FA5}">
                          <a16:colId xmlns:a16="http://schemas.microsoft.com/office/drawing/2014/main" val="616973191"/>
                        </a:ext>
                      </a:extLst>
                    </a:gridCol>
                    <a:gridCol w="2380517">
                      <a:extLst>
                        <a:ext uri="{9D8B030D-6E8A-4147-A177-3AD203B41FA5}">
                          <a16:colId xmlns:a16="http://schemas.microsoft.com/office/drawing/2014/main" val="4082260585"/>
                        </a:ext>
                      </a:extLst>
                    </a:gridCol>
                  </a:tblGrid>
                  <a:tr h="780024">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Equivalent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Property Used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031288001"/>
                      </a:ext>
                    </a:extLst>
                  </a:tr>
                  <a:tr h="78002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d>
                                  <m:dPr>
                                    <m:ctrlPr>
                                      <a:rPr lang="x-none" sz="2000" i="1">
                                        <a:effectLst/>
                                        <a:latin typeface="Cambria Math" panose="02040503050406030204" pitchFamily="18" charset="0"/>
                                      </a:rPr>
                                    </m:ctrlPr>
                                  </m:dPr>
                                  <m:e>
                                    <m:r>
                                      <a:rPr lang="en-US" sz="2000">
                                        <a:effectLst/>
                                        <a:latin typeface="Cambria Math" panose="02040503050406030204" pitchFamily="18" charset="0"/>
                                      </a:rPr>
                                      <m:t>2−3</m:t>
                                    </m:r>
                                    <m:r>
                                      <a:rPr lang="en-US" sz="2000">
                                        <a:effectLst/>
                                        <a:latin typeface="Cambria Math" panose="02040503050406030204" pitchFamily="18" charset="0"/>
                                      </a:rPr>
                                      <m:t>𝑥</m:t>
                                    </m:r>
                                  </m:e>
                                </m:d>
                                <m:r>
                                  <a:rPr lang="en-US" sz="2000">
                                    <a:effectLst/>
                                    <a:latin typeface="Cambria Math" panose="02040503050406030204" pitchFamily="18" charset="0"/>
                                  </a:rPr>
                                  <m:t>+1−</m:t>
                                </m:r>
                                <m:f>
                                  <m:fPr>
                                    <m:ctrlPr>
                                      <a:rPr lang="x-none" sz="2000" i="1">
                                        <a:effectLst/>
                                        <a:latin typeface="Cambria Math" panose="02040503050406030204" pitchFamily="18" charset="0"/>
                                      </a:rPr>
                                    </m:ctrlPr>
                                  </m:fPr>
                                  <m:num>
                                    <m:r>
                                      <a:rPr lang="en-US" sz="2000">
                                        <a:effectLst/>
                                        <a:latin typeface="Cambria Math" panose="02040503050406030204" pitchFamily="18" charset="0"/>
                                      </a:rPr>
                                      <m:t>𝑥</m:t>
                                    </m:r>
                                  </m:num>
                                  <m:den>
                                    <m:r>
                                      <a:rPr lang="en-US" sz="2000">
                                        <a:effectLst/>
                                        <a:latin typeface="Cambria Math" panose="02040503050406030204" pitchFamily="18" charset="0"/>
                                      </a:rPr>
                                      <m:t>2</m:t>
                                    </m:r>
                                  </m:den>
                                </m:f>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0236802"/>
                      </a:ext>
                    </a:extLst>
                  </a:tr>
                  <a:tr h="78002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r>
                                  <a:rPr lang="en-US" sz="2000">
                                    <a:effectLst/>
                                    <a:latin typeface="Cambria Math" panose="02040503050406030204" pitchFamily="18" charset="0"/>
                                  </a:rPr>
                                  <m:t>𝑥</m:t>
                                </m:r>
                                <m:r>
                                  <a:rPr lang="en-US" sz="2000">
                                    <a:effectLst/>
                                    <a:latin typeface="Cambria Math" panose="02040503050406030204" pitchFamily="18" charset="0"/>
                                  </a:rPr>
                                  <m:t>+10+4</m:t>
                                </m:r>
                                <m:r>
                                  <a:rPr lang="en-US" sz="2000">
                                    <a:effectLst/>
                                    <a:latin typeface="Cambria Math" panose="02040503050406030204" pitchFamily="18" charset="0"/>
                                  </a:rPr>
                                  <m:t>𝑥</m:t>
                                </m:r>
                                <m:r>
                                  <a:rPr lang="en-US" sz="2000">
                                    <a:effectLst/>
                                    <a:latin typeface="Cambria Math" panose="02040503050406030204" pitchFamily="18" charset="0"/>
                                  </a:rPr>
                                  <m:t>−17</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489197"/>
                      </a:ext>
                    </a:extLst>
                  </a:tr>
                  <a:tr h="78002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r>
                                  <a:rPr lang="en-US" sz="2000">
                                    <a:effectLst/>
                                    <a:latin typeface="Cambria Math" panose="02040503050406030204" pitchFamily="18" charset="0"/>
                                  </a:rPr>
                                  <m:t>𝑥</m:t>
                                </m:r>
                                <m:r>
                                  <a:rPr lang="en-US" sz="2000">
                                    <a:effectLst/>
                                    <a:latin typeface="Cambria Math" panose="02040503050406030204" pitchFamily="18" charset="0"/>
                                  </a:rPr>
                                  <m:t>+</m:t>
                                </m:r>
                                <m:d>
                                  <m:dPr>
                                    <m:ctrlPr>
                                      <a:rPr lang="x-none" sz="2000" i="1">
                                        <a:effectLst/>
                                        <a:latin typeface="Cambria Math" panose="02040503050406030204" pitchFamily="18" charset="0"/>
                                      </a:rPr>
                                    </m:ctrlPr>
                                  </m:dPr>
                                  <m:e>
                                    <m:r>
                                      <a:rPr lang="en-US" sz="2000">
                                        <a:effectLst/>
                                        <a:latin typeface="Cambria Math" panose="02040503050406030204" pitchFamily="18" charset="0"/>
                                      </a:rPr>
                                      <m:t>3</m:t>
                                    </m:r>
                                    <m:r>
                                      <a:rPr lang="en-US" sz="2000">
                                        <a:effectLst/>
                                        <a:latin typeface="Cambria Math" panose="02040503050406030204" pitchFamily="18" charset="0"/>
                                      </a:rPr>
                                      <m:t>𝑥</m:t>
                                    </m:r>
                                    <m:r>
                                      <a:rPr lang="en-US" sz="2000">
                                        <a:effectLst/>
                                        <a:latin typeface="Cambria Math" panose="02040503050406030204" pitchFamily="18" charset="0"/>
                                      </a:rPr>
                                      <m:t>+9</m:t>
                                    </m:r>
                                  </m:e>
                                </m:d>
                                <m:r>
                                  <a:rPr lang="en-US" sz="2000">
                                    <a:effectLst/>
                                    <a:latin typeface="Cambria Math" panose="02040503050406030204" pitchFamily="18" charset="0"/>
                                  </a:rPr>
                                  <m:t>+2</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5188349"/>
                      </a:ext>
                    </a:extLst>
                  </a:tr>
                </a:tbl>
              </a:graphicData>
            </a:graphic>
          </p:graphicFrame>
        </mc:Choice>
        <mc:Fallback xmlns="">
          <p:graphicFrame>
            <p:nvGraphicFramePr>
              <p:cNvPr id="3" name="Table 2">
                <a:extLst>
                  <a:ext uri="{FF2B5EF4-FFF2-40B4-BE49-F238E27FC236}">
                    <a16:creationId xmlns:a16="http://schemas.microsoft.com/office/drawing/2014/main" id="{DA5ACECE-0364-3A4E-9C13-D5A22D1A0036}"/>
                  </a:ext>
                </a:extLst>
              </p:cNvPr>
              <p:cNvGraphicFramePr>
                <a:graphicFrameLocks noGrp="1"/>
              </p:cNvGraphicFramePr>
              <p:nvPr>
                <p:extLst>
                  <p:ext uri="{D42A27DB-BD31-4B8C-83A1-F6EECF244321}">
                    <p14:modId xmlns:p14="http://schemas.microsoft.com/office/powerpoint/2010/main" val="3648859658"/>
                  </p:ext>
                </p:extLst>
              </p:nvPr>
            </p:nvGraphicFramePr>
            <p:xfrm>
              <a:off x="728738" y="2425852"/>
              <a:ext cx="7800238" cy="3120096"/>
            </p:xfrm>
            <a:graphic>
              <a:graphicData uri="http://schemas.openxmlformats.org/drawingml/2006/table">
                <a:tbl>
                  <a:tblPr firstRow="1" firstCol="1" bandRow="1">
                    <a:tableStyleId>{A91F0D33-8C57-4600-99A7-42BC86742BE1}</a:tableStyleId>
                  </a:tblPr>
                  <a:tblGrid>
                    <a:gridCol w="2647025">
                      <a:extLst>
                        <a:ext uri="{9D8B030D-6E8A-4147-A177-3AD203B41FA5}">
                          <a16:colId xmlns:a16="http://schemas.microsoft.com/office/drawing/2014/main" val="1215042321"/>
                        </a:ext>
                      </a:extLst>
                    </a:gridCol>
                    <a:gridCol w="2772696">
                      <a:extLst>
                        <a:ext uri="{9D8B030D-6E8A-4147-A177-3AD203B41FA5}">
                          <a16:colId xmlns:a16="http://schemas.microsoft.com/office/drawing/2014/main" val="616973191"/>
                        </a:ext>
                      </a:extLst>
                    </a:gridCol>
                    <a:gridCol w="2380517">
                      <a:extLst>
                        <a:ext uri="{9D8B030D-6E8A-4147-A177-3AD203B41FA5}">
                          <a16:colId xmlns:a16="http://schemas.microsoft.com/office/drawing/2014/main" val="4082260585"/>
                        </a:ext>
                      </a:extLst>
                    </a:gridCol>
                  </a:tblGrid>
                  <a:tr h="780024">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Equivalent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Property Used</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031288001"/>
                      </a:ext>
                    </a:extLst>
                  </a:tr>
                  <a:tr h="780024">
                    <a:tc>
                      <a:txBody>
                        <a:bodyPr/>
                        <a:lstStyle/>
                        <a:p>
                          <a:endParaRPr lang="en-CO"/>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8" t="-103279" r="-194737" b="-20327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0236802"/>
                      </a:ext>
                    </a:extLst>
                  </a:tr>
                  <a:tr h="780024">
                    <a:tc>
                      <a:txBody>
                        <a:bodyPr/>
                        <a:lstStyle/>
                        <a:p>
                          <a:endParaRPr lang="en-CO"/>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8" t="-200000" r="-194737" b="-1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489197"/>
                      </a:ext>
                    </a:extLst>
                  </a:tr>
                  <a:tr h="780024">
                    <a:tc>
                      <a:txBody>
                        <a:bodyPr/>
                        <a:lstStyle/>
                        <a:p>
                          <a:endParaRPr lang="en-CO"/>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8" t="-304918" r="-194737" b="-163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5188349"/>
                      </a:ext>
                    </a:extLst>
                  </a:tr>
                </a:tbl>
              </a:graphicData>
            </a:graphic>
          </p:graphicFrame>
        </mc:Fallback>
      </mc:AlternateContent>
      <p:sp>
        <p:nvSpPr>
          <p:cNvPr id="9"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330</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C8E93443-AE1C-E74A-AE78-CC15B1FA9136}"/>
              </a:ext>
            </a:extLst>
          </p:cNvPr>
          <p:cNvSpPr/>
          <p:nvPr/>
        </p:nvSpPr>
        <p:spPr>
          <a:xfrm>
            <a:off x="1259174" y="365045"/>
            <a:ext cx="9841340" cy="707886"/>
          </a:xfrm>
          <a:prstGeom prst="rect">
            <a:avLst/>
          </a:prstGeom>
        </p:spPr>
        <p:txBody>
          <a:bodyPr wrap="square">
            <a:spAutoFit/>
          </a:bodyPr>
          <a:lstStyle/>
          <a:p>
            <a:pPr marL="457200" indent="-457200">
              <a:buFont typeface="+mj-lt"/>
              <a:buAutoNum type="arabicPeriod" startAt="2"/>
            </a:pPr>
            <a:r>
              <a:rPr lang="en-GB" sz="2000" dirty="0">
                <a:latin typeface="Verdana" panose="020B0604030504040204" pitchFamily="34" charset="0"/>
                <a:ea typeface="Times New Roman" panose="02020603050405020304" pitchFamily="18" charset="0"/>
              </a:rPr>
              <a:t>Several expressions are given below. Determine which expressions are equivalent using properties of operations.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39002BB-9692-694B-A220-B187100E90D6}"/>
                  </a:ext>
                </a:extLst>
              </p:cNvPr>
              <p:cNvGraphicFramePr>
                <a:graphicFrameLocks noGrp="1"/>
              </p:cNvGraphicFramePr>
              <p:nvPr>
                <p:extLst>
                  <p:ext uri="{D42A27DB-BD31-4B8C-83A1-F6EECF244321}">
                    <p14:modId xmlns:p14="http://schemas.microsoft.com/office/powerpoint/2010/main" val="992857397"/>
                  </p:ext>
                </p:extLst>
              </p:nvPr>
            </p:nvGraphicFramePr>
            <p:xfrm>
              <a:off x="2667000" y="1264918"/>
              <a:ext cx="6858000" cy="914400"/>
            </p:xfrm>
            <a:graphic>
              <a:graphicData uri="http://schemas.openxmlformats.org/drawingml/2006/table">
                <a:tbl>
                  <a:tblPr firstRow="1" firstCol="1" bandRow="1">
                    <a:tableStyleId>{A91F0D33-8C57-4600-99A7-42BC86742BE1}</a:tableStyleId>
                  </a:tblPr>
                  <a:tblGrid>
                    <a:gridCol w="2313305">
                      <a:extLst>
                        <a:ext uri="{9D8B030D-6E8A-4147-A177-3AD203B41FA5}">
                          <a16:colId xmlns:a16="http://schemas.microsoft.com/office/drawing/2014/main" val="421391557"/>
                        </a:ext>
                      </a:extLst>
                    </a:gridCol>
                    <a:gridCol w="2313305">
                      <a:extLst>
                        <a:ext uri="{9D8B030D-6E8A-4147-A177-3AD203B41FA5}">
                          <a16:colId xmlns:a16="http://schemas.microsoft.com/office/drawing/2014/main" val="854362436"/>
                        </a:ext>
                      </a:extLst>
                    </a:gridCol>
                    <a:gridCol w="2231390">
                      <a:extLst>
                        <a:ext uri="{9D8B030D-6E8A-4147-A177-3AD203B41FA5}">
                          <a16:colId xmlns:a16="http://schemas.microsoft.com/office/drawing/2014/main" val="2311281752"/>
                        </a:ext>
                      </a:extLst>
                    </a:gridCol>
                  </a:tblGrid>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35</m:t>
                                </m:r>
                                <m:r>
                                  <a:rPr lang="en-US" sz="2000">
                                    <a:effectLst/>
                                    <a:latin typeface="Cambria Math" panose="02040503050406030204" pitchFamily="18" charset="0"/>
                                  </a:rPr>
                                  <m:t>𝑥</m:t>
                                </m:r>
                                <m:r>
                                  <a:rPr lang="en-US" sz="2000">
                                    <a:effectLst/>
                                    <a:latin typeface="Cambria Math" panose="02040503050406030204" pitchFamily="18" charset="0"/>
                                  </a:rPr>
                                  <m:t>+(7</m:t>
                                </m:r>
                                <m:r>
                                  <a:rPr lang="en-US" sz="2000">
                                    <a:effectLst/>
                                    <a:latin typeface="Cambria Math" panose="02040503050406030204" pitchFamily="18" charset="0"/>
                                  </a:rPr>
                                  <m:t>𝑥</m:t>
                                </m:r>
                                <m:r>
                                  <a:rPr lang="en-US" sz="2000">
                                    <a:effectLst/>
                                    <a:latin typeface="Cambria Math" panose="02040503050406030204" pitchFamily="18" charset="0"/>
                                  </a:rPr>
                                  <m:t>+56)</m:t>
                                </m:r>
                              </m:oMath>
                            </m:oMathPara>
                          </a14:m>
                          <a:endParaRPr lang="x-none"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5(8</m:t>
                                </m:r>
                                <m:r>
                                  <a:rPr lang="en-US" sz="2000">
                                    <a:effectLst/>
                                    <a:latin typeface="Cambria Math" panose="02040503050406030204" pitchFamily="18" charset="0"/>
                                  </a:rPr>
                                  <m:t>𝑥</m:t>
                                </m:r>
                                <m:r>
                                  <a:rPr lang="en-US" sz="2000">
                                    <a:effectLst/>
                                    <a:latin typeface="Cambria Math" panose="02040503050406030204" pitchFamily="18" charset="0"/>
                                  </a:rPr>
                                  <m:t>+7)</m:t>
                                </m:r>
                              </m:oMath>
                            </m:oMathPara>
                          </a14:m>
                          <a:endParaRPr lang="x-none"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35</m:t>
                                </m:r>
                                <m:r>
                                  <a:rPr lang="en-US" sz="2000">
                                    <a:effectLst/>
                                    <a:latin typeface="Cambria Math" panose="02040503050406030204" pitchFamily="18" charset="0"/>
                                  </a:rPr>
                                  <m:t>𝑥</m:t>
                                </m:r>
                                <m:r>
                                  <a:rPr lang="en-US" sz="2000">
                                    <a:effectLst/>
                                    <a:latin typeface="Cambria Math" panose="02040503050406030204" pitchFamily="18" charset="0"/>
                                  </a:rPr>
                                  <m:t>+56</m:t>
                                </m:r>
                              </m:oMath>
                            </m:oMathPara>
                          </a14:m>
                          <a:endParaRPr lang="x-none"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984088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r>
                                  <a:rPr lang="en-US" sz="2000">
                                    <a:effectLst/>
                                    <a:latin typeface="Cambria Math" panose="02040503050406030204" pitchFamily="18" charset="0"/>
                                  </a:rPr>
                                  <m:t>𝑥</m:t>
                                </m:r>
                                <m:r>
                                  <a:rPr lang="en-US" sz="2000">
                                    <a:effectLst/>
                                    <a:latin typeface="Cambria Math" panose="02040503050406030204" pitchFamily="18" charset="0"/>
                                  </a:rPr>
                                  <m:t>+7)∙5</m:t>
                                </m:r>
                              </m:oMath>
                            </m:oMathPara>
                          </a14:m>
                          <a:endParaRPr lang="x-none"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7(5</m:t>
                                </m:r>
                                <m:r>
                                  <a:rPr lang="en-US" sz="2000">
                                    <a:effectLst/>
                                    <a:latin typeface="Cambria Math" panose="02040503050406030204" pitchFamily="18" charset="0"/>
                                  </a:rPr>
                                  <m:t>𝑥</m:t>
                                </m:r>
                                <m:r>
                                  <a:rPr lang="en-US" sz="2000">
                                    <a:effectLst/>
                                    <a:latin typeface="Cambria Math" panose="02040503050406030204" pitchFamily="18" charset="0"/>
                                  </a:rPr>
                                  <m:t>+8)</m:t>
                                </m:r>
                              </m:oMath>
                            </m:oMathPara>
                          </a14:m>
                          <a:endParaRPr lang="x-none"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35</m:t>
                                    </m:r>
                                    <m:r>
                                      <a:rPr lang="en-US" sz="2000">
                                        <a:effectLst/>
                                        <a:latin typeface="Cambria Math" panose="02040503050406030204" pitchFamily="18" charset="0"/>
                                      </a:rPr>
                                      <m:t>𝑥</m:t>
                                    </m:r>
                                    <m:r>
                                      <a:rPr lang="en-US" sz="2000">
                                        <a:effectLst/>
                                        <a:latin typeface="Cambria Math" panose="02040503050406030204" pitchFamily="18" charset="0"/>
                                      </a:rPr>
                                      <m:t>+7</m:t>
                                    </m:r>
                                    <m:r>
                                      <a:rPr lang="en-US" sz="2000">
                                        <a:effectLst/>
                                        <a:latin typeface="Cambria Math" panose="02040503050406030204" pitchFamily="18" charset="0"/>
                                      </a:rPr>
                                      <m:t>𝑥</m:t>
                                    </m:r>
                                  </m:e>
                                </m:d>
                                <m:r>
                                  <a:rPr lang="en-US" sz="2000">
                                    <a:effectLst/>
                                    <a:latin typeface="Cambria Math" panose="02040503050406030204" pitchFamily="18" charset="0"/>
                                  </a:rPr>
                                  <m:t>+56</m:t>
                                </m:r>
                              </m:oMath>
                            </m:oMathPara>
                          </a14:m>
                          <a:endParaRPr lang="x-none"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4312794"/>
                      </a:ext>
                    </a:extLst>
                  </a:tr>
                </a:tbl>
              </a:graphicData>
            </a:graphic>
          </p:graphicFrame>
        </mc:Choice>
        <mc:Fallback xmlns="">
          <p:graphicFrame>
            <p:nvGraphicFramePr>
              <p:cNvPr id="4" name="Table 3">
                <a:extLst>
                  <a:ext uri="{FF2B5EF4-FFF2-40B4-BE49-F238E27FC236}">
                    <a16:creationId xmlns:a16="http://schemas.microsoft.com/office/drawing/2014/main" id="{B39002BB-9692-694B-A220-B187100E90D6}"/>
                  </a:ext>
                </a:extLst>
              </p:cNvPr>
              <p:cNvGraphicFramePr>
                <a:graphicFrameLocks noGrp="1"/>
              </p:cNvGraphicFramePr>
              <p:nvPr>
                <p:extLst>
                  <p:ext uri="{D42A27DB-BD31-4B8C-83A1-F6EECF244321}">
                    <p14:modId xmlns:p14="http://schemas.microsoft.com/office/powerpoint/2010/main" val="992857397"/>
                  </p:ext>
                </p:extLst>
              </p:nvPr>
            </p:nvGraphicFramePr>
            <p:xfrm>
              <a:off x="1143000" y="1264918"/>
              <a:ext cx="6858000" cy="914400"/>
            </p:xfrm>
            <a:graphic>
              <a:graphicData uri="http://schemas.openxmlformats.org/drawingml/2006/table">
                <a:tbl>
                  <a:tblPr firstRow="1" firstCol="1" bandRow="1">
                    <a:tableStyleId>{A91F0D33-8C57-4600-99A7-42BC86742BE1}</a:tableStyleId>
                  </a:tblPr>
                  <a:tblGrid>
                    <a:gridCol w="2313305">
                      <a:extLst>
                        <a:ext uri="{9D8B030D-6E8A-4147-A177-3AD203B41FA5}">
                          <a16:colId xmlns:a16="http://schemas.microsoft.com/office/drawing/2014/main" val="421391557"/>
                        </a:ext>
                      </a:extLst>
                    </a:gridCol>
                    <a:gridCol w="2313305">
                      <a:extLst>
                        <a:ext uri="{9D8B030D-6E8A-4147-A177-3AD203B41FA5}">
                          <a16:colId xmlns:a16="http://schemas.microsoft.com/office/drawing/2014/main" val="854362436"/>
                        </a:ext>
                      </a:extLst>
                    </a:gridCol>
                    <a:gridCol w="2231390">
                      <a:extLst>
                        <a:ext uri="{9D8B030D-6E8A-4147-A177-3AD203B41FA5}">
                          <a16:colId xmlns:a16="http://schemas.microsoft.com/office/drawing/2014/main" val="2311281752"/>
                        </a:ext>
                      </a:extLst>
                    </a:gridCol>
                  </a:tblGrid>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2703" r="-197802" b="-10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9" t="-2703" r="-97802" b="-10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386" t="-2703" r="-1136" b="-102703"/>
                          </a:stretch>
                        </a:blipFill>
                      </a:tcPr>
                    </a:tc>
                    <a:extLst>
                      <a:ext uri="{0D108BD9-81ED-4DB2-BD59-A6C34878D82A}">
                        <a16:rowId xmlns:a16="http://schemas.microsoft.com/office/drawing/2014/main" val="4279840882"/>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49" t="-105556" r="-197802" b="-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9" t="-105556" r="-97802" b="-55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386" t="-105556" r="-1136" b="-5556"/>
                          </a:stretch>
                        </a:blipFill>
                      </a:tcPr>
                    </a:tc>
                    <a:extLst>
                      <a:ext uri="{0D108BD9-81ED-4DB2-BD59-A6C34878D82A}">
                        <a16:rowId xmlns:a16="http://schemas.microsoft.com/office/drawing/2014/main" val="2234312794"/>
                      </a:ext>
                    </a:extLst>
                  </a:tr>
                </a:tbl>
              </a:graphicData>
            </a:graphic>
          </p:graphicFrame>
        </mc:Fallback>
      </mc:AlternateContent>
      <p:sp>
        <p:nvSpPr>
          <p:cNvPr id="10" name="Rectangle 9">
            <a:extLst>
              <a:ext uri="{FF2B5EF4-FFF2-40B4-BE49-F238E27FC236}">
                <a16:creationId xmlns:a16="http://schemas.microsoft.com/office/drawing/2014/main" id="{E3E8727E-7AF3-CE45-BCD4-A58C19E585A7}"/>
              </a:ext>
            </a:extLst>
          </p:cNvPr>
          <p:cNvSpPr/>
          <p:nvPr/>
        </p:nvSpPr>
        <p:spPr>
          <a:xfrm>
            <a:off x="1751249" y="2494095"/>
            <a:ext cx="9309206" cy="707886"/>
          </a:xfrm>
          <a:prstGeom prst="rect">
            <a:avLst/>
          </a:prstGeom>
        </p:spPr>
        <p:txBody>
          <a:bodyPr wrap="square">
            <a:spAutoFit/>
          </a:bodyPr>
          <a:lstStyle/>
          <a:p>
            <a:pPr lvl="0"/>
            <a:r>
              <a:rPr lang="en-GB" sz="2000" dirty="0">
                <a:latin typeface="Verdana" panose="020B0604030504040204" pitchFamily="34" charset="0"/>
                <a:ea typeface="Times New Roman" panose="02020603050405020304" pitchFamily="18" charset="0"/>
              </a:rPr>
              <a:t>Complete the table by writing the expressions that are equivalent based on the property used.</a:t>
            </a:r>
          </a:p>
        </p:txBody>
      </p:sp>
      <p:graphicFrame>
        <p:nvGraphicFramePr>
          <p:cNvPr id="5" name="Table 4">
            <a:extLst>
              <a:ext uri="{FF2B5EF4-FFF2-40B4-BE49-F238E27FC236}">
                <a16:creationId xmlns:a16="http://schemas.microsoft.com/office/drawing/2014/main" id="{DF213996-2DA9-DE44-8EB9-41DFB30E39B5}"/>
              </a:ext>
            </a:extLst>
          </p:cNvPr>
          <p:cNvGraphicFramePr>
            <a:graphicFrameLocks noGrp="1"/>
          </p:cNvGraphicFramePr>
          <p:nvPr>
            <p:extLst>
              <p:ext uri="{D42A27DB-BD31-4B8C-83A1-F6EECF244321}">
                <p14:modId xmlns:p14="http://schemas.microsoft.com/office/powerpoint/2010/main" val="3518963426"/>
              </p:ext>
            </p:extLst>
          </p:nvPr>
        </p:nvGraphicFramePr>
        <p:xfrm>
          <a:off x="2667000" y="3489661"/>
          <a:ext cx="6858000" cy="2680335"/>
        </p:xfrm>
        <a:graphic>
          <a:graphicData uri="http://schemas.openxmlformats.org/drawingml/2006/table">
            <a:tbl>
              <a:tblPr firstRow="1" firstCol="1" bandRow="1">
                <a:tableStyleId>{A91F0D33-8C57-4600-99A7-42BC86742BE1}</a:tableStyleId>
              </a:tblPr>
              <a:tblGrid>
                <a:gridCol w="2332355">
                  <a:extLst>
                    <a:ext uri="{9D8B030D-6E8A-4147-A177-3AD203B41FA5}">
                      <a16:colId xmlns:a16="http://schemas.microsoft.com/office/drawing/2014/main" val="482963475"/>
                    </a:ext>
                  </a:extLst>
                </a:gridCol>
                <a:gridCol w="2443480">
                  <a:extLst>
                    <a:ext uri="{9D8B030D-6E8A-4147-A177-3AD203B41FA5}">
                      <a16:colId xmlns:a16="http://schemas.microsoft.com/office/drawing/2014/main" val="131120582"/>
                    </a:ext>
                  </a:extLst>
                </a:gridCol>
                <a:gridCol w="2082165">
                  <a:extLst>
                    <a:ext uri="{9D8B030D-6E8A-4147-A177-3AD203B41FA5}">
                      <a16:colId xmlns:a16="http://schemas.microsoft.com/office/drawing/2014/main" val="1504066206"/>
                    </a:ext>
                  </a:extLst>
                </a:gridCol>
              </a:tblGrid>
              <a:tr h="622935">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Expressions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x-none"/>
                    </a:p>
                  </a:txBody>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Property Used</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87148356"/>
                  </a:ext>
                </a:extLst>
              </a:tr>
              <a:tr h="685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Associative Property</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1752471"/>
                  </a:ext>
                </a:extLst>
              </a:tr>
              <a:tr h="685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Commutative Property</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06865"/>
                  </a:ext>
                </a:extLst>
              </a:tr>
              <a:tr h="685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Distributive Property</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341935"/>
                  </a:ext>
                </a:extLst>
              </a:tr>
            </a:tbl>
          </a:graphicData>
        </a:graphic>
      </p:graphicFrame>
      <p:sp>
        <p:nvSpPr>
          <p:cNvPr id="9"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330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7593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330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734300" y="208213"/>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13.12.5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888831" y="20821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530A248-17D8-9B4E-B32E-9F5472BCF227}"/>
                  </a:ext>
                </a:extLst>
              </p:cNvPr>
              <p:cNvSpPr/>
              <p:nvPr/>
            </p:nvSpPr>
            <p:spPr>
              <a:xfrm>
                <a:off x="1734301" y="1496501"/>
                <a:ext cx="8683220" cy="1760610"/>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Write an equivalent expression using the associative, commutative, or distributive property. State the property used.</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r>
                      <a:rPr lang="en-US" sz="2000" i="1" dirty="0">
                        <a:latin typeface="Cambria Math" panose="02040503050406030204" pitchFamily="18" charset="0"/>
                        <a:ea typeface="Verdana" panose="020B0604030504040204" pitchFamily="34" charset="0"/>
                        <a:cs typeface="Verdana" panose="020B0604030504040204" pitchFamily="34" charset="0"/>
                      </a:rPr>
                      <m:t>(−30+15</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xmlns:a14="http://schemas.microsoft.com/office/drawing/2010/main" xmlns="" id="{7530A248-17D8-9B4E-B32E-9F5472BCF227}"/>
                  </a:ext>
                </a:extLst>
              </p:cNvPr>
              <p:cNvSpPr>
                <a:spLocks noRot="1" noChangeAspect="1" noMove="1" noResize="1" noEditPoints="1" noAdjustHandles="1" noChangeArrowheads="1" noChangeShapeType="1" noTextEdit="1"/>
              </p:cNvSpPr>
              <p:nvPr/>
            </p:nvSpPr>
            <p:spPr>
              <a:xfrm>
                <a:off x="1734301" y="1496501"/>
                <a:ext cx="8683220" cy="1760610"/>
              </a:xfrm>
              <a:prstGeom prst="rect">
                <a:avLst/>
              </a:prstGeom>
              <a:blipFill rotWithShape="0">
                <a:blip r:embed="rId4"/>
                <a:stretch>
                  <a:fillRect l="-772" t="-1730" b="-1384"/>
                </a:stretch>
              </a:blipFill>
            </p:spPr>
            <p:txBody>
              <a:bodyPr/>
              <a:lstStyle/>
              <a:p>
                <a:r>
                  <a:rPr lang="en-US">
                    <a:noFill/>
                  </a:rPr>
                  <a:t> </a:t>
                </a:r>
              </a:p>
            </p:txBody>
          </p:sp>
        </mc:Fallback>
      </mc:AlternateContent>
      <p:sp>
        <p:nvSpPr>
          <p:cNvPr id="8"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330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530A248-17D8-9B4E-B32E-9F5472BCF227}"/>
                  </a:ext>
                </a:extLst>
              </p:cNvPr>
              <p:cNvSpPr/>
              <p:nvPr/>
            </p:nvSpPr>
            <p:spPr>
              <a:xfrm>
                <a:off x="1259175" y="486566"/>
                <a:ext cx="8826386" cy="3630738"/>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+15)+4</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−17</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dirty="0">
                            <a:latin typeface="Cambria Math" panose="02040503050406030204" pitchFamily="18" charset="0"/>
                            <a:ea typeface="Verdana" panose="020B0604030504040204" pitchFamily="34" charset="0"/>
                            <a:cs typeface="Verdana" panose="020B0604030504040204" pitchFamily="34" charset="0"/>
                          </a:rPr>
                        </m:ctrlPr>
                      </m:dPr>
                      <m:e>
                        <m:r>
                          <a:rPr lang="es-E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 + 6</m:t>
                        </m:r>
                      </m:e>
                    </m:d>
                    <m:r>
                      <a:rPr lang="en-US" sz="2000" i="1" dirty="0">
                        <a:latin typeface="Cambria Math" panose="02040503050406030204" pitchFamily="18" charset="0"/>
                        <a:ea typeface="Verdana" panose="020B0604030504040204" pitchFamily="34" charset="0"/>
                        <a:cs typeface="Verdana" panose="020B0604030504040204" pitchFamily="34" charset="0"/>
                      </a:rPr>
                      <m:t>∙ 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xmlns:a14="http://schemas.microsoft.com/office/drawing/2010/main" xmlns="" id="{7530A248-17D8-9B4E-B32E-9F5472BCF227}"/>
                  </a:ext>
                </a:extLst>
              </p:cNvPr>
              <p:cNvSpPr>
                <a:spLocks noRot="1" noChangeAspect="1" noMove="1" noResize="1" noEditPoints="1" noAdjustHandles="1" noChangeArrowheads="1" noChangeShapeType="1" noTextEdit="1"/>
              </p:cNvSpPr>
              <p:nvPr/>
            </p:nvSpPr>
            <p:spPr>
              <a:xfrm>
                <a:off x="1259175" y="486566"/>
                <a:ext cx="8826386" cy="3630738"/>
              </a:xfrm>
              <a:prstGeom prst="rect">
                <a:avLst/>
              </a:prstGeom>
              <a:blipFill rotWithShape="0">
                <a:blip r:embed="rId3"/>
                <a:stretch>
                  <a:fillRect l="-760" t="-1176"/>
                </a:stretch>
              </a:blipFill>
            </p:spPr>
            <p:txBody>
              <a:bodyPr/>
              <a:lstStyle/>
              <a:p>
                <a:r>
                  <a:rPr lang="en-US">
                    <a:noFill/>
                  </a:rPr>
                  <a:t> </a:t>
                </a:r>
              </a:p>
            </p:txBody>
          </p:sp>
        </mc:Fallback>
      </mc:AlternateContent>
      <p:sp>
        <p:nvSpPr>
          <p:cNvPr id="6"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330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28121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530A248-17D8-9B4E-B32E-9F5472BCF227}"/>
                  </a:ext>
                </a:extLst>
              </p:cNvPr>
              <p:cNvSpPr/>
              <p:nvPr/>
            </p:nvSpPr>
            <p:spPr>
              <a:xfrm>
                <a:off x="1334125" y="486567"/>
                <a:ext cx="8751435" cy="3775329"/>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5</m:t>
                        </m:r>
                      </m:num>
                      <m:den>
                        <m:r>
                          <a:rPr lang="es-ES" sz="2000" i="1" dirty="0">
                            <a:latin typeface="Cambria Math" panose="02040503050406030204" pitchFamily="18" charset="0"/>
                            <a:ea typeface="Verdana" panose="020B0604030504040204" pitchFamily="34" charset="0"/>
                            <a:cs typeface="Verdana" panose="020B0604030504040204" pitchFamily="34" charset="0"/>
                          </a:rPr>
                          <m:t>4</m:t>
                        </m:r>
                      </m:den>
                    </m:f>
                    <m:r>
                      <a:rPr lang="en-US" sz="2000" i="1" dirty="0">
                        <a:latin typeface="Cambria Math" panose="02040503050406030204" pitchFamily="18" charset="0"/>
                        <a:ea typeface="Verdana" panose="020B0604030504040204" pitchFamily="34" charset="0"/>
                        <a:cs typeface="Verdana" panose="020B0604030504040204" pitchFamily="34" charset="0"/>
                      </a:rPr>
                      <m:t>𝑛</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7</m:t>
                        </m:r>
                      </m:num>
                      <m:den>
                        <m:r>
                          <a:rPr lang="es-ES" sz="2000" i="1" dirty="0">
                            <a:latin typeface="Cambria Math" panose="02040503050406030204" pitchFamily="18" charset="0"/>
                            <a:ea typeface="Verdana" panose="020B0604030504040204" pitchFamily="34" charset="0"/>
                            <a:cs typeface="Verdana" panose="020B0604030504040204" pitchFamily="34" charset="0"/>
                          </a:rPr>
                          <m:t>3</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11</m:t>
                        </m:r>
                      </m:num>
                      <m:den>
                        <m:r>
                          <a:rPr lang="es-ES" sz="2000" i="1" dirty="0">
                            <a:latin typeface="Cambria Math" panose="02040503050406030204" pitchFamily="18" charset="0"/>
                            <a:ea typeface="Verdana" panose="020B0604030504040204" pitchFamily="34" charset="0"/>
                            <a:cs typeface="Verdana" panose="020B0604030504040204" pitchFamily="34" charset="0"/>
                          </a:rPr>
                          <m:t>2</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𝑛</m:t>
                    </m:r>
                    <m:r>
                      <a:rPr lang="en-US" sz="2000" i="1" dirty="0">
                        <a:latin typeface="Cambria Math" panose="02040503050406030204" pitchFamily="18" charset="0"/>
                        <a:ea typeface="Verdana" panose="020B0604030504040204" pitchFamily="34" charset="0"/>
                        <a:cs typeface="Verdana" panose="020B0604030504040204" pitchFamily="34" charset="0"/>
                      </a:rPr>
                      <m:t>−12 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m:t>
                        </m:r>
                      </m:num>
                      <m:den>
                        <m:r>
                          <a:rPr lang="es-ES" sz="2000" i="1" dirty="0">
                            <a:latin typeface="Cambria Math" panose="02040503050406030204" pitchFamily="18" charset="0"/>
                            <a:ea typeface="Verdana" panose="020B0604030504040204" pitchFamily="34" charset="0"/>
                            <a:cs typeface="Verdana" panose="020B0604030504040204" pitchFamily="34" charset="0"/>
                          </a:rPr>
                          <m:t>3</m:t>
                        </m:r>
                      </m:den>
                    </m:f>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d>
                      <m:dPr>
                        <m:ctrlPr>
                          <a:rPr lang="en-US" sz="2000" i="1" dirty="0">
                            <a:latin typeface="Cambria Math" panose="02040503050406030204" pitchFamily="18" charset="0"/>
                            <a:ea typeface="Verdana" panose="020B0604030504040204" pitchFamily="34" charset="0"/>
                            <a:cs typeface="Verdana" panose="020B0604030504040204" pitchFamily="34" charset="0"/>
                          </a:rPr>
                        </m:ctrlPr>
                      </m:dPr>
                      <m:e>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m:t>
                            </m:r>
                          </m:num>
                          <m:den>
                            <m:r>
                              <a:rPr lang="es-ES" sz="2000" i="1" dirty="0">
                                <a:latin typeface="Cambria Math" panose="02040503050406030204" pitchFamily="18" charset="0"/>
                                <a:ea typeface="Verdana" panose="020B0604030504040204" pitchFamily="34" charset="0"/>
                                <a:cs typeface="Verdana" panose="020B0604030504040204" pitchFamily="34" charset="0"/>
                              </a:rPr>
                              <m:t>2</m:t>
                            </m:r>
                          </m:den>
                        </m:f>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 + 4</m:t>
                        </m:r>
                      </m:e>
                    </m:d>
                    <m:r>
                      <a:rPr lang="en-US" sz="2000" i="1" dirty="0">
                        <a:latin typeface="Cambria Math" panose="02040503050406030204" pitchFamily="18" charset="0"/>
                        <a:ea typeface="Verdana" panose="020B0604030504040204" pitchFamily="34" charset="0"/>
                        <a:cs typeface="Verdana" panose="020B0604030504040204" pitchFamily="34" charset="0"/>
                      </a:rPr>
                      <m:t>  −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r>
                      <a:rPr lang="en-US" sz="2000" i="1" dirty="0">
                        <a:latin typeface="Cambria Math" panose="02040503050406030204" pitchFamily="18" charset="0"/>
                        <a:ea typeface="Verdana" panose="020B0604030504040204" pitchFamily="34" charset="0"/>
                        <a:cs typeface="Verdana" panose="020B0604030504040204" pitchFamily="34" charset="0"/>
                      </a:rPr>
                      <m:t> (−1 + 10</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xmlns:a14="http://schemas.microsoft.com/office/drawing/2010/main" xmlns="" id="{7530A248-17D8-9B4E-B32E-9F5472BCF227}"/>
                  </a:ext>
                </a:extLst>
              </p:cNvPr>
              <p:cNvSpPr>
                <a:spLocks noRot="1" noChangeAspect="1" noMove="1" noResize="1" noEditPoints="1" noAdjustHandles="1" noChangeArrowheads="1" noChangeShapeType="1" noTextEdit="1"/>
              </p:cNvSpPr>
              <p:nvPr/>
            </p:nvSpPr>
            <p:spPr>
              <a:xfrm>
                <a:off x="1334125" y="486567"/>
                <a:ext cx="8751435" cy="3775329"/>
              </a:xfrm>
              <a:prstGeom prst="rect">
                <a:avLst/>
              </a:prstGeom>
              <a:blipFill rotWithShape="0">
                <a:blip r:embed="rId3"/>
                <a:stretch>
                  <a:fillRect l="-767"/>
                </a:stretch>
              </a:blipFill>
            </p:spPr>
            <p:txBody>
              <a:bodyPr/>
              <a:lstStyle/>
              <a:p>
                <a:r>
                  <a:rPr lang="en-US">
                    <a:noFill/>
                  </a:rPr>
                  <a:t> </a:t>
                </a:r>
              </a:p>
            </p:txBody>
          </p:sp>
        </mc:Fallback>
      </mc:AlternateContent>
      <p:sp>
        <p:nvSpPr>
          <p:cNvPr id="6"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331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30927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331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627639"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13.12.6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798189" y="19298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F7A919-8B1E-2741-BB78-98A66295B9F8}"/>
                  </a:ext>
                </a:extLst>
              </p:cNvPr>
              <p:cNvSpPr/>
              <p:nvPr/>
            </p:nvSpPr>
            <p:spPr>
              <a:xfrm>
                <a:off x="1627639" y="1243129"/>
                <a:ext cx="9085046" cy="3736664"/>
              </a:xfrm>
              <a:prstGeom prst="rect">
                <a:avLst/>
              </a:prstGeom>
            </p:spPr>
            <p:txBody>
              <a:bodyPr wrap="square">
                <a:spAutoFit/>
              </a:bodyPr>
              <a:lstStyle/>
              <a:p>
                <a:pPr lvl="0"/>
                <a:r>
                  <a:rPr lang="en-US" sz="2000" dirty="0">
                    <a:latin typeface="Verdana" panose="020B0604030504040204" pitchFamily="34" charset="0"/>
                    <a:ea typeface="Times New Roman" panose="02020603050405020304" pitchFamily="18" charset="0"/>
                  </a:rPr>
                  <a:t>Use properties of operations to determine if the expressions are equivalent. </a:t>
                </a:r>
              </a:p>
              <a:p>
                <a:pPr lvl="0"/>
                <a:endParaRPr lang="en-US" sz="2000" dirty="0">
                  <a:latin typeface="Verdana" panose="020B0604030504040204" pitchFamily="34" charset="0"/>
                  <a:ea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r>
                  <a:rPr lang="en-US" sz="2000" dirty="0">
                    <a:latin typeface="Verdana" panose="020B0604030504040204" pitchFamily="34" charset="0"/>
                    <a:ea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rPr>
                      <m:t> </m:t>
                    </m:r>
                    <m:f>
                      <m:fPr>
                        <m:ctrlPr>
                          <a:rPr lang="en-US" sz="2000" i="1" dirty="0">
                            <a:latin typeface="Cambria Math" panose="02040503050406030204" pitchFamily="18" charset="0"/>
                          </a:rPr>
                        </m:ctrlPr>
                      </m:fPr>
                      <m:num>
                        <m:r>
                          <a:rPr lang="es-ES" sz="2000" i="1" dirty="0">
                            <a:latin typeface="Cambria Math" panose="02040503050406030204" pitchFamily="18" charset="0"/>
                          </a:rPr>
                          <m:t>4</m:t>
                        </m:r>
                      </m:num>
                      <m:den>
                        <m:r>
                          <a:rPr lang="es-ES" sz="2000" i="1" dirty="0">
                            <a:latin typeface="Cambria Math" panose="02040503050406030204" pitchFamily="18" charset="0"/>
                          </a:rPr>
                          <m:t>5</m:t>
                        </m:r>
                      </m:den>
                    </m:f>
                    <m:r>
                      <a:rPr lang="en-US" sz="2000" i="1" dirty="0">
                        <a:latin typeface="Cambria Math" panose="02040503050406030204" pitchFamily="18" charset="0"/>
                        <a:ea typeface="Times New Roman" panose="02020603050405020304" pitchFamily="18" charset="0"/>
                      </a:rPr>
                      <m:t>(</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−1)−</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8</m:t>
                        </m:r>
                      </m:den>
                    </m:f>
                    <m:r>
                      <a:rPr lang="en-US" sz="2000" i="1" dirty="0">
                        <a:latin typeface="Cambria Math" panose="02040503050406030204" pitchFamily="18" charset="0"/>
                        <a:ea typeface="Times New Roman" panose="02020603050405020304" pitchFamily="18" charset="0"/>
                      </a:rPr>
                      <m:t>(2</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rPr>
                  <a:t>  and  </a:t>
                </a:r>
                <a14:m>
                  <m:oMath xmlns:m="http://schemas.openxmlformats.org/officeDocument/2006/math">
                    <m:f>
                      <m:fPr>
                        <m:ctrlPr>
                          <a:rPr lang="en-US" sz="2000" i="1" dirty="0">
                            <a:latin typeface="Cambria Math" panose="02040503050406030204" pitchFamily="18" charset="0"/>
                          </a:rPr>
                        </m:ctrlPr>
                      </m:fPr>
                      <m:num>
                        <m:r>
                          <a:rPr lang="es-ES" sz="2000" i="1" dirty="0">
                            <a:latin typeface="Cambria Math" panose="02040503050406030204" pitchFamily="18" charset="0"/>
                          </a:rPr>
                          <m:t>11</m:t>
                        </m:r>
                      </m:num>
                      <m:den>
                        <m:r>
                          <a:rPr lang="es-ES" sz="2000" i="1" dirty="0">
                            <a:latin typeface="Cambria Math" panose="02040503050406030204" pitchFamily="18" charset="0"/>
                          </a:rPr>
                          <m:t>20</m:t>
                        </m:r>
                      </m:den>
                    </m:f>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m:t>
                    </m:r>
                    <m:f>
                      <m:fPr>
                        <m:ctrlPr>
                          <a:rPr lang="en-US" sz="2000" i="1" dirty="0">
                            <a:latin typeface="Cambria Math" panose="02040503050406030204" pitchFamily="18" charset="0"/>
                          </a:rPr>
                        </m:ctrlPr>
                      </m:fPr>
                      <m:num>
                        <m:r>
                          <a:rPr lang="es-ES" sz="2000" i="1" dirty="0">
                            <a:latin typeface="Cambria Math" panose="02040503050406030204" pitchFamily="18" charset="0"/>
                          </a:rPr>
                          <m:t>37</m:t>
                        </m:r>
                      </m:num>
                      <m:den>
                        <m:r>
                          <a:rPr lang="es-ES" sz="2000" i="1" dirty="0">
                            <a:latin typeface="Cambria Math" panose="02040503050406030204" pitchFamily="18" charset="0"/>
                          </a:rPr>
                          <m:t>40</m:t>
                        </m:r>
                      </m:den>
                    </m:f>
                  </m:oMath>
                </a14:m>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r>
                  <a:rPr lang="en-US" sz="2000" dirty="0">
                    <a:latin typeface="Verdana" panose="020B0604030504040204" pitchFamily="34" charset="0"/>
                    <a:ea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rPr>
                      <m:t>1</m:t>
                    </m:r>
                    <m:f>
                      <m:fPr>
                        <m:ctrlPr>
                          <a:rPr lang="en-US" sz="2000" i="1" dirty="0">
                            <a:latin typeface="Cambria Math" panose="02040503050406030204" pitchFamily="18" charset="0"/>
                          </a:rPr>
                        </m:ctrlPr>
                      </m:fPr>
                      <m:num>
                        <m:r>
                          <a:rPr lang="es-ES" sz="2000" i="1" dirty="0">
                            <a:latin typeface="Cambria Math" panose="02040503050406030204" pitchFamily="18" charset="0"/>
                          </a:rPr>
                          <m:t>3</m:t>
                        </m:r>
                      </m:num>
                      <m:den>
                        <m:r>
                          <a:rPr lang="es-ES" sz="2000" i="1" dirty="0">
                            <a:latin typeface="Cambria Math" panose="02040503050406030204" pitchFamily="18" charset="0"/>
                          </a:rPr>
                          <m:t>10</m:t>
                        </m:r>
                      </m:den>
                    </m:f>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 </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5</m:t>
                        </m:r>
                      </m:den>
                    </m:f>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10</m:t>
                        </m:r>
                      </m:den>
                    </m:f>
                    <m:r>
                      <a:rPr lang="en-US" sz="2000" i="1" dirty="0">
                        <a:latin typeface="Cambria Math" panose="02040503050406030204" pitchFamily="18" charset="0"/>
                        <a:ea typeface="Times New Roman" panose="02020603050405020304" pitchFamily="18" charset="0"/>
                      </a:rPr>
                      <m:t>−</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10</m:t>
                        </m:r>
                      </m:den>
                    </m:f>
                  </m:oMath>
                </a14:m>
                <a:r>
                  <a:rPr lang="en-US" sz="2000" dirty="0">
                    <a:latin typeface="Verdana" panose="020B0604030504040204" pitchFamily="34" charset="0"/>
                    <a:ea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rPr>
                      <m:t>1</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10</m:t>
                        </m:r>
                      </m:den>
                    </m:f>
                    <m:r>
                      <a:rPr lang="en-US" sz="2000" i="1" dirty="0">
                        <a:latin typeface="Cambria Math" panose="02040503050406030204" pitchFamily="18" charset="0"/>
                        <a:ea typeface="Times New Roman" panose="02020603050405020304" pitchFamily="18" charset="0"/>
                      </a:rPr>
                      <m:t>−</m:t>
                    </m:r>
                    <m:f>
                      <m:fPr>
                        <m:ctrlPr>
                          <a:rPr lang="en-US" sz="2000" i="1" dirty="0">
                            <a:latin typeface="Cambria Math" panose="02040503050406030204" pitchFamily="18" charset="0"/>
                          </a:rPr>
                        </m:ctrlPr>
                      </m:fPr>
                      <m:num>
                        <m:r>
                          <a:rPr lang="es-ES" sz="2000" i="1" dirty="0">
                            <a:latin typeface="Cambria Math" panose="02040503050406030204" pitchFamily="18" charset="0"/>
                          </a:rPr>
                          <m:t>4</m:t>
                        </m:r>
                      </m:num>
                      <m:den>
                        <m:r>
                          <a:rPr lang="es-ES" sz="2000" i="1" dirty="0">
                            <a:latin typeface="Cambria Math" panose="02040503050406030204" pitchFamily="18" charset="0"/>
                          </a:rPr>
                          <m:t>5</m:t>
                        </m:r>
                      </m:den>
                    </m:f>
                    <m:r>
                      <a:rPr lang="en-US" sz="2000" i="1" dirty="0">
                        <a:latin typeface="Cambria Math" panose="02040503050406030204" pitchFamily="18" charset="0"/>
                        <a:ea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rPr>
                      <m:t>𝑥</m:t>
                    </m:r>
                  </m:oMath>
                </a14:m>
                <a:endParaRPr lang="en-US" sz="2000" dirty="0">
                  <a:latin typeface="Verdana" panose="020B0604030504040204" pitchFamily="34" charset="0"/>
                  <a:ea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D9F7A919-8B1E-2741-BB78-98A66295B9F8}"/>
                  </a:ext>
                </a:extLst>
              </p:cNvPr>
              <p:cNvSpPr>
                <a:spLocks noRot="1" noChangeAspect="1" noMove="1" noResize="1" noEditPoints="1" noAdjustHandles="1" noChangeArrowheads="1" noChangeShapeType="1" noTextEdit="1"/>
              </p:cNvSpPr>
              <p:nvPr/>
            </p:nvSpPr>
            <p:spPr>
              <a:xfrm>
                <a:off x="1627639" y="1243129"/>
                <a:ext cx="9085046" cy="3736664"/>
              </a:xfrm>
              <a:prstGeom prst="rect">
                <a:avLst/>
              </a:prstGeom>
              <a:blipFill rotWithShape="0">
                <a:blip r:embed="rId4"/>
                <a:stretch>
                  <a:fillRect l="-738" t="-979"/>
                </a:stretch>
              </a:blipFill>
            </p:spPr>
            <p:txBody>
              <a:bodyPr/>
              <a:lstStyle/>
              <a:p>
                <a:r>
                  <a:rPr lang="en-US">
                    <a:noFill/>
                  </a:rPr>
                  <a:t> </a:t>
                </a:r>
              </a:p>
            </p:txBody>
          </p:sp>
        </mc:Fallback>
      </mc:AlternateContent>
      <p:sp>
        <p:nvSpPr>
          <p:cNvPr id="8" name="Google Shape;282;g104476d1465_1_17"/>
          <p:cNvSpPr txBox="1"/>
          <p:nvPr/>
        </p:nvSpPr>
        <p:spPr>
          <a:xfrm>
            <a:off x="870883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331</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1370</TotalTime>
  <Words>1155</Words>
  <Application>Microsoft Office PowerPoint</Application>
  <PresentationFormat>Widescreen</PresentationFormat>
  <Paragraphs>201</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Black</vt:lpstr>
      <vt:lpstr>Calibri</vt:lpstr>
      <vt:lpstr>Cambria Math</vt:lpstr>
      <vt:lpstr>Century Gothic</vt:lpstr>
      <vt:lpstr>Courier New</vt:lpstr>
      <vt:lpstr>Times New Roman</vt:lpstr>
      <vt:lpstr>Verdana</vt:lpstr>
      <vt:lpstr>Wingdings</vt:lpstr>
      <vt:lpstr>1_Office Theme</vt:lpstr>
      <vt:lpstr>6th Grade Accelerated Math  Unit 13, Lesson 12  Equivalent Expressions Using Properties of Operations  Volume 2, pg. 327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24</cp:revision>
  <dcterms:created xsi:type="dcterms:W3CDTF">2015-03-17T18:51:18Z</dcterms:created>
  <dcterms:modified xsi:type="dcterms:W3CDTF">2022-07-02T04:32:45Z</dcterms:modified>
</cp:coreProperties>
</file>