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289" r:id="rId9"/>
    <p:sldId id="290" r:id="rId10"/>
    <p:sldId id="346" r:id="rId11"/>
    <p:sldId id="355" r:id="rId12"/>
    <p:sldId id="356" r:id="rId13"/>
    <p:sldId id="357" r:id="rId14"/>
    <p:sldId id="358" r:id="rId15"/>
    <p:sldId id="359" r:id="rId16"/>
    <p:sldId id="360" r:id="rId17"/>
    <p:sldId id="361" r:id="rId18"/>
    <p:sldId id="362" r:id="rId19"/>
    <p:sldId id="314" r:id="rId20"/>
    <p:sldId id="315" r:id="rId21"/>
    <p:sldId id="342" r:id="rId22"/>
    <p:sldId id="363" r:id="rId23"/>
    <p:sldId id="352" r:id="rId24"/>
    <p:sldId id="353" r:id="rId25"/>
    <p:sldId id="354" r:id="rId26"/>
    <p:sldId id="364" r:id="rId27"/>
    <p:sldId id="320" r:id="rId28"/>
    <p:sldId id="321" r:id="rId29"/>
    <p:sldId id="306" r:id="rId30"/>
    <p:sldId id="307"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7"/>
    <p:restoredTop sz="94695" autoAdjust="0"/>
  </p:normalViewPr>
  <p:slideViewPr>
    <p:cSldViewPr snapToGrid="0">
      <p:cViewPr varScale="1">
        <p:scale>
          <a:sx n="79" d="100"/>
          <a:sy n="79" d="100"/>
        </p:scale>
        <p:origin x="9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85261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dirty="0"/>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90.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13,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Writing Algebraic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284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1873"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9767"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64919" y="9708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94122" y="370826"/>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41422" y="1600200"/>
            <a:ext cx="890915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MA.6.AR.1.1 </a:t>
            </a:r>
          </a:p>
          <a:p>
            <a:pPr indent="0">
              <a:buNone/>
            </a:pPr>
            <a:r>
              <a:rPr lang="en-US" sz="3500" dirty="0">
                <a:solidFill>
                  <a:schemeClr val="tx1"/>
                </a:solidFill>
                <a:latin typeface="Verdana"/>
                <a:ea typeface="Verdana"/>
                <a:cs typeface="Verdana"/>
                <a:sym typeface="Verdana"/>
              </a:rPr>
              <a:t>Given a mathematical or real-world context, translate written descriptions into algebraic expressions and translate algebraic expressions into written descriptions.</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9933" y="356534"/>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84583" y="113901"/>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84583" y="1596390"/>
            <a:ext cx="98105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8921"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31621" y="23781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16971" y="1600200"/>
            <a:ext cx="875805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5475" indent="-619125">
              <a:buClr>
                <a:srgbClr val="434343"/>
              </a:buClr>
              <a:buSzPts val="3500"/>
              <a:buFont typeface="Wingdings" pitchFamily="2" charset="2"/>
              <a:buChar char="q"/>
              <a:tabLst>
                <a:tab pos="722313" algn="l"/>
              </a:tabLst>
            </a:pPr>
            <a:r>
              <a:rPr lang="en-US" sz="3500" dirty="0">
                <a:latin typeface="Verdana" pitchFamily="34" charset="0"/>
                <a:ea typeface="Verdana" pitchFamily="34" charset="0"/>
              </a:rPr>
              <a:t>I can translate a written description into an algebraic expression.</a:t>
            </a:r>
          </a:p>
          <a:p>
            <a:pPr marL="457200" indent="-450850">
              <a:buClr>
                <a:srgbClr val="434343"/>
              </a:buClr>
              <a:buSzPts val="3500"/>
              <a:buFont typeface="Verdana"/>
              <a:buChar char="❏"/>
            </a:pPr>
            <a:endParaRPr lang="en-US" sz="3500" dirty="0">
              <a:latin typeface="Verdana" pitchFamily="34" charset="0"/>
              <a:ea typeface="Verdana" pitchFamily="34" charset="0"/>
            </a:endParaRPr>
          </a:p>
          <a:p>
            <a:pPr marL="625475" indent="-619125">
              <a:buClr>
                <a:srgbClr val="434343"/>
              </a:buClr>
              <a:buSzPts val="3500"/>
              <a:buFont typeface="Verdana"/>
              <a:buChar char="❏"/>
            </a:pPr>
            <a:r>
              <a:rPr lang="en-US" sz="3500" dirty="0">
                <a:latin typeface="Verdana" pitchFamily="34" charset="0"/>
                <a:ea typeface="Verdana" pitchFamily="34" charset="0"/>
              </a:rPr>
              <a:t>I can translate a real-world description into an algebraic expression.</a:t>
            </a:r>
            <a:endParaRPr lang="en-US" sz="3500" dirty="0">
              <a:solidFill>
                <a:schemeClr val="tx1"/>
              </a:solidFill>
              <a:latin typeface="Verdana" pitchFamily="34" charset="0"/>
              <a:ea typeface="Verdana" pitchFamily="34" charset="0"/>
              <a:cs typeface="Verdana"/>
              <a:sym typeface="Verdana"/>
            </a:endParaRPr>
          </a:p>
        </p:txBody>
      </p:sp>
      <p:sp>
        <p:nvSpPr>
          <p:cNvPr id="9"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7436" y="889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13.5.1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90136" y="24977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337436" y="1386026"/>
                <a:ext cx="9773160" cy="1746632"/>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cs typeface="Century Gothic"/>
                  </a:rPr>
                  <a:t>Two diagrams are shown. One represents </a:t>
                </a:r>
                <a14:m>
                  <m:oMath xmlns:m="http://schemas.openxmlformats.org/officeDocument/2006/math">
                    <m:r>
                      <a:rPr lang="en-US" sz="2000" i="1">
                        <a:latin typeface="Cambria Math"/>
                        <a:ea typeface="Cambria Math"/>
                        <a:cs typeface="Cambria Math"/>
                      </a:rPr>
                      <m:t>3+5=8</m:t>
                    </m:r>
                  </m:oMath>
                </a14:m>
                <a:r>
                  <a:rPr lang="en-US" sz="2000" dirty="0">
                    <a:latin typeface="Verdana" pitchFamily="34" charset="0"/>
                    <a:ea typeface="Verdana" pitchFamily="34" charset="0"/>
                    <a:cs typeface="Century Gothic"/>
                  </a:rPr>
                  <a:t>. The other represents </a:t>
                </a:r>
                <a14:m>
                  <m:oMath xmlns:m="http://schemas.openxmlformats.org/officeDocument/2006/math">
                    <m:r>
                      <a:rPr lang="en-US" sz="2000" i="1">
                        <a:latin typeface="Cambria Math"/>
                        <a:ea typeface="Cambria Math"/>
                        <a:cs typeface="Cambria Math"/>
                      </a:rPr>
                      <m:t>5⋅3=15</m:t>
                    </m:r>
                  </m:oMath>
                </a14:m>
                <a:r>
                  <a:rPr lang="en-US" sz="2000" dirty="0">
                    <a:latin typeface="Verdana"/>
                    <a:ea typeface="Century Gothic"/>
                    <a:cs typeface="Century Gothic"/>
                  </a:rPr>
                  <a:t>.</a:t>
                </a:r>
              </a:p>
              <a:p>
                <a:endParaRPr lang="en-US" sz="2000" dirty="0">
                  <a:latin typeface="Verdana"/>
                  <a:ea typeface="Century Gothic"/>
                  <a:cs typeface="Century Gothic"/>
                </a:endParaRPr>
              </a:p>
              <a:p>
                <a:pPr marL="444500">
                  <a:spcBef>
                    <a:spcPts val="900"/>
                  </a:spcBef>
                  <a:spcAft>
                    <a:spcPts val="900"/>
                  </a:spcAft>
                </a:pPr>
                <a:r>
                  <a:rPr lang="en-US" sz="2000" dirty="0">
                    <a:latin typeface="Verdana"/>
                    <a:ea typeface="Century Gothic"/>
                    <a:cs typeface="Century Gothic"/>
                  </a:rPr>
                  <a:t>Complete the table by writing the equation that matches each diagram in the space provided and labeling the length of each diagram.</a:t>
                </a:r>
              </a:p>
            </p:txBody>
          </p:sp>
        </mc:Choice>
        <mc:Fallback xmlns="">
          <p:sp>
            <p:nvSpPr>
              <p:cNvPr id="2" name="TextBox 1">
                <a:extLst>
                  <a:ext uri="{FF2B5EF4-FFF2-40B4-BE49-F238E27FC236}">
                    <a16:creationId xmlns="" xmlns:a16="http://schemas.microsoft.com/office/drawing/2014/main" xmlns:a14="http://schemas.microsoft.com/office/drawing/2010/main" id="{E1D7562E-134F-D14B-AF1A-DF40E11EF758}"/>
                  </a:ext>
                </a:extLst>
              </p:cNvPr>
              <p:cNvSpPr txBox="1">
                <a:spLocks noRot="1" noChangeAspect="1" noMove="1" noResize="1" noEditPoints="1" noAdjustHandles="1" noChangeArrowheads="1" noChangeShapeType="1" noTextEdit="1"/>
              </p:cNvSpPr>
              <p:nvPr/>
            </p:nvSpPr>
            <p:spPr>
              <a:xfrm>
                <a:off x="1337436" y="1386026"/>
                <a:ext cx="9773160" cy="1746632"/>
              </a:xfrm>
              <a:prstGeom prst="rect">
                <a:avLst/>
              </a:prstGeom>
              <a:blipFill rotWithShape="0">
                <a:blip r:embed="rId4"/>
                <a:stretch>
                  <a:fillRect l="-686" t="-2091" r="-810" b="-5226"/>
                </a:stretch>
              </a:blipFill>
            </p:spPr>
            <p:txBody>
              <a:bodyPr/>
              <a:lstStyle/>
              <a:p>
                <a:r>
                  <a:rPr lang="en-US">
                    <a:noFill/>
                  </a:rPr>
                  <a:t> </a:t>
                </a:r>
              </a:p>
            </p:txBody>
          </p:sp>
        </mc:Fallback>
      </mc:AlternateContent>
      <p:pic>
        <p:nvPicPr>
          <p:cNvPr id="1026"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647148" y="3512704"/>
            <a:ext cx="7153736" cy="2834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285</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92772" y="520393"/>
                <a:ext cx="9757122"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pitchFamily="34" charset="0"/>
                    <a:ea typeface="Verdana" pitchFamily="34" charset="0"/>
                  </a:rPr>
                  <a:t>Draw a diagram that represents each equation.</a:t>
                </a:r>
              </a:p>
              <a:p>
                <a:pPr marL="466725"/>
                <a:r>
                  <a:rPr lang="en-US" sz="2400" dirty="0">
                    <a:latin typeface="Verdana" pitchFamily="34" charset="0"/>
                    <a:ea typeface="Verdana" pitchFamily="34" charset="0"/>
                  </a:rPr>
                  <a:t>a.  </a:t>
                </a:r>
                <a14:m>
                  <m:oMath xmlns:m="http://schemas.openxmlformats.org/officeDocument/2006/math">
                    <m:r>
                      <a:rPr lang="en-PH" sz="2400">
                        <a:latin typeface="Cambria Math"/>
                        <a:ea typeface="Verdana" pitchFamily="34" charset="0"/>
                      </a:rPr>
                      <m:t>4+3=7</m:t>
                    </m:r>
                  </m:oMath>
                </a14:m>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901700" lvl="2" indent="-457200">
                  <a:buFont typeface="+mj-lt"/>
                  <a:buAutoNum type="alphaLcPeriod"/>
                </a:pPr>
                <a:endParaRPr lang="en-PH" sz="2400" dirty="0">
                  <a:latin typeface="Verdana" pitchFamily="34" charset="0"/>
                  <a:ea typeface="Verdana" pitchFamily="34" charset="0"/>
                </a:endParaRPr>
              </a:p>
              <a:p>
                <a:pPr marL="444500" lvl="2"/>
                <a:r>
                  <a:rPr lang="en-US"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400">
                        <a:latin typeface="Cambria Math"/>
                        <a:ea typeface="Cambria Math"/>
                        <a:cs typeface="Cambria Math"/>
                      </a:rPr>
                      <m:t>4⋅3=12</m:t>
                    </m:r>
                  </m:oMath>
                </a14:m>
                <a:endParaRPr lang="en-PH" sz="2400" dirty="0">
                  <a:latin typeface="Verdana" pitchFamily="34" charset="0"/>
                  <a:ea typeface="Verdana" pitchFamily="34" charset="0"/>
                  <a:cs typeface="Times New Roman"/>
                </a:endParaRPr>
              </a:p>
              <a:p>
                <a:pPr marL="901700" lvl="2" indent="-457200">
                  <a:buFont typeface="+mj-lt"/>
                  <a:buAutoNum type="alphaLcPeriod"/>
                </a:pPr>
                <a:endParaRPr lang="en-US" sz="2400" dirty="0">
                  <a:latin typeface="Verdana" pitchFamily="34" charset="0"/>
                  <a:ea typeface="Verdana" pitchFamily="34" charset="0"/>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1292772" y="520393"/>
                <a:ext cx="9757122" cy="3785652"/>
              </a:xfrm>
              <a:prstGeom prst="rect">
                <a:avLst/>
              </a:prstGeom>
              <a:blipFill rotWithShape="0">
                <a:blip r:embed="rId3"/>
                <a:stretch>
                  <a:fillRect l="-937" t="-1288"/>
                </a:stretch>
              </a:blipFill>
            </p:spPr>
            <p:txBody>
              <a:bodyPr/>
              <a:lstStyle/>
              <a:p>
                <a:r>
                  <a:rPr lang="en-US">
                    <a:noFill/>
                  </a:rPr>
                  <a:t> </a:t>
                </a:r>
              </a:p>
            </p:txBody>
          </p:sp>
        </mc:Fallback>
      </mc:AlternateContent>
      <p:sp>
        <p:nvSpPr>
          <p:cNvPr id="6"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91347" y="-2603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13.5.2 Guided Instruction: Making Sense with Models </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58295" y="197164"/>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2060448" y="2697469"/>
            <a:ext cx="8327136" cy="3416320"/>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rPr>
              <a:t>Complete the statement.</a:t>
            </a:r>
            <a:br>
              <a:rPr lang="en-US" sz="2400" dirty="0">
                <a:latin typeface="Verdana" pitchFamily="34" charset="0"/>
                <a:ea typeface="Verdana" pitchFamily="34" charset="0"/>
              </a:rPr>
            </a:br>
            <a:br>
              <a:rPr lang="en-US" sz="2400" dirty="0">
                <a:latin typeface="Verdana" pitchFamily="34" charset="0"/>
                <a:ea typeface="Verdana" pitchFamily="34" charset="0"/>
              </a:rPr>
            </a:br>
            <a:r>
              <a:rPr lang="en-US" sz="2400" dirty="0">
                <a:latin typeface="Verdana" pitchFamily="34" charset="0"/>
                <a:ea typeface="Verdana" pitchFamily="34" charset="0"/>
              </a:rPr>
              <a:t>An expression  		  have an equal sign or </a:t>
            </a:r>
            <a:br>
              <a:rPr lang="en-US" sz="2400" dirty="0">
                <a:latin typeface="Verdana" pitchFamily="34" charset="0"/>
                <a:ea typeface="Verdana" pitchFamily="34" charset="0"/>
              </a:rPr>
            </a:br>
            <a:br>
              <a:rPr lang="en-US" sz="2400" dirty="0">
                <a:latin typeface="Verdana" pitchFamily="34" charset="0"/>
                <a:ea typeface="Verdana" pitchFamily="34" charset="0"/>
              </a:rPr>
            </a:br>
            <a:r>
              <a:rPr lang="en-US" sz="2400" dirty="0">
                <a:latin typeface="Verdana" pitchFamily="34" charset="0"/>
                <a:ea typeface="Verdana" pitchFamily="34" charset="0"/>
              </a:rPr>
              <a:t>inequality symbol.  </a:t>
            </a:r>
            <a:br>
              <a:rPr lang="en-US" sz="2400" dirty="0">
                <a:latin typeface="Verdana" pitchFamily="34" charset="0"/>
                <a:ea typeface="Verdana" pitchFamily="34" charset="0"/>
              </a:rPr>
            </a:br>
            <a:br>
              <a:rPr lang="en-US" sz="2400" dirty="0">
                <a:latin typeface="Verdana" pitchFamily="34" charset="0"/>
                <a:ea typeface="Verdana" pitchFamily="34" charset="0"/>
              </a:rPr>
            </a:br>
            <a:r>
              <a:rPr lang="en-US" sz="2400" dirty="0">
                <a:latin typeface="Verdana" pitchFamily="34" charset="0"/>
                <a:ea typeface="Verdana" pitchFamily="34" charset="0"/>
              </a:rPr>
              <a:t>Bar models help connect the action of a problem to an algebraic expression.</a:t>
            </a:r>
            <a:endParaRPr lang="en-PH" sz="2400" dirty="0">
              <a:latin typeface="Verdana" pitchFamily="34" charset="0"/>
              <a:ea typeface="Verdana" pitchFamily="34" charset="0"/>
            </a:endParaRPr>
          </a:p>
          <a:p>
            <a:endParaRPr lang="en-PH" sz="2400" dirty="0">
              <a:latin typeface="Verdana" pitchFamily="34" charset="0"/>
              <a:ea typeface="Verdana" pitchFamily="34" charset="0"/>
            </a:endParaRPr>
          </a:p>
        </p:txBody>
      </p:sp>
      <p:grpSp>
        <p:nvGrpSpPr>
          <p:cNvPr id="14" name="Group 13"/>
          <p:cNvGrpSpPr/>
          <p:nvPr/>
        </p:nvGrpSpPr>
        <p:grpSpPr>
          <a:xfrm>
            <a:off x="2519850" y="1386025"/>
            <a:ext cx="6776550" cy="1054100"/>
            <a:chOff x="2031300" y="3252877"/>
            <a:chExt cx="6776550" cy="1333501"/>
          </a:xfrm>
        </p:grpSpPr>
        <p:sp>
          <p:nvSpPr>
            <p:cNvPr id="15" name="Rectangle 1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16" name="Group 15"/>
            <p:cNvGrpSpPr/>
            <p:nvPr/>
          </p:nvGrpSpPr>
          <p:grpSpPr>
            <a:xfrm>
              <a:off x="2031300" y="3252878"/>
              <a:ext cx="6776550" cy="1333500"/>
              <a:chOff x="2031300" y="3262288"/>
              <a:chExt cx="6776550" cy="1309692"/>
            </a:xfrm>
          </p:grpSpPr>
          <p:sp>
            <p:nvSpPr>
              <p:cNvPr id="17" name="Rectangle 16"/>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18" name="Group 17"/>
              <p:cNvGrpSpPr/>
              <p:nvPr/>
            </p:nvGrpSpPr>
            <p:grpSpPr>
              <a:xfrm>
                <a:off x="2031300" y="3262288"/>
                <a:ext cx="6776550" cy="1309692"/>
                <a:chOff x="2031300" y="3373600"/>
                <a:chExt cx="6776550" cy="1309692"/>
              </a:xfrm>
            </p:grpSpPr>
            <p:sp>
              <p:nvSpPr>
                <p:cNvPr id="19" name="Rectangle 18"/>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20" name="Group 19"/>
                <p:cNvGrpSpPr/>
                <p:nvPr/>
              </p:nvGrpSpPr>
              <p:grpSpPr>
                <a:xfrm>
                  <a:off x="2031300" y="3373600"/>
                  <a:ext cx="6776550" cy="1309692"/>
                  <a:chOff x="2031300" y="3373600"/>
                  <a:chExt cx="6776550" cy="1309692"/>
                </a:xfrm>
              </p:grpSpPr>
              <p:sp>
                <p:nvSpPr>
                  <p:cNvPr id="21" name="Rectangle 20"/>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grpSp>
                <p:nvGrpSpPr>
                  <p:cNvPr id="22" name="Group 21"/>
                  <p:cNvGrpSpPr/>
                  <p:nvPr/>
                </p:nvGrpSpPr>
                <p:grpSpPr>
                  <a:xfrm>
                    <a:off x="2031300" y="3373600"/>
                    <a:ext cx="6776550" cy="1309692"/>
                    <a:chOff x="0" y="0"/>
                    <a:chExt cx="6776550" cy="1309692"/>
                  </a:xfrm>
                </p:grpSpPr>
                <p:sp>
                  <p:nvSpPr>
                    <p:cNvPr id="23" name="Rectangle 22"/>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Times New Roman"/>
                          <a:cs typeface="Times New Roman"/>
                        </a:rPr>
                        <a:t> </a:t>
                      </a:r>
                      <a:endParaRPr lang="en-PH" sz="1200">
                        <a:latin typeface="Cambria"/>
                        <a:ea typeface="Times New Roman"/>
                        <a:cs typeface="Times New Roman"/>
                      </a:endParaRPr>
                    </a:p>
                  </p:txBody>
                </p:sp>
                <p:sp>
                  <p:nvSpPr>
                    <p:cNvPr id="24" name="Rounded Rectangle 23"/>
                    <p:cNvSpPr/>
                    <p:nvPr/>
                  </p:nvSpPr>
                  <p:spPr>
                    <a:xfrm>
                      <a:off x="0" y="0"/>
                      <a:ext cx="6776550" cy="130969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0" rIns="91425" bIns="45700" anchor="t" anchorCtr="0">
                      <a:noAutofit/>
                    </a:bodyPr>
                    <a:lstStyle/>
                    <a:p>
                      <a:pPr marL="114300">
                        <a:spcAft>
                          <a:spcPts val="1000"/>
                        </a:spcAft>
                      </a:pPr>
                      <a:r>
                        <a:rPr lang="en-US" sz="2000" dirty="0">
                          <a:solidFill>
                            <a:srgbClr val="6C993D"/>
                          </a:solidFill>
                          <a:latin typeface="Verdana" pitchFamily="34" charset="0"/>
                          <a:ea typeface="Verdana" pitchFamily="34" charset="0"/>
                          <a:cs typeface="Verdana"/>
                        </a:rPr>
                        <a:t>An </a:t>
                      </a:r>
                      <a:r>
                        <a:rPr lang="en-US" sz="2000" b="1" i="1" dirty="0">
                          <a:solidFill>
                            <a:srgbClr val="6C993D"/>
                          </a:solidFill>
                          <a:latin typeface="Verdana" pitchFamily="34" charset="0"/>
                          <a:ea typeface="Verdana" pitchFamily="34" charset="0"/>
                          <a:cs typeface="Verdana"/>
                        </a:rPr>
                        <a:t>algebraic expression</a:t>
                      </a:r>
                      <a:r>
                        <a:rPr lang="en-US" sz="2000" dirty="0">
                          <a:solidFill>
                            <a:srgbClr val="6C993D"/>
                          </a:solidFill>
                          <a:latin typeface="Verdana" pitchFamily="34" charset="0"/>
                          <a:ea typeface="Verdana" pitchFamily="34" charset="0"/>
                          <a:cs typeface="Verdana"/>
                        </a:rPr>
                        <a:t> is a mathematical statement containing numbers, operators, and at least one unknown, represented by </a:t>
                      </a:r>
                      <a:r>
                        <a:rPr lang="en-US" sz="2000" i="1" dirty="0">
                          <a:solidFill>
                            <a:srgbClr val="6C993D"/>
                          </a:solidFill>
                          <a:latin typeface="Verdana" pitchFamily="34" charset="0"/>
                          <a:ea typeface="Verdana" pitchFamily="34" charset="0"/>
                          <a:cs typeface="Verdana"/>
                        </a:rPr>
                        <a:t>a</a:t>
                      </a:r>
                      <a:r>
                        <a:rPr lang="en-US" sz="2000" dirty="0">
                          <a:solidFill>
                            <a:srgbClr val="6C993D"/>
                          </a:solidFill>
                          <a:latin typeface="Verdana" pitchFamily="34" charset="0"/>
                          <a:ea typeface="Verdana" pitchFamily="34" charset="0"/>
                          <a:cs typeface="Verdana"/>
                        </a:rPr>
                        <a:t> variable.</a:t>
                      </a:r>
                      <a:r>
                        <a:rPr lang="en-US" sz="2000" dirty="0">
                          <a:latin typeface="Verdana" pitchFamily="34" charset="0"/>
                          <a:ea typeface="Verdana" pitchFamily="34" charset="0"/>
                          <a:cs typeface="Times New Roman"/>
                        </a:rPr>
                        <a:t> </a:t>
                      </a:r>
                      <a:endParaRPr lang="en-PH" sz="2000" dirty="0">
                        <a:latin typeface="Verdana" pitchFamily="34" charset="0"/>
                        <a:ea typeface="Verdana" pitchFamily="34" charset="0"/>
                        <a:cs typeface="Times New Roman"/>
                      </a:endParaRPr>
                    </a:p>
                  </p:txBody>
                </p:sp>
              </p:grpSp>
            </p:grpSp>
          </p:grpSp>
        </p:grpSp>
      </p:grpSp>
      <p:sp>
        <p:nvSpPr>
          <p:cNvPr id="25" name="Rounded Rectangle 24"/>
          <p:cNvSpPr/>
          <p:nvPr/>
        </p:nvSpPr>
        <p:spPr>
          <a:xfrm>
            <a:off x="4862372" y="3292544"/>
            <a:ext cx="1935695" cy="79819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36000" rIns="91440" bIns="36000" numCol="1" spcCol="0" rtlCol="0" fromWordArt="0" anchor="ctr" anchorCtr="0" forceAA="0" compatLnSpc="1">
            <a:prstTxWarp prst="textNoShape">
              <a:avLst/>
            </a:prstTxWarp>
            <a:noAutofit/>
          </a:bodyPr>
          <a:lstStyle/>
          <a:p>
            <a:pPr marL="265113" indent="-265113">
              <a:buFont typeface="Courier New" pitchFamily="49" charset="0"/>
              <a:buChar char="o"/>
            </a:pPr>
            <a:r>
              <a:rPr lang="en-US" sz="2400" dirty="0">
                <a:latin typeface="Verdana" pitchFamily="34" charset="0"/>
                <a:ea typeface="Verdana" pitchFamily="34" charset="0"/>
                <a:cs typeface="Times New Roman"/>
              </a:rPr>
              <a:t>does</a:t>
            </a:r>
            <a:endParaRPr lang="en-PH" sz="2400" dirty="0">
              <a:latin typeface="Verdana" pitchFamily="34" charset="0"/>
              <a:ea typeface="Verdana" pitchFamily="34" charset="0"/>
              <a:cs typeface="Times New Roman"/>
            </a:endParaRPr>
          </a:p>
          <a:p>
            <a:pPr marL="265113" indent="-265113">
              <a:spcAft>
                <a:spcPts val="1000"/>
              </a:spcAft>
              <a:buFont typeface="Courier New" pitchFamily="49" charset="0"/>
              <a:buChar char="o"/>
            </a:pPr>
            <a:r>
              <a:rPr lang="en-US" sz="2400" dirty="0">
                <a:latin typeface="Verdana" pitchFamily="34" charset="0"/>
                <a:ea typeface="Verdana" pitchFamily="34" charset="0"/>
                <a:cs typeface="Times New Roman"/>
              </a:rPr>
              <a:t>does not</a:t>
            </a:r>
            <a:endParaRPr lang="en-PH" sz="2400" dirty="0">
              <a:latin typeface="Verdana" pitchFamily="34" charset="0"/>
              <a:ea typeface="Verdana" pitchFamily="34" charset="0"/>
              <a:cs typeface="Times New Roman"/>
            </a:endParaRPr>
          </a:p>
        </p:txBody>
      </p:sp>
      <p:sp>
        <p:nvSpPr>
          <p:cNvPr id="2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285</a:t>
            </a:r>
            <a:endParaRPr i="1" dirty="0">
              <a:latin typeface="Calibri"/>
              <a:ea typeface="Calibri"/>
              <a:cs typeface="Calibri"/>
              <a:sym typeface="Calibri"/>
            </a:endParaRPr>
          </a:p>
        </p:txBody>
      </p:sp>
      <p:pic>
        <p:nvPicPr>
          <p:cNvPr id="2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461665"/>
          </a:xfrm>
          <a:prstGeom prst="rect">
            <a:avLst/>
          </a:prstGeom>
          <a:noFill/>
        </p:spPr>
        <p:txBody>
          <a:bodyPr wrap="square" rtlCol="0">
            <a:spAutoFit/>
          </a:bodyPr>
          <a:lstStyle/>
          <a:p>
            <a:pPr algn="ctr"/>
            <a:r>
              <a:rPr lang="en-US" sz="2400" b="1" dirty="0">
                <a:latin typeface="Verdana" pitchFamily="34" charset="0"/>
                <a:ea typeface="Verdana" pitchFamily="34" charset="0"/>
              </a:rPr>
              <a:t>Part-Part-Whole Model</a:t>
            </a:r>
            <a:endParaRPr lang="en-PH" sz="2400" dirty="0">
              <a:latin typeface="Verdana" pitchFamily="34" charset="0"/>
              <a:ea typeface="Verdana"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07765" y="1090343"/>
            <a:ext cx="8327136" cy="1368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2FA392D8-3ED3-7940-83A8-1451AA8A08D4}"/>
              </a:ext>
            </a:extLst>
          </p:cNvPr>
          <p:cNvSpPr txBox="1"/>
          <p:nvPr/>
        </p:nvSpPr>
        <p:spPr>
          <a:xfrm>
            <a:off x="2007765" y="2734205"/>
            <a:ext cx="8327136" cy="830997"/>
          </a:xfrm>
          <a:prstGeom prst="rect">
            <a:avLst/>
          </a:prstGeom>
          <a:noFill/>
        </p:spPr>
        <p:txBody>
          <a:bodyPr wrap="square" rtlCol="0">
            <a:spAutoFit/>
          </a:bodyPr>
          <a:lstStyle/>
          <a:p>
            <a:r>
              <a:rPr lang="en-US" sz="2400" dirty="0">
                <a:latin typeface="Verdana" pitchFamily="34" charset="0"/>
                <a:ea typeface="Verdana" pitchFamily="34" charset="0"/>
              </a:rPr>
              <a:t>The part-part-whole model can be used to show the following actions.</a:t>
            </a:r>
            <a:endParaRPr lang="en-PH" sz="2400" dirty="0">
              <a:latin typeface="Verdana" pitchFamily="34" charset="0"/>
              <a:ea typeface="Verdana"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052584501"/>
              </p:ext>
            </p:extLst>
          </p:nvPr>
        </p:nvGraphicFramePr>
        <p:xfrm>
          <a:off x="2030855" y="3817813"/>
          <a:ext cx="8304046" cy="1823040"/>
        </p:xfrm>
        <a:graphic>
          <a:graphicData uri="http://schemas.openxmlformats.org/drawingml/2006/table">
            <a:tbl>
              <a:tblPr firstRow="1" firstCol="1" bandRow="1">
                <a:tableStyleId>{A91F0D33-8C57-4600-99A7-42BC86742BE1}</a:tableStyleId>
              </a:tblPr>
              <a:tblGrid>
                <a:gridCol w="4237372">
                  <a:extLst>
                    <a:ext uri="{9D8B030D-6E8A-4147-A177-3AD203B41FA5}">
                      <a16:colId xmlns:a16="http://schemas.microsoft.com/office/drawing/2014/main" val="20000"/>
                    </a:ext>
                  </a:extLst>
                </a:gridCol>
                <a:gridCol w="4066674">
                  <a:extLst>
                    <a:ext uri="{9D8B030D-6E8A-4147-A177-3AD203B41FA5}">
                      <a16:colId xmlns:a16="http://schemas.microsoft.com/office/drawing/2014/main" val="20001"/>
                    </a:ext>
                  </a:extLst>
                </a:gridCol>
              </a:tblGrid>
              <a:tr h="0">
                <a:tc>
                  <a:txBody>
                    <a:bodyPr/>
                    <a:lstStyle/>
                    <a:p>
                      <a:pPr algn="ctr">
                        <a:spcAft>
                          <a:spcPts val="0"/>
                        </a:spcAft>
                        <a:tabLst>
                          <a:tab pos="2562225" algn="l"/>
                        </a:tabLst>
                      </a:pPr>
                      <a:r>
                        <a:rPr lang="en-US" sz="2400" b="1" dirty="0">
                          <a:effectLst/>
                          <a:latin typeface="Verdana" pitchFamily="34" charset="0"/>
                          <a:ea typeface="Verdana" pitchFamily="34" charset="0"/>
                        </a:rPr>
                        <a:t>Action</a:t>
                      </a:r>
                      <a:endParaRPr lang="en-PH" sz="2400" b="1" dirty="0">
                        <a:effectLst/>
                        <a:latin typeface="Verdana" pitchFamily="34" charset="0"/>
                        <a:ea typeface="Verdana" pitchFamily="34" charset="0"/>
                        <a:cs typeface="Times New Roman"/>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en-US" sz="2400" b="1" dirty="0">
                          <a:effectLst/>
                          <a:latin typeface="Verdana" pitchFamily="34" charset="0"/>
                          <a:ea typeface="Verdana" pitchFamily="34" charset="0"/>
                        </a:rPr>
                        <a:t>Equation</a:t>
                      </a:r>
                      <a:endParaRPr lang="en-PH" sz="2400" b="1" dirty="0">
                        <a:effectLst/>
                        <a:latin typeface="Verdana" pitchFamily="34" charset="0"/>
                        <a:ea typeface="Verdana" pitchFamily="34" charset="0"/>
                        <a:cs typeface="Times New Roman"/>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434340">
                <a:tc>
                  <a:txBody>
                    <a:bodyPr/>
                    <a:lstStyle/>
                    <a:p>
                      <a:pPr algn="ctr">
                        <a:spcAft>
                          <a:spcPts val="0"/>
                        </a:spcAft>
                      </a:pPr>
                      <a:r>
                        <a:rPr lang="en-US" sz="2400" dirty="0">
                          <a:effectLst/>
                          <a:latin typeface="Verdana" pitchFamily="34" charset="0"/>
                          <a:ea typeface="Verdana" pitchFamily="34" charset="0"/>
                        </a:rPr>
                        <a:t>Combining or joining </a:t>
                      </a:r>
                      <a:endParaRPr lang="en-PH" sz="2400" dirty="0">
                        <a:effectLst/>
                        <a:latin typeface="Verdana" pitchFamily="34" charset="0"/>
                        <a:ea typeface="Verdana" pitchFamily="34" charset="0"/>
                        <a:cs typeface="Times New Roman"/>
                      </a:endParaRPr>
                    </a:p>
                  </a:txBody>
                  <a:tcPr marL="68580" marR="6858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400" dirty="0">
                          <a:effectLst/>
                          <a:latin typeface="Verdana" pitchFamily="34" charset="0"/>
                          <a:ea typeface="Verdana" pitchFamily="34" charset="0"/>
                        </a:rPr>
                        <a:t>Part A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Part B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Whole</a:t>
                      </a:r>
                      <a:endParaRPr lang="en-PH" sz="2400" dirty="0">
                        <a:effectLst/>
                        <a:latin typeface="Verdana" pitchFamily="34" charset="0"/>
                        <a:ea typeface="Verdana" pitchFamily="34" charset="0"/>
                        <a:cs typeface="Times New Roman"/>
                      </a:endParaRPr>
                    </a:p>
                  </a:txBody>
                  <a:tcPr marL="68580" marR="6858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spcAft>
                          <a:spcPts val="0"/>
                        </a:spcAft>
                      </a:pPr>
                      <a:r>
                        <a:rPr lang="en-US" sz="2400">
                          <a:effectLst/>
                          <a:latin typeface="Verdana" pitchFamily="34" charset="0"/>
                          <a:ea typeface="Verdana" pitchFamily="34" charset="0"/>
                        </a:rPr>
                        <a:t>Taking away or separating</a:t>
                      </a:r>
                      <a:endParaRPr lang="en-PH" sz="2400">
                        <a:effectLst/>
                        <a:latin typeface="Verdana" pitchFamily="34" charset="0"/>
                        <a:ea typeface="Verdana" pitchFamily="34" charset="0"/>
                        <a:cs typeface="Times New Roman"/>
                      </a:endParaRPr>
                    </a:p>
                  </a:txBody>
                  <a:tcPr marL="68580" marR="6858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400" dirty="0">
                          <a:effectLst/>
                          <a:latin typeface="Verdana" pitchFamily="34" charset="0"/>
                          <a:ea typeface="Verdana" pitchFamily="34" charset="0"/>
                        </a:rPr>
                        <a:t>Whole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Part A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Part B</a:t>
                      </a:r>
                      <a:endParaRPr lang="en-PH" sz="2400" dirty="0">
                        <a:effectLst/>
                        <a:latin typeface="Verdana" pitchFamily="34" charset="0"/>
                        <a:ea typeface="Verdana" pitchFamily="34" charset="0"/>
                      </a:endParaRPr>
                    </a:p>
                    <a:p>
                      <a:pPr algn="ctr">
                        <a:spcAft>
                          <a:spcPts val="0"/>
                        </a:spcAft>
                      </a:pPr>
                      <a:r>
                        <a:rPr lang="en-US" sz="2400" dirty="0">
                          <a:effectLst/>
                          <a:latin typeface="Verdana" pitchFamily="34" charset="0"/>
                          <a:ea typeface="Verdana" pitchFamily="34" charset="0"/>
                        </a:rPr>
                        <a:t>Whole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Part B </a:t>
                      </a:r>
                      <a:r>
                        <a:rPr lang="en-US" sz="2400" dirty="0">
                          <a:effectLst/>
                          <a:latin typeface="Cambria Math" pitchFamily="18" charset="0"/>
                          <a:ea typeface="Cambria Math" pitchFamily="18" charset="0"/>
                        </a:rPr>
                        <a:t>=</a:t>
                      </a:r>
                      <a:r>
                        <a:rPr lang="en-US" sz="2400" dirty="0">
                          <a:effectLst/>
                          <a:latin typeface="Verdana" pitchFamily="34" charset="0"/>
                          <a:ea typeface="Verdana" pitchFamily="34" charset="0"/>
                        </a:rPr>
                        <a:t> Part A</a:t>
                      </a:r>
                      <a:endParaRPr lang="en-PH" sz="2400" dirty="0">
                        <a:effectLst/>
                        <a:latin typeface="Verdana" pitchFamily="34" charset="0"/>
                        <a:ea typeface="Verdana" pitchFamily="34" charset="0"/>
                        <a:cs typeface="Times New Roman"/>
                      </a:endParaRPr>
                    </a:p>
                  </a:txBody>
                  <a:tcPr marL="68580" marR="68580" marT="72000" marB="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499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6" cy="3724096"/>
              </a:xfrm>
              <a:prstGeom prst="rect">
                <a:avLst/>
              </a:prstGeom>
              <a:noFill/>
            </p:spPr>
            <p:txBody>
              <a:bodyPr wrap="square" rtlCol="0">
                <a:spAutoFit/>
              </a:bodyPr>
              <a:lstStyle/>
              <a:p>
                <a:pPr marL="457200" indent="-457200">
                  <a:spcAft>
                    <a:spcPts val="2400"/>
                  </a:spcAft>
                  <a:buFont typeface="+mj-lt"/>
                  <a:buAutoNum type="arabicPeriod" startAt="2"/>
                </a:pPr>
                <a:r>
                  <a:rPr lang="en-US" sz="2400" dirty="0">
                    <a:latin typeface="Verdana" pitchFamily="34" charset="0"/>
                    <a:ea typeface="Verdana" pitchFamily="34" charset="0"/>
                  </a:rPr>
                  <a:t>“</a:t>
                </a:r>
                <a:r>
                  <a:rPr lang="en-US" sz="2400" dirty="0">
                    <a:solidFill>
                      <a:srgbClr val="0070C0"/>
                    </a:solidFill>
                    <a:latin typeface="Verdana" pitchFamily="34" charset="0"/>
                    <a:ea typeface="Verdana" pitchFamily="34" charset="0"/>
                  </a:rPr>
                  <a:t>The sum of a number and three</a:t>
                </a:r>
                <a:r>
                  <a:rPr lang="en-US" sz="2400" dirty="0">
                    <a:latin typeface="Verdana" pitchFamily="34" charset="0"/>
                    <a:ea typeface="Verdana" pitchFamily="34" charset="0"/>
                  </a:rPr>
                  <a:t>” can be shown as the length of the whole bar where one part is </a:t>
                </a:r>
                <a14:m>
                  <m:oMath xmlns:m="http://schemas.openxmlformats.org/officeDocument/2006/math">
                    <m:r>
                      <a:rPr lang="en-US" sz="2400" b="1" i="1">
                        <a:solidFill>
                          <a:srgbClr val="92D050"/>
                        </a:solidFill>
                        <a:latin typeface="Cambria Math" pitchFamily="18" charset="0"/>
                        <a:ea typeface="Cambria Math" pitchFamily="18" charset="0"/>
                      </a:rPr>
                      <m:t>𝒏</m:t>
                    </m:r>
                  </m:oMath>
                </a14:m>
                <a:r>
                  <a:rPr lang="en-US" sz="2400" dirty="0">
                    <a:solidFill>
                      <a:srgbClr val="92D050"/>
                    </a:solidFill>
                    <a:latin typeface="Verdana" pitchFamily="34" charset="0"/>
                    <a:ea typeface="Verdana" pitchFamily="34" charset="0"/>
                  </a:rPr>
                  <a:t> </a:t>
                </a:r>
                <a:r>
                  <a:rPr lang="en-US" sz="2400" dirty="0">
                    <a:latin typeface="Verdana" pitchFamily="34" charset="0"/>
                    <a:ea typeface="Verdana" pitchFamily="34" charset="0"/>
                  </a:rPr>
                  <a:t>and the other part is </a:t>
                </a:r>
                <a14:m>
                  <m:oMath xmlns:m="http://schemas.openxmlformats.org/officeDocument/2006/math">
                    <m:r>
                      <a:rPr lang="en-US" sz="2400" b="1" i="1">
                        <a:solidFill>
                          <a:srgbClr val="FFC000"/>
                        </a:solidFill>
                        <a:latin typeface="Cambria Math" pitchFamily="18" charset="0"/>
                        <a:ea typeface="Cambria Math" pitchFamily="18" charset="0"/>
                      </a:rPr>
                      <m:t>𝟑</m:t>
                    </m:r>
                  </m:oMath>
                </a14:m>
                <a:r>
                  <a:rPr lang="en-US" sz="2400" dirty="0">
                    <a:latin typeface="Verdana" pitchFamily="34" charset="0"/>
                    <a:ea typeface="Verdana" pitchFamily="34" charset="0"/>
                  </a:rPr>
                  <a:t>.</a:t>
                </a:r>
              </a:p>
              <a:p>
                <a:pPr lvl="0" algn="ctr"/>
                <a:r>
                  <a:rPr lang="en-US" sz="2400" b="1" dirty="0">
                    <a:solidFill>
                      <a:srgbClr val="0070C0"/>
                    </a:solidFill>
                    <a:latin typeface="Verdana" pitchFamily="34" charset="0"/>
                    <a:ea typeface="Verdana" pitchFamily="34" charset="0"/>
                  </a:rPr>
                  <a:t>The sum of a number and three</a:t>
                </a:r>
              </a:p>
              <a:p>
                <a:pPr lvl="0" algn="ctr"/>
                <a:endParaRPr lang="en-US" sz="2400" b="1" dirty="0">
                  <a:solidFill>
                    <a:srgbClr val="0070C0"/>
                  </a:solidFill>
                  <a:latin typeface="Verdana" pitchFamily="34" charset="0"/>
                  <a:ea typeface="Verdana" pitchFamily="34" charset="0"/>
                </a:endParaRPr>
              </a:p>
              <a:p>
                <a:pPr lvl="0" algn="ctr"/>
                <a:endParaRPr lang="en-US" sz="2400" b="1" dirty="0">
                  <a:solidFill>
                    <a:srgbClr val="0070C0"/>
                  </a:solidFill>
                  <a:latin typeface="Verdana" pitchFamily="34" charset="0"/>
                  <a:ea typeface="Verdana" pitchFamily="34" charset="0"/>
                </a:endParaRPr>
              </a:p>
              <a:p>
                <a:pPr lvl="0" algn="ctr"/>
                <a:endParaRPr lang="en-PH" sz="2400" b="1" dirty="0">
                  <a:solidFill>
                    <a:srgbClr val="0070C0"/>
                  </a:solidFill>
                  <a:latin typeface="Verdana" pitchFamily="34" charset="0"/>
                  <a:ea typeface="Verdana" pitchFamily="34" charset="0"/>
                </a:endParaRPr>
              </a:p>
              <a:p>
                <a:pPr marL="444500"/>
                <a:r>
                  <a:rPr lang="en-US" sz="2400" dirty="0">
                    <a:latin typeface="Verdana" pitchFamily="34" charset="0"/>
                    <a:ea typeface="Verdana" pitchFamily="34" charset="0"/>
                  </a:rPr>
                  <a:t>Write an algebraic expression for “The sum of a number and three.”</a:t>
                </a:r>
                <a:endParaRPr lang="en-PH" sz="24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5" y="520393"/>
                <a:ext cx="8327136" cy="3724096"/>
              </a:xfrm>
              <a:prstGeom prst="rect">
                <a:avLst/>
              </a:prstGeom>
              <a:blipFill rotWithShape="1">
                <a:blip r:embed="rId4"/>
                <a:stretch>
                  <a:fillRect l="-1098" t="-1309" b="-2782"/>
                </a:stretch>
              </a:blipFill>
            </p:spPr>
            <p:txBody>
              <a:bodyPr/>
              <a:lstStyle/>
              <a:p>
                <a:r>
                  <a:rPr lang="en-PH">
                    <a:noFill/>
                  </a:rPr>
                  <a:t> </a:t>
                </a:r>
              </a:p>
            </p:txBody>
          </p:sp>
        </mc:Fallback>
      </mc:AlternateContent>
      <p:pic>
        <p:nvPicPr>
          <p:cNvPr id="4098"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007765" y="2388792"/>
            <a:ext cx="8327136" cy="606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6514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6" cy="4770537"/>
              </a:xfrm>
              <a:prstGeom prst="rect">
                <a:avLst/>
              </a:prstGeom>
              <a:noFill/>
            </p:spPr>
            <p:txBody>
              <a:bodyPr wrap="square" rtlCol="0">
                <a:spAutoFit/>
              </a:bodyPr>
              <a:lstStyle/>
              <a:p>
                <a:pPr marL="457200" indent="-457200">
                  <a:spcAft>
                    <a:spcPts val="2400"/>
                  </a:spcAft>
                  <a:buFont typeface="+mj-lt"/>
                  <a:buAutoNum type="arabicPeriod" startAt="3"/>
                </a:pPr>
                <a:r>
                  <a:rPr lang="en-US" sz="2400" dirty="0">
                    <a:latin typeface="Verdana" pitchFamily="34" charset="0"/>
                    <a:ea typeface="Verdana" pitchFamily="34" charset="0"/>
                  </a:rPr>
                  <a:t>“</a:t>
                </a:r>
                <a:r>
                  <a:rPr lang="en-US" sz="2400" dirty="0">
                    <a:solidFill>
                      <a:srgbClr val="8064A2"/>
                    </a:solidFill>
                    <a:latin typeface="Verdana" pitchFamily="34" charset="0"/>
                    <a:ea typeface="Verdana" pitchFamily="34" charset="0"/>
                    <a:cs typeface="Times New Roman"/>
                  </a:rPr>
                  <a:t>The difference of ten and a number</a:t>
                </a:r>
                <a:r>
                  <a:rPr lang="en-US" sz="2400" dirty="0">
                    <a:latin typeface="Verdana" pitchFamily="34" charset="0"/>
                    <a:ea typeface="Verdana" pitchFamily="34" charset="0"/>
                  </a:rPr>
                  <a:t>” can be shown where the whole bar is </a:t>
                </a:r>
                <a14:m>
                  <m:oMath xmlns:m="http://schemas.openxmlformats.org/officeDocument/2006/math">
                    <m:r>
                      <a:rPr lang="en-US" sz="2400" b="1" i="1">
                        <a:solidFill>
                          <a:srgbClr val="9BBB59"/>
                        </a:solidFill>
                        <a:latin typeface="Cambria Math"/>
                        <a:ea typeface="Times New Roman"/>
                        <a:cs typeface="Times New Roman"/>
                      </a:rPr>
                      <m:t>𝟏𝟎</m:t>
                    </m:r>
                  </m:oMath>
                </a14:m>
                <a:r>
                  <a:rPr lang="en-US" sz="2400" dirty="0">
                    <a:latin typeface="Verdana" pitchFamily="34" charset="0"/>
                    <a:ea typeface="Verdana" pitchFamily="34" charset="0"/>
                    <a:cs typeface="Times New Roman"/>
                  </a:rPr>
                  <a:t> </a:t>
                </a:r>
                <a:r>
                  <a:rPr lang="en-US" sz="2400" dirty="0">
                    <a:latin typeface="Verdana" pitchFamily="34" charset="0"/>
                    <a:ea typeface="Verdana" pitchFamily="34" charset="0"/>
                  </a:rPr>
                  <a:t>and one part is a number represented by a variable, </a:t>
                </a:r>
                <a14:m>
                  <m:oMath xmlns:m="http://schemas.openxmlformats.org/officeDocument/2006/math">
                    <m:r>
                      <a:rPr lang="en-US" sz="2400" b="1" i="1">
                        <a:solidFill>
                          <a:srgbClr val="F79646"/>
                        </a:solidFill>
                        <a:latin typeface="Cambria Math"/>
                        <a:ea typeface="Times New Roman"/>
                        <a:cs typeface="Times New Roman"/>
                      </a:rPr>
                      <m:t>𝒙</m:t>
                    </m:r>
                  </m:oMath>
                </a14:m>
                <a:r>
                  <a:rPr lang="en-US" sz="2400" dirty="0">
                    <a:latin typeface="Verdana" pitchFamily="34" charset="0"/>
                    <a:ea typeface="Verdana" pitchFamily="34" charset="0"/>
                  </a:rPr>
                  <a:t>.  The difference is the other part.</a:t>
                </a:r>
              </a:p>
              <a:p>
                <a:pPr marL="457200" indent="-457200">
                  <a:spcAft>
                    <a:spcPts val="2400"/>
                  </a:spcAft>
                  <a:buFont typeface="+mj-lt"/>
                  <a:buAutoNum type="arabicPeriod" startAt="3"/>
                </a:pPr>
                <a:endParaRPr lang="en-US" sz="2400" dirty="0">
                  <a:latin typeface="Verdana" pitchFamily="34" charset="0"/>
                  <a:ea typeface="Verdana" pitchFamily="34" charset="0"/>
                </a:endParaRPr>
              </a:p>
              <a:p>
                <a:pPr lvl="0" algn="ctr"/>
                <a:endParaRPr lang="en-US" sz="2400" b="1" dirty="0">
                  <a:solidFill>
                    <a:srgbClr val="0070C0"/>
                  </a:solidFill>
                  <a:latin typeface="Verdana" pitchFamily="34" charset="0"/>
                  <a:ea typeface="Verdana" pitchFamily="34" charset="0"/>
                </a:endParaRPr>
              </a:p>
              <a:p>
                <a:pPr lvl="0" algn="ctr"/>
                <a:endParaRPr lang="en-US" sz="2400" b="1" dirty="0">
                  <a:solidFill>
                    <a:srgbClr val="0070C0"/>
                  </a:solidFill>
                  <a:latin typeface="Verdana" pitchFamily="34" charset="0"/>
                  <a:ea typeface="Verdana" pitchFamily="34" charset="0"/>
                </a:endParaRPr>
              </a:p>
              <a:p>
                <a:pPr lvl="0" algn="ctr"/>
                <a:endParaRPr lang="en-PH" sz="2400" b="1" dirty="0">
                  <a:solidFill>
                    <a:srgbClr val="0070C0"/>
                  </a:solidFill>
                  <a:latin typeface="Verdana" pitchFamily="34" charset="0"/>
                  <a:ea typeface="Verdana" pitchFamily="34" charset="0"/>
                </a:endParaRPr>
              </a:p>
              <a:p>
                <a:pPr marL="444500"/>
                <a:endParaRPr lang="en-US" sz="2400" dirty="0">
                  <a:latin typeface="Verdana" pitchFamily="34" charset="0"/>
                  <a:ea typeface="Verdana" pitchFamily="34" charset="0"/>
                </a:endParaRPr>
              </a:p>
              <a:p>
                <a:pPr marL="444500"/>
                <a:r>
                  <a:rPr lang="en-US" sz="2400" dirty="0">
                    <a:latin typeface="Verdana" pitchFamily="34" charset="0"/>
                    <a:ea typeface="Verdana" pitchFamily="34" charset="0"/>
                  </a:rPr>
                  <a:t>Write an algebraic expression for “The difference of ten and a number.”</a:t>
                </a:r>
                <a:endParaRPr lang="en-PH" sz="24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5" y="520393"/>
                <a:ext cx="8327136" cy="4770537"/>
              </a:xfrm>
              <a:prstGeom prst="rect">
                <a:avLst/>
              </a:prstGeom>
              <a:blipFill rotWithShape="1">
                <a:blip r:embed="rId4"/>
                <a:stretch>
                  <a:fillRect l="-1098" t="-1022" r="-220" b="-1916"/>
                </a:stretch>
              </a:blipFill>
            </p:spPr>
            <p:txBody>
              <a:bodyPr/>
              <a:lstStyle/>
              <a:p>
                <a:r>
                  <a:rPr lang="en-PH">
                    <a:noFill/>
                  </a:rPr>
                  <a:t> </a:t>
                </a:r>
              </a:p>
            </p:txBody>
          </p:sp>
        </mc:Fallback>
      </mc:AlternateContent>
      <p:pic>
        <p:nvPicPr>
          <p:cNvPr id="5124" name="Picture 4"/>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007765" y="2329826"/>
            <a:ext cx="8327136" cy="1594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286</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0533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609061" cy="5632311"/>
              </a:xfrm>
              <a:prstGeom prst="rect">
                <a:avLst/>
              </a:prstGeom>
              <a:noFill/>
            </p:spPr>
            <p:txBody>
              <a:bodyPr wrap="square" rtlCol="0">
                <a:spAutoFit/>
              </a:bodyPr>
              <a:lstStyle/>
              <a:p>
                <a:pPr marL="457200" indent="-457200">
                  <a:buFont typeface="+mj-lt"/>
                  <a:buAutoNum type="arabicPeriod" startAt="4"/>
                </a:pPr>
                <a:r>
                  <a:rPr lang="en-US" sz="2400" dirty="0">
                    <a:latin typeface="Verdana" pitchFamily="34" charset="0"/>
                    <a:ea typeface="Verdana" pitchFamily="34" charset="0"/>
                    <a:cs typeface="Times New Roman"/>
                  </a:rPr>
                  <a:t>“</a:t>
                </a:r>
                <a:r>
                  <a:rPr lang="en-US" sz="2400" dirty="0">
                    <a:solidFill>
                      <a:srgbClr val="4F81BD"/>
                    </a:solidFill>
                    <a:latin typeface="Verdana" pitchFamily="34" charset="0"/>
                    <a:ea typeface="Verdana" pitchFamily="34" charset="0"/>
                    <a:cs typeface="Times New Roman"/>
                  </a:rPr>
                  <a:t>Five subtracted from a number</a:t>
                </a:r>
                <a:r>
                  <a:rPr lang="en-US" sz="2400" dirty="0">
                    <a:latin typeface="Verdana" pitchFamily="34" charset="0"/>
                    <a:ea typeface="Verdana" pitchFamily="34" charset="0"/>
                    <a:cs typeface="Times New Roman"/>
                  </a:rPr>
                  <a:t>” is shown with the whole bar as a number represented by a variable,</a:t>
                </a:r>
                <a:r>
                  <a:rPr lang="en-US" sz="2400" b="1" dirty="0">
                    <a:solidFill>
                      <a:srgbClr val="8064A2"/>
                    </a:solidFill>
                    <a:latin typeface="Verdana" pitchFamily="34" charset="0"/>
                    <a:ea typeface="Verdana" pitchFamily="34" charset="0"/>
                    <a:cs typeface="Times New Roman"/>
                  </a:rPr>
                  <a:t> </a:t>
                </a:r>
                <a14:m>
                  <m:oMath xmlns:m="http://schemas.openxmlformats.org/officeDocument/2006/math">
                    <m:r>
                      <a:rPr lang="en-US" sz="2400" b="1" i="1">
                        <a:solidFill>
                          <a:srgbClr val="8064A2"/>
                        </a:solidFill>
                        <a:latin typeface="Cambria Math"/>
                        <a:ea typeface="Times New Roman"/>
                        <a:cs typeface="Times New Roman"/>
                      </a:rPr>
                      <m:t>𝒎</m:t>
                    </m:r>
                  </m:oMath>
                </a14:m>
                <a:r>
                  <a:rPr lang="en-US" sz="2400" dirty="0">
                    <a:latin typeface="Verdana" pitchFamily="34" charset="0"/>
                    <a:ea typeface="Verdana" pitchFamily="34" charset="0"/>
                    <a:cs typeface="Times New Roman"/>
                  </a:rPr>
                  <a:t>, and one part is </a:t>
                </a:r>
                <a14:m>
                  <m:oMath xmlns:m="http://schemas.openxmlformats.org/officeDocument/2006/math">
                    <m:r>
                      <a:rPr lang="en-US" sz="2400" b="1" i="1">
                        <a:solidFill>
                          <a:srgbClr val="F79646"/>
                        </a:solidFill>
                        <a:latin typeface="Cambria Math"/>
                        <a:ea typeface="Times New Roman"/>
                        <a:cs typeface="Times New Roman"/>
                      </a:rPr>
                      <m:t>𝟓</m:t>
                    </m:r>
                  </m:oMath>
                </a14:m>
                <a:r>
                  <a:rPr lang="en-US" sz="2400" dirty="0">
                    <a:latin typeface="Verdana" pitchFamily="34" charset="0"/>
                    <a:ea typeface="Verdana" pitchFamily="34" charset="0"/>
                    <a:cs typeface="Times New Roman"/>
                  </a:rPr>
                  <a:t>. The other part is the result of </a:t>
                </a:r>
                <a14:m>
                  <m:oMath xmlns:m="http://schemas.openxmlformats.org/officeDocument/2006/math">
                    <m:r>
                      <a:rPr lang="en-US" sz="2400" b="1" i="1">
                        <a:solidFill>
                          <a:srgbClr val="F79646"/>
                        </a:solidFill>
                        <a:latin typeface="Cambria Math"/>
                        <a:ea typeface="Times New Roman"/>
                        <a:cs typeface="Times New Roman"/>
                      </a:rPr>
                      <m:t>𝟓</m:t>
                    </m:r>
                  </m:oMath>
                </a14:m>
                <a:r>
                  <a:rPr lang="en-US" sz="2400" dirty="0">
                    <a:latin typeface="Verdana" pitchFamily="34" charset="0"/>
                    <a:ea typeface="Verdana" pitchFamily="34" charset="0"/>
                    <a:cs typeface="Times New Roman"/>
                  </a:rPr>
                  <a:t> being subtracted from the number, </a:t>
                </a:r>
                <a14:m>
                  <m:oMath xmlns:m="http://schemas.openxmlformats.org/officeDocument/2006/math">
                    <m:r>
                      <a:rPr lang="en-US" sz="2400" b="1" i="1">
                        <a:solidFill>
                          <a:srgbClr val="8064A2"/>
                        </a:solidFill>
                        <a:latin typeface="Cambria Math"/>
                        <a:ea typeface="Times New Roman"/>
                        <a:cs typeface="Times New Roman"/>
                      </a:rPr>
                      <m:t>𝒎</m:t>
                    </m:r>
                  </m:oMath>
                </a14:m>
                <a:r>
                  <a:rPr lang="en-US" sz="2400" dirty="0">
                    <a:latin typeface="Verdana" pitchFamily="34" charset="0"/>
                    <a:ea typeface="Verdana" pitchFamily="34" charset="0"/>
                    <a:cs typeface="Times New Roman"/>
                  </a:rPr>
                  <a:t>.</a:t>
                </a: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br>
                  <a:rPr lang="en-US" sz="2400" dirty="0">
                    <a:latin typeface="Verdana" pitchFamily="34" charset="0"/>
                    <a:ea typeface="Verdana" pitchFamily="34" charset="0"/>
                    <a:cs typeface="Times New Roman"/>
                  </a:rPr>
                </a:br>
                <a:r>
                  <a:rPr lang="en-US" sz="2400" dirty="0">
                    <a:latin typeface="Verdana" pitchFamily="34" charset="0"/>
                    <a:ea typeface="Verdana" pitchFamily="34" charset="0"/>
                  </a:rPr>
                  <a:t>Complete the statement.</a:t>
                </a:r>
                <a:br>
                  <a:rPr lang="en-PH" sz="2400" dirty="0">
                    <a:latin typeface="Verdana" pitchFamily="34" charset="0"/>
                    <a:ea typeface="Verdana" pitchFamily="34" charset="0"/>
                  </a:rPr>
                </a:br>
                <a:br>
                  <a:rPr lang="en-PH" sz="2400" dirty="0">
                    <a:latin typeface="Verdana" pitchFamily="34" charset="0"/>
                    <a:ea typeface="Verdana" pitchFamily="34" charset="0"/>
                  </a:rPr>
                </a:br>
                <a:r>
                  <a:rPr lang="en-US" sz="2400" dirty="0">
                    <a:latin typeface="Verdana" pitchFamily="34" charset="0"/>
                    <a:ea typeface="Verdana" pitchFamily="34" charset="0"/>
                  </a:rPr>
                  <a:t>The algebraic expression for “Five subtracted from a number, </a:t>
                </a:r>
                <a14:m>
                  <m:oMath xmlns:m="http://schemas.openxmlformats.org/officeDocument/2006/math">
                    <m:r>
                      <a:rPr lang="en-US" sz="2400" i="1">
                        <a:latin typeface="Cambria Math" panose="02040503050406030204" pitchFamily="18" charset="0"/>
                      </a:rPr>
                      <m:t>𝑚</m:t>
                    </m:r>
                  </m:oMath>
                </a14:m>
                <a:r>
                  <a:rPr lang="en-US" sz="2400" dirty="0">
                    <a:latin typeface="Verdana" pitchFamily="34" charset="0"/>
                    <a:ea typeface="Verdana" pitchFamily="34" charset="0"/>
                  </a:rPr>
                  <a:t>” is </a:t>
                </a:r>
                <a:r>
                  <a:rPr lang="en-US" sz="2400" u="sng" dirty="0">
                    <a:latin typeface="Verdana" pitchFamily="34" charset="0"/>
                    <a:ea typeface="Verdana" pitchFamily="34" charset="0"/>
                  </a:rPr>
                  <a:t>				</a:t>
                </a:r>
                <a:r>
                  <a:rPr lang="en-US" sz="2400" dirty="0">
                    <a:latin typeface="Verdana" pitchFamily="34" charset="0"/>
                    <a:ea typeface="Verdana" pitchFamily="34" charset="0"/>
                  </a:rPr>
                  <a:t>.</a:t>
                </a:r>
                <a:endParaRPr lang="en-PH" sz="24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4" y="520393"/>
                <a:ext cx="8609061" cy="5632311"/>
              </a:xfrm>
              <a:prstGeom prst="rect">
                <a:avLst/>
              </a:prstGeom>
              <a:blipFill rotWithShape="1">
                <a:blip r:embed="rId4"/>
                <a:stretch>
                  <a:fillRect l="-1062" t="-866" r="-1203" b="-1407"/>
                </a:stretch>
              </a:blipFill>
            </p:spPr>
            <p:txBody>
              <a:bodyPr/>
              <a:lstStyle/>
              <a:p>
                <a:r>
                  <a:rPr lang="en-PH">
                    <a:noFill/>
                  </a:rPr>
                  <a:t> </a:t>
                </a:r>
              </a:p>
            </p:txBody>
          </p:sp>
        </mc:Fallback>
      </mc:AlternateContent>
      <p:pic>
        <p:nvPicPr>
          <p:cNvPr id="8"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007765" y="2394415"/>
            <a:ext cx="8327136" cy="1689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286</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9053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7" cy="1877437"/>
          </a:xfrm>
          <a:prstGeom prst="rect">
            <a:avLst/>
          </a:prstGeom>
          <a:noFill/>
        </p:spPr>
        <p:txBody>
          <a:bodyPr wrap="square" rtlCol="0">
            <a:spAutoFit/>
          </a:bodyPr>
          <a:lstStyle/>
          <a:p>
            <a:pPr algn="ctr">
              <a:spcAft>
                <a:spcPts val="2400"/>
              </a:spcAft>
            </a:pPr>
            <a:r>
              <a:rPr lang="en-US" sz="2400" b="1" dirty="0">
                <a:latin typeface="Verdana"/>
                <a:ea typeface="Times New Roman"/>
                <a:cs typeface="Times New Roman"/>
              </a:rPr>
              <a:t>Addition/Subtraction Comparison Model</a:t>
            </a:r>
          </a:p>
          <a:p>
            <a:r>
              <a:rPr lang="en-US" sz="2400" dirty="0">
                <a:latin typeface="Verdana"/>
                <a:ea typeface="Times New Roman"/>
                <a:cs typeface="Times New Roman"/>
              </a:rPr>
              <a:t>Comparison models are much like part-part-whole models. They show how much more or less one value is than another.</a:t>
            </a:r>
            <a:endParaRPr lang="en-PH" sz="1600" dirty="0">
              <a:latin typeface="Cambria"/>
              <a:ea typeface="Times New Roman"/>
              <a:cs typeface="Times New Roman"/>
            </a:endParaRPr>
          </a:p>
        </p:txBody>
      </p:sp>
      <p:sp>
        <p:nvSpPr>
          <p:cNvPr id="2" name="Rectangle 1"/>
          <p:cNvSpPr/>
          <p:nvPr/>
        </p:nvSpPr>
        <p:spPr>
          <a:xfrm>
            <a:off x="4880812" y="4385663"/>
            <a:ext cx="5454090" cy="1569660"/>
          </a:xfrm>
          <a:prstGeom prst="rect">
            <a:avLst/>
          </a:prstGeom>
        </p:spPr>
        <p:txBody>
          <a:bodyPr wrap="square">
            <a:spAutoFit/>
          </a:bodyPr>
          <a:lstStyle/>
          <a:p>
            <a:pPr algn="ctr"/>
            <a:r>
              <a:rPr lang="en-US" sz="2400" dirty="0">
                <a:latin typeface="Verdana" pitchFamily="34" charset="0"/>
                <a:ea typeface="Verdana" pitchFamily="34" charset="0"/>
              </a:rPr>
              <a:t>How much </a:t>
            </a:r>
            <a:r>
              <a:rPr lang="en-US" sz="2400" b="1" dirty="0">
                <a:latin typeface="Verdana" pitchFamily="34" charset="0"/>
                <a:ea typeface="Verdana" pitchFamily="34" charset="0"/>
              </a:rPr>
              <a:t>more</a:t>
            </a:r>
            <a:r>
              <a:rPr lang="en-US" sz="2400" dirty="0">
                <a:latin typeface="Verdana" pitchFamily="34" charset="0"/>
                <a:ea typeface="Verdana" pitchFamily="34" charset="0"/>
              </a:rPr>
              <a:t> Value A is </a:t>
            </a:r>
            <a:r>
              <a:rPr lang="en-US" sz="2400" b="1" dirty="0">
                <a:latin typeface="Verdana" pitchFamily="34" charset="0"/>
                <a:ea typeface="Verdana" pitchFamily="34" charset="0"/>
              </a:rPr>
              <a:t>than</a:t>
            </a:r>
            <a:r>
              <a:rPr lang="en-US" sz="2400" dirty="0">
                <a:latin typeface="Verdana" pitchFamily="34" charset="0"/>
                <a:ea typeface="Verdana" pitchFamily="34" charset="0"/>
              </a:rPr>
              <a:t> Value B, or </a:t>
            </a:r>
            <a:endParaRPr lang="en-PH" sz="2400" dirty="0">
              <a:latin typeface="Verdana" pitchFamily="34" charset="0"/>
              <a:ea typeface="Verdana" pitchFamily="34" charset="0"/>
            </a:endParaRPr>
          </a:p>
          <a:p>
            <a:pPr algn="ctr"/>
            <a:r>
              <a:rPr lang="en-US" sz="2400" dirty="0">
                <a:latin typeface="Verdana" pitchFamily="34" charset="0"/>
                <a:ea typeface="Verdana" pitchFamily="34" charset="0"/>
              </a:rPr>
              <a:t>How much </a:t>
            </a:r>
            <a:r>
              <a:rPr lang="en-US" sz="2400" b="1" dirty="0">
                <a:latin typeface="Verdana" pitchFamily="34" charset="0"/>
                <a:ea typeface="Verdana" pitchFamily="34" charset="0"/>
              </a:rPr>
              <a:t>less</a:t>
            </a:r>
            <a:r>
              <a:rPr lang="en-US" sz="2400" dirty="0">
                <a:latin typeface="Verdana" pitchFamily="34" charset="0"/>
                <a:ea typeface="Verdana" pitchFamily="34" charset="0"/>
              </a:rPr>
              <a:t> Value B is </a:t>
            </a:r>
            <a:r>
              <a:rPr lang="en-US" sz="2400" b="1" dirty="0">
                <a:latin typeface="Verdana" pitchFamily="34" charset="0"/>
                <a:ea typeface="Verdana" pitchFamily="34" charset="0"/>
              </a:rPr>
              <a:t>than</a:t>
            </a:r>
            <a:r>
              <a:rPr lang="en-US" sz="2400" dirty="0">
                <a:latin typeface="Verdana" pitchFamily="34" charset="0"/>
                <a:ea typeface="Verdana" pitchFamily="34" charset="0"/>
              </a:rPr>
              <a:t> Value A</a:t>
            </a:r>
            <a:endParaRPr lang="en-PH" sz="2400" dirty="0">
              <a:latin typeface="Verdana" pitchFamily="34" charset="0"/>
              <a:ea typeface="Verdana" pitchFamily="34" charset="0"/>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07764" y="2561444"/>
            <a:ext cx="8327138" cy="1595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86784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7" cy="3785652"/>
          </a:xfrm>
          <a:prstGeom prst="rect">
            <a:avLst/>
          </a:prstGeom>
          <a:noFill/>
        </p:spPr>
        <p:txBody>
          <a:bodyPr wrap="square" rtlCol="0">
            <a:spAutoFit/>
          </a:bodyPr>
          <a:lstStyle/>
          <a:p>
            <a:pPr marL="457200" indent="-457200">
              <a:buFont typeface="+mj-lt"/>
              <a:buAutoNum type="arabicPeriod" startAt="5"/>
            </a:pPr>
            <a:r>
              <a:rPr lang="en-US" sz="2400" dirty="0">
                <a:latin typeface="Verdana"/>
                <a:ea typeface="Times New Roman"/>
                <a:cs typeface="Times New Roman"/>
              </a:rPr>
              <a:t>Write an algebraic expression for the bar model shown.</a:t>
            </a:r>
          </a:p>
          <a:p>
            <a:pPr marL="457200" indent="-457200">
              <a:buFont typeface="+mj-lt"/>
              <a:buAutoNum type="arabicPeriod" startAt="5"/>
            </a:pPr>
            <a:endParaRPr lang="en-US" sz="2400" dirty="0">
              <a:latin typeface="Verdana"/>
              <a:ea typeface="Times New Roman"/>
              <a:cs typeface="Times New Roman"/>
            </a:endParaRPr>
          </a:p>
          <a:p>
            <a:pPr marL="457200" indent="-457200">
              <a:buFont typeface="+mj-lt"/>
              <a:buAutoNum type="arabicPeriod" startAt="5"/>
            </a:pPr>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indent="457200"/>
            <a:endParaRPr lang="en-US" sz="2400" dirty="0">
              <a:latin typeface="Verdana"/>
              <a:ea typeface="Times New Roman"/>
              <a:cs typeface="Times New Roman"/>
            </a:endParaRPr>
          </a:p>
          <a:p>
            <a:pPr indent="457200"/>
            <a:r>
              <a:rPr lang="en-US" sz="2400" dirty="0">
                <a:latin typeface="Verdana"/>
                <a:ea typeface="Times New Roman"/>
                <a:cs typeface="Times New Roman"/>
              </a:rPr>
              <a:t>Algebraic expression: </a:t>
            </a:r>
            <a:r>
              <a:rPr lang="en-US" sz="2400" u="sng" dirty="0">
                <a:latin typeface="Verdana"/>
                <a:ea typeface="Times New Roman"/>
                <a:cs typeface="Times New Roman"/>
              </a:rPr>
              <a:t>			</a:t>
            </a:r>
            <a:endParaRPr lang="en-US" sz="2400" dirty="0">
              <a:latin typeface="Verdana"/>
              <a:ea typeface="Times New Roman"/>
              <a:cs typeface="Times New Roman"/>
            </a:endParaRPr>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07764" y="1604055"/>
            <a:ext cx="8327136" cy="169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70939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520393"/>
            <a:ext cx="8327137" cy="3708708"/>
          </a:xfrm>
          <a:prstGeom prst="rect">
            <a:avLst/>
          </a:prstGeom>
          <a:noFill/>
        </p:spPr>
        <p:txBody>
          <a:bodyPr wrap="square" rtlCol="0">
            <a:spAutoFit/>
          </a:bodyPr>
          <a:lstStyle/>
          <a:p>
            <a:pPr algn="ctr">
              <a:spcAft>
                <a:spcPts val="1800"/>
              </a:spcAft>
            </a:pPr>
            <a:r>
              <a:rPr lang="en-US" sz="2000" b="1" dirty="0">
                <a:latin typeface="Verdana"/>
                <a:ea typeface="Times New Roman"/>
                <a:cs typeface="Times New Roman"/>
              </a:rPr>
              <a:t>Equal Parts – Whole Model</a:t>
            </a:r>
            <a:endParaRPr lang="en-PH" sz="2000" dirty="0">
              <a:latin typeface="Cambria"/>
              <a:ea typeface="Times New Roman"/>
              <a:cs typeface="Times New Roman"/>
            </a:endParaRPr>
          </a:p>
          <a:p>
            <a:pPr lvl="0"/>
            <a:r>
              <a:rPr lang="en-US" sz="2000" dirty="0">
                <a:latin typeface="Verdana"/>
                <a:ea typeface="Times New Roman"/>
                <a:cs typeface="Times New Roman"/>
              </a:rPr>
              <a:t>The Equal Parts – Whole Model shows the whole sectioned into equal parts. </a:t>
            </a:r>
          </a:p>
          <a:p>
            <a:pPr lvl="0"/>
            <a:endParaRPr lang="en-US" sz="2000" dirty="0">
              <a:latin typeface="Verdana"/>
              <a:ea typeface="Times New Roman"/>
              <a:cs typeface="Times New Roman"/>
            </a:endParaRPr>
          </a:p>
          <a:p>
            <a:pPr lvl="0"/>
            <a:endParaRPr lang="en-US" sz="2000" dirty="0">
              <a:latin typeface="Verdana"/>
              <a:ea typeface="Times New Roman"/>
              <a:cs typeface="Times New Roman"/>
            </a:endParaRPr>
          </a:p>
          <a:p>
            <a:pPr lvl="0"/>
            <a:endParaRPr lang="en-US" sz="2000" dirty="0">
              <a:latin typeface="Verdana"/>
              <a:ea typeface="Times New Roman"/>
              <a:cs typeface="Times New Roman"/>
            </a:endParaRPr>
          </a:p>
          <a:p>
            <a:pPr lvl="0"/>
            <a:endParaRPr lang="en-US" sz="2000" dirty="0">
              <a:latin typeface="Verdana"/>
              <a:ea typeface="Times New Roman"/>
              <a:cs typeface="Times New Roman"/>
            </a:endParaRPr>
          </a:p>
          <a:p>
            <a:pPr lvl="0"/>
            <a:endParaRPr lang="en-US" sz="2000" dirty="0">
              <a:latin typeface="Verdana"/>
              <a:ea typeface="Times New Roman"/>
              <a:cs typeface="Times New Roman"/>
            </a:endParaRPr>
          </a:p>
          <a:p>
            <a:pPr lvl="0"/>
            <a:endParaRPr lang="en-US" sz="2000" dirty="0">
              <a:latin typeface="Verdana"/>
              <a:ea typeface="Times New Roman"/>
              <a:cs typeface="Times New Roman"/>
            </a:endParaRPr>
          </a:p>
          <a:p>
            <a:r>
              <a:rPr lang="en-US" sz="2000" dirty="0">
                <a:latin typeface="Verdana"/>
                <a:ea typeface="Times New Roman"/>
                <a:cs typeface="Times New Roman"/>
              </a:rPr>
              <a:t>The equal parts-whole model can be used to show the following actions.</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03198" y="1844680"/>
            <a:ext cx="7736268" cy="1548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51065611"/>
                  </p:ext>
                </p:extLst>
              </p:nvPr>
            </p:nvGraphicFramePr>
            <p:xfrm>
              <a:off x="2091499" y="4254650"/>
              <a:ext cx="8159667" cy="1970015"/>
            </p:xfrm>
            <a:graphic>
              <a:graphicData uri="http://schemas.openxmlformats.org/drawingml/2006/table">
                <a:tbl>
                  <a:tblPr firstRow="1" firstCol="1" bandRow="1">
                    <a:tableStyleId>{A91F0D33-8C57-4600-99A7-42BC86742BE1}</a:tableStyleId>
                  </a:tblPr>
                  <a:tblGrid>
                    <a:gridCol w="2857500">
                      <a:extLst>
                        <a:ext uri="{9D8B030D-6E8A-4147-A177-3AD203B41FA5}">
                          <a16:colId xmlns:a16="http://schemas.microsoft.com/office/drawing/2014/main" val="20000"/>
                        </a:ext>
                      </a:extLst>
                    </a:gridCol>
                    <a:gridCol w="5302167">
                      <a:extLst>
                        <a:ext uri="{9D8B030D-6E8A-4147-A177-3AD203B41FA5}">
                          <a16:colId xmlns:a16="http://schemas.microsoft.com/office/drawing/2014/main" val="20001"/>
                        </a:ext>
                      </a:extLst>
                    </a:gridCol>
                  </a:tblGrid>
                  <a:tr h="0">
                    <a:tc>
                      <a:txBody>
                        <a:bodyPr/>
                        <a:lstStyle/>
                        <a:p>
                          <a:pPr algn="ctr">
                            <a:spcAft>
                              <a:spcPts val="0"/>
                            </a:spcAft>
                            <a:tabLst>
                              <a:tab pos="2562225" algn="l"/>
                            </a:tabLst>
                          </a:pPr>
                          <a:r>
                            <a:rPr lang="en-US" sz="2000" b="1" dirty="0">
                              <a:effectLst/>
                              <a:latin typeface="Verdana" pitchFamily="34" charset="0"/>
                              <a:ea typeface="Verdana" pitchFamily="34" charset="0"/>
                            </a:rPr>
                            <a:t>Action</a:t>
                          </a:r>
                          <a:endParaRPr lang="en-PH" sz="2000" b="1" dirty="0">
                            <a:effectLst/>
                            <a:latin typeface="Verdana" pitchFamily="34" charset="0"/>
                            <a:ea typeface="Verdana" pitchFamily="34" charset="0"/>
                            <a:cs typeface="Times New Roman"/>
                          </a:endParaRP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en-US" sz="2000" b="1" dirty="0">
                              <a:effectLst/>
                              <a:latin typeface="Verdana" pitchFamily="34" charset="0"/>
                              <a:ea typeface="Verdana" pitchFamily="34" charset="0"/>
                            </a:rPr>
                            <a:t>Equation</a:t>
                          </a:r>
                          <a:endParaRPr lang="en-PH" sz="2000" b="1" dirty="0">
                            <a:effectLst/>
                            <a:latin typeface="Verdana" pitchFamily="34" charset="0"/>
                            <a:ea typeface="Verdana" pitchFamily="34" charset="0"/>
                            <a:cs typeface="Times New Roman"/>
                          </a:endParaRP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714375">
                    <a:tc>
                      <a:txBody>
                        <a:bodyPr/>
                        <a:lstStyle/>
                        <a:p>
                          <a:pPr algn="ctr">
                            <a:spcAft>
                              <a:spcPts val="0"/>
                            </a:spcAft>
                          </a:pPr>
                          <a:r>
                            <a:rPr lang="en-US" sz="2000" dirty="0">
                              <a:effectLst/>
                              <a:latin typeface="Verdana" pitchFamily="34" charset="0"/>
                              <a:ea typeface="Verdana" pitchFamily="34" charset="0"/>
                            </a:rPr>
                            <a:t>Repeated addition (multiplication)</a:t>
                          </a:r>
                          <a:endParaRPr lang="en-PH" sz="2000" dirty="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Equal part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equal part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whole</a:t>
                          </a:r>
                          <a:endParaRPr lang="en-PH" sz="2000" dirty="0">
                            <a:effectLst/>
                            <a:latin typeface="Verdana" pitchFamily="34" charset="0"/>
                            <a:ea typeface="Verdana" pitchFamily="34" charset="0"/>
                          </a:endParaRPr>
                        </a:p>
                        <a:p>
                          <a:pPr algn="ctr">
                            <a:spcAft>
                              <a:spcPts val="0"/>
                            </a:spcAft>
                          </a:pPr>
                          <a:r>
                            <a:rPr lang="en-US" sz="2000" dirty="0">
                              <a:effectLst/>
                              <a:latin typeface="Verdana" pitchFamily="34" charset="0"/>
                              <a:ea typeface="Verdana" pitchFamily="34" charset="0"/>
                            </a:rPr>
                            <a:t>Equal part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number of parts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whole</a:t>
                          </a:r>
                          <a:endParaRPr lang="en-PH" sz="2000" dirty="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9420">
                    <a:tc>
                      <a:txBody>
                        <a:bodyPr/>
                        <a:lstStyle/>
                        <a:p>
                          <a:pPr algn="ctr">
                            <a:spcAft>
                              <a:spcPts val="0"/>
                            </a:spcAft>
                          </a:pPr>
                          <a:r>
                            <a:rPr lang="en-US" sz="2000">
                              <a:effectLst/>
                              <a:latin typeface="Verdana" pitchFamily="34" charset="0"/>
                              <a:ea typeface="Verdana" pitchFamily="34" charset="0"/>
                            </a:rPr>
                            <a:t>Equal sharing</a:t>
                          </a:r>
                          <a:endParaRPr lang="en-PH" sz="200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Whole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number of parts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equal part</a:t>
                          </a:r>
                          <a:endParaRPr lang="en-PH" sz="2000" dirty="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9420">
                    <a:tc>
                      <a:txBody>
                        <a:bodyPr/>
                        <a:lstStyle/>
                        <a:p>
                          <a:pPr algn="ctr">
                            <a:spcAft>
                              <a:spcPts val="0"/>
                            </a:spcAft>
                          </a:pPr>
                          <a:r>
                            <a:rPr lang="en-US" sz="2000">
                              <a:effectLst/>
                              <a:latin typeface="Verdana" pitchFamily="34" charset="0"/>
                              <a:ea typeface="Verdana" pitchFamily="34" charset="0"/>
                            </a:rPr>
                            <a:t>Partitioning</a:t>
                          </a:r>
                          <a:endParaRPr lang="en-PH" sz="200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Whole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equal part </a:t>
                          </a:r>
                          <a14:m>
                            <m:oMath xmlns:m="http://schemas.openxmlformats.org/officeDocument/2006/math">
                              <m:r>
                                <a:rPr lang="en-US" sz="2000">
                                  <a:effectLst/>
                                  <a:latin typeface="Cambria Math" pitchFamily="18" charset="0"/>
                                  <a:ea typeface="Cambria Math" pitchFamily="18" charset="0"/>
                                </a:rPr>
                                <m:t>=</m:t>
                              </m:r>
                            </m:oMath>
                          </a14:m>
                          <a:r>
                            <a:rPr lang="en-US" sz="2000" dirty="0">
                              <a:effectLst/>
                              <a:latin typeface="Verdana" pitchFamily="34" charset="0"/>
                              <a:ea typeface="Verdana" pitchFamily="34" charset="0"/>
                            </a:rPr>
                            <a:t> number of parts</a:t>
                          </a:r>
                          <a:endParaRPr lang="en-PH" sz="2000" dirty="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51065611"/>
                  </p:ext>
                </p:extLst>
              </p:nvPr>
            </p:nvGraphicFramePr>
            <p:xfrm>
              <a:off x="567498" y="4254649"/>
              <a:ext cx="8159667" cy="1970015"/>
            </p:xfrm>
            <a:graphic>
              <a:graphicData uri="http://schemas.openxmlformats.org/drawingml/2006/table">
                <a:tbl>
                  <a:tblPr firstRow="1" firstCol="1" bandRow="1">
                    <a:tableStyleId>{A91F0D33-8C57-4600-99A7-42BC86742BE1}</a:tableStyleId>
                  </a:tblPr>
                  <a:tblGrid>
                    <a:gridCol w="2857500"/>
                    <a:gridCol w="5302167"/>
                  </a:tblGrid>
                  <a:tr h="376800">
                    <a:tc>
                      <a:txBody>
                        <a:bodyPr/>
                        <a:lstStyle/>
                        <a:p>
                          <a:pPr algn="ctr">
                            <a:spcAft>
                              <a:spcPts val="0"/>
                            </a:spcAft>
                            <a:tabLst>
                              <a:tab pos="2562225" algn="l"/>
                            </a:tabLst>
                          </a:pPr>
                          <a:r>
                            <a:rPr lang="en-US" sz="2000" b="1" dirty="0">
                              <a:effectLst/>
                              <a:latin typeface="Verdana" pitchFamily="34" charset="0"/>
                              <a:ea typeface="Verdana" pitchFamily="34" charset="0"/>
                            </a:rPr>
                            <a:t>Action</a:t>
                          </a:r>
                          <a:endParaRPr lang="en-PH" sz="2000" b="1" dirty="0">
                            <a:effectLst/>
                            <a:latin typeface="Verdana" pitchFamily="34" charset="0"/>
                            <a:ea typeface="Verdana" pitchFamily="34" charset="0"/>
                            <a:cs typeface="Times New Roman"/>
                          </a:endParaRP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en-US" sz="2000" b="1" dirty="0">
                              <a:effectLst/>
                              <a:latin typeface="Verdana" pitchFamily="34" charset="0"/>
                              <a:ea typeface="Verdana" pitchFamily="34" charset="0"/>
                            </a:rPr>
                            <a:t>Equation</a:t>
                          </a:r>
                          <a:endParaRPr lang="en-PH" sz="2000" b="1" dirty="0">
                            <a:effectLst/>
                            <a:latin typeface="Verdana" pitchFamily="34" charset="0"/>
                            <a:ea typeface="Verdana" pitchFamily="34" charset="0"/>
                            <a:cs typeface="Times New Roman"/>
                          </a:endParaRPr>
                        </a:p>
                      </a:txBody>
                      <a:tcPr marL="68580" marR="6858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r>
                  <a:tr h="714375">
                    <a:tc>
                      <a:txBody>
                        <a:bodyPr/>
                        <a:lstStyle/>
                        <a:p>
                          <a:pPr algn="ctr">
                            <a:spcAft>
                              <a:spcPts val="0"/>
                            </a:spcAft>
                          </a:pPr>
                          <a:r>
                            <a:rPr lang="en-US" sz="2000" dirty="0">
                              <a:effectLst/>
                              <a:latin typeface="Verdana" pitchFamily="34" charset="0"/>
                              <a:ea typeface="Verdana" pitchFamily="34" charset="0"/>
                            </a:rPr>
                            <a:t>Repeated addition (multiplication)</a:t>
                          </a:r>
                          <a:endParaRPr lang="en-PH" sz="2000" dirty="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3908" t="-58974" b="-135897"/>
                          </a:stretch>
                        </a:blipFill>
                      </a:tcPr>
                    </a:tc>
                  </a:tr>
                  <a:tr h="439420">
                    <a:tc>
                      <a:txBody>
                        <a:bodyPr/>
                        <a:lstStyle/>
                        <a:p>
                          <a:pPr algn="ctr">
                            <a:spcAft>
                              <a:spcPts val="0"/>
                            </a:spcAft>
                          </a:pPr>
                          <a:r>
                            <a:rPr lang="en-US" sz="2000">
                              <a:effectLst/>
                              <a:latin typeface="Verdana" pitchFamily="34" charset="0"/>
                              <a:ea typeface="Verdana" pitchFamily="34" charset="0"/>
                            </a:rPr>
                            <a:t>Equal sharing</a:t>
                          </a:r>
                          <a:endParaRPr lang="en-PH" sz="200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3908" t="-258333" b="-120833"/>
                          </a:stretch>
                        </a:blipFill>
                      </a:tcPr>
                    </a:tc>
                  </a:tr>
                  <a:tr h="439420">
                    <a:tc>
                      <a:txBody>
                        <a:bodyPr/>
                        <a:lstStyle/>
                        <a:p>
                          <a:pPr algn="ctr">
                            <a:spcAft>
                              <a:spcPts val="0"/>
                            </a:spcAft>
                          </a:pPr>
                          <a:r>
                            <a:rPr lang="en-US" sz="2000">
                              <a:effectLst/>
                              <a:latin typeface="Verdana" pitchFamily="34" charset="0"/>
                              <a:ea typeface="Verdana" pitchFamily="34" charset="0"/>
                            </a:rPr>
                            <a:t>Partitioning</a:t>
                          </a:r>
                          <a:endParaRPr lang="en-PH" sz="2000">
                            <a:effectLst/>
                            <a:latin typeface="Verdana" pitchFamily="34" charset="0"/>
                            <a:ea typeface="Verdana" pitchFamily="34" charset="0"/>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53908" t="-358333" b="-20833"/>
                          </a:stretch>
                        </a:blipFill>
                      </a:tcPr>
                    </a:tc>
                  </a:tr>
                </a:tbl>
              </a:graphicData>
            </a:graphic>
          </p:graphicFrame>
        </mc:Fallback>
      </mc:AlternateContent>
      <p:sp>
        <p:nvSpPr>
          <p:cNvPr id="9"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287</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76263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520394"/>
                <a:ext cx="8327137" cy="4893647"/>
              </a:xfrm>
              <a:prstGeom prst="rect">
                <a:avLst/>
              </a:prstGeom>
              <a:noFill/>
            </p:spPr>
            <p:txBody>
              <a:bodyPr wrap="square" rtlCol="0">
                <a:spAutoFit/>
              </a:bodyPr>
              <a:lstStyle/>
              <a:p>
                <a:pPr marL="457200" indent="-457200">
                  <a:buFont typeface="+mj-lt"/>
                  <a:buAutoNum type="arabicPeriod" startAt="6"/>
                </a:pPr>
                <a:r>
                  <a:rPr lang="en-US" sz="2400" dirty="0">
                    <a:latin typeface="Verdana"/>
                    <a:ea typeface="Times New Roman"/>
                    <a:cs typeface="Times New Roman"/>
                  </a:rPr>
                  <a:t>“The product of nine and a number” can be shown as </a:t>
                </a:r>
                <a14:m>
                  <m:oMath xmlns:m="http://schemas.openxmlformats.org/officeDocument/2006/math">
                    <m:r>
                      <a:rPr lang="en-US" sz="2400" i="1">
                        <a:latin typeface="Cambria Math"/>
                        <a:ea typeface="Times New Roman"/>
                        <a:cs typeface="Times New Roman"/>
                      </a:rPr>
                      <m:t>9</m:t>
                    </m:r>
                  </m:oMath>
                </a14:m>
                <a:r>
                  <a:rPr lang="en-US" sz="2400" dirty="0">
                    <a:latin typeface="Verdana"/>
                    <a:ea typeface="Times New Roman"/>
                    <a:cs typeface="Times New Roman"/>
                  </a:rPr>
                  <a:t> equal parts with size of “a number” represented with the variable, </a:t>
                </a:r>
                <a14:m>
                  <m:oMath xmlns:m="http://schemas.openxmlformats.org/officeDocument/2006/math">
                    <m:r>
                      <a:rPr lang="en-US" sz="2400" i="1">
                        <a:latin typeface="Cambria Math"/>
                        <a:ea typeface="Times New Roman"/>
                        <a:cs typeface="Times New Roman"/>
                      </a:rPr>
                      <m:t>𝑎</m:t>
                    </m:r>
                  </m:oMath>
                </a14:m>
                <a:r>
                  <a:rPr lang="en-US" sz="2400" dirty="0">
                    <a:latin typeface="Verdana"/>
                    <a:ea typeface="Times New Roman"/>
                    <a:cs typeface="Times New Roman"/>
                  </a:rPr>
                  <a:t>.</a:t>
                </a: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lvl="0"/>
                <a:endParaRPr lang="en-US" sz="2400" dirty="0">
                  <a:latin typeface="Verdana"/>
                  <a:ea typeface="Times New Roman"/>
                  <a:cs typeface="Times New Roman"/>
                </a:endParaRPr>
              </a:p>
              <a:p>
                <a:pPr algn="ctr"/>
                <a:r>
                  <a:rPr lang="en-US" sz="2400" dirty="0">
                    <a:latin typeface="Verdana" pitchFamily="34" charset="0"/>
                    <a:ea typeface="Verdana" pitchFamily="34" charset="0"/>
                  </a:rPr>
                  <a:t>The product of nine and a number</a:t>
                </a:r>
                <a:endParaRPr lang="en-PH" sz="2400" dirty="0">
                  <a:latin typeface="Verdana" pitchFamily="34" charset="0"/>
                  <a:ea typeface="Verdana" pitchFamily="34" charset="0"/>
                  <a:cs typeface="Times New Roman"/>
                </a:endParaRPr>
              </a:p>
              <a:p>
                <a:pPr marL="457200"/>
                <a:br>
                  <a:rPr lang="en-US" sz="2400" dirty="0">
                    <a:latin typeface="Verdana"/>
                    <a:ea typeface="Times New Roman"/>
                    <a:cs typeface="Times New Roman"/>
                  </a:rPr>
                </a:br>
                <a:endParaRPr lang="en-US" sz="2400" dirty="0">
                  <a:latin typeface="Verdana"/>
                  <a:ea typeface="Times New Roman"/>
                  <a:cs typeface="Times New Roman"/>
                </a:endParaRPr>
              </a:p>
              <a:p>
                <a:pPr marL="457200"/>
                <a:r>
                  <a:rPr lang="en-US" sz="2400" dirty="0">
                    <a:latin typeface="Verdana"/>
                    <a:ea typeface="Times New Roman"/>
                    <a:cs typeface="Times New Roman"/>
                  </a:rPr>
                  <a:t>Write an algebraic expression for “the product of nine and a number.”</a:t>
                </a:r>
                <a:endParaRPr lang="en-PH" sz="1600" dirty="0">
                  <a:latin typeface="Cambria"/>
                  <a:ea typeface="Times New Roman"/>
                  <a:cs typeface="Times New Roman"/>
                </a:endParaRPr>
              </a:p>
              <a:p>
                <a:pPr lvl="0"/>
                <a:endParaRPr lang="en-US" sz="2400" dirty="0">
                  <a:latin typeface="Verdana"/>
                  <a:ea typeface="Times New Roman"/>
                  <a:cs typeface="Times New Roman"/>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4" y="520393"/>
                <a:ext cx="8327137" cy="4893647"/>
              </a:xfrm>
              <a:prstGeom prst="rect">
                <a:avLst/>
              </a:prstGeom>
              <a:blipFill rotWithShape="1">
                <a:blip r:embed="rId4"/>
                <a:stretch>
                  <a:fillRect l="-1098" t="-996" r="-220"/>
                </a:stretch>
              </a:blipFill>
            </p:spPr>
            <p:txBody>
              <a:bodyPr/>
              <a:lstStyle/>
              <a:p>
                <a:r>
                  <a:rPr lang="en-PH">
                    <a:noFill/>
                  </a:rPr>
                  <a:t> </a:t>
                </a:r>
              </a:p>
            </p:txBody>
          </p:sp>
        </mc:Fallback>
      </mc:AlternateContent>
      <p:pic>
        <p:nvPicPr>
          <p:cNvPr id="10242" name="Picture 2"/>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007764" y="2305316"/>
            <a:ext cx="8327137" cy="661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287</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51738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4" y="520393"/>
                <a:ext cx="8491794" cy="6093976"/>
              </a:xfrm>
              <a:prstGeom prst="rect">
                <a:avLst/>
              </a:prstGeom>
              <a:noFill/>
            </p:spPr>
            <p:txBody>
              <a:bodyPr wrap="square" rtlCol="0">
                <a:spAutoFit/>
              </a:bodyPr>
              <a:lstStyle/>
              <a:p>
                <a:pPr marL="457200" indent="-457200">
                  <a:buFont typeface="+mj-lt"/>
                  <a:buAutoNum type="arabicPeriod" startAt="7"/>
                </a:pPr>
                <a:r>
                  <a:rPr lang="en-US" sz="2000" dirty="0">
                    <a:latin typeface="Verdana" pitchFamily="34" charset="0"/>
                    <a:ea typeface="Verdana" pitchFamily="34" charset="0"/>
                    <a:cs typeface="Times New Roman"/>
                  </a:rPr>
                  <a:t>“The quotient of a number and two” could be shown as </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a:t>
                </a:r>
                <a:r>
                  <a:rPr lang="en-US" sz="2000" dirty="0">
                    <a:solidFill>
                      <a:srgbClr val="9BBB59"/>
                    </a:solidFill>
                    <a:latin typeface="Verdana" pitchFamily="34" charset="0"/>
                    <a:ea typeface="Verdana" pitchFamily="34" charset="0"/>
                    <a:cs typeface="Times New Roman"/>
                  </a:rPr>
                  <a:t>a number</a:t>
                </a:r>
                <a:r>
                  <a:rPr lang="en-US" sz="2000" dirty="0">
                    <a:latin typeface="Verdana" pitchFamily="34" charset="0"/>
                    <a:ea typeface="Verdana" pitchFamily="34" charset="0"/>
                    <a:cs typeface="Times New Roman"/>
                  </a:rPr>
                  <a:t>” represented by the variable, </a:t>
                </a:r>
                <a14:m>
                  <m:oMath xmlns:m="http://schemas.openxmlformats.org/officeDocument/2006/math">
                    <m:r>
                      <a:rPr lang="en-US" sz="2000" b="1" i="1">
                        <a:solidFill>
                          <a:srgbClr val="9BBB59"/>
                        </a:solidFill>
                        <a:latin typeface="Cambria Math"/>
                        <a:ea typeface="Times New Roman"/>
                        <a:cs typeface="Times New Roman"/>
                      </a:rPr>
                      <m:t>𝒑</m:t>
                    </m:r>
                  </m:oMath>
                </a14:m>
                <a:r>
                  <a:rPr lang="en-US" sz="2000" dirty="0">
                    <a:latin typeface="Verdana" pitchFamily="34" charset="0"/>
                    <a:ea typeface="Verdana" pitchFamily="34" charset="0"/>
                    <a:cs typeface="Times New Roman"/>
                  </a:rPr>
                  <a:t>, sectioned off into two equal parts. The quotient is the size of each equal part. </a:t>
                </a:r>
              </a:p>
              <a:p>
                <a:pPr lvl="0"/>
                <a:endParaRPr lang="en-US" sz="2000" dirty="0">
                  <a:latin typeface="Verdana" pitchFamily="34" charset="0"/>
                  <a:ea typeface="Verdana" pitchFamily="34" charset="0"/>
                  <a:cs typeface="Times New Roman"/>
                </a:endParaRPr>
              </a:p>
              <a:p>
                <a:pPr lvl="0"/>
                <a:endParaRPr lang="en-US" sz="2000" dirty="0">
                  <a:latin typeface="Verdana" pitchFamily="34" charset="0"/>
                  <a:ea typeface="Verdana" pitchFamily="34" charset="0"/>
                  <a:cs typeface="Times New Roman"/>
                </a:endParaRPr>
              </a:p>
              <a:p>
                <a:pPr lvl="0"/>
                <a:endParaRPr lang="en-US" sz="2000" dirty="0">
                  <a:latin typeface="Verdana" pitchFamily="34" charset="0"/>
                  <a:ea typeface="Verdana" pitchFamily="34" charset="0"/>
                  <a:cs typeface="Times New Roman"/>
                </a:endParaRPr>
              </a:p>
              <a:p>
                <a:pPr algn="ctr"/>
                <a:r>
                  <a:rPr lang="en-US" sz="2000" dirty="0">
                    <a:latin typeface="Verdana" pitchFamily="34" charset="0"/>
                    <a:ea typeface="Verdana" pitchFamily="34" charset="0"/>
                  </a:rPr>
                  <a:t>The product of nine and a number</a:t>
                </a:r>
                <a:endParaRPr lang="en-PH" sz="2000" dirty="0">
                  <a:latin typeface="Verdana" pitchFamily="34" charset="0"/>
                  <a:ea typeface="Verdana" pitchFamily="34" charset="0"/>
                  <a:cs typeface="Times New Roman"/>
                </a:endParaRPr>
              </a:p>
              <a:p>
                <a:pPr marL="457200">
                  <a:spcAft>
                    <a:spcPts val="1800"/>
                  </a:spcAft>
                </a:pPr>
                <a:endParaRPr lang="en-US" sz="2000" dirty="0">
                  <a:latin typeface="Verdana" pitchFamily="34" charset="0"/>
                  <a:ea typeface="Verdana" pitchFamily="34" charset="0"/>
                  <a:cs typeface="Times New Roman"/>
                </a:endParaRPr>
              </a:p>
              <a:p>
                <a:pPr marL="457200"/>
                <a:r>
                  <a:rPr lang="en-US" sz="2000" dirty="0">
                    <a:latin typeface="Verdana" pitchFamily="34" charset="0"/>
                    <a:ea typeface="Verdana" pitchFamily="34" charset="0"/>
                    <a:cs typeface="Times New Roman"/>
                  </a:rPr>
                  <a:t>“The quotient of a number and two” could also be shown </a:t>
                </a:r>
                <a:br>
                  <a:rPr lang="en-US" sz="2000" dirty="0">
                    <a:latin typeface="Verdana" pitchFamily="34" charset="0"/>
                    <a:ea typeface="Verdana" pitchFamily="34" charset="0"/>
                    <a:cs typeface="Times New Roman"/>
                  </a:rPr>
                </a:br>
                <a:r>
                  <a:rPr lang="en-US" sz="2000" dirty="0">
                    <a:latin typeface="Verdana" pitchFamily="34" charset="0"/>
                    <a:ea typeface="Verdana" pitchFamily="34" charset="0"/>
                    <a:cs typeface="Times New Roman"/>
                  </a:rPr>
                  <a:t>as “</a:t>
                </a:r>
                <a:r>
                  <a:rPr lang="en-US" sz="2000" dirty="0">
                    <a:solidFill>
                      <a:srgbClr val="9BBB59"/>
                    </a:solidFill>
                    <a:latin typeface="Verdana" pitchFamily="34" charset="0"/>
                    <a:ea typeface="Verdana" pitchFamily="34" charset="0"/>
                    <a:cs typeface="Times New Roman"/>
                  </a:rPr>
                  <a:t>a number</a:t>
                </a:r>
                <a:r>
                  <a:rPr lang="en-US" sz="2000" dirty="0">
                    <a:latin typeface="Verdana" pitchFamily="34" charset="0"/>
                    <a:ea typeface="Verdana" pitchFamily="34" charset="0"/>
                    <a:cs typeface="Times New Roman"/>
                  </a:rPr>
                  <a:t>” represented by the variable </a:t>
                </a:r>
                <a14:m>
                  <m:oMath xmlns:m="http://schemas.openxmlformats.org/officeDocument/2006/math">
                    <m:r>
                      <a:rPr lang="en-US" sz="2000" b="1" i="1">
                        <a:solidFill>
                          <a:srgbClr val="9BBB59"/>
                        </a:solidFill>
                        <a:latin typeface="Cambria Math"/>
                        <a:ea typeface="Times New Roman"/>
                        <a:cs typeface="Times New Roman"/>
                      </a:rPr>
                      <m:t>𝒑</m:t>
                    </m:r>
                  </m:oMath>
                </a14:m>
                <a:r>
                  <a:rPr lang="en-US" sz="2000" dirty="0">
                    <a:latin typeface="Verdana" pitchFamily="34" charset="0"/>
                    <a:ea typeface="Verdana" pitchFamily="34" charset="0"/>
                    <a:cs typeface="Times New Roman"/>
                  </a:rPr>
                  <a:t>, sectioned off into equal parts with size of </a:t>
                </a:r>
                <a14:m>
                  <m:oMath xmlns:m="http://schemas.openxmlformats.org/officeDocument/2006/math">
                    <m:r>
                      <a:rPr lang="en-US" sz="2000" i="1">
                        <a:latin typeface="Cambria Math"/>
                        <a:ea typeface="Times New Roman"/>
                        <a:cs typeface="Times New Roman"/>
                      </a:rPr>
                      <m:t>2</m:t>
                    </m:r>
                  </m:oMath>
                </a14:m>
                <a:r>
                  <a:rPr lang="en-US" sz="2000" dirty="0">
                    <a:latin typeface="Verdana" pitchFamily="34" charset="0"/>
                    <a:ea typeface="Verdana" pitchFamily="34" charset="0"/>
                    <a:cs typeface="Times New Roman"/>
                  </a:rPr>
                  <a:t> units. The quotient is the number of equal parts. </a:t>
                </a:r>
              </a:p>
              <a:p>
                <a:pPr marL="457200">
                  <a:spcAft>
                    <a:spcPts val="1800"/>
                  </a:spcAft>
                </a:pPr>
                <a:br>
                  <a:rPr lang="en-US" sz="2000" dirty="0">
                    <a:latin typeface="Verdana" pitchFamily="34" charset="0"/>
                    <a:ea typeface="Verdana" pitchFamily="34" charset="0"/>
                    <a:cs typeface="Times New Roman"/>
                  </a:rPr>
                </a:br>
                <a:br>
                  <a:rPr lang="en-US" sz="2000" dirty="0">
                    <a:latin typeface="Verdana" pitchFamily="34" charset="0"/>
                    <a:ea typeface="Verdana" pitchFamily="34" charset="0"/>
                    <a:cs typeface="Times New Roman"/>
                  </a:rPr>
                </a:br>
                <a:br>
                  <a:rPr lang="en-US" sz="2000" dirty="0">
                    <a:latin typeface="Verdana" pitchFamily="34" charset="0"/>
                    <a:ea typeface="Verdana" pitchFamily="34" charset="0"/>
                    <a:cs typeface="Times New Roman"/>
                  </a:rPr>
                </a:br>
                <a:endParaRPr lang="en-US" sz="2000" dirty="0">
                  <a:latin typeface="Verdana" pitchFamily="34" charset="0"/>
                  <a:ea typeface="Verdana" pitchFamily="34" charset="0"/>
                  <a:cs typeface="Times New Roman"/>
                </a:endParaRPr>
              </a:p>
              <a:p>
                <a:pPr marL="457200"/>
                <a:r>
                  <a:rPr lang="en-US" sz="2000" dirty="0">
                    <a:latin typeface="Verdana" pitchFamily="34" charset="0"/>
                    <a:ea typeface="Verdana" pitchFamily="34" charset="0"/>
                  </a:rPr>
                  <a:t>What is the algebraic expression for “The quotient of a number and </a:t>
                </a:r>
                <a14:m>
                  <m:oMath xmlns:m="http://schemas.openxmlformats.org/officeDocument/2006/math">
                    <m:r>
                      <a:rPr lang="en-US" sz="2000" i="1">
                        <a:latin typeface="Cambria Math" panose="02040503050406030204" pitchFamily="18" charset="0"/>
                      </a:rPr>
                      <m:t>2</m:t>
                    </m:r>
                  </m:oMath>
                </a14:m>
                <a:r>
                  <a:rPr lang="en-US" sz="2000" dirty="0">
                    <a:latin typeface="Verdana" pitchFamily="34" charset="0"/>
                    <a:ea typeface="Verdana" pitchFamily="34" charset="0"/>
                  </a:rPr>
                  <a:t>?”</a:t>
                </a:r>
                <a:endParaRPr lang="en-PH" sz="2000" dirty="0">
                  <a:latin typeface="Verdana" pitchFamily="34" charset="0"/>
                  <a:ea typeface="Verdana" pitchFamily="34" charset="0"/>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4" y="520393"/>
                <a:ext cx="8491794" cy="6093976"/>
              </a:xfrm>
              <a:prstGeom prst="rect">
                <a:avLst/>
              </a:prstGeom>
              <a:blipFill rotWithShape="1">
                <a:blip r:embed="rId4"/>
                <a:stretch>
                  <a:fillRect l="-718" t="-600" r="-1220" b="-800"/>
                </a:stretch>
              </a:blipFill>
            </p:spPr>
            <p:txBody>
              <a:bodyPr/>
              <a:lstStyle/>
              <a:p>
                <a:r>
                  <a:rPr lang="en-PH">
                    <a:noFill/>
                  </a:rPr>
                  <a:t> </a:t>
                </a:r>
              </a:p>
            </p:txBody>
          </p:sp>
        </mc:Fallback>
      </mc:AlternateContent>
      <p:pic>
        <p:nvPicPr>
          <p:cNvPr id="11266" name="Picture 2"/>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52011" y="1686383"/>
            <a:ext cx="6801627" cy="1318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052010" y="4536994"/>
            <a:ext cx="6801627" cy="1042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287</a:t>
            </a:r>
            <a:endParaRPr i="1" dirty="0">
              <a:latin typeface="Calibri"/>
              <a:ea typeface="Calibri"/>
              <a:cs typeface="Calibri"/>
              <a:sym typeface="Calibri"/>
            </a:endParaRPr>
          </a:p>
        </p:txBody>
      </p:sp>
      <p:pic>
        <p:nvPicPr>
          <p:cNvPr id="10"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39309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2844"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13.5.3 Collaboration: Matching Activity</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3036"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242844" y="1386026"/>
            <a:ext cx="9962344" cy="2092881"/>
          </a:xfrm>
          <a:prstGeom prst="rect">
            <a:avLst/>
          </a:prstGeom>
          <a:noFill/>
        </p:spPr>
        <p:txBody>
          <a:bodyPr wrap="square" rtlCol="0">
            <a:spAutoFit/>
          </a:bodyPr>
          <a:lstStyle/>
          <a:p>
            <a:pPr>
              <a:spcAft>
                <a:spcPts val="1200"/>
              </a:spcAft>
            </a:pPr>
            <a:r>
              <a:rPr lang="en-US" sz="2400" b="1" dirty="0">
                <a:latin typeface="Verdana"/>
              </a:rPr>
              <a:t>Part 1</a:t>
            </a:r>
            <a:endParaRPr lang="en-PH" sz="2400" dirty="0"/>
          </a:p>
          <a:p>
            <a:r>
              <a:rPr lang="en-US" sz="2400" dirty="0">
                <a:latin typeface="Verdana"/>
              </a:rPr>
              <a:t>Match each written description to the appropriate bar model, where the red portion is the result of the written description. Write the letter of the bar model beside the corresponding word description.</a:t>
            </a:r>
            <a:endParaRPr lang="en-PH" sz="2400" dirty="0"/>
          </a:p>
        </p:txBody>
      </p:sp>
      <p:sp>
        <p:nvSpPr>
          <p:cNvPr id="11"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2732328"/>
            <a:ext cx="8327136" cy="3662541"/>
          </a:xfrm>
          <a:prstGeom prst="rect">
            <a:avLst/>
          </a:prstGeom>
          <a:noFill/>
        </p:spPr>
        <p:txBody>
          <a:bodyPr wrap="square" rtlCol="0">
            <a:spAutoFit/>
          </a:bodyPr>
          <a:lstStyle/>
          <a:p>
            <a:pPr marL="457200" indent="-457200">
              <a:spcAft>
                <a:spcPts val="2400"/>
              </a:spcAft>
              <a:buFont typeface="+mj-lt"/>
              <a:buAutoNum type="alphaUcPeriod"/>
            </a:pP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spcAft>
                <a:spcPts val="1800"/>
              </a:spcAft>
              <a:buFont typeface="+mj-lt"/>
              <a:buAutoNum type="alphaUcPeriod"/>
            </a:pP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UcPeriod"/>
            </a:pPr>
            <a:br>
              <a:rPr lang="en-US" sz="2400" dirty="0">
                <a:latin typeface="Verdana" panose="020B0604030504040204" pitchFamily="34" charset="0"/>
                <a:ea typeface="Verdana" panose="020B0604030504040204" pitchFamily="34" charset="0"/>
                <a:cs typeface="Verdana" panose="020B0604030504040204" pitchFamily="34" charset="0"/>
              </a:rPr>
            </a:b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UcPeriod"/>
            </a:pPr>
            <a:r>
              <a:rPr lang="en-US" sz="2400" dirty="0">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7" name="Table 6"/>
          <p:cNvGraphicFramePr>
            <a:graphicFrameLocks noGrp="1"/>
          </p:cNvGraphicFramePr>
          <p:nvPr>
            <p:extLst>
              <p:ext uri="{D42A27DB-BD31-4B8C-83A1-F6EECF244321}">
                <p14:modId xmlns:p14="http://schemas.microsoft.com/office/powerpoint/2010/main" val="2844440663"/>
              </p:ext>
            </p:extLst>
          </p:nvPr>
        </p:nvGraphicFramePr>
        <p:xfrm>
          <a:off x="2128082" y="472267"/>
          <a:ext cx="7288634" cy="2059940"/>
        </p:xfrm>
        <a:graphic>
          <a:graphicData uri="http://schemas.openxmlformats.org/drawingml/2006/table">
            <a:tbl>
              <a:tblPr firstRow="1" firstCol="1" bandRow="1">
                <a:tableStyleId>{A91F0D33-8C57-4600-99A7-42BC86742BE1}</a:tableStyleId>
              </a:tblPr>
              <a:tblGrid>
                <a:gridCol w="4813072">
                  <a:extLst>
                    <a:ext uri="{9D8B030D-6E8A-4147-A177-3AD203B41FA5}">
                      <a16:colId xmlns:a16="http://schemas.microsoft.com/office/drawing/2014/main" val="20000"/>
                    </a:ext>
                  </a:extLst>
                </a:gridCol>
                <a:gridCol w="2475562">
                  <a:extLst>
                    <a:ext uri="{9D8B030D-6E8A-4147-A177-3AD203B41FA5}">
                      <a16:colId xmlns:a16="http://schemas.microsoft.com/office/drawing/2014/main" val="20001"/>
                    </a:ext>
                  </a:extLst>
                </a:gridCol>
              </a:tblGrid>
              <a:tr h="408305">
                <a:tc>
                  <a:txBody>
                    <a:bodyPr/>
                    <a:lstStyle/>
                    <a:p>
                      <a:pPr algn="ctr">
                        <a:spcAft>
                          <a:spcPts val="0"/>
                        </a:spcAft>
                      </a:pPr>
                      <a:r>
                        <a:rPr lang="en-US" sz="2000" b="1" dirty="0">
                          <a:effectLst/>
                          <a:latin typeface="Verdana" pitchFamily="34" charset="0"/>
                          <a:ea typeface="Verdana" pitchFamily="34" charset="0"/>
                        </a:rPr>
                        <a:t>Written Description</a:t>
                      </a:r>
                      <a:endParaRPr lang="en-PH" sz="1400" b="1"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en-US" sz="2000" b="1" dirty="0">
                          <a:effectLst/>
                          <a:latin typeface="Verdana" pitchFamily="34" charset="0"/>
                          <a:ea typeface="Verdana" pitchFamily="34" charset="0"/>
                        </a:rPr>
                        <a:t>Bar Model</a:t>
                      </a:r>
                      <a:endParaRPr lang="en-PH" sz="1400" b="1"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427355">
                <a:tc>
                  <a:txBody>
                    <a:bodyPr/>
                    <a:lstStyle/>
                    <a:p>
                      <a:pPr marL="457200" indent="-457200">
                        <a:spcAft>
                          <a:spcPts val="0"/>
                        </a:spcAft>
                        <a:buFont typeface="+mj-lt"/>
                        <a:buAutoNum type="arabicPeriod"/>
                      </a:pPr>
                      <a:r>
                        <a:rPr lang="en-US" sz="2000" dirty="0">
                          <a:effectLst/>
                          <a:latin typeface="Verdana" pitchFamily="34" charset="0"/>
                          <a:ea typeface="Verdana" pitchFamily="34" charset="0"/>
                        </a:rPr>
                        <a:t>Ten subtracted from a number</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8305">
                <a:tc>
                  <a:txBody>
                    <a:bodyPr/>
                    <a:lstStyle/>
                    <a:p>
                      <a:pPr marL="457200" indent="-457200">
                        <a:spcAft>
                          <a:spcPts val="0"/>
                        </a:spcAft>
                        <a:buFont typeface="+mj-lt"/>
                        <a:buAutoNum type="arabicPeriod" startAt="2"/>
                      </a:pPr>
                      <a:r>
                        <a:rPr lang="en-US" sz="2000" dirty="0">
                          <a:effectLst/>
                          <a:latin typeface="Verdana" pitchFamily="34" charset="0"/>
                          <a:ea typeface="Verdana" pitchFamily="34" charset="0"/>
                        </a:rPr>
                        <a:t>A number divided by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7355">
                <a:tc>
                  <a:txBody>
                    <a:bodyPr/>
                    <a:lstStyle/>
                    <a:p>
                      <a:pPr marL="457200" indent="-457200">
                        <a:spcAft>
                          <a:spcPts val="0"/>
                        </a:spcAft>
                        <a:buFont typeface="+mj-lt"/>
                        <a:buAutoNum type="arabicPeriod" startAt="3"/>
                      </a:pPr>
                      <a:r>
                        <a:rPr lang="en-US" sz="2000" dirty="0">
                          <a:effectLst/>
                          <a:latin typeface="Verdana" pitchFamily="34" charset="0"/>
                          <a:ea typeface="Verdana" pitchFamily="34" charset="0"/>
                        </a:rPr>
                        <a:t>The sum of a number and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pPr marL="457200" indent="-457200">
                        <a:spcAft>
                          <a:spcPts val="0"/>
                        </a:spcAft>
                        <a:buFont typeface="+mj-lt"/>
                        <a:buAutoNum type="arabicPeriod" startAt="4"/>
                      </a:pPr>
                      <a:r>
                        <a:rPr lang="en-US" sz="2000" dirty="0">
                          <a:effectLst/>
                          <a:latin typeface="Verdana" pitchFamily="34" charset="0"/>
                          <a:ea typeface="Verdana" pitchFamily="34" charset="0"/>
                        </a:rPr>
                        <a:t>A number times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331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664088" y="2732327"/>
            <a:ext cx="5967663" cy="3904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20626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82414" y="520394"/>
            <a:ext cx="9853736" cy="1762021"/>
          </a:xfrm>
          <a:prstGeom prst="rect">
            <a:avLst/>
          </a:prstGeom>
          <a:noFill/>
        </p:spPr>
        <p:txBody>
          <a:bodyPr wrap="square" rtlCol="0">
            <a:spAutoFit/>
          </a:bodyPr>
          <a:lstStyle/>
          <a:p>
            <a:pPr>
              <a:spcAft>
                <a:spcPts val="600"/>
              </a:spcAft>
            </a:pPr>
            <a:r>
              <a:rPr lang="en-US" sz="2400" b="1" dirty="0">
                <a:latin typeface="Verdana"/>
                <a:ea typeface="Times New Roman"/>
                <a:cs typeface="Times New Roman"/>
              </a:rPr>
              <a:t>Part 2</a:t>
            </a:r>
            <a:endParaRPr lang="en-PH" sz="2400" dirty="0">
              <a:latin typeface="Cambria"/>
              <a:ea typeface="Times New Roman"/>
              <a:cs typeface="Times New Roman"/>
            </a:endParaRPr>
          </a:p>
          <a:p>
            <a:pPr>
              <a:spcBef>
                <a:spcPts val="900"/>
              </a:spcBef>
            </a:pPr>
            <a:r>
              <a:rPr lang="en-US" sz="2400" dirty="0">
                <a:latin typeface="Verdana"/>
                <a:ea typeface="Times New Roman"/>
                <a:cs typeface="Times New Roman"/>
              </a:rPr>
              <a:t>Turn and talk with your partner to compare your matches. Then, work with your partner to write an algebraic expression that represents the written description and bar model.</a:t>
            </a:r>
            <a:endParaRPr lang="en-PH" sz="2400" dirty="0">
              <a:latin typeface="Verdana" pitchFamily="34" charset="0"/>
              <a:ea typeface="Verdana"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91427510"/>
              </p:ext>
            </p:extLst>
          </p:nvPr>
        </p:nvGraphicFramePr>
        <p:xfrm>
          <a:off x="2153767" y="2867596"/>
          <a:ext cx="7911030" cy="2726690"/>
        </p:xfrm>
        <a:graphic>
          <a:graphicData uri="http://schemas.openxmlformats.org/drawingml/2006/table">
            <a:tbl>
              <a:tblPr firstRow="1" firstCol="1" bandRow="1">
                <a:tableStyleId>{A91F0D33-8C57-4600-99A7-42BC86742BE1}</a:tableStyleId>
              </a:tblPr>
              <a:tblGrid>
                <a:gridCol w="4662504">
                  <a:extLst>
                    <a:ext uri="{9D8B030D-6E8A-4147-A177-3AD203B41FA5}">
                      <a16:colId xmlns:a16="http://schemas.microsoft.com/office/drawing/2014/main" val="20000"/>
                    </a:ext>
                  </a:extLst>
                </a:gridCol>
                <a:gridCol w="3248526">
                  <a:extLst>
                    <a:ext uri="{9D8B030D-6E8A-4147-A177-3AD203B41FA5}">
                      <a16:colId xmlns:a16="http://schemas.microsoft.com/office/drawing/2014/main" val="20001"/>
                    </a:ext>
                  </a:extLst>
                </a:gridCol>
              </a:tblGrid>
              <a:tr h="540385">
                <a:tc>
                  <a:txBody>
                    <a:bodyPr/>
                    <a:lstStyle/>
                    <a:p>
                      <a:pPr algn="ctr">
                        <a:spcAft>
                          <a:spcPts val="0"/>
                        </a:spcAft>
                      </a:pPr>
                      <a:r>
                        <a:rPr lang="en-US" sz="2000" b="1" dirty="0">
                          <a:effectLst/>
                          <a:latin typeface="Verdana" pitchFamily="34" charset="0"/>
                          <a:ea typeface="Verdana" pitchFamily="34" charset="0"/>
                        </a:rPr>
                        <a:t>Written Description</a:t>
                      </a:r>
                      <a:endParaRPr lang="en-PH" sz="1400" b="1"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spcAft>
                          <a:spcPts val="0"/>
                        </a:spcAft>
                      </a:pPr>
                      <a:r>
                        <a:rPr lang="en-US" sz="2000" b="1" dirty="0">
                          <a:effectLst/>
                          <a:latin typeface="Verdana" pitchFamily="34" charset="0"/>
                          <a:ea typeface="Verdana" pitchFamily="34" charset="0"/>
                        </a:rPr>
                        <a:t>Algebraic Expression</a:t>
                      </a:r>
                      <a:endParaRPr lang="en-PH" sz="1400" b="1"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565785">
                <a:tc>
                  <a:txBody>
                    <a:bodyPr/>
                    <a:lstStyle/>
                    <a:p>
                      <a:pPr marL="457200" indent="-457200" algn="l">
                        <a:spcAft>
                          <a:spcPts val="0"/>
                        </a:spcAft>
                        <a:buFont typeface="+mj-lt"/>
                        <a:buAutoNum type="arabicPeriod"/>
                      </a:pPr>
                      <a:r>
                        <a:rPr lang="en-US" sz="2000" dirty="0">
                          <a:effectLst/>
                          <a:latin typeface="Verdana" pitchFamily="34" charset="0"/>
                          <a:ea typeface="Verdana" pitchFamily="34" charset="0"/>
                        </a:rPr>
                        <a:t>Ten subtracted from a number</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0385">
                <a:tc>
                  <a:txBody>
                    <a:bodyPr/>
                    <a:lstStyle/>
                    <a:p>
                      <a:pPr marL="457200" indent="-457200" algn="l">
                        <a:spcAft>
                          <a:spcPts val="0"/>
                        </a:spcAft>
                        <a:buFont typeface="+mj-lt"/>
                        <a:buAutoNum type="arabicPeriod" startAt="2"/>
                      </a:pPr>
                      <a:r>
                        <a:rPr lang="en-US" sz="2000" dirty="0">
                          <a:effectLst/>
                          <a:latin typeface="Verdana" pitchFamily="34" charset="0"/>
                          <a:ea typeface="Verdana" pitchFamily="34" charset="0"/>
                        </a:rPr>
                        <a:t>A number divided by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5785">
                <a:tc>
                  <a:txBody>
                    <a:bodyPr/>
                    <a:lstStyle/>
                    <a:p>
                      <a:pPr marL="457200" indent="-457200" algn="l">
                        <a:spcAft>
                          <a:spcPts val="0"/>
                        </a:spcAft>
                        <a:buFont typeface="+mj-lt"/>
                        <a:buAutoNum type="arabicPeriod" startAt="3"/>
                      </a:pPr>
                      <a:r>
                        <a:rPr lang="en-US" sz="2000" dirty="0">
                          <a:effectLst/>
                          <a:latin typeface="Verdana" pitchFamily="34" charset="0"/>
                          <a:ea typeface="Verdana" pitchFamily="34" charset="0"/>
                        </a:rPr>
                        <a:t>The sum of a number and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4350">
                <a:tc>
                  <a:txBody>
                    <a:bodyPr/>
                    <a:lstStyle/>
                    <a:p>
                      <a:pPr marL="457200" indent="-457200" algn="l">
                        <a:spcAft>
                          <a:spcPts val="0"/>
                        </a:spcAft>
                        <a:buFont typeface="+mj-lt"/>
                        <a:buAutoNum type="arabicPeriod" startAt="4"/>
                      </a:pPr>
                      <a:r>
                        <a:rPr lang="en-US" sz="2000" dirty="0">
                          <a:effectLst/>
                          <a:latin typeface="Verdana" pitchFamily="34" charset="0"/>
                          <a:ea typeface="Verdana" pitchFamily="34" charset="0"/>
                        </a:rPr>
                        <a:t>A number times ten</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rPr>
                        <a:t> </a:t>
                      </a:r>
                      <a:endParaRPr lang="en-PH" sz="1400" dirty="0">
                        <a:effectLst/>
                        <a:latin typeface="Verdana" pitchFamily="34" charset="0"/>
                        <a:ea typeface="Verdana" pitchFamily="34" charset="0"/>
                      </a:endParaRPr>
                    </a:p>
                  </a:txBody>
                  <a:tcPr marL="68580" marR="6858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288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47658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26627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8470" y="60326"/>
            <a:ext cx="875181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13.5.4 Guided Instruction: Writing Algebraic Expressions from Descriptions of Real-World Contexts </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701171" y="18336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448471" y="1386026"/>
                <a:ext cx="9551090" cy="4524315"/>
              </a:xfrm>
              <a:prstGeom prst="rect">
                <a:avLst/>
              </a:prstGeom>
              <a:noFill/>
            </p:spPr>
            <p:txBody>
              <a:bodyPr wrap="square" rtlCol="0">
                <a:spAutoFit/>
              </a:bodyPr>
              <a:lstStyle/>
              <a:p>
                <a:r>
                  <a:rPr lang="en-US" sz="2400" dirty="0">
                    <a:latin typeface="Verdana" pitchFamily="34" charset="0"/>
                    <a:ea typeface="Verdana" pitchFamily="34" charset="0"/>
                    <a:cs typeface="Times New Roman"/>
                  </a:rPr>
                  <a:t>Algebraic expressions can be used to represent real-world situations. </a:t>
                </a:r>
                <a:endParaRPr lang="en-PH" sz="2400" dirty="0">
                  <a:latin typeface="Verdana" pitchFamily="34" charset="0"/>
                  <a:ea typeface="Verdana" pitchFamily="34" charset="0"/>
                  <a:cs typeface="Times New Roman"/>
                </a:endParaRPr>
              </a:p>
              <a:p>
                <a:r>
                  <a:rPr lang="en-US" sz="2400" dirty="0">
                    <a:latin typeface="Verdana" pitchFamily="34" charset="0"/>
                    <a:ea typeface="Verdana" pitchFamily="34" charset="0"/>
                    <a:cs typeface="Times New Roman"/>
                  </a:rPr>
                  <a:t> </a:t>
                </a:r>
                <a:endParaRPr lang="en-PH" sz="2400" dirty="0">
                  <a:latin typeface="Verdana" pitchFamily="34" charset="0"/>
                  <a:ea typeface="Verdana" pitchFamily="34" charset="0"/>
                  <a:cs typeface="Times New Roman"/>
                </a:endParaRPr>
              </a:p>
              <a:p>
                <a:pPr marL="457200" indent="-457200">
                  <a:buFont typeface="+mj-lt"/>
                  <a:buAutoNum type="arabicPeriod"/>
                </a:pPr>
                <a:r>
                  <a:rPr lang="en-US" sz="2400" dirty="0">
                    <a:latin typeface="Verdana" pitchFamily="34" charset="0"/>
                    <a:ea typeface="Verdana" pitchFamily="34" charset="0"/>
                  </a:rPr>
                  <a:t>Misty has </a:t>
                </a:r>
                <a14:m>
                  <m:oMath xmlns:m="http://schemas.openxmlformats.org/officeDocument/2006/math">
                    <m:r>
                      <a:rPr lang="en-US" sz="2400" i="1">
                        <a:latin typeface="Cambria Math"/>
                        <a:ea typeface="Times New Roman"/>
                      </a:rPr>
                      <m:t>34</m:t>
                    </m:r>
                  </m:oMath>
                </a14:m>
                <a:r>
                  <a:rPr lang="en-US" sz="2400" dirty="0">
                    <a:latin typeface="Verdana" pitchFamily="34" charset="0"/>
                    <a:ea typeface="Verdana" pitchFamily="34" charset="0"/>
                  </a:rPr>
                  <a:t> pairs of shoes arranged on a number of shelves. The same number of shoes are on each shelf. She has </a:t>
                </a:r>
                <a14:m>
                  <m:oMath xmlns:m="http://schemas.openxmlformats.org/officeDocument/2006/math">
                    <m:r>
                      <a:rPr lang="en-US" sz="2400" i="1">
                        <a:latin typeface="Cambria Math"/>
                        <a:ea typeface="Times New Roman"/>
                      </a:rPr>
                      <m:t>h</m:t>
                    </m:r>
                  </m:oMath>
                </a14:m>
                <a:r>
                  <a:rPr lang="en-US" sz="2400" dirty="0">
                    <a:latin typeface="Verdana" pitchFamily="34" charset="0"/>
                    <a:ea typeface="Verdana" pitchFamily="34" charset="0"/>
                  </a:rPr>
                  <a:t> number of shelves. </a:t>
                </a:r>
                <a:endParaRPr lang="en-PH" sz="2400" dirty="0">
                  <a:latin typeface="Verdana" pitchFamily="34" charset="0"/>
                  <a:ea typeface="Verdana" pitchFamily="34" charset="0"/>
                  <a:cs typeface="Times New Roman"/>
                </a:endParaRPr>
              </a:p>
              <a:p>
                <a:pPr marL="4572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a:pPr>
                <a:r>
                  <a:rPr lang="en-US" sz="2400" dirty="0">
                    <a:latin typeface="Verdana" pitchFamily="34" charset="0"/>
                    <a:ea typeface="Verdana" pitchFamily="34" charset="0"/>
                    <a:cs typeface="Times New Roman"/>
                  </a:rPr>
                  <a:t>Write an algebraic expression that represents this situation.</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startAt="2"/>
                </a:pPr>
                <a:r>
                  <a:rPr lang="en-US" sz="2400" dirty="0">
                    <a:latin typeface="Verdana" pitchFamily="34" charset="0"/>
                    <a:ea typeface="Verdana" pitchFamily="34" charset="0"/>
                  </a:rPr>
                  <a:t>What does the algebraic expression represent?</a:t>
                </a:r>
                <a:endParaRPr lang="en-PH" sz="2400" dirty="0">
                  <a:latin typeface="Verdana" pitchFamily="34" charset="0"/>
                  <a:ea typeface="Verdana" pitchFamily="34" charset="0"/>
                  <a:cs typeface="Times New Roman"/>
                </a:endParaRPr>
              </a:p>
            </p:txBody>
          </p:sp>
        </mc:Choice>
        <mc:Fallback xmlns="">
          <p:sp>
            <p:nvSpPr>
              <p:cNvPr id="13" name="TextBox 12">
                <a:extLst>
                  <a:ext uri="{FF2B5EF4-FFF2-40B4-BE49-F238E27FC236}">
                    <a16:creationId xmlns="" xmlns:a16="http://schemas.microsoft.com/office/drawing/2014/main"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1448471" y="1386026"/>
                <a:ext cx="9551090" cy="4524315"/>
              </a:xfrm>
              <a:prstGeom prst="rect">
                <a:avLst/>
              </a:prstGeom>
              <a:blipFill rotWithShape="0">
                <a:blip r:embed="rId4"/>
                <a:stretch>
                  <a:fillRect l="-1022" t="-1077" b="-2019"/>
                </a:stretch>
              </a:blipFill>
            </p:spPr>
            <p:txBody>
              <a:bodyPr/>
              <a:lstStyle/>
              <a:p>
                <a:r>
                  <a:rPr lang="en-US">
                    <a:noFill/>
                  </a:rPr>
                  <a:t> </a:t>
                </a:r>
              </a:p>
            </p:txBody>
          </p:sp>
        </mc:Fallback>
      </mc:AlternateContent>
      <p:sp>
        <p:nvSpPr>
          <p:cNvPr id="10"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64040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9352" y="520393"/>
                <a:ext cx="10103962" cy="3785652"/>
              </a:xfrm>
              <a:prstGeom prst="rect">
                <a:avLst/>
              </a:prstGeom>
              <a:noFill/>
            </p:spPr>
            <p:txBody>
              <a:bodyPr wrap="square" rtlCol="0">
                <a:spAutoFit/>
              </a:bodyPr>
              <a:lstStyle/>
              <a:p>
                <a:pPr marL="457200" indent="-457200">
                  <a:buFont typeface="+mj-lt"/>
                  <a:buAutoNum type="arabicPeriod" startAt="2"/>
                </a:pPr>
                <a:r>
                  <a:rPr lang="en-US" sz="2400" dirty="0">
                    <a:latin typeface="Verdana" pitchFamily="34" charset="0"/>
                    <a:ea typeface="Verdana" pitchFamily="34" charset="0"/>
                  </a:rPr>
                  <a:t>Martin buys </a:t>
                </a:r>
                <a14:m>
                  <m:oMath xmlns:m="http://schemas.openxmlformats.org/officeDocument/2006/math">
                    <m:r>
                      <a:rPr lang="en-US" sz="2400" i="1">
                        <a:latin typeface="Cambria Math"/>
                        <a:ea typeface="Times New Roman"/>
                      </a:rPr>
                      <m:t>8</m:t>
                    </m:r>
                  </m:oMath>
                </a14:m>
                <a:r>
                  <a:rPr lang="en-US" sz="2400" dirty="0">
                    <a:latin typeface="Verdana" pitchFamily="34" charset="0"/>
                    <a:ea typeface="Verdana" pitchFamily="34" charset="0"/>
                  </a:rPr>
                  <a:t> pounds of apples at a price per pound to make pie. Each pound costs </a:t>
                </a:r>
                <a14:m>
                  <m:oMath xmlns:m="http://schemas.openxmlformats.org/officeDocument/2006/math">
                    <m:r>
                      <a:rPr lang="en-US" sz="2400" i="1">
                        <a:latin typeface="Cambria Math"/>
                        <a:ea typeface="Times New Roman"/>
                      </a:rPr>
                      <m:t>𝑝</m:t>
                    </m:r>
                  </m:oMath>
                </a14:m>
                <a:r>
                  <a:rPr lang="en-US" sz="2400" dirty="0">
                    <a:latin typeface="Verdana" pitchFamily="34" charset="0"/>
                    <a:ea typeface="Verdana" pitchFamily="34" charset="0"/>
                  </a:rPr>
                  <a:t> dollars. </a:t>
                </a:r>
                <a:endParaRPr lang="en-PH" sz="2400" dirty="0">
                  <a:latin typeface="Verdana" pitchFamily="34" charset="0"/>
                  <a:ea typeface="Verdana" pitchFamily="34" charset="0"/>
                  <a:cs typeface="Times New Roman"/>
                </a:endParaRPr>
              </a:p>
              <a:p>
                <a:pPr marL="4572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a:pPr>
                <a:r>
                  <a:rPr lang="en-US" sz="2400" dirty="0">
                    <a:latin typeface="Verdana" pitchFamily="34" charset="0"/>
                    <a:ea typeface="Verdana" pitchFamily="34" charset="0"/>
                  </a:rPr>
                  <a:t>Write an algebraic expression to represent this situation.</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p>
              <a:p>
                <a:pPr marL="914400"/>
                <a:r>
                  <a:rPr lang="en-US" sz="2400" dirty="0">
                    <a:latin typeface="Verdana" pitchFamily="34" charset="0"/>
                    <a:ea typeface="Verdana" pitchFamily="34" charset="0"/>
                  </a:rPr>
                  <a:t> </a:t>
                </a:r>
              </a:p>
              <a:p>
                <a:pPr marL="914400"/>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startAt="2"/>
                </a:pPr>
                <a:r>
                  <a:rPr lang="en-US" sz="2400" dirty="0">
                    <a:latin typeface="Verdana" pitchFamily="34" charset="0"/>
                    <a:ea typeface="Verdana" pitchFamily="34" charset="0"/>
                  </a:rPr>
                  <a:t>What does the algebraic expression represent?</a:t>
                </a:r>
                <a:endParaRPr lang="en-PH" sz="2400" dirty="0">
                  <a:latin typeface="Verdana" pitchFamily="34" charset="0"/>
                  <a:ea typeface="Verdana" pitchFamily="34" charset="0"/>
                  <a:cs typeface="Times New Roman"/>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1119352" y="520393"/>
                <a:ext cx="10103962" cy="3785652"/>
              </a:xfrm>
              <a:prstGeom prst="rect">
                <a:avLst/>
              </a:prstGeom>
              <a:blipFill rotWithShape="0">
                <a:blip r:embed="rId3"/>
                <a:stretch>
                  <a:fillRect l="-966" t="-1449" r="-1207" b="-2738"/>
                </a:stretch>
              </a:blipFill>
            </p:spPr>
            <p:txBody>
              <a:bodyPr/>
              <a:lstStyle/>
              <a:p>
                <a:r>
                  <a:rPr lang="en-US">
                    <a:noFill/>
                  </a:rPr>
                  <a:t> </a:t>
                </a:r>
              </a:p>
            </p:txBody>
          </p:sp>
        </mc:Fallback>
      </mc:AlternateContent>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01164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67103" y="520393"/>
                <a:ext cx="10608460" cy="3785652"/>
              </a:xfrm>
              <a:prstGeom prst="rect">
                <a:avLst/>
              </a:prstGeom>
              <a:noFill/>
            </p:spPr>
            <p:txBody>
              <a:bodyPr wrap="square" rtlCol="0">
                <a:spAutoFit/>
              </a:bodyPr>
              <a:lstStyle/>
              <a:p>
                <a:pPr marL="457200" indent="-457200">
                  <a:buFont typeface="+mj-lt"/>
                  <a:buAutoNum type="arabicPeriod" startAt="3"/>
                </a:pPr>
                <a:r>
                  <a:rPr lang="en-US" sz="2400" dirty="0">
                    <a:latin typeface="Verdana" pitchFamily="34" charset="0"/>
                    <a:ea typeface="Verdana" pitchFamily="34" charset="0"/>
                  </a:rPr>
                  <a:t>Paige is </a:t>
                </a:r>
                <a14:m>
                  <m:oMath xmlns:m="http://schemas.openxmlformats.org/officeDocument/2006/math">
                    <m:r>
                      <a:rPr lang="en-US" sz="2400" i="1">
                        <a:latin typeface="Cambria Math"/>
                        <a:ea typeface="Times New Roman"/>
                      </a:rPr>
                      <m:t>6</m:t>
                    </m:r>
                  </m:oMath>
                </a14:m>
                <a:r>
                  <a:rPr lang="en-US" sz="2400" dirty="0">
                    <a:latin typeface="Verdana" pitchFamily="34" charset="0"/>
                    <a:ea typeface="Verdana" pitchFamily="34" charset="0"/>
                  </a:rPr>
                  <a:t> inches taller than her brother. Paige’s brother is </a:t>
                </a:r>
                <a14:m>
                  <m:oMath xmlns:m="http://schemas.openxmlformats.org/officeDocument/2006/math">
                    <m:r>
                      <a:rPr lang="en-US" sz="2400" i="1">
                        <a:latin typeface="Cambria Math"/>
                        <a:ea typeface="Times New Roman"/>
                      </a:rPr>
                      <m:t>𝑚</m:t>
                    </m:r>
                  </m:oMath>
                </a14:m>
                <a:r>
                  <a:rPr lang="en-US" sz="2400" dirty="0">
                    <a:latin typeface="Verdana" pitchFamily="34" charset="0"/>
                    <a:ea typeface="Verdana" pitchFamily="34" charset="0"/>
                  </a:rPr>
                  <a:t> inches tall. </a:t>
                </a:r>
                <a:endParaRPr lang="en-PH" sz="2400" dirty="0">
                  <a:latin typeface="Verdana" pitchFamily="34" charset="0"/>
                  <a:ea typeface="Verdana" pitchFamily="34" charset="0"/>
                  <a:cs typeface="Times New Roman"/>
                </a:endParaRPr>
              </a:p>
              <a:p>
                <a:pPr marL="4572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a:pPr>
                <a:r>
                  <a:rPr lang="en-US" sz="2400" dirty="0">
                    <a:latin typeface="Verdana" pitchFamily="34" charset="0"/>
                    <a:ea typeface="Verdana" pitchFamily="34" charset="0"/>
                  </a:rPr>
                  <a:t>Write an algebraic expression to represent this situation.</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a:r>
                  <a:rPr lang="en-US" sz="2400" dirty="0">
                    <a:latin typeface="Verdana" pitchFamily="34" charset="0"/>
                    <a:ea typeface="Verdana" pitchFamily="34" charset="0"/>
                  </a:rPr>
                  <a:t> </a:t>
                </a:r>
                <a:endParaRPr lang="en-PH" sz="2400" dirty="0">
                  <a:latin typeface="Verdana" pitchFamily="34" charset="0"/>
                  <a:ea typeface="Verdana" pitchFamily="34" charset="0"/>
                  <a:cs typeface="Times New Roman"/>
                </a:endParaRPr>
              </a:p>
              <a:p>
                <a:pPr marL="914400" lvl="1" indent="-457200">
                  <a:buFont typeface="+mj-lt"/>
                  <a:buAutoNum type="alphaLcPeriod" startAt="2"/>
                </a:pPr>
                <a:r>
                  <a:rPr lang="en-US" sz="2400" dirty="0">
                    <a:latin typeface="Verdana" pitchFamily="34" charset="0"/>
                    <a:ea typeface="Verdana" pitchFamily="34" charset="0"/>
                  </a:rPr>
                  <a:t>What does the algebraic expression represent?</a:t>
                </a:r>
                <a:endParaRPr lang="en-PH" sz="2400" dirty="0">
                  <a:latin typeface="Verdana" pitchFamily="34" charset="0"/>
                  <a:ea typeface="Verdana" pitchFamily="34" charset="0"/>
                  <a:cs typeface="Times New Roman"/>
                </a:endParaRPr>
              </a:p>
            </p:txBody>
          </p:sp>
        </mc:Choice>
        <mc:Fallback xmlns="">
          <p:sp>
            <p:nvSpPr>
              <p:cNvPr id="14" name="TextBox 13">
                <a:extLst>
                  <a:ext uri="{FF2B5EF4-FFF2-40B4-BE49-F238E27FC236}">
                    <a16:creationId xmlns="" xmlns:a16="http://schemas.microsoft.com/office/drawing/2014/main"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867103" y="520393"/>
                <a:ext cx="10608460" cy="3785652"/>
              </a:xfrm>
              <a:prstGeom prst="rect">
                <a:avLst/>
              </a:prstGeom>
              <a:blipFill rotWithShape="0">
                <a:blip r:embed="rId3"/>
                <a:stretch>
                  <a:fillRect l="-862" t="-1449" b="-2738"/>
                </a:stretch>
              </a:blipFill>
            </p:spPr>
            <p:txBody>
              <a:bodyPr/>
              <a:lstStyle/>
              <a:p>
                <a:r>
                  <a:rPr lang="en-US">
                    <a:noFill/>
                  </a:rPr>
                  <a:t> </a:t>
                </a:r>
              </a:p>
            </p:txBody>
          </p:sp>
        </mc:Fallback>
      </mc:AlternateContent>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77977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89466"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13.5.5 Try It: Writing Algebraic Expressions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5160"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89466" y="1386025"/>
                <a:ext cx="9469100" cy="5016758"/>
              </a:xfrm>
              <a:prstGeom prst="rect">
                <a:avLst/>
              </a:prstGeom>
              <a:noFill/>
            </p:spPr>
            <p:txBody>
              <a:bodyPr wrap="square" rtlCol="0">
                <a:spAutoFit/>
              </a:bodyPr>
              <a:lstStyle/>
              <a:p>
                <a:pPr>
                  <a:spcAft>
                    <a:spcPts val="2400"/>
                  </a:spcAft>
                </a:pPr>
                <a:r>
                  <a:rPr lang="en-US" sz="2000" dirty="0">
                    <a:latin typeface="Verdana" pitchFamily="34" charset="0"/>
                    <a:ea typeface="Verdana" pitchFamily="34" charset="0"/>
                    <a:cs typeface="Times New Roman"/>
                  </a:rPr>
                  <a:t>Write an algebraic expression to represent each situation.</a:t>
                </a:r>
                <a:endParaRPr lang="en-PH" sz="2000" dirty="0">
                  <a:latin typeface="Verdana" pitchFamily="34" charset="0"/>
                  <a:ea typeface="Verdana" pitchFamily="34" charset="0"/>
                  <a:cs typeface="Times New Roman"/>
                </a:endParaRPr>
              </a:p>
              <a:p>
                <a:pPr marL="457200" indent="-457200">
                  <a:buFont typeface="+mj-lt"/>
                  <a:buAutoNum type="arabicPeriod"/>
                </a:pPr>
                <a:r>
                  <a:rPr lang="en-US" sz="2000" dirty="0">
                    <a:latin typeface="Verdana" pitchFamily="34" charset="0"/>
                    <a:ea typeface="Verdana" pitchFamily="34" charset="0"/>
                    <a:cs typeface="Times New Roman"/>
                  </a:rPr>
                  <a:t>Joe is </a:t>
                </a:r>
                <a14:m>
                  <m:oMath xmlns:m="http://schemas.openxmlformats.org/officeDocument/2006/math">
                    <m:r>
                      <a:rPr lang="en-US" sz="2000" i="1">
                        <a:latin typeface="Cambria Math"/>
                        <a:ea typeface="Times New Roman"/>
                        <a:cs typeface="Times New Roman"/>
                      </a:rPr>
                      <m:t>9</m:t>
                    </m:r>
                  </m:oMath>
                </a14:m>
                <a:r>
                  <a:rPr lang="en-US" sz="2000" dirty="0">
                    <a:latin typeface="Verdana" pitchFamily="34" charset="0"/>
                    <a:ea typeface="Verdana" pitchFamily="34" charset="0"/>
                    <a:cs typeface="Times New Roman"/>
                  </a:rPr>
                  <a:t> years younger than Drew, who is </a:t>
                </a:r>
                <a14:m>
                  <m:oMath xmlns:m="http://schemas.openxmlformats.org/officeDocument/2006/math">
                    <m:r>
                      <a:rPr lang="en-US" sz="2000" i="1">
                        <a:latin typeface="Cambria Math"/>
                        <a:ea typeface="Times New Roman"/>
                        <a:cs typeface="Times New Roman"/>
                      </a:rPr>
                      <m:t>𝑛</m:t>
                    </m:r>
                  </m:oMath>
                </a14:m>
                <a:r>
                  <a:rPr lang="en-US" sz="2000" dirty="0">
                    <a:latin typeface="Verdana" pitchFamily="34" charset="0"/>
                    <a:ea typeface="Verdana" pitchFamily="34" charset="0"/>
                    <a:cs typeface="Times New Roman"/>
                  </a:rPr>
                  <a:t> years old.</a:t>
                </a:r>
                <a:br>
                  <a:rPr lang="en-US" sz="2000" dirty="0">
                    <a:latin typeface="Verdana" pitchFamily="34" charset="0"/>
                    <a:ea typeface="Verdana" pitchFamily="34" charset="0"/>
                    <a:cs typeface="Times New Roman"/>
                  </a:rPr>
                </a:br>
                <a:endParaRPr lang="en-US" sz="2000" dirty="0">
                  <a:latin typeface="Verdana" pitchFamily="34" charset="0"/>
                  <a:ea typeface="Verdana" pitchFamily="34" charset="0"/>
                  <a:cs typeface="Times New Roman"/>
                </a:endParaRPr>
              </a:p>
              <a:p>
                <a:pPr marL="457200" indent="-457200">
                  <a:buFont typeface="+mj-lt"/>
                  <a:buAutoNum type="arabicPeriod"/>
                </a:pPr>
                <a:endParaRPr lang="en-US"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r>
                  <a:rPr lang="en-US" sz="2000" dirty="0">
                    <a:latin typeface="Verdana" pitchFamily="34" charset="0"/>
                    <a:ea typeface="Verdana" pitchFamily="34" charset="0"/>
                    <a:cs typeface="Times New Roman"/>
                  </a:rPr>
                  <a:t>Jenna’s salary, </a:t>
                </a:r>
                <a14:m>
                  <m:oMath xmlns:m="http://schemas.openxmlformats.org/officeDocument/2006/math">
                    <m:r>
                      <a:rPr lang="en-US" sz="2000" i="1">
                        <a:latin typeface="Cambria Math"/>
                        <a:ea typeface="Times New Roman"/>
                        <a:cs typeface="Times New Roman"/>
                      </a:rPr>
                      <m:t>𝑠</m:t>
                    </m:r>
                  </m:oMath>
                </a14:m>
                <a:r>
                  <a:rPr lang="en-US" sz="2000" dirty="0">
                    <a:latin typeface="Verdana" pitchFamily="34" charset="0"/>
                    <a:ea typeface="Verdana" pitchFamily="34" charset="0"/>
                    <a:cs typeface="Times New Roman"/>
                  </a:rPr>
                  <a:t>, is lowered by </a:t>
                </a:r>
                <a14:m>
                  <m:oMath xmlns:m="http://schemas.openxmlformats.org/officeDocument/2006/math">
                    <m:r>
                      <a:rPr lang="en-US" sz="2000" i="1">
                        <a:latin typeface="Cambria Math"/>
                        <a:ea typeface="Times New Roman"/>
                        <a:cs typeface="Times New Roman"/>
                      </a:rPr>
                      <m:t>$120.</m:t>
                    </m:r>
                  </m:oMath>
                </a14:m>
                <a:br>
                  <a:rPr lang="en-PH" sz="2000" dirty="0">
                    <a:latin typeface="Verdana" pitchFamily="34" charset="0"/>
                    <a:ea typeface="Verdana" pitchFamily="34" charset="0"/>
                    <a:cs typeface="Times New Roman"/>
                  </a:rPr>
                </a:b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457200" indent="-457200">
                  <a:buFont typeface="+mj-lt"/>
                  <a:buAutoNum type="arabicPeriod"/>
                </a:pPr>
                <a:endParaRPr lang="en-PH" sz="2000" dirty="0">
                  <a:latin typeface="Verdana" pitchFamily="34" charset="0"/>
                  <a:ea typeface="Verdana" pitchFamily="34" charset="0"/>
                  <a:cs typeface="Times New Roman"/>
                </a:endParaRPr>
              </a:p>
              <a:p>
                <a:pPr marL="342900" indent="-342900">
                  <a:buFont typeface="+mj-lt"/>
                  <a:buAutoNum type="arabicPeriod"/>
                </a:pPr>
                <a:r>
                  <a:rPr lang="en-US" sz="2000" dirty="0">
                    <a:latin typeface="Verdana" pitchFamily="34" charset="0"/>
                    <a:ea typeface="Verdana" pitchFamily="34" charset="0"/>
                    <a:cs typeface="Times New Roman"/>
                  </a:rPr>
                  <a:t>Maria has </a:t>
                </a:r>
                <a14:m>
                  <m:oMath xmlns:m="http://schemas.openxmlformats.org/officeDocument/2006/math">
                    <m:r>
                      <a:rPr lang="en-US" sz="2000" i="1">
                        <a:latin typeface="Cambria Math"/>
                        <a:ea typeface="Times New Roman"/>
                        <a:cs typeface="Times New Roman"/>
                      </a:rPr>
                      <m:t>12</m:t>
                    </m:r>
                  </m:oMath>
                </a14:m>
                <a:r>
                  <a:rPr lang="en-US" sz="2000" dirty="0">
                    <a:latin typeface="Verdana" pitchFamily="34" charset="0"/>
                    <a:ea typeface="Verdana" pitchFamily="34" charset="0"/>
                    <a:cs typeface="Times New Roman"/>
                  </a:rPr>
                  <a:t> cupcakes and wants to split them among </a:t>
                </a:r>
                <a:br>
                  <a:rPr lang="en-US" sz="2000" dirty="0">
                    <a:latin typeface="Verdana" pitchFamily="34" charset="0"/>
                    <a:ea typeface="Verdana" pitchFamily="34" charset="0"/>
                    <a:cs typeface="Times New Roman"/>
                  </a:rPr>
                </a:br>
                <a14:m>
                  <m:oMath xmlns:m="http://schemas.openxmlformats.org/officeDocument/2006/math">
                    <m:r>
                      <a:rPr lang="en-US" sz="2000" i="1">
                        <a:latin typeface="Cambria Math"/>
                        <a:ea typeface="Times New Roman"/>
                        <a:cs typeface="Times New Roman"/>
                      </a:rPr>
                      <m:t>𝑓</m:t>
                    </m:r>
                  </m:oMath>
                </a14:m>
                <a:r>
                  <a:rPr lang="en-US" sz="2000" dirty="0">
                    <a:latin typeface="Verdana" pitchFamily="34" charset="0"/>
                    <a:ea typeface="Verdana" pitchFamily="34" charset="0"/>
                    <a:cs typeface="Times New Roman"/>
                  </a:rPr>
                  <a:t> friends. </a:t>
                </a:r>
                <a:br>
                  <a:rPr lang="en-US" sz="2000" dirty="0">
                    <a:latin typeface="Verdana" pitchFamily="34" charset="0"/>
                    <a:ea typeface="Verdana" pitchFamily="34" charset="0"/>
                    <a:cs typeface="Times New Roman"/>
                  </a:rPr>
                </a:br>
                <a:endParaRPr lang="en-US" sz="2000" dirty="0">
                  <a:latin typeface="Verdana" pitchFamily="34" charset="0"/>
                  <a:ea typeface="Verdana" pitchFamily="34" charset="0"/>
                  <a:cs typeface="Times New Roman"/>
                </a:endParaRPr>
              </a:p>
              <a:p>
                <a:pPr marL="342900" indent="-342900">
                  <a:buFont typeface="+mj-lt"/>
                  <a:buAutoNum type="arabicPeriod"/>
                </a:pPr>
                <a:endParaRPr lang="en-US" sz="2000" dirty="0">
                  <a:latin typeface="Verdana" pitchFamily="34" charset="0"/>
                  <a:ea typeface="Verdana" pitchFamily="34" charset="0"/>
                  <a:cs typeface="Times New Roman"/>
                </a:endParaRPr>
              </a:p>
              <a:p>
                <a:pPr marL="342900" indent="-342900">
                  <a:buFont typeface="+mj-lt"/>
                  <a:buAutoNum type="arabicPeriod"/>
                </a:pPr>
                <a:endParaRPr lang="en-PH" sz="2000" dirty="0">
                  <a:latin typeface="Verdana" pitchFamily="34" charset="0"/>
                  <a:ea typeface="Verdana" pitchFamily="34" charset="0"/>
                  <a:cs typeface="Times New Roman"/>
                </a:endParaRPr>
              </a:p>
              <a:p>
                <a:pPr marL="342900" indent="-342900">
                  <a:buFont typeface="+mj-lt"/>
                  <a:buAutoNum type="arabicPeriod"/>
                </a:pPr>
                <a:r>
                  <a:rPr lang="en-US" sz="2000" dirty="0">
                    <a:latin typeface="Verdana" pitchFamily="34" charset="0"/>
                    <a:ea typeface="Verdana" pitchFamily="34" charset="0"/>
                    <a:cs typeface="Times New Roman"/>
                  </a:rPr>
                  <a:t>Target has </a:t>
                </a:r>
                <a14:m>
                  <m:oMath xmlns:m="http://schemas.openxmlformats.org/officeDocument/2006/math">
                    <m:r>
                      <a:rPr lang="en-US" sz="2000" i="1">
                        <a:latin typeface="Cambria Math"/>
                        <a:ea typeface="Times New Roman"/>
                        <a:cs typeface="Times New Roman"/>
                      </a:rPr>
                      <m:t>8</m:t>
                    </m:r>
                  </m:oMath>
                </a14:m>
                <a:r>
                  <a:rPr lang="en-US" sz="2000" dirty="0">
                    <a:latin typeface="Verdana" pitchFamily="34" charset="0"/>
                    <a:ea typeface="Verdana" pitchFamily="34" charset="0"/>
                    <a:cs typeface="Times New Roman"/>
                  </a:rPr>
                  <a:t> cookie packages with </a:t>
                </a:r>
                <a14:m>
                  <m:oMath xmlns:m="http://schemas.openxmlformats.org/officeDocument/2006/math">
                    <m:r>
                      <a:rPr lang="en-US" sz="2000" i="1">
                        <a:latin typeface="Cambria Math"/>
                        <a:ea typeface="Times New Roman"/>
                        <a:cs typeface="Times New Roman"/>
                      </a:rPr>
                      <m:t>𝑐</m:t>
                    </m:r>
                  </m:oMath>
                </a14:m>
                <a:r>
                  <a:rPr lang="en-US" sz="2000" dirty="0">
                    <a:latin typeface="Verdana" pitchFamily="34" charset="0"/>
                    <a:ea typeface="Verdana" pitchFamily="34" charset="0"/>
                    <a:cs typeface="Times New Roman"/>
                  </a:rPr>
                  <a:t> cookies in each.</a:t>
                </a:r>
              </a:p>
            </p:txBody>
          </p:sp>
        </mc:Choice>
        <mc:Fallback xmlns="">
          <p:sp>
            <p:nvSpPr>
              <p:cNvPr id="10" name="TextBox 9">
                <a:extLst>
                  <a:ext uri="{FF2B5EF4-FFF2-40B4-BE49-F238E27FC236}">
                    <a16:creationId xmlns="" xmlns:a16="http://schemas.microsoft.com/office/drawing/2014/main" xmlns:a14="http://schemas.microsoft.com/office/drawing/2010/main" id="{0AB6A3A1-5A0D-C84F-AC89-57E6782F43E5}"/>
                  </a:ext>
                </a:extLst>
              </p:cNvPr>
              <p:cNvSpPr txBox="1">
                <a:spLocks noRot="1" noChangeAspect="1" noMove="1" noResize="1" noEditPoints="1" noAdjustHandles="1" noChangeArrowheads="1" noChangeShapeType="1" noTextEdit="1"/>
              </p:cNvSpPr>
              <p:nvPr/>
            </p:nvSpPr>
            <p:spPr>
              <a:xfrm>
                <a:off x="1489466" y="1386025"/>
                <a:ext cx="9469100" cy="5016758"/>
              </a:xfrm>
              <a:prstGeom prst="rect">
                <a:avLst/>
              </a:prstGeom>
              <a:blipFill rotWithShape="0">
                <a:blip r:embed="rId4"/>
                <a:stretch>
                  <a:fillRect l="-708" t="-608" b="-1337"/>
                </a:stretch>
              </a:blipFill>
            </p:spPr>
            <p:txBody>
              <a:bodyPr/>
              <a:lstStyle/>
              <a:p>
                <a:r>
                  <a:rPr lang="en-US">
                    <a:noFill/>
                  </a:rPr>
                  <a:t> </a:t>
                </a:r>
              </a:p>
            </p:txBody>
          </p:sp>
        </mc:Fallback>
      </mc:AlternateContent>
      <p:sp>
        <p:nvSpPr>
          <p:cNvPr id="12"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290</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290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94930" y="-6620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13.5.6 Wrap-Up: Reflection </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65481" y="16578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30167" y="1386025"/>
            <a:ext cx="9821370" cy="5170646"/>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rPr>
              <a:t>Choose the </a:t>
            </a:r>
            <a:r>
              <a:rPr lang="en-US" sz="2000" dirty="0" err="1">
                <a:latin typeface="Verdana" pitchFamily="34" charset="0"/>
                <a:ea typeface="Verdana" pitchFamily="34" charset="0"/>
              </a:rPr>
              <a:t>emoji</a:t>
            </a:r>
            <a:r>
              <a:rPr lang="en-US" sz="2000" dirty="0">
                <a:latin typeface="Verdana" pitchFamily="34" charset="0"/>
                <a:ea typeface="Verdana" pitchFamily="34" charset="0"/>
              </a:rPr>
              <a:t> that reflects your understanding of translating a written description into an algebraic expression.</a:t>
            </a: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a:spcAft>
                <a:spcPts val="1200"/>
              </a:spcAft>
            </a:pPr>
            <a:endParaRPr lang="en-US" sz="2000" dirty="0">
              <a:latin typeface="Verdana" pitchFamily="34" charset="0"/>
              <a:ea typeface="Verdana" pitchFamily="34" charset="0"/>
            </a:endParaRPr>
          </a:p>
          <a:p>
            <a:pPr marL="457200" indent="-457200">
              <a:spcAft>
                <a:spcPts val="1200"/>
              </a:spcAft>
              <a:buFont typeface="+mj-lt"/>
              <a:buAutoNum type="arabicPeriod" startAt="2"/>
            </a:pPr>
            <a:r>
              <a:rPr lang="en-US" sz="2000" dirty="0">
                <a:latin typeface="Verdana" pitchFamily="34" charset="0"/>
                <a:ea typeface="Verdana" pitchFamily="34" charset="0"/>
              </a:rPr>
              <a:t>Complete the statement.</a:t>
            </a:r>
          </a:p>
          <a:p>
            <a:pPr>
              <a:lnSpc>
                <a:spcPct val="150000"/>
              </a:lnSpc>
            </a:pPr>
            <a:r>
              <a:rPr lang="en-US" sz="2000" dirty="0">
                <a:latin typeface="Verdana" pitchFamily="34" charset="0"/>
                <a:ea typeface="Verdana" pitchFamily="34" charset="0"/>
              </a:rPr>
              <a:t>I chose this </a:t>
            </a:r>
            <a:r>
              <a:rPr lang="en-US" sz="2000" dirty="0" err="1">
                <a:latin typeface="Verdana" pitchFamily="34" charset="0"/>
                <a:ea typeface="Verdana" pitchFamily="34" charset="0"/>
              </a:rPr>
              <a:t>emoji</a:t>
            </a:r>
            <a:r>
              <a:rPr lang="en-US" sz="2000" dirty="0">
                <a:latin typeface="Verdana" pitchFamily="34" charset="0"/>
                <a:ea typeface="Verdana" pitchFamily="34" charset="0"/>
              </a:rPr>
              <a:t> because </a:t>
            </a:r>
            <a:r>
              <a:rPr lang="en-US" sz="2000" u="sng" dirty="0">
                <a:latin typeface="Verdana" pitchFamily="34" charset="0"/>
                <a:ea typeface="Verdana" pitchFamily="34" charset="0"/>
              </a:rPr>
              <a:t>																				</a:t>
            </a:r>
            <a:r>
              <a:rPr lang="en-PH" sz="2000" dirty="0">
                <a:latin typeface="Verdana" pitchFamily="34" charset="0"/>
                <a:ea typeface="Verdana" pitchFamily="34" charset="0"/>
              </a:rPr>
              <a:t>______</a:t>
            </a:r>
          </a:p>
        </p:txBody>
      </p:sp>
      <p:pic>
        <p:nvPicPr>
          <p:cNvPr id="15362" name="Picture 2"/>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19851" y="2458658"/>
            <a:ext cx="6894379" cy="1932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p:cNvSpPr txBox="1"/>
          <p:nvPr/>
        </p:nvSpPr>
        <p:spPr>
          <a:xfrm>
            <a:off x="870211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290</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034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1456</Words>
  <Application>Microsoft Office PowerPoint</Application>
  <PresentationFormat>Widescreen</PresentationFormat>
  <Paragraphs>257</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 Black</vt:lpstr>
      <vt:lpstr>Calibri</vt:lpstr>
      <vt:lpstr>Cambria</vt:lpstr>
      <vt:lpstr>Cambria Math</vt:lpstr>
      <vt:lpstr>Century Gothic</vt:lpstr>
      <vt:lpstr>Courier New</vt:lpstr>
      <vt:lpstr>Verdana</vt:lpstr>
      <vt:lpstr>Wingdings</vt:lpstr>
      <vt:lpstr>1_Office Theme</vt:lpstr>
      <vt:lpstr>6th Grade Accelerated Math  Unit 13, Lesson 5  Writing Algebraic Expressions  Volume 2, pg. 284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Try It</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36</cp:revision>
  <dcterms:created xsi:type="dcterms:W3CDTF">2015-03-17T18:51:18Z</dcterms:created>
  <dcterms:modified xsi:type="dcterms:W3CDTF">2022-07-02T04:25:15Z</dcterms:modified>
</cp:coreProperties>
</file>