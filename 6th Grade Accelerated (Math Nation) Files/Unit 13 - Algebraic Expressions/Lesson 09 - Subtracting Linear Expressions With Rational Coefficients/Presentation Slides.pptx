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66" r:id="rId10"/>
    <p:sldId id="326" r:id="rId11"/>
    <p:sldId id="327" r:id="rId12"/>
    <p:sldId id="358" r:id="rId13"/>
    <p:sldId id="365" r:id="rId14"/>
    <p:sldId id="377" r:id="rId15"/>
    <p:sldId id="289" r:id="rId16"/>
    <p:sldId id="290" r:id="rId17"/>
    <p:sldId id="370" r:id="rId18"/>
    <p:sldId id="356" r:id="rId19"/>
    <p:sldId id="362" r:id="rId20"/>
    <p:sldId id="363" r:id="rId21"/>
    <p:sldId id="376" r:id="rId22"/>
    <p:sldId id="364" r:id="rId23"/>
    <p:sldId id="379" r:id="rId24"/>
    <p:sldId id="380" r:id="rId25"/>
    <p:sldId id="381" r:id="rId26"/>
    <p:sldId id="367" r:id="rId27"/>
    <p:sldId id="382" r:id="rId28"/>
    <p:sldId id="383" r:id="rId29"/>
    <p:sldId id="306" r:id="rId30"/>
    <p:sldId id="307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4487"/>
    <a:srgbClr val="33BEA6"/>
    <a:srgbClr val="3465B0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950"/>
    <p:restoredTop sz="94695"/>
  </p:normalViewPr>
  <p:slideViewPr>
    <p:cSldViewPr snapToGrid="0">
      <p:cViewPr varScale="1">
        <p:scale>
          <a:sx n="79" d="100"/>
          <a:sy n="79" d="100"/>
        </p:scale>
        <p:origin x="25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83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40320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72897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73241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98061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66020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95826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71115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8548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44512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08699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838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84607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0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6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NUL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2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13, Lesson 9</a:t>
            </a: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Subtracting Linear Expressions with Rational Coefficients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307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3A9D4985-AF51-134C-AF8B-C7BA3AC41E7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185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601899" y="15151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399" y="38729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601899" y="1600200"/>
            <a:ext cx="898820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MA.7.AR.1.1</a:t>
            </a:r>
          </a:p>
          <a:p>
            <a:pPr indent="0"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properties of operations to add and subtract linear expressions with rational coefficients. </a:t>
            </a: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1952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846602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999220" y="1596390"/>
            <a:ext cx="878132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481031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249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453549" y="1609531"/>
            <a:ext cx="928490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Wingdings" pitchFamily="2" charset="2"/>
              <a:buChar char="q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subtract linear expressions with rational coefficients.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apply properties of operations to add and subtract linear expressions with rational coefficients.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2286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36840" y="9786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13.9.1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540" y="33964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53081A1-25B1-2A4B-8FF2-3F1C264A000D}"/>
              </a:ext>
            </a:extLst>
          </p:cNvPr>
          <p:cNvSpPr/>
          <p:nvPr/>
        </p:nvSpPr>
        <p:spPr>
          <a:xfrm>
            <a:off x="1427352" y="1523185"/>
            <a:ext cx="959885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Combine like terms.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52C44EF3-0856-4348-B122-484E5949BD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7276443"/>
                  </p:ext>
                </p:extLst>
              </p:nvPr>
            </p:nvGraphicFramePr>
            <p:xfrm>
              <a:off x="1436840" y="2123553"/>
              <a:ext cx="9411844" cy="75628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705922">
                      <a:extLst>
                        <a:ext uri="{9D8B030D-6E8A-4147-A177-3AD203B41FA5}">
                          <a16:colId xmlns:a16="http://schemas.microsoft.com/office/drawing/2014/main" val="1424837750"/>
                        </a:ext>
                      </a:extLst>
                    </a:gridCol>
                    <a:gridCol w="4705922">
                      <a:extLst>
                        <a:ext uri="{9D8B030D-6E8A-4147-A177-3AD203B41FA5}">
                          <a16:colId xmlns:a16="http://schemas.microsoft.com/office/drawing/2014/main" val="4051322210"/>
                        </a:ext>
                      </a:extLst>
                    </a:gridCol>
                  </a:tblGrid>
                  <a:tr h="756285">
                    <a:tc>
                      <a:txBody>
                        <a:bodyPr/>
                        <a:lstStyle/>
                        <a:p>
                          <a:pPr marL="342900" marR="0" lvl="0" indent="-342900" algn="just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/>
                          </a:pPr>
                          <a:r>
                            <a:rPr lang="x-none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x-none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+4.6</m:t>
                                  </m:r>
                                </m:e>
                              </m:d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x-none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−5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−3.25</m:t>
                                  </m:r>
                                </m:e>
                              </m:d>
                            </m:oMath>
                          </a14:m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AutoNum type="arabicPeriod" startAt="2"/>
                          </a:pPr>
                          <a:r>
                            <a:rPr lang="x-none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x-none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f>
                                    <m:fPr>
                                      <m:ctrlPr>
                                        <a:rPr lang="x-none" sz="18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−7</m:t>
                                  </m:r>
                                </m:e>
                              </m:d>
                              <m:r>
                                <a:rPr lang="en-US" sz="1800">
                                  <a:effectLst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x-none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x-none" sz="18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a:rPr lang="en-US" sz="18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+7</m:t>
                                  </m:r>
                                </m:e>
                              </m:d>
                            </m:oMath>
                          </a14:m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60818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2C44EF3-0856-4348-B122-484E5949BD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7276443"/>
                  </p:ext>
                </p:extLst>
              </p:nvPr>
            </p:nvGraphicFramePr>
            <p:xfrm>
              <a:off x="1436840" y="2123553"/>
              <a:ext cx="9411844" cy="75628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470592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424837750"/>
                        </a:ext>
                      </a:extLst>
                    </a:gridCol>
                    <a:gridCol w="470592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4051322210"/>
                        </a:ext>
                      </a:extLst>
                    </a:gridCol>
                  </a:tblGrid>
                  <a:tr h="7562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r="-998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l="-1001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6608183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28415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22178" y="-531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13.9.2 Exploration: Subtracting Expressions with Algebra Tiles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5880" y="242815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1C46F4F-A85A-084E-B29C-01BB2615DE1E}"/>
              </a:ext>
            </a:extLst>
          </p:cNvPr>
          <p:cNvSpPr/>
          <p:nvPr/>
        </p:nvSpPr>
        <p:spPr>
          <a:xfrm>
            <a:off x="1633098" y="1634150"/>
            <a:ext cx="922537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46088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Algebra tile representations are given below. Use the algebra tiles to find the difference.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91B935-C960-F14B-AB60-04C0EDD6D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212234"/>
              </p:ext>
            </p:extLst>
          </p:nvPr>
        </p:nvGraphicFramePr>
        <p:xfrm>
          <a:off x="2587940" y="2424287"/>
          <a:ext cx="7360810" cy="3776313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721644">
                  <a:extLst>
                    <a:ext uri="{9D8B030D-6E8A-4147-A177-3AD203B41FA5}">
                      <a16:colId xmlns:a16="http://schemas.microsoft.com/office/drawing/2014/main" val="80679702"/>
                    </a:ext>
                  </a:extLst>
                </a:gridCol>
                <a:gridCol w="4639166">
                  <a:extLst>
                    <a:ext uri="{9D8B030D-6E8A-4147-A177-3AD203B41FA5}">
                      <a16:colId xmlns:a16="http://schemas.microsoft.com/office/drawing/2014/main" val="3911544987"/>
                    </a:ext>
                  </a:extLst>
                </a:gridCol>
              </a:tblGrid>
              <a:tr h="210589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On the lines, write the algebraic expression for each representation.</a:t>
                      </a:r>
                      <a:endParaRPr lang="x-none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408" marR="5740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408" marR="5740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97386"/>
                  </a:ext>
                </a:extLst>
              </a:tr>
              <a:tr h="167041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Rearrange the tiles to show subtraction of like tiles together. Draw the representation.</a:t>
                      </a:r>
                      <a:endParaRPr lang="x-none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408" marR="5740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57408" marR="5740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065513"/>
                  </a:ext>
                </a:extLst>
              </a:tr>
            </a:tbl>
          </a:graphicData>
        </a:graphic>
      </p:graphicFrame>
      <p:pic>
        <p:nvPicPr>
          <p:cNvPr id="6" name="Picture 5" descr="A picture containing diagram&#10;&#10;Description automatically generated">
            <a:extLst>
              <a:ext uri="{FF2B5EF4-FFF2-40B4-BE49-F238E27FC236}">
                <a16:creationId xmlns:a16="http://schemas.microsoft.com/office/drawing/2014/main" id="{5853B7F0-70DD-E54C-893A-6BECDE030B3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78852" y="2669451"/>
            <a:ext cx="3271796" cy="1799809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FE32931-3E5F-7D45-8F74-3FC4094CCD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808134"/>
              </p:ext>
            </p:extLst>
          </p:nvPr>
        </p:nvGraphicFramePr>
        <p:xfrm>
          <a:off x="2587940" y="747398"/>
          <a:ext cx="7360810" cy="3858565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721644">
                  <a:extLst>
                    <a:ext uri="{9D8B030D-6E8A-4147-A177-3AD203B41FA5}">
                      <a16:colId xmlns:a16="http://schemas.microsoft.com/office/drawing/2014/main" val="3612849055"/>
                    </a:ext>
                  </a:extLst>
                </a:gridCol>
                <a:gridCol w="4639166">
                  <a:extLst>
                    <a:ext uri="{9D8B030D-6E8A-4147-A177-3AD203B41FA5}">
                      <a16:colId xmlns:a16="http://schemas.microsoft.com/office/drawing/2014/main" val="1149402355"/>
                    </a:ext>
                  </a:extLst>
                </a:gridCol>
              </a:tblGrid>
              <a:tr h="169966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If necessary, create any zero pairs needed for subtraction.</a:t>
                      </a:r>
                      <a:endParaRPr lang="x-none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7687295"/>
                  </a:ext>
                </a:extLst>
              </a:tr>
              <a:tr h="215889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Find the difference by subtracting (taking away) like tiles. Write the algebraic representation of the difference.</a:t>
                      </a:r>
                      <a:endParaRPr lang="x-none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12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651555"/>
                  </a:ext>
                </a:extLst>
              </a:tr>
            </a:tbl>
          </a:graphicData>
        </a:graphic>
      </p:graphicFrame>
      <p:sp>
        <p:nvSpPr>
          <p:cNvPr id="6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5538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75808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0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image16.png">
            <a:extLst>
              <a:ext uri="{FF2B5EF4-FFF2-40B4-BE49-F238E27FC236}">
                <a16:creationId xmlns:a16="http://schemas.microsoft.com/office/drawing/2014/main" id="{CD885E35-1273-CA4A-A68F-6D5C809C1353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492434" y="2791963"/>
            <a:ext cx="1152145" cy="115214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2107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635430" y="-2340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13.9.3 Collaboration: Subtracting Expressions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0EEC4E3-DFCF-C94C-B80D-045F3E6BF764}"/>
                  </a:ext>
                </a:extLst>
              </p:cNvPr>
              <p:cNvSpPr/>
              <p:nvPr/>
            </p:nvSpPr>
            <p:spPr>
              <a:xfrm>
                <a:off x="1635431" y="1305035"/>
                <a:ext cx="9203684" cy="2862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Noah, Lin, Jada, and Andre are rewriting the expression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+ 8)−(4−9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as an equivalent expression with fewer terms. Each student described their work.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085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Discuss with your partner which students made an error. Describe each student’s error and correct the error.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15988" indent="-458788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Noah says, “I dropped the parentheses, combined like terms, and ended up with 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−8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+ 4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.” </a:t>
                </a:r>
                <a:endParaRPr lang="en-US" sz="2000" dirty="0"/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EEC4E3-DFCF-C94C-B80D-045F3E6BF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431" y="1305035"/>
                <a:ext cx="9203684" cy="2862322"/>
              </a:xfrm>
              <a:prstGeom prst="rect">
                <a:avLst/>
              </a:prstGeom>
              <a:blipFill rotWithShape="0">
                <a:blip r:embed="rId3"/>
                <a:stretch>
                  <a:fillRect l="-728" t="-13404" r="-530"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age16.png">
            <a:extLst>
              <a:ext uri="{FF2B5EF4-FFF2-40B4-BE49-F238E27FC236}">
                <a16:creationId xmlns:a16="http://schemas.microsoft.com/office/drawing/2014/main" id="{802CA1BC-631B-2C4F-B076-F3E99F9A84C3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8909" y="182007"/>
            <a:ext cx="753082" cy="753082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FCB7D73-5B62-7B47-83C9-C96B5FAB540D}"/>
                  </a:ext>
                </a:extLst>
              </p:cNvPr>
              <p:cNvSpPr txBox="1"/>
              <p:nvPr/>
            </p:nvSpPr>
            <p:spPr>
              <a:xfrm>
                <a:off x="3919124" y="4537303"/>
                <a:ext cx="4636294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x-non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 + 8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−(4−9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x-none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+ 8− 4−9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−8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+ 4</m:t>
                      </m:r>
                    </m:oMath>
                  </m:oMathPara>
                </a14:m>
                <a:endParaRPr lang="x-none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FCB7D73-5B62-7B47-83C9-C96B5FAB5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5124" y="4537302"/>
                <a:ext cx="4636294" cy="1015663"/>
              </a:xfrm>
              <a:prstGeom prst="rect">
                <a:avLst/>
              </a:prstGeom>
              <a:blipFill>
                <a:blip r:embed="rId6"/>
                <a:stretch>
                  <a:fillRect b="-6173"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4029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B50F0A2-AA71-F744-8A32-914ADD8F78F3}"/>
              </a:ext>
            </a:extLst>
          </p:cNvPr>
          <p:cNvGrpSpPr/>
          <p:nvPr/>
        </p:nvGrpSpPr>
        <p:grpSpPr>
          <a:xfrm>
            <a:off x="2558100" y="2622400"/>
            <a:ext cx="7662765" cy="1717351"/>
            <a:chOff x="2031300" y="3373600"/>
            <a:chExt cx="6629400" cy="8128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97EBD9-7A07-BD48-A87B-42FC0C60B5F6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00D7E9-D011-6F4F-93E3-9B17DFC18634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240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 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98B79B3-EB64-EE47-8054-0B4CC74915BE}"/>
                  </a:ext>
                </a:extLst>
              </p:cNvPr>
              <p:cNvSpPr/>
              <p:nvPr/>
            </p:nvSpPr>
            <p:spPr>
              <a:xfrm>
                <a:off x="1244185" y="1041883"/>
                <a:ext cx="9986176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5988" indent="-458788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Lin says, “I simplified inside the parentheses and ended up with 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13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.”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98B79B3-EB64-EE47-8054-0B4CC74915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185" y="1041883"/>
                <a:ext cx="9986176" cy="707886"/>
              </a:xfrm>
              <a:prstGeom prst="rect">
                <a:avLst/>
              </a:prstGeom>
              <a:blipFill rotWithShape="0">
                <a:blip r:embed="rId3"/>
                <a:stretch>
                  <a:fillRect t="-6034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76E591-805C-4E4C-8093-602579BF560C}"/>
                  </a:ext>
                </a:extLst>
              </p:cNvPr>
              <p:cNvSpPr txBox="1"/>
              <p:nvPr/>
            </p:nvSpPr>
            <p:spPr>
              <a:xfrm>
                <a:off x="3777853" y="2383041"/>
                <a:ext cx="4636294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x-non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 + 8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−(4−9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x-none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x-none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8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−(−5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x-none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4572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8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+ 5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13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x-none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D76E591-805C-4E4C-8093-602579BF5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3853" y="2383040"/>
                <a:ext cx="4636294" cy="13234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9150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F1DA885-A8F2-A948-B14C-68E743E59EFC}"/>
                  </a:ext>
                </a:extLst>
              </p:cNvPr>
              <p:cNvSpPr/>
              <p:nvPr/>
            </p:nvSpPr>
            <p:spPr>
              <a:xfrm>
                <a:off x="1424067" y="370257"/>
                <a:ext cx="9262086" cy="59400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5988" indent="-4699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Jada says, “I know that subtracting is adding the opposite, and ended up with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4+10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.”</a:t>
                </a: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+ 8)−(4−9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+8)+(−4+9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+8−4+9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4+10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915988" indent="-458788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Andre says, “I used the distributive property since there is an invisible 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) in front of the second parentheses to distribute, but I ended up with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10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.”</a:t>
                </a: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+ 8)−(4 − 9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+ 8)−1(4 −9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+8−4+9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10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+4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F1DA885-A8F2-A948-B14C-68E743E59E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067" y="370257"/>
                <a:ext cx="9262086" cy="5940088"/>
              </a:xfrm>
              <a:prstGeom prst="rect">
                <a:avLst/>
              </a:prstGeom>
              <a:blipFill rotWithShape="0">
                <a:blip r:embed="rId3"/>
                <a:stretch>
                  <a:fillRect t="-719" r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76323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68311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1DA885-A8F2-A948-B14C-68E743E59EFC}"/>
              </a:ext>
            </a:extLst>
          </p:cNvPr>
          <p:cNvSpPr/>
          <p:nvPr/>
        </p:nvSpPr>
        <p:spPr>
          <a:xfrm>
            <a:off x="1064303" y="370258"/>
            <a:ext cx="998161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When subtracting expressions, use the distributive property to add the opposite. With the algebra tile representations below, model finding the difference by adding the opposite.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8C3894-2E29-6E44-B1AE-2D4890EF36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720850"/>
              </p:ext>
            </p:extLst>
          </p:nvPr>
        </p:nvGraphicFramePr>
        <p:xfrm>
          <a:off x="2792756" y="1973041"/>
          <a:ext cx="6643687" cy="4205288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545357">
                  <a:extLst>
                    <a:ext uri="{9D8B030D-6E8A-4147-A177-3AD203B41FA5}">
                      <a16:colId xmlns:a16="http://schemas.microsoft.com/office/drawing/2014/main" val="699357904"/>
                    </a:ext>
                  </a:extLst>
                </a:gridCol>
                <a:gridCol w="4098330">
                  <a:extLst>
                    <a:ext uri="{9D8B030D-6E8A-4147-A177-3AD203B41FA5}">
                      <a16:colId xmlns:a16="http://schemas.microsoft.com/office/drawing/2014/main" val="3222558256"/>
                    </a:ext>
                  </a:extLst>
                </a:gridCol>
              </a:tblGrid>
              <a:tr h="1483109">
                <a:tc>
                  <a:txBody>
                    <a:bodyPr/>
                    <a:lstStyle/>
                    <a:p>
                      <a:pPr marL="38100" marR="0" indent="-3810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On the lines, write the algebraic expression for each representation.</a:t>
                      </a:r>
                      <a:endParaRPr lang="x-none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2151" marR="4215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2151" marR="421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334998"/>
                  </a:ext>
                </a:extLst>
              </a:tr>
              <a:tr h="16294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Rewrite subtracting to adding the opposite by changing (or flipping) the sign of the 2</a:t>
                      </a:r>
                      <a:r>
                        <a:rPr lang="en-US" sz="1400" baseline="30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nd</a:t>
                      </a:r>
                      <a:r>
                        <a:rPr lang="en-US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expression. Draw the representation.</a:t>
                      </a:r>
                      <a:endParaRPr lang="x-none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2151" marR="4215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79375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2151" marR="421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1690476"/>
                  </a:ext>
                </a:extLst>
              </a:tr>
              <a:tr h="109271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Combine any zero pairs to find the sum. Write the sum.</a:t>
                      </a:r>
                      <a:endParaRPr lang="x-none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2151" marR="42151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2151" marR="4215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067965"/>
                  </a:ext>
                </a:extLst>
              </a:tr>
            </a:tbl>
          </a:graphicData>
        </a:graphic>
      </p:graphicFrame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3DCD041A-5405-BF48-A53D-B2875E4A1AF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4600" y="2077015"/>
            <a:ext cx="2400301" cy="1276371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69148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60168" y="-2037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13.9.4 Guided Instruction: Subtracting Linear Expressions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213" y="17756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65CEBC6-0C26-3645-AB91-CC52DC9589E3}"/>
              </a:ext>
            </a:extLst>
          </p:cNvPr>
          <p:cNvSpPr/>
          <p:nvPr/>
        </p:nvSpPr>
        <p:spPr>
          <a:xfrm>
            <a:off x="1460169" y="1361498"/>
            <a:ext cx="941162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subtract linear expressions,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271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add the ______________, or additive inverse of each term in the expression.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7100" indent="-457200" algn="ctr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271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distribute a __________ to each term in the expression.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A0F8137-E2FE-2946-BD3D-5765F6F402E4}"/>
              </a:ext>
            </a:extLst>
          </p:cNvPr>
          <p:cNvGrpSpPr/>
          <p:nvPr/>
        </p:nvGrpSpPr>
        <p:grpSpPr>
          <a:xfrm>
            <a:off x="2519850" y="2111290"/>
            <a:ext cx="7075130" cy="1062575"/>
            <a:chOff x="2031300" y="3373600"/>
            <a:chExt cx="6629400" cy="8128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E2EA9D6-63D2-E34C-8141-8523D88768A6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651CB98-3830-734D-B491-BDD63EAA8017}"/>
                </a:ext>
              </a:extLst>
            </p:cNvPr>
            <p:cNvSpPr/>
            <p:nvPr/>
          </p:nvSpPr>
          <p:spPr>
            <a:xfrm>
              <a:off x="2031300" y="3373600"/>
              <a:ext cx="6629400" cy="81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</p:grpSp>
      <p:sp>
        <p:nvSpPr>
          <p:cNvPr id="12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8CE891-558F-FB41-8F03-D31983C4CCA2}"/>
              </a:ext>
            </a:extLst>
          </p:cNvPr>
          <p:cNvSpPr/>
          <p:nvPr/>
        </p:nvSpPr>
        <p:spPr>
          <a:xfrm>
            <a:off x="1169234" y="461743"/>
            <a:ext cx="94049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to show both methods.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E145031-BCF5-0F47-95BA-7601767B66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1408885"/>
                  </p:ext>
                </p:extLst>
              </p:nvPr>
            </p:nvGraphicFramePr>
            <p:xfrm>
              <a:off x="2668588" y="1374093"/>
              <a:ext cx="6854825" cy="410146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72180">
                      <a:extLst>
                        <a:ext uri="{9D8B030D-6E8A-4147-A177-3AD203B41FA5}">
                          <a16:colId xmlns:a16="http://schemas.microsoft.com/office/drawing/2014/main" val="2865488618"/>
                        </a:ext>
                      </a:extLst>
                    </a:gridCol>
                    <a:gridCol w="3382645">
                      <a:extLst>
                        <a:ext uri="{9D8B030D-6E8A-4147-A177-3AD203B41FA5}">
                          <a16:colId xmlns:a16="http://schemas.microsoft.com/office/drawing/2014/main" val="206549784"/>
                        </a:ext>
                      </a:extLst>
                    </a:gridCol>
                  </a:tblGrid>
                  <a:tr h="7359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</a:rPr>
                            <a:t>Additive Inverse Method</a:t>
                          </a:r>
                          <a:endParaRPr lang="x-none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</a:rPr>
                            <a:t>Applying the Distributive Property</a:t>
                          </a:r>
                          <a:endParaRPr lang="x-none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9048206"/>
                      </a:ext>
                    </a:extLst>
                  </a:tr>
                  <a:tr h="33655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+ 5</m:t>
                                    </m:r>
                                  </m:e>
                                </m:d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d>
                                  <m:dPr>
                                    <m:ctrlPr>
                                      <a:rPr lang="x-none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+ 6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+ 5</m:t>
                                    </m:r>
                                  </m:e>
                                </m:d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d>
                                  <m:dPr>
                                    <m:ctrlPr>
                                      <a:rPr lang="x-none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+ 6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537799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E145031-BCF5-0F47-95BA-7601767B66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1408885"/>
                  </p:ext>
                </p:extLst>
              </p:nvPr>
            </p:nvGraphicFramePr>
            <p:xfrm>
              <a:off x="1144587" y="1374092"/>
              <a:ext cx="6854825" cy="410146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72180">
                      <a:extLst>
                        <a:ext uri="{9D8B030D-6E8A-4147-A177-3AD203B41FA5}">
                          <a16:colId xmlns:a16="http://schemas.microsoft.com/office/drawing/2014/main" val="2865488618"/>
                        </a:ext>
                      </a:extLst>
                    </a:gridCol>
                    <a:gridCol w="3382645">
                      <a:extLst>
                        <a:ext uri="{9D8B030D-6E8A-4147-A177-3AD203B41FA5}">
                          <a16:colId xmlns:a16="http://schemas.microsoft.com/office/drawing/2014/main" val="206549784"/>
                        </a:ext>
                      </a:extLst>
                    </a:gridCol>
                  </a:tblGrid>
                  <a:tr h="7359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</a:rPr>
                            <a:t>Additive Inverse Method</a:t>
                          </a:r>
                          <a:endParaRPr lang="en-CO" sz="12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</a:rPr>
                            <a:t>Applying the Distributive Property</a:t>
                          </a:r>
                          <a:endParaRPr lang="en-CO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9048206"/>
                      </a:ext>
                    </a:extLst>
                  </a:tr>
                  <a:tr h="3365500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5" t="-22180" r="-97810" b="-3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3383" t="-22180" r="-752" b="-3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37799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9042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4DACC8-9278-5D41-A412-4D85903DDDBA}"/>
              </a:ext>
            </a:extLst>
          </p:cNvPr>
          <p:cNvSpPr/>
          <p:nvPr/>
        </p:nvSpPr>
        <p:spPr>
          <a:xfrm>
            <a:off x="1169234" y="367301"/>
            <a:ext cx="993108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When adding and subtracting, parentheses are used to group expressions. Why is the use of parentheses especially important when subtracting?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61598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image13.png" descr="Icon&#10;&#10;Description automatically generated">
            <a:extLst>
              <a:ext uri="{FF2B5EF4-FFF2-40B4-BE49-F238E27FC236}">
                <a16:creationId xmlns:a16="http://schemas.microsoft.com/office/drawing/2014/main" id="{1BECBB16-451F-2F4D-9548-A8FAD314F90A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937850" y="2857265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60930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36840" y="-3134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4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13.9.5 Guided Practice: Subtracting Linear Expressions with Rational Coefficients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1B67C1-9783-084B-8A75-268E226830AE}"/>
              </a:ext>
            </a:extLst>
          </p:cNvPr>
          <p:cNvSpPr/>
          <p:nvPr/>
        </p:nvSpPr>
        <p:spPr>
          <a:xfrm>
            <a:off x="1436840" y="1278086"/>
            <a:ext cx="96229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</a:rPr>
              <a:t>Find the difference of each expression.</a:t>
            </a:r>
          </a:p>
        </p:txBody>
      </p:sp>
      <p:pic>
        <p:nvPicPr>
          <p:cNvPr id="11" name="image13.png" descr="Icon&#10;&#10;Description automatically generated">
            <a:extLst>
              <a:ext uri="{FF2B5EF4-FFF2-40B4-BE49-F238E27FC236}">
                <a16:creationId xmlns:a16="http://schemas.microsoft.com/office/drawing/2014/main" id="{DE9E9237-23D6-2A45-B62F-E3C07A2F61E2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9540" y="255057"/>
            <a:ext cx="747300" cy="747300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8B08831-AD1F-E84E-B37C-A43243F6F3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2287040"/>
                  </p:ext>
                </p:extLst>
              </p:nvPr>
            </p:nvGraphicFramePr>
            <p:xfrm>
              <a:off x="2519850" y="2085800"/>
              <a:ext cx="7533126" cy="41148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766563">
                      <a:extLst>
                        <a:ext uri="{9D8B030D-6E8A-4147-A177-3AD203B41FA5}">
                          <a16:colId xmlns:a16="http://schemas.microsoft.com/office/drawing/2014/main" val="3239118070"/>
                        </a:ext>
                      </a:extLst>
                    </a:gridCol>
                    <a:gridCol w="3766563">
                      <a:extLst>
                        <a:ext uri="{9D8B030D-6E8A-4147-A177-3AD203B41FA5}">
                          <a16:colId xmlns:a16="http://schemas.microsoft.com/office/drawing/2014/main" val="1516233233"/>
                        </a:ext>
                      </a:extLst>
                    </a:gridCol>
                  </a:tblGrid>
                  <a:tr h="4114800">
                    <a:tc>
                      <a:txBody>
                        <a:bodyPr/>
                        <a:lstStyle/>
                        <a:p>
                          <a:pPr marL="0" marR="0" lvl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a. 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 + 3.5</m:t>
                                  </m:r>
                                </m:e>
                              </m:d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d>
                                <m:d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8.2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 − 6</m:t>
                                  </m:r>
                                </m:e>
                              </m:d>
                            </m:oMath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b. 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f>
                                    <m:fPr>
                                      <m:ctrlPr>
                                        <a:rPr lang="x-none" sz="20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d>
                                <m:d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f>
                                    <m:fPr>
                                      <m:ctrlPr>
                                        <a:rPr lang="x-none" sz="20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0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oMath>
                          </a14:m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50228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775635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8B08831-AD1F-E84E-B37C-A43243F6F30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72287040"/>
                  </p:ext>
                </p:extLst>
              </p:nvPr>
            </p:nvGraphicFramePr>
            <p:xfrm>
              <a:off x="995850" y="2085800"/>
              <a:ext cx="7533126" cy="41148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766563">
                      <a:extLst>
                        <a:ext uri="{9D8B030D-6E8A-4147-A177-3AD203B41FA5}">
                          <a16:colId xmlns:a16="http://schemas.microsoft.com/office/drawing/2014/main" val="3239118070"/>
                        </a:ext>
                      </a:extLst>
                    </a:gridCol>
                    <a:gridCol w="3766563">
                      <a:extLst>
                        <a:ext uri="{9D8B030D-6E8A-4147-A177-3AD203B41FA5}">
                          <a16:colId xmlns:a16="http://schemas.microsoft.com/office/drawing/2014/main" val="1516233233"/>
                        </a:ext>
                      </a:extLst>
                    </a:gridCol>
                  </a:tblGrid>
                  <a:tr h="411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37" t="-2154" r="-100337" b="-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337" t="-2154" r="-337" b="-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75635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8135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93E9CAA-FA97-6445-AF3D-93ECEEB9B5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8637871"/>
                  </p:ext>
                </p:extLst>
              </p:nvPr>
            </p:nvGraphicFramePr>
            <p:xfrm>
              <a:off x="2587448" y="577643"/>
              <a:ext cx="7361302" cy="435133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680651">
                      <a:extLst>
                        <a:ext uri="{9D8B030D-6E8A-4147-A177-3AD203B41FA5}">
                          <a16:colId xmlns:a16="http://schemas.microsoft.com/office/drawing/2014/main" val="2843155356"/>
                        </a:ext>
                      </a:extLst>
                    </a:gridCol>
                    <a:gridCol w="3680651">
                      <a:extLst>
                        <a:ext uri="{9D8B030D-6E8A-4147-A177-3AD203B41FA5}">
                          <a16:colId xmlns:a16="http://schemas.microsoft.com/office/drawing/2014/main" val="502582744"/>
                        </a:ext>
                      </a:extLst>
                    </a:gridCol>
                  </a:tblGrid>
                  <a:tr h="4351338">
                    <a:tc>
                      <a:txBody>
                        <a:bodyPr/>
                        <a:lstStyle/>
                        <a:p>
                          <a:pPr marL="0" marR="0" lvl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16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c. 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x-none" sz="16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>
                                      <a:effectLst/>
                                      <a:latin typeface="Cambria Math" panose="02040503050406030204" pitchFamily="18" charset="0"/>
                                    </a:rPr>
                                    <m:t>−2 + </m:t>
                                  </m:r>
                                  <m:f>
                                    <m:fPr>
                                      <m:ctrlPr>
                                        <a:rPr lang="x-none" sz="16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</m:num>
                                    <m:den>
                                      <m:r>
                                        <a:rPr lang="en-US" sz="16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sz="16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d>
                                <m:dPr>
                                  <m:ctrlPr>
                                    <a:rPr lang="x-none" sz="16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>
                                      <a:effectLst/>
                                      <a:latin typeface="Cambria Math" panose="02040503050406030204" pitchFamily="18" charset="0"/>
                                    </a:rPr>
                                    <m:t>5.3</m:t>
                                  </m:r>
                                  <m:r>
                                    <a:rPr lang="en-US" sz="1600">
                                      <a:effectLst/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1600">
                                      <a:effectLst/>
                                      <a:latin typeface="Cambria Math" panose="02040503050406030204" pitchFamily="18" charset="0"/>
                                    </a:rPr>
                                    <m:t> − 5</m:t>
                                  </m:r>
                                  <m:f>
                                    <m:fPr>
                                      <m:ctrlPr>
                                        <a:rPr lang="x-none" sz="16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16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x-none" sz="1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44831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43" marR="60443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+mj-lt"/>
                            <a:buNone/>
                          </a:pPr>
                          <a:r>
                            <a:rPr lang="en-US" sz="16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d.  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x-none" sz="16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>
                                      <a:effectLst/>
                                      <a:latin typeface="Cambria Math" panose="02040503050406030204" pitchFamily="18" charset="0"/>
                                    </a:rPr>
                                    <m:t>−7.5</m:t>
                                  </m:r>
                                  <m:r>
                                    <a:rPr lang="en-US" sz="1600">
                                      <a:effectLst/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>
                                      <a:effectLst/>
                                      <a:latin typeface="Cambria Math" panose="02040503050406030204" pitchFamily="18" charset="0"/>
                                    </a:rPr>
                                    <m:t> − 3</m:t>
                                  </m:r>
                                </m:e>
                              </m:d>
                              <m:r>
                                <a:rPr lang="en-US" sz="1600">
                                  <a:effectLst/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d>
                                <m:dPr>
                                  <m:ctrlPr>
                                    <a:rPr lang="x-none" sz="16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>
                                      <a:effectLst/>
                                      <a:latin typeface="Cambria Math" panose="02040503050406030204" pitchFamily="18" charset="0"/>
                                    </a:rPr>
                                    <m:t>7 + 3</m:t>
                                  </m:r>
                                  <m:f>
                                    <m:fPr>
                                      <m:ctrlPr>
                                        <a:rPr lang="x-none" sz="16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1600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</m:den>
                                  </m:f>
                                  <m:r>
                                    <a:rPr lang="en-US" sz="1600">
                                      <a:effectLst/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oMath>
                          </a14:m>
                          <a:endParaRPr lang="x-none" sz="1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502285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1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0443" marR="60443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30758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93E9CAA-FA97-6445-AF3D-93ECEEB9B5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8637871"/>
                  </p:ext>
                </p:extLst>
              </p:nvPr>
            </p:nvGraphicFramePr>
            <p:xfrm>
              <a:off x="1063448" y="577643"/>
              <a:ext cx="7361302" cy="435133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680651">
                      <a:extLst>
                        <a:ext uri="{9D8B030D-6E8A-4147-A177-3AD203B41FA5}">
                          <a16:colId xmlns:a16="http://schemas.microsoft.com/office/drawing/2014/main" val="2843155356"/>
                        </a:ext>
                      </a:extLst>
                    </a:gridCol>
                    <a:gridCol w="3680651">
                      <a:extLst>
                        <a:ext uri="{9D8B030D-6E8A-4147-A177-3AD203B41FA5}">
                          <a16:colId xmlns:a16="http://schemas.microsoft.com/office/drawing/2014/main" val="502582744"/>
                        </a:ext>
                      </a:extLst>
                    </a:gridCol>
                  </a:tblGrid>
                  <a:tr h="43513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443" marR="60443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91" r="-100000" b="-2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443" marR="60443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345" t="-291" r="-345" b="-2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07589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786892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DE2D3B7-458B-5D47-96F8-1FBA60174668}"/>
                  </a:ext>
                </a:extLst>
              </p:cNvPr>
              <p:cNvSpPr/>
              <p:nvPr/>
            </p:nvSpPr>
            <p:spPr>
              <a:xfrm>
                <a:off x="2023730" y="526327"/>
                <a:ext cx="8367823" cy="50167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What is the result when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−3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+ 4.48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is subtracted from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−2.2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+ 3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?</a:t>
                </a:r>
              </a:p>
              <a:p>
                <a:pPr marL="349250" indent="-34925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9271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Write the algebraic expression.</a:t>
                </a:r>
              </a:p>
              <a:p>
                <a:pPr marL="927100" indent="-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927100" indent="-457200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927100" indent="-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927100" indent="-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9271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Rewrite the expression without parentheses. </a:t>
                </a:r>
              </a:p>
              <a:p>
                <a:pPr marL="927100" indent="-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927100" indent="-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927100" indent="-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 </a:t>
                </a:r>
              </a:p>
              <a:p>
                <a:pPr marL="927100" indent="-457200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9271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Simplify the expression by rewriting it using the fewest terms possible.</a:t>
                </a:r>
                <a:b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</a:br>
                <a:endPara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DE2D3B7-458B-5D47-96F8-1FBA601746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729" y="526327"/>
                <a:ext cx="8367823" cy="5016758"/>
              </a:xfrm>
              <a:prstGeom prst="rect">
                <a:avLst/>
              </a:prstGeom>
              <a:blipFill>
                <a:blip r:embed="rId4"/>
                <a:stretch>
                  <a:fillRect l="-758" t="-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217734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4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40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image16.png">
            <a:extLst>
              <a:ext uri="{FF2B5EF4-FFF2-40B4-BE49-F238E27FC236}">
                <a16:creationId xmlns:a16="http://schemas.microsoft.com/office/drawing/2014/main" id="{8615DE07-7AF9-984E-B6FA-4A57A0C38C43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630950" y="2820656"/>
            <a:ext cx="1156228" cy="115622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04578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90459" y="4616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13.9.6 Collaboration: Adding and Subtracting Linear Expressions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B1C46F4F-A85A-084E-B29C-01BB2615DE1E}"/>
                  </a:ext>
                </a:extLst>
              </p:cNvPr>
              <p:cNvSpPr/>
              <p:nvPr/>
            </p:nvSpPr>
            <p:spPr>
              <a:xfrm>
                <a:off x="1424066" y="1634150"/>
                <a:ext cx="9173566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699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Two students made errors when rewriting the expression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(6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+9)−(7−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)+(8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+11)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1C46F4F-A85A-084E-B29C-01BB2615DE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066" y="1634150"/>
                <a:ext cx="9173566" cy="707886"/>
              </a:xfrm>
              <a:prstGeom prst="rect">
                <a:avLst/>
              </a:prstGeom>
              <a:blipFill rotWithShape="0">
                <a:blip r:embed="rId3"/>
                <a:stretch>
                  <a:fillRect l="-598" t="-6034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16.png">
            <a:extLst>
              <a:ext uri="{FF2B5EF4-FFF2-40B4-BE49-F238E27FC236}">
                <a16:creationId xmlns:a16="http://schemas.microsoft.com/office/drawing/2014/main" id="{2E8431C1-E1BB-6B40-B0F2-B54C38982AA7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4161" y="294286"/>
            <a:ext cx="752254" cy="752254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46945A0-3055-964B-96C9-41B1A2FA439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67000" y="2758966"/>
              <a:ext cx="6858000" cy="220244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70275">
                      <a:extLst>
                        <a:ext uri="{9D8B030D-6E8A-4147-A177-3AD203B41FA5}">
                          <a16:colId xmlns:a16="http://schemas.microsoft.com/office/drawing/2014/main" val="3512614819"/>
                        </a:ext>
                      </a:extLst>
                    </a:gridCol>
                    <a:gridCol w="3387725">
                      <a:extLst>
                        <a:ext uri="{9D8B030D-6E8A-4147-A177-3AD203B41FA5}">
                          <a16:colId xmlns:a16="http://schemas.microsoft.com/office/drawing/2014/main" val="3683723637"/>
                        </a:ext>
                      </a:extLst>
                    </a:gridCol>
                  </a:tblGrid>
                  <a:tr h="31463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Zoe’s Work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Patricia’s Work</a:t>
                          </a:r>
                          <a:endParaRPr lang="x-none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1442327"/>
                      </a:ext>
                    </a:extLst>
                  </a:tr>
                  <a:tr h="188781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+9</m:t>
                                    </m:r>
                                  </m:e>
                                </m:d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x-none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7−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x-none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+11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+9</m:t>
                                    </m:r>
                                  </m:e>
                                </m:d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x-none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+18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−9</m:t>
                                </m:r>
                              </m:oMath>
                            </m:oMathPara>
                          </a14:m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+9</m:t>
                                    </m:r>
                                  </m:e>
                                </m:d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x-none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7−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x-none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+11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e>
                                </m:d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x-none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+11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+13</m:t>
                                </m:r>
                              </m:oMath>
                            </m:oMathPara>
                          </a14:m>
                          <a:endParaRPr lang="x-none" sz="12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805861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46945A0-3055-964B-96C9-41B1A2FA43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9994346"/>
                  </p:ext>
                </p:extLst>
              </p:nvPr>
            </p:nvGraphicFramePr>
            <p:xfrm>
              <a:off x="1143000" y="2758966"/>
              <a:ext cx="6858000" cy="220244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470275">
                      <a:extLst>
                        <a:ext uri="{9D8B030D-6E8A-4147-A177-3AD203B41FA5}">
                          <a16:colId xmlns:a16="http://schemas.microsoft.com/office/drawing/2014/main" val="3512614819"/>
                        </a:ext>
                      </a:extLst>
                    </a:gridCol>
                    <a:gridCol w="3387725">
                      <a:extLst>
                        <a:ext uri="{9D8B030D-6E8A-4147-A177-3AD203B41FA5}">
                          <a16:colId xmlns:a16="http://schemas.microsoft.com/office/drawing/2014/main" val="3683723637"/>
                        </a:ext>
                      </a:extLst>
                    </a:gridCol>
                  </a:tblGrid>
                  <a:tr h="31463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Zoe’s Work</a:t>
                          </a:r>
                          <a:endParaRPr lang="en-CO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Patricia’s Work</a:t>
                          </a:r>
                          <a:endParaRPr lang="en-CO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1442327"/>
                      </a:ext>
                    </a:extLst>
                  </a:tr>
                  <a:tr h="1887813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66" t="-19463" r="-98535" b="-6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2622" t="-19463" r="-749" b="-6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058619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477947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349115" y="520393"/>
            <a:ext cx="964443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7100" lvl="2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Working with your partner, write an explanation to Zoe that describes her error.</a:t>
            </a:r>
          </a:p>
          <a:p>
            <a:pPr marL="927100" lvl="2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27100" lvl="2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27100" lvl="2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27100" lvl="2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27100" lvl="2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27100" lvl="2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27100" lvl="2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27100" lvl="2" indent="-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27100" lvl="2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an explanation to Patricia that describes her error.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55759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DD30458-F2CD-AA4E-8439-03C4ABDE9142}"/>
                  </a:ext>
                </a:extLst>
              </p:cNvPr>
              <p:cNvSpPr/>
              <p:nvPr/>
            </p:nvSpPr>
            <p:spPr>
              <a:xfrm>
                <a:off x="1304144" y="533212"/>
                <a:ext cx="996717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271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Simplify the expression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(6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+9)−(7−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)+(8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+11)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DD30458-F2CD-AA4E-8439-03C4ABDE91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144" y="533212"/>
                <a:ext cx="9967170" cy="400110"/>
              </a:xfrm>
              <a:prstGeom prst="rect">
                <a:avLst/>
              </a:prstGeom>
              <a:blipFill rotWithShape="0">
                <a:blip r:embed="rId3"/>
                <a:stretch>
                  <a:fillRect t="-909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13439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39642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575470" y="165256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13.9.7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8170" y="16525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530A248-17D8-9B4E-B32E-9F5472BCF227}"/>
                  </a:ext>
                </a:extLst>
              </p:cNvPr>
              <p:cNvSpPr/>
              <p:nvPr/>
            </p:nvSpPr>
            <p:spPr>
              <a:xfrm>
                <a:off x="1810492" y="1073420"/>
                <a:ext cx="8530838" cy="54513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Rewrite each expression by combining like terms.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271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(1 − 4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  − (2.5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+ 7)  − (− 0.3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+ 3)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71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71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71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71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71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(3 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− 4)  + (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− 3.2)  − (−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+ 9)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71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71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71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71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71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271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−(2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𝑟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+ 5)  − (6 − 3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𝑟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  + (10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𝑟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− 4)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530A248-17D8-9B4E-B32E-9F5472BCF2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0492" y="1073420"/>
                <a:ext cx="8530838" cy="5451364"/>
              </a:xfrm>
              <a:prstGeom prst="rect">
                <a:avLst/>
              </a:prstGeom>
              <a:blipFill rotWithShape="0">
                <a:blip r:embed="rId4"/>
                <a:stretch>
                  <a:fillRect l="-786" t="-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48170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638154" y="60326"/>
            <a:ext cx="934963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13.9.8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0942" y="29148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9F7A919-8B1E-2741-BB78-98A66295B9F8}"/>
                  </a:ext>
                </a:extLst>
              </p:cNvPr>
              <p:cNvSpPr/>
              <p:nvPr/>
            </p:nvSpPr>
            <p:spPr>
              <a:xfrm>
                <a:off x="1558242" y="1386026"/>
                <a:ext cx="9634924" cy="34516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Write the following expressions using the fewest possible terms.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(5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−13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)−(4 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−5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(0.7−2.4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)+(−5.32+4 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sz="2000" i="1" dirty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9F7A919-8B1E-2741-BB78-98A66295B9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8242" y="1386026"/>
                <a:ext cx="9634924" cy="3451651"/>
              </a:xfrm>
              <a:prstGeom prst="rect">
                <a:avLst/>
              </a:prstGeom>
              <a:blipFill rotWithShape="0">
                <a:blip r:embed="rId4"/>
                <a:stretch>
                  <a:fillRect l="-696" t="-882" b="-10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1393</TotalTime>
  <Words>1264</Words>
  <Application>Microsoft Office PowerPoint</Application>
  <PresentationFormat>Widescreen</PresentationFormat>
  <Paragraphs>261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</vt:lpstr>
      <vt:lpstr>Arial Black</vt:lpstr>
      <vt:lpstr>Calibri</vt:lpstr>
      <vt:lpstr>Cambria Math</vt:lpstr>
      <vt:lpstr>Century Gothic</vt:lpstr>
      <vt:lpstr>Times New Roman</vt:lpstr>
      <vt:lpstr>Verdana</vt:lpstr>
      <vt:lpstr>Wingdings</vt:lpstr>
      <vt:lpstr>1_Office Theme</vt:lpstr>
      <vt:lpstr>6th Grade Accelerated Math  Unit 13, Lesson 9  Subtracting Linear Expressions with Rational Coefficients  Volume 2, pg. 307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Cassie O'Connor</cp:lastModifiedBy>
  <cp:revision>25</cp:revision>
  <dcterms:created xsi:type="dcterms:W3CDTF">2015-03-17T18:51:18Z</dcterms:created>
  <dcterms:modified xsi:type="dcterms:W3CDTF">2022-07-02T04:29:51Z</dcterms:modified>
</cp:coreProperties>
</file>