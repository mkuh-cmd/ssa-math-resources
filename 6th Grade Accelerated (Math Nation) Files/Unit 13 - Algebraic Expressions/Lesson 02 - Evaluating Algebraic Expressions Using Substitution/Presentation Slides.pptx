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16" r:id="rId10"/>
    <p:sldId id="317" r:id="rId11"/>
    <p:sldId id="318" r:id="rId12"/>
    <p:sldId id="319" r:id="rId13"/>
    <p:sldId id="302" r:id="rId14"/>
    <p:sldId id="303" r:id="rId15"/>
    <p:sldId id="309" r:id="rId16"/>
    <p:sldId id="306" r:id="rId17"/>
    <p:sldId id="30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4487"/>
    <a:srgbClr val="B399C8"/>
    <a:srgbClr val="1F3165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63"/>
    <p:restoredTop sz="94695"/>
  </p:normalViewPr>
  <p:slideViewPr>
    <p:cSldViewPr snapToGrid="0">
      <p:cViewPr varScale="1">
        <p:scale>
          <a:sx n="79" d="100"/>
          <a:sy n="79" d="100"/>
        </p:scale>
        <p:origin x="21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2304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182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755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Evaluating Algebraic Expressions Using Substitution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270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39580" y="0"/>
            <a:ext cx="4094106" cy="6870701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18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54930" y="9498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430" y="33076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78730" y="1600200"/>
            <a:ext cx="92345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MA.6.AR.1.3</a:t>
            </a:r>
            <a:r>
              <a:rPr lang="en-US" sz="3200" i="1" dirty="0">
                <a:latin typeface="Verdana" charset="0"/>
                <a:ea typeface="Verdana" charset="0"/>
                <a:cs typeface="Verdana" charset="0"/>
              </a:rPr>
              <a:t> </a:t>
            </a:r>
          </a:p>
          <a:p>
            <a:pPr marL="473075" indent="0">
              <a:buNone/>
            </a:pP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Evaluate algebraic expressions using substitution and order of operations.</a:t>
            </a:r>
            <a:endParaRPr lang="en-US" sz="32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830" y="3147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708480" y="72126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708480" y="1596390"/>
            <a:ext cx="93628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96089" y="867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927" y="3759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61227" y="1600200"/>
            <a:ext cx="926954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evaluate algebraic expressions using substitution.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2032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7192" y="-31115"/>
            <a:ext cx="96880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13.2.1 Warm-Up: Order Explorer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892" y="20797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68680" y="1386025"/>
                <a:ext cx="10710672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Place a digit in each box to create an expression with the largest possible value. Use any of the digits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once each at most.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your expression?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On a scale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how confident are you that your expression is the largest possible value?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your strategy for choosing and placing the numbers as you did.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1386025"/>
                <a:ext cx="10710672" cy="4708981"/>
              </a:xfrm>
              <a:prstGeom prst="rect">
                <a:avLst/>
              </a:prstGeom>
              <a:blipFill rotWithShape="0">
                <a:blip r:embed="rId4"/>
                <a:stretch>
                  <a:fillRect l="-626" t="-776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9888" y="2473677"/>
            <a:ext cx="4598416" cy="1639599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31130" y="60325"/>
            <a:ext cx="102207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13.2.2 Collaboration: Evaluating Algebraic Expressions by Substituting Integers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132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027018" y="1386025"/>
                <a:ext cx="10393996" cy="71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Brae evaluated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7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+12−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(5−3)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Her work is shown.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8" y="1386025"/>
                <a:ext cx="10393996" cy="714876"/>
              </a:xfrm>
              <a:prstGeom prst="rect">
                <a:avLst/>
              </a:prstGeom>
              <a:blipFill rotWithShape="0">
                <a:blip r:embed="rId4"/>
                <a:stretch>
                  <a:fillRect l="-645" t="-5085" b="-12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584960" y="2388847"/>
            <a:ext cx="9402906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3075" indent="-455613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Evaluate her work and determine where she made mistakes. </a:t>
            </a:r>
          </a:p>
          <a:p>
            <a:pPr marL="342900" indent="-3429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773424" y="3424825"/>
                <a:ext cx="4572000" cy="252376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7</m:t>
                      </m:r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𝑏</m:t>
                      </m:r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+12−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(5−3)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7−2+12−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(5−3)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7−2+12−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(−2)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7−2+12+4</m:t>
                      </m:r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5+12+4</m:t>
                      </m:r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17+4</m:t>
                      </m:r>
                    </m:oMath>
                  </m:oMathPara>
                </a14:m>
                <a:endParaRPr lang="en-US" sz="20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Cambria Math" charset="0"/>
                        <a:cs typeface="Cambria Math" charset="0"/>
                      </a:rPr>
                      <m:t>21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424" y="3424825"/>
                <a:ext cx="4572000" cy="252376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777240" y="410665"/>
            <a:ext cx="10788186" cy="108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8688" indent="-455613">
              <a:lnSpc>
                <a:spcPct val="107000"/>
              </a:lnSpc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Help Brae understand and learn from her mistakes. Write a brief note to Brae explaining what her mistakes were and how she could learn from the mistakes.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4867" y="1697054"/>
            <a:ext cx="5932932" cy="4503546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27612" y="397778"/>
            <a:ext cx="9553864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Read the note your partner wrote and offer suggestions on ways to improve their note.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Using the word bank below, complete the three reminders that could help Brae.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73481" y="2850535"/>
            <a:ext cx="10062124" cy="325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buFont typeface="Symbol" charset="2"/>
              <a:buChar char="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When substituting values into algebraic expressions, it is helpful to put the substituted value(s) in ____________.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>
              <a:lnSpc>
                <a:spcPct val="107000"/>
              </a:lnSpc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lnSpc>
                <a:spcPct val="115000"/>
              </a:lnSpc>
              <a:buFont typeface="Symbol" charset="2"/>
              <a:buChar char="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When evaluating expressions with exponents, if the negative is ____________ the parentheses, the negative indicates subtraction, or the opposite of the value found by raising the value inside to a power. 	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914400">
              <a:lnSpc>
                <a:spcPct val="115000"/>
              </a:lnSpc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lnSpc>
                <a:spcPct val="115000"/>
              </a:lnSpc>
              <a:buFont typeface="Symbol" charset="2"/>
              <a:buChar char="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the negative is ________ the parentheses, it indicates that the number is a negative number being raised to a power.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5349" y="2036929"/>
            <a:ext cx="5229008" cy="826809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912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219201" y="465027"/>
            <a:ext cx="1000726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15000"/>
              </a:lnSpc>
              <a:buFont typeface="+mj-lt"/>
              <a:buAutoNum type="alphaLcPeriod" startAt="5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Verify your answers with your partner and, if necessary, resolve any differences.</a:t>
            </a:r>
            <a:endParaRPr lang="en-US" sz="20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452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158240" y="414650"/>
            <a:ext cx="6342327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following problems.</a:t>
            </a:r>
            <a:endParaRPr lang="en-US" sz="20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636128" y="1062164"/>
                <a:ext cx="9558862" cy="3836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42938" indent="-4540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−8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−4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𝑞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𝑠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=4,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=−3,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=−24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642938" indent="-4540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642938" indent="-4540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−4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=4,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=−3,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=−24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642938" indent="-4540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642938" indent="-4540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=4,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=−3,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=−24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642938" indent="-4540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642938" indent="-4540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All of the expressions should have the same result. Check your work with your partner.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128" y="1062164"/>
                <a:ext cx="9558862" cy="3836307"/>
              </a:xfrm>
              <a:prstGeom prst="rect">
                <a:avLst/>
              </a:prstGeom>
              <a:blipFill rotWithShape="0">
                <a:blip r:embed="rId3"/>
                <a:stretch>
                  <a:fillRect r="-191" b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3707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48208" y="16700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13.2.3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908" y="16700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448208" y="1386026"/>
                <a:ext cx="9551616" cy="27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6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+7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−3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𝑑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sup>
                    </m:sSup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𝑑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 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=−75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−2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+4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7−</m:t>
                            </m:r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𝑐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−5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𝑐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=−9,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=29,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=−17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08" y="1386026"/>
                <a:ext cx="9551616" cy="2715423"/>
              </a:xfrm>
              <a:prstGeom prst="rect">
                <a:avLst/>
              </a:prstGeom>
              <a:blipFill rotWithShape="0">
                <a:blip r:embed="rId4"/>
                <a:stretch>
                  <a:fillRect l="-702" t="-1345" b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911480" y="398473"/>
            <a:ext cx="9348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Evaluate each expression.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63040" y="1010571"/>
                <a:ext cx="8930640" cy="26003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8÷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−16÷(−5+7)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13+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6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=−3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𝑔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−12+(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−7)∙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𝑔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𝑤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𝑡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∙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÷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=−3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𝑡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=7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𝑤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=84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0" y="1010571"/>
                <a:ext cx="8930640" cy="2600327"/>
              </a:xfrm>
              <a:prstGeom prst="rect">
                <a:avLst/>
              </a:prstGeom>
              <a:blipFill rotWithShape="0">
                <a:blip r:embed="rId3"/>
                <a:stretch>
                  <a:fillRect l="-683" t="-1643"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52361" y="-12505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13.2.4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385" y="112299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325880" y="1386025"/>
            <a:ext cx="37825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Color in the arrow up to the statement that best describes your current understanding.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598" y="886022"/>
            <a:ext cx="4599578" cy="5571779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7015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806</Words>
  <Application>Microsoft Office PowerPoint</Application>
  <PresentationFormat>Widescreen</PresentationFormat>
  <Paragraphs>107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Century Gothic</vt:lpstr>
      <vt:lpstr>Symbol</vt:lpstr>
      <vt:lpstr>Verdana</vt:lpstr>
      <vt:lpstr>Wingdings</vt:lpstr>
      <vt:lpstr>1_Office Theme</vt:lpstr>
      <vt:lpstr>6th Grade Accelerated Math  Unit 13, Lesson 2  Evaluating Algebraic Expressions Using Substitution  Volume 2, pg. 270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22</cp:revision>
  <dcterms:created xsi:type="dcterms:W3CDTF">2015-03-17T18:51:18Z</dcterms:created>
  <dcterms:modified xsi:type="dcterms:W3CDTF">2022-07-02T04:20:45Z</dcterms:modified>
</cp:coreProperties>
</file>