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26" r:id="rId9"/>
    <p:sldId id="327" r:id="rId10"/>
    <p:sldId id="348" r:id="rId11"/>
    <p:sldId id="355" r:id="rId12"/>
    <p:sldId id="356" r:id="rId13"/>
    <p:sldId id="289" r:id="rId14"/>
    <p:sldId id="290" r:id="rId15"/>
    <p:sldId id="346" r:id="rId16"/>
    <p:sldId id="357" r:id="rId17"/>
    <p:sldId id="311" r:id="rId18"/>
    <p:sldId id="312" r:id="rId19"/>
    <p:sldId id="343" r:id="rId20"/>
    <p:sldId id="358" r:id="rId21"/>
    <p:sldId id="359" r:id="rId22"/>
    <p:sldId id="360" r:id="rId23"/>
    <p:sldId id="352" r:id="rId24"/>
    <p:sldId id="353" r:id="rId25"/>
    <p:sldId id="354" r:id="rId26"/>
    <p:sldId id="361" r:id="rId27"/>
    <p:sldId id="362" r:id="rId28"/>
    <p:sldId id="323" r:id="rId29"/>
    <p:sldId id="324" r:id="rId30"/>
    <p:sldId id="347" r:id="rId31"/>
    <p:sldId id="302" r:id="rId32"/>
    <p:sldId id="303" r:id="rId33"/>
    <p:sldId id="306" r:id="rId34"/>
    <p:sldId id="307" r:id="rId35"/>
    <p:sldId id="351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1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4487"/>
    <a:srgbClr val="276C46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94"/>
  </p:normalViewPr>
  <p:slideViewPr>
    <p:cSldViewPr snapToGrid="0">
      <p:cViewPr varScale="1">
        <p:scale>
          <a:sx n="109" d="100"/>
          <a:sy n="109" d="100"/>
        </p:scale>
        <p:origin x="216" y="4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61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123613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6104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6104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6104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91899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91899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360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360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360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360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91899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91899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91899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81372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745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hyperlink" Target="http://www.diariodigitalcolombiano.com/primer-hotel-atendido-por-robots/" TargetMode="Externa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150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11" Type="http://schemas.openxmlformats.org/officeDocument/2006/relationships/image" Target="../media/image1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1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8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7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Adding and Subtracting Linear Expressions with Integer Coefficients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294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66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64555" y="9806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055" y="33384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721119" y="1600200"/>
            <a:ext cx="874976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MA.7.AR.1.1</a:t>
            </a: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Apply properties of operations to add and subtract linear expressions with rational coefficients.</a:t>
            </a:r>
            <a:endParaRPr lang="en-US" sz="24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518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742168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742168" y="1596390"/>
            <a:ext cx="92954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634091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929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599229" y="1600200"/>
            <a:ext cx="899354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itchFamily="34" charset="0"/>
                <a:ea typeface="Verdana" pitchFamily="34" charset="0"/>
              </a:rPr>
              <a:t>I can use algebra tiles to add and subtract linear expressions.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452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32733" y="-61930"/>
            <a:ext cx="1034591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13.7.1 Warm-Up: Career in Robotics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434" y="20356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332733" y="1386026"/>
            <a:ext cx="97298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Tessa Lau is the Chief Robot Whisperer for a robotics company. The company creates robot helpers for the service industry. Some of their robots perform tasks like delivering items to guests at a hotel. Tessa has studied applied physics, computer science, artificial intelligence, and human-computer interaction. She loves hands-on experiments, building things, and the speed of creating with computers.</a:t>
            </a:r>
          </a:p>
        </p:txBody>
      </p:sp>
      <p:pic>
        <p:nvPicPr>
          <p:cNvPr id="9" name="Picture 8" descr="Primer Hotel atendido por Robots – Diario Digital Colombiano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371299" y="3807185"/>
            <a:ext cx="3975735" cy="2650490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94611" y="520393"/>
            <a:ext cx="1035344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Through programming and engineering, one of her primary jobs is to look at a robot in context and make sure the robots behave well in human environments.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Have you ever considered a career as an engineer?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 you think a robot could be helpful to you in your everyday life?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Tessa’s advice is “Don’t listen to someone who tells you that you can’t do something.” Describe a time someone told you that you were not able to do something.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92434" y="279196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2229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65161" y="77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13.7.2 Refresher: Adding and Subtracting Integers with Algebra Tiles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5532" y="22088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C51FF2-AD43-3B4B-B9DE-330920D33388}"/>
                  </a:ext>
                </a:extLst>
              </p:cNvPr>
              <p:cNvSpPr txBox="1"/>
              <p:nvPr/>
            </p:nvSpPr>
            <p:spPr>
              <a:xfrm>
                <a:off x="1465161" y="1386026"/>
                <a:ext cx="951771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Algebra tiles, like integer chips, can be used to model adding and subtracting integers. Each small square represents a positive 1 (blue) or a negative 1 (red).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Adding a positive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(blue) and a negative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(red) represents a zero pair because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 +</m:t>
                    </m:r>
                    <m:sPre>
                      <m:sPre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 </m:t>
                        </m:r>
                      </m:sub>
                      <m:sup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1</m:t>
                        </m:r>
                      </m:e>
                    </m:sPre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 = 0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, as shown.</a:t>
                </a: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11430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  <a:ea typeface="Verdana" panose="020B0604030504040204" pitchFamily="34" charset="0"/>
                          <a:cs typeface="Times New Roman"/>
                        </a:rPr>
                        <m:t>=0</m:t>
                      </m:r>
                    </m:oMath>
                  </m:oMathPara>
                </a14:m>
                <a:endParaRPr lang="en-US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DC51FF2-AD43-3B4B-B9DE-330920D33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161" y="1386026"/>
                <a:ext cx="9517710" cy="4401205"/>
              </a:xfrm>
              <a:prstGeom prst="rect">
                <a:avLst/>
              </a:prstGeom>
              <a:blipFill rotWithShape="0">
                <a:blip r:embed="rId4"/>
                <a:stretch>
                  <a:fillRect l="-640" t="-693" r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960809"/>
              </p:ext>
            </p:extLst>
          </p:nvPr>
        </p:nvGraphicFramePr>
        <p:xfrm>
          <a:off x="2836545" y="2683145"/>
          <a:ext cx="6096000" cy="140208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Integer Chips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Algebra Tiles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4997" y="5299252"/>
            <a:ext cx="1076325" cy="5342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4322" y="3306348"/>
            <a:ext cx="579488" cy="5794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275" y="3302110"/>
            <a:ext cx="579488" cy="5804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4051" y="3317190"/>
            <a:ext cx="565475" cy="56864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9370" y="3313337"/>
            <a:ext cx="565475" cy="576351"/>
          </a:xfrm>
          <a:prstGeom prst="rect">
            <a:avLst/>
          </a:prstGeom>
        </p:spPr>
      </p:pic>
      <p:sp>
        <p:nvSpPr>
          <p:cNvPr id="15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331495" y="520394"/>
                <a:ext cx="96796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Describe why this diagram represents the </a:t>
                </a: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value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0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495" y="520394"/>
                <a:ext cx="9679676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945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2562225" y="5667495"/>
            <a:ext cx="7239000" cy="544830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40" rIns="91425" bIns="91440" anchor="ctr" anchorCtr="0">
            <a:spAutoFit/>
          </a:bodyPr>
          <a:lstStyle/>
          <a:p>
            <a:pPr marL="171450"/>
            <a:r>
              <a:rPr lang="en-US" sz="2000" dirty="0">
                <a:solidFill>
                  <a:srgbClr val="6C993D"/>
                </a:solidFill>
                <a:latin typeface="Verdana" pitchFamily="34" charset="0"/>
                <a:ea typeface="Verdana" pitchFamily="34" charset="0"/>
              </a:rPr>
              <a:t>A</a:t>
            </a:r>
            <a:r>
              <a:rPr lang="en-US" sz="2000" b="1" i="1" dirty="0">
                <a:solidFill>
                  <a:srgbClr val="6C993D"/>
                </a:solidFill>
                <a:latin typeface="Verdana" pitchFamily="34" charset="0"/>
                <a:ea typeface="Verdana" pitchFamily="34" charset="0"/>
              </a:rPr>
              <a:t> zero pair</a:t>
            </a:r>
            <a:r>
              <a:rPr lang="en-US" sz="2000" b="1" dirty="0">
                <a:solidFill>
                  <a:srgbClr val="6C993D"/>
                </a:solidFill>
                <a:latin typeface="Verdana" pitchFamily="34" charset="0"/>
                <a:ea typeface="Verdana" pitchFamily="34" charset="0"/>
              </a:rPr>
              <a:t> </a:t>
            </a:r>
            <a:r>
              <a:rPr lang="en-US" sz="2000" dirty="0">
                <a:solidFill>
                  <a:srgbClr val="6C993D"/>
                </a:solidFill>
                <a:latin typeface="Verdana" pitchFamily="34" charset="0"/>
                <a:ea typeface="Verdana" pitchFamily="34" charset="0"/>
              </a:rPr>
              <a:t>is a pair of numbers whose sum is zero.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2226" y="1461211"/>
            <a:ext cx="1506377" cy="2253540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8389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06905" y="520394"/>
            <a:ext cx="10128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following problems.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8284473"/>
                  </p:ext>
                </p:extLst>
              </p:nvPr>
            </p:nvGraphicFramePr>
            <p:xfrm>
              <a:off x="3033395" y="1900079"/>
              <a:ext cx="6734810" cy="399288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719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045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106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Numeric</a:t>
                          </a: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Expression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Algebra Tiles Representation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Value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−7 + 2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6−8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−1−5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4−(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itchFamily="18" charset="0"/>
                                        <a:ea typeface="Cambria Math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itchFamily="18" charset="0"/>
                                        <a:ea typeface="Cambria Math" pitchFamily="18" charset="0"/>
                                      </a:rPr>
                                      <m:t>3)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8284473"/>
                  </p:ext>
                </p:extLst>
              </p:nvPr>
            </p:nvGraphicFramePr>
            <p:xfrm>
              <a:off x="1509395" y="1900079"/>
              <a:ext cx="6734810" cy="399288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719580"/>
                    <a:gridCol w="3304540"/>
                    <a:gridCol w="1710690"/>
                  </a:tblGrid>
                  <a:tr h="7010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Numeric</a:t>
                          </a: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Expression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Algebra Tiles Representation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Value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5" t="-88889" r="-29184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5" t="-188889" r="-29184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5" t="-288889" r="-29184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5" t="-388889" r="-2918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itchFamily="18" charset="0"/>
                              <a:ea typeface="Cambria Math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413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14400" y="520393"/>
            <a:ext cx="1051386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some of the representations with algebra tiles, zero pairs had to be added to the representation. Put an asterisk (*) next to the expressions where this was the case.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why zero pairs had to be added to the representation in these cases.</a:t>
            </a: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9341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95495" y="-5333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13.7.3 Guided Instruction: Algebra Vocabulary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443" y="16813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090863" y="1386026"/>
                <a:ext cx="10266306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There are some fundamental definitions that are necessary to know for working with algebraic expressions.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0.5−4</m:t>
                    </m:r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has two terms.</a:t>
                </a: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One of the terms in this expression is a constant term.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863" y="1386026"/>
                <a:ext cx="10266306" cy="4708981"/>
              </a:xfrm>
              <a:prstGeom prst="rect">
                <a:avLst/>
              </a:prstGeom>
              <a:blipFill rotWithShape="0">
                <a:blip r:embed="rId4"/>
                <a:stretch>
                  <a:fillRect l="-653" t="-647" b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2060448" y="2392517"/>
            <a:ext cx="7167450" cy="1123667"/>
            <a:chOff x="2031300" y="3349610"/>
            <a:chExt cx="6629400" cy="11237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Rectangle 9"/>
            <p:cNvSpPr/>
            <p:nvPr/>
          </p:nvSpPr>
          <p:spPr>
            <a:xfrm>
              <a:off x="2031300" y="3595336"/>
              <a:ext cx="6629400" cy="369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spAutoFit/>
            </a:bodyPr>
            <a:lstStyle/>
            <a:p>
              <a:r>
                <a:rPr lang="en-US" sz="1200">
                  <a:latin typeface="Times New Roman"/>
                  <a:ea typeface="Times New Roman"/>
                </a:rPr>
                <a:t> </a:t>
              </a: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2031300" y="3349610"/>
              <a:ext cx="6629400" cy="1123744"/>
              <a:chOff x="0" y="-23990"/>
              <a:chExt cx="6629400" cy="1123744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0" y="221736"/>
                <a:ext cx="6629400" cy="369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spAutoFit/>
              </a:bodyPr>
              <a:lstStyle/>
              <a:p>
                <a:r>
                  <a:rPr lang="en-US" sz="1200">
                    <a:latin typeface="Times New Roman"/>
                    <a:ea typeface="Times New Roman"/>
                  </a:rPr>
                  <a:t> 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ounded Rectangle 14"/>
                  <p:cNvSpPr/>
                  <p:nvPr/>
                </p:nvSpPr>
                <p:spPr>
                  <a:xfrm>
                    <a:off x="0" y="-23990"/>
                    <a:ext cx="6629400" cy="1123744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spAutoFit/>
                  </a:bodyPr>
                  <a:lstStyle/>
                  <a:p>
                    <a:pPr marL="228600"/>
                    <a:r>
                      <a:rPr lang="en-US" sz="2000" dirty="0">
                        <a:solidFill>
                          <a:srgbClr val="6C993D"/>
                        </a:solidFill>
                        <a:latin typeface="Verdana"/>
                        <a:ea typeface="Times New Roman"/>
                      </a:rPr>
                      <a:t>A</a:t>
                    </a:r>
                    <a:r>
                      <a:rPr lang="en-US" sz="2000" b="1" i="1" dirty="0">
                        <a:solidFill>
                          <a:srgbClr val="6C993D"/>
                        </a:solidFill>
                        <a:latin typeface="Verdana"/>
                        <a:ea typeface="Times New Roman"/>
                      </a:rPr>
                      <a:t> term</a:t>
                    </a:r>
                    <a:r>
                      <a:rPr lang="en-US" sz="2000" b="1" dirty="0">
                        <a:solidFill>
                          <a:srgbClr val="6C993D"/>
                        </a:solidFill>
                        <a:latin typeface="Verdana"/>
                        <a:ea typeface="Times New Roman"/>
                      </a:rPr>
                      <a:t> </a:t>
                    </a:r>
                    <a:r>
                      <a:rPr lang="en-US" sz="2000" dirty="0">
                        <a:solidFill>
                          <a:srgbClr val="6C993D"/>
                        </a:solidFill>
                        <a:latin typeface="Verdana"/>
                        <a:ea typeface="Times New Roman"/>
                      </a:rPr>
                      <a:t>is a single number or variable, or numbers and variables multiplied together. For example, the expression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/>
                            <a:ea typeface="Times New Roman"/>
                          </a:rPr>
                          <m:t>0.5−4</m:t>
                        </m:r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/>
                            <a:ea typeface="Times New Roman"/>
                          </a:rPr>
                          <m:t>𝑦</m:t>
                        </m:r>
                      </m:oMath>
                    </a14:m>
                    <a:r>
                      <a:rPr lang="en-US" sz="2000" dirty="0">
                        <a:solidFill>
                          <a:srgbClr val="6C993D"/>
                        </a:solidFill>
                        <a:latin typeface="Verdana"/>
                        <a:ea typeface="Times New Roman"/>
                      </a:rPr>
                      <a:t> has two terms.</a:t>
                    </a:r>
                    <a:r>
                      <a:rPr lang="en-US" sz="2000" dirty="0">
                        <a:solidFill>
                          <a:srgbClr val="6C993D"/>
                        </a:solidFill>
                        <a:latin typeface="Times New Roman"/>
                        <a:ea typeface="Times New Roman"/>
                      </a:rPr>
                      <a:t> </a:t>
                    </a:r>
                    <a:endParaRPr lang="en-US" sz="2000" dirty="0">
                      <a:latin typeface="Times New Roman"/>
                      <a:ea typeface="Times New Roman"/>
                    </a:endParaRPr>
                  </a:p>
                </p:txBody>
              </p:sp>
            </mc:Choice>
            <mc:Fallback xmlns="">
              <p:sp>
                <p:nvSpPr>
                  <p:cNvPr id="15" name="Rounded Rectangle 1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-23990"/>
                    <a:ext cx="6629400" cy="1123744"/>
                  </a:xfrm>
                  <a:prstGeom prst="roundRect">
                    <a:avLst>
                      <a:gd name="adj" fmla="val 16667"/>
                    </a:avLst>
                  </a:prstGeom>
                  <a:blipFill rotWithShape="1">
                    <a:blip r:embed="rId6"/>
                    <a:stretch>
                      <a:fillRect r="-340" b="-3784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5269311"/>
                  </p:ext>
                </p:extLst>
              </p:nvPr>
            </p:nvGraphicFramePr>
            <p:xfrm>
              <a:off x="4527450" y="4483100"/>
              <a:ext cx="2609850" cy="7924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3620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477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−4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term 1</a:t>
                          </a: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term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5269311"/>
                  </p:ext>
                </p:extLst>
              </p:nvPr>
            </p:nvGraphicFramePr>
            <p:xfrm>
              <a:off x="3003450" y="4483100"/>
              <a:ext cx="2609850" cy="7924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362075"/>
                    <a:gridCol w="1247775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7"/>
                          <a:stretch>
                            <a:fillRect l="-448" r="-91928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7"/>
                          <a:stretch>
                            <a:fillRect l="-109268" b="-127692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latin typeface="Verdana" pitchFamily="34" charset="0"/>
                              <a:ea typeface="Verdana" pitchFamily="34" charset="0"/>
                            </a:rPr>
                            <a:t>term 1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 smtClean="0">
                              <a:latin typeface="Verdana" pitchFamily="34" charset="0"/>
                              <a:ea typeface="Verdana" pitchFamily="34" charset="0"/>
                            </a:rPr>
                            <a:t>term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7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74821" y="520394"/>
                <a:ext cx="1019302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term is the constant term? Explain.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For example,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4 + 5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3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𝑥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−2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6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𝑥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−7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𝑦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+11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are all expressions.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821" y="520394"/>
                <a:ext cx="10193024" cy="5632311"/>
              </a:xfrm>
              <a:prstGeom prst="rect">
                <a:avLst/>
              </a:prstGeom>
              <a:blipFill rotWithShape="0">
                <a:blip r:embed="rId3"/>
                <a:stretch>
                  <a:fillRect l="-897" t="-866" b="-10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2007766" y="3849432"/>
            <a:ext cx="8164935" cy="1464186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628650"/>
            <a:r>
              <a:rPr lang="en-US" sz="2000" dirty="0">
                <a:solidFill>
                  <a:srgbClr val="6C993D"/>
                </a:solidFill>
                <a:latin typeface="Verdana"/>
                <a:ea typeface="Times New Roman"/>
              </a:rPr>
              <a:t>An</a:t>
            </a:r>
            <a:r>
              <a:rPr lang="en-US" sz="2000" b="1" i="1" dirty="0">
                <a:solidFill>
                  <a:srgbClr val="6C993D"/>
                </a:solidFill>
                <a:latin typeface="Verdana"/>
                <a:ea typeface="Times New Roman"/>
              </a:rPr>
              <a:t> expression</a:t>
            </a:r>
            <a:r>
              <a:rPr lang="en-US" sz="2000" b="1" dirty="0">
                <a:solidFill>
                  <a:srgbClr val="6C993D"/>
                </a:solidFill>
                <a:latin typeface="Verdana"/>
                <a:ea typeface="Times New Roman"/>
              </a:rPr>
              <a:t> 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Times New Roman"/>
              </a:rPr>
              <a:t>is a mathematical statement containing numerals, operators, grouping symbols, and symbols or variables for unknown values. An expression does not contain an equal sign or inequality symbol.</a:t>
            </a:r>
            <a:endParaRPr lang="en-US" sz="2000" dirty="0">
              <a:latin typeface="Times New Roman"/>
              <a:ea typeface="Times New Roman"/>
            </a:endParaRPr>
          </a:p>
        </p:txBody>
      </p:sp>
      <p:pic>
        <p:nvPicPr>
          <p:cNvPr id="8" name="Shape 7" descr="Icon&#10;&#10;Description automatically generated"/>
          <p:cNvPicPr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8258" y="3997644"/>
            <a:ext cx="539115" cy="5391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4994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82316" y="520394"/>
                <a:ext cx="10425358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dirty="0">
                  <a:latin typeface="Verdana"/>
                  <a:ea typeface="Times New Roman"/>
                </a:endParaRPr>
              </a:p>
              <a:p>
                <a:endParaRPr lang="en-US" sz="2400" dirty="0">
                  <a:latin typeface="Verdana"/>
                  <a:ea typeface="Times New Roman"/>
                </a:endParaRPr>
              </a:p>
              <a:p>
                <a:endParaRPr lang="en-US" sz="2400" dirty="0">
                  <a:latin typeface="Verdana"/>
                  <a:ea typeface="Times New Roman"/>
                </a:endParaRPr>
              </a:p>
              <a:p>
                <a:endParaRPr lang="en-US" sz="2400" dirty="0">
                  <a:latin typeface="Verdana"/>
                  <a:ea typeface="Times New Roman"/>
                </a:endParaRPr>
              </a:p>
              <a:p>
                <a:endParaRPr lang="en-US" sz="2400" dirty="0">
                  <a:latin typeface="Verdana"/>
                  <a:ea typeface="Times New Roman"/>
                </a:endParaRPr>
              </a:p>
              <a:p>
                <a:r>
                  <a:rPr lang="en-US" sz="2400" dirty="0">
                    <a:latin typeface="Verdana"/>
                    <a:ea typeface="Times New Roman"/>
                  </a:rPr>
                  <a:t>In the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</a:rPr>
                      <m:t>4</m:t>
                    </m:r>
                    <m:r>
                      <a:rPr lang="en-US" sz="2400" i="1">
                        <a:latin typeface="Cambria Math"/>
                        <a:ea typeface="Times New Roman"/>
                        <a:cs typeface="Cambria Math"/>
                      </a:rPr>
                      <m:t>𝑥𝑦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</a:rPr>
                      <m:t>4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</a:rPr>
                  <a:t> is the coefficient.</a:t>
                </a:r>
              </a:p>
              <a:p>
                <a:endParaRPr lang="en-US" sz="2400" dirty="0">
                  <a:latin typeface="Verdana"/>
                  <a:ea typeface="Times New Roman"/>
                </a:endParaRPr>
              </a:p>
              <a:p>
                <a:r>
                  <a:rPr lang="en-US" sz="2400" dirty="0">
                    <a:latin typeface="Verdana"/>
                    <a:ea typeface="Times New Roman"/>
                  </a:rPr>
                  <a:t>In the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</a:rPr>
                      <m:t>1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</a:rPr>
                  <a:t> is the coefficient.</a:t>
                </a:r>
              </a:p>
              <a:p>
                <a:endParaRPr lang="en-US" sz="2400" dirty="0">
                  <a:latin typeface="Verdana"/>
                  <a:ea typeface="Times New Roman"/>
                </a:endParaRPr>
              </a:p>
              <a:p>
                <a:r>
                  <a:rPr lang="en-US" sz="2400" dirty="0">
                    <a:latin typeface="Verdana"/>
                    <a:ea typeface="Times New Roman"/>
                  </a:rPr>
                  <a:t>In the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</a:rPr>
                      <m:t>−8</m:t>
                    </m:r>
                    <m:r>
                      <a:rPr lang="en-US" sz="2400" i="1">
                        <a:latin typeface="Cambria Math"/>
                        <a:ea typeface="Times New Roman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</a:rPr>
                      <m:t>−8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</a:rPr>
                  <a:t> is the coefficient.</a:t>
                </a:r>
              </a:p>
              <a:p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Variable terms have coefficients while constant terms do not.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316" y="520394"/>
                <a:ext cx="10425358" cy="4524315"/>
              </a:xfrm>
              <a:prstGeom prst="rect">
                <a:avLst/>
              </a:prstGeom>
              <a:blipFill rotWithShape="0">
                <a:blip r:embed="rId3"/>
                <a:stretch>
                  <a:fillRect l="-936" b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2007765" y="520394"/>
            <a:ext cx="8174461" cy="1123667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628650"/>
            <a:r>
              <a:rPr lang="en-US" sz="2000" dirty="0">
                <a:solidFill>
                  <a:srgbClr val="6C993D"/>
                </a:solidFill>
                <a:latin typeface="Verdana"/>
                <a:ea typeface="Times New Roman"/>
              </a:rPr>
              <a:t>A </a:t>
            </a:r>
            <a:r>
              <a:rPr lang="en-US" sz="2000" b="1" i="1" dirty="0">
                <a:solidFill>
                  <a:srgbClr val="6C993D"/>
                </a:solidFill>
                <a:latin typeface="Verdana"/>
                <a:ea typeface="Times New Roman"/>
              </a:rPr>
              <a:t>coefficient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Times New Roman"/>
              </a:rPr>
              <a:t> is the number or constant that multiplies a variable in an algebraic expression. If no number is specified, the coefficient is 1.</a:t>
            </a:r>
          </a:p>
        </p:txBody>
      </p:sp>
      <p:pic>
        <p:nvPicPr>
          <p:cNvPr id="8" name="Shape 7" descr="Icon&#10;&#10;Description automatically generated"/>
          <p:cNvPicPr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8258" y="641220"/>
            <a:ext cx="539115" cy="5391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2422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3799" y="7358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72392" y="9411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13.7.4 Exploration: What are Like Terms?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863" y="342236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1472392" y="1386025"/>
            <a:ext cx="9503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Here is a collection of algebra tiles.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8317" y="3049926"/>
            <a:ext cx="526807" cy="527658"/>
          </a:xfrm>
          <a:prstGeom prst="rect">
            <a:avLst/>
          </a:prstGeom>
        </p:spPr>
      </p:pic>
      <p:grpSp>
        <p:nvGrpSpPr>
          <p:cNvPr id="21" name="Group 20"/>
          <p:cNvGrpSpPr/>
          <p:nvPr/>
        </p:nvGrpSpPr>
        <p:grpSpPr>
          <a:xfrm>
            <a:off x="6794258" y="3554815"/>
            <a:ext cx="1072668" cy="1072669"/>
            <a:chOff x="5403608" y="3840564"/>
            <a:chExt cx="1072668" cy="1072669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03608" y="3840565"/>
              <a:ext cx="526809" cy="526809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03608" y="4386424"/>
              <a:ext cx="526809" cy="526809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49467" y="3840564"/>
              <a:ext cx="526809" cy="526809"/>
            </a:xfrm>
            <a:prstGeom prst="rect">
              <a:avLst/>
            </a:prstGeom>
          </p:spPr>
        </p:pic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7567" y="2416063"/>
            <a:ext cx="1062991" cy="52765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1342" y="2416063"/>
            <a:ext cx="496070" cy="149704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2480" y="1816713"/>
            <a:ext cx="496070" cy="149704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8432" y="4367375"/>
            <a:ext cx="496874" cy="149784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4793" y="4367374"/>
            <a:ext cx="496874" cy="149784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9659" y="4010710"/>
            <a:ext cx="526809" cy="5268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95376" y="1954158"/>
            <a:ext cx="546561" cy="1095769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4969807" y="4526134"/>
            <a:ext cx="1611867" cy="2107777"/>
            <a:chOff x="3445806" y="4526133"/>
            <a:chExt cx="1611867" cy="2107777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45806" y="5136868"/>
              <a:ext cx="496070" cy="1497042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61603" y="4526133"/>
              <a:ext cx="496070" cy="1497042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81770" y="5136868"/>
              <a:ext cx="546561" cy="1097535"/>
            </a:xfrm>
            <a:prstGeom prst="rect">
              <a:avLst/>
            </a:prstGeom>
          </p:spPr>
        </p:pic>
      </p:grpSp>
      <p:grpSp>
        <p:nvGrpSpPr>
          <p:cNvPr id="30" name="Group 29"/>
          <p:cNvGrpSpPr/>
          <p:nvPr/>
        </p:nvGrpSpPr>
        <p:grpSpPr>
          <a:xfrm>
            <a:off x="7668319" y="3391969"/>
            <a:ext cx="1665661" cy="2222998"/>
            <a:chOff x="6372918" y="3725344"/>
            <a:chExt cx="1665661" cy="2222998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72918" y="4451300"/>
              <a:ext cx="496070" cy="1497042"/>
            </a:xfrm>
            <a:prstGeom prst="rect">
              <a:avLst/>
            </a:prstGeom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08881" y="3725345"/>
              <a:ext cx="546561" cy="1097535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92018" y="3725344"/>
              <a:ext cx="546561" cy="1097535"/>
            </a:xfrm>
            <a:prstGeom prst="rect">
              <a:avLst/>
            </a:prstGeom>
          </p:spPr>
        </p:pic>
      </p:grpSp>
      <p:pic>
        <p:nvPicPr>
          <p:cNvPr id="37" name="Picture 36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1078" y="4736559"/>
            <a:ext cx="496874" cy="149784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9307" y="1952392"/>
            <a:ext cx="546561" cy="1097535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3829" y="1952392"/>
            <a:ext cx="546561" cy="1095769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73904" y="1942183"/>
            <a:ext cx="546561" cy="1095769"/>
          </a:xfrm>
          <a:prstGeom prst="rect">
            <a:avLst/>
          </a:prstGeom>
        </p:spPr>
      </p:pic>
      <p:sp>
        <p:nvSpPr>
          <p:cNvPr id="32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283;g104476d1465_1_17"/>
          <p:cNvPicPr preferRelativeResize="0"/>
          <p:nvPr/>
        </p:nvPicPr>
        <p:blipFill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37F3EF-BB9F-9BE6-7A32-7EB45B3F6F48}"/>
              </a:ext>
            </a:extLst>
          </p:cNvPr>
          <p:cNvSpPr txBox="1"/>
          <p:nvPr/>
        </p:nvSpPr>
        <p:spPr>
          <a:xfrm>
            <a:off x="914400" y="520393"/>
            <a:ext cx="1051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2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below. 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171D1BA2-C508-6423-7208-BE7DDFE2C6E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9330" y="3654091"/>
            <a:ext cx="5232420" cy="3003685"/>
          </a:xfrm>
          <a:prstGeom prst="rect">
            <a:avLst/>
          </a:prstGeom>
        </p:spPr>
      </p:pic>
      <p:pic>
        <p:nvPicPr>
          <p:cNvPr id="5" name="Picture 4" descr="Chart, waterfall chart&#10;&#10;Description automatically generated">
            <a:extLst>
              <a:ext uri="{FF2B5EF4-FFF2-40B4-BE49-F238E27FC236}">
                <a16:creationId xmlns:a16="http://schemas.microsoft.com/office/drawing/2014/main" id="{DF85E0F8-D14B-7F56-12EF-DB4C28EB736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6719" y="873517"/>
            <a:ext cx="3738562" cy="278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094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0232" y="520393"/>
                <a:ext cx="10642202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Use the definitions of coefficient and term to complete the expression by writing the coefficient or constant term that matches the number of tiles of each type.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/>
                </a:endParaRPr>
              </a:p>
              <a:p>
                <a:pPr marL="914400"/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Times New Roman"/>
                  </a:rPr>
                  <a:t>_____ </a:t>
                </a:r>
                <a:r>
                  <a:rPr lang="en-US" sz="2000" i="1" dirty="0">
                    <a:latin typeface="Cambria" pitchFamily="18" charset="0"/>
                    <a:ea typeface="Cambria" pitchFamily="18" charset="0"/>
                    <a:cs typeface="Times New Roman"/>
                  </a:rPr>
                  <a:t>x</a:t>
                </a:r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Times New Roman"/>
                  </a:rPr>
                  <a:t>  + 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itchFamily="34" charset="0"/>
                      </a:rPr>
                      <m:t>−</m:t>
                    </m:r>
                  </m:oMath>
                </a14:m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Times New Roman"/>
                  </a:rPr>
                  <a:t> _____ </a:t>
                </a:r>
                <a:r>
                  <a:rPr lang="en-US" sz="2000" i="1" dirty="0">
                    <a:latin typeface="Cambria" pitchFamily="18" charset="0"/>
                    <a:ea typeface="Cambria" pitchFamily="18" charset="0"/>
                    <a:cs typeface="Times New Roman"/>
                  </a:rPr>
                  <a:t>x</a:t>
                </a:r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Times New Roman"/>
                  </a:rPr>
                  <a:t> ) + _____ </a:t>
                </a:r>
                <a:r>
                  <a:rPr lang="en-US" sz="2000" i="1" dirty="0">
                    <a:latin typeface="Cambria" pitchFamily="18" charset="0"/>
                    <a:ea typeface="Cambria" pitchFamily="18" charset="0"/>
                    <a:cs typeface="Times New Roman"/>
                  </a:rPr>
                  <a:t>y</a:t>
                </a:r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Times New Roman"/>
                  </a:rPr>
                  <a:t>  +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itchFamily="34" charset="0"/>
                      </a:rPr>
                      <m:t>−</m:t>
                    </m:r>
                  </m:oMath>
                </a14:m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Times New Roman"/>
                  </a:rPr>
                  <a:t> _____ </a:t>
                </a:r>
                <a:r>
                  <a:rPr lang="en-US" sz="2000" i="1" dirty="0">
                    <a:latin typeface="Cambria" pitchFamily="18" charset="0"/>
                    <a:ea typeface="Cambria" pitchFamily="18" charset="0"/>
                    <a:cs typeface="Times New Roman"/>
                  </a:rPr>
                  <a:t>y</a:t>
                </a:r>
                <a:r>
                  <a:rPr lang="en-US" sz="2000" i="1" dirty="0">
                    <a:latin typeface="Cambria Math" pitchFamily="18" charset="0"/>
                    <a:ea typeface="Cambria Math" pitchFamily="18" charset="0"/>
                    <a:cs typeface="Times New Roman"/>
                  </a:rPr>
                  <a:t> </a:t>
                </a:r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Times New Roman"/>
                  </a:rPr>
                  <a:t>) + _____ +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itchFamily="34" charset="0"/>
                      </a:rPr>
                      <m:t>−</m:t>
                    </m:r>
                  </m:oMath>
                </a14:m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Times New Roman"/>
                  </a:rPr>
                  <a:t> _____ )</a:t>
                </a:r>
              </a:p>
              <a:p>
                <a:pPr marL="914400"/>
                <a:endParaRPr lang="en-US" sz="2000" dirty="0">
                  <a:latin typeface="Cambria Math" pitchFamily="18" charset="0"/>
                  <a:ea typeface="Cambria Math" pitchFamily="18" charset="0"/>
                  <a:cs typeface="Times New Roman"/>
                </a:endParaRPr>
              </a:p>
              <a:p>
                <a:pPr marL="914400"/>
                <a:endParaRPr lang="en-US" sz="2000" dirty="0">
                  <a:latin typeface="Cambria Math" pitchFamily="18" charset="0"/>
                  <a:ea typeface="Cambria Math" pitchFamily="18" charset="0"/>
                  <a:cs typeface="Times New Roman"/>
                </a:endParaRPr>
              </a:p>
              <a:p>
                <a:pPr marL="914400"/>
                <a:endParaRPr lang="en-US" sz="2000" dirty="0">
                  <a:latin typeface="Cambria Math" pitchFamily="18" charset="0"/>
                  <a:ea typeface="Cambria Math" pitchFamily="18" charset="0"/>
                  <a:cs typeface="Times New Roman"/>
                </a:endParaRPr>
              </a:p>
              <a:p>
                <a:pPr marL="914400"/>
                <a:endParaRPr lang="en-US" sz="2000" dirty="0">
                  <a:latin typeface="Cambria Math" pitchFamily="18" charset="0"/>
                  <a:ea typeface="Cambria Math" pitchFamily="18" charset="0"/>
                  <a:cs typeface="Times New Roman"/>
                </a:endParaRPr>
              </a:p>
              <a:p>
                <a:pPr marL="914400"/>
                <a:endParaRPr lang="en-US" sz="2000" dirty="0">
                  <a:latin typeface="Cambria Math" pitchFamily="18" charset="0"/>
                  <a:ea typeface="Cambria Math" pitchFamily="18" charset="0"/>
                  <a:cs typeface="Times New Roman"/>
                </a:endParaRPr>
              </a:p>
              <a:p>
                <a:pPr marL="914400"/>
                <a:endParaRPr lang="en-US" sz="2000" dirty="0">
                  <a:latin typeface="Cambria Math" pitchFamily="18" charset="0"/>
                  <a:ea typeface="Cambria Math" pitchFamily="18" charset="0"/>
                  <a:cs typeface="Times New Roman"/>
                </a:endParaRPr>
              </a:p>
              <a:p>
                <a:pPr marL="914400"/>
                <a:endParaRPr lang="en-US" sz="2000" dirty="0">
                  <a:latin typeface="Cambria Math" pitchFamily="18" charset="0"/>
                  <a:ea typeface="Cambria Math" pitchFamily="18" charset="0"/>
                  <a:cs typeface="Times New Roman"/>
                </a:endParaRPr>
              </a:p>
              <a:p>
                <a:pPr marL="914400"/>
                <a:endParaRPr lang="en-US" sz="2000" dirty="0">
                  <a:latin typeface="Cambria Math" pitchFamily="18" charset="0"/>
                  <a:ea typeface="Cambria Math" pitchFamily="18" charset="0"/>
                  <a:cs typeface="Times New Roman"/>
                </a:endParaRPr>
              </a:p>
              <a:p>
                <a:pPr marL="914400"/>
                <a:endParaRPr lang="en-US" sz="2000" dirty="0">
                  <a:latin typeface="Cambria Math" pitchFamily="18" charset="0"/>
                  <a:ea typeface="Cambria Math" pitchFamily="18" charset="0"/>
                  <a:cs typeface="Times New Roman"/>
                </a:endParaRPr>
              </a:p>
              <a:p>
                <a:pPr marL="914400"/>
                <a:endParaRPr lang="en-US" sz="2000" dirty="0">
                  <a:latin typeface="Cambria Math" pitchFamily="18" charset="0"/>
                  <a:ea typeface="Cambria Math" pitchFamily="18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Draw the number of algebra tiles of each type under the term in the expression.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Circle the zero pairs in your drawing.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32" y="520393"/>
                <a:ext cx="10642202" cy="5940088"/>
              </a:xfrm>
              <a:prstGeom prst="rect">
                <a:avLst/>
              </a:prstGeom>
              <a:blipFill rotWithShape="0">
                <a:blip r:embed="rId3"/>
                <a:stretch>
                  <a:fillRect t="-615" b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954106"/>
              </p:ext>
            </p:extLst>
          </p:nvPr>
        </p:nvGraphicFramePr>
        <p:xfrm>
          <a:off x="3000375" y="2387600"/>
          <a:ext cx="6096000" cy="24384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3385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35242" y="520393"/>
            <a:ext cx="98721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5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Complete the expression below after eliminating the zero pairs.</a:t>
            </a:r>
          </a:p>
          <a:p>
            <a:pPr marL="914400" indent="-457200">
              <a:buFont typeface="+mj-lt"/>
              <a:buAutoNum type="alphaLcPeriod" startAt="5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/>
            <a:r>
              <a:rPr lang="en-US" sz="2400" dirty="0">
                <a:latin typeface="Cambria Math" pitchFamily="18" charset="0"/>
                <a:ea typeface="Cambria Math" pitchFamily="18" charset="0"/>
                <a:cs typeface="Times New Roman"/>
              </a:rPr>
              <a:t>_____ </a:t>
            </a:r>
            <a:r>
              <a:rPr lang="en-US" sz="2400" i="1" dirty="0">
                <a:latin typeface="Cambria" pitchFamily="18" charset="0"/>
                <a:ea typeface="Cambria" pitchFamily="18" charset="0"/>
                <a:cs typeface="Times New Roman"/>
              </a:rPr>
              <a:t>x</a:t>
            </a:r>
            <a:r>
              <a:rPr lang="en-US" sz="2400" dirty="0">
                <a:latin typeface="Cambria Math" pitchFamily="18" charset="0"/>
                <a:ea typeface="Cambria Math" pitchFamily="18" charset="0"/>
                <a:cs typeface="Times New Roman"/>
              </a:rPr>
              <a:t>  +  _____ </a:t>
            </a:r>
            <a:r>
              <a:rPr lang="en-US" sz="2400" i="1" dirty="0">
                <a:latin typeface="Cambria" pitchFamily="18" charset="0"/>
                <a:ea typeface="Cambria" pitchFamily="18" charset="0"/>
                <a:cs typeface="Times New Roman"/>
              </a:rPr>
              <a:t>y</a:t>
            </a:r>
            <a:r>
              <a:rPr lang="en-US" sz="2400" i="1" dirty="0">
                <a:latin typeface="Cambria Math" pitchFamily="18" charset="0"/>
                <a:ea typeface="Cambria Math" pitchFamily="18" charset="0"/>
                <a:cs typeface="Times New Roman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  <a:cs typeface="Times New Roman"/>
              </a:rPr>
              <a:t> + _____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547150" y="4130368"/>
            <a:ext cx="7720800" cy="812800"/>
            <a:chOff x="2031300" y="3373600"/>
            <a:chExt cx="6629400" cy="812800"/>
          </a:xfrm>
        </p:grpSpPr>
        <p:sp>
          <p:nvSpPr>
            <p:cNvPr id="9" name="Rectangle 8"/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/>
                  <a:ea typeface="Times New Roman"/>
                </a:rPr>
                <a:t> 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2031300" y="3373600"/>
              <a:ext cx="6629400" cy="812800"/>
              <a:chOff x="0" y="0"/>
              <a:chExt cx="6629400" cy="81280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/>
                    <a:ea typeface="Times New Roman"/>
                  </a:rPr>
                  <a:t> </a:t>
                </a:r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0" y="14798"/>
                <a:ext cx="6629400" cy="783148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228600"/>
                <a:r>
                  <a:rPr lang="en-US" sz="2000" b="1" i="1" dirty="0">
                    <a:solidFill>
                      <a:srgbClr val="6C993D"/>
                    </a:solidFill>
                    <a:latin typeface="Verdana"/>
                    <a:ea typeface="Times New Roman"/>
                  </a:rPr>
                  <a:t>Like terms</a:t>
                </a:r>
                <a:r>
                  <a:rPr lang="en-US" sz="2000" b="1" dirty="0">
                    <a:solidFill>
                      <a:srgbClr val="6C993D"/>
                    </a:solidFill>
                    <a:latin typeface="Verdana"/>
                    <a:ea typeface="Times New Roman"/>
                  </a:rPr>
                  <a:t> </a:t>
                </a:r>
                <a:r>
                  <a:rPr lang="en-US" sz="2000" dirty="0">
                    <a:solidFill>
                      <a:srgbClr val="6C993D"/>
                    </a:solidFill>
                    <a:latin typeface="Verdana"/>
                    <a:ea typeface="Times New Roman"/>
                  </a:rPr>
                  <a:t>are terms with the exact same variable(s) raised to the same exponent.</a:t>
                </a:r>
                <a:endParaRPr lang="en-US" dirty="0">
                  <a:latin typeface="Times New Roman"/>
                  <a:ea typeface="Times New Roman"/>
                </a:endParaRPr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2547150" y="5190950"/>
            <a:ext cx="8050626" cy="812800"/>
            <a:chOff x="2031300" y="3373600"/>
            <a:chExt cx="6629400" cy="812800"/>
          </a:xfrm>
        </p:grpSpPr>
        <p:sp>
          <p:nvSpPr>
            <p:cNvPr id="16" name="Rectangle 15"/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/>
                  <a:ea typeface="Times New Roman"/>
                </a:rPr>
                <a:t> 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2031300" y="3373600"/>
              <a:ext cx="6629400" cy="812800"/>
              <a:chOff x="0" y="0"/>
              <a:chExt cx="6629400" cy="81280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/>
                    <a:ea typeface="Times New Roman"/>
                  </a:rPr>
                  <a:t> </a:t>
                </a: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0" y="0"/>
                <a:ext cx="6357800" cy="812744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228600"/>
                <a:r>
                  <a:rPr lang="en-US" sz="2000" dirty="0">
                    <a:solidFill>
                      <a:srgbClr val="6C993D"/>
                    </a:solidFill>
                    <a:latin typeface="Verdana"/>
                    <a:ea typeface="Times New Roman"/>
                  </a:rPr>
                  <a:t>A </a:t>
                </a:r>
                <a:r>
                  <a:rPr lang="en-US" sz="2000" b="1" i="1" dirty="0">
                    <a:solidFill>
                      <a:srgbClr val="6C993D"/>
                    </a:solidFill>
                    <a:latin typeface="Verdana"/>
                    <a:ea typeface="Times New Roman"/>
                  </a:rPr>
                  <a:t>constant</a:t>
                </a:r>
                <a:r>
                  <a:rPr lang="en-US" sz="2000" dirty="0">
                    <a:solidFill>
                      <a:srgbClr val="6C993D"/>
                    </a:solidFill>
                    <a:latin typeface="Verdana"/>
                    <a:ea typeface="Times New Roman"/>
                  </a:rPr>
                  <a:t> is a fixed numerical value with no variables. All constants are like terms.</a:t>
                </a:r>
                <a:endParaRPr lang="en-US" dirty="0">
                  <a:latin typeface="Times New Roman"/>
                  <a:ea typeface="Times New Roman"/>
                </a:endParaRPr>
              </a:p>
            </p:txBody>
          </p:sp>
        </p:grpSp>
      </p:grpSp>
      <p:sp>
        <p:nvSpPr>
          <p:cNvPr id="21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8697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03158" y="520393"/>
            <a:ext cx="993635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Answer the following questions about like terms.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Classify the following terms.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How did you determine whether the terms were like </a:t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>or unlike?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Comic Sans MS"/>
                <a:cs typeface="Comic Sans MS"/>
              </a:rPr>
              <a:t>Compare answers with your partner.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0061480"/>
                  </p:ext>
                </p:extLst>
              </p:nvPr>
            </p:nvGraphicFramePr>
            <p:xfrm>
              <a:off x="3041983" y="1682033"/>
              <a:ext cx="6329045" cy="254889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1094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0947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1010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2481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Like Terms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Unlike Terms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6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3657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3</m:t>
                              </m:r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3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5</m:t>
                              </m:r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−3</m:t>
                              </m:r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10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−2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7.5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0061480"/>
                  </p:ext>
                </p:extLst>
              </p:nvPr>
            </p:nvGraphicFramePr>
            <p:xfrm>
              <a:off x="1517982" y="1682033"/>
              <a:ext cx="6329045" cy="254889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109470"/>
                    <a:gridCol w="2109470"/>
                    <a:gridCol w="2110105"/>
                  </a:tblGrid>
                  <a:tr h="42481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Like Terms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Unlike Terms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86905" r="-200289" b="-3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36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78409" r="-200289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5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66304" r="-20028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401190" r="-200289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◯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24629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9105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4905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9126" y="0"/>
            <a:ext cx="1010528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13.7.5 Guided Instruction</a:t>
            </a:r>
            <a:r>
              <a:rPr lang="en-US" sz="28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: Adding </a:t>
            </a: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and Subtracting Expressions with Algebra Tiles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827" y="23383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56C8A5C-819C-E5A1-15F3-9B00DB36F8B6}"/>
                  </a:ext>
                </a:extLst>
              </p:cNvPr>
              <p:cNvSpPr/>
              <p:nvPr/>
            </p:nvSpPr>
            <p:spPr>
              <a:xfrm>
                <a:off x="914400" y="1446986"/>
                <a:ext cx="105156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The algebra tiles shown represent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as rectangles, and integers as squares. Red represents the negative of that variable or constant, while the blue shades represent the positive</a:t>
                </a:r>
                <a:r>
                  <a:rPr lang="en-US" sz="2000" i="1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. 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56C8A5C-819C-E5A1-15F3-9B00DB36F8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446986"/>
                <a:ext cx="10515600" cy="1015663"/>
              </a:xfrm>
              <a:prstGeom prst="rect">
                <a:avLst/>
              </a:prstGeom>
              <a:blipFill>
                <a:blip r:embed="rId5"/>
                <a:stretch>
                  <a:fillRect l="-603" t="-2469" r="-1327" b="-8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06253183-F065-D61A-A9A2-8361CCD36B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6516" y="2558165"/>
            <a:ext cx="2998234" cy="14703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FF979C3-06D3-6B73-9C36-B4C5F5B9BBF7}"/>
              </a:ext>
            </a:extLst>
          </p:cNvPr>
          <p:cNvSpPr/>
          <p:nvPr/>
        </p:nvSpPr>
        <p:spPr>
          <a:xfrm>
            <a:off x="1957501" y="4260106"/>
            <a:ext cx="54922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Variables also form zero pairs, as shown.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8" name="Picture 17" descr="Chart&#10;&#10;Description automatically generated">
            <a:extLst>
              <a:ext uri="{FF2B5EF4-FFF2-40B4-BE49-F238E27FC236}">
                <a16:creationId xmlns:a16="http://schemas.microsoft.com/office/drawing/2014/main" id="{58F85EB9-EA5D-F085-5FA2-2484B71598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3605" y="4891791"/>
            <a:ext cx="2204631" cy="164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43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55032" y="520394"/>
            <a:ext cx="10032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Complete the table by crossing out the zero pairs and recording how many there are. Write the resulting algebraic expression after eliminating the zero pairs.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" name="Picture 4" descr="Table&#10;&#10;Description automatically generated with medium confidence">
            <a:extLst>
              <a:ext uri="{FF2B5EF4-FFF2-40B4-BE49-F238E27FC236}">
                <a16:creationId xmlns:a16="http://schemas.microsoft.com/office/drawing/2014/main" id="{874069A1-57A3-5FDD-0641-F67DE60C0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8265" y="1865817"/>
            <a:ext cx="6968219" cy="335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26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38989" y="520394"/>
            <a:ext cx="100646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 representation of the following expressions with algebra tiles. Cross out any zero pairs. Then write an equivalent algebraic expression after eliminating any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zero pairs.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9916360"/>
                  </p:ext>
                </p:extLst>
              </p:nvPr>
            </p:nvGraphicFramePr>
            <p:xfrm>
              <a:off x="2595246" y="2014379"/>
              <a:ext cx="7215505" cy="37795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24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909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Algebraic Expression and Representation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Equivalent Algebraic Expression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−3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Representation:</a:t>
                          </a: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9916360"/>
                  </p:ext>
                </p:extLst>
              </p:nvPr>
            </p:nvGraphicFramePr>
            <p:xfrm>
              <a:off x="1071245" y="2014379"/>
              <a:ext cx="7215505" cy="37795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24580"/>
                    <a:gridCol w="3590925"/>
                  </a:tblGrid>
                  <a:tr h="7010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Algebraic Expression and Representation</a:t>
                          </a:r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Equivalent Algebraic Expression</a:t>
                          </a:r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</a:tr>
                  <a:tr h="3078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8" t="-23762" r="-99327" b="-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0203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0892191"/>
                  </p:ext>
                </p:extLst>
              </p:nvPr>
            </p:nvGraphicFramePr>
            <p:xfrm>
              <a:off x="2563581" y="520393"/>
              <a:ext cx="7215505" cy="37795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24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909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Algebraic Expression and Representation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Equivalent Algebraic Expression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−4+3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−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Representation:</a:t>
                          </a: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0892191"/>
                  </p:ext>
                </p:extLst>
              </p:nvPr>
            </p:nvGraphicFramePr>
            <p:xfrm>
              <a:off x="1039580" y="520393"/>
              <a:ext cx="7215505" cy="37795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24580"/>
                    <a:gridCol w="3590925"/>
                  </a:tblGrid>
                  <a:tr h="7010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Algebraic Expression and Representation</a:t>
                          </a:r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Equivalent Algebraic Expression</a:t>
                          </a:r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</a:tr>
                  <a:tr h="3078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8" t="-23762" r="-99327" b="-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45580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32734" y="-92161"/>
            <a:ext cx="900216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13.7.6 Guided Practice</a:t>
            </a:r>
            <a:r>
              <a:rPr lang="en-US" sz="28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: Adding </a:t>
            </a: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and Subtracting Expressions with Algebra Tiles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2926" y="16410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332734" y="1386026"/>
                <a:ext cx="978256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GB" sz="2000" dirty="0">
                    <a:latin typeface="Verdana"/>
                    <a:ea typeface="Times New Roman"/>
                    <a:cs typeface="Times New Roman"/>
                  </a:rPr>
                  <a:t>Consider the expressions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  <a:ea typeface="Times New Roman"/>
                        <a:cs typeface="Times New Roman"/>
                      </a:rPr>
                      <m:t>2</m:t>
                    </m:r>
                    <m:r>
                      <a:rPr lang="en-GB" sz="2000" i="1">
                        <a:latin typeface="Cambria Math"/>
                        <a:ea typeface="Times New Roman"/>
                        <a:cs typeface="Times New Roman"/>
                      </a:rPr>
                      <m:t>𝑥</m:t>
                    </m:r>
                  </m:oMath>
                </a14:m>
                <a:r>
                  <a:rPr lang="en-GB" sz="20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  <a:ea typeface="Times New Roman"/>
                        <a:cs typeface="Times New Roman"/>
                      </a:rPr>
                      <m:t>𝑥</m:t>
                    </m:r>
                    <m:r>
                      <a:rPr lang="en-GB" sz="2000" i="1">
                        <a:latin typeface="Cambria Math"/>
                        <a:ea typeface="Times New Roman"/>
                        <a:cs typeface="Times New Roman"/>
                      </a:rPr>
                      <m:t>+2</m:t>
                    </m:r>
                  </m:oMath>
                </a14:m>
                <a:r>
                  <a:rPr lang="en-GB" sz="2000" dirty="0">
                    <a:latin typeface="Verdana"/>
                    <a:ea typeface="Times New Roman"/>
                    <a:cs typeface="Times New Roman"/>
                  </a:rPr>
                  <a:t>.</a:t>
                </a:r>
              </a:p>
              <a:p>
                <a:endParaRPr lang="en-GB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GB" sz="2000" dirty="0">
                    <a:latin typeface="Verdana"/>
                    <a:ea typeface="Times New Roman"/>
                    <a:cs typeface="Times New Roman"/>
                  </a:rPr>
                  <a:t>Draw a model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  <a:ea typeface="Times New Roman"/>
                        <a:cs typeface="Times New Roman"/>
                      </a:rPr>
                      <m:t>2</m:t>
                    </m:r>
                    <m:r>
                      <a:rPr lang="en-GB" sz="2000" i="1">
                        <a:latin typeface="Cambria Math"/>
                        <a:ea typeface="Times New Roman"/>
                        <a:cs typeface="Times New Roman"/>
                      </a:rPr>
                      <m:t>𝑥</m:t>
                    </m:r>
                  </m:oMath>
                </a14:m>
                <a:r>
                  <a:rPr lang="en-GB" sz="20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  <a:ea typeface="Times New Roman"/>
                        <a:cs typeface="Times New Roman"/>
                      </a:rPr>
                      <m:t>𝑥</m:t>
                    </m:r>
                    <m:r>
                      <a:rPr lang="en-GB" sz="2000" i="1">
                        <a:latin typeface="Cambria Math"/>
                        <a:ea typeface="Times New Roman"/>
                        <a:cs typeface="Times New Roman"/>
                      </a:rPr>
                      <m:t>+2</m:t>
                    </m:r>
                  </m:oMath>
                </a14:m>
                <a:r>
                  <a:rPr lang="en-GB" sz="2000" dirty="0">
                    <a:latin typeface="Cambria Math"/>
                    <a:ea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Verdana"/>
                    <a:ea typeface="Times New Roman"/>
                    <a:cs typeface="Times New Roman"/>
                  </a:rPr>
                  <a:t>with</a:t>
                </a:r>
                <a:r>
                  <a:rPr lang="en-GB" sz="2000" dirty="0">
                    <a:latin typeface="Cambria Math"/>
                    <a:ea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Verdana"/>
                    <a:ea typeface="Times New Roman"/>
                    <a:cs typeface="Times New Roman"/>
                  </a:rPr>
                  <a:t>algebra tiles.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734" y="1386026"/>
                <a:ext cx="9782564" cy="1015663"/>
              </a:xfrm>
              <a:prstGeom prst="rect">
                <a:avLst/>
              </a:prstGeom>
              <a:blipFill rotWithShape="0">
                <a:blip r:embed="rId4"/>
                <a:stretch>
                  <a:fillRect l="-686" t="-3593" b="-10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8171014"/>
                  </p:ext>
                </p:extLst>
              </p:nvPr>
            </p:nvGraphicFramePr>
            <p:xfrm>
              <a:off x="3119397" y="2572374"/>
              <a:ext cx="7215505" cy="34747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347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86755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Expression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Algebra Tiles Model</a:t>
                          </a: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200"/>
                            </a:spcAft>
                          </a:pPr>
                          <a:endParaRPr lang="en-US" sz="2000" b="0" i="1" dirty="0">
                            <a:effectLst/>
                            <a:latin typeface="Cambria Math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1200"/>
                            </a:spcAft>
                          </a:pPr>
                          <a:endParaRPr lang="en-US" sz="2000" b="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22860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L="68580" marR="68580" marT="22860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200"/>
                            </a:spcAft>
                          </a:pPr>
                          <a:endParaRPr lang="en-US" sz="2000" b="0" i="1" dirty="0">
                            <a:effectLst/>
                            <a:latin typeface="Cambria Math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1200"/>
                            </a:spcAft>
                          </a:pPr>
                          <a:endParaRPr lang="en-US" sz="2000" b="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22860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22860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8171014"/>
                  </p:ext>
                </p:extLst>
              </p:nvPr>
            </p:nvGraphicFramePr>
            <p:xfrm>
              <a:off x="1595396" y="2572374"/>
              <a:ext cx="7215505" cy="34747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347954"/>
                    <a:gridCol w="4867551"/>
                  </a:tblGrid>
                  <a:tr h="3962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Expression</a:t>
                          </a:r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Algebra Tiles Model</a:t>
                          </a:r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</a:tr>
                  <a:tr h="1539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22860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60" t="-27668" r="-207532" b="-99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L="68580" marR="68580" marT="22860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539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22860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60" t="-128175" r="-207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22860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379621" y="520393"/>
                <a:ext cx="9583424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are they different?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</a:t>
                </a:r>
                <a:r>
                  <a:rPr lang="en-US" sz="2400" dirty="0">
                    <a:latin typeface="Verdana"/>
                    <a:ea typeface="Times New Roman"/>
                    <a:cs typeface="Calibri"/>
                  </a:rPr>
                  <a:t>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Calibri"/>
                      </a:rPr>
                      <m:t>2</m:t>
                    </m:r>
                    <m:r>
                      <a:rPr lang="en-US" sz="2400" i="1">
                        <a:latin typeface="Cambria Math"/>
                        <a:ea typeface="Times New Roman"/>
                        <a:cs typeface="Calibri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Calibr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Calibri"/>
                      </a:rPr>
                      <m:t>𝑥</m:t>
                    </m:r>
                    <m:r>
                      <a:rPr lang="en-US" sz="2400" i="1">
                        <a:latin typeface="Cambria Math"/>
                        <a:ea typeface="Times New Roman"/>
                        <a:cs typeface="Calibri"/>
                      </a:rPr>
                      <m:t>+2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Calibri"/>
                  </a:rPr>
                  <a:t> equivalent algebraic expressions?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621" y="520393"/>
                <a:ext cx="9583424" cy="3785652"/>
              </a:xfrm>
              <a:prstGeom prst="rect">
                <a:avLst/>
              </a:prstGeom>
              <a:blipFill rotWithShape="0">
                <a:blip r:embed="rId3"/>
                <a:stretch>
                  <a:fillRect t="-1288" b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7263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95495" y="275934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13.7.7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443" y="27593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409743" y="1386026"/>
                <a:ext cx="9628546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equivalent expression by combining like terms.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tabLst>
                    <a:tab pos="457200" algn="l"/>
                  </a:tabLst>
                </a:pPr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1.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+4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</m:oMath>
                </a14:m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 ________________</a:t>
                </a:r>
              </a:p>
              <a:p>
                <a:pPr>
                  <a:tabLst>
                    <a:tab pos="457200" algn="l"/>
                  </a:tabLst>
                </a:pPr>
                <a:endParaRPr lang="en-US" sz="2000" dirty="0"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tabLst>
                    <a:tab pos="4572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tabLst>
                    <a:tab pos="457200" algn="l"/>
                  </a:tabLst>
                </a:pPr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2.	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+7+4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________________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tabLst>
                    <a:tab pos="457200" algn="l"/>
                  </a:tabLst>
                </a:pPr>
                <a:endParaRPr lang="en-PH" sz="2000" dirty="0"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tabLst>
                    <a:tab pos="457200" algn="l"/>
                  </a:tabLst>
                </a:pPr>
                <a:endParaRPr lang="en-US" sz="2000" dirty="0"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tabLst>
                    <a:tab pos="457200" algn="l"/>
                  </a:tabLst>
                </a:pPr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3.	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________________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tabLst>
                    <a:tab pos="457200" algn="l"/>
                  </a:tabLst>
                </a:pPr>
                <a:endParaRPr lang="en-PH" sz="2000" dirty="0"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tabLst>
                    <a:tab pos="457200" algn="l"/>
                  </a:tabLst>
                </a:pPr>
                <a:endParaRPr lang="en-US" sz="2000" dirty="0"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tabLst>
                    <a:tab pos="457200" algn="l"/>
                  </a:tabLst>
                </a:pPr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4. 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−4−4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________________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tabLst>
                    <a:tab pos="457200" algn="l"/>
                  </a:tabLst>
                </a:pPr>
                <a:endParaRPr lang="en-PH" sz="2000" dirty="0"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tabLst>
                    <a:tab pos="457200" algn="l"/>
                  </a:tabLst>
                </a:pPr>
                <a:endParaRPr lang="en-US" sz="2000" dirty="0"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tabLst>
                    <a:tab pos="457200" algn="l"/>
                  </a:tabLst>
                </a:pPr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5.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−4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________________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743" y="1386026"/>
                <a:ext cx="9628546" cy="4708981"/>
              </a:xfrm>
              <a:prstGeom prst="rect">
                <a:avLst/>
              </a:prstGeom>
              <a:blipFill rotWithShape="0">
                <a:blip r:embed="rId4"/>
                <a:stretch>
                  <a:fillRect l="-633" t="-647" b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18632" y="-9244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13.7.8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332" y="15929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491916" y="1386026"/>
            <a:ext cx="9464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key word, check the box in the column that describes your knowledge of the word. Then answer the questions or complete the statements in the last column.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565643"/>
              </p:ext>
            </p:extLst>
          </p:nvPr>
        </p:nvGraphicFramePr>
        <p:xfrm>
          <a:off x="2602000" y="2593499"/>
          <a:ext cx="7511818" cy="3291840"/>
        </p:xfrm>
        <a:graphic>
          <a:graphicData uri="http://schemas.openxmlformats.org/drawingml/2006/table">
            <a:tbl>
              <a:tblPr>
                <a:tableStyleId>{A91F0D33-8C57-4600-99A7-42BC86742BE1}</a:tableStyleId>
              </a:tblPr>
              <a:tblGrid>
                <a:gridCol w="1443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2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27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Key Word</a:t>
                      </a:r>
                      <a:endParaRPr lang="en-US" sz="1800" b="1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 already knew the meaning of this word.</a:t>
                      </a:r>
                      <a:endParaRPr lang="en-US" sz="1800" b="1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I’ve heard this word before, but I was not sure what it meant.</a:t>
                      </a:r>
                      <a:endParaRPr lang="en-US" sz="1800" b="1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Questions</a:t>
                      </a:r>
                      <a:endParaRPr lang="en-US" sz="1800" b="1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Expression</a:t>
                      </a:r>
                      <a:endParaRPr lang="en-US" sz="18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4800" b="0" dirty="0">
                          <a:effectLst/>
                          <a:latin typeface="Verdana" pitchFamily="34" charset="0"/>
                          <a:ea typeface="Verdana" pitchFamily="34" charset="0"/>
                          <a:cs typeface="Times New Roman"/>
                        </a:rPr>
                        <a:t>□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4800" b="0" dirty="0">
                          <a:effectLst/>
                          <a:latin typeface="Verdana" pitchFamily="34" charset="0"/>
                          <a:ea typeface="Verdana" pitchFamily="34" charset="0"/>
                          <a:cs typeface="Times New Roman"/>
                        </a:rPr>
                        <a:t>□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An example of a numeric expression is _____________.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An example of an algebraic expression is _____________.</a:t>
                      </a:r>
                      <a:endParaRPr lang="en-US" sz="18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8658109"/>
                  </p:ext>
                </p:extLst>
              </p:nvPr>
            </p:nvGraphicFramePr>
            <p:xfrm>
              <a:off x="2541158" y="520393"/>
              <a:ext cx="7511818" cy="5577840"/>
            </p:xfrm>
            <a:graphic>
              <a:graphicData uri="http://schemas.openxmlformats.org/drawingml/2006/table">
                <a:tbl>
                  <a:tblPr>
                    <a:tableStyleId>{A91F0D33-8C57-4600-99A7-42BC86742BE1}</a:tableStyleId>
                  </a:tblPr>
                  <a:tblGrid>
                    <a:gridCol w="144352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131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1281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54230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7279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GB" sz="18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Key Word</a:t>
                          </a:r>
                          <a:endParaRPr lang="en-US" sz="1800" b="1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GB" sz="18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I already knew the meaning of this word.</a:t>
                          </a:r>
                          <a:endParaRPr lang="en-US" sz="1800" b="1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GB" sz="18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I’ve heard this word before, but I was not sure what it meant.</a:t>
                          </a:r>
                          <a:endParaRPr lang="en-US" sz="1800" b="1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Questions</a:t>
                          </a:r>
                          <a:endParaRPr lang="en-US" sz="1800" b="1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707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GB" sz="18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Term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kumimoji="0" lang="en-US" sz="4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Times New Roman"/>
                              <a:sym typeface="Arial"/>
                            </a:rPr>
                            <a:t>□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kumimoji="0" lang="en-US" sz="4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Times New Roman"/>
                              <a:sym typeface="Arial"/>
                            </a:rPr>
                            <a:t>□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In the expression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8</m:t>
                              </m:r>
                              <m:r>
                                <a:rPr lang="en-US" sz="18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𝑥</m:t>
                              </m:r>
                              <m:r>
                                <a:rPr lang="en-US" sz="18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−9+2</m:t>
                              </m:r>
                              <m:r>
                                <a:rPr lang="en-US" sz="18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, how many terms are there? _____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707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Coefficient</a:t>
                          </a: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4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Times New Roman"/>
                              <a:sym typeface="Arial"/>
                            </a:rPr>
                            <a:t>□</a:t>
                          </a: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Verdana" pitchFamily="34" charset="0"/>
                            <a:ea typeface="Verdana" pitchFamily="34" charset="0"/>
                            <a:cs typeface="Times New Roman"/>
                            <a:sym typeface="Arial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4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Times New Roman"/>
                              <a:sym typeface="Arial"/>
                            </a:rPr>
                            <a:t>□</a:t>
                          </a: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Verdana" pitchFamily="34" charset="0"/>
                            <a:ea typeface="Verdana" pitchFamily="34" charset="0"/>
                            <a:cs typeface="Times New Roman"/>
                            <a:sym typeface="Arial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In the expression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8</m:t>
                              </m:r>
                              <m:r>
                                <a:rPr lang="en-US" sz="18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𝑥</m:t>
                              </m:r>
                              <m:r>
                                <a:rPr lang="en-US" sz="18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−9+2</m:t>
                              </m:r>
                              <m:r>
                                <a:rPr lang="en-US" sz="18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, what are the coefficients?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707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Equivalent</a:t>
                          </a: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4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Times New Roman"/>
                              <a:sym typeface="Arial"/>
                            </a:rPr>
                            <a:t>□</a:t>
                          </a: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Verdana" pitchFamily="34" charset="0"/>
                            <a:ea typeface="Verdana" pitchFamily="34" charset="0"/>
                            <a:cs typeface="Times New Roman"/>
                            <a:sym typeface="Arial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4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Times New Roman"/>
                              <a:sym typeface="Arial"/>
                            </a:rPr>
                            <a:t>□</a:t>
                          </a: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Verdana" pitchFamily="34" charset="0"/>
                            <a:ea typeface="Verdana" pitchFamily="34" charset="0"/>
                            <a:cs typeface="Times New Roman"/>
                            <a:sym typeface="Arial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/>
                              <a:ea typeface="Times New Roman"/>
                            </a:rPr>
                            <a:t>When working </a:t>
                          </a:r>
                          <a:br>
                            <a:rPr lang="en-US" sz="1800" dirty="0">
                              <a:effectLst/>
                              <a:latin typeface="Verdana"/>
                              <a:ea typeface="Times New Roman"/>
                            </a:rPr>
                          </a:br>
                          <a:r>
                            <a:rPr lang="en-US" sz="1800" dirty="0">
                              <a:effectLst/>
                              <a:latin typeface="Verdana"/>
                              <a:ea typeface="Times New Roman"/>
                            </a:rPr>
                            <a:t>with algebraic expressions, the word “equivalent” means __________</a:t>
                          </a:r>
                          <a:endParaRPr lang="en-US" sz="1200" dirty="0">
                            <a:effectLst/>
                            <a:latin typeface="Times New Roman"/>
                            <a:ea typeface="Times New Roman"/>
                          </a:endParaRPr>
                        </a:p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/>
                              <a:ea typeface="Times New Roman"/>
                            </a:rPr>
                            <a:t> </a:t>
                          </a:r>
                          <a:r>
                            <a:rPr lang="en-US" sz="18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_______________.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8658109"/>
                  </p:ext>
                </p:extLst>
              </p:nvPr>
            </p:nvGraphicFramePr>
            <p:xfrm>
              <a:off x="1017158" y="520393"/>
              <a:ext cx="7511818" cy="5577840"/>
            </p:xfrm>
            <a:graphic>
              <a:graphicData uri="http://schemas.openxmlformats.org/drawingml/2006/table">
                <a:tbl>
                  <a:tblPr>
                    <a:tableStyleId>{A91F0D33-8C57-4600-99A7-42BC86742BE1}</a:tableStyleId>
                  </a:tblPr>
                  <a:tblGrid>
                    <a:gridCol w="1443527"/>
                    <a:gridCol w="1413164"/>
                    <a:gridCol w="2112818"/>
                    <a:gridCol w="2542309"/>
                  </a:tblGrid>
                  <a:tr h="14630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GB" sz="18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Key Word</a:t>
                          </a:r>
                          <a:endParaRPr lang="en-US" sz="1800" b="1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GB" sz="18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I already knew the meaning of this word.</a:t>
                          </a:r>
                          <a:endParaRPr lang="en-US" sz="1800" b="1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GB" sz="18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I’ve heard this word before, but I was not sure what it meant.</a:t>
                          </a:r>
                          <a:endParaRPr lang="en-US" sz="1800" b="1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Questions</a:t>
                          </a:r>
                          <a:endParaRPr lang="en-US" sz="1800" b="1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</a:tr>
                  <a:tr h="12801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GB" sz="1800" dirty="0" smtClean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Term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kumimoji="0" lang="en-US" sz="48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Times New Roman"/>
                              <a:sym typeface="Arial"/>
                            </a:rPr>
                            <a:t>□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kumimoji="0" lang="en-US" sz="48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Times New Roman"/>
                              <a:sym typeface="Arial"/>
                            </a:rPr>
                            <a:t>□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95683" t="-116667" r="-240" b="-225714"/>
                          </a:stretch>
                        </a:blipFill>
                      </a:tcPr>
                    </a:tc>
                  </a:tr>
                  <a:tr h="10058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Coefficient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48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Times New Roman"/>
                              <a:sym typeface="Arial"/>
                            </a:rPr>
                            <a:t>□</a:t>
                          </a: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Verdana" pitchFamily="34" charset="0"/>
                            <a:ea typeface="Verdana" pitchFamily="34" charset="0"/>
                            <a:cs typeface="Times New Roman"/>
                            <a:sym typeface="Arial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48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Times New Roman"/>
                              <a:sym typeface="Arial"/>
                            </a:rPr>
                            <a:t>□</a:t>
                          </a:r>
                          <a:endParaRPr kumimoji="0" lang="en-US" sz="1800" b="0" i="0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Verdana" pitchFamily="34" charset="0"/>
                            <a:ea typeface="Verdana" pitchFamily="34" charset="0"/>
                            <a:cs typeface="Times New Roman"/>
                            <a:sym typeface="Arial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95683" t="-275758" r="-240" b="-187273"/>
                          </a:stretch>
                        </a:blipFill>
                      </a:tcPr>
                    </a:tc>
                  </a:tr>
                  <a:tr h="18288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Equivalent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48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Times New Roman"/>
                              <a:sym typeface="Arial"/>
                            </a:rPr>
                            <a:t>□</a:t>
                          </a:r>
                          <a:endParaRPr kumimoji="0" lang="en-US" sz="1800" b="0" i="0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Verdana" pitchFamily="34" charset="0"/>
                            <a:ea typeface="Verdana" pitchFamily="34" charset="0"/>
                            <a:cs typeface="Times New Roman"/>
                            <a:sym typeface="Arial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48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Times New Roman"/>
                              <a:sym typeface="Arial"/>
                            </a:rPr>
                            <a:t>□</a:t>
                          </a:r>
                          <a:endParaRPr kumimoji="0" lang="en-US" sz="1800" b="0" i="0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Verdana" pitchFamily="34" charset="0"/>
                            <a:ea typeface="Verdana" pitchFamily="34" charset="0"/>
                            <a:cs typeface="Times New Roman"/>
                            <a:sym typeface="Arial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Verdana"/>
                              <a:ea typeface="Times New Roman"/>
                            </a:rPr>
                            <a:t>When working </a:t>
                          </a:r>
                          <a:br>
                            <a:rPr lang="en-US" sz="1800" dirty="0" smtClean="0">
                              <a:effectLst/>
                              <a:latin typeface="Verdana"/>
                              <a:ea typeface="Times New Roman"/>
                            </a:rPr>
                          </a:br>
                          <a:r>
                            <a:rPr lang="en-US" sz="1800" dirty="0" smtClean="0">
                              <a:effectLst/>
                              <a:latin typeface="Verdana"/>
                              <a:ea typeface="Times New Roman"/>
                            </a:rPr>
                            <a:t>with algebraic expressions, the word “equivalent” means __________</a:t>
                          </a:r>
                          <a:endParaRPr lang="en-US" sz="1200" dirty="0" smtClean="0">
                            <a:effectLst/>
                            <a:latin typeface="Times New Roman"/>
                            <a:ea typeface="Times New Roman"/>
                          </a:endParaRPr>
                        </a:p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Verdana"/>
                              <a:ea typeface="Times New Roman"/>
                            </a:rPr>
                            <a:t> </a:t>
                          </a:r>
                          <a:r>
                            <a:rPr lang="en-US" sz="1800" dirty="0" smtClean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_______________.</a:t>
                          </a:r>
                          <a:endParaRPr lang="en-US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10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8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273238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</TotalTime>
  <Words>1584</Words>
  <Application>Microsoft Macintosh PowerPoint</Application>
  <PresentationFormat>Widescreen</PresentationFormat>
  <Paragraphs>351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Arial Black</vt:lpstr>
      <vt:lpstr>Calibri</vt:lpstr>
      <vt:lpstr>Cambria</vt:lpstr>
      <vt:lpstr>Cambria Math</vt:lpstr>
      <vt:lpstr>Century Gothic</vt:lpstr>
      <vt:lpstr>Times New Roman</vt:lpstr>
      <vt:lpstr>Verdana</vt:lpstr>
      <vt:lpstr>1_Office Theme</vt:lpstr>
      <vt:lpstr>6th Grade Accelerated Math  Unit 13, Lesson 7  Adding and Subtracting Linear Expressions with Integer Coefficients  Volume 2, pg. 294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Refresher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Mary Freeman</cp:lastModifiedBy>
  <cp:revision>48</cp:revision>
  <dcterms:created xsi:type="dcterms:W3CDTF">2015-03-17T18:51:18Z</dcterms:created>
  <dcterms:modified xsi:type="dcterms:W3CDTF">2023-02-07T21:07:28Z</dcterms:modified>
</cp:coreProperties>
</file>