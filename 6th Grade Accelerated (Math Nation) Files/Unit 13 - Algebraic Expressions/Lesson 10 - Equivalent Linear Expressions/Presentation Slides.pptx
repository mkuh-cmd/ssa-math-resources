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5" r:id="rId4"/>
    <p:sldId id="286" r:id="rId5"/>
    <p:sldId id="261" r:id="rId6"/>
    <p:sldId id="287" r:id="rId7"/>
    <p:sldId id="326" r:id="rId8"/>
    <p:sldId id="327" r:id="rId9"/>
    <p:sldId id="358" r:id="rId10"/>
    <p:sldId id="311" r:id="rId11"/>
    <p:sldId id="312" r:id="rId12"/>
    <p:sldId id="366" r:id="rId13"/>
    <p:sldId id="367" r:id="rId14"/>
    <p:sldId id="368" r:id="rId15"/>
    <p:sldId id="289" r:id="rId16"/>
    <p:sldId id="290" r:id="rId17"/>
    <p:sldId id="370" r:id="rId18"/>
    <p:sldId id="356" r:id="rId19"/>
    <p:sldId id="374" r:id="rId20"/>
    <p:sldId id="375" r:id="rId21"/>
    <p:sldId id="376" r:id="rId22"/>
    <p:sldId id="323" r:id="rId23"/>
    <p:sldId id="324" r:id="rId24"/>
    <p:sldId id="377" r:id="rId25"/>
    <p:sldId id="302" r:id="rId26"/>
    <p:sldId id="303" r:id="rId27"/>
    <p:sldId id="378" r:id="rId28"/>
    <p:sldId id="306" r:id="rId29"/>
    <p:sldId id="307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4487"/>
    <a:srgbClr val="3465B0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431"/>
    <p:restoredTop sz="94695"/>
  </p:normalViewPr>
  <p:slideViewPr>
    <p:cSldViewPr snapToGrid="0">
      <p:cViewPr varScale="1">
        <p:scale>
          <a:sx n="79" d="100"/>
          <a:sy n="79" d="100"/>
        </p:scale>
        <p:origin x="13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032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289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7324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83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84607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92199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95826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28215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47687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80001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2314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97957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hyperlink" Target="https://commons.wikimedia.org/wiki/File:Mu%E1%B8%A5ammad_ibn_M%C5%ABs%C4%81_al-Khw%C4%81rizm%C4%AB.png" TargetMode="Externa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10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Equivalent Linear Expressions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314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04F7D126-11A2-F94F-9156-D37071F187F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44375" y="203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875" y="2378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444375" y="1600200"/>
            <a:ext cx="93032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MA.7.AR.1.2</a:t>
            </a:r>
          </a:p>
          <a:p>
            <a:pPr indent="0"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whether two linear expressions are equivalent.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353" y="38779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647003" y="145166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647003" y="1596390"/>
            <a:ext cx="948575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74912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612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712962" y="1609531"/>
            <a:ext cx="876607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verify using substitution that linear expressions are equivalent.  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4461" y="-106084"/>
            <a:ext cx="909438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13.10.1 Warm-Up: Origins of Algebra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162" y="13956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3081A1-25B1-2A4B-8FF2-3F1C264A000D}"/>
              </a:ext>
            </a:extLst>
          </p:cNvPr>
          <p:cNvSpPr/>
          <p:nvPr/>
        </p:nvSpPr>
        <p:spPr>
          <a:xfrm>
            <a:off x="1317356" y="1534645"/>
            <a:ext cx="569304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word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algebra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comes from the Arabic word </a:t>
            </a:r>
            <a:r>
              <a:rPr lang="ar-AE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الجبر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 al-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jabr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which means, “the restoring of broken parts.” The word algebra comes from the title of a book written by a Persian mathematician named Muhammad ibn Musa al-Khwarizmi in the 9</a:t>
            </a:r>
            <a:r>
              <a:rPr lang="en-US" sz="2000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century.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27394B-E078-E246-93D9-340A8ADA775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842374" y="1511725"/>
            <a:ext cx="1937385" cy="257746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2F4C1A5-68BB-9248-8251-B8C6E110A496}"/>
              </a:ext>
            </a:extLst>
          </p:cNvPr>
          <p:cNvSpPr/>
          <p:nvPr/>
        </p:nvSpPr>
        <p:spPr>
          <a:xfrm>
            <a:off x="1317356" y="4573267"/>
            <a:ext cx="89325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Based on what you know about algebraic expressions and equations, explain why you think this meaning of the Arabic word makes sense to describe algebra.</a:t>
            </a: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266" name="Picture 2" descr="Icon&#10;&#10;Description automatically generated">
            <a:extLst>
              <a:ext uri="{FF2B5EF4-FFF2-40B4-BE49-F238E27FC236}">
                <a16:creationId xmlns:a16="http://schemas.microsoft.com/office/drawing/2014/main" id="{8E68AE2B-31C4-664C-9668-81B7C167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92434" y="279196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2107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63119" y="-2066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13.10.2 Refresher: Evaluating Algebraic Expressions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522B94A7-8145-AF4C-A130-4689EF53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3490" y="14747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/>
              <p:nvPr/>
            </p:nvSpPr>
            <p:spPr>
              <a:xfrm>
                <a:off x="1627323" y="1305036"/>
                <a:ext cx="8742098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Evaluate each expression for the given value of 𝑥.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EEC4E3-DFCF-C94C-B80D-045F3E6BF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323" y="1305036"/>
                <a:ext cx="8742098" cy="1323439"/>
              </a:xfrm>
              <a:prstGeom prst="rect">
                <a:avLst/>
              </a:prstGeom>
              <a:blipFill rotWithShape="0">
                <a:blip r:embed="rId4"/>
                <a:stretch>
                  <a:fillRect l="-767" t="-2304" b="-7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4029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595F5A3-8517-A649-B3E5-8F39D89AF441}"/>
                  </a:ext>
                </a:extLst>
              </p:cNvPr>
              <p:cNvSpPr/>
              <p:nvPr/>
            </p:nvSpPr>
            <p:spPr>
              <a:xfrm>
                <a:off x="2105125" y="761550"/>
                <a:ext cx="8264295" cy="36097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4−2(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−7)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 𝑥=−1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(4.5+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)∙3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595F5A3-8517-A649-B3E5-8F39D89AF4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24" y="761549"/>
                <a:ext cx="8264295" cy="3609771"/>
              </a:xfrm>
              <a:prstGeom prst="rect">
                <a:avLst/>
              </a:prstGeom>
              <a:blipFill>
                <a:blip r:embed="rId4"/>
                <a:stretch>
                  <a:fillRect l="-767" t="-1404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9150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16.png">
            <a:extLst>
              <a:ext uri="{FF2B5EF4-FFF2-40B4-BE49-F238E27FC236}">
                <a16:creationId xmlns:a16="http://schemas.microsoft.com/office/drawing/2014/main" id="{8731CD33-60E7-5349-A322-38CB4F25879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630951" y="2806423"/>
            <a:ext cx="1156228" cy="11562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1005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13.10.3 Collaboration: Evaluating Equivalent Expressions Using Substitution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C46F4F-A85A-084E-B29C-01BB2615DE1E}"/>
              </a:ext>
            </a:extLst>
          </p:cNvPr>
          <p:cNvSpPr/>
          <p:nvPr/>
        </p:nvSpPr>
        <p:spPr>
          <a:xfrm>
            <a:off x="1436962" y="1386026"/>
            <a:ext cx="925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1963" indent="-446088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With your partner, complete the table by choosing who will be Partner A or Partner B to determine if the expressions are equivalent.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E4B2F91-0AB8-A649-A67E-BBD9C50503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2825132"/>
                  </p:ext>
                </p:extLst>
              </p:nvPr>
            </p:nvGraphicFramePr>
            <p:xfrm>
              <a:off x="2243250" y="2586958"/>
              <a:ext cx="8165958" cy="348582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357593">
                      <a:extLst>
                        <a:ext uri="{9D8B030D-6E8A-4147-A177-3AD203B41FA5}">
                          <a16:colId xmlns:a16="http://schemas.microsoft.com/office/drawing/2014/main" val="1422157211"/>
                        </a:ext>
                      </a:extLst>
                    </a:gridCol>
                    <a:gridCol w="2357134">
                      <a:extLst>
                        <a:ext uri="{9D8B030D-6E8A-4147-A177-3AD203B41FA5}">
                          <a16:colId xmlns:a16="http://schemas.microsoft.com/office/drawing/2014/main" val="3079529627"/>
                        </a:ext>
                      </a:extLst>
                    </a:gridCol>
                    <a:gridCol w="2484408">
                      <a:extLst>
                        <a:ext uri="{9D8B030D-6E8A-4147-A177-3AD203B41FA5}">
                          <a16:colId xmlns:a16="http://schemas.microsoft.com/office/drawing/2014/main" val="1793320753"/>
                        </a:ext>
                      </a:extLst>
                    </a:gridCol>
                    <a:gridCol w="1966823">
                      <a:extLst>
                        <a:ext uri="{9D8B030D-6E8A-4147-A177-3AD203B41FA5}">
                          <a16:colId xmlns:a16="http://schemas.microsoft.com/office/drawing/2014/main" val="4112228594"/>
                        </a:ext>
                      </a:extLst>
                    </a:gridCol>
                  </a:tblGrid>
                  <a:tr h="84559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Partner and</a:t>
                          </a:r>
                          <a:endParaRPr lang="x-none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Value</a:t>
                          </a:r>
                          <a:endParaRPr lang="x-none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𝟖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𝟒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𝟔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Equivalent?</a:t>
                          </a:r>
                          <a:endParaRPr lang="x-none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294528"/>
                      </a:ext>
                    </a:extLst>
                  </a:tr>
                  <a:tr h="129283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24218089"/>
                      </a:ext>
                    </a:extLst>
                  </a:tr>
                  <a:tr h="127859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=5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185935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E4B2F91-0AB8-A649-A67E-BBD9C50503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2825132"/>
                  </p:ext>
                </p:extLst>
              </p:nvPr>
            </p:nvGraphicFramePr>
            <p:xfrm>
              <a:off x="719250" y="2586958"/>
              <a:ext cx="8165958" cy="348582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357593">
                      <a:extLst>
                        <a:ext uri="{9D8B030D-6E8A-4147-A177-3AD203B41FA5}">
                          <a16:colId xmlns:a16="http://schemas.microsoft.com/office/drawing/2014/main" val="1422157211"/>
                        </a:ext>
                      </a:extLst>
                    </a:gridCol>
                    <a:gridCol w="2357134">
                      <a:extLst>
                        <a:ext uri="{9D8B030D-6E8A-4147-A177-3AD203B41FA5}">
                          <a16:colId xmlns:a16="http://schemas.microsoft.com/office/drawing/2014/main" val="3079529627"/>
                        </a:ext>
                      </a:extLst>
                    </a:gridCol>
                    <a:gridCol w="2484408">
                      <a:extLst>
                        <a:ext uri="{9D8B030D-6E8A-4147-A177-3AD203B41FA5}">
                          <a16:colId xmlns:a16="http://schemas.microsoft.com/office/drawing/2014/main" val="1793320753"/>
                        </a:ext>
                      </a:extLst>
                    </a:gridCol>
                    <a:gridCol w="1966823">
                      <a:extLst>
                        <a:ext uri="{9D8B030D-6E8A-4147-A177-3AD203B41FA5}">
                          <a16:colId xmlns:a16="http://schemas.microsoft.com/office/drawing/2014/main" val="411222859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Partner and</a:t>
                          </a:r>
                          <a:endParaRPr lang="en-CO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Value</a:t>
                          </a:r>
                          <a:endParaRPr lang="en-CO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8065" t="-8333" r="-189247" b="-2847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0000" t="-8333" r="-79592" b="-2847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Equivalent?</a:t>
                          </a:r>
                          <a:endParaRPr lang="en-CO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294528"/>
                      </a:ext>
                    </a:extLst>
                  </a:tr>
                  <a:tr h="12928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35" t="-75728" r="-502804" b="-990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24218089"/>
                      </a:ext>
                    </a:extLst>
                  </a:tr>
                  <a:tr h="12785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35" t="-179208" r="-502804" b="-9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984" marR="60984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1859352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image16.png">
            <a:extLst>
              <a:ext uri="{FF2B5EF4-FFF2-40B4-BE49-F238E27FC236}">
                <a16:creationId xmlns:a16="http://schemas.microsoft.com/office/drawing/2014/main" id="{8451074E-6669-E549-BDCF-6A3918743138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8705" y="248126"/>
            <a:ext cx="758257" cy="758257"/>
          </a:xfrm>
          <a:prstGeom prst="rect">
            <a:avLst/>
          </a:prstGeom>
          <a:ln/>
        </p:spPr>
      </p:pic>
      <p:sp>
        <p:nvSpPr>
          <p:cNvPr id="9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9DFA717-09B3-B849-8E59-A427869E0E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6776643"/>
                  </p:ext>
                </p:extLst>
              </p:nvPr>
            </p:nvGraphicFramePr>
            <p:xfrm>
              <a:off x="2347476" y="966116"/>
              <a:ext cx="7906456" cy="491741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314451">
                      <a:extLst>
                        <a:ext uri="{9D8B030D-6E8A-4147-A177-3AD203B41FA5}">
                          <a16:colId xmlns:a16="http://schemas.microsoft.com/office/drawing/2014/main" val="980533571"/>
                        </a:ext>
                      </a:extLst>
                    </a:gridCol>
                    <a:gridCol w="2278798">
                      <a:extLst>
                        <a:ext uri="{9D8B030D-6E8A-4147-A177-3AD203B41FA5}">
                          <a16:colId xmlns:a16="http://schemas.microsoft.com/office/drawing/2014/main" val="1520508862"/>
                        </a:ext>
                      </a:extLst>
                    </a:gridCol>
                    <a:gridCol w="2415396">
                      <a:extLst>
                        <a:ext uri="{9D8B030D-6E8A-4147-A177-3AD203B41FA5}">
                          <a16:colId xmlns:a16="http://schemas.microsoft.com/office/drawing/2014/main" val="3524829041"/>
                        </a:ext>
                      </a:extLst>
                    </a:gridCol>
                    <a:gridCol w="1897811">
                      <a:extLst>
                        <a:ext uri="{9D8B030D-6E8A-4147-A177-3AD203B41FA5}">
                          <a16:colId xmlns:a16="http://schemas.microsoft.com/office/drawing/2014/main" val="136126041"/>
                        </a:ext>
                      </a:extLst>
                    </a:gridCol>
                  </a:tblGrid>
                  <a:tr h="10467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Partner and</a:t>
                          </a:r>
                          <a:endParaRPr lang="x-none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Value</a:t>
                          </a:r>
                          <a:endParaRPr lang="x-none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𝟖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𝟒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𝟔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Equivalent?</a:t>
                          </a:r>
                          <a:endParaRPr lang="x-none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1316301"/>
                      </a:ext>
                    </a:extLst>
                  </a:tr>
                  <a:tr h="193535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=−5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16848353"/>
                      </a:ext>
                    </a:extLst>
                  </a:tr>
                  <a:tr h="193535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=(−2)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931762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9DFA717-09B3-B849-8E59-A427869E0E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6776643"/>
                  </p:ext>
                </p:extLst>
              </p:nvPr>
            </p:nvGraphicFramePr>
            <p:xfrm>
              <a:off x="823476" y="966116"/>
              <a:ext cx="7906456" cy="491741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314451">
                      <a:extLst>
                        <a:ext uri="{9D8B030D-6E8A-4147-A177-3AD203B41FA5}">
                          <a16:colId xmlns:a16="http://schemas.microsoft.com/office/drawing/2014/main" val="980533571"/>
                        </a:ext>
                      </a:extLst>
                    </a:gridCol>
                    <a:gridCol w="2278798">
                      <a:extLst>
                        <a:ext uri="{9D8B030D-6E8A-4147-A177-3AD203B41FA5}">
                          <a16:colId xmlns:a16="http://schemas.microsoft.com/office/drawing/2014/main" val="1520508862"/>
                        </a:ext>
                      </a:extLst>
                    </a:gridCol>
                    <a:gridCol w="2415396">
                      <a:extLst>
                        <a:ext uri="{9D8B030D-6E8A-4147-A177-3AD203B41FA5}">
                          <a16:colId xmlns:a16="http://schemas.microsoft.com/office/drawing/2014/main" val="3524829041"/>
                        </a:ext>
                      </a:extLst>
                    </a:gridCol>
                    <a:gridCol w="1897811">
                      <a:extLst>
                        <a:ext uri="{9D8B030D-6E8A-4147-A177-3AD203B41FA5}">
                          <a16:colId xmlns:a16="http://schemas.microsoft.com/office/drawing/2014/main" val="136126041"/>
                        </a:ext>
                      </a:extLst>
                    </a:gridCol>
                  </a:tblGrid>
                  <a:tr h="10467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Partner and</a:t>
                          </a:r>
                          <a:endParaRPr lang="en-CO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Value</a:t>
                          </a:r>
                          <a:endParaRPr lang="en-CO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7778" t="-2410" r="-189444" b="-3686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474" t="-2410" r="-79474" b="-3686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Equivalent?</a:t>
                          </a:r>
                          <a:endParaRPr lang="en-CO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1316301"/>
                      </a:ext>
                    </a:extLst>
                  </a:tr>
                  <a:tr h="19353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55921" r="-500962" b="-1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16848353"/>
                      </a:ext>
                    </a:extLst>
                  </a:tr>
                  <a:tr h="19353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54902" r="-500962" b="-6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9317623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5538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DD30458-F2CD-AA4E-8439-03C4ABDE9142}"/>
                  </a:ext>
                </a:extLst>
              </p:cNvPr>
              <p:cNvSpPr/>
              <p:nvPr/>
            </p:nvSpPr>
            <p:spPr>
              <a:xfrm>
                <a:off x="1162373" y="533212"/>
                <a:ext cx="10250712" cy="50167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6725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Complete the statement to describe the results in the last column of the table.</a:t>
                </a:r>
              </a:p>
              <a:p>
                <a:pPr marL="498475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1963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Depending on the value being substituted into the </a:t>
                </a:r>
              </a:p>
              <a:p>
                <a:pPr marL="461963">
                  <a:lnSpc>
                    <a:spcPct val="150000"/>
                  </a:lnSpc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1963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expressions, the evaluated expressions </a:t>
                </a:r>
              </a:p>
              <a:p>
                <a:pPr marL="461963">
                  <a:lnSpc>
                    <a:spcPct val="150000"/>
                  </a:lnSpc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1963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had the same value as each other. </a:t>
                </a:r>
              </a:p>
              <a:p>
                <a:pPr marL="14288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14288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14288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1963" indent="-461963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What do the results tell you about the expressions</a:t>
                </a:r>
              </a:p>
              <a:p>
                <a:pPr marL="461963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8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+ 4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−2 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2(6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−1)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?</a:t>
                </a:r>
              </a:p>
              <a:p>
                <a:pPr marL="14288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14288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DD30458-F2CD-AA4E-8439-03C4ABDE91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373" y="533212"/>
                <a:ext cx="10250712" cy="5016758"/>
              </a:xfrm>
              <a:prstGeom prst="rect">
                <a:avLst/>
              </a:prstGeom>
              <a:blipFill rotWithShape="0">
                <a:blip r:embed="rId3"/>
                <a:stretch>
                  <a:fillRect l="-654" t="-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9DBB2ABC-0248-8443-92AC-8F93BFD8E69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7935" y="1787273"/>
            <a:ext cx="2142911" cy="1254318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1343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2F34796-5C68-564E-98C7-8B7E278F6003}"/>
                  </a:ext>
                </a:extLst>
              </p:cNvPr>
              <p:cNvSpPr/>
              <p:nvPr/>
            </p:nvSpPr>
            <p:spPr>
              <a:xfrm>
                <a:off x="898902" y="411293"/>
                <a:ext cx="10494914" cy="53245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6725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Rewrite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8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by combining the like terms.</a:t>
                </a: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Use the distributive property to rewrite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2(6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−1)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. </a:t>
                </a: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66725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Discuss with your partner how the two expressions verify the results from your table. 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2F34796-5C68-564E-98C7-8B7E278F60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902" y="411293"/>
                <a:ext cx="10494914" cy="5324535"/>
              </a:xfrm>
              <a:prstGeom prst="rect">
                <a:avLst/>
              </a:prstGeom>
              <a:blipFill rotWithShape="0">
                <a:blip r:embed="rId3"/>
                <a:stretch>
                  <a:fillRect l="-523" t="-686" b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9476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42139" y="-588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4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13.10.4 Guided Instruction: Determining Equivalent Expressions Using Substitution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184" y="19204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65CEBC6-0C26-3645-AB91-CC52DC9589E3}"/>
                  </a:ext>
                </a:extLst>
              </p:cNvPr>
              <p:cNvSpPr/>
              <p:nvPr/>
            </p:nvSpPr>
            <p:spPr>
              <a:xfrm>
                <a:off x="1295485" y="1361497"/>
                <a:ext cx="974099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two expressions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8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2(6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−1)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equivalent, but not equal. The expressions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equal.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difference between 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equivalence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:r>
                  <a:rPr lang="en-US" sz="20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equality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65CEBC6-0C26-3645-AB91-CC52DC9589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85" y="1361497"/>
                <a:ext cx="9740990" cy="1631216"/>
              </a:xfrm>
              <a:prstGeom prst="rect">
                <a:avLst/>
              </a:prstGeom>
              <a:blipFill rotWithShape="0">
                <a:blip r:embed="rId4"/>
                <a:stretch>
                  <a:fillRect l="-689" t="-23507"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0A0F8137-E2FE-2946-BD3D-5765F6F402E4}"/>
              </a:ext>
            </a:extLst>
          </p:cNvPr>
          <p:cNvGrpSpPr/>
          <p:nvPr/>
        </p:nvGrpSpPr>
        <p:grpSpPr>
          <a:xfrm>
            <a:off x="2519850" y="2111290"/>
            <a:ext cx="7075130" cy="1062575"/>
            <a:chOff x="2031300" y="3373600"/>
            <a:chExt cx="6629400" cy="8128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2EA9D6-63D2-E34C-8141-8523D88768A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651CB98-3830-734D-B491-BDD63EAA8017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</p:grpSp>
      <p:sp>
        <p:nvSpPr>
          <p:cNvPr id="17" name="Rectangle: Rounded Corners 114">
            <a:extLst>
              <a:ext uri="{FF2B5EF4-FFF2-40B4-BE49-F238E27FC236}">
                <a16:creationId xmlns:a16="http://schemas.microsoft.com/office/drawing/2014/main" id="{B2755952-01B6-6946-A7C3-AC8ED2D2A81D}"/>
              </a:ext>
            </a:extLst>
          </p:cNvPr>
          <p:cNvSpPr/>
          <p:nvPr/>
        </p:nvSpPr>
        <p:spPr>
          <a:xfrm>
            <a:off x="2125495" y="3686374"/>
            <a:ext cx="7863840" cy="1810129"/>
          </a:xfrm>
          <a:prstGeom prst="roundRect">
            <a:avLst/>
          </a:prstGeom>
          <a:solidFill>
            <a:srgbClr val="B8E6F5"/>
          </a:solidFill>
          <a:ln>
            <a:solidFill>
              <a:srgbClr val="B8E6F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742950"/>
            <a:r>
              <a:rPr lang="en-US" sz="2000" dirty="0">
                <a:solidFill>
                  <a:srgbClr val="00619E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Algebraic expressions are </a:t>
            </a:r>
            <a:r>
              <a:rPr lang="en-US" sz="2000" b="1" dirty="0">
                <a:solidFill>
                  <a:srgbClr val="00619E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equivalent </a:t>
            </a:r>
            <a:r>
              <a:rPr lang="en-US" sz="2000" dirty="0">
                <a:solidFill>
                  <a:srgbClr val="00619E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if they have different terms but are equal when evaluated using the same value for the variables. Algebraic expressions are </a:t>
            </a:r>
            <a:r>
              <a:rPr lang="en-US" sz="2000" b="1" dirty="0">
                <a:solidFill>
                  <a:srgbClr val="00619E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equal </a:t>
            </a:r>
            <a:r>
              <a:rPr lang="en-US" sz="2000" dirty="0">
                <a:solidFill>
                  <a:srgbClr val="00619E"/>
                </a:solidFill>
                <a:latin typeface="Verdana" panose="020B0604030504040204" pitchFamily="34" charset="0"/>
                <a:ea typeface="Times New Roman" panose="02020603050405020304" pitchFamily="18" charset="0"/>
              </a:rPr>
              <a:t>if they have the same terms and operations.</a:t>
            </a:r>
            <a:endParaRPr lang="x-none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9" name="image3.png" descr="Icon&#10;&#10;Description automatically generated">
            <a:extLst>
              <a:ext uri="{FF2B5EF4-FFF2-40B4-BE49-F238E27FC236}">
                <a16:creationId xmlns:a16="http://schemas.microsoft.com/office/drawing/2014/main" id="{251EFCD7-1422-A646-96B5-93090D23514F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42350" y="3867525"/>
            <a:ext cx="539750" cy="5397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D8CE891-558F-FB41-8F03-D31983C4CCA2}"/>
                  </a:ext>
                </a:extLst>
              </p:cNvPr>
              <p:cNvSpPr/>
              <p:nvPr/>
            </p:nvSpPr>
            <p:spPr>
              <a:xfrm>
                <a:off x="1379349" y="364589"/>
                <a:ext cx="9760116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whether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5 − 3(2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+ 1)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+ 2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equivalent using substitution of numerical values.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25513" indent="-447675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D8CE891-558F-FB41-8F03-D31983C4C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349" y="364589"/>
                <a:ext cx="9760116" cy="1323439"/>
              </a:xfrm>
              <a:prstGeom prst="rect">
                <a:avLst/>
              </a:prstGeom>
              <a:blipFill rotWithShape="0">
                <a:blip r:embed="rId3"/>
                <a:stretch>
                  <a:fillRect l="-687" t="-29032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52CFB78-1BEA-2042-ABF6-956F61EF6E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3807760"/>
                  </p:ext>
                </p:extLst>
              </p:nvPr>
            </p:nvGraphicFramePr>
            <p:xfrm>
              <a:off x="2270760" y="1897183"/>
              <a:ext cx="7650480" cy="435133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35602">
                      <a:extLst>
                        <a:ext uri="{9D8B030D-6E8A-4147-A177-3AD203B41FA5}">
                          <a16:colId xmlns:a16="http://schemas.microsoft.com/office/drawing/2014/main" val="4099107112"/>
                        </a:ext>
                      </a:extLst>
                    </a:gridCol>
                    <a:gridCol w="2844152">
                      <a:extLst>
                        <a:ext uri="{9D8B030D-6E8A-4147-A177-3AD203B41FA5}">
                          <a16:colId xmlns:a16="http://schemas.microsoft.com/office/drawing/2014/main" val="1019772529"/>
                        </a:ext>
                      </a:extLst>
                    </a:gridCol>
                    <a:gridCol w="2870726">
                      <a:extLst>
                        <a:ext uri="{9D8B030D-6E8A-4147-A177-3AD203B41FA5}">
                          <a16:colId xmlns:a16="http://schemas.microsoft.com/office/drawing/2014/main" val="3454141462"/>
                        </a:ext>
                      </a:extLst>
                    </a:gridCol>
                  </a:tblGrid>
                  <a:tr h="4432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981741"/>
                      </a:ext>
                    </a:extLst>
                  </a:tr>
                  <a:tr h="1302689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What is the value when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?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7938099"/>
                      </a:ext>
                    </a:extLst>
                  </a:tr>
                  <a:tr h="1302689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What is the value when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?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16405430"/>
                      </a:ext>
                    </a:extLst>
                  </a:tr>
                  <a:tr h="1302689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Choose another value for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substitute.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457253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52CFB78-1BEA-2042-ABF6-956F61EF6E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3807760"/>
                  </p:ext>
                </p:extLst>
              </p:nvPr>
            </p:nvGraphicFramePr>
            <p:xfrm>
              <a:off x="746760" y="1897182"/>
              <a:ext cx="7650480" cy="435133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35602">
                      <a:extLst>
                        <a:ext uri="{9D8B030D-6E8A-4147-A177-3AD203B41FA5}">
                          <a16:colId xmlns:a16="http://schemas.microsoft.com/office/drawing/2014/main" val="4099107112"/>
                        </a:ext>
                      </a:extLst>
                    </a:gridCol>
                    <a:gridCol w="2844152">
                      <a:extLst>
                        <a:ext uri="{9D8B030D-6E8A-4147-A177-3AD203B41FA5}">
                          <a16:colId xmlns:a16="http://schemas.microsoft.com/office/drawing/2014/main" val="1019772529"/>
                        </a:ext>
                      </a:extLst>
                    </a:gridCol>
                    <a:gridCol w="2870726">
                      <a:extLst>
                        <a:ext uri="{9D8B030D-6E8A-4147-A177-3AD203B41FA5}">
                          <a16:colId xmlns:a16="http://schemas.microsoft.com/office/drawing/2014/main" val="3454141462"/>
                        </a:ext>
                      </a:extLst>
                    </a:gridCol>
                  </a:tblGrid>
                  <a:tr h="443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857" r="-295425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8304" t="-2857" r="-101786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6079" t="-2857" r="-441" b="-90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981741"/>
                      </a:ext>
                    </a:extLst>
                  </a:tr>
                  <a:tr h="13026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4951" r="-295425" b="-208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77938099"/>
                      </a:ext>
                    </a:extLst>
                  </a:tr>
                  <a:tr h="13026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34951" r="-295425" b="-108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16405430"/>
                      </a:ext>
                    </a:extLst>
                  </a:tr>
                  <a:tr h="13026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017" marR="4801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34951" r="-295425" b="-8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017" marR="4801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457253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9042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4DACC8-9278-5D41-A412-4D85903DDDBA}"/>
              </a:ext>
            </a:extLst>
          </p:cNvPr>
          <p:cNvSpPr/>
          <p:nvPr/>
        </p:nvSpPr>
        <p:spPr>
          <a:xfrm>
            <a:off x="1239865" y="955945"/>
            <a:ext cx="97898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5513" indent="-447675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if the expressions are equivalent.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1598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64DACC8-9278-5D41-A412-4D85903DDDBA}"/>
                  </a:ext>
                </a:extLst>
              </p:cNvPr>
              <p:cNvSpPr/>
              <p:nvPr/>
            </p:nvSpPr>
            <p:spPr>
              <a:xfrm>
                <a:off x="1208869" y="529225"/>
                <a:ext cx="9851814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25513" indent="-447675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the expressions were equal when “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” was substituted for 𝑥.</a:t>
                </a:r>
              </a:p>
              <a:p>
                <a:pPr marL="925513" indent="-447675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5513" indent="-447675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5513" indent="-447675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5513" indent="-447675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5513" indent="-447675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5513" indent="-447675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5513" indent="-447675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5513" indent="-447675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5513" indent="-447675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the advantages and disadvantages of using “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” to substitute for a variable to check for equivalence. 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64DACC8-9278-5D41-A412-4D85903DDD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869" y="529225"/>
                <a:ext cx="9851814" cy="3785652"/>
              </a:xfrm>
              <a:prstGeom prst="rect">
                <a:avLst/>
              </a:prstGeom>
              <a:blipFill rotWithShape="0">
                <a:blip r:embed="rId3"/>
                <a:stretch>
                  <a:fillRect t="-1127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9239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64DACC8-9278-5D41-A412-4D85903DDDBA}"/>
                  </a:ext>
                </a:extLst>
              </p:cNvPr>
              <p:cNvSpPr/>
              <p:nvPr/>
            </p:nvSpPr>
            <p:spPr>
              <a:xfrm>
                <a:off x="1193370" y="529226"/>
                <a:ext cx="9882812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whether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 +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(4 − 2)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(3−7) + 5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equivalent using substitution of numerical values.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65188" indent="-447675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64DACC8-9278-5D41-A412-4D85903DDD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370" y="529226"/>
                <a:ext cx="9882812" cy="1323439"/>
              </a:xfrm>
              <a:prstGeom prst="rect">
                <a:avLst/>
              </a:prstGeom>
              <a:blipFill rotWithShape="0">
                <a:blip r:embed="rId3"/>
                <a:stretch>
                  <a:fillRect l="-679" t="-29032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F237DBE-407C-8548-8658-74F29AB8E8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3334180"/>
                  </p:ext>
                </p:extLst>
              </p:nvPr>
            </p:nvGraphicFramePr>
            <p:xfrm>
              <a:off x="2606714" y="2072641"/>
              <a:ext cx="7056120" cy="410432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00005">
                      <a:extLst>
                        <a:ext uri="{9D8B030D-6E8A-4147-A177-3AD203B41FA5}">
                          <a16:colId xmlns:a16="http://schemas.microsoft.com/office/drawing/2014/main" val="1602952616"/>
                        </a:ext>
                      </a:extLst>
                    </a:gridCol>
                    <a:gridCol w="2617049">
                      <a:extLst>
                        <a:ext uri="{9D8B030D-6E8A-4147-A177-3AD203B41FA5}">
                          <a16:colId xmlns:a16="http://schemas.microsoft.com/office/drawing/2014/main" val="2139318443"/>
                        </a:ext>
                      </a:extLst>
                    </a:gridCol>
                    <a:gridCol w="2539066">
                      <a:extLst>
                        <a:ext uri="{9D8B030D-6E8A-4147-A177-3AD203B41FA5}">
                          <a16:colId xmlns:a16="http://schemas.microsoft.com/office/drawing/2014/main" val="2194512433"/>
                        </a:ext>
                      </a:extLst>
                    </a:gridCol>
                  </a:tblGrid>
                  <a:tr h="41811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7547263"/>
                      </a:ext>
                    </a:extLst>
                  </a:tr>
                  <a:tr h="1228737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What is the value when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=1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?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5459483"/>
                      </a:ext>
                    </a:extLst>
                  </a:tr>
                  <a:tr h="1228737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What is the value when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 0 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?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80454364"/>
                      </a:ext>
                    </a:extLst>
                  </a:tr>
                  <a:tr h="1228737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Choose another value for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substitute.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615094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F237DBE-407C-8548-8658-74F29AB8E8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3334180"/>
                  </p:ext>
                </p:extLst>
              </p:nvPr>
            </p:nvGraphicFramePr>
            <p:xfrm>
              <a:off x="1082714" y="2072640"/>
              <a:ext cx="7056120" cy="410432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00005">
                      <a:extLst>
                        <a:ext uri="{9D8B030D-6E8A-4147-A177-3AD203B41FA5}">
                          <a16:colId xmlns:a16="http://schemas.microsoft.com/office/drawing/2014/main" val="1602952616"/>
                        </a:ext>
                      </a:extLst>
                    </a:gridCol>
                    <a:gridCol w="2617049">
                      <a:extLst>
                        <a:ext uri="{9D8B030D-6E8A-4147-A177-3AD203B41FA5}">
                          <a16:colId xmlns:a16="http://schemas.microsoft.com/office/drawing/2014/main" val="2139318443"/>
                        </a:ext>
                      </a:extLst>
                    </a:gridCol>
                    <a:gridCol w="2539066">
                      <a:extLst>
                        <a:ext uri="{9D8B030D-6E8A-4147-A177-3AD203B41FA5}">
                          <a16:colId xmlns:a16="http://schemas.microsoft.com/office/drawing/2014/main" val="2194512433"/>
                        </a:ext>
                      </a:extLst>
                    </a:gridCol>
                  </a:tblGrid>
                  <a:tr h="4181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7" t="-3030" r="-272000" b="-9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3301" t="-3030" r="-98058" b="-9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8500" t="-3030" r="-1000" b="-91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7547263"/>
                      </a:ext>
                    </a:extLst>
                  </a:tr>
                  <a:tr h="12287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7" t="-35052" r="-272000" b="-212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5459483"/>
                      </a:ext>
                    </a:extLst>
                  </a:tr>
                  <a:tr h="12287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7" t="-135052" r="-272000" b="-112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80454364"/>
                      </a:ext>
                    </a:extLst>
                  </a:tr>
                  <a:tr h="12287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8851" marR="4885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7" t="-235052" r="-272000" b="-12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8851" marR="48851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6150942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8192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4DACC8-9278-5D41-A412-4D85903DDDBA}"/>
              </a:ext>
            </a:extLst>
          </p:cNvPr>
          <p:cNvSpPr/>
          <p:nvPr/>
        </p:nvSpPr>
        <p:spPr>
          <a:xfrm>
            <a:off x="1224367" y="1077865"/>
            <a:ext cx="98208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5513" indent="-447675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values are best to use when substituting values in for the variable to check for equivalency?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1925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64474" y="8582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4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13.10.5 Guided Practice: Determining Equivalent Expressions Using Substitution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2134" y="21994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E93443-AE1C-E74A-AE78-CC15B1FA9136}"/>
              </a:ext>
            </a:extLst>
          </p:cNvPr>
          <p:cNvSpPr/>
          <p:nvPr/>
        </p:nvSpPr>
        <p:spPr>
          <a:xfrm>
            <a:off x="1464474" y="1320389"/>
            <a:ext cx="94307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Verdana" panose="020B0604030504040204" pitchFamily="34" charset="0"/>
              <a:buAutoNum type="arabicPeriod"/>
            </a:pPr>
            <a:r>
              <a:rPr lang="en-GB" sz="1800" dirty="0">
                <a:latin typeface="Verdana" panose="020B0604030504040204" pitchFamily="34" charset="0"/>
                <a:ea typeface="Times New Roman" panose="02020603050405020304" pitchFamily="18" charset="0"/>
              </a:rPr>
              <a:t>Consider the three expressions below. Determine whether the expressions are equivalent by substituting the given value of 𝑥. </a:t>
            </a:r>
          </a:p>
          <a:p>
            <a:pPr lvl="0"/>
            <a:endParaRPr lang="en-GB" sz="18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925513" indent="-447675">
              <a:buFont typeface="+mj-lt"/>
              <a:buAutoNum type="alphaLcPeriod"/>
            </a:pPr>
            <a:r>
              <a:rPr lang="en-GB" sz="1800" dirty="0">
                <a:latin typeface="Verdana" panose="020B0604030504040204" pitchFamily="34" charset="0"/>
                <a:ea typeface="Times New Roman" panose="02020603050405020304" pitchFamily="18" charset="0"/>
              </a:rPr>
              <a:t>Complete the table.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3BA6452-93EF-8B42-BD75-10A2019ED2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3891625"/>
                  </p:ext>
                </p:extLst>
              </p:nvPr>
            </p:nvGraphicFramePr>
            <p:xfrm>
              <a:off x="2381551" y="2646092"/>
              <a:ext cx="7428899" cy="318204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299145">
                      <a:extLst>
                        <a:ext uri="{9D8B030D-6E8A-4147-A177-3AD203B41FA5}">
                          <a16:colId xmlns:a16="http://schemas.microsoft.com/office/drawing/2014/main" val="2842940232"/>
                        </a:ext>
                      </a:extLst>
                    </a:gridCol>
                    <a:gridCol w="2543151">
                      <a:extLst>
                        <a:ext uri="{9D8B030D-6E8A-4147-A177-3AD203B41FA5}">
                          <a16:colId xmlns:a16="http://schemas.microsoft.com/office/drawing/2014/main" val="1568049374"/>
                        </a:ext>
                      </a:extLst>
                    </a:gridCol>
                    <a:gridCol w="1612731">
                      <a:extLst>
                        <a:ext uri="{9D8B030D-6E8A-4147-A177-3AD203B41FA5}">
                          <a16:colId xmlns:a16="http://schemas.microsoft.com/office/drawing/2014/main" val="432757133"/>
                        </a:ext>
                      </a:extLst>
                    </a:gridCol>
                    <a:gridCol w="1973872">
                      <a:extLst>
                        <a:ext uri="{9D8B030D-6E8A-4147-A177-3AD203B41FA5}">
                          <a16:colId xmlns:a16="http://schemas.microsoft.com/office/drawing/2014/main" val="226338777"/>
                        </a:ext>
                      </a:extLst>
                    </a:gridCol>
                  </a:tblGrid>
                  <a:tr h="40388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𝟔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7755715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0892712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=−2.75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5645651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 _____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357214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3BA6452-93EF-8B42-BD75-10A2019ED2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3891625"/>
                  </p:ext>
                </p:extLst>
              </p:nvPr>
            </p:nvGraphicFramePr>
            <p:xfrm>
              <a:off x="857550" y="2646091"/>
              <a:ext cx="7428899" cy="3182049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299145">
                      <a:extLst>
                        <a:ext uri="{9D8B030D-6E8A-4147-A177-3AD203B41FA5}">
                          <a16:colId xmlns:a16="http://schemas.microsoft.com/office/drawing/2014/main" val="2842940232"/>
                        </a:ext>
                      </a:extLst>
                    </a:gridCol>
                    <a:gridCol w="2543151">
                      <a:extLst>
                        <a:ext uri="{9D8B030D-6E8A-4147-A177-3AD203B41FA5}">
                          <a16:colId xmlns:a16="http://schemas.microsoft.com/office/drawing/2014/main" val="1568049374"/>
                        </a:ext>
                      </a:extLst>
                    </a:gridCol>
                    <a:gridCol w="1612731">
                      <a:extLst>
                        <a:ext uri="{9D8B030D-6E8A-4147-A177-3AD203B41FA5}">
                          <a16:colId xmlns:a16="http://schemas.microsoft.com/office/drawing/2014/main" val="432757133"/>
                        </a:ext>
                      </a:extLst>
                    </a:gridCol>
                    <a:gridCol w="1973872">
                      <a:extLst>
                        <a:ext uri="{9D8B030D-6E8A-4147-A177-3AD203B41FA5}">
                          <a16:colId xmlns:a16="http://schemas.microsoft.com/office/drawing/2014/main" val="226338777"/>
                        </a:ext>
                      </a:extLst>
                    </a:gridCol>
                  </a:tblGrid>
                  <a:tr h="4388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80" t="-2857" r="-475490" b="-62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1244" t="-2857" r="-141294" b="-62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9370" t="-2857" r="-123622" b="-62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76282" t="-2857" r="-641" b="-62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7755715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80" t="-50000" r="-475490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0892712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80" t="-150000" r="-475490" b="-1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5645651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80" t="-250000" r="-475490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0681" marR="4068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3572148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8E93443-AE1C-E74A-AE78-CC15B1FA9136}"/>
                  </a:ext>
                </a:extLst>
              </p:cNvPr>
              <p:cNvSpPr/>
              <p:nvPr/>
            </p:nvSpPr>
            <p:spPr>
              <a:xfrm>
                <a:off x="1053885" y="421229"/>
                <a:ext cx="10202408" cy="21705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25513" indent="-463550">
                  <a:buFont typeface="+mj-lt"/>
                  <a:buAutoNum type="alphaLcPeriod" startAt="2"/>
                </a:pPr>
                <a:r>
                  <a:rPr lang="en-GB" sz="18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What conclusion can you draw about the expressions from the information in the table?</a:t>
                </a:r>
              </a:p>
              <a:p>
                <a:pPr marL="342900" indent="-342900">
                  <a:buFont typeface="+mj-lt"/>
                  <a:buAutoNum type="alphaLcPeriod" startAt="2"/>
                </a:pPr>
                <a:endParaRPr lang="en-GB" sz="18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lphaLcPeriod" startAt="2"/>
                </a:pPr>
                <a:endParaRPr lang="en-GB" sz="18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lvl="0"/>
                <a:endParaRPr lang="en-GB" sz="18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r>
                  <a:rPr lang="en-GB" sz="18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Determine whether the expressions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800" i="1" dirty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1800" i="1" dirty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(15</m:t>
                    </m:r>
                    <m:r>
                      <a:rPr lang="en-GB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GB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− 30</m:t>
                    </m:r>
                    <m:r>
                      <a:rPr lang="en-GB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en-GB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)+10</m:t>
                    </m:r>
                    <m:r>
                      <a:rPr lang="en-GB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GB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GB" sz="18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and </a:t>
                </a:r>
                <a:endParaRPr lang="es-ES" sz="1800" i="1" dirty="0">
                  <a:latin typeface="Cambria Math" panose="02040503050406030204" pitchFamily="18" charset="0"/>
                  <a:ea typeface="Times New Roman" panose="02020603050405020304" pitchFamily="18" charset="0"/>
                </a:endParaRPr>
              </a:p>
              <a:p>
                <a:pPr lvl="0"/>
                <a14:m>
                  <m:oMath xmlns:m="http://schemas.openxmlformats.org/officeDocument/2006/math">
                    <m:r>
                      <a:rPr lang="es-ES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      </m:t>
                    </m:r>
                    <m:r>
                      <a:rPr lang="en-GB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4(4</m:t>
                    </m:r>
                    <m:r>
                      <a:rPr lang="en-GB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GB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−2</m:t>
                    </m:r>
                    <m:r>
                      <a:rPr lang="en-GB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en-GB" sz="18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GB" sz="18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are equivalent.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8E93443-AE1C-E74A-AE78-CC15B1FA91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885" y="421229"/>
                <a:ext cx="10202408" cy="2170531"/>
              </a:xfrm>
              <a:prstGeom prst="rect">
                <a:avLst/>
              </a:prstGeom>
              <a:blipFill rotWithShape="0">
                <a:blip r:embed="rId3"/>
                <a:stretch>
                  <a:fillRect l="-538" t="-1404" b="-19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9984BC8-9BB2-EB40-97A7-575C58582F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6091886"/>
                  </p:ext>
                </p:extLst>
              </p:nvPr>
            </p:nvGraphicFramePr>
            <p:xfrm>
              <a:off x="2500845" y="2706592"/>
              <a:ext cx="7190310" cy="353090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263516">
                      <a:extLst>
                        <a:ext uri="{9D8B030D-6E8A-4147-A177-3AD203B41FA5}">
                          <a16:colId xmlns:a16="http://schemas.microsoft.com/office/drawing/2014/main" val="1389919444"/>
                        </a:ext>
                      </a:extLst>
                    </a:gridCol>
                    <a:gridCol w="3076678">
                      <a:extLst>
                        <a:ext uri="{9D8B030D-6E8A-4147-A177-3AD203B41FA5}">
                          <a16:colId xmlns:a16="http://schemas.microsoft.com/office/drawing/2014/main" val="928085710"/>
                        </a:ext>
                      </a:extLst>
                    </a:gridCol>
                    <a:gridCol w="2850116">
                      <a:extLst>
                        <a:ext uri="{9D8B030D-6E8A-4147-A177-3AD203B41FA5}">
                          <a16:colId xmlns:a16="http://schemas.microsoft.com/office/drawing/2014/main" val="4282676134"/>
                        </a:ext>
                      </a:extLst>
                    </a:gridCol>
                  </a:tblGrid>
                  <a:tr h="40341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oMath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𝟏𝟓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𝟑𝟎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1417731"/>
                      </a:ext>
                    </a:extLst>
                  </a:tr>
                  <a:tr h="154529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=−2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9934506"/>
                      </a:ext>
                    </a:extLst>
                  </a:tr>
                  <a:tr h="154529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___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___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9548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9984BC8-9BB2-EB40-97A7-575C58582F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6091886"/>
                  </p:ext>
                </p:extLst>
              </p:nvPr>
            </p:nvGraphicFramePr>
            <p:xfrm>
              <a:off x="976845" y="2706591"/>
              <a:ext cx="7190310" cy="3530907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263516">
                      <a:extLst>
                        <a:ext uri="{9D8B030D-6E8A-4147-A177-3AD203B41FA5}">
                          <a16:colId xmlns:a16="http://schemas.microsoft.com/office/drawing/2014/main" val="1389919444"/>
                        </a:ext>
                      </a:extLst>
                    </a:gridCol>
                    <a:gridCol w="3076678">
                      <a:extLst>
                        <a:ext uri="{9D8B030D-6E8A-4147-A177-3AD203B41FA5}">
                          <a16:colId xmlns:a16="http://schemas.microsoft.com/office/drawing/2014/main" val="928085710"/>
                        </a:ext>
                      </a:extLst>
                    </a:gridCol>
                    <a:gridCol w="2850116">
                      <a:extLst>
                        <a:ext uri="{9D8B030D-6E8A-4147-A177-3AD203B41FA5}">
                          <a16:colId xmlns:a16="http://schemas.microsoft.com/office/drawing/2014/main" val="4282676134"/>
                        </a:ext>
                      </a:extLst>
                    </a:gridCol>
                  </a:tblGrid>
                  <a:tr h="4403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857" r="-469000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1152" t="-2857" r="-93004" b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2444" t="-2857" r="-444" b="-7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1417731"/>
                      </a:ext>
                    </a:extLst>
                  </a:tr>
                  <a:tr h="15452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9508" r="-469000" b="-10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9934506"/>
                      </a:ext>
                    </a:extLst>
                  </a:tr>
                  <a:tr h="15452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29508" r="-469000" b="-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CO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8706" marR="58706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9548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9676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83300" y="326119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13.10.6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324" y="2651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530A248-17D8-9B4E-B32E-9F5472BCF227}"/>
              </a:ext>
            </a:extLst>
          </p:cNvPr>
          <p:cNvSpPr/>
          <p:nvPr/>
        </p:nvSpPr>
        <p:spPr>
          <a:xfrm>
            <a:off x="1658320" y="1073420"/>
            <a:ext cx="883518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which expressions are equivalent by substituting the same values for the variable. </a:t>
            </a:r>
          </a:p>
        </p:txBody>
      </p:sp>
      <p:pic>
        <p:nvPicPr>
          <p:cNvPr id="7" name="Picture 6" descr="Calendar&#10;&#10;Description automatically generated">
            <a:extLst>
              <a:ext uri="{FF2B5EF4-FFF2-40B4-BE49-F238E27FC236}">
                <a16:creationId xmlns:a16="http://schemas.microsoft.com/office/drawing/2014/main" id="{AAB87653-3E6D-554C-8492-FABCA0AB208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7369" y="1781307"/>
            <a:ext cx="5297294" cy="5050571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9143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30A248-17D8-9B4E-B32E-9F5472BCF227}"/>
              </a:ext>
            </a:extLst>
          </p:cNvPr>
          <p:cNvSpPr/>
          <p:nvPr/>
        </p:nvSpPr>
        <p:spPr>
          <a:xfrm>
            <a:off x="1193370" y="869362"/>
            <a:ext cx="976508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each statement using the expressions from the table.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 is equivalent to _________________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 is equivalent to _________________</a:t>
            </a:r>
          </a:p>
          <a:p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_________________ is equivalent to _________________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2521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85537" y="-8354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13.10.7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6087" y="2056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F7A919-8B1E-2741-BB78-98A66295B9F8}"/>
              </a:ext>
            </a:extLst>
          </p:cNvPr>
          <p:cNvSpPr/>
          <p:nvPr/>
        </p:nvSpPr>
        <p:spPr>
          <a:xfrm>
            <a:off x="1255363" y="1243129"/>
            <a:ext cx="926405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1963" indent="-447675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Rate yourself using the scale below on today’s learning target.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 </a:t>
            </a:r>
          </a:p>
          <a:p>
            <a:pPr marL="461963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I can verify using substitution that linear expressions are equivalent.</a:t>
            </a:r>
          </a:p>
        </p:txBody>
      </p:sp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11B19ADA-C723-4B4A-A889-3358404510C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5854" y="3104474"/>
            <a:ext cx="6373906" cy="156153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22594BC-CAF8-E240-8FC8-49A427A23C97}"/>
              </a:ext>
            </a:extLst>
          </p:cNvPr>
          <p:cNvSpPr/>
          <p:nvPr/>
        </p:nvSpPr>
        <p:spPr>
          <a:xfrm>
            <a:off x="1255363" y="5129329"/>
            <a:ext cx="92640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Write an explanation of why you rated yourself where you did.</a:t>
            </a:r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69409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32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1418</TotalTime>
  <Words>1180</Words>
  <Application>Microsoft Office PowerPoint</Application>
  <PresentationFormat>Widescreen</PresentationFormat>
  <Paragraphs>268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Arial Black</vt:lpstr>
      <vt:lpstr>Calibri</vt:lpstr>
      <vt:lpstr>Cambria Math</vt:lpstr>
      <vt:lpstr>Century Gothic</vt:lpstr>
      <vt:lpstr>Courier New</vt:lpstr>
      <vt:lpstr>Times New Roman</vt:lpstr>
      <vt:lpstr>Verdana</vt:lpstr>
      <vt:lpstr>Wingdings</vt:lpstr>
      <vt:lpstr>1_Office Theme</vt:lpstr>
      <vt:lpstr>6th Grade Accelerated Math  Unit 13, Lesson 10  Equivalent Linear Expressions  Volume 2, pg. 314  </vt:lpstr>
      <vt:lpstr>Benchmark</vt:lpstr>
      <vt:lpstr>PowerPoint Presentation</vt:lpstr>
      <vt:lpstr>PowerPoint Presentation</vt:lpstr>
      <vt:lpstr>Warm-Up</vt:lpstr>
      <vt:lpstr>PowerPoint Presentation</vt:lpstr>
      <vt:lpstr>Refresher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24</cp:revision>
  <dcterms:created xsi:type="dcterms:W3CDTF">2015-03-17T18:51:18Z</dcterms:created>
  <dcterms:modified xsi:type="dcterms:W3CDTF">2022-07-02T04:31:20Z</dcterms:modified>
</cp:coreProperties>
</file>