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42" r:id="rId11"/>
    <p:sldId id="339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41" r:id="rId21"/>
    <p:sldId id="306" r:id="rId22"/>
    <p:sldId id="30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6B9A3D"/>
    <a:srgbClr val="70973B"/>
    <a:srgbClr val="E2EFD5"/>
    <a:srgbClr val="B399C8"/>
    <a:srgbClr val="1F3165"/>
    <a:srgbClr val="C9DF6F"/>
    <a:srgbClr val="417DBF"/>
    <a:srgbClr val="3F2A67"/>
    <a:srgbClr val="E24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153"/>
    <p:restoredTop sz="94695"/>
  </p:normalViewPr>
  <p:slideViewPr>
    <p:cSldViewPr snapToGrid="0">
      <p:cViewPr varScale="1">
        <p:scale>
          <a:sx n="79" d="100"/>
          <a:sy n="79" d="100"/>
        </p:scale>
        <p:origin x="24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290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\[]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‘p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534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765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313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515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319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28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851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4441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7566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374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Properties of Operations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274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81978" y="392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78" y="2396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81978" y="1600200"/>
            <a:ext cx="92280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MA.6.AR.1.4 </a:t>
            </a:r>
          </a:p>
          <a:p>
            <a:pPr marL="4714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the properties of operations to generate equivalent algebraic expressions with integer coefficients.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36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66301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54046" y="1596390"/>
            <a:ext cx="875675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381362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19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705340" y="1600200"/>
            <a:ext cx="87813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apply the associative, commutative, and distributive properties to generate equivalent expressions.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62431" y="3206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13.3.1 Warm-Up: Mental Math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949" y="32126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178158" y="1386025"/>
                <a:ext cx="1009171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Ulrich finds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his head. Ulrich wrote the following explanation of his thinking: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	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100+7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 can 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5(100+7)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 know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	Then, I add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158" y="1386025"/>
                <a:ext cx="10091716" cy="1631216"/>
              </a:xfrm>
              <a:prstGeom prst="rect">
                <a:avLst/>
              </a:prstGeom>
              <a:blipFill rotWithShape="0">
                <a:blip r:embed="rId4"/>
                <a:stretch>
                  <a:fillRect l="-604" t="-1866" r="-121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64302" y="3587006"/>
                <a:ext cx="10216480" cy="7509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Ulrich’s reasoning to write each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use that form to find the product.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302" y="3587006"/>
                <a:ext cx="10216480" cy="750975"/>
              </a:xfrm>
              <a:prstGeom prst="rect">
                <a:avLst/>
              </a:prstGeom>
              <a:blipFill rotWithShape="0">
                <a:blip r:embed="rId5"/>
                <a:stretch>
                  <a:fillRect l="-656" t="-5645"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042941"/>
                  </p:ext>
                </p:extLst>
              </p:nvPr>
            </p:nvGraphicFramePr>
            <p:xfrm>
              <a:off x="2146201" y="4583435"/>
              <a:ext cx="7886701" cy="1572896"/>
            </p:xfrm>
            <a:graphic>
              <a:graphicData uri="http://schemas.openxmlformats.org/drawingml/2006/table">
                <a:tbl>
                  <a:tblPr bandRow="1"/>
                  <a:tblGrid>
                    <a:gridCol w="21684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94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𝟏𝟎𝟒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𝟗𝟕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𝟏𝟑𝟎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036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𝑏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𝑐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25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Product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3042941"/>
                  </p:ext>
                </p:extLst>
              </p:nvPr>
            </p:nvGraphicFramePr>
            <p:xfrm>
              <a:off x="622200" y="4583435"/>
              <a:ext cx="7886701" cy="1572896"/>
            </p:xfrm>
            <a:graphic>
              <a:graphicData uri="http://schemas.openxmlformats.org/drawingml/2006/table">
                <a:tbl>
                  <a:tblPr bandRow="1"/>
                  <a:tblGrid>
                    <a:gridCol w="2168425"/>
                    <a:gridCol w="1906092"/>
                    <a:gridCol w="1906092"/>
                    <a:gridCol w="1906092"/>
                  </a:tblGrid>
                  <a:tr h="3261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114058" t="-20370" r="-200319" b="-3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14744" t="-20370" r="-100962" b="-3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313738" t="-20370" r="-639" b="-383333"/>
                          </a:stretch>
                        </a:blipFill>
                      </a:tcPr>
                    </a:tc>
                  </a:tr>
                  <a:tr h="6233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7"/>
                          <a:stretch>
                            <a:fillRect l="-281" t="-63725" r="-264045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2338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Product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20637" y="-605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13.3.2 Exploration: Representing Area of a Rectangle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4339" y="24207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469036" y="1491975"/>
            <a:ext cx="9404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answer the questions.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8600" y="2080036"/>
            <a:ext cx="4978400" cy="2765778"/>
          </a:xfrm>
          <a:prstGeom prst="rect">
            <a:avLst/>
          </a:prstGeom>
        </p:spPr>
      </p:pic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749508" y="410666"/>
                <a:ext cx="1084365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7100" indent="-471488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 A is divided into two smaller rectangles. Select all the expressions that could be used to determine the area of Rectangle A. 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889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which expressions are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08" y="410666"/>
                <a:ext cx="10843650" cy="4093428"/>
              </a:xfrm>
              <a:prstGeom prst="rect">
                <a:avLst/>
              </a:prstGeom>
              <a:blipFill rotWithShape="0">
                <a:blip r:embed="rId3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14600" y="1597528"/>
                <a:ext cx="4572000" cy="206825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6∙5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6(3+2)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6∙3+2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6+3+2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358775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6∙3+6∙2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97528"/>
                <a:ext cx="4572000" cy="2042226"/>
              </a:xfrm>
              <a:prstGeom prst="rect">
                <a:avLst/>
              </a:prstGeom>
              <a:blipFill>
                <a:blip r:embed="rId5"/>
                <a:stretch>
                  <a:fillRect t="-617"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929390" y="410666"/>
                <a:ext cx="10483886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7100" indent="-48895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 B is divided into two smaller rectangles. Select all the expressions that could be used to determine the area of the blue rectangle inside Rectangle B.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71488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which expressions are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90" y="410666"/>
                <a:ext cx="10483886" cy="4093428"/>
              </a:xfrm>
              <a:prstGeom prst="rect">
                <a:avLst/>
              </a:prstGeom>
              <a:blipFill rotWithShape="0">
                <a:blip r:embed="rId3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514600" y="1597528"/>
                <a:ext cx="4572000" cy="19389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4∙5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4∙7∙2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4(7−2)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4∙7−4∙2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4∙7+4∙2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7100" indent="-4064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4∙2−4∙7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1597528"/>
                <a:ext cx="4572000" cy="1938992"/>
              </a:xfrm>
              <a:prstGeom prst="rect">
                <a:avLst/>
              </a:prstGeom>
              <a:blipFill>
                <a:blip r:embed="rId5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372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49509" y="448178"/>
            <a:ext cx="6389590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following problems.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34126" y="1035239"/>
                <a:ext cx="8663612" cy="3392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03238" indent="-503238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all of the expressions that have the same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13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71488" indent="-455613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whether or not the expressions you circled would change if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 were a different number. Summarize your decision and reason.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26" y="1035239"/>
                <a:ext cx="8663612" cy="3392660"/>
              </a:xfrm>
              <a:prstGeom prst="rect">
                <a:avLst/>
              </a:prstGeom>
              <a:blipFill rotWithShape="0">
                <a:blip r:embed="rId3"/>
                <a:stretch>
                  <a:fillRect l="-774" t="-1439" r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249679"/>
                  </p:ext>
                </p:extLst>
              </p:nvPr>
            </p:nvGraphicFramePr>
            <p:xfrm>
              <a:off x="2362201" y="2178527"/>
              <a:ext cx="7690777" cy="40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76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95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851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941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84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70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+7)∙−4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+−4∙7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−7)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249679"/>
                  </p:ext>
                </p:extLst>
              </p:nvPr>
            </p:nvGraphicFramePr>
            <p:xfrm>
              <a:off x="838200" y="2178526"/>
              <a:ext cx="7690777" cy="40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7634"/>
                    <a:gridCol w="1595355"/>
                    <a:gridCol w="1885143"/>
                    <a:gridCol w="1294186"/>
                    <a:gridCol w="1538459"/>
                  </a:tblGrid>
                  <a:tr h="407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442" t="-1471" r="-459735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86641" t="-1471" r="-296565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57742" t="-1471" r="-150645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76887" t="-1471" r="-12028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99605" t="-1471" r="-791" b="-1176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642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365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36840" y="2644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13.3.3 Guided Instruction: Applying Properties of Operations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540" y="2337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1436840" y="1386025"/>
            <a:ext cx="95743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distributive property of multiplication over addition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is a property that applies to all rational numbers. The distributive property “distributes” a factor to all terms within a set of parentheses.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 The first row has been completed.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9545102"/>
                  </p:ext>
                </p:extLst>
              </p:nvPr>
            </p:nvGraphicFramePr>
            <p:xfrm>
              <a:off x="2166278" y="3409996"/>
              <a:ext cx="7886699" cy="2656126"/>
            </p:xfrm>
            <a:graphic>
              <a:graphicData uri="http://schemas.openxmlformats.org/drawingml/2006/table">
                <a:tbl>
                  <a:tblPr bandRow="1"/>
                  <a:tblGrid>
                    <a:gridCol w="25264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935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6671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3871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𝒃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𝒄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𝒂𝒃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𝒂𝒄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8(50+9)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50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472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20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+17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(100−7)∙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(40+72)29</m:t>
                                </m:r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11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48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−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11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96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9545102"/>
                  </p:ext>
                </p:extLst>
              </p:nvPr>
            </p:nvGraphicFramePr>
            <p:xfrm>
              <a:off x="642277" y="3409996"/>
              <a:ext cx="7886699" cy="2656126"/>
            </p:xfrm>
            <a:graphic>
              <a:graphicData uri="http://schemas.openxmlformats.org/drawingml/2006/table">
                <a:tbl>
                  <a:tblPr bandRow="1"/>
                  <a:tblGrid>
                    <a:gridCol w="25264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935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6671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387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22222" r="-213065" b="-6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890" t="-22222" r="-41806" b="-6851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91667" r="-213065" b="-4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890" t="-91667" r="-41806" b="-413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2419" t="-91667" r="-806" b="-4138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890" t="-186486" r="-41806" b="-3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286486" r="-213065" b="-20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03" t="-397222" r="-213065" b="-10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890" t="-483784" r="-41806" b="-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5242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914400" y="288746"/>
                <a:ext cx="103632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two of the rows the expression had a subtraction sign instead of an addition sign. Discuss with your partner how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 be rewritten using addition. Write a summary of your discussion.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88746"/>
                <a:ext cx="10363200" cy="1015663"/>
              </a:xfrm>
              <a:prstGeom prst="rect">
                <a:avLst/>
              </a:prstGeom>
              <a:blipFill rotWithShape="0">
                <a:blip r:embed="rId3"/>
                <a:stretch>
                  <a:fillRect l="-647" t="-3593" r="-82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6479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77662" y="288746"/>
            <a:ext cx="100366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expressions below to show that the distributive property of multiplication over addition works with rational numbers.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999022"/>
                  </p:ext>
                </p:extLst>
              </p:nvPr>
            </p:nvGraphicFramePr>
            <p:xfrm>
              <a:off x="2697480" y="1328021"/>
              <a:ext cx="6797040" cy="18101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9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831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56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𝒃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𝒄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𝒂𝒃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𝒂𝒄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14+50</m:t>
                                        </m:r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14)+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50</m:t>
                                        </m:r>
                                      </m:e>
                                    </m:d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1.2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12+50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1.2∙12+1.2∙50</m:t>
                                </m:r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3999022"/>
                  </p:ext>
                </p:extLst>
              </p:nvPr>
            </p:nvGraphicFramePr>
            <p:xfrm>
              <a:off x="1173480" y="1328021"/>
              <a:ext cx="6797040" cy="18101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9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831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261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6" t="-23077" r="-225455" b="-4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710" t="-23077" r="-103279" b="-4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6" t="-54237" r="-225455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710" t="-54237" r="-103279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6" t="-154237" r="-225455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710" t="-154237" r="-103279" b="-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1656572" y="3244673"/>
            <a:ext cx="94038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Mathematicians determine a property exists when expressions are equivalent, no matter what number is used. A property can then be used with variables. </a:t>
            </a:r>
          </a:p>
        </p:txBody>
      </p:sp>
      <p:sp>
        <p:nvSpPr>
          <p:cNvPr id="8" name="Text Box 24"/>
          <p:cNvSpPr txBox="1"/>
          <p:nvPr/>
        </p:nvSpPr>
        <p:spPr>
          <a:xfrm>
            <a:off x="2781300" y="4641908"/>
            <a:ext cx="6629400" cy="1387302"/>
          </a:xfrm>
          <a:prstGeom prst="roundRect">
            <a:avLst/>
          </a:prstGeom>
          <a:solidFill>
            <a:srgbClr val="E2EF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Expressions are </a:t>
            </a:r>
            <a:r>
              <a:rPr lang="en-US" sz="2000" b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equivalent 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if they have the same value, no matter what number is substituted in for each of the variables.</a:t>
            </a:r>
            <a:endParaRPr lang="en-US" sz="2000" i="1" dirty="0">
              <a:solidFill>
                <a:srgbClr val="6B9A3D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73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034321" y="288745"/>
                <a:ext cx="9225247" cy="2373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equivalent expression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equivalent expression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−16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321" y="288745"/>
                <a:ext cx="9225247" cy="2373598"/>
              </a:xfrm>
              <a:prstGeom prst="rect">
                <a:avLst/>
              </a:prstGeom>
              <a:blipFill rotWithShape="0">
                <a:blip r:embed="rId3"/>
                <a:stretch>
                  <a:fillRect l="-727" t="-1538" b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9802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118677" y="288746"/>
            <a:ext cx="99546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commutative property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states that the order in which an operation is performed does not change the value of the expression.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18677" y="1481022"/>
            <a:ext cx="9954646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pairs of expressions below to determine the operations for which the commutative property is true.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48378"/>
                  </p:ext>
                </p:extLst>
              </p:nvPr>
            </p:nvGraphicFramePr>
            <p:xfrm>
              <a:off x="2286001" y="2408609"/>
              <a:ext cx="7619999" cy="3165035"/>
            </p:xfrm>
            <a:graphic>
              <a:graphicData uri="http://schemas.openxmlformats.org/drawingml/2006/table">
                <a:tbl>
                  <a:tblPr bandRow="1"/>
                  <a:tblGrid>
                    <a:gridCol w="19875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65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01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56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748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448378"/>
                  </p:ext>
                </p:extLst>
              </p:nvPr>
            </p:nvGraphicFramePr>
            <p:xfrm>
              <a:off x="762000" y="2408609"/>
              <a:ext cx="7619999" cy="3143912"/>
            </p:xfrm>
            <a:graphic>
              <a:graphicData uri="http://schemas.openxmlformats.org/drawingml/2006/table">
                <a:tbl>
                  <a:tblPr bandRow="1"/>
                  <a:tblGrid>
                    <a:gridCol w="1987574"/>
                    <a:gridCol w="1656553"/>
                    <a:gridCol w="1660190"/>
                    <a:gridCol w="2315682"/>
                  </a:tblGrid>
                  <a:tr h="2972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smtClean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0588" t="-53846" r="-240809" b="-300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0588" t="-53846" r="-140809" b="-300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0588" t="-155172" r="-240809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0588" t="-155172" r="-140809" b="-2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0588" t="-252991" r="-240809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0588" t="-252991" r="-140809" b="-10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20588" t="-352991" r="-240809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20588" t="-352991" r="-140809" b="-17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Rectangle 3"/>
          <p:cNvSpPr/>
          <p:nvPr/>
        </p:nvSpPr>
        <p:spPr>
          <a:xfrm>
            <a:off x="1424066" y="5794271"/>
            <a:ext cx="10544018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commutative property only applies to ____ and 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438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079292" y="288746"/>
                <a:ext cx="10033416" cy="3306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commutative property of multiplication to write an expression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20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−</m:t>
                            </m:r>
                          </m:sup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7</m:t>
                            </m:r>
                          </m:e>
                        </m:sPre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commutative property.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288746"/>
                <a:ext cx="10033416" cy="3306161"/>
              </a:xfrm>
              <a:prstGeom prst="rect">
                <a:avLst/>
              </a:prstGeom>
              <a:blipFill rotWithShape="0">
                <a:blip r:embed="rId3"/>
                <a:stretch>
                  <a:fillRect l="-668" t="-1105" b="-14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4"/>
              <p:cNvSpPr txBox="1"/>
              <p:nvPr/>
            </p:nvSpPr>
            <p:spPr>
              <a:xfrm>
                <a:off x="2512275" y="4793015"/>
                <a:ext cx="7167450" cy="1387302"/>
              </a:xfrm>
              <a:prstGeom prst="roundRect">
                <a:avLst/>
              </a:prstGeom>
              <a:solidFill>
                <a:srgbClr val="E2EF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	Commutative Property of Addition</a:t>
                </a:r>
                <a:endParaRPr lang="en-US" sz="2000" dirty="0">
                  <a:solidFill>
                    <a:srgbClr val="6B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𝑎</m:t>
                      </m:r>
                    </m:oMath>
                  </m:oMathPara>
                </a14:m>
                <a:endParaRPr lang="en-US" sz="2000" i="1" dirty="0">
                  <a:solidFill>
                    <a:srgbClr val="6B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b="1" dirty="0">
                    <a:solidFill>
                      <a:srgbClr val="6B9A3D"/>
                    </a:solidFill>
                    <a:latin typeface="Verdana" charset="0"/>
                    <a:ea typeface="Verdana" charset="0"/>
                    <a:cs typeface="Verdana" charset="0"/>
                  </a:rPr>
                  <a:t>	Commutative Property of Multiplication</a:t>
                </a:r>
                <a:endParaRPr lang="en-US" sz="2000" dirty="0">
                  <a:solidFill>
                    <a:srgbClr val="6B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 ×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 ×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  <a:ea typeface="Verdana" charset="0"/>
                          <a:cs typeface="Verdana" charset="0"/>
                        </a:rPr>
                        <m:t>𝑎</m:t>
                      </m:r>
                    </m:oMath>
                  </m:oMathPara>
                </a14:m>
                <a:endParaRPr lang="en-US" sz="2000" i="1" dirty="0">
                  <a:solidFill>
                    <a:srgbClr val="6B9A3D"/>
                  </a:solidFill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75" y="4793015"/>
                <a:ext cx="7167450" cy="13873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0414" y="4944122"/>
            <a:ext cx="530352" cy="542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213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066384" y="288746"/>
            <a:ext cx="10059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dirty="0">
                <a:latin typeface="Verdana" charset="0"/>
                <a:ea typeface="Verdana" charset="0"/>
                <a:cs typeface="Verdana" charset="0"/>
              </a:rPr>
              <a:t>associative property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states that the way in which numbers are grouped does not change the value of the expression.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6384" y="1494017"/>
            <a:ext cx="10059232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7713" indent="-731838">
              <a:lnSpc>
                <a:spcPct val="107000"/>
              </a:lnSpc>
              <a:buFont typeface="+mj-lt"/>
              <a:buAutoNum type="arabicPeriod" startAt="10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pairs of expressions below to determine the operations for which the associative property is true.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08450"/>
                  </p:ext>
                </p:extLst>
              </p:nvPr>
            </p:nvGraphicFramePr>
            <p:xfrm>
              <a:off x="2209800" y="2434600"/>
              <a:ext cx="7600950" cy="3228404"/>
            </p:xfrm>
            <a:graphic>
              <a:graphicData uri="http://schemas.openxmlformats.org/drawingml/2006/table">
                <a:tbl>
                  <a:tblPr bandRow="1"/>
                  <a:tblGrid>
                    <a:gridCol w="18367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367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6185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17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7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9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÷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÷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4108450"/>
                  </p:ext>
                </p:extLst>
              </p:nvPr>
            </p:nvGraphicFramePr>
            <p:xfrm>
              <a:off x="685800" y="2434600"/>
              <a:ext cx="7600950" cy="3117876"/>
            </p:xfrm>
            <a:graphic>
              <a:graphicData uri="http://schemas.openxmlformats.org/drawingml/2006/table">
                <a:tbl>
                  <a:tblPr bandRow="1"/>
                  <a:tblGrid>
                    <a:gridCol w="1836779"/>
                    <a:gridCol w="1963696"/>
                    <a:gridCol w="1836779"/>
                    <a:gridCol w="1963696"/>
                  </a:tblGrid>
                  <a:tr h="29724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4099" t="-54310" r="-194410" b="-3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6954" t="-54310" r="-107285" b="-3008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4099" t="-155652" r="-194410" b="-2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6954" t="-155652" r="-107285" b="-2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4099" t="-253448" r="-194410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6954" t="-253448" r="-107285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94099" t="-353448" r="-194410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6954" t="-353448" r="-107285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Rectangle 3"/>
          <p:cNvSpPr/>
          <p:nvPr/>
        </p:nvSpPr>
        <p:spPr>
          <a:xfrm>
            <a:off x="1394085" y="5904319"/>
            <a:ext cx="9474606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20700">
              <a:lnSpc>
                <a:spcPct val="107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associative property only applies to ____________ and ______________.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5664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54243" y="288745"/>
                <a:ext cx="9883514" cy="3223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3.25+9.8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</a:t>
                </a: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+15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11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</a:t>
                </a: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−</m:t>
                            </m:r>
                          </m:sup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</m:sPre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8∙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associative property.</a:t>
                </a: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𝑥</m:t>
                            </m:r>
                            <m:r>
                              <a:rPr lang="en-US" sz="2000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+3</m:t>
                            </m:r>
                          </m:e>
                        </m:d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243" y="288745"/>
                <a:ext cx="9883514" cy="3223062"/>
              </a:xfrm>
              <a:prstGeom prst="rect">
                <a:avLst/>
              </a:prstGeom>
              <a:blipFill rotWithShape="0">
                <a:blip r:embed="rId3"/>
                <a:stretch>
                  <a:fillRect l="-678" t="-1134" b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24"/>
              <p:cNvSpPr txBox="1"/>
              <p:nvPr/>
            </p:nvSpPr>
            <p:spPr>
              <a:xfrm>
                <a:off x="2781300" y="4505452"/>
                <a:ext cx="6629400" cy="1387302"/>
              </a:xfrm>
              <a:prstGeom prst="roundRect">
                <a:avLst/>
              </a:prstGeom>
              <a:solidFill>
                <a:srgbClr val="E2EFD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b="1" dirty="0">
                    <a:solidFill>
                      <a:srgbClr val="6B9A3D"/>
                    </a:solidFill>
                  </a:rPr>
                  <a:t>	Associative Property of Addition</a:t>
                </a:r>
                <a:endParaRPr lang="en-US" sz="2000" dirty="0">
                  <a:solidFill>
                    <a:srgbClr val="6B9A3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solidFill>
                                <a:srgbClr val="6B9A3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𝑎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+(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rgbClr val="6B9A3D"/>
                  </a:solidFill>
                </a:endParaRPr>
              </a:p>
              <a:p>
                <a:r>
                  <a:rPr lang="en-US" sz="2000" b="1" dirty="0">
                    <a:solidFill>
                      <a:srgbClr val="6B9A3D"/>
                    </a:solidFill>
                  </a:rPr>
                  <a:t>	 Associative Property of Multiplication</a:t>
                </a:r>
                <a:endParaRPr lang="en-US" sz="2000" dirty="0">
                  <a:solidFill>
                    <a:srgbClr val="6B9A3D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solidFill>
                                <a:srgbClr val="6B9A3D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𝑎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×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solidFill>
                                <a:srgbClr val="6B9A3D"/>
                              </a:solidFill>
                              <a:latin typeface="Cambria Math" charset="0"/>
                            </a:rPr>
                            <m:t>𝑏</m:t>
                          </m:r>
                        </m:e>
                      </m:d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×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𝑎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×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×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𝑐</m:t>
                      </m:r>
                      <m:r>
                        <a:rPr lang="en-US" sz="2000" i="1">
                          <a:solidFill>
                            <a:srgbClr val="6B9A3D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i="1" dirty="0">
                  <a:solidFill>
                    <a:srgbClr val="6B9A3D"/>
                  </a:solidFill>
                </a:endParaRPr>
              </a:p>
            </p:txBody>
          </p:sp>
        </mc:Choice>
        <mc:Fallback xmlns="">
          <p:sp>
            <p:nvSpPr>
              <p:cNvPr id="15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300" y="4505452"/>
                <a:ext cx="6629400" cy="138730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0029" y="4659523"/>
            <a:ext cx="530352" cy="5425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6609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478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41612" y="-3881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769" y="181159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41612" y="1386025"/>
            <a:ext cx="9564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equivalent expression that uses each given property to complete the table.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993259"/>
                  </p:ext>
                </p:extLst>
              </p:nvPr>
            </p:nvGraphicFramePr>
            <p:xfrm>
              <a:off x="2218807" y="2430520"/>
              <a:ext cx="7305762" cy="366165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12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81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32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7229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+</m:t>
                                        </m:r>
                                        <m:sPre>
                                          <m:sPre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sPrePr>
                                          <m:sub/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−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7</m:t>
                                            </m:r>
                                          </m:e>
                                        </m:sPre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+</m:t>
                                        </m:r>
                                        <m:sPre>
                                          <m:sPre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sPrePr>
                                          <m:sub/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−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7</m:t>
                                            </m:r>
                                          </m:e>
                                        </m:sPre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7</m:t>
                                        </m:r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Distributive 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3993259"/>
                  </p:ext>
                </p:extLst>
              </p:nvPr>
            </p:nvGraphicFramePr>
            <p:xfrm>
              <a:off x="694807" y="2430520"/>
              <a:ext cx="7305762" cy="369054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1293"/>
                    <a:gridCol w="2381250"/>
                    <a:gridCol w="2533219"/>
                  </a:tblGrid>
                  <a:tr h="65227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54" t="-71856" r="-205852" b="-2005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54" t="-172892" r="-205852" b="-1018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54" t="-271257" r="-205852" b="-1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Distributive 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78855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279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1708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1224</Words>
  <Application>Microsoft Office PowerPoint</Application>
  <PresentationFormat>Widescreen</PresentationFormat>
  <Paragraphs>255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Accelerated Math  Unit 13, Lesson 3  Applying Properties of Operations  Volume 2, pg. 274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24</cp:revision>
  <dcterms:created xsi:type="dcterms:W3CDTF">2015-03-17T18:51:18Z</dcterms:created>
  <dcterms:modified xsi:type="dcterms:W3CDTF">2022-07-02T04:21:27Z</dcterms:modified>
</cp:coreProperties>
</file>