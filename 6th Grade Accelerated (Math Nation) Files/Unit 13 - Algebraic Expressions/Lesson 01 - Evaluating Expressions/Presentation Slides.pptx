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9"/>
  </p:notesMasterIdLst>
  <p:sldIdLst>
    <p:sldId id="256" r:id="rId2"/>
    <p:sldId id="257" r:id="rId3"/>
    <p:sldId id="285" r:id="rId4"/>
    <p:sldId id="286" r:id="rId5"/>
    <p:sldId id="261" r:id="rId6"/>
    <p:sldId id="287" r:id="rId7"/>
    <p:sldId id="288" r:id="rId8"/>
    <p:sldId id="289" r:id="rId9"/>
    <p:sldId id="290" r:id="rId10"/>
    <p:sldId id="346" r:id="rId11"/>
    <p:sldId id="355" r:id="rId12"/>
    <p:sldId id="356" r:id="rId13"/>
    <p:sldId id="357" r:id="rId14"/>
    <p:sldId id="358" r:id="rId15"/>
    <p:sldId id="359" r:id="rId16"/>
    <p:sldId id="360" r:id="rId17"/>
    <p:sldId id="361" r:id="rId18"/>
    <p:sldId id="314" r:id="rId19"/>
    <p:sldId id="315" r:id="rId20"/>
    <p:sldId id="342" r:id="rId21"/>
    <p:sldId id="363" r:id="rId22"/>
    <p:sldId id="364" r:id="rId23"/>
    <p:sldId id="352" r:id="rId24"/>
    <p:sldId id="353" r:id="rId25"/>
    <p:sldId id="354" r:id="rId26"/>
    <p:sldId id="365" r:id="rId27"/>
    <p:sldId id="366" r:id="rId28"/>
    <p:sldId id="367" r:id="rId29"/>
    <p:sldId id="368" r:id="rId30"/>
    <p:sldId id="369" r:id="rId31"/>
    <p:sldId id="320" r:id="rId32"/>
    <p:sldId id="321" r:id="rId33"/>
    <p:sldId id="345" r:id="rId34"/>
    <p:sldId id="370" r:id="rId35"/>
    <p:sldId id="306" r:id="rId36"/>
    <p:sldId id="307" r:id="rId37"/>
    <p:sldId id="351" r:id="rId3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17DBF"/>
    <a:srgbClr val="DA4487"/>
    <a:srgbClr val="276C46"/>
    <a:srgbClr val="C9DF6F"/>
    <a:srgbClr val="3F2A67"/>
    <a:srgbClr val="E24E5F"/>
    <a:srgbClr val="26B7D4"/>
    <a:srgbClr val="54B5D1"/>
    <a:srgbClr val="33BEA6"/>
    <a:srgbClr val="2DA4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545"/>
    <p:restoredTop sz="94695"/>
  </p:normalViewPr>
  <p:slideViewPr>
    <p:cSldViewPr snapToGrid="0">
      <p:cViewPr varScale="1">
        <p:scale>
          <a:sx n="79" d="100"/>
          <a:sy n="79" d="100"/>
        </p:scale>
        <p:origin x="595"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55"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54961159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3918865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30491899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30491899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30491899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30491899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30491899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30491899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30491899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30491899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extLst>
      <p:ext uri="{BB962C8B-B14F-4D97-AF65-F5344CB8AC3E}">
        <p14:creationId xmlns:p14="http://schemas.microsoft.com/office/powerpoint/2010/main" val="25803800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370098197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370098197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370098197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extLst>
      <p:ext uri="{BB962C8B-B14F-4D97-AF65-F5344CB8AC3E}">
        <p14:creationId xmlns:p14="http://schemas.microsoft.com/office/powerpoint/2010/main" val="39188651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304918993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Tree>
    <p:extLst>
      <p:ext uri="{BB962C8B-B14F-4D97-AF65-F5344CB8AC3E}">
        <p14:creationId xmlns:p14="http://schemas.microsoft.com/office/powerpoint/2010/main" val="304918993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27</a:t>
            </a:fld>
            <a:endParaRPr/>
          </a:p>
        </p:txBody>
      </p:sp>
    </p:spTree>
    <p:extLst>
      <p:ext uri="{BB962C8B-B14F-4D97-AF65-F5344CB8AC3E}">
        <p14:creationId xmlns:p14="http://schemas.microsoft.com/office/powerpoint/2010/main" val="304918993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28</a:t>
            </a:fld>
            <a:endParaRPr/>
          </a:p>
        </p:txBody>
      </p:sp>
    </p:spTree>
    <p:extLst>
      <p:ext uri="{BB962C8B-B14F-4D97-AF65-F5344CB8AC3E}">
        <p14:creationId xmlns:p14="http://schemas.microsoft.com/office/powerpoint/2010/main" val="304918993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29</a:t>
            </a:fld>
            <a:endParaRPr/>
          </a:p>
        </p:txBody>
      </p:sp>
    </p:spTree>
    <p:extLst>
      <p:ext uri="{BB962C8B-B14F-4D97-AF65-F5344CB8AC3E}">
        <p14:creationId xmlns:p14="http://schemas.microsoft.com/office/powerpoint/2010/main" val="304918993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30</a:t>
            </a:fld>
            <a:endParaRPr/>
          </a:p>
        </p:txBody>
      </p:sp>
    </p:spTree>
    <p:extLst>
      <p:ext uri="{BB962C8B-B14F-4D97-AF65-F5344CB8AC3E}">
        <p14:creationId xmlns:p14="http://schemas.microsoft.com/office/powerpoint/2010/main" val="304918993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31</a:t>
            </a:fld>
            <a:endParaRPr/>
          </a:p>
        </p:txBody>
      </p:sp>
    </p:spTree>
    <p:extLst>
      <p:ext uri="{BB962C8B-B14F-4D97-AF65-F5344CB8AC3E}">
        <p14:creationId xmlns:p14="http://schemas.microsoft.com/office/powerpoint/2010/main" val="141658498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32</a:t>
            </a:fld>
            <a:endParaRPr/>
          </a:p>
        </p:txBody>
      </p:sp>
    </p:spTree>
    <p:extLst>
      <p:ext uri="{BB962C8B-B14F-4D97-AF65-F5344CB8AC3E}">
        <p14:creationId xmlns:p14="http://schemas.microsoft.com/office/powerpoint/2010/main" val="303073590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33</a:t>
            </a:fld>
            <a:endParaRPr/>
          </a:p>
        </p:txBody>
      </p:sp>
    </p:spTree>
    <p:extLst>
      <p:ext uri="{BB962C8B-B14F-4D97-AF65-F5344CB8AC3E}">
        <p14:creationId xmlns:p14="http://schemas.microsoft.com/office/powerpoint/2010/main" val="337125294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34</a:t>
            </a:fld>
            <a:endParaRPr/>
          </a:p>
        </p:txBody>
      </p:sp>
    </p:spTree>
    <p:extLst>
      <p:ext uri="{BB962C8B-B14F-4D97-AF65-F5344CB8AC3E}">
        <p14:creationId xmlns:p14="http://schemas.microsoft.com/office/powerpoint/2010/main" val="337125294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35</a:t>
            </a:fld>
            <a:endParaRPr/>
          </a:p>
        </p:txBody>
      </p:sp>
    </p:spTree>
    <p:extLst>
      <p:ext uri="{BB962C8B-B14F-4D97-AF65-F5344CB8AC3E}">
        <p14:creationId xmlns:p14="http://schemas.microsoft.com/office/powerpoint/2010/main" val="71668810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36</a:t>
            </a:fld>
            <a:endParaRPr/>
          </a:p>
        </p:txBody>
      </p:sp>
    </p:spTree>
    <p:extLst>
      <p:ext uri="{BB962C8B-B14F-4D97-AF65-F5344CB8AC3E}">
        <p14:creationId xmlns:p14="http://schemas.microsoft.com/office/powerpoint/2010/main" val="193732810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37</a:t>
            </a:fld>
            <a:endParaRPr/>
          </a:p>
        </p:txBody>
      </p:sp>
    </p:spTree>
    <p:extLst>
      <p:ext uri="{BB962C8B-B14F-4D97-AF65-F5344CB8AC3E}">
        <p14:creationId xmlns:p14="http://schemas.microsoft.com/office/powerpoint/2010/main" val="166745189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13.jp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180.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6" Type="http://schemas.openxmlformats.org/officeDocument/2006/relationships/image" Target="../media/image26.png"/><Relationship Id="rId5" Type="http://schemas.microsoft.com/office/2007/relationships/hdphoto" Target="../media/hdphoto1.wdp"/><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1.xml"/><Relationship Id="rId1" Type="http://schemas.openxmlformats.org/officeDocument/2006/relationships/slideLayout" Target="../slideLayouts/slideLayout8.xml"/><Relationship Id="rId5" Type="http://schemas.openxmlformats.org/officeDocument/2006/relationships/image" Target="../media/image10.png"/><Relationship Id="rId4" Type="http://schemas.microsoft.com/office/2007/relationships/hdphoto" Target="../media/hdphoto2.wdp"/></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4.png"/><Relationship Id="rId7" Type="http://schemas.openxmlformats.org/officeDocument/2006/relationships/image" Target="../media/image29.png"/><Relationship Id="rId2" Type="http://schemas.openxmlformats.org/officeDocument/2006/relationships/notesSlide" Target="../notesSlides/notesSlide24.xml"/><Relationship Id="rId1" Type="http://schemas.openxmlformats.org/officeDocument/2006/relationships/slideLayout" Target="../slideLayouts/slideLayout8.xml"/><Relationship Id="rId6" Type="http://schemas.openxmlformats.org/officeDocument/2006/relationships/image" Target="../media/image270.png"/><Relationship Id="rId4" Type="http://schemas.openxmlformats.org/officeDocument/2006/relationships/image" Target="../media/image271.png"/></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6.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33.png"/></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8.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0.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1.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2.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350.png"/></Relationships>
</file>

<file path=ppt/slides/_rels/slide3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3.xml"/><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6.xml.rels><?xml version="1.0" encoding="UTF-8" standalone="yes"?>
<Relationships xmlns="http://schemas.openxmlformats.org/package/2006/relationships"><Relationship Id="rId3" Type="http://schemas.openxmlformats.org/officeDocument/2006/relationships/image" Target="../media/image37.png"/><Relationship Id="rId7" Type="http://schemas.openxmlformats.org/officeDocument/2006/relationships/image" Target="../media/image10.png"/><Relationship Id="rId2" Type="http://schemas.openxmlformats.org/officeDocument/2006/relationships/notesSlide" Target="../notesSlides/notesSlide36.xml"/><Relationship Id="rId1" Type="http://schemas.openxmlformats.org/officeDocument/2006/relationships/slideLayout" Target="../slideLayouts/slideLayout8.xml"/><Relationship Id="rId6" Type="http://schemas.openxmlformats.org/officeDocument/2006/relationships/image" Target="../media/image39.png"/><Relationship Id="rId4" Type="http://schemas.openxmlformats.org/officeDocument/2006/relationships/image" Target="../media/image38.png"/></Relationships>
</file>

<file path=ppt/slides/_rels/slide3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7.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90352" y="2054277"/>
            <a:ext cx="5077649" cy="3194455"/>
          </a:xfrm>
          <a:prstGeom prst="rect">
            <a:avLst/>
          </a:prstGeom>
        </p:spPr>
        <p:txBody>
          <a:bodyPr spcFirstLastPara="1" wrap="square" lIns="91425" tIns="45700" rIns="91425" bIns="45700" anchor="ctr" anchorCtr="0">
            <a:noAutofit/>
          </a:bodyPr>
          <a:lstStyle/>
          <a:p>
            <a:pPr algn="ctr">
              <a:lnSpc>
                <a:spcPct val="100000"/>
              </a:lnSpc>
            </a:pPr>
            <a:r>
              <a:rPr lang="en-US" sz="3600" b="1" dirty="0">
                <a:solidFill>
                  <a:srgbClr val="417DBF"/>
                </a:solidFill>
                <a:latin typeface="Verdana"/>
                <a:ea typeface="Verdana"/>
                <a:cs typeface="Verdana"/>
                <a:sym typeface="Verdana"/>
              </a:rPr>
              <a:t>6</a:t>
            </a:r>
            <a:r>
              <a:rPr lang="en-US" sz="3600" b="1" baseline="30000" dirty="0">
                <a:solidFill>
                  <a:srgbClr val="417DBF"/>
                </a:solidFill>
                <a:latin typeface="Verdana"/>
                <a:ea typeface="Verdana"/>
                <a:cs typeface="Verdana"/>
                <a:sym typeface="Verdana"/>
              </a:rPr>
              <a:t>th</a:t>
            </a:r>
            <a:r>
              <a:rPr lang="en-US" sz="3600" b="1" dirty="0">
                <a:solidFill>
                  <a:srgbClr val="417DBF"/>
                </a:solidFill>
                <a:latin typeface="Verdana"/>
                <a:ea typeface="Verdana"/>
                <a:cs typeface="Verdana"/>
                <a:sym typeface="Verdana"/>
              </a:rPr>
              <a:t> Grade Accelerated Math</a:t>
            </a:r>
            <a:br>
              <a:rPr lang="en-US" sz="3600" b="1" dirty="0">
                <a:solidFill>
                  <a:srgbClr val="417DBF"/>
                </a:solidFill>
                <a:latin typeface="Verdana"/>
                <a:ea typeface="Verdana"/>
                <a:cs typeface="Verdana"/>
                <a:sym typeface="Verdana"/>
              </a:rPr>
            </a:br>
            <a:endParaRPr lang="en-US" sz="3600" b="1" dirty="0">
              <a:solidFill>
                <a:srgbClr val="417DBF"/>
              </a:solidFill>
              <a:latin typeface="Verdana"/>
              <a:ea typeface="Verdana"/>
              <a:cs typeface="Verdana"/>
              <a:sym typeface="Verdana"/>
            </a:endParaRPr>
          </a:p>
          <a:p>
            <a:pPr lvl="0" algn="ctr">
              <a:lnSpc>
                <a:spcPct val="100000"/>
              </a:lnSpc>
              <a:buClr>
                <a:srgbClr val="000000"/>
              </a:buClr>
            </a:pPr>
            <a:r>
              <a:rPr lang="en-US" sz="3600" b="1" dirty="0">
                <a:solidFill>
                  <a:srgbClr val="417DBF"/>
                </a:solidFill>
                <a:latin typeface="Verdana"/>
                <a:ea typeface="Verdana"/>
                <a:cs typeface="Verdana"/>
                <a:sym typeface="Verdana"/>
              </a:rPr>
              <a:t>Unit 13, Lesson 1</a:t>
            </a:r>
            <a:br>
              <a:rPr lang="en-US" sz="3600" b="1" dirty="0">
                <a:solidFill>
                  <a:srgbClr val="417DBF"/>
                </a:solidFill>
                <a:latin typeface="Verdana"/>
                <a:ea typeface="Verdana"/>
                <a:cs typeface="Verdana"/>
                <a:sym typeface="Verdana"/>
              </a:rPr>
            </a:b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Evaluating Expressions</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263</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640" y="1526626"/>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596168" y="163419"/>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772668" y="399194"/>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672903"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263</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11129"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1702364" y="1600200"/>
            <a:ext cx="8787272"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2400" dirty="0">
                <a:solidFill>
                  <a:schemeClr val="tx1"/>
                </a:solidFill>
                <a:latin typeface="Verdana"/>
                <a:ea typeface="Verdana"/>
                <a:cs typeface="Verdana"/>
                <a:sym typeface="Verdana"/>
              </a:rPr>
              <a:t>MA.6.AR.1.3</a:t>
            </a:r>
          </a:p>
          <a:p>
            <a:pPr indent="0">
              <a:buNone/>
            </a:pPr>
            <a:r>
              <a:rPr lang="en-US" sz="2400" dirty="0">
                <a:solidFill>
                  <a:schemeClr val="tx1"/>
                </a:solidFill>
                <a:latin typeface="Verdana"/>
                <a:ea typeface="Verdana"/>
                <a:cs typeface="Verdana"/>
                <a:sym typeface="Verdana"/>
              </a:rPr>
              <a:t>Evaluate algebraic expressions using substitution and order of operations.</a:t>
            </a:r>
            <a:endParaRPr lang="en-US" sz="2400" dirty="0">
              <a:solidFill>
                <a:schemeClr val="tx1"/>
              </a:solidFill>
              <a:latin typeface="Century Gothic"/>
              <a:ea typeface="Century Gothic"/>
              <a:cs typeface="Century Gothic"/>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618432" y="365079"/>
            <a:ext cx="747300" cy="747300"/>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496870" y="116220"/>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1496870" y="1596390"/>
            <a:ext cx="978602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p:txBody>
      </p:sp>
      <p:sp>
        <p:nvSpPr>
          <p:cNvPr id="10" name="Google Shape;282;g104476d1465_1_17"/>
          <p:cNvSpPr txBox="1"/>
          <p:nvPr/>
        </p:nvSpPr>
        <p:spPr>
          <a:xfrm>
            <a:off x="8672903"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263</a:t>
            </a:r>
            <a:endParaRPr i="1" dirty="0">
              <a:latin typeface="Calibri"/>
              <a:ea typeface="Calibri"/>
              <a:cs typeface="Calibri"/>
              <a:sym typeface="Calibri"/>
            </a:endParaRPr>
          </a:p>
        </p:txBody>
      </p:sp>
      <p:pic>
        <p:nvPicPr>
          <p:cNvPr id="12"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11129"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481745" y="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3">
            <a:alphaModFix/>
          </a:blip>
          <a:stretch>
            <a:fillRect/>
          </a:stretch>
        </p:blipFill>
        <p:spPr>
          <a:xfrm>
            <a:off x="699583" y="289200"/>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1586753" y="1600200"/>
            <a:ext cx="9018494"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0850" indent="-444500">
              <a:buClr>
                <a:srgbClr val="434343"/>
              </a:buClr>
              <a:buSzPct val="100000"/>
              <a:buFont typeface="Wingdings" pitchFamily="2" charset="2"/>
              <a:buChar char="q"/>
            </a:pPr>
            <a:r>
              <a:rPr lang="en-US" sz="2400" dirty="0">
                <a:solidFill>
                  <a:schemeClr val="tx1"/>
                </a:solidFill>
                <a:latin typeface="Verdana"/>
                <a:ea typeface="Verdana"/>
                <a:cs typeface="Verdana"/>
                <a:sym typeface="Verdana"/>
              </a:rPr>
              <a:t>I can apply order of operations to an algebraic expression.</a:t>
            </a:r>
          </a:p>
          <a:p>
            <a:pPr marL="349250" indent="-342900">
              <a:buClr>
                <a:srgbClr val="434343"/>
              </a:buClr>
              <a:buSzPct val="100000"/>
              <a:buFont typeface="Wingdings" pitchFamily="2" charset="2"/>
              <a:buChar char="q"/>
            </a:pPr>
            <a:endParaRPr lang="en-US" sz="2400" dirty="0">
              <a:solidFill>
                <a:schemeClr val="tx1"/>
              </a:solidFill>
              <a:latin typeface="Verdana"/>
              <a:ea typeface="Verdana"/>
              <a:cs typeface="Verdana"/>
              <a:sym typeface="Verdana"/>
            </a:endParaRPr>
          </a:p>
          <a:p>
            <a:pPr marL="450850" indent="-444500">
              <a:buClr>
                <a:srgbClr val="434343"/>
              </a:buClr>
              <a:buSzPct val="100000"/>
              <a:buFont typeface="Wingdings" pitchFamily="2" charset="2"/>
              <a:buChar char="q"/>
            </a:pPr>
            <a:r>
              <a:rPr lang="en-US" sz="2400" dirty="0">
                <a:solidFill>
                  <a:schemeClr val="tx1"/>
                </a:solidFill>
                <a:latin typeface="Verdana"/>
                <a:ea typeface="Verdana"/>
                <a:cs typeface="Verdana"/>
                <a:sym typeface="Verdana"/>
              </a:rPr>
              <a:t>I can evaluate expressions that include exponents.</a:t>
            </a:r>
          </a:p>
        </p:txBody>
      </p:sp>
      <p:sp>
        <p:nvSpPr>
          <p:cNvPr id="9" name="Google Shape;282;g104476d1465_1_17"/>
          <p:cNvSpPr txBox="1"/>
          <p:nvPr/>
        </p:nvSpPr>
        <p:spPr>
          <a:xfrm>
            <a:off x="8672903"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263</a:t>
            </a:r>
            <a:endParaRPr i="1" dirty="0">
              <a:latin typeface="Calibri"/>
              <a:ea typeface="Calibri"/>
              <a:cs typeface="Calibri"/>
              <a:sym typeface="Calibri"/>
            </a:endParaRPr>
          </a:p>
        </p:txBody>
      </p:sp>
      <p:pic>
        <p:nvPicPr>
          <p:cNvPr id="11"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11129"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1654"/>
            <a:ext cx="2731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2" name="Google Shape;312;g104476d1465_1_39"/>
          <p:cNvPicPr preferRelativeResize="0"/>
          <p:nvPr/>
        </p:nvPicPr>
        <p:blipFill>
          <a:blip r:embed="rId3">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p:cNvSpPr txBox="1"/>
          <p:nvPr/>
        </p:nvSpPr>
        <p:spPr>
          <a:xfrm>
            <a:off x="8672903"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263</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11129" y="6200599"/>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10936"/>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33864" y="99017"/>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13.1.1 Warm-Up: Evaluating Numeric Expressions</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3">
            <a:alphaModFix/>
          </a:blip>
          <a:stretch>
            <a:fillRect/>
          </a:stretch>
        </p:blipFill>
        <p:spPr>
          <a:xfrm>
            <a:off x="686564" y="343753"/>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E1D7562E-134F-D14B-AF1A-DF40E11EF758}"/>
                  </a:ext>
                </a:extLst>
              </p:cNvPr>
              <p:cNvSpPr txBox="1"/>
              <p:nvPr/>
            </p:nvSpPr>
            <p:spPr>
              <a:xfrm>
                <a:off x="1653596" y="1386026"/>
                <a:ext cx="9140840" cy="1138773"/>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This math expression is dividing the internet.</a:t>
                </a:r>
              </a:p>
              <a:p>
                <a:pPr algn="ctr">
                  <a:spcBef>
                    <a:spcPts val="2400"/>
                  </a:spcBef>
                </a:pPr>
                <a:r>
                  <a:rPr lang="en-US" sz="2400" dirty="0">
                    <a:latin typeface="Verdana" panose="020B0604030504040204" pitchFamily="34" charset="0"/>
                    <a:ea typeface="Verdana" panose="020B0604030504040204" pitchFamily="34" charset="0"/>
                    <a:cs typeface="Verdana" panose="020B0604030504040204" pitchFamily="34" charset="0"/>
                  </a:rPr>
                  <a:t>What is the value of </a:t>
                </a:r>
                <a14:m>
                  <m:oMath xmlns:m="http://schemas.openxmlformats.org/officeDocument/2006/math">
                    <m:r>
                      <a:rPr lang="en-PH" sz="2400" i="1">
                        <a:latin typeface="Cambria Math"/>
                        <a:ea typeface="Verdana" panose="020B0604030504040204" pitchFamily="34" charset="0"/>
                        <a:cs typeface="Verdana" panose="020B0604030504040204" pitchFamily="34" charset="0"/>
                      </a:rPr>
                      <m:t>8÷2(2+2)</m:t>
                    </m:r>
                  </m:oMath>
                </a14:m>
                <a:r>
                  <a:rPr lang="en-US" sz="2400" dirty="0">
                    <a:latin typeface="Verdana" panose="020B0604030504040204" pitchFamily="34" charset="0"/>
                    <a:ea typeface="Verdana" panose="020B0604030504040204" pitchFamily="34" charset="0"/>
                    <a:cs typeface="Verdana" panose="020B0604030504040204" pitchFamily="34" charset="0"/>
                  </a:rPr>
                  <a:t>?</a:t>
                </a:r>
              </a:p>
            </p:txBody>
          </p:sp>
        </mc:Choice>
        <mc:Fallback xmlns="">
          <p:sp>
            <p:nvSpPr>
              <p:cNvPr id="2" name="TextBox 1">
                <a:extLst>
                  <a:ext uri="{FF2B5EF4-FFF2-40B4-BE49-F238E27FC236}">
                    <a16:creationId xmlns:a16="http://schemas.microsoft.com/office/drawing/2014/main" xmlns:a14="http://schemas.microsoft.com/office/drawing/2010/main" xmlns="" id="{E1D7562E-134F-D14B-AF1A-DF40E11EF758}"/>
                  </a:ext>
                </a:extLst>
              </p:cNvPr>
              <p:cNvSpPr txBox="1">
                <a:spLocks noRot="1" noChangeAspect="1" noMove="1" noResize="1" noEditPoints="1" noAdjustHandles="1" noChangeArrowheads="1" noChangeShapeType="1" noTextEdit="1"/>
              </p:cNvSpPr>
              <p:nvPr/>
            </p:nvSpPr>
            <p:spPr>
              <a:xfrm>
                <a:off x="1653596" y="1386026"/>
                <a:ext cx="9140840" cy="1138773"/>
              </a:xfrm>
              <a:prstGeom prst="rect">
                <a:avLst/>
              </a:prstGeom>
              <a:blipFill rotWithShape="0">
                <a:blip r:embed="rId4"/>
                <a:stretch>
                  <a:fillRect l="-1000" t="-4278" b="-10695"/>
                </a:stretch>
              </a:blipFill>
            </p:spPr>
            <p:txBody>
              <a:bodyPr/>
              <a:lstStyle/>
              <a:p>
                <a:r>
                  <a:rPr lang="en-US">
                    <a:noFill/>
                  </a:rPr>
                  <a:t> </a:t>
                </a:r>
              </a:p>
            </p:txBody>
          </p:sp>
        </mc:Fallback>
      </mc:AlternateContent>
      <p:pic>
        <p:nvPicPr>
          <p:cNvPr id="10" name="image6.png" descr="Graphical user interface, text, application, email&#10;&#10;Description automatically generated"/>
          <p:cNvPicPr/>
          <p:nvPr/>
        </p:nvPicPr>
        <p:blipFill rotWithShape="1">
          <a:blip r:embed="rId5">
            <a:extLst>
              <a:ext uri="{28A0092B-C50C-407E-A947-70E740481C1C}">
                <a14:useLocalDpi xmlns:a14="http://schemas.microsoft.com/office/drawing/2010/main"/>
              </a:ext>
            </a:extLst>
          </a:blip>
          <a:srcRect l="975" r="1328"/>
          <a:stretch/>
        </p:blipFill>
        <p:spPr bwMode="auto">
          <a:xfrm>
            <a:off x="3063558" y="2810548"/>
            <a:ext cx="6464935" cy="3219450"/>
          </a:xfrm>
          <a:prstGeom prst="rect">
            <a:avLst/>
          </a:prstGeom>
          <a:ln>
            <a:noFill/>
          </a:ln>
          <a:extLst>
            <a:ext uri="{53640926-AAD7-44D8-BBD7-CCE9431645EC}">
              <a14:shadowObscured xmlns:a14="http://schemas.microsoft.com/office/drawing/2010/main"/>
            </a:ext>
          </a:extLst>
        </p:spPr>
      </p:pic>
      <p:sp>
        <p:nvSpPr>
          <p:cNvPr id="9" name="Google Shape;282;g104476d1465_1_17"/>
          <p:cNvSpPr txBox="1"/>
          <p:nvPr/>
        </p:nvSpPr>
        <p:spPr>
          <a:xfrm>
            <a:off x="8672903"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263</a:t>
            </a:r>
            <a:endParaRPr i="1" dirty="0">
              <a:latin typeface="Calibri"/>
              <a:ea typeface="Calibri"/>
              <a:cs typeface="Calibri"/>
              <a:sym typeface="Calibri"/>
            </a:endParaRPr>
          </a:p>
        </p:txBody>
      </p:sp>
      <p:pic>
        <p:nvPicPr>
          <p:cNvPr id="12"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11129"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887506" y="520394"/>
                <a:ext cx="10567654" cy="4524315"/>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Do you agree with Alex or Ms. B? Explain or show why using order of operations.</a:t>
                </a:r>
              </a:p>
              <a:p>
                <a:pPr marL="457200" indent="-457200">
                  <a:buFont typeface="+mj-lt"/>
                  <a:buAutoNum type="arabicPeriod"/>
                </a:pPr>
                <a:endParaRPr lang="en-PH"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PH"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PH"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PH"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PH"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PH"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Find the value of the expression. Show your work.</a:t>
                </a:r>
              </a:p>
              <a:p>
                <a:pPr algn="ctr">
                  <a:spcBef>
                    <a:spcPts val="2400"/>
                  </a:spcBef>
                </a:pPr>
                <a14:m>
                  <m:oMathPara xmlns:m="http://schemas.openxmlformats.org/officeDocument/2006/math">
                    <m:oMathParaPr>
                      <m:jc m:val="centerGroup"/>
                    </m:oMathParaPr>
                    <m:oMath xmlns:m="http://schemas.openxmlformats.org/officeDocument/2006/math">
                      <m:r>
                        <a:rPr lang="en-PH" sz="2400" i="1">
                          <a:latin typeface="Cambria Math"/>
                          <a:ea typeface="Verdana" panose="020B0604030504040204" pitchFamily="34" charset="0"/>
                          <a:cs typeface="Verdana" panose="020B0604030504040204" pitchFamily="34" charset="0"/>
                        </a:rPr>
                        <m:t>4−2</m:t>
                      </m:r>
                      <m:r>
                        <a:rPr lang="en-PH" sz="2400" i="1">
                          <a:latin typeface="Cambria Math"/>
                          <a:ea typeface="Cambria Math"/>
                          <a:cs typeface="Verdana" panose="020B0604030504040204" pitchFamily="34" charset="0"/>
                        </a:rPr>
                        <m:t>×6÷3+7</m:t>
                      </m:r>
                    </m:oMath>
                  </m:oMathPara>
                </a14:m>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887506" y="520394"/>
                <a:ext cx="10567654" cy="4524315"/>
              </a:xfrm>
              <a:prstGeom prst="rect">
                <a:avLst/>
              </a:prstGeom>
              <a:blipFill rotWithShape="0">
                <a:blip r:embed="rId3"/>
                <a:stretch>
                  <a:fillRect l="-923" t="-1077"/>
                </a:stretch>
              </a:blipFill>
            </p:spPr>
            <p:txBody>
              <a:bodyPr/>
              <a:lstStyle/>
              <a:p>
                <a:r>
                  <a:rPr lang="en-US">
                    <a:noFill/>
                  </a:rPr>
                  <a:t> </a:t>
                </a:r>
              </a:p>
            </p:txBody>
          </p:sp>
        </mc:Fallback>
      </mc:AlternateContent>
      <p:sp>
        <p:nvSpPr>
          <p:cNvPr id="7" name="Google Shape;282;g104476d1465_1_17"/>
          <p:cNvSpPr txBox="1"/>
          <p:nvPr/>
        </p:nvSpPr>
        <p:spPr>
          <a:xfrm>
            <a:off x="8672903"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263</a:t>
            </a:r>
            <a:endParaRPr i="1" dirty="0">
              <a:latin typeface="Calibri"/>
              <a:ea typeface="Calibri"/>
              <a:cs typeface="Calibri"/>
              <a:sym typeface="Calibri"/>
            </a:endParaRPr>
          </a:p>
        </p:txBody>
      </p:sp>
      <p:pic>
        <p:nvPicPr>
          <p:cNvPr id="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11129"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598233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6"/>
            <a:ext cx="2731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id="{2AC58C8F-2DD8-F347-9ECA-58EE9E1B7E9C}"/>
              </a:ext>
            </a:extLst>
          </p:cNvPr>
          <p:cNvPicPr preferRelativeResize="0"/>
          <p:nvPr/>
        </p:nvPicPr>
        <p:blipFill rotWithShape="1">
          <a:blip r:embed="rId3">
            <a:alphaModFix/>
          </a:blip>
          <a:srcRect/>
          <a:stretch/>
        </p:blipFill>
        <p:spPr>
          <a:xfrm>
            <a:off x="4519075" y="2849920"/>
            <a:ext cx="1145792" cy="1158150"/>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p:cNvSpPr txBox="1"/>
          <p:nvPr/>
        </p:nvSpPr>
        <p:spPr>
          <a:xfrm>
            <a:off x="8672903"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264</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11129"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7026124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433864" y="-87591"/>
            <a:ext cx="10076818"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tabLst>
                <a:tab pos="1085850" algn="l"/>
              </a:tabLst>
            </a:pPr>
            <a:r>
              <a:rPr lang="en-US" sz="2800" b="1" dirty="0">
                <a:solidFill>
                  <a:srgbClr val="54B5D1"/>
                </a:solidFill>
                <a:latin typeface="Verdana"/>
                <a:ea typeface="Verdana"/>
                <a:cs typeface="Verdana"/>
                <a:sym typeface="Verdana"/>
              </a:rPr>
              <a:t>13.1.2 Guided Instruction: Applying Order of Operations to Algebraic Expressions</a:t>
            </a:r>
          </a:p>
        </p:txBody>
      </p:sp>
      <p:pic>
        <p:nvPicPr>
          <p:cNvPr id="9" name="Google Shape;345;g103996e1364_0_321">
            <a:extLst>
              <a:ext uri="{FF2B5EF4-FFF2-40B4-BE49-F238E27FC236}">
                <a16:creationId xmlns:a16="http://schemas.microsoft.com/office/drawing/2014/main" id="{CBDD45DF-949B-9F42-BFF6-A7167F0CF795}"/>
              </a:ext>
            </a:extLst>
          </p:cNvPr>
          <p:cNvPicPr preferRelativeResize="0"/>
          <p:nvPr/>
        </p:nvPicPr>
        <p:blipFill rotWithShape="1">
          <a:blip r:embed="rId3">
            <a:alphaModFix/>
          </a:blip>
          <a:srcRect/>
          <a:stretch/>
        </p:blipFill>
        <p:spPr>
          <a:xfrm>
            <a:off x="686564" y="181865"/>
            <a:ext cx="747300" cy="747300"/>
          </a:xfrm>
          <a:prstGeom prst="rect">
            <a:avLst/>
          </a:prstGeom>
          <a:noFill/>
          <a:ln>
            <a:noFill/>
          </a:ln>
          <a:effectLst>
            <a:outerShdw blurRad="50800" dist="38100" dir="2700000" algn="tl" rotWithShape="0">
              <a:prstClr val="black">
                <a:alpha val="40000"/>
              </a:prstClr>
            </a:outerShdw>
          </a:effectLst>
        </p:spPr>
      </p:pic>
      <p:sp>
        <p:nvSpPr>
          <p:cNvPr id="13" name="TextBox 12">
            <a:extLst>
              <a:ext uri="{FF2B5EF4-FFF2-40B4-BE49-F238E27FC236}">
                <a16:creationId xmlns:a16="http://schemas.microsoft.com/office/drawing/2014/main" id="{C01B13E8-EC8D-E443-A329-C5E3593DD13A}"/>
              </a:ext>
            </a:extLst>
          </p:cNvPr>
          <p:cNvSpPr txBox="1"/>
          <p:nvPr/>
        </p:nvSpPr>
        <p:spPr>
          <a:xfrm>
            <a:off x="1532965" y="1386026"/>
            <a:ext cx="9382102" cy="3631763"/>
          </a:xfrm>
          <a:prstGeom prst="rect">
            <a:avLst/>
          </a:prstGeom>
          <a:noFill/>
        </p:spPr>
        <p:txBody>
          <a:bodyPr wrap="square" rtlCol="0">
            <a:spAutoFit/>
          </a:bodyPr>
          <a:lstStyle/>
          <a:p>
            <a:r>
              <a:rPr lang="en-US" sz="2000" dirty="0">
                <a:latin typeface="Verdana"/>
                <a:ea typeface="Verdana"/>
                <a:cs typeface="Verdana"/>
              </a:rPr>
              <a:t>Recall from 5</a:t>
            </a:r>
            <a:r>
              <a:rPr lang="en-US" sz="2000" baseline="30000" dirty="0">
                <a:latin typeface="Verdana"/>
                <a:ea typeface="Verdana"/>
                <a:cs typeface="Verdana"/>
              </a:rPr>
              <a:t>th</a:t>
            </a:r>
            <a:r>
              <a:rPr lang="en-US" sz="2000" dirty="0">
                <a:latin typeface="Verdana"/>
                <a:ea typeface="Verdana"/>
                <a:cs typeface="Verdana"/>
              </a:rPr>
              <a:t> grade that an order of operations</a:t>
            </a:r>
            <a:r>
              <a:rPr lang="en-US" sz="2000" b="1" dirty="0">
                <a:latin typeface="Verdana"/>
                <a:ea typeface="Verdana"/>
                <a:cs typeface="Verdana"/>
              </a:rPr>
              <a:t> </a:t>
            </a:r>
            <a:r>
              <a:rPr lang="en-US" sz="2000" dirty="0">
                <a:latin typeface="Verdana"/>
                <a:ea typeface="Verdana"/>
                <a:cs typeface="Verdana"/>
              </a:rPr>
              <a:t>is used to evaluate numeric expressions with multiple operations. Grouping symbols such as parentheses are used to indicate which operations should be performed first. The following </a:t>
            </a:r>
            <a:br>
              <a:rPr lang="en-US" sz="2000" dirty="0">
                <a:latin typeface="Verdana"/>
                <a:ea typeface="Verdana"/>
                <a:cs typeface="Verdana"/>
              </a:rPr>
            </a:br>
            <a:r>
              <a:rPr lang="en-US" sz="2000" dirty="0">
                <a:latin typeface="Verdana"/>
                <a:ea typeface="Verdana"/>
                <a:cs typeface="Verdana"/>
              </a:rPr>
              <a:t>order is used.</a:t>
            </a:r>
          </a:p>
          <a:p>
            <a:pPr>
              <a:spcBef>
                <a:spcPts val="2400"/>
              </a:spcBef>
            </a:pPr>
            <a:r>
              <a:rPr lang="en-US" sz="2000" dirty="0">
                <a:latin typeface="Verdana" panose="020B0604030504040204" pitchFamily="34" charset="0"/>
                <a:ea typeface="Verdana" panose="020B0604030504040204" pitchFamily="34" charset="0"/>
                <a:cs typeface="Verdana" panose="020B0604030504040204" pitchFamily="34" charset="0"/>
              </a:rPr>
              <a:t>Step 1: Perform operations within grouping symbols.</a:t>
            </a:r>
          </a:p>
          <a:p>
            <a:pPr>
              <a:spcBef>
                <a:spcPts val="1200"/>
              </a:spcBef>
            </a:pPr>
            <a:r>
              <a:rPr lang="en-US" sz="2000" dirty="0">
                <a:latin typeface="Verdana" panose="020B0604030504040204" pitchFamily="34" charset="0"/>
                <a:ea typeface="Verdana" panose="020B0604030504040204" pitchFamily="34" charset="0"/>
                <a:cs typeface="Verdana" panose="020B0604030504040204" pitchFamily="34" charset="0"/>
              </a:rPr>
              <a:t>Step 2: Evaluate exponents.</a:t>
            </a:r>
          </a:p>
          <a:p>
            <a:pPr>
              <a:spcBef>
                <a:spcPts val="1200"/>
              </a:spcBef>
            </a:pPr>
            <a:r>
              <a:rPr lang="en-US" sz="2000" dirty="0">
                <a:latin typeface="Verdana" panose="020B0604030504040204" pitchFamily="34" charset="0"/>
                <a:ea typeface="Verdana" panose="020B0604030504040204" pitchFamily="34" charset="0"/>
                <a:cs typeface="Verdana" panose="020B0604030504040204" pitchFamily="34" charset="0"/>
              </a:rPr>
              <a:t>Step 3: Multiply and divide in order from left to right (→). </a:t>
            </a:r>
          </a:p>
          <a:p>
            <a:pPr>
              <a:spcBef>
                <a:spcPts val="1200"/>
              </a:spcBef>
            </a:pPr>
            <a:r>
              <a:rPr lang="en-US" sz="2000" dirty="0">
                <a:latin typeface="Verdana" panose="020B0604030504040204" pitchFamily="34" charset="0"/>
                <a:ea typeface="Verdana" panose="020B0604030504040204" pitchFamily="34" charset="0"/>
                <a:cs typeface="Verdana" panose="020B0604030504040204" pitchFamily="34" charset="0"/>
              </a:rPr>
              <a:t>Step 4: Add and subtract in order from left to right (→). </a:t>
            </a:r>
          </a:p>
        </p:txBody>
      </p:sp>
      <p:sp>
        <p:nvSpPr>
          <p:cNvPr id="10" name="Google Shape;282;g104476d1465_1_17"/>
          <p:cNvSpPr txBox="1"/>
          <p:nvPr/>
        </p:nvSpPr>
        <p:spPr>
          <a:xfrm>
            <a:off x="8672903"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264</a:t>
            </a:r>
            <a:endParaRPr i="1" dirty="0">
              <a:latin typeface="Calibri"/>
              <a:ea typeface="Calibri"/>
              <a:cs typeface="Calibri"/>
              <a:sym typeface="Calibri"/>
            </a:endParaRPr>
          </a:p>
        </p:txBody>
      </p:sp>
      <p:pic>
        <p:nvPicPr>
          <p:cNvPr id="11"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11129"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9024578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TextBox 13">
            <a:extLst>
              <a:ext uri="{FF2B5EF4-FFF2-40B4-BE49-F238E27FC236}">
                <a16:creationId xmlns:a16="http://schemas.microsoft.com/office/drawing/2014/main" id="{2FA392D8-3ED3-7940-83A8-1451AA8A08D4}"/>
              </a:ext>
            </a:extLst>
          </p:cNvPr>
          <p:cNvSpPr txBox="1"/>
          <p:nvPr/>
        </p:nvSpPr>
        <p:spPr>
          <a:xfrm>
            <a:off x="1264024" y="520394"/>
            <a:ext cx="9814618" cy="830997"/>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Three students completed the warm-up. </a:t>
            </a:r>
            <a:br>
              <a:rPr lang="en-US" sz="2400" dirty="0">
                <a:latin typeface="Verdana" panose="020B0604030504040204" pitchFamily="34" charset="0"/>
                <a:ea typeface="Verdana" panose="020B0604030504040204" pitchFamily="34" charset="0"/>
                <a:cs typeface="Verdana" panose="020B0604030504040204" pitchFamily="34" charset="0"/>
              </a:rPr>
            </a:br>
            <a:r>
              <a:rPr lang="en-US" sz="2400" dirty="0">
                <a:latin typeface="Verdana" panose="020B0604030504040204" pitchFamily="34" charset="0"/>
                <a:ea typeface="Verdana" panose="020B0604030504040204" pitchFamily="34" charset="0"/>
                <a:cs typeface="Verdana" panose="020B0604030504040204" pitchFamily="34" charset="0"/>
              </a:rPr>
              <a:t>The steps in each student’s process are shown.</a:t>
            </a: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3705960905"/>
                  </p:ext>
                </p:extLst>
              </p:nvPr>
            </p:nvGraphicFramePr>
            <p:xfrm>
              <a:off x="2543371" y="1595914"/>
              <a:ext cx="7257855" cy="2293684"/>
            </p:xfrm>
            <a:graphic>
              <a:graphicData uri="http://schemas.openxmlformats.org/drawingml/2006/table">
                <a:tbl>
                  <a:tblPr bandRow="1">
                    <a:tableStyleId>{A91F0D33-8C57-4600-99A7-42BC86742BE1}</a:tableStyleId>
                  </a:tblPr>
                  <a:tblGrid>
                    <a:gridCol w="2314380">
                      <a:extLst>
                        <a:ext uri="{9D8B030D-6E8A-4147-A177-3AD203B41FA5}">
                          <a16:colId xmlns:a16="http://schemas.microsoft.com/office/drawing/2014/main" val="20000"/>
                        </a:ext>
                      </a:extLst>
                    </a:gridCol>
                    <a:gridCol w="2419350">
                      <a:extLst>
                        <a:ext uri="{9D8B030D-6E8A-4147-A177-3AD203B41FA5}">
                          <a16:colId xmlns:a16="http://schemas.microsoft.com/office/drawing/2014/main" val="20001"/>
                        </a:ext>
                      </a:extLst>
                    </a:gridCol>
                    <a:gridCol w="2524125">
                      <a:extLst>
                        <a:ext uri="{9D8B030D-6E8A-4147-A177-3AD203B41FA5}">
                          <a16:colId xmlns:a16="http://schemas.microsoft.com/office/drawing/2014/main" val="20002"/>
                        </a:ext>
                      </a:extLst>
                    </a:gridCol>
                  </a:tblGrid>
                  <a:tr h="454660">
                    <a:tc>
                      <a:txBody>
                        <a:bodyPr/>
                        <a:lstStyle/>
                        <a:p>
                          <a:pPr algn="ctr">
                            <a:lnSpc>
                              <a:spcPct val="107000"/>
                            </a:lnSpc>
                            <a:spcAft>
                              <a:spcPts val="0"/>
                            </a:spcAft>
                          </a:pPr>
                          <a:r>
                            <a:rPr lang="en-US" sz="2000" b="1" dirty="0">
                              <a:effectLst/>
                              <a:latin typeface="Verdana" pitchFamily="34" charset="0"/>
                              <a:ea typeface="Verdana" pitchFamily="34" charset="0"/>
                            </a:rPr>
                            <a:t>Leila’s Work</a:t>
                          </a:r>
                          <a:endParaRPr lang="en-US" sz="2000" b="1" i="1" dirty="0">
                            <a:effectLst/>
                            <a:latin typeface="Verdana" pitchFamily="34" charset="0"/>
                            <a:ea typeface="Verdana" pitchFamily="34" charset="0"/>
                            <a:cs typeface="Cambria Math"/>
                          </a:endParaRPr>
                        </a:p>
                      </a:txBody>
                      <a:tcPr marL="68580" marR="685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lnSpc>
                              <a:spcPct val="107000"/>
                            </a:lnSpc>
                            <a:spcAft>
                              <a:spcPts val="0"/>
                            </a:spcAft>
                          </a:pPr>
                          <a:r>
                            <a:rPr lang="en-US" sz="2000" b="1" dirty="0">
                              <a:effectLst/>
                              <a:latin typeface="Verdana" pitchFamily="34" charset="0"/>
                              <a:ea typeface="Verdana" pitchFamily="34" charset="0"/>
                            </a:rPr>
                            <a:t>Fabian’s Work</a:t>
                          </a:r>
                          <a:endParaRPr lang="en-US" sz="2000" b="1" i="1" dirty="0">
                            <a:effectLst/>
                            <a:latin typeface="Verdana" pitchFamily="34" charset="0"/>
                            <a:ea typeface="Verdana" pitchFamily="34" charset="0"/>
                            <a:cs typeface="Cambria Math"/>
                          </a:endParaRPr>
                        </a:p>
                      </a:txBody>
                      <a:tcPr marL="68580" marR="685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lnSpc>
                              <a:spcPct val="107000"/>
                            </a:lnSpc>
                            <a:spcAft>
                              <a:spcPts val="0"/>
                            </a:spcAft>
                          </a:pPr>
                          <a:r>
                            <a:rPr lang="en-US" sz="2000" b="1" dirty="0" err="1">
                              <a:effectLst/>
                              <a:latin typeface="Verdana" pitchFamily="34" charset="0"/>
                              <a:ea typeface="Verdana" pitchFamily="34" charset="0"/>
                            </a:rPr>
                            <a:t>Jaylah’s</a:t>
                          </a:r>
                          <a:r>
                            <a:rPr lang="en-US" sz="2000" b="1" dirty="0">
                              <a:effectLst/>
                              <a:latin typeface="Verdana" pitchFamily="34" charset="0"/>
                              <a:ea typeface="Verdana" pitchFamily="34" charset="0"/>
                            </a:rPr>
                            <a:t> Work</a:t>
                          </a:r>
                          <a:endParaRPr lang="en-US" sz="2000" b="1" i="1" dirty="0">
                            <a:effectLst/>
                            <a:latin typeface="Verdana" pitchFamily="34" charset="0"/>
                            <a:ea typeface="Verdana" pitchFamily="34" charset="0"/>
                            <a:cs typeface="Cambria Math"/>
                          </a:endParaRPr>
                        </a:p>
                      </a:txBody>
                      <a:tcPr marL="68580" marR="685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extLst>
                      <a:ext uri="{0D108BD9-81ED-4DB2-BD59-A6C34878D82A}">
                        <a16:rowId xmlns:a16="http://schemas.microsoft.com/office/drawing/2014/main" val="10000"/>
                      </a:ext>
                    </a:extLst>
                  </a:tr>
                  <a:tr h="1593850">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itchFamily="18" charset="0"/>
                                    <a:ea typeface="Cambria Math" pitchFamily="18" charset="0"/>
                                  </a:rPr>
                                  <m:t>4−2×6÷3+7</m:t>
                                </m:r>
                              </m:oMath>
                            </m:oMathPara>
                          </a14:m>
                          <a:endParaRPr lang="en-US" sz="2000" dirty="0">
                            <a:effectLst/>
                            <a:latin typeface="Cambria Math" pitchFamily="18" charset="0"/>
                            <a:ea typeface="Cambria Math" pitchFamily="18" charset="0"/>
                          </a:endParaRPr>
                        </a:p>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itchFamily="18" charset="0"/>
                                    <a:ea typeface="Cambria Math" pitchFamily="18" charset="0"/>
                                  </a:rPr>
                                  <m:t>2×6÷3+7</m:t>
                                </m:r>
                              </m:oMath>
                            </m:oMathPara>
                          </a14:m>
                          <a:endParaRPr lang="en-US" sz="2000" dirty="0">
                            <a:effectLst/>
                            <a:latin typeface="Cambria Math" pitchFamily="18" charset="0"/>
                            <a:ea typeface="Cambria Math" pitchFamily="18" charset="0"/>
                          </a:endParaRPr>
                        </a:p>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itchFamily="18" charset="0"/>
                                    <a:ea typeface="Cambria Math" pitchFamily="18" charset="0"/>
                                  </a:rPr>
                                  <m:t>12÷3+7</m:t>
                                </m:r>
                              </m:oMath>
                            </m:oMathPara>
                          </a14:m>
                          <a:endParaRPr lang="en-US" sz="2000" dirty="0">
                            <a:effectLst/>
                            <a:latin typeface="Cambria Math" pitchFamily="18" charset="0"/>
                            <a:ea typeface="Cambria Math" pitchFamily="18" charset="0"/>
                          </a:endParaRPr>
                        </a:p>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itchFamily="18" charset="0"/>
                                    <a:ea typeface="Cambria Math" pitchFamily="18" charset="0"/>
                                  </a:rPr>
                                  <m:t>4+7</m:t>
                                </m:r>
                              </m:oMath>
                            </m:oMathPara>
                          </a14:m>
                          <a:endParaRPr lang="en-US" sz="2000" dirty="0">
                            <a:effectLst/>
                            <a:latin typeface="Cambria Math" pitchFamily="18" charset="0"/>
                            <a:ea typeface="Cambria Math" pitchFamily="18" charset="0"/>
                          </a:endParaRPr>
                        </a:p>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itchFamily="18" charset="0"/>
                                    <a:ea typeface="Cambria Math" pitchFamily="18" charset="0"/>
                                  </a:rPr>
                                  <m:t>11</m:t>
                                </m:r>
                              </m:oMath>
                            </m:oMathPara>
                          </a14:m>
                          <a:endParaRPr lang="en-US" sz="2000" i="1" dirty="0">
                            <a:effectLst/>
                            <a:latin typeface="Cambria Math" pitchFamily="18" charset="0"/>
                            <a:ea typeface="Cambria Math" pitchFamily="18" charset="0"/>
                            <a:cs typeface="Cambria Math"/>
                          </a:endParaRPr>
                        </a:p>
                      </a:txBody>
                      <a:tcPr marL="68580" marR="68580"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itchFamily="18" charset="0"/>
                                    <a:ea typeface="Cambria Math" pitchFamily="18" charset="0"/>
                                  </a:rPr>
                                  <m:t>4−2×6÷3+7</m:t>
                                </m:r>
                              </m:oMath>
                            </m:oMathPara>
                          </a14:m>
                          <a:endParaRPr lang="en-US" sz="2000" dirty="0">
                            <a:effectLst/>
                            <a:latin typeface="Cambria Math" pitchFamily="18" charset="0"/>
                            <a:ea typeface="Cambria Math" pitchFamily="18" charset="0"/>
                          </a:endParaRPr>
                        </a:p>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itchFamily="18" charset="0"/>
                                    <a:ea typeface="Cambria Math" pitchFamily="18" charset="0"/>
                                  </a:rPr>
                                  <m:t>4−12÷3+7</m:t>
                                </m:r>
                              </m:oMath>
                            </m:oMathPara>
                          </a14:m>
                          <a:endParaRPr lang="en-US" sz="2000" dirty="0">
                            <a:effectLst/>
                            <a:latin typeface="Cambria Math" pitchFamily="18" charset="0"/>
                            <a:ea typeface="Cambria Math" pitchFamily="18" charset="0"/>
                          </a:endParaRPr>
                        </a:p>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itchFamily="18" charset="0"/>
                                    <a:ea typeface="Cambria Math" pitchFamily="18" charset="0"/>
                                  </a:rPr>
                                  <m:t>4−4+7</m:t>
                                </m:r>
                              </m:oMath>
                            </m:oMathPara>
                          </a14:m>
                          <a:endParaRPr lang="en-US" sz="2000" dirty="0">
                            <a:effectLst/>
                            <a:latin typeface="Cambria Math" pitchFamily="18" charset="0"/>
                            <a:ea typeface="Cambria Math" pitchFamily="18" charset="0"/>
                          </a:endParaRPr>
                        </a:p>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itchFamily="18" charset="0"/>
                                    <a:ea typeface="Cambria Math" pitchFamily="18" charset="0"/>
                                  </a:rPr>
                                  <m:t>4−11</m:t>
                                </m:r>
                              </m:oMath>
                            </m:oMathPara>
                          </a14:m>
                          <a:endParaRPr lang="en-US" sz="2000" dirty="0">
                            <a:effectLst/>
                            <a:latin typeface="Cambria Math" pitchFamily="18" charset="0"/>
                            <a:ea typeface="Cambria Math" pitchFamily="18" charset="0"/>
                          </a:endParaRPr>
                        </a:p>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itchFamily="18" charset="0"/>
                                    <a:ea typeface="Cambria Math" pitchFamily="18" charset="0"/>
                                  </a:rPr>
                                  <m:t>−7</m:t>
                                </m:r>
                              </m:oMath>
                            </m:oMathPara>
                          </a14:m>
                          <a:endParaRPr lang="en-US" sz="2000" i="1" dirty="0">
                            <a:effectLst/>
                            <a:latin typeface="Cambria Math" pitchFamily="18" charset="0"/>
                            <a:ea typeface="Cambria Math" pitchFamily="18" charset="0"/>
                            <a:cs typeface="Cambria Math"/>
                          </a:endParaRPr>
                        </a:p>
                      </a:txBody>
                      <a:tcPr marL="68580" marR="68580"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itchFamily="18" charset="0"/>
                                    <a:ea typeface="Cambria Math" pitchFamily="18" charset="0"/>
                                  </a:rPr>
                                  <m:t>4−2×6÷3+7</m:t>
                                </m:r>
                              </m:oMath>
                            </m:oMathPara>
                          </a14:m>
                          <a:endParaRPr lang="en-US" sz="2000" dirty="0">
                            <a:effectLst/>
                            <a:latin typeface="Cambria Math" pitchFamily="18" charset="0"/>
                            <a:ea typeface="Cambria Math" pitchFamily="18" charset="0"/>
                          </a:endParaRPr>
                        </a:p>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itchFamily="18" charset="0"/>
                                    <a:ea typeface="Cambria Math" pitchFamily="18" charset="0"/>
                                  </a:rPr>
                                  <m:t>4−12÷3+7</m:t>
                                </m:r>
                              </m:oMath>
                            </m:oMathPara>
                          </a14:m>
                          <a:endParaRPr lang="en-US" sz="2000" dirty="0">
                            <a:effectLst/>
                            <a:latin typeface="Cambria Math" pitchFamily="18" charset="0"/>
                            <a:ea typeface="Cambria Math" pitchFamily="18" charset="0"/>
                          </a:endParaRPr>
                        </a:p>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itchFamily="18" charset="0"/>
                                    <a:ea typeface="Cambria Math" pitchFamily="18" charset="0"/>
                                  </a:rPr>
                                  <m:t>4−4+7</m:t>
                                </m:r>
                              </m:oMath>
                            </m:oMathPara>
                          </a14:m>
                          <a:endParaRPr lang="en-US" sz="2000" dirty="0">
                            <a:effectLst/>
                            <a:latin typeface="Cambria Math" pitchFamily="18" charset="0"/>
                            <a:ea typeface="Cambria Math" pitchFamily="18" charset="0"/>
                          </a:endParaRPr>
                        </a:p>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itchFamily="18" charset="0"/>
                                    <a:ea typeface="Cambria Math" pitchFamily="18" charset="0"/>
                                  </a:rPr>
                                  <m:t>0+7</m:t>
                                </m:r>
                              </m:oMath>
                            </m:oMathPara>
                          </a14:m>
                          <a:endParaRPr lang="en-US" sz="2000" dirty="0">
                            <a:effectLst/>
                            <a:latin typeface="Cambria Math" pitchFamily="18" charset="0"/>
                            <a:ea typeface="Cambria Math" pitchFamily="18" charset="0"/>
                          </a:endParaRPr>
                        </a:p>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itchFamily="18" charset="0"/>
                                    <a:ea typeface="Cambria Math" pitchFamily="18" charset="0"/>
                                  </a:rPr>
                                  <m:t>7</m:t>
                                </m:r>
                              </m:oMath>
                            </m:oMathPara>
                          </a14:m>
                          <a:endParaRPr lang="en-US" sz="2000" i="1" dirty="0">
                            <a:effectLst/>
                            <a:latin typeface="Cambria Math" pitchFamily="18" charset="0"/>
                            <a:ea typeface="Cambria Math" pitchFamily="18" charset="0"/>
                            <a:cs typeface="Cambria Math"/>
                          </a:endParaRPr>
                        </a:p>
                      </a:txBody>
                      <a:tcPr marL="68580" marR="68580"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3705960905"/>
                  </p:ext>
                </p:extLst>
              </p:nvPr>
            </p:nvGraphicFramePr>
            <p:xfrm>
              <a:off x="1019370" y="1595914"/>
              <a:ext cx="7257855" cy="2322576"/>
            </p:xfrm>
            <a:graphic>
              <a:graphicData uri="http://schemas.openxmlformats.org/drawingml/2006/table">
                <a:tbl>
                  <a:tblPr bandRow="1">
                    <a:tableStyleId>{A91F0D33-8C57-4600-99A7-42BC86742BE1}</a:tableStyleId>
                  </a:tblPr>
                  <a:tblGrid>
                    <a:gridCol w="2314380"/>
                    <a:gridCol w="2419350"/>
                    <a:gridCol w="2524125"/>
                  </a:tblGrid>
                  <a:tr h="509016">
                    <a:tc>
                      <a:txBody>
                        <a:bodyPr/>
                        <a:lstStyle/>
                        <a:p>
                          <a:pPr algn="ctr">
                            <a:lnSpc>
                              <a:spcPct val="107000"/>
                            </a:lnSpc>
                            <a:spcAft>
                              <a:spcPts val="0"/>
                            </a:spcAft>
                          </a:pPr>
                          <a:r>
                            <a:rPr lang="en-US" sz="2000" b="1" dirty="0">
                              <a:effectLst/>
                              <a:latin typeface="Verdana" pitchFamily="34" charset="0"/>
                              <a:ea typeface="Verdana" pitchFamily="34" charset="0"/>
                            </a:rPr>
                            <a:t>Leila’s Work</a:t>
                          </a:r>
                          <a:endParaRPr lang="en-US" sz="2000" b="1" i="1" dirty="0">
                            <a:effectLst/>
                            <a:latin typeface="Verdana" pitchFamily="34" charset="0"/>
                            <a:ea typeface="Verdana" pitchFamily="34" charset="0"/>
                            <a:cs typeface="Cambria Math"/>
                          </a:endParaRPr>
                        </a:p>
                      </a:txBody>
                      <a:tcPr marL="68580" marR="685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lnSpc>
                              <a:spcPct val="107000"/>
                            </a:lnSpc>
                            <a:spcAft>
                              <a:spcPts val="0"/>
                            </a:spcAft>
                          </a:pPr>
                          <a:r>
                            <a:rPr lang="en-US" sz="2000" b="1" dirty="0">
                              <a:effectLst/>
                              <a:latin typeface="Verdana" pitchFamily="34" charset="0"/>
                              <a:ea typeface="Verdana" pitchFamily="34" charset="0"/>
                            </a:rPr>
                            <a:t>Fabian’s Work</a:t>
                          </a:r>
                          <a:endParaRPr lang="en-US" sz="2000" b="1" i="1" dirty="0">
                            <a:effectLst/>
                            <a:latin typeface="Verdana" pitchFamily="34" charset="0"/>
                            <a:ea typeface="Verdana" pitchFamily="34" charset="0"/>
                            <a:cs typeface="Cambria Math"/>
                          </a:endParaRPr>
                        </a:p>
                      </a:txBody>
                      <a:tcPr marL="68580" marR="685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lnSpc>
                              <a:spcPct val="107000"/>
                            </a:lnSpc>
                            <a:spcAft>
                              <a:spcPts val="0"/>
                            </a:spcAft>
                          </a:pPr>
                          <a:r>
                            <a:rPr lang="en-US" sz="2000" b="1" dirty="0" err="1">
                              <a:effectLst/>
                              <a:latin typeface="Verdana" pitchFamily="34" charset="0"/>
                              <a:ea typeface="Verdana" pitchFamily="34" charset="0"/>
                            </a:rPr>
                            <a:t>Jaylah’s</a:t>
                          </a:r>
                          <a:r>
                            <a:rPr lang="en-US" sz="2000" b="1" dirty="0">
                              <a:effectLst/>
                              <a:latin typeface="Verdana" pitchFamily="34" charset="0"/>
                              <a:ea typeface="Verdana" pitchFamily="34" charset="0"/>
                            </a:rPr>
                            <a:t> Work</a:t>
                          </a:r>
                          <a:endParaRPr lang="en-US" sz="2000" b="1" i="1" dirty="0">
                            <a:effectLst/>
                            <a:latin typeface="Verdana" pitchFamily="34" charset="0"/>
                            <a:ea typeface="Verdana" pitchFamily="34" charset="0"/>
                            <a:cs typeface="Cambria Math"/>
                          </a:endParaRPr>
                        </a:p>
                      </a:txBody>
                      <a:tcPr marL="68580" marR="685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r>
                  <a:tr h="1813560">
                    <a:tc>
                      <a:txBody>
                        <a:bodyPr/>
                        <a:lstStyle/>
                        <a:p>
                          <a:endParaRPr lang="en-US"/>
                        </a:p>
                      </a:txBody>
                      <a:tcPr marL="68580" marR="68580"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4"/>
                          <a:stretch>
                            <a:fillRect t="-28620" r="-213421"/>
                          </a:stretch>
                        </a:blipFill>
                      </a:tcPr>
                    </a:tc>
                    <a:tc>
                      <a:txBody>
                        <a:bodyPr/>
                        <a:lstStyle/>
                        <a:p>
                          <a:endParaRPr lang="en-US"/>
                        </a:p>
                      </a:txBody>
                      <a:tcPr marL="68580" marR="68580"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4"/>
                          <a:stretch>
                            <a:fillRect l="-95718" t="-28620" r="-104282"/>
                          </a:stretch>
                        </a:blipFill>
                      </a:tcPr>
                    </a:tc>
                    <a:tc>
                      <a:txBody>
                        <a:bodyPr/>
                        <a:lstStyle/>
                        <a:p>
                          <a:endParaRPr lang="en-US"/>
                        </a:p>
                      </a:txBody>
                      <a:tcPr marL="68580" marR="68580"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4"/>
                          <a:stretch>
                            <a:fillRect l="-187681" t="-28620"/>
                          </a:stretch>
                        </a:blipFill>
                      </a:tcPr>
                    </a:tc>
                  </a:tr>
                </a:tbl>
              </a:graphicData>
            </a:graphic>
          </p:graphicFrame>
        </mc:Fallback>
      </mc:AlternateContent>
      <p:sp>
        <p:nvSpPr>
          <p:cNvPr id="8" name="Google Shape;282;g104476d1465_1_17"/>
          <p:cNvSpPr txBox="1"/>
          <p:nvPr/>
        </p:nvSpPr>
        <p:spPr>
          <a:xfrm>
            <a:off x="8672903"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264</a:t>
            </a:r>
            <a:endParaRPr i="1" dirty="0">
              <a:latin typeface="Calibri"/>
              <a:ea typeface="Calibri"/>
              <a:cs typeface="Calibri"/>
              <a:sym typeface="Calibri"/>
            </a:endParaRPr>
          </a:p>
        </p:txBody>
      </p:sp>
      <p:pic>
        <p:nvPicPr>
          <p:cNvPr id="9"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11129"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1949944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TextBox 13">
            <a:extLst>
              <a:ext uri="{FF2B5EF4-FFF2-40B4-BE49-F238E27FC236}">
                <a16:creationId xmlns:a16="http://schemas.microsoft.com/office/drawing/2014/main" id="{2FA392D8-3ED3-7940-83A8-1451AA8A08D4}"/>
              </a:ext>
            </a:extLst>
          </p:cNvPr>
          <p:cNvSpPr txBox="1"/>
          <p:nvPr/>
        </p:nvSpPr>
        <p:spPr>
          <a:xfrm>
            <a:off x="2007765" y="520394"/>
            <a:ext cx="8327136" cy="5632311"/>
          </a:xfrm>
          <a:prstGeom prst="rect">
            <a:avLst/>
          </a:prstGeom>
          <a:noFill/>
        </p:spPr>
        <p:txBody>
          <a:bodyPr wrap="square" rtlCol="0">
            <a:spAutoFit/>
          </a:bodyPr>
          <a:lstStyle/>
          <a:p>
            <a:pPr marL="914400" indent="-457200">
              <a:buFont typeface="+mj-lt"/>
              <a:buAutoNum type="alphaLcPeriod"/>
            </a:pPr>
            <a:r>
              <a:rPr lang="en-US" sz="2000" dirty="0">
                <a:latin typeface="Verdana"/>
                <a:ea typeface="Verdana"/>
                <a:cs typeface="Verdana"/>
              </a:rPr>
              <a:t>Complete the statements about which student correctly applied the given steps of the order of operations.</a:t>
            </a:r>
          </a:p>
          <a:p>
            <a:pPr marL="914400" indent="-457200">
              <a:buFont typeface="+mj-lt"/>
              <a:buAutoNum type="alphaLcPeriod"/>
            </a:pPr>
            <a:endParaRPr lang="en-US" sz="2000" dirty="0">
              <a:latin typeface="Verdana"/>
              <a:ea typeface="Verdana"/>
              <a:cs typeface="Verdana"/>
            </a:endParaRPr>
          </a:p>
          <a:p>
            <a:pPr marL="914400" indent="-457200">
              <a:buFont typeface="+mj-lt"/>
              <a:buAutoNum type="alphaLcPeriod"/>
            </a:pPr>
            <a:endParaRPr lang="en-US" sz="2000" dirty="0">
              <a:latin typeface="Verdana"/>
              <a:ea typeface="Verdana"/>
              <a:cs typeface="Verdana"/>
            </a:endParaRPr>
          </a:p>
          <a:p>
            <a:pPr marL="914400"/>
            <a:r>
              <a:rPr lang="en-US" sz="2000" dirty="0">
                <a:latin typeface="Verdana"/>
                <a:ea typeface="Verdana"/>
                <a:cs typeface="Verdana"/>
              </a:rPr>
              <a:t>	       evaluated the numerical expression </a:t>
            </a:r>
            <a:br>
              <a:rPr lang="en-US" sz="2000" dirty="0">
                <a:latin typeface="Verdana"/>
                <a:ea typeface="Verdana"/>
                <a:cs typeface="Verdana"/>
              </a:rPr>
            </a:br>
            <a:br>
              <a:rPr lang="en-US" sz="2000" dirty="0">
                <a:latin typeface="Verdana"/>
                <a:ea typeface="Verdana"/>
                <a:cs typeface="Verdana"/>
              </a:rPr>
            </a:br>
            <a:br>
              <a:rPr lang="en-US" sz="2000" dirty="0">
                <a:latin typeface="Verdana"/>
                <a:ea typeface="Verdana"/>
                <a:cs typeface="Verdana"/>
              </a:rPr>
            </a:br>
            <a:br>
              <a:rPr lang="en-US" sz="2000" dirty="0">
                <a:latin typeface="Verdana"/>
                <a:ea typeface="Verdana"/>
                <a:cs typeface="Verdana"/>
              </a:rPr>
            </a:br>
            <a:r>
              <a:rPr lang="en-US" sz="2000" dirty="0">
                <a:latin typeface="Verdana"/>
                <a:ea typeface="Verdana"/>
                <a:cs typeface="Verdana"/>
              </a:rPr>
              <a:t>correctly. She first performed all</a:t>
            </a:r>
            <a:br>
              <a:rPr lang="en-US" sz="2000" dirty="0">
                <a:latin typeface="Verdana"/>
                <a:ea typeface="Verdana"/>
                <a:cs typeface="Verdana"/>
              </a:rPr>
            </a:br>
            <a:br>
              <a:rPr lang="en-US" sz="2000" dirty="0">
                <a:latin typeface="Verdana"/>
                <a:ea typeface="Verdana"/>
                <a:cs typeface="Verdana"/>
              </a:rPr>
            </a:br>
            <a:br>
              <a:rPr lang="en-US" sz="2000" dirty="0">
                <a:latin typeface="Verdana"/>
                <a:ea typeface="Verdana"/>
                <a:cs typeface="Verdana"/>
              </a:rPr>
            </a:br>
            <a:br>
              <a:rPr lang="en-US" sz="2000" dirty="0">
                <a:latin typeface="Verdana"/>
                <a:ea typeface="Verdana"/>
                <a:cs typeface="Verdana"/>
              </a:rPr>
            </a:br>
            <a:r>
              <a:rPr lang="en-US" sz="2000" dirty="0">
                <a:latin typeface="Verdana"/>
                <a:ea typeface="Verdana"/>
                <a:cs typeface="Verdana"/>
              </a:rPr>
              <a:t>in order from left to right and then performed all</a:t>
            </a:r>
            <a:br>
              <a:rPr lang="en-US" sz="2000" dirty="0">
                <a:latin typeface="Verdana"/>
                <a:ea typeface="Verdana"/>
                <a:cs typeface="Verdana"/>
              </a:rPr>
            </a:br>
            <a:br>
              <a:rPr lang="en-US" sz="2000" dirty="0">
                <a:latin typeface="Verdana"/>
                <a:ea typeface="Verdana"/>
                <a:cs typeface="Verdana"/>
              </a:rPr>
            </a:br>
            <a:br>
              <a:rPr lang="en-US" sz="2000" dirty="0">
                <a:latin typeface="Verdana"/>
                <a:ea typeface="Verdana"/>
                <a:cs typeface="Verdana"/>
              </a:rPr>
            </a:br>
            <a:br>
              <a:rPr lang="en-US" sz="2000" dirty="0">
                <a:latin typeface="Verdana"/>
                <a:ea typeface="Verdana"/>
                <a:cs typeface="Verdana"/>
              </a:rPr>
            </a:br>
            <a:r>
              <a:rPr lang="en-US" sz="2000" dirty="0">
                <a:latin typeface="Verdana"/>
                <a:ea typeface="Verdana"/>
                <a:cs typeface="Verdana"/>
              </a:rPr>
              <a:t>                            in order from left to right.</a:t>
            </a:r>
            <a:br>
              <a:rPr lang="en-US" sz="2000" dirty="0">
                <a:latin typeface="Verdana"/>
                <a:ea typeface="Verdana"/>
                <a:cs typeface="Verdana"/>
              </a:rPr>
            </a:br>
            <a:endParaRPr lang="en-US" sz="2000" dirty="0">
              <a:latin typeface="Verdana" panose="020B0604030504040204" pitchFamily="34" charset="0"/>
              <a:ea typeface="Verdana" panose="020B0604030504040204" pitchFamily="34" charset="0"/>
              <a:cs typeface="Verdana" panose="020B0604030504040204" pitchFamily="34" charset="0"/>
            </a:endParaRPr>
          </a:p>
        </p:txBody>
      </p:sp>
      <p:sp>
        <p:nvSpPr>
          <p:cNvPr id="7" name="Rounded Rectangle 6"/>
          <p:cNvSpPr/>
          <p:nvPr/>
        </p:nvSpPr>
        <p:spPr>
          <a:xfrm>
            <a:off x="3033395" y="1373751"/>
            <a:ext cx="1400810" cy="1154359"/>
          </a:xfrm>
          <a:prstGeom prst="roundRect">
            <a:avLst>
              <a:gd name="adj" fmla="val 16667"/>
            </a:avLst>
          </a:prstGeom>
          <a:noFill/>
          <a:ln w="12700" cap="flat" cmpd="sng">
            <a:solidFill>
              <a:schemeClr val="tx1"/>
            </a:solidFill>
            <a:prstDash val="solid"/>
            <a:miter lim="800000"/>
            <a:headEnd type="none" w="sm" len="sm"/>
            <a:tailEnd type="none" w="sm" len="sm"/>
          </a:ln>
        </p:spPr>
        <p:txBody>
          <a:bodyPr spcFirstLastPara="1" wrap="square" lIns="91425" tIns="27432" rIns="91425" bIns="27432" anchor="ctr" anchorCtr="0">
            <a:spAutoFit/>
          </a:bodyPr>
          <a:lstStyle/>
          <a:p>
            <a:pPr marL="228600" indent="-228600">
              <a:lnSpc>
                <a:spcPct val="107000"/>
              </a:lnSpc>
              <a:buFont typeface="Courier New" pitchFamily="49" charset="0"/>
              <a:buChar char="o"/>
            </a:pPr>
            <a:r>
              <a:rPr lang="en-US" sz="2000" dirty="0">
                <a:latin typeface="Verdana" pitchFamily="34" charset="0"/>
                <a:ea typeface="Verdana" pitchFamily="34" charset="0"/>
                <a:cs typeface="Verdana"/>
              </a:rPr>
              <a:t>Leila</a:t>
            </a:r>
            <a:endParaRPr lang="en-US" sz="2000" i="1" dirty="0">
              <a:latin typeface="Verdana" pitchFamily="34" charset="0"/>
              <a:ea typeface="Verdana" pitchFamily="34" charset="0"/>
              <a:cs typeface="Cambria Math"/>
            </a:endParaRPr>
          </a:p>
          <a:p>
            <a:pPr marL="228600" indent="-228600">
              <a:lnSpc>
                <a:spcPct val="107000"/>
              </a:lnSpc>
              <a:buFont typeface="Courier New" pitchFamily="49" charset="0"/>
              <a:buChar char="o"/>
            </a:pPr>
            <a:r>
              <a:rPr lang="en-US" sz="2000" dirty="0">
                <a:latin typeface="Verdana" pitchFamily="34" charset="0"/>
                <a:ea typeface="Verdana" pitchFamily="34" charset="0"/>
                <a:cs typeface="Verdana"/>
              </a:rPr>
              <a:t>Fabian</a:t>
            </a:r>
            <a:endParaRPr lang="en-US" sz="2000" i="1" dirty="0">
              <a:latin typeface="Verdana" pitchFamily="34" charset="0"/>
              <a:ea typeface="Verdana" pitchFamily="34" charset="0"/>
              <a:cs typeface="Cambria Math"/>
            </a:endParaRPr>
          </a:p>
          <a:p>
            <a:pPr marL="228600" indent="-228600">
              <a:lnSpc>
                <a:spcPct val="107000"/>
              </a:lnSpc>
              <a:buFont typeface="Courier New" pitchFamily="49" charset="0"/>
              <a:buChar char="o"/>
            </a:pPr>
            <a:r>
              <a:rPr lang="en-US" sz="2000" dirty="0" err="1">
                <a:latin typeface="Verdana" pitchFamily="34" charset="0"/>
                <a:ea typeface="Verdana" pitchFamily="34" charset="0"/>
                <a:cs typeface="Verdana"/>
              </a:rPr>
              <a:t>Jaylah</a:t>
            </a:r>
            <a:endParaRPr lang="en-US" sz="2000" i="1" dirty="0">
              <a:latin typeface="Verdana" pitchFamily="34" charset="0"/>
              <a:ea typeface="Verdana" pitchFamily="34" charset="0"/>
              <a:cs typeface="Cambria Math"/>
            </a:endParaRPr>
          </a:p>
        </p:txBody>
      </p:sp>
      <p:sp>
        <p:nvSpPr>
          <p:cNvPr id="8" name="Rounded Rectangle 7"/>
          <p:cNvSpPr/>
          <p:nvPr/>
        </p:nvSpPr>
        <p:spPr>
          <a:xfrm>
            <a:off x="7286175" y="2381116"/>
            <a:ext cx="2362650" cy="1539145"/>
          </a:xfrm>
          <a:prstGeom prst="roundRect">
            <a:avLst>
              <a:gd name="adj" fmla="val 16667"/>
            </a:avLst>
          </a:prstGeom>
          <a:noFill/>
          <a:ln w="12700" cap="flat" cmpd="sng">
            <a:solidFill>
              <a:schemeClr val="tx1"/>
            </a:solidFill>
            <a:prstDash val="solid"/>
            <a:miter lim="800000"/>
            <a:headEnd type="none" w="sm" len="sm"/>
            <a:tailEnd type="none" w="sm" len="sm"/>
          </a:ln>
        </p:spPr>
        <p:txBody>
          <a:bodyPr spcFirstLastPara="1" wrap="square" lIns="91425" tIns="27432" rIns="91425" bIns="27432" anchor="ctr" anchorCtr="0">
            <a:spAutoFit/>
          </a:bodyPr>
          <a:lstStyle/>
          <a:p>
            <a:pPr marL="228600" indent="-228600">
              <a:lnSpc>
                <a:spcPct val="107000"/>
              </a:lnSpc>
              <a:buFont typeface="Courier New"/>
              <a:buChar char="o"/>
            </a:pPr>
            <a:r>
              <a:rPr lang="en-US" sz="2000" dirty="0">
                <a:latin typeface="Verdana" pitchFamily="34" charset="0"/>
                <a:ea typeface="Verdana" pitchFamily="34" charset="0"/>
                <a:cs typeface="Verdana"/>
              </a:rPr>
              <a:t>multiplication </a:t>
            </a:r>
            <a:br>
              <a:rPr lang="en-US" sz="2000" dirty="0">
                <a:latin typeface="Verdana" pitchFamily="34" charset="0"/>
                <a:ea typeface="Verdana" pitchFamily="34" charset="0"/>
                <a:cs typeface="Verdana"/>
              </a:rPr>
            </a:br>
            <a:r>
              <a:rPr lang="en-US" sz="2000" dirty="0">
                <a:latin typeface="Verdana" pitchFamily="34" charset="0"/>
                <a:ea typeface="Verdana" pitchFamily="34" charset="0"/>
                <a:cs typeface="Verdana"/>
              </a:rPr>
              <a:t>and division</a:t>
            </a:r>
            <a:endParaRPr lang="en-US" sz="2000" i="1" dirty="0">
              <a:latin typeface="Verdana" pitchFamily="34" charset="0"/>
              <a:ea typeface="Verdana" pitchFamily="34" charset="0"/>
              <a:cs typeface="Cambria Math"/>
            </a:endParaRPr>
          </a:p>
          <a:p>
            <a:pPr marL="228600" indent="-228600">
              <a:lnSpc>
                <a:spcPct val="107000"/>
              </a:lnSpc>
              <a:buFont typeface="Courier New"/>
              <a:buChar char="o"/>
            </a:pPr>
            <a:r>
              <a:rPr lang="en-US" sz="2000" dirty="0">
                <a:latin typeface="Verdana" pitchFamily="34" charset="0"/>
                <a:ea typeface="Verdana" pitchFamily="34" charset="0"/>
                <a:cs typeface="Verdana"/>
              </a:rPr>
              <a:t>addition and </a:t>
            </a:r>
            <a:br>
              <a:rPr lang="en-US" sz="2000" dirty="0">
                <a:latin typeface="Verdana" pitchFamily="34" charset="0"/>
                <a:ea typeface="Verdana" pitchFamily="34" charset="0"/>
                <a:cs typeface="Verdana"/>
              </a:rPr>
            </a:br>
            <a:r>
              <a:rPr lang="en-US" sz="2000" dirty="0">
                <a:latin typeface="Verdana" pitchFamily="34" charset="0"/>
                <a:ea typeface="Verdana" pitchFamily="34" charset="0"/>
                <a:cs typeface="Verdana"/>
              </a:rPr>
              <a:t>subtraction</a:t>
            </a:r>
            <a:endParaRPr lang="en-US" sz="2000" i="1" dirty="0">
              <a:latin typeface="Verdana" pitchFamily="34" charset="0"/>
              <a:ea typeface="Verdana" pitchFamily="34" charset="0"/>
              <a:cs typeface="Cambria Math"/>
            </a:endParaRPr>
          </a:p>
        </p:txBody>
      </p:sp>
      <p:sp>
        <p:nvSpPr>
          <p:cNvPr id="9" name="Rounded Rectangle 8"/>
          <p:cNvSpPr/>
          <p:nvPr/>
        </p:nvSpPr>
        <p:spPr>
          <a:xfrm>
            <a:off x="3033395" y="4832906"/>
            <a:ext cx="2362650" cy="1539145"/>
          </a:xfrm>
          <a:prstGeom prst="roundRect">
            <a:avLst>
              <a:gd name="adj" fmla="val 16667"/>
            </a:avLst>
          </a:prstGeom>
          <a:noFill/>
          <a:ln w="12700" cap="flat" cmpd="sng">
            <a:solidFill>
              <a:schemeClr val="tx1"/>
            </a:solidFill>
            <a:prstDash val="solid"/>
            <a:miter lim="800000"/>
            <a:headEnd type="none" w="sm" len="sm"/>
            <a:tailEnd type="none" w="sm" len="sm"/>
          </a:ln>
        </p:spPr>
        <p:txBody>
          <a:bodyPr spcFirstLastPara="1" wrap="square" lIns="91425" tIns="27432" rIns="91425" bIns="27432" anchor="ctr" anchorCtr="0">
            <a:spAutoFit/>
          </a:bodyPr>
          <a:lstStyle/>
          <a:p>
            <a:pPr marL="228600" indent="-228600">
              <a:lnSpc>
                <a:spcPct val="107000"/>
              </a:lnSpc>
              <a:buFont typeface="Courier New"/>
              <a:buChar char="o"/>
            </a:pPr>
            <a:r>
              <a:rPr lang="en-US" sz="2000" dirty="0">
                <a:latin typeface="Verdana" pitchFamily="34" charset="0"/>
                <a:ea typeface="Verdana" pitchFamily="34" charset="0"/>
                <a:cs typeface="Verdana"/>
              </a:rPr>
              <a:t>multiplication </a:t>
            </a:r>
            <a:br>
              <a:rPr lang="en-US" sz="2000" dirty="0">
                <a:latin typeface="Verdana" pitchFamily="34" charset="0"/>
                <a:ea typeface="Verdana" pitchFamily="34" charset="0"/>
                <a:cs typeface="Verdana"/>
              </a:rPr>
            </a:br>
            <a:r>
              <a:rPr lang="en-US" sz="2000" dirty="0">
                <a:latin typeface="Verdana" pitchFamily="34" charset="0"/>
                <a:ea typeface="Verdana" pitchFamily="34" charset="0"/>
                <a:cs typeface="Verdana"/>
              </a:rPr>
              <a:t>and division</a:t>
            </a:r>
            <a:endParaRPr lang="en-US" sz="2000" i="1" dirty="0">
              <a:latin typeface="Verdana" pitchFamily="34" charset="0"/>
              <a:ea typeface="Verdana" pitchFamily="34" charset="0"/>
              <a:cs typeface="Cambria Math"/>
            </a:endParaRPr>
          </a:p>
          <a:p>
            <a:pPr marL="228600" indent="-228600">
              <a:lnSpc>
                <a:spcPct val="107000"/>
              </a:lnSpc>
              <a:buFont typeface="Courier New"/>
              <a:buChar char="o"/>
            </a:pPr>
            <a:r>
              <a:rPr lang="en-US" sz="2000" dirty="0">
                <a:latin typeface="Verdana" pitchFamily="34" charset="0"/>
                <a:ea typeface="Verdana" pitchFamily="34" charset="0"/>
                <a:cs typeface="Verdana"/>
              </a:rPr>
              <a:t>addition and </a:t>
            </a:r>
            <a:br>
              <a:rPr lang="en-US" sz="2000" dirty="0">
                <a:latin typeface="Verdana" pitchFamily="34" charset="0"/>
                <a:ea typeface="Verdana" pitchFamily="34" charset="0"/>
                <a:cs typeface="Verdana"/>
              </a:rPr>
            </a:br>
            <a:r>
              <a:rPr lang="en-US" sz="2000" dirty="0">
                <a:latin typeface="Verdana" pitchFamily="34" charset="0"/>
                <a:ea typeface="Verdana" pitchFamily="34" charset="0"/>
                <a:cs typeface="Verdana"/>
              </a:rPr>
              <a:t>subtraction</a:t>
            </a:r>
            <a:endParaRPr lang="en-US" sz="2000" i="1" dirty="0">
              <a:latin typeface="Verdana" pitchFamily="34" charset="0"/>
              <a:ea typeface="Verdana" pitchFamily="34" charset="0"/>
              <a:cs typeface="Cambria Math"/>
            </a:endParaRPr>
          </a:p>
        </p:txBody>
      </p:sp>
      <p:sp>
        <p:nvSpPr>
          <p:cNvPr id="11" name="Google Shape;282;g104476d1465_1_17"/>
          <p:cNvSpPr txBox="1"/>
          <p:nvPr/>
        </p:nvSpPr>
        <p:spPr>
          <a:xfrm>
            <a:off x="8672903"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264</a:t>
            </a:r>
            <a:endParaRPr i="1" dirty="0">
              <a:latin typeface="Calibri"/>
              <a:ea typeface="Calibri"/>
              <a:cs typeface="Calibri"/>
              <a:sym typeface="Calibri"/>
            </a:endParaRPr>
          </a:p>
        </p:txBody>
      </p:sp>
      <p:pic>
        <p:nvPicPr>
          <p:cNvPr id="12"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11129"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7595252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TextBox 13">
            <a:extLst>
              <a:ext uri="{FF2B5EF4-FFF2-40B4-BE49-F238E27FC236}">
                <a16:creationId xmlns:a16="http://schemas.microsoft.com/office/drawing/2014/main" id="{2FA392D8-3ED3-7940-83A8-1451AA8A08D4}"/>
              </a:ext>
            </a:extLst>
          </p:cNvPr>
          <p:cNvSpPr txBox="1"/>
          <p:nvPr/>
        </p:nvSpPr>
        <p:spPr>
          <a:xfrm>
            <a:off x="1331259" y="520394"/>
            <a:ext cx="9680148" cy="1015663"/>
          </a:xfrm>
          <a:prstGeom prst="rect">
            <a:avLst/>
          </a:prstGeom>
          <a:noFill/>
        </p:spPr>
        <p:txBody>
          <a:bodyPr wrap="square" rtlCol="0">
            <a:spAutoFit/>
          </a:bodyPr>
          <a:lstStyle/>
          <a:p>
            <a:pPr marL="914400" indent="-457200">
              <a:buFont typeface="+mj-lt"/>
              <a:buAutoNum type="alphaLcPeriod" startAt="2"/>
            </a:pPr>
            <a:r>
              <a:rPr lang="en-US" sz="2000" dirty="0">
                <a:latin typeface="Verdana"/>
                <a:ea typeface="Verdana"/>
                <a:cs typeface="Verdana"/>
              </a:rPr>
              <a:t>With your partner, discuss the work of each student, Leila, Fabian, and </a:t>
            </a:r>
            <a:r>
              <a:rPr lang="en-US" sz="2000" dirty="0" err="1">
                <a:latin typeface="Verdana"/>
                <a:ea typeface="Verdana"/>
                <a:cs typeface="Verdana"/>
              </a:rPr>
              <a:t>Jaylah</a:t>
            </a:r>
            <a:r>
              <a:rPr lang="en-US" sz="2000" dirty="0">
                <a:latin typeface="Verdana"/>
                <a:ea typeface="Verdana"/>
                <a:cs typeface="Verdana"/>
              </a:rPr>
              <a:t>. Two of these students made a mistake somewhere. Circle the mistakes that you and your partner found.</a:t>
            </a:r>
          </a:p>
        </p:txBody>
      </p:sp>
      <p:sp>
        <p:nvSpPr>
          <p:cNvPr id="6" name="Google Shape;282;g104476d1465_1_17"/>
          <p:cNvSpPr txBox="1"/>
          <p:nvPr/>
        </p:nvSpPr>
        <p:spPr>
          <a:xfrm>
            <a:off x="8672903"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264</a:t>
            </a:r>
            <a:endParaRPr i="1" dirty="0">
              <a:latin typeface="Calibri"/>
              <a:ea typeface="Calibri"/>
              <a:cs typeface="Calibri"/>
              <a:sym typeface="Calibri"/>
            </a:endParaRPr>
          </a:p>
        </p:txBody>
      </p:sp>
      <p:pic>
        <p:nvPicPr>
          <p:cNvPr id="7"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11129"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2278618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TextBox 13">
            <a:extLst>
              <a:ext uri="{FF2B5EF4-FFF2-40B4-BE49-F238E27FC236}">
                <a16:creationId xmlns:a16="http://schemas.microsoft.com/office/drawing/2014/main" id="{2FA392D8-3ED3-7940-83A8-1451AA8A08D4}"/>
              </a:ext>
            </a:extLst>
          </p:cNvPr>
          <p:cNvSpPr txBox="1"/>
          <p:nvPr/>
        </p:nvSpPr>
        <p:spPr>
          <a:xfrm>
            <a:off x="1048871" y="520393"/>
            <a:ext cx="10244924" cy="5632311"/>
          </a:xfrm>
          <a:prstGeom prst="rect">
            <a:avLst/>
          </a:prstGeom>
          <a:noFill/>
        </p:spPr>
        <p:txBody>
          <a:bodyPr wrap="square" rtlCol="0">
            <a:spAutoFit/>
          </a:bodyPr>
          <a:lstStyle/>
          <a:p>
            <a:pPr marL="450850" indent="-450850">
              <a:buFont typeface="+mj-lt"/>
              <a:buAutoNum type="arabicPeriod" startAt="2"/>
            </a:pPr>
            <a:r>
              <a:rPr lang="en-US" sz="2000" dirty="0" err="1">
                <a:latin typeface="Verdana" panose="020B0604030504040204" pitchFamily="34" charset="0"/>
                <a:ea typeface="Verdana" panose="020B0604030504040204" pitchFamily="34" charset="0"/>
                <a:cs typeface="Verdana" panose="020B0604030504040204" pitchFamily="34" charset="0"/>
              </a:rPr>
              <a:t>Omari</a:t>
            </a:r>
            <a:r>
              <a:rPr lang="en-US" sz="2000" dirty="0">
                <a:latin typeface="Verdana" panose="020B0604030504040204" pitchFamily="34" charset="0"/>
                <a:ea typeface="Verdana" panose="020B0604030504040204" pitchFamily="34" charset="0"/>
                <a:cs typeface="Verdana" panose="020B0604030504040204" pitchFamily="34" charset="0"/>
              </a:rPr>
              <a:t> evaluated Expression A and Expression B. His work is shown.</a:t>
            </a:r>
          </a:p>
          <a:p>
            <a:pPr marL="457200"/>
            <a:endParaRPr lang="en-US" sz="2000" dirty="0">
              <a:latin typeface="Verdana"/>
              <a:ea typeface="Verdana"/>
              <a:cs typeface="Verdana"/>
            </a:endParaRPr>
          </a:p>
          <a:p>
            <a:pPr marL="457200"/>
            <a:endParaRPr lang="en-US" sz="2000" dirty="0">
              <a:latin typeface="Verdana"/>
              <a:ea typeface="Verdana"/>
              <a:cs typeface="Verdana"/>
            </a:endParaRPr>
          </a:p>
          <a:p>
            <a:pPr marL="457200"/>
            <a:endParaRPr lang="en-US" sz="2000" dirty="0">
              <a:latin typeface="Verdana"/>
              <a:ea typeface="Verdana"/>
              <a:cs typeface="Verdana"/>
            </a:endParaRPr>
          </a:p>
          <a:p>
            <a:pPr marL="457200"/>
            <a:endParaRPr lang="en-US" sz="2000" dirty="0">
              <a:latin typeface="Verdana"/>
              <a:ea typeface="Verdana"/>
              <a:cs typeface="Verdana"/>
            </a:endParaRPr>
          </a:p>
          <a:p>
            <a:pPr marL="457200"/>
            <a:endParaRPr lang="en-US" sz="2000" dirty="0">
              <a:latin typeface="Verdana"/>
              <a:ea typeface="Verdana"/>
              <a:cs typeface="Verdana"/>
            </a:endParaRPr>
          </a:p>
          <a:p>
            <a:pPr marL="457200"/>
            <a:endParaRPr lang="en-US" sz="2000" dirty="0">
              <a:latin typeface="Verdana"/>
              <a:ea typeface="Verdana"/>
              <a:cs typeface="Verdana"/>
            </a:endParaRPr>
          </a:p>
          <a:p>
            <a:pPr marL="457200"/>
            <a:endParaRPr lang="en-US" sz="2000" dirty="0">
              <a:latin typeface="Verdana"/>
              <a:ea typeface="Verdana"/>
              <a:cs typeface="Verdana"/>
            </a:endParaRPr>
          </a:p>
          <a:p>
            <a:pPr marL="457200"/>
            <a:endParaRPr lang="en-US" sz="2000" dirty="0">
              <a:latin typeface="Verdana"/>
              <a:ea typeface="Verdana"/>
              <a:cs typeface="Verdana"/>
            </a:endParaRPr>
          </a:p>
          <a:p>
            <a:pPr marL="457200"/>
            <a:endParaRPr lang="en-US" sz="2000" dirty="0">
              <a:latin typeface="Verdana"/>
              <a:ea typeface="Verdana"/>
              <a:cs typeface="Verdana"/>
            </a:endParaRPr>
          </a:p>
          <a:p>
            <a:pPr marL="457200"/>
            <a:endParaRPr lang="en-US" sz="2000" dirty="0">
              <a:latin typeface="Verdana"/>
              <a:ea typeface="Verdana"/>
              <a:cs typeface="Verdana"/>
            </a:endParaRPr>
          </a:p>
          <a:p>
            <a:pPr marL="457200"/>
            <a:endParaRPr lang="en-US" sz="2000" dirty="0">
              <a:latin typeface="Verdana"/>
              <a:ea typeface="Verdana"/>
              <a:cs typeface="Verdana"/>
            </a:endParaRPr>
          </a:p>
          <a:p>
            <a:pPr marL="914400" indent="-457200">
              <a:buFont typeface="+mj-lt"/>
              <a:buAutoNum type="alphaLcPeriod"/>
            </a:pPr>
            <a:r>
              <a:rPr lang="en-US" sz="2000" dirty="0">
                <a:latin typeface="Verdana"/>
                <a:ea typeface="Verdana"/>
                <a:cs typeface="Verdana"/>
              </a:rPr>
              <a:t>With your partner, discuss the two original expressions that </a:t>
            </a:r>
            <a:r>
              <a:rPr lang="en-US" sz="2000" dirty="0" err="1">
                <a:latin typeface="Verdana"/>
                <a:ea typeface="Verdana"/>
                <a:cs typeface="Verdana"/>
              </a:rPr>
              <a:t>Omari</a:t>
            </a:r>
            <a:r>
              <a:rPr lang="en-US" sz="2000" dirty="0">
                <a:latin typeface="Verdana"/>
                <a:ea typeface="Verdana"/>
                <a:cs typeface="Verdana"/>
              </a:rPr>
              <a:t> evaluated and his corresponding answers.</a:t>
            </a:r>
          </a:p>
          <a:p>
            <a:pPr marL="914400" indent="-457200">
              <a:buFont typeface="+mj-lt"/>
              <a:buAutoNum type="alphaLcPeriod"/>
            </a:pPr>
            <a:endParaRPr lang="en-PH" sz="2000" dirty="0">
              <a:latin typeface="Verdana"/>
              <a:ea typeface="Verdana"/>
              <a:cs typeface="Verdana" panose="020B0604030504040204" pitchFamily="34" charset="0"/>
            </a:endParaRPr>
          </a:p>
          <a:p>
            <a:pPr marL="914400" indent="-457200">
              <a:buFont typeface="+mj-lt"/>
              <a:buAutoNum type="alphaLcPeriod"/>
            </a:pPr>
            <a:endParaRPr lang="en-PH" sz="2000" dirty="0">
              <a:latin typeface="Verdana"/>
              <a:ea typeface="Verdana"/>
              <a:cs typeface="Verdana" panose="020B0604030504040204" pitchFamily="34" charset="0"/>
            </a:endParaRPr>
          </a:p>
          <a:p>
            <a:pPr marL="914400" indent="-457200">
              <a:buFont typeface="+mj-lt"/>
              <a:buAutoNum type="alphaLcPeriod"/>
            </a:pPr>
            <a:r>
              <a:rPr lang="en-US" sz="2000" dirty="0" err="1">
                <a:latin typeface="Verdana"/>
                <a:ea typeface="Verdana"/>
                <a:cs typeface="Verdana"/>
              </a:rPr>
              <a:t>Omari’s</a:t>
            </a:r>
            <a:r>
              <a:rPr lang="en-US" sz="2000" dirty="0">
                <a:latin typeface="Verdana"/>
                <a:ea typeface="Verdana"/>
                <a:cs typeface="Verdana"/>
              </a:rPr>
              <a:t> partner gave him a     on both of his answers. Why did </a:t>
            </a:r>
            <a:r>
              <a:rPr lang="en-US" sz="2000" dirty="0" err="1">
                <a:latin typeface="Verdana"/>
                <a:ea typeface="Verdana"/>
                <a:cs typeface="Verdana"/>
              </a:rPr>
              <a:t>Omari</a:t>
            </a:r>
            <a:r>
              <a:rPr lang="en-US" sz="2000" dirty="0">
                <a:latin typeface="Verdana"/>
                <a:ea typeface="Verdana"/>
                <a:cs typeface="Verdana"/>
              </a:rPr>
              <a:t> arrive at two different values when evaluating these expressions?</a:t>
            </a:r>
            <a:endParaRPr lang="en-PH" sz="2000" dirty="0">
              <a:latin typeface="Verdana"/>
              <a:ea typeface="Verdana"/>
              <a:cs typeface="Verdana" panose="020B0604030504040204" pitchFamily="34" charset="0"/>
            </a:endParaRPr>
          </a:p>
        </p:txBody>
      </p:sp>
      <p:pic>
        <p:nvPicPr>
          <p:cNvPr id="11" name="image11.png" descr="Thumbs up sign"/>
          <p:cNvPicPr/>
          <p:nvPr/>
        </p:nvPicPr>
        <p:blipFill>
          <a:blip r:embed="rId3" cstate="screen">
            <a:extLst>
              <a:ext uri="{28A0092B-C50C-407E-A947-70E740481C1C}">
                <a14:useLocalDpi xmlns:a14="http://schemas.microsoft.com/office/drawing/2010/main"/>
              </a:ext>
            </a:extLst>
          </a:blip>
          <a:srcRect/>
          <a:stretch>
            <a:fillRect/>
          </a:stretch>
        </p:blipFill>
        <p:spPr>
          <a:xfrm>
            <a:off x="5702864" y="5487757"/>
            <a:ext cx="228600" cy="228600"/>
          </a:xfrm>
          <a:prstGeom prst="rect">
            <a:avLst/>
          </a:prstGeom>
          <a:ln/>
        </p:spPr>
      </p:pic>
      <mc:AlternateContent xmlns:mc="http://schemas.openxmlformats.org/markup-compatibility/2006" xmlns:a14="http://schemas.microsoft.com/office/drawing/2010/main">
        <mc:Choice Requires="a14">
          <p:graphicFrame>
            <p:nvGraphicFramePr>
              <p:cNvPr id="8" name="Table 7"/>
              <p:cNvGraphicFramePr>
                <a:graphicFrameLocks noGrp="1"/>
              </p:cNvGraphicFramePr>
              <p:nvPr>
                <p:extLst>
                  <p:ext uri="{D42A27DB-BD31-4B8C-83A1-F6EECF244321}">
                    <p14:modId xmlns:p14="http://schemas.microsoft.com/office/powerpoint/2010/main" val="52986062"/>
                  </p:ext>
                </p:extLst>
              </p:nvPr>
            </p:nvGraphicFramePr>
            <p:xfrm>
              <a:off x="2551830" y="1421309"/>
              <a:ext cx="7396920" cy="2293684"/>
            </p:xfrm>
            <a:graphic>
              <a:graphicData uri="http://schemas.openxmlformats.org/drawingml/2006/table">
                <a:tbl>
                  <a:tblPr bandRow="1">
                    <a:tableStyleId>{A91F0D33-8C57-4600-99A7-42BC86742BE1}</a:tableStyleId>
                  </a:tblPr>
                  <a:tblGrid>
                    <a:gridCol w="3701220">
                      <a:extLst>
                        <a:ext uri="{9D8B030D-6E8A-4147-A177-3AD203B41FA5}">
                          <a16:colId xmlns:a16="http://schemas.microsoft.com/office/drawing/2014/main" val="20000"/>
                        </a:ext>
                      </a:extLst>
                    </a:gridCol>
                    <a:gridCol w="3695700">
                      <a:extLst>
                        <a:ext uri="{9D8B030D-6E8A-4147-A177-3AD203B41FA5}">
                          <a16:colId xmlns:a16="http://schemas.microsoft.com/office/drawing/2014/main" val="20001"/>
                        </a:ext>
                      </a:extLst>
                    </a:gridCol>
                  </a:tblGrid>
                  <a:tr h="0">
                    <a:tc>
                      <a:txBody>
                        <a:bodyPr/>
                        <a:lstStyle/>
                        <a:p>
                          <a:pPr algn="ctr">
                            <a:lnSpc>
                              <a:spcPct val="107000"/>
                            </a:lnSpc>
                            <a:spcAft>
                              <a:spcPts val="0"/>
                            </a:spcAft>
                          </a:pPr>
                          <a:r>
                            <a:rPr lang="en-US" sz="2000" b="1" dirty="0">
                              <a:effectLst/>
                              <a:latin typeface="Verdana" pitchFamily="34" charset="0"/>
                              <a:ea typeface="Verdana" pitchFamily="34" charset="0"/>
                            </a:rPr>
                            <a:t>Expression A</a:t>
                          </a:r>
                          <a:endParaRPr lang="en-US" sz="2000" b="1" i="1" dirty="0">
                            <a:effectLst/>
                            <a:latin typeface="Verdana" pitchFamily="34" charset="0"/>
                            <a:ea typeface="Verdana" pitchFamily="34" charset="0"/>
                            <a:cs typeface="Cambria Math"/>
                          </a:endParaRPr>
                        </a:p>
                      </a:txBody>
                      <a:tcPr marL="68580" marR="685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lnSpc>
                              <a:spcPct val="107000"/>
                            </a:lnSpc>
                            <a:spcAft>
                              <a:spcPts val="0"/>
                            </a:spcAft>
                          </a:pPr>
                          <a:r>
                            <a:rPr lang="en-US" sz="2000" b="1">
                              <a:effectLst/>
                              <a:latin typeface="Verdana" pitchFamily="34" charset="0"/>
                              <a:ea typeface="Verdana" pitchFamily="34" charset="0"/>
                            </a:rPr>
                            <a:t>Expression B</a:t>
                          </a:r>
                          <a:endParaRPr lang="en-US" sz="2000" b="1" i="1">
                            <a:effectLst/>
                            <a:latin typeface="Verdana" pitchFamily="34" charset="0"/>
                            <a:ea typeface="Verdana" pitchFamily="34" charset="0"/>
                            <a:cs typeface="Cambria Math"/>
                          </a:endParaRPr>
                        </a:p>
                      </a:txBody>
                      <a:tcPr marL="68580" marR="685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extLst>
                      <a:ext uri="{0D108BD9-81ED-4DB2-BD59-A6C34878D82A}">
                        <a16:rowId xmlns:a16="http://schemas.microsoft.com/office/drawing/2014/main" val="10000"/>
                      </a:ext>
                    </a:extLst>
                  </a:tr>
                  <a:tr h="0">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itchFamily="18" charset="0"/>
                                    <a:ea typeface="Cambria Math" pitchFamily="18" charset="0"/>
                                  </a:rPr>
                                  <m:t>12+24÷6−2×2</m:t>
                                </m:r>
                              </m:oMath>
                            </m:oMathPara>
                          </a14:m>
                          <a:endParaRPr lang="en-US" sz="2000" dirty="0">
                            <a:effectLst/>
                            <a:latin typeface="Cambria Math" pitchFamily="18" charset="0"/>
                            <a:ea typeface="Cambria Math" pitchFamily="18" charset="0"/>
                          </a:endParaRPr>
                        </a:p>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itchFamily="18" charset="0"/>
                                    <a:ea typeface="Cambria Math" pitchFamily="18" charset="0"/>
                                  </a:rPr>
                                  <m:t>12+4−2×2</m:t>
                                </m:r>
                              </m:oMath>
                            </m:oMathPara>
                          </a14:m>
                          <a:endParaRPr lang="en-US" sz="2000" dirty="0">
                            <a:effectLst/>
                            <a:latin typeface="Cambria Math" pitchFamily="18" charset="0"/>
                            <a:ea typeface="Cambria Math" pitchFamily="18" charset="0"/>
                          </a:endParaRPr>
                        </a:p>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itchFamily="18" charset="0"/>
                                    <a:ea typeface="Cambria Math" pitchFamily="18" charset="0"/>
                                  </a:rPr>
                                  <m:t>12+4−4</m:t>
                                </m:r>
                              </m:oMath>
                            </m:oMathPara>
                          </a14:m>
                          <a:endParaRPr lang="en-US" sz="2000" dirty="0">
                            <a:effectLst/>
                            <a:latin typeface="Cambria Math" pitchFamily="18" charset="0"/>
                            <a:ea typeface="Cambria Math" pitchFamily="18" charset="0"/>
                          </a:endParaRPr>
                        </a:p>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itchFamily="18" charset="0"/>
                                    <a:ea typeface="Cambria Math" pitchFamily="18" charset="0"/>
                                  </a:rPr>
                                  <m:t>16−4</m:t>
                                </m:r>
                              </m:oMath>
                            </m:oMathPara>
                          </a14:m>
                          <a:endParaRPr lang="en-US" sz="2000" dirty="0">
                            <a:effectLst/>
                            <a:latin typeface="Cambria Math" pitchFamily="18" charset="0"/>
                            <a:ea typeface="Cambria Math" pitchFamily="18" charset="0"/>
                          </a:endParaRPr>
                        </a:p>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itchFamily="18" charset="0"/>
                                    <a:ea typeface="Cambria Math" pitchFamily="18" charset="0"/>
                                  </a:rPr>
                                  <m:t>12</m:t>
                                </m:r>
                              </m:oMath>
                            </m:oMathPara>
                          </a14:m>
                          <a:endParaRPr lang="en-US" sz="2000" i="1" dirty="0">
                            <a:effectLst/>
                            <a:latin typeface="Cambria Math" pitchFamily="18" charset="0"/>
                            <a:ea typeface="Cambria Math" pitchFamily="18" charset="0"/>
                            <a:cs typeface="Cambria Math"/>
                          </a:endParaRPr>
                        </a:p>
                      </a:txBody>
                      <a:tcPr marL="68580" marR="68580"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itchFamily="18" charset="0"/>
                                    <a:ea typeface="Cambria Math" pitchFamily="18" charset="0"/>
                                  </a:rPr>
                                  <m:t>12+24÷(6−2×2)</m:t>
                                </m:r>
                              </m:oMath>
                            </m:oMathPara>
                          </a14:m>
                          <a:endParaRPr lang="en-US" sz="2000" dirty="0">
                            <a:effectLst/>
                            <a:latin typeface="Cambria Math" pitchFamily="18" charset="0"/>
                            <a:ea typeface="Cambria Math" pitchFamily="18" charset="0"/>
                          </a:endParaRPr>
                        </a:p>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itchFamily="18" charset="0"/>
                                    <a:ea typeface="Cambria Math" pitchFamily="18" charset="0"/>
                                  </a:rPr>
                                  <m:t>12+24÷</m:t>
                                </m:r>
                                <m:d>
                                  <m:dPr>
                                    <m:ctrlPr>
                                      <a:rPr lang="en-US" sz="2000" i="1">
                                        <a:effectLst/>
                                        <a:latin typeface="Cambria Math" panose="02040503050406030204" pitchFamily="18" charset="0"/>
                                        <a:ea typeface="Cambria Math" pitchFamily="18" charset="0"/>
                                      </a:rPr>
                                    </m:ctrlPr>
                                  </m:dPr>
                                  <m:e>
                                    <m:r>
                                      <a:rPr lang="en-US" sz="2000">
                                        <a:effectLst/>
                                        <a:latin typeface="Cambria Math" pitchFamily="18" charset="0"/>
                                        <a:ea typeface="Cambria Math" pitchFamily="18" charset="0"/>
                                      </a:rPr>
                                      <m:t>6−4</m:t>
                                    </m:r>
                                  </m:e>
                                </m:d>
                              </m:oMath>
                            </m:oMathPara>
                          </a14:m>
                          <a:endParaRPr lang="en-US" sz="2000" dirty="0">
                            <a:effectLst/>
                            <a:latin typeface="Cambria Math" pitchFamily="18" charset="0"/>
                            <a:ea typeface="Cambria Math" pitchFamily="18" charset="0"/>
                          </a:endParaRPr>
                        </a:p>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itchFamily="18" charset="0"/>
                                    <a:ea typeface="Cambria Math" pitchFamily="18" charset="0"/>
                                  </a:rPr>
                                  <m:t>12+24÷</m:t>
                                </m:r>
                                <m:d>
                                  <m:dPr>
                                    <m:ctrlPr>
                                      <a:rPr lang="en-US" sz="2000" i="1">
                                        <a:effectLst/>
                                        <a:latin typeface="Cambria Math" panose="02040503050406030204" pitchFamily="18" charset="0"/>
                                        <a:ea typeface="Cambria Math" pitchFamily="18" charset="0"/>
                                      </a:rPr>
                                    </m:ctrlPr>
                                  </m:dPr>
                                  <m:e>
                                    <m:r>
                                      <a:rPr lang="en-US" sz="2000">
                                        <a:effectLst/>
                                        <a:latin typeface="Cambria Math" pitchFamily="18" charset="0"/>
                                        <a:ea typeface="Cambria Math" pitchFamily="18" charset="0"/>
                                      </a:rPr>
                                      <m:t>2</m:t>
                                    </m:r>
                                  </m:e>
                                </m:d>
                              </m:oMath>
                            </m:oMathPara>
                          </a14:m>
                          <a:endParaRPr lang="en-US" sz="2000" dirty="0">
                            <a:effectLst/>
                            <a:latin typeface="Cambria Math" pitchFamily="18" charset="0"/>
                            <a:ea typeface="Cambria Math" pitchFamily="18" charset="0"/>
                          </a:endParaRPr>
                        </a:p>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itchFamily="18" charset="0"/>
                                    <a:ea typeface="Cambria Math" pitchFamily="18" charset="0"/>
                                  </a:rPr>
                                  <m:t>12+12</m:t>
                                </m:r>
                              </m:oMath>
                            </m:oMathPara>
                          </a14:m>
                          <a:endParaRPr lang="en-US" sz="2000" dirty="0">
                            <a:effectLst/>
                            <a:latin typeface="Cambria Math" pitchFamily="18" charset="0"/>
                            <a:ea typeface="Cambria Math" pitchFamily="18" charset="0"/>
                          </a:endParaRPr>
                        </a:p>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itchFamily="18" charset="0"/>
                                    <a:ea typeface="Cambria Math" pitchFamily="18" charset="0"/>
                                  </a:rPr>
                                  <m:t>24</m:t>
                                </m:r>
                              </m:oMath>
                            </m:oMathPara>
                          </a14:m>
                          <a:endParaRPr lang="en-US" sz="2000" i="1" dirty="0">
                            <a:effectLst/>
                            <a:latin typeface="Cambria Math" pitchFamily="18" charset="0"/>
                            <a:ea typeface="Cambria Math" pitchFamily="18" charset="0"/>
                            <a:cs typeface="Cambria Math"/>
                          </a:endParaRPr>
                        </a:p>
                      </a:txBody>
                      <a:tcPr marL="68580" marR="68580"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mc:Choice>
        <mc:Fallback xmlns="">
          <p:graphicFrame>
            <p:nvGraphicFramePr>
              <p:cNvPr id="8" name="Table 7"/>
              <p:cNvGraphicFramePr>
                <a:graphicFrameLocks noGrp="1"/>
              </p:cNvGraphicFramePr>
              <p:nvPr>
                <p:extLst>
                  <p:ext uri="{D42A27DB-BD31-4B8C-83A1-F6EECF244321}">
                    <p14:modId xmlns:p14="http://schemas.microsoft.com/office/powerpoint/2010/main" val="52986062"/>
                  </p:ext>
                </p:extLst>
              </p:nvPr>
            </p:nvGraphicFramePr>
            <p:xfrm>
              <a:off x="1027830" y="1421309"/>
              <a:ext cx="7396920" cy="2322576"/>
            </p:xfrm>
            <a:graphic>
              <a:graphicData uri="http://schemas.openxmlformats.org/drawingml/2006/table">
                <a:tbl>
                  <a:tblPr bandRow="1">
                    <a:tableStyleId>{A91F0D33-8C57-4600-99A7-42BC86742BE1}</a:tableStyleId>
                  </a:tblPr>
                  <a:tblGrid>
                    <a:gridCol w="3701220"/>
                    <a:gridCol w="3695700"/>
                  </a:tblGrid>
                  <a:tr h="509016">
                    <a:tc>
                      <a:txBody>
                        <a:bodyPr/>
                        <a:lstStyle/>
                        <a:p>
                          <a:pPr algn="ctr">
                            <a:lnSpc>
                              <a:spcPct val="107000"/>
                            </a:lnSpc>
                            <a:spcAft>
                              <a:spcPts val="0"/>
                            </a:spcAft>
                          </a:pPr>
                          <a:r>
                            <a:rPr lang="en-US" sz="2000" b="1" dirty="0">
                              <a:effectLst/>
                              <a:latin typeface="Verdana" pitchFamily="34" charset="0"/>
                              <a:ea typeface="Verdana" pitchFamily="34" charset="0"/>
                            </a:rPr>
                            <a:t>Expression A</a:t>
                          </a:r>
                          <a:endParaRPr lang="en-US" sz="2000" b="1" i="1" dirty="0">
                            <a:effectLst/>
                            <a:latin typeface="Verdana" pitchFamily="34" charset="0"/>
                            <a:ea typeface="Verdana" pitchFamily="34" charset="0"/>
                            <a:cs typeface="Cambria Math"/>
                          </a:endParaRPr>
                        </a:p>
                      </a:txBody>
                      <a:tcPr marL="68580" marR="685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lnSpc>
                              <a:spcPct val="107000"/>
                            </a:lnSpc>
                            <a:spcAft>
                              <a:spcPts val="0"/>
                            </a:spcAft>
                          </a:pPr>
                          <a:r>
                            <a:rPr lang="en-US" sz="2000" b="1">
                              <a:effectLst/>
                              <a:latin typeface="Verdana" pitchFamily="34" charset="0"/>
                              <a:ea typeface="Verdana" pitchFamily="34" charset="0"/>
                            </a:rPr>
                            <a:t>Expression B</a:t>
                          </a:r>
                          <a:endParaRPr lang="en-US" sz="2000" b="1" i="1">
                            <a:effectLst/>
                            <a:latin typeface="Verdana" pitchFamily="34" charset="0"/>
                            <a:ea typeface="Verdana" pitchFamily="34" charset="0"/>
                            <a:cs typeface="Cambria Math"/>
                          </a:endParaRPr>
                        </a:p>
                      </a:txBody>
                      <a:tcPr marL="68580" marR="685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r>
                  <a:tr h="1813560">
                    <a:tc>
                      <a:txBody>
                        <a:bodyPr/>
                        <a:lstStyle/>
                        <a:p>
                          <a:endParaRPr lang="en-US"/>
                        </a:p>
                      </a:txBody>
                      <a:tcPr marL="68580" marR="68580"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5"/>
                          <a:stretch>
                            <a:fillRect l="-165" t="-28283" r="-100000" b="-337"/>
                          </a:stretch>
                        </a:blipFill>
                      </a:tcPr>
                    </a:tc>
                    <a:tc>
                      <a:txBody>
                        <a:bodyPr/>
                        <a:lstStyle/>
                        <a:p>
                          <a:endParaRPr lang="en-US"/>
                        </a:p>
                      </a:txBody>
                      <a:tcPr marL="68580" marR="68580"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5"/>
                          <a:stretch>
                            <a:fillRect l="-100330" t="-28283" r="-165" b="-337"/>
                          </a:stretch>
                        </a:blipFill>
                      </a:tcPr>
                    </a:tc>
                  </a:tr>
                </a:tbl>
              </a:graphicData>
            </a:graphic>
          </p:graphicFrame>
        </mc:Fallback>
      </mc:AlternateContent>
      <p:sp>
        <p:nvSpPr>
          <p:cNvPr id="9" name="Google Shape;282;g104476d1465_1_17"/>
          <p:cNvSpPr txBox="1"/>
          <p:nvPr/>
        </p:nvSpPr>
        <p:spPr>
          <a:xfrm>
            <a:off x="8672903"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264</a:t>
            </a:r>
            <a:endParaRPr i="1" dirty="0">
              <a:latin typeface="Calibri"/>
              <a:ea typeface="Calibri"/>
              <a:cs typeface="Calibri"/>
              <a:sym typeface="Calibri"/>
            </a:endParaRPr>
          </a:p>
        </p:txBody>
      </p:sp>
      <p:pic>
        <p:nvPicPr>
          <p:cNvPr id="10"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11129"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8852028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TextBox 13">
            <a:extLst>
              <a:ext uri="{FF2B5EF4-FFF2-40B4-BE49-F238E27FC236}">
                <a16:creationId xmlns:a16="http://schemas.microsoft.com/office/drawing/2014/main" id="{2FA392D8-3ED3-7940-83A8-1451AA8A08D4}"/>
              </a:ext>
            </a:extLst>
          </p:cNvPr>
          <p:cNvSpPr txBox="1"/>
          <p:nvPr/>
        </p:nvSpPr>
        <p:spPr>
          <a:xfrm>
            <a:off x="1425388" y="520394"/>
            <a:ext cx="8909513" cy="1015663"/>
          </a:xfrm>
          <a:prstGeom prst="rect">
            <a:avLst/>
          </a:prstGeom>
          <a:noFill/>
        </p:spPr>
        <p:txBody>
          <a:bodyPr wrap="square" rtlCol="0">
            <a:spAutoFit/>
          </a:bodyPr>
          <a:lstStyle/>
          <a:p>
            <a:r>
              <a:rPr lang="en-US" sz="2000" dirty="0">
                <a:latin typeface="Verdana"/>
                <a:ea typeface="Verdana"/>
                <a:cs typeface="Verdana"/>
              </a:rPr>
              <a:t>Like numeric expressions, algebraic expressions can be evaluated using order of operations when given a specific </a:t>
            </a:r>
            <a:br>
              <a:rPr lang="en-US" sz="2000" dirty="0">
                <a:latin typeface="Verdana"/>
                <a:ea typeface="Verdana"/>
                <a:cs typeface="Verdana"/>
              </a:rPr>
            </a:br>
            <a:r>
              <a:rPr lang="en-US" sz="2000" dirty="0">
                <a:latin typeface="Verdana"/>
                <a:ea typeface="Verdana"/>
                <a:cs typeface="Verdana"/>
              </a:rPr>
              <a:t>value for the </a:t>
            </a:r>
            <a:r>
              <a:rPr lang="en-US" sz="2000" b="1" i="1" dirty="0">
                <a:latin typeface="Verdana"/>
                <a:ea typeface="Verdana"/>
                <a:cs typeface="Verdana"/>
              </a:rPr>
              <a:t>variable</a:t>
            </a:r>
            <a:r>
              <a:rPr lang="en-US" sz="2000" dirty="0">
                <a:latin typeface="Verdana"/>
                <a:ea typeface="Verdana"/>
                <a:cs typeface="Verdana"/>
              </a:rPr>
              <a:t>(s).</a:t>
            </a:r>
            <a:endParaRPr lang="en-PH" sz="2000" dirty="0">
              <a:latin typeface="Verdana"/>
              <a:ea typeface="Verdana"/>
              <a:cs typeface="Verdana" panose="020B0604030504040204" pitchFamily="34" charset="0"/>
            </a:endParaRPr>
          </a:p>
        </p:txBody>
      </p:sp>
      <p:grpSp>
        <p:nvGrpSpPr>
          <p:cNvPr id="7" name="Group 6"/>
          <p:cNvGrpSpPr/>
          <p:nvPr/>
        </p:nvGrpSpPr>
        <p:grpSpPr>
          <a:xfrm>
            <a:off x="2114550" y="1824572"/>
            <a:ext cx="7734300" cy="1418077"/>
            <a:chOff x="2031300" y="3373600"/>
            <a:chExt cx="6629400" cy="1298894"/>
          </a:xfrm>
        </p:grpSpPr>
        <p:sp>
          <p:nvSpPr>
            <p:cNvPr id="8" name="Rectangle 7"/>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pPr>
                <a:lnSpc>
                  <a:spcPct val="107000"/>
                </a:lnSpc>
                <a:spcAft>
                  <a:spcPts val="800"/>
                </a:spcAft>
              </a:pPr>
              <a:r>
                <a:rPr lang="en-US" sz="2000" i="1">
                  <a:latin typeface="Cambria Math"/>
                  <a:ea typeface="Cambria Math"/>
                  <a:cs typeface="Cambria Math"/>
                </a:rPr>
                <a:t> </a:t>
              </a:r>
            </a:p>
          </p:txBody>
        </p:sp>
        <p:grpSp>
          <p:nvGrpSpPr>
            <p:cNvPr id="9" name="Group 8"/>
            <p:cNvGrpSpPr/>
            <p:nvPr/>
          </p:nvGrpSpPr>
          <p:grpSpPr>
            <a:xfrm>
              <a:off x="2031300" y="3373600"/>
              <a:ext cx="6629400" cy="1298894"/>
              <a:chOff x="0" y="0"/>
              <a:chExt cx="6629400" cy="1298894"/>
            </a:xfrm>
          </p:grpSpPr>
          <p:sp>
            <p:nvSpPr>
              <p:cNvPr id="10" name="Rectangle 9"/>
              <p:cNvSpPr/>
              <p:nvPr/>
            </p:nvSpPr>
            <p:spPr>
              <a:xfrm>
                <a:off x="0" y="0"/>
                <a:ext cx="6629400" cy="812800"/>
              </a:xfrm>
              <a:prstGeom prst="rect">
                <a:avLst/>
              </a:prstGeom>
              <a:noFill/>
              <a:ln>
                <a:noFill/>
              </a:ln>
            </p:spPr>
            <p:txBody>
              <a:bodyPr spcFirstLastPara="1" wrap="square" lIns="91425" tIns="91425" rIns="91425" bIns="91425" anchor="ctr" anchorCtr="0">
                <a:noAutofit/>
              </a:bodyPr>
              <a:lstStyle/>
              <a:p>
                <a:pPr>
                  <a:lnSpc>
                    <a:spcPct val="107000"/>
                  </a:lnSpc>
                  <a:spcAft>
                    <a:spcPts val="800"/>
                  </a:spcAft>
                </a:pPr>
                <a:r>
                  <a:rPr lang="en-US" sz="2000" i="1">
                    <a:latin typeface="Cambria Math"/>
                    <a:ea typeface="Cambria Math"/>
                    <a:cs typeface="Cambria Math"/>
                  </a:rPr>
                  <a:t> </a:t>
                </a:r>
              </a:p>
            </p:txBody>
          </p:sp>
          <p:sp>
            <p:nvSpPr>
              <p:cNvPr id="13" name="Rounded Rectangle 12"/>
              <p:cNvSpPr/>
              <p:nvPr/>
            </p:nvSpPr>
            <p:spPr>
              <a:xfrm>
                <a:off x="0" y="53394"/>
                <a:ext cx="6629400" cy="1245500"/>
              </a:xfrm>
              <a:prstGeom prst="roundRect">
                <a:avLst>
                  <a:gd name="adj" fmla="val 16667"/>
                </a:avLst>
              </a:prstGeom>
              <a:solidFill>
                <a:srgbClr val="E2EED5"/>
              </a:solidFill>
              <a:ln>
                <a:noFill/>
              </a:ln>
              <a:effectLst>
                <a:outerShdw blurRad="50800" dist="38100" dir="2700000" algn="tl" rotWithShape="0">
                  <a:prstClr val="black">
                    <a:alpha val="40000"/>
                  </a:prstClr>
                </a:outerShdw>
              </a:effectLst>
            </p:spPr>
            <p:txBody>
              <a:bodyPr spcFirstLastPara="1" wrap="square" lIns="91425" tIns="91440" rIns="91425" bIns="45700" anchor="ctr" anchorCtr="0">
                <a:spAutoFit/>
              </a:bodyPr>
              <a:lstStyle/>
              <a:p>
                <a:pPr marL="57150">
                  <a:lnSpc>
                    <a:spcPct val="107000"/>
                  </a:lnSpc>
                  <a:spcAft>
                    <a:spcPts val="800"/>
                  </a:spcAft>
                </a:pPr>
                <a:r>
                  <a:rPr lang="en-US" sz="2000" dirty="0">
                    <a:solidFill>
                      <a:srgbClr val="6C993D"/>
                    </a:solidFill>
                    <a:latin typeface="Verdana"/>
                    <a:ea typeface="Verdana"/>
                    <a:cs typeface="Verdana"/>
                  </a:rPr>
                  <a:t>In an algebraic expression, a </a:t>
                </a:r>
                <a:r>
                  <a:rPr lang="en-US" sz="2000" b="1" i="1" dirty="0">
                    <a:solidFill>
                      <a:srgbClr val="6C993D"/>
                    </a:solidFill>
                    <a:latin typeface="Verdana"/>
                    <a:ea typeface="Verdana"/>
                    <a:cs typeface="Verdana"/>
                  </a:rPr>
                  <a:t>variable</a:t>
                </a:r>
                <a:r>
                  <a:rPr lang="en-US" sz="2000" dirty="0">
                    <a:solidFill>
                      <a:srgbClr val="6C993D"/>
                    </a:solidFill>
                    <a:latin typeface="Verdana"/>
                    <a:ea typeface="Verdana"/>
                    <a:cs typeface="Verdana"/>
                  </a:rPr>
                  <a:t> is a letter that represents a number. It is called a </a:t>
                </a:r>
                <a:r>
                  <a:rPr lang="en-US" sz="2000" b="1" dirty="0">
                    <a:solidFill>
                      <a:srgbClr val="6C993D"/>
                    </a:solidFill>
                    <a:latin typeface="Verdana"/>
                    <a:ea typeface="Verdana"/>
                    <a:cs typeface="Verdana"/>
                  </a:rPr>
                  <a:t>vari</a:t>
                </a:r>
                <a:r>
                  <a:rPr lang="en-US" sz="2000" dirty="0">
                    <a:solidFill>
                      <a:srgbClr val="6C993D"/>
                    </a:solidFill>
                    <a:latin typeface="Verdana"/>
                    <a:ea typeface="Verdana"/>
                    <a:cs typeface="Verdana"/>
                  </a:rPr>
                  <a:t>able because the value used to replace the letter can </a:t>
                </a:r>
                <a:r>
                  <a:rPr lang="en-US" sz="2000" b="1" i="1" dirty="0">
                    <a:solidFill>
                      <a:srgbClr val="6C993D"/>
                    </a:solidFill>
                    <a:latin typeface="Verdana"/>
                    <a:ea typeface="Verdana"/>
                    <a:cs typeface="Verdana"/>
                  </a:rPr>
                  <a:t>vary</a:t>
                </a:r>
                <a:r>
                  <a:rPr lang="en-US" sz="2000" dirty="0">
                    <a:solidFill>
                      <a:srgbClr val="6C993D"/>
                    </a:solidFill>
                    <a:latin typeface="Verdana"/>
                    <a:ea typeface="Verdana"/>
                    <a:cs typeface="Verdana"/>
                  </a:rPr>
                  <a:t>.</a:t>
                </a:r>
                <a:endParaRPr lang="en-US" sz="2000" i="1" dirty="0">
                  <a:latin typeface="Cambria Math"/>
                  <a:ea typeface="Cambria Math"/>
                  <a:cs typeface="Cambria Math"/>
                </a:endParaRPr>
              </a:p>
            </p:txBody>
          </p:sp>
        </p:grpSp>
      </p:grpSp>
      <p:sp>
        <p:nvSpPr>
          <p:cNvPr id="11" name="Google Shape;282;g104476d1465_1_17"/>
          <p:cNvSpPr txBox="1"/>
          <p:nvPr/>
        </p:nvSpPr>
        <p:spPr>
          <a:xfrm>
            <a:off x="8672903"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264</a:t>
            </a:r>
            <a:endParaRPr i="1" dirty="0">
              <a:latin typeface="Calibri"/>
              <a:ea typeface="Calibri"/>
              <a:cs typeface="Calibri"/>
              <a:sym typeface="Calibri"/>
            </a:endParaRPr>
          </a:p>
        </p:txBody>
      </p:sp>
      <p:pic>
        <p:nvPicPr>
          <p:cNvPr id="12"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11129"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295770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1156447" y="520394"/>
                <a:ext cx="10029772" cy="5813643"/>
              </a:xfrm>
              <a:prstGeom prst="rect">
                <a:avLst/>
              </a:prstGeom>
              <a:noFill/>
            </p:spPr>
            <p:txBody>
              <a:bodyPr wrap="square" rtlCol="0">
                <a:spAutoFit/>
              </a:bodyPr>
              <a:lstStyle/>
              <a:p>
                <a:pPr marL="457200" indent="-457200">
                  <a:buFont typeface="+mj-lt"/>
                  <a:buAutoNum type="arabicPeriod" startAt="3"/>
                </a:pPr>
                <a:r>
                  <a:rPr lang="en-US" sz="2000" dirty="0">
                    <a:latin typeface="Verdana"/>
                    <a:ea typeface="Verdana"/>
                    <a:cs typeface="Verdana" panose="020B0604030504040204" pitchFamily="34" charset="0"/>
                  </a:rPr>
                  <a:t>When evaluating algebraic expressions, first substitute the given ________ for the variable(s). Then, apply the given steps for order of operations.</a:t>
                </a:r>
              </a:p>
              <a:p>
                <a:pPr marL="457200" indent="-457200">
                  <a:buFont typeface="+mj-lt"/>
                  <a:buAutoNum type="arabicPeriod" startAt="3"/>
                </a:pPr>
                <a:endParaRPr lang="en-PH" sz="2000" dirty="0">
                  <a:latin typeface="Verdana"/>
                  <a:ea typeface="Verdana"/>
                  <a:cs typeface="Verdana" panose="020B0604030504040204" pitchFamily="34" charset="0"/>
                </a:endParaRPr>
              </a:p>
              <a:p>
                <a:pPr marL="457200" indent="-457200">
                  <a:buFont typeface="+mj-lt"/>
                  <a:buAutoNum type="arabicPeriod" startAt="3"/>
                </a:pPr>
                <a:endParaRPr lang="en-PH" sz="2000" dirty="0">
                  <a:latin typeface="Verdana"/>
                  <a:ea typeface="Verdana"/>
                  <a:cs typeface="Verdana" panose="020B0604030504040204" pitchFamily="34" charset="0"/>
                </a:endParaRPr>
              </a:p>
              <a:p>
                <a:pPr marL="457200" indent="-457200">
                  <a:buFont typeface="+mj-lt"/>
                  <a:buAutoNum type="arabicPeriod" startAt="3"/>
                </a:pPr>
                <a:endParaRPr lang="en-PH" sz="2000" dirty="0">
                  <a:latin typeface="Verdana"/>
                  <a:ea typeface="Verdana"/>
                  <a:cs typeface="Verdana" panose="020B0604030504040204" pitchFamily="34" charset="0"/>
                </a:endParaRPr>
              </a:p>
              <a:p>
                <a:pPr marL="457200" indent="-457200">
                  <a:buFont typeface="+mj-lt"/>
                  <a:buAutoNum type="arabicPeriod" startAt="3"/>
                </a:pPr>
                <a:endParaRPr lang="en-PH" sz="2000" dirty="0">
                  <a:latin typeface="Verdana"/>
                  <a:ea typeface="Verdana"/>
                  <a:cs typeface="Verdana" panose="020B0604030504040204" pitchFamily="34" charset="0"/>
                </a:endParaRPr>
              </a:p>
              <a:p>
                <a:pPr marL="457200" indent="-457200">
                  <a:buFont typeface="+mj-lt"/>
                  <a:buAutoNum type="arabicPeriod" startAt="3"/>
                </a:pPr>
                <a:endParaRPr lang="en-US" sz="2000" dirty="0">
                  <a:latin typeface="Verdana"/>
                  <a:ea typeface="Verdana"/>
                  <a:cs typeface="Verdana" panose="020B0604030504040204" pitchFamily="34" charset="0"/>
                </a:endParaRPr>
              </a:p>
              <a:p>
                <a:pPr marL="457200" indent="-457200">
                  <a:spcBef>
                    <a:spcPts val="600"/>
                  </a:spcBef>
                  <a:buFont typeface="+mj-lt"/>
                  <a:buAutoNum type="arabicPeriod" startAt="3"/>
                </a:pPr>
                <a:r>
                  <a:rPr lang="en-PH" sz="2000" dirty="0">
                    <a:latin typeface="Verdana"/>
                    <a:ea typeface="Verdana"/>
                    <a:cs typeface="Verdana" panose="020B0604030504040204" pitchFamily="34" charset="0"/>
                  </a:rPr>
                  <a:t>Evaluate </a:t>
                </a:r>
                <a14:m>
                  <m:oMath xmlns:m="http://schemas.openxmlformats.org/officeDocument/2006/math">
                    <m:f>
                      <m:fPr>
                        <m:ctrlPr>
                          <a:rPr lang="en-PH" sz="2000" i="1">
                            <a:latin typeface="Cambria Math" panose="02040503050406030204" pitchFamily="18" charset="0"/>
                            <a:ea typeface="Verdana"/>
                          </a:rPr>
                        </m:ctrlPr>
                      </m:fPr>
                      <m:num>
                        <m:r>
                          <a:rPr lang="en-PH" sz="2000" i="1">
                            <a:latin typeface="Cambria Math"/>
                            <a:ea typeface="Verdana"/>
                          </a:rPr>
                          <m:t>𝑛</m:t>
                        </m:r>
                      </m:num>
                      <m:den>
                        <m:r>
                          <a:rPr lang="en-PH" sz="2000" i="1">
                            <a:latin typeface="Cambria Math"/>
                            <a:ea typeface="Verdana"/>
                          </a:rPr>
                          <m:t>6</m:t>
                        </m:r>
                      </m:den>
                    </m:f>
                    <m:r>
                      <a:rPr lang="en-PH" sz="2000" i="1">
                        <a:latin typeface="Cambria Math"/>
                        <a:ea typeface="Verdana"/>
                      </a:rPr>
                      <m:t>+2</m:t>
                    </m:r>
                  </m:oMath>
                </a14:m>
                <a:r>
                  <a:rPr lang="en-PH" sz="2000" dirty="0">
                    <a:latin typeface="Verdana"/>
                    <a:ea typeface="Verdana"/>
                    <a:cs typeface="Verdana" panose="020B0604030504040204" pitchFamily="34" charset="0"/>
                  </a:rPr>
                  <a:t> when </a:t>
                </a:r>
                <a14:m>
                  <m:oMath xmlns:m="http://schemas.openxmlformats.org/officeDocument/2006/math">
                    <m:r>
                      <a:rPr lang="en-PH" sz="2000" i="1">
                        <a:latin typeface="Cambria Math"/>
                        <a:ea typeface="Verdana"/>
                        <a:cs typeface="Verdana" panose="020B0604030504040204" pitchFamily="34" charset="0"/>
                      </a:rPr>
                      <m:t>𝑛</m:t>
                    </m:r>
                    <m:r>
                      <a:rPr lang="en-PH" sz="2000" i="1">
                        <a:latin typeface="Cambria Math"/>
                        <a:ea typeface="Verdana"/>
                        <a:cs typeface="Verdana" panose="020B0604030504040204" pitchFamily="34" charset="0"/>
                      </a:rPr>
                      <m:t>=12</m:t>
                    </m:r>
                  </m:oMath>
                </a14:m>
                <a:r>
                  <a:rPr lang="en-PH" sz="2000" dirty="0">
                    <a:latin typeface="Verdana"/>
                    <a:ea typeface="Verdana"/>
                    <a:cs typeface="Verdana" panose="020B0604030504040204" pitchFamily="34" charset="0"/>
                  </a:rPr>
                  <a:t>.</a:t>
                </a:r>
              </a:p>
              <a:p>
                <a:pPr marL="457200" indent="-457200">
                  <a:buFont typeface="+mj-lt"/>
                  <a:buAutoNum type="arabicPeriod" startAt="3"/>
                </a:pPr>
                <a:endParaRPr lang="en-PH" sz="2000" dirty="0">
                  <a:latin typeface="Verdana"/>
                  <a:ea typeface="Verdana"/>
                  <a:cs typeface="Verdana" panose="020B0604030504040204" pitchFamily="34" charset="0"/>
                </a:endParaRPr>
              </a:p>
              <a:p>
                <a:pPr marL="457200" indent="-457200">
                  <a:buFont typeface="+mj-lt"/>
                  <a:buAutoNum type="arabicPeriod" startAt="3"/>
                </a:pPr>
                <a:endParaRPr lang="en-PH" sz="2000" dirty="0">
                  <a:latin typeface="Verdana"/>
                  <a:ea typeface="Verdana"/>
                  <a:cs typeface="Verdana" panose="020B0604030504040204" pitchFamily="34" charset="0"/>
                </a:endParaRPr>
              </a:p>
              <a:p>
                <a:pPr marL="457200" indent="-457200">
                  <a:buFont typeface="+mj-lt"/>
                  <a:buAutoNum type="arabicPeriod" startAt="3"/>
                </a:pPr>
                <a:endParaRPr lang="en-PH" sz="2000" dirty="0">
                  <a:latin typeface="Verdana"/>
                  <a:ea typeface="Verdana"/>
                  <a:cs typeface="Verdana" panose="020B0604030504040204" pitchFamily="34" charset="0"/>
                </a:endParaRPr>
              </a:p>
              <a:p>
                <a:pPr marL="457200" indent="-457200">
                  <a:buFont typeface="+mj-lt"/>
                  <a:buAutoNum type="arabicPeriod" startAt="3"/>
                </a:pPr>
                <a:endParaRPr lang="en-PH" sz="2000" dirty="0">
                  <a:latin typeface="Verdana"/>
                  <a:ea typeface="Verdana"/>
                  <a:cs typeface="Verdana" panose="020B0604030504040204" pitchFamily="34" charset="0"/>
                </a:endParaRPr>
              </a:p>
              <a:p>
                <a:pPr marL="457200" indent="-457200">
                  <a:buFont typeface="+mj-lt"/>
                  <a:buAutoNum type="arabicPeriod" startAt="3"/>
                </a:pPr>
                <a:endParaRPr lang="en-PH" sz="2000" dirty="0">
                  <a:latin typeface="Verdana"/>
                  <a:ea typeface="Verdana"/>
                  <a:cs typeface="Verdana" panose="020B0604030504040204" pitchFamily="34" charset="0"/>
                </a:endParaRPr>
              </a:p>
              <a:p>
                <a:r>
                  <a:rPr lang="en-US" sz="2000" dirty="0">
                    <a:latin typeface="Verdana"/>
                    <a:ea typeface="Verdana"/>
                    <a:cs typeface="Verdana"/>
                  </a:rPr>
                  <a:t>In numeric expressions, multiplication can be represented in different ways. Each expression below is a way to represent “three times five.”</a:t>
                </a:r>
              </a:p>
              <a:p>
                <a:endParaRPr lang="en-US" sz="2000" dirty="0">
                  <a:latin typeface="Verdana"/>
                  <a:ea typeface="Verdana"/>
                  <a:cs typeface="Verdana"/>
                </a:endParaRPr>
              </a:p>
              <a:p>
                <a:pPr algn="ctr"/>
                <a14:m>
                  <m:oMath xmlns:m="http://schemas.openxmlformats.org/officeDocument/2006/math">
                    <m:r>
                      <a:rPr lang="en-PH" sz="2000" i="1">
                        <a:latin typeface="Cambria Math"/>
                        <a:ea typeface="Verdana"/>
                        <a:cs typeface="Verdana" panose="020B0604030504040204" pitchFamily="34" charset="0"/>
                      </a:rPr>
                      <m:t>3</m:t>
                    </m:r>
                    <m:r>
                      <a:rPr lang="en-PH" sz="2000" i="1">
                        <a:latin typeface="Cambria Math"/>
                        <a:ea typeface="Cambria Math"/>
                        <a:cs typeface="Verdana" panose="020B0604030504040204" pitchFamily="34" charset="0"/>
                      </a:rPr>
                      <m:t>×5</m:t>
                    </m:r>
                  </m:oMath>
                </a14:m>
                <a:r>
                  <a:rPr lang="en-PH" sz="2000" dirty="0">
                    <a:latin typeface="Verdana"/>
                    <a:ea typeface="Verdana"/>
                    <a:cs typeface="Verdana" panose="020B0604030504040204" pitchFamily="34" charset="0"/>
                  </a:rPr>
                  <a:t>	</a:t>
                </a:r>
                <a14:m>
                  <m:oMath xmlns:m="http://schemas.openxmlformats.org/officeDocument/2006/math">
                    <m:r>
                      <a:rPr lang="en-PH" sz="2000" i="1">
                        <a:latin typeface="Cambria Math"/>
                        <a:ea typeface="Verdana"/>
                        <a:cs typeface="Verdana" panose="020B0604030504040204" pitchFamily="34" charset="0"/>
                      </a:rPr>
                      <m:t>3</m:t>
                    </m:r>
                    <m:r>
                      <a:rPr lang="en-PH" sz="2000" i="1">
                        <a:latin typeface="Cambria Math"/>
                        <a:ea typeface="Cambria Math"/>
                        <a:cs typeface="Verdana" panose="020B0604030504040204" pitchFamily="34" charset="0"/>
                      </a:rPr>
                      <m:t>∙5</m:t>
                    </m:r>
                  </m:oMath>
                </a14:m>
                <a:r>
                  <a:rPr lang="en-PH" sz="2000" dirty="0">
                    <a:latin typeface="Verdana"/>
                    <a:ea typeface="Verdana"/>
                    <a:cs typeface="Verdana" panose="020B0604030504040204" pitchFamily="34" charset="0"/>
                  </a:rPr>
                  <a:t>	</a:t>
                </a:r>
                <a14:m>
                  <m:oMath xmlns:m="http://schemas.openxmlformats.org/officeDocument/2006/math">
                    <m:r>
                      <a:rPr lang="en-PH" sz="2000" i="1">
                        <a:latin typeface="Cambria Math"/>
                        <a:ea typeface="Verdana"/>
                        <a:cs typeface="Verdana" panose="020B0604030504040204" pitchFamily="34" charset="0"/>
                      </a:rPr>
                      <m:t>3(5)</m:t>
                    </m:r>
                  </m:oMath>
                </a14:m>
                <a:endParaRPr lang="en-PH" sz="2000" dirty="0">
                  <a:latin typeface="Verdana"/>
                  <a:ea typeface="Verdana"/>
                  <a:cs typeface="Verdana" panose="020B0604030504040204" pitchFamily="34" charset="0"/>
                </a:endParaRP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1156447" y="520394"/>
                <a:ext cx="10029772" cy="5813643"/>
              </a:xfrm>
              <a:prstGeom prst="rect">
                <a:avLst/>
              </a:prstGeom>
              <a:blipFill rotWithShape="0">
                <a:blip r:embed="rId3"/>
                <a:stretch>
                  <a:fillRect l="-669" t="-629" r="-304" b="-314"/>
                </a:stretch>
              </a:blipFill>
            </p:spPr>
            <p:txBody>
              <a:bodyPr/>
              <a:lstStyle/>
              <a:p>
                <a:r>
                  <a:rPr lang="en-US">
                    <a:noFill/>
                  </a:rPr>
                  <a:t> </a:t>
                </a:r>
              </a:p>
            </p:txBody>
          </p:sp>
        </mc:Fallback>
      </mc:AlternateContent>
      <p:grpSp>
        <p:nvGrpSpPr>
          <p:cNvPr id="11" name="Group 10"/>
          <p:cNvGrpSpPr/>
          <p:nvPr/>
        </p:nvGrpSpPr>
        <p:grpSpPr>
          <a:xfrm>
            <a:off x="2589933" y="1756785"/>
            <a:ext cx="6896100" cy="995427"/>
            <a:chOff x="-266700" y="-350438"/>
            <a:chExt cx="6896100" cy="1214266"/>
          </a:xfrm>
          <a:effectLst>
            <a:outerShdw blurRad="50800" dist="38100" dir="2700000" algn="tl" rotWithShape="0">
              <a:prstClr val="black">
                <a:alpha val="40000"/>
              </a:prstClr>
            </a:outerShdw>
          </a:effectLst>
        </p:grpSpPr>
        <p:grpSp>
          <p:nvGrpSpPr>
            <p:cNvPr id="15" name="Group 14"/>
            <p:cNvGrpSpPr/>
            <p:nvPr/>
          </p:nvGrpSpPr>
          <p:grpSpPr>
            <a:xfrm>
              <a:off x="-266700" y="-350438"/>
              <a:ext cx="6896100" cy="1214266"/>
              <a:chOff x="1764600" y="3036370"/>
              <a:chExt cx="6896100" cy="1214266"/>
            </a:xfrm>
          </p:grpSpPr>
          <p:grpSp>
            <p:nvGrpSpPr>
              <p:cNvPr id="17" name="Group 16"/>
              <p:cNvGrpSpPr/>
              <p:nvPr/>
            </p:nvGrpSpPr>
            <p:grpSpPr>
              <a:xfrm>
                <a:off x="1764600" y="3036370"/>
                <a:ext cx="6896100" cy="1214266"/>
                <a:chOff x="-266700" y="-350438"/>
                <a:chExt cx="6896100" cy="1214266"/>
              </a:xfrm>
            </p:grpSpPr>
            <p:sp>
              <p:nvSpPr>
                <p:cNvPr id="18" name="Rounded Rectangle 17"/>
                <p:cNvSpPr/>
                <p:nvPr/>
              </p:nvSpPr>
              <p:spPr>
                <a:xfrm>
                  <a:off x="-266700" y="-350438"/>
                  <a:ext cx="6629400" cy="1214266"/>
                </a:xfrm>
                <a:prstGeom prst="roundRect">
                  <a:avLst>
                    <a:gd name="adj" fmla="val 16667"/>
                  </a:avLst>
                </a:prstGeom>
                <a:solidFill>
                  <a:srgbClr val="B8E6F5"/>
                </a:solidFill>
                <a:ln>
                  <a:noFill/>
                </a:ln>
              </p:spPr>
              <p:txBody>
                <a:bodyPr spcFirstLastPara="1" wrap="square" lIns="91425" tIns="91440" rIns="91425" bIns="45700" anchor="ctr" anchorCtr="0">
                  <a:spAutoFit/>
                </a:bodyPr>
                <a:lstStyle/>
                <a:p>
                  <a:pPr marL="742950">
                    <a:lnSpc>
                      <a:spcPct val="107000"/>
                    </a:lnSpc>
                    <a:spcAft>
                      <a:spcPts val="800"/>
                    </a:spcAft>
                  </a:pPr>
                  <a:r>
                    <a:rPr lang="en-US" sz="2000" dirty="0">
                      <a:solidFill>
                        <a:srgbClr val="00619E"/>
                      </a:solidFill>
                      <a:latin typeface="Verdana"/>
                      <a:ea typeface="Verdana"/>
                      <a:cs typeface="Verdana"/>
                    </a:rPr>
                    <a:t>In mathematics,</a:t>
                  </a:r>
                  <a:r>
                    <a:rPr lang="en-US" sz="2000" b="1" dirty="0">
                      <a:solidFill>
                        <a:srgbClr val="00619E"/>
                      </a:solidFill>
                      <a:latin typeface="Verdana"/>
                      <a:ea typeface="Verdana"/>
                      <a:cs typeface="Verdana"/>
                    </a:rPr>
                    <a:t> evaluate</a:t>
                  </a:r>
                  <a:r>
                    <a:rPr lang="en-US" sz="2000" dirty="0">
                      <a:solidFill>
                        <a:srgbClr val="00619E"/>
                      </a:solidFill>
                      <a:latin typeface="Verdana"/>
                      <a:ea typeface="Verdana"/>
                      <a:cs typeface="Verdana"/>
                    </a:rPr>
                    <a:t> is an instruction that indicates the answer is a </a:t>
                  </a:r>
                  <a:r>
                    <a:rPr lang="en-US" sz="2000" b="1" dirty="0">
                      <a:solidFill>
                        <a:srgbClr val="00619E"/>
                      </a:solidFill>
                      <a:latin typeface="Verdana"/>
                      <a:ea typeface="Verdana"/>
                      <a:cs typeface="Verdana"/>
                    </a:rPr>
                    <a:t>value</a:t>
                  </a:r>
                  <a:r>
                    <a:rPr lang="en-US" sz="2000" dirty="0">
                      <a:solidFill>
                        <a:srgbClr val="00619E"/>
                      </a:solidFill>
                      <a:latin typeface="Verdana"/>
                      <a:ea typeface="Verdana"/>
                      <a:cs typeface="Verdana"/>
                    </a:rPr>
                    <a:t>.</a:t>
                  </a:r>
                  <a:endParaRPr lang="en-US" sz="2000" i="1" dirty="0">
                    <a:latin typeface="Cambria Math"/>
                    <a:ea typeface="Cambria Math"/>
                    <a:cs typeface="Cambria Math"/>
                  </a:endParaRPr>
                </a:p>
              </p:txBody>
            </p:sp>
            <p:sp>
              <p:nvSpPr>
                <p:cNvPr id="19" name="Rectangle 18"/>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lnSpc>
                      <a:spcPct val="107000"/>
                    </a:lnSpc>
                    <a:spcAft>
                      <a:spcPts val="800"/>
                    </a:spcAft>
                  </a:pPr>
                  <a:r>
                    <a:rPr lang="en-US" sz="2000" i="1">
                      <a:latin typeface="Cambria Math"/>
                      <a:ea typeface="Cambria Math"/>
                      <a:cs typeface="Cambria Math"/>
                    </a:rPr>
                    <a:t> </a:t>
                  </a:r>
                </a:p>
              </p:txBody>
            </p:sp>
            <p:sp>
              <p:nvSpPr>
                <p:cNvPr id="20" name="Rectangle 19"/>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lnSpc>
                      <a:spcPct val="107000"/>
                    </a:lnSpc>
                    <a:spcAft>
                      <a:spcPts val="800"/>
                    </a:spcAft>
                  </a:pPr>
                  <a:r>
                    <a:rPr lang="en-US" sz="2000" i="1">
                      <a:latin typeface="Cambria Math"/>
                      <a:ea typeface="Cambria Math"/>
                      <a:cs typeface="Cambria Math"/>
                    </a:rPr>
                    <a:t> </a:t>
                  </a:r>
                </a:p>
              </p:txBody>
            </p:sp>
          </p:grpSp>
        </p:grpSp>
        <p:pic>
          <p:nvPicPr>
            <p:cNvPr id="16" name="image15.png" descr="Icon&#10;&#10;Description automatically generated"/>
            <p:cNvPicPr/>
            <p:nvPr/>
          </p:nvPicPr>
          <p:blipFill>
            <a:blip r:embed="rId4" cstate="screen">
              <a:extLst>
                <a:ext uri="{28A0092B-C50C-407E-A947-70E740481C1C}">
                  <a14:useLocalDpi xmlns:a14="http://schemas.microsoft.com/office/drawing/2010/main"/>
                </a:ext>
              </a:extLst>
            </a:blip>
            <a:srcRect/>
            <a:stretch>
              <a:fillRect/>
            </a:stretch>
          </p:blipFill>
          <p:spPr>
            <a:xfrm>
              <a:off x="-82786" y="-107067"/>
              <a:ext cx="539750" cy="645871"/>
            </a:xfrm>
            <a:prstGeom prst="rect">
              <a:avLst/>
            </a:prstGeom>
            <a:ln/>
            <a:effectLst>
              <a:outerShdw blurRad="50800" dist="38100" dir="2700000" algn="tl" rotWithShape="0">
                <a:prstClr val="black">
                  <a:alpha val="40000"/>
                </a:prstClr>
              </a:outerShdw>
            </a:effectLst>
          </p:spPr>
        </p:pic>
      </p:grpSp>
      <p:sp>
        <p:nvSpPr>
          <p:cNvPr id="13" name="Google Shape;282;g104476d1465_1_17"/>
          <p:cNvSpPr txBox="1"/>
          <p:nvPr/>
        </p:nvSpPr>
        <p:spPr>
          <a:xfrm>
            <a:off x="8672903"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265</a:t>
            </a:r>
            <a:endParaRPr i="1" dirty="0">
              <a:latin typeface="Calibri"/>
              <a:ea typeface="Calibri"/>
              <a:cs typeface="Calibri"/>
              <a:sym typeface="Calibri"/>
            </a:endParaRPr>
          </a:p>
        </p:txBody>
      </p:sp>
      <p:pic>
        <p:nvPicPr>
          <p:cNvPr id="22"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11129"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2328005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995082" y="520393"/>
                <a:ext cx="10352502" cy="3477875"/>
              </a:xfrm>
              <a:prstGeom prst="rect">
                <a:avLst/>
              </a:prstGeom>
              <a:noFill/>
            </p:spPr>
            <p:txBody>
              <a:bodyPr wrap="square" rtlCol="0">
                <a:spAutoFit/>
              </a:bodyPr>
              <a:lstStyle/>
              <a:p>
                <a:r>
                  <a:rPr lang="en-US" sz="2000" dirty="0">
                    <a:latin typeface="Verdana"/>
                    <a:ea typeface="Verdana"/>
                    <a:cs typeface="Verdana"/>
                  </a:rPr>
                  <a:t>In algebraic expressions, the multiplication symbol, </a:t>
                </a:r>
                <a:r>
                  <a:rPr lang="en-US" sz="2000" dirty="0">
                    <a:latin typeface="Cambria Math"/>
                    <a:ea typeface="Cambria Math"/>
                    <a:cs typeface="Cambria Math"/>
                  </a:rPr>
                  <a:t>×</a:t>
                </a:r>
                <a:r>
                  <a:rPr lang="en-US" sz="2000" dirty="0">
                    <a:latin typeface="Verdana"/>
                    <a:ea typeface="Verdana"/>
                    <a:cs typeface="Verdana"/>
                  </a:rPr>
                  <a:t>, could </a:t>
                </a:r>
                <a:br>
                  <a:rPr lang="en-US" sz="2000" dirty="0">
                    <a:latin typeface="Verdana"/>
                    <a:ea typeface="Verdana"/>
                    <a:cs typeface="Verdana"/>
                  </a:rPr>
                </a:br>
                <a:r>
                  <a:rPr lang="en-US" sz="2000" dirty="0">
                    <a:latin typeface="Verdana"/>
                    <a:ea typeface="Verdana"/>
                    <a:cs typeface="Verdana"/>
                  </a:rPr>
                  <a:t>be confused with the variable </a:t>
                </a:r>
                <a14:m>
                  <m:oMath xmlns:m="http://schemas.openxmlformats.org/officeDocument/2006/math">
                    <m:r>
                      <a:rPr lang="en-US" sz="2000" i="1">
                        <a:latin typeface="Cambria Math"/>
                        <a:ea typeface="Cambria Math"/>
                        <a:cs typeface="Cambria Math"/>
                      </a:rPr>
                      <m:t>𝑥</m:t>
                    </m:r>
                  </m:oMath>
                </a14:m>
                <a:r>
                  <a:rPr lang="en-US" sz="2000" dirty="0">
                    <a:latin typeface="Verdana"/>
                    <a:ea typeface="Verdana"/>
                    <a:cs typeface="Verdana"/>
                  </a:rPr>
                  <a:t>. Therefore, writing a number next to a variable is a better way to note multiplication when using variables.</a:t>
                </a:r>
              </a:p>
              <a:p>
                <a:endParaRPr lang="en-US" sz="2000" dirty="0">
                  <a:latin typeface="Verdana"/>
                  <a:ea typeface="Verdana"/>
                  <a:cs typeface="Verdana"/>
                </a:endParaRPr>
              </a:p>
              <a:p>
                <a:pPr algn="ctr"/>
                <a14:m>
                  <m:oMath xmlns:m="http://schemas.openxmlformats.org/officeDocument/2006/math">
                    <m:r>
                      <a:rPr lang="en-PH" sz="2000" i="1">
                        <a:latin typeface="Cambria Math"/>
                        <a:ea typeface="Verdana"/>
                        <a:cs typeface="Verdana" panose="020B0604030504040204" pitchFamily="34" charset="0"/>
                      </a:rPr>
                      <m:t>3</m:t>
                    </m:r>
                    <m:r>
                      <a:rPr lang="en-PH" sz="2000" i="1">
                        <a:latin typeface="Cambria Math"/>
                        <a:ea typeface="Verdana"/>
                        <a:cs typeface="Verdana" panose="020B0604030504040204" pitchFamily="34" charset="0"/>
                      </a:rPr>
                      <m:t>𝑥</m:t>
                    </m:r>
                  </m:oMath>
                </a14:m>
                <a:r>
                  <a:rPr lang="en-PH" sz="2000" dirty="0">
                    <a:latin typeface="Verdana"/>
                    <a:ea typeface="Verdana"/>
                    <a:cs typeface="Verdana" panose="020B0604030504040204" pitchFamily="34" charset="0"/>
                  </a:rPr>
                  <a:t> means “three times </a:t>
                </a:r>
                <a14:m>
                  <m:oMath xmlns:m="http://schemas.openxmlformats.org/officeDocument/2006/math">
                    <m:r>
                      <a:rPr lang="en-PH" sz="2000" i="1">
                        <a:latin typeface="Cambria Math"/>
                        <a:ea typeface="Verdana"/>
                        <a:cs typeface="Verdana" panose="020B0604030504040204" pitchFamily="34" charset="0"/>
                      </a:rPr>
                      <m:t>𝑥</m:t>
                    </m:r>
                  </m:oMath>
                </a14:m>
                <a:r>
                  <a:rPr lang="en-PH" sz="2000" dirty="0">
                    <a:latin typeface="Verdana"/>
                    <a:ea typeface="Verdana"/>
                    <a:cs typeface="Verdana" panose="020B0604030504040204" pitchFamily="34" charset="0"/>
                  </a:rPr>
                  <a:t>.”</a:t>
                </a:r>
              </a:p>
              <a:p>
                <a:pPr algn="ctr"/>
                <a:endParaRPr lang="en-PH" sz="2000" dirty="0">
                  <a:latin typeface="Verdana"/>
                  <a:ea typeface="Verdana"/>
                  <a:cs typeface="Verdana" panose="020B0604030504040204" pitchFamily="34" charset="0"/>
                </a:endParaRPr>
              </a:p>
              <a:p>
                <a:pPr lvl="0"/>
                <a:r>
                  <a:rPr lang="en-US" sz="2000" dirty="0">
                    <a:latin typeface="Verdana"/>
                    <a:ea typeface="Verdana"/>
                    <a:cs typeface="Verdana"/>
                  </a:rPr>
                  <a:t>Multiplication of a number and a variable could also be represented using the multiplication dot, </a:t>
                </a:r>
                <a14:m>
                  <m:oMath xmlns:m="http://schemas.openxmlformats.org/officeDocument/2006/math">
                    <m:r>
                      <a:rPr lang="en-US" sz="2000">
                        <a:latin typeface="Cambria Math"/>
                        <a:ea typeface="Cambria Math"/>
                        <a:cs typeface="Cambria Math"/>
                      </a:rPr>
                      <m:t>3∙</m:t>
                    </m:r>
                    <m:r>
                      <a:rPr lang="en-US" sz="2000" i="1">
                        <a:latin typeface="Cambria Math"/>
                        <a:ea typeface="Cambria Math"/>
                        <a:cs typeface="Cambria Math"/>
                      </a:rPr>
                      <m:t>𝑥</m:t>
                    </m:r>
                  </m:oMath>
                </a14:m>
                <a:r>
                  <a:rPr lang="en-US" sz="2000" dirty="0">
                    <a:latin typeface="Verdana"/>
                    <a:ea typeface="Verdana"/>
                    <a:cs typeface="Verdana"/>
                  </a:rPr>
                  <a:t>, or</a:t>
                </a:r>
                <a:r>
                  <a:rPr lang="en-US" sz="2000" dirty="0">
                    <a:latin typeface="Cambria Math"/>
                    <a:ea typeface="Cambria Math"/>
                    <a:cs typeface="Cambria Math"/>
                  </a:rPr>
                  <a:t> </a:t>
                </a:r>
                <a:r>
                  <a:rPr lang="en-US" sz="2000" dirty="0">
                    <a:latin typeface="Verdana"/>
                    <a:ea typeface="Verdana"/>
                    <a:cs typeface="Verdana"/>
                  </a:rPr>
                  <a:t>parentheses, </a:t>
                </a:r>
                <a14:m>
                  <m:oMath xmlns:m="http://schemas.openxmlformats.org/officeDocument/2006/math">
                    <m:r>
                      <a:rPr lang="en-US" sz="2000">
                        <a:latin typeface="Cambria Math"/>
                        <a:ea typeface="Cambria Math"/>
                        <a:cs typeface="Cambria Math"/>
                      </a:rPr>
                      <m:t>3(</m:t>
                    </m:r>
                    <m:r>
                      <a:rPr lang="en-US" sz="2000" i="1">
                        <a:latin typeface="Cambria Math"/>
                        <a:ea typeface="Cambria Math"/>
                        <a:cs typeface="Cambria Math"/>
                      </a:rPr>
                      <m:t>𝑥</m:t>
                    </m:r>
                    <m:r>
                      <a:rPr lang="en-US" sz="2000">
                        <a:latin typeface="Cambria Math"/>
                        <a:ea typeface="Cambria Math"/>
                        <a:cs typeface="Cambria Math"/>
                      </a:rPr>
                      <m:t>)</m:t>
                    </m:r>
                  </m:oMath>
                </a14:m>
                <a:r>
                  <a:rPr lang="en-US" sz="2000" dirty="0">
                    <a:latin typeface="Verdana"/>
                    <a:ea typeface="Verdana"/>
                    <a:cs typeface="Verdana"/>
                  </a:rPr>
                  <a:t>, but </a:t>
                </a:r>
                <a14:m>
                  <m:oMath xmlns:m="http://schemas.openxmlformats.org/officeDocument/2006/math">
                    <m:r>
                      <a:rPr lang="en-US" sz="2000">
                        <a:latin typeface="Cambria Math"/>
                        <a:ea typeface="Cambria Math"/>
                        <a:cs typeface="Cambria Math"/>
                      </a:rPr>
                      <m:t>3</m:t>
                    </m:r>
                    <m:r>
                      <a:rPr lang="en-US" sz="2000" i="1">
                        <a:latin typeface="Cambria Math"/>
                        <a:ea typeface="Cambria Math"/>
                        <a:cs typeface="Cambria Math"/>
                      </a:rPr>
                      <m:t>𝑥</m:t>
                    </m:r>
                  </m:oMath>
                </a14:m>
                <a:r>
                  <a:rPr lang="en-US" sz="2000" dirty="0">
                    <a:latin typeface="Verdana"/>
                    <a:ea typeface="Verdana"/>
                    <a:cs typeface="Verdana"/>
                  </a:rPr>
                  <a:t> will be the most common way.</a:t>
                </a:r>
              </a:p>
              <a:p>
                <a:pPr lvl="0"/>
                <a:endParaRPr lang="en-PH" sz="2000" dirty="0">
                  <a:latin typeface="Verdana"/>
                  <a:ea typeface="Verdana"/>
                  <a:cs typeface="Verdana"/>
                </a:endParaRPr>
              </a:p>
              <a:p>
                <a:pPr marL="457200" indent="-457200">
                  <a:buFont typeface="+mj-lt"/>
                  <a:buAutoNum type="arabicPeriod" startAt="5"/>
                </a:pPr>
                <a:r>
                  <a:rPr lang="en-US" sz="2000" dirty="0">
                    <a:latin typeface="Verdana"/>
                    <a:ea typeface="Verdana"/>
                    <a:cs typeface="Verdana"/>
                  </a:rPr>
                  <a:t>Explain why </a:t>
                </a:r>
                <a14:m>
                  <m:oMath xmlns:m="http://schemas.openxmlformats.org/officeDocument/2006/math">
                    <m:r>
                      <a:rPr lang="en-US" sz="2000">
                        <a:latin typeface="Cambria Math"/>
                        <a:ea typeface="Cambria Math"/>
                        <a:cs typeface="Cambria Math"/>
                      </a:rPr>
                      <m:t>3∙5</m:t>
                    </m:r>
                  </m:oMath>
                </a14:m>
                <a:r>
                  <a:rPr lang="en-US" sz="2000" dirty="0">
                    <a:latin typeface="Verdana"/>
                    <a:ea typeface="Verdana"/>
                    <a:cs typeface="Verdana"/>
                  </a:rPr>
                  <a:t> cannot be written as </a:t>
                </a:r>
                <a14:m>
                  <m:oMath xmlns:m="http://schemas.openxmlformats.org/officeDocument/2006/math">
                    <m:r>
                      <a:rPr lang="en-US" sz="2000">
                        <a:latin typeface="Cambria Math"/>
                        <a:ea typeface="Cambria Math"/>
                        <a:cs typeface="Cambria Math"/>
                      </a:rPr>
                      <m:t>35</m:t>
                    </m:r>
                  </m:oMath>
                </a14:m>
                <a:r>
                  <a:rPr lang="en-US" sz="2000" dirty="0">
                    <a:latin typeface="Verdana"/>
                    <a:ea typeface="Verdana"/>
                    <a:cs typeface="Verdana"/>
                  </a:rPr>
                  <a:t>.</a:t>
                </a:r>
                <a:endParaRPr lang="en-PH" sz="2000" dirty="0">
                  <a:latin typeface="Verdana"/>
                  <a:ea typeface="Verdana"/>
                  <a:cs typeface="Verdana"/>
                </a:endParaRP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995082" y="520393"/>
                <a:ext cx="10352502" cy="3477875"/>
              </a:xfrm>
              <a:prstGeom prst="rect">
                <a:avLst/>
              </a:prstGeom>
              <a:blipFill rotWithShape="0">
                <a:blip r:embed="rId3"/>
                <a:stretch>
                  <a:fillRect l="-648" t="-876" r="-942" b="-2277"/>
                </a:stretch>
              </a:blipFill>
            </p:spPr>
            <p:txBody>
              <a:bodyPr/>
              <a:lstStyle/>
              <a:p>
                <a:r>
                  <a:rPr lang="en-US">
                    <a:noFill/>
                  </a:rPr>
                  <a:t> </a:t>
                </a:r>
              </a:p>
            </p:txBody>
          </p:sp>
        </mc:Fallback>
      </mc:AlternateContent>
      <p:sp>
        <p:nvSpPr>
          <p:cNvPr id="6" name="Google Shape;282;g104476d1465_1_17"/>
          <p:cNvSpPr txBox="1"/>
          <p:nvPr/>
        </p:nvSpPr>
        <p:spPr>
          <a:xfrm>
            <a:off x="8672903"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265</a:t>
            </a:r>
            <a:endParaRPr i="1" dirty="0">
              <a:latin typeface="Calibri"/>
              <a:ea typeface="Calibri"/>
              <a:cs typeface="Calibri"/>
              <a:sym typeface="Calibri"/>
            </a:endParaRPr>
          </a:p>
        </p:txBody>
      </p:sp>
      <p:pic>
        <p:nvPicPr>
          <p:cNvPr id="7"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11129"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9745235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1143000" y="520394"/>
                <a:ext cx="10056666" cy="4708981"/>
              </a:xfrm>
              <a:prstGeom prst="rect">
                <a:avLst/>
              </a:prstGeom>
              <a:noFill/>
            </p:spPr>
            <p:txBody>
              <a:bodyPr wrap="square" rtlCol="0">
                <a:spAutoFit/>
              </a:bodyPr>
              <a:lstStyle/>
              <a:p>
                <a:pPr marL="457200" indent="-457200">
                  <a:buFont typeface="+mj-lt"/>
                  <a:buAutoNum type="arabicPeriod" startAt="6"/>
                </a:pPr>
                <a:r>
                  <a:rPr lang="en-US" sz="2000" dirty="0">
                    <a:latin typeface="Verdana"/>
                    <a:ea typeface="Verdana"/>
                    <a:cs typeface="Verdana"/>
                  </a:rPr>
                  <a:t>What is the value of </a:t>
                </a:r>
                <a14:m>
                  <m:oMath xmlns:m="http://schemas.openxmlformats.org/officeDocument/2006/math">
                    <m:r>
                      <a:rPr lang="en-US" sz="2000">
                        <a:latin typeface="Cambria Math"/>
                        <a:ea typeface="Cambria Math"/>
                        <a:cs typeface="Cambria Math"/>
                      </a:rPr>
                      <m:t>3</m:t>
                    </m:r>
                    <m:r>
                      <a:rPr lang="en-US" sz="2000" i="1">
                        <a:latin typeface="Cambria Math"/>
                        <a:ea typeface="Cambria Math"/>
                        <a:cs typeface="Cambria Math"/>
                      </a:rPr>
                      <m:t>𝑥</m:t>
                    </m:r>
                  </m:oMath>
                </a14:m>
                <a:r>
                  <a:rPr lang="en-US" sz="2000" dirty="0">
                    <a:latin typeface="Verdana"/>
                    <a:ea typeface="Verdana"/>
                    <a:cs typeface="Verdana"/>
                  </a:rPr>
                  <a:t> if </a:t>
                </a:r>
                <a14:m>
                  <m:oMath xmlns:m="http://schemas.openxmlformats.org/officeDocument/2006/math">
                    <m:r>
                      <a:rPr lang="en-US" sz="2000" i="1">
                        <a:latin typeface="Cambria Math"/>
                        <a:ea typeface="Cambria Math"/>
                        <a:cs typeface="Cambria Math"/>
                      </a:rPr>
                      <m:t>𝑥</m:t>
                    </m:r>
                    <m:r>
                      <a:rPr lang="en-US" sz="2000">
                        <a:latin typeface="Cambria Math"/>
                        <a:ea typeface="Cambria Math"/>
                        <a:cs typeface="Cambria Math"/>
                      </a:rPr>
                      <m:t>=5</m:t>
                    </m:r>
                  </m:oMath>
                </a14:m>
                <a:r>
                  <a:rPr lang="en-US" sz="2000" dirty="0">
                    <a:latin typeface="Verdana"/>
                    <a:ea typeface="Verdana"/>
                    <a:cs typeface="Verdana"/>
                  </a:rPr>
                  <a:t>?</a:t>
                </a:r>
              </a:p>
              <a:p>
                <a:pPr marL="457200" indent="-457200">
                  <a:buFont typeface="+mj-lt"/>
                  <a:buAutoNum type="arabicPeriod" startAt="6"/>
                </a:pPr>
                <a:endParaRPr lang="en-PH" sz="2000" dirty="0">
                  <a:latin typeface="Verdana"/>
                  <a:ea typeface="Verdana"/>
                  <a:cs typeface="Verdana"/>
                </a:endParaRPr>
              </a:p>
              <a:p>
                <a:pPr marL="457200" indent="-457200">
                  <a:buFont typeface="+mj-lt"/>
                  <a:buAutoNum type="arabicPeriod" startAt="6"/>
                </a:pPr>
                <a:endParaRPr lang="en-PH" sz="2000" dirty="0">
                  <a:latin typeface="Verdana"/>
                  <a:ea typeface="Verdana"/>
                  <a:cs typeface="Verdana"/>
                </a:endParaRPr>
              </a:p>
              <a:p>
                <a:pPr marL="457200" indent="-457200">
                  <a:buFont typeface="+mj-lt"/>
                  <a:buAutoNum type="arabicPeriod" startAt="6"/>
                </a:pPr>
                <a:endParaRPr lang="en-PH" sz="2000" dirty="0">
                  <a:latin typeface="Verdana"/>
                  <a:ea typeface="Verdana"/>
                  <a:cs typeface="Verdana"/>
                </a:endParaRPr>
              </a:p>
              <a:p>
                <a:pPr marL="457200" indent="-457200">
                  <a:buFont typeface="+mj-lt"/>
                  <a:buAutoNum type="arabicPeriod" startAt="6"/>
                </a:pPr>
                <a:endParaRPr lang="en-PH" sz="2000" dirty="0">
                  <a:latin typeface="Verdana"/>
                  <a:ea typeface="Verdana"/>
                  <a:cs typeface="Verdana"/>
                </a:endParaRPr>
              </a:p>
              <a:p>
                <a:pPr marL="457200" indent="-457200">
                  <a:buFont typeface="+mj-lt"/>
                  <a:buAutoNum type="arabicPeriod" startAt="6"/>
                </a:pPr>
                <a:endParaRPr lang="en-PH" sz="2000" dirty="0">
                  <a:latin typeface="Verdana"/>
                  <a:ea typeface="Verdana"/>
                  <a:cs typeface="Verdana"/>
                </a:endParaRPr>
              </a:p>
              <a:p>
                <a:pPr marL="457200" indent="-457200">
                  <a:buFont typeface="+mj-lt"/>
                  <a:buAutoNum type="arabicPeriod" startAt="6"/>
                </a:pPr>
                <a:endParaRPr lang="en-PH" sz="2000" dirty="0">
                  <a:latin typeface="Verdana"/>
                  <a:ea typeface="Verdana"/>
                  <a:cs typeface="Verdana"/>
                </a:endParaRPr>
              </a:p>
              <a:p>
                <a:pPr marL="457200" indent="-457200">
                  <a:buFont typeface="+mj-lt"/>
                  <a:buAutoNum type="arabicPeriod" startAt="6"/>
                </a:pPr>
                <a:endParaRPr lang="en-PH" sz="2000" dirty="0">
                  <a:latin typeface="Verdana"/>
                  <a:ea typeface="Verdana"/>
                  <a:cs typeface="Verdana"/>
                </a:endParaRPr>
              </a:p>
              <a:p>
                <a:pPr marL="457200" indent="-457200">
                  <a:buFont typeface="+mj-lt"/>
                  <a:buAutoNum type="arabicPeriod" startAt="6"/>
                </a:pPr>
                <a:endParaRPr lang="en-PH" sz="2000" dirty="0">
                  <a:latin typeface="Verdana"/>
                  <a:ea typeface="Verdana"/>
                  <a:cs typeface="Verdana"/>
                </a:endParaRPr>
              </a:p>
              <a:p>
                <a:pPr marL="457200" indent="-457200">
                  <a:buFont typeface="+mj-lt"/>
                  <a:buAutoNum type="arabicPeriod" startAt="6"/>
                </a:pPr>
                <a:endParaRPr lang="en-PH" sz="2000" dirty="0">
                  <a:latin typeface="Verdana"/>
                  <a:ea typeface="Verdana"/>
                  <a:cs typeface="Verdana"/>
                </a:endParaRPr>
              </a:p>
              <a:p>
                <a:pPr marL="457200" indent="-457200">
                  <a:buFont typeface="+mj-lt"/>
                  <a:buAutoNum type="arabicPeriod" startAt="6"/>
                </a:pPr>
                <a:endParaRPr lang="en-PH" sz="2000" dirty="0">
                  <a:latin typeface="Verdana"/>
                  <a:ea typeface="Verdana"/>
                  <a:cs typeface="Verdana"/>
                </a:endParaRPr>
              </a:p>
              <a:p>
                <a:pPr marL="457200" indent="-457200">
                  <a:buFont typeface="+mj-lt"/>
                  <a:buAutoNum type="arabicPeriod" startAt="6"/>
                </a:pPr>
                <a:endParaRPr lang="en-PH" sz="2000" dirty="0">
                  <a:latin typeface="Verdana"/>
                  <a:ea typeface="Verdana"/>
                  <a:cs typeface="Verdana"/>
                </a:endParaRPr>
              </a:p>
              <a:p>
                <a:pPr marL="457200" indent="-457200">
                  <a:buFont typeface="+mj-lt"/>
                  <a:buAutoNum type="arabicPeriod" startAt="6"/>
                </a:pPr>
                <a:endParaRPr lang="en-PH" sz="2000" dirty="0">
                  <a:latin typeface="Verdana"/>
                  <a:ea typeface="Verdana"/>
                  <a:cs typeface="Verdana"/>
                </a:endParaRPr>
              </a:p>
              <a:p>
                <a:pPr marL="457200" indent="-457200">
                  <a:buFont typeface="+mj-lt"/>
                  <a:buAutoNum type="arabicPeriod" startAt="6"/>
                </a:pPr>
                <a:r>
                  <a:rPr lang="en-US" sz="2000" dirty="0">
                    <a:latin typeface="Verdana"/>
                    <a:ea typeface="Verdana"/>
                    <a:cs typeface="Verdana"/>
                  </a:rPr>
                  <a:t>Find the value of </a:t>
                </a:r>
                <a14:m>
                  <m:oMath xmlns:m="http://schemas.openxmlformats.org/officeDocument/2006/math">
                    <m:r>
                      <a:rPr lang="en-US" sz="2000" i="1">
                        <a:latin typeface="Cambria Math"/>
                        <a:ea typeface="Cambria Math"/>
                        <a:cs typeface="Cambria Math"/>
                      </a:rPr>
                      <m:t>7</m:t>
                    </m:r>
                    <m:r>
                      <a:rPr lang="en-US" sz="2000" i="1">
                        <a:latin typeface="Cambria Math"/>
                        <a:ea typeface="Cambria Math"/>
                        <a:cs typeface="Cambria Math"/>
                      </a:rPr>
                      <m:t>𝑚</m:t>
                    </m:r>
                    <m:r>
                      <a:rPr lang="en-US" sz="2000" i="1">
                        <a:latin typeface="Cambria Math"/>
                        <a:ea typeface="Cambria Math"/>
                        <a:cs typeface="Cambria Math"/>
                      </a:rPr>
                      <m:t>−(3+</m:t>
                    </m:r>
                    <m:r>
                      <a:rPr lang="en-US" sz="2000" i="1">
                        <a:latin typeface="Cambria Math"/>
                        <a:ea typeface="Cambria Math"/>
                        <a:cs typeface="Cambria Math"/>
                      </a:rPr>
                      <m:t>𝑏</m:t>
                    </m:r>
                    <m:r>
                      <a:rPr lang="en-US" sz="2000" i="1">
                        <a:latin typeface="Cambria Math"/>
                        <a:ea typeface="Cambria Math"/>
                        <a:cs typeface="Cambria Math"/>
                      </a:rPr>
                      <m:t>−12)÷2</m:t>
                    </m:r>
                  </m:oMath>
                </a14:m>
                <a:r>
                  <a:rPr lang="en-US" sz="2000" dirty="0">
                    <a:latin typeface="Verdana"/>
                    <a:ea typeface="Verdana"/>
                    <a:cs typeface="Verdana"/>
                  </a:rPr>
                  <a:t> if </a:t>
                </a:r>
                <a14:m>
                  <m:oMath xmlns:m="http://schemas.openxmlformats.org/officeDocument/2006/math">
                    <m:r>
                      <a:rPr lang="en-US" sz="2000" i="1">
                        <a:latin typeface="Cambria Math"/>
                        <a:ea typeface="Cambria Math"/>
                        <a:cs typeface="Cambria Math"/>
                      </a:rPr>
                      <m:t>𝑚</m:t>
                    </m:r>
                    <m:r>
                      <a:rPr lang="en-US" sz="2000" i="1">
                        <a:latin typeface="Cambria Math"/>
                        <a:ea typeface="Cambria Math"/>
                        <a:cs typeface="Cambria Math"/>
                      </a:rPr>
                      <m:t>=4</m:t>
                    </m:r>
                  </m:oMath>
                </a14:m>
                <a:r>
                  <a:rPr lang="en-US" sz="2000" dirty="0">
                    <a:latin typeface="Verdana"/>
                    <a:ea typeface="Verdana"/>
                    <a:cs typeface="Verdana"/>
                  </a:rPr>
                  <a:t> and </a:t>
                </a:r>
                <a14:m>
                  <m:oMath xmlns:m="http://schemas.openxmlformats.org/officeDocument/2006/math">
                    <m:r>
                      <a:rPr lang="en-US" sz="2000" i="1">
                        <a:latin typeface="Cambria Math"/>
                        <a:ea typeface="Cambria Math"/>
                        <a:cs typeface="Cambria Math"/>
                      </a:rPr>
                      <m:t>𝑏</m:t>
                    </m:r>
                    <m:r>
                      <a:rPr lang="en-US" sz="2000">
                        <a:latin typeface="Cambria Math"/>
                        <a:ea typeface="Cambria Math"/>
                        <a:cs typeface="Cambria Math"/>
                      </a:rPr>
                      <m:t>=15</m:t>
                    </m:r>
                  </m:oMath>
                </a14:m>
                <a:r>
                  <a:rPr lang="en-US" sz="2000" dirty="0">
                    <a:latin typeface="Verdana"/>
                    <a:ea typeface="Verdana"/>
                    <a:cs typeface="Verdana"/>
                  </a:rPr>
                  <a:t>.  Show your work.</a:t>
                </a:r>
                <a:endParaRPr lang="en-PH" sz="2000" dirty="0">
                  <a:latin typeface="Verdana"/>
                  <a:ea typeface="Verdana"/>
                  <a:cs typeface="Verdana"/>
                </a:endParaRP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1143000" y="520394"/>
                <a:ext cx="10056666" cy="4708981"/>
              </a:xfrm>
              <a:prstGeom prst="rect">
                <a:avLst/>
              </a:prstGeom>
              <a:blipFill rotWithShape="0">
                <a:blip r:embed="rId3"/>
                <a:stretch>
                  <a:fillRect l="-667" t="-776" b="-1294"/>
                </a:stretch>
              </a:blipFill>
            </p:spPr>
            <p:txBody>
              <a:bodyPr/>
              <a:lstStyle/>
              <a:p>
                <a:r>
                  <a:rPr lang="en-US">
                    <a:noFill/>
                  </a:rPr>
                  <a:t> </a:t>
                </a:r>
              </a:p>
            </p:txBody>
          </p:sp>
        </mc:Fallback>
      </mc:AlternateContent>
      <p:sp>
        <p:nvSpPr>
          <p:cNvPr id="7" name="Rounded Rectangle 6"/>
          <p:cNvSpPr/>
          <p:nvPr/>
        </p:nvSpPr>
        <p:spPr>
          <a:xfrm>
            <a:off x="2514600" y="2503759"/>
            <a:ext cx="7258050" cy="1426845"/>
          </a:xfrm>
          <a:prstGeom prst="roundRect">
            <a:avLst>
              <a:gd name="adj" fmla="val 16667"/>
            </a:avLst>
          </a:prstGeom>
          <a:solidFill>
            <a:srgbClr val="B8E6F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pPr marL="742950">
              <a:lnSpc>
                <a:spcPct val="107000"/>
              </a:lnSpc>
            </a:pPr>
            <a:r>
              <a:rPr lang="en-US" sz="2000" dirty="0">
                <a:solidFill>
                  <a:srgbClr val="00619E"/>
                </a:solidFill>
                <a:latin typeface="Verdana"/>
                <a:ea typeface="Verdana"/>
                <a:cs typeface="Verdana"/>
              </a:rPr>
              <a:t>When substituting values into algebraic expressions, it is helpful to put the substituted value in </a:t>
            </a:r>
            <a:r>
              <a:rPr lang="en-US" sz="2000" b="1" dirty="0">
                <a:solidFill>
                  <a:srgbClr val="00619E"/>
                </a:solidFill>
                <a:latin typeface="Verdana"/>
                <a:ea typeface="Verdana"/>
                <a:cs typeface="Verdana"/>
              </a:rPr>
              <a:t>parentheses</a:t>
            </a:r>
            <a:r>
              <a:rPr lang="en-US" sz="2000" dirty="0">
                <a:solidFill>
                  <a:srgbClr val="00619E"/>
                </a:solidFill>
                <a:latin typeface="Verdana"/>
                <a:ea typeface="Verdana"/>
                <a:cs typeface="Verdana"/>
              </a:rPr>
              <a:t> when the variable is being multiplied by a known value.</a:t>
            </a:r>
            <a:endParaRPr lang="en-US" sz="1800" i="1" dirty="0">
              <a:latin typeface="Cambria Math"/>
              <a:ea typeface="Cambria Math"/>
              <a:cs typeface="Cambria Math"/>
            </a:endParaRPr>
          </a:p>
        </p:txBody>
      </p:sp>
      <p:pic>
        <p:nvPicPr>
          <p:cNvPr id="8" name="image15.png" descr="Icon&#10;&#10;Description automatically generated"/>
          <p:cNvPicPr/>
          <p:nvPr/>
        </p:nvPicPr>
        <p:blipFill>
          <a:blip r:embed="rId4" cstate="screen">
            <a:extLst>
              <a:ext uri="{28A0092B-C50C-407E-A947-70E740481C1C}">
                <a14:useLocalDpi xmlns:a14="http://schemas.microsoft.com/office/drawing/2010/main"/>
              </a:ext>
            </a:extLst>
          </a:blip>
          <a:srcRect/>
          <a:stretch>
            <a:fillRect/>
          </a:stretch>
        </p:blipFill>
        <p:spPr>
          <a:xfrm>
            <a:off x="2699195" y="2947623"/>
            <a:ext cx="539115" cy="539115"/>
          </a:xfrm>
          <a:prstGeom prst="rect">
            <a:avLst/>
          </a:prstGeom>
          <a:ln/>
          <a:effectLst>
            <a:outerShdw blurRad="50800" dist="38100" dir="2700000" algn="tl" rotWithShape="0">
              <a:prstClr val="black">
                <a:alpha val="40000"/>
              </a:prstClr>
            </a:outerShdw>
          </a:effectLst>
        </p:spPr>
      </p:pic>
      <p:sp>
        <p:nvSpPr>
          <p:cNvPr id="10" name="Google Shape;282;g104476d1465_1_17"/>
          <p:cNvSpPr txBox="1"/>
          <p:nvPr/>
        </p:nvSpPr>
        <p:spPr>
          <a:xfrm>
            <a:off x="8672903"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265</a:t>
            </a:r>
            <a:endParaRPr i="1" dirty="0">
              <a:latin typeface="Calibri"/>
              <a:ea typeface="Calibri"/>
              <a:cs typeface="Calibri"/>
              <a:sym typeface="Calibri"/>
            </a:endParaRPr>
          </a:p>
        </p:txBody>
      </p:sp>
      <p:pic>
        <p:nvPicPr>
          <p:cNvPr id="11"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11129"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493980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pic>
        <p:nvPicPr>
          <p:cNvPr id="3074" name="Picture 2">
            <a:extLst>
              <a:ext uri="{FF2B5EF4-FFF2-40B4-BE49-F238E27FC236}">
                <a16:creationId xmlns:a16="http://schemas.microsoft.com/office/drawing/2014/main" id="{D0821C8B-4657-A74D-94B5-D6CF373A1741}"/>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513114"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p:cNvSpPr txBox="1"/>
          <p:nvPr/>
        </p:nvSpPr>
        <p:spPr>
          <a:xfrm>
            <a:off x="8672903"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266</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11129"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5607887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32610" y="73632"/>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13.1.3 Collaboration: Order of Operations</a:t>
            </a:r>
          </a:p>
        </p:txBody>
      </p:sp>
      <p:pic>
        <p:nvPicPr>
          <p:cNvPr id="9" name="Picture 2">
            <a:extLst>
              <a:ext uri="{FF2B5EF4-FFF2-40B4-BE49-F238E27FC236}">
                <a16:creationId xmlns:a16="http://schemas.microsoft.com/office/drawing/2014/main" id="{A80EBD0F-404F-0B4B-AC09-DA5A6DF6026E}"/>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682802" y="361578"/>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E44DF7DE-9172-3E4E-B74A-7A51585FB6EA}"/>
              </a:ext>
            </a:extLst>
          </p:cNvPr>
          <p:cNvSpPr txBox="1"/>
          <p:nvPr/>
        </p:nvSpPr>
        <p:spPr>
          <a:xfrm>
            <a:off x="1129553" y="1386025"/>
            <a:ext cx="10188926" cy="2308324"/>
          </a:xfrm>
          <a:prstGeom prst="rect">
            <a:avLst/>
          </a:prstGeom>
          <a:noFill/>
        </p:spPr>
        <p:txBody>
          <a:bodyPr wrap="square" rtlCol="0">
            <a:spAutoFit/>
          </a:bodyPr>
          <a:lstStyle/>
          <a:p>
            <a:pPr marL="457200" indent="-457200">
              <a:buFont typeface="+mj-lt"/>
              <a:buAutoNum type="arabicPeriod"/>
            </a:pPr>
            <a:endParaRPr lang="en-US" sz="2400" dirty="0">
              <a:latin typeface="Verdana"/>
              <a:ea typeface="Verdana"/>
              <a:cs typeface="Verdana"/>
            </a:endParaRPr>
          </a:p>
          <a:p>
            <a:pPr marL="457200" indent="-457200">
              <a:buFont typeface="+mj-lt"/>
              <a:buAutoNum type="arabicPeriod"/>
            </a:pPr>
            <a:endParaRPr lang="en-US" sz="2400" dirty="0">
              <a:latin typeface="Verdana"/>
              <a:ea typeface="Verdana"/>
              <a:cs typeface="Verdana"/>
            </a:endParaRPr>
          </a:p>
          <a:p>
            <a:pPr marL="457200" indent="-457200">
              <a:buFont typeface="+mj-lt"/>
              <a:buAutoNum type="arabicPeriod"/>
            </a:pPr>
            <a:endParaRPr lang="en-US" sz="2400" dirty="0">
              <a:latin typeface="Verdana"/>
              <a:ea typeface="Verdana"/>
              <a:cs typeface="Verdana"/>
            </a:endParaRPr>
          </a:p>
          <a:p>
            <a:pPr marL="457200" indent="-457200">
              <a:buFont typeface="+mj-lt"/>
              <a:buAutoNum type="arabicPeriod"/>
            </a:pPr>
            <a:endParaRPr lang="en-US" sz="2400" dirty="0">
              <a:latin typeface="Verdana"/>
              <a:ea typeface="Verdana"/>
              <a:cs typeface="Verdana"/>
            </a:endParaRPr>
          </a:p>
          <a:p>
            <a:pPr marL="457200" indent="-457200">
              <a:buFont typeface="+mj-lt"/>
              <a:buAutoNum type="arabicPeriod"/>
            </a:pPr>
            <a:endParaRPr lang="en-US" sz="2400" dirty="0">
              <a:latin typeface="Verdana"/>
              <a:ea typeface="Verdana"/>
              <a:cs typeface="Verdana"/>
            </a:endParaRPr>
          </a:p>
          <a:p>
            <a:pPr marL="457200" indent="-457200">
              <a:buFont typeface="+mj-lt"/>
              <a:buAutoNum type="arabicPeriod"/>
            </a:pPr>
            <a:r>
              <a:rPr lang="en-US" sz="2400" dirty="0">
                <a:latin typeface="Verdana"/>
                <a:ea typeface="Verdana"/>
                <a:cs typeface="Verdana"/>
              </a:rPr>
              <a:t>The problem below is an example from </a:t>
            </a:r>
            <a:r>
              <a:rPr lang="en-US" sz="2400" i="1" dirty="0">
                <a:latin typeface="Verdana"/>
                <a:ea typeface="Verdana"/>
                <a:cs typeface="Verdana"/>
              </a:rPr>
              <a:t>First Year Algebra</a:t>
            </a:r>
            <a:r>
              <a:rPr lang="en-US" sz="2400" dirty="0">
                <a:latin typeface="Verdana"/>
                <a:ea typeface="Verdana"/>
                <a:cs typeface="Verdana"/>
              </a:rPr>
              <a:t>.</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p:pic>
        <p:nvPicPr>
          <p:cNvPr id="11" name="image1.png" descr="A picture containing text&#10;&#10;Description automatically generated"/>
          <p:cNvPicPr/>
          <p:nvPr/>
        </p:nvPicPr>
        <p:blipFill>
          <a:blip r:embed="rId4">
            <a:extLst>
              <a:ext uri="{BEBA8EAE-BF5A-486C-A8C5-ECC9F3942E4B}">
                <a14:imgProps xmlns:a14="http://schemas.microsoft.com/office/drawing/2010/main">
                  <a14:imgLayer r:embed="rId5">
                    <a14:imgEffect>
                      <a14:sharpenSoften amount="50000"/>
                    </a14:imgEffect>
                  </a14:imgLayer>
                </a14:imgProps>
              </a:ext>
            </a:extLst>
          </a:blip>
          <a:srcRect/>
          <a:stretch>
            <a:fillRect/>
          </a:stretch>
        </p:blipFill>
        <p:spPr>
          <a:xfrm>
            <a:off x="2348401" y="4198620"/>
            <a:ext cx="6889115" cy="1691640"/>
          </a:xfrm>
          <a:prstGeom prst="rect">
            <a:avLst/>
          </a:prstGeom>
          <a:ln/>
        </p:spPr>
      </p:pic>
      <p:grpSp>
        <p:nvGrpSpPr>
          <p:cNvPr id="12" name="Group 11"/>
          <p:cNvGrpSpPr/>
          <p:nvPr/>
        </p:nvGrpSpPr>
        <p:grpSpPr>
          <a:xfrm>
            <a:off x="2141390" y="1484257"/>
            <a:ext cx="8040835" cy="1359783"/>
            <a:chOff x="-1" y="1"/>
            <a:chExt cx="8040835" cy="1359952"/>
          </a:xfrm>
        </p:grpSpPr>
        <p:sp>
          <p:nvSpPr>
            <p:cNvPr id="13" name="Rounded Rectangle 12"/>
            <p:cNvSpPr/>
            <p:nvPr/>
          </p:nvSpPr>
          <p:spPr>
            <a:xfrm>
              <a:off x="-1" y="1"/>
              <a:ext cx="8040835" cy="1359952"/>
            </a:xfrm>
            <a:prstGeom prst="roundRect">
              <a:avLst>
                <a:gd name="adj" fmla="val 16667"/>
              </a:avLst>
            </a:prstGeom>
            <a:solidFill>
              <a:srgbClr val="F7D1D5"/>
            </a:solidFill>
            <a:ln>
              <a:noFill/>
            </a:ln>
            <a:effectLst>
              <a:outerShdw blurRad="50800" dist="38100" dir="2700000" algn="tl" rotWithShape="0">
                <a:prstClr val="black">
                  <a:alpha val="40000"/>
                </a:prstClr>
              </a:outerShdw>
            </a:effectLst>
          </p:spPr>
          <p:txBody>
            <a:bodyPr spcFirstLastPara="1" wrap="square" lIns="91425" tIns="91440" rIns="91425" bIns="45700" anchor="ctr" anchorCtr="0">
              <a:spAutoFit/>
            </a:bodyPr>
            <a:lstStyle/>
            <a:p>
              <a:pPr marL="742950">
                <a:lnSpc>
                  <a:spcPct val="107000"/>
                </a:lnSpc>
                <a:spcAft>
                  <a:spcPts val="800"/>
                </a:spcAft>
              </a:pPr>
              <a:r>
                <a:rPr lang="en-US" sz="2000" dirty="0">
                  <a:solidFill>
                    <a:srgbClr val="E04F5F"/>
                  </a:solidFill>
                  <a:latin typeface="Verdana" pitchFamily="34" charset="0"/>
                  <a:ea typeface="Verdana" pitchFamily="34" charset="0"/>
                  <a:cs typeface="Verdana"/>
                </a:rPr>
                <a:t>An order of operations was first noted in First Year Algebra by Webster Wells and Walter Wilson Hart. </a:t>
              </a:r>
              <a:br>
                <a:rPr lang="en-US" sz="2000" dirty="0">
                  <a:solidFill>
                    <a:srgbClr val="E04F5F"/>
                  </a:solidFill>
                  <a:latin typeface="Verdana" pitchFamily="34" charset="0"/>
                  <a:ea typeface="Verdana" pitchFamily="34" charset="0"/>
                  <a:cs typeface="Verdana"/>
                </a:rPr>
              </a:br>
              <a:r>
                <a:rPr lang="en-US" sz="2000" dirty="0">
                  <a:solidFill>
                    <a:srgbClr val="E04F5F"/>
                  </a:solidFill>
                  <a:latin typeface="Verdana" pitchFamily="34" charset="0"/>
                  <a:ea typeface="Verdana" pitchFamily="34" charset="0"/>
                  <a:cs typeface="Verdana"/>
                </a:rPr>
                <a:t>The textbook was published in 1912.</a:t>
              </a:r>
              <a:endParaRPr lang="en-US" sz="1600" i="1" dirty="0">
                <a:latin typeface="Cambria Math"/>
                <a:ea typeface="Cambria Math"/>
                <a:cs typeface="Cambria Math"/>
              </a:endParaRPr>
            </a:p>
          </p:txBody>
        </p:sp>
        <p:pic>
          <p:nvPicPr>
            <p:cNvPr id="14" name="image20.png" descr="A picture containing icon&#10;&#10;Description automatically generated"/>
            <p:cNvPicPr/>
            <p:nvPr/>
          </p:nvPicPr>
          <p:blipFill>
            <a:blip r:embed="rId6" cstate="screen">
              <a:extLst>
                <a:ext uri="{28A0092B-C50C-407E-A947-70E740481C1C}">
                  <a14:useLocalDpi xmlns:a14="http://schemas.microsoft.com/office/drawing/2010/main"/>
                </a:ext>
              </a:extLst>
            </a:blip>
            <a:srcRect/>
            <a:stretch>
              <a:fillRect/>
            </a:stretch>
          </p:blipFill>
          <p:spPr>
            <a:xfrm>
              <a:off x="188259" y="357493"/>
              <a:ext cx="539750" cy="539750"/>
            </a:xfrm>
            <a:prstGeom prst="rect">
              <a:avLst/>
            </a:prstGeom>
            <a:ln/>
            <a:effectLst>
              <a:outerShdw blurRad="50800" dist="38100" dir="2700000" algn="tl" rotWithShape="0">
                <a:prstClr val="black">
                  <a:alpha val="40000"/>
                </a:prstClr>
              </a:outerShdw>
            </a:effectLst>
          </p:spPr>
        </p:pic>
      </p:grpSp>
      <p:sp>
        <p:nvSpPr>
          <p:cNvPr id="15" name="Google Shape;282;g104476d1465_1_17"/>
          <p:cNvSpPr txBox="1"/>
          <p:nvPr/>
        </p:nvSpPr>
        <p:spPr>
          <a:xfrm>
            <a:off x="8672903"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266</a:t>
            </a:r>
            <a:endParaRPr i="1" dirty="0">
              <a:latin typeface="Calibri"/>
              <a:ea typeface="Calibri"/>
              <a:cs typeface="Calibri"/>
              <a:sym typeface="Calibri"/>
            </a:endParaRPr>
          </a:p>
        </p:txBody>
      </p:sp>
      <p:pic>
        <p:nvPicPr>
          <p:cNvPr id="17" name="Google Shape;283;g104476d1465_1_17"/>
          <p:cNvPicPr preferRelativeResize="0"/>
          <p:nvPr/>
        </p:nvPicPr>
        <p:blipFill>
          <a:blip r:embed="rId7" cstate="screen">
            <a:alphaModFix/>
            <a:extLst>
              <a:ext uri="{28A0092B-C50C-407E-A947-70E740481C1C}">
                <a14:useLocalDpi xmlns:a14="http://schemas.microsoft.com/office/drawing/2010/main"/>
              </a:ext>
            </a:extLst>
          </a:blip>
          <a:stretch>
            <a:fillRect/>
          </a:stretch>
        </p:blipFill>
        <p:spPr>
          <a:xfrm>
            <a:off x="11411129"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6744370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TextBox 13">
            <a:extLst>
              <a:ext uri="{FF2B5EF4-FFF2-40B4-BE49-F238E27FC236}">
                <a16:creationId xmlns:a16="http://schemas.microsoft.com/office/drawing/2014/main" id="{2FA392D8-3ED3-7940-83A8-1451AA8A08D4}"/>
              </a:ext>
            </a:extLst>
          </p:cNvPr>
          <p:cNvSpPr txBox="1"/>
          <p:nvPr/>
        </p:nvSpPr>
        <p:spPr>
          <a:xfrm>
            <a:off x="1075765" y="520394"/>
            <a:ext cx="10191136" cy="4524315"/>
          </a:xfrm>
          <a:prstGeom prst="rect">
            <a:avLst/>
          </a:prstGeom>
          <a:noFill/>
        </p:spPr>
        <p:txBody>
          <a:bodyPr wrap="square" rtlCol="0">
            <a:spAutoFit/>
          </a:bodyPr>
          <a:lstStyle/>
          <a:p>
            <a:pPr marL="914400" indent="-457200">
              <a:buFont typeface="+mj-lt"/>
              <a:buAutoNum type="alphaLcPeriod"/>
            </a:pPr>
            <a:r>
              <a:rPr lang="en-US" sz="2400" dirty="0">
                <a:latin typeface="Verdana"/>
                <a:ea typeface="Verdana"/>
                <a:cs typeface="Verdana"/>
              </a:rPr>
              <a:t>What is the numerical value of the expression?  Show your work.</a:t>
            </a:r>
          </a:p>
          <a:p>
            <a:pPr marL="914400" indent="-457200">
              <a:buFont typeface="+mj-lt"/>
              <a:buAutoNum type="alphaLcPeriod"/>
            </a:pPr>
            <a:endParaRPr lang="en-PH" sz="2400" dirty="0">
              <a:latin typeface="Verdana"/>
              <a:ea typeface="Verdana"/>
              <a:cs typeface="Verdana"/>
            </a:endParaRPr>
          </a:p>
          <a:p>
            <a:pPr marL="914400" indent="-457200">
              <a:buFont typeface="+mj-lt"/>
              <a:buAutoNum type="alphaLcPeriod"/>
            </a:pPr>
            <a:endParaRPr lang="en-PH" sz="2400" dirty="0">
              <a:latin typeface="Verdana"/>
              <a:ea typeface="Verdana"/>
              <a:cs typeface="Verdana"/>
            </a:endParaRPr>
          </a:p>
          <a:p>
            <a:pPr marL="914400" indent="-457200">
              <a:buFont typeface="+mj-lt"/>
              <a:buAutoNum type="alphaLcPeriod"/>
            </a:pPr>
            <a:endParaRPr lang="en-PH" sz="2400" dirty="0">
              <a:latin typeface="Verdana"/>
              <a:ea typeface="Verdana"/>
              <a:cs typeface="Verdana"/>
            </a:endParaRPr>
          </a:p>
          <a:p>
            <a:pPr marL="914400" indent="-457200">
              <a:buFont typeface="+mj-lt"/>
              <a:buAutoNum type="alphaLcPeriod"/>
            </a:pPr>
            <a:endParaRPr lang="en-US" sz="2400" dirty="0">
              <a:latin typeface="Verdana"/>
              <a:ea typeface="Verdana"/>
              <a:cs typeface="Verdana"/>
            </a:endParaRPr>
          </a:p>
          <a:p>
            <a:pPr marL="914400" indent="-457200">
              <a:buFont typeface="+mj-lt"/>
              <a:buAutoNum type="alphaLcPeriod"/>
            </a:pPr>
            <a:endParaRPr lang="en-PH" sz="2400" dirty="0">
              <a:latin typeface="Verdana"/>
              <a:ea typeface="Verdana"/>
              <a:cs typeface="Verdana" panose="020B0604030504040204" pitchFamily="34" charset="0"/>
            </a:endParaRPr>
          </a:p>
          <a:p>
            <a:pPr marL="914400" indent="-457200">
              <a:buFont typeface="+mj-lt"/>
              <a:buAutoNum type="alphaLcPeriod"/>
            </a:pPr>
            <a:endParaRPr lang="en-PH" sz="2400" dirty="0">
              <a:latin typeface="Verdana"/>
              <a:ea typeface="Verdana"/>
              <a:cs typeface="Verdana" panose="020B0604030504040204" pitchFamily="34" charset="0"/>
            </a:endParaRPr>
          </a:p>
          <a:p>
            <a:pPr marL="914400" indent="-457200">
              <a:buFont typeface="+mj-lt"/>
              <a:buAutoNum type="alphaLcPeriod"/>
            </a:pPr>
            <a:endParaRPr lang="en-PH" sz="2400" dirty="0">
              <a:latin typeface="Verdana"/>
              <a:ea typeface="Verdana"/>
              <a:cs typeface="Verdana" panose="020B0604030504040204" pitchFamily="34" charset="0"/>
            </a:endParaRPr>
          </a:p>
          <a:p>
            <a:pPr marL="914400" indent="-457200">
              <a:buFont typeface="+mj-lt"/>
              <a:buAutoNum type="alphaLcPeriod"/>
            </a:pPr>
            <a:endParaRPr lang="en-PH" sz="2400" dirty="0">
              <a:latin typeface="Verdana"/>
              <a:ea typeface="Verdana"/>
              <a:cs typeface="Verdana" panose="020B0604030504040204" pitchFamily="34" charset="0"/>
            </a:endParaRPr>
          </a:p>
          <a:p>
            <a:pPr marL="914400" indent="-457200">
              <a:buFont typeface="+mj-lt"/>
              <a:buAutoNum type="alphaLcPeriod"/>
            </a:pPr>
            <a:endParaRPr lang="en-PH" sz="2400" dirty="0">
              <a:latin typeface="Verdana"/>
              <a:ea typeface="Verdana"/>
              <a:cs typeface="Verdana" panose="020B0604030504040204" pitchFamily="34" charset="0"/>
            </a:endParaRPr>
          </a:p>
          <a:p>
            <a:pPr marL="914400" indent="-457200">
              <a:buFont typeface="+mj-lt"/>
              <a:buAutoNum type="alphaLcPeriod"/>
            </a:pPr>
            <a:r>
              <a:rPr lang="en-US" sz="2400" dirty="0">
                <a:latin typeface="Verdana"/>
                <a:ea typeface="Verdana"/>
                <a:cs typeface="Verdana"/>
              </a:rPr>
              <a:t>Check your work with your partner.</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7" name="Google Shape;282;g104476d1465_1_17"/>
          <p:cNvSpPr txBox="1"/>
          <p:nvPr/>
        </p:nvSpPr>
        <p:spPr>
          <a:xfrm>
            <a:off x="8672903"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266</a:t>
            </a:r>
            <a:endParaRPr i="1" dirty="0">
              <a:latin typeface="Calibri"/>
              <a:ea typeface="Calibri"/>
              <a:cs typeface="Calibri"/>
              <a:sym typeface="Calibri"/>
            </a:endParaRPr>
          </a:p>
        </p:txBody>
      </p:sp>
      <p:pic>
        <p:nvPicPr>
          <p:cNvPr id="8"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11129"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3206266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TextBox 13">
            <a:extLst>
              <a:ext uri="{FF2B5EF4-FFF2-40B4-BE49-F238E27FC236}">
                <a16:creationId xmlns:a16="http://schemas.microsoft.com/office/drawing/2014/main" id="{2FA392D8-3ED3-7940-83A8-1451AA8A08D4}"/>
              </a:ext>
            </a:extLst>
          </p:cNvPr>
          <p:cNvSpPr txBox="1"/>
          <p:nvPr/>
        </p:nvSpPr>
        <p:spPr>
          <a:xfrm>
            <a:off x="1250576" y="520393"/>
            <a:ext cx="9841514" cy="3046988"/>
          </a:xfrm>
          <a:prstGeom prst="rect">
            <a:avLst/>
          </a:prstGeom>
          <a:noFill/>
        </p:spPr>
        <p:txBody>
          <a:bodyPr wrap="square" rtlCol="0">
            <a:spAutoFit/>
          </a:bodyPr>
          <a:lstStyle/>
          <a:p>
            <a:pPr marL="914400" indent="-457200">
              <a:buFont typeface="+mj-lt"/>
              <a:buAutoNum type="alphaLcPeriod" startAt="3"/>
            </a:pPr>
            <a:r>
              <a:rPr lang="en-US" sz="2400" dirty="0">
                <a:latin typeface="Verdana"/>
                <a:ea typeface="Verdana"/>
                <a:cs typeface="Verdana"/>
              </a:rPr>
              <a:t>The work shown in the textbook is below.</a:t>
            </a:r>
          </a:p>
          <a:p>
            <a:pPr marL="914400" indent="-457200">
              <a:buFont typeface="+mj-lt"/>
              <a:buAutoNum type="alphaLcPeriod" startAt="3"/>
            </a:pPr>
            <a:endParaRPr lang="en-PH" sz="2400" dirty="0">
              <a:latin typeface="Verdana"/>
              <a:ea typeface="Verdana"/>
              <a:cs typeface="Verdana" panose="020B0604030504040204" pitchFamily="34" charset="0"/>
            </a:endParaRPr>
          </a:p>
          <a:p>
            <a:pPr marL="914400" indent="-457200">
              <a:buFont typeface="+mj-lt"/>
              <a:buAutoNum type="alphaLcPeriod" startAt="3"/>
            </a:pPr>
            <a:endParaRPr lang="en-PH" sz="2400" dirty="0">
              <a:latin typeface="Verdana"/>
              <a:ea typeface="Verdana"/>
              <a:cs typeface="Verdana" panose="020B0604030504040204" pitchFamily="34" charset="0"/>
            </a:endParaRPr>
          </a:p>
          <a:p>
            <a:pPr marL="914400" indent="-457200">
              <a:buFont typeface="+mj-lt"/>
              <a:buAutoNum type="alphaLcPeriod" startAt="3"/>
            </a:pPr>
            <a:endParaRPr lang="en-PH" sz="2400" dirty="0">
              <a:latin typeface="Verdana"/>
              <a:ea typeface="Verdana"/>
              <a:cs typeface="Verdana" panose="020B0604030504040204" pitchFamily="34" charset="0"/>
            </a:endParaRPr>
          </a:p>
          <a:p>
            <a:pPr marL="914400" indent="-457200">
              <a:buFont typeface="+mj-lt"/>
              <a:buAutoNum type="alphaLcPeriod" startAt="3"/>
            </a:pPr>
            <a:endParaRPr lang="en-PH" sz="2400" dirty="0">
              <a:latin typeface="Verdana"/>
              <a:ea typeface="Verdana"/>
              <a:cs typeface="Verdana" panose="020B0604030504040204" pitchFamily="34" charset="0"/>
            </a:endParaRPr>
          </a:p>
          <a:p>
            <a:pPr marL="914400" indent="-457200">
              <a:buFont typeface="+mj-lt"/>
              <a:buAutoNum type="alphaLcPeriod" startAt="3"/>
            </a:pPr>
            <a:endParaRPr lang="en-PH" sz="2400" dirty="0">
              <a:latin typeface="Verdana"/>
              <a:ea typeface="Verdana"/>
              <a:cs typeface="Verdana" panose="020B0604030504040204" pitchFamily="34" charset="0"/>
            </a:endParaRPr>
          </a:p>
          <a:p>
            <a:pPr marL="914400"/>
            <a:r>
              <a:rPr lang="en-US" sz="2400" dirty="0">
                <a:latin typeface="Verdana"/>
                <a:ea typeface="Verdana"/>
                <a:cs typeface="Verdana"/>
              </a:rPr>
              <a:t>What is the difference between your work and the work from the book?</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p:pic>
        <p:nvPicPr>
          <p:cNvPr id="6" name="image2.png" descr="A picture containing chart&#10;&#10;Description automatically generated"/>
          <p:cNvPicPr/>
          <p:nvPr/>
        </p:nvPicPr>
        <p:blipFill rotWithShape="1">
          <a:blip r:embed="rId3">
            <a:extLst>
              <a:ext uri="{BEBA8EAE-BF5A-486C-A8C5-ECC9F3942E4B}">
                <a14:imgProps xmlns:a14="http://schemas.microsoft.com/office/drawing/2010/main">
                  <a14:imgLayer r:embed="rId4">
                    <a14:imgEffect>
                      <a14:sharpenSoften amount="50000"/>
                    </a14:imgEffect>
                  </a14:imgLayer>
                </a14:imgProps>
              </a:ext>
            </a:extLst>
          </a:blip>
          <a:srcRect r="4677"/>
          <a:stretch/>
        </p:blipFill>
        <p:spPr bwMode="auto">
          <a:xfrm>
            <a:off x="2899093" y="1323043"/>
            <a:ext cx="6870065" cy="905510"/>
          </a:xfrm>
          <a:prstGeom prst="rect">
            <a:avLst/>
          </a:prstGeom>
          <a:ln>
            <a:noFill/>
          </a:ln>
          <a:extLst>
            <a:ext uri="{53640926-AAD7-44D8-BBD7-CCE9431645EC}">
              <a14:shadowObscured xmlns:a14="http://schemas.microsoft.com/office/drawing/2010/main"/>
            </a:ext>
          </a:extLst>
        </p:spPr>
      </p:pic>
      <p:sp>
        <p:nvSpPr>
          <p:cNvPr id="8" name="Google Shape;282;g104476d1465_1_17"/>
          <p:cNvSpPr txBox="1"/>
          <p:nvPr/>
        </p:nvSpPr>
        <p:spPr>
          <a:xfrm>
            <a:off x="8672903"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266</a:t>
            </a:r>
            <a:endParaRPr i="1" dirty="0">
              <a:latin typeface="Calibri"/>
              <a:ea typeface="Calibri"/>
              <a:cs typeface="Calibri"/>
              <a:sym typeface="Calibri"/>
            </a:endParaRPr>
          </a:p>
        </p:txBody>
      </p:sp>
      <p:pic>
        <p:nvPicPr>
          <p:cNvPr id="9"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11129"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2996924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pSp>
        <p:nvGrpSpPr>
          <p:cNvPr id="7" name="Group 6"/>
          <p:cNvGrpSpPr/>
          <p:nvPr/>
        </p:nvGrpSpPr>
        <p:grpSpPr>
          <a:xfrm>
            <a:off x="2105025" y="525931"/>
            <a:ext cx="8096250" cy="2632075"/>
            <a:chOff x="0" y="-2"/>
            <a:chExt cx="8096250" cy="2632212"/>
          </a:xfrm>
        </p:grpSpPr>
        <p:sp>
          <p:nvSpPr>
            <p:cNvPr id="8" name="Rounded Rectangle 7"/>
            <p:cNvSpPr/>
            <p:nvPr/>
          </p:nvSpPr>
          <p:spPr>
            <a:xfrm>
              <a:off x="0" y="-2"/>
              <a:ext cx="8096250" cy="2632212"/>
            </a:xfrm>
            <a:prstGeom prst="roundRect">
              <a:avLst>
                <a:gd name="adj" fmla="val 16667"/>
              </a:avLst>
            </a:prstGeom>
            <a:solidFill>
              <a:srgbClr val="F7D1D5"/>
            </a:solidFill>
            <a:ln>
              <a:noFill/>
            </a:ln>
          </p:spPr>
          <p:txBody>
            <a:bodyPr spcFirstLastPara="1" wrap="square" lIns="91425" tIns="45700" rIns="91425" bIns="45700" anchor="t" anchorCtr="0">
              <a:noAutofit/>
            </a:bodyPr>
            <a:lstStyle/>
            <a:p>
              <a:pPr marL="685800">
                <a:lnSpc>
                  <a:spcPct val="107000"/>
                </a:lnSpc>
              </a:pPr>
              <a:r>
                <a:rPr lang="en-US" sz="2000" dirty="0">
                  <a:solidFill>
                    <a:srgbClr val="F23E5B"/>
                  </a:solidFill>
                  <a:latin typeface="Verdana" pitchFamily="34" charset="0"/>
                  <a:ea typeface="Verdana" pitchFamily="34" charset="0"/>
                  <a:cs typeface="Verdana"/>
                </a:rPr>
                <a:t>An order of operations became more important when programmers needed a set of rules to program a computer to find values of numeric expressions. In 1883, Ada Lovelace described in her book about Charles Babbage's analytical engine, the first computer, that codes could be created so the device could handle letters and symbols along with numbers.</a:t>
              </a:r>
              <a:endParaRPr lang="en-US" sz="2000" i="1" dirty="0">
                <a:latin typeface="Verdana" pitchFamily="34" charset="0"/>
                <a:ea typeface="Verdana" pitchFamily="34" charset="0"/>
                <a:cs typeface="Cambria Math"/>
              </a:endParaRPr>
            </a:p>
            <a:p>
              <a:pPr marL="685800" indent="1485900">
                <a:lnSpc>
                  <a:spcPct val="107000"/>
                </a:lnSpc>
                <a:spcAft>
                  <a:spcPts val="800"/>
                </a:spcAft>
              </a:pPr>
              <a:r>
                <a:rPr lang="en-US" sz="2000" i="1" dirty="0">
                  <a:solidFill>
                    <a:srgbClr val="F23E5B"/>
                  </a:solidFill>
                  <a:latin typeface="Verdana" pitchFamily="34" charset="0"/>
                  <a:ea typeface="Verdana" pitchFamily="34" charset="0"/>
                  <a:cs typeface="Cambria Math"/>
                </a:rPr>
                <a:t> </a:t>
              </a:r>
              <a:endParaRPr lang="en-US" sz="2000" i="1" dirty="0">
                <a:latin typeface="Verdana" pitchFamily="34" charset="0"/>
                <a:ea typeface="Verdana" pitchFamily="34" charset="0"/>
                <a:cs typeface="Cambria Math"/>
              </a:endParaRPr>
            </a:p>
          </p:txBody>
        </p:sp>
        <p:pic>
          <p:nvPicPr>
            <p:cNvPr id="9" name="image20.png" descr="A picture containing icon&#10;&#10;Description automatically generated"/>
            <p:cNvPicPr/>
            <p:nvPr/>
          </p:nvPicPr>
          <p:blipFill>
            <a:blip r:embed="rId3" cstate="screen">
              <a:extLst>
                <a:ext uri="{28A0092B-C50C-407E-A947-70E740481C1C}">
                  <a14:useLocalDpi xmlns:a14="http://schemas.microsoft.com/office/drawing/2010/main"/>
                </a:ext>
              </a:extLst>
            </a:blip>
            <a:srcRect/>
            <a:stretch>
              <a:fillRect/>
            </a:stretch>
          </p:blipFill>
          <p:spPr>
            <a:xfrm>
              <a:off x="188259" y="147917"/>
              <a:ext cx="539750" cy="539750"/>
            </a:xfrm>
            <a:prstGeom prst="rect">
              <a:avLst/>
            </a:prstGeom>
            <a:ln/>
          </p:spPr>
        </p:pic>
      </p:grpSp>
      <p:sp>
        <p:nvSpPr>
          <p:cNvPr id="11" name="Google Shape;282;g104476d1465_1_17"/>
          <p:cNvSpPr txBox="1"/>
          <p:nvPr/>
        </p:nvSpPr>
        <p:spPr>
          <a:xfrm>
            <a:off x="8672903"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266</a:t>
            </a:r>
            <a:endParaRPr i="1" dirty="0">
              <a:latin typeface="Calibri"/>
              <a:ea typeface="Calibri"/>
              <a:cs typeface="Calibri"/>
              <a:sym typeface="Calibri"/>
            </a:endParaRPr>
          </a:p>
        </p:txBody>
      </p:sp>
      <p:pic>
        <p:nvPicPr>
          <p:cNvPr id="12"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11129"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3941463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id="{2AC58C8F-2DD8-F347-9ECA-58EE9E1B7E9C}"/>
              </a:ext>
            </a:extLst>
          </p:cNvPr>
          <p:cNvPicPr preferRelativeResize="0"/>
          <p:nvPr/>
        </p:nvPicPr>
        <p:blipFill rotWithShape="1">
          <a:blip r:embed="rId3">
            <a:alphaModFix/>
          </a:blip>
          <a:srcRect/>
          <a:stretch/>
        </p:blipFill>
        <p:spPr>
          <a:xfrm>
            <a:off x="4519075" y="2849920"/>
            <a:ext cx="1145792" cy="1158150"/>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p:cNvSpPr txBox="1"/>
          <p:nvPr/>
        </p:nvSpPr>
        <p:spPr>
          <a:xfrm>
            <a:off x="8672903"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267</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11129"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926444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269274" y="-47539"/>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54B5D1"/>
                </a:solidFill>
                <a:latin typeface="Verdana"/>
                <a:ea typeface="Verdana"/>
                <a:cs typeface="Verdana"/>
                <a:sym typeface="Verdana"/>
              </a:rPr>
              <a:t>13.1.4 Guided Instruction: Evaluating Expressions with Exponents</a:t>
            </a:r>
          </a:p>
        </p:txBody>
      </p:sp>
      <p:pic>
        <p:nvPicPr>
          <p:cNvPr id="9" name="Google Shape;345;g103996e1364_0_321">
            <a:extLst>
              <a:ext uri="{FF2B5EF4-FFF2-40B4-BE49-F238E27FC236}">
                <a16:creationId xmlns:a16="http://schemas.microsoft.com/office/drawing/2014/main" id="{CBDD45DF-949B-9F42-BFF6-A7167F0CF795}"/>
              </a:ext>
            </a:extLst>
          </p:cNvPr>
          <p:cNvPicPr preferRelativeResize="0"/>
          <p:nvPr/>
        </p:nvPicPr>
        <p:blipFill rotWithShape="1">
          <a:blip r:embed="rId3">
            <a:alphaModFix/>
          </a:blip>
          <a:srcRect/>
          <a:stretch/>
        </p:blipFill>
        <p:spPr>
          <a:xfrm>
            <a:off x="521974" y="159725"/>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C01B13E8-EC8D-E443-A329-C5E3593DD13A}"/>
                  </a:ext>
                </a:extLst>
              </p:cNvPr>
              <p:cNvSpPr txBox="1"/>
              <p:nvPr/>
            </p:nvSpPr>
            <p:spPr>
              <a:xfrm>
                <a:off x="1269274" y="1386026"/>
                <a:ext cx="9909484" cy="1200329"/>
              </a:xfrm>
              <a:prstGeom prst="rect">
                <a:avLst/>
              </a:prstGeom>
              <a:noFill/>
            </p:spPr>
            <p:txBody>
              <a:bodyPr wrap="square" rtlCol="0">
                <a:spAutoFit/>
              </a:bodyPr>
              <a:lstStyle/>
              <a:p>
                <a:r>
                  <a:rPr lang="en-US" sz="2400" dirty="0">
                    <a:latin typeface="Verdana"/>
                    <a:ea typeface="Verdana"/>
                    <a:cs typeface="Verdana"/>
                  </a:rPr>
                  <a:t>The work in the book, </a:t>
                </a:r>
                <a:r>
                  <a:rPr lang="en-US" sz="2400" i="1" dirty="0">
                    <a:latin typeface="Verdana"/>
                    <a:ea typeface="Verdana"/>
                    <a:cs typeface="Verdana"/>
                  </a:rPr>
                  <a:t>First Year Algebra</a:t>
                </a:r>
                <a:r>
                  <a:rPr lang="en-US" sz="2400" dirty="0">
                    <a:latin typeface="Verdana"/>
                    <a:ea typeface="Verdana"/>
                    <a:cs typeface="Verdana"/>
                  </a:rPr>
                  <a:t>, showed </a:t>
                </a:r>
                <a14:m>
                  <m:oMath xmlns:m="http://schemas.openxmlformats.org/officeDocument/2006/math">
                    <m:sSup>
                      <m:sSupPr>
                        <m:ctrlPr>
                          <a:rPr lang="en-US" sz="2400" i="1">
                            <a:latin typeface="Cambria Math" panose="02040503050406030204" pitchFamily="18" charset="0"/>
                          </a:rPr>
                        </m:ctrlPr>
                      </m:sSupPr>
                      <m:e>
                        <m:r>
                          <a:rPr lang="en-US" sz="2400">
                            <a:latin typeface="Cambria Math"/>
                            <a:ea typeface="Cambria Math"/>
                            <a:cs typeface="Cambria Math"/>
                          </a:rPr>
                          <m:t>2</m:t>
                        </m:r>
                      </m:e>
                      <m:sup>
                        <m:r>
                          <a:rPr lang="en-US" sz="2400">
                            <a:latin typeface="Cambria Math"/>
                            <a:ea typeface="Cambria Math"/>
                            <a:cs typeface="Cambria Math"/>
                          </a:rPr>
                          <m:t>3</m:t>
                        </m:r>
                      </m:sup>
                    </m:sSup>
                  </m:oMath>
                </a14:m>
                <a:r>
                  <a:rPr lang="en-US" sz="2400" dirty="0">
                    <a:latin typeface="Verdana"/>
                    <a:ea typeface="Verdana"/>
                    <a:cs typeface="Verdana"/>
                  </a:rPr>
                  <a:t> written out as multiplication. This method can get complex as shown in the table.</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3" name="TextBox 12">
                <a:extLst>
                  <a:ext uri="{FF2B5EF4-FFF2-40B4-BE49-F238E27FC236}">
                    <a16:creationId xmlns:a16="http://schemas.microsoft.com/office/drawing/2014/main" xmlns:a14="http://schemas.microsoft.com/office/drawing/2010/main" xmlns="" id="{C01B13E8-EC8D-E443-A329-C5E3593DD13A}"/>
                  </a:ext>
                </a:extLst>
              </p:cNvPr>
              <p:cNvSpPr txBox="1">
                <a:spLocks noRot="1" noChangeAspect="1" noMove="1" noResize="1" noEditPoints="1" noAdjustHandles="1" noChangeArrowheads="1" noChangeShapeType="1" noTextEdit="1"/>
              </p:cNvSpPr>
              <p:nvPr/>
            </p:nvSpPr>
            <p:spPr>
              <a:xfrm>
                <a:off x="1269274" y="1386026"/>
                <a:ext cx="9909484" cy="1200329"/>
              </a:xfrm>
              <a:prstGeom prst="rect">
                <a:avLst/>
              </a:prstGeom>
              <a:blipFill rotWithShape="0">
                <a:blip r:embed="rId4"/>
                <a:stretch>
                  <a:fillRect l="-923" t="-4569" b="-1066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4006402170"/>
                  </p:ext>
                </p:extLst>
              </p:nvPr>
            </p:nvGraphicFramePr>
            <p:xfrm>
              <a:off x="3276600" y="2827370"/>
              <a:ext cx="5524500" cy="1475741"/>
            </p:xfrm>
            <a:graphic>
              <a:graphicData uri="http://schemas.openxmlformats.org/drawingml/2006/table">
                <a:tbl>
                  <a:tblPr bandRow="1">
                    <a:tableStyleId>{A91F0D33-8C57-4600-99A7-42BC86742BE1}</a:tableStyleId>
                  </a:tblPr>
                  <a:tblGrid>
                    <a:gridCol w="5524500">
                      <a:extLst>
                        <a:ext uri="{9D8B030D-6E8A-4147-A177-3AD203B41FA5}">
                          <a16:colId xmlns:a16="http://schemas.microsoft.com/office/drawing/2014/main" val="20000"/>
                        </a:ext>
                      </a:extLst>
                    </a:gridCol>
                  </a:tblGrid>
                  <a:tr h="0">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sSup>
                                  <m:sSupPr>
                                    <m:ctrlPr>
                                      <a:rPr lang="en-US" sz="2000" b="1" i="1" smtClean="0">
                                        <a:solidFill>
                                          <a:srgbClr val="FF0000"/>
                                        </a:solidFill>
                                        <a:effectLst/>
                                        <a:latin typeface="Cambria Math" panose="02040503050406030204" pitchFamily="18" charset="0"/>
                                        <a:ea typeface="Cambria Math" pitchFamily="18" charset="0"/>
                                      </a:rPr>
                                    </m:ctrlPr>
                                  </m:sSupPr>
                                  <m:e>
                                    <m:r>
                                      <a:rPr lang="en-US" sz="2000" b="1">
                                        <a:solidFill>
                                          <a:srgbClr val="FF0000"/>
                                        </a:solidFill>
                                        <a:effectLst/>
                                        <a:latin typeface="Cambria Math" pitchFamily="18" charset="0"/>
                                        <a:ea typeface="Cambria Math" pitchFamily="18" charset="0"/>
                                      </a:rPr>
                                      <m:t>(−</m:t>
                                    </m:r>
                                    <m:r>
                                      <a:rPr lang="en-US" sz="2000" b="1">
                                        <a:solidFill>
                                          <a:srgbClr val="FF0000"/>
                                        </a:solidFill>
                                        <a:effectLst/>
                                        <a:latin typeface="Cambria Math" pitchFamily="18" charset="0"/>
                                        <a:ea typeface="Cambria Math" pitchFamily="18" charset="0"/>
                                      </a:rPr>
                                      <m:t>𝟑</m:t>
                                    </m:r>
                                    <m:r>
                                      <a:rPr lang="en-US" sz="2000" b="1">
                                        <a:solidFill>
                                          <a:srgbClr val="FF0000"/>
                                        </a:solidFill>
                                        <a:effectLst/>
                                        <a:latin typeface="Cambria Math" pitchFamily="18" charset="0"/>
                                        <a:ea typeface="Cambria Math" pitchFamily="18" charset="0"/>
                                      </a:rPr>
                                      <m:t>)</m:t>
                                    </m:r>
                                  </m:e>
                                  <m:sup>
                                    <m:r>
                                      <a:rPr lang="en-US" sz="2000" b="1">
                                        <a:solidFill>
                                          <a:srgbClr val="FF0000"/>
                                        </a:solidFill>
                                        <a:effectLst/>
                                        <a:latin typeface="Cambria Math" pitchFamily="18" charset="0"/>
                                        <a:ea typeface="Cambria Math" pitchFamily="18" charset="0"/>
                                      </a:rPr>
                                      <m:t>𝟑</m:t>
                                    </m:r>
                                  </m:sup>
                                </m:sSup>
                                <m:r>
                                  <a:rPr lang="en-US" sz="2000" b="1">
                                    <a:effectLst/>
                                    <a:latin typeface="Cambria Math" pitchFamily="18" charset="0"/>
                                    <a:ea typeface="Cambria Math" pitchFamily="18" charset="0"/>
                                  </a:rPr>
                                  <m:t>+</m:t>
                                </m:r>
                                <m:sSup>
                                  <m:sSupPr>
                                    <m:ctrlPr>
                                      <a:rPr lang="en-US" sz="2000" b="1" i="1" smtClean="0">
                                        <a:solidFill>
                                          <a:srgbClr val="417DBF"/>
                                        </a:solidFill>
                                        <a:effectLst/>
                                        <a:latin typeface="Cambria Math" panose="02040503050406030204" pitchFamily="18" charset="0"/>
                                        <a:ea typeface="Cambria Math" pitchFamily="18" charset="0"/>
                                      </a:rPr>
                                    </m:ctrlPr>
                                  </m:sSupPr>
                                  <m:e>
                                    <m:r>
                                      <a:rPr lang="en-US" sz="2000" b="1">
                                        <a:solidFill>
                                          <a:srgbClr val="417DBF"/>
                                        </a:solidFill>
                                        <a:effectLst/>
                                        <a:latin typeface="Cambria Math" pitchFamily="18" charset="0"/>
                                        <a:ea typeface="Cambria Math" pitchFamily="18" charset="0"/>
                                      </a:rPr>
                                      <m:t>𝟐</m:t>
                                    </m:r>
                                  </m:e>
                                  <m:sup>
                                    <m:r>
                                      <a:rPr lang="en-US" sz="2000" b="1">
                                        <a:solidFill>
                                          <a:srgbClr val="417DBF"/>
                                        </a:solidFill>
                                        <a:effectLst/>
                                        <a:latin typeface="Cambria Math" pitchFamily="18" charset="0"/>
                                        <a:ea typeface="Cambria Math" pitchFamily="18" charset="0"/>
                                      </a:rPr>
                                      <m:t>𝟔</m:t>
                                    </m:r>
                                  </m:sup>
                                </m:sSup>
                                <m:r>
                                  <a:rPr lang="en-US" sz="2000" b="1">
                                    <a:effectLst/>
                                    <a:latin typeface="Cambria Math" pitchFamily="18" charset="0"/>
                                    <a:ea typeface="Cambria Math" pitchFamily="18" charset="0"/>
                                  </a:rPr>
                                  <m:t>÷−</m:t>
                                </m:r>
                                <m:r>
                                  <a:rPr lang="en-US" sz="2000" b="1">
                                    <a:effectLst/>
                                    <a:latin typeface="Cambria Math" pitchFamily="18" charset="0"/>
                                    <a:ea typeface="Cambria Math" pitchFamily="18" charset="0"/>
                                  </a:rPr>
                                  <m:t>𝟏𝟔</m:t>
                                </m:r>
                                <m:r>
                                  <a:rPr lang="en-US" sz="2000" b="1">
                                    <a:effectLst/>
                                    <a:latin typeface="Cambria Math" pitchFamily="18" charset="0"/>
                                    <a:ea typeface="Cambria Math" pitchFamily="18" charset="0"/>
                                  </a:rPr>
                                  <m:t>+</m:t>
                                </m:r>
                                <m:r>
                                  <a:rPr lang="en-US" sz="2000" b="1">
                                    <a:effectLst/>
                                    <a:latin typeface="Cambria Math" pitchFamily="18" charset="0"/>
                                    <a:ea typeface="Cambria Math" pitchFamily="18" charset="0"/>
                                  </a:rPr>
                                  <m:t>𝟓</m:t>
                                </m:r>
                              </m:oMath>
                            </m:oMathPara>
                          </a14:m>
                          <a:endParaRPr lang="en-US" sz="2000" b="1" i="1" dirty="0">
                            <a:effectLst/>
                            <a:latin typeface="Cambria Math" pitchFamily="18" charset="0"/>
                            <a:ea typeface="Cambria Math" pitchFamily="18" charset="0"/>
                            <a:cs typeface="Cambria Math"/>
                          </a:endParaRPr>
                        </a:p>
                      </a:txBody>
                      <a:tcPr marL="68580" marR="68580" marT="914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387985">
                    <a:tc>
                      <a:txBody>
                        <a:bodyPr/>
                        <a:lstStyle/>
                        <a:p>
                          <a:pPr algn="ctr">
                            <a:lnSpc>
                              <a:spcPct val="107000"/>
                            </a:lnSpc>
                            <a:spcAft>
                              <a:spcPts val="800"/>
                            </a:spcAft>
                          </a:pPr>
                          <a:r>
                            <a:rPr lang="en-US" sz="2000" i="1" dirty="0">
                              <a:effectLst/>
                              <a:latin typeface="Verdana" pitchFamily="34" charset="0"/>
                              <a:ea typeface="Verdana" pitchFamily="34" charset="0"/>
                            </a:rPr>
                            <a:t>Exponents written as multiplication</a:t>
                          </a:r>
                          <a:endParaRPr lang="en-US" sz="2000" i="1" dirty="0">
                            <a:effectLst/>
                            <a:latin typeface="Verdana" pitchFamily="34" charset="0"/>
                            <a:ea typeface="Verdana" pitchFamily="34" charset="0"/>
                            <a:cs typeface="Cambria Math"/>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87985">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d>
                                  <m:dPr>
                                    <m:ctrlPr>
                                      <a:rPr lang="en-US" sz="2000" i="1" smtClean="0">
                                        <a:solidFill>
                                          <a:srgbClr val="FF0000"/>
                                        </a:solidFill>
                                        <a:effectLst/>
                                        <a:latin typeface="Cambria Math" panose="02040503050406030204" pitchFamily="18" charset="0"/>
                                        <a:ea typeface="Cambria Math" pitchFamily="18" charset="0"/>
                                      </a:rPr>
                                    </m:ctrlPr>
                                  </m:dPr>
                                  <m:e>
                                    <m:d>
                                      <m:dPr>
                                        <m:ctrlPr>
                                          <a:rPr lang="en-US" sz="2000" i="1">
                                            <a:solidFill>
                                              <a:srgbClr val="FF0000"/>
                                            </a:solidFill>
                                            <a:effectLst/>
                                            <a:latin typeface="Cambria Math" panose="02040503050406030204" pitchFamily="18" charset="0"/>
                                            <a:ea typeface="Cambria Math" pitchFamily="18" charset="0"/>
                                          </a:rPr>
                                        </m:ctrlPr>
                                      </m:dPr>
                                      <m:e>
                                        <m:r>
                                          <a:rPr lang="en-US" sz="2000">
                                            <a:solidFill>
                                              <a:srgbClr val="FF0000"/>
                                            </a:solidFill>
                                            <a:effectLst/>
                                            <a:latin typeface="Cambria Math" pitchFamily="18" charset="0"/>
                                            <a:ea typeface="Cambria Math" pitchFamily="18" charset="0"/>
                                          </a:rPr>
                                          <m:t>−3</m:t>
                                        </m:r>
                                      </m:e>
                                    </m:d>
                                    <m:d>
                                      <m:dPr>
                                        <m:ctrlPr>
                                          <a:rPr lang="en-US" sz="2000" i="1">
                                            <a:solidFill>
                                              <a:srgbClr val="FF0000"/>
                                            </a:solidFill>
                                            <a:effectLst/>
                                            <a:latin typeface="Cambria Math" panose="02040503050406030204" pitchFamily="18" charset="0"/>
                                            <a:ea typeface="Cambria Math" pitchFamily="18" charset="0"/>
                                          </a:rPr>
                                        </m:ctrlPr>
                                      </m:dPr>
                                      <m:e>
                                        <m:r>
                                          <a:rPr lang="en-US" sz="2000">
                                            <a:solidFill>
                                              <a:srgbClr val="FF0000"/>
                                            </a:solidFill>
                                            <a:effectLst/>
                                            <a:latin typeface="Cambria Math" pitchFamily="18" charset="0"/>
                                            <a:ea typeface="Cambria Math" pitchFamily="18" charset="0"/>
                                          </a:rPr>
                                          <m:t>−3</m:t>
                                        </m:r>
                                      </m:e>
                                    </m:d>
                                    <m:d>
                                      <m:dPr>
                                        <m:ctrlPr>
                                          <a:rPr lang="en-US" sz="2000" i="1">
                                            <a:solidFill>
                                              <a:srgbClr val="FF0000"/>
                                            </a:solidFill>
                                            <a:effectLst/>
                                            <a:latin typeface="Cambria Math" panose="02040503050406030204" pitchFamily="18" charset="0"/>
                                            <a:ea typeface="Cambria Math" pitchFamily="18" charset="0"/>
                                          </a:rPr>
                                        </m:ctrlPr>
                                      </m:dPr>
                                      <m:e>
                                        <m:r>
                                          <a:rPr lang="en-US" sz="2000">
                                            <a:solidFill>
                                              <a:srgbClr val="FF0000"/>
                                            </a:solidFill>
                                            <a:effectLst/>
                                            <a:latin typeface="Cambria Math" pitchFamily="18" charset="0"/>
                                            <a:ea typeface="Cambria Math" pitchFamily="18" charset="0"/>
                                          </a:rPr>
                                          <m:t>−3</m:t>
                                        </m:r>
                                      </m:e>
                                    </m:d>
                                  </m:e>
                                </m:d>
                                <m:r>
                                  <a:rPr lang="en-US" sz="2000">
                                    <a:effectLst/>
                                    <a:latin typeface="Cambria Math" pitchFamily="18" charset="0"/>
                                    <a:ea typeface="Cambria Math" pitchFamily="18" charset="0"/>
                                  </a:rPr>
                                  <m:t>+</m:t>
                                </m:r>
                                <m:r>
                                  <a:rPr lang="en-US" sz="2000" smtClean="0">
                                    <a:solidFill>
                                      <a:srgbClr val="417DBF"/>
                                    </a:solidFill>
                                    <a:effectLst/>
                                    <a:latin typeface="Cambria Math" pitchFamily="18" charset="0"/>
                                    <a:ea typeface="Cambria Math" pitchFamily="18" charset="0"/>
                                  </a:rPr>
                                  <m:t>(2∙2∙2∙2∙2∙2)</m:t>
                                </m:r>
                                <m:r>
                                  <a:rPr lang="en-US" sz="2000">
                                    <a:effectLst/>
                                    <a:latin typeface="Cambria Math" pitchFamily="18" charset="0"/>
                                    <a:ea typeface="Cambria Math" pitchFamily="18" charset="0"/>
                                  </a:rPr>
                                  <m:t>÷−16+5</m:t>
                                </m:r>
                              </m:oMath>
                            </m:oMathPara>
                          </a14:m>
                          <a:endParaRPr lang="en-US" sz="2000" i="1" dirty="0">
                            <a:effectLst/>
                            <a:latin typeface="Cambria Math" pitchFamily="18" charset="0"/>
                            <a:ea typeface="Cambria Math" pitchFamily="18" charset="0"/>
                            <a:cs typeface="Cambria Math"/>
                          </a:endParaRPr>
                        </a:p>
                      </a:txBody>
                      <a:tcPr marL="68580" marR="68580" marT="914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4006402170"/>
                  </p:ext>
                </p:extLst>
              </p:nvPr>
            </p:nvGraphicFramePr>
            <p:xfrm>
              <a:off x="1752600" y="2827369"/>
              <a:ext cx="5524500" cy="1475741"/>
            </p:xfrm>
            <a:graphic>
              <a:graphicData uri="http://schemas.openxmlformats.org/drawingml/2006/table">
                <a:tbl>
                  <a:tblPr bandRow="1">
                    <a:tableStyleId>{A91F0D33-8C57-4600-99A7-42BC86742BE1}</a:tableStyleId>
                  </a:tblPr>
                  <a:tblGrid>
                    <a:gridCol w="5524500">
                      <a:extLst>
                        <a:ext uri="{9D8B030D-6E8A-4147-A177-3AD203B41FA5}">
                          <a16:colId xmlns:a16="http://schemas.microsoft.com/office/drawing/2014/main" val="20000"/>
                        </a:ext>
                      </a:extLst>
                    </a:gridCol>
                  </a:tblGrid>
                  <a:tr h="526606">
                    <a:tc>
                      <a:txBody>
                        <a:bodyPr/>
                        <a:lstStyle/>
                        <a:p>
                          <a:endParaRPr lang="en-US"/>
                        </a:p>
                      </a:txBody>
                      <a:tcPr marL="68580" marR="68580" marT="914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230" t="-2381" r="-460" b="-180952"/>
                          </a:stretch>
                        </a:blipFill>
                      </a:tcPr>
                    </a:tc>
                    <a:extLst>
                      <a:ext uri="{0D108BD9-81ED-4DB2-BD59-A6C34878D82A}">
                        <a16:rowId xmlns:a16="http://schemas.microsoft.com/office/drawing/2014/main" val="10000"/>
                      </a:ext>
                    </a:extLst>
                  </a:tr>
                  <a:tr h="387985">
                    <a:tc>
                      <a:txBody>
                        <a:bodyPr/>
                        <a:lstStyle/>
                        <a:p>
                          <a:pPr algn="ctr">
                            <a:lnSpc>
                              <a:spcPct val="107000"/>
                            </a:lnSpc>
                            <a:spcAft>
                              <a:spcPts val="800"/>
                            </a:spcAft>
                          </a:pPr>
                          <a:r>
                            <a:rPr lang="en-US" sz="2000" i="1" dirty="0">
                              <a:effectLst/>
                              <a:latin typeface="Verdana" pitchFamily="34" charset="0"/>
                              <a:ea typeface="Verdana" pitchFamily="34" charset="0"/>
                            </a:rPr>
                            <a:t>Exponents written as multiplication</a:t>
                          </a:r>
                          <a:endParaRPr lang="en-US" sz="2000" i="1" dirty="0">
                            <a:effectLst/>
                            <a:latin typeface="Verdana" pitchFamily="34" charset="0"/>
                            <a:ea typeface="Verdana" pitchFamily="34" charset="0"/>
                            <a:cs typeface="Cambria Math"/>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561150">
                    <a:tc>
                      <a:txBody>
                        <a:bodyPr/>
                        <a:lstStyle/>
                        <a:p>
                          <a:endParaRPr lang="en-US"/>
                        </a:p>
                      </a:txBody>
                      <a:tcPr marL="68580" marR="68580" marT="914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230" t="-168182" r="-460" b="-2273"/>
                          </a:stretch>
                        </a:blipFill>
                      </a:tcPr>
                    </a:tc>
                    <a:extLst>
                      <a:ext uri="{0D108BD9-81ED-4DB2-BD59-A6C34878D82A}">
                        <a16:rowId xmlns:a16="http://schemas.microsoft.com/office/drawing/2014/main" val="10002"/>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1447658857"/>
                  </p:ext>
                </p:extLst>
              </p:nvPr>
            </p:nvGraphicFramePr>
            <p:xfrm>
              <a:off x="3272791" y="4682713"/>
              <a:ext cx="5537835" cy="1419797"/>
            </p:xfrm>
            <a:graphic>
              <a:graphicData uri="http://schemas.openxmlformats.org/drawingml/2006/table">
                <a:tbl>
                  <a:tblPr bandRow="1">
                    <a:tableStyleId>{A91F0D33-8C57-4600-99A7-42BC86742BE1}</a:tableStyleId>
                  </a:tblPr>
                  <a:tblGrid>
                    <a:gridCol w="5537835">
                      <a:extLst>
                        <a:ext uri="{9D8B030D-6E8A-4147-A177-3AD203B41FA5}">
                          <a16:colId xmlns:a16="http://schemas.microsoft.com/office/drawing/2014/main" val="20000"/>
                        </a:ext>
                      </a:extLst>
                    </a:gridCol>
                  </a:tblGrid>
                  <a:tr h="374015">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sSup>
                                  <m:sSupPr>
                                    <m:ctrlPr>
                                      <a:rPr lang="en-US" sz="2000" i="1" smtClean="0">
                                        <a:solidFill>
                                          <a:srgbClr val="FF0000"/>
                                        </a:solidFill>
                                        <a:effectLst/>
                                        <a:latin typeface="Cambria Math" panose="02040503050406030204" pitchFamily="18" charset="0"/>
                                        <a:ea typeface="Cambria Math" pitchFamily="18" charset="0"/>
                                      </a:rPr>
                                    </m:ctrlPr>
                                  </m:sSupPr>
                                  <m:e>
                                    <m:r>
                                      <a:rPr lang="en-US" sz="2000">
                                        <a:solidFill>
                                          <a:srgbClr val="FF0000"/>
                                        </a:solidFill>
                                        <a:effectLst/>
                                        <a:latin typeface="Cambria Math" pitchFamily="18" charset="0"/>
                                        <a:ea typeface="Cambria Math" pitchFamily="18" charset="0"/>
                                      </a:rPr>
                                      <m:t>(−</m:t>
                                    </m:r>
                                    <m:r>
                                      <a:rPr lang="en-US" sz="2000">
                                        <a:solidFill>
                                          <a:srgbClr val="FF0000"/>
                                        </a:solidFill>
                                        <a:effectLst/>
                                        <a:latin typeface="Cambria Math" pitchFamily="18" charset="0"/>
                                        <a:ea typeface="Cambria Math" pitchFamily="18" charset="0"/>
                                      </a:rPr>
                                      <m:t>𝟑</m:t>
                                    </m:r>
                                    <m:r>
                                      <a:rPr lang="en-US" sz="2000">
                                        <a:solidFill>
                                          <a:srgbClr val="FF0000"/>
                                        </a:solidFill>
                                        <a:effectLst/>
                                        <a:latin typeface="Cambria Math" pitchFamily="18" charset="0"/>
                                        <a:ea typeface="Cambria Math" pitchFamily="18" charset="0"/>
                                      </a:rPr>
                                      <m:t>)</m:t>
                                    </m:r>
                                  </m:e>
                                  <m:sup>
                                    <m:r>
                                      <a:rPr lang="en-US" sz="2000">
                                        <a:solidFill>
                                          <a:srgbClr val="FF0000"/>
                                        </a:solidFill>
                                        <a:effectLst/>
                                        <a:latin typeface="Cambria Math" pitchFamily="18" charset="0"/>
                                        <a:ea typeface="Cambria Math" pitchFamily="18" charset="0"/>
                                      </a:rPr>
                                      <m:t>𝟑</m:t>
                                    </m:r>
                                  </m:sup>
                                </m:sSup>
                                <m:r>
                                  <a:rPr lang="en-US" sz="2000">
                                    <a:effectLst/>
                                    <a:latin typeface="Cambria Math" pitchFamily="18" charset="0"/>
                                    <a:ea typeface="Cambria Math" pitchFamily="18" charset="0"/>
                                  </a:rPr>
                                  <m:t>+</m:t>
                                </m:r>
                                <m:sSup>
                                  <m:sSupPr>
                                    <m:ctrlPr>
                                      <a:rPr lang="en-US" sz="2000" i="1" smtClean="0">
                                        <a:solidFill>
                                          <a:srgbClr val="417DBF"/>
                                        </a:solidFill>
                                        <a:effectLst/>
                                        <a:latin typeface="Cambria Math" panose="02040503050406030204" pitchFamily="18" charset="0"/>
                                        <a:ea typeface="Cambria Math" pitchFamily="18" charset="0"/>
                                      </a:rPr>
                                    </m:ctrlPr>
                                  </m:sSupPr>
                                  <m:e>
                                    <m:r>
                                      <a:rPr lang="en-US" sz="2000">
                                        <a:solidFill>
                                          <a:srgbClr val="417DBF"/>
                                        </a:solidFill>
                                        <a:effectLst/>
                                        <a:latin typeface="Cambria Math" pitchFamily="18" charset="0"/>
                                        <a:ea typeface="Cambria Math" pitchFamily="18" charset="0"/>
                                      </a:rPr>
                                      <m:t>𝟐</m:t>
                                    </m:r>
                                  </m:e>
                                  <m:sup>
                                    <m:r>
                                      <a:rPr lang="en-US" sz="2000">
                                        <a:solidFill>
                                          <a:srgbClr val="417DBF"/>
                                        </a:solidFill>
                                        <a:effectLst/>
                                        <a:latin typeface="Cambria Math" pitchFamily="18" charset="0"/>
                                        <a:ea typeface="Cambria Math" pitchFamily="18" charset="0"/>
                                      </a:rPr>
                                      <m:t>𝟔</m:t>
                                    </m:r>
                                  </m:sup>
                                </m:sSup>
                                <m:r>
                                  <a:rPr lang="en-US" sz="2000">
                                    <a:effectLst/>
                                    <a:latin typeface="Cambria Math" pitchFamily="18" charset="0"/>
                                    <a:ea typeface="Cambria Math" pitchFamily="18" charset="0"/>
                                  </a:rPr>
                                  <m:t>÷−</m:t>
                                </m:r>
                                <m:r>
                                  <a:rPr lang="en-US" sz="2000">
                                    <a:effectLst/>
                                    <a:latin typeface="Cambria Math" pitchFamily="18" charset="0"/>
                                    <a:ea typeface="Cambria Math" pitchFamily="18" charset="0"/>
                                  </a:rPr>
                                  <m:t>𝟏𝟔</m:t>
                                </m:r>
                                <m:r>
                                  <a:rPr lang="en-US" sz="2000">
                                    <a:effectLst/>
                                    <a:latin typeface="Cambria Math" pitchFamily="18" charset="0"/>
                                    <a:ea typeface="Cambria Math" pitchFamily="18" charset="0"/>
                                  </a:rPr>
                                  <m:t>+</m:t>
                                </m:r>
                                <m:r>
                                  <a:rPr lang="en-US" sz="2000">
                                    <a:effectLst/>
                                    <a:latin typeface="Cambria Math" pitchFamily="18" charset="0"/>
                                    <a:ea typeface="Cambria Math" pitchFamily="18" charset="0"/>
                                  </a:rPr>
                                  <m:t>𝟓</m:t>
                                </m:r>
                              </m:oMath>
                            </m:oMathPara>
                          </a14:m>
                          <a:endParaRPr lang="en-US" sz="2000" i="1" dirty="0">
                            <a:effectLst/>
                            <a:latin typeface="Cambria Math" pitchFamily="18" charset="0"/>
                            <a:ea typeface="Cambria Math" pitchFamily="18" charset="0"/>
                            <a:cs typeface="Cambria Math"/>
                          </a:endParaRPr>
                        </a:p>
                      </a:txBody>
                      <a:tcPr marL="68580" marR="68580" marT="914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374015">
                    <a:tc>
                      <a:txBody>
                        <a:bodyPr/>
                        <a:lstStyle/>
                        <a:p>
                          <a:pPr algn="ctr">
                            <a:lnSpc>
                              <a:spcPct val="107000"/>
                            </a:lnSpc>
                            <a:spcAft>
                              <a:spcPts val="800"/>
                            </a:spcAft>
                          </a:pPr>
                          <a:r>
                            <a:rPr lang="en-US" sz="2000" i="1" dirty="0">
                              <a:effectLst/>
                              <a:latin typeface="Verdana" pitchFamily="34" charset="0"/>
                              <a:ea typeface="Verdana" pitchFamily="34" charset="0"/>
                            </a:rPr>
                            <a:t>Evaluate expressions with exponents first</a:t>
                          </a:r>
                          <a:endParaRPr lang="en-US" sz="2000" i="1" dirty="0">
                            <a:effectLst/>
                            <a:latin typeface="Verdana" pitchFamily="34" charset="0"/>
                            <a:ea typeface="Verdana" pitchFamily="34" charset="0"/>
                            <a:cs typeface="Cambria Math"/>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4015">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n-US" sz="2000" smtClean="0">
                                    <a:solidFill>
                                      <a:srgbClr val="FF0000"/>
                                    </a:solidFill>
                                    <a:effectLst/>
                                    <a:latin typeface="Cambria Math"/>
                                  </a:rPr>
                                  <m:t>−27</m:t>
                                </m:r>
                                <m:r>
                                  <a:rPr lang="en-US" sz="2000">
                                    <a:effectLst/>
                                    <a:latin typeface="Cambria Math"/>
                                  </a:rPr>
                                  <m:t>+</m:t>
                                </m:r>
                                <m:r>
                                  <a:rPr lang="en-US" sz="2000" smtClean="0">
                                    <a:solidFill>
                                      <a:srgbClr val="417DBF"/>
                                    </a:solidFill>
                                    <a:effectLst/>
                                    <a:latin typeface="Cambria Math"/>
                                  </a:rPr>
                                  <m:t>64</m:t>
                                </m:r>
                                <m:r>
                                  <a:rPr lang="en-US" sz="2000">
                                    <a:effectLst/>
                                    <a:latin typeface="Cambria Math"/>
                                  </a:rPr>
                                  <m:t>÷−16+5</m:t>
                                </m:r>
                              </m:oMath>
                            </m:oMathPara>
                          </a14:m>
                          <a:endParaRPr lang="en-US" sz="2000" i="1" dirty="0">
                            <a:effectLst/>
                            <a:latin typeface="Verdana" pitchFamily="34" charset="0"/>
                            <a:ea typeface="Verdana" pitchFamily="34" charset="0"/>
                            <a:cs typeface="Cambria Math"/>
                          </a:endParaRPr>
                        </a:p>
                      </a:txBody>
                      <a:tcPr marL="68580" marR="68580" marT="914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1447658857"/>
                  </p:ext>
                </p:extLst>
              </p:nvPr>
            </p:nvGraphicFramePr>
            <p:xfrm>
              <a:off x="1748790" y="4682712"/>
              <a:ext cx="5537835" cy="1419797"/>
            </p:xfrm>
            <a:graphic>
              <a:graphicData uri="http://schemas.openxmlformats.org/drawingml/2006/table">
                <a:tbl>
                  <a:tblPr bandRow="1">
                    <a:tableStyleId>{A91F0D33-8C57-4600-99A7-42BC86742BE1}</a:tableStyleId>
                  </a:tblPr>
                  <a:tblGrid>
                    <a:gridCol w="5537835">
                      <a:extLst>
                        <a:ext uri="{9D8B030D-6E8A-4147-A177-3AD203B41FA5}">
                          <a16:colId xmlns:a16="http://schemas.microsoft.com/office/drawing/2014/main" val="20000"/>
                        </a:ext>
                      </a:extLst>
                    </a:gridCol>
                  </a:tblGrid>
                  <a:tr h="526606">
                    <a:tc>
                      <a:txBody>
                        <a:bodyPr/>
                        <a:lstStyle/>
                        <a:p>
                          <a:endParaRPr lang="en-US"/>
                        </a:p>
                      </a:txBody>
                      <a:tcPr marL="68580" marR="68580" marT="914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7"/>
                          <a:stretch>
                            <a:fillRect l="-229" r="-458" b="-171429"/>
                          </a:stretch>
                        </a:blipFill>
                      </a:tcPr>
                    </a:tc>
                    <a:extLst>
                      <a:ext uri="{0D108BD9-81ED-4DB2-BD59-A6C34878D82A}">
                        <a16:rowId xmlns:a16="http://schemas.microsoft.com/office/drawing/2014/main" val="10000"/>
                      </a:ext>
                    </a:extLst>
                  </a:tr>
                  <a:tr h="374015">
                    <a:tc>
                      <a:txBody>
                        <a:bodyPr/>
                        <a:lstStyle/>
                        <a:p>
                          <a:pPr algn="ctr">
                            <a:lnSpc>
                              <a:spcPct val="107000"/>
                            </a:lnSpc>
                            <a:spcAft>
                              <a:spcPts val="800"/>
                            </a:spcAft>
                          </a:pPr>
                          <a:r>
                            <a:rPr lang="en-US" sz="2000" i="1" dirty="0">
                              <a:effectLst/>
                              <a:latin typeface="Verdana" pitchFamily="34" charset="0"/>
                              <a:ea typeface="Verdana" pitchFamily="34" charset="0"/>
                            </a:rPr>
                            <a:t>Evaluate expressions with exponents first</a:t>
                          </a:r>
                          <a:endParaRPr lang="en-US" sz="2000" i="1" dirty="0">
                            <a:effectLst/>
                            <a:latin typeface="Verdana" pitchFamily="34" charset="0"/>
                            <a:ea typeface="Verdana" pitchFamily="34" charset="0"/>
                            <a:cs typeface="Cambria Math"/>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519176">
                    <a:tc>
                      <a:txBody>
                        <a:bodyPr/>
                        <a:lstStyle/>
                        <a:p>
                          <a:endParaRPr lang="en-US"/>
                        </a:p>
                      </a:txBody>
                      <a:tcPr marL="68580" marR="68580" marT="914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7"/>
                          <a:stretch>
                            <a:fillRect l="-229" t="-175610" r="-458" b="-2439"/>
                          </a:stretch>
                        </a:blipFill>
                      </a:tcPr>
                    </a:tc>
                    <a:extLst>
                      <a:ext uri="{0D108BD9-81ED-4DB2-BD59-A6C34878D82A}">
                        <a16:rowId xmlns:a16="http://schemas.microsoft.com/office/drawing/2014/main" val="10002"/>
                      </a:ext>
                    </a:extLst>
                  </a:tr>
                </a:tbl>
              </a:graphicData>
            </a:graphic>
          </p:graphicFrame>
        </mc:Fallback>
      </mc:AlternateContent>
      <p:sp>
        <p:nvSpPr>
          <p:cNvPr id="11" name="Google Shape;282;g104476d1465_1_17"/>
          <p:cNvSpPr txBox="1"/>
          <p:nvPr/>
        </p:nvSpPr>
        <p:spPr>
          <a:xfrm>
            <a:off x="8672903"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267</a:t>
            </a:r>
            <a:endParaRPr i="1" dirty="0">
              <a:latin typeface="Calibri"/>
              <a:ea typeface="Calibri"/>
              <a:cs typeface="Calibri"/>
              <a:sym typeface="Calibri"/>
            </a:endParaRPr>
          </a:p>
        </p:txBody>
      </p:sp>
      <p:pic>
        <p:nvPicPr>
          <p:cNvPr id="12" name="Google Shape;283;g104476d1465_1_17"/>
          <p:cNvPicPr preferRelativeResize="0"/>
          <p:nvPr/>
        </p:nvPicPr>
        <p:blipFill>
          <a:blip r:embed="rId8" cstate="screen">
            <a:alphaModFix/>
            <a:extLst>
              <a:ext uri="{28A0092B-C50C-407E-A947-70E740481C1C}">
                <a14:useLocalDpi xmlns:a14="http://schemas.microsoft.com/office/drawing/2010/main"/>
              </a:ext>
            </a:extLst>
          </a:blip>
          <a:stretch>
            <a:fillRect/>
          </a:stretch>
        </p:blipFill>
        <p:spPr>
          <a:xfrm>
            <a:off x="11411129"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85588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981635" y="520394"/>
                <a:ext cx="10379396" cy="3673954"/>
              </a:xfrm>
              <a:prstGeom prst="rect">
                <a:avLst/>
              </a:prstGeom>
              <a:noFill/>
            </p:spPr>
            <p:txBody>
              <a:bodyPr wrap="square" rtlCol="0">
                <a:spAutoFit/>
              </a:bodyPr>
              <a:lstStyle/>
              <a:p>
                <a:pPr marL="342900" indent="-342900">
                  <a:lnSpc>
                    <a:spcPct val="107000"/>
                  </a:lnSpc>
                  <a:buFont typeface="Arial" pitchFamily="34" charset="0"/>
                  <a:buChar char="•"/>
                </a:pPr>
                <a:r>
                  <a:rPr lang="en-US" sz="2400" dirty="0">
                    <a:latin typeface="Verdana"/>
                    <a:ea typeface="Verdana"/>
                    <a:cs typeface="Verdana"/>
                  </a:rPr>
                  <a:t>When writing </a:t>
                </a:r>
                <a14:m>
                  <m:oMath xmlns:m="http://schemas.openxmlformats.org/officeDocument/2006/math">
                    <m:sSup>
                      <m:sSupPr>
                        <m:ctrlPr>
                          <a:rPr lang="en-US" sz="2400" i="1">
                            <a:solidFill>
                              <a:srgbClr val="FF0000"/>
                            </a:solidFill>
                            <a:latin typeface="Cambria Math" panose="02040503050406030204" pitchFamily="18" charset="0"/>
                            <a:ea typeface="Cambria Math"/>
                            <a:cs typeface="Cambria Math"/>
                          </a:rPr>
                        </m:ctrlPr>
                      </m:sSupPr>
                      <m:e>
                        <m:r>
                          <a:rPr lang="en-US" sz="2400" i="1">
                            <a:solidFill>
                              <a:srgbClr val="FF0000"/>
                            </a:solidFill>
                            <a:latin typeface="Cambria Math"/>
                            <a:ea typeface="Cambria Math"/>
                            <a:cs typeface="Cambria Math"/>
                          </a:rPr>
                          <m:t>(−3)</m:t>
                        </m:r>
                      </m:e>
                      <m:sup>
                        <m:r>
                          <a:rPr lang="en-US" sz="2400" i="1">
                            <a:solidFill>
                              <a:srgbClr val="FF0000"/>
                            </a:solidFill>
                            <a:latin typeface="Cambria Math"/>
                            <a:ea typeface="Cambria Math"/>
                            <a:cs typeface="Cambria Math"/>
                          </a:rPr>
                          <m:t>3</m:t>
                        </m:r>
                      </m:sup>
                    </m:sSup>
                  </m:oMath>
                </a14:m>
                <a:r>
                  <a:rPr lang="en-US" sz="2400" dirty="0">
                    <a:solidFill>
                      <a:srgbClr val="FF0000"/>
                    </a:solidFill>
                    <a:latin typeface="Verdana"/>
                    <a:ea typeface="Verdana"/>
                    <a:cs typeface="Verdana"/>
                  </a:rPr>
                  <a:t> </a:t>
                </a:r>
                <a:r>
                  <a:rPr lang="en-US" sz="2400" dirty="0">
                    <a:latin typeface="Verdana"/>
                    <a:ea typeface="Verdana"/>
                    <a:cs typeface="Verdana"/>
                  </a:rPr>
                  <a:t>and</a:t>
                </a:r>
                <a:r>
                  <a:rPr lang="en-US" sz="2400" dirty="0">
                    <a:solidFill>
                      <a:srgbClr val="0070C0"/>
                    </a:solidFill>
                    <a:latin typeface="Verdana"/>
                    <a:ea typeface="Verdana"/>
                    <a:cs typeface="Verdana"/>
                  </a:rPr>
                  <a:t> </a:t>
                </a:r>
                <a14:m>
                  <m:oMath xmlns:m="http://schemas.openxmlformats.org/officeDocument/2006/math">
                    <m:sSup>
                      <m:sSupPr>
                        <m:ctrlPr>
                          <a:rPr lang="en-US" sz="2400" i="1">
                            <a:solidFill>
                              <a:srgbClr val="0070C0"/>
                            </a:solidFill>
                            <a:latin typeface="Cambria Math" panose="02040503050406030204" pitchFamily="18" charset="0"/>
                            <a:ea typeface="Cambria Math"/>
                            <a:cs typeface="Cambria Math"/>
                          </a:rPr>
                        </m:ctrlPr>
                      </m:sSupPr>
                      <m:e>
                        <m:r>
                          <a:rPr lang="en-US" sz="2400" i="1">
                            <a:solidFill>
                              <a:srgbClr val="0070C0"/>
                            </a:solidFill>
                            <a:latin typeface="Cambria Math"/>
                            <a:ea typeface="Cambria Math"/>
                            <a:cs typeface="Cambria Math"/>
                          </a:rPr>
                          <m:t>2</m:t>
                        </m:r>
                      </m:e>
                      <m:sup>
                        <m:r>
                          <a:rPr lang="en-US" sz="2400" i="1">
                            <a:solidFill>
                              <a:srgbClr val="0070C0"/>
                            </a:solidFill>
                            <a:latin typeface="Cambria Math"/>
                            <a:ea typeface="Cambria Math"/>
                            <a:cs typeface="Cambria Math"/>
                          </a:rPr>
                          <m:t>6</m:t>
                        </m:r>
                      </m:sup>
                    </m:sSup>
                  </m:oMath>
                </a14:m>
                <a:r>
                  <a:rPr lang="en-US" sz="2400" dirty="0">
                    <a:latin typeface="Verdana"/>
                    <a:ea typeface="Verdana"/>
                    <a:cs typeface="Verdana"/>
                  </a:rPr>
                  <a:t> using multiplication, both were written inside a set of parentheses.</a:t>
                </a:r>
                <a:endParaRPr lang="en-US" sz="2000" i="1" dirty="0">
                  <a:latin typeface="Cambria Math"/>
                  <a:ea typeface="Cambria Math"/>
                  <a:cs typeface="Cambria Math"/>
                </a:endParaRPr>
              </a:p>
              <a:p>
                <a:pPr marL="914400" indent="-457200">
                  <a:lnSpc>
                    <a:spcPct val="107000"/>
                  </a:lnSpc>
                </a:pPr>
                <a:r>
                  <a:rPr lang="en-US" sz="2400" dirty="0">
                    <a:latin typeface="Verdana"/>
                    <a:ea typeface="Verdana"/>
                    <a:cs typeface="Verdana"/>
                  </a:rPr>
                  <a:t> </a:t>
                </a:r>
                <a:endParaRPr lang="en-US" sz="2000" i="1" dirty="0">
                  <a:latin typeface="Cambria Math"/>
                  <a:ea typeface="Cambria Math"/>
                  <a:cs typeface="Cambria Math"/>
                </a:endParaRPr>
              </a:p>
              <a:p>
                <a:pPr marL="342900" indent="-342900">
                  <a:lnSpc>
                    <a:spcPct val="107000"/>
                  </a:lnSpc>
                  <a:buFont typeface="Arial" pitchFamily="34" charset="0"/>
                  <a:buChar char="•"/>
                </a:pPr>
                <a:r>
                  <a:rPr lang="en-US" sz="2400" dirty="0">
                    <a:latin typeface="Verdana"/>
                    <a:ea typeface="Verdana"/>
                    <a:cs typeface="Verdana"/>
                  </a:rPr>
                  <a:t>In order of operations, parentheses indicate that the operations inside should be done __________ other steps. </a:t>
                </a:r>
                <a:endParaRPr lang="en-US" sz="2000" i="1" dirty="0">
                  <a:latin typeface="Cambria Math"/>
                  <a:ea typeface="Cambria Math"/>
                  <a:cs typeface="Cambria Math"/>
                </a:endParaRPr>
              </a:p>
              <a:p>
                <a:pPr marL="457200">
                  <a:lnSpc>
                    <a:spcPct val="107000"/>
                  </a:lnSpc>
                  <a:spcAft>
                    <a:spcPts val="800"/>
                  </a:spcAft>
                </a:pPr>
                <a:r>
                  <a:rPr lang="en-US" sz="2400" dirty="0">
                    <a:latin typeface="Verdana"/>
                    <a:ea typeface="Verdana"/>
                    <a:cs typeface="Verdana"/>
                  </a:rPr>
                  <a:t> </a:t>
                </a:r>
                <a:endParaRPr lang="en-US" sz="2000" i="1" dirty="0">
                  <a:latin typeface="Cambria Math"/>
                  <a:ea typeface="Cambria Math"/>
                  <a:cs typeface="Cambria Math"/>
                </a:endParaRPr>
              </a:p>
              <a:p>
                <a:pPr marL="342900" indent="-342900">
                  <a:buFont typeface="Arial" pitchFamily="34" charset="0"/>
                  <a:buChar char="•"/>
                </a:pPr>
                <a:r>
                  <a:rPr lang="en-US" sz="2400" dirty="0">
                    <a:latin typeface="Verdana"/>
                    <a:ea typeface="Verdana"/>
                    <a:cs typeface="Verdana"/>
                  </a:rPr>
                  <a:t>Therefore, evaluating exponents is done before other multiplication and division when following the order of operations.</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981635" y="520394"/>
                <a:ext cx="10379396" cy="3673954"/>
              </a:xfrm>
              <a:prstGeom prst="rect">
                <a:avLst/>
              </a:prstGeom>
              <a:blipFill rotWithShape="0">
                <a:blip r:embed="rId3"/>
                <a:stretch>
                  <a:fillRect l="-763" t="-1658" r="-1585" b="-2653"/>
                </a:stretch>
              </a:blipFill>
            </p:spPr>
            <p:txBody>
              <a:bodyPr/>
              <a:lstStyle/>
              <a:p>
                <a:r>
                  <a:rPr lang="en-US">
                    <a:noFill/>
                  </a:rPr>
                  <a:t> </a:t>
                </a:r>
              </a:p>
            </p:txBody>
          </p:sp>
        </mc:Fallback>
      </mc:AlternateContent>
      <p:sp>
        <p:nvSpPr>
          <p:cNvPr id="7" name="Google Shape;282;g104476d1465_1_17"/>
          <p:cNvSpPr txBox="1"/>
          <p:nvPr/>
        </p:nvSpPr>
        <p:spPr>
          <a:xfrm>
            <a:off x="8672903"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267</a:t>
            </a:r>
            <a:endParaRPr i="1" dirty="0">
              <a:latin typeface="Calibri"/>
              <a:ea typeface="Calibri"/>
              <a:cs typeface="Calibri"/>
              <a:sym typeface="Calibri"/>
            </a:endParaRPr>
          </a:p>
        </p:txBody>
      </p:sp>
      <p:pic>
        <p:nvPicPr>
          <p:cNvPr id="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11129"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3264028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1089212" y="520394"/>
                <a:ext cx="10164242" cy="2858539"/>
              </a:xfrm>
              <a:prstGeom prst="rect">
                <a:avLst/>
              </a:prstGeom>
              <a:noFill/>
            </p:spPr>
            <p:txBody>
              <a:bodyPr wrap="square" rtlCol="0">
                <a:spAutoFit/>
              </a:bodyPr>
              <a:lstStyle/>
              <a:p>
                <a:pPr marL="457200" indent="-457200">
                  <a:lnSpc>
                    <a:spcPct val="107000"/>
                  </a:lnSpc>
                  <a:buFont typeface="+mj-lt"/>
                  <a:buAutoNum type="arabicPeriod"/>
                </a:pPr>
                <a:r>
                  <a:rPr lang="en-PH" sz="2400" dirty="0">
                    <a:latin typeface="Verdana" panose="020B0604030504040204" pitchFamily="34" charset="0"/>
                    <a:ea typeface="Verdana" panose="020B0604030504040204" pitchFamily="34" charset="0"/>
                    <a:cs typeface="Verdana" panose="020B0604030504040204" pitchFamily="34" charset="0"/>
                  </a:rPr>
                  <a:t>Evaluate </a:t>
                </a:r>
                <a14:m>
                  <m:oMath xmlns:m="http://schemas.openxmlformats.org/officeDocument/2006/math">
                    <m:sSup>
                      <m:sSupPr>
                        <m:ctrlPr>
                          <a:rPr lang="en-PH" sz="2400" i="1">
                            <a:latin typeface="Cambria Math" panose="02040503050406030204" pitchFamily="18" charset="0"/>
                            <a:ea typeface="Verdana" panose="020B0604030504040204" pitchFamily="34" charset="0"/>
                          </a:rPr>
                        </m:ctrlPr>
                      </m:sSupPr>
                      <m:e>
                        <m:r>
                          <a:rPr lang="en-PH" sz="2400" i="1">
                            <a:latin typeface="Cambria Math"/>
                            <a:ea typeface="Verdana" panose="020B0604030504040204" pitchFamily="34" charset="0"/>
                          </a:rPr>
                          <m:t>(−3)</m:t>
                        </m:r>
                      </m:e>
                      <m:sup>
                        <m:r>
                          <a:rPr lang="en-PH" sz="2400" i="1">
                            <a:latin typeface="Cambria Math"/>
                            <a:ea typeface="Verdana" panose="020B0604030504040204" pitchFamily="34" charset="0"/>
                          </a:rPr>
                          <m:t>3</m:t>
                        </m:r>
                      </m:sup>
                    </m:sSup>
                    <m:r>
                      <a:rPr lang="en-PH" sz="2400" i="1">
                        <a:latin typeface="Cambria Math"/>
                        <a:ea typeface="Verdana" panose="020B0604030504040204" pitchFamily="34" charset="0"/>
                      </a:rPr>
                      <m:t>+</m:t>
                    </m:r>
                    <m:sSup>
                      <m:sSupPr>
                        <m:ctrlPr>
                          <a:rPr lang="en-PH" sz="2400" i="1">
                            <a:latin typeface="Cambria Math" panose="02040503050406030204" pitchFamily="18" charset="0"/>
                            <a:ea typeface="Verdana" panose="020B0604030504040204" pitchFamily="34" charset="0"/>
                          </a:rPr>
                        </m:ctrlPr>
                      </m:sSupPr>
                      <m:e>
                        <m:r>
                          <a:rPr lang="en-PH" sz="2400" i="1">
                            <a:latin typeface="Cambria Math"/>
                            <a:ea typeface="Verdana" panose="020B0604030504040204" pitchFamily="34" charset="0"/>
                          </a:rPr>
                          <m:t>2</m:t>
                        </m:r>
                      </m:e>
                      <m:sup>
                        <m:r>
                          <a:rPr lang="en-PH" sz="2400" i="1">
                            <a:latin typeface="Cambria Math"/>
                            <a:ea typeface="Verdana" panose="020B0604030504040204" pitchFamily="34" charset="0"/>
                          </a:rPr>
                          <m:t>6</m:t>
                        </m:r>
                      </m:sup>
                    </m:sSup>
                    <m:r>
                      <a:rPr lang="en-PH" sz="2400" i="1">
                        <a:latin typeface="Cambria Math"/>
                        <a:ea typeface="Cambria Math"/>
                      </a:rPr>
                      <m:t>÷−16+5</m:t>
                    </m:r>
                  </m:oMath>
                </a14:m>
                <a:r>
                  <a:rPr lang="en-US" sz="2400" dirty="0">
                    <a:latin typeface="Verdana" panose="020B0604030504040204" pitchFamily="34" charset="0"/>
                    <a:ea typeface="Verdana" panose="020B0604030504040204" pitchFamily="34" charset="0"/>
                    <a:cs typeface="Verdana" panose="020B0604030504040204" pitchFamily="34" charset="0"/>
                  </a:rPr>
                  <a:t>.</a:t>
                </a:r>
              </a:p>
              <a:p>
                <a:pPr marL="457200" indent="-457200">
                  <a:lnSpc>
                    <a:spcPct val="107000"/>
                  </a:lnSpc>
                  <a:buFont typeface="+mj-lt"/>
                  <a:buAutoNum type="arabicPeriod"/>
                </a:pPr>
                <a:endParaRPr lang="en-PH" sz="2400" dirty="0">
                  <a:latin typeface="Verdana" panose="020B0604030504040204" pitchFamily="34" charset="0"/>
                  <a:ea typeface="Verdana" panose="020B0604030504040204" pitchFamily="34" charset="0"/>
                  <a:cs typeface="Verdana" panose="020B0604030504040204" pitchFamily="34" charset="0"/>
                </a:endParaRPr>
              </a:p>
              <a:p>
                <a:pPr marL="457200" indent="-457200">
                  <a:lnSpc>
                    <a:spcPct val="107000"/>
                  </a:lnSpc>
                  <a:buFont typeface="+mj-lt"/>
                  <a:buAutoNum type="arabicPeriod"/>
                </a:pPr>
                <a:endParaRPr lang="en-PH" sz="2400" dirty="0">
                  <a:latin typeface="Verdana" panose="020B0604030504040204" pitchFamily="34" charset="0"/>
                  <a:ea typeface="Verdana" panose="020B0604030504040204" pitchFamily="34" charset="0"/>
                  <a:cs typeface="Verdana" panose="020B0604030504040204" pitchFamily="34" charset="0"/>
                </a:endParaRPr>
              </a:p>
              <a:p>
                <a:pPr marL="457200" indent="-457200">
                  <a:lnSpc>
                    <a:spcPct val="107000"/>
                  </a:lnSpc>
                  <a:buFont typeface="+mj-lt"/>
                  <a:buAutoNum type="arabicPeriod"/>
                </a:pPr>
                <a:endParaRPr lang="en-PH" sz="2400" dirty="0">
                  <a:latin typeface="Verdana" panose="020B0604030504040204" pitchFamily="34" charset="0"/>
                  <a:ea typeface="Verdana" panose="020B0604030504040204" pitchFamily="34" charset="0"/>
                  <a:cs typeface="Verdana" panose="020B0604030504040204" pitchFamily="34" charset="0"/>
                </a:endParaRPr>
              </a:p>
              <a:p>
                <a:pPr marL="457200" indent="-457200">
                  <a:lnSpc>
                    <a:spcPct val="107000"/>
                  </a:lnSpc>
                  <a:buFont typeface="+mj-lt"/>
                  <a:buAutoNum type="arabicPeriod"/>
                </a:pPr>
                <a:endParaRPr lang="en-PH" sz="2400" dirty="0">
                  <a:latin typeface="Verdana" panose="020B0604030504040204" pitchFamily="34" charset="0"/>
                  <a:ea typeface="Verdana" panose="020B0604030504040204" pitchFamily="34" charset="0"/>
                  <a:cs typeface="Verdana" panose="020B0604030504040204" pitchFamily="34" charset="0"/>
                </a:endParaRPr>
              </a:p>
              <a:p>
                <a:pPr marL="457200" indent="-457200">
                  <a:lnSpc>
                    <a:spcPct val="107000"/>
                  </a:lnSpc>
                  <a:buFont typeface="+mj-lt"/>
                  <a:buAutoNum type="arabicPeriod"/>
                </a:pPr>
                <a:r>
                  <a:rPr lang="en-US" sz="2400" dirty="0">
                    <a:latin typeface="Verdana"/>
                    <a:ea typeface="Verdana"/>
                    <a:cs typeface="Verdana"/>
                  </a:rPr>
                  <a:t>Evaluate each expression, then determine if </a:t>
                </a:r>
                <a:br>
                  <a:rPr lang="en-US" sz="2400" dirty="0">
                    <a:latin typeface="Verdana"/>
                    <a:ea typeface="Verdana"/>
                    <a:cs typeface="Verdana"/>
                  </a:rPr>
                </a:br>
                <a:r>
                  <a:rPr lang="en-US" sz="2400" dirty="0">
                    <a:latin typeface="Verdana"/>
                    <a:ea typeface="Verdana"/>
                    <a:cs typeface="Verdana"/>
                  </a:rPr>
                  <a:t>the expressions are equivalent.</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1089212" y="520394"/>
                <a:ext cx="10164242" cy="2858539"/>
              </a:xfrm>
              <a:prstGeom prst="rect">
                <a:avLst/>
              </a:prstGeom>
              <a:blipFill rotWithShape="0">
                <a:blip r:embed="rId3"/>
                <a:stretch>
                  <a:fillRect l="-960" t="-2132" b="-255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1831379585"/>
                  </p:ext>
                </p:extLst>
              </p:nvPr>
            </p:nvGraphicFramePr>
            <p:xfrm>
              <a:off x="2590800" y="3378368"/>
              <a:ext cx="6591300" cy="3131820"/>
            </p:xfrm>
            <a:graphic>
              <a:graphicData uri="http://schemas.openxmlformats.org/drawingml/2006/table">
                <a:tbl>
                  <a:tblPr bandRow="1">
                    <a:tableStyleId>{A91F0D33-8C57-4600-99A7-42BC86742BE1}</a:tableStyleId>
                  </a:tblPr>
                  <a:tblGrid>
                    <a:gridCol w="2045729">
                      <a:extLst>
                        <a:ext uri="{9D8B030D-6E8A-4147-A177-3AD203B41FA5}">
                          <a16:colId xmlns:a16="http://schemas.microsoft.com/office/drawing/2014/main" val="20000"/>
                        </a:ext>
                      </a:extLst>
                    </a:gridCol>
                    <a:gridCol w="2144173">
                      <a:extLst>
                        <a:ext uri="{9D8B030D-6E8A-4147-A177-3AD203B41FA5}">
                          <a16:colId xmlns:a16="http://schemas.microsoft.com/office/drawing/2014/main" val="20001"/>
                        </a:ext>
                      </a:extLst>
                    </a:gridCol>
                    <a:gridCol w="2401398">
                      <a:extLst>
                        <a:ext uri="{9D8B030D-6E8A-4147-A177-3AD203B41FA5}">
                          <a16:colId xmlns:a16="http://schemas.microsoft.com/office/drawing/2014/main" val="20002"/>
                        </a:ext>
                      </a:extLst>
                    </a:gridCol>
                  </a:tblGrid>
                  <a:tr h="501650">
                    <a:tc>
                      <a:txBody>
                        <a:bodyPr/>
                        <a:lstStyle/>
                        <a:p>
                          <a:pPr algn="ctr">
                            <a:lnSpc>
                              <a:spcPct val="107000"/>
                            </a:lnSpc>
                            <a:spcAft>
                              <a:spcPts val="800"/>
                            </a:spcAft>
                          </a:pPr>
                          <a:r>
                            <a:rPr lang="en-US" sz="2000" b="1" dirty="0">
                              <a:effectLst/>
                              <a:latin typeface="Verdana" pitchFamily="34" charset="0"/>
                              <a:ea typeface="Verdana" pitchFamily="34" charset="0"/>
                            </a:rPr>
                            <a:t>Expression A</a:t>
                          </a:r>
                          <a:endParaRPr lang="en-US" sz="2000" b="1" i="1" dirty="0">
                            <a:effectLst/>
                            <a:latin typeface="Verdana" pitchFamily="34" charset="0"/>
                            <a:ea typeface="Verdana" pitchFamily="34" charset="0"/>
                            <a:cs typeface="Cambria Math"/>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lnSpc>
                              <a:spcPct val="107000"/>
                            </a:lnSpc>
                            <a:spcAft>
                              <a:spcPts val="800"/>
                            </a:spcAft>
                          </a:pPr>
                          <a:r>
                            <a:rPr lang="en-US" sz="2000" b="1" dirty="0">
                              <a:effectLst/>
                              <a:latin typeface="Verdana" pitchFamily="34" charset="0"/>
                              <a:ea typeface="Verdana" pitchFamily="34" charset="0"/>
                            </a:rPr>
                            <a:t>Expression B</a:t>
                          </a:r>
                          <a:endParaRPr lang="en-US" sz="2000" b="1" i="1" dirty="0">
                            <a:effectLst/>
                            <a:latin typeface="Verdana" pitchFamily="34" charset="0"/>
                            <a:ea typeface="Verdana" pitchFamily="34" charset="0"/>
                            <a:cs typeface="Cambria Math"/>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lnSpc>
                              <a:spcPct val="107000"/>
                            </a:lnSpc>
                            <a:spcAft>
                              <a:spcPts val="800"/>
                            </a:spcAft>
                          </a:pPr>
                          <a:r>
                            <a:rPr lang="en-US" sz="2000" b="1" dirty="0">
                              <a:effectLst/>
                              <a:latin typeface="Verdana" pitchFamily="34" charset="0"/>
                              <a:ea typeface="Verdana" pitchFamily="34" charset="0"/>
                            </a:rPr>
                            <a:t>Equivalent?</a:t>
                          </a:r>
                          <a:endParaRPr lang="en-US" sz="2000" b="1" i="1" dirty="0">
                            <a:effectLst/>
                            <a:latin typeface="Verdana" pitchFamily="34" charset="0"/>
                            <a:ea typeface="Verdana" pitchFamily="34" charset="0"/>
                            <a:cs typeface="Cambria Math"/>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extLst>
                      <a:ext uri="{0D108BD9-81ED-4DB2-BD59-A6C34878D82A}">
                        <a16:rowId xmlns:a16="http://schemas.microsoft.com/office/drawing/2014/main" val="10000"/>
                      </a:ext>
                    </a:extLst>
                  </a:tr>
                  <a:tr h="528955">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panose="02040503050406030204" pitchFamily="18" charset="0"/>
                                        <a:ea typeface="Cambria Math" pitchFamily="18" charset="0"/>
                                      </a:rPr>
                                    </m:ctrlPr>
                                  </m:sSupPr>
                                  <m:e>
                                    <m:r>
                                      <a:rPr lang="en-US" sz="2000">
                                        <a:effectLst/>
                                        <a:latin typeface="Cambria Math" pitchFamily="18" charset="0"/>
                                        <a:ea typeface="Cambria Math" pitchFamily="18" charset="0"/>
                                      </a:rPr>
                                      <m:t>(−3)</m:t>
                                    </m:r>
                                  </m:e>
                                  <m:sup>
                                    <m:r>
                                      <a:rPr lang="en-US" sz="2000">
                                        <a:effectLst/>
                                        <a:latin typeface="Cambria Math" pitchFamily="18" charset="0"/>
                                        <a:ea typeface="Cambria Math" pitchFamily="18" charset="0"/>
                                      </a:rPr>
                                      <m:t>4</m:t>
                                    </m:r>
                                  </m:sup>
                                </m:sSup>
                              </m:oMath>
                            </m:oMathPara>
                          </a14:m>
                          <a:endParaRPr lang="en-US" sz="2000" i="1" dirty="0">
                            <a:effectLst/>
                            <a:latin typeface="Cambria Math" pitchFamily="18" charset="0"/>
                            <a:ea typeface="Cambria Math" pitchFamily="18" charset="0"/>
                            <a:cs typeface="Cambria Math"/>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n-US" sz="2000">
                                    <a:effectLst/>
                                    <a:latin typeface="Cambria Math" pitchFamily="18" charset="0"/>
                                    <a:ea typeface="Cambria Math" pitchFamily="18" charset="0"/>
                                  </a:rPr>
                                  <m:t>−</m:t>
                                </m:r>
                                <m:sSup>
                                  <m:sSupPr>
                                    <m:ctrlPr>
                                      <a:rPr lang="en-US" sz="2000" i="1">
                                        <a:effectLst/>
                                        <a:latin typeface="Cambria Math" panose="02040503050406030204" pitchFamily="18" charset="0"/>
                                        <a:ea typeface="Cambria Math" pitchFamily="18" charset="0"/>
                                      </a:rPr>
                                    </m:ctrlPr>
                                  </m:sSupPr>
                                  <m:e>
                                    <m:r>
                                      <a:rPr lang="en-US" sz="2000">
                                        <a:effectLst/>
                                        <a:latin typeface="Cambria Math" pitchFamily="18" charset="0"/>
                                        <a:ea typeface="Cambria Math" pitchFamily="18" charset="0"/>
                                      </a:rPr>
                                      <m:t>(3</m:t>
                                    </m:r>
                                  </m:e>
                                  <m:sup>
                                    <m:r>
                                      <a:rPr lang="en-US" sz="2000">
                                        <a:effectLst/>
                                        <a:latin typeface="Cambria Math" pitchFamily="18" charset="0"/>
                                        <a:ea typeface="Cambria Math" pitchFamily="18" charset="0"/>
                                      </a:rPr>
                                      <m:t>4</m:t>
                                    </m:r>
                                  </m:sup>
                                </m:sSup>
                                <m:r>
                                  <a:rPr lang="en-US" sz="2000">
                                    <a:effectLst/>
                                    <a:latin typeface="Cambria Math" pitchFamily="18" charset="0"/>
                                    <a:ea typeface="Cambria Math" pitchFamily="18" charset="0"/>
                                  </a:rPr>
                                  <m:t>)</m:t>
                                </m:r>
                              </m:oMath>
                            </m:oMathPara>
                          </a14:m>
                          <a:endParaRPr lang="en-US" sz="2000" i="1" dirty="0">
                            <a:effectLst/>
                            <a:latin typeface="Cambria Math" pitchFamily="18" charset="0"/>
                            <a:ea typeface="Cambria Math" pitchFamily="18" charset="0"/>
                            <a:cs typeface="Cambria Math"/>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r>
                            <a:rPr lang="en-US" sz="2000">
                              <a:effectLst/>
                              <a:latin typeface="Cambria Math" pitchFamily="18" charset="0"/>
                              <a:ea typeface="Cambria Math" pitchFamily="18" charset="0"/>
                            </a:rPr>
                            <a:t> </a:t>
                          </a:r>
                          <a:endParaRPr lang="en-US" sz="2000" i="1">
                            <a:effectLst/>
                            <a:latin typeface="Cambria Math" pitchFamily="18" charset="0"/>
                            <a:ea typeface="Cambria Math" pitchFamily="18" charset="0"/>
                            <a:cs typeface="Cambria Math"/>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528955">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panose="02040503050406030204" pitchFamily="18" charset="0"/>
                                        <a:ea typeface="Cambria Math" pitchFamily="18" charset="0"/>
                                      </a:rPr>
                                    </m:ctrlPr>
                                  </m:sSupPr>
                                  <m:e>
                                    <m:r>
                                      <a:rPr lang="en-US" sz="2000">
                                        <a:effectLst/>
                                        <a:latin typeface="Cambria Math" pitchFamily="18" charset="0"/>
                                        <a:ea typeface="Cambria Math" pitchFamily="18" charset="0"/>
                                      </a:rPr>
                                      <m:t>−(9)</m:t>
                                    </m:r>
                                  </m:e>
                                  <m:sup>
                                    <m:r>
                                      <a:rPr lang="en-US" sz="2000">
                                        <a:effectLst/>
                                        <a:latin typeface="Cambria Math" pitchFamily="18" charset="0"/>
                                        <a:ea typeface="Cambria Math" pitchFamily="18" charset="0"/>
                                      </a:rPr>
                                      <m:t>2</m:t>
                                    </m:r>
                                  </m:sup>
                                </m:sSup>
                              </m:oMath>
                            </m:oMathPara>
                          </a14:m>
                          <a:endParaRPr lang="en-US" sz="2000" i="1" dirty="0">
                            <a:effectLst/>
                            <a:latin typeface="Cambria Math" pitchFamily="18" charset="0"/>
                            <a:ea typeface="Cambria Math" pitchFamily="18" charset="0"/>
                            <a:cs typeface="Cambria Math"/>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panose="02040503050406030204" pitchFamily="18" charset="0"/>
                                        <a:ea typeface="Cambria Math" pitchFamily="18" charset="0"/>
                                      </a:rPr>
                                    </m:ctrlPr>
                                  </m:sSupPr>
                                  <m:e>
                                    <m:d>
                                      <m:dPr>
                                        <m:ctrlPr>
                                          <a:rPr lang="en-US" sz="2000" i="1">
                                            <a:effectLst/>
                                            <a:latin typeface="Cambria Math" panose="02040503050406030204" pitchFamily="18" charset="0"/>
                                            <a:ea typeface="Cambria Math" pitchFamily="18" charset="0"/>
                                          </a:rPr>
                                        </m:ctrlPr>
                                      </m:dPr>
                                      <m:e>
                                        <m:r>
                                          <a:rPr lang="en-US" sz="2000">
                                            <a:effectLst/>
                                            <a:latin typeface="Cambria Math" pitchFamily="18" charset="0"/>
                                            <a:ea typeface="Cambria Math" pitchFamily="18" charset="0"/>
                                          </a:rPr>
                                          <m:t>−9</m:t>
                                        </m:r>
                                      </m:e>
                                    </m:d>
                                  </m:e>
                                  <m:sup>
                                    <m:r>
                                      <a:rPr lang="en-US" sz="2000">
                                        <a:effectLst/>
                                        <a:latin typeface="Cambria Math" pitchFamily="18" charset="0"/>
                                        <a:ea typeface="Cambria Math" pitchFamily="18" charset="0"/>
                                      </a:rPr>
                                      <m:t>2</m:t>
                                    </m:r>
                                  </m:sup>
                                </m:sSup>
                              </m:oMath>
                            </m:oMathPara>
                          </a14:m>
                          <a:endParaRPr lang="en-US" sz="2000" i="1" dirty="0">
                            <a:effectLst/>
                            <a:latin typeface="Cambria Math" pitchFamily="18" charset="0"/>
                            <a:ea typeface="Cambria Math" pitchFamily="18" charset="0"/>
                            <a:cs typeface="Cambria Math"/>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r>
                            <a:rPr lang="en-US" sz="2000">
                              <a:effectLst/>
                              <a:latin typeface="Cambria Math" pitchFamily="18" charset="0"/>
                              <a:ea typeface="Cambria Math" pitchFamily="18" charset="0"/>
                            </a:rPr>
                            <a:t> </a:t>
                          </a:r>
                          <a:endParaRPr lang="en-US" sz="2000" i="1">
                            <a:effectLst/>
                            <a:latin typeface="Cambria Math" pitchFamily="18" charset="0"/>
                            <a:ea typeface="Cambria Math" pitchFamily="18" charset="0"/>
                            <a:cs typeface="Cambria Math"/>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528955">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panose="02040503050406030204" pitchFamily="18" charset="0"/>
                                        <a:ea typeface="Cambria Math" pitchFamily="18" charset="0"/>
                                      </a:rPr>
                                    </m:ctrlPr>
                                  </m:sSupPr>
                                  <m:e>
                                    <m:r>
                                      <a:rPr lang="en-US" sz="2000">
                                        <a:effectLst/>
                                        <a:latin typeface="Cambria Math" pitchFamily="18" charset="0"/>
                                        <a:ea typeface="Cambria Math" pitchFamily="18" charset="0"/>
                                      </a:rPr>
                                      <m:t>(−5</m:t>
                                    </m:r>
                                  </m:e>
                                  <m:sup>
                                    <m:r>
                                      <a:rPr lang="en-US" sz="2000">
                                        <a:effectLst/>
                                        <a:latin typeface="Cambria Math" pitchFamily="18" charset="0"/>
                                        <a:ea typeface="Cambria Math" pitchFamily="18" charset="0"/>
                                      </a:rPr>
                                      <m:t>2</m:t>
                                    </m:r>
                                  </m:sup>
                                </m:sSup>
                                <m:r>
                                  <a:rPr lang="en-US" sz="2000">
                                    <a:effectLst/>
                                    <a:latin typeface="Cambria Math" pitchFamily="18" charset="0"/>
                                    <a:ea typeface="Cambria Math" pitchFamily="18" charset="0"/>
                                  </a:rPr>
                                  <m:t>)</m:t>
                                </m:r>
                              </m:oMath>
                            </m:oMathPara>
                          </a14:m>
                          <a:endParaRPr lang="en-US" sz="2000" i="1">
                            <a:effectLst/>
                            <a:latin typeface="Cambria Math" pitchFamily="18" charset="0"/>
                            <a:ea typeface="Cambria Math" pitchFamily="18" charset="0"/>
                            <a:cs typeface="Cambria Math"/>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panose="02040503050406030204" pitchFamily="18" charset="0"/>
                                        <a:ea typeface="Cambria Math" pitchFamily="18" charset="0"/>
                                      </a:rPr>
                                    </m:ctrlPr>
                                  </m:sSupPr>
                                  <m:e>
                                    <m:d>
                                      <m:dPr>
                                        <m:ctrlPr>
                                          <a:rPr lang="en-US" sz="2000" i="1">
                                            <a:effectLst/>
                                            <a:latin typeface="Cambria Math" panose="02040503050406030204" pitchFamily="18" charset="0"/>
                                            <a:ea typeface="Cambria Math" pitchFamily="18" charset="0"/>
                                          </a:rPr>
                                        </m:ctrlPr>
                                      </m:dPr>
                                      <m:e>
                                        <m:r>
                                          <a:rPr lang="en-US" sz="2000">
                                            <a:effectLst/>
                                            <a:latin typeface="Cambria Math" pitchFamily="18" charset="0"/>
                                            <a:ea typeface="Cambria Math" pitchFamily="18" charset="0"/>
                                          </a:rPr>
                                          <m:t>−5</m:t>
                                        </m:r>
                                      </m:e>
                                    </m:d>
                                  </m:e>
                                  <m:sup>
                                    <m:r>
                                      <a:rPr lang="en-US" sz="2000">
                                        <a:effectLst/>
                                        <a:latin typeface="Cambria Math" pitchFamily="18" charset="0"/>
                                        <a:ea typeface="Cambria Math" pitchFamily="18" charset="0"/>
                                      </a:rPr>
                                      <m:t>2</m:t>
                                    </m:r>
                                  </m:sup>
                                </m:sSup>
                              </m:oMath>
                            </m:oMathPara>
                          </a14:m>
                          <a:endParaRPr lang="en-US" sz="2000" i="1" dirty="0">
                            <a:effectLst/>
                            <a:latin typeface="Cambria Math" pitchFamily="18" charset="0"/>
                            <a:ea typeface="Cambria Math" pitchFamily="18" charset="0"/>
                            <a:cs typeface="Cambria Math"/>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r>
                            <a:rPr lang="en-US" sz="2000" dirty="0">
                              <a:effectLst/>
                              <a:latin typeface="Cambria Math" pitchFamily="18" charset="0"/>
                              <a:ea typeface="Cambria Math" pitchFamily="18" charset="0"/>
                            </a:rPr>
                            <a:t> </a:t>
                          </a:r>
                          <a:endParaRPr lang="en-US" sz="2000" i="1" dirty="0">
                            <a:effectLst/>
                            <a:latin typeface="Cambria Math" pitchFamily="18" charset="0"/>
                            <a:ea typeface="Cambria Math" pitchFamily="18" charset="0"/>
                            <a:cs typeface="Cambria Math"/>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528955">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n-US" sz="2000">
                                    <a:effectLst/>
                                    <a:latin typeface="Cambria Math" pitchFamily="18" charset="0"/>
                                    <a:ea typeface="Cambria Math" pitchFamily="18" charset="0"/>
                                  </a:rPr>
                                  <m:t>26−</m:t>
                                </m:r>
                                <m:sSup>
                                  <m:sSupPr>
                                    <m:ctrlPr>
                                      <a:rPr lang="en-US" sz="2000" i="1">
                                        <a:effectLst/>
                                        <a:latin typeface="Cambria Math" panose="02040503050406030204" pitchFamily="18" charset="0"/>
                                        <a:ea typeface="Cambria Math" pitchFamily="18" charset="0"/>
                                      </a:rPr>
                                    </m:ctrlPr>
                                  </m:sSupPr>
                                  <m:e>
                                    <m:r>
                                      <a:rPr lang="en-US" sz="2000">
                                        <a:effectLst/>
                                        <a:latin typeface="Cambria Math" pitchFamily="18" charset="0"/>
                                        <a:ea typeface="Cambria Math" pitchFamily="18" charset="0"/>
                                      </a:rPr>
                                      <m:t>4</m:t>
                                    </m:r>
                                  </m:e>
                                  <m:sup>
                                    <m:r>
                                      <a:rPr lang="en-US" sz="2000">
                                        <a:effectLst/>
                                        <a:latin typeface="Cambria Math" pitchFamily="18" charset="0"/>
                                        <a:ea typeface="Cambria Math" pitchFamily="18" charset="0"/>
                                      </a:rPr>
                                      <m:t>3</m:t>
                                    </m:r>
                                  </m:sup>
                                </m:sSup>
                              </m:oMath>
                            </m:oMathPara>
                          </a14:m>
                          <a:endParaRPr lang="en-US" sz="2000" i="1">
                            <a:effectLst/>
                            <a:latin typeface="Cambria Math" pitchFamily="18" charset="0"/>
                            <a:ea typeface="Cambria Math" pitchFamily="18" charset="0"/>
                            <a:cs typeface="Cambria Math"/>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n-US" sz="2000">
                                    <a:effectLst/>
                                    <a:latin typeface="Cambria Math" pitchFamily="18" charset="0"/>
                                    <a:ea typeface="Cambria Math" pitchFamily="18" charset="0"/>
                                  </a:rPr>
                                  <m:t>26−</m:t>
                                </m:r>
                                <m:sSup>
                                  <m:sSupPr>
                                    <m:ctrlPr>
                                      <a:rPr lang="en-US" sz="2000" i="1">
                                        <a:effectLst/>
                                        <a:latin typeface="Cambria Math" panose="02040503050406030204" pitchFamily="18" charset="0"/>
                                        <a:ea typeface="Cambria Math" pitchFamily="18" charset="0"/>
                                      </a:rPr>
                                    </m:ctrlPr>
                                  </m:sSupPr>
                                  <m:e>
                                    <m:d>
                                      <m:dPr>
                                        <m:ctrlPr>
                                          <a:rPr lang="en-US" sz="2000" i="1">
                                            <a:effectLst/>
                                            <a:latin typeface="Cambria Math" panose="02040503050406030204" pitchFamily="18" charset="0"/>
                                            <a:ea typeface="Cambria Math" pitchFamily="18" charset="0"/>
                                          </a:rPr>
                                        </m:ctrlPr>
                                      </m:dPr>
                                      <m:e>
                                        <m:r>
                                          <a:rPr lang="en-US" sz="2000">
                                            <a:effectLst/>
                                            <a:latin typeface="Cambria Math" pitchFamily="18" charset="0"/>
                                            <a:ea typeface="Cambria Math" pitchFamily="18" charset="0"/>
                                          </a:rPr>
                                          <m:t>−4</m:t>
                                        </m:r>
                                      </m:e>
                                    </m:d>
                                  </m:e>
                                  <m:sup>
                                    <m:r>
                                      <a:rPr lang="en-US" sz="2000">
                                        <a:effectLst/>
                                        <a:latin typeface="Cambria Math" pitchFamily="18" charset="0"/>
                                        <a:ea typeface="Cambria Math" pitchFamily="18" charset="0"/>
                                      </a:rPr>
                                      <m:t>3</m:t>
                                    </m:r>
                                  </m:sup>
                                </m:sSup>
                              </m:oMath>
                            </m:oMathPara>
                          </a14:m>
                          <a:endParaRPr lang="en-US" sz="2000" i="1" dirty="0">
                            <a:effectLst/>
                            <a:latin typeface="Cambria Math" pitchFamily="18" charset="0"/>
                            <a:ea typeface="Cambria Math" pitchFamily="18" charset="0"/>
                            <a:cs typeface="Cambria Math"/>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r>
                            <a:rPr lang="en-US" sz="2000" dirty="0">
                              <a:effectLst/>
                              <a:latin typeface="Cambria Math" pitchFamily="18" charset="0"/>
                              <a:ea typeface="Cambria Math" pitchFamily="18" charset="0"/>
                            </a:rPr>
                            <a:t> </a:t>
                          </a:r>
                          <a:endParaRPr lang="en-US" sz="2000" i="1" dirty="0">
                            <a:effectLst/>
                            <a:latin typeface="Cambria Math" pitchFamily="18" charset="0"/>
                            <a:ea typeface="Cambria Math" pitchFamily="18" charset="0"/>
                            <a:cs typeface="Cambria Math"/>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514350">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n-US" sz="2000">
                                    <a:effectLst/>
                                    <a:latin typeface="Cambria Math" pitchFamily="18" charset="0"/>
                                    <a:ea typeface="Cambria Math" pitchFamily="18" charset="0"/>
                                  </a:rPr>
                                  <m:t>17+</m:t>
                                </m:r>
                                <m:sSup>
                                  <m:sSupPr>
                                    <m:ctrlPr>
                                      <a:rPr lang="en-US" sz="2000" i="1">
                                        <a:effectLst/>
                                        <a:latin typeface="Cambria Math" panose="02040503050406030204" pitchFamily="18" charset="0"/>
                                        <a:ea typeface="Cambria Math" pitchFamily="18" charset="0"/>
                                      </a:rPr>
                                    </m:ctrlPr>
                                  </m:sSupPr>
                                  <m:e>
                                    <m:r>
                                      <a:rPr lang="en-US" sz="2000">
                                        <a:effectLst/>
                                        <a:latin typeface="Cambria Math" pitchFamily="18" charset="0"/>
                                        <a:ea typeface="Cambria Math" pitchFamily="18" charset="0"/>
                                      </a:rPr>
                                      <m:t>(−2</m:t>
                                    </m:r>
                                  </m:e>
                                  <m:sup>
                                    <m:r>
                                      <a:rPr lang="en-US" sz="2000">
                                        <a:effectLst/>
                                        <a:latin typeface="Cambria Math" pitchFamily="18" charset="0"/>
                                        <a:ea typeface="Cambria Math" pitchFamily="18" charset="0"/>
                                      </a:rPr>
                                      <m:t>4</m:t>
                                    </m:r>
                                  </m:sup>
                                </m:sSup>
                                <m:r>
                                  <a:rPr lang="en-US" sz="2000">
                                    <a:effectLst/>
                                    <a:latin typeface="Cambria Math" pitchFamily="18" charset="0"/>
                                    <a:ea typeface="Cambria Math" pitchFamily="18" charset="0"/>
                                  </a:rPr>
                                  <m:t>)</m:t>
                                </m:r>
                              </m:oMath>
                            </m:oMathPara>
                          </a14:m>
                          <a:endParaRPr lang="en-US" sz="2000" i="1">
                            <a:effectLst/>
                            <a:latin typeface="Cambria Math" pitchFamily="18" charset="0"/>
                            <a:ea typeface="Cambria Math" pitchFamily="18" charset="0"/>
                            <a:cs typeface="Cambria Math"/>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n-US" sz="2000">
                                    <a:effectLst/>
                                    <a:latin typeface="Cambria Math" pitchFamily="18" charset="0"/>
                                    <a:ea typeface="Cambria Math" pitchFamily="18" charset="0"/>
                                  </a:rPr>
                                  <m:t>17−</m:t>
                                </m:r>
                                <m:sSup>
                                  <m:sSupPr>
                                    <m:ctrlPr>
                                      <a:rPr lang="en-US" sz="2000" i="1">
                                        <a:effectLst/>
                                        <a:latin typeface="Cambria Math" panose="02040503050406030204" pitchFamily="18" charset="0"/>
                                        <a:ea typeface="Cambria Math" pitchFamily="18" charset="0"/>
                                      </a:rPr>
                                    </m:ctrlPr>
                                  </m:sSupPr>
                                  <m:e>
                                    <m:r>
                                      <a:rPr lang="en-US" sz="2000">
                                        <a:effectLst/>
                                        <a:latin typeface="Cambria Math" pitchFamily="18" charset="0"/>
                                        <a:ea typeface="Cambria Math" pitchFamily="18" charset="0"/>
                                      </a:rPr>
                                      <m:t>(2</m:t>
                                    </m:r>
                                  </m:e>
                                  <m:sup>
                                    <m:r>
                                      <a:rPr lang="en-US" sz="2000">
                                        <a:effectLst/>
                                        <a:latin typeface="Cambria Math" pitchFamily="18" charset="0"/>
                                        <a:ea typeface="Cambria Math" pitchFamily="18" charset="0"/>
                                      </a:rPr>
                                      <m:t>4</m:t>
                                    </m:r>
                                  </m:sup>
                                </m:sSup>
                                <m:r>
                                  <a:rPr lang="en-US" sz="2000">
                                    <a:effectLst/>
                                    <a:latin typeface="Cambria Math" pitchFamily="18" charset="0"/>
                                    <a:ea typeface="Cambria Math" pitchFamily="18" charset="0"/>
                                  </a:rPr>
                                  <m:t>)</m:t>
                                </m:r>
                              </m:oMath>
                            </m:oMathPara>
                          </a14:m>
                          <a:endParaRPr lang="en-US" sz="2000" i="1">
                            <a:effectLst/>
                            <a:latin typeface="Cambria Math" pitchFamily="18" charset="0"/>
                            <a:ea typeface="Cambria Math" pitchFamily="18" charset="0"/>
                            <a:cs typeface="Cambria Math"/>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r>
                            <a:rPr lang="en-US" sz="2000" dirty="0">
                              <a:effectLst/>
                              <a:latin typeface="Cambria Math" pitchFamily="18" charset="0"/>
                              <a:ea typeface="Cambria Math" pitchFamily="18" charset="0"/>
                            </a:rPr>
                            <a:t> </a:t>
                          </a:r>
                          <a:endParaRPr lang="en-US" sz="2000" i="1" dirty="0">
                            <a:effectLst/>
                            <a:latin typeface="Cambria Math" pitchFamily="18" charset="0"/>
                            <a:ea typeface="Cambria Math" pitchFamily="18" charset="0"/>
                            <a:cs typeface="Cambria Math"/>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1831379585"/>
                  </p:ext>
                </p:extLst>
              </p:nvPr>
            </p:nvGraphicFramePr>
            <p:xfrm>
              <a:off x="1066800" y="3378368"/>
              <a:ext cx="6591300" cy="3131820"/>
            </p:xfrm>
            <a:graphic>
              <a:graphicData uri="http://schemas.openxmlformats.org/drawingml/2006/table">
                <a:tbl>
                  <a:tblPr bandRow="1">
                    <a:tableStyleId>{A91F0D33-8C57-4600-99A7-42BC86742BE1}</a:tableStyleId>
                  </a:tblPr>
                  <a:tblGrid>
                    <a:gridCol w="2045729"/>
                    <a:gridCol w="2144173"/>
                    <a:gridCol w="2401398"/>
                  </a:tblGrid>
                  <a:tr h="501650">
                    <a:tc>
                      <a:txBody>
                        <a:bodyPr/>
                        <a:lstStyle/>
                        <a:p>
                          <a:pPr algn="ctr">
                            <a:lnSpc>
                              <a:spcPct val="107000"/>
                            </a:lnSpc>
                            <a:spcAft>
                              <a:spcPts val="800"/>
                            </a:spcAft>
                          </a:pPr>
                          <a:r>
                            <a:rPr lang="en-US" sz="2000" b="1" dirty="0">
                              <a:effectLst/>
                              <a:latin typeface="Verdana" pitchFamily="34" charset="0"/>
                              <a:ea typeface="Verdana" pitchFamily="34" charset="0"/>
                            </a:rPr>
                            <a:t>Expression A</a:t>
                          </a:r>
                          <a:endParaRPr lang="en-US" sz="2000" b="1" i="1" dirty="0">
                            <a:effectLst/>
                            <a:latin typeface="Verdana" pitchFamily="34" charset="0"/>
                            <a:ea typeface="Verdana" pitchFamily="34" charset="0"/>
                            <a:cs typeface="Cambria Math"/>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lnSpc>
                              <a:spcPct val="107000"/>
                            </a:lnSpc>
                            <a:spcAft>
                              <a:spcPts val="800"/>
                            </a:spcAft>
                          </a:pPr>
                          <a:r>
                            <a:rPr lang="en-US" sz="2000" b="1" dirty="0">
                              <a:effectLst/>
                              <a:latin typeface="Verdana" pitchFamily="34" charset="0"/>
                              <a:ea typeface="Verdana" pitchFamily="34" charset="0"/>
                            </a:rPr>
                            <a:t>Expression B</a:t>
                          </a:r>
                          <a:endParaRPr lang="en-US" sz="2000" b="1" i="1" dirty="0">
                            <a:effectLst/>
                            <a:latin typeface="Verdana" pitchFamily="34" charset="0"/>
                            <a:ea typeface="Verdana" pitchFamily="34" charset="0"/>
                            <a:cs typeface="Cambria Math"/>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lnSpc>
                              <a:spcPct val="107000"/>
                            </a:lnSpc>
                            <a:spcAft>
                              <a:spcPts val="800"/>
                            </a:spcAft>
                          </a:pPr>
                          <a:r>
                            <a:rPr lang="en-US" sz="2000" b="1" dirty="0">
                              <a:effectLst/>
                              <a:latin typeface="Verdana" pitchFamily="34" charset="0"/>
                              <a:ea typeface="Verdana" pitchFamily="34" charset="0"/>
                            </a:rPr>
                            <a:t>Equivalent?</a:t>
                          </a:r>
                          <a:endParaRPr lang="en-US" sz="2000" b="1" i="1" dirty="0">
                            <a:effectLst/>
                            <a:latin typeface="Verdana" pitchFamily="34" charset="0"/>
                            <a:ea typeface="Verdana" pitchFamily="34" charset="0"/>
                            <a:cs typeface="Cambria Math"/>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r>
                  <a:tr h="528955">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5"/>
                          <a:stretch>
                            <a:fillRect t="-94253" r="-222024" b="-396552"/>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5"/>
                          <a:stretch>
                            <a:fillRect l="-95726" t="-94253" r="-112536" b="-396552"/>
                          </a:stretch>
                        </a:blipFill>
                      </a:tcPr>
                    </a:tc>
                    <a:tc>
                      <a:txBody>
                        <a:bodyPr/>
                        <a:lstStyle/>
                        <a:p>
                          <a:pPr algn="ctr">
                            <a:lnSpc>
                              <a:spcPct val="107000"/>
                            </a:lnSpc>
                            <a:spcAft>
                              <a:spcPts val="800"/>
                            </a:spcAft>
                          </a:pPr>
                          <a:r>
                            <a:rPr lang="en-US" sz="2000">
                              <a:effectLst/>
                              <a:latin typeface="Cambria Math" pitchFamily="18" charset="0"/>
                              <a:ea typeface="Cambria Math" pitchFamily="18" charset="0"/>
                            </a:rPr>
                            <a:t> </a:t>
                          </a:r>
                          <a:endParaRPr lang="en-US" sz="2000" i="1">
                            <a:effectLst/>
                            <a:latin typeface="Cambria Math" pitchFamily="18" charset="0"/>
                            <a:ea typeface="Cambria Math" pitchFamily="18" charset="0"/>
                            <a:cs typeface="Cambria Math"/>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28955">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5"/>
                          <a:stretch>
                            <a:fillRect t="-194253" r="-222024" b="-296552"/>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5"/>
                          <a:stretch>
                            <a:fillRect l="-95726" t="-194253" r="-112536" b="-296552"/>
                          </a:stretch>
                        </a:blipFill>
                      </a:tcPr>
                    </a:tc>
                    <a:tc>
                      <a:txBody>
                        <a:bodyPr/>
                        <a:lstStyle/>
                        <a:p>
                          <a:pPr algn="ctr">
                            <a:lnSpc>
                              <a:spcPct val="107000"/>
                            </a:lnSpc>
                            <a:spcAft>
                              <a:spcPts val="800"/>
                            </a:spcAft>
                          </a:pPr>
                          <a:r>
                            <a:rPr lang="en-US" sz="2000">
                              <a:effectLst/>
                              <a:latin typeface="Cambria Math" pitchFamily="18" charset="0"/>
                              <a:ea typeface="Cambria Math" pitchFamily="18" charset="0"/>
                            </a:rPr>
                            <a:t> </a:t>
                          </a:r>
                          <a:endParaRPr lang="en-US" sz="2000" i="1">
                            <a:effectLst/>
                            <a:latin typeface="Cambria Math" pitchFamily="18" charset="0"/>
                            <a:ea typeface="Cambria Math" pitchFamily="18" charset="0"/>
                            <a:cs typeface="Cambria Math"/>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28955">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5"/>
                          <a:stretch>
                            <a:fillRect t="-294253" r="-222024" b="-196552"/>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5"/>
                          <a:stretch>
                            <a:fillRect l="-95726" t="-294253" r="-112536" b="-196552"/>
                          </a:stretch>
                        </a:blipFill>
                      </a:tcPr>
                    </a:tc>
                    <a:tc>
                      <a:txBody>
                        <a:bodyPr/>
                        <a:lstStyle/>
                        <a:p>
                          <a:pPr algn="ctr">
                            <a:lnSpc>
                              <a:spcPct val="107000"/>
                            </a:lnSpc>
                            <a:spcAft>
                              <a:spcPts val="800"/>
                            </a:spcAft>
                          </a:pPr>
                          <a:r>
                            <a:rPr lang="en-US" sz="2000" dirty="0">
                              <a:effectLst/>
                              <a:latin typeface="Cambria Math" pitchFamily="18" charset="0"/>
                              <a:ea typeface="Cambria Math" pitchFamily="18" charset="0"/>
                            </a:rPr>
                            <a:t> </a:t>
                          </a:r>
                          <a:endParaRPr lang="en-US" sz="2000" i="1" dirty="0">
                            <a:effectLst/>
                            <a:latin typeface="Cambria Math" pitchFamily="18" charset="0"/>
                            <a:ea typeface="Cambria Math" pitchFamily="18" charset="0"/>
                            <a:cs typeface="Cambria Math"/>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28955">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5"/>
                          <a:stretch>
                            <a:fillRect t="-394253" r="-222024" b="-96552"/>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5"/>
                          <a:stretch>
                            <a:fillRect l="-95726" t="-394253" r="-112536" b="-96552"/>
                          </a:stretch>
                        </a:blipFill>
                      </a:tcPr>
                    </a:tc>
                    <a:tc>
                      <a:txBody>
                        <a:bodyPr/>
                        <a:lstStyle/>
                        <a:p>
                          <a:pPr algn="ctr">
                            <a:lnSpc>
                              <a:spcPct val="107000"/>
                            </a:lnSpc>
                            <a:spcAft>
                              <a:spcPts val="800"/>
                            </a:spcAft>
                          </a:pPr>
                          <a:r>
                            <a:rPr lang="en-US" sz="2000" dirty="0">
                              <a:effectLst/>
                              <a:latin typeface="Cambria Math" pitchFamily="18" charset="0"/>
                              <a:ea typeface="Cambria Math" pitchFamily="18" charset="0"/>
                            </a:rPr>
                            <a:t> </a:t>
                          </a:r>
                          <a:endParaRPr lang="en-US" sz="2000" i="1" dirty="0">
                            <a:effectLst/>
                            <a:latin typeface="Cambria Math" pitchFamily="18" charset="0"/>
                            <a:ea typeface="Cambria Math" pitchFamily="18" charset="0"/>
                            <a:cs typeface="Cambria Math"/>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1435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5"/>
                          <a:stretch>
                            <a:fillRect t="-511905" r="-222024"/>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5"/>
                          <a:stretch>
                            <a:fillRect l="-95726" t="-511905" r="-112536"/>
                          </a:stretch>
                        </a:blipFill>
                      </a:tcPr>
                    </a:tc>
                    <a:tc>
                      <a:txBody>
                        <a:bodyPr/>
                        <a:lstStyle/>
                        <a:p>
                          <a:pPr algn="ctr">
                            <a:lnSpc>
                              <a:spcPct val="107000"/>
                            </a:lnSpc>
                            <a:spcAft>
                              <a:spcPts val="800"/>
                            </a:spcAft>
                          </a:pPr>
                          <a:r>
                            <a:rPr lang="en-US" sz="2000" dirty="0">
                              <a:effectLst/>
                              <a:latin typeface="Cambria Math" pitchFamily="18" charset="0"/>
                              <a:ea typeface="Cambria Math" pitchFamily="18" charset="0"/>
                            </a:rPr>
                            <a:t> </a:t>
                          </a:r>
                          <a:endParaRPr lang="en-US" sz="2000" i="1" dirty="0">
                            <a:effectLst/>
                            <a:latin typeface="Cambria Math" pitchFamily="18" charset="0"/>
                            <a:ea typeface="Cambria Math" pitchFamily="18" charset="0"/>
                            <a:cs typeface="Cambria Math"/>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mc:Fallback>
      </mc:AlternateContent>
      <p:sp>
        <p:nvSpPr>
          <p:cNvPr id="8" name="Google Shape;282;g104476d1465_1_17"/>
          <p:cNvSpPr txBox="1"/>
          <p:nvPr/>
        </p:nvSpPr>
        <p:spPr>
          <a:xfrm>
            <a:off x="8672903"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267</a:t>
            </a:r>
            <a:endParaRPr i="1" dirty="0">
              <a:latin typeface="Calibri"/>
              <a:ea typeface="Calibri"/>
              <a:cs typeface="Calibri"/>
              <a:sym typeface="Calibri"/>
            </a:endParaRPr>
          </a:p>
        </p:txBody>
      </p:sp>
      <p:pic>
        <p:nvPicPr>
          <p:cNvPr id="9"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11129"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5274578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TextBox 13">
            <a:extLst>
              <a:ext uri="{FF2B5EF4-FFF2-40B4-BE49-F238E27FC236}">
                <a16:creationId xmlns:a16="http://schemas.microsoft.com/office/drawing/2014/main" id="{2FA392D8-3ED3-7940-83A8-1451AA8A08D4}"/>
              </a:ext>
            </a:extLst>
          </p:cNvPr>
          <p:cNvSpPr txBox="1"/>
          <p:nvPr/>
        </p:nvSpPr>
        <p:spPr>
          <a:xfrm>
            <a:off x="954741" y="520393"/>
            <a:ext cx="10433184" cy="1277850"/>
          </a:xfrm>
          <a:prstGeom prst="rect">
            <a:avLst/>
          </a:prstGeom>
          <a:noFill/>
        </p:spPr>
        <p:txBody>
          <a:bodyPr wrap="square" rtlCol="0">
            <a:spAutoFit/>
          </a:bodyPr>
          <a:lstStyle/>
          <a:p>
            <a:pPr marL="457200" indent="-457200">
              <a:lnSpc>
                <a:spcPct val="107000"/>
              </a:lnSpc>
              <a:buFont typeface="+mj-lt"/>
              <a:buAutoNum type="arabicPeriod" startAt="3"/>
            </a:pPr>
            <a:r>
              <a:rPr lang="en-US" sz="2400" dirty="0">
                <a:latin typeface="Verdana"/>
                <a:ea typeface="Verdana"/>
                <a:cs typeface="Verdana"/>
              </a:rPr>
              <a:t>Describe a strategy that can be used when evaluating expressions with exponents that include a negative sign or a subtraction sign.</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6" name="Google Shape;282;g104476d1465_1_17"/>
          <p:cNvSpPr txBox="1"/>
          <p:nvPr/>
        </p:nvSpPr>
        <p:spPr>
          <a:xfrm>
            <a:off x="8672903"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267</a:t>
            </a:r>
            <a:endParaRPr i="1" dirty="0">
              <a:latin typeface="Calibri"/>
              <a:ea typeface="Calibri"/>
              <a:cs typeface="Calibri"/>
              <a:sym typeface="Calibri"/>
            </a:endParaRPr>
          </a:p>
        </p:txBody>
      </p:sp>
      <p:pic>
        <p:nvPicPr>
          <p:cNvPr id="8"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11129"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3143333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1089212" y="520393"/>
                <a:ext cx="10164242" cy="3914854"/>
              </a:xfrm>
              <a:prstGeom prst="rect">
                <a:avLst/>
              </a:prstGeom>
              <a:noFill/>
            </p:spPr>
            <p:txBody>
              <a:bodyPr wrap="square" rtlCol="0">
                <a:spAutoFit/>
              </a:bodyPr>
              <a:lstStyle/>
              <a:p>
                <a:pPr marL="457200" indent="-457200">
                  <a:lnSpc>
                    <a:spcPct val="107000"/>
                  </a:lnSpc>
                  <a:buFont typeface="+mj-lt"/>
                  <a:buAutoNum type="arabicPeriod" startAt="4"/>
                </a:pPr>
                <a:r>
                  <a:rPr lang="en-US" sz="2400" dirty="0">
                    <a:latin typeface="Verdana"/>
                    <a:ea typeface="Verdana"/>
                    <a:cs typeface="Verdana"/>
                  </a:rPr>
                  <a:t>Elizabeth evaluated </a:t>
                </a:r>
                <a14:m>
                  <m:oMath xmlns:m="http://schemas.openxmlformats.org/officeDocument/2006/math">
                    <m:r>
                      <a:rPr lang="en-PH" sz="2400" i="1">
                        <a:latin typeface="Cambria Math"/>
                        <a:ea typeface="Verdana"/>
                        <a:cs typeface="Verdana"/>
                      </a:rPr>
                      <m:t>𝑏</m:t>
                    </m:r>
                    <m:r>
                      <a:rPr lang="en-PH" sz="2400" i="1">
                        <a:latin typeface="Cambria Math"/>
                        <a:ea typeface="Verdana"/>
                        <a:cs typeface="Verdana"/>
                      </a:rPr>
                      <m:t>+</m:t>
                    </m:r>
                    <m:sSup>
                      <m:sSupPr>
                        <m:ctrlPr>
                          <a:rPr lang="en-PH" sz="2400" i="1">
                            <a:latin typeface="Cambria Math" panose="02040503050406030204" pitchFamily="18" charset="0"/>
                            <a:ea typeface="Verdana"/>
                          </a:rPr>
                        </m:ctrlPr>
                      </m:sSupPr>
                      <m:e>
                        <m:r>
                          <a:rPr lang="en-PH" sz="2400" i="1">
                            <a:latin typeface="Cambria Math"/>
                            <a:ea typeface="Verdana"/>
                          </a:rPr>
                          <m:t>𝑎</m:t>
                        </m:r>
                      </m:e>
                      <m:sup>
                        <m:r>
                          <a:rPr lang="en-PH" sz="2400" i="1">
                            <a:latin typeface="Cambria Math"/>
                            <a:ea typeface="Verdana"/>
                          </a:rPr>
                          <m:t>3</m:t>
                        </m:r>
                      </m:sup>
                    </m:sSup>
                    <m:r>
                      <a:rPr lang="en-PH" sz="2400" i="1">
                        <a:latin typeface="Cambria Math"/>
                        <a:ea typeface="Cambria Math"/>
                      </a:rPr>
                      <m:t>∙7−9</m:t>
                    </m:r>
                  </m:oMath>
                </a14:m>
                <a:r>
                  <a:rPr lang="en-US" sz="2400" dirty="0">
                    <a:latin typeface="Verdana"/>
                    <a:ea typeface="Verdana"/>
                    <a:cs typeface="Verdana"/>
                  </a:rPr>
                  <a:t> when </a:t>
                </a:r>
                <a14:m>
                  <m:oMath xmlns:m="http://schemas.openxmlformats.org/officeDocument/2006/math">
                    <m:r>
                      <a:rPr lang="en-PH" sz="2400" i="1">
                        <a:latin typeface="Cambria Math"/>
                        <a:ea typeface="Verdana"/>
                        <a:cs typeface="Verdana"/>
                      </a:rPr>
                      <m:t>𝑎</m:t>
                    </m:r>
                    <m:r>
                      <a:rPr lang="en-PH" sz="2400" i="1">
                        <a:latin typeface="Cambria Math"/>
                        <a:ea typeface="Verdana"/>
                        <a:cs typeface="Verdana"/>
                      </a:rPr>
                      <m:t>=−4</m:t>
                    </m:r>
                  </m:oMath>
                </a14:m>
                <a:r>
                  <a:rPr lang="en-US" sz="2400" dirty="0">
                    <a:latin typeface="Verdana"/>
                    <a:ea typeface="Verdana"/>
                    <a:cs typeface="Verdana"/>
                  </a:rPr>
                  <a:t> and </a:t>
                </a:r>
                <a14:m>
                  <m:oMath xmlns:m="http://schemas.openxmlformats.org/officeDocument/2006/math">
                    <m:r>
                      <a:rPr lang="en-PH" sz="2400" i="1">
                        <a:latin typeface="Cambria Math"/>
                        <a:ea typeface="Verdana"/>
                        <a:cs typeface="Verdana"/>
                      </a:rPr>
                      <m:t>𝑏</m:t>
                    </m:r>
                    <m:r>
                      <a:rPr lang="en-PH" sz="2400" i="1">
                        <a:latin typeface="Cambria Math"/>
                        <a:ea typeface="Verdana"/>
                        <a:cs typeface="Verdana"/>
                      </a:rPr>
                      <m:t>=17</m:t>
                    </m:r>
                  </m:oMath>
                </a14:m>
                <a:r>
                  <a:rPr lang="en-US" sz="2400" dirty="0">
                    <a:latin typeface="Verdana"/>
                    <a:ea typeface="Verdana"/>
                    <a:cs typeface="Verdana"/>
                  </a:rPr>
                  <a:t>. Her work is below.</a:t>
                </a:r>
              </a:p>
              <a:p>
                <a:pPr lvl="0">
                  <a:lnSpc>
                    <a:spcPct val="107000"/>
                  </a:lnSpc>
                </a:pPr>
                <a:endParaRPr lang="en-PH" sz="2400" dirty="0">
                  <a:latin typeface="Verdana"/>
                  <a:ea typeface="Verdana"/>
                  <a:cs typeface="Verdana"/>
                </a:endParaRPr>
              </a:p>
              <a:p>
                <a:pPr marL="914400" indent="-457200">
                  <a:lnSpc>
                    <a:spcPct val="107000"/>
                  </a:lnSpc>
                  <a:buFont typeface="+mj-lt"/>
                  <a:buAutoNum type="alphaLcPeriod"/>
                </a:pPr>
                <a:r>
                  <a:rPr lang="en-US" sz="2400" dirty="0">
                    <a:latin typeface="Verdana"/>
                    <a:ea typeface="Cambria Math"/>
                    <a:cs typeface="Cambria Math"/>
                  </a:rPr>
                  <a:t>Circle Elizabeth’s error.</a:t>
                </a:r>
                <a:br>
                  <a:rPr lang="en-US" sz="2400" dirty="0">
                    <a:latin typeface="Verdana"/>
                    <a:ea typeface="Cambria Math"/>
                    <a:cs typeface="Cambria Math"/>
                  </a:rPr>
                </a:br>
                <a:endParaRPr lang="en-US" sz="2400" dirty="0">
                  <a:latin typeface="Verdana"/>
                  <a:ea typeface="Cambria Math"/>
                  <a:cs typeface="Cambria Math"/>
                </a:endParaRPr>
              </a:p>
              <a:p>
                <a:pPr/>
                <a14:m>
                  <m:oMathPara xmlns:m="http://schemas.openxmlformats.org/officeDocument/2006/math">
                    <m:oMathParaPr>
                      <m:jc m:val="centerGroup"/>
                    </m:oMathParaPr>
                    <m:oMath xmlns:m="http://schemas.openxmlformats.org/officeDocument/2006/math">
                      <m:r>
                        <a:rPr lang="en-US" sz="2400" i="1">
                          <a:latin typeface="Cambria Math" pitchFamily="18" charset="0"/>
                          <a:ea typeface="Cambria Math" pitchFamily="18" charset="0"/>
                        </a:rPr>
                        <m:t>17+</m:t>
                      </m:r>
                      <m:sSup>
                        <m:sSupPr>
                          <m:ctrlPr>
                            <a:rPr lang="en-US" sz="2400" i="1">
                              <a:latin typeface="Cambria Math" panose="02040503050406030204" pitchFamily="18" charset="0"/>
                              <a:ea typeface="Cambria Math" pitchFamily="18" charset="0"/>
                            </a:rPr>
                          </m:ctrlPr>
                        </m:sSupPr>
                        <m:e>
                          <m:r>
                            <a:rPr lang="en-US" sz="2400" i="1">
                              <a:latin typeface="Cambria Math" panose="02040503050406030204" pitchFamily="18" charset="0"/>
                              <a:ea typeface="Cambria Math" pitchFamily="18" charset="0"/>
                            </a:rPr>
                            <m:t>(−4)</m:t>
                          </m:r>
                        </m:e>
                        <m:sup>
                          <m:r>
                            <a:rPr lang="en-US" sz="2400" i="1">
                              <a:latin typeface="Cambria Math" panose="02040503050406030204" pitchFamily="18" charset="0"/>
                              <a:ea typeface="Cambria Math" pitchFamily="18" charset="0"/>
                            </a:rPr>
                            <m:t>3</m:t>
                          </m:r>
                        </m:sup>
                      </m:sSup>
                      <m:r>
                        <a:rPr lang="en-US" sz="2400" i="1">
                          <a:latin typeface="Cambria Math" pitchFamily="18" charset="0"/>
                          <a:ea typeface="Cambria Math" pitchFamily="18" charset="0"/>
                        </a:rPr>
                        <m:t>∙7−9</m:t>
                      </m:r>
                    </m:oMath>
                  </m:oMathPara>
                </a14:m>
                <a:endParaRPr lang="en-US" sz="2400" i="1" dirty="0">
                  <a:latin typeface="Cambria Math" pitchFamily="18" charset="0"/>
                  <a:ea typeface="Cambria Math" pitchFamily="18" charset="0"/>
                </a:endParaRPr>
              </a:p>
              <a:p>
                <a:pPr/>
                <a14:m>
                  <m:oMathPara xmlns:m="http://schemas.openxmlformats.org/officeDocument/2006/math">
                    <m:oMathParaPr>
                      <m:jc m:val="centerGroup"/>
                    </m:oMathParaPr>
                    <m:oMath xmlns:m="http://schemas.openxmlformats.org/officeDocument/2006/math">
                      <m:r>
                        <a:rPr lang="en-US" sz="2400" i="1">
                          <a:latin typeface="Cambria Math" pitchFamily="18" charset="0"/>
                          <a:ea typeface="Cambria Math" pitchFamily="18" charset="0"/>
                        </a:rPr>
                        <m:t>17+(−64)∙7−9</m:t>
                      </m:r>
                    </m:oMath>
                  </m:oMathPara>
                </a14:m>
                <a:endParaRPr lang="en-US" sz="2400" i="1" dirty="0">
                  <a:latin typeface="Cambria Math" pitchFamily="18" charset="0"/>
                  <a:ea typeface="Cambria Math" pitchFamily="18" charset="0"/>
                </a:endParaRPr>
              </a:p>
              <a:p>
                <a:pPr/>
                <a14:m>
                  <m:oMathPara xmlns:m="http://schemas.openxmlformats.org/officeDocument/2006/math">
                    <m:oMathParaPr>
                      <m:jc m:val="centerGroup"/>
                    </m:oMathParaPr>
                    <m:oMath xmlns:m="http://schemas.openxmlformats.org/officeDocument/2006/math">
                      <m:r>
                        <a:rPr lang="en-US" sz="2400" i="1">
                          <a:latin typeface="Cambria Math" pitchFamily="18" charset="0"/>
                          <a:ea typeface="Cambria Math" pitchFamily="18" charset="0"/>
                        </a:rPr>
                        <m:t>(−47)∙7−9</m:t>
                      </m:r>
                    </m:oMath>
                  </m:oMathPara>
                </a14:m>
                <a:endParaRPr lang="en-US" sz="2400" i="1" dirty="0">
                  <a:latin typeface="Cambria Math" pitchFamily="18" charset="0"/>
                  <a:ea typeface="Cambria Math" pitchFamily="18" charset="0"/>
                </a:endParaRPr>
              </a:p>
              <a:p>
                <a:pPr/>
                <a14:m>
                  <m:oMathPara xmlns:m="http://schemas.openxmlformats.org/officeDocument/2006/math">
                    <m:oMathParaPr>
                      <m:jc m:val="centerGroup"/>
                    </m:oMathParaPr>
                    <m:oMath xmlns:m="http://schemas.openxmlformats.org/officeDocument/2006/math">
                      <m:r>
                        <a:rPr lang="en-US" sz="2400" i="1">
                          <a:latin typeface="Cambria Math" pitchFamily="18" charset="0"/>
                          <a:ea typeface="Cambria Math" pitchFamily="18" charset="0"/>
                        </a:rPr>
                        <m:t>−329−9</m:t>
                      </m:r>
                    </m:oMath>
                  </m:oMathPara>
                </a14:m>
                <a:endParaRPr lang="en-US" sz="2400" i="1" dirty="0">
                  <a:latin typeface="Cambria Math" pitchFamily="18" charset="0"/>
                  <a:ea typeface="Cambria Math" pitchFamily="18" charset="0"/>
                </a:endParaRPr>
              </a:p>
              <a:p>
                <a:pPr/>
                <a14:m>
                  <m:oMathPara xmlns:m="http://schemas.openxmlformats.org/officeDocument/2006/math">
                    <m:oMathParaPr>
                      <m:jc m:val="centerGroup"/>
                    </m:oMathParaPr>
                    <m:oMath xmlns:m="http://schemas.openxmlformats.org/officeDocument/2006/math">
                      <m:r>
                        <a:rPr lang="en-US" sz="2400" i="1">
                          <a:latin typeface="Cambria Math" pitchFamily="18" charset="0"/>
                          <a:ea typeface="Cambria Math" pitchFamily="18" charset="0"/>
                        </a:rPr>
                        <m:t>−338</m:t>
                      </m:r>
                    </m:oMath>
                  </m:oMathPara>
                </a14:m>
                <a:endParaRPr lang="en-US" sz="2400" i="1" dirty="0">
                  <a:latin typeface="Cambria Math" pitchFamily="18" charset="0"/>
                  <a:ea typeface="Cambria Math" pitchFamily="18" charset="0"/>
                </a:endParaRP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1089212" y="520393"/>
                <a:ext cx="10164242" cy="3914854"/>
              </a:xfrm>
              <a:prstGeom prst="rect">
                <a:avLst/>
              </a:prstGeom>
              <a:blipFill rotWithShape="0">
                <a:blip r:embed="rId3"/>
                <a:stretch>
                  <a:fillRect l="-960" t="-1555"/>
                </a:stretch>
              </a:blipFill>
            </p:spPr>
            <p:txBody>
              <a:bodyPr/>
              <a:lstStyle/>
              <a:p>
                <a:r>
                  <a:rPr lang="en-US">
                    <a:noFill/>
                  </a:rPr>
                  <a:t> </a:t>
                </a:r>
              </a:p>
            </p:txBody>
          </p:sp>
        </mc:Fallback>
      </mc:AlternateContent>
      <p:sp>
        <p:nvSpPr>
          <p:cNvPr id="7" name="Google Shape;282;g104476d1465_1_17"/>
          <p:cNvSpPr txBox="1"/>
          <p:nvPr/>
        </p:nvSpPr>
        <p:spPr>
          <a:xfrm>
            <a:off x="8672903"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268</a:t>
            </a:r>
            <a:endParaRPr i="1" dirty="0">
              <a:latin typeface="Calibri"/>
              <a:ea typeface="Calibri"/>
              <a:cs typeface="Calibri"/>
              <a:sym typeface="Calibri"/>
            </a:endParaRPr>
          </a:p>
        </p:txBody>
      </p:sp>
      <p:pic>
        <p:nvPicPr>
          <p:cNvPr id="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11129"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777318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TextBox 13">
            <a:extLst>
              <a:ext uri="{FF2B5EF4-FFF2-40B4-BE49-F238E27FC236}">
                <a16:creationId xmlns:a16="http://schemas.microsoft.com/office/drawing/2014/main" id="{2FA392D8-3ED3-7940-83A8-1451AA8A08D4}"/>
              </a:ext>
            </a:extLst>
          </p:cNvPr>
          <p:cNvSpPr txBox="1"/>
          <p:nvPr/>
        </p:nvSpPr>
        <p:spPr>
          <a:xfrm>
            <a:off x="1156447" y="520394"/>
            <a:ext cx="10029772" cy="4505721"/>
          </a:xfrm>
          <a:prstGeom prst="rect">
            <a:avLst/>
          </a:prstGeom>
          <a:noFill/>
        </p:spPr>
        <p:txBody>
          <a:bodyPr wrap="square" rtlCol="0">
            <a:spAutoFit/>
          </a:bodyPr>
          <a:lstStyle/>
          <a:p>
            <a:pPr marL="914400" indent="-457200">
              <a:lnSpc>
                <a:spcPct val="107000"/>
              </a:lnSpc>
              <a:buFont typeface="+mj-lt"/>
              <a:buAutoNum type="alphaLcPeriod" startAt="2"/>
            </a:pPr>
            <a:r>
              <a:rPr lang="en-US" sz="2400" dirty="0">
                <a:latin typeface="Verdana"/>
                <a:ea typeface="Cambria Math"/>
                <a:cs typeface="Cambria Math"/>
              </a:rPr>
              <a:t>Which step of the order of operations did she not apply correctly?</a:t>
            </a:r>
          </a:p>
          <a:p>
            <a:pPr marL="914400" indent="-457200">
              <a:lnSpc>
                <a:spcPct val="107000"/>
              </a:lnSpc>
              <a:buFont typeface="+mj-lt"/>
              <a:buAutoNum type="alphaLcPeriod" startAt="2"/>
            </a:pPr>
            <a:endParaRPr lang="en-US" sz="2400" dirty="0">
              <a:latin typeface="Verdana"/>
              <a:ea typeface="Cambria Math"/>
              <a:cs typeface="Cambria Math"/>
            </a:endParaRPr>
          </a:p>
          <a:p>
            <a:pPr marL="1371600" indent="-457200">
              <a:lnSpc>
                <a:spcPct val="107000"/>
              </a:lnSpc>
              <a:buFont typeface="+mj-lt"/>
              <a:buAutoNum type="alphaUcPeriod"/>
            </a:pPr>
            <a:r>
              <a:rPr lang="en-US" sz="2400" dirty="0">
                <a:latin typeface="Verdana"/>
                <a:ea typeface="Cambria Math"/>
                <a:cs typeface="Cambria Math"/>
              </a:rPr>
              <a:t>Evaluate expressions with exponents.</a:t>
            </a:r>
          </a:p>
          <a:p>
            <a:pPr marL="1371600" indent="-457200">
              <a:lnSpc>
                <a:spcPct val="107000"/>
              </a:lnSpc>
              <a:spcBef>
                <a:spcPts val="1200"/>
              </a:spcBef>
              <a:buFont typeface="+mj-lt"/>
              <a:buAutoNum type="alphaUcPeriod"/>
            </a:pPr>
            <a:r>
              <a:rPr lang="en-US" sz="2400" dirty="0">
                <a:latin typeface="Verdana"/>
                <a:ea typeface="Cambria Math"/>
                <a:cs typeface="Cambria Math"/>
              </a:rPr>
              <a:t>Perform operations inside grouping symbols.</a:t>
            </a:r>
          </a:p>
          <a:p>
            <a:pPr marL="1371600" indent="-457200">
              <a:lnSpc>
                <a:spcPct val="107000"/>
              </a:lnSpc>
              <a:spcBef>
                <a:spcPts val="1200"/>
              </a:spcBef>
              <a:buFont typeface="+mj-lt"/>
              <a:buAutoNum type="alphaUcPeriod"/>
            </a:pPr>
            <a:r>
              <a:rPr lang="en-US" sz="2400" dirty="0">
                <a:latin typeface="Verdana"/>
                <a:ea typeface="Cambria Math"/>
                <a:cs typeface="Cambria Math"/>
              </a:rPr>
              <a:t>Perform multiplication and division in </a:t>
            </a:r>
            <a:br>
              <a:rPr lang="en-US" sz="2400" dirty="0">
                <a:latin typeface="Verdana"/>
                <a:ea typeface="Cambria Math"/>
                <a:cs typeface="Cambria Math"/>
              </a:rPr>
            </a:br>
            <a:r>
              <a:rPr lang="en-US" sz="2400" dirty="0">
                <a:latin typeface="Verdana"/>
                <a:ea typeface="Cambria Math"/>
                <a:cs typeface="Cambria Math"/>
              </a:rPr>
              <a:t>order from left to right.</a:t>
            </a:r>
          </a:p>
          <a:p>
            <a:pPr marL="1371600" indent="-457200">
              <a:lnSpc>
                <a:spcPct val="107000"/>
              </a:lnSpc>
              <a:spcBef>
                <a:spcPts val="1200"/>
              </a:spcBef>
              <a:buFont typeface="+mj-lt"/>
              <a:buAutoNum type="alphaUcPeriod"/>
            </a:pPr>
            <a:r>
              <a:rPr lang="en-US" sz="2400" dirty="0">
                <a:latin typeface="Verdana"/>
                <a:ea typeface="Cambria Math"/>
                <a:cs typeface="Cambria Math"/>
              </a:rPr>
              <a:t>Perform addition and subtraction in </a:t>
            </a:r>
            <a:br>
              <a:rPr lang="en-US" sz="2400" dirty="0">
                <a:latin typeface="Verdana"/>
                <a:ea typeface="Cambria Math"/>
                <a:cs typeface="Cambria Math"/>
              </a:rPr>
            </a:br>
            <a:r>
              <a:rPr lang="en-US" sz="2400" dirty="0">
                <a:latin typeface="Verdana"/>
                <a:ea typeface="Cambria Math"/>
                <a:cs typeface="Cambria Math"/>
              </a:rPr>
              <a:t>order from left to right.</a:t>
            </a:r>
            <a:br>
              <a:rPr lang="en-US" sz="2400" dirty="0">
                <a:latin typeface="Verdana"/>
                <a:ea typeface="Cambria Math"/>
                <a:cs typeface="Cambria Math"/>
              </a:rPr>
            </a:br>
            <a:endParaRPr lang="en-US" sz="2400" i="1" dirty="0">
              <a:latin typeface="Cambria Math" pitchFamily="18" charset="0"/>
              <a:ea typeface="Cambria Math" pitchFamily="18" charset="0"/>
            </a:endParaRPr>
          </a:p>
        </p:txBody>
      </p:sp>
      <p:sp>
        <p:nvSpPr>
          <p:cNvPr id="6" name="Google Shape;282;g104476d1465_1_17"/>
          <p:cNvSpPr txBox="1"/>
          <p:nvPr/>
        </p:nvSpPr>
        <p:spPr>
          <a:xfrm>
            <a:off x="8672903"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268</a:t>
            </a:r>
            <a:endParaRPr i="1" dirty="0">
              <a:latin typeface="Calibri"/>
              <a:ea typeface="Calibri"/>
              <a:cs typeface="Calibri"/>
              <a:sym typeface="Calibri"/>
            </a:endParaRPr>
          </a:p>
        </p:txBody>
      </p:sp>
      <p:pic>
        <p:nvPicPr>
          <p:cNvPr id="7"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11129"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3103310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pSp>
        <p:nvGrpSpPr>
          <p:cNvPr id="6" name="Group 5"/>
          <p:cNvGrpSpPr/>
          <p:nvPr/>
        </p:nvGrpSpPr>
        <p:grpSpPr>
          <a:xfrm>
            <a:off x="1943885" y="243267"/>
            <a:ext cx="8391018" cy="3181558"/>
            <a:chOff x="2031300" y="2777378"/>
            <a:chExt cx="8391018" cy="3182275"/>
          </a:xfrm>
        </p:grpSpPr>
        <p:grpSp>
          <p:nvGrpSpPr>
            <p:cNvPr id="7" name="Group 6"/>
            <p:cNvGrpSpPr/>
            <p:nvPr/>
          </p:nvGrpSpPr>
          <p:grpSpPr>
            <a:xfrm>
              <a:off x="2031300" y="2777378"/>
              <a:ext cx="8391018" cy="3182275"/>
              <a:chOff x="2031300" y="2777378"/>
              <a:chExt cx="8391018" cy="3182275"/>
            </a:xfrm>
          </p:grpSpPr>
          <p:sp>
            <p:nvSpPr>
              <p:cNvPr id="8" name="Rectangle 7"/>
              <p:cNvSpPr/>
              <p:nvPr/>
            </p:nvSpPr>
            <p:spPr>
              <a:xfrm>
                <a:off x="2031300" y="3252950"/>
                <a:ext cx="6629400" cy="1054100"/>
              </a:xfrm>
              <a:prstGeom prst="rect">
                <a:avLst/>
              </a:prstGeom>
              <a:noFill/>
              <a:ln>
                <a:noFill/>
              </a:ln>
            </p:spPr>
            <p:txBody>
              <a:bodyPr spcFirstLastPara="1" wrap="square" lIns="91425" tIns="91425" rIns="91425" bIns="91425" anchor="ctr" anchorCtr="0">
                <a:noAutofit/>
              </a:bodyPr>
              <a:lstStyle/>
              <a:p>
                <a:pPr>
                  <a:lnSpc>
                    <a:spcPct val="107000"/>
                  </a:lnSpc>
                  <a:spcAft>
                    <a:spcPts val="800"/>
                  </a:spcAft>
                </a:pPr>
                <a:r>
                  <a:rPr lang="en-US" sz="1600" i="1">
                    <a:latin typeface="Cambria Math"/>
                    <a:ea typeface="Cambria Math"/>
                    <a:cs typeface="Cambria Math"/>
                  </a:rPr>
                  <a:t> </a:t>
                </a:r>
              </a:p>
            </p:txBody>
          </p:sp>
          <p:grpSp>
            <p:nvGrpSpPr>
              <p:cNvPr id="9" name="Group 8"/>
              <p:cNvGrpSpPr/>
              <p:nvPr/>
            </p:nvGrpSpPr>
            <p:grpSpPr>
              <a:xfrm>
                <a:off x="2031300" y="2777378"/>
                <a:ext cx="8391018" cy="3182275"/>
                <a:chOff x="2031300" y="2777378"/>
                <a:chExt cx="8391018" cy="3182275"/>
              </a:xfrm>
            </p:grpSpPr>
            <p:sp>
              <p:nvSpPr>
                <p:cNvPr id="10" name="Rectangle 9"/>
                <p:cNvSpPr/>
                <p:nvPr/>
              </p:nvSpPr>
              <p:spPr>
                <a:xfrm>
                  <a:off x="2031300" y="3252950"/>
                  <a:ext cx="6629400" cy="1054100"/>
                </a:xfrm>
                <a:prstGeom prst="rect">
                  <a:avLst/>
                </a:prstGeom>
                <a:noFill/>
                <a:ln>
                  <a:noFill/>
                </a:ln>
              </p:spPr>
              <p:txBody>
                <a:bodyPr spcFirstLastPara="1" wrap="square" lIns="91425" tIns="91425" rIns="91425" bIns="91425" anchor="ctr" anchorCtr="0">
                  <a:noAutofit/>
                </a:bodyPr>
                <a:lstStyle/>
                <a:p>
                  <a:pPr>
                    <a:lnSpc>
                      <a:spcPct val="107000"/>
                    </a:lnSpc>
                    <a:spcAft>
                      <a:spcPts val="800"/>
                    </a:spcAft>
                  </a:pPr>
                  <a:r>
                    <a:rPr lang="en-US" sz="1600" i="1">
                      <a:latin typeface="Cambria Math"/>
                      <a:ea typeface="Cambria Math"/>
                      <a:cs typeface="Cambria Math"/>
                    </a:rPr>
                    <a:t> </a:t>
                  </a:r>
                </a:p>
              </p:txBody>
            </p:sp>
            <p:grpSp>
              <p:nvGrpSpPr>
                <p:cNvPr id="11" name="Group 10"/>
                <p:cNvGrpSpPr/>
                <p:nvPr/>
              </p:nvGrpSpPr>
              <p:grpSpPr>
                <a:xfrm>
                  <a:off x="2031300" y="2777378"/>
                  <a:ext cx="8391018" cy="3182275"/>
                  <a:chOff x="2031300" y="2777245"/>
                  <a:chExt cx="8391018" cy="3182720"/>
                </a:xfrm>
              </p:grpSpPr>
              <p:sp>
                <p:nvSpPr>
                  <p:cNvPr id="13" name="Rectangle 12"/>
                  <p:cNvSpPr/>
                  <p:nvPr/>
                </p:nvSpPr>
                <p:spPr>
                  <a:xfrm>
                    <a:off x="2031300" y="3252877"/>
                    <a:ext cx="6629400" cy="1054225"/>
                  </a:xfrm>
                  <a:prstGeom prst="rect">
                    <a:avLst/>
                  </a:prstGeom>
                  <a:noFill/>
                  <a:ln>
                    <a:noFill/>
                  </a:ln>
                </p:spPr>
                <p:txBody>
                  <a:bodyPr spcFirstLastPara="1" wrap="square" lIns="91425" tIns="91425" rIns="91425" bIns="91425" anchor="ctr" anchorCtr="0">
                    <a:noAutofit/>
                  </a:bodyPr>
                  <a:lstStyle/>
                  <a:p>
                    <a:pPr>
                      <a:lnSpc>
                        <a:spcPct val="107000"/>
                      </a:lnSpc>
                      <a:spcAft>
                        <a:spcPts val="800"/>
                      </a:spcAft>
                    </a:pPr>
                    <a:r>
                      <a:rPr lang="en-US" sz="1600" i="1">
                        <a:latin typeface="Cambria Math"/>
                        <a:ea typeface="Cambria Math"/>
                        <a:cs typeface="Cambria Math"/>
                      </a:rPr>
                      <a:t> </a:t>
                    </a:r>
                  </a:p>
                </p:txBody>
              </p:sp>
              <p:grpSp>
                <p:nvGrpSpPr>
                  <p:cNvPr id="15" name="Group 14"/>
                  <p:cNvGrpSpPr/>
                  <p:nvPr/>
                </p:nvGrpSpPr>
                <p:grpSpPr>
                  <a:xfrm>
                    <a:off x="2031300" y="2777245"/>
                    <a:ext cx="8391018" cy="3182720"/>
                    <a:chOff x="2031300" y="2777245"/>
                    <a:chExt cx="8391018" cy="3182720"/>
                  </a:xfrm>
                </p:grpSpPr>
                <p:sp>
                  <p:nvSpPr>
                    <p:cNvPr id="16" name="Rectangle 15"/>
                    <p:cNvSpPr/>
                    <p:nvPr/>
                  </p:nvSpPr>
                  <p:spPr>
                    <a:xfrm>
                      <a:off x="2031300" y="3252877"/>
                      <a:ext cx="6629400" cy="1054225"/>
                    </a:xfrm>
                    <a:prstGeom prst="rect">
                      <a:avLst/>
                    </a:prstGeom>
                    <a:noFill/>
                    <a:ln>
                      <a:noFill/>
                    </a:ln>
                  </p:spPr>
                  <p:txBody>
                    <a:bodyPr spcFirstLastPara="1" wrap="square" lIns="91425" tIns="91425" rIns="91425" bIns="91425" anchor="ctr" anchorCtr="0">
                      <a:noAutofit/>
                    </a:bodyPr>
                    <a:lstStyle/>
                    <a:p>
                      <a:pPr>
                        <a:lnSpc>
                          <a:spcPct val="107000"/>
                        </a:lnSpc>
                        <a:spcAft>
                          <a:spcPts val="800"/>
                        </a:spcAft>
                      </a:pPr>
                      <a:r>
                        <a:rPr lang="en-US" sz="1600" i="1">
                          <a:latin typeface="Cambria Math"/>
                          <a:ea typeface="Cambria Math"/>
                          <a:cs typeface="Cambria Math"/>
                        </a:rPr>
                        <a:t> </a:t>
                      </a:r>
                    </a:p>
                  </p:txBody>
                </p:sp>
                <p:grpSp>
                  <p:nvGrpSpPr>
                    <p:cNvPr id="17" name="Group 16"/>
                    <p:cNvGrpSpPr/>
                    <p:nvPr/>
                  </p:nvGrpSpPr>
                  <p:grpSpPr>
                    <a:xfrm>
                      <a:off x="2031300" y="2777245"/>
                      <a:ext cx="8391018" cy="3182720"/>
                      <a:chOff x="2031300" y="2777245"/>
                      <a:chExt cx="8391018" cy="3182720"/>
                    </a:xfrm>
                  </p:grpSpPr>
                  <p:sp>
                    <p:nvSpPr>
                      <p:cNvPr id="18" name="Rectangle 17"/>
                      <p:cNvSpPr/>
                      <p:nvPr/>
                    </p:nvSpPr>
                    <p:spPr>
                      <a:xfrm>
                        <a:off x="2031300" y="3252877"/>
                        <a:ext cx="6629400" cy="1054225"/>
                      </a:xfrm>
                      <a:prstGeom prst="rect">
                        <a:avLst/>
                      </a:prstGeom>
                      <a:noFill/>
                      <a:ln>
                        <a:noFill/>
                      </a:ln>
                    </p:spPr>
                    <p:txBody>
                      <a:bodyPr spcFirstLastPara="1" wrap="square" lIns="91425" tIns="91425" rIns="91425" bIns="91425" anchor="ctr" anchorCtr="0">
                        <a:noAutofit/>
                      </a:bodyPr>
                      <a:lstStyle/>
                      <a:p>
                        <a:pPr>
                          <a:lnSpc>
                            <a:spcPct val="107000"/>
                          </a:lnSpc>
                          <a:spcAft>
                            <a:spcPts val="800"/>
                          </a:spcAft>
                        </a:pPr>
                        <a:r>
                          <a:rPr lang="en-US" sz="1600" i="1">
                            <a:latin typeface="Cambria Math"/>
                            <a:ea typeface="Cambria Math"/>
                            <a:cs typeface="Cambria Math"/>
                          </a:rPr>
                          <a:t> </a:t>
                        </a:r>
                      </a:p>
                    </p:txBody>
                  </p:sp>
                  <p:grpSp>
                    <p:nvGrpSpPr>
                      <p:cNvPr id="19" name="Group 18"/>
                      <p:cNvGrpSpPr/>
                      <p:nvPr/>
                    </p:nvGrpSpPr>
                    <p:grpSpPr>
                      <a:xfrm>
                        <a:off x="2031300" y="2777245"/>
                        <a:ext cx="8391018" cy="3182720"/>
                        <a:chOff x="2031300" y="2777245"/>
                        <a:chExt cx="8391018" cy="3182720"/>
                      </a:xfrm>
                    </p:grpSpPr>
                    <p:sp>
                      <p:nvSpPr>
                        <p:cNvPr id="20" name="Rectangle 19"/>
                        <p:cNvSpPr/>
                        <p:nvPr/>
                      </p:nvSpPr>
                      <p:spPr>
                        <a:xfrm>
                          <a:off x="2031300" y="3252877"/>
                          <a:ext cx="6629400" cy="1054225"/>
                        </a:xfrm>
                        <a:prstGeom prst="rect">
                          <a:avLst/>
                        </a:prstGeom>
                        <a:noFill/>
                        <a:ln>
                          <a:noFill/>
                        </a:ln>
                      </p:spPr>
                      <p:txBody>
                        <a:bodyPr spcFirstLastPara="1" wrap="square" lIns="91425" tIns="91425" rIns="91425" bIns="91425" anchor="ctr" anchorCtr="0">
                          <a:noAutofit/>
                        </a:bodyPr>
                        <a:lstStyle/>
                        <a:p>
                          <a:pPr>
                            <a:lnSpc>
                              <a:spcPct val="107000"/>
                            </a:lnSpc>
                            <a:spcAft>
                              <a:spcPts val="800"/>
                            </a:spcAft>
                          </a:pPr>
                          <a:r>
                            <a:rPr lang="en-US" sz="1600" i="1">
                              <a:latin typeface="Cambria Math"/>
                              <a:ea typeface="Cambria Math"/>
                              <a:cs typeface="Cambria Math"/>
                            </a:rPr>
                            <a:t> </a:t>
                          </a:r>
                        </a:p>
                      </p:txBody>
                    </p:sp>
                    <p:grpSp>
                      <p:nvGrpSpPr>
                        <p:cNvPr id="21" name="Group 20"/>
                        <p:cNvGrpSpPr/>
                        <p:nvPr/>
                      </p:nvGrpSpPr>
                      <p:grpSpPr>
                        <a:xfrm>
                          <a:off x="2031300" y="2777245"/>
                          <a:ext cx="8391018" cy="3182720"/>
                          <a:chOff x="2031300" y="2777245"/>
                          <a:chExt cx="8391018" cy="3182720"/>
                        </a:xfrm>
                      </p:grpSpPr>
                      <p:sp>
                        <p:nvSpPr>
                          <p:cNvPr id="22" name="Rectangle 21"/>
                          <p:cNvSpPr/>
                          <p:nvPr/>
                        </p:nvSpPr>
                        <p:spPr>
                          <a:xfrm>
                            <a:off x="2031300" y="3252877"/>
                            <a:ext cx="6629400" cy="1054225"/>
                          </a:xfrm>
                          <a:prstGeom prst="rect">
                            <a:avLst/>
                          </a:prstGeom>
                          <a:noFill/>
                          <a:ln>
                            <a:noFill/>
                          </a:ln>
                        </p:spPr>
                        <p:txBody>
                          <a:bodyPr spcFirstLastPara="1" wrap="square" lIns="91425" tIns="91425" rIns="91425" bIns="91425" anchor="ctr" anchorCtr="0">
                            <a:noAutofit/>
                          </a:bodyPr>
                          <a:lstStyle/>
                          <a:p>
                            <a:pPr>
                              <a:lnSpc>
                                <a:spcPct val="107000"/>
                              </a:lnSpc>
                              <a:spcAft>
                                <a:spcPts val="800"/>
                              </a:spcAft>
                            </a:pPr>
                            <a:r>
                              <a:rPr lang="en-US" sz="1600" i="1">
                                <a:latin typeface="Cambria Math"/>
                                <a:ea typeface="Cambria Math"/>
                                <a:cs typeface="Cambria Math"/>
                              </a:rPr>
                              <a:t> </a:t>
                            </a:r>
                          </a:p>
                        </p:txBody>
                      </p:sp>
                      <p:grpSp>
                        <p:nvGrpSpPr>
                          <p:cNvPr id="23" name="Group 22"/>
                          <p:cNvGrpSpPr/>
                          <p:nvPr/>
                        </p:nvGrpSpPr>
                        <p:grpSpPr>
                          <a:xfrm>
                            <a:off x="2031300" y="2777245"/>
                            <a:ext cx="8391018" cy="3182720"/>
                            <a:chOff x="2031300" y="2795148"/>
                            <a:chExt cx="8391018" cy="3125895"/>
                          </a:xfrm>
                        </p:grpSpPr>
                        <p:sp>
                          <p:nvSpPr>
                            <p:cNvPr id="24" name="Rectangle 23"/>
                            <p:cNvSpPr/>
                            <p:nvPr/>
                          </p:nvSpPr>
                          <p:spPr>
                            <a:xfrm>
                              <a:off x="2031300" y="3262288"/>
                              <a:ext cx="6629400" cy="1035400"/>
                            </a:xfrm>
                            <a:prstGeom prst="rect">
                              <a:avLst/>
                            </a:prstGeom>
                            <a:noFill/>
                            <a:ln>
                              <a:noFill/>
                            </a:ln>
                          </p:spPr>
                          <p:txBody>
                            <a:bodyPr spcFirstLastPara="1" wrap="square" lIns="91425" tIns="91425" rIns="91425" bIns="91425" anchor="ctr" anchorCtr="0">
                              <a:noAutofit/>
                            </a:bodyPr>
                            <a:lstStyle/>
                            <a:p>
                              <a:pPr>
                                <a:lnSpc>
                                  <a:spcPct val="107000"/>
                                </a:lnSpc>
                                <a:spcAft>
                                  <a:spcPts val="800"/>
                                </a:spcAft>
                              </a:pPr>
                              <a:r>
                                <a:rPr lang="en-US" sz="1600" i="1">
                                  <a:latin typeface="Cambria Math"/>
                                  <a:ea typeface="Cambria Math"/>
                                  <a:cs typeface="Cambria Math"/>
                                </a:rPr>
                                <a:t> </a:t>
                              </a:r>
                            </a:p>
                          </p:txBody>
                        </p:sp>
                        <p:grpSp>
                          <p:nvGrpSpPr>
                            <p:cNvPr id="25" name="Group 24"/>
                            <p:cNvGrpSpPr/>
                            <p:nvPr/>
                          </p:nvGrpSpPr>
                          <p:grpSpPr>
                            <a:xfrm>
                              <a:off x="2031300" y="2795148"/>
                              <a:ext cx="8391018" cy="3125895"/>
                              <a:chOff x="2031300" y="2906460"/>
                              <a:chExt cx="8391018" cy="3125895"/>
                            </a:xfrm>
                          </p:grpSpPr>
                          <p:sp>
                            <p:nvSpPr>
                              <p:cNvPr id="26" name="Rectangle 25"/>
                              <p:cNvSpPr/>
                              <p:nvPr/>
                            </p:nvSpPr>
                            <p:spPr>
                              <a:xfrm>
                                <a:off x="2031300" y="3373600"/>
                                <a:ext cx="6629400" cy="1035400"/>
                              </a:xfrm>
                              <a:prstGeom prst="rect">
                                <a:avLst/>
                              </a:prstGeom>
                              <a:noFill/>
                              <a:ln>
                                <a:noFill/>
                              </a:ln>
                            </p:spPr>
                            <p:txBody>
                              <a:bodyPr spcFirstLastPara="1" wrap="square" lIns="91425" tIns="91425" rIns="91425" bIns="91425" anchor="ctr" anchorCtr="0">
                                <a:noAutofit/>
                              </a:bodyPr>
                              <a:lstStyle/>
                              <a:p>
                                <a:pPr>
                                  <a:lnSpc>
                                    <a:spcPct val="107000"/>
                                  </a:lnSpc>
                                  <a:spcAft>
                                    <a:spcPts val="800"/>
                                  </a:spcAft>
                                </a:pPr>
                                <a:r>
                                  <a:rPr lang="en-US" sz="1600" i="1">
                                    <a:latin typeface="Cambria Math"/>
                                    <a:ea typeface="Cambria Math"/>
                                    <a:cs typeface="Cambria Math"/>
                                  </a:rPr>
                                  <a:t> </a:t>
                                </a:r>
                              </a:p>
                            </p:txBody>
                          </p:sp>
                          <p:grpSp>
                            <p:nvGrpSpPr>
                              <p:cNvPr id="27" name="Group 26"/>
                              <p:cNvGrpSpPr/>
                              <p:nvPr/>
                            </p:nvGrpSpPr>
                            <p:grpSpPr>
                              <a:xfrm>
                                <a:off x="2031300" y="2906460"/>
                                <a:ext cx="8391018" cy="3125895"/>
                                <a:chOff x="2031300" y="2906460"/>
                                <a:chExt cx="8391018" cy="3125895"/>
                              </a:xfrm>
                            </p:grpSpPr>
                            <p:sp>
                              <p:nvSpPr>
                                <p:cNvPr id="28" name="Rectangle 27"/>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pPr>
                                    <a:lnSpc>
                                      <a:spcPct val="107000"/>
                                    </a:lnSpc>
                                    <a:spcAft>
                                      <a:spcPts val="800"/>
                                    </a:spcAft>
                                  </a:pPr>
                                  <a:r>
                                    <a:rPr lang="en-US" sz="1600" i="1">
                                      <a:latin typeface="Cambria Math"/>
                                      <a:ea typeface="Cambria Math"/>
                                      <a:cs typeface="Cambria Math"/>
                                    </a:rPr>
                                    <a:t> </a:t>
                                  </a:r>
                                </a:p>
                              </p:txBody>
                            </p:sp>
                            <p:grpSp>
                              <p:nvGrpSpPr>
                                <p:cNvPr id="29" name="Group 28"/>
                                <p:cNvGrpSpPr/>
                                <p:nvPr/>
                              </p:nvGrpSpPr>
                              <p:grpSpPr>
                                <a:xfrm>
                                  <a:off x="2031300" y="2906460"/>
                                  <a:ext cx="8391018" cy="3125895"/>
                                  <a:chOff x="0" y="-467140"/>
                                  <a:chExt cx="8391018" cy="3125895"/>
                                </a:xfrm>
                              </p:grpSpPr>
                              <p:sp>
                                <p:nvSpPr>
                                  <p:cNvPr id="30" name="Rectangle 29"/>
                                  <p:cNvSpPr/>
                                  <p:nvPr/>
                                </p:nvSpPr>
                                <p:spPr>
                                  <a:xfrm>
                                    <a:off x="0" y="0"/>
                                    <a:ext cx="6629400" cy="812800"/>
                                  </a:xfrm>
                                  <a:prstGeom prst="rect">
                                    <a:avLst/>
                                  </a:prstGeom>
                                  <a:noFill/>
                                  <a:ln>
                                    <a:noFill/>
                                  </a:ln>
                                </p:spPr>
                                <p:txBody>
                                  <a:bodyPr spcFirstLastPara="1" wrap="square" lIns="91425" tIns="91425" rIns="91425" bIns="91425" anchor="ctr" anchorCtr="0">
                                    <a:noAutofit/>
                                  </a:bodyPr>
                                  <a:lstStyle/>
                                  <a:p>
                                    <a:pPr>
                                      <a:lnSpc>
                                        <a:spcPct val="107000"/>
                                      </a:lnSpc>
                                      <a:spcAft>
                                        <a:spcPts val="800"/>
                                      </a:spcAft>
                                    </a:pPr>
                                    <a:r>
                                      <a:rPr lang="en-US" sz="1600" i="1">
                                        <a:latin typeface="Cambria Math"/>
                                        <a:ea typeface="Cambria Math"/>
                                        <a:cs typeface="Cambria Math"/>
                                      </a:rPr>
                                      <a:t> </a:t>
                                    </a:r>
                                  </a:p>
                                </p:txBody>
                              </p:sp>
                              <p:sp>
                                <p:nvSpPr>
                                  <p:cNvPr id="31" name="Rounded Rectangle 30"/>
                                  <p:cNvSpPr/>
                                  <p:nvPr/>
                                </p:nvSpPr>
                                <p:spPr>
                                  <a:xfrm>
                                    <a:off x="0" y="-467140"/>
                                    <a:ext cx="8391018" cy="3125895"/>
                                  </a:xfrm>
                                  <a:prstGeom prst="roundRect">
                                    <a:avLst>
                                      <a:gd name="adj" fmla="val 16667"/>
                                    </a:avLst>
                                  </a:prstGeom>
                                  <a:solidFill>
                                    <a:srgbClr val="E2EED5"/>
                                  </a:solidFill>
                                  <a:ln>
                                    <a:noFill/>
                                  </a:ln>
                                </p:spPr>
                                <p:txBody>
                                  <a:bodyPr spcFirstLastPara="1" wrap="square" lIns="91425" tIns="91440" rIns="91425" bIns="45700" anchor="ctr" anchorCtr="0">
                                    <a:spAutoFit/>
                                  </a:bodyPr>
                                  <a:lstStyle/>
                                  <a:p>
                                    <a:pPr marL="742950">
                                      <a:lnSpc>
                                        <a:spcPct val="107000"/>
                                      </a:lnSpc>
                                      <a:spcAft>
                                        <a:spcPts val="800"/>
                                      </a:spcAft>
                                    </a:pPr>
                                    <a:r>
                                      <a:rPr lang="en-US" sz="2000" dirty="0">
                                        <a:solidFill>
                                          <a:srgbClr val="6C993D"/>
                                        </a:solidFill>
                                        <a:latin typeface="Verdana"/>
                                        <a:ea typeface="Verdana"/>
                                        <a:cs typeface="Verdana"/>
                                      </a:rPr>
                                      <a:t>The order of performing computations is to first work within grouping symbols using the </a:t>
                                    </a:r>
                                    <a:r>
                                      <a:rPr lang="en-US" sz="2000" b="1" i="1" dirty="0">
                                        <a:solidFill>
                                          <a:srgbClr val="6C993D"/>
                                        </a:solidFill>
                                        <a:latin typeface="Verdana"/>
                                        <a:ea typeface="Verdana"/>
                                        <a:cs typeface="Verdana"/>
                                      </a:rPr>
                                      <a:t>order of operations</a:t>
                                    </a:r>
                                    <a:r>
                                      <a:rPr lang="en-US" sz="2000" i="1" dirty="0">
                                        <a:solidFill>
                                          <a:srgbClr val="6C993D"/>
                                        </a:solidFill>
                                        <a:latin typeface="Verdana"/>
                                        <a:ea typeface="Verdana"/>
                                        <a:cs typeface="Verdana"/>
                                      </a:rPr>
                                      <a:t>.</a:t>
                                    </a:r>
                                    <a:r>
                                      <a:rPr lang="en-US" sz="2000" dirty="0">
                                        <a:solidFill>
                                          <a:srgbClr val="6C993D"/>
                                        </a:solidFill>
                                        <a:latin typeface="Verdana"/>
                                        <a:ea typeface="Verdana"/>
                                        <a:cs typeface="Verdana"/>
                                      </a:rPr>
                                      <a:t> Then, simplify terms with exponents. Next, while reading from left to right, perform multiplication and division in the order in which it appears. Finally, while reading from left to right, perform addition and subtraction in the order in </a:t>
                                    </a:r>
                                    <a:br>
                                      <a:rPr lang="en-US" sz="2000" dirty="0">
                                        <a:solidFill>
                                          <a:srgbClr val="6C993D"/>
                                        </a:solidFill>
                                        <a:latin typeface="Verdana"/>
                                        <a:ea typeface="Verdana"/>
                                        <a:cs typeface="Verdana"/>
                                      </a:rPr>
                                    </a:br>
                                    <a:r>
                                      <a:rPr lang="en-US" sz="2000" dirty="0">
                                        <a:solidFill>
                                          <a:srgbClr val="6C993D"/>
                                        </a:solidFill>
                                        <a:latin typeface="Verdana"/>
                                        <a:ea typeface="Verdana"/>
                                        <a:cs typeface="Verdana"/>
                                      </a:rPr>
                                      <a:t>which it appears.</a:t>
                                    </a:r>
                                    <a:endParaRPr lang="en-US" sz="2000" i="1" dirty="0">
                                      <a:latin typeface="Cambria Math"/>
                                      <a:ea typeface="Cambria Math"/>
                                      <a:cs typeface="Cambria Math"/>
                                    </a:endParaRPr>
                                  </a:p>
                                </p:txBody>
                              </p:sp>
                              <p:pic>
                                <p:nvPicPr>
                                  <p:cNvPr id="32" name="Shape 25" descr="Icon&#10;&#10;Description automatically generated"/>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265154" y="-182853"/>
                                    <a:ext cx="539750" cy="539750"/>
                                  </a:xfrm>
                                  <a:prstGeom prst="rect">
                                    <a:avLst/>
                                  </a:prstGeom>
                                  <a:noFill/>
                                  <a:ln>
                                    <a:noFill/>
                                  </a:ln>
                                </p:spPr>
                              </p:pic>
                            </p:grpSp>
                          </p:grpSp>
                        </p:grpSp>
                      </p:grpSp>
                    </p:grpSp>
                  </p:grpSp>
                </p:grpSp>
              </p:grpSp>
            </p:grpSp>
          </p:grpSp>
        </p:grpSp>
      </p:grpSp>
      <p:sp>
        <p:nvSpPr>
          <p:cNvPr id="34" name="Google Shape;282;g104476d1465_1_17"/>
          <p:cNvSpPr txBox="1"/>
          <p:nvPr/>
        </p:nvSpPr>
        <p:spPr>
          <a:xfrm>
            <a:off x="8672903"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268</a:t>
            </a:r>
            <a:endParaRPr i="1" dirty="0">
              <a:latin typeface="Calibri"/>
              <a:ea typeface="Calibri"/>
              <a:cs typeface="Calibri"/>
              <a:sym typeface="Calibri"/>
            </a:endParaRPr>
          </a:p>
        </p:txBody>
      </p:sp>
      <p:pic>
        <p:nvPicPr>
          <p:cNvPr id="35"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11129"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1280501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6"/>
            <a:ext cx="2731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116285" y="2766150"/>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Try It</a:t>
            </a:r>
            <a:endParaRPr sz="5100" b="1" dirty="0">
              <a:solidFill>
                <a:srgbClr val="33BEA6"/>
              </a:solidFill>
              <a:latin typeface="Verdana"/>
              <a:ea typeface="Verdana"/>
              <a:cs typeface="Verdana"/>
              <a:sym typeface="Verdana"/>
            </a:endParaRPr>
          </a:p>
        </p:txBody>
      </p:sp>
      <p:pic>
        <p:nvPicPr>
          <p:cNvPr id="7170" name="Picture 2">
            <a:extLst>
              <a:ext uri="{FF2B5EF4-FFF2-40B4-BE49-F238E27FC236}">
                <a16:creationId xmlns:a16="http://schemas.microsoft.com/office/drawing/2014/main" id="{B098E9CE-9B4F-0D4F-9369-4E0B8D4E3D1A}"/>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813171" y="2852928"/>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282;g104476d1465_1_17"/>
          <p:cNvSpPr txBox="1"/>
          <p:nvPr/>
        </p:nvSpPr>
        <p:spPr>
          <a:xfrm>
            <a:off x="8672903"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268</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11129"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00685807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44533" y="60325"/>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13.1.5 Try It: Discovering the Importance of Left to Right</a:t>
            </a:r>
          </a:p>
        </p:txBody>
      </p:sp>
      <p:pic>
        <p:nvPicPr>
          <p:cNvPr id="9" name="Picture 2">
            <a:extLst>
              <a:ext uri="{FF2B5EF4-FFF2-40B4-BE49-F238E27FC236}">
                <a16:creationId xmlns:a16="http://schemas.microsoft.com/office/drawing/2014/main" id="{E0B7508E-1910-D441-91B6-6EA6022F20CC}"/>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670879" y="348271"/>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AB6A3A1-5A0D-C84F-AC89-57E6782F43E5}"/>
                  </a:ext>
                </a:extLst>
              </p:cNvPr>
              <p:cNvSpPr txBox="1"/>
              <p:nvPr/>
            </p:nvSpPr>
            <p:spPr>
              <a:xfrm>
                <a:off x="1444533" y="1386025"/>
                <a:ext cx="9558966" cy="3198504"/>
              </a:xfrm>
              <a:prstGeom prst="rect">
                <a:avLst/>
              </a:prstGeom>
              <a:noFill/>
            </p:spPr>
            <p:txBody>
              <a:bodyPr wrap="square" rtlCol="0">
                <a:spAutoFit/>
              </a:bodyPr>
              <a:lstStyle/>
              <a:p>
                <a:pPr marL="457200" lvl="3" indent="-457200">
                  <a:buFont typeface="+mj-lt"/>
                  <a:buAutoNum type="arabicPeriod"/>
                </a:pPr>
                <a:r>
                  <a:rPr lang="en-US" sz="2000" dirty="0">
                    <a:latin typeface="Verdana" pitchFamily="34" charset="0"/>
                    <a:ea typeface="Verdana" pitchFamily="34" charset="0"/>
                  </a:rPr>
                  <a:t>Mia is evaluating the expression, </a:t>
                </a:r>
                <a14:m>
                  <m:oMath xmlns:m="http://schemas.openxmlformats.org/officeDocument/2006/math">
                    <m:sSup>
                      <m:sSupPr>
                        <m:ctrlPr>
                          <a:rPr lang="en-US" sz="2000" i="1">
                            <a:latin typeface="Cambria Math" panose="02040503050406030204" pitchFamily="18" charset="0"/>
                            <a:ea typeface="Cambria Math" pitchFamily="18" charset="0"/>
                          </a:rPr>
                        </m:ctrlPr>
                      </m:sSupPr>
                      <m:e>
                        <m:r>
                          <a:rPr lang="en-US" sz="2000" i="1">
                            <a:latin typeface="Cambria Math" panose="02040503050406030204" pitchFamily="18" charset="0"/>
                            <a:ea typeface="Cambria Math" pitchFamily="18" charset="0"/>
                          </a:rPr>
                          <m:t>𝑥</m:t>
                        </m:r>
                      </m:e>
                      <m:sup>
                        <m:r>
                          <a:rPr lang="en-US" sz="2000" i="1">
                            <a:latin typeface="Cambria Math" panose="02040503050406030204" pitchFamily="18" charset="0"/>
                            <a:ea typeface="Cambria Math" pitchFamily="18" charset="0"/>
                          </a:rPr>
                          <m:t>3</m:t>
                        </m:r>
                      </m:sup>
                    </m:sSup>
                    <m:r>
                      <a:rPr lang="en-US" sz="2000" i="1">
                        <a:latin typeface="Cambria Math" pitchFamily="18" charset="0"/>
                        <a:ea typeface="Cambria Math" pitchFamily="18" charset="0"/>
                      </a:rPr>
                      <m:t>÷</m:t>
                    </m:r>
                    <m:r>
                      <a:rPr lang="en-US" sz="2000" i="1">
                        <a:latin typeface="Cambria Math" pitchFamily="18" charset="0"/>
                        <a:ea typeface="Cambria Math" pitchFamily="18" charset="0"/>
                      </a:rPr>
                      <m:t>𝑟</m:t>
                    </m:r>
                    <m:r>
                      <a:rPr lang="en-US" sz="2000" i="1">
                        <a:latin typeface="Cambria Math" pitchFamily="18" charset="0"/>
                        <a:ea typeface="Cambria Math" pitchFamily="18" charset="0"/>
                      </a:rPr>
                      <m:t>∙(</m:t>
                    </m:r>
                    <m:sSup>
                      <m:sSupPr>
                        <m:ctrlPr>
                          <a:rPr lang="en-US" sz="2000" i="1">
                            <a:latin typeface="Cambria Math" panose="02040503050406030204" pitchFamily="18" charset="0"/>
                            <a:ea typeface="Cambria Math" pitchFamily="18" charset="0"/>
                          </a:rPr>
                        </m:ctrlPr>
                      </m:sSupPr>
                      <m:e>
                        <m:r>
                          <a:rPr lang="en-US" sz="2000" i="1">
                            <a:latin typeface="Cambria Math" panose="02040503050406030204" pitchFamily="18" charset="0"/>
                            <a:ea typeface="Cambria Math" pitchFamily="18" charset="0"/>
                          </a:rPr>
                          <m:t>𝑘</m:t>
                        </m:r>
                      </m:e>
                      <m:sup>
                        <m:r>
                          <a:rPr lang="en-US" sz="2000" i="1">
                            <a:latin typeface="Cambria Math" panose="02040503050406030204" pitchFamily="18" charset="0"/>
                            <a:ea typeface="Cambria Math" pitchFamily="18" charset="0"/>
                          </a:rPr>
                          <m:t>2</m:t>
                        </m:r>
                      </m:sup>
                    </m:sSup>
                    <m:r>
                      <a:rPr lang="en-US" sz="2000" i="1">
                        <a:latin typeface="Cambria Math" pitchFamily="18" charset="0"/>
                        <a:ea typeface="Cambria Math" pitchFamily="18" charset="0"/>
                      </a:rPr>
                      <m:t>−5)</m:t>
                    </m:r>
                  </m:oMath>
                </a14:m>
                <a:r>
                  <a:rPr lang="en-US" sz="2000" dirty="0">
                    <a:latin typeface="Verdana" pitchFamily="34" charset="0"/>
                    <a:ea typeface="Verdana" pitchFamily="34" charset="0"/>
                  </a:rPr>
                  <a:t> for </a:t>
                </a:r>
                <a14:m>
                  <m:oMath xmlns:m="http://schemas.openxmlformats.org/officeDocument/2006/math">
                    <m:r>
                      <a:rPr lang="en-US" sz="2000" i="1">
                        <a:latin typeface="Cambria Math" pitchFamily="18" charset="0"/>
                        <a:ea typeface="Cambria Math" pitchFamily="18" charset="0"/>
                      </a:rPr>
                      <m:t>𝑘</m:t>
                    </m:r>
                    <m:r>
                      <a:rPr lang="en-US" sz="2000">
                        <a:latin typeface="Cambria Math" pitchFamily="18" charset="0"/>
                        <a:ea typeface="Cambria Math" pitchFamily="18" charset="0"/>
                      </a:rPr>
                      <m:t>=3, </m:t>
                    </m:r>
                    <m:r>
                      <a:rPr lang="en-US" sz="2000" i="1">
                        <a:latin typeface="Cambria Math" pitchFamily="18" charset="0"/>
                        <a:ea typeface="Cambria Math" pitchFamily="18" charset="0"/>
                      </a:rPr>
                      <m:t>𝑟</m:t>
                    </m:r>
                    <m:r>
                      <a:rPr lang="en-US" sz="2000">
                        <a:latin typeface="Cambria Math" pitchFamily="18" charset="0"/>
                        <a:ea typeface="Cambria Math" pitchFamily="18" charset="0"/>
                      </a:rPr>
                      <m:t>=</m:t>
                    </m:r>
                    <m:r>
                      <a:rPr lang="en-US" sz="2000" i="1">
                        <a:latin typeface="Cambria Math" pitchFamily="18" charset="0"/>
                        <a:ea typeface="Cambria Math" pitchFamily="18" charset="0"/>
                      </a:rPr>
                      <m:t>−</m:t>
                    </m:r>
                    <m:r>
                      <a:rPr lang="en-US" sz="2000">
                        <a:latin typeface="Cambria Math" pitchFamily="18" charset="0"/>
                        <a:ea typeface="Cambria Math" pitchFamily="18" charset="0"/>
                      </a:rPr>
                      <m:t>8</m:t>
                    </m:r>
                  </m:oMath>
                </a14:m>
                <a:r>
                  <a:rPr lang="en-US" sz="2000" dirty="0">
                    <a:latin typeface="Verdana" pitchFamily="34" charset="0"/>
                    <a:ea typeface="Verdana" pitchFamily="34" charset="0"/>
                  </a:rPr>
                  <a:t> and </a:t>
                </a:r>
                <a14:m>
                  <m:oMath xmlns:m="http://schemas.openxmlformats.org/officeDocument/2006/math">
                    <m:r>
                      <a:rPr lang="en-US" sz="2000" i="1">
                        <a:latin typeface="Cambria Math" pitchFamily="18" charset="0"/>
                        <a:ea typeface="Cambria Math" pitchFamily="18" charset="0"/>
                      </a:rPr>
                      <m:t>𝑥</m:t>
                    </m:r>
                    <m:r>
                      <a:rPr lang="en-US" sz="2000">
                        <a:latin typeface="Cambria Math" pitchFamily="18" charset="0"/>
                        <a:ea typeface="Cambria Math" pitchFamily="18" charset="0"/>
                      </a:rPr>
                      <m:t>=4</m:t>
                    </m:r>
                  </m:oMath>
                </a14:m>
                <a:r>
                  <a:rPr lang="en-US" sz="2000" dirty="0">
                    <a:latin typeface="Verdana" pitchFamily="34" charset="0"/>
                    <a:ea typeface="Verdana" pitchFamily="34" charset="0"/>
                  </a:rPr>
                  <a:t>. Her first few steps are shown.</a:t>
                </a:r>
              </a:p>
              <a:p>
                <a:pPr/>
                <a:br>
                  <a:rPr lang="en-US" sz="2000" i="1" dirty="0"/>
                </a:br>
                <a14:m>
                  <m:oMathPara xmlns:m="http://schemas.openxmlformats.org/officeDocument/2006/math">
                    <m:oMathParaPr>
                      <m:jc m:val="centerGroup"/>
                    </m:oMathParaPr>
                    <m:oMath xmlns:m="http://schemas.openxmlformats.org/officeDocument/2006/math">
                      <m:sSup>
                        <m:sSupPr>
                          <m:ctrlPr>
                            <a:rPr lang="en-US" sz="2000" i="1">
                              <a:latin typeface="Cambria Math" panose="02040503050406030204" pitchFamily="18" charset="0"/>
                            </a:rPr>
                          </m:ctrlPr>
                        </m:sSupPr>
                        <m:e>
                          <m:r>
                            <a:rPr lang="en-US" sz="2000" i="1">
                              <a:latin typeface="Cambria Math"/>
                            </a:rPr>
                            <m:t>4</m:t>
                          </m:r>
                        </m:e>
                        <m:sup>
                          <m:r>
                            <a:rPr lang="en-US" sz="2000" i="1">
                              <a:latin typeface="Cambria Math"/>
                            </a:rPr>
                            <m:t>3</m:t>
                          </m:r>
                        </m:sup>
                      </m:sSup>
                      <m:r>
                        <a:rPr lang="en-US" sz="2000" i="1">
                          <a:latin typeface="Cambria Math"/>
                        </a:rPr>
                        <m:t>÷−8∙(</m:t>
                      </m:r>
                      <m:sSup>
                        <m:sSupPr>
                          <m:ctrlPr>
                            <a:rPr lang="en-US" sz="2000" i="1">
                              <a:latin typeface="Cambria Math" panose="02040503050406030204" pitchFamily="18" charset="0"/>
                            </a:rPr>
                          </m:ctrlPr>
                        </m:sSupPr>
                        <m:e>
                          <m:r>
                            <a:rPr lang="en-US" sz="2000" i="1">
                              <a:latin typeface="Cambria Math"/>
                            </a:rPr>
                            <m:t>3</m:t>
                          </m:r>
                        </m:e>
                        <m:sup>
                          <m:r>
                            <a:rPr lang="en-US" sz="2000" i="1">
                              <a:latin typeface="Cambria Math"/>
                            </a:rPr>
                            <m:t>2</m:t>
                          </m:r>
                        </m:sup>
                      </m:sSup>
                      <m:r>
                        <a:rPr lang="en-US" sz="2000" i="1">
                          <a:latin typeface="Cambria Math"/>
                        </a:rPr>
                        <m:t>−5)</m:t>
                      </m:r>
                    </m:oMath>
                  </m:oMathPara>
                </a14:m>
                <a:endParaRPr lang="en-US" sz="2000" i="1" dirty="0">
                  <a:latin typeface="Verdana" pitchFamily="34" charset="0"/>
                  <a:ea typeface="Verdana" pitchFamily="34" charset="0"/>
                </a:endParaRPr>
              </a:p>
              <a:p>
                <a:pPr/>
                <a14:m>
                  <m:oMathPara xmlns:m="http://schemas.openxmlformats.org/officeDocument/2006/math">
                    <m:oMathParaPr>
                      <m:jc m:val="centerGroup"/>
                    </m:oMathParaPr>
                    <m:oMath xmlns:m="http://schemas.openxmlformats.org/officeDocument/2006/math">
                      <m:r>
                        <a:rPr lang="en-US" sz="2000" i="1">
                          <a:latin typeface="Cambria Math"/>
                        </a:rPr>
                        <m:t>64÷−8∙</m:t>
                      </m:r>
                      <m:d>
                        <m:dPr>
                          <m:ctrlPr>
                            <a:rPr lang="en-US" sz="2000" i="1">
                              <a:latin typeface="Cambria Math" panose="02040503050406030204" pitchFamily="18" charset="0"/>
                            </a:rPr>
                          </m:ctrlPr>
                        </m:dPr>
                        <m:e>
                          <m:r>
                            <a:rPr lang="en-US" sz="2000" i="1">
                              <a:latin typeface="Cambria Math"/>
                            </a:rPr>
                            <m:t>9−5</m:t>
                          </m:r>
                        </m:e>
                      </m:d>
                    </m:oMath>
                  </m:oMathPara>
                </a14:m>
                <a:endParaRPr lang="en-US" sz="2000" i="1" dirty="0">
                  <a:latin typeface="Verdana" pitchFamily="34" charset="0"/>
                  <a:ea typeface="Verdana" pitchFamily="34" charset="0"/>
                </a:endParaRPr>
              </a:p>
              <a:p>
                <a:pPr/>
                <a14:m>
                  <m:oMathPara xmlns:m="http://schemas.openxmlformats.org/officeDocument/2006/math">
                    <m:oMathParaPr>
                      <m:jc m:val="centerGroup"/>
                    </m:oMathParaPr>
                    <m:oMath xmlns:m="http://schemas.openxmlformats.org/officeDocument/2006/math">
                      <m:r>
                        <a:rPr lang="en-US" sz="2000" i="1">
                          <a:latin typeface="Cambria Math"/>
                        </a:rPr>
                        <m:t>64÷−8∙4</m:t>
                      </m:r>
                    </m:oMath>
                  </m:oMathPara>
                </a14:m>
                <a:endParaRPr lang="en-PH" sz="2000" i="1" dirty="0">
                  <a:latin typeface="Verdana" pitchFamily="34" charset="0"/>
                </a:endParaRPr>
              </a:p>
              <a:p>
                <a:endParaRPr lang="en-US" sz="2000" i="1" dirty="0">
                  <a:latin typeface="Verdana" pitchFamily="34" charset="0"/>
                  <a:ea typeface="Verdana" pitchFamily="34" charset="0"/>
                </a:endParaRPr>
              </a:p>
              <a:p>
                <a:pPr marL="914400" indent="-457200">
                  <a:buFont typeface="+mj-lt"/>
                  <a:buAutoNum type="alphaLcPeriod"/>
                </a:pPr>
                <a:r>
                  <a:rPr lang="en-US" sz="2000" dirty="0">
                    <a:latin typeface="Verdana"/>
                    <a:ea typeface="Verdana"/>
                    <a:cs typeface="Verdana"/>
                  </a:rPr>
                  <a:t>Mia thinks that she could finish her work by either finding </a:t>
                </a:r>
                <a14:m>
                  <m:oMath xmlns:m="http://schemas.openxmlformats.org/officeDocument/2006/math">
                    <m:r>
                      <a:rPr lang="en-US" sz="2000">
                        <a:latin typeface="Cambria Math"/>
                        <a:ea typeface="Cambria Math"/>
                        <a:cs typeface="Cambria Math"/>
                      </a:rPr>
                      <m:t>64÷</m:t>
                    </m:r>
                    <m:r>
                      <a:rPr lang="en-US" sz="2000" i="1">
                        <a:latin typeface="Cambria Math"/>
                        <a:ea typeface="Cambria Math"/>
                        <a:cs typeface="Cambria Math"/>
                      </a:rPr>
                      <m:t>−</m:t>
                    </m:r>
                    <m:r>
                      <a:rPr lang="en-US" sz="2000">
                        <a:latin typeface="Cambria Math"/>
                        <a:ea typeface="Cambria Math"/>
                        <a:cs typeface="Cambria Math"/>
                      </a:rPr>
                      <m:t>8</m:t>
                    </m:r>
                  </m:oMath>
                </a14:m>
                <a:r>
                  <a:rPr lang="en-US" sz="2000" dirty="0">
                    <a:latin typeface="Verdana"/>
                    <a:ea typeface="Verdana"/>
                    <a:cs typeface="Verdana"/>
                  </a:rPr>
                  <a:t> or </a:t>
                </a:r>
                <a14:m>
                  <m:oMath xmlns:m="http://schemas.openxmlformats.org/officeDocument/2006/math">
                    <m:r>
                      <a:rPr lang="en-US" sz="2000" i="1">
                        <a:latin typeface="Cambria Math"/>
                        <a:ea typeface="Cambria Math"/>
                        <a:cs typeface="Cambria Math"/>
                      </a:rPr>
                      <m:t>−</m:t>
                    </m:r>
                    <m:r>
                      <a:rPr lang="en-US" sz="2000">
                        <a:latin typeface="Cambria Math"/>
                        <a:ea typeface="Cambria Math"/>
                        <a:cs typeface="Cambria Math"/>
                      </a:rPr>
                      <m:t>8∙4</m:t>
                    </m:r>
                  </m:oMath>
                </a14:m>
                <a:r>
                  <a:rPr lang="en-US" sz="2000" dirty="0">
                    <a:latin typeface="Verdana"/>
                    <a:ea typeface="Verdana"/>
                    <a:cs typeface="Verdana"/>
                  </a:rPr>
                  <a:t> first. Show the work for both possibilities to determine if Mia is correct.</a:t>
                </a:r>
                <a:endParaRPr lang="en-US" sz="2000" dirty="0">
                  <a:latin typeface="Verdana" pitchFamily="34" charset="0"/>
                  <a:ea typeface="Verdana" pitchFamily="34" charset="0"/>
                </a:endParaRPr>
              </a:p>
            </p:txBody>
          </p:sp>
        </mc:Choice>
        <mc:Fallback xmlns="">
          <p:sp>
            <p:nvSpPr>
              <p:cNvPr id="10" name="TextBox 9">
                <a:extLst>
                  <a:ext uri="{FF2B5EF4-FFF2-40B4-BE49-F238E27FC236}">
                    <a16:creationId xmlns:a16="http://schemas.microsoft.com/office/drawing/2014/main" xmlns:a14="http://schemas.microsoft.com/office/drawing/2010/main" xmlns="" id="{0AB6A3A1-5A0D-C84F-AC89-57E6782F43E5}"/>
                  </a:ext>
                </a:extLst>
              </p:cNvPr>
              <p:cNvSpPr txBox="1">
                <a:spLocks noRot="1" noChangeAspect="1" noMove="1" noResize="1" noEditPoints="1" noAdjustHandles="1" noChangeArrowheads="1" noChangeShapeType="1" noTextEdit="1"/>
              </p:cNvSpPr>
              <p:nvPr/>
            </p:nvSpPr>
            <p:spPr>
              <a:xfrm>
                <a:off x="1444533" y="1386025"/>
                <a:ext cx="9558966" cy="3198504"/>
              </a:xfrm>
              <a:prstGeom prst="rect">
                <a:avLst/>
              </a:prstGeom>
              <a:blipFill rotWithShape="0">
                <a:blip r:embed="rId4"/>
                <a:stretch>
                  <a:fillRect l="-702" t="-1143" r="-64" b="-1524"/>
                </a:stretch>
              </a:blipFill>
            </p:spPr>
            <p:txBody>
              <a:bodyPr/>
              <a:lstStyle/>
              <a:p>
                <a:r>
                  <a:rPr lang="en-US">
                    <a:noFill/>
                  </a:rPr>
                  <a:t> </a:t>
                </a:r>
              </a:p>
            </p:txBody>
          </p:sp>
        </mc:Fallback>
      </mc:AlternateContent>
      <p:sp>
        <p:nvSpPr>
          <p:cNvPr id="12" name="Google Shape;282;g104476d1465_1_17"/>
          <p:cNvSpPr txBox="1"/>
          <p:nvPr/>
        </p:nvSpPr>
        <p:spPr>
          <a:xfrm>
            <a:off x="8672903"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268</a:t>
            </a:r>
            <a:endParaRPr i="1" dirty="0">
              <a:latin typeface="Calibri"/>
              <a:ea typeface="Calibri"/>
              <a:cs typeface="Calibri"/>
              <a:sym typeface="Calibri"/>
            </a:endParaRPr>
          </a:p>
        </p:txBody>
      </p:sp>
      <p:pic>
        <p:nvPicPr>
          <p:cNvPr id="13"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11129"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8403594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TextBox 13">
            <a:extLst>
              <a:ext uri="{FF2B5EF4-FFF2-40B4-BE49-F238E27FC236}">
                <a16:creationId xmlns:a16="http://schemas.microsoft.com/office/drawing/2014/main" id="{2FA392D8-3ED3-7940-83A8-1451AA8A08D4}"/>
              </a:ext>
            </a:extLst>
          </p:cNvPr>
          <p:cNvSpPr txBox="1"/>
          <p:nvPr/>
        </p:nvSpPr>
        <p:spPr>
          <a:xfrm>
            <a:off x="1452282" y="520393"/>
            <a:ext cx="9438102" cy="1200329"/>
          </a:xfrm>
          <a:prstGeom prst="rect">
            <a:avLst/>
          </a:prstGeom>
          <a:noFill/>
        </p:spPr>
        <p:txBody>
          <a:bodyPr wrap="square" rtlCol="0">
            <a:spAutoFit/>
          </a:bodyPr>
          <a:lstStyle/>
          <a:p>
            <a:pPr marL="914400" indent="-457200">
              <a:buFont typeface="+mj-lt"/>
              <a:buAutoNum type="alphaLcPeriod" startAt="2"/>
            </a:pPr>
            <a:r>
              <a:rPr lang="en-US" sz="2400" dirty="0">
                <a:latin typeface="Verdana"/>
                <a:ea typeface="Cambria Math"/>
                <a:cs typeface="Cambria Math"/>
              </a:rPr>
              <a:t>Was Mia correct when she stated that both methods would work? Use the steps of the order of operations to justify whether or not Mia is correct.</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7" name="Google Shape;282;g104476d1465_1_17"/>
          <p:cNvSpPr txBox="1"/>
          <p:nvPr/>
        </p:nvSpPr>
        <p:spPr>
          <a:xfrm>
            <a:off x="8672903"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268</a:t>
            </a:r>
            <a:endParaRPr i="1" dirty="0">
              <a:latin typeface="Calibri"/>
              <a:ea typeface="Calibri"/>
              <a:cs typeface="Calibri"/>
              <a:sym typeface="Calibri"/>
            </a:endParaRPr>
          </a:p>
        </p:txBody>
      </p:sp>
      <p:pic>
        <p:nvPicPr>
          <p:cNvPr id="8"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11129"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16351090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1169894" y="520393"/>
                <a:ext cx="10002878" cy="5016758"/>
              </a:xfrm>
              <a:prstGeom prst="rect">
                <a:avLst/>
              </a:prstGeom>
              <a:noFill/>
            </p:spPr>
            <p:txBody>
              <a:bodyPr wrap="square" rtlCol="0">
                <a:spAutoFit/>
              </a:bodyPr>
              <a:lstStyle/>
              <a:p>
                <a:pPr marL="457200" indent="-457200">
                  <a:buFont typeface="+mj-lt"/>
                  <a:buAutoNum type="arabicPeriod" startAt="2"/>
                </a:pPr>
                <a:r>
                  <a:rPr lang="en-US" sz="2000" dirty="0">
                    <a:latin typeface="Verdana"/>
                    <a:ea typeface="Verdana"/>
                    <a:cs typeface="Verdana"/>
                  </a:rPr>
                  <a:t>Answer the following problems.</a:t>
                </a:r>
              </a:p>
              <a:p>
                <a:pPr marL="457200" indent="-457200">
                  <a:buFont typeface="+mj-lt"/>
                  <a:buAutoNum type="arabicPeriod" startAt="2"/>
                </a:pPr>
                <a:endParaRPr lang="en-PH" sz="2000" dirty="0">
                  <a:latin typeface="Verdana"/>
                  <a:ea typeface="Verdana"/>
                  <a:cs typeface="Verdana" panose="020B0604030504040204" pitchFamily="34" charset="0"/>
                </a:endParaRPr>
              </a:p>
              <a:p>
                <a:pPr marL="914400" indent="-457200">
                  <a:buFont typeface="+mj-lt"/>
                  <a:buAutoNum type="alphaLcPeriod"/>
                </a:pPr>
                <a:r>
                  <a:rPr lang="en-US" sz="2000" dirty="0">
                    <a:latin typeface="Verdana"/>
                    <a:ea typeface="Verdana"/>
                    <a:cs typeface="Verdana"/>
                  </a:rPr>
                  <a:t>Evaluate </a:t>
                </a:r>
                <a14:m>
                  <m:oMath xmlns:m="http://schemas.openxmlformats.org/officeDocument/2006/math">
                    <m:r>
                      <a:rPr lang="en-US" sz="2000" i="1">
                        <a:latin typeface="Cambria Math"/>
                        <a:ea typeface="Cambria Math"/>
                        <a:cs typeface="Cambria Math"/>
                      </a:rPr>
                      <m:t>𝑟</m:t>
                    </m:r>
                    <m:r>
                      <a:rPr lang="en-US" sz="2000">
                        <a:latin typeface="Cambria Math"/>
                        <a:ea typeface="Cambria Math"/>
                        <a:cs typeface="Cambria Math"/>
                      </a:rPr>
                      <m:t>∙</m:t>
                    </m:r>
                    <m:r>
                      <a:rPr lang="en-US" sz="2000" i="1">
                        <a:latin typeface="Cambria Math"/>
                        <a:ea typeface="Cambria Math"/>
                        <a:cs typeface="Cambria Math"/>
                      </a:rPr>
                      <m:t>𝑊</m:t>
                    </m:r>
                    <m:r>
                      <a:rPr lang="en-US" sz="2000">
                        <a:latin typeface="Cambria Math"/>
                        <a:ea typeface="Cambria Math"/>
                        <a:cs typeface="Cambria Math"/>
                      </a:rPr>
                      <m:t>÷</m:t>
                    </m:r>
                    <m:r>
                      <a:rPr lang="en-US" sz="2000" i="1">
                        <a:latin typeface="Cambria Math"/>
                        <a:ea typeface="Cambria Math"/>
                        <a:cs typeface="Cambria Math"/>
                      </a:rPr>
                      <m:t>𝑥</m:t>
                    </m:r>
                    <m:r>
                      <a:rPr lang="en-US" sz="2000">
                        <a:latin typeface="Cambria Math"/>
                        <a:ea typeface="Cambria Math"/>
                        <a:cs typeface="Cambria Math"/>
                      </a:rPr>
                      <m:t>÷</m:t>
                    </m:r>
                    <m:r>
                      <a:rPr lang="en-US" sz="2000" i="1">
                        <a:latin typeface="Cambria Math"/>
                        <a:ea typeface="Cambria Math"/>
                        <a:cs typeface="Cambria Math"/>
                      </a:rPr>
                      <m:t>𝑚</m:t>
                    </m:r>
                  </m:oMath>
                </a14:m>
                <a:r>
                  <a:rPr lang="en-US" sz="2000" dirty="0">
                    <a:latin typeface="Verdana"/>
                    <a:ea typeface="Verdana"/>
                    <a:cs typeface="Verdana"/>
                  </a:rPr>
                  <a:t> when </a:t>
                </a:r>
                <a14:m>
                  <m:oMath xmlns:m="http://schemas.openxmlformats.org/officeDocument/2006/math">
                    <m:r>
                      <a:rPr lang="en-US" sz="2000" i="1">
                        <a:latin typeface="Cambria Math"/>
                        <a:ea typeface="Cambria Math"/>
                        <a:cs typeface="Cambria Math"/>
                      </a:rPr>
                      <m:t>𝑚</m:t>
                    </m:r>
                    <m:r>
                      <a:rPr lang="en-US" sz="2000">
                        <a:latin typeface="Cambria Math"/>
                        <a:ea typeface="Cambria Math"/>
                        <a:cs typeface="Cambria Math"/>
                      </a:rPr>
                      <m:t>=2,  </m:t>
                    </m:r>
                    <m:r>
                      <a:rPr lang="en-US" sz="2000" i="1">
                        <a:latin typeface="Cambria Math"/>
                        <a:ea typeface="Cambria Math"/>
                        <a:cs typeface="Cambria Math"/>
                      </a:rPr>
                      <m:t>𝑟</m:t>
                    </m:r>
                    <m:r>
                      <a:rPr lang="en-US" sz="2000">
                        <a:latin typeface="Cambria Math"/>
                        <a:ea typeface="Cambria Math"/>
                        <a:cs typeface="Cambria Math"/>
                      </a:rPr>
                      <m:t>=</m:t>
                    </m:r>
                    <m:r>
                      <a:rPr lang="en-US" sz="2000" i="1">
                        <a:latin typeface="Cambria Math"/>
                        <a:ea typeface="Cambria Math"/>
                        <a:cs typeface="Cambria Math"/>
                      </a:rPr>
                      <m:t>−</m:t>
                    </m:r>
                    <m:r>
                      <a:rPr lang="en-US" sz="2000">
                        <a:latin typeface="Cambria Math"/>
                        <a:ea typeface="Cambria Math"/>
                        <a:cs typeface="Cambria Math"/>
                      </a:rPr>
                      <m:t>4,  </m:t>
                    </m:r>
                  </m:oMath>
                </a14:m>
                <a:br>
                  <a:rPr lang="en-PH" sz="2000" dirty="0">
                    <a:latin typeface="Cambria Math"/>
                    <a:ea typeface="Cambria Math"/>
                    <a:cs typeface="Cambria Math"/>
                  </a:rPr>
                </a:br>
                <a14:m>
                  <m:oMath xmlns:m="http://schemas.openxmlformats.org/officeDocument/2006/math">
                    <m:r>
                      <a:rPr lang="en-US" sz="2000" i="1">
                        <a:latin typeface="Cambria Math"/>
                        <a:ea typeface="Cambria Math"/>
                        <a:cs typeface="Cambria Math"/>
                      </a:rPr>
                      <m:t>𝑊</m:t>
                    </m:r>
                    <m:r>
                      <a:rPr lang="en-US" sz="2000">
                        <a:latin typeface="Cambria Math"/>
                        <a:ea typeface="Cambria Math"/>
                        <a:cs typeface="Cambria Math"/>
                      </a:rPr>
                      <m:t>=</m:t>
                    </m:r>
                    <m:r>
                      <a:rPr lang="en-US" sz="2000" i="1">
                        <a:latin typeface="Cambria Math"/>
                        <a:ea typeface="Cambria Math"/>
                        <a:cs typeface="Cambria Math"/>
                      </a:rPr>
                      <m:t>−</m:t>
                    </m:r>
                    <m:r>
                      <a:rPr lang="en-US" sz="2000">
                        <a:latin typeface="Cambria Math"/>
                        <a:ea typeface="Cambria Math"/>
                        <a:cs typeface="Cambria Math"/>
                      </a:rPr>
                      <m:t>60,</m:t>
                    </m:r>
                  </m:oMath>
                </a14:m>
                <a:r>
                  <a:rPr lang="en-US" sz="2000" dirty="0">
                    <a:latin typeface="Verdana"/>
                    <a:ea typeface="Verdana"/>
                    <a:cs typeface="Verdana"/>
                  </a:rPr>
                  <a:t> and </a:t>
                </a:r>
                <a14:m>
                  <m:oMath xmlns:m="http://schemas.openxmlformats.org/officeDocument/2006/math">
                    <m:r>
                      <a:rPr lang="en-US" sz="2000" i="1">
                        <a:latin typeface="Cambria Math"/>
                        <a:ea typeface="Cambria Math"/>
                        <a:cs typeface="Cambria Math"/>
                      </a:rPr>
                      <m:t>𝑥</m:t>
                    </m:r>
                    <m:r>
                      <a:rPr lang="en-US" sz="2000">
                        <a:latin typeface="Cambria Math"/>
                        <a:ea typeface="Cambria Math"/>
                        <a:cs typeface="Cambria Math"/>
                      </a:rPr>
                      <m:t>=</m:t>
                    </m:r>
                    <m:r>
                      <a:rPr lang="en-US" sz="2000" i="1">
                        <a:latin typeface="Cambria Math"/>
                        <a:ea typeface="Cambria Math"/>
                        <a:cs typeface="Cambria Math"/>
                      </a:rPr>
                      <m:t>−</m:t>
                    </m:r>
                    <m:r>
                      <a:rPr lang="en-US" sz="2000">
                        <a:latin typeface="Cambria Math"/>
                        <a:ea typeface="Cambria Math"/>
                        <a:cs typeface="Cambria Math"/>
                      </a:rPr>
                      <m:t>10</m:t>
                    </m:r>
                  </m:oMath>
                </a14:m>
                <a:r>
                  <a:rPr lang="en-US" sz="2000" dirty="0">
                    <a:latin typeface="Verdana"/>
                    <a:ea typeface="Verdana"/>
                    <a:cs typeface="Verdana"/>
                  </a:rPr>
                  <a:t>. Show your work.</a:t>
                </a:r>
              </a:p>
              <a:p>
                <a:pPr marL="914400" indent="-457200">
                  <a:buFont typeface="+mj-lt"/>
                  <a:buAutoNum type="alphaLcPeriod"/>
                </a:pPr>
                <a:endParaRPr lang="en-PH" sz="2000" dirty="0">
                  <a:latin typeface="Verdana"/>
                  <a:ea typeface="Verdana"/>
                  <a:cs typeface="Verdana" panose="020B0604030504040204" pitchFamily="34" charset="0"/>
                </a:endParaRPr>
              </a:p>
              <a:p>
                <a:pPr marL="914400" indent="-457200">
                  <a:buFont typeface="+mj-lt"/>
                  <a:buAutoNum type="alphaLcPeriod"/>
                </a:pPr>
                <a:endParaRPr lang="en-PH" sz="2000" dirty="0">
                  <a:latin typeface="Verdana"/>
                  <a:ea typeface="Verdana"/>
                  <a:cs typeface="Verdana" panose="020B0604030504040204" pitchFamily="34" charset="0"/>
                </a:endParaRPr>
              </a:p>
              <a:p>
                <a:pPr marL="914400" indent="-457200">
                  <a:buFont typeface="+mj-lt"/>
                  <a:buAutoNum type="alphaLcPeriod"/>
                </a:pPr>
                <a:endParaRPr lang="en-PH" sz="2000" dirty="0">
                  <a:latin typeface="Verdana"/>
                  <a:ea typeface="Verdana"/>
                  <a:cs typeface="Verdana" panose="020B0604030504040204" pitchFamily="34" charset="0"/>
                </a:endParaRPr>
              </a:p>
              <a:p>
                <a:pPr marL="914400" indent="-457200">
                  <a:buFont typeface="+mj-lt"/>
                  <a:buAutoNum type="alphaLcPeriod"/>
                </a:pPr>
                <a:endParaRPr lang="en-PH" sz="2000" dirty="0">
                  <a:latin typeface="Verdana"/>
                  <a:ea typeface="Verdana"/>
                  <a:cs typeface="Verdana" panose="020B0604030504040204" pitchFamily="34" charset="0"/>
                </a:endParaRPr>
              </a:p>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Evaluate </a:t>
                </a:r>
                <a14:m>
                  <m:oMath xmlns:m="http://schemas.openxmlformats.org/officeDocument/2006/math">
                    <m:r>
                      <a:rPr lang="en-US" sz="2000">
                        <a:latin typeface="Cambria Math"/>
                      </a:rPr>
                      <m:t>(</m:t>
                    </m:r>
                    <m:r>
                      <a:rPr lang="en-US" sz="2000" i="1">
                        <a:latin typeface="Cambria Math"/>
                      </a:rPr>
                      <m:t>𝑟</m:t>
                    </m:r>
                    <m:r>
                      <a:rPr lang="en-US" sz="2000">
                        <a:latin typeface="Cambria Math"/>
                      </a:rPr>
                      <m:t>∙</m:t>
                    </m:r>
                    <m:r>
                      <a:rPr lang="en-US" sz="2000" i="1">
                        <a:latin typeface="Cambria Math"/>
                      </a:rPr>
                      <m:t>𝑊</m:t>
                    </m:r>
                    <m:r>
                      <a:rPr lang="en-US" sz="2000">
                        <a:latin typeface="Cambria Math"/>
                      </a:rPr>
                      <m:t>)÷(</m:t>
                    </m:r>
                    <m:r>
                      <a:rPr lang="en-US" sz="2000" i="1">
                        <a:latin typeface="Cambria Math"/>
                      </a:rPr>
                      <m:t>𝑥</m:t>
                    </m:r>
                    <m:r>
                      <a:rPr lang="en-US" sz="2000">
                        <a:latin typeface="Cambria Math"/>
                      </a:rPr>
                      <m:t>÷</m:t>
                    </m:r>
                    <m:r>
                      <a:rPr lang="en-US" sz="2000" i="1">
                        <a:latin typeface="Cambria Math"/>
                      </a:rPr>
                      <m:t>𝑚</m:t>
                    </m:r>
                  </m:oMath>
                </a14:m>
                <a:r>
                  <a:rPr lang="en-US" sz="2000" dirty="0"/>
                  <a:t>) </a:t>
                </a:r>
                <a:r>
                  <a:rPr lang="en-US" sz="2000" dirty="0">
                    <a:latin typeface="Verdana" panose="020B0604030504040204" pitchFamily="34" charset="0"/>
                    <a:ea typeface="Verdana" panose="020B0604030504040204" pitchFamily="34" charset="0"/>
                    <a:cs typeface="Verdana" panose="020B0604030504040204" pitchFamily="34" charset="0"/>
                  </a:rPr>
                  <a:t>when </a:t>
                </a:r>
                <a14:m>
                  <m:oMath xmlns:m="http://schemas.openxmlformats.org/officeDocument/2006/math">
                    <m:r>
                      <a:rPr lang="en-PH" sz="2000" i="1">
                        <a:latin typeface="Cambria Math"/>
                        <a:ea typeface="Verdana" panose="020B0604030504040204" pitchFamily="34" charset="0"/>
                        <a:cs typeface="Verdana" panose="020B0604030504040204" pitchFamily="34" charset="0"/>
                      </a:rPr>
                      <m:t>𝑚</m:t>
                    </m:r>
                    <m:r>
                      <a:rPr lang="en-PH" sz="2000" i="1">
                        <a:latin typeface="Cambria Math"/>
                        <a:ea typeface="Verdana" panose="020B0604030504040204" pitchFamily="34" charset="0"/>
                        <a:cs typeface="Verdana" panose="020B0604030504040204" pitchFamily="34" charset="0"/>
                      </a:rPr>
                      <m:t>=2</m:t>
                    </m:r>
                  </m:oMath>
                </a14:m>
                <a:r>
                  <a:rPr lang="en-US"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PH" sz="2000" i="1">
                        <a:latin typeface="Cambria Math"/>
                        <a:ea typeface="Verdana" panose="020B0604030504040204" pitchFamily="34" charset="0"/>
                        <a:cs typeface="Verdana" panose="020B0604030504040204" pitchFamily="34" charset="0"/>
                      </a:rPr>
                      <m:t>𝑟</m:t>
                    </m:r>
                    <m:r>
                      <a:rPr lang="en-PH" sz="2000" i="1">
                        <a:latin typeface="Cambria Math"/>
                        <a:ea typeface="Verdana" panose="020B0604030504040204" pitchFamily="34" charset="0"/>
                        <a:cs typeface="Verdana" panose="020B0604030504040204" pitchFamily="34" charset="0"/>
                      </a:rPr>
                      <m:t>=−4</m:t>
                    </m:r>
                  </m:oMath>
                </a14:m>
                <a:r>
                  <a:rPr lang="en-US"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PH" sz="2000" i="1">
                        <a:latin typeface="Cambria Math"/>
                        <a:ea typeface="Verdana" panose="020B0604030504040204" pitchFamily="34" charset="0"/>
                        <a:cs typeface="Verdana" panose="020B0604030504040204" pitchFamily="34" charset="0"/>
                      </a:rPr>
                      <m:t>𝑊</m:t>
                    </m:r>
                    <m:r>
                      <a:rPr lang="en-PH" sz="2000" i="1">
                        <a:latin typeface="Cambria Math"/>
                        <a:ea typeface="Verdana" panose="020B0604030504040204" pitchFamily="34" charset="0"/>
                        <a:cs typeface="Verdana" panose="020B0604030504040204" pitchFamily="34" charset="0"/>
                      </a:rPr>
                      <m:t>=−60</m:t>
                    </m:r>
                  </m:oMath>
                </a14:m>
                <a:r>
                  <a:rPr lang="en-US" sz="20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PH" sz="2000" i="1">
                        <a:latin typeface="Cambria Math"/>
                        <a:ea typeface="Verdana" panose="020B0604030504040204" pitchFamily="34" charset="0"/>
                        <a:cs typeface="Verdana" panose="020B0604030504040204" pitchFamily="34" charset="0"/>
                      </a:rPr>
                      <m:t>𝑥</m:t>
                    </m:r>
                    <m:r>
                      <a:rPr lang="en-PH" sz="2000" i="1">
                        <a:latin typeface="Cambria Math"/>
                        <a:ea typeface="Verdana" panose="020B0604030504040204" pitchFamily="34" charset="0"/>
                        <a:cs typeface="Verdana" panose="020B0604030504040204" pitchFamily="34" charset="0"/>
                      </a:rPr>
                      <m:t>=−10</m:t>
                    </m:r>
                  </m:oMath>
                </a14:m>
                <a:r>
                  <a:rPr lang="en-US" sz="2000" dirty="0">
                    <a:latin typeface="Verdana" panose="020B0604030504040204" pitchFamily="34" charset="0"/>
                    <a:ea typeface="Verdana" panose="020B0604030504040204" pitchFamily="34" charset="0"/>
                    <a:cs typeface="Verdana" panose="020B0604030504040204" pitchFamily="34" charset="0"/>
                  </a:rPr>
                  <a:t>. Show your work.</a:t>
                </a:r>
              </a:p>
              <a:p>
                <a:pPr marL="914400" indent="-457200">
                  <a:buFont typeface="+mj-lt"/>
                  <a:buAutoNum type="alphaLcPeriod"/>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000" dirty="0">
                    <a:latin typeface="Verdana"/>
                    <a:ea typeface="Verdana"/>
                    <a:cs typeface="Verdana"/>
                  </a:rPr>
                  <a:t>How did the use of parentheses change the answers?</a:t>
                </a: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1169894" y="520393"/>
                <a:ext cx="10002878" cy="5016758"/>
              </a:xfrm>
              <a:prstGeom prst="rect">
                <a:avLst/>
              </a:prstGeom>
              <a:blipFill rotWithShape="0">
                <a:blip r:embed="rId3"/>
                <a:stretch>
                  <a:fillRect l="-670" t="-729"/>
                </a:stretch>
              </a:blipFill>
            </p:spPr>
            <p:txBody>
              <a:bodyPr/>
              <a:lstStyle/>
              <a:p>
                <a:r>
                  <a:rPr lang="en-US">
                    <a:noFill/>
                  </a:rPr>
                  <a:t> </a:t>
                </a:r>
              </a:p>
            </p:txBody>
          </p:sp>
        </mc:Fallback>
      </mc:AlternateContent>
      <p:sp>
        <p:nvSpPr>
          <p:cNvPr id="7" name="Google Shape;282;g104476d1465_1_17"/>
          <p:cNvSpPr txBox="1"/>
          <p:nvPr/>
        </p:nvSpPr>
        <p:spPr>
          <a:xfrm>
            <a:off x="8672903"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269</a:t>
            </a:r>
            <a:endParaRPr i="1" dirty="0">
              <a:latin typeface="Calibri"/>
              <a:ea typeface="Calibri"/>
              <a:cs typeface="Calibri"/>
              <a:sym typeface="Calibri"/>
            </a:endParaRPr>
          </a:p>
        </p:txBody>
      </p:sp>
      <p:pic>
        <p:nvPicPr>
          <p:cNvPr id="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11129"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2984170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6"/>
            <a:ext cx="2731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p:cNvSpPr txBox="1"/>
          <p:nvPr/>
        </p:nvSpPr>
        <p:spPr>
          <a:xfrm>
            <a:off x="8672903"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269</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11129"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67690871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474939" y="-19658"/>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13.1.6 Wrap-Up: Error Analysis</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3">
            <a:alphaModFix/>
          </a:blip>
          <a:srcRect/>
          <a:stretch/>
        </p:blipFill>
        <p:spPr>
          <a:xfrm>
            <a:off x="645489" y="123238"/>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0370EDB7-6994-3D43-ABF9-E04CBAFB9CD9}"/>
                  </a:ext>
                </a:extLst>
              </p:cNvPr>
              <p:cNvSpPr txBox="1"/>
              <p:nvPr/>
            </p:nvSpPr>
            <p:spPr>
              <a:xfrm>
                <a:off x="1474939" y="1386025"/>
                <a:ext cx="9498154" cy="1569660"/>
              </a:xfrm>
              <a:prstGeom prst="rect">
                <a:avLst/>
              </a:prstGeom>
              <a:noFill/>
            </p:spPr>
            <p:txBody>
              <a:bodyPr wrap="square" rtlCol="0">
                <a:spAutoFit/>
              </a:bodyPr>
              <a:lstStyle/>
              <a:p>
                <a:pPr marL="457200" lvl="3" indent="-457200">
                  <a:buFont typeface="+mj-lt"/>
                  <a:buAutoNum type="arabicPeriod"/>
                </a:pPr>
                <a:r>
                  <a:rPr lang="en-US" sz="2400" dirty="0">
                    <a:latin typeface="Verdana" pitchFamily="34" charset="0"/>
                    <a:ea typeface="Verdana" pitchFamily="34" charset="0"/>
                  </a:rPr>
                  <a:t>Nadine and Nora evaluated the expression </a:t>
                </a:r>
                <a14:m>
                  <m:oMath xmlns:m="http://schemas.openxmlformats.org/officeDocument/2006/math">
                    <m:sSup>
                      <m:sSupPr>
                        <m:ctrlPr>
                          <a:rPr lang="en-US" sz="2400" i="1">
                            <a:latin typeface="Cambria Math" panose="02040503050406030204" pitchFamily="18" charset="0"/>
                            <a:ea typeface="Cambria Math" pitchFamily="18" charset="0"/>
                          </a:rPr>
                        </m:ctrlPr>
                      </m:sSupPr>
                      <m:e>
                        <m:r>
                          <a:rPr lang="en-US" sz="2400" i="1">
                            <a:latin typeface="Cambria Math" panose="02040503050406030204" pitchFamily="18" charset="0"/>
                            <a:ea typeface="Cambria Math" pitchFamily="18" charset="0"/>
                          </a:rPr>
                          <m:t>𝑟</m:t>
                        </m:r>
                      </m:e>
                      <m:sup>
                        <m:r>
                          <a:rPr lang="en-US" sz="2400" i="1">
                            <a:latin typeface="Cambria Math" panose="02040503050406030204" pitchFamily="18" charset="0"/>
                            <a:ea typeface="Cambria Math" pitchFamily="18" charset="0"/>
                          </a:rPr>
                          <m:t>3</m:t>
                        </m:r>
                      </m:sup>
                    </m:sSup>
                    <m:r>
                      <a:rPr lang="en-US" sz="2400" i="1">
                        <a:latin typeface="Cambria Math" pitchFamily="18" charset="0"/>
                        <a:ea typeface="Cambria Math" pitchFamily="18" charset="0"/>
                      </a:rPr>
                      <m:t>÷</m:t>
                    </m:r>
                    <m:r>
                      <a:rPr lang="en-US" sz="2400" i="1">
                        <a:latin typeface="Cambria Math" pitchFamily="18" charset="0"/>
                        <a:ea typeface="Cambria Math" pitchFamily="18" charset="0"/>
                      </a:rPr>
                      <m:t>𝑥</m:t>
                    </m:r>
                    <m:r>
                      <a:rPr lang="en-US" sz="2400" i="1">
                        <a:latin typeface="Cambria Math" pitchFamily="18" charset="0"/>
                        <a:ea typeface="Cambria Math" pitchFamily="18" charset="0"/>
                      </a:rPr>
                      <m:t>∙</m:t>
                    </m:r>
                    <m:r>
                      <a:rPr lang="en-US" sz="2400" i="1">
                        <a:latin typeface="Cambria Math" pitchFamily="18" charset="0"/>
                        <a:ea typeface="Cambria Math" pitchFamily="18" charset="0"/>
                      </a:rPr>
                      <m:t>𝑐</m:t>
                    </m:r>
                  </m:oMath>
                </a14:m>
                <a:r>
                  <a:rPr lang="en-US" sz="2400" dirty="0">
                    <a:latin typeface="Verdana" pitchFamily="34" charset="0"/>
                    <a:ea typeface="Verdana" pitchFamily="34" charset="0"/>
                  </a:rPr>
                  <a:t> for </a:t>
                </a:r>
                <a14:m>
                  <m:oMath xmlns:m="http://schemas.openxmlformats.org/officeDocument/2006/math">
                    <m:r>
                      <a:rPr lang="en-US" sz="2400" i="1">
                        <a:latin typeface="Cambria Math" pitchFamily="18" charset="0"/>
                        <a:ea typeface="Cambria Math" pitchFamily="18" charset="0"/>
                      </a:rPr>
                      <m:t>𝑐</m:t>
                    </m:r>
                    <m:r>
                      <a:rPr lang="en-US" sz="2400">
                        <a:latin typeface="Cambria Math" pitchFamily="18" charset="0"/>
                        <a:ea typeface="Cambria Math" pitchFamily="18" charset="0"/>
                      </a:rPr>
                      <m:t>=9, </m:t>
                    </m:r>
                    <m:r>
                      <a:rPr lang="en-US" sz="2400" i="1">
                        <a:latin typeface="Cambria Math" pitchFamily="18" charset="0"/>
                        <a:ea typeface="Cambria Math" pitchFamily="18" charset="0"/>
                      </a:rPr>
                      <m:t>𝑟</m:t>
                    </m:r>
                    <m:r>
                      <a:rPr lang="en-US" sz="2400">
                        <a:latin typeface="Cambria Math" pitchFamily="18" charset="0"/>
                        <a:ea typeface="Cambria Math" pitchFamily="18" charset="0"/>
                      </a:rPr>
                      <m:t>=</m:t>
                    </m:r>
                    <m:r>
                      <a:rPr lang="en-US" sz="2400" i="1">
                        <a:latin typeface="Cambria Math" pitchFamily="18" charset="0"/>
                        <a:ea typeface="Cambria Math" pitchFamily="18" charset="0"/>
                      </a:rPr>
                      <m:t>−</m:t>
                    </m:r>
                    <m:r>
                      <a:rPr lang="en-US" sz="2400">
                        <a:latin typeface="Cambria Math" pitchFamily="18" charset="0"/>
                        <a:ea typeface="Cambria Math" pitchFamily="18" charset="0"/>
                      </a:rPr>
                      <m:t>6</m:t>
                    </m:r>
                  </m:oMath>
                </a14:m>
                <a:r>
                  <a:rPr lang="en-US" sz="2400" dirty="0">
                    <a:latin typeface="Verdana" pitchFamily="34" charset="0"/>
                    <a:ea typeface="Verdana" pitchFamily="34" charset="0"/>
                  </a:rPr>
                  <a:t> and </a:t>
                </a:r>
                <a14:m>
                  <m:oMath xmlns:m="http://schemas.openxmlformats.org/officeDocument/2006/math">
                    <m:r>
                      <a:rPr lang="en-US" sz="2400" i="1">
                        <a:latin typeface="Cambria Math" pitchFamily="18" charset="0"/>
                        <a:ea typeface="Cambria Math" pitchFamily="18" charset="0"/>
                      </a:rPr>
                      <m:t>𝑥</m:t>
                    </m:r>
                    <m:r>
                      <a:rPr lang="en-US" sz="2400">
                        <a:latin typeface="Cambria Math" pitchFamily="18" charset="0"/>
                        <a:ea typeface="Cambria Math" pitchFamily="18" charset="0"/>
                      </a:rPr>
                      <m:t>=</m:t>
                    </m:r>
                    <m:r>
                      <a:rPr lang="en-US" sz="2400" i="1">
                        <a:latin typeface="Cambria Math" pitchFamily="18" charset="0"/>
                        <a:ea typeface="Cambria Math" pitchFamily="18" charset="0"/>
                      </a:rPr>
                      <m:t>−</m:t>
                    </m:r>
                    <m:r>
                      <a:rPr lang="en-US" sz="2400">
                        <a:latin typeface="Cambria Math" pitchFamily="18" charset="0"/>
                        <a:ea typeface="Cambria Math" pitchFamily="18" charset="0"/>
                      </a:rPr>
                      <m:t>3</m:t>
                    </m:r>
                  </m:oMath>
                </a14:m>
                <a:r>
                  <a:rPr lang="en-US" sz="2400" dirty="0">
                    <a:latin typeface="Verdana" pitchFamily="34" charset="0"/>
                    <a:ea typeface="Verdana" pitchFamily="34" charset="0"/>
                  </a:rPr>
                  <a:t>. Both students made errors in their work shown. </a:t>
                </a:r>
                <a:br>
                  <a:rPr lang="en-US" sz="2400" dirty="0">
                    <a:latin typeface="Verdana" pitchFamily="34" charset="0"/>
                    <a:ea typeface="Verdana" pitchFamily="34" charset="0"/>
                  </a:rPr>
                </a:br>
                <a:r>
                  <a:rPr lang="en-US" sz="2400" dirty="0">
                    <a:latin typeface="Verdana" pitchFamily="34" charset="0"/>
                    <a:ea typeface="Verdana" pitchFamily="34" charset="0"/>
                  </a:rPr>
                  <a:t>Circle their errors.</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2" name="TextBox 11">
                <a:extLst>
                  <a:ext uri="{FF2B5EF4-FFF2-40B4-BE49-F238E27FC236}">
                    <a16:creationId xmlns:a16="http://schemas.microsoft.com/office/drawing/2014/main" xmlns:a14="http://schemas.microsoft.com/office/drawing/2010/main" xmlns="" id="{0370EDB7-6994-3D43-ABF9-E04CBAFB9CD9}"/>
                  </a:ext>
                </a:extLst>
              </p:cNvPr>
              <p:cNvSpPr txBox="1">
                <a:spLocks noRot="1" noChangeAspect="1" noMove="1" noResize="1" noEditPoints="1" noAdjustHandles="1" noChangeArrowheads="1" noChangeShapeType="1" noTextEdit="1"/>
              </p:cNvSpPr>
              <p:nvPr/>
            </p:nvSpPr>
            <p:spPr>
              <a:xfrm>
                <a:off x="1474939" y="1386025"/>
                <a:ext cx="9498154" cy="1569660"/>
              </a:xfrm>
              <a:prstGeom prst="rect">
                <a:avLst/>
              </a:prstGeom>
              <a:blipFill rotWithShape="0">
                <a:blip r:embed="rId4"/>
                <a:stretch>
                  <a:fillRect l="-1027" t="-3488" b="-775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2126024502"/>
                  </p:ext>
                </p:extLst>
              </p:nvPr>
            </p:nvGraphicFramePr>
            <p:xfrm>
              <a:off x="2642431" y="3215481"/>
              <a:ext cx="6530145" cy="2324164"/>
            </p:xfrm>
            <a:graphic>
              <a:graphicData uri="http://schemas.openxmlformats.org/drawingml/2006/table">
                <a:tbl>
                  <a:tblPr bandRow="1">
                    <a:tableStyleId>{A91F0D33-8C57-4600-99A7-42BC86742BE1}</a:tableStyleId>
                  </a:tblPr>
                  <a:tblGrid>
                    <a:gridCol w="3132936">
                      <a:extLst>
                        <a:ext uri="{9D8B030D-6E8A-4147-A177-3AD203B41FA5}">
                          <a16:colId xmlns:a16="http://schemas.microsoft.com/office/drawing/2014/main" val="20000"/>
                        </a:ext>
                      </a:extLst>
                    </a:gridCol>
                    <a:gridCol w="3397209">
                      <a:extLst>
                        <a:ext uri="{9D8B030D-6E8A-4147-A177-3AD203B41FA5}">
                          <a16:colId xmlns:a16="http://schemas.microsoft.com/office/drawing/2014/main" val="20001"/>
                        </a:ext>
                      </a:extLst>
                    </a:gridCol>
                  </a:tblGrid>
                  <a:tr h="387985">
                    <a:tc>
                      <a:txBody>
                        <a:bodyPr/>
                        <a:lstStyle/>
                        <a:p>
                          <a:pPr algn="ctr">
                            <a:lnSpc>
                              <a:spcPct val="107000"/>
                            </a:lnSpc>
                            <a:spcAft>
                              <a:spcPts val="0"/>
                            </a:spcAft>
                          </a:pPr>
                          <a:r>
                            <a:rPr lang="en-US" sz="2000" b="1" dirty="0">
                              <a:effectLst/>
                              <a:latin typeface="Verdana" pitchFamily="34" charset="0"/>
                              <a:ea typeface="Verdana" pitchFamily="34" charset="0"/>
                            </a:rPr>
                            <a:t>Nadine’s Work</a:t>
                          </a:r>
                          <a:endParaRPr lang="en-US" sz="2000" b="1" i="1" dirty="0">
                            <a:effectLst/>
                            <a:latin typeface="Verdana" pitchFamily="34" charset="0"/>
                            <a:ea typeface="Verdana" pitchFamily="34" charset="0"/>
                            <a:cs typeface="Cambria Math"/>
                          </a:endParaRPr>
                        </a:p>
                      </a:txBody>
                      <a:tcPr marL="68580" marR="68580" marT="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lnSpc>
                              <a:spcPct val="107000"/>
                            </a:lnSpc>
                            <a:spcAft>
                              <a:spcPts val="0"/>
                            </a:spcAft>
                          </a:pPr>
                          <a:r>
                            <a:rPr lang="en-US" sz="2000" b="1" dirty="0">
                              <a:effectLst/>
                              <a:latin typeface="Verdana" pitchFamily="34" charset="0"/>
                              <a:ea typeface="Verdana" pitchFamily="34" charset="0"/>
                            </a:rPr>
                            <a:t>Nora’s Work</a:t>
                          </a:r>
                          <a:endParaRPr lang="en-US" sz="2000" b="1" i="1" dirty="0">
                            <a:effectLst/>
                            <a:latin typeface="Verdana" pitchFamily="34" charset="0"/>
                            <a:ea typeface="Verdana" pitchFamily="34" charset="0"/>
                            <a:cs typeface="Cambria Math"/>
                          </a:endParaRPr>
                        </a:p>
                      </a:txBody>
                      <a:tcPr marL="68580" marR="68580" marT="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extLst>
                      <a:ext uri="{0D108BD9-81ED-4DB2-BD59-A6C34878D82A}">
                        <a16:rowId xmlns:a16="http://schemas.microsoft.com/office/drawing/2014/main" val="10000"/>
                      </a:ext>
                    </a:extLst>
                  </a:tr>
                  <a:tr h="1774190">
                    <a:tc>
                      <a:txBody>
                        <a:bodyPr/>
                        <a:lstStyle/>
                        <a:p>
                          <a:pPr algn="ctr">
                            <a:lnSpc>
                              <a:spcPct val="115000"/>
                            </a:lnSpc>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panose="02040503050406030204" pitchFamily="18" charset="0"/>
                                        <a:ea typeface="Cambria Math" pitchFamily="18" charset="0"/>
                                      </a:rPr>
                                    </m:ctrlPr>
                                  </m:sSupPr>
                                  <m:e>
                                    <m:r>
                                      <a:rPr lang="en-US" sz="2000">
                                        <a:effectLst/>
                                        <a:latin typeface="Cambria Math" pitchFamily="18" charset="0"/>
                                        <a:ea typeface="Cambria Math" pitchFamily="18" charset="0"/>
                                      </a:rPr>
                                      <m:t>𝑟</m:t>
                                    </m:r>
                                  </m:e>
                                  <m:sup>
                                    <m:r>
                                      <a:rPr lang="en-US" sz="2000">
                                        <a:effectLst/>
                                        <a:latin typeface="Cambria Math" pitchFamily="18" charset="0"/>
                                        <a:ea typeface="Cambria Math" pitchFamily="18" charset="0"/>
                                      </a:rPr>
                                      <m:t>3</m:t>
                                    </m:r>
                                  </m:sup>
                                </m:sSup>
                                <m:r>
                                  <a:rPr lang="en-US" sz="2000">
                                    <a:effectLst/>
                                    <a:latin typeface="Cambria Math" pitchFamily="18" charset="0"/>
                                    <a:ea typeface="Cambria Math" pitchFamily="18" charset="0"/>
                                  </a:rPr>
                                  <m:t>÷</m:t>
                                </m:r>
                                <m:r>
                                  <a:rPr lang="en-US" sz="2000">
                                    <a:effectLst/>
                                    <a:latin typeface="Cambria Math" pitchFamily="18" charset="0"/>
                                    <a:ea typeface="Cambria Math" pitchFamily="18" charset="0"/>
                                  </a:rPr>
                                  <m:t>𝑥</m:t>
                                </m:r>
                                <m:r>
                                  <a:rPr lang="en-US" sz="2000">
                                    <a:effectLst/>
                                    <a:latin typeface="Cambria Math" pitchFamily="18" charset="0"/>
                                    <a:ea typeface="Cambria Math" pitchFamily="18" charset="0"/>
                                  </a:rPr>
                                  <m:t>∙</m:t>
                                </m:r>
                                <m:r>
                                  <a:rPr lang="en-US" sz="2000">
                                    <a:effectLst/>
                                    <a:latin typeface="Cambria Math" pitchFamily="18" charset="0"/>
                                    <a:ea typeface="Cambria Math" pitchFamily="18" charset="0"/>
                                  </a:rPr>
                                  <m:t>𝑐</m:t>
                                </m:r>
                              </m:oMath>
                            </m:oMathPara>
                          </a14:m>
                          <a:endParaRPr lang="en-US" sz="2000" dirty="0">
                            <a:effectLst/>
                            <a:latin typeface="Cambria Math" pitchFamily="18" charset="0"/>
                            <a:ea typeface="Cambria Math" pitchFamily="18" charset="0"/>
                          </a:endParaRPr>
                        </a:p>
                        <a:p>
                          <a:pPr algn="ctr">
                            <a:lnSpc>
                              <a:spcPct val="115000"/>
                            </a:lnSpc>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panose="02040503050406030204" pitchFamily="18" charset="0"/>
                                        <a:ea typeface="Cambria Math" pitchFamily="18" charset="0"/>
                                      </a:rPr>
                                    </m:ctrlPr>
                                  </m:sSupPr>
                                  <m:e>
                                    <m:r>
                                      <a:rPr lang="en-US" sz="2000">
                                        <a:effectLst/>
                                        <a:latin typeface="Cambria Math" pitchFamily="18" charset="0"/>
                                        <a:ea typeface="Cambria Math" pitchFamily="18" charset="0"/>
                                      </a:rPr>
                                      <m:t>(−6)</m:t>
                                    </m:r>
                                  </m:e>
                                  <m:sup>
                                    <m:r>
                                      <a:rPr lang="en-US" sz="2000">
                                        <a:effectLst/>
                                        <a:latin typeface="Cambria Math" pitchFamily="18" charset="0"/>
                                        <a:ea typeface="Cambria Math" pitchFamily="18" charset="0"/>
                                      </a:rPr>
                                      <m:t>3</m:t>
                                    </m:r>
                                  </m:sup>
                                </m:sSup>
                                <m:r>
                                  <a:rPr lang="en-US" sz="2000">
                                    <a:effectLst/>
                                    <a:latin typeface="Cambria Math" pitchFamily="18" charset="0"/>
                                    <a:ea typeface="Cambria Math" pitchFamily="18" charset="0"/>
                                  </a:rPr>
                                  <m:t>÷(−3)∙9</m:t>
                                </m:r>
                              </m:oMath>
                            </m:oMathPara>
                          </a14:m>
                          <a:endParaRPr lang="en-US" sz="2000" dirty="0">
                            <a:effectLst/>
                            <a:latin typeface="Cambria Math" pitchFamily="18" charset="0"/>
                            <a:ea typeface="Cambria Math" pitchFamily="18" charset="0"/>
                          </a:endParaRPr>
                        </a:p>
                        <a:p>
                          <a:pPr algn="ctr">
                            <a:lnSpc>
                              <a:spcPct val="115000"/>
                            </a:lnSpc>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itchFamily="18" charset="0"/>
                                    <a:ea typeface="Cambria Math" pitchFamily="18" charset="0"/>
                                  </a:rPr>
                                  <m:t>−216÷(−3)∙9</m:t>
                                </m:r>
                              </m:oMath>
                            </m:oMathPara>
                          </a14:m>
                          <a:endParaRPr lang="en-US" sz="2000" dirty="0">
                            <a:effectLst/>
                            <a:latin typeface="Cambria Math" pitchFamily="18" charset="0"/>
                            <a:ea typeface="Cambria Math" pitchFamily="18" charset="0"/>
                          </a:endParaRPr>
                        </a:p>
                        <a:p>
                          <a:pPr algn="ctr">
                            <a:lnSpc>
                              <a:spcPct val="115000"/>
                            </a:lnSpc>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itchFamily="18" charset="0"/>
                                    <a:ea typeface="Cambria Math" pitchFamily="18" charset="0"/>
                                  </a:rPr>
                                  <m:t>−216÷−27</m:t>
                                </m:r>
                              </m:oMath>
                            </m:oMathPara>
                          </a14:m>
                          <a:endParaRPr lang="en-US" sz="2000" dirty="0">
                            <a:effectLst/>
                            <a:latin typeface="Cambria Math" pitchFamily="18" charset="0"/>
                            <a:ea typeface="Cambria Math" pitchFamily="18" charset="0"/>
                          </a:endParaRPr>
                        </a:p>
                        <a:p>
                          <a:pPr algn="ctr">
                            <a:lnSpc>
                              <a:spcPct val="115000"/>
                            </a:lnSpc>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itchFamily="18" charset="0"/>
                                    <a:ea typeface="Cambria Math" pitchFamily="18" charset="0"/>
                                  </a:rPr>
                                  <m:t>8</m:t>
                                </m:r>
                              </m:oMath>
                            </m:oMathPara>
                          </a14:m>
                          <a:endParaRPr lang="en-US" sz="2000" i="1" dirty="0">
                            <a:effectLst/>
                            <a:latin typeface="Cambria Math" pitchFamily="18" charset="0"/>
                            <a:ea typeface="Cambria Math" pitchFamily="18" charset="0"/>
                            <a:cs typeface="Cambria Math"/>
                          </a:endParaRPr>
                        </a:p>
                      </a:txBody>
                      <a:tcPr marL="68580" marR="68580" marT="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panose="02040503050406030204" pitchFamily="18" charset="0"/>
                                        <a:ea typeface="Cambria Math" pitchFamily="18" charset="0"/>
                                      </a:rPr>
                                    </m:ctrlPr>
                                  </m:sSupPr>
                                  <m:e>
                                    <m:r>
                                      <a:rPr lang="en-US" sz="2000">
                                        <a:effectLst/>
                                        <a:latin typeface="Cambria Math" pitchFamily="18" charset="0"/>
                                        <a:ea typeface="Cambria Math" pitchFamily="18" charset="0"/>
                                      </a:rPr>
                                      <m:t>𝑟</m:t>
                                    </m:r>
                                  </m:e>
                                  <m:sup>
                                    <m:r>
                                      <a:rPr lang="en-US" sz="2000">
                                        <a:effectLst/>
                                        <a:latin typeface="Cambria Math" pitchFamily="18" charset="0"/>
                                        <a:ea typeface="Cambria Math" pitchFamily="18" charset="0"/>
                                      </a:rPr>
                                      <m:t>3</m:t>
                                    </m:r>
                                  </m:sup>
                                </m:sSup>
                                <m:r>
                                  <a:rPr lang="en-US" sz="2000">
                                    <a:effectLst/>
                                    <a:latin typeface="Cambria Math" pitchFamily="18" charset="0"/>
                                    <a:ea typeface="Cambria Math" pitchFamily="18" charset="0"/>
                                  </a:rPr>
                                  <m:t>÷</m:t>
                                </m:r>
                                <m:r>
                                  <a:rPr lang="en-US" sz="2000">
                                    <a:effectLst/>
                                    <a:latin typeface="Cambria Math" pitchFamily="18" charset="0"/>
                                    <a:ea typeface="Cambria Math" pitchFamily="18" charset="0"/>
                                  </a:rPr>
                                  <m:t>𝑥</m:t>
                                </m:r>
                                <m:r>
                                  <a:rPr lang="en-US" sz="2000">
                                    <a:effectLst/>
                                    <a:latin typeface="Cambria Math" pitchFamily="18" charset="0"/>
                                    <a:ea typeface="Cambria Math" pitchFamily="18" charset="0"/>
                                  </a:rPr>
                                  <m:t>∙</m:t>
                                </m:r>
                                <m:r>
                                  <a:rPr lang="en-US" sz="2000">
                                    <a:effectLst/>
                                    <a:latin typeface="Cambria Math" pitchFamily="18" charset="0"/>
                                    <a:ea typeface="Cambria Math" pitchFamily="18" charset="0"/>
                                  </a:rPr>
                                  <m:t>𝑐</m:t>
                                </m:r>
                              </m:oMath>
                            </m:oMathPara>
                          </a14:m>
                          <a:endParaRPr lang="en-US" sz="2000" dirty="0">
                            <a:effectLst/>
                            <a:latin typeface="Cambria Math" pitchFamily="18" charset="0"/>
                            <a:ea typeface="Cambria Math" pitchFamily="18" charset="0"/>
                          </a:endParaRPr>
                        </a:p>
                        <a:p>
                          <a:pPr algn="ctr">
                            <a:lnSpc>
                              <a:spcPct val="115000"/>
                            </a:lnSpc>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panose="02040503050406030204" pitchFamily="18" charset="0"/>
                                        <a:ea typeface="Cambria Math" pitchFamily="18" charset="0"/>
                                      </a:rPr>
                                    </m:ctrlPr>
                                  </m:sSupPr>
                                  <m:e>
                                    <m:r>
                                      <a:rPr lang="en-US" sz="2000">
                                        <a:effectLst/>
                                        <a:latin typeface="Cambria Math" pitchFamily="18" charset="0"/>
                                        <a:ea typeface="Cambria Math" pitchFamily="18" charset="0"/>
                                      </a:rPr>
                                      <m:t>(−6)</m:t>
                                    </m:r>
                                  </m:e>
                                  <m:sup>
                                    <m:r>
                                      <a:rPr lang="en-US" sz="2000">
                                        <a:effectLst/>
                                        <a:latin typeface="Cambria Math" pitchFamily="18" charset="0"/>
                                        <a:ea typeface="Cambria Math" pitchFamily="18" charset="0"/>
                                      </a:rPr>
                                      <m:t>3</m:t>
                                    </m:r>
                                  </m:sup>
                                </m:sSup>
                                <m:r>
                                  <a:rPr lang="en-US" sz="2000">
                                    <a:effectLst/>
                                    <a:latin typeface="Cambria Math" pitchFamily="18" charset="0"/>
                                    <a:ea typeface="Cambria Math" pitchFamily="18" charset="0"/>
                                  </a:rPr>
                                  <m:t>÷(−3)∙9</m:t>
                                </m:r>
                              </m:oMath>
                            </m:oMathPara>
                          </a14:m>
                          <a:endParaRPr lang="en-US" sz="2000" dirty="0">
                            <a:effectLst/>
                            <a:latin typeface="Cambria Math" pitchFamily="18" charset="0"/>
                            <a:ea typeface="Cambria Math" pitchFamily="18" charset="0"/>
                          </a:endParaRPr>
                        </a:p>
                        <a:p>
                          <a:pPr algn="ctr">
                            <a:lnSpc>
                              <a:spcPct val="115000"/>
                            </a:lnSpc>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itchFamily="18" charset="0"/>
                                    <a:ea typeface="Cambria Math" pitchFamily="18" charset="0"/>
                                  </a:rPr>
                                  <m:t>−18÷</m:t>
                                </m:r>
                                <m:d>
                                  <m:dPr>
                                    <m:ctrlPr>
                                      <a:rPr lang="en-US" sz="2000" i="1">
                                        <a:effectLst/>
                                        <a:latin typeface="Cambria Math" panose="02040503050406030204" pitchFamily="18" charset="0"/>
                                        <a:ea typeface="Cambria Math" pitchFamily="18" charset="0"/>
                                      </a:rPr>
                                    </m:ctrlPr>
                                  </m:dPr>
                                  <m:e>
                                    <m:r>
                                      <a:rPr lang="en-US" sz="2000">
                                        <a:effectLst/>
                                        <a:latin typeface="Cambria Math" pitchFamily="18" charset="0"/>
                                        <a:ea typeface="Cambria Math" pitchFamily="18" charset="0"/>
                                      </a:rPr>
                                      <m:t>−3</m:t>
                                    </m:r>
                                  </m:e>
                                </m:d>
                                <m:r>
                                  <a:rPr lang="en-US" sz="2000">
                                    <a:effectLst/>
                                    <a:latin typeface="Cambria Math" pitchFamily="18" charset="0"/>
                                    <a:ea typeface="Cambria Math" pitchFamily="18" charset="0"/>
                                  </a:rPr>
                                  <m:t>∙9</m:t>
                                </m:r>
                              </m:oMath>
                            </m:oMathPara>
                          </a14:m>
                          <a:endParaRPr lang="en-US" sz="2000" dirty="0">
                            <a:effectLst/>
                            <a:latin typeface="Cambria Math" pitchFamily="18" charset="0"/>
                            <a:ea typeface="Cambria Math" pitchFamily="18" charset="0"/>
                          </a:endParaRPr>
                        </a:p>
                        <a:p>
                          <a:pPr algn="ctr">
                            <a:lnSpc>
                              <a:spcPct val="115000"/>
                            </a:lnSpc>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itchFamily="18" charset="0"/>
                                    <a:ea typeface="Cambria Math" pitchFamily="18" charset="0"/>
                                  </a:rPr>
                                  <m:t>6∙9</m:t>
                                </m:r>
                              </m:oMath>
                            </m:oMathPara>
                          </a14:m>
                          <a:endParaRPr lang="en-US" sz="2000" dirty="0">
                            <a:effectLst/>
                            <a:latin typeface="Cambria Math" pitchFamily="18" charset="0"/>
                            <a:ea typeface="Cambria Math" pitchFamily="18" charset="0"/>
                          </a:endParaRPr>
                        </a:p>
                        <a:p>
                          <a:pPr algn="ctr">
                            <a:lnSpc>
                              <a:spcPct val="115000"/>
                            </a:lnSpc>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itchFamily="18" charset="0"/>
                                    <a:ea typeface="Cambria Math" pitchFamily="18" charset="0"/>
                                  </a:rPr>
                                  <m:t>54</m:t>
                                </m:r>
                              </m:oMath>
                            </m:oMathPara>
                          </a14:m>
                          <a:endParaRPr lang="en-US" sz="2000" i="1" dirty="0">
                            <a:effectLst/>
                            <a:latin typeface="Cambria Math" pitchFamily="18" charset="0"/>
                            <a:ea typeface="Cambria Math" pitchFamily="18" charset="0"/>
                            <a:cs typeface="Cambria Math"/>
                          </a:endParaRPr>
                        </a:p>
                      </a:txBody>
                      <a:tcPr marL="68580" marR="68580" marT="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2126024502"/>
                  </p:ext>
                </p:extLst>
              </p:nvPr>
            </p:nvGraphicFramePr>
            <p:xfrm>
              <a:off x="1118430" y="3215481"/>
              <a:ext cx="6530145" cy="2353056"/>
            </p:xfrm>
            <a:graphic>
              <a:graphicData uri="http://schemas.openxmlformats.org/drawingml/2006/table">
                <a:tbl>
                  <a:tblPr bandRow="1">
                    <a:tableStyleId>{A91F0D33-8C57-4600-99A7-42BC86742BE1}</a:tableStyleId>
                  </a:tblPr>
                  <a:tblGrid>
                    <a:gridCol w="3132936"/>
                    <a:gridCol w="3397209"/>
                  </a:tblGrid>
                  <a:tr h="463296">
                    <a:tc>
                      <a:txBody>
                        <a:bodyPr/>
                        <a:lstStyle/>
                        <a:p>
                          <a:pPr algn="ctr">
                            <a:lnSpc>
                              <a:spcPct val="107000"/>
                            </a:lnSpc>
                            <a:spcAft>
                              <a:spcPts val="0"/>
                            </a:spcAft>
                          </a:pPr>
                          <a:r>
                            <a:rPr lang="en-US" sz="2000" b="1" dirty="0">
                              <a:effectLst/>
                              <a:latin typeface="Verdana" pitchFamily="34" charset="0"/>
                              <a:ea typeface="Verdana" pitchFamily="34" charset="0"/>
                            </a:rPr>
                            <a:t>Nadine’s Work</a:t>
                          </a:r>
                          <a:endParaRPr lang="en-US" sz="2000" b="1" i="1" dirty="0">
                            <a:effectLst/>
                            <a:latin typeface="Verdana" pitchFamily="34" charset="0"/>
                            <a:ea typeface="Verdana" pitchFamily="34" charset="0"/>
                            <a:cs typeface="Cambria Math"/>
                          </a:endParaRPr>
                        </a:p>
                      </a:txBody>
                      <a:tcPr marL="68580" marR="68580" marT="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lnSpc>
                              <a:spcPct val="107000"/>
                            </a:lnSpc>
                            <a:spcAft>
                              <a:spcPts val="0"/>
                            </a:spcAft>
                          </a:pPr>
                          <a:r>
                            <a:rPr lang="en-US" sz="2000" b="1" dirty="0">
                              <a:effectLst/>
                              <a:latin typeface="Verdana" pitchFamily="34" charset="0"/>
                              <a:ea typeface="Verdana" pitchFamily="34" charset="0"/>
                            </a:rPr>
                            <a:t>Nora’s Work</a:t>
                          </a:r>
                          <a:endParaRPr lang="en-US" sz="2000" b="1" i="1" dirty="0">
                            <a:effectLst/>
                            <a:latin typeface="Verdana" pitchFamily="34" charset="0"/>
                            <a:ea typeface="Verdana" pitchFamily="34" charset="0"/>
                            <a:cs typeface="Cambria Math"/>
                          </a:endParaRPr>
                        </a:p>
                      </a:txBody>
                      <a:tcPr marL="68580" marR="68580" marT="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r>
                  <a:tr h="1889760">
                    <a:tc>
                      <a:txBody>
                        <a:bodyPr/>
                        <a:lstStyle/>
                        <a:p>
                          <a:endParaRPr lang="en-US"/>
                        </a:p>
                      </a:txBody>
                      <a:tcPr marL="68580" marR="68580" marT="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6"/>
                          <a:stretch>
                            <a:fillRect t="-24516" r="-108560" b="-323"/>
                          </a:stretch>
                        </a:blipFill>
                      </a:tcPr>
                    </a:tc>
                    <a:tc>
                      <a:txBody>
                        <a:bodyPr/>
                        <a:lstStyle/>
                        <a:p>
                          <a:endParaRPr lang="en-US"/>
                        </a:p>
                      </a:txBody>
                      <a:tcPr marL="68580" marR="68580" marT="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6"/>
                          <a:stretch>
                            <a:fillRect l="-92115" t="-24516" b="-323"/>
                          </a:stretch>
                        </a:blipFill>
                      </a:tcPr>
                    </a:tc>
                  </a:tr>
                </a:tbl>
              </a:graphicData>
            </a:graphic>
          </p:graphicFrame>
        </mc:Fallback>
      </mc:AlternateContent>
      <p:sp>
        <p:nvSpPr>
          <p:cNvPr id="11" name="Google Shape;282;g104476d1465_1_17"/>
          <p:cNvSpPr txBox="1"/>
          <p:nvPr/>
        </p:nvSpPr>
        <p:spPr>
          <a:xfrm>
            <a:off x="8672903"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269</a:t>
            </a:r>
            <a:endParaRPr i="1" dirty="0">
              <a:latin typeface="Calibri"/>
              <a:ea typeface="Calibri"/>
              <a:cs typeface="Calibri"/>
              <a:sym typeface="Calibri"/>
            </a:endParaRPr>
          </a:p>
        </p:txBody>
      </p:sp>
      <p:pic>
        <p:nvPicPr>
          <p:cNvPr id="13" name="Google Shape;283;g104476d1465_1_17"/>
          <p:cNvPicPr preferRelativeResize="0"/>
          <p:nvPr/>
        </p:nvPicPr>
        <p:blipFill>
          <a:blip r:embed="rId7" cstate="screen">
            <a:alphaModFix/>
            <a:extLst>
              <a:ext uri="{28A0092B-C50C-407E-A947-70E740481C1C}">
                <a14:useLocalDpi xmlns:a14="http://schemas.microsoft.com/office/drawing/2010/main"/>
              </a:ext>
            </a:extLst>
          </a:blip>
          <a:stretch>
            <a:fillRect/>
          </a:stretch>
        </p:blipFill>
        <p:spPr>
          <a:xfrm>
            <a:off x="11411129"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5539956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7336"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TextBox 13">
            <a:extLst>
              <a:ext uri="{FF2B5EF4-FFF2-40B4-BE49-F238E27FC236}">
                <a16:creationId xmlns:a16="http://schemas.microsoft.com/office/drawing/2014/main" id="{2FA392D8-3ED3-7940-83A8-1451AA8A08D4}"/>
              </a:ext>
            </a:extLst>
          </p:cNvPr>
          <p:cNvSpPr txBox="1"/>
          <p:nvPr/>
        </p:nvSpPr>
        <p:spPr>
          <a:xfrm>
            <a:off x="1250576" y="520393"/>
            <a:ext cx="9841514" cy="1200329"/>
          </a:xfrm>
          <a:prstGeom prst="rect">
            <a:avLst/>
          </a:prstGeom>
          <a:noFill/>
        </p:spPr>
        <p:txBody>
          <a:bodyPr wrap="square" rtlCol="0">
            <a:spAutoFit/>
          </a:bodyPr>
          <a:lstStyle/>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Write a short explanation to each student to explain the mistake and what she needs to remember about evaluating expressions in the future.</a:t>
            </a:r>
          </a:p>
        </p:txBody>
      </p:sp>
      <p:graphicFrame>
        <p:nvGraphicFramePr>
          <p:cNvPr id="2" name="Table 1"/>
          <p:cNvGraphicFramePr>
            <a:graphicFrameLocks noGrp="1"/>
          </p:cNvGraphicFramePr>
          <p:nvPr>
            <p:extLst>
              <p:ext uri="{D42A27DB-BD31-4B8C-83A1-F6EECF244321}">
                <p14:modId xmlns:p14="http://schemas.microsoft.com/office/powerpoint/2010/main" val="2195539445"/>
              </p:ext>
            </p:extLst>
          </p:nvPr>
        </p:nvGraphicFramePr>
        <p:xfrm>
          <a:off x="2603570" y="2290504"/>
          <a:ext cx="6807130" cy="3910097"/>
        </p:xfrm>
        <a:graphic>
          <a:graphicData uri="http://schemas.openxmlformats.org/drawingml/2006/table">
            <a:tbl>
              <a:tblPr bandRow="1">
                <a:tableStyleId>{A91F0D33-8C57-4600-99A7-42BC86742BE1}</a:tableStyleId>
              </a:tblPr>
              <a:tblGrid>
                <a:gridCol w="3406705">
                  <a:extLst>
                    <a:ext uri="{9D8B030D-6E8A-4147-A177-3AD203B41FA5}">
                      <a16:colId xmlns:a16="http://schemas.microsoft.com/office/drawing/2014/main" val="20000"/>
                    </a:ext>
                  </a:extLst>
                </a:gridCol>
                <a:gridCol w="3400425">
                  <a:extLst>
                    <a:ext uri="{9D8B030D-6E8A-4147-A177-3AD203B41FA5}">
                      <a16:colId xmlns:a16="http://schemas.microsoft.com/office/drawing/2014/main" val="20001"/>
                    </a:ext>
                  </a:extLst>
                </a:gridCol>
              </a:tblGrid>
              <a:tr h="3910097">
                <a:tc>
                  <a:txBody>
                    <a:bodyPr/>
                    <a:lstStyle/>
                    <a:p>
                      <a:pPr>
                        <a:lnSpc>
                          <a:spcPct val="107000"/>
                        </a:lnSpc>
                        <a:spcAft>
                          <a:spcPts val="800"/>
                        </a:spcAft>
                      </a:pPr>
                      <a:r>
                        <a:rPr lang="en-US" sz="2400" i="1" dirty="0">
                          <a:effectLst/>
                          <a:latin typeface="Verdana" pitchFamily="34" charset="0"/>
                          <a:ea typeface="Verdana" pitchFamily="34" charset="0"/>
                        </a:rPr>
                        <a:t>To Nadine:</a:t>
                      </a:r>
                      <a:endParaRPr lang="en-US" sz="2400" i="1" dirty="0">
                        <a:effectLst/>
                        <a:latin typeface="Verdana" pitchFamily="34" charset="0"/>
                        <a:ea typeface="Verdana" pitchFamily="34" charset="0"/>
                        <a:cs typeface="Cambria Math"/>
                      </a:endParaRPr>
                    </a:p>
                  </a:txBody>
                  <a:tcPr marL="62543" marR="62543"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US" sz="2400" i="1" dirty="0">
                          <a:effectLst/>
                          <a:latin typeface="Verdana" pitchFamily="34" charset="0"/>
                          <a:ea typeface="Verdana" pitchFamily="34" charset="0"/>
                        </a:rPr>
                        <a:t>To Nora:</a:t>
                      </a:r>
                    </a:p>
                  </a:txBody>
                  <a:tcPr marL="62543" marR="62543"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7" name="Google Shape;282;g104476d1465_1_17"/>
          <p:cNvSpPr txBox="1"/>
          <p:nvPr/>
        </p:nvSpPr>
        <p:spPr>
          <a:xfrm>
            <a:off x="8672903"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269</a:t>
            </a:r>
            <a:endParaRPr i="1" dirty="0">
              <a:latin typeface="Calibri"/>
              <a:ea typeface="Calibri"/>
              <a:cs typeface="Calibri"/>
              <a:sym typeface="Calibri"/>
            </a:endParaRPr>
          </a:p>
        </p:txBody>
      </p:sp>
      <p:pic>
        <p:nvPicPr>
          <p:cNvPr id="9"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11129"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512732382"/>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1523</TotalTime>
  <Words>1977</Words>
  <Application>Microsoft Office PowerPoint</Application>
  <PresentationFormat>Widescreen</PresentationFormat>
  <Paragraphs>343</Paragraphs>
  <Slides>37</Slides>
  <Notes>37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37</vt:i4>
      </vt:variant>
    </vt:vector>
  </HeadingPairs>
  <TitlesOfParts>
    <vt:vector size="46" baseType="lpstr">
      <vt:lpstr>Arial</vt:lpstr>
      <vt:lpstr>Arial Black</vt:lpstr>
      <vt:lpstr>Calibri</vt:lpstr>
      <vt:lpstr>Cambria Math</vt:lpstr>
      <vt:lpstr>Century Gothic</vt:lpstr>
      <vt:lpstr>Courier New</vt:lpstr>
      <vt:lpstr>Verdana</vt:lpstr>
      <vt:lpstr>Wingdings</vt:lpstr>
      <vt:lpstr>1_Office Theme</vt:lpstr>
      <vt:lpstr>6th Grade Accelerated Math  Unit 13, Lesson 1  Evaluating Expressions  Volume 2, pg. 263  </vt:lpstr>
      <vt:lpstr>Benchmark</vt:lpstr>
      <vt:lpstr>PowerPoint Presentation</vt:lpstr>
      <vt:lpstr>PowerPoint Presentation</vt:lpstr>
      <vt:lpstr>Warm-Up</vt:lpstr>
      <vt:lpstr>PowerPoint Presentation</vt:lpstr>
      <vt:lpstr>PowerPoint Presentation</vt:lpstr>
      <vt:lpstr>Guided Instruction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Collaboration</vt:lpstr>
      <vt:lpstr>PowerPoint Presentation</vt:lpstr>
      <vt:lpstr>PowerPoint Presentation</vt:lpstr>
      <vt:lpstr>PowerPoint Presentation</vt:lpstr>
      <vt:lpstr>PowerPoint Presentation</vt:lpstr>
      <vt:lpstr>Guided Instruction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Try It</vt:lpstr>
      <vt:lpstr>PowerPoint Presentation</vt:lpstr>
      <vt:lpstr>PowerPoint Presentation</vt:lpstr>
      <vt:lpstr>PowerPoint Presentation</vt:lpstr>
      <vt:lpstr>Wrap-Up</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  </dc:title>
  <dc:creator>Karen McKenzie</dc:creator>
  <cp:lastModifiedBy>Cassie O'Connor</cp:lastModifiedBy>
  <cp:revision>47</cp:revision>
  <dcterms:created xsi:type="dcterms:W3CDTF">2015-03-17T18:51:18Z</dcterms:created>
  <dcterms:modified xsi:type="dcterms:W3CDTF">2022-07-02T04:19:22Z</dcterms:modified>
</cp:coreProperties>
</file>