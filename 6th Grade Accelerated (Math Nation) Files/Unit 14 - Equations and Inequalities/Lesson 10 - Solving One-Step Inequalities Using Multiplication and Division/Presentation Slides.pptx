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6" r:id="rId9"/>
    <p:sldId id="267" r:id="rId10"/>
    <p:sldId id="268" r:id="rId11"/>
    <p:sldId id="293" r:id="rId12"/>
    <p:sldId id="294" r:id="rId13"/>
    <p:sldId id="295" r:id="rId14"/>
    <p:sldId id="297" r:id="rId15"/>
    <p:sldId id="298" r:id="rId16"/>
    <p:sldId id="296" r:id="rId17"/>
    <p:sldId id="284" r:id="rId18"/>
    <p:sldId id="285" r:id="rId19"/>
    <p:sldId id="263" r:id="rId20"/>
    <p:sldId id="264" r:id="rId21"/>
    <p:sldId id="265" r:id="rId22"/>
    <p:sldId id="299" r:id="rId23"/>
    <p:sldId id="300" r:id="rId24"/>
    <p:sldId id="301" r:id="rId25"/>
    <p:sldId id="303" r:id="rId26"/>
    <p:sldId id="304" r:id="rId27"/>
    <p:sldId id="305" r:id="rId28"/>
    <p:sldId id="312" r:id="rId29"/>
    <p:sldId id="275" r:id="rId30"/>
    <p:sldId id="276" r:id="rId31"/>
    <p:sldId id="277" r:id="rId32"/>
    <p:sldId id="309" r:id="rId33"/>
    <p:sldId id="310" r:id="rId34"/>
    <p:sldId id="311" r:id="rId35"/>
    <p:sldId id="290" r:id="rId36"/>
    <p:sldId id="291" r:id="rId37"/>
    <p:sldId id="292"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hssq3OoqM7J6XYkDacLZ4V+Khz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p:restoredTop sz="94694"/>
  </p:normalViewPr>
  <p:slideViewPr>
    <p:cSldViewPr snapToGrid="0">
      <p:cViewPr varScale="1">
        <p:scale>
          <a:sx n="121" d="100"/>
          <a:sy n="121" d="100"/>
        </p:scale>
        <p:origin x="88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69"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6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2865623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3408168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818399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058027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2780798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1242779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2182610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734352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2570580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38692936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extLst>
      <p:ext uri="{BB962C8B-B14F-4D97-AF65-F5344CB8AC3E}">
        <p14:creationId xmlns:p14="http://schemas.microsoft.com/office/powerpoint/2010/main" val="1832446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1901880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3076359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extLst>
      <p:ext uri="{BB962C8B-B14F-4D97-AF65-F5344CB8AC3E}">
        <p14:creationId xmlns:p14="http://schemas.microsoft.com/office/powerpoint/2010/main" val="3985501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4015861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extLst>
      <p:ext uri="{BB962C8B-B14F-4D97-AF65-F5344CB8AC3E}">
        <p14:creationId xmlns:p14="http://schemas.microsoft.com/office/powerpoint/2010/main" val="1668734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00.png"/></Relationships>
</file>

<file path=ppt/slides/_rels/slide2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1.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1850089"/>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endParaRPr sz="3200" b="1" dirty="0">
              <a:solidFill>
                <a:srgbClr val="417DBF"/>
              </a:solidFill>
              <a:latin typeface="Verdana"/>
              <a:ea typeface="Verdana"/>
              <a:cs typeface="Verdana"/>
              <a:sym typeface="Verdana"/>
            </a:endParaRPr>
          </a:p>
          <a:p>
            <a:pPr algn="ctr">
              <a:lnSpc>
                <a:spcPct val="100000"/>
              </a:lnSpc>
            </a:pPr>
            <a:endParaRPr sz="3200" b="1" dirty="0">
              <a:solidFill>
                <a:srgbClr val="417DBF"/>
              </a:solidFill>
              <a:latin typeface="Verdana"/>
              <a:ea typeface="Verdana"/>
              <a:cs typeface="Verdana"/>
              <a:sym typeface="Verdana"/>
            </a:endParaRPr>
          </a:p>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14, Lesson 10</a:t>
            </a:r>
            <a:endParaRPr sz="3200" b="1" dirty="0">
              <a:solidFill>
                <a:srgbClr val="417DBF"/>
              </a:solidFill>
              <a:latin typeface="Verdana"/>
              <a:ea typeface="Verdana"/>
              <a:cs typeface="Verdana"/>
              <a:sym typeface="Verdana"/>
            </a:endParaRPr>
          </a:p>
          <a:p>
            <a:pPr algn="ctr">
              <a:lnSpc>
                <a:spcPct val="100000"/>
              </a:lnSpc>
              <a:buClr>
                <a:srgbClr val="000000"/>
              </a:buClr>
            </a:pPr>
            <a:endParaRPr sz="3200" b="1" dirty="0">
              <a:solidFill>
                <a:srgbClr val="417DBF"/>
              </a:solidFill>
              <a:latin typeface="Verdana"/>
              <a:ea typeface="Verdana"/>
              <a:cs typeface="Verdana"/>
              <a:sym typeface="Verdana"/>
            </a:endParaRPr>
          </a:p>
          <a:p>
            <a:pPr lvl="0" algn="ctr">
              <a:lnSpc>
                <a:spcPct val="100000"/>
              </a:lnSpc>
              <a:buClr>
                <a:srgbClr val="000000"/>
              </a:buClr>
            </a:pPr>
            <a:r>
              <a:rPr lang="en-US" sz="3200" b="1" dirty="0">
                <a:solidFill>
                  <a:srgbClr val="417DBF"/>
                </a:solidFill>
                <a:latin typeface="Verdana"/>
                <a:ea typeface="Verdana"/>
                <a:cs typeface="Verdana"/>
              </a:rPr>
              <a:t>Solving One-Step Inequalities Using Multiplication and Division</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2, pg. 391</a:t>
            </a:r>
            <a:endParaRPr sz="3200" dirty="0"/>
          </a:p>
          <a:p>
            <a:pPr algn="ctr">
              <a:lnSpc>
                <a:spcPct val="100000"/>
              </a:lnSpc>
              <a:buClr>
                <a:srgbClr val="000000"/>
              </a:buClr>
            </a:pPr>
            <a:endParaRPr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850089"/>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503856" y="5861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80356" y="29439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503856" y="1600200"/>
            <a:ext cx="9184288" cy="4205700"/>
          </a:xfrm>
          <a:prstGeom prst="rect">
            <a:avLst/>
          </a:prstGeom>
          <a:noFill/>
          <a:ln>
            <a:noFill/>
          </a:ln>
        </p:spPr>
        <p:txBody>
          <a:bodyPr spcFirstLastPara="1" wrap="square" lIns="91425" tIns="45700" rIns="91425" bIns="45700" anchor="t" anchorCtr="0">
            <a:norm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MA.7.AR.2.1 </a:t>
            </a:r>
          </a:p>
          <a:p>
            <a:pPr marL="457200" lvl="2"/>
            <a:r>
              <a:rPr lang="en-US" sz="2400" dirty="0">
                <a:latin typeface="Verdana" panose="020B0604030504040204" pitchFamily="34" charset="0"/>
                <a:ea typeface="Verdana" panose="020B0604030504040204" pitchFamily="34" charset="0"/>
                <a:cs typeface="Verdana" panose="020B0604030504040204" pitchFamily="34" charset="0"/>
              </a:rPr>
              <a:t>Write and solve one-step inequalities in one variable within a mathematical context and represent solutions algebraically or graphically.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581501" y="234532"/>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06151" y="-8101"/>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532238" y="1596390"/>
            <a:ext cx="9715284"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000" dirty="0">
              <a:latin typeface="Verdana" panose="020B0604030504040204" pitchFamily="34" charset="0"/>
              <a:ea typeface="Verdana" panose="020B0604030504040204" pitchFamily="34" charset="0"/>
              <a:cs typeface="Verdana" panose="020B0604030504040204" pitchFamily="34" charset="0"/>
            </a:endParaRPr>
          </a:p>
          <a:p>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endParaRPr sz="2000" dirty="0">
              <a:latin typeface="Verdana" panose="020B0604030504040204" pitchFamily="34" charset="0"/>
              <a:ea typeface="Verdana" panose="020B0604030504040204" pitchFamily="34" charset="0"/>
              <a:cs typeface="Verdana" panose="020B0604030504040204" pitchFamily="34" charset="0"/>
            </a:endParaRPr>
          </a:p>
          <a:p>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38" name="Google Shape;138;p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431397" y="-51449"/>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649235" y="237751"/>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631092" y="1600200"/>
            <a:ext cx="8929816" cy="4205700"/>
          </a:xfrm>
          <a:prstGeom prst="rect">
            <a:avLst/>
          </a:prstGeom>
          <a:noFill/>
          <a:ln>
            <a:noFill/>
          </a:ln>
        </p:spPr>
        <p:txBody>
          <a:bodyPr spcFirstLastPara="1" wrap="square" lIns="91425" tIns="45700" rIns="91425" bIns="45700" anchor="t" anchorCtr="0">
            <a:noAutofit/>
          </a:body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determine the minimum or maximum value that makes an inequality true.</a:t>
            </a: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explore the relationship between the coefficients of the terms in an inequality and solution set.</a:t>
            </a: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solve one-step inequalities in one variable using multiplication or division.</a:t>
            </a:r>
          </a:p>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relate properties of inequality to solving one-step inequalities algebraically.</a:t>
            </a:r>
          </a:p>
        </p:txBody>
      </p:sp>
      <p:sp>
        <p:nvSpPr>
          <p:cNvPr id="149" name="Google Shape;149;p2"/>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71479" y="-50888"/>
            <a:ext cx="8512779"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14.10.1 Warm-Up: Visual Model</a:t>
            </a:r>
            <a:endParaRPr dirty="0"/>
          </a:p>
        </p:txBody>
      </p:sp>
      <p:pic>
        <p:nvPicPr>
          <p:cNvPr id="167" name="Google Shape;167;p4"/>
          <p:cNvPicPr preferRelativeResize="0"/>
          <p:nvPr/>
        </p:nvPicPr>
        <p:blipFill rotWithShape="1">
          <a:blip r:embed="rId3">
            <a:alphaModFix/>
          </a:blip>
          <a:srcRect/>
          <a:stretch/>
        </p:blipFill>
        <p:spPr>
          <a:xfrm>
            <a:off x="724180"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09816" y="1386025"/>
            <a:ext cx="9828400" cy="141573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An unbalanced hanger diagram is shown.</a:t>
            </a:r>
          </a:p>
          <a:p>
            <a:r>
              <a:rPr lang="en-US" sz="2400" dirty="0">
                <a:latin typeface="Verdana"/>
                <a:ea typeface="Verdana"/>
                <a:cs typeface="Verdana"/>
              </a:rPr>
              <a:t>It shows that the weight of one circle is greater than the weight of one pentagon.</a:t>
            </a:r>
          </a:p>
          <a:p>
            <a:endParaRPr dirty="0"/>
          </a:p>
        </p:txBody>
      </p:sp>
      <p:sp>
        <p:nvSpPr>
          <p:cNvPr id="170" name="Google Shape;170;p4"/>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Picture" descr="An unbalanced hanger with the left side higher than the right side. On the left side, a pentagon. On the right side, a circle.">
            <a:extLst>
              <a:ext uri="{FF2B5EF4-FFF2-40B4-BE49-F238E27FC236}">
                <a16:creationId xmlns:a16="http://schemas.microsoft.com/office/drawing/2014/main" id="{2E617BF8-8A50-A041-A5EE-053FF6DDBB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auto">
          <a:xfrm>
            <a:off x="4624501" y="3334025"/>
            <a:ext cx="2942998" cy="2137951"/>
          </a:xfrm>
          <a:prstGeom prst="rect">
            <a:avLst/>
          </a:prstGeom>
          <a:noFill/>
          <a:ln w="9525">
            <a:noFill/>
            <a:headEnd/>
            <a:tailEnd/>
          </a:ln>
        </p:spPr>
      </p:pic>
      <p:sp>
        <p:nvSpPr>
          <p:cNvPr id="10"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8A21E878-0A0A-364F-B009-E847A7987732}"/>
                  </a:ext>
                </a:extLst>
              </p:cNvPr>
              <p:cNvGraphicFramePr>
                <a:graphicFrameLocks noGrp="1"/>
              </p:cNvGraphicFramePr>
              <p:nvPr>
                <p:extLst>
                  <p:ext uri="{D42A27DB-BD31-4B8C-83A1-F6EECF244321}">
                    <p14:modId xmlns:p14="http://schemas.microsoft.com/office/powerpoint/2010/main" val="1262530649"/>
                  </p:ext>
                </p:extLst>
              </p:nvPr>
            </p:nvGraphicFramePr>
            <p:xfrm>
              <a:off x="2299581" y="1023507"/>
              <a:ext cx="7592839" cy="5448315"/>
            </p:xfrm>
            <a:graphic>
              <a:graphicData uri="http://schemas.openxmlformats.org/drawingml/2006/table">
                <a:tbl>
                  <a:tblPr firstRow="1" firstCol="1" bandRow="1">
                    <a:tableStyleId>{5C22544A-7EE6-4342-B048-85BDC9FD1C3A}</a:tableStyleId>
                  </a:tblPr>
                  <a:tblGrid>
                    <a:gridCol w="2567410">
                      <a:extLst>
                        <a:ext uri="{9D8B030D-6E8A-4147-A177-3AD203B41FA5}">
                          <a16:colId xmlns:a16="http://schemas.microsoft.com/office/drawing/2014/main" val="3639501621"/>
                        </a:ext>
                      </a:extLst>
                    </a:gridCol>
                    <a:gridCol w="2628894">
                      <a:extLst>
                        <a:ext uri="{9D8B030D-6E8A-4147-A177-3AD203B41FA5}">
                          <a16:colId xmlns:a16="http://schemas.microsoft.com/office/drawing/2014/main" val="2185239011"/>
                        </a:ext>
                      </a:extLst>
                    </a:gridCol>
                    <a:gridCol w="2396535">
                      <a:extLst>
                        <a:ext uri="{9D8B030D-6E8A-4147-A177-3AD203B41FA5}">
                          <a16:colId xmlns:a16="http://schemas.microsoft.com/office/drawing/2014/main" val="3681652619"/>
                        </a:ext>
                      </a:extLst>
                    </a:gridCol>
                  </a:tblGrid>
                  <a:tr h="252046">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Hanger Diagram</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Description</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0560835"/>
                      </a:ext>
                    </a:extLst>
                  </a:tr>
                  <a:tr h="1115527">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The weight of one circle, </a:t>
                          </a:r>
                          <a14:m>
                            <m:oMath xmlns:m="http://schemas.openxmlformats.org/officeDocument/2006/math">
                              <m:r>
                                <a:rPr lang="en-US" sz="1800">
                                  <a:solidFill>
                                    <a:schemeClr val="tx1"/>
                                  </a:solidFill>
                                  <a:effectLst/>
                                  <a:latin typeface="Cambria Math" panose="02040503050406030204" pitchFamily="18" charset="0"/>
                                </a:rPr>
                                <m:t>𝑐</m:t>
                              </m:r>
                            </m:oMath>
                          </a14:m>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is greater than the weight of one pentagon, </a:t>
                          </a:r>
                          <a14:m>
                            <m:oMath xmlns:m="http://schemas.openxmlformats.org/officeDocument/2006/math">
                              <m:r>
                                <a:rPr lang="en-US" sz="1800">
                                  <a:solidFill>
                                    <a:schemeClr val="tx1"/>
                                  </a:solidFill>
                                  <a:effectLst/>
                                  <a:latin typeface="Cambria Math" panose="02040503050406030204" pitchFamily="18" charset="0"/>
                                </a:rPr>
                                <m:t>𝑝</m:t>
                              </m:r>
                            </m:oMath>
                          </a14:m>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121299"/>
                      </a:ext>
                    </a:extLst>
                  </a:tr>
                  <a:tr h="1192829">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panose="02040503050406030204" pitchFamily="18" charset="0"/>
                                  </a:rPr>
                                  <m:t>𝑠</m:t>
                                </m:r>
                                <m:r>
                                  <a:rPr lang="en-US" sz="1800" smtClean="0">
                                    <a:solidFill>
                                      <a:schemeClr val="tx1"/>
                                    </a:solidFill>
                                    <a:effectLst/>
                                    <a:latin typeface="Cambria Math" panose="02040503050406030204" pitchFamily="18" charset="0"/>
                                  </a:rPr>
                                  <m:t>&lt;</m:t>
                                </m:r>
                                <m:r>
                                  <a:rPr lang="en-US" sz="1800" smtClean="0">
                                    <a:solidFill>
                                      <a:schemeClr val="tx1"/>
                                    </a:solidFill>
                                    <a:effectLst/>
                                    <a:latin typeface="Cambria Math" panose="02040503050406030204" pitchFamily="18" charset="0"/>
                                  </a:rPr>
                                  <m:t>𝑝</m:t>
                                </m:r>
                              </m:oMath>
                            </m:oMathPara>
                          </a14:m>
                          <a:endPar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7184740"/>
                      </a:ext>
                    </a:extLst>
                  </a:tr>
                  <a:tr h="1208501">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The weight of one square, </a:t>
                          </a:r>
                          <a14:m>
                            <m:oMath xmlns:m="http://schemas.openxmlformats.org/officeDocument/2006/math">
                              <m:r>
                                <a:rPr lang="en-US" sz="1800">
                                  <a:solidFill>
                                    <a:schemeClr val="tx1"/>
                                  </a:solidFill>
                                  <a:effectLst/>
                                  <a:latin typeface="Cambria Math" panose="02040503050406030204" pitchFamily="18" charset="0"/>
                                </a:rPr>
                                <m:t>𝑠</m:t>
                              </m:r>
                            </m:oMath>
                          </a14:m>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is __________ than the weight of a circle and a pentagon.</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panose="02040503050406030204" pitchFamily="18" charset="0"/>
                                  </a:rPr>
                                  <m:t>𝑐</m:t>
                                </m:r>
                                <m:r>
                                  <a:rPr lang="en-US" sz="1800" smtClean="0">
                                    <a:solidFill>
                                      <a:schemeClr val="tx1"/>
                                    </a:solidFill>
                                    <a:effectLst/>
                                    <a:latin typeface="Cambria Math" panose="02040503050406030204" pitchFamily="18" charset="0"/>
                                  </a:rPr>
                                  <m:t>+</m:t>
                                </m:r>
                                <m:r>
                                  <a:rPr lang="en-US" sz="1800" smtClean="0">
                                    <a:solidFill>
                                      <a:schemeClr val="tx1"/>
                                    </a:solidFill>
                                    <a:effectLst/>
                                    <a:latin typeface="Cambria Math" panose="02040503050406030204" pitchFamily="18" charset="0"/>
                                  </a:rPr>
                                  <m:t>𝑝</m:t>
                                </m:r>
                                <m:r>
                                  <a:rPr lang="en-US" sz="1800" smtClean="0">
                                    <a:solidFill>
                                      <a:schemeClr val="tx1"/>
                                    </a:solidFill>
                                    <a:effectLst/>
                                    <a:latin typeface="Cambria Math" panose="02040503050406030204" pitchFamily="18" charset="0"/>
                                  </a:rPr>
                                  <m:t>&gt;____</m:t>
                                </m:r>
                              </m:oMath>
                            </m:oMathPara>
                          </a14:m>
                          <a:endPar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4388551"/>
                      </a:ext>
                    </a:extLst>
                  </a:tr>
                  <a:tr h="1494039">
                    <a:tc>
                      <a:txBody>
                        <a:bodyPr/>
                        <a:lstStyle/>
                        <a:p>
                          <a:pPr marL="0" marR="0" algn="ctr">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panose="02040503050406030204" pitchFamily="18" charset="0"/>
                                  </a:rPr>
                                  <m:t>𝑠</m:t>
                                </m:r>
                                <m:r>
                                  <a:rPr lang="en-US" sz="1800" smtClean="0">
                                    <a:solidFill>
                                      <a:schemeClr val="tx1"/>
                                    </a:solidFill>
                                    <a:effectLst/>
                                    <a:latin typeface="Cambria Math" panose="02040503050406030204" pitchFamily="18" charset="0"/>
                                  </a:rPr>
                                  <m:t>+</m:t>
                                </m:r>
                                <m:r>
                                  <a:rPr lang="en-US" sz="1800" smtClean="0">
                                    <a:solidFill>
                                      <a:schemeClr val="tx1"/>
                                    </a:solidFill>
                                    <a:effectLst/>
                                    <a:latin typeface="Cambria Math" panose="02040503050406030204" pitchFamily="18" charset="0"/>
                                  </a:rPr>
                                  <m:t>𝑐</m:t>
                                </m:r>
                                <m:r>
                                  <a:rPr lang="en-US" sz="1800" smtClean="0">
                                    <a:solidFill>
                                      <a:schemeClr val="tx1"/>
                                    </a:solidFill>
                                    <a:effectLst/>
                                    <a:latin typeface="Cambria Math" panose="02040503050406030204" pitchFamily="18" charset="0"/>
                                  </a:rPr>
                                  <m:t>&gt;2</m:t>
                                </m:r>
                                <m:r>
                                  <a:rPr lang="en-US" sz="1800" smtClean="0">
                                    <a:solidFill>
                                      <a:schemeClr val="tx1"/>
                                    </a:solidFill>
                                    <a:effectLst/>
                                    <a:latin typeface="Cambria Math" panose="02040503050406030204" pitchFamily="18" charset="0"/>
                                  </a:rPr>
                                  <m:t>𝑡</m:t>
                                </m:r>
                              </m:oMath>
                            </m:oMathPara>
                          </a14:m>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6967813"/>
                      </a:ext>
                    </a:extLst>
                  </a:tr>
                </a:tbl>
              </a:graphicData>
            </a:graphic>
          </p:graphicFrame>
        </mc:Choice>
        <mc:Fallback xmlns="">
          <p:graphicFrame>
            <p:nvGraphicFramePr>
              <p:cNvPr id="3" name="Table 2">
                <a:extLst>
                  <a:ext uri="{FF2B5EF4-FFF2-40B4-BE49-F238E27FC236}">
                    <a16:creationId xmlns:a16="http://schemas.microsoft.com/office/drawing/2014/main" id="{8A21E878-0A0A-364F-B009-E847A7987732}"/>
                  </a:ext>
                </a:extLst>
              </p:cNvPr>
              <p:cNvGraphicFramePr>
                <a:graphicFrameLocks noGrp="1"/>
              </p:cNvGraphicFramePr>
              <p:nvPr>
                <p:extLst>
                  <p:ext uri="{D42A27DB-BD31-4B8C-83A1-F6EECF244321}">
                    <p14:modId xmlns:p14="http://schemas.microsoft.com/office/powerpoint/2010/main" val="1262530649"/>
                  </p:ext>
                </p:extLst>
              </p:nvPr>
            </p:nvGraphicFramePr>
            <p:xfrm>
              <a:off x="775580" y="1023506"/>
              <a:ext cx="7592839" cy="5448315"/>
            </p:xfrm>
            <a:graphic>
              <a:graphicData uri="http://schemas.openxmlformats.org/drawingml/2006/table">
                <a:tbl>
                  <a:tblPr firstRow="1" firstCol="1" bandRow="1">
                    <a:tableStyleId>{5C22544A-7EE6-4342-B048-85BDC9FD1C3A}</a:tableStyleId>
                  </a:tblPr>
                  <a:tblGrid>
                    <a:gridCol w="2567410">
                      <a:extLst>
                        <a:ext uri="{9D8B030D-6E8A-4147-A177-3AD203B41FA5}">
                          <a16:colId xmlns:a16="http://schemas.microsoft.com/office/drawing/2014/main" val="3639501621"/>
                        </a:ext>
                      </a:extLst>
                    </a:gridCol>
                    <a:gridCol w="2628894">
                      <a:extLst>
                        <a:ext uri="{9D8B030D-6E8A-4147-A177-3AD203B41FA5}">
                          <a16:colId xmlns:a16="http://schemas.microsoft.com/office/drawing/2014/main" val="2185239011"/>
                        </a:ext>
                      </a:extLst>
                    </a:gridCol>
                    <a:gridCol w="2396535">
                      <a:extLst>
                        <a:ext uri="{9D8B030D-6E8A-4147-A177-3AD203B41FA5}">
                          <a16:colId xmlns:a16="http://schemas.microsoft.com/office/drawing/2014/main" val="3681652619"/>
                        </a:ext>
                      </a:extLst>
                    </a:gridCol>
                  </a:tblGrid>
                  <a:tr h="274320">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Hanger Diagram</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Description</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0560835"/>
                      </a:ext>
                    </a:extLst>
                  </a:tr>
                  <a:tr h="1115527">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8068" t="-31818" r="-91787" b="-364773"/>
                          </a:stretch>
                        </a:blipFill>
                      </a:tcPr>
                    </a:tc>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121299"/>
                      </a:ext>
                    </a:extLst>
                  </a:tr>
                  <a:tr h="1192829">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931" t="-123404" r="-529" b="-241489"/>
                          </a:stretch>
                        </a:blipFill>
                      </a:tcPr>
                    </a:tc>
                    <a:extLst>
                      <a:ext uri="{0D108BD9-81ED-4DB2-BD59-A6C34878D82A}">
                        <a16:rowId xmlns:a16="http://schemas.microsoft.com/office/drawing/2014/main" val="4207184740"/>
                      </a:ext>
                    </a:extLst>
                  </a:tr>
                  <a:tr h="1371600">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8068" t="-194444" r="-91787" b="-110185"/>
                          </a:stretch>
                        </a:blipFill>
                      </a:tcPr>
                    </a:tc>
                    <a:tc>
                      <a:txBody>
                        <a:bodyPr/>
                        <a:lstStyle/>
                        <a:p>
                          <a:endParaRPr lang="en-US"/>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931" t="-194444" r="-529" b="-110185"/>
                          </a:stretch>
                        </a:blipFill>
                      </a:tcPr>
                    </a:tc>
                    <a:extLst>
                      <a:ext uri="{0D108BD9-81ED-4DB2-BD59-A6C34878D82A}">
                        <a16:rowId xmlns:a16="http://schemas.microsoft.com/office/drawing/2014/main" val="3514388551"/>
                      </a:ext>
                    </a:extLst>
                  </a:tr>
                  <a:tr h="1494039">
                    <a:tc>
                      <a:txBody>
                        <a:bodyPr/>
                        <a:lstStyle/>
                        <a:p>
                          <a:pPr marL="0" marR="0" algn="ctr">
                            <a:spcBef>
                              <a:spcPts val="0"/>
                            </a:spcBef>
                            <a:spcAft>
                              <a:spcPts val="0"/>
                            </a:spcAft>
                          </a:pPr>
                          <a:endPar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37960" marR="37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6931" t="-269492" r="-529" b="-847"/>
                          </a:stretch>
                        </a:blipFill>
                      </a:tcPr>
                    </a:tc>
                    <a:extLst>
                      <a:ext uri="{0D108BD9-81ED-4DB2-BD59-A6C34878D82A}">
                        <a16:rowId xmlns:a16="http://schemas.microsoft.com/office/drawing/2014/main" val="1926967813"/>
                      </a:ext>
                    </a:extLst>
                  </a:tr>
                </a:tbl>
              </a:graphicData>
            </a:graphic>
          </p:graphicFrame>
        </mc:Fallback>
      </mc:AlternateContent>
      <p:sp>
        <p:nvSpPr>
          <p:cNvPr id="178" name="Google Shape;178;p5"/>
          <p:cNvSpPr txBox="1"/>
          <p:nvPr/>
        </p:nvSpPr>
        <p:spPr>
          <a:xfrm>
            <a:off x="2007765" y="520394"/>
            <a:ext cx="8327136" cy="40006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a:ea typeface="Verdana"/>
                <a:cs typeface="Verdana"/>
              </a:rPr>
              <a:t>Complete the table.</a:t>
            </a:r>
          </a:p>
        </p:txBody>
      </p:sp>
      <p:sp>
        <p:nvSpPr>
          <p:cNvPr id="179" name="Google Shape;179;p5"/>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0" name="Picture" descr="An unbalanced hanger with the left side higher than the right side. On the left side, a pentagon. On the right side, a circle.">
            <a:extLst>
              <a:ext uri="{FF2B5EF4-FFF2-40B4-BE49-F238E27FC236}">
                <a16:creationId xmlns:a16="http://schemas.microsoft.com/office/drawing/2014/main" id="{BAAD6D1E-72A5-074F-9A12-6AC17A9C71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auto">
          <a:xfrm>
            <a:off x="2849438" y="1323392"/>
            <a:ext cx="1466640" cy="1065480"/>
          </a:xfrm>
          <a:prstGeom prst="rect">
            <a:avLst/>
          </a:prstGeom>
          <a:noFill/>
          <a:ln w="9525">
            <a:noFill/>
            <a:headEnd/>
            <a:tailEnd/>
          </a:ln>
        </p:spPr>
      </p:pic>
      <p:pic>
        <p:nvPicPr>
          <p:cNvPr id="11" name="Picture" descr="An unbalanced hanger with the left side higher than the right side. On the left side, a square. On the right side, a pentagon.">
            <a:extLst>
              <a:ext uri="{FF2B5EF4-FFF2-40B4-BE49-F238E27FC236}">
                <a16:creationId xmlns:a16="http://schemas.microsoft.com/office/drawing/2014/main" id="{5F292E9B-7EAE-AF4C-A4EB-7FABB79D0F8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auto">
          <a:xfrm>
            <a:off x="2873301" y="2467327"/>
            <a:ext cx="1451663" cy="1065480"/>
          </a:xfrm>
          <a:prstGeom prst="rect">
            <a:avLst/>
          </a:prstGeom>
          <a:noFill/>
          <a:ln w="9525">
            <a:noFill/>
            <a:headEnd/>
            <a:tailEnd/>
          </a:ln>
        </p:spPr>
      </p:pic>
      <p:pic>
        <p:nvPicPr>
          <p:cNvPr id="12" name="Picture" descr="An unbalanced hanger with the left side lower than the right side. On the left side, a circle and a pentagon arranged vertically. On the right side, a square.">
            <a:extLst>
              <a:ext uri="{FF2B5EF4-FFF2-40B4-BE49-F238E27FC236}">
                <a16:creationId xmlns:a16="http://schemas.microsoft.com/office/drawing/2014/main" id="{14D26F23-5C0C-B342-B12F-2F4BD31DE5A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auto">
          <a:xfrm>
            <a:off x="3003461" y="3636906"/>
            <a:ext cx="1191341" cy="1240536"/>
          </a:xfrm>
          <a:prstGeom prst="rect">
            <a:avLst/>
          </a:prstGeom>
          <a:noFill/>
          <a:ln w="9525">
            <a:noFill/>
            <a:headEnd/>
            <a:tailEnd/>
          </a:ln>
        </p:spPr>
      </p:pic>
      <p:sp>
        <p:nvSpPr>
          <p:cNvPr id="13"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391</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333602" y="60388"/>
            <a:ext cx="1035589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14.10.2 Exploration: </a:t>
            </a:r>
            <a:r>
              <a:rPr lang="en-US" sz="2800" b="1" dirty="0">
                <a:solidFill>
                  <a:srgbClr val="33BEA6"/>
                </a:solidFill>
                <a:latin typeface="Verdana"/>
                <a:ea typeface="Verdana"/>
                <a:cs typeface="Verdana"/>
              </a:rPr>
              <a:t>Determining the Minimum or Maximum Value that Makes an Inequality True </a:t>
            </a:r>
            <a:endParaRPr sz="2800" b="1" dirty="0">
              <a:solidFill>
                <a:srgbClr val="33BEA6"/>
              </a:solidFill>
              <a:latin typeface="Verdana"/>
              <a:ea typeface="Verdana"/>
              <a:cs typeface="Verdana"/>
            </a:endParaRPr>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77304" y="308513"/>
            <a:ext cx="752254" cy="752254"/>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229" name="Google Shape;229;p10"/>
              <p:cNvSpPr txBox="1"/>
              <p:nvPr/>
            </p:nvSpPr>
            <p:spPr>
              <a:xfrm>
                <a:off x="1329558" y="1386026"/>
                <a:ext cx="9788916" cy="4001055"/>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Work with your partner to complete the following.</a:t>
                </a:r>
              </a:p>
              <a:p>
                <a:r>
                  <a:rPr lang="en-US" sz="2400" dirty="0">
                    <a:latin typeface="Verdana"/>
                    <a:ea typeface="Verdana"/>
                    <a:cs typeface="Verdana"/>
                  </a:rPr>
                  <a:t> </a:t>
                </a:r>
              </a:p>
              <a:p>
                <a:pPr marL="457200" indent="-457200">
                  <a:buFont typeface="+mj-lt"/>
                  <a:buAutoNum type="arabicPeriod"/>
                </a:pPr>
                <a:r>
                  <a:rPr lang="en-US" sz="2400" dirty="0" err="1">
                    <a:latin typeface="Verdana"/>
                    <a:ea typeface="Verdana"/>
                    <a:cs typeface="Verdana"/>
                  </a:rPr>
                  <a:t>Bak</a:t>
                </a:r>
                <a:r>
                  <a:rPr lang="en-US" sz="2400" dirty="0">
                    <a:latin typeface="Verdana"/>
                    <a:ea typeface="Verdana"/>
                    <a:cs typeface="Verdana"/>
                  </a:rPr>
                  <a:t> Middle School of the Arts in West Palm Beach</a:t>
                </a:r>
                <a:r>
                  <a:rPr lang="en-US" sz="2400">
                    <a:latin typeface="Verdana"/>
                    <a:ea typeface="Verdana"/>
                    <a:cs typeface="Verdana"/>
                  </a:rPr>
                  <a:t>, Florida </a:t>
                </a:r>
                <a:r>
                  <a:rPr lang="en-US" sz="2400" dirty="0">
                    <a:latin typeface="Verdana"/>
                    <a:ea typeface="Verdana"/>
                    <a:cs typeface="Verdana"/>
                  </a:rPr>
                  <a:t>is hosting a rehearsal for its upcoming musical. The stage manager has </a:t>
                </a:r>
                <a14:m>
                  <m:oMath xmlns:m="http://schemas.openxmlformats.org/officeDocument/2006/math">
                    <m:r>
                      <a:rPr lang="en-US" sz="2400">
                        <a:latin typeface="Cambria Math" panose="02040503050406030204" pitchFamily="18" charset="0"/>
                      </a:rPr>
                      <m:t>$83</m:t>
                    </m:r>
                  </m:oMath>
                </a14:m>
                <a:r>
                  <a:rPr lang="en-US" sz="2400" dirty="0">
                    <a:latin typeface="Verdana"/>
                    <a:ea typeface="Verdana"/>
                    <a:cs typeface="Verdana"/>
                  </a:rPr>
                  <a:t> from a recent fundraiser that can be used to order lunch for the cast and crew. The school’s cafeteria can make boxed lunches for a cost of </a:t>
                </a:r>
                <a14:m>
                  <m:oMath xmlns:m="http://schemas.openxmlformats.org/officeDocument/2006/math">
                    <m:r>
                      <a:rPr lang="en-US" sz="2400">
                        <a:latin typeface="Cambria Math" panose="02040503050406030204" pitchFamily="18" charset="0"/>
                      </a:rPr>
                      <m:t>$6</m:t>
                    </m:r>
                  </m:oMath>
                </a14:m>
                <a:r>
                  <a:rPr lang="en-US" sz="2400" dirty="0">
                    <a:latin typeface="Verdana"/>
                    <a:ea typeface="Verdana"/>
                    <a:cs typeface="Verdana"/>
                  </a:rPr>
                  <a:t> each. The inequality </a:t>
                </a:r>
                <a14:m>
                  <m:oMath xmlns:m="http://schemas.openxmlformats.org/officeDocument/2006/math">
                    <m:r>
                      <a:rPr lang="en-US" sz="2400">
                        <a:latin typeface="Cambria Math" panose="02040503050406030204" pitchFamily="18" charset="0"/>
                      </a:rPr>
                      <m:t>6</m:t>
                    </m:r>
                    <m:r>
                      <a:rPr lang="en-US" sz="2400">
                        <a:latin typeface="Cambria Math" panose="02040503050406030204" pitchFamily="18" charset="0"/>
                      </a:rPr>
                      <m:t>𝑛</m:t>
                    </m:r>
                    <m:r>
                      <a:rPr lang="en-US" sz="2400">
                        <a:latin typeface="Cambria Math" panose="02040503050406030204" pitchFamily="18" charset="0"/>
                      </a:rPr>
                      <m:t>≤83</m:t>
                    </m:r>
                  </m:oMath>
                </a14:m>
                <a:r>
                  <a:rPr lang="en-US" sz="2400" dirty="0">
                    <a:latin typeface="Verdana"/>
                    <a:ea typeface="Verdana"/>
                    <a:cs typeface="Verdana"/>
                  </a:rPr>
                  <a:t> represents the situation, where </a:t>
                </a:r>
                <a14:m>
                  <m:oMath xmlns:m="http://schemas.openxmlformats.org/officeDocument/2006/math">
                    <m:r>
                      <a:rPr lang="en-US" sz="2400">
                        <a:latin typeface="Cambria Math" panose="02040503050406030204" pitchFamily="18" charset="0"/>
                      </a:rPr>
                      <m:t>𝑛</m:t>
                    </m:r>
                  </m:oMath>
                </a14:m>
                <a:r>
                  <a:rPr lang="en-US" sz="2400" dirty="0">
                    <a:latin typeface="Verdana"/>
                    <a:ea typeface="Verdana"/>
                    <a:cs typeface="Verdana"/>
                  </a:rPr>
                  <a:t> represents the number of boxed lunches that can be ordered from the cafeteria.</a:t>
                </a:r>
              </a:p>
              <a:p>
                <a:endParaRPr dirty="0"/>
              </a:p>
            </p:txBody>
          </p:sp>
        </mc:Choice>
        <mc:Fallback>
          <p:sp>
            <p:nvSpPr>
              <p:cNvPr id="229" name="Google Shape;229;p10"/>
              <p:cNvSpPr txBox="1">
                <a:spLocks noRot="1" noChangeAspect="1" noMove="1" noResize="1" noEditPoints="1" noAdjustHandles="1" noChangeArrowheads="1" noChangeShapeType="1" noTextEdit="1"/>
              </p:cNvSpPr>
              <p:nvPr/>
            </p:nvSpPr>
            <p:spPr>
              <a:xfrm>
                <a:off x="1329558" y="1386026"/>
                <a:ext cx="9788916" cy="4001055"/>
              </a:xfrm>
              <a:prstGeom prst="rect">
                <a:avLst/>
              </a:prstGeom>
              <a:blipFill>
                <a:blip r:embed="rId4"/>
                <a:stretch>
                  <a:fillRect l="-1036" t="-946" r="-1813"/>
                </a:stretch>
              </a:blipFill>
              <a:ln>
                <a:noFill/>
              </a:ln>
            </p:spPr>
            <p:txBody>
              <a:bodyPr/>
              <a:lstStyle/>
              <a:p>
                <a:r>
                  <a:rPr lang="en-US">
                    <a:noFill/>
                  </a:rPr>
                  <a:t> </a:t>
                </a:r>
              </a:p>
            </p:txBody>
          </p:sp>
        </mc:Fallback>
      </mc:AlternateContent>
      <p:sp>
        <p:nvSpPr>
          <p:cNvPr id="230" name="Google Shape;230;p1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136822" y="520393"/>
                <a:ext cx="10069022" cy="3954312"/>
              </a:xfrm>
              <a:prstGeom prst="rect">
                <a:avLst/>
              </a:prstGeom>
              <a:noFill/>
              <a:ln>
                <a:noFill/>
              </a:ln>
            </p:spPr>
            <p:txBody>
              <a:bodyPr spcFirstLastPara="1" wrap="square" lIns="91425" tIns="45700" rIns="91425" bIns="45700" anchor="t" anchorCtr="0">
                <a:spAutoFit/>
              </a:bodyPr>
              <a:lstStyle/>
              <a:p>
                <a:pPr marL="915988" indent="-476250">
                  <a:buFont typeface="+mj-lt"/>
                  <a:buAutoNum type="alphaLcPeriod"/>
                </a:pPr>
                <a:r>
                  <a:rPr lang="en-US" sz="2400" dirty="0">
                    <a:latin typeface="Verdana"/>
                    <a:ea typeface="Verdana"/>
                    <a:cs typeface="Verdana"/>
                  </a:rPr>
                  <a:t>Select the values that represent a valid number of boxed lunches the stage manager can order from the cafeteria.</a:t>
                </a:r>
              </a:p>
              <a:p>
                <a:pPr marL="915988" indent="-476250"/>
                <a:r>
                  <a:rPr lang="en-US" sz="2400" dirty="0">
                    <a:latin typeface="Verdana"/>
                    <a:ea typeface="Verdana"/>
                    <a:cs typeface="Verdana"/>
                  </a:rPr>
                  <a:t> </a:t>
                </a:r>
              </a:p>
              <a:p>
                <a:pPr marL="1374775" lvl="1" indent="-476250">
                  <a:buFont typeface="Wingdings" pitchFamily="2" charset="2"/>
                  <a:buChar char="q"/>
                </a:pPr>
                <a14:m>
                  <m:oMath xmlns:m="http://schemas.openxmlformats.org/officeDocument/2006/math">
                    <m:r>
                      <a:rPr lang="en-US" sz="2400">
                        <a:latin typeface="Cambria Math" panose="02040503050406030204" pitchFamily="18" charset="0"/>
                      </a:rPr>
                      <m:t>14</m:t>
                    </m:r>
                  </m:oMath>
                </a14:m>
                <a:endParaRPr lang="en-US" sz="2400" dirty="0">
                  <a:latin typeface="Verdana"/>
                  <a:ea typeface="Verdana"/>
                  <a:cs typeface="Verdana"/>
                </a:endParaRPr>
              </a:p>
              <a:p>
                <a:pPr marL="1374775" lvl="1" indent="-476250">
                  <a:buFont typeface="Wingdings" pitchFamily="2" charset="2"/>
                  <a:buChar char="q"/>
                </a:pPr>
                <a14:m>
                  <m:oMath xmlns:m="http://schemas.openxmlformats.org/officeDocument/2006/math">
                    <m:r>
                      <a:rPr lang="en-US" sz="2400">
                        <a:latin typeface="Cambria Math" panose="02040503050406030204" pitchFamily="18" charset="0"/>
                      </a:rPr>
                      <m:t>13</m:t>
                    </m:r>
                    <m:f>
                      <m:fPr>
                        <m:ctrlPr>
                          <a:rPr lang="en-US" sz="2400" i="1">
                            <a:latin typeface="Cambria Math" panose="02040503050406030204" pitchFamily="18" charset="0"/>
                          </a:rPr>
                        </m:ctrlPr>
                      </m:fPr>
                      <m:num>
                        <m:r>
                          <a:rPr lang="en-US" sz="2400">
                            <a:latin typeface="Cambria Math" panose="02040503050406030204" pitchFamily="18" charset="0"/>
                          </a:rPr>
                          <m:t>5</m:t>
                        </m:r>
                      </m:num>
                      <m:den>
                        <m:r>
                          <a:rPr lang="en-US" sz="2400">
                            <a:latin typeface="Cambria Math" panose="02040503050406030204" pitchFamily="18" charset="0"/>
                          </a:rPr>
                          <m:t>6</m:t>
                        </m:r>
                      </m:den>
                    </m:f>
                  </m:oMath>
                </a14:m>
                <a:endParaRPr lang="en-US" sz="2400" dirty="0">
                  <a:latin typeface="Verdana"/>
                  <a:ea typeface="Verdana"/>
                  <a:cs typeface="Verdana"/>
                </a:endParaRPr>
              </a:p>
              <a:p>
                <a:pPr marL="1374775" lvl="1" indent="-476250">
                  <a:buFont typeface="Wingdings" pitchFamily="2" charset="2"/>
                  <a:buChar char="q"/>
                </a:pPr>
                <a14:m>
                  <m:oMath xmlns:m="http://schemas.openxmlformats.org/officeDocument/2006/math">
                    <m:r>
                      <a:rPr lang="en-US" sz="2400">
                        <a:latin typeface="Cambria Math" panose="02040503050406030204" pitchFamily="18" charset="0"/>
                      </a:rPr>
                      <m:t>12</m:t>
                    </m:r>
                  </m:oMath>
                </a14:m>
                <a:endParaRPr lang="en-US" sz="2400" dirty="0">
                  <a:latin typeface="Verdana"/>
                  <a:ea typeface="Verdana"/>
                  <a:cs typeface="Verdana"/>
                </a:endParaRPr>
              </a:p>
              <a:p>
                <a:pPr marL="1374775" lvl="1" indent="-476250">
                  <a:buFont typeface="Wingdings" pitchFamily="2" charset="2"/>
                  <a:buChar char="q"/>
                </a:pPr>
                <a14:m>
                  <m:oMath xmlns:m="http://schemas.openxmlformats.org/officeDocument/2006/math">
                    <m:r>
                      <a:rPr lang="en-US" sz="2400">
                        <a:latin typeface="Cambria Math" panose="02040503050406030204" pitchFamily="18" charset="0"/>
                      </a:rPr>
                      <m:t>9.5</m:t>
                    </m:r>
                  </m:oMath>
                </a14:m>
                <a:endParaRPr lang="en-US" sz="2400" dirty="0">
                  <a:latin typeface="Verdana"/>
                  <a:ea typeface="Verdana"/>
                  <a:cs typeface="Verdana"/>
                </a:endParaRPr>
              </a:p>
              <a:p>
                <a:pPr marL="1374775" lvl="1" indent="-476250">
                  <a:buFont typeface="Wingdings" pitchFamily="2" charset="2"/>
                  <a:buChar char="q"/>
                </a:pPr>
                <a14:m>
                  <m:oMath xmlns:m="http://schemas.openxmlformats.org/officeDocument/2006/math">
                    <m:r>
                      <a:rPr lang="en-US" sz="2400">
                        <a:latin typeface="Cambria Math" panose="02040503050406030204" pitchFamily="18" charset="0"/>
                      </a:rPr>
                      <m:t>2</m:t>
                    </m:r>
                  </m:oMath>
                </a14:m>
                <a:endParaRPr lang="en-US" sz="2400" dirty="0">
                  <a:latin typeface="Verdana"/>
                  <a:ea typeface="Verdana"/>
                  <a:cs typeface="Verdana"/>
                </a:endParaRPr>
              </a:p>
              <a:p>
                <a:pPr marL="1374775" lvl="1" indent="-476250">
                  <a:buFont typeface="Wingdings" pitchFamily="2" charset="2"/>
                  <a:buChar char="q"/>
                </a:pPr>
                <a14:m>
                  <m:oMath xmlns:m="http://schemas.openxmlformats.org/officeDocument/2006/math">
                    <m:sPre>
                      <m:sPrePr>
                        <m:ctrlPr>
                          <a:rPr lang="en-US" sz="2400" i="1">
                            <a:latin typeface="Cambria Math" panose="02040503050406030204" pitchFamily="18" charset="0"/>
                          </a:rPr>
                        </m:ctrlPr>
                      </m:sPrePr>
                      <m:sub/>
                      <m:sup>
                        <m:r>
                          <a:rPr lang="en-US" sz="2400">
                            <a:latin typeface="Cambria Math" panose="02040503050406030204" pitchFamily="18" charset="0"/>
                          </a:rPr>
                          <m:t>−</m:t>
                        </m:r>
                      </m:sup>
                      <m:e>
                        <m:r>
                          <a:rPr lang="en-US" sz="2400">
                            <a:latin typeface="Cambria Math" panose="02040503050406030204" pitchFamily="18" charset="0"/>
                          </a:rPr>
                          <m:t>4</m:t>
                        </m:r>
                      </m:e>
                    </m:sPre>
                  </m:oMath>
                </a14:m>
                <a:endParaRPr lang="en-US" sz="2400" dirty="0">
                  <a:latin typeface="Verdana"/>
                  <a:ea typeface="Verdana"/>
                  <a:cs typeface="Verdana"/>
                </a:endParaRPr>
              </a:p>
              <a:p>
                <a:pPr marL="915988" indent="-476250"/>
                <a:r>
                  <a:rPr lang="en-US" sz="2400" dirty="0">
                    <a:latin typeface="Verdana"/>
                    <a:ea typeface="Verdana"/>
                    <a:cs typeface="Verdana"/>
                  </a:rPr>
                  <a:t> </a:t>
                </a: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136822" y="520393"/>
                <a:ext cx="10069022" cy="3954312"/>
              </a:xfrm>
              <a:prstGeom prst="rect">
                <a:avLst/>
              </a:prstGeom>
              <a:blipFill rotWithShape="0">
                <a:blip r:embed="rId3"/>
                <a:stretch>
                  <a:fillRect t="-1233" r="-121"/>
                </a:stretch>
              </a:blipFill>
              <a:ln>
                <a:noFill/>
              </a:ln>
            </p:spPr>
            <p:txBody>
              <a:bodyPr/>
              <a:lstStyle/>
              <a:p>
                <a:r>
                  <a:rPr lang="en-US">
                    <a:noFill/>
                  </a:rPr>
                  <a:t> </a:t>
                </a:r>
              </a:p>
            </p:txBody>
          </p:sp>
        </mc:Fallback>
      </mc:AlternateContent>
      <p:sp>
        <p:nvSpPr>
          <p:cNvPr id="239" name="Google Shape;239;p1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037968" y="520393"/>
            <a:ext cx="10266730" cy="830956"/>
          </a:xfrm>
          <a:prstGeom prst="rect">
            <a:avLst/>
          </a:prstGeom>
          <a:noFill/>
          <a:ln>
            <a:noFill/>
          </a:ln>
        </p:spPr>
        <p:txBody>
          <a:bodyPr spcFirstLastPara="1" wrap="square" lIns="91425" tIns="45700" rIns="91425" bIns="45700" anchor="t" anchorCtr="0">
            <a:spAutoFit/>
          </a:bodyPr>
          <a:lstStyle/>
          <a:p>
            <a:pPr marL="915988" indent="-476250">
              <a:buFont typeface="+mj-lt"/>
              <a:buAutoNum type="alphaLcPeriod" startAt="2"/>
            </a:pPr>
            <a:r>
              <a:rPr lang="en-US" sz="2400" dirty="0">
                <a:latin typeface="Verdana"/>
                <a:ea typeface="Verdana"/>
                <a:cs typeface="Verdana"/>
              </a:rPr>
              <a:t>Explain why some values in the previous question are not valid in this context.</a:t>
            </a:r>
            <a:endParaRPr dirty="0"/>
          </a:p>
        </p:txBody>
      </p:sp>
      <p:sp>
        <p:nvSpPr>
          <p:cNvPr id="239" name="Google Shape;239;p1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6710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235676" y="520393"/>
                <a:ext cx="9871314" cy="4438611"/>
              </a:xfrm>
              <a:prstGeom prst="rect">
                <a:avLst/>
              </a:prstGeom>
              <a:noFill/>
              <a:ln>
                <a:noFill/>
              </a:ln>
            </p:spPr>
            <p:txBody>
              <a:bodyPr spcFirstLastPara="1" wrap="square" lIns="91425" tIns="45700" rIns="91425" bIns="45700" anchor="t" anchorCtr="0">
                <a:spAutoFit/>
              </a:bodyPr>
              <a:lstStyle/>
              <a:p>
                <a:pPr marL="915988" indent="-476250">
                  <a:buFont typeface="+mj-lt"/>
                  <a:buAutoNum type="alphaLcPeriod" startAt="3"/>
                </a:pPr>
                <a:r>
                  <a:rPr lang="en-US" sz="2400" dirty="0">
                    <a:latin typeface="Verdana"/>
                    <a:ea typeface="Verdana"/>
                    <a:cs typeface="Verdana"/>
                  </a:rPr>
                  <a:t>The mathematical solution to the inequality </a:t>
                </a:r>
                <a14:m>
                  <m:oMath xmlns:m="http://schemas.openxmlformats.org/officeDocument/2006/math">
                    <m:r>
                      <a:rPr lang="en-US" sz="2400">
                        <a:latin typeface="Cambria Math" panose="02040503050406030204" pitchFamily="18" charset="0"/>
                        <a:ea typeface="Verdana"/>
                        <a:cs typeface="Verdana"/>
                      </a:rPr>
                      <m:t>6</m:t>
                    </m:r>
                    <m:r>
                      <a:rPr lang="en-US" sz="2400">
                        <a:latin typeface="Cambria Math" panose="02040503050406030204" pitchFamily="18" charset="0"/>
                        <a:ea typeface="Verdana"/>
                        <a:cs typeface="Verdana"/>
                      </a:rPr>
                      <m:t>𝑛</m:t>
                    </m:r>
                    <m:r>
                      <a:rPr lang="en-US" sz="2400">
                        <a:latin typeface="Cambria Math" panose="02040503050406030204" pitchFamily="18" charset="0"/>
                        <a:ea typeface="Verdana"/>
                        <a:cs typeface="Verdana"/>
                      </a:rPr>
                      <m:t>≤83</m:t>
                    </m:r>
                  </m:oMath>
                </a14:m>
                <a:r>
                  <a:rPr lang="en-US" sz="2400" dirty="0">
                    <a:latin typeface="Verdana"/>
                    <a:ea typeface="Verdana"/>
                    <a:cs typeface="Verdana"/>
                  </a:rPr>
                  <a:t> is </a:t>
                </a:r>
                <a14:m>
                  <m:oMath xmlns:m="http://schemas.openxmlformats.org/officeDocument/2006/math">
                    <m:r>
                      <a:rPr lang="en-US" sz="2400">
                        <a:latin typeface="Cambria Math" panose="02040503050406030204" pitchFamily="18" charset="0"/>
                        <a:ea typeface="Verdana"/>
                        <a:cs typeface="Verdana"/>
                      </a:rPr>
                      <m:t>𝑛</m:t>
                    </m:r>
                    <m:r>
                      <a:rPr lang="en-US" sz="2400">
                        <a:latin typeface="Cambria Math" panose="02040503050406030204" pitchFamily="18" charset="0"/>
                        <a:ea typeface="Verdana"/>
                        <a:cs typeface="Verdana"/>
                      </a:rPr>
                      <m:t>≤13</m:t>
                    </m:r>
                    <m:f>
                      <m:fPr>
                        <m:ctrlPr>
                          <a:rPr lang="en-US" sz="2400" i="1">
                            <a:latin typeface="Cambria Math" panose="02040503050406030204" pitchFamily="18" charset="0"/>
                            <a:ea typeface="Verdana"/>
                            <a:cs typeface="Verdana"/>
                          </a:rPr>
                        </m:ctrlPr>
                      </m:fPr>
                      <m:num>
                        <m:r>
                          <a:rPr lang="en-US" sz="2400">
                            <a:latin typeface="Cambria Math" panose="02040503050406030204" pitchFamily="18" charset="0"/>
                            <a:ea typeface="Verdana"/>
                            <a:cs typeface="Verdana"/>
                          </a:rPr>
                          <m:t>5</m:t>
                        </m:r>
                      </m:num>
                      <m:den>
                        <m:r>
                          <a:rPr lang="en-US" sz="2400">
                            <a:latin typeface="Cambria Math" panose="02040503050406030204" pitchFamily="18" charset="0"/>
                            <a:ea typeface="Verdana"/>
                            <a:cs typeface="Verdana"/>
                          </a:rPr>
                          <m:t>6</m:t>
                        </m:r>
                      </m:den>
                    </m:f>
                  </m:oMath>
                </a14:m>
                <a:r>
                  <a:rPr lang="en-US" sz="2400" dirty="0">
                    <a:latin typeface="Verdana"/>
                    <a:ea typeface="Verdana"/>
                    <a:cs typeface="Verdana"/>
                  </a:rPr>
                  <a:t>. What is the maximum number of boxed lunches the stage manager can order from the cafeteria?</a:t>
                </a:r>
              </a:p>
              <a:p>
                <a:pPr marL="915988" indent="-476250">
                  <a:buFont typeface="+mj-lt"/>
                  <a:buAutoNum type="alphaLcPeriod" startAt="3"/>
                </a:pPr>
                <a:endParaRPr lang="en-US" sz="2400" dirty="0">
                  <a:latin typeface="Verdana"/>
                  <a:ea typeface="Verdana"/>
                  <a:cs typeface="Verdana"/>
                </a:endParaRPr>
              </a:p>
              <a:p>
                <a:pPr marL="915988" indent="-476250">
                  <a:buFont typeface="+mj-lt"/>
                  <a:buAutoNum type="alphaLcPeriod" startAt="3"/>
                </a:pPr>
                <a:endParaRPr lang="en-US" sz="2400" dirty="0">
                  <a:latin typeface="Verdana"/>
                  <a:ea typeface="Verdana"/>
                  <a:cs typeface="Verdana"/>
                </a:endParaRPr>
              </a:p>
              <a:p>
                <a:pPr marL="915988" indent="-476250">
                  <a:buFont typeface="+mj-lt"/>
                  <a:buAutoNum type="alphaLcPeriod" startAt="3"/>
                </a:pPr>
                <a:endParaRPr lang="en-US" sz="2400" dirty="0">
                  <a:latin typeface="Verdana"/>
                  <a:ea typeface="Verdana"/>
                  <a:cs typeface="Verdana"/>
                </a:endParaRPr>
              </a:p>
              <a:p>
                <a:pPr marL="915988" indent="-476250">
                  <a:buFont typeface="+mj-lt"/>
                  <a:buAutoNum type="alphaLcPeriod" startAt="3"/>
                </a:pPr>
                <a:endParaRPr lang="en-US" sz="2400" dirty="0">
                  <a:latin typeface="Verdana"/>
                  <a:ea typeface="Verdana"/>
                  <a:cs typeface="Verdana"/>
                </a:endParaRPr>
              </a:p>
              <a:p>
                <a:pPr marL="915988" indent="-476250">
                  <a:buFont typeface="+mj-lt"/>
                  <a:buAutoNum type="alphaLcPeriod" startAt="3"/>
                </a:pPr>
                <a:endParaRPr lang="en-US" sz="2400" dirty="0">
                  <a:latin typeface="Verdana"/>
                  <a:ea typeface="Verdana"/>
                  <a:cs typeface="Verdana"/>
                </a:endParaRPr>
              </a:p>
              <a:p>
                <a:pPr marL="915988" indent="-476250">
                  <a:buFont typeface="+mj-lt"/>
                  <a:buAutoNum type="alphaLcPeriod" startAt="3"/>
                </a:pPr>
                <a:r>
                  <a:rPr lang="en-US" sz="2400" dirty="0">
                    <a:latin typeface="Verdana"/>
                    <a:ea typeface="Verdana"/>
                    <a:cs typeface="Verdana"/>
                  </a:rPr>
                  <a:t>What is the minimum number of boxed lunches the stage manager can order from the cafeteria?</a:t>
                </a:r>
              </a:p>
              <a:p>
                <a:pPr marL="915988" indent="-476250">
                  <a:buFont typeface="+mj-lt"/>
                  <a:buAutoNum type="alphaLcPeriod" startAt="3"/>
                </a:pPr>
                <a:endParaRPr lang="en-US" sz="2000" dirty="0">
                  <a:latin typeface="Verdana"/>
                  <a:ea typeface="Verdana"/>
                  <a:cs typeface="Verdana"/>
                </a:endParaRPr>
              </a:p>
              <a:p>
                <a:endParaRPr sz="1200"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235676" y="520393"/>
                <a:ext cx="9871314" cy="4438611"/>
              </a:xfrm>
              <a:prstGeom prst="rect">
                <a:avLst/>
              </a:prstGeom>
              <a:blipFill rotWithShape="0">
                <a:blip r:embed="rId3"/>
                <a:stretch>
                  <a:fillRect t="-1236" r="-1359"/>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8918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173892" y="520393"/>
                <a:ext cx="9994882" cy="3416279"/>
              </a:xfrm>
              <a:prstGeom prst="rect">
                <a:avLst/>
              </a:prstGeom>
              <a:noFill/>
              <a:ln>
                <a:noFill/>
              </a:ln>
            </p:spPr>
            <p:txBody>
              <a:bodyPr spcFirstLastPara="1" wrap="square" lIns="91425" tIns="45700" rIns="91425" bIns="45700" anchor="t" anchorCtr="0">
                <a:spAutoFit/>
              </a:bodyPr>
              <a:lstStyle/>
              <a:p>
                <a:pPr marL="915988" indent="-458788">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The graph of the solution set for </a:t>
                </a:r>
                <a14:m>
                  <m:oMath xmlns:m="http://schemas.openxmlformats.org/officeDocument/2006/math">
                    <m:r>
                      <a:rPr lang="en-US" sz="2000" i="1">
                        <a:latin typeface="Cambria Math" panose="02040503050406030204" pitchFamily="18" charset="0"/>
                      </a:rPr>
                      <m:t>6</m:t>
                    </m:r>
                    <m:r>
                      <a:rPr lang="en-US" sz="2000" i="1">
                        <a:latin typeface="Cambria Math" panose="02040503050406030204" pitchFamily="18" charset="0"/>
                      </a:rPr>
                      <m:t>𝑛</m:t>
                    </m:r>
                    <m:r>
                      <a:rPr lang="en-US" sz="2000" i="1">
                        <a:latin typeface="Cambria Math" panose="02040503050406030204" pitchFamily="18" charset="0"/>
                      </a:rPr>
                      <m:t>≤83</m:t>
                    </m:r>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a:p>
                <a:pPr marL="915988"/>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graph that mathematically represents the solution set is not the best representation of the real-world context. Then, represent the solutions in the real-world context on the number line shown.</a:t>
                </a:r>
              </a:p>
              <a:p>
                <a:pPr marL="439738"/>
                <a:endParaRPr lang="en-US" sz="2400" dirty="0">
                  <a:latin typeface="Verdana" panose="020B0604030504040204" pitchFamily="34" charset="0"/>
                  <a:ea typeface="Verdana" panose="020B0604030504040204" pitchFamily="34" charset="0"/>
                  <a:cs typeface="Verdana" panose="020B0604030504040204" pitchFamily="34" charset="0"/>
                </a:endParaRPr>
              </a:p>
              <a:p>
                <a:endParaRPr sz="1200"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173892" y="520393"/>
                <a:ext cx="9994882" cy="3416279"/>
              </a:xfrm>
              <a:prstGeom prst="rect">
                <a:avLst/>
              </a:prstGeom>
              <a:blipFill rotWithShape="0">
                <a:blip r:embed="rId3"/>
                <a:stretch>
                  <a:fillRect t="-1070"/>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FCFFBF2F-1620-DB44-9653-2453EC295B85}"/>
              </a:ext>
            </a:extLst>
          </p:cNvPr>
          <p:cNvGrpSpPr/>
          <p:nvPr/>
        </p:nvGrpSpPr>
        <p:grpSpPr>
          <a:xfrm>
            <a:off x="3516065" y="1285058"/>
            <a:ext cx="5789930" cy="434975"/>
            <a:chOff x="0" y="0"/>
            <a:chExt cx="5790491" cy="434975"/>
          </a:xfrm>
        </p:grpSpPr>
        <p:pic>
          <p:nvPicPr>
            <p:cNvPr id="7" name="Picture 6">
              <a:extLst>
                <a:ext uri="{FF2B5EF4-FFF2-40B4-BE49-F238E27FC236}">
                  <a16:creationId xmlns:a16="http://schemas.microsoft.com/office/drawing/2014/main" id="{73EF0425-876E-C84A-9CC8-319294854E3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12651" y="0"/>
              <a:ext cx="5577840" cy="434975"/>
            </a:xfrm>
            <a:prstGeom prst="rect">
              <a:avLst/>
            </a:prstGeom>
          </p:spPr>
        </p:pic>
        <p:sp>
          <p:nvSpPr>
            <p:cNvPr id="8" name="Oval 7">
              <a:extLst>
                <a:ext uri="{FF2B5EF4-FFF2-40B4-BE49-F238E27FC236}">
                  <a16:creationId xmlns:a16="http://schemas.microsoft.com/office/drawing/2014/main" id="{7AFEAC8F-C90D-AE41-A408-9762CC3D4180}"/>
                </a:ext>
              </a:extLst>
            </p:cNvPr>
            <p:cNvSpPr/>
            <p:nvPr/>
          </p:nvSpPr>
          <p:spPr>
            <a:xfrm>
              <a:off x="4540102" y="63795"/>
              <a:ext cx="118745" cy="118745"/>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9" name="Straight Arrow Connector 8">
              <a:extLst>
                <a:ext uri="{FF2B5EF4-FFF2-40B4-BE49-F238E27FC236}">
                  <a16:creationId xmlns:a16="http://schemas.microsoft.com/office/drawing/2014/main" id="{85E27C0C-8C07-2145-8B01-9216691E15BB}"/>
                </a:ext>
              </a:extLst>
            </p:cNvPr>
            <p:cNvCxnSpPr/>
            <p:nvPr/>
          </p:nvCxnSpPr>
          <p:spPr>
            <a:xfrm flipH="1">
              <a:off x="0" y="129362"/>
              <a:ext cx="4572000" cy="0"/>
            </a:xfrm>
            <a:prstGeom prst="straightConnector1">
              <a:avLst/>
            </a:prstGeom>
            <a:solidFill>
              <a:schemeClr val="accent3"/>
            </a:solidFill>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41FAF806-72BA-0940-A51D-9F628DD0C2A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728155" y="5441977"/>
            <a:ext cx="5577840" cy="434975"/>
          </a:xfrm>
          <a:prstGeom prst="rect">
            <a:avLst/>
          </a:prstGeom>
        </p:spPr>
      </p:pic>
      <p:sp>
        <p:nvSpPr>
          <p:cNvPr id="12"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393</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697523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914400" y="520393"/>
                <a:ext cx="10513866" cy="267761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rPr>
                  <a:t>Hiromi walks around his neighborhood each afternoon, tracking his pace each day. The fastest rate Hiromi can walk for an extended period of time is </a:t>
                </a:r>
                <a14:m>
                  <m:oMath xmlns:m="http://schemas.openxmlformats.org/officeDocument/2006/math">
                    <m:r>
                      <a:rPr lang="en-US" sz="2400" i="1">
                        <a:latin typeface="Cambria Math" panose="02040503050406030204" pitchFamily="18" charset="0"/>
                      </a:rPr>
                      <m:t>3.7</m:t>
                    </m:r>
                  </m:oMath>
                </a14:m>
                <a:r>
                  <a:rPr lang="en-US" sz="2400" dirty="0">
                    <a:latin typeface="Verdana" panose="020B0604030504040204" pitchFamily="34" charset="0"/>
                    <a:ea typeface="Verdana" panose="020B0604030504040204" pitchFamily="34" charset="0"/>
                  </a:rPr>
                  <a:t> miles per hour.</a:t>
                </a:r>
              </a:p>
              <a:p>
                <a:r>
                  <a:rPr lang="en-US" sz="2400" dirty="0">
                    <a:latin typeface="Verdana" panose="020B0604030504040204" pitchFamily="34" charset="0"/>
                    <a:ea typeface="Verdana" panose="020B0604030504040204" pitchFamily="34" charset="0"/>
                  </a:rPr>
                  <a:t> </a:t>
                </a:r>
              </a:p>
              <a:p>
                <a:pPr marL="915988" indent="-458788">
                  <a:buFont typeface="+mj-lt"/>
                  <a:buAutoNum type="alphaLcPeriod"/>
                </a:pPr>
                <a:r>
                  <a:rPr lang="en-US" sz="2400" dirty="0">
                    <a:latin typeface="Verdana" panose="020B0604030504040204" pitchFamily="34" charset="0"/>
                    <a:ea typeface="Verdana" panose="020B0604030504040204" pitchFamily="34" charset="0"/>
                  </a:rPr>
                  <a:t>What is the maximum distance Hiromi can walk in </a:t>
                </a:r>
                <a14:m>
                  <m:oMath xmlns:m="http://schemas.openxmlformats.org/officeDocument/2006/math">
                    <m:r>
                      <a:rPr lang="en-US" sz="2400" i="1">
                        <a:latin typeface="Cambria Math" panose="02040503050406030204" pitchFamily="18" charset="0"/>
                      </a:rPr>
                      <m:t>0.75</m:t>
                    </m:r>
                  </m:oMath>
                </a14:m>
                <a:r>
                  <a:rPr lang="en-US" sz="2400" dirty="0">
                    <a:latin typeface="Verdana" panose="020B0604030504040204" pitchFamily="34" charset="0"/>
                    <a:ea typeface="Verdana" panose="020B0604030504040204" pitchFamily="34" charset="0"/>
                  </a:rPr>
                  <a:t> hours?</a:t>
                </a:r>
              </a:p>
              <a:p>
                <a:endParaRPr sz="2400"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914400" y="520393"/>
                <a:ext cx="10513866" cy="2677616"/>
              </a:xfrm>
              <a:prstGeom prst="rect">
                <a:avLst/>
              </a:prstGeom>
              <a:blipFill rotWithShape="0">
                <a:blip r:embed="rId3"/>
                <a:stretch>
                  <a:fillRect l="-928" t="-1818" r="-1043"/>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29466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087395" y="520394"/>
                <a:ext cx="10167876" cy="3002576"/>
              </a:xfrm>
              <a:prstGeom prst="rect">
                <a:avLst/>
              </a:prstGeom>
              <a:noFill/>
              <a:ln>
                <a:noFill/>
              </a:ln>
            </p:spPr>
            <p:txBody>
              <a:bodyPr spcFirstLastPara="1" wrap="square" lIns="91425" tIns="45700" rIns="91425" bIns="45700" anchor="t" anchorCtr="0">
                <a:spAutoFit/>
              </a:bodyPr>
              <a:lstStyle/>
              <a:p>
                <a:pPr marL="915988"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inequality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𝑑</m:t>
                        </m:r>
                      </m:num>
                      <m:den>
                        <m:r>
                          <a:rPr lang="en-US" sz="2400" i="1">
                            <a:latin typeface="Cambria Math" panose="02040503050406030204" pitchFamily="18" charset="0"/>
                          </a:rPr>
                          <m:t>3.7</m:t>
                        </m:r>
                      </m:den>
                    </m:f>
                    <m:r>
                      <a:rPr lang="en-US" sz="2400" i="1">
                        <a:latin typeface="Cambria Math" panose="02040503050406030204" pitchFamily="18" charset="0"/>
                      </a:rPr>
                      <m:t>≤0.75</m:t>
                    </m:r>
                  </m:oMath>
                </a14:m>
                <a:r>
                  <a:rPr lang="en-US" sz="2400" dirty="0">
                    <a:latin typeface="Verdana" panose="020B0604030504040204" pitchFamily="34" charset="0"/>
                    <a:ea typeface="Verdana" panose="020B0604030504040204" pitchFamily="34" charset="0"/>
                    <a:cs typeface="Verdana" panose="020B0604030504040204" pitchFamily="34" charset="0"/>
                  </a:rPr>
                  <a:t> can be used to represent the distance Hiromi walks, </a:t>
                </a:r>
                <a14:m>
                  <m:oMath xmlns:m="http://schemas.openxmlformats.org/officeDocument/2006/math">
                    <m:r>
                      <a:rPr lang="en-US" sz="2400" i="1">
                        <a:latin typeface="Cambria Math" panose="02040503050406030204" pitchFamily="18" charset="0"/>
                      </a:rPr>
                      <m:t>𝑑</m:t>
                    </m:r>
                  </m:oMath>
                </a14:m>
                <a:r>
                  <a:rPr lang="en-US" sz="2400" dirty="0">
                    <a:latin typeface="Verdana" panose="020B0604030504040204" pitchFamily="34" charset="0"/>
                    <a:ea typeface="Verdana" panose="020B0604030504040204" pitchFamily="34" charset="0"/>
                    <a:cs typeface="Verdana" panose="020B0604030504040204" pitchFamily="34" charset="0"/>
                  </a:rPr>
                  <a:t>, in </a:t>
                </a:r>
                <a14:m>
                  <m:oMath xmlns:m="http://schemas.openxmlformats.org/officeDocument/2006/math">
                    <m:r>
                      <a:rPr lang="en-US" sz="2400" i="1">
                        <a:latin typeface="Cambria Math" panose="02040503050406030204" pitchFamily="18" charset="0"/>
                      </a:rPr>
                      <m:t>0.75</m:t>
                    </m:r>
                  </m:oMath>
                </a14:m>
                <a:r>
                  <a:rPr lang="en-US" sz="2400" dirty="0">
                    <a:latin typeface="Verdana" panose="020B0604030504040204" pitchFamily="34" charset="0"/>
                    <a:ea typeface="Verdana" panose="020B0604030504040204" pitchFamily="34" charset="0"/>
                    <a:cs typeface="Verdana" panose="020B0604030504040204" pitchFamily="34" charset="0"/>
                  </a:rPr>
                  <a:t> hours given his fastest walking rate of </a:t>
                </a:r>
                <a14:m>
                  <m:oMath xmlns:m="http://schemas.openxmlformats.org/officeDocument/2006/math">
                    <m:r>
                      <a:rPr lang="en-US" sz="2400" i="1">
                        <a:latin typeface="Cambria Math" panose="02040503050406030204" pitchFamily="18" charset="0"/>
                      </a:rPr>
                      <m:t>3.7</m:t>
                    </m:r>
                  </m:oMath>
                </a14:m>
                <a:r>
                  <a:rPr lang="en-US" sz="2400" dirty="0">
                    <a:latin typeface="Verdana" panose="020B0604030504040204" pitchFamily="34" charset="0"/>
                    <a:ea typeface="Verdana" panose="020B0604030504040204" pitchFamily="34" charset="0"/>
                    <a:cs typeface="Verdana" panose="020B0604030504040204" pitchFamily="34" charset="0"/>
                  </a:rPr>
                  <a:t> miles per hour.</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Use your answer to Part A to determine the solution set for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𝑑</m:t>
                        </m:r>
                      </m:num>
                      <m:den>
                        <m:r>
                          <a:rPr lang="en-US" sz="2400" i="1">
                            <a:latin typeface="Cambria Math" panose="02040503050406030204" pitchFamily="18" charset="0"/>
                          </a:rPr>
                          <m:t>3.7</m:t>
                        </m:r>
                      </m:den>
                    </m:f>
                    <m:r>
                      <a:rPr lang="en-US" sz="2400" i="1">
                        <a:latin typeface="Cambria Math" panose="02040503050406030204" pitchFamily="18" charset="0"/>
                      </a:rPr>
                      <m:t>≤0.75</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087395" y="520394"/>
                <a:ext cx="10167876" cy="3002576"/>
              </a:xfrm>
              <a:prstGeom prst="rect">
                <a:avLst/>
              </a:prstGeom>
              <a:blipFill rotWithShape="0">
                <a:blip r:embed="rId3"/>
                <a:stretch>
                  <a:fillRect/>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23252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136822" y="520393"/>
                <a:ext cx="10069022" cy="4809866"/>
              </a:xfrm>
              <a:prstGeom prst="rect">
                <a:avLst/>
              </a:prstGeom>
              <a:noFill/>
              <a:ln>
                <a:noFill/>
              </a:ln>
            </p:spPr>
            <p:txBody>
              <a:bodyPr spcFirstLastPara="1" wrap="square" lIns="91425" tIns="45700" rIns="91425" bIns="45700" anchor="t" anchorCtr="0">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c.  The graph of the solution set for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n-US" sz="2400">
                            <a:latin typeface="Cambria Math" panose="02040503050406030204" pitchFamily="18" charset="0"/>
                            <a:ea typeface="Verdana" panose="020B0604030504040204" pitchFamily="34" charset="0"/>
                            <a:cs typeface="Verdana" panose="020B0604030504040204" pitchFamily="34" charset="0"/>
                          </a:rPr>
                          <m:t>𝑑</m:t>
                        </m:r>
                      </m:num>
                      <m:den>
                        <m:r>
                          <a:rPr lang="en-US" sz="2400">
                            <a:latin typeface="Cambria Math" panose="02040503050406030204" pitchFamily="18" charset="0"/>
                            <a:ea typeface="Verdana" panose="020B0604030504040204" pitchFamily="34" charset="0"/>
                            <a:cs typeface="Verdana" panose="020B0604030504040204" pitchFamily="34" charset="0"/>
                          </a:rPr>
                          <m:t>3.7</m:t>
                        </m:r>
                      </m:den>
                    </m:f>
                    <m:r>
                      <a:rPr lang="en-US" sz="2400">
                        <a:latin typeface="Cambria Math" panose="02040503050406030204" pitchFamily="18" charset="0"/>
                        <a:ea typeface="Verdana" panose="020B0604030504040204" pitchFamily="34" charset="0"/>
                        <a:cs typeface="Verdana" panose="020B0604030504040204" pitchFamily="34" charset="0"/>
                      </a:rPr>
                      <m:t>≤0.75</m:t>
                    </m:r>
                  </m:oMath>
                </a14:m>
                <a:r>
                  <a:rPr lang="en-US" sz="2400" dirty="0">
                    <a:latin typeface="Verdana" panose="020B0604030504040204" pitchFamily="34" charset="0"/>
                    <a:ea typeface="Verdana" panose="020B0604030504040204" pitchFamily="34" charset="0"/>
                    <a:cs typeface="Verdana" panose="020B0604030504040204" pitchFamily="34" charset="0"/>
                  </a:rPr>
                  <a:t> is shown. </a:t>
                </a:r>
              </a:p>
              <a:p>
                <a:pPr marL="915988"/>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the graph that mathematically represents the solution set is not the best representation of the real-world context. Then, represent the solutions in the real-world context on the number line.</a:t>
                </a:r>
              </a:p>
              <a:p>
                <a:pPr marL="915988"/>
                <a:endParaRPr lang="en-US" sz="2000" dirty="0">
                  <a:latin typeface="Verdana" panose="020B0604030504040204" pitchFamily="34" charset="0"/>
                  <a:ea typeface="Verdana" panose="020B0604030504040204" pitchFamily="34" charset="0"/>
                  <a:cs typeface="Verdana" panose="020B0604030504040204" pitchFamily="34" charset="0"/>
                </a:endParaRPr>
              </a:p>
              <a:p>
                <a:pPr marL="439738"/>
                <a:endParaRPr lang="en-US" sz="2400" dirty="0">
                  <a:latin typeface="Verdana" panose="020B0604030504040204" pitchFamily="34" charset="0"/>
                  <a:ea typeface="Verdana" panose="020B0604030504040204" pitchFamily="34" charset="0"/>
                  <a:cs typeface="Verdana" panose="020B0604030504040204" pitchFamily="34" charset="0"/>
                </a:endParaRPr>
              </a:p>
              <a:p>
                <a:endParaRPr sz="1200" dirty="0"/>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136822" y="520393"/>
                <a:ext cx="10069022" cy="4809866"/>
              </a:xfrm>
              <a:prstGeom prst="rect">
                <a:avLst/>
              </a:prstGeom>
              <a:blipFill>
                <a:blip r:embed="rId3"/>
                <a:stretch>
                  <a:fillRect r="-1211"/>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11" name="Group 10">
            <a:extLst>
              <a:ext uri="{FF2B5EF4-FFF2-40B4-BE49-F238E27FC236}">
                <a16:creationId xmlns:a16="http://schemas.microsoft.com/office/drawing/2014/main" id="{17CA7E5E-27ED-ED49-9811-3AD61073B739}"/>
              </a:ext>
            </a:extLst>
          </p:cNvPr>
          <p:cNvGrpSpPr/>
          <p:nvPr/>
        </p:nvGrpSpPr>
        <p:grpSpPr>
          <a:xfrm>
            <a:off x="4115662" y="1804082"/>
            <a:ext cx="4678045" cy="516255"/>
            <a:chOff x="0" y="0"/>
            <a:chExt cx="4678326" cy="516255"/>
          </a:xfrm>
        </p:grpSpPr>
        <p:pic>
          <p:nvPicPr>
            <p:cNvPr id="12" name="Picture 11">
              <a:extLst>
                <a:ext uri="{FF2B5EF4-FFF2-40B4-BE49-F238E27FC236}">
                  <a16:creationId xmlns:a16="http://schemas.microsoft.com/office/drawing/2014/main" id="{C9118568-F89F-8644-ABEC-02E6D7EE260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6326" y="0"/>
              <a:ext cx="4572000" cy="516255"/>
            </a:xfrm>
            <a:prstGeom prst="rect">
              <a:avLst/>
            </a:prstGeom>
          </p:spPr>
        </p:pic>
        <p:sp>
          <p:nvSpPr>
            <p:cNvPr id="13" name="Oval 12">
              <a:extLst>
                <a:ext uri="{FF2B5EF4-FFF2-40B4-BE49-F238E27FC236}">
                  <a16:creationId xmlns:a16="http://schemas.microsoft.com/office/drawing/2014/main" id="{9BA5A638-B9A1-C94B-B9FA-04B7BD6A9473}"/>
                </a:ext>
              </a:extLst>
            </p:cNvPr>
            <p:cNvSpPr/>
            <p:nvPr/>
          </p:nvSpPr>
          <p:spPr>
            <a:xfrm>
              <a:off x="3274828" y="53162"/>
              <a:ext cx="118745" cy="118745"/>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F026DA4F-F8A9-3D4F-AB7E-6653D55BB9C6}"/>
                </a:ext>
              </a:extLst>
            </p:cNvPr>
            <p:cNvCxnSpPr/>
            <p:nvPr/>
          </p:nvCxnSpPr>
          <p:spPr>
            <a:xfrm flipH="1">
              <a:off x="0" y="118730"/>
              <a:ext cx="329184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DD5DAF80-27E0-1444-AE25-2EA05671E627}"/>
              </a:ext>
            </a:extLst>
          </p:cNvPr>
          <p:cNvPicPr>
            <a:picLocks noChangeAspect="1"/>
          </p:cNvPicPr>
          <p:nvPr/>
        </p:nvPicPr>
        <p:blipFill>
          <a:blip r:embed="rId4"/>
          <a:stretch>
            <a:fillRect/>
          </a:stretch>
        </p:blipFill>
        <p:spPr>
          <a:xfrm>
            <a:off x="4168684" y="5337700"/>
            <a:ext cx="4572000" cy="516255"/>
          </a:xfrm>
          <a:prstGeom prst="rect">
            <a:avLst/>
          </a:prstGeom>
        </p:spPr>
      </p:pic>
      <p:sp>
        <p:nvSpPr>
          <p:cNvPr id="1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393</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29349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470226" y="69203"/>
            <a:ext cx="10579984"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54B5D1"/>
                </a:solidFill>
                <a:latin typeface="Verdana"/>
                <a:ea typeface="Verdana"/>
                <a:cs typeface="Verdana"/>
                <a:sym typeface="Verdana"/>
              </a:rPr>
              <a:t>14.10.3 Bring It Together: </a:t>
            </a:r>
            <a:r>
              <a:rPr lang="en-US" sz="3200" b="1" dirty="0">
                <a:solidFill>
                  <a:srgbClr val="54B5D1"/>
                </a:solidFill>
                <a:latin typeface="Verdana"/>
                <a:ea typeface="Verdana"/>
                <a:cs typeface="Verdana"/>
              </a:rPr>
              <a:t>Solutions and Mathematical Models in Context</a:t>
            </a:r>
            <a:endParaRPr sz="3200" b="1" dirty="0">
              <a:solidFill>
                <a:srgbClr val="54B5D1"/>
              </a:solidFill>
              <a:latin typeface="Verdana"/>
              <a:ea typeface="Verdana"/>
              <a:cs typeface="Verdana"/>
            </a:endParaRPr>
          </a:p>
        </p:txBody>
      </p:sp>
      <p:sp>
        <p:nvSpPr>
          <p:cNvPr id="408" name="Google Shape;408;p28"/>
          <p:cNvSpPr txBox="1"/>
          <p:nvPr/>
        </p:nvSpPr>
        <p:spPr>
          <a:xfrm>
            <a:off x="1371600" y="1248755"/>
            <a:ext cx="9704832" cy="1785064"/>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Each of the inequalities in the Exploration has a mathematical solution set that can be represented on a number line. These graphs are examples of mathematical models. </a:t>
            </a:r>
          </a:p>
          <a:p>
            <a:endParaRPr dirty="0"/>
          </a:p>
        </p:txBody>
      </p:sp>
      <p:sp>
        <p:nvSpPr>
          <p:cNvPr id="409" name="Google Shape;409;p28"/>
          <p:cNvSpPr/>
          <p:nvPr/>
        </p:nvSpPr>
        <p:spPr>
          <a:xfrm>
            <a:off x="0" y="-12827"/>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20418" y="311206"/>
            <a:ext cx="749808" cy="749808"/>
          </a:xfrm>
          <a:prstGeom prst="rect">
            <a:avLst/>
          </a:prstGeom>
          <a:noFill/>
          <a:ln>
            <a:noFill/>
          </a:ln>
          <a:effectLst>
            <a:outerShdw blurRad="50800" dist="38100" dir="2700000" algn="tl" rotWithShape="0">
              <a:srgbClr val="000000">
                <a:alpha val="40000"/>
              </a:srgbClr>
            </a:outerShdw>
          </a:effectLst>
        </p:spPr>
      </p:pic>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grpSp>
        <p:nvGrpSpPr>
          <p:cNvPr id="2" name="Group 1">
            <a:extLst>
              <a:ext uri="{FF2B5EF4-FFF2-40B4-BE49-F238E27FC236}">
                <a16:creationId xmlns:a16="http://schemas.microsoft.com/office/drawing/2014/main" id="{C13432DB-59B8-BD83-9194-A2CC5B853411}"/>
              </a:ext>
            </a:extLst>
          </p:cNvPr>
          <p:cNvGrpSpPr/>
          <p:nvPr/>
        </p:nvGrpSpPr>
        <p:grpSpPr>
          <a:xfrm>
            <a:off x="2118734" y="3299363"/>
            <a:ext cx="6629400" cy="3158436"/>
            <a:chOff x="1412240" y="1910714"/>
            <a:chExt cx="6629400" cy="3158436"/>
          </a:xfrm>
        </p:grpSpPr>
        <p:grpSp>
          <p:nvGrpSpPr>
            <p:cNvPr id="3" name="Group 2">
              <a:extLst>
                <a:ext uri="{FF2B5EF4-FFF2-40B4-BE49-F238E27FC236}">
                  <a16:creationId xmlns:a16="http://schemas.microsoft.com/office/drawing/2014/main" id="{4213A53F-64FF-1A0C-DC23-7B3F8E159C2E}"/>
                </a:ext>
              </a:extLst>
            </p:cNvPr>
            <p:cNvGrpSpPr/>
            <p:nvPr/>
          </p:nvGrpSpPr>
          <p:grpSpPr>
            <a:xfrm>
              <a:off x="1412240" y="1910714"/>
              <a:ext cx="6629400" cy="3158436"/>
              <a:chOff x="2031300" y="3275735"/>
              <a:chExt cx="6629400" cy="1049000"/>
            </a:xfrm>
          </p:grpSpPr>
          <p:sp>
            <p:nvSpPr>
              <p:cNvPr id="5" name="Rectangle 4">
                <a:extLst>
                  <a:ext uri="{FF2B5EF4-FFF2-40B4-BE49-F238E27FC236}">
                    <a16:creationId xmlns:a16="http://schemas.microsoft.com/office/drawing/2014/main" id="{F62DA40D-90AA-0A83-1F1F-82301F363B6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697B7E7E-5ABC-BCD2-8F68-8980684C099C}"/>
                  </a:ext>
                </a:extLst>
              </p:cNvPr>
              <p:cNvGrpSpPr/>
              <p:nvPr/>
            </p:nvGrpSpPr>
            <p:grpSpPr>
              <a:xfrm>
                <a:off x="2031300" y="3275735"/>
                <a:ext cx="6629400" cy="1049000"/>
                <a:chOff x="2031300" y="3275735"/>
                <a:chExt cx="6629400" cy="1049000"/>
              </a:xfrm>
            </p:grpSpPr>
            <p:sp>
              <p:nvSpPr>
                <p:cNvPr id="7" name="Rectangle 6">
                  <a:extLst>
                    <a:ext uri="{FF2B5EF4-FFF2-40B4-BE49-F238E27FC236}">
                      <a16:creationId xmlns:a16="http://schemas.microsoft.com/office/drawing/2014/main" id="{F0E08872-0DDE-1D61-117A-9A42395A6A7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0F3B5DBD-9C92-A838-AB90-6A3705E19E53}"/>
                    </a:ext>
                  </a:extLst>
                </p:cNvPr>
                <p:cNvGrpSpPr/>
                <p:nvPr/>
              </p:nvGrpSpPr>
              <p:grpSpPr>
                <a:xfrm>
                  <a:off x="2031300" y="3275735"/>
                  <a:ext cx="6629400" cy="1049000"/>
                  <a:chOff x="2031300" y="3275735"/>
                  <a:chExt cx="6629400" cy="1049000"/>
                </a:xfrm>
              </p:grpSpPr>
              <p:sp>
                <p:nvSpPr>
                  <p:cNvPr id="11" name="Rectangle 10">
                    <a:extLst>
                      <a:ext uri="{FF2B5EF4-FFF2-40B4-BE49-F238E27FC236}">
                        <a16:creationId xmlns:a16="http://schemas.microsoft.com/office/drawing/2014/main" id="{F9841D1A-41A0-2AE6-FBF1-EF402787B2AB}"/>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A11F5FAB-9921-A006-E0ED-F3B2BB3D0FDD}"/>
                      </a:ext>
                    </a:extLst>
                  </p:cNvPr>
                  <p:cNvGrpSpPr/>
                  <p:nvPr/>
                </p:nvGrpSpPr>
                <p:grpSpPr>
                  <a:xfrm>
                    <a:off x="2031300" y="3275735"/>
                    <a:ext cx="6629400" cy="1049000"/>
                    <a:chOff x="2031300" y="3275735"/>
                    <a:chExt cx="6629400" cy="1049000"/>
                  </a:xfrm>
                </p:grpSpPr>
                <p:sp>
                  <p:nvSpPr>
                    <p:cNvPr id="13" name="Rectangle 12">
                      <a:extLst>
                        <a:ext uri="{FF2B5EF4-FFF2-40B4-BE49-F238E27FC236}">
                          <a16:creationId xmlns:a16="http://schemas.microsoft.com/office/drawing/2014/main" id="{E757C65B-5D02-49CD-70C3-81200C1F25B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A032DFE8-507E-086F-FEAE-4A9BE7325704}"/>
                        </a:ext>
                      </a:extLst>
                    </p:cNvPr>
                    <p:cNvGrpSpPr/>
                    <p:nvPr/>
                  </p:nvGrpSpPr>
                  <p:grpSpPr>
                    <a:xfrm>
                      <a:off x="2031300" y="3275735"/>
                      <a:ext cx="6629400" cy="1049000"/>
                      <a:chOff x="2031300" y="3275735"/>
                      <a:chExt cx="6629400" cy="1049000"/>
                    </a:xfrm>
                  </p:grpSpPr>
                  <p:sp>
                    <p:nvSpPr>
                      <p:cNvPr id="15" name="Rectangle 14">
                        <a:extLst>
                          <a:ext uri="{FF2B5EF4-FFF2-40B4-BE49-F238E27FC236}">
                            <a16:creationId xmlns:a16="http://schemas.microsoft.com/office/drawing/2014/main" id="{B82A8566-AEC6-A7AD-02F1-4D543943011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E0D3F644-B2F6-EA03-B65B-8D3B784B9F52}"/>
                          </a:ext>
                        </a:extLst>
                      </p:cNvPr>
                      <p:cNvGrpSpPr/>
                      <p:nvPr/>
                    </p:nvGrpSpPr>
                    <p:grpSpPr>
                      <a:xfrm>
                        <a:off x="2031300" y="3275735"/>
                        <a:ext cx="6629400" cy="1049000"/>
                        <a:chOff x="0" y="0"/>
                        <a:chExt cx="6629400" cy="1049000"/>
                      </a:xfrm>
                    </p:grpSpPr>
                    <p:sp>
                      <p:nvSpPr>
                        <p:cNvPr id="17" name="Rectangle 16">
                          <a:extLst>
                            <a:ext uri="{FF2B5EF4-FFF2-40B4-BE49-F238E27FC236}">
                              <a16:creationId xmlns:a16="http://schemas.microsoft.com/office/drawing/2014/main" id="{085A530E-0796-6EC7-39FE-D916EB8626E0}"/>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06334466-9A86-C0E7-7359-831EB501A498}"/>
                            </a:ext>
                          </a:extLst>
                        </p:cNvPr>
                        <p:cNvGrpSpPr/>
                        <p:nvPr/>
                      </p:nvGrpSpPr>
                      <p:grpSpPr>
                        <a:xfrm>
                          <a:off x="0" y="0"/>
                          <a:ext cx="6629400" cy="1049000"/>
                          <a:chOff x="0" y="0"/>
                          <a:chExt cx="6629400" cy="1049000"/>
                        </a:xfrm>
                      </p:grpSpPr>
                      <p:sp>
                        <p:nvSpPr>
                          <p:cNvPr id="19" name="Rectangle 18">
                            <a:extLst>
                              <a:ext uri="{FF2B5EF4-FFF2-40B4-BE49-F238E27FC236}">
                                <a16:creationId xmlns:a16="http://schemas.microsoft.com/office/drawing/2014/main" id="{70F513EE-5B03-D040-8F9D-D8224EC9D59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BC8C819C-E64F-4ADD-66BA-D57A9E4A74FD}"/>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1" name="Rounded Rectangle 37">
                            <a:extLst>
                              <a:ext uri="{FF2B5EF4-FFF2-40B4-BE49-F238E27FC236}">
                                <a16:creationId xmlns:a16="http://schemas.microsoft.com/office/drawing/2014/main" id="{1C231599-61D4-C557-92CB-CDC0404F74E7}"/>
                              </a:ext>
                            </a:extLst>
                          </p:cNvPr>
                          <p:cNvSpPr/>
                          <p:nvPr/>
                        </p:nvSpPr>
                        <p:spPr>
                          <a:xfrm>
                            <a:off x="0" y="0"/>
                            <a:ext cx="6629400" cy="104900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571500">
                              <a:spcAft>
                                <a:spcPts val="1000"/>
                              </a:spcAft>
                            </a:pP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Mathematical models</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are helpful tools used to understand a situation and make predictions. However, sometimes the mathematical model can include parts that do not make sense in a real-world context. When interpreting models to solve problems, it is important to analyze whether aspects of the model make sense in a given context.</a:t>
                            </a:r>
                            <a:r>
                              <a:rPr lang="en-US" sz="1200" dirty="0">
                                <a:solidFill>
                                  <a:srgbClr val="00619E"/>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grpSp>
                  </p:grpSp>
                </p:grpSp>
              </p:grpSp>
            </p:grpSp>
          </p:grpSp>
        </p:grpSp>
        <p:pic>
          <p:nvPicPr>
            <p:cNvPr id="4" name="Shape 37" descr="Icon&#10;&#10;Description automatically generated">
              <a:extLst>
                <a:ext uri="{FF2B5EF4-FFF2-40B4-BE49-F238E27FC236}">
                  <a16:creationId xmlns:a16="http://schemas.microsoft.com/office/drawing/2014/main" id="{D28C7A0D-F280-D8EB-0D8D-8C3C202D870F}"/>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1572037" y="2101214"/>
              <a:ext cx="539750" cy="539115"/>
            </a:xfrm>
            <a:prstGeom prst="rect">
              <a:avLst/>
            </a:prstGeom>
            <a:noFill/>
            <a:ln>
              <a:noFill/>
            </a:ln>
            <a:effectLst>
              <a:outerShdw blurRad="50800" dist="38100" dir="2700000" algn="tl" rotWithShape="0">
                <a:prstClr val="black">
                  <a:alpha val="40000"/>
                </a:prstClr>
              </a:outerShdw>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630164" y="36865"/>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3BEA6"/>
                </a:solidFill>
                <a:latin typeface="Verdana"/>
                <a:ea typeface="Verdana"/>
                <a:cs typeface="Verdana"/>
                <a:sym typeface="Verdana"/>
              </a:rPr>
              <a:t>14.10.4 Collaboration: </a:t>
            </a:r>
            <a:r>
              <a:rPr lang="en-US" sz="3200" b="1" dirty="0">
                <a:solidFill>
                  <a:srgbClr val="33BEA6"/>
                </a:solidFill>
                <a:latin typeface="Verdana"/>
                <a:ea typeface="Verdana"/>
                <a:cs typeface="Verdana"/>
              </a:rPr>
              <a:t>The Effect of a Negative Coefficient</a:t>
            </a:r>
            <a:endParaRPr sz="12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80356" y="324811"/>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2060448" y="1386026"/>
            <a:ext cx="8327136" cy="341627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Two simple inequalities are shown.</a:t>
            </a:r>
          </a:p>
          <a:p>
            <a:pPr marL="915988" indent="-458788">
              <a:buFont typeface="+mj-lt"/>
              <a:buAutoNum type="alphaLcPeriod"/>
            </a:pPr>
            <a:endParaRPr lang="en-US" sz="2400" dirty="0">
              <a:latin typeface="Verdana"/>
              <a:ea typeface="Verdana"/>
              <a:cs typeface="Verdana"/>
            </a:endParaRPr>
          </a:p>
          <a:p>
            <a:pPr marL="915988" indent="-458788">
              <a:buFont typeface="+mj-lt"/>
              <a:buAutoNum type="alphaLcPeriod"/>
            </a:pPr>
            <a:endParaRPr lang="en-US" sz="2400" dirty="0">
              <a:latin typeface="Verdana"/>
              <a:ea typeface="Verdana"/>
              <a:cs typeface="Verdana"/>
            </a:endParaRPr>
          </a:p>
          <a:p>
            <a:pPr marL="457200"/>
            <a:endParaRPr lang="en-US" sz="2400" dirty="0">
              <a:latin typeface="Verdana"/>
              <a:ea typeface="Verdana"/>
              <a:cs typeface="Verdana"/>
            </a:endParaRPr>
          </a:p>
          <a:p>
            <a:pPr marL="457200"/>
            <a:endParaRPr lang="en-US" sz="2400" dirty="0">
              <a:latin typeface="Verdana"/>
              <a:ea typeface="Verdana"/>
              <a:cs typeface="Verdana"/>
            </a:endParaRPr>
          </a:p>
          <a:p>
            <a:pPr marL="457200"/>
            <a:endParaRPr lang="en-US" sz="2400" dirty="0">
              <a:latin typeface="Verdana"/>
              <a:ea typeface="Verdana"/>
              <a:cs typeface="Verdana"/>
            </a:endParaRPr>
          </a:p>
          <a:p>
            <a:pPr marL="915988" indent="-458788">
              <a:buFont typeface="+mj-lt"/>
              <a:buAutoNum type="alphaLcPeriod"/>
            </a:pPr>
            <a:r>
              <a:rPr lang="en-US" sz="2400" dirty="0">
                <a:latin typeface="Verdana"/>
                <a:ea typeface="Verdana"/>
                <a:cs typeface="Verdana"/>
              </a:rPr>
              <a:t>Circle the inequality that is true and cross out the inequality that is false.</a:t>
            </a:r>
          </a:p>
          <a:p>
            <a:pPr marL="457200" indent="-457200">
              <a:buFont typeface="+mj-lt"/>
              <a:buAutoNum type="arabicPeriod"/>
            </a:pPr>
            <a:endParaRPr lang="en-US" sz="2400" dirty="0">
              <a:latin typeface="Verdana"/>
              <a:ea typeface="Verdana"/>
              <a:cs typeface="Verdana"/>
            </a:endParaRPr>
          </a:p>
        </p:txBody>
      </p:sp>
      <p:sp>
        <p:nvSpPr>
          <p:cNvPr id="200" name="Google Shape;200;p7"/>
          <p:cNvSpPr/>
          <p:nvPr/>
        </p:nvSpPr>
        <p:spPr>
          <a:xfrm>
            <a:off x="-12357" y="-11121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Oval 8">
            <a:extLst>
              <a:ext uri="{FF2B5EF4-FFF2-40B4-BE49-F238E27FC236}">
                <a16:creationId xmlns:a16="http://schemas.microsoft.com/office/drawing/2014/main" id="{BD680BCE-C9B9-3347-B3B6-677994A145F6}"/>
              </a:ext>
            </a:extLst>
          </p:cNvPr>
          <p:cNvSpPr/>
          <p:nvPr/>
        </p:nvSpPr>
        <p:spPr>
          <a:xfrm>
            <a:off x="3005720" y="3605662"/>
            <a:ext cx="968520" cy="415925"/>
          </a:xfrm>
          <a:prstGeom prst="ellipse">
            <a:avLst/>
          </a:prstGeom>
          <a:noFill/>
          <a:ln w="28575">
            <a:solidFill>
              <a:srgbClr val="00B05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 name="Straight Connector 9">
            <a:extLst>
              <a:ext uri="{FF2B5EF4-FFF2-40B4-BE49-F238E27FC236}">
                <a16:creationId xmlns:a16="http://schemas.microsoft.com/office/drawing/2014/main" id="{6AADB41A-C4C2-7246-9BDA-926DBBBBA697}"/>
              </a:ext>
            </a:extLst>
          </p:cNvPr>
          <p:cNvCxnSpPr>
            <a:cxnSpLocks/>
          </p:cNvCxnSpPr>
          <p:nvPr/>
        </p:nvCxnSpPr>
        <p:spPr>
          <a:xfrm>
            <a:off x="8722460" y="3614539"/>
            <a:ext cx="1454003" cy="415926"/>
          </a:xfrm>
          <a:prstGeom prst="line">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1CD78FA-734F-9D45-B13B-5EFC73E604D3}"/>
                  </a:ext>
                </a:extLst>
              </p:cNvPr>
              <p:cNvSpPr/>
              <p:nvPr/>
            </p:nvSpPr>
            <p:spPr>
              <a:xfrm>
                <a:off x="4085802" y="2476821"/>
                <a:ext cx="4020396" cy="469809"/>
              </a:xfrm>
              <a:prstGeom prst="rect">
                <a:avLst/>
              </a:prstGeom>
            </p:spPr>
            <p:txBody>
              <a:bodyPr wrap="none">
                <a:spAutoFit/>
              </a:bodyPr>
              <a:lstStyle/>
              <a:p>
                <a:pPr marR="34290" algn="ct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1&gt;0</m:t>
                    </m:r>
                  </m:oMath>
                </a14:m>
                <a:r>
                  <a:rPr lang="en-US" sz="2400" dirty="0">
                    <a:latin typeface="Verdana" panose="020B0604030504040204" pitchFamily="34" charset="0"/>
                    <a:ea typeface="Times New Roman" panose="02020603050405020304" pitchFamily="18" charset="0"/>
                    <a:cs typeface="Arial" panose="020B0604020202020204" pitchFamily="34" charset="0"/>
                  </a:rPr>
                  <a:t>       and       </a:t>
                </a:r>
                <a14:m>
                  <m:oMath xmlns:m="http://schemas.openxmlformats.org/officeDocument/2006/math">
                    <m:sPre>
                      <m:sPrePr>
                        <m:ctrlPr>
                          <a:rPr lang="en-US" sz="2400" i="1">
                            <a:latin typeface="Cambria Math" panose="02040503050406030204" pitchFamily="18" charset="0"/>
                            <a:ea typeface="Times New Roman" panose="02020603050405020304" pitchFamily="18" charset="0"/>
                            <a:cs typeface="Arial" panose="020B0604020202020204" pitchFamily="34" charset="0"/>
                          </a:rPr>
                        </m:ctrlPr>
                      </m:sPrePr>
                      <m:sub/>
                      <m:sup>
                        <m:r>
                          <a:rPr lang="en-US" sz="2400" i="1">
                            <a:latin typeface="Cambria Math" panose="02040503050406030204" pitchFamily="18" charset="0"/>
                            <a:ea typeface="Times New Roman" panose="02020603050405020304" pitchFamily="18" charset="0"/>
                            <a:cs typeface="Arial" panose="020B0604020202020204" pitchFamily="34" charset="0"/>
                          </a:rPr>
                          <m:t>−</m:t>
                        </m:r>
                      </m:sup>
                      <m:e>
                        <m:r>
                          <a:rPr lang="en-US" sz="2400" i="1">
                            <a:latin typeface="Cambria Math" panose="02040503050406030204" pitchFamily="18" charset="0"/>
                            <a:ea typeface="Times New Roman" panose="02020603050405020304" pitchFamily="18" charset="0"/>
                            <a:cs typeface="Arial" panose="020B0604020202020204" pitchFamily="34" charset="0"/>
                          </a:rPr>
                          <m:t>1</m:t>
                        </m:r>
                      </m:e>
                    </m:sPre>
                    <m:r>
                      <a:rPr lang="en-US" sz="2400" i="1">
                        <a:latin typeface="Cambria Math" panose="02040503050406030204" pitchFamily="18" charset="0"/>
                        <a:ea typeface="Times New Roman" panose="02020603050405020304" pitchFamily="18" charset="0"/>
                        <a:cs typeface="Arial" panose="020B0604020202020204" pitchFamily="34" charset="0"/>
                      </a:rPr>
                      <m:t>&gt;0</m:t>
                    </m:r>
                  </m:oMath>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31CD78FA-734F-9D45-B13B-5EFC73E604D3}"/>
                  </a:ext>
                </a:extLst>
              </p:cNvPr>
              <p:cNvSpPr>
                <a:spLocks noRot="1" noChangeAspect="1" noMove="1" noResize="1" noEditPoints="1" noAdjustHandles="1" noChangeArrowheads="1" noChangeShapeType="1" noTextEdit="1"/>
              </p:cNvSpPr>
              <p:nvPr/>
            </p:nvSpPr>
            <p:spPr>
              <a:xfrm>
                <a:off x="2561802" y="2476820"/>
                <a:ext cx="4020396" cy="469809"/>
              </a:xfrm>
              <a:prstGeom prst="rect">
                <a:avLst/>
              </a:prstGeom>
              <a:blipFill>
                <a:blip r:embed="rId5"/>
                <a:stretch>
                  <a:fillRect t="-10526" b="-26316"/>
                </a:stretch>
              </a:blipFill>
            </p:spPr>
            <p:txBody>
              <a:bodyPr/>
              <a:lstStyle/>
              <a:p>
                <a:r>
                  <a:rPr lang="en-US">
                    <a:noFill/>
                  </a:rPr>
                  <a:t> </a:t>
                </a:r>
              </a:p>
            </p:txBody>
          </p:sp>
        </mc:Fallback>
      </mc:AlternateContent>
      <p:sp>
        <p:nvSpPr>
          <p:cNvPr id="11"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394</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334530" y="520394"/>
                <a:ext cx="9673606" cy="4370387"/>
              </a:xfrm>
              <a:prstGeom prst="rect">
                <a:avLst/>
              </a:prstGeom>
              <a:noFill/>
              <a:ln>
                <a:noFill/>
              </a:ln>
            </p:spPr>
            <p:txBody>
              <a:bodyPr spcFirstLastPara="1" wrap="square" lIns="91425" tIns="45700" rIns="91425" bIns="45700" anchor="t" anchorCtr="0">
                <a:spAutoFit/>
              </a:bodyPr>
              <a:lstStyle/>
              <a:p>
                <a:pPr marL="915988"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400">
                        <a:latin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is greater than </a:t>
                </a:r>
                <a14:m>
                  <m:oMath xmlns:m="http://schemas.openxmlformats.org/officeDocument/2006/math">
                    <m:r>
                      <a:rPr lang="en-US" sz="2400">
                        <a:latin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then the opposite of </a:t>
                </a:r>
                <a14:m>
                  <m:oMath xmlns:m="http://schemas.openxmlformats.org/officeDocument/2006/math">
                    <m:r>
                      <a:rPr lang="en-US" sz="2400">
                        <a:latin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is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 </a:t>
                </a:r>
              </a:p>
              <a:p>
                <a:pPr marL="915988"/>
                <a:r>
                  <a:rPr lang="en-US" sz="2400" dirty="0">
                    <a:latin typeface="Verdana" panose="020B0604030504040204" pitchFamily="34" charset="0"/>
                    <a:ea typeface="Verdana" panose="020B0604030504040204" pitchFamily="34" charset="0"/>
                    <a:cs typeface="Verdana" panose="020B0604030504040204" pitchFamily="34" charset="0"/>
                  </a:rPr>
                  <a:t>_____________ than </a:t>
                </a:r>
                <a14:m>
                  <m:oMath xmlns:m="http://schemas.openxmlformats.org/officeDocument/2006/math">
                    <m:r>
                      <a:rPr lang="en-US" sz="2400">
                        <a:latin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Write the correct inequalities by filling in a comparison symbol on each line.</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endParaRPr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334530" y="520394"/>
                <a:ext cx="9673606" cy="4370387"/>
              </a:xfrm>
              <a:prstGeom prst="rect">
                <a:avLst/>
              </a:prstGeom>
              <a:blipFill rotWithShape="0">
                <a:blip r:embed="rId3"/>
                <a:stretch>
                  <a:fillRect t="-1116" r="-315"/>
                </a:stretch>
              </a:blipFill>
              <a:ln>
                <a:noFill/>
              </a:ln>
            </p:spPr>
            <p:txBody>
              <a:bodyPr/>
              <a:lstStyle/>
              <a:p>
                <a:r>
                  <a:rPr lang="en-US">
                    <a:noFill/>
                  </a:rPr>
                  <a:t> </a:t>
                </a:r>
              </a:p>
            </p:txBody>
          </p:sp>
        </mc:Fallback>
      </mc:AlternateContent>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B274BCE-471E-6849-8FC4-39CBE93EBF7E}"/>
                  </a:ext>
                </a:extLst>
              </p:cNvPr>
              <p:cNvSpPr/>
              <p:nvPr/>
            </p:nvSpPr>
            <p:spPr>
              <a:xfrm>
                <a:off x="3646804" y="4655876"/>
                <a:ext cx="4898392" cy="469809"/>
              </a:xfrm>
              <a:prstGeom prst="rect">
                <a:avLst/>
              </a:prstGeom>
            </p:spPr>
            <p:txBody>
              <a:bodyPr wrap="none">
                <a:spAutoFit/>
              </a:bodyPr>
              <a:lstStyle/>
              <a:p>
                <a:pPr marR="34290" algn="ct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0 _______ 1</m:t>
                    </m:r>
                  </m:oMath>
                </a14:m>
                <a:r>
                  <a:rPr lang="en-US" sz="2400" dirty="0">
                    <a:latin typeface="Verdana" panose="020B0604030504040204" pitchFamily="34" charset="0"/>
                    <a:ea typeface="Times New Roman" panose="02020603050405020304" pitchFamily="18" charset="0"/>
                    <a:cs typeface="Arial" panose="020B0604020202020204" pitchFamily="34"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0 ______</m:t>
                    </m:r>
                    <m:sPre>
                      <m:sPrePr>
                        <m:ctrlPr>
                          <a:rPr lang="en-US" sz="2400" i="1">
                            <a:latin typeface="Cambria Math" panose="02040503050406030204" pitchFamily="18" charset="0"/>
                            <a:ea typeface="Times New Roman" panose="02020603050405020304" pitchFamily="18" charset="0"/>
                            <a:cs typeface="Arial" panose="020B0604020202020204" pitchFamily="34" charset="0"/>
                          </a:rPr>
                        </m:ctrlPr>
                      </m:sPrePr>
                      <m:sub/>
                      <m:sup>
                        <m:r>
                          <a:rPr lang="en-US" sz="2400" i="1">
                            <a:latin typeface="Cambria Math" panose="02040503050406030204" pitchFamily="18" charset="0"/>
                            <a:ea typeface="Times New Roman" panose="02020603050405020304" pitchFamily="18" charset="0"/>
                            <a:cs typeface="Arial" panose="020B0604020202020204" pitchFamily="34" charset="0"/>
                          </a:rPr>
                          <m:t>−</m:t>
                        </m:r>
                      </m:sup>
                      <m:e>
                        <m:r>
                          <a:rPr lang="en-US" sz="2400" i="1">
                            <a:latin typeface="Cambria Math" panose="02040503050406030204" pitchFamily="18" charset="0"/>
                            <a:ea typeface="Times New Roman" panose="02020603050405020304" pitchFamily="18" charset="0"/>
                            <a:cs typeface="Arial" panose="020B0604020202020204" pitchFamily="34" charset="0"/>
                          </a:rPr>
                          <m:t>1</m:t>
                        </m:r>
                      </m:e>
                    </m:sPre>
                  </m:oMath>
                </a14:m>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5B274BCE-471E-6849-8FC4-39CBE93EBF7E}"/>
                  </a:ext>
                </a:extLst>
              </p:cNvPr>
              <p:cNvSpPr>
                <a:spLocks noRot="1" noChangeAspect="1" noMove="1" noResize="1" noEditPoints="1" noAdjustHandles="1" noChangeArrowheads="1" noChangeShapeType="1" noTextEdit="1"/>
              </p:cNvSpPr>
              <p:nvPr/>
            </p:nvSpPr>
            <p:spPr>
              <a:xfrm>
                <a:off x="2122804" y="4655875"/>
                <a:ext cx="4898392" cy="469809"/>
              </a:xfrm>
              <a:prstGeom prst="rect">
                <a:avLst/>
              </a:prstGeom>
              <a:blipFill>
                <a:blip r:embed="rId5"/>
                <a:stretch>
                  <a:fillRect t="-13158" b="-23684"/>
                </a:stretch>
              </a:blipFill>
            </p:spPr>
            <p:txBody>
              <a:bodyPr/>
              <a:lstStyle/>
              <a:p>
                <a:r>
                  <a:rPr lang="en-US">
                    <a:noFill/>
                  </a:rPr>
                  <a:t> </a:t>
                </a:r>
              </a:p>
            </p:txBody>
          </p:sp>
        </mc:Fallback>
      </mc:AlternateContent>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86249" y="520393"/>
            <a:ext cx="9970168" cy="1415732"/>
          </a:xfrm>
          <a:prstGeom prst="rect">
            <a:avLst/>
          </a:prstGeom>
          <a:noFill/>
          <a:ln>
            <a:noFill/>
          </a:ln>
        </p:spPr>
        <p:txBody>
          <a:bodyPr spcFirstLastPara="1" wrap="square" lIns="91425" tIns="45700" rIns="91425" bIns="45700" anchor="t" anchorCtr="0">
            <a:spAutoFit/>
          </a:bodyPr>
          <a:lstStyle/>
          <a:p>
            <a:pPr marL="915988" indent="-45878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Verify your answers with your partner on parts A-C and, if necessary, resolve any differences.</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endParaRPr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315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729049" y="520394"/>
                <a:ext cx="10884568" cy="526293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inequalities in the table based on your understanding of opposites.</a:t>
                </a: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762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39738"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439738" lvl="1"/>
                <a:r>
                  <a:rPr lang="en-US" sz="2400" dirty="0">
                    <a:latin typeface="Verdana" panose="020B0604030504040204" pitchFamily="34" charset="0"/>
                    <a:ea typeface="Verdana" panose="020B0604030504040204" pitchFamily="34" charset="0"/>
                    <a:cs typeface="Verdana" panose="020B0604030504040204" pitchFamily="34" charset="0"/>
                  </a:rPr>
                  <a:t>In each equivalent inequality, the sign of the variable changed to its opposite and the value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remained the same. </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729049" y="520394"/>
                <a:ext cx="10884568" cy="5262939"/>
              </a:xfrm>
              <a:prstGeom prst="rect">
                <a:avLst/>
              </a:prstGeom>
              <a:blipFill rotWithShape="0">
                <a:blip r:embed="rId3"/>
                <a:stretch>
                  <a:fillRect l="-896" t="-926" b="-1505"/>
                </a:stretch>
              </a:blipFill>
              <a:ln>
                <a:noFill/>
              </a:ln>
            </p:spPr>
            <p:txBody>
              <a:bodyPr/>
              <a:lstStyle/>
              <a:p>
                <a:r>
                  <a:rPr lang="en-US">
                    <a:noFill/>
                  </a:rPr>
                  <a:t> </a:t>
                </a:r>
              </a:p>
            </p:txBody>
          </p:sp>
        </mc:Fallback>
      </mc:AlternateContent>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CB0EC7B-0A4C-C945-9CA3-5F2C2EF08BC9}"/>
                  </a:ext>
                </a:extLst>
              </p:cNvPr>
              <p:cNvGraphicFramePr>
                <a:graphicFrameLocks noGrp="1"/>
              </p:cNvGraphicFramePr>
              <p:nvPr>
                <p:extLst>
                  <p:ext uri="{D42A27DB-BD31-4B8C-83A1-F6EECF244321}">
                    <p14:modId xmlns:p14="http://schemas.microsoft.com/office/powerpoint/2010/main" val="3707748774"/>
                  </p:ext>
                </p:extLst>
              </p:nvPr>
            </p:nvGraphicFramePr>
            <p:xfrm>
              <a:off x="2741967" y="2573042"/>
              <a:ext cx="6851835" cy="1998959"/>
            </p:xfrm>
            <a:graphic>
              <a:graphicData uri="http://schemas.openxmlformats.org/drawingml/2006/table">
                <a:tbl>
                  <a:tblPr firstRow="1" firstCol="1" bandRow="1">
                    <a:tableStyleId>{5C22544A-7EE6-4342-B048-85BDC9FD1C3A}</a:tableStyleId>
                  </a:tblPr>
                  <a:tblGrid>
                    <a:gridCol w="3425555">
                      <a:extLst>
                        <a:ext uri="{9D8B030D-6E8A-4147-A177-3AD203B41FA5}">
                          <a16:colId xmlns:a16="http://schemas.microsoft.com/office/drawing/2014/main" val="3591087161"/>
                        </a:ext>
                      </a:extLst>
                    </a:gridCol>
                    <a:gridCol w="3426280">
                      <a:extLst>
                        <a:ext uri="{9D8B030D-6E8A-4147-A177-3AD203B41FA5}">
                          <a16:colId xmlns:a16="http://schemas.microsoft.com/office/drawing/2014/main" val="4206728469"/>
                        </a:ext>
                      </a:extLst>
                    </a:gridCol>
                  </a:tblGrid>
                  <a:tr h="615065">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61298">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0&lt;−</m:t>
                                </m:r>
                                <m:r>
                                  <a:rPr lang="en-US" sz="2000" smtClean="0">
                                    <a:solidFill>
                                      <a:schemeClr val="tx1"/>
                                    </a:solidFill>
                                    <a:effectLst/>
                                    <a:latin typeface="Cambria Math" panose="02040503050406030204" pitchFamily="18" charset="0"/>
                                  </a:rPr>
                                  <m:t>𝑞</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𝑞</m:t>
                                </m:r>
                              </m:oMath>
                            </m:oMathPara>
                          </a14:m>
                          <a:endParaRPr lang="en-US" sz="14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474309"/>
                      </a:ext>
                    </a:extLst>
                  </a:tr>
                  <a:tr h="461298">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0&gt;−</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695800"/>
                      </a:ext>
                    </a:extLst>
                  </a:tr>
                  <a:tr h="461298">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≤0</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 ____ 0</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7573397"/>
                      </a:ext>
                    </a:extLst>
                  </a:tr>
                </a:tbl>
              </a:graphicData>
            </a:graphic>
          </p:graphicFrame>
        </mc:Choice>
        <mc:Fallback xmlns="">
          <p:graphicFrame>
            <p:nvGraphicFramePr>
              <p:cNvPr id="2" name="Table 1">
                <a:extLst>
                  <a:ext uri="{FF2B5EF4-FFF2-40B4-BE49-F238E27FC236}">
                    <a16:creationId xmlns:a16="http://schemas.microsoft.com/office/drawing/2014/main" id="{6CB0EC7B-0A4C-C945-9CA3-5F2C2EF08BC9}"/>
                  </a:ext>
                </a:extLst>
              </p:cNvPr>
              <p:cNvGraphicFramePr>
                <a:graphicFrameLocks noGrp="1"/>
              </p:cNvGraphicFramePr>
              <p:nvPr>
                <p:extLst>
                  <p:ext uri="{D42A27DB-BD31-4B8C-83A1-F6EECF244321}">
                    <p14:modId xmlns:p14="http://schemas.microsoft.com/office/powerpoint/2010/main" val="3707748774"/>
                  </p:ext>
                </p:extLst>
              </p:nvPr>
            </p:nvGraphicFramePr>
            <p:xfrm>
              <a:off x="1217966" y="2573041"/>
              <a:ext cx="6851835" cy="1998959"/>
            </p:xfrm>
            <a:graphic>
              <a:graphicData uri="http://schemas.openxmlformats.org/drawingml/2006/table">
                <a:tbl>
                  <a:tblPr firstRow="1" firstCol="1" bandRow="1">
                    <a:tableStyleId>{5C22544A-7EE6-4342-B048-85BDC9FD1C3A}</a:tableStyleId>
                  </a:tblPr>
                  <a:tblGrid>
                    <a:gridCol w="3425555">
                      <a:extLst>
                        <a:ext uri="{9D8B030D-6E8A-4147-A177-3AD203B41FA5}">
                          <a16:colId xmlns:a16="http://schemas.microsoft.com/office/drawing/2014/main" val="3591087161"/>
                        </a:ext>
                      </a:extLst>
                    </a:gridCol>
                    <a:gridCol w="3426280">
                      <a:extLst>
                        <a:ext uri="{9D8B030D-6E8A-4147-A177-3AD203B41FA5}">
                          <a16:colId xmlns:a16="http://schemas.microsoft.com/office/drawing/2014/main" val="4206728469"/>
                        </a:ext>
                      </a:extLst>
                    </a:gridCol>
                  </a:tblGrid>
                  <a:tr h="615065">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6129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36111" r="-100741" b="-21666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9631" t="-136111" r="-369" b="-216667"/>
                          </a:stretch>
                        </a:blipFill>
                      </a:tcPr>
                    </a:tc>
                    <a:extLst>
                      <a:ext uri="{0D108BD9-81ED-4DB2-BD59-A6C34878D82A}">
                        <a16:rowId xmlns:a16="http://schemas.microsoft.com/office/drawing/2014/main" val="2251474309"/>
                      </a:ext>
                    </a:extLst>
                  </a:tr>
                  <a:tr h="46129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29730" r="-100741" b="-1108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9631" t="-229730" r="-369" b="-110811"/>
                          </a:stretch>
                        </a:blipFill>
                      </a:tcPr>
                    </a:tc>
                    <a:extLst>
                      <a:ext uri="{0D108BD9-81ED-4DB2-BD59-A6C34878D82A}">
                        <a16:rowId xmlns:a16="http://schemas.microsoft.com/office/drawing/2014/main" val="1271695800"/>
                      </a:ext>
                    </a:extLst>
                  </a:tr>
                  <a:tr h="46129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38889" r="-100741" b="-1388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9631" t="-338889" r="-369" b="-13889"/>
                          </a:stretch>
                        </a:blipFill>
                      </a:tcPr>
                    </a:tc>
                    <a:extLst>
                      <a:ext uri="{0D108BD9-81ED-4DB2-BD59-A6C34878D82A}">
                        <a16:rowId xmlns:a16="http://schemas.microsoft.com/office/drawing/2014/main" val="3277573397"/>
                      </a:ext>
                    </a:extLst>
                  </a:tr>
                </a:tbl>
              </a:graphicData>
            </a:graphic>
          </p:graphicFrame>
        </mc:Fallback>
      </mc:AlternateContent>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65167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902043" y="520394"/>
                <a:ext cx="10538580" cy="3046948"/>
              </a:xfrm>
              <a:prstGeom prst="rect">
                <a:avLst/>
              </a:prstGeom>
              <a:noFill/>
              <a:ln>
                <a:noFill/>
              </a:ln>
            </p:spPr>
            <p:txBody>
              <a:bodyPr spcFirstLastPara="1" wrap="square" lIns="91425" tIns="45700" rIns="91425" bIns="45700" anchor="t" anchorCtr="0">
                <a:spAutoFit/>
              </a:bodyPr>
              <a:lstStyle/>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which operation(s) could be applied to both sides of the given inequalities above to result in the signs of the variables changing and the value </a:t>
                </a:r>
                <a14:m>
                  <m:oMath xmlns:m="http://schemas.openxmlformats.org/officeDocument/2006/math">
                    <m:r>
                      <a:rPr lang="en-US" sz="2400" i="1">
                        <a:latin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remaining the same.</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902043" y="520394"/>
                <a:ext cx="10538580" cy="3046948"/>
              </a:xfrm>
              <a:prstGeom prst="rect">
                <a:avLst/>
              </a:prstGeom>
              <a:blipFill rotWithShape="0">
                <a:blip r:embed="rId3"/>
                <a:stretch>
                  <a:fillRect r="-1562" b="-3400"/>
                </a:stretch>
              </a:blipFill>
              <a:ln>
                <a:noFill/>
              </a:ln>
            </p:spPr>
            <p:txBody>
              <a:bodyPr/>
              <a:lstStyle/>
              <a:p>
                <a:r>
                  <a:rPr lang="en-US">
                    <a:noFill/>
                  </a:rPr>
                  <a:t> </a:t>
                </a:r>
              </a:p>
            </p:txBody>
          </p:sp>
        </mc:Fallback>
      </mc:AlternateContent>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ADBB20A-7EBE-424E-B327-B16FA3572C4F}"/>
                  </a:ext>
                </a:extLst>
              </p:cNvPr>
              <p:cNvGraphicFramePr>
                <a:graphicFrameLocks noGrp="1"/>
              </p:cNvGraphicFramePr>
              <p:nvPr>
                <p:extLst>
                  <p:ext uri="{D42A27DB-BD31-4B8C-83A1-F6EECF244321}">
                    <p14:modId xmlns:p14="http://schemas.microsoft.com/office/powerpoint/2010/main" val="1569829310"/>
                  </p:ext>
                </p:extLst>
              </p:nvPr>
            </p:nvGraphicFramePr>
            <p:xfrm>
              <a:off x="2763171" y="344745"/>
              <a:ext cx="6830632" cy="1759262"/>
            </p:xfrm>
            <a:graphic>
              <a:graphicData uri="http://schemas.openxmlformats.org/drawingml/2006/table">
                <a:tbl>
                  <a:tblPr firstRow="1" firstCol="1" bandRow="1">
                    <a:tableStyleId>{5C22544A-7EE6-4342-B048-85BDC9FD1C3A}</a:tableStyleId>
                  </a:tblPr>
                  <a:tblGrid>
                    <a:gridCol w="3414955">
                      <a:extLst>
                        <a:ext uri="{9D8B030D-6E8A-4147-A177-3AD203B41FA5}">
                          <a16:colId xmlns:a16="http://schemas.microsoft.com/office/drawing/2014/main" val="3591087161"/>
                        </a:ext>
                      </a:extLst>
                    </a:gridCol>
                    <a:gridCol w="3415677">
                      <a:extLst>
                        <a:ext uri="{9D8B030D-6E8A-4147-A177-3AD203B41FA5}">
                          <a16:colId xmlns:a16="http://schemas.microsoft.com/office/drawing/2014/main" val="4206728469"/>
                        </a:ext>
                      </a:extLst>
                    </a:gridCol>
                  </a:tblGrid>
                  <a:tr h="434753">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0&lt;−</m:t>
                                </m:r>
                                <m:r>
                                  <a:rPr lang="en-US" sz="2000" smtClean="0">
                                    <a:solidFill>
                                      <a:schemeClr val="tx1"/>
                                    </a:solidFill>
                                    <a:effectLst/>
                                    <a:latin typeface="Cambria Math" panose="02040503050406030204" pitchFamily="18" charset="0"/>
                                  </a:rPr>
                                  <m:t>𝑞</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𝑞</m:t>
                                </m:r>
                              </m:oMath>
                            </m:oMathPara>
                          </a14:m>
                          <a:endParaRPr lang="en-US" sz="14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474309"/>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0&gt;−</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695800"/>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≤0</m:t>
                                </m:r>
                              </m:oMath>
                            </m:oMathPara>
                          </a14:m>
                          <a:endParaRPr lang="en-US" sz="14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 ____ 0</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7573397"/>
                      </a:ext>
                    </a:extLst>
                  </a:tr>
                </a:tbl>
              </a:graphicData>
            </a:graphic>
          </p:graphicFrame>
        </mc:Choice>
        <mc:Fallback xmlns="">
          <p:graphicFrame>
            <p:nvGraphicFramePr>
              <p:cNvPr id="7" name="Table 6">
                <a:extLst>
                  <a:ext uri="{FF2B5EF4-FFF2-40B4-BE49-F238E27FC236}">
                    <a16:creationId xmlns:a16="http://schemas.microsoft.com/office/drawing/2014/main" id="{9ADBB20A-7EBE-424E-B327-B16FA3572C4F}"/>
                  </a:ext>
                </a:extLst>
              </p:cNvPr>
              <p:cNvGraphicFramePr>
                <a:graphicFrameLocks noGrp="1"/>
              </p:cNvGraphicFramePr>
              <p:nvPr>
                <p:extLst>
                  <p:ext uri="{D42A27DB-BD31-4B8C-83A1-F6EECF244321}">
                    <p14:modId xmlns:p14="http://schemas.microsoft.com/office/powerpoint/2010/main" val="1569829310"/>
                  </p:ext>
                </p:extLst>
              </p:nvPr>
            </p:nvGraphicFramePr>
            <p:xfrm>
              <a:off x="1239171" y="344745"/>
              <a:ext cx="6830632" cy="1759262"/>
            </p:xfrm>
            <a:graphic>
              <a:graphicData uri="http://schemas.openxmlformats.org/drawingml/2006/table">
                <a:tbl>
                  <a:tblPr firstRow="1" firstCol="1" bandRow="1">
                    <a:tableStyleId>{5C22544A-7EE6-4342-B048-85BDC9FD1C3A}</a:tableStyleId>
                  </a:tblPr>
                  <a:tblGrid>
                    <a:gridCol w="3414955">
                      <a:extLst>
                        <a:ext uri="{9D8B030D-6E8A-4147-A177-3AD203B41FA5}">
                          <a16:colId xmlns:a16="http://schemas.microsoft.com/office/drawing/2014/main" val="3591087161"/>
                        </a:ext>
                      </a:extLst>
                    </a:gridCol>
                    <a:gridCol w="3415677">
                      <a:extLst>
                        <a:ext uri="{9D8B030D-6E8A-4147-A177-3AD203B41FA5}">
                          <a16:colId xmlns:a16="http://schemas.microsoft.com/office/drawing/2014/main" val="4206728469"/>
                        </a:ext>
                      </a:extLst>
                    </a:gridCol>
                  </a:tblGrid>
                  <a:tr h="434753">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2" t="-102857" r="-100743" b="-2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02857" r="-370" b="-214286"/>
                          </a:stretch>
                        </a:blipFill>
                      </a:tcPr>
                    </a:tc>
                    <a:extLst>
                      <a:ext uri="{0D108BD9-81ED-4DB2-BD59-A6C34878D82A}">
                        <a16:rowId xmlns:a16="http://schemas.microsoft.com/office/drawing/2014/main" val="2251474309"/>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2" t="-202857" r="-100743" b="-1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202857" r="-370" b="-114286"/>
                          </a:stretch>
                        </a:blipFill>
                      </a:tcPr>
                    </a:tc>
                    <a:extLst>
                      <a:ext uri="{0D108BD9-81ED-4DB2-BD59-A6C34878D82A}">
                        <a16:rowId xmlns:a16="http://schemas.microsoft.com/office/drawing/2014/main" val="1271695800"/>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72" t="-302857" r="-100743"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302857" r="-370" b="-14286"/>
                          </a:stretch>
                        </a:blipFill>
                      </a:tcPr>
                    </a:tc>
                    <a:extLst>
                      <a:ext uri="{0D108BD9-81ED-4DB2-BD59-A6C34878D82A}">
                        <a16:rowId xmlns:a16="http://schemas.microsoft.com/office/drawing/2014/main" val="3277573397"/>
                      </a:ext>
                    </a:extLst>
                  </a:tr>
                </a:tbl>
              </a:graphicData>
            </a:graphic>
          </p:graphicFrame>
        </mc:Fallback>
      </mc:AlternateContent>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55372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ADBB20A-7EBE-424E-B327-B16FA3572C4F}"/>
                  </a:ext>
                </a:extLst>
              </p:cNvPr>
              <p:cNvGraphicFramePr>
                <a:graphicFrameLocks noGrp="1"/>
              </p:cNvGraphicFramePr>
              <p:nvPr/>
            </p:nvGraphicFramePr>
            <p:xfrm>
              <a:off x="2763171" y="344745"/>
              <a:ext cx="6830632" cy="1759262"/>
            </p:xfrm>
            <a:graphic>
              <a:graphicData uri="http://schemas.openxmlformats.org/drawingml/2006/table">
                <a:tbl>
                  <a:tblPr firstRow="1" firstCol="1" bandRow="1">
                    <a:tableStyleId>{5C22544A-7EE6-4342-B048-85BDC9FD1C3A}</a:tableStyleId>
                  </a:tblPr>
                  <a:tblGrid>
                    <a:gridCol w="3414955">
                      <a:extLst>
                        <a:ext uri="{9D8B030D-6E8A-4147-A177-3AD203B41FA5}">
                          <a16:colId xmlns:a16="http://schemas.microsoft.com/office/drawing/2014/main" val="3591087161"/>
                        </a:ext>
                      </a:extLst>
                    </a:gridCol>
                    <a:gridCol w="3415677">
                      <a:extLst>
                        <a:ext uri="{9D8B030D-6E8A-4147-A177-3AD203B41FA5}">
                          <a16:colId xmlns:a16="http://schemas.microsoft.com/office/drawing/2014/main" val="4206728469"/>
                        </a:ext>
                      </a:extLst>
                    </a:gridCol>
                  </a:tblGrid>
                  <a:tr h="434753">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0&lt;−</m:t>
                                </m:r>
                                <m:r>
                                  <a:rPr lang="en-US" sz="2000" smtClean="0">
                                    <a:solidFill>
                                      <a:schemeClr val="tx1"/>
                                    </a:solidFill>
                                    <a:effectLst/>
                                    <a:latin typeface="Cambria Math" panose="02040503050406030204" pitchFamily="18" charset="0"/>
                                  </a:rPr>
                                  <m:t>𝑞</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𝑞</m:t>
                                </m:r>
                              </m:oMath>
                            </m:oMathPara>
                          </a14:m>
                          <a:endParaRPr lang="en-US" sz="14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474309"/>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0&gt;−</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0 ____ </m:t>
                                </m:r>
                                <m:r>
                                  <a:rPr lang="en-US" sz="2000" smtClean="0">
                                    <a:solidFill>
                                      <a:schemeClr val="tx1"/>
                                    </a:solidFill>
                                    <a:effectLst/>
                                    <a:latin typeface="Cambria Math" panose="02040503050406030204" pitchFamily="18" charset="0"/>
                                  </a:rPr>
                                  <m:t>𝑚</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695800"/>
                      </a:ext>
                    </a:extLst>
                  </a:tr>
                  <a:tr h="441503">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≤0</m:t>
                                </m:r>
                              </m:oMath>
                            </m:oMathPara>
                          </a14:m>
                          <a:endParaRPr lang="en-US" sz="14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 ____ 0</m:t>
                                </m:r>
                              </m:oMath>
                            </m:oMathPara>
                          </a14:m>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7573397"/>
                      </a:ext>
                    </a:extLst>
                  </a:tr>
                </a:tbl>
              </a:graphicData>
            </a:graphic>
          </p:graphicFrame>
        </mc:Choice>
        <mc:Fallback xmlns="">
          <p:graphicFrame>
            <p:nvGraphicFramePr>
              <p:cNvPr id="7" name="Table 6">
                <a:extLst>
                  <a:ext uri="{FF2B5EF4-FFF2-40B4-BE49-F238E27FC236}">
                    <a16:creationId xmlns:a16="http://schemas.microsoft.com/office/drawing/2014/main" id="{9ADBB20A-7EBE-424E-B327-B16FA3572C4F}"/>
                  </a:ext>
                </a:extLst>
              </p:cNvPr>
              <p:cNvGraphicFramePr>
                <a:graphicFrameLocks noGrp="1"/>
              </p:cNvGraphicFramePr>
              <p:nvPr/>
            </p:nvGraphicFramePr>
            <p:xfrm>
              <a:off x="1239171" y="344745"/>
              <a:ext cx="6830632" cy="1759262"/>
            </p:xfrm>
            <a:graphic>
              <a:graphicData uri="http://schemas.openxmlformats.org/drawingml/2006/table">
                <a:tbl>
                  <a:tblPr firstRow="1" firstCol="1" bandRow="1">
                    <a:tableStyleId>{5C22544A-7EE6-4342-B048-85BDC9FD1C3A}</a:tableStyleId>
                  </a:tblPr>
                  <a:tblGrid>
                    <a:gridCol w="3414955">
                      <a:extLst>
                        <a:ext uri="{9D8B030D-6E8A-4147-A177-3AD203B41FA5}">
                          <a16:colId xmlns:a16="http://schemas.microsoft.com/office/drawing/2014/main" val="3591087161"/>
                        </a:ext>
                      </a:extLst>
                    </a:gridCol>
                    <a:gridCol w="3415677">
                      <a:extLst>
                        <a:ext uri="{9D8B030D-6E8A-4147-A177-3AD203B41FA5}">
                          <a16:colId xmlns:a16="http://schemas.microsoft.com/office/drawing/2014/main" val="4206728469"/>
                        </a:ext>
                      </a:extLst>
                    </a:gridCol>
                  </a:tblGrid>
                  <a:tr h="434753">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Equivalent Inequality</a:t>
                          </a:r>
                          <a:endParaRPr lang="en-US" sz="1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6980036"/>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2" t="-102857" r="-100743" b="-2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02857" r="-370" b="-214286"/>
                          </a:stretch>
                        </a:blipFill>
                      </a:tcPr>
                    </a:tc>
                    <a:extLst>
                      <a:ext uri="{0D108BD9-81ED-4DB2-BD59-A6C34878D82A}">
                        <a16:rowId xmlns:a16="http://schemas.microsoft.com/office/drawing/2014/main" val="2251474309"/>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2" t="-202857" r="-100743" b="-1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02857" r="-370" b="-114286"/>
                          </a:stretch>
                        </a:blipFill>
                      </a:tcPr>
                    </a:tc>
                    <a:extLst>
                      <a:ext uri="{0D108BD9-81ED-4DB2-BD59-A6C34878D82A}">
                        <a16:rowId xmlns:a16="http://schemas.microsoft.com/office/drawing/2014/main" val="1271695800"/>
                      </a:ext>
                    </a:extLst>
                  </a:tr>
                  <a:tr h="44150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2" t="-302857" r="-100743" b="-1428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302857" r="-370" b="-14286"/>
                          </a:stretch>
                        </a:blipFill>
                      </a:tcPr>
                    </a:tc>
                    <a:extLst>
                      <a:ext uri="{0D108BD9-81ED-4DB2-BD59-A6C34878D82A}">
                        <a16:rowId xmlns:a16="http://schemas.microsoft.com/office/drawing/2014/main" val="3277573397"/>
                      </a:ext>
                    </a:extLst>
                  </a:tr>
                </a:tbl>
              </a:graphicData>
            </a:graphic>
          </p:graphicFrame>
        </mc:Fallback>
      </mc:AlternateContent>
      <p:sp>
        <p:nvSpPr>
          <p:cNvPr id="8" name="Google Shape;208;p8">
            <a:extLst>
              <a:ext uri="{FF2B5EF4-FFF2-40B4-BE49-F238E27FC236}">
                <a16:creationId xmlns:a16="http://schemas.microsoft.com/office/drawing/2014/main" id="{444E99E0-E6DB-8140-A44A-749ED4B4842F}"/>
              </a:ext>
            </a:extLst>
          </p:cNvPr>
          <p:cNvSpPr txBox="1"/>
          <p:nvPr/>
        </p:nvSpPr>
        <p:spPr>
          <a:xfrm>
            <a:off x="1235676" y="520393"/>
            <a:ext cx="9871314" cy="2677616"/>
          </a:xfrm>
          <a:prstGeom prst="rect">
            <a:avLst/>
          </a:prstGeom>
          <a:noFill/>
          <a:ln>
            <a:noFill/>
          </a:ln>
        </p:spPr>
        <p:txBody>
          <a:bodyPr spcFirstLastPara="1" wrap="square" lIns="91425" tIns="45700" rIns="91425" bIns="45700" anchor="t" anchorCtr="0">
            <a:spAutoFit/>
          </a:bodyPr>
          <a:lstStyle/>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lvl="1" indent="-45878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Describe what happens to the comparison symbol in the inequality when either of these operations are applied.</a:t>
            </a:r>
          </a:p>
        </p:txBody>
      </p:sp>
      <p:sp>
        <p:nvSpPr>
          <p:cNvPr id="10"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4148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97575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370672" y="-12827"/>
            <a:ext cx="10679538"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54B5D1"/>
                </a:solidFill>
                <a:latin typeface="Verdana"/>
                <a:ea typeface="Verdana"/>
                <a:cs typeface="Verdana"/>
                <a:sym typeface="Verdana"/>
              </a:rPr>
              <a:t>14.10.5 Bring It Together: </a:t>
            </a:r>
            <a:r>
              <a:rPr lang="en-US" sz="3200" b="1" dirty="0">
                <a:solidFill>
                  <a:srgbClr val="54B5D1"/>
                </a:solidFill>
                <a:latin typeface="Verdana"/>
                <a:ea typeface="Verdana"/>
                <a:cs typeface="Verdana"/>
              </a:rPr>
              <a:t>The Effect of a Negative Coefficient </a:t>
            </a:r>
            <a:endParaRPr sz="3200" b="1" dirty="0">
              <a:solidFill>
                <a:srgbClr val="54B5D1"/>
              </a:solidFill>
              <a:latin typeface="Verdana"/>
              <a:ea typeface="Verdana"/>
              <a:cs typeface="Verdana"/>
            </a:endParaRPr>
          </a:p>
        </p:txBody>
      </p:sp>
      <mc:AlternateContent xmlns:mc="http://schemas.openxmlformats.org/markup-compatibility/2006" xmlns:a14="http://schemas.microsoft.com/office/drawing/2010/main">
        <mc:Choice Requires="a14">
          <p:sp>
            <p:nvSpPr>
              <p:cNvPr id="408" name="Google Shape;408;p28"/>
              <p:cNvSpPr txBox="1"/>
              <p:nvPr/>
            </p:nvSpPr>
            <p:spPr>
              <a:xfrm>
                <a:off x="1013254" y="1394904"/>
                <a:ext cx="10421524" cy="461660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 using words from the bank shown. Some words may not be used.</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When the variable term in an inequality is negative, the inequality can be rewritten by _________________ or _________________ the inequality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In the resulting inequality, each term and the comparison symbol will change to its _________________.</a:t>
                </a:r>
              </a:p>
              <a:p>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08" name="Google Shape;408;p28"/>
              <p:cNvSpPr txBox="1">
                <a:spLocks noRot="1" noChangeAspect="1" noMove="1" noResize="1" noEditPoints="1" noAdjustHandles="1" noChangeArrowheads="1" noChangeShapeType="1" noTextEdit="1"/>
              </p:cNvSpPr>
              <p:nvPr/>
            </p:nvSpPr>
            <p:spPr>
              <a:xfrm>
                <a:off x="1013254" y="1394904"/>
                <a:ext cx="10421524" cy="4616608"/>
              </a:xfrm>
              <a:prstGeom prst="rect">
                <a:avLst/>
              </a:prstGeom>
              <a:blipFill rotWithShape="0">
                <a:blip r:embed="rId3"/>
                <a:stretch>
                  <a:fillRect l="-643" t="-925"/>
                </a:stretch>
              </a:blipFill>
              <a:ln>
                <a:noFill/>
              </a:ln>
            </p:spPr>
            <p:txBody>
              <a:bodyPr/>
              <a:lstStyle/>
              <a:p>
                <a:r>
                  <a:rPr lang="en-US">
                    <a:noFill/>
                  </a:rPr>
                  <a:t> </a:t>
                </a:r>
              </a:p>
            </p:txBody>
          </p:sp>
        </mc:Fallback>
      </mc:AlternateContent>
      <p:sp>
        <p:nvSpPr>
          <p:cNvPr id="409" name="Google Shape;409;p28"/>
          <p:cNvSpPr/>
          <p:nvPr/>
        </p:nvSpPr>
        <p:spPr>
          <a:xfrm>
            <a:off x="0" y="-12827"/>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20864" y="260274"/>
            <a:ext cx="749808" cy="749808"/>
          </a:xfrm>
          <a:prstGeom prst="rect">
            <a:avLst/>
          </a:prstGeom>
          <a:noFill/>
          <a:ln>
            <a:noFill/>
          </a:ln>
          <a:effectLst>
            <a:outerShdw blurRad="50800" dist="38100" dir="2700000" algn="tl" rotWithShape="0">
              <a:srgbClr val="000000">
                <a:alpha val="40000"/>
              </a:srgbClr>
            </a:outerShdw>
          </a:effectLst>
        </p:spPr>
      </p:pic>
      <p:sp>
        <p:nvSpPr>
          <p:cNvPr id="8" name="Rounded Rectangle 7">
            <a:extLst>
              <a:ext uri="{FF2B5EF4-FFF2-40B4-BE49-F238E27FC236}">
                <a16:creationId xmlns:a16="http://schemas.microsoft.com/office/drawing/2014/main" id="{35A28D3A-55FA-F54A-89D7-DC62C9DC0048}"/>
              </a:ext>
            </a:extLst>
          </p:cNvPr>
          <p:cNvSpPr/>
          <p:nvPr/>
        </p:nvSpPr>
        <p:spPr>
          <a:xfrm>
            <a:off x="3076970" y="2454052"/>
            <a:ext cx="6038061" cy="82296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adding           subtracting           multiplying        	dividing                opposite </a:t>
            </a:r>
          </a:p>
        </p:txBody>
      </p:sp>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50256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8" name="Google Shape;268;p14"/>
              <p:cNvSpPr txBox="1"/>
              <p:nvPr/>
            </p:nvSpPr>
            <p:spPr>
              <a:xfrm>
                <a:off x="1383957" y="520394"/>
                <a:ext cx="9574752" cy="3785611"/>
              </a:xfrm>
              <a:prstGeom prst="rect">
                <a:avLst/>
              </a:prstGeom>
              <a:noFill/>
              <a:ln>
                <a:noFill/>
              </a:ln>
            </p:spPr>
            <p:txBody>
              <a:bodyPr spcFirstLastPara="1" wrap="square" lIns="91425" tIns="45700" rIns="91425" bIns="45700" anchor="t" anchorCtr="0">
                <a:spAutoFit/>
              </a:bodyPr>
              <a:lstStyle/>
              <a:p>
                <a:pPr marL="457200" indent="-449263">
                  <a:buFont typeface="+mj-lt"/>
                  <a:buAutoNum type="arabicPeriod" startAt="2"/>
                </a:pPr>
                <a:r>
                  <a:rPr lang="en-US" sz="2400" dirty="0">
                    <a:latin typeface="Verdana"/>
                    <a:ea typeface="Verdana"/>
                    <a:cs typeface="Verdana"/>
                  </a:rPr>
                  <a:t>Use the inequality </a:t>
                </a:r>
                <a14:m>
                  <m:oMath xmlns:m="http://schemas.openxmlformats.org/officeDocument/2006/math">
                    <m:r>
                      <a:rPr lang="en-US" sz="2400">
                        <a:latin typeface="Cambria Math" panose="02040503050406030204" pitchFamily="18" charset="0"/>
                        <a:ea typeface="Verdana"/>
                        <a:cs typeface="Verdana"/>
                      </a:rPr>
                      <m:t>−</m:t>
                    </m:r>
                    <m:r>
                      <a:rPr lang="en-US" sz="2400">
                        <a:latin typeface="Cambria Math" panose="02040503050406030204" pitchFamily="18" charset="0"/>
                        <a:ea typeface="Verdana"/>
                        <a:cs typeface="Verdana"/>
                      </a:rPr>
                      <m:t>𝑛</m:t>
                    </m:r>
                    <m:r>
                      <a:rPr lang="en-US" sz="2400">
                        <a:latin typeface="Cambria Math" panose="02040503050406030204" pitchFamily="18" charset="0"/>
                        <a:ea typeface="Verdana"/>
                        <a:cs typeface="Verdana"/>
                      </a:rPr>
                      <m:t>≥2</m:t>
                    </m:r>
                  </m:oMath>
                </a14:m>
                <a:r>
                  <a:rPr lang="en-US" sz="2400" dirty="0">
                    <a:latin typeface="Verdana"/>
                    <a:ea typeface="Verdana"/>
                    <a:cs typeface="Verdana"/>
                  </a:rPr>
                  <a:t> to complete the following.</a:t>
                </a:r>
              </a:p>
              <a:p>
                <a:r>
                  <a:rPr lang="en-US" sz="2400" dirty="0">
                    <a:latin typeface="Verdana"/>
                    <a:ea typeface="Verdana"/>
                    <a:cs typeface="Verdana"/>
                  </a:rPr>
                  <a:t> </a:t>
                </a:r>
              </a:p>
              <a:p>
                <a:pPr marL="915988" lvl="1" indent="-458788">
                  <a:buFont typeface="+mj-lt"/>
                  <a:buAutoNum type="alphaLcPeriod"/>
                </a:pPr>
                <a:r>
                  <a:rPr lang="en-US" sz="2400" dirty="0">
                    <a:latin typeface="Verdana"/>
                    <a:ea typeface="Verdana"/>
                    <a:cs typeface="Verdana"/>
                  </a:rPr>
                  <a:t>Complete the inequality to create an equivalent inequality.</a:t>
                </a:r>
              </a:p>
              <a:p>
                <a:pPr algn="ctr"/>
                <a:endParaRPr lang="en-US" sz="2400" dirty="0">
                  <a:latin typeface="Verdana"/>
                  <a:ea typeface="Verdana"/>
                  <a:cs typeface="Verdana"/>
                </a:endParaRPr>
              </a:p>
              <a:p>
                <a:pPr algn="ctr"/>
                <a14:m>
                  <m:oMath xmlns:m="http://schemas.openxmlformats.org/officeDocument/2006/math">
                    <m:r>
                      <a:rPr lang="en-US" sz="2400">
                        <a:latin typeface="Cambria Math" panose="02040503050406030204" pitchFamily="18" charset="0"/>
                        <a:ea typeface="Verdana"/>
                        <a:cs typeface="Verdana"/>
                      </a:rPr>
                      <m:t>𝑛</m:t>
                    </m:r>
                  </m:oMath>
                </a14:m>
                <a:r>
                  <a:rPr lang="en-US" sz="2400" dirty="0">
                    <a:latin typeface="Verdana"/>
                    <a:ea typeface="Verdana"/>
                    <a:cs typeface="Verdana"/>
                  </a:rPr>
                  <a:t>         ___</a:t>
                </a:r>
              </a:p>
              <a:p>
                <a:pPr algn="ctr"/>
                <a:endParaRPr lang="en-US" sz="2400" dirty="0">
                  <a:latin typeface="Verdana"/>
                  <a:ea typeface="Verdana"/>
                  <a:cs typeface="Verdana"/>
                </a:endParaRPr>
              </a:p>
              <a:p>
                <a:pPr algn="ctr"/>
                <a:endParaRPr lang="en-US" sz="2400" dirty="0">
                  <a:latin typeface="Verdana"/>
                  <a:ea typeface="Verdana"/>
                  <a:cs typeface="Verdana"/>
                </a:endParaRPr>
              </a:p>
              <a:p>
                <a:pPr marL="914400" indent="-457200">
                  <a:buFont typeface="+mj-lt"/>
                  <a:buAutoNum type="alphaLcPeriod" startAt="2"/>
                </a:pPr>
                <a:r>
                  <a:rPr lang="en-US" sz="2400" dirty="0">
                    <a:latin typeface="Verdana"/>
                    <a:ea typeface="Verdana"/>
                    <a:cs typeface="Verdana"/>
                  </a:rPr>
                  <a:t>Graph the solution set for </a:t>
                </a:r>
                <a14:m>
                  <m:oMath xmlns:m="http://schemas.openxmlformats.org/officeDocument/2006/math">
                    <m:r>
                      <a:rPr lang="en-US" sz="2400">
                        <a:latin typeface="Cambria Math" panose="02040503050406030204" pitchFamily="18" charset="0"/>
                        <a:ea typeface="Verdana"/>
                        <a:cs typeface="Verdana"/>
                      </a:rPr>
                      <m:t>−</m:t>
                    </m:r>
                    <m:r>
                      <a:rPr lang="en-US" sz="2400">
                        <a:latin typeface="Cambria Math" panose="02040503050406030204" pitchFamily="18" charset="0"/>
                        <a:ea typeface="Verdana"/>
                        <a:cs typeface="Verdana"/>
                      </a:rPr>
                      <m:t>𝑛</m:t>
                    </m:r>
                    <m:r>
                      <a:rPr lang="en-US" sz="2400">
                        <a:latin typeface="Cambria Math" panose="02040503050406030204" pitchFamily="18" charset="0"/>
                        <a:ea typeface="Verdana"/>
                        <a:cs typeface="Verdana"/>
                      </a:rPr>
                      <m:t>≥2</m:t>
                    </m:r>
                  </m:oMath>
                </a14:m>
                <a:r>
                  <a:rPr lang="en-US" sz="2400" dirty="0">
                    <a:latin typeface="Verdana"/>
                    <a:ea typeface="Verdana"/>
                    <a:cs typeface="Verdana"/>
                  </a:rPr>
                  <a:t>.</a:t>
                </a:r>
              </a:p>
              <a:p>
                <a:endParaRPr lang="en-US" sz="2400" dirty="0">
                  <a:latin typeface="Verdana"/>
                  <a:ea typeface="Verdana"/>
                  <a:cs typeface="Verdana"/>
                </a:endParaRPr>
              </a:p>
            </p:txBody>
          </p:sp>
        </mc:Choice>
        <mc:Fallback xmlns="">
          <p:sp>
            <p:nvSpPr>
              <p:cNvPr id="268" name="Google Shape;268;p14"/>
              <p:cNvSpPr txBox="1">
                <a:spLocks noRot="1" noChangeAspect="1" noMove="1" noResize="1" noEditPoints="1" noAdjustHandles="1" noChangeArrowheads="1" noChangeShapeType="1" noTextEdit="1"/>
              </p:cNvSpPr>
              <p:nvPr/>
            </p:nvSpPr>
            <p:spPr>
              <a:xfrm>
                <a:off x="1383957" y="520394"/>
                <a:ext cx="9574752" cy="3785611"/>
              </a:xfrm>
              <a:prstGeom prst="rect">
                <a:avLst/>
              </a:prstGeom>
              <a:blipFill>
                <a:blip r:embed="rId3"/>
                <a:stretch>
                  <a:fillRect l="-891" t="-1449"/>
                </a:stretch>
              </a:blipFill>
              <a:ln>
                <a:noFill/>
              </a:ln>
            </p:spPr>
            <p:txBody>
              <a:bodyPr/>
              <a:lstStyle/>
              <a:p>
                <a:r>
                  <a:rPr lang="en-US">
                    <a:noFill/>
                  </a:rPr>
                  <a:t> </a:t>
                </a:r>
              </a:p>
            </p:txBody>
          </p:sp>
        </mc:Fallback>
      </mc:AlternateContent>
      <p:sp>
        <p:nvSpPr>
          <p:cNvPr id="269" name="Google Shape;269;p14"/>
          <p:cNvSpPr/>
          <p:nvPr/>
        </p:nvSpPr>
        <p:spPr>
          <a:xfrm>
            <a:off x="315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 name="Rectangle 11">
            <a:extLst>
              <a:ext uri="{FF2B5EF4-FFF2-40B4-BE49-F238E27FC236}">
                <a16:creationId xmlns:a16="http://schemas.microsoft.com/office/drawing/2014/main" id="{C5DDED4B-62B1-0341-8188-850449B81C87}"/>
              </a:ext>
            </a:extLst>
          </p:cNvPr>
          <p:cNvSpPr/>
          <p:nvPr/>
        </p:nvSpPr>
        <p:spPr>
          <a:xfrm>
            <a:off x="5568668" y="2348322"/>
            <a:ext cx="663609" cy="470515"/>
          </a:xfrm>
          <a:prstGeom prst="rect">
            <a:avLst/>
          </a:prstGeom>
          <a:noFill/>
          <a:ln w="12700">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pic>
        <p:nvPicPr>
          <p:cNvPr id="2" name="Picture 1">
            <a:extLst>
              <a:ext uri="{FF2B5EF4-FFF2-40B4-BE49-F238E27FC236}">
                <a16:creationId xmlns:a16="http://schemas.microsoft.com/office/drawing/2014/main" id="{EDED07BF-3D31-0594-A168-16A2A957076B}"/>
              </a:ext>
            </a:extLst>
          </p:cNvPr>
          <p:cNvPicPr>
            <a:picLocks noChangeAspect="1"/>
          </p:cNvPicPr>
          <p:nvPr/>
        </p:nvPicPr>
        <p:blipFill>
          <a:blip r:embed="rId5"/>
          <a:stretch>
            <a:fillRect/>
          </a:stretch>
        </p:blipFill>
        <p:spPr>
          <a:xfrm>
            <a:off x="2411181" y="4755266"/>
            <a:ext cx="5691505" cy="588645"/>
          </a:xfrm>
          <a:prstGeom prst="rect">
            <a:avLst/>
          </a:prstGeom>
        </p:spPr>
      </p:pic>
    </p:spTree>
    <p:extLst>
      <p:ext uri="{BB962C8B-B14F-4D97-AF65-F5344CB8AC3E}">
        <p14:creationId xmlns:p14="http://schemas.microsoft.com/office/powerpoint/2010/main" val="3515468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308887" y="0"/>
            <a:ext cx="10883113"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54B5D1"/>
                </a:solidFill>
                <a:latin typeface="Verdana"/>
                <a:ea typeface="Verdana"/>
                <a:cs typeface="Verdana"/>
                <a:sym typeface="Verdana"/>
              </a:rPr>
              <a:t>14.10.6 Guided Instruction: </a:t>
            </a:r>
            <a:r>
              <a:rPr lang="en-US" sz="3200" b="1" dirty="0">
                <a:solidFill>
                  <a:srgbClr val="54B5D1"/>
                </a:solidFill>
                <a:latin typeface="Verdana"/>
                <a:ea typeface="Verdana"/>
                <a:cs typeface="Verdana"/>
              </a:rPr>
              <a:t>Solving One-Step Inequalities with Multiplication and Division</a:t>
            </a:r>
            <a:endParaRPr sz="1200" dirty="0"/>
          </a:p>
        </p:txBody>
      </p:sp>
      <p:pic>
        <p:nvPicPr>
          <p:cNvPr id="317" name="Google Shape;317;p19"/>
          <p:cNvPicPr preferRelativeResize="0"/>
          <p:nvPr/>
        </p:nvPicPr>
        <p:blipFill rotWithShape="1">
          <a:blip r:embed="rId3">
            <a:alphaModFix/>
          </a:blip>
          <a:srcRect/>
          <a:stretch/>
        </p:blipFill>
        <p:spPr>
          <a:xfrm>
            <a:off x="561588" y="207264"/>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161535" y="1386026"/>
            <a:ext cx="10124962" cy="2523727"/>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As with solving one-step inequalities with addition and subtraction, properties of inequality can be used to solve inequalities with multiplication and division. As discovered in the Collaboration, though, when the value that is being multiplied or divided is negative, this changes both the values in the inequality and the comparison symbol to their opposites.</a:t>
            </a:r>
          </a:p>
          <a:p>
            <a:endParaRPr dirty="0"/>
          </a:p>
        </p:txBody>
      </p:sp>
      <p:sp>
        <p:nvSpPr>
          <p:cNvPr id="320" name="Google Shape;320;p1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951470" y="520393"/>
            <a:ext cx="10439726" cy="141573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Multiplying both sides of an inequality by the same value can be used to solve an inequality by the </a:t>
            </a:r>
            <a:r>
              <a:rPr lang="en-US" sz="2400" b="1" dirty="0">
                <a:latin typeface="Verdana"/>
                <a:ea typeface="Verdana"/>
                <a:cs typeface="Verdana"/>
              </a:rPr>
              <a:t>multiplication property of inequality.</a:t>
            </a:r>
          </a:p>
          <a:p>
            <a:endParaRPr dirty="0"/>
          </a:p>
        </p:txBody>
      </p:sp>
      <p:sp>
        <p:nvSpPr>
          <p:cNvPr id="329" name="Google Shape;329;p20"/>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FBC231AC-0432-9546-953D-9EEE012C3382}"/>
              </a:ext>
            </a:extLst>
          </p:cNvPr>
          <p:cNvGrpSpPr/>
          <p:nvPr/>
        </p:nvGrpSpPr>
        <p:grpSpPr>
          <a:xfrm>
            <a:off x="2856633" y="2516805"/>
            <a:ext cx="6629400" cy="1816041"/>
            <a:chOff x="2031300" y="3252877"/>
            <a:chExt cx="6629400" cy="1816426"/>
          </a:xfrm>
        </p:grpSpPr>
        <p:grpSp>
          <p:nvGrpSpPr>
            <p:cNvPr id="7" name="Group 6">
              <a:extLst>
                <a:ext uri="{FF2B5EF4-FFF2-40B4-BE49-F238E27FC236}">
                  <a16:creationId xmlns:a16="http://schemas.microsoft.com/office/drawing/2014/main" id="{075A9DA3-D2AC-E04F-A3C7-D8A8D4D730DE}"/>
                </a:ext>
              </a:extLst>
            </p:cNvPr>
            <p:cNvGrpSpPr/>
            <p:nvPr/>
          </p:nvGrpSpPr>
          <p:grpSpPr>
            <a:xfrm>
              <a:off x="2031300" y="3252877"/>
              <a:ext cx="6629400" cy="1816426"/>
              <a:chOff x="2031300" y="3252877"/>
              <a:chExt cx="6629400" cy="1816426"/>
            </a:xfrm>
          </p:grpSpPr>
          <p:sp>
            <p:nvSpPr>
              <p:cNvPr id="8" name="Rectangle 7">
                <a:extLst>
                  <a:ext uri="{FF2B5EF4-FFF2-40B4-BE49-F238E27FC236}">
                    <a16:creationId xmlns:a16="http://schemas.microsoft.com/office/drawing/2014/main" id="{6702B75C-6785-154C-AA69-290CCB963EE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2EAE43E9-0EB0-DD46-9A0A-4180ED33B97D}"/>
                  </a:ext>
                </a:extLst>
              </p:cNvPr>
              <p:cNvGrpSpPr/>
              <p:nvPr/>
            </p:nvGrpSpPr>
            <p:grpSpPr>
              <a:xfrm>
                <a:off x="2031300" y="3252877"/>
                <a:ext cx="6629400" cy="1816426"/>
                <a:chOff x="2031300" y="3252877"/>
                <a:chExt cx="6629400" cy="1816426"/>
              </a:xfrm>
            </p:grpSpPr>
            <p:sp>
              <p:nvSpPr>
                <p:cNvPr id="10" name="Rectangle 9">
                  <a:extLst>
                    <a:ext uri="{FF2B5EF4-FFF2-40B4-BE49-F238E27FC236}">
                      <a16:creationId xmlns:a16="http://schemas.microsoft.com/office/drawing/2014/main" id="{B54111E4-5169-134C-B3ED-2F9C44D3957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7E368032-33F0-154D-94AE-1BC8D579C0EF}"/>
                    </a:ext>
                  </a:extLst>
                </p:cNvPr>
                <p:cNvGrpSpPr/>
                <p:nvPr/>
              </p:nvGrpSpPr>
              <p:grpSpPr>
                <a:xfrm>
                  <a:off x="2031300" y="3252877"/>
                  <a:ext cx="6629400" cy="1816426"/>
                  <a:chOff x="2031300" y="3252877"/>
                  <a:chExt cx="6629400" cy="1816426"/>
                </a:xfrm>
              </p:grpSpPr>
              <p:sp>
                <p:nvSpPr>
                  <p:cNvPr id="12" name="Rectangle 11">
                    <a:extLst>
                      <a:ext uri="{FF2B5EF4-FFF2-40B4-BE49-F238E27FC236}">
                        <a16:creationId xmlns:a16="http://schemas.microsoft.com/office/drawing/2014/main" id="{63F3F8A8-C8D6-2D46-8788-27364CA4320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A7A666DC-00E4-3D4D-93F8-8152FD4461C6}"/>
                      </a:ext>
                    </a:extLst>
                  </p:cNvPr>
                  <p:cNvGrpSpPr/>
                  <p:nvPr/>
                </p:nvGrpSpPr>
                <p:grpSpPr>
                  <a:xfrm>
                    <a:off x="2031300" y="3252877"/>
                    <a:ext cx="6629400" cy="1816426"/>
                    <a:chOff x="2031300" y="3252877"/>
                    <a:chExt cx="6629400" cy="1816426"/>
                  </a:xfrm>
                </p:grpSpPr>
                <p:sp>
                  <p:nvSpPr>
                    <p:cNvPr id="14" name="Rectangle 13">
                      <a:extLst>
                        <a:ext uri="{FF2B5EF4-FFF2-40B4-BE49-F238E27FC236}">
                          <a16:creationId xmlns:a16="http://schemas.microsoft.com/office/drawing/2014/main" id="{24ED34C9-0D18-8248-9228-D2358D1D2E9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39915C5E-B6E5-4847-BD64-B189569AC3D4}"/>
                        </a:ext>
                      </a:extLst>
                    </p:cNvPr>
                    <p:cNvGrpSpPr/>
                    <p:nvPr/>
                  </p:nvGrpSpPr>
                  <p:grpSpPr>
                    <a:xfrm>
                      <a:off x="2031300" y="3252877"/>
                      <a:ext cx="6629400" cy="1816426"/>
                      <a:chOff x="2031300" y="3262288"/>
                      <a:chExt cx="6629400" cy="1783996"/>
                    </a:xfrm>
                  </p:grpSpPr>
                  <p:sp>
                    <p:nvSpPr>
                      <p:cNvPr id="16" name="Rectangle 15">
                        <a:extLst>
                          <a:ext uri="{FF2B5EF4-FFF2-40B4-BE49-F238E27FC236}">
                            <a16:creationId xmlns:a16="http://schemas.microsoft.com/office/drawing/2014/main" id="{3518E575-5C47-204C-9C75-3E62F61381B7}"/>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C21370A5-6B7C-884C-91AE-19E0EB5D2FB8}"/>
                          </a:ext>
                        </a:extLst>
                      </p:cNvPr>
                      <p:cNvGrpSpPr/>
                      <p:nvPr/>
                    </p:nvGrpSpPr>
                    <p:grpSpPr>
                      <a:xfrm>
                        <a:off x="2031300" y="3262288"/>
                        <a:ext cx="6629400" cy="1783996"/>
                        <a:chOff x="2031300" y="3373600"/>
                        <a:chExt cx="6629400" cy="1783996"/>
                      </a:xfrm>
                    </p:grpSpPr>
                    <p:sp>
                      <p:nvSpPr>
                        <p:cNvPr id="18" name="Rectangle 17">
                          <a:extLst>
                            <a:ext uri="{FF2B5EF4-FFF2-40B4-BE49-F238E27FC236}">
                              <a16:creationId xmlns:a16="http://schemas.microsoft.com/office/drawing/2014/main" id="{B12B7D64-4B43-5249-9C9E-0E4282CACB4B}"/>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46A1FD21-09D4-0A45-AAF5-A79B3A749674}"/>
                            </a:ext>
                          </a:extLst>
                        </p:cNvPr>
                        <p:cNvGrpSpPr/>
                        <p:nvPr/>
                      </p:nvGrpSpPr>
                      <p:grpSpPr>
                        <a:xfrm>
                          <a:off x="2031300" y="3373600"/>
                          <a:ext cx="6629400" cy="1783996"/>
                          <a:chOff x="2031300" y="3373600"/>
                          <a:chExt cx="6629400" cy="1783996"/>
                        </a:xfrm>
                      </p:grpSpPr>
                      <p:sp>
                        <p:nvSpPr>
                          <p:cNvPr id="20" name="Rectangle 19">
                            <a:extLst>
                              <a:ext uri="{FF2B5EF4-FFF2-40B4-BE49-F238E27FC236}">
                                <a16:creationId xmlns:a16="http://schemas.microsoft.com/office/drawing/2014/main" id="{BBC8AE0D-975C-6C4E-B460-921934F124E8}"/>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771ECA87-6F52-9647-81E1-22F6142315C9}"/>
                              </a:ext>
                            </a:extLst>
                          </p:cNvPr>
                          <p:cNvGrpSpPr/>
                          <p:nvPr/>
                        </p:nvGrpSpPr>
                        <p:grpSpPr>
                          <a:xfrm>
                            <a:off x="2031300" y="3373600"/>
                            <a:ext cx="6629400" cy="1783996"/>
                            <a:chOff x="0" y="0"/>
                            <a:chExt cx="6629400" cy="1783996"/>
                          </a:xfrm>
                        </p:grpSpPr>
                        <p:sp>
                          <p:nvSpPr>
                            <p:cNvPr id="22" name="Rectangle 21">
                              <a:extLst>
                                <a:ext uri="{FF2B5EF4-FFF2-40B4-BE49-F238E27FC236}">
                                  <a16:creationId xmlns:a16="http://schemas.microsoft.com/office/drawing/2014/main" id="{49EDBFE6-DA36-8E46-8479-176CCBC5CFA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40C7D869-9763-3F42-833D-F33794FB8AFB}"/>
                                    </a:ext>
                                  </a:extLst>
                                </p:cNvPr>
                                <p:cNvSpPr/>
                                <p:nvPr/>
                              </p:nvSpPr>
                              <p:spPr>
                                <a:xfrm>
                                  <a:off x="0" y="0"/>
                                  <a:ext cx="6629400" cy="178399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Multiplication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 _____ </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&lt;0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 _____ </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3" name="Rounded Rectangle 22">
                                  <a:extLst>
                                    <a:ext uri="{FF2B5EF4-FFF2-40B4-BE49-F238E27FC236}">
                                      <a16:creationId xmlns:a16="http://schemas.microsoft.com/office/drawing/2014/main" id="{40C7D869-9763-3F42-833D-F33794FB8AFB}"/>
                                    </a:ext>
                                  </a:extLst>
                                </p:cNvPr>
                                <p:cNvSpPr>
                                  <a:spLocks noRot="1" noChangeAspect="1" noMove="1" noResize="1" noEditPoints="1" noAdjustHandles="1" noChangeArrowheads="1" noChangeShapeType="1" noTextEdit="1"/>
                                </p:cNvSpPr>
                                <p:nvPr/>
                              </p:nvSpPr>
                              <p:spPr>
                                <a:xfrm>
                                  <a:off x="0" y="0"/>
                                  <a:ext cx="6629400" cy="1783996"/>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24" name="Shape 19" descr="Icon&#10;&#10;Description automatically generated">
                              <a:extLst>
                                <a:ext uri="{FF2B5EF4-FFF2-40B4-BE49-F238E27FC236}">
                                  <a16:creationId xmlns:a16="http://schemas.microsoft.com/office/drawing/2014/main" id="{67FB60D6-80A6-6C44-AE5C-627A275064A5}"/>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11447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sp>
        <p:nvSpPr>
          <p:cNvPr id="26"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27"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939114" y="520393"/>
            <a:ext cx="10464438"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solution to both inequalities using the multiplication property of inequality.</a:t>
            </a:r>
          </a:p>
        </p:txBody>
      </p:sp>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EFCA8C2-9F5B-1248-9850-9D16B782A8BE}"/>
                  </a:ext>
                </a:extLst>
              </p:cNvPr>
              <p:cNvGraphicFramePr>
                <a:graphicFrameLocks noGrp="1"/>
              </p:cNvGraphicFramePr>
              <p:nvPr>
                <p:extLst>
                  <p:ext uri="{D42A27DB-BD31-4B8C-83A1-F6EECF244321}">
                    <p14:modId xmlns:p14="http://schemas.microsoft.com/office/powerpoint/2010/main" val="2996340223"/>
                  </p:ext>
                </p:extLst>
              </p:nvPr>
            </p:nvGraphicFramePr>
            <p:xfrm>
              <a:off x="2536233" y="1797800"/>
              <a:ext cx="7119534" cy="4402801"/>
            </p:xfrm>
            <a:graphic>
              <a:graphicData uri="http://schemas.openxmlformats.org/drawingml/2006/table">
                <a:tbl>
                  <a:tblPr firstRow="1" firstCol="1" bandRow="1">
                    <a:tableStyleId>{5C22544A-7EE6-4342-B048-85BDC9FD1C3A}</a:tableStyleId>
                  </a:tblPr>
                  <a:tblGrid>
                    <a:gridCol w="3634898">
                      <a:extLst>
                        <a:ext uri="{9D8B030D-6E8A-4147-A177-3AD203B41FA5}">
                          <a16:colId xmlns:a16="http://schemas.microsoft.com/office/drawing/2014/main" val="2888043911"/>
                        </a:ext>
                      </a:extLst>
                    </a:gridCol>
                    <a:gridCol w="3484636">
                      <a:extLst>
                        <a:ext uri="{9D8B030D-6E8A-4147-A177-3AD203B41FA5}">
                          <a16:colId xmlns:a16="http://schemas.microsoft.com/office/drawing/2014/main" val="914781832"/>
                        </a:ext>
                      </a:extLst>
                    </a:gridCol>
                  </a:tblGrid>
                  <a:tr h="4402801">
                    <a:tc>
                      <a:txBody>
                        <a:bodyPr/>
                        <a:lstStyle/>
                        <a:p>
                          <a:pPr marL="0" marR="0" algn="ctr">
                            <a:spcBef>
                              <a:spcPts val="0"/>
                            </a:spcBef>
                            <a:spcAft>
                              <a:spcPts val="0"/>
                            </a:spcAft>
                          </a:pPr>
                          <a14:m>
                            <m:oMath xmlns:m="http://schemas.openxmlformats.org/officeDocument/2006/math">
                              <m:f>
                                <m:fPr>
                                  <m:ctrlPr>
                                    <a:rPr lang="en-US" sz="2400" i="1" smtClean="0">
                                      <a:solidFill>
                                        <a:schemeClr val="tx1"/>
                                      </a:solidFill>
                                      <a:effectLst/>
                                      <a:latin typeface="Cambria Math" panose="02040503050406030204" pitchFamily="18" charset="0"/>
                                    </a:rPr>
                                  </m:ctrlPr>
                                </m:fPr>
                                <m:num>
                                  <m:r>
                                    <a:rPr lang="en-US" sz="2400">
                                      <a:solidFill>
                                        <a:schemeClr val="tx1"/>
                                      </a:solidFill>
                                      <a:effectLst/>
                                      <a:latin typeface="Cambria Math" panose="02040503050406030204" pitchFamily="18" charset="0"/>
                                    </a:rPr>
                                    <m:t>𝑦</m:t>
                                  </m:r>
                                </m:num>
                                <m:den>
                                  <m:r>
                                    <a:rPr lang="en-US" sz="2400">
                                      <a:solidFill>
                                        <a:schemeClr val="tx1"/>
                                      </a:solidFill>
                                      <a:effectLst/>
                                      <a:latin typeface="Cambria Math" panose="02040503050406030204" pitchFamily="18" charset="0"/>
                                    </a:rPr>
                                    <m:t>4</m:t>
                                  </m:r>
                                </m:den>
                              </m:f>
                              <m:r>
                                <a:rPr lang="en-US" sz="2400">
                                  <a:solidFill>
                                    <a:schemeClr val="tx1"/>
                                  </a:solidFill>
                                  <a:effectLst/>
                                  <a:latin typeface="Cambria Math" panose="02040503050406030204" pitchFamily="18" charset="0"/>
                                </a:rPr>
                                <m:t> ≤ 2.1</m:t>
                              </m:r>
                            </m:oMath>
                          </a14:m>
                          <a:r>
                            <a:rPr lang="en-US" sz="24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14:m>
                            <m:oMath xmlns:m="http://schemas.openxmlformats.org/officeDocument/2006/math">
                              <m:f>
                                <m:fPr>
                                  <m:ctrlPr>
                                    <a:rPr lang="en-US" sz="2400" i="1" smtClean="0">
                                      <a:solidFill>
                                        <a:schemeClr val="tx1"/>
                                      </a:solidFill>
                                      <a:effectLst/>
                                      <a:latin typeface="Cambria Math" panose="02040503050406030204" pitchFamily="18" charset="0"/>
                                    </a:rPr>
                                  </m:ctrlPr>
                                </m:fPr>
                                <m:num>
                                  <m:r>
                                    <a:rPr lang="en-US" sz="2400">
                                      <a:solidFill>
                                        <a:schemeClr val="tx1"/>
                                      </a:solidFill>
                                      <a:effectLst/>
                                      <a:latin typeface="Cambria Math" panose="02040503050406030204" pitchFamily="18" charset="0"/>
                                    </a:rPr>
                                    <m:t>𝑦</m:t>
                                  </m:r>
                                </m:num>
                                <m:den>
                                  <m:r>
                                    <a:rPr lang="en-US" sz="2400">
                                      <a:solidFill>
                                        <a:schemeClr val="tx1"/>
                                      </a:solidFill>
                                      <a:effectLst/>
                                      <a:latin typeface="Cambria Math" panose="02040503050406030204" pitchFamily="18" charset="0"/>
                                    </a:rPr>
                                    <m:t>−4</m:t>
                                  </m:r>
                                </m:den>
                              </m:f>
                              <m:r>
                                <a:rPr lang="en-US" sz="2400">
                                  <a:solidFill>
                                    <a:schemeClr val="tx1"/>
                                  </a:solidFill>
                                  <a:effectLst/>
                                  <a:latin typeface="Cambria Math" panose="02040503050406030204" pitchFamily="18" charset="0"/>
                                </a:rPr>
                                <m:t> ≤ 2.1</m:t>
                              </m:r>
                            </m:oMath>
                          </a14:m>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2653529"/>
                      </a:ext>
                    </a:extLst>
                  </a:tr>
                </a:tbl>
              </a:graphicData>
            </a:graphic>
          </p:graphicFrame>
        </mc:Choice>
        <mc:Fallback xmlns="">
          <p:graphicFrame>
            <p:nvGraphicFramePr>
              <p:cNvPr id="2" name="Table 1">
                <a:extLst>
                  <a:ext uri="{FF2B5EF4-FFF2-40B4-BE49-F238E27FC236}">
                    <a16:creationId xmlns:a16="http://schemas.microsoft.com/office/drawing/2014/main" id="{3EFCA8C2-9F5B-1248-9850-9D16B782A8BE}"/>
                  </a:ext>
                </a:extLst>
              </p:cNvPr>
              <p:cNvGraphicFramePr>
                <a:graphicFrameLocks noGrp="1"/>
              </p:cNvGraphicFramePr>
              <p:nvPr>
                <p:extLst>
                  <p:ext uri="{D42A27DB-BD31-4B8C-83A1-F6EECF244321}">
                    <p14:modId xmlns:p14="http://schemas.microsoft.com/office/powerpoint/2010/main" val="2996340223"/>
                  </p:ext>
                </p:extLst>
              </p:nvPr>
            </p:nvGraphicFramePr>
            <p:xfrm>
              <a:off x="1012233" y="1797799"/>
              <a:ext cx="7119534" cy="4402801"/>
            </p:xfrm>
            <a:graphic>
              <a:graphicData uri="http://schemas.openxmlformats.org/drawingml/2006/table">
                <a:tbl>
                  <a:tblPr firstRow="1" firstCol="1" bandRow="1">
                    <a:tableStyleId>{5C22544A-7EE6-4342-B048-85BDC9FD1C3A}</a:tableStyleId>
                  </a:tblPr>
                  <a:tblGrid>
                    <a:gridCol w="3634898">
                      <a:extLst>
                        <a:ext uri="{9D8B030D-6E8A-4147-A177-3AD203B41FA5}">
                          <a16:colId xmlns:a16="http://schemas.microsoft.com/office/drawing/2014/main" val="2888043911"/>
                        </a:ext>
                      </a:extLst>
                    </a:gridCol>
                    <a:gridCol w="3484636">
                      <a:extLst>
                        <a:ext uri="{9D8B030D-6E8A-4147-A177-3AD203B41FA5}">
                          <a16:colId xmlns:a16="http://schemas.microsoft.com/office/drawing/2014/main" val="914781832"/>
                        </a:ext>
                      </a:extLst>
                    </a:gridCol>
                  </a:tblGrid>
                  <a:tr h="4402801">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87" r="-96167" b="-28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364" t="-287" r="-364" b="-287"/>
                          </a:stretch>
                        </a:blipFill>
                      </a:tcPr>
                    </a:tc>
                    <a:extLst>
                      <a:ext uri="{0D108BD9-81ED-4DB2-BD59-A6C34878D82A}">
                        <a16:rowId xmlns:a16="http://schemas.microsoft.com/office/drawing/2014/main" val="492653529"/>
                      </a:ext>
                    </a:extLst>
                  </a:tr>
                </a:tbl>
              </a:graphicData>
            </a:graphic>
          </p:graphicFrame>
        </mc:Fallback>
      </mc:AlternateContent>
      <p:sp>
        <p:nvSpPr>
          <p:cNvPr id="7"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510363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pSp>
        <p:nvGrpSpPr>
          <p:cNvPr id="25" name="Group 24">
            <a:extLst>
              <a:ext uri="{FF2B5EF4-FFF2-40B4-BE49-F238E27FC236}">
                <a16:creationId xmlns:a16="http://schemas.microsoft.com/office/drawing/2014/main" id="{276EE9BD-460D-E848-8A94-515B774F2C2A}"/>
              </a:ext>
            </a:extLst>
          </p:cNvPr>
          <p:cNvGrpSpPr/>
          <p:nvPr/>
        </p:nvGrpSpPr>
        <p:grpSpPr>
          <a:xfrm>
            <a:off x="2856633" y="2516804"/>
            <a:ext cx="6629400" cy="1816040"/>
            <a:chOff x="2031300" y="3252877"/>
            <a:chExt cx="6629400" cy="1816325"/>
          </a:xfrm>
        </p:grpSpPr>
        <p:grpSp>
          <p:nvGrpSpPr>
            <p:cNvPr id="26" name="Group 25">
              <a:extLst>
                <a:ext uri="{FF2B5EF4-FFF2-40B4-BE49-F238E27FC236}">
                  <a16:creationId xmlns:a16="http://schemas.microsoft.com/office/drawing/2014/main" id="{DADA80E9-8710-D34C-9DD5-04120051082E}"/>
                </a:ext>
              </a:extLst>
            </p:cNvPr>
            <p:cNvGrpSpPr/>
            <p:nvPr/>
          </p:nvGrpSpPr>
          <p:grpSpPr>
            <a:xfrm>
              <a:off x="2031300" y="3252877"/>
              <a:ext cx="6629400" cy="1816325"/>
              <a:chOff x="2031300" y="3252877"/>
              <a:chExt cx="6629400" cy="1816325"/>
            </a:xfrm>
          </p:grpSpPr>
          <p:sp>
            <p:nvSpPr>
              <p:cNvPr id="27" name="Rectangle 26">
                <a:extLst>
                  <a:ext uri="{FF2B5EF4-FFF2-40B4-BE49-F238E27FC236}">
                    <a16:creationId xmlns:a16="http://schemas.microsoft.com/office/drawing/2014/main" id="{72B57CC9-FCE6-CE4C-A33B-070B7DCC964C}"/>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8" name="Group 27">
                <a:extLst>
                  <a:ext uri="{FF2B5EF4-FFF2-40B4-BE49-F238E27FC236}">
                    <a16:creationId xmlns:a16="http://schemas.microsoft.com/office/drawing/2014/main" id="{F5756B91-E199-8344-A321-9210C1A15D19}"/>
                  </a:ext>
                </a:extLst>
              </p:cNvPr>
              <p:cNvGrpSpPr/>
              <p:nvPr/>
            </p:nvGrpSpPr>
            <p:grpSpPr>
              <a:xfrm>
                <a:off x="2031300" y="3252877"/>
                <a:ext cx="6629400" cy="1816325"/>
                <a:chOff x="2031300" y="3252877"/>
                <a:chExt cx="6629400" cy="1816325"/>
              </a:xfrm>
            </p:grpSpPr>
            <p:sp>
              <p:nvSpPr>
                <p:cNvPr id="29" name="Rectangle 28">
                  <a:extLst>
                    <a:ext uri="{FF2B5EF4-FFF2-40B4-BE49-F238E27FC236}">
                      <a16:creationId xmlns:a16="http://schemas.microsoft.com/office/drawing/2014/main" id="{8A922836-6694-4544-AF89-7FC0CA3C3C1A}"/>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0" name="Group 29">
                  <a:extLst>
                    <a:ext uri="{FF2B5EF4-FFF2-40B4-BE49-F238E27FC236}">
                      <a16:creationId xmlns:a16="http://schemas.microsoft.com/office/drawing/2014/main" id="{20BD62DA-998A-4B45-8019-2BC3F224721C}"/>
                    </a:ext>
                  </a:extLst>
                </p:cNvPr>
                <p:cNvGrpSpPr/>
                <p:nvPr/>
              </p:nvGrpSpPr>
              <p:grpSpPr>
                <a:xfrm>
                  <a:off x="2031300" y="3252877"/>
                  <a:ext cx="6629400" cy="1816325"/>
                  <a:chOff x="2031300" y="3252877"/>
                  <a:chExt cx="6629400" cy="1816325"/>
                </a:xfrm>
              </p:grpSpPr>
              <p:sp>
                <p:nvSpPr>
                  <p:cNvPr id="31" name="Rectangle 30">
                    <a:extLst>
                      <a:ext uri="{FF2B5EF4-FFF2-40B4-BE49-F238E27FC236}">
                        <a16:creationId xmlns:a16="http://schemas.microsoft.com/office/drawing/2014/main" id="{DEDA3CE8-F62E-6847-AA2A-F1CFDC4A27A8}"/>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2" name="Group 31">
                    <a:extLst>
                      <a:ext uri="{FF2B5EF4-FFF2-40B4-BE49-F238E27FC236}">
                        <a16:creationId xmlns:a16="http://schemas.microsoft.com/office/drawing/2014/main" id="{52F29FAD-4EB7-3C4B-BA3C-3EA273E70B1C}"/>
                      </a:ext>
                    </a:extLst>
                  </p:cNvPr>
                  <p:cNvGrpSpPr/>
                  <p:nvPr/>
                </p:nvGrpSpPr>
                <p:grpSpPr>
                  <a:xfrm>
                    <a:off x="2031300" y="3252877"/>
                    <a:ext cx="6629400" cy="1816325"/>
                    <a:chOff x="2031300" y="3252877"/>
                    <a:chExt cx="6629400" cy="1816325"/>
                  </a:xfrm>
                </p:grpSpPr>
                <p:sp>
                  <p:nvSpPr>
                    <p:cNvPr id="33" name="Rectangle 32">
                      <a:extLst>
                        <a:ext uri="{FF2B5EF4-FFF2-40B4-BE49-F238E27FC236}">
                          <a16:creationId xmlns:a16="http://schemas.microsoft.com/office/drawing/2014/main" id="{D1D4677E-8A27-934F-AC6E-2DFF77DC3405}"/>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4" name="Group 33">
                      <a:extLst>
                        <a:ext uri="{FF2B5EF4-FFF2-40B4-BE49-F238E27FC236}">
                          <a16:creationId xmlns:a16="http://schemas.microsoft.com/office/drawing/2014/main" id="{B057696D-8F2A-B248-A7DB-24EC984DFEAE}"/>
                        </a:ext>
                      </a:extLst>
                    </p:cNvPr>
                    <p:cNvGrpSpPr/>
                    <p:nvPr/>
                  </p:nvGrpSpPr>
                  <p:grpSpPr>
                    <a:xfrm>
                      <a:off x="2031300" y="3252877"/>
                      <a:ext cx="6629400" cy="1816325"/>
                      <a:chOff x="2031300" y="3262288"/>
                      <a:chExt cx="6629400" cy="1783897"/>
                    </a:xfrm>
                  </p:grpSpPr>
                  <p:sp>
                    <p:nvSpPr>
                      <p:cNvPr id="35" name="Rectangle 34">
                        <a:extLst>
                          <a:ext uri="{FF2B5EF4-FFF2-40B4-BE49-F238E27FC236}">
                            <a16:creationId xmlns:a16="http://schemas.microsoft.com/office/drawing/2014/main" id="{D363A042-79C1-7147-921C-B0A0E6434F72}"/>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6" name="Group 35">
                        <a:extLst>
                          <a:ext uri="{FF2B5EF4-FFF2-40B4-BE49-F238E27FC236}">
                            <a16:creationId xmlns:a16="http://schemas.microsoft.com/office/drawing/2014/main" id="{B6759441-CA99-6542-8DD6-9194B1CE02EA}"/>
                          </a:ext>
                        </a:extLst>
                      </p:cNvPr>
                      <p:cNvGrpSpPr/>
                      <p:nvPr/>
                    </p:nvGrpSpPr>
                    <p:grpSpPr>
                      <a:xfrm>
                        <a:off x="2031300" y="3262288"/>
                        <a:ext cx="6629400" cy="1783897"/>
                        <a:chOff x="2031300" y="3373600"/>
                        <a:chExt cx="6629400" cy="1783897"/>
                      </a:xfrm>
                    </p:grpSpPr>
                    <p:sp>
                      <p:nvSpPr>
                        <p:cNvPr id="37" name="Rectangle 36">
                          <a:extLst>
                            <a:ext uri="{FF2B5EF4-FFF2-40B4-BE49-F238E27FC236}">
                              <a16:creationId xmlns:a16="http://schemas.microsoft.com/office/drawing/2014/main" id="{8396D979-66F2-7C44-8F26-A66DFCBDA81E}"/>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8" name="Group 37">
                          <a:extLst>
                            <a:ext uri="{FF2B5EF4-FFF2-40B4-BE49-F238E27FC236}">
                              <a16:creationId xmlns:a16="http://schemas.microsoft.com/office/drawing/2014/main" id="{A8BBC71B-3FFB-474E-B705-3ABF5E7208CE}"/>
                            </a:ext>
                          </a:extLst>
                        </p:cNvPr>
                        <p:cNvGrpSpPr/>
                        <p:nvPr/>
                      </p:nvGrpSpPr>
                      <p:grpSpPr>
                        <a:xfrm>
                          <a:off x="2031300" y="3373600"/>
                          <a:ext cx="6629400" cy="1783897"/>
                          <a:chOff x="2031300" y="3373600"/>
                          <a:chExt cx="6629400" cy="1783897"/>
                        </a:xfrm>
                      </p:grpSpPr>
                      <p:sp>
                        <p:nvSpPr>
                          <p:cNvPr id="39" name="Rectangle 38">
                            <a:extLst>
                              <a:ext uri="{FF2B5EF4-FFF2-40B4-BE49-F238E27FC236}">
                                <a16:creationId xmlns:a16="http://schemas.microsoft.com/office/drawing/2014/main" id="{BA2048EE-8245-424C-A52A-098630965C1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0" name="Group 39">
                            <a:extLst>
                              <a:ext uri="{FF2B5EF4-FFF2-40B4-BE49-F238E27FC236}">
                                <a16:creationId xmlns:a16="http://schemas.microsoft.com/office/drawing/2014/main" id="{94B5E8D5-8370-314B-B4A4-340062FBD171}"/>
                              </a:ext>
                            </a:extLst>
                          </p:cNvPr>
                          <p:cNvGrpSpPr/>
                          <p:nvPr/>
                        </p:nvGrpSpPr>
                        <p:grpSpPr>
                          <a:xfrm>
                            <a:off x="2031300" y="3373600"/>
                            <a:ext cx="6629400" cy="1783897"/>
                            <a:chOff x="0" y="0"/>
                            <a:chExt cx="6629400" cy="1783897"/>
                          </a:xfrm>
                        </p:grpSpPr>
                        <p:sp>
                          <p:nvSpPr>
                            <p:cNvPr id="41" name="Rectangle 40">
                              <a:extLst>
                                <a:ext uri="{FF2B5EF4-FFF2-40B4-BE49-F238E27FC236}">
                                  <a16:creationId xmlns:a16="http://schemas.microsoft.com/office/drawing/2014/main" id="{A449774F-7956-3E4D-92A3-2F8264EB3846}"/>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42" name="Rounded Rectangle 41">
                                  <a:extLst>
                                    <a:ext uri="{FF2B5EF4-FFF2-40B4-BE49-F238E27FC236}">
                                      <a16:creationId xmlns:a16="http://schemas.microsoft.com/office/drawing/2014/main" id="{6002A1E8-F835-7448-ADF0-9BFC87C3C8E9}"/>
                                    </a:ext>
                                  </a:extLst>
                                </p:cNvPr>
                                <p:cNvSpPr/>
                                <p:nvPr/>
                              </p:nvSpPr>
                              <p:spPr>
                                <a:xfrm>
                                  <a:off x="0" y="0"/>
                                  <a:ext cx="6629400" cy="1783897"/>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Division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 _____ </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&lt;0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 _____ </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42" name="Rounded Rectangle 41">
                                  <a:extLst>
                                    <a:ext uri="{FF2B5EF4-FFF2-40B4-BE49-F238E27FC236}">
                                      <a16:creationId xmlns:a16="http://schemas.microsoft.com/office/drawing/2014/main" id="{6002A1E8-F835-7448-ADF0-9BFC87C3C8E9}"/>
                                    </a:ext>
                                  </a:extLst>
                                </p:cNvPr>
                                <p:cNvSpPr>
                                  <a:spLocks noRot="1" noChangeAspect="1" noMove="1" noResize="1" noEditPoints="1" noAdjustHandles="1" noChangeArrowheads="1" noChangeShapeType="1" noTextEdit="1"/>
                                </p:cNvSpPr>
                                <p:nvPr/>
                              </p:nvSpPr>
                              <p:spPr>
                                <a:xfrm>
                                  <a:off x="0" y="0"/>
                                  <a:ext cx="6629400" cy="1783897"/>
                                </a:xfrm>
                                <a:prstGeom prst="roundRect">
                                  <a:avLst>
                                    <a:gd name="adj" fmla="val 16667"/>
                                  </a:avLst>
                                </a:prstGeom>
                                <a:blipFill>
                                  <a:blip r:embed="rId3"/>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grpSp>
                </p:grpSp>
              </p:grpSp>
            </p:grpSp>
          </p:grpSp>
        </p:grpSp>
      </p:grpSp>
      <p:sp>
        <p:nvSpPr>
          <p:cNvPr id="328" name="Google Shape;328;p20"/>
          <p:cNvSpPr txBox="1"/>
          <p:nvPr/>
        </p:nvSpPr>
        <p:spPr>
          <a:xfrm>
            <a:off x="1112108" y="520393"/>
            <a:ext cx="10118450" cy="1200288"/>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Dividing both sides of an inequality by the same value can be used to solve an inequality by the </a:t>
            </a:r>
            <a:r>
              <a:rPr lang="en-US" sz="2400" b="1" i="1" dirty="0">
                <a:latin typeface="Verdana" panose="020B0604030504040204" pitchFamily="34" charset="0"/>
                <a:ea typeface="Verdana" panose="020B0604030504040204" pitchFamily="34" charset="0"/>
                <a:cs typeface="Verdana" panose="020B0604030504040204" pitchFamily="34" charset="0"/>
              </a:rPr>
              <a:t>division property of inequality</a:t>
            </a:r>
            <a:r>
              <a:rPr lang="en-US" sz="2400" dirty="0">
                <a:latin typeface="Verdana" panose="020B0604030504040204" pitchFamily="34" charset="0"/>
                <a:ea typeface="Verdana" panose="020B0604030504040204" pitchFamily="34" charset="0"/>
                <a:cs typeface="Verdana" panose="020B0604030504040204" pitchFamily="34" charset="0"/>
              </a:rPr>
              <a:t>.</a:t>
            </a:r>
          </a:p>
        </p:txBody>
      </p:sp>
      <p:sp>
        <p:nvSpPr>
          <p:cNvPr id="329" name="Google Shape;329;p20"/>
          <p:cNvSpPr/>
          <p:nvPr/>
        </p:nvSpPr>
        <p:spPr>
          <a:xfrm>
            <a:off x="0" y="-8226"/>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4" name="Shape 19" descr="Icon&#10;&#10;Description automatically generated">
            <a:extLst>
              <a:ext uri="{FF2B5EF4-FFF2-40B4-BE49-F238E27FC236}">
                <a16:creationId xmlns:a16="http://schemas.microsoft.com/office/drawing/2014/main" id="{E7906A05-B69B-1D49-B7A8-9EC901FC5B3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995178" y="2633337"/>
            <a:ext cx="539750" cy="549445"/>
          </a:xfrm>
          <a:prstGeom prst="rect">
            <a:avLst/>
          </a:prstGeom>
          <a:noFill/>
          <a:ln>
            <a:noFill/>
          </a:ln>
          <a:effectLst>
            <a:outerShdw blurRad="50800" dist="38100" dir="2700000" algn="tl" rotWithShape="0">
              <a:prstClr val="black">
                <a:alpha val="40000"/>
              </a:prstClr>
            </a:outerShdw>
          </a:effectLst>
        </p:spPr>
      </p:pic>
      <p:sp>
        <p:nvSpPr>
          <p:cNvPr id="43"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46"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53196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988541" y="520393"/>
            <a:ext cx="10365584"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solution to both inequalities using the division property of inequality.</a:t>
            </a:r>
          </a:p>
        </p:txBody>
      </p:sp>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EFCA8C2-9F5B-1248-9850-9D16B782A8BE}"/>
                  </a:ext>
                </a:extLst>
              </p:cNvPr>
              <p:cNvGraphicFramePr>
                <a:graphicFrameLocks noGrp="1"/>
              </p:cNvGraphicFramePr>
              <p:nvPr>
                <p:extLst>
                  <p:ext uri="{D42A27DB-BD31-4B8C-83A1-F6EECF244321}">
                    <p14:modId xmlns:p14="http://schemas.microsoft.com/office/powerpoint/2010/main" val="4003529822"/>
                  </p:ext>
                </p:extLst>
              </p:nvPr>
            </p:nvGraphicFramePr>
            <p:xfrm>
              <a:off x="2536233" y="1797800"/>
              <a:ext cx="7119534" cy="4402801"/>
            </p:xfrm>
            <a:graphic>
              <a:graphicData uri="http://schemas.openxmlformats.org/drawingml/2006/table">
                <a:tbl>
                  <a:tblPr firstRow="1" firstCol="1" bandRow="1">
                    <a:tableStyleId>{5C22544A-7EE6-4342-B048-85BDC9FD1C3A}</a:tableStyleId>
                  </a:tblPr>
                  <a:tblGrid>
                    <a:gridCol w="3634898">
                      <a:extLst>
                        <a:ext uri="{9D8B030D-6E8A-4147-A177-3AD203B41FA5}">
                          <a16:colId xmlns:a16="http://schemas.microsoft.com/office/drawing/2014/main" val="2888043911"/>
                        </a:ext>
                      </a:extLst>
                    </a:gridCol>
                    <a:gridCol w="3484636">
                      <a:extLst>
                        <a:ext uri="{9D8B030D-6E8A-4147-A177-3AD203B41FA5}">
                          <a16:colId xmlns:a16="http://schemas.microsoft.com/office/drawing/2014/main" val="914781832"/>
                        </a:ext>
                      </a:extLst>
                    </a:gridCol>
                  </a:tblGrid>
                  <a:tr h="440280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n-US" sz="2400" b="1" i="1" u="none" strike="noStrike" cap="none" smtClean="0">
                                  <a:solidFill>
                                    <a:schemeClr val="tx1"/>
                                  </a:solidFill>
                                  <a:effectLst/>
                                  <a:latin typeface="Cambria Math" panose="02040503050406030204" pitchFamily="18" charset="0"/>
                                  <a:ea typeface="+mn-ea"/>
                                  <a:cs typeface="+mn-cs"/>
                                  <a:sym typeface="Arial"/>
                                </a:rPr>
                                <m:t>−25&gt;5</m:t>
                              </m:r>
                              <m:r>
                                <a:rPr lang="en-US" sz="2400" b="1" i="1" u="none" strike="noStrike" cap="none" smtClean="0">
                                  <a:solidFill>
                                    <a:schemeClr val="tx1"/>
                                  </a:solidFill>
                                  <a:effectLst/>
                                  <a:latin typeface="Cambria Math" panose="02040503050406030204" pitchFamily="18" charset="0"/>
                                  <a:ea typeface="+mn-ea"/>
                                  <a:cs typeface="+mn-cs"/>
                                  <a:sym typeface="Arial"/>
                                </a:rPr>
                                <m:t>𝑐</m:t>
                              </m:r>
                            </m:oMath>
                          </a14:m>
                          <a:r>
                            <a:rPr lang="en-US" sz="2400" b="1" i="1"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 </a:t>
                          </a:r>
                          <a:endParaRPr lang="en-US" sz="24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endParaRPr>
                        </a:p>
                        <a:p>
                          <a:pPr marL="0" marR="0" algn="ctr">
                            <a:spcBef>
                              <a:spcPts val="0"/>
                            </a:spcBef>
                            <a:spcAft>
                              <a:spcPts val="0"/>
                            </a:spcAft>
                          </a:pPr>
                          <a:endPar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n-US" sz="2400" b="1" i="1" u="none" strike="noStrike" cap="none" smtClean="0">
                                  <a:solidFill>
                                    <a:schemeClr val="tx1"/>
                                  </a:solidFill>
                                  <a:effectLst/>
                                  <a:latin typeface="Cambria Math" panose="02040503050406030204" pitchFamily="18" charset="0"/>
                                  <a:ea typeface="+mn-ea"/>
                                  <a:cs typeface="+mn-cs"/>
                                  <a:sym typeface="Arial"/>
                                </a:rPr>
                                <m:t>−25&gt;−5</m:t>
                              </m:r>
                              <m:r>
                                <a:rPr lang="en-US" sz="2400" b="1" i="1" u="none" strike="noStrike" cap="none" smtClean="0">
                                  <a:solidFill>
                                    <a:schemeClr val="tx1"/>
                                  </a:solidFill>
                                  <a:effectLst/>
                                  <a:latin typeface="Cambria Math" panose="02040503050406030204" pitchFamily="18" charset="0"/>
                                  <a:ea typeface="+mn-ea"/>
                                  <a:cs typeface="+mn-cs"/>
                                  <a:sym typeface="Arial"/>
                                </a:rPr>
                                <m:t>𝑐</m:t>
                              </m:r>
                            </m:oMath>
                          </a14:m>
                          <a:r>
                            <a:rPr lang="en-US" sz="2400" b="1" i="1"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 </a:t>
                          </a:r>
                          <a:endParaRPr lang="en-US" sz="24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endParaRPr>
                        </a:p>
                        <a:p>
                          <a:pPr marL="0" marR="0" algn="ctr">
                            <a:spcBef>
                              <a:spcPts val="0"/>
                            </a:spcBef>
                            <a:spcAft>
                              <a:spcPts val="0"/>
                            </a:spcAft>
                          </a:pPr>
                          <a:endPar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2653529"/>
                      </a:ext>
                    </a:extLst>
                  </a:tr>
                </a:tbl>
              </a:graphicData>
            </a:graphic>
          </p:graphicFrame>
        </mc:Choice>
        <mc:Fallback xmlns="">
          <p:graphicFrame>
            <p:nvGraphicFramePr>
              <p:cNvPr id="2" name="Table 1">
                <a:extLst>
                  <a:ext uri="{FF2B5EF4-FFF2-40B4-BE49-F238E27FC236}">
                    <a16:creationId xmlns:a16="http://schemas.microsoft.com/office/drawing/2014/main" id="{3EFCA8C2-9F5B-1248-9850-9D16B782A8BE}"/>
                  </a:ext>
                </a:extLst>
              </p:cNvPr>
              <p:cNvGraphicFramePr>
                <a:graphicFrameLocks noGrp="1"/>
              </p:cNvGraphicFramePr>
              <p:nvPr>
                <p:extLst>
                  <p:ext uri="{D42A27DB-BD31-4B8C-83A1-F6EECF244321}">
                    <p14:modId xmlns:p14="http://schemas.microsoft.com/office/powerpoint/2010/main" val="4003529822"/>
                  </p:ext>
                </p:extLst>
              </p:nvPr>
            </p:nvGraphicFramePr>
            <p:xfrm>
              <a:off x="1012233" y="1797799"/>
              <a:ext cx="7119534" cy="4402801"/>
            </p:xfrm>
            <a:graphic>
              <a:graphicData uri="http://schemas.openxmlformats.org/drawingml/2006/table">
                <a:tbl>
                  <a:tblPr firstRow="1" firstCol="1" bandRow="1">
                    <a:tableStyleId>{5C22544A-7EE6-4342-B048-85BDC9FD1C3A}</a:tableStyleId>
                  </a:tblPr>
                  <a:tblGrid>
                    <a:gridCol w="3634898">
                      <a:extLst>
                        <a:ext uri="{9D8B030D-6E8A-4147-A177-3AD203B41FA5}">
                          <a16:colId xmlns:a16="http://schemas.microsoft.com/office/drawing/2014/main" val="2888043911"/>
                        </a:ext>
                      </a:extLst>
                    </a:gridCol>
                    <a:gridCol w="3484636">
                      <a:extLst>
                        <a:ext uri="{9D8B030D-6E8A-4147-A177-3AD203B41FA5}">
                          <a16:colId xmlns:a16="http://schemas.microsoft.com/office/drawing/2014/main" val="914781832"/>
                        </a:ext>
                      </a:extLst>
                    </a:gridCol>
                  </a:tblGrid>
                  <a:tr h="4402801">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87" r="-96167" b="-28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364" t="-287" r="-364" b="-287"/>
                          </a:stretch>
                        </a:blipFill>
                      </a:tcPr>
                    </a:tc>
                    <a:extLst>
                      <a:ext uri="{0D108BD9-81ED-4DB2-BD59-A6C34878D82A}">
                        <a16:rowId xmlns:a16="http://schemas.microsoft.com/office/drawing/2014/main" val="492653529"/>
                      </a:ext>
                    </a:extLst>
                  </a:tr>
                </a:tbl>
              </a:graphicData>
            </a:graphic>
          </p:graphicFrame>
        </mc:Fallback>
      </mc:AlternateContent>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95703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397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378681" y="-810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14.10.7 Wrap-Up: Cool Down</a:t>
            </a:r>
            <a:endParaRPr dirty="0"/>
          </a:p>
        </p:txBody>
      </p:sp>
      <p:pic>
        <p:nvPicPr>
          <p:cNvPr id="468" name="Google Shape;468;p34"/>
          <p:cNvPicPr preferRelativeResize="0"/>
          <p:nvPr/>
        </p:nvPicPr>
        <p:blipFill rotWithShape="1">
          <a:blip r:embed="rId3">
            <a:alphaModFix/>
          </a:blip>
          <a:srcRect/>
          <a:stretch/>
        </p:blipFill>
        <p:spPr>
          <a:xfrm>
            <a:off x="631381" y="281099"/>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69" name="Google Shape;469;p34"/>
              <p:cNvSpPr txBox="1"/>
              <p:nvPr/>
            </p:nvSpPr>
            <p:spPr>
              <a:xfrm>
                <a:off x="1532238" y="1386025"/>
                <a:ext cx="9383556" cy="141573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Two inequalities are shown.</a:t>
                </a:r>
              </a:p>
              <a:p>
                <a:r>
                  <a:rPr lang="en-US" sz="2400" dirty="0">
                    <a:latin typeface="Verdana"/>
                    <a:ea typeface="Verdana"/>
                    <a:cs typeface="Verdana"/>
                  </a:rPr>
                  <a:t> </a:t>
                </a:r>
              </a:p>
              <a:p>
                <a:pPr algn="ctr"/>
                <a14:m>
                  <m:oMath xmlns:m="http://schemas.openxmlformats.org/officeDocument/2006/math">
                    <m:r>
                      <a:rPr lang="en-US" sz="2400">
                        <a:latin typeface="Cambria Math" panose="02040503050406030204" pitchFamily="18" charset="0"/>
                      </a:rPr>
                      <m:t>2.5</m:t>
                    </m:r>
                    <m:r>
                      <a:rPr lang="en-US" sz="2400">
                        <a:latin typeface="Cambria Math" panose="02040503050406030204" pitchFamily="18" charset="0"/>
                      </a:rPr>
                      <m:t>𝑥</m:t>
                    </m:r>
                    <m:r>
                      <a:rPr lang="en-US" sz="2400">
                        <a:latin typeface="Cambria Math" panose="02040503050406030204" pitchFamily="18" charset="0"/>
                      </a:rPr>
                      <m:t>≥−10</m:t>
                    </m:r>
                  </m:oMath>
                </a14:m>
                <a:r>
                  <a:rPr lang="en-US" sz="2400" dirty="0">
                    <a:latin typeface="Verdana"/>
                    <a:ea typeface="Verdana"/>
                    <a:cs typeface="Verdana"/>
                  </a:rPr>
                  <a:t> 			</a:t>
                </a:r>
                <a14:m>
                  <m:oMath xmlns:m="http://schemas.openxmlformats.org/officeDocument/2006/math">
                    <m:r>
                      <a:rPr lang="en-US" sz="2400">
                        <a:latin typeface="Cambria Math" panose="02040503050406030204" pitchFamily="18" charset="0"/>
                      </a:rPr>
                      <m:t>−2.5</m:t>
                    </m:r>
                    <m:r>
                      <a:rPr lang="en-US" sz="2400">
                        <a:latin typeface="Cambria Math" panose="02040503050406030204" pitchFamily="18" charset="0"/>
                      </a:rPr>
                      <m:t>𝑥</m:t>
                    </m:r>
                    <m:r>
                      <a:rPr lang="en-US" sz="2400">
                        <a:latin typeface="Cambria Math" panose="02040503050406030204" pitchFamily="18" charset="0"/>
                      </a:rPr>
                      <m:t>≥−10</m:t>
                    </m:r>
                  </m:oMath>
                </a14:m>
                <a:endParaRPr lang="en-US" sz="2400" dirty="0">
                  <a:latin typeface="Verdana"/>
                  <a:ea typeface="Verdana"/>
                  <a:cs typeface="Verdana"/>
                </a:endParaRPr>
              </a:p>
              <a:p>
                <a:endParaRPr dirty="0"/>
              </a:p>
            </p:txBody>
          </p:sp>
        </mc:Choice>
        <mc:Fallback xmlns="">
          <p:sp>
            <p:nvSpPr>
              <p:cNvPr id="469" name="Google Shape;469;p34"/>
              <p:cNvSpPr txBox="1">
                <a:spLocks noRot="1" noChangeAspect="1" noMove="1" noResize="1" noEditPoints="1" noAdjustHandles="1" noChangeArrowheads="1" noChangeShapeType="1" noTextEdit="1"/>
              </p:cNvSpPr>
              <p:nvPr/>
            </p:nvSpPr>
            <p:spPr>
              <a:xfrm>
                <a:off x="1532238" y="1386025"/>
                <a:ext cx="9383556" cy="1415732"/>
              </a:xfrm>
              <a:prstGeom prst="rect">
                <a:avLst/>
              </a:prstGeom>
              <a:blipFill rotWithShape="0">
                <a:blip r:embed="rId4"/>
                <a:stretch>
                  <a:fillRect l="-974" t="-3433"/>
                </a:stretch>
              </a:blipFill>
              <a:ln>
                <a:noFill/>
              </a:ln>
            </p:spPr>
            <p:txBody>
              <a:bodyPr/>
              <a:lstStyle/>
              <a:p>
                <a:r>
                  <a:rPr lang="en-US">
                    <a:noFill/>
                  </a:rPr>
                  <a:t> </a:t>
                </a:r>
              </a:p>
            </p:txBody>
          </p:sp>
        </mc:Fallback>
      </mc:AlternateContent>
      <p:sp>
        <p:nvSpPr>
          <p:cNvPr id="470" name="Google Shape;470;p34"/>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8" name="Google Shape;478;p35"/>
          <p:cNvSpPr txBox="1"/>
          <p:nvPr/>
        </p:nvSpPr>
        <p:spPr>
          <a:xfrm>
            <a:off x="1013254" y="520393"/>
            <a:ext cx="10316158" cy="104640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Complete the table to describe how the process of solving each inequality is similar and different.</a:t>
            </a:r>
          </a:p>
          <a:p>
            <a:endParaRPr dirty="0"/>
          </a:p>
        </p:txBody>
      </p:sp>
      <p:sp>
        <p:nvSpPr>
          <p:cNvPr id="479" name="Google Shape;479;p35"/>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47B648BF-94A3-4D46-B0AA-DD376F372D87}"/>
              </a:ext>
            </a:extLst>
          </p:cNvPr>
          <p:cNvGraphicFramePr>
            <a:graphicFrameLocks noGrp="1"/>
          </p:cNvGraphicFramePr>
          <p:nvPr>
            <p:extLst>
              <p:ext uri="{D42A27DB-BD31-4B8C-83A1-F6EECF244321}">
                <p14:modId xmlns:p14="http://schemas.microsoft.com/office/powerpoint/2010/main" val="878957087"/>
              </p:ext>
            </p:extLst>
          </p:nvPr>
        </p:nvGraphicFramePr>
        <p:xfrm>
          <a:off x="2895473" y="1520237"/>
          <a:ext cx="6551720" cy="4937439"/>
        </p:xfrm>
        <a:graphic>
          <a:graphicData uri="http://schemas.openxmlformats.org/drawingml/2006/table">
            <a:tbl>
              <a:tblPr firstRow="1" firstCol="1" bandRow="1">
                <a:tableStyleId>{5C22544A-7EE6-4342-B048-85BDC9FD1C3A}</a:tableStyleId>
              </a:tblPr>
              <a:tblGrid>
                <a:gridCol w="3275860">
                  <a:extLst>
                    <a:ext uri="{9D8B030D-6E8A-4147-A177-3AD203B41FA5}">
                      <a16:colId xmlns:a16="http://schemas.microsoft.com/office/drawing/2014/main" val="1089234915"/>
                    </a:ext>
                  </a:extLst>
                </a:gridCol>
                <a:gridCol w="3275860">
                  <a:extLst>
                    <a:ext uri="{9D8B030D-6E8A-4147-A177-3AD203B41FA5}">
                      <a16:colId xmlns:a16="http://schemas.microsoft.com/office/drawing/2014/main" val="1067201215"/>
                    </a:ext>
                  </a:extLst>
                </a:gridCol>
              </a:tblGrid>
              <a:tr h="788031">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How is the process of solving each inequality similar?</a:t>
                      </a:r>
                    </a:p>
                  </a:txBody>
                  <a:tcPr marL="49266" marR="4926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How is the process of solving each inequality different?</a:t>
                      </a:r>
                    </a:p>
                  </a:txBody>
                  <a:tcPr marL="49266" marR="4926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98900728"/>
                  </a:ext>
                </a:extLst>
              </a:tr>
              <a:tr h="4114479">
                <a:tc>
                  <a:txBody>
                    <a:bodyPr/>
                    <a:lstStyle/>
                    <a:p>
                      <a:pPr marL="0" marR="0" algn="ctr">
                        <a:spcBef>
                          <a:spcPts val="0"/>
                        </a:spcBef>
                        <a:spcAft>
                          <a:spcPts val="0"/>
                        </a:spcAft>
                      </a:pPr>
                      <a:r>
                        <a:rPr lang="en-US" sz="18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9266" marR="4926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49266" marR="4926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1006425"/>
                  </a:ext>
                </a:extLst>
              </a:tr>
            </a:tbl>
          </a:graphicData>
        </a:graphic>
      </p:graphicFrame>
      <p:sp>
        <p:nvSpPr>
          <p:cNvPr id="8" name="Google Shape;125;g104476d1465_1_17"/>
          <p:cNvSpPr txBox="1"/>
          <p:nvPr/>
        </p:nvSpPr>
        <p:spPr>
          <a:xfrm>
            <a:off x="874813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397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6360"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1791</Words>
  <Application>Microsoft Macintosh PowerPoint</Application>
  <PresentationFormat>Widescreen</PresentationFormat>
  <Paragraphs>315</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 Black</vt:lpstr>
      <vt:lpstr>Calibri</vt:lpstr>
      <vt:lpstr>Cambria</vt:lpstr>
      <vt:lpstr>Cambria Math</vt:lpstr>
      <vt:lpstr>Verdana</vt:lpstr>
      <vt:lpstr>Wingdings</vt:lpstr>
      <vt:lpstr>1_Office Theme</vt:lpstr>
      <vt:lpstr>  6th Grade Accelerated Math  Unit 14, Lesson 10  Solving One-Step Inequalities Using Multiplication and Division    Volume 2, pg. 391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Unit 14, Lesson 10  Solving One-Step Inequalities Using Multiplication and Division    Volume x, pg. #</dc:title>
  <dc:creator>Karen McKenzie</dc:creator>
  <cp:lastModifiedBy>Diana Barnett</cp:lastModifiedBy>
  <cp:revision>11</cp:revision>
  <dcterms:created xsi:type="dcterms:W3CDTF">2015-03-17T18:51:18Z</dcterms:created>
  <dcterms:modified xsi:type="dcterms:W3CDTF">2023-01-31T15:14:22Z</dcterms:modified>
</cp:coreProperties>
</file>