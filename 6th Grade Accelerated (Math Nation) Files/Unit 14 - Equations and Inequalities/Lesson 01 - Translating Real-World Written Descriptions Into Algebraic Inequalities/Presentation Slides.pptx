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7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v1AOZoGMRc/jZAQOOyrKqPDmP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80" autoAdjust="0"/>
    <p:restoredTop sz="94622"/>
  </p:normalViewPr>
  <p:slideViewPr>
    <p:cSldViewPr snapToGrid="0">
      <p:cViewPr varScale="1">
        <p:scale>
          <a:sx n="50" d="100"/>
          <a:sy n="50" d="100"/>
        </p:scale>
        <p:origin x="60" y="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340940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2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1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24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Translating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Written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Descriptions into Algebraic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Inequalities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24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335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sp>
        <p:nvSpPr>
          <p:cNvPr id="114" name="Google Shape;114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5" name="Google Shape;115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610600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2" name="Google Shape;122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05413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913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4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1690350" y="1600200"/>
            <a:ext cx="8811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MA.6.AR.1.2</a:t>
            </a:r>
            <a:endParaRPr sz="2400" dirty="0"/>
          </a:p>
          <a:p>
            <a:pPr marL="460375"/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Translate a real-world written description into an algebraic inequality in the form of x &gt; a,      x &lt; a, x ≥ a, or x ≤ a. Represent the inequality on a number line.</a:t>
            </a:r>
            <a:endParaRPr sz="2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68" y="3760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34" name="Google Shape;134;p1"/>
          <p:cNvSpPr txBox="1"/>
          <p:nvPr/>
        </p:nvSpPr>
        <p:spPr>
          <a:xfrm>
            <a:off x="1475206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5" name="Google Shape;135;p1"/>
          <p:cNvSpPr txBox="1"/>
          <p:nvPr/>
        </p:nvSpPr>
        <p:spPr>
          <a:xfrm>
            <a:off x="1475206" y="1455367"/>
            <a:ext cx="972152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2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buSzPts val="22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buSzPts val="22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2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/>
        </p:nvSpPr>
        <p:spPr>
          <a:xfrm>
            <a:off x="146973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/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56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6" name="Google Shape;146;p2"/>
          <p:cNvSpPr txBox="1"/>
          <p:nvPr/>
        </p:nvSpPr>
        <p:spPr>
          <a:xfrm>
            <a:off x="1690350" y="1600200"/>
            <a:ext cx="8811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translate a written description into an algebraic inequality.</a:t>
            </a:r>
            <a:endParaRPr sz="2400" dirty="0"/>
          </a:p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represent an inequality on a number line when given a written description of a real-world context.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7" name="Google Shape;157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/>
        </p:nvSpPr>
        <p:spPr>
          <a:xfrm>
            <a:off x="1421849" y="60325"/>
            <a:ext cx="106197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14.1.1 Warm-Up: </a:t>
            </a:r>
            <a:r>
              <a:rPr lang="en-US" sz="3600" b="1" dirty="0" err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Jumbotron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 Estimation</a:t>
            </a:r>
            <a:endParaRPr dirty="0"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5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Google Shape;167;p4"/>
              <p:cNvSpPr txBox="1"/>
              <p:nvPr/>
            </p:nvSpPr>
            <p:spPr>
              <a:xfrm>
                <a:off x="1543050" y="1386025"/>
                <a:ext cx="9361932" cy="4647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In the U.S., the average LCD TV screen has a width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3.63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feet (ft) and a height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2.04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ft. </a:t>
                </a:r>
                <a:endParaRPr dirty="0"/>
              </a:p>
              <a:p>
                <a:endParaRPr sz="18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r>
                  <a:rPr lang="en-US" sz="2400" dirty="0" err="1">
                    <a:latin typeface="Verdana"/>
                    <a:ea typeface="Verdana"/>
                    <a:cs typeface="Verdana"/>
                    <a:sym typeface="Verdana"/>
                  </a:rPr>
                  <a:t>Doak</a:t>
                </a: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Campbell stadium has a jumbotron screen with a width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119.7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ft and a height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56.7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ft. </a:t>
                </a:r>
                <a:endParaRPr dirty="0"/>
              </a:p>
              <a:p>
                <a:endParaRPr sz="18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SzPts val="2400"/>
                  <a:buFont typeface="Arial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Estimate how many TV screens can be laid on top of the jumbotron at </a:t>
                </a:r>
                <a:r>
                  <a:rPr lang="en-US" sz="2400" dirty="0" err="1">
                    <a:latin typeface="Verdana"/>
                    <a:ea typeface="Verdana"/>
                    <a:cs typeface="Verdana"/>
                    <a:sym typeface="Verdana"/>
                  </a:rPr>
                  <a:t>Doak</a:t>
                </a: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Campbell stadium.</a:t>
                </a:r>
                <a:endParaRPr dirty="0"/>
              </a:p>
              <a:p>
                <a:pPr marL="457200" indent="-342900">
                  <a:buSzPts val="1800"/>
                </a:pPr>
                <a:endParaRPr sz="18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304800">
                  <a:buSzPts val="2400"/>
                </a:pPr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SzPts val="2400"/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Explain how you found your estimate.</a:t>
                </a:r>
                <a:endParaRPr dirty="0"/>
              </a:p>
            </p:txBody>
          </p:sp>
        </mc:Choice>
        <mc:Fallback xmlns="">
          <p:sp>
            <p:nvSpPr>
              <p:cNvPr id="167" name="Google Shape;167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050" y="1386025"/>
                <a:ext cx="9361932" cy="4647386"/>
              </a:xfrm>
              <a:prstGeom prst="rect">
                <a:avLst/>
              </a:prstGeom>
              <a:blipFill>
                <a:blip r:embed="rId4"/>
                <a:stretch>
                  <a:fillRect l="-977" t="-1180" r="-1693" b="-1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Google Shape;168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8" name="Google Shape;178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Google Shape;185;p10"/>
              <p:cNvSpPr txBox="1"/>
              <p:nvPr/>
            </p:nvSpPr>
            <p:spPr>
              <a:xfrm>
                <a:off x="1417350" y="1386026"/>
                <a:ext cx="9865525" cy="4524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SzPts val="2800"/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Complete the following problems.</a:t>
                </a:r>
              </a:p>
              <a:p>
                <a:pPr marL="457200" indent="-457200">
                  <a:buSzPts val="2800"/>
                  <a:buFont typeface="+mj-lt"/>
                  <a:buAutoNum type="arabicPeriod"/>
                </a:pPr>
                <a:endParaRPr sz="2400" dirty="0"/>
              </a:p>
              <a:p>
                <a:pPr marL="922338" lvl="2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Choose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-value that will make the inequality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  <a:sym typeface="Verdana"/>
                      </a:rPr>
                      <m:t>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true.</a:t>
                </a:r>
              </a:p>
              <a:p>
                <a:pPr marL="922338" lvl="2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lvl="2" indent="-457200">
                  <a:buFont typeface="+mj-lt"/>
                  <a:buAutoNum type="alphaLcPeriod"/>
                </a:pPr>
                <a:endParaRPr lang="en-US" sz="2400" dirty="0">
                  <a:ea typeface="Verdana"/>
                </a:endParaRPr>
              </a:p>
              <a:p>
                <a:pPr marL="922338" lvl="2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Choose an x-value that will make the inequality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≤50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false.</a:t>
                </a:r>
              </a:p>
              <a:p>
                <a:pPr marL="922338" lvl="2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lvl="2" indent="-457200">
                  <a:buFont typeface="+mj-lt"/>
                  <a:buAutoNum type="alphaLcPeriod"/>
                </a:pPr>
                <a:endParaRPr sz="2400" dirty="0"/>
              </a:p>
              <a:p>
                <a:pPr marL="922338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Have your partner verify your choices are correct.</a:t>
                </a:r>
                <a:endParaRPr sz="2400" dirty="0"/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185" name="Google Shape;185;p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50" y="1386026"/>
                <a:ext cx="9865525" cy="4524275"/>
              </a:xfrm>
              <a:prstGeom prst="rect">
                <a:avLst/>
              </a:prstGeom>
              <a:blipFill>
                <a:blip r:embed="rId3"/>
                <a:stretch>
                  <a:fillRect l="-1298" t="-24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Google Shape;187;p10"/>
          <p:cNvSpPr txBox="1"/>
          <p:nvPr/>
        </p:nvSpPr>
        <p:spPr>
          <a:xfrm>
            <a:off x="1421394" y="9904"/>
            <a:ext cx="107706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14.1.2 Exploration: Representing Inequalities on a Number Line</a:t>
            </a:r>
            <a:endParaRPr sz="1200" dirty="0"/>
          </a:p>
        </p:txBody>
      </p:sp>
      <p:pic>
        <p:nvPicPr>
          <p:cNvPr id="188" name="Google Shape;188;p10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5097" y="258029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9" name="Google Shape;189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Google Shape;197;p11"/>
              <p:cNvSpPr txBox="1"/>
              <p:nvPr/>
            </p:nvSpPr>
            <p:spPr>
              <a:xfrm>
                <a:off x="1271588" y="520393"/>
                <a:ext cx="9534958" cy="58477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99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What is the x-value that is true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≤50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but false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&lt;50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?</a:t>
                </a:r>
                <a:endParaRPr lang="en-US" dirty="0">
                  <a:ea typeface="Verdana"/>
                </a:endParaRPr>
              </a:p>
              <a:p>
                <a:pPr marL="4699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699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The number line below represents all of the x-values that are true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≤50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. </a:t>
                </a:r>
                <a:endParaRPr dirty="0"/>
              </a:p>
              <a:p>
                <a:pPr marL="12700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12700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12700"/>
                <a:endParaRPr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60375"/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The number line below represents all of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-values that are true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&lt;50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.</a:t>
                </a:r>
                <a:endParaRPr dirty="0"/>
              </a:p>
              <a:p>
                <a:pPr marL="12700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12700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12700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60375"/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How is the graph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&lt;50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different from the graph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≤50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?</a:t>
                </a:r>
                <a:endParaRPr dirty="0"/>
              </a:p>
              <a:p>
                <a:pPr marL="465138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197" name="Google Shape;197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88" y="520393"/>
                <a:ext cx="9534958" cy="5847714"/>
              </a:xfrm>
              <a:prstGeom prst="rect">
                <a:avLst/>
              </a:prstGeom>
              <a:blipFill>
                <a:blip r:embed="rId3"/>
                <a:stretch>
                  <a:fillRect l="-895" t="-938" r="-15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Google Shape;198;p11"/>
          <p:cNvSpPr/>
          <p:nvPr/>
        </p:nvSpPr>
        <p:spPr>
          <a:xfrm>
            <a:off x="0" y="1120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9503" y="2477514"/>
            <a:ext cx="8900690" cy="57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1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9503" y="4433629"/>
            <a:ext cx="8951864" cy="5562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Google Shape;209;p3"/>
              <p:cNvSpPr txBox="1"/>
              <p:nvPr/>
            </p:nvSpPr>
            <p:spPr>
              <a:xfrm>
                <a:off x="1328738" y="520394"/>
                <a:ext cx="9685190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Complete the following. </a:t>
                </a:r>
              </a:p>
              <a:p>
                <a:endParaRPr sz="2400" dirty="0"/>
              </a:p>
              <a:p>
                <a:pPr marL="922338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How are the solutions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≥−23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&gt;−23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the same? </a:t>
                </a:r>
              </a:p>
              <a:p>
                <a:pPr marL="922338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57200">
                  <a:buFont typeface="+mj-lt"/>
                  <a:buAutoNum type="alphaLcPeriod"/>
                </a:pPr>
                <a:endParaRPr lang="en-US" sz="2400" dirty="0">
                  <a:ea typeface="Verdana"/>
                </a:endParaRPr>
              </a:p>
              <a:p>
                <a:pPr marL="922338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How are the solutions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≥−23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&gt;−23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different? </a:t>
                </a:r>
                <a:endParaRPr sz="2400" dirty="0"/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09" name="Google Shape;209;p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738" y="520394"/>
                <a:ext cx="9685190" cy="3785611"/>
              </a:xfrm>
              <a:prstGeom prst="rect">
                <a:avLst/>
              </a:prstGeom>
              <a:blipFill>
                <a:blip r:embed="rId3"/>
                <a:stretch>
                  <a:fillRect l="-1007" t="-1288" r="-10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Google Shape;218;p36"/>
              <p:cNvSpPr txBox="1"/>
              <p:nvPr/>
            </p:nvSpPr>
            <p:spPr>
              <a:xfrm>
                <a:off x="1371600" y="520394"/>
                <a:ext cx="9599466" cy="4154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2338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Graph the solutions to each inequality on the number lines. </a:t>
                </a:r>
                <a:endParaRPr dirty="0"/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Verdana"/>
                          <a:cs typeface="Verdana"/>
                          <a:sym typeface="Verdana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Verdana"/>
                          <a:cs typeface="Verdana"/>
                          <a:sym typeface="Verdana"/>
                        </a:rPr>
                        <m:t>≥−23</m:t>
                      </m:r>
                    </m:oMath>
                  </m:oMathPara>
                </a14:m>
                <a:endParaRPr dirty="0"/>
              </a:p>
              <a:p>
                <a:pPr algn="ctr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Verdana"/>
                          <a:cs typeface="Verdana"/>
                          <a:sym typeface="Verdana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Verdana"/>
                          <a:cs typeface="Verdana"/>
                          <a:sym typeface="Verdana"/>
                        </a:rPr>
                        <m:t>&gt;−23</m:t>
                      </m:r>
                    </m:oMath>
                  </m:oMathPara>
                </a14:m>
                <a:endParaRPr dirty="0"/>
              </a:p>
              <a:p>
                <a:pPr algn="ctr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/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18" name="Google Shape;218;p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20394"/>
                <a:ext cx="9599466" cy="4154943"/>
              </a:xfrm>
              <a:prstGeom prst="rect">
                <a:avLst/>
              </a:prstGeom>
              <a:blipFill>
                <a:blip r:embed="rId3"/>
                <a:stretch>
                  <a:fillRect t="-1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9" name="Google Shape;219;p3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1574" y="2423242"/>
            <a:ext cx="8926426" cy="54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6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1574" y="4263325"/>
            <a:ext cx="8926426" cy="4907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9" name="Google Shape;229;p37"/>
          <p:cNvSpPr txBox="1"/>
          <p:nvPr/>
        </p:nvSpPr>
        <p:spPr>
          <a:xfrm>
            <a:off x="805375" y="605180"/>
            <a:ext cx="3495163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0375" indent="-460375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Complete the following.</a:t>
            </a:r>
          </a:p>
          <a:p>
            <a:pPr marL="460375" indent="-460375">
              <a:buFont typeface="+mj-lt"/>
              <a:buAutoNum type="arabicPeriod" startAt="3"/>
            </a:pPr>
            <a:endParaRPr lang="en-US" sz="2000" dirty="0">
              <a:ea typeface="Verdana"/>
            </a:endParaRPr>
          </a:p>
          <a:p>
            <a:pPr marL="922338" indent="-461963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With your partner, determine which inequality best represents each context.</a:t>
            </a:r>
            <a:endParaRPr sz="2000" dirty="0"/>
          </a:p>
        </p:txBody>
      </p:sp>
      <p:pic>
        <p:nvPicPr>
          <p:cNvPr id="230" name="Google Shape;230;p3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6412" y="139592"/>
            <a:ext cx="4618263" cy="65181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Google Shape;239;p38"/>
              <p:cNvSpPr txBox="1"/>
              <p:nvPr/>
            </p:nvSpPr>
            <p:spPr>
              <a:xfrm>
                <a:off x="1128713" y="500969"/>
                <a:ext cx="10085240" cy="48936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In which, if any, of these situations does a value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make sense given the context?</a:t>
                </a: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400" dirty="0"/>
              </a:p>
              <a:p>
                <a:pPr marL="922338" indent="-461963">
                  <a:buFont typeface="+mj-lt"/>
                  <a:buAutoNum type="alphaLcPeriod" startAt="2"/>
                </a:pPr>
                <a:endParaRPr sz="2400" dirty="0"/>
              </a:p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In which, if any, of these situations does a negative number make sense given the context?</a:t>
                </a: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sz="2400" dirty="0"/>
              </a:p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In which, if any, of these situations does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1,000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make sense given the context?</a:t>
                </a:r>
                <a:endParaRPr sz="2400" dirty="0"/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39" name="Google Shape;239;p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713" y="500969"/>
                <a:ext cx="10085240" cy="4893607"/>
              </a:xfrm>
              <a:prstGeom prst="rect">
                <a:avLst/>
              </a:prstGeom>
              <a:blipFill>
                <a:blip r:embed="rId3"/>
                <a:stretch>
                  <a:fillRect t="-11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8" name="Google Shape;248;p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9" name="Google Shape;249;p3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/>
        </p:nvSpPr>
        <p:spPr>
          <a:xfrm>
            <a:off x="1420595" y="14771"/>
            <a:ext cx="107714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14.1.3 Guided Practice: Translating a Written Description into an Algebraic Inequality</a:t>
            </a:r>
            <a:endParaRPr sz="1200" dirty="0"/>
          </a:p>
        </p:txBody>
      </p:sp>
      <p:pic>
        <p:nvPicPr>
          <p:cNvPr id="258" name="Google Shape;258;p4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788" y="18079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Google Shape;259;p40"/>
              <p:cNvSpPr txBox="1"/>
              <p:nvPr/>
            </p:nvSpPr>
            <p:spPr>
              <a:xfrm>
                <a:off x="1420595" y="1386026"/>
                <a:ext cx="9606842" cy="3046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SzPts val="2600"/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According to the Interstate Highway Standards, U.S. and state highway traffic lanes must be at least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15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feet wide. </a:t>
                </a:r>
              </a:p>
              <a:p>
                <a:pPr marL="457200" indent="-457200">
                  <a:buSzPts val="2600"/>
                  <a:buFont typeface="+mj-lt"/>
                  <a:buAutoNum type="arabicPeriod"/>
                </a:pPr>
                <a:endParaRPr sz="2400" dirty="0"/>
              </a:p>
              <a:p>
                <a:pPr marL="917575" indent="-457200">
                  <a:buSzPts val="2600"/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Write an inequality to represent the width,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𝑤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, that traffic lanes can be. </a:t>
                </a:r>
              </a:p>
              <a:p>
                <a:pPr marL="917575" indent="-457200">
                  <a:buSzPts val="2600"/>
                  <a:buFont typeface="+mj-lt"/>
                  <a:buAutoNum type="alphaLcPeriod"/>
                </a:pPr>
                <a:endParaRPr sz="2400" dirty="0"/>
              </a:p>
              <a:p>
                <a:pPr marL="922338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Represent the inequality on the number line.</a:t>
                </a:r>
                <a:endParaRPr sz="2400" dirty="0"/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59" name="Google Shape;259;p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595" y="1386026"/>
                <a:ext cx="9606842" cy="3046948"/>
              </a:xfrm>
              <a:prstGeom prst="rect">
                <a:avLst/>
              </a:prstGeom>
              <a:blipFill>
                <a:blip r:embed="rId4"/>
                <a:stretch>
                  <a:fillRect l="-1142" t="-2600" r="-1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Google Shape;260;p4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1" name="Google Shape;261;p40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624" y="4655035"/>
            <a:ext cx="8846784" cy="7178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/>
        </p:nvSpPr>
        <p:spPr>
          <a:xfrm>
            <a:off x="857250" y="520394"/>
            <a:ext cx="10628166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2338" indent="-461963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List two examples of possible widths, in feet, for the traffic lane. </a:t>
            </a: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sz="2400" dirty="0"/>
          </a:p>
          <a:p>
            <a:pPr marL="922338" indent="-461963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Give one example of a width that is true for the inequality but does not make sense in the real world. </a:t>
            </a:r>
            <a:endParaRPr sz="2400" dirty="0"/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5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Google Shape;278;p42"/>
              <p:cNvSpPr txBox="1"/>
              <p:nvPr/>
            </p:nvSpPr>
            <p:spPr>
              <a:xfrm>
                <a:off x="1171576" y="383052"/>
                <a:ext cx="10281440" cy="48936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5138" indent="-465138"/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2. High-altitude parachute jumps are usually made for an altitude that is no more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35,000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feet to avoid frostbite from extreme cold. </a:t>
                </a:r>
              </a:p>
              <a:p>
                <a:pPr marL="465138" indent="-465138"/>
                <a:endParaRPr sz="2400" dirty="0"/>
              </a:p>
              <a:p>
                <a:pPr marL="922338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If h represents the height of a jumper, write an inequality to describe all possible values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h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.</a:t>
                </a:r>
              </a:p>
              <a:p>
                <a:pPr marL="922338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57200">
                  <a:buFont typeface="+mj-lt"/>
                  <a:buAutoNum type="alphaLcPeriod"/>
                </a:pPr>
                <a:endParaRPr sz="2400" dirty="0"/>
              </a:p>
              <a:p>
                <a:pPr marL="922338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Represent the inequality on the number line.</a:t>
                </a:r>
                <a:endParaRPr sz="2400" dirty="0"/>
              </a:p>
              <a:p>
                <a:pPr marL="922338" indent="-457200">
                  <a:buFont typeface="+mj-lt"/>
                  <a:buAutoNum type="alphaLcPeriod"/>
                </a:pPr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78" name="Google Shape;278;p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76" y="383052"/>
                <a:ext cx="10281440" cy="4893607"/>
              </a:xfrm>
              <a:prstGeom prst="rect">
                <a:avLst/>
              </a:prstGeom>
              <a:blipFill>
                <a:blip r:embed="rId3"/>
                <a:stretch>
                  <a:fillRect l="-889" t="-9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Google Shape;279;p4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6135" y="4382440"/>
            <a:ext cx="8900690" cy="6844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Google Shape;288;p43"/>
              <p:cNvSpPr txBox="1"/>
              <p:nvPr/>
            </p:nvSpPr>
            <p:spPr>
              <a:xfrm>
                <a:off x="1100138" y="520394"/>
                <a:ext cx="10142390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517525" indent="-517525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Does the inequality that represents the situation include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as a possible height? </a:t>
                </a:r>
              </a:p>
              <a:p>
                <a:pPr marL="517525" indent="-517525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517525" indent="-517525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517525" indent="-517525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</a:t>
                </a:r>
              </a:p>
              <a:p>
                <a:endParaRPr sz="2400" dirty="0"/>
              </a:p>
              <a:p>
                <a:pPr marL="517525" indent="-517525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Explain why a negative number does not make sense for this context.</a:t>
                </a:r>
                <a:endParaRPr sz="2400" dirty="0"/>
              </a:p>
              <a:p>
                <a:endParaRPr sz="2400" dirty="0"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88" name="Google Shape;288;p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38" y="520394"/>
                <a:ext cx="10142390" cy="3785611"/>
              </a:xfrm>
              <a:prstGeom prst="rect">
                <a:avLst/>
              </a:prstGeom>
              <a:blipFill>
                <a:blip r:embed="rId3"/>
                <a:stretch>
                  <a:fillRect l="-901" t="-1449" r="-16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Google Shape;289;p4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8" name="Google Shape;298;p15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9" name="Google Shape;29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/>
          <p:nvPr/>
        </p:nvSpPr>
        <p:spPr>
          <a:xfrm>
            <a:off x="1262550" y="60326"/>
            <a:ext cx="109294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14.1.4 Try It: Writing an Algebraic Inequality and Representing It on a Number Line</a:t>
            </a:r>
            <a:endParaRPr sz="1200"/>
          </a:p>
        </p:txBody>
      </p:sp>
      <p:pic>
        <p:nvPicPr>
          <p:cNvPr id="308" name="Google Shape;308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108" y="33275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Google Shape;309;p16"/>
              <p:cNvSpPr txBox="1"/>
              <p:nvPr/>
            </p:nvSpPr>
            <p:spPr>
              <a:xfrm>
                <a:off x="700088" y="1386026"/>
                <a:ext cx="11047856" cy="48936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The inequality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67.85≤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represents the amount of money,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, Edin needs to earn to buy a new bike. </a:t>
                </a:r>
              </a:p>
              <a:p>
                <a:pPr marL="457200" indent="-457200">
                  <a:buAutoNum type="arabicPeriod"/>
                </a:pPr>
                <a:endParaRPr sz="2400" dirty="0"/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Graph the inequality. </a:t>
                </a:r>
              </a:p>
              <a:p>
                <a:pPr marL="922338" indent="-461963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Give one value that is true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67.85≤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but is unreasonable for the context.</a:t>
                </a:r>
                <a:endParaRPr lang="en-US" sz="2400" dirty="0">
                  <a:ea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Explain why the value you chose is unreasonable.</a:t>
                </a:r>
                <a:endParaRPr lang="en-US" sz="2400" dirty="0"/>
              </a:p>
            </p:txBody>
          </p:sp>
        </mc:Choice>
        <mc:Fallback xmlns="">
          <p:sp>
            <p:nvSpPr>
              <p:cNvPr id="309" name="Google Shape;309;p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8" y="1386026"/>
                <a:ext cx="11047856" cy="4893607"/>
              </a:xfrm>
              <a:prstGeom prst="rect">
                <a:avLst/>
              </a:prstGeom>
              <a:blipFill>
                <a:blip r:embed="rId4"/>
                <a:stretch>
                  <a:fillRect l="-883" t="-1121" r="-386" b="-17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Google Shape;310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1" name="Google Shape;311;p16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1216" y="3424825"/>
            <a:ext cx="8846784" cy="5783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44"/>
              <p:cNvSpPr txBox="1"/>
              <p:nvPr/>
            </p:nvSpPr>
            <p:spPr>
              <a:xfrm>
                <a:off x="1343025" y="520394"/>
                <a:ext cx="9656616" cy="4524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5138" indent="-465138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A farmer plans to plant more than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52.75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 acres of oranges.  </a:t>
                </a:r>
                <a:endParaRPr lang="en-US" sz="2000" dirty="0">
                  <a:ea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If A represents the number of acres of oranges the farmer plants, write an inequality that represents the number of acres the farmer plants. </a:t>
                </a:r>
              </a:p>
              <a:p>
                <a:pPr marL="922338" indent="-461963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/>
                </a:pPr>
                <a:endParaRPr lang="en-US" sz="8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Circle all the possible values for A, the number of acres the farmer plans to plant, from the list below.</a:t>
                </a: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22338" indent="-461963">
                  <a:buFont typeface="+mj-lt"/>
                  <a:buAutoNum type="alphaL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60375"/>
                <a:endParaRPr lang="en-US" sz="2000" dirty="0">
                  <a:ea typeface="Verdana"/>
                </a:endParaRPr>
              </a:p>
              <a:p>
                <a:pPr marL="922338" indent="-461963">
                  <a:buFont typeface="+mj-lt"/>
                  <a:buAutoNum type="alphaL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Graph the inequality. </a:t>
                </a:r>
                <a:endParaRPr lang="en-US" sz="2000" dirty="0"/>
              </a:p>
            </p:txBody>
          </p:sp>
        </mc:Choice>
        <mc:Fallback xmlns="">
          <p:sp>
            <p:nvSpPr>
              <p:cNvPr id="328" name="Google Shape;328;p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5" y="520394"/>
                <a:ext cx="9656616" cy="4524275"/>
              </a:xfrm>
              <a:prstGeom prst="rect">
                <a:avLst/>
              </a:prstGeom>
              <a:blipFill>
                <a:blip r:embed="rId3"/>
                <a:stretch>
                  <a:fillRect l="-694" t="-808" r="-1326" b="-14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44"/>
          <p:cNvSpPr/>
          <p:nvPr/>
        </p:nvSpPr>
        <p:spPr>
          <a:xfrm>
            <a:off x="-15701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6" name="Google Shape;339;p45">
            <a:extLst>
              <a:ext uri="{FF2B5EF4-FFF2-40B4-BE49-F238E27FC236}">
                <a16:creationId xmlns:a16="http://schemas.microsoft.com/office/drawing/2014/main" id="{1AC95876-BC80-9844-8166-2D8AFB71FBB2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5441" y="3216239"/>
            <a:ext cx="5251785" cy="1455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40;p45">
            <a:extLst>
              <a:ext uri="{FF2B5EF4-FFF2-40B4-BE49-F238E27FC236}">
                <a16:creationId xmlns:a16="http://schemas.microsoft.com/office/drawing/2014/main" id="{07AF4C9D-B9FF-6E4E-A245-CCAE43DA596D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3750" y="5241980"/>
            <a:ext cx="8644501" cy="77449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9" name="Google Shape;349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0" name="Google Shape;35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/>
        </p:nvSpPr>
        <p:spPr>
          <a:xfrm>
            <a:off x="1421850" y="18893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14.1.5 Your Turn!</a:t>
            </a:r>
            <a:endParaRPr/>
          </a:p>
        </p:txBody>
      </p:sp>
      <p:pic>
        <p:nvPicPr>
          <p:cNvPr id="359" name="Google Shape;359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550" y="1912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0" name="Google Shape;360;p31"/>
              <p:cNvSpPr txBox="1"/>
              <p:nvPr/>
            </p:nvSpPr>
            <p:spPr>
              <a:xfrm>
                <a:off x="1421850" y="944338"/>
                <a:ext cx="9425440" cy="1755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5138" indent="-465138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Would you rather drive a go-cart with speed,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𝑔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, in miles per hour (mph), represented by the inequality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12.5≥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𝑔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, or an electric bike with speed,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, in mph, represented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≥7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?</a:t>
                </a:r>
                <a:endParaRPr dirty="0"/>
              </a:p>
            </p:txBody>
          </p:sp>
        </mc:Choice>
        <mc:Fallback>
          <p:sp>
            <p:nvSpPr>
              <p:cNvPr id="360" name="Google Shape;360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850" y="944338"/>
                <a:ext cx="9425440" cy="1755312"/>
              </a:xfrm>
              <a:prstGeom prst="rect">
                <a:avLst/>
              </a:prstGeom>
              <a:blipFill>
                <a:blip r:embed="rId4"/>
                <a:stretch>
                  <a:fillRect l="-970" t="-3125" r="-16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" name="Google Shape;361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3" name="Google Shape;363;p31"/>
          <p:cNvPicPr preferRelativeResize="0">
            <a:picLocks noChangeAspect="1"/>
          </p:cNvPicPr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6626" y="2707754"/>
            <a:ext cx="7544524" cy="216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1"/>
          <p:cNvPicPr preferRelativeResize="0">
            <a:picLocks noChangeAspect="1"/>
          </p:cNvPicPr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5460" y="5073749"/>
            <a:ext cx="7876794" cy="11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5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 txBox="1"/>
          <p:nvPr/>
        </p:nvSpPr>
        <p:spPr>
          <a:xfrm>
            <a:off x="1371600" y="520393"/>
            <a:ext cx="95994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Circle all the values from the list below that are possible speeds for the go-cart.</a:t>
            </a:r>
            <a:endParaRPr sz="2400" dirty="0"/>
          </a:p>
        </p:txBody>
      </p:sp>
      <p:sp>
        <p:nvSpPr>
          <p:cNvPr id="373" name="Google Shape;373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4" name="Google Shape;3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4189" y="1643175"/>
            <a:ext cx="7780713" cy="15589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/>
        </p:nvSpPr>
        <p:spPr>
          <a:xfrm>
            <a:off x="1185863" y="520394"/>
            <a:ext cx="997094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2338" indent="-461963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Represent the speed of the electric bike on the number line. </a:t>
            </a:r>
            <a:endParaRPr lang="en-US" dirty="0">
              <a:ea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Represent the speed of the go-cart on the number line. </a:t>
            </a:r>
            <a:endParaRPr lang="en-US" dirty="0">
              <a:ea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2338" indent="-461963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why the number lines do not include negative numbers.</a:t>
            </a:r>
            <a:endParaRPr lang="en-US" dirty="0"/>
          </a:p>
        </p:txBody>
      </p:sp>
      <p:sp>
        <p:nvSpPr>
          <p:cNvPr id="383" name="Google Shape;383;p46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84" name="Google Shape;384;p4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9083" y="1489869"/>
            <a:ext cx="8644501" cy="56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677"/>
          <a:stretch/>
        </p:blipFill>
        <p:spPr>
          <a:xfrm>
            <a:off x="1857100" y="3834733"/>
            <a:ext cx="8644501" cy="6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94" name="Google Shape;394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5" name="Google Shape;39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/>
        </p:nvSpPr>
        <p:spPr>
          <a:xfrm>
            <a:off x="1441493" y="54647"/>
            <a:ext cx="10659464" cy="100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14.1.6 Wrap-Up: Ticket Out the Door</a:t>
            </a:r>
            <a:endParaRPr dirty="0"/>
          </a:p>
        </p:txBody>
      </p:sp>
      <p:pic>
        <p:nvPicPr>
          <p:cNvPr id="404" name="Google Shape;40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07" y="1261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5" name="Google Shape;405;p34"/>
              <p:cNvSpPr txBox="1"/>
              <p:nvPr/>
            </p:nvSpPr>
            <p:spPr>
              <a:xfrm>
                <a:off x="1441493" y="879907"/>
                <a:ext cx="8327136" cy="5016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At Universal Studios, a person must be at least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48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 inches (in.) tall to ride Revenge of the Mummy</a:t>
                </a:r>
                <a:r>
                  <a:rPr lang="en-US" sz="2000" dirty="0">
                    <a:latin typeface="Times New Roman" panose="02020603050405020304" pitchFamily="18" charset="0"/>
                    <a:ea typeface="Verdana"/>
                    <a:cs typeface="Times New Roman" panose="02020603050405020304" pitchFamily="18" charset="0"/>
                    <a:sym typeface="Verdana"/>
                  </a:rPr>
                  <a:t>™.</a:t>
                </a: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Write an inequality representing the height,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h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, a person must be to go on the ride.</a:t>
                </a:r>
              </a:p>
              <a:p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Circle all values from the list below that satisfy this inequality.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Graph the inequality on the number line.</a:t>
                </a:r>
                <a:endParaRPr sz="2400" dirty="0"/>
              </a:p>
            </p:txBody>
          </p:sp>
        </mc:Choice>
        <mc:Fallback xmlns="">
          <p:sp>
            <p:nvSpPr>
              <p:cNvPr id="405" name="Google Shape;405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493" y="879907"/>
                <a:ext cx="8327136" cy="5016718"/>
              </a:xfrm>
              <a:prstGeom prst="rect">
                <a:avLst/>
              </a:prstGeom>
              <a:blipFill>
                <a:blip r:embed="rId4"/>
                <a:stretch>
                  <a:fillRect l="-805" t="-608" b="-13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6" name="Google Shape;406;p3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9" name="Google Shape;417;p35">
            <a:extLst>
              <a:ext uri="{FF2B5EF4-FFF2-40B4-BE49-F238E27FC236}">
                <a16:creationId xmlns:a16="http://schemas.microsoft.com/office/drawing/2014/main" id="{FAFCC679-0C5C-4645-8432-596581F3372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9610" y="3424825"/>
            <a:ext cx="5363703" cy="166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18;p35">
            <a:extLst>
              <a:ext uri="{FF2B5EF4-FFF2-40B4-BE49-F238E27FC236}">
                <a16:creationId xmlns:a16="http://schemas.microsoft.com/office/drawing/2014/main" id="{97378A71-6791-D046-A7A0-B40B47905F3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557" y="6066204"/>
            <a:ext cx="8148150" cy="46291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4;g104476d1465_1_17"/>
          <p:cNvSpPr txBox="1"/>
          <p:nvPr/>
        </p:nvSpPr>
        <p:spPr>
          <a:xfrm>
            <a:off x="864887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5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F1A84375-3874-4AC7-9400-61B04150B0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AA5B6D-8ABF-4B8B-B033-4824B71438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D495B9-C605-4503-AF5E-C58C05C5C1DA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1192</Words>
  <Application>Microsoft Office PowerPoint</Application>
  <PresentationFormat>Widescreen</PresentationFormat>
  <Paragraphs>217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1_Office Theme</vt:lpstr>
      <vt:lpstr>6th Grade Accelerated Math  Unit 14, Lesson 1  Translating Real-World Written Descriptions into Algebraic Inequalities  Volume 2, pg. 335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14, Lesson 1  Translating Real-World Written Descriptions into Algebraic Inequalities  Volume 2, pg. 335</dc:title>
  <dc:creator>Karen McKenzie</dc:creator>
  <cp:lastModifiedBy>vaanmx</cp:lastModifiedBy>
  <cp:revision>6</cp:revision>
  <dcterms:created xsi:type="dcterms:W3CDTF">2015-03-17T18:51:18Z</dcterms:created>
  <dcterms:modified xsi:type="dcterms:W3CDTF">2023-07-07T06:12:09Z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