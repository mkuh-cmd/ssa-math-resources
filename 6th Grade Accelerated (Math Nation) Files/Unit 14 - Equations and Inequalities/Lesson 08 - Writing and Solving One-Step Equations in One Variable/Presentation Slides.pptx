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75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7" roundtripDataSignature="AMtx7mgkNzOeGZYG8iu5DjjPppKJNxfMq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/>
    <p:restoredTop sz="94695"/>
  </p:normalViewPr>
  <p:slideViewPr>
    <p:cSldViewPr snapToGrid="0">
      <p:cViewPr varScale="1">
        <p:scale>
          <a:sx n="79" d="100"/>
          <a:sy n="79" d="100"/>
        </p:scale>
        <p:origin x="821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7" Type="http://customschemas.google.com/relationships/presentationmetadata" Target="meta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0" name="Google Shape;120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0" name="Google Shape;120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750158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2" name="Google Shape;142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1" name="Google Shape;15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2" name="Google Shape;15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3" name="Google Shape;16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4" name="Google Shape;164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4" name="Google Shape;174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" name="Google Shape;18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7" name="Google Shape;187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6" name="Google Shape;19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7" name="Google Shape;20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8" name="Google Shape;208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6" name="Google Shape;216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7" name="Google Shape;217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7" name="Google Shape;227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8" name="Google Shape;23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9" name="Google Shape;239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8" name="Google Shape;248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9" name="Google Shape;249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8" name="Google Shape;258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9" name="Google Shape;259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0" name="Google Shape;270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1" name="Google Shape;271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1" name="Google Shape;281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0" name="Google Shape;290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1" name="Google Shape;291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0" name="Google Shape;300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1" name="Google Shape;301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4" name="Google Shape;24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51" name="Google Shape;51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21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2" y="2054277"/>
            <a:ext cx="5077649" cy="3194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600" b="1" baseline="3000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6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Accelerated Math </a:t>
            </a:r>
            <a:br>
              <a:rPr lang="en-US" sz="36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sz="3600" b="1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14, Lesson 8</a:t>
            </a:r>
            <a:br>
              <a:rPr lang="en-US" sz="36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Writing</a:t>
            </a:r>
            <a:br>
              <a:rPr lang="en-US" sz="2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and Solving One-Step</a:t>
            </a:r>
            <a:br>
              <a:rPr lang="en-US" sz="2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Equations in One Variable</a:t>
            </a:r>
            <a:b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378</a:t>
            </a:r>
            <a:endParaRPr/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sz="3400" b="1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>
              <a:solidFill>
                <a:srgbClr val="417DBF"/>
              </a:solidFill>
            </a:endParaRPr>
          </a:p>
        </p:txBody>
      </p:sp>
      <p:sp>
        <p:nvSpPr>
          <p:cNvPr id="115" name="Google Shape;115;g104476d1465_0_0"/>
          <p:cNvSpPr/>
          <p:nvPr/>
        </p:nvSpPr>
        <p:spPr>
          <a:xfrm>
            <a:off x="0" y="-8100"/>
            <a:ext cx="4094106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16" name="Google Shape;116;g104476d1465_0_0" descr="Logo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3677" y="1829054"/>
            <a:ext cx="3126752" cy="36449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123" name="Google Shape;123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549850" y="18576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Benchmarks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24" name="Google Shape;124;g104476d1465_1_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6350" y="25435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pic>
        <p:nvPicPr>
          <p:cNvPr id="125" name="Google Shape;125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753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26" name="Google Shape;126;g104476d1465_1_17"/>
          <p:cNvSpPr txBox="1"/>
          <p:nvPr/>
        </p:nvSpPr>
        <p:spPr>
          <a:xfrm>
            <a:off x="1549850" y="1462225"/>
            <a:ext cx="9412700" cy="4652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1100"/>
            </a:pPr>
            <a:r>
              <a:rPr lang="en-US" sz="24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MA.6.AR.2.2 </a:t>
            </a:r>
            <a:endParaRPr sz="2400" dirty="0"/>
          </a:p>
          <a:p>
            <a:pPr marL="457200"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2100"/>
            </a:pPr>
            <a:r>
              <a:rPr lang="en-US" sz="24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Write and solve one-step equations in one variable within a mathematical or real-world context using addition and subtraction, where all terms and solutions are integers.</a:t>
            </a:r>
          </a:p>
          <a:p>
            <a:pPr marL="457200"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2100"/>
            </a:pPr>
            <a:endParaRPr sz="2400" dirty="0"/>
          </a:p>
          <a:p>
            <a:pPr>
              <a:buSzPts val="1100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MA.6.AR.2.3 </a:t>
            </a:r>
            <a:endParaRPr sz="2400" dirty="0"/>
          </a:p>
          <a:p>
            <a:pPr marL="457200"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2100"/>
            </a:pPr>
            <a:r>
              <a:rPr lang="en-US" sz="24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Write and solve one-step equations in one variable within a mathematical or real-world context using multiplication and division, where all terms and solutions are integers.</a:t>
            </a:r>
            <a:endParaRPr sz="2400" dirty="0"/>
          </a:p>
          <a:p>
            <a:pPr marL="457200"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2100"/>
            </a:pPr>
            <a:r>
              <a:rPr lang="en-US" sz="2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1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7" name="Google Shape;127;g104476d1465_1_17"/>
          <p:cNvSpPr txBox="1"/>
          <p:nvPr/>
        </p:nvSpPr>
        <p:spPr>
          <a:xfrm>
            <a:off x="87371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378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04476d1465_1_17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123" name="Google Shape;123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474800" y="0"/>
            <a:ext cx="8229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  <a:endParaRPr sz="32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24" name="Google Shape;124;g104476d1465_1_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150" y="2892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26" name="Google Shape;126;g104476d1465_1_17"/>
          <p:cNvSpPr txBox="1"/>
          <p:nvPr/>
        </p:nvSpPr>
        <p:spPr>
          <a:xfrm>
            <a:off x="1574800" y="1832876"/>
            <a:ext cx="9362800" cy="4652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algn="l"/>
            <a:r>
              <a:rPr lang="en-US" sz="2600" dirty="0">
                <a:solidFill>
                  <a:srgbClr val="2A2B2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MA.K12.MTR.1.1 Actively participate in effortful learning both individually and collectively.</a:t>
            </a:r>
          </a:p>
          <a:p>
            <a:pPr algn="l"/>
            <a:endParaRPr lang="en-US" sz="2600" dirty="0">
              <a:solidFill>
                <a:srgbClr val="2A2B2D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/>
            <a:r>
              <a:rPr lang="en-US" sz="2600" dirty="0">
                <a:latin typeface="Verdana" panose="020B0604030504040204" pitchFamily="34" charset="0"/>
                <a:ea typeface="Verdana" panose="020B0604030504040204" pitchFamily="34" charset="0"/>
              </a:rPr>
              <a:t>MA.K12.MTR.2.1 </a:t>
            </a:r>
            <a:r>
              <a:rPr lang="en-US" sz="2600" dirty="0">
                <a:solidFill>
                  <a:srgbClr val="2A2B2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Demonstrate understanding by representing problems in multiple ways.</a:t>
            </a:r>
          </a:p>
          <a:p>
            <a:pPr algn="l"/>
            <a:endParaRPr lang="en-US" sz="2600" dirty="0">
              <a:solidFill>
                <a:srgbClr val="2A2B2D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/>
            <a:r>
              <a:rPr lang="en-US" sz="2600" dirty="0">
                <a:solidFill>
                  <a:srgbClr val="2A2B2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MA.K12.MTR.4.1 Engage in discussions that reflect on the mathematical thinking of self and others.</a:t>
            </a:r>
          </a:p>
          <a:p>
            <a:pPr algn="l"/>
            <a:endParaRPr lang="en-US" sz="2600" dirty="0">
              <a:solidFill>
                <a:srgbClr val="2A2B2D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/>
            <a:r>
              <a:rPr lang="en-US" sz="2600" dirty="0">
                <a:solidFill>
                  <a:srgbClr val="2A2B2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MA.K12.MTR.5.1 Use patterns and structure to help understand and connect mathematical concepts.</a:t>
            </a:r>
          </a:p>
          <a:p>
            <a:pPr algn="l"/>
            <a:endParaRPr lang="en-US" sz="2600" dirty="0">
              <a:solidFill>
                <a:srgbClr val="2A2B2D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/>
            <a:r>
              <a:rPr lang="en-US" sz="2600" dirty="0">
                <a:solidFill>
                  <a:srgbClr val="2A2B2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MA.K12.MTR.6.1 Assess the reasonableness of solutions.</a:t>
            </a:r>
          </a:p>
          <a:p>
            <a:pPr algn="l"/>
            <a:endParaRPr lang="en-US" sz="2600" dirty="0">
              <a:solidFill>
                <a:srgbClr val="2A2B2D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/>
            <a:r>
              <a:rPr lang="en-US" sz="2600" dirty="0">
                <a:solidFill>
                  <a:srgbClr val="2A2B2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MA.K12.MTR.7.1 Apply mathematics to real-world contexts.</a:t>
            </a:r>
          </a:p>
          <a:p>
            <a:pPr marL="457200"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2100"/>
            </a:pPr>
            <a:r>
              <a:rPr lang="en-US" sz="2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1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8" name="Google Shape;125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753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9" name="Google Shape;127;g104476d1465_1_17"/>
          <p:cNvSpPr txBox="1"/>
          <p:nvPr/>
        </p:nvSpPr>
        <p:spPr>
          <a:xfrm>
            <a:off x="87371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378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15595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"/>
          <p:cNvSpPr txBox="1"/>
          <p:nvPr/>
        </p:nvSpPr>
        <p:spPr>
          <a:xfrm>
            <a:off x="1513869" y="61696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  <a:endParaRPr dirty="0"/>
          </a:p>
        </p:txBody>
      </p:sp>
      <p:pic>
        <p:nvPicPr>
          <p:cNvPr id="135" name="Google Shape;135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1707" y="350896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37" name="Google Shape;137;p1"/>
          <p:cNvSpPr txBox="1"/>
          <p:nvPr/>
        </p:nvSpPr>
        <p:spPr>
          <a:xfrm>
            <a:off x="1638300" y="1675630"/>
            <a:ext cx="9297126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indent="-450850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</a:rPr>
              <a:t>I can write and solve one-step equations in one variable within a real-world context using multiplication and division.</a:t>
            </a:r>
            <a:endParaRPr sz="2800" dirty="0">
              <a:solidFill>
                <a:schemeClr val="dk1"/>
              </a:solidFill>
              <a:latin typeface="Verdana" panose="020B0604030504040204" pitchFamily="34" charset="0"/>
              <a:ea typeface="Verdana" panose="020B0604030504040204" pitchFamily="34" charset="0"/>
              <a:cs typeface="Verdana"/>
              <a:sym typeface="Verdana"/>
            </a:endParaRPr>
          </a:p>
          <a:p>
            <a:pPr marL="457200" indent="-450850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2800" dirty="0">
                <a:solidFill>
                  <a:schemeClr val="dk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  <a:sym typeface="Verdana"/>
              </a:rPr>
              <a:t>I can solve one-step equations in one variable using addition and subtraction.</a:t>
            </a:r>
            <a:endParaRPr sz="2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8" name="Google Shape;138;p1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8" name="Google Shape;125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753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9" name="Google Shape;127;g104476d1465_1_17"/>
          <p:cNvSpPr txBox="1"/>
          <p:nvPr/>
        </p:nvSpPr>
        <p:spPr>
          <a:xfrm>
            <a:off x="87371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378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104476d1465_1_39"/>
          <p:cNvSpPr/>
          <p:nvPr/>
        </p:nvSpPr>
        <p:spPr>
          <a:xfrm>
            <a:off x="0" y="-8101"/>
            <a:ext cx="2731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46" name="Google Shape;146;g104476d1465_1_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47" name="Google Shape;147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125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753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8" name="Google Shape;127;g104476d1465_1_17"/>
          <p:cNvSpPr txBox="1"/>
          <p:nvPr/>
        </p:nvSpPr>
        <p:spPr>
          <a:xfrm>
            <a:off x="87371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379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"/>
          <p:cNvSpPr txBox="1"/>
          <p:nvPr/>
        </p:nvSpPr>
        <p:spPr>
          <a:xfrm>
            <a:off x="1450736" y="79365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14.8.1 Warm-Up: One-Step Equations</a:t>
            </a:r>
            <a:endParaRPr/>
          </a:p>
        </p:txBody>
      </p:sp>
      <p:pic>
        <p:nvPicPr>
          <p:cNvPr id="156" name="Google Shape;156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3436" y="27577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57" name="Google Shape;157;p2"/>
          <p:cNvSpPr txBox="1"/>
          <p:nvPr/>
        </p:nvSpPr>
        <p:spPr>
          <a:xfrm>
            <a:off x="1358900" y="1523186"/>
            <a:ext cx="9901736" cy="861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65138" indent="-465138"/>
            <a:r>
              <a:rPr lang="en-US" sz="2500" dirty="0">
                <a:latin typeface="Verdana"/>
                <a:ea typeface="Verdana"/>
                <a:cs typeface="Verdana"/>
                <a:sym typeface="Verdana"/>
              </a:rPr>
              <a:t>1. Fill in each blue box to make the equations true. Use only digits 1 to 9, at most one time each. </a:t>
            </a:r>
            <a:endParaRPr sz="2500" dirty="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8" name="Google Shape;158;p2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59" name="Google Shape;159;p2" descr="A picture containing text, clock&#10;&#10;Description automatically generated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877790" y="2612643"/>
            <a:ext cx="6157402" cy="4004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25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753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0" name="Google Shape;127;g104476d1465_1_17"/>
          <p:cNvSpPr txBox="1"/>
          <p:nvPr/>
        </p:nvSpPr>
        <p:spPr>
          <a:xfrm>
            <a:off x="87371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379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"/>
          <p:cNvSpPr/>
          <p:nvPr/>
        </p:nvSpPr>
        <p:spPr>
          <a:xfrm>
            <a:off x="0" y="-8101"/>
            <a:ext cx="2731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168" name="Google Shape;168;p4"/>
          <p:cNvSpPr txBox="1">
            <a:spLocks noGrp="1"/>
          </p:cNvSpPr>
          <p:nvPr>
            <p:ph type="title" idx="4294967295"/>
          </p:nvPr>
        </p:nvSpPr>
        <p:spPr>
          <a:xfrm>
            <a:off x="566525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ct val="96969"/>
            </a:pPr>
            <a:r>
              <a:rPr lang="en-US" sz="5500" b="1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69" name="Google Shape;169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3114" y="2852923"/>
            <a:ext cx="1152144" cy="115214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7" name="Google Shape;125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753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8" name="Google Shape;127;g104476d1465_1_17"/>
          <p:cNvSpPr txBox="1"/>
          <p:nvPr/>
        </p:nvSpPr>
        <p:spPr>
          <a:xfrm>
            <a:off x="87371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379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5"/>
          <p:cNvSpPr txBox="1"/>
          <p:nvPr/>
        </p:nvSpPr>
        <p:spPr>
          <a:xfrm>
            <a:off x="1529159" y="-72754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200" b="1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14.8.2 Collaboration: Relating Real-World Contexts to Equations</a:t>
            </a:r>
            <a:endParaRPr/>
          </a:p>
        </p:txBody>
      </p:sp>
      <p:pic>
        <p:nvPicPr>
          <p:cNvPr id="178" name="Google Shape;178;p5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50501" y="215192"/>
            <a:ext cx="749808" cy="74980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79" name="Google Shape;179;p5"/>
          <p:cNvSpPr txBox="1"/>
          <p:nvPr/>
        </p:nvSpPr>
        <p:spPr>
          <a:xfrm>
            <a:off x="1219200" y="1386025"/>
            <a:ext cx="10009596" cy="3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>
              <a:buSzPts val="2100"/>
              <a:buFont typeface="Arial"/>
              <a:buAutoNum type="arabicPeriod"/>
            </a:pPr>
            <a:r>
              <a:rPr lang="en-US" sz="2100" dirty="0">
                <a:latin typeface="Verdana"/>
                <a:ea typeface="Verdana"/>
                <a:cs typeface="Verdana"/>
                <a:sym typeface="Verdana"/>
              </a:rPr>
              <a:t>Four equations are shown.</a:t>
            </a:r>
            <a:endParaRPr dirty="0"/>
          </a:p>
          <a:p>
            <a:pPr marL="457200" indent="-323850">
              <a:buSzPts val="2100"/>
            </a:pPr>
            <a:endParaRPr sz="2100" dirty="0">
              <a:latin typeface="Verdana"/>
              <a:ea typeface="Verdana"/>
              <a:cs typeface="Verdana"/>
              <a:sym typeface="Verdana"/>
            </a:endParaRPr>
          </a:p>
          <a:p>
            <a:pPr marL="457200" indent="-323850">
              <a:buSzPts val="2100"/>
            </a:pPr>
            <a:endParaRPr sz="2100" dirty="0">
              <a:latin typeface="Verdana"/>
              <a:ea typeface="Verdana"/>
              <a:cs typeface="Verdana"/>
              <a:sym typeface="Verdana"/>
            </a:endParaRPr>
          </a:p>
          <a:p>
            <a:pPr marL="457200" indent="-323850">
              <a:buSzPts val="2100"/>
            </a:pPr>
            <a:endParaRPr sz="2100" dirty="0">
              <a:latin typeface="Verdana"/>
              <a:ea typeface="Verdana"/>
              <a:cs typeface="Verdana"/>
              <a:sym typeface="Verdana"/>
            </a:endParaRPr>
          </a:p>
          <a:p>
            <a:pPr marL="457200" indent="-323850">
              <a:buSzPts val="2100"/>
            </a:pPr>
            <a:endParaRPr sz="2100" dirty="0"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2100" dirty="0">
                <a:latin typeface="Verdana"/>
                <a:ea typeface="Verdana"/>
                <a:cs typeface="Verdana"/>
                <a:sym typeface="Verdana"/>
              </a:rPr>
              <a:t>Discuss with your partner which of the equations</a:t>
            </a:r>
            <a:endParaRPr dirty="0"/>
          </a:p>
          <a:p>
            <a:r>
              <a:rPr lang="en-US" sz="2100" dirty="0">
                <a:latin typeface="Verdana"/>
                <a:ea typeface="Verdana"/>
                <a:cs typeface="Verdana"/>
                <a:sym typeface="Verdana"/>
              </a:rPr>
              <a:t>correctly represents each situation below, where 𝑥</a:t>
            </a:r>
            <a:endParaRPr dirty="0"/>
          </a:p>
          <a:p>
            <a:r>
              <a:rPr lang="en-US" sz="2100" dirty="0">
                <a:latin typeface="Verdana"/>
                <a:ea typeface="Verdana"/>
                <a:cs typeface="Verdana"/>
                <a:sym typeface="Verdana"/>
              </a:rPr>
              <a:t>represents the unknown quantity. Then, write the</a:t>
            </a:r>
            <a:endParaRPr dirty="0"/>
          </a:p>
          <a:p>
            <a:r>
              <a:rPr lang="en-US" sz="2100" dirty="0">
                <a:latin typeface="Verdana"/>
                <a:ea typeface="Verdana"/>
                <a:cs typeface="Verdana"/>
                <a:sym typeface="Verdana"/>
              </a:rPr>
              <a:t>matching equation in the space provided. </a:t>
            </a:r>
            <a:endParaRPr dirty="0"/>
          </a:p>
          <a:p>
            <a:endParaRPr sz="2100" dirty="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81" name="Google Shape;181;p5" descr="Text&#10;&#10;Description automatically generated with low confidence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846414" y="1869674"/>
            <a:ext cx="5348129" cy="10571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5" descr="Table&#10;&#10;Description automatically generated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47853" y="4363501"/>
            <a:ext cx="5139454" cy="2434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25;g104476d1465_1_17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753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1" name="Google Shape;127;g104476d1465_1_17"/>
          <p:cNvSpPr txBox="1"/>
          <p:nvPr/>
        </p:nvSpPr>
        <p:spPr>
          <a:xfrm>
            <a:off x="87371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379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6"/>
          <p:cNvSpPr/>
          <p:nvPr/>
        </p:nvSpPr>
        <p:spPr>
          <a:xfrm>
            <a:off x="0" y="-8101"/>
            <a:ext cx="2731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191" name="Google Shape;191;p6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ct val="96969"/>
            </a:pPr>
            <a:r>
              <a:rPr lang="en-US" sz="55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92" name="Google Shape;192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7" name="Google Shape;125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753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8" name="Google Shape;127;g104476d1465_1_17"/>
          <p:cNvSpPr txBox="1"/>
          <p:nvPr/>
        </p:nvSpPr>
        <p:spPr>
          <a:xfrm>
            <a:off x="87371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380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7"/>
          <p:cNvSpPr txBox="1"/>
          <p:nvPr/>
        </p:nvSpPr>
        <p:spPr>
          <a:xfrm>
            <a:off x="1366000" y="10553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26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14.8.3 Guided Instruction: Solving One-Step Equations Representing Real-World Contexts Using Multiplication and Division </a:t>
            </a:r>
            <a:endParaRPr/>
          </a:p>
        </p:txBody>
      </p:sp>
      <p:pic>
        <p:nvPicPr>
          <p:cNvPr id="201" name="Google Shape;201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3826" y="2395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02" name="Google Shape;202;p7"/>
          <p:cNvSpPr txBox="1"/>
          <p:nvPr/>
        </p:nvSpPr>
        <p:spPr>
          <a:xfrm>
            <a:off x="1085398" y="1365919"/>
            <a:ext cx="10504756" cy="110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Verdana"/>
                <a:ea typeface="Verdana"/>
                <a:cs typeface="Verdana"/>
                <a:sym typeface="Verdana"/>
              </a:rPr>
              <a:t>A town's total budget for firefighters’ wages is $320,000.Wages are calculated at $40,000 per firefighter.</a:t>
            </a:r>
            <a:endParaRPr sz="2200" dirty="0"/>
          </a:p>
          <a:p>
            <a:endParaRPr sz="2200" dirty="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C400CF-8614-4AC5-9213-19A1A9D7F185}"/>
              </a:ext>
            </a:extLst>
          </p:cNvPr>
          <p:cNvSpPr txBox="1"/>
          <p:nvPr/>
        </p:nvSpPr>
        <p:spPr>
          <a:xfrm>
            <a:off x="1689100" y="2598300"/>
            <a:ext cx="9217976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lphaLcPeriod"/>
            </a:pPr>
            <a:r>
              <a:rPr lang="en-US" sz="2200" dirty="0">
                <a:latin typeface="Verdana"/>
                <a:ea typeface="Verdana"/>
                <a:cs typeface="Verdana"/>
                <a:sym typeface="Verdana"/>
              </a:rPr>
              <a:t>Draw a bar model that can be used to determine how many firefighters the town can afford to employ.</a:t>
            </a:r>
          </a:p>
          <a:p>
            <a:pPr marL="342900" indent="-342900">
              <a:buFont typeface="+mj-lt"/>
              <a:buAutoNum type="alphaLcPeriod"/>
            </a:pPr>
            <a:endParaRPr lang="en-US" sz="2200" dirty="0"/>
          </a:p>
          <a:p>
            <a:pPr marL="457200" indent="-457200">
              <a:buFont typeface="+mj-lt"/>
              <a:buAutoNum type="alphaLcPeriod"/>
            </a:pPr>
            <a:r>
              <a:rPr lang="en-US" sz="2200" dirty="0">
                <a:latin typeface="Verdana"/>
                <a:ea typeface="Verdana"/>
                <a:cs typeface="Verdana"/>
                <a:sym typeface="Verdana"/>
              </a:rPr>
              <a:t>Write an equation that can be used to find 𝑤, the number of firefighters the town can employ.</a:t>
            </a:r>
          </a:p>
          <a:p>
            <a:pPr marL="342900" indent="-342900">
              <a:buFont typeface="+mj-lt"/>
              <a:buAutoNum type="alphaLcPeriod"/>
            </a:pPr>
            <a:endParaRPr lang="en-US" sz="2200" dirty="0"/>
          </a:p>
          <a:p>
            <a:pPr marL="457200" indent="-457200">
              <a:buFont typeface="+mj-lt"/>
              <a:buAutoNum type="alphaLcPeriod"/>
            </a:pPr>
            <a:r>
              <a:rPr lang="en-US" sz="2200" dirty="0">
                <a:latin typeface="Verdana"/>
                <a:ea typeface="Verdana"/>
                <a:cs typeface="Verdana"/>
                <a:sym typeface="Verdana"/>
              </a:rPr>
              <a:t>What is the value of 𝑤?</a:t>
            </a:r>
          </a:p>
          <a:p>
            <a:pPr marL="342900" indent="-342900">
              <a:buFont typeface="+mj-lt"/>
              <a:buAutoNum type="alphaLcPeriod"/>
            </a:pPr>
            <a:endParaRPr lang="en-US" sz="2200" dirty="0"/>
          </a:p>
          <a:p>
            <a:pPr marL="457200" indent="-457200">
              <a:buFont typeface="+mj-lt"/>
              <a:buAutoNum type="alphaLcPeriod"/>
            </a:pPr>
            <a:r>
              <a:rPr lang="en-US" sz="2200" dirty="0">
                <a:latin typeface="Verdana"/>
                <a:ea typeface="Verdana"/>
                <a:cs typeface="Verdana"/>
                <a:sym typeface="Verdana"/>
              </a:rPr>
              <a:t>Explain what the solution means in the context of the problem.</a:t>
            </a:r>
            <a:endParaRPr lang="en-US" sz="2200" dirty="0"/>
          </a:p>
        </p:txBody>
      </p:sp>
      <p:pic>
        <p:nvPicPr>
          <p:cNvPr id="10" name="Google Shape;125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753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1" name="Google Shape;127;g104476d1465_1_17"/>
          <p:cNvSpPr txBox="1"/>
          <p:nvPr/>
        </p:nvSpPr>
        <p:spPr>
          <a:xfrm>
            <a:off x="87371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380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8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86AAF00-2431-4660-B699-77418706E6A9}"/>
              </a:ext>
            </a:extLst>
          </p:cNvPr>
          <p:cNvGrpSpPr/>
          <p:nvPr/>
        </p:nvGrpSpPr>
        <p:grpSpPr>
          <a:xfrm>
            <a:off x="1206500" y="84841"/>
            <a:ext cx="10214990" cy="6641352"/>
            <a:chOff x="935611" y="67420"/>
            <a:chExt cx="7727622" cy="643253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AF5BE75-78C3-4D37-97BC-33D171E38B71}"/>
                </a:ext>
              </a:extLst>
            </p:cNvPr>
            <p:cNvSpPr txBox="1"/>
            <p:nvPr/>
          </p:nvSpPr>
          <p:spPr>
            <a:xfrm>
              <a:off x="935611" y="67420"/>
              <a:ext cx="7727622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buFont typeface="+mj-lt"/>
                <a:buAutoNum type="arabicPeriod" startAt="2"/>
              </a:pPr>
              <a:r>
                <a:rPr lang="en-US" sz="2000" dirty="0">
                  <a:latin typeface="Verdana" panose="020B0604030504040204" pitchFamily="34" charset="0"/>
                  <a:ea typeface="Verdana" panose="020B0604030504040204" pitchFamily="34" charset="0"/>
                </a:rPr>
                <a:t>There are 4 flooring companies submitting bids on a new housing development. Each company has 11 different flooring samples. 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A96928D-FA00-48A6-9E5E-D9443E3AD17E}"/>
                </a:ext>
              </a:extLst>
            </p:cNvPr>
            <p:cNvSpPr txBox="1"/>
            <p:nvPr/>
          </p:nvSpPr>
          <p:spPr>
            <a:xfrm>
              <a:off x="1265550" y="1106935"/>
              <a:ext cx="7263426" cy="255454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dirty="0">
                  <a:latin typeface="Verdana" panose="020B0604030504040204" pitchFamily="34" charset="0"/>
                  <a:ea typeface="Verdana" panose="020B0604030504040204" pitchFamily="34" charset="0"/>
                </a:rPr>
                <a:t>Dino said, “To find the total number of samples, 𝑠𝑠, being submitted, set up the equation 𝑠𝑠 = 4 ∙ 11.” Dino’s partner Callahan shared that he used the equation 𝑠𝑠 4 = 11 to find the total number of samples submitted. </a:t>
              </a:r>
            </a:p>
            <a:p>
              <a:endParaRPr lang="en-US" sz="20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  <a:p>
              <a:r>
                <a:rPr lang="en-US" sz="2000" dirty="0">
                  <a:latin typeface="Verdana" panose="020B0604030504040204" pitchFamily="34" charset="0"/>
                  <a:ea typeface="Verdana" panose="020B0604030504040204" pitchFamily="34" charset="0"/>
                </a:rPr>
                <a:t>Bristol shouted across the classroom that she wrote the equation, 𝑠𝑠 11 = 4. 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B34B910-73FB-4BD6-8F5D-3D0F515702FC}"/>
                </a:ext>
              </a:extLst>
            </p:cNvPr>
            <p:cNvSpPr txBox="1"/>
            <p:nvPr/>
          </p:nvSpPr>
          <p:spPr>
            <a:xfrm>
              <a:off x="1265550" y="3637628"/>
              <a:ext cx="7397683" cy="28623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+mj-lt"/>
                <a:buAutoNum type="alphaLcPeriod"/>
              </a:pPr>
              <a:r>
                <a:rPr lang="en-US" sz="2000" dirty="0">
                  <a:latin typeface="Verdana" panose="020B0604030504040204" pitchFamily="34" charset="0"/>
                  <a:ea typeface="Verdana" panose="020B0604030504040204" pitchFamily="34" charset="0"/>
                </a:rPr>
                <a:t>Discuss with your partner which student — Dino, Callahan, or Bristol — wrote the correct equation to solve for the total number of samples submitted. </a:t>
              </a:r>
            </a:p>
            <a:p>
              <a:pPr marL="342900" indent="-342900">
                <a:buFont typeface="+mj-lt"/>
                <a:buAutoNum type="alphaLcPeriod"/>
              </a:pPr>
              <a:endParaRPr lang="en-US" sz="20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  <a:p>
              <a:pPr marL="342900" indent="-342900">
                <a:buFont typeface="+mj-lt"/>
                <a:buAutoNum type="alphaLcPeriod"/>
              </a:pPr>
              <a:r>
                <a:rPr lang="en-US" sz="2000" dirty="0">
                  <a:latin typeface="Verdana" panose="020B0604030504040204" pitchFamily="34" charset="0"/>
                  <a:ea typeface="Verdana" panose="020B0604030504040204" pitchFamily="34" charset="0"/>
                </a:rPr>
                <a:t>Solve one of the equations and then use a different equation to check your work. </a:t>
              </a:r>
            </a:p>
            <a:p>
              <a:pPr marL="342900" indent="-342900">
                <a:buFont typeface="+mj-lt"/>
                <a:buAutoNum type="alphaLcPeriod"/>
              </a:pPr>
              <a:endParaRPr lang="en-US" sz="20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  <a:p>
              <a:pPr marL="342900" indent="-342900">
                <a:buFont typeface="+mj-lt"/>
                <a:buAutoNum type="alphaLcPeriod"/>
              </a:pPr>
              <a:r>
                <a:rPr lang="en-US" sz="2000" dirty="0">
                  <a:latin typeface="Verdana" panose="020B0604030504040204" pitchFamily="34" charset="0"/>
                  <a:ea typeface="Verdana" panose="020B0604030504040204" pitchFamily="34" charset="0"/>
                </a:rPr>
                <a:t>Explain how the answer makes sense in terms of the context.</a:t>
              </a:r>
            </a:p>
          </p:txBody>
        </p:sp>
      </p:grpSp>
      <p:pic>
        <p:nvPicPr>
          <p:cNvPr id="10" name="Google Shape;125;g104476d1465_1_1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753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1" name="Google Shape;127;g104476d1465_1_17"/>
          <p:cNvSpPr txBox="1"/>
          <p:nvPr/>
        </p:nvSpPr>
        <p:spPr>
          <a:xfrm>
            <a:off x="87371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380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9"/>
          <p:cNvSpPr/>
          <p:nvPr/>
        </p:nvSpPr>
        <p:spPr>
          <a:xfrm>
            <a:off x="0" y="-10556"/>
            <a:ext cx="2731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221" name="Google Shape;221;p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ct val="96969"/>
            </a:pPr>
            <a:r>
              <a:rPr lang="en-US" sz="55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22" name="Google Shape;222;p9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2723" y="2852923"/>
            <a:ext cx="1152144" cy="115214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7" name="Google Shape;125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753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8" name="Google Shape;127;g104476d1465_1_17"/>
          <p:cNvSpPr txBox="1"/>
          <p:nvPr/>
        </p:nvSpPr>
        <p:spPr>
          <a:xfrm>
            <a:off x="87371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381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0"/>
          <p:cNvSpPr txBox="1"/>
          <p:nvPr/>
        </p:nvSpPr>
        <p:spPr>
          <a:xfrm>
            <a:off x="1275250" y="-25932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28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16.8.4 Guided Practice: Solving Multiplication and Division Equations for Real-World Contexts</a:t>
            </a:r>
            <a:endParaRPr/>
          </a:p>
        </p:txBody>
      </p:sp>
      <p:pic>
        <p:nvPicPr>
          <p:cNvPr id="231" name="Google Shape;231;p10" descr="Icon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25442" y="203594"/>
            <a:ext cx="749808" cy="74980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32" name="Google Shape;232;p10"/>
          <p:cNvSpPr txBox="1"/>
          <p:nvPr/>
        </p:nvSpPr>
        <p:spPr>
          <a:xfrm>
            <a:off x="1101324" y="1199285"/>
            <a:ext cx="10414344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For each situation, write an equation that can be used to determine the unknown value. Then, solve the equation. Be sure to check your solution.</a:t>
            </a:r>
            <a:endParaRPr dirty="0"/>
          </a:p>
          <a:p>
            <a:endParaRPr sz="2000" dirty="0">
              <a:latin typeface="Verdana"/>
              <a:ea typeface="Verdana"/>
              <a:cs typeface="Verdana"/>
              <a:sym typeface="Verdana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It takes 5 yards of fabric to make a Native American</a:t>
            </a:r>
            <a:r>
              <a:rPr lang="en-US" dirty="0">
                <a:ea typeface="Verdana"/>
              </a:rPr>
              <a:t> </a:t>
            </a:r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ceremonial dress.</a:t>
            </a:r>
            <a:endParaRPr dirty="0"/>
          </a:p>
        </p:txBody>
      </p:sp>
      <p:sp>
        <p:nvSpPr>
          <p:cNvPr id="233" name="Google Shape;233;p10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BA9DB9-D772-47E5-BEF1-809B3D9DC7F1}"/>
              </a:ext>
            </a:extLst>
          </p:cNvPr>
          <p:cNvSpPr txBox="1"/>
          <p:nvPr/>
        </p:nvSpPr>
        <p:spPr>
          <a:xfrm>
            <a:off x="1685738" y="2827761"/>
            <a:ext cx="907454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lphaLcPeriod"/>
            </a:pPr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Write a division equation and a multiplication equation that can be used to determine how many yards, 𝑑, of fabric are needed to make 17 ceremonial dresses.</a:t>
            </a:r>
            <a:endParaRPr lang="en-US" sz="2000" dirty="0">
              <a:ea typeface="Verdana"/>
            </a:endParaRPr>
          </a:p>
          <a:p>
            <a:pPr marL="342900" indent="-342900">
              <a:buFont typeface="+mj-lt"/>
              <a:buAutoNum type="alphaLcPeriod"/>
            </a:pPr>
            <a:endParaRPr lang="en-US" sz="2000" dirty="0">
              <a:latin typeface="Verdana"/>
              <a:ea typeface="Verdana"/>
              <a:cs typeface="Verdana"/>
              <a:sym typeface="Verdana"/>
            </a:endParaRPr>
          </a:p>
          <a:p>
            <a:pPr marL="342900" indent="-342900">
              <a:buFont typeface="+mj-lt"/>
              <a:buAutoNum type="alphaLcPeriod"/>
            </a:pPr>
            <a:endParaRPr lang="en-US" sz="2000" dirty="0">
              <a:latin typeface="Verdana"/>
              <a:ea typeface="Verdana"/>
              <a:cs typeface="Verdana"/>
              <a:sym typeface="Verdana"/>
            </a:endParaRPr>
          </a:p>
          <a:p>
            <a:pPr marL="342900" indent="-342900">
              <a:buFont typeface="+mj-lt"/>
              <a:buAutoNum type="alphaLcPeriod"/>
            </a:pPr>
            <a:endParaRPr lang="en-US" sz="2000" dirty="0">
              <a:latin typeface="Verdana"/>
              <a:ea typeface="Verdana"/>
              <a:cs typeface="Verdana"/>
              <a:sym typeface="Verdana"/>
            </a:endParaRPr>
          </a:p>
          <a:p>
            <a:pPr marL="342900" indent="-342900">
              <a:buFont typeface="+mj-lt"/>
              <a:buAutoNum type="alphaLcPeriod"/>
            </a:pPr>
            <a:endParaRPr lang="en-US" sz="2000" dirty="0">
              <a:latin typeface="Verdana"/>
              <a:ea typeface="Verdana"/>
              <a:cs typeface="Verdana"/>
              <a:sym typeface="Verdana"/>
            </a:endParaRPr>
          </a:p>
          <a:p>
            <a:pPr marL="342900" indent="-342900">
              <a:buFont typeface="+mj-lt"/>
              <a:buAutoNum type="alphaLcPeriod"/>
            </a:pPr>
            <a:endParaRPr lang="en-US" sz="2000" dirty="0">
              <a:latin typeface="Verdana"/>
              <a:ea typeface="Verdana"/>
              <a:cs typeface="Verdana"/>
              <a:sym typeface="Verdana"/>
            </a:endParaRPr>
          </a:p>
          <a:p>
            <a:pPr marL="342900" indent="-342900">
              <a:buFont typeface="+mj-lt"/>
              <a:buAutoNum type="alphaLcPeriod"/>
            </a:pPr>
            <a:endParaRPr lang="en-US" sz="2000" dirty="0">
              <a:latin typeface="Verdana"/>
              <a:ea typeface="Verdana"/>
              <a:cs typeface="Verdana"/>
              <a:sym typeface="Verdana"/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Solve either of the equations for 𝑑. Use the other equation to check your work. </a:t>
            </a:r>
          </a:p>
          <a:p>
            <a:endParaRPr lang="en-US" dirty="0"/>
          </a:p>
        </p:txBody>
      </p:sp>
      <p:pic>
        <p:nvPicPr>
          <p:cNvPr id="4" name="Picture 3" descr="Table&#10;&#10;Description automatically generated">
            <a:extLst>
              <a:ext uri="{FF2B5EF4-FFF2-40B4-BE49-F238E27FC236}">
                <a16:creationId xmlns:a16="http://schemas.microsoft.com/office/drawing/2014/main" id="{977BB1F3-B6F5-48B4-B5CD-DA6F693777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7219" y="4226757"/>
            <a:ext cx="7111367" cy="1235132"/>
          </a:xfrm>
          <a:prstGeom prst="rect">
            <a:avLst/>
          </a:prstGeom>
        </p:spPr>
      </p:pic>
      <p:pic>
        <p:nvPicPr>
          <p:cNvPr id="10" name="Google Shape;125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753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1" name="Google Shape;127;g104476d1465_1_17"/>
          <p:cNvSpPr txBox="1"/>
          <p:nvPr/>
        </p:nvSpPr>
        <p:spPr>
          <a:xfrm>
            <a:off x="87371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381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"/>
          <p:cNvSpPr txBox="1"/>
          <p:nvPr/>
        </p:nvSpPr>
        <p:spPr>
          <a:xfrm>
            <a:off x="1010875" y="439907"/>
            <a:ext cx="10252874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200" dirty="0">
                <a:latin typeface="Verdana"/>
                <a:ea typeface="Verdana"/>
                <a:cs typeface="Verdana"/>
                <a:sym typeface="Verdana"/>
              </a:rPr>
              <a:t>Drake is selling candy bars for a school fundraiser. Each candy bar sells for $3.00.</a:t>
            </a:r>
            <a:endParaRPr dirty="0"/>
          </a:p>
        </p:txBody>
      </p:sp>
      <p:sp>
        <p:nvSpPr>
          <p:cNvPr id="244" name="Google Shape;244;p11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B4DC17-7FF1-4196-8A70-48E11374388D}"/>
              </a:ext>
            </a:extLst>
          </p:cNvPr>
          <p:cNvSpPr txBox="1"/>
          <p:nvPr/>
        </p:nvSpPr>
        <p:spPr>
          <a:xfrm>
            <a:off x="1539912" y="1410263"/>
            <a:ext cx="9513828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lphaLcPeriod"/>
            </a:pPr>
            <a:r>
              <a:rPr lang="en-US" sz="2200" dirty="0">
                <a:latin typeface="Verdana"/>
                <a:ea typeface="Verdana"/>
                <a:cs typeface="Verdana"/>
                <a:sym typeface="Verdana"/>
              </a:rPr>
              <a:t>Write a division equation and a multiplication equation that can be used to determine how many candy bars, 𝑐, he sold if he raised $399. </a:t>
            </a:r>
            <a:endParaRPr lang="en-US" sz="2200" dirty="0"/>
          </a:p>
          <a:p>
            <a:pPr marL="342900" indent="-342900">
              <a:buFont typeface="+mj-lt"/>
              <a:buAutoNum type="alphaLcPeriod"/>
            </a:pPr>
            <a:endParaRPr lang="en-US" sz="2200" dirty="0">
              <a:latin typeface="Verdana"/>
              <a:ea typeface="Verdana"/>
              <a:cs typeface="Verdana"/>
              <a:sym typeface="Verdana"/>
            </a:endParaRPr>
          </a:p>
          <a:p>
            <a:pPr marL="342900" indent="-342900">
              <a:buFont typeface="+mj-lt"/>
              <a:buAutoNum type="alphaLcPeriod"/>
            </a:pPr>
            <a:endParaRPr lang="en-US" sz="2200" dirty="0">
              <a:latin typeface="Verdana"/>
              <a:ea typeface="Verdana"/>
              <a:cs typeface="Verdana"/>
              <a:sym typeface="Verdana"/>
            </a:endParaRPr>
          </a:p>
          <a:p>
            <a:pPr marL="342900" indent="-342900">
              <a:buFont typeface="+mj-lt"/>
              <a:buAutoNum type="alphaLcPeriod"/>
            </a:pPr>
            <a:endParaRPr lang="en-US" sz="2200" dirty="0">
              <a:latin typeface="Verdana"/>
              <a:ea typeface="Verdana"/>
              <a:cs typeface="Verdana"/>
              <a:sym typeface="Verdana"/>
            </a:endParaRPr>
          </a:p>
          <a:p>
            <a:pPr marL="342900" indent="-342900">
              <a:buFont typeface="+mj-lt"/>
              <a:buAutoNum type="alphaLcPeriod"/>
            </a:pPr>
            <a:endParaRPr lang="en-US" sz="2200" dirty="0">
              <a:latin typeface="Verdana"/>
              <a:ea typeface="Verdana"/>
              <a:cs typeface="Verdana"/>
              <a:sym typeface="Verdana"/>
            </a:endParaRPr>
          </a:p>
          <a:p>
            <a:pPr marL="342900" indent="-342900">
              <a:buFont typeface="+mj-lt"/>
              <a:buAutoNum type="alphaLcPeriod"/>
            </a:pPr>
            <a:endParaRPr lang="en-US" sz="2200" dirty="0">
              <a:latin typeface="Verdana"/>
              <a:ea typeface="Verdana"/>
              <a:cs typeface="Verdana"/>
              <a:sym typeface="Verdana"/>
            </a:endParaRPr>
          </a:p>
          <a:p>
            <a:pPr marL="342900" indent="-342900">
              <a:buFont typeface="+mj-lt"/>
              <a:buAutoNum type="alphaLcPeriod"/>
            </a:pPr>
            <a:r>
              <a:rPr lang="en-US" sz="2200" dirty="0">
                <a:latin typeface="Verdana"/>
                <a:ea typeface="Verdana"/>
                <a:cs typeface="Verdana"/>
                <a:sym typeface="Verdana"/>
              </a:rPr>
              <a:t>Solve either of the equations for 𝑑. Use the other equation to check your work.</a:t>
            </a:r>
            <a:endParaRPr lang="en-US" sz="2200" dirty="0"/>
          </a:p>
          <a:p>
            <a:endParaRPr lang="en-US" sz="2200" dirty="0"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2200" dirty="0">
                <a:latin typeface="Verdana"/>
                <a:ea typeface="Verdana"/>
                <a:cs typeface="Verdana"/>
                <a:sym typeface="Verdana"/>
              </a:rPr>
              <a:t>Discuss with your partner how creating the two</a:t>
            </a:r>
            <a:endParaRPr lang="en-US" sz="2200" dirty="0"/>
          </a:p>
          <a:p>
            <a:r>
              <a:rPr lang="en-US" sz="2200" dirty="0">
                <a:latin typeface="Verdana"/>
                <a:ea typeface="Verdana"/>
                <a:cs typeface="Verdana"/>
                <a:sym typeface="Verdana"/>
              </a:rPr>
              <a:t>different equations in Questions 1 and 2 demonstrate</a:t>
            </a:r>
            <a:endParaRPr lang="en-US" sz="2200" dirty="0"/>
          </a:p>
          <a:p>
            <a:r>
              <a:rPr lang="en-US" sz="2200" dirty="0">
                <a:latin typeface="Verdana"/>
                <a:ea typeface="Verdana"/>
                <a:cs typeface="Verdana"/>
                <a:sym typeface="Verdana"/>
              </a:rPr>
              <a:t>inverse relationships. </a:t>
            </a:r>
            <a:endParaRPr lang="en-US" sz="2200" dirty="0"/>
          </a:p>
          <a:p>
            <a:endParaRPr lang="en-US" dirty="0"/>
          </a:p>
        </p:txBody>
      </p:sp>
      <p:pic>
        <p:nvPicPr>
          <p:cNvPr id="8" name="Picture 7" descr="Table&#10;&#10;Description automatically generated">
            <a:extLst>
              <a:ext uri="{FF2B5EF4-FFF2-40B4-BE49-F238E27FC236}">
                <a16:creationId xmlns:a16="http://schemas.microsoft.com/office/drawing/2014/main" id="{E6645796-3407-468F-B0CD-E87D90FDC6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317" y="2598421"/>
            <a:ext cx="7111367" cy="1235132"/>
          </a:xfrm>
          <a:prstGeom prst="rect">
            <a:avLst/>
          </a:prstGeom>
        </p:spPr>
      </p:pic>
      <p:pic>
        <p:nvPicPr>
          <p:cNvPr id="9" name="Google Shape;125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753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0" name="Google Shape;127;g104476d1465_1_17"/>
          <p:cNvSpPr txBox="1"/>
          <p:nvPr/>
        </p:nvSpPr>
        <p:spPr>
          <a:xfrm>
            <a:off x="87371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381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2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253" name="Google Shape;253;p12"/>
          <p:cNvSpPr txBox="1">
            <a:spLocks noGrp="1"/>
          </p:cNvSpPr>
          <p:nvPr>
            <p:ph type="title" idx="4294967295"/>
          </p:nvPr>
        </p:nvSpPr>
        <p:spPr>
          <a:xfrm>
            <a:off x="5116285" y="2766150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Try It</a:t>
            </a:r>
            <a:endParaRPr sz="5100" b="1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55" name="Google Shape;255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13171" y="2852928"/>
            <a:ext cx="1152144" cy="115214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7" name="Google Shape;125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753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8" name="Google Shape;127;g104476d1465_1_17"/>
          <p:cNvSpPr txBox="1"/>
          <p:nvPr/>
        </p:nvSpPr>
        <p:spPr>
          <a:xfrm>
            <a:off x="87371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382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3"/>
          <p:cNvSpPr txBox="1"/>
          <p:nvPr/>
        </p:nvSpPr>
        <p:spPr>
          <a:xfrm>
            <a:off x="1285574" y="-83348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14.8.5 Try It: Mixed Review </a:t>
            </a:r>
            <a:endParaRPr/>
          </a:p>
        </p:txBody>
      </p:sp>
      <p:pic>
        <p:nvPicPr>
          <p:cNvPr id="263" name="Google Shape;263;p13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5766" y="204598"/>
            <a:ext cx="749808" cy="74980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64" name="Google Shape;264;p13"/>
          <p:cNvSpPr txBox="1"/>
          <p:nvPr/>
        </p:nvSpPr>
        <p:spPr>
          <a:xfrm>
            <a:off x="1233878" y="1386026"/>
            <a:ext cx="9980276" cy="1400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200" dirty="0">
                <a:latin typeface="Verdana"/>
                <a:ea typeface="Verdana"/>
                <a:cs typeface="Verdana"/>
                <a:sym typeface="Verdana"/>
              </a:rPr>
              <a:t>Select all of the equations that represent each situation.</a:t>
            </a:r>
            <a:endParaRPr dirty="0"/>
          </a:p>
          <a:p>
            <a:endParaRPr sz="2100" dirty="0">
              <a:latin typeface="Verdana"/>
              <a:ea typeface="Verdana"/>
              <a:cs typeface="Verdana"/>
              <a:sym typeface="Verdana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100" dirty="0">
                <a:latin typeface="Verdana"/>
                <a:ea typeface="Verdana"/>
                <a:cs typeface="Verdana"/>
                <a:sym typeface="Verdana"/>
              </a:rPr>
              <a:t>One Valencia orange tree can produce 275 oranges. A</a:t>
            </a:r>
            <a:r>
              <a:rPr lang="en-US" dirty="0">
                <a:ea typeface="Verdana"/>
              </a:rPr>
              <a:t> </a:t>
            </a:r>
            <a:r>
              <a:rPr lang="en-US" sz="2100" dirty="0">
                <a:latin typeface="Verdana"/>
                <a:ea typeface="Verdana"/>
                <a:cs typeface="Verdana"/>
                <a:sym typeface="Verdana"/>
              </a:rPr>
              <a:t>crate contains 25 oranges.</a:t>
            </a:r>
          </a:p>
        </p:txBody>
      </p:sp>
      <p:sp>
        <p:nvSpPr>
          <p:cNvPr id="265" name="Google Shape;265;p13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66" name="Google Shape;266;p13" descr="A picture containing background pattern&#10;&#10;Description automatically generated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08414" y="3767102"/>
            <a:ext cx="6431205" cy="180929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ED9E40E-BC0A-457B-AC02-037EF6E7FE96}"/>
              </a:ext>
            </a:extLst>
          </p:cNvPr>
          <p:cNvSpPr txBox="1"/>
          <p:nvPr/>
        </p:nvSpPr>
        <p:spPr>
          <a:xfrm>
            <a:off x="1685720" y="2979801"/>
            <a:ext cx="912281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lphaLcPeriod"/>
            </a:pPr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How many crates can one Valencia orange tree fill</a:t>
            </a:r>
            <a:endParaRPr lang="en-US" sz="2000" dirty="0"/>
          </a:p>
          <a:p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up? Select all that apply.</a:t>
            </a:r>
          </a:p>
          <a:p>
            <a:endParaRPr lang="en-US" sz="2000" dirty="0">
              <a:latin typeface="Verdana"/>
              <a:ea typeface="Verdana"/>
              <a:sym typeface="Verdana"/>
            </a:endParaRPr>
          </a:p>
          <a:p>
            <a:endParaRPr lang="en-US" sz="2000" dirty="0">
              <a:latin typeface="Verdana"/>
              <a:ea typeface="Verdana"/>
              <a:sym typeface="Verdana"/>
            </a:endParaRPr>
          </a:p>
          <a:p>
            <a:endParaRPr lang="en-US" sz="2000" dirty="0">
              <a:latin typeface="Verdana"/>
              <a:ea typeface="Verdana"/>
              <a:sym typeface="Verdana"/>
            </a:endParaRPr>
          </a:p>
          <a:p>
            <a:endParaRPr lang="en-US" sz="2000" dirty="0">
              <a:latin typeface="Verdana"/>
              <a:ea typeface="Verdana"/>
              <a:sym typeface="Verdana"/>
            </a:endParaRPr>
          </a:p>
          <a:p>
            <a:endParaRPr lang="en-US" sz="2000" dirty="0">
              <a:latin typeface="Verdana"/>
              <a:ea typeface="Verdana"/>
              <a:sym typeface="Verdana"/>
            </a:endParaRPr>
          </a:p>
          <a:p>
            <a:endParaRPr lang="en-US" sz="2000" dirty="0">
              <a:latin typeface="Verdana"/>
              <a:ea typeface="Verdana"/>
              <a:sym typeface="Verdana"/>
            </a:endParaRPr>
          </a:p>
          <a:p>
            <a:endParaRPr lang="en-US" sz="2000" dirty="0">
              <a:ea typeface="Verdana"/>
            </a:endParaRPr>
          </a:p>
          <a:p>
            <a:pPr marL="457200" indent="-457200">
              <a:buFont typeface="+mj-lt"/>
              <a:buAutoNum type="alphaLcPeriod" startAt="2"/>
            </a:pPr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Pick one of the equations you selected and solve the problem. Show your reasoning. </a:t>
            </a:r>
          </a:p>
        </p:txBody>
      </p:sp>
      <p:pic>
        <p:nvPicPr>
          <p:cNvPr id="11" name="Google Shape;125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753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2" name="Google Shape;127;g104476d1465_1_17"/>
          <p:cNvSpPr txBox="1"/>
          <p:nvPr/>
        </p:nvSpPr>
        <p:spPr>
          <a:xfrm>
            <a:off x="87371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382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4"/>
          <p:cNvSpPr txBox="1"/>
          <p:nvPr/>
        </p:nvSpPr>
        <p:spPr>
          <a:xfrm>
            <a:off x="1110882" y="188841"/>
            <a:ext cx="9970234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Aliyah and Tiana want to bake 3 carrot cakes. Each carrot cake needs 2 cups of salted butter.</a:t>
            </a:r>
            <a:endParaRPr dirty="0"/>
          </a:p>
        </p:txBody>
      </p:sp>
      <p:sp>
        <p:nvSpPr>
          <p:cNvPr id="275" name="Google Shape;275;p14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76" name="Google Shape;276;p14" descr="A picture containing text, clock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32090" y="2765862"/>
            <a:ext cx="7327821" cy="242306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49E51C0-401F-44A8-927E-9710E1442A0C}"/>
              </a:ext>
            </a:extLst>
          </p:cNvPr>
          <p:cNvSpPr txBox="1"/>
          <p:nvPr/>
        </p:nvSpPr>
        <p:spPr>
          <a:xfrm>
            <a:off x="1803401" y="1536913"/>
            <a:ext cx="8773734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lphaLcPeriod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How much butter will they need to bake all 3 cakes? Select all that apply.</a:t>
            </a:r>
            <a:endParaRPr lang="en-US" sz="2400" dirty="0"/>
          </a:p>
          <a:p>
            <a:pPr marL="342900" indent="-342900">
              <a:buFont typeface="+mj-lt"/>
              <a:buAutoNum type="alphaLcPeriod"/>
            </a:pPr>
            <a:endParaRPr lang="en-US" sz="2400" dirty="0">
              <a:latin typeface="Verdana"/>
              <a:ea typeface="Verdana"/>
              <a:cs typeface="Verdana"/>
              <a:sym typeface="Verdana"/>
            </a:endParaRPr>
          </a:p>
          <a:p>
            <a:pPr marL="342900" indent="-342900">
              <a:buFont typeface="+mj-lt"/>
              <a:buAutoNum type="alphaLcPeriod"/>
            </a:pPr>
            <a:endParaRPr lang="en-US" sz="2400" dirty="0">
              <a:latin typeface="Verdana"/>
              <a:ea typeface="Verdana"/>
              <a:cs typeface="Verdana"/>
              <a:sym typeface="Verdana"/>
            </a:endParaRPr>
          </a:p>
          <a:p>
            <a:pPr marL="342900" indent="-342900">
              <a:buFont typeface="+mj-lt"/>
              <a:buAutoNum type="alphaLcPeriod"/>
            </a:pPr>
            <a:endParaRPr lang="en-US" sz="2400" dirty="0">
              <a:latin typeface="Verdana"/>
              <a:ea typeface="Verdana"/>
              <a:cs typeface="Verdana"/>
              <a:sym typeface="Verdana"/>
            </a:endParaRPr>
          </a:p>
          <a:p>
            <a:pPr marL="342900" indent="-342900">
              <a:buFont typeface="+mj-lt"/>
              <a:buAutoNum type="alphaLcPeriod"/>
            </a:pPr>
            <a:endParaRPr lang="en-US" sz="2400" dirty="0">
              <a:latin typeface="Verdana"/>
              <a:ea typeface="Verdana"/>
              <a:cs typeface="Verdana"/>
              <a:sym typeface="Verdana"/>
            </a:endParaRPr>
          </a:p>
          <a:p>
            <a:pPr marL="342900" indent="-342900">
              <a:buFont typeface="+mj-lt"/>
              <a:buAutoNum type="alphaLcPeriod"/>
            </a:pPr>
            <a:endParaRPr lang="en-US" sz="2400" dirty="0">
              <a:latin typeface="Verdana"/>
              <a:ea typeface="Verdana"/>
              <a:cs typeface="Verdana"/>
              <a:sym typeface="Verdana"/>
            </a:endParaRPr>
          </a:p>
          <a:p>
            <a:pPr marL="342900" indent="-342900">
              <a:buFont typeface="+mj-lt"/>
              <a:buAutoNum type="alphaLcPeriod"/>
            </a:pPr>
            <a:endParaRPr lang="en-US" sz="2400" dirty="0">
              <a:latin typeface="Verdana"/>
              <a:ea typeface="Verdana"/>
              <a:cs typeface="Verdana"/>
              <a:sym typeface="Verdana"/>
            </a:endParaRPr>
          </a:p>
          <a:p>
            <a:endParaRPr lang="en-US" sz="2400" dirty="0">
              <a:latin typeface="Verdana"/>
              <a:ea typeface="Verdana"/>
              <a:cs typeface="Verdana"/>
              <a:sym typeface="Verdana"/>
            </a:endParaRPr>
          </a:p>
          <a:p>
            <a:endParaRPr lang="en-US" sz="2400" dirty="0"/>
          </a:p>
          <a:p>
            <a:pPr marL="342900" indent="-342900">
              <a:buFont typeface="+mj-lt"/>
              <a:buAutoNum type="alphaLcPeriod" startAt="2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Select one of the equations you selected and solve the problem. Show your reasoning. </a:t>
            </a:r>
            <a:endParaRPr lang="en-US" sz="2400" dirty="0"/>
          </a:p>
          <a:p>
            <a:endParaRPr lang="en-US" dirty="0"/>
          </a:p>
        </p:txBody>
      </p:sp>
      <p:pic>
        <p:nvPicPr>
          <p:cNvPr id="8" name="Google Shape;125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753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9" name="Google Shape;127;g104476d1465_1_17"/>
          <p:cNvSpPr txBox="1"/>
          <p:nvPr/>
        </p:nvSpPr>
        <p:spPr>
          <a:xfrm>
            <a:off x="87371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382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5"/>
          <p:cNvSpPr txBox="1"/>
          <p:nvPr/>
        </p:nvSpPr>
        <p:spPr>
          <a:xfrm>
            <a:off x="1066800" y="520394"/>
            <a:ext cx="10209066" cy="446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300" dirty="0">
                <a:latin typeface="Verdana"/>
                <a:ea typeface="Verdana"/>
                <a:cs typeface="Verdana"/>
                <a:sym typeface="Verdana"/>
              </a:rPr>
              <a:t>Solve each equation for the variable. Verify your answers. </a:t>
            </a:r>
            <a:endParaRPr sz="2300" dirty="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85" name="Google Shape;285;p15"/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86" name="Google Shape;286;p15" descr="Calendar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43251" y="966630"/>
            <a:ext cx="6126278" cy="5837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25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753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8" name="Google Shape;127;g104476d1465_1_17"/>
          <p:cNvSpPr txBox="1"/>
          <p:nvPr/>
        </p:nvSpPr>
        <p:spPr>
          <a:xfrm>
            <a:off x="87371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382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6"/>
          <p:cNvSpPr/>
          <p:nvPr/>
        </p:nvSpPr>
        <p:spPr>
          <a:xfrm>
            <a:off x="0" y="-8101"/>
            <a:ext cx="2731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296" name="Google Shape;296;p16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97" name="Google Shape;297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7" name="Google Shape;125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753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8" name="Google Shape;127;g104476d1465_1_17"/>
          <p:cNvSpPr txBox="1"/>
          <p:nvPr/>
        </p:nvSpPr>
        <p:spPr>
          <a:xfrm>
            <a:off x="87371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383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7"/>
          <p:cNvSpPr txBox="1"/>
          <p:nvPr/>
        </p:nvSpPr>
        <p:spPr>
          <a:xfrm>
            <a:off x="1522500" y="-65950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14.8.6 Wrap-Up: Reflection</a:t>
            </a:r>
            <a:endParaRPr/>
          </a:p>
        </p:txBody>
      </p:sp>
      <p:pic>
        <p:nvPicPr>
          <p:cNvPr id="306" name="Google Shape;306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7890" y="1824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07" name="Google Shape;307;p17"/>
          <p:cNvSpPr txBox="1"/>
          <p:nvPr/>
        </p:nvSpPr>
        <p:spPr>
          <a:xfrm>
            <a:off x="1612900" y="981989"/>
            <a:ext cx="8966200" cy="800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300" dirty="0">
                <a:latin typeface="Verdana"/>
                <a:ea typeface="Verdana"/>
                <a:cs typeface="Verdana"/>
                <a:sym typeface="Verdana"/>
              </a:rPr>
              <a:t>Circle the icon that best describes your understanding of each learning objective. </a:t>
            </a:r>
            <a:endParaRPr sz="2300" dirty="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08" name="Google Shape;308;p17"/>
          <p:cNvSpPr/>
          <p:nvPr/>
        </p:nvSpPr>
        <p:spPr>
          <a:xfrm>
            <a:off x="0" y="-18572"/>
            <a:ext cx="223200" cy="6866100"/>
          </a:xfrm>
          <a:prstGeom prst="rect">
            <a:avLst/>
          </a:prstGeom>
          <a:solidFill>
            <a:srgbClr val="5C051A"/>
          </a:solidFill>
          <a:ln w="9525" cap="flat" cmpd="sng">
            <a:solidFill>
              <a:srgbClr val="5C051A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309" name="Google Shape;309;p17" descr="Table&#10;&#10;Description automatically generated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99637" y="2863270"/>
            <a:ext cx="4991368" cy="3934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1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484690" y="2102328"/>
            <a:ext cx="6302286" cy="708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25;g104476d1465_1_17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47537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1" name="Google Shape;127;g104476d1465_1_17"/>
          <p:cNvSpPr txBox="1"/>
          <p:nvPr/>
        </p:nvSpPr>
        <p:spPr>
          <a:xfrm>
            <a:off x="873715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383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1024</Words>
  <Application>Microsoft Office PowerPoint</Application>
  <PresentationFormat>Widescreen</PresentationFormat>
  <Paragraphs>151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Arial Black</vt:lpstr>
      <vt:lpstr>Calibri</vt:lpstr>
      <vt:lpstr>Century Gothic</vt:lpstr>
      <vt:lpstr>Verdana</vt:lpstr>
      <vt:lpstr>1_Office Theme</vt:lpstr>
      <vt:lpstr>6th Grade Accelerated Math   Unit 14, Lesson 8  Writing and Solving One-Step Equations in One Variable  Volume 2, pg. 378  </vt:lpstr>
      <vt:lpstr>Benchmarks</vt:lpstr>
      <vt:lpstr>Integrated Mathematical Thinking and Reasoning Standards</vt:lpstr>
      <vt:lpstr>PowerPoint Presentation</vt:lpstr>
      <vt:lpstr>Warm-Up</vt:lpstr>
      <vt:lpstr>PowerPoint Presentation</vt:lpstr>
      <vt:lpstr>Collaboration</vt:lpstr>
      <vt:lpstr>PowerPoint Presentation</vt:lpstr>
      <vt:lpstr>Guided Instruction</vt:lpstr>
      <vt:lpstr>PowerPoint Presentation</vt:lpstr>
      <vt:lpstr>PowerPoint Presentation</vt:lpstr>
      <vt:lpstr>Guided Practice</vt:lpstr>
      <vt:lpstr>PowerPoint Presentation</vt:lpstr>
      <vt:lpstr>PowerPoint Presentation</vt:lpstr>
      <vt:lpstr>Try It</vt:lpstr>
      <vt:lpstr>PowerPoint Presentation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6th Grade Accelerated Math   Unit 14, Lesson 8  Writing and Solving One-Step Equations in One Variable  Volume 2, pg. 378  </dc:title>
  <dc:creator>Karen McKenzie</dc:creator>
  <cp:lastModifiedBy>Cassie O'Connor</cp:lastModifiedBy>
  <cp:revision>6</cp:revision>
  <dcterms:created xsi:type="dcterms:W3CDTF">2015-03-17T18:51:18Z</dcterms:created>
  <dcterms:modified xsi:type="dcterms:W3CDTF">2022-07-02T05:02:28Z</dcterms:modified>
</cp:coreProperties>
</file>