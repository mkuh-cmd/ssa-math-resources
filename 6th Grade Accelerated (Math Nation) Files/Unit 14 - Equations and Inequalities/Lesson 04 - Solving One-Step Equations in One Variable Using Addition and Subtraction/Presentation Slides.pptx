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94" r:id="rId11"/>
    <p:sldId id="295" r:id="rId12"/>
    <p:sldId id="296" r:id="rId13"/>
    <p:sldId id="278" r:id="rId14"/>
    <p:sldId id="279" r:id="rId15"/>
    <p:sldId id="280" r:id="rId16"/>
    <p:sldId id="298" r:id="rId17"/>
    <p:sldId id="299" r:id="rId18"/>
    <p:sldId id="266" r:id="rId19"/>
    <p:sldId id="267" r:id="rId20"/>
    <p:sldId id="268" r:id="rId21"/>
    <p:sldId id="300" r:id="rId22"/>
    <p:sldId id="301" r:id="rId23"/>
    <p:sldId id="302" r:id="rId24"/>
    <p:sldId id="303" r:id="rId25"/>
    <p:sldId id="304" r:id="rId26"/>
    <p:sldId id="287" r:id="rId27"/>
    <p:sldId id="288" r:id="rId28"/>
    <p:sldId id="290" r:id="rId29"/>
    <p:sldId id="291" r:id="rId3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0" roundtripDataSignature="AMtx7mhssq3OoqM7J6XYkDacLZ4V+KhzK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718"/>
    <p:restoredTop sz="94767"/>
  </p:normalViewPr>
  <p:slideViewPr>
    <p:cSldViewPr snapToGrid="0">
      <p:cViewPr varScale="1">
        <p:scale>
          <a:sx n="79" d="100"/>
          <a:sy n="79" d="100"/>
        </p:scale>
        <p:origin x="826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61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60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64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0" name="Google Shape;120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" name="Google Shape;13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2" name="Google Shape;14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3" name="Google Shape;153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" name="Google Shape;16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3" name="Google Shape;163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3" name="Google Shape;183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3" name="Google Shape;193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4" name="Google Shape;204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4" name="Google Shape;204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954538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4" name="Google Shape;204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148609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4" name="Google Shape;204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738113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2" name="Google Shape;332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3" name="Google Shape;333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2" name="Google Shape;342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3" name="Google Shape;343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3" name="Google Shape;353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4" name="Google Shape;354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3" name="Google Shape;353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4" name="Google Shape;354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50926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3" name="Google Shape;353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4" name="Google Shape;354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8176264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2" name="Google Shape;21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3" name="Google Shape;213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2" name="Google Shape;222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3" name="Google Shape;223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3" name="Google Shape;233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4" name="Google Shape;234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3" name="Google Shape;233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4" name="Google Shape;234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541067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3" name="Google Shape;233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4" name="Google Shape;234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9351347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3" name="Google Shape;233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4" name="Google Shape;234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3504444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3" name="Google Shape;183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7414526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3" name="Google Shape;193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252480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2" name="Google Shape;422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3" name="Google Shape;423;p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2" name="Google Shape;432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3" name="Google Shape;433;p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2" name="Google Shape;452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3" name="Google Shape;453;p3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2" name="Google Shape;462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3" name="Google Shape;463;p3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4" name="Google Shape;24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51" name="Google Shape;51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microsoft.com/office/2007/relationships/hdphoto" Target="../media/hdphoto1.wdp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2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6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0.png"/><Relationship Id="rId9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34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3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90352" y="2054277"/>
            <a:ext cx="5077649" cy="3194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2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Accelerated Math</a:t>
            </a:r>
            <a:b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sz="32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lvl="0" algn="ctr">
              <a:lnSpc>
                <a:spcPct val="100000"/>
              </a:lnSpc>
              <a:buClr>
                <a:srgbClr val="000000"/>
              </a:buClr>
            </a:pP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14, Lesson 4</a:t>
            </a:r>
            <a:b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</a:rPr>
              <a:t>Solving One-Step Equations in One Variable Using Addition and Subtraction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4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354</a:t>
            </a:r>
            <a:endParaRPr sz="3200" dirty="0"/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sz="32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2800" dirty="0">
              <a:solidFill>
                <a:srgbClr val="417DBF"/>
              </a:solidFill>
            </a:endParaRPr>
          </a:p>
        </p:txBody>
      </p:sp>
      <p:cxnSp>
        <p:nvCxnSpPr>
          <p:cNvPr id="114" name="Google Shape;114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5" name="Google Shape;115;g104476d1465_0_0"/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16" name="Google Shape;116;g104476d1465_0_0" descr="Logo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3677" y="1610600"/>
            <a:ext cx="3126752" cy="36449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123" name="Google Shape;123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491113" y="1976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24" name="Google Shape;124;g104476d1465_1_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7613" y="237751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25" name="Google Shape;125;g104476d1465_1_17"/>
          <p:cNvSpPr txBox="1"/>
          <p:nvPr/>
        </p:nvSpPr>
        <p:spPr>
          <a:xfrm>
            <a:off x="865777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354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9600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27" name="Google Shape;127;g104476d1465_1_17"/>
          <p:cNvSpPr txBox="1"/>
          <p:nvPr/>
        </p:nvSpPr>
        <p:spPr>
          <a:xfrm>
            <a:off x="1491113" y="1600200"/>
            <a:ext cx="920977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ts val="1100"/>
            </a:pPr>
            <a:r>
              <a:rPr lang="en-US" sz="2400" dirty="0">
                <a:solidFill>
                  <a:schemeClr val="dk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6.AR.2.2 </a:t>
            </a:r>
            <a:endParaRPr sz="2400" dirty="0">
              <a:solidFill>
                <a:schemeClr val="dk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 marL="457200"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ts val="2100"/>
            </a:pPr>
            <a:r>
              <a:rPr lang="en-US" sz="2400" dirty="0">
                <a:solidFill>
                  <a:schemeClr val="dk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Write and solve one-step equations in one variable within a mathematical or real-world context using addition and subtraction, where all terms and solutions are integers.</a:t>
            </a:r>
            <a:endParaRPr sz="2400" dirty="0">
              <a:solidFill>
                <a:schemeClr val="dk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3338" y="38658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35" name="Google Shape;135;p1"/>
          <p:cNvSpPr txBox="1"/>
          <p:nvPr/>
        </p:nvSpPr>
        <p:spPr>
          <a:xfrm>
            <a:off x="1577988" y="143954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0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  <a:endParaRPr/>
          </a:p>
        </p:txBody>
      </p:sp>
      <p:sp>
        <p:nvSpPr>
          <p:cNvPr id="137" name="Google Shape;137;p1"/>
          <p:cNvSpPr txBox="1"/>
          <p:nvPr/>
        </p:nvSpPr>
        <p:spPr>
          <a:xfrm>
            <a:off x="1577988" y="1596390"/>
            <a:ext cx="962378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000" dirty="0">
                <a:solidFill>
                  <a:schemeClr val="dk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  <a:endParaRPr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/>
            <a:endParaRPr sz="2000" dirty="0">
              <a:solidFill>
                <a:schemeClr val="dk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r>
              <a:rPr lang="en-US" sz="2000" dirty="0">
                <a:solidFill>
                  <a:schemeClr val="dk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  <a:endParaRPr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/>
            <a:endParaRPr sz="2000" dirty="0">
              <a:solidFill>
                <a:schemeClr val="dk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r>
              <a:rPr lang="en-US" sz="2000" dirty="0">
                <a:solidFill>
                  <a:schemeClr val="dk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  <a:endParaRPr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/>
            <a:endParaRPr sz="2000" dirty="0">
              <a:solidFill>
                <a:schemeClr val="dk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r>
              <a:rPr lang="en-US" sz="2000" dirty="0">
                <a:solidFill>
                  <a:schemeClr val="dk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  <a:endParaRPr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sz="2000" dirty="0">
              <a:solidFill>
                <a:schemeClr val="dk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r>
              <a:rPr lang="en-US" sz="2000" dirty="0">
                <a:solidFill>
                  <a:schemeClr val="dk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MA.K12.MTR.6.1 Assess the reasonableness of solutions.</a:t>
            </a:r>
            <a:endParaRPr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38" name="Google Shape;138;p1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9" name="Google Shape;125;g104476d1465_1_17"/>
          <p:cNvSpPr txBox="1"/>
          <p:nvPr/>
        </p:nvSpPr>
        <p:spPr>
          <a:xfrm>
            <a:off x="865777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354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9600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"/>
          <p:cNvSpPr txBox="1"/>
          <p:nvPr/>
        </p:nvSpPr>
        <p:spPr>
          <a:xfrm>
            <a:off x="1474181" y="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  <a:endParaRPr dirty="0"/>
          </a:p>
        </p:txBody>
      </p:sp>
      <p:pic>
        <p:nvPicPr>
          <p:cNvPr id="146" name="Google Shape;146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2019" y="2892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48" name="Google Shape;148;p2"/>
          <p:cNvSpPr txBox="1"/>
          <p:nvPr/>
        </p:nvSpPr>
        <p:spPr>
          <a:xfrm>
            <a:off x="1694800" y="1600200"/>
            <a:ext cx="88024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indent="-450850">
              <a:buClr>
                <a:srgbClr val="434343"/>
              </a:buClr>
              <a:buSzPct val="125000"/>
              <a:buFont typeface="Verdana"/>
              <a:buChar char="❏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solve addition and subtraction one-step equations.  </a:t>
            </a:r>
          </a:p>
          <a:p>
            <a:pPr marL="457200" indent="-450850">
              <a:buClr>
                <a:srgbClr val="434343"/>
              </a:buClr>
              <a:buSzPts val="3500"/>
              <a:buFont typeface="Verdana"/>
              <a:buChar char="❏"/>
            </a:pPr>
            <a:endParaRPr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49" name="Google Shape;149;p2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9" name="Google Shape;125;g104476d1465_1_17"/>
          <p:cNvSpPr txBox="1"/>
          <p:nvPr/>
        </p:nvSpPr>
        <p:spPr>
          <a:xfrm>
            <a:off x="865777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354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9600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57" name="Google Shape;157;g104476d1465_1_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58" name="Google Shape;158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125;g104476d1465_1_17"/>
          <p:cNvSpPr txBox="1"/>
          <p:nvPr/>
        </p:nvSpPr>
        <p:spPr>
          <a:xfrm>
            <a:off x="865777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355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9600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"/>
          <p:cNvSpPr txBox="1"/>
          <p:nvPr/>
        </p:nvSpPr>
        <p:spPr>
          <a:xfrm>
            <a:off x="1333986" y="-8101"/>
            <a:ext cx="10267463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14.4.1 Warm-Up: </a:t>
            </a: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</a:rPr>
              <a:t>Visualizing Solutions</a:t>
            </a:r>
            <a:endParaRPr sz="3600" b="1" dirty="0">
              <a:solidFill>
                <a:srgbClr val="3F2A67"/>
              </a:solidFill>
              <a:latin typeface="Verdana"/>
              <a:ea typeface="Verdana"/>
              <a:cs typeface="Verdana"/>
            </a:endParaRPr>
          </a:p>
        </p:txBody>
      </p:sp>
      <p:pic>
        <p:nvPicPr>
          <p:cNvPr id="167" name="Google Shape;167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6687" y="257651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9" name="Google Shape;169;p4"/>
              <p:cNvSpPr txBox="1"/>
              <p:nvPr/>
            </p:nvSpPr>
            <p:spPr>
              <a:xfrm>
                <a:off x="1333986" y="1386026"/>
                <a:ext cx="9780060" cy="41549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In the two previous lessons, visual representations such as number lines, bar models, hanger diagrams, balance scales, and drawings were used to represent equations. 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the visual representation of your choice to represent the equation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37=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+12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/>
                    <a:ea typeface="Verdana"/>
                    <a:cs typeface="Verdana"/>
                  </a:rPr>
                  <a:t>Find the value of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ea typeface="Verdana"/>
                        <a:cs typeface="Verdana"/>
                      </a:rPr>
                      <m:t>𝑛</m:t>
                    </m:r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</a:rPr>
                  <a:t>.</a:t>
                </a:r>
              </a:p>
            </p:txBody>
          </p:sp>
        </mc:Choice>
        <mc:Fallback xmlns="">
          <p:sp>
            <p:nvSpPr>
              <p:cNvPr id="169" name="Google Shape;169;p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3986" y="1386026"/>
                <a:ext cx="9780060" cy="4154943"/>
              </a:xfrm>
              <a:prstGeom prst="rect">
                <a:avLst/>
              </a:prstGeom>
              <a:blipFill rotWithShape="0">
                <a:blip r:embed="rId4"/>
                <a:stretch>
                  <a:fillRect l="-998" t="-1173" b="-219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0" name="Google Shape;170;p4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9" name="Google Shape;125;g104476d1465_1_17"/>
          <p:cNvSpPr txBox="1"/>
          <p:nvPr/>
        </p:nvSpPr>
        <p:spPr>
          <a:xfrm>
            <a:off x="865777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355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9600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187" name="Google Shape;187;p6"/>
          <p:cNvSpPr txBox="1">
            <a:spLocks noGrp="1"/>
          </p:cNvSpPr>
          <p:nvPr>
            <p:ph type="title" idx="4294967295"/>
          </p:nvPr>
        </p:nvSpPr>
        <p:spPr>
          <a:xfrm>
            <a:off x="5665258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ct val="96969"/>
            </a:pPr>
            <a:r>
              <a:rPr lang="en-US" sz="5500" b="1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89" name="Google Shape;189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3114" y="2852923"/>
            <a:ext cx="1152144" cy="115214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8" name="Google Shape;125;g104476d1465_1_17"/>
          <p:cNvSpPr txBox="1"/>
          <p:nvPr/>
        </p:nvSpPr>
        <p:spPr>
          <a:xfrm>
            <a:off x="865777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355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9600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7"/>
          <p:cNvSpPr txBox="1"/>
          <p:nvPr/>
        </p:nvSpPr>
        <p:spPr>
          <a:xfrm>
            <a:off x="1425046" y="60326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14.4.2 Collaboration: </a:t>
            </a: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</a:rPr>
              <a:t>Algebraic Equations from a Diagram </a:t>
            </a:r>
            <a:endParaRPr sz="3200" b="1" dirty="0">
              <a:solidFill>
                <a:srgbClr val="33BEA6"/>
              </a:solidFill>
              <a:latin typeface="Verdana"/>
              <a:ea typeface="Verdana"/>
              <a:cs typeface="Verdana"/>
            </a:endParaRPr>
          </a:p>
        </p:txBody>
      </p:sp>
      <p:pic>
        <p:nvPicPr>
          <p:cNvPr id="198" name="Google Shape;198;p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75238" y="339191"/>
            <a:ext cx="749808" cy="74980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99" name="Google Shape;199;p7"/>
          <p:cNvSpPr txBox="1"/>
          <p:nvPr/>
        </p:nvSpPr>
        <p:spPr>
          <a:xfrm>
            <a:off x="1425046" y="1386026"/>
            <a:ext cx="9597940" cy="3600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/>
                <a:ea typeface="Verdana"/>
                <a:cs typeface="Verdana"/>
              </a:rPr>
              <a:t>Ellen and Frey were given the balance scale shown below, and told to write and solve an algebraic equation using inverse operations.   </a:t>
            </a:r>
          </a:p>
          <a:p>
            <a:r>
              <a:rPr lang="en-US" sz="2400" dirty="0">
                <a:latin typeface="Verdana"/>
                <a:ea typeface="Verdana"/>
                <a:cs typeface="Verdana"/>
              </a:rPr>
              <a:t> </a:t>
            </a:r>
          </a:p>
          <a:p>
            <a:r>
              <a:rPr lang="en-US" sz="2400" dirty="0">
                <a:latin typeface="Verdana"/>
                <a:ea typeface="Verdana"/>
                <a:cs typeface="Verdana"/>
              </a:rPr>
              <a:t> </a:t>
            </a:r>
          </a:p>
          <a:p>
            <a:endParaRPr lang="en-US" sz="2400" dirty="0">
              <a:latin typeface="Verdana"/>
              <a:ea typeface="Verdana"/>
              <a:cs typeface="Verdana"/>
            </a:endParaRPr>
          </a:p>
          <a:p>
            <a:endParaRPr lang="en-US" sz="2400" dirty="0">
              <a:latin typeface="Verdana"/>
              <a:ea typeface="Verdana"/>
              <a:cs typeface="Verdana"/>
            </a:endParaRPr>
          </a:p>
          <a:p>
            <a:endParaRPr lang="en-US" sz="2400" dirty="0">
              <a:latin typeface="Verdana"/>
              <a:ea typeface="Verdana"/>
              <a:cs typeface="Verdana"/>
            </a:endParaRPr>
          </a:p>
          <a:p>
            <a:endParaRPr lang="en-US" sz="2400" dirty="0">
              <a:latin typeface="Verdana"/>
              <a:ea typeface="Verdana"/>
              <a:cs typeface="Verdana"/>
            </a:endParaRPr>
          </a:p>
          <a:p>
            <a:endParaRPr dirty="0"/>
          </a:p>
        </p:txBody>
      </p:sp>
      <p:sp>
        <p:nvSpPr>
          <p:cNvPr id="200" name="Google Shape;200;p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8" name="Picture 7" descr="Diagram&#10;&#10;Description automatically generated">
            <a:extLst>
              <a:ext uri="{FF2B5EF4-FFF2-40B4-BE49-F238E27FC236}">
                <a16:creationId xmlns:a16="http://schemas.microsoft.com/office/drawing/2014/main" id="{699E6AC1-4E4F-4D4C-A26A-7AED95FEB94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16000"/>
                    </a14:imgEffect>
                    <a14:imgEffect>
                      <a14:brightnessContrast contrast="27000"/>
                    </a14:imgEffect>
                  </a14:imgLayer>
                </a14:imgProps>
              </a:ext>
            </a:extLst>
          </a:blip>
          <a:srcRect t="14288"/>
          <a:stretch/>
        </p:blipFill>
        <p:spPr bwMode="auto">
          <a:xfrm>
            <a:off x="3587086" y="3215317"/>
            <a:ext cx="5017828" cy="287115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0" name="Google Shape;125;g104476d1465_1_17"/>
          <p:cNvSpPr txBox="1"/>
          <p:nvPr/>
        </p:nvSpPr>
        <p:spPr>
          <a:xfrm>
            <a:off x="865777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355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126;g104476d1465_1_17"/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9600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8"/>
          <p:cNvSpPr txBox="1"/>
          <p:nvPr/>
        </p:nvSpPr>
        <p:spPr>
          <a:xfrm>
            <a:off x="1114425" y="520394"/>
            <a:ext cx="10113816" cy="4739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60375"/>
            <a:r>
              <a:rPr lang="en-US" sz="2400" dirty="0">
                <a:latin typeface="Verdana"/>
                <a:ea typeface="Verdana"/>
                <a:cs typeface="Verdana"/>
              </a:rPr>
              <a:t>Ellen said, “There’s no way to write an algebraic equation. If we can write an algebraic equation, we do not need inverse operations to solve it.”</a:t>
            </a:r>
          </a:p>
          <a:p>
            <a:pPr marL="460375"/>
            <a:r>
              <a:rPr lang="en-US" sz="2400" dirty="0">
                <a:latin typeface="Verdana"/>
                <a:ea typeface="Verdana"/>
                <a:cs typeface="Verdana"/>
              </a:rPr>
              <a:t> </a:t>
            </a:r>
          </a:p>
          <a:p>
            <a:pPr marL="460375"/>
            <a:r>
              <a:rPr lang="en-US" sz="2400" dirty="0">
                <a:latin typeface="Verdana"/>
                <a:ea typeface="Verdana"/>
                <a:cs typeface="Verdana"/>
              </a:rPr>
              <a:t>Frey said, “The only way to solve an algebraic equation is to use inverse operations to show the math is being reversed.”</a:t>
            </a:r>
          </a:p>
          <a:p>
            <a:pPr marL="460375"/>
            <a:endParaRPr lang="en-US" sz="2400" dirty="0">
              <a:latin typeface="Verdana"/>
              <a:ea typeface="Verdana"/>
              <a:cs typeface="Verdana"/>
            </a:endParaRPr>
          </a:p>
          <a:p>
            <a:pPr marL="460375"/>
            <a:endParaRPr lang="en-US" sz="2400" dirty="0">
              <a:latin typeface="Verdana"/>
              <a:ea typeface="Verdana"/>
              <a:cs typeface="Verdana"/>
            </a:endParaRPr>
          </a:p>
          <a:p>
            <a:pPr marL="460375"/>
            <a:endParaRPr lang="en-US" sz="2400" dirty="0">
              <a:latin typeface="Verdana"/>
              <a:ea typeface="Verdana"/>
              <a:cs typeface="Verdana"/>
            </a:endParaRPr>
          </a:p>
          <a:p>
            <a:pPr marL="927100" indent="-455613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Whose statement do you agree with and why? Explain your answer to your partner.</a:t>
            </a:r>
          </a:p>
          <a:p>
            <a:pPr marL="460375"/>
            <a:endParaRPr lang="en-US" sz="2400" dirty="0">
              <a:latin typeface="Verdana"/>
              <a:ea typeface="Verdana"/>
              <a:cs typeface="Verdana"/>
            </a:endParaRPr>
          </a:p>
          <a:p>
            <a:endParaRPr dirty="0"/>
          </a:p>
        </p:txBody>
      </p:sp>
      <p:sp>
        <p:nvSpPr>
          <p:cNvPr id="209" name="Google Shape;209;p8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7" name="Google Shape;125;g104476d1465_1_17"/>
          <p:cNvSpPr txBox="1"/>
          <p:nvPr/>
        </p:nvSpPr>
        <p:spPr>
          <a:xfrm>
            <a:off x="865777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355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9600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8"/>
          <p:cNvSpPr txBox="1"/>
          <p:nvPr/>
        </p:nvSpPr>
        <p:spPr>
          <a:xfrm>
            <a:off x="1057275" y="520394"/>
            <a:ext cx="10228116" cy="4893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27100" indent="-457200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Write the algebraic equation represented by the balance scale. </a:t>
            </a:r>
          </a:p>
          <a:p>
            <a:pPr marL="927100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27100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27100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27100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27100" indent="-457200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Solve the equation and show the steps you took.  </a:t>
            </a:r>
          </a:p>
          <a:p>
            <a:pPr marL="927100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27100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27100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27100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27100" indent="-457200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How many gold coins are in the bag? Compare your answer with your partner.</a:t>
            </a:r>
          </a:p>
        </p:txBody>
      </p:sp>
      <p:sp>
        <p:nvSpPr>
          <p:cNvPr id="209" name="Google Shape;209;p8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6" name="Google Shape;125;g104476d1465_1_17"/>
          <p:cNvSpPr txBox="1"/>
          <p:nvPr/>
        </p:nvSpPr>
        <p:spPr>
          <a:xfrm>
            <a:off x="865777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356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9600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725819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8"/>
          <p:cNvSpPr txBox="1"/>
          <p:nvPr/>
        </p:nvSpPr>
        <p:spPr>
          <a:xfrm>
            <a:off x="1042988" y="520394"/>
            <a:ext cx="10256690" cy="341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60375" indent="-460375"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 bar model is shown.</a:t>
            </a:r>
          </a:p>
          <a:p>
            <a:pPr marL="460375" indent="-460375">
              <a:buFont typeface="+mj-lt"/>
              <a:buAutoNum type="arabi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60375" indent="-460375">
              <a:buFont typeface="+mj-lt"/>
              <a:buAutoNum type="arabi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60375" indent="-460375">
              <a:buFont typeface="+mj-lt"/>
              <a:buAutoNum type="arabi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60375" indent="-460375">
              <a:buFont typeface="+mj-lt"/>
              <a:buAutoNum type="arabi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60375" indent="-460375">
              <a:buFont typeface="+mj-lt"/>
              <a:buAutoNum type="arabi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60375" indent="-460375">
              <a:buFont typeface="+mj-lt"/>
              <a:buAutoNum type="arabi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20750" indent="-45085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Write an addition equation and a subtraction equation that can be represented by the bar model.</a:t>
            </a:r>
          </a:p>
        </p:txBody>
      </p:sp>
      <p:sp>
        <p:nvSpPr>
          <p:cNvPr id="209" name="Google Shape;209;p8"/>
          <p:cNvSpPr/>
          <p:nvPr/>
        </p:nvSpPr>
        <p:spPr>
          <a:xfrm>
            <a:off x="-7835" y="6689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331C055-8C25-A246-AE8F-A0CB8660A410}"/>
              </a:ext>
            </a:extLst>
          </p:cNvPr>
          <p:cNvGrpSpPr/>
          <p:nvPr/>
        </p:nvGrpSpPr>
        <p:grpSpPr>
          <a:xfrm>
            <a:off x="4081231" y="1370664"/>
            <a:ext cx="4180205" cy="1733550"/>
            <a:chOff x="0" y="0"/>
            <a:chExt cx="4180522" cy="1734048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43D5110-550D-004B-8C55-EB578956A36F}"/>
                </a:ext>
              </a:extLst>
            </p:cNvPr>
            <p:cNvSpPr/>
            <p:nvPr/>
          </p:nvSpPr>
          <p:spPr>
            <a:xfrm>
              <a:off x="0" y="0"/>
              <a:ext cx="4166870" cy="612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 Box 19">
                  <a:extLst>
                    <a:ext uri="{FF2B5EF4-FFF2-40B4-BE49-F238E27FC236}">
                      <a16:creationId xmlns:a16="http://schemas.microsoft.com/office/drawing/2014/main" id="{11E07383-81FC-2C46-A73A-C398AABC294E}"/>
                    </a:ext>
                  </a:extLst>
                </p:cNvPr>
                <p:cNvSpPr txBox="1"/>
                <p:nvPr/>
              </p:nvSpPr>
              <p:spPr>
                <a:xfrm>
                  <a:off x="1040596" y="22024"/>
                  <a:ext cx="393539" cy="509094"/>
                </a:xfrm>
                <a:prstGeom prst="rect">
                  <a:avLst/>
                </a:prstGeom>
                <a:solidFill>
                  <a:schemeClr val="lt1"/>
                </a:solidFill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>
                    <a:spcBef>
                      <a:spcPts val="900"/>
                    </a:spcBef>
                    <a:spcAft>
                      <a:spcPts val="9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i="1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sz="1200"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" name="Text Box 19">
                  <a:extLst>
                    <a:ext uri="{FF2B5EF4-FFF2-40B4-BE49-F238E27FC236}">
                      <a16:creationId xmlns:a16="http://schemas.microsoft.com/office/drawing/2014/main" id="{11E07383-81FC-2C46-A73A-C398AABC29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0596" y="22024"/>
                  <a:ext cx="393539" cy="50909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635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 Box 21">
                  <a:extLst>
                    <a:ext uri="{FF2B5EF4-FFF2-40B4-BE49-F238E27FC236}">
                      <a16:creationId xmlns:a16="http://schemas.microsoft.com/office/drawing/2014/main" id="{570AD48B-AE8C-1D40-B446-500558AE6F6C}"/>
                    </a:ext>
                  </a:extLst>
                </p:cNvPr>
                <p:cNvSpPr txBox="1"/>
                <p:nvPr/>
              </p:nvSpPr>
              <p:spPr>
                <a:xfrm>
                  <a:off x="3679624" y="22024"/>
                  <a:ext cx="393539" cy="509094"/>
                </a:xfrm>
                <a:prstGeom prst="rect">
                  <a:avLst/>
                </a:prstGeom>
                <a:solidFill>
                  <a:schemeClr val="lt1"/>
                </a:solidFill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>
                    <a:spcBef>
                      <a:spcPts val="900"/>
                    </a:spcBef>
                    <a:spcAft>
                      <a:spcPts val="9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i="1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  <m:t>3</m:t>
                        </m:r>
                      </m:oMath>
                    </m:oMathPara>
                  </a14:m>
                  <a:endParaRPr lang="en-US" sz="1200"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9" name="Text Box 21">
                  <a:extLst>
                    <a:ext uri="{FF2B5EF4-FFF2-40B4-BE49-F238E27FC236}">
                      <a16:creationId xmlns:a16="http://schemas.microsoft.com/office/drawing/2014/main" id="{570AD48B-AE8C-1D40-B446-500558AE6F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79624" y="22024"/>
                  <a:ext cx="393539" cy="509094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635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B9BBE5F8-5C8C-854E-8358-97A8013828A7}"/>
                </a:ext>
              </a:extLst>
            </p:cNvPr>
            <p:cNvCxnSpPr/>
            <p:nvPr/>
          </p:nvCxnSpPr>
          <p:spPr>
            <a:xfrm>
              <a:off x="3442182" y="1125"/>
              <a:ext cx="0" cy="61214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Right Brace 10">
              <a:extLst>
                <a:ext uri="{FF2B5EF4-FFF2-40B4-BE49-F238E27FC236}">
                  <a16:creationId xmlns:a16="http://schemas.microsoft.com/office/drawing/2014/main" id="{22B12E80-23D9-F448-9D24-5EFC761811A0}"/>
                </a:ext>
              </a:extLst>
            </p:cNvPr>
            <p:cNvSpPr/>
            <p:nvPr/>
          </p:nvSpPr>
          <p:spPr>
            <a:xfrm rot="5400000">
              <a:off x="1861112" y="-1173705"/>
              <a:ext cx="461862" cy="4176958"/>
            </a:xfrm>
            <a:prstGeom prst="rightBrace">
              <a:avLst/>
            </a:prstGeom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 Box 24">
                  <a:extLst>
                    <a:ext uri="{FF2B5EF4-FFF2-40B4-BE49-F238E27FC236}">
                      <a16:creationId xmlns:a16="http://schemas.microsoft.com/office/drawing/2014/main" id="{F8283722-847C-7446-8AB0-E6470D313124}"/>
                    </a:ext>
                  </a:extLst>
                </p:cNvPr>
                <p:cNvSpPr txBox="1"/>
                <p:nvPr/>
              </p:nvSpPr>
              <p:spPr>
                <a:xfrm>
                  <a:off x="1862398" y="1144768"/>
                  <a:ext cx="393065" cy="589280"/>
                </a:xfrm>
                <a:prstGeom prst="rect">
                  <a:avLst/>
                </a:prstGeom>
                <a:solidFill>
                  <a:schemeClr val="lt1"/>
                </a:solidFill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>
                    <a:spcBef>
                      <a:spcPts val="900"/>
                    </a:spcBef>
                    <a:spcAft>
                      <a:spcPts val="9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i="1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  <m:t>21</m:t>
                        </m:r>
                      </m:oMath>
                    </m:oMathPara>
                  </a14:m>
                  <a:endParaRPr lang="en-US" sz="1200"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2" name="Text Box 24">
                  <a:extLst>
                    <a:ext uri="{FF2B5EF4-FFF2-40B4-BE49-F238E27FC236}">
                      <a16:creationId xmlns:a16="http://schemas.microsoft.com/office/drawing/2014/main" id="{F8283722-847C-7446-8AB0-E6470D3131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62398" y="1144768"/>
                  <a:ext cx="393065" cy="589280"/>
                </a:xfrm>
                <a:prstGeom prst="rect">
                  <a:avLst/>
                </a:prstGeom>
                <a:blipFill>
                  <a:blip r:embed="rId6"/>
                  <a:stretch>
                    <a:fillRect r="-9677"/>
                  </a:stretch>
                </a:blipFill>
                <a:ln w="635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EBA22B7-CC68-754B-9D1B-1D3A391839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4211930"/>
              </p:ext>
            </p:extLst>
          </p:nvPr>
        </p:nvGraphicFramePr>
        <p:xfrm>
          <a:off x="2485004" y="4746275"/>
          <a:ext cx="7463747" cy="95758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664211">
                  <a:extLst>
                    <a:ext uri="{9D8B030D-6E8A-4147-A177-3AD203B41FA5}">
                      <a16:colId xmlns:a16="http://schemas.microsoft.com/office/drawing/2014/main" val="3944478275"/>
                    </a:ext>
                  </a:extLst>
                </a:gridCol>
                <a:gridCol w="3799536">
                  <a:extLst>
                    <a:ext uri="{9D8B030D-6E8A-4147-A177-3AD203B41FA5}">
                      <a16:colId xmlns:a16="http://schemas.microsoft.com/office/drawing/2014/main" val="3485951019"/>
                    </a:ext>
                  </a:extLst>
                </a:gridCol>
              </a:tblGrid>
              <a:tr h="287639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Addition Equation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Subtraction Equation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4667403"/>
                  </a:ext>
                </a:extLst>
              </a:tr>
              <a:tr h="66995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890964"/>
                  </a:ext>
                </a:extLst>
              </a:tr>
            </a:tbl>
          </a:graphicData>
        </a:graphic>
      </p:graphicFrame>
      <p:sp>
        <p:nvSpPr>
          <p:cNvPr id="15" name="Google Shape;125;g104476d1465_1_17"/>
          <p:cNvSpPr txBox="1"/>
          <p:nvPr/>
        </p:nvSpPr>
        <p:spPr>
          <a:xfrm>
            <a:off x="865777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356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" name="Google Shape;126;g104476d1465_1_17"/>
          <p:cNvPicPr preferRelativeResize="0"/>
          <p:nvPr/>
        </p:nvPicPr>
        <p:blipFill rotWithShape="1"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9600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885606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08" name="Google Shape;208;p8"/>
              <p:cNvSpPr txBox="1"/>
              <p:nvPr/>
            </p:nvSpPr>
            <p:spPr>
              <a:xfrm>
                <a:off x="1071563" y="520394"/>
                <a:ext cx="10199540" cy="48936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920750" indent="-450850">
                  <a:buFont typeface="+mj-lt"/>
                  <a:buAutoNum type="alphaL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Describe the relationship between the two equations.</a:t>
                </a:r>
              </a:p>
              <a:p>
                <a:pPr marL="920750" indent="-450850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20750" indent="-450850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20750" indent="-450850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20750" indent="-450850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20750" indent="-450850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20750" indent="-450850">
                  <a:buFont typeface="+mj-lt"/>
                  <a:buAutoNum type="alphaL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Find the value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using either equation.</a:t>
                </a:r>
              </a:p>
              <a:p>
                <a:pPr marL="920750" indent="-450850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20750" indent="-450850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20750" indent="-450850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20750" indent="-450850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20750" indent="-450850">
                  <a:buFont typeface="+mj-lt"/>
                  <a:buAutoNum type="alphaL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Check your solution with your partner. Make any revisions if necessary.</a:t>
                </a:r>
              </a:p>
            </p:txBody>
          </p:sp>
        </mc:Choice>
        <mc:Fallback xmlns="">
          <p:sp>
            <p:nvSpPr>
              <p:cNvPr id="208" name="Google Shape;208;p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1563" y="520394"/>
                <a:ext cx="10199540" cy="4893607"/>
              </a:xfrm>
              <a:prstGeom prst="rect">
                <a:avLst/>
              </a:prstGeom>
              <a:blipFill rotWithShape="0">
                <a:blip r:embed="rId3"/>
                <a:stretch>
                  <a:fillRect t="-996" r="-837" b="-186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9" name="Google Shape;209;p8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7" name="Google Shape;125;g104476d1465_1_17"/>
          <p:cNvSpPr txBox="1"/>
          <p:nvPr/>
        </p:nvSpPr>
        <p:spPr>
          <a:xfrm>
            <a:off x="865777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356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9600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693533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1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337" name="Google Shape;337;p21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ct val="96969"/>
            </a:pPr>
            <a:r>
              <a:rPr lang="en-US" sz="55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39" name="Google Shape;339;p21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2723" y="2852923"/>
            <a:ext cx="1152144" cy="115214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8" name="Google Shape;125;g104476d1465_1_17"/>
          <p:cNvSpPr txBox="1"/>
          <p:nvPr/>
        </p:nvSpPr>
        <p:spPr>
          <a:xfrm>
            <a:off x="865777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357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9600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2"/>
          <p:cNvSpPr txBox="1"/>
          <p:nvPr/>
        </p:nvSpPr>
        <p:spPr>
          <a:xfrm>
            <a:off x="1233975" y="-100016"/>
            <a:ext cx="101620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28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14.4.3 Guided Practice: </a:t>
            </a:r>
            <a:r>
              <a:rPr lang="en-US" sz="2800" b="1" dirty="0">
                <a:solidFill>
                  <a:srgbClr val="54B5D1"/>
                </a:solidFill>
                <a:latin typeface="Verdana"/>
                <a:ea typeface="Verdana"/>
                <a:cs typeface="Verdana"/>
              </a:rPr>
              <a:t>Solving One-Step Algebraic Equations Using Inverse Operations</a:t>
            </a:r>
            <a:endParaRPr sz="1100" dirty="0"/>
          </a:p>
        </p:txBody>
      </p:sp>
      <p:pic>
        <p:nvPicPr>
          <p:cNvPr id="348" name="Google Shape;348;p22" descr="Icon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4167" y="166026"/>
            <a:ext cx="749808" cy="74980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49" name="Google Shape;349;p22"/>
              <p:cNvSpPr txBox="1"/>
              <p:nvPr/>
            </p:nvSpPr>
            <p:spPr>
              <a:xfrm>
                <a:off x="1233975" y="1386026"/>
                <a:ext cx="9980082" cy="32623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/>
                    <a:ea typeface="Verdana"/>
                    <a:cs typeface="Verdana"/>
                  </a:rPr>
                  <a:t>Use the equation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ea typeface="Verdana"/>
                        <a:cs typeface="Verdana"/>
                      </a:rPr>
                      <m:t>31=</m:t>
                    </m:r>
                    <m:r>
                      <a:rPr lang="en-US" sz="2400">
                        <a:latin typeface="Cambria Math" panose="02040503050406030204" pitchFamily="18" charset="0"/>
                        <a:ea typeface="Verdana"/>
                        <a:cs typeface="Verdana"/>
                      </a:rPr>
                      <m:t>𝑚</m:t>
                    </m:r>
                    <m:r>
                      <a:rPr lang="en-US" sz="2400">
                        <a:latin typeface="Cambria Math" panose="02040503050406030204" pitchFamily="18" charset="0"/>
                        <a:ea typeface="Verdana"/>
                        <a:cs typeface="Verdana"/>
                      </a:rPr>
                      <m:t>−19</m:t>
                    </m:r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</a:rPr>
                  <a:t> to answer the following.</a:t>
                </a:r>
              </a:p>
              <a:p>
                <a:r>
                  <a:rPr lang="en-US" sz="2400" dirty="0">
                    <a:latin typeface="Verdana"/>
                    <a:ea typeface="Verdana"/>
                    <a:cs typeface="Verdana"/>
                  </a:rPr>
                  <a:t> </a:t>
                </a:r>
              </a:p>
              <a:p>
                <a:pPr marL="920750" indent="-450850">
                  <a:buFont typeface="+mj-lt"/>
                  <a:buAutoNum type="alphaLcPeriod"/>
                </a:pPr>
                <a:r>
                  <a:rPr lang="en-US" sz="2400" dirty="0">
                    <a:latin typeface="Verdana"/>
                    <a:ea typeface="Verdana"/>
                    <a:cs typeface="Verdana"/>
                  </a:rPr>
                  <a:t>What operation is being performed in the equation?</a:t>
                </a:r>
              </a:p>
              <a:p>
                <a:pPr marL="920750" indent="-450850">
                  <a:buFont typeface="+mj-lt"/>
                  <a:buAutoNum type="alphaLcPeriod"/>
                </a:pPr>
                <a:endParaRPr lang="en-US" sz="2400" dirty="0">
                  <a:latin typeface="Verdana"/>
                  <a:ea typeface="Verdana"/>
                  <a:cs typeface="Verdana"/>
                </a:endParaRPr>
              </a:p>
              <a:p>
                <a:pPr marL="920750" indent="-450850">
                  <a:buFont typeface="+mj-lt"/>
                  <a:buAutoNum type="alphaLcPeriod"/>
                </a:pPr>
                <a:endParaRPr lang="en-US" sz="2400" dirty="0">
                  <a:latin typeface="Verdana"/>
                  <a:ea typeface="Verdana"/>
                  <a:cs typeface="Verdana"/>
                </a:endParaRPr>
              </a:p>
              <a:p>
                <a:pPr marL="920750" indent="-450850">
                  <a:buFont typeface="+mj-lt"/>
                  <a:buAutoNum type="alphaLcPeriod"/>
                </a:pPr>
                <a:endParaRPr lang="en-US" sz="2400" dirty="0">
                  <a:latin typeface="Verdana"/>
                  <a:ea typeface="Verdana"/>
                  <a:cs typeface="Verdana"/>
                </a:endParaRPr>
              </a:p>
              <a:p>
                <a:pPr marL="920750" indent="-450850">
                  <a:buFont typeface="+mj-lt"/>
                  <a:buAutoNum type="alphaLcPeriod"/>
                </a:pPr>
                <a:endParaRPr lang="en-US" sz="2400" dirty="0">
                  <a:latin typeface="Verdana"/>
                  <a:ea typeface="Verdana"/>
                  <a:cs typeface="Verdana"/>
                </a:endParaRPr>
              </a:p>
              <a:p>
                <a:pPr marL="920750" indent="-450850">
                  <a:buFont typeface="+mj-lt"/>
                  <a:buAutoNum type="alphaLcPeriod"/>
                </a:pPr>
                <a:r>
                  <a:rPr lang="en-US" sz="2400" dirty="0">
                    <a:latin typeface="Verdana"/>
                    <a:ea typeface="Verdana"/>
                    <a:cs typeface="Verdana"/>
                  </a:rPr>
                  <a:t>What is the inverse operation?</a:t>
                </a:r>
              </a:p>
              <a:p>
                <a:endParaRPr dirty="0"/>
              </a:p>
            </p:txBody>
          </p:sp>
        </mc:Choice>
        <mc:Fallback xmlns="">
          <p:sp>
            <p:nvSpPr>
              <p:cNvPr id="349" name="Google Shape;349;p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3975" y="1386026"/>
                <a:ext cx="9980082" cy="3262391"/>
              </a:xfrm>
              <a:prstGeom prst="rect">
                <a:avLst/>
              </a:prstGeom>
              <a:blipFill rotWithShape="0">
                <a:blip r:embed="rId4"/>
                <a:stretch>
                  <a:fillRect l="-916" t="-167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0" name="Google Shape;350;p22"/>
          <p:cNvSpPr/>
          <p:nvPr/>
        </p:nvSpPr>
        <p:spPr>
          <a:xfrm>
            <a:off x="0" y="5653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9" name="Google Shape;125;g104476d1465_1_17"/>
          <p:cNvSpPr txBox="1"/>
          <p:nvPr/>
        </p:nvSpPr>
        <p:spPr>
          <a:xfrm>
            <a:off x="865777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357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9600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58" name="Google Shape;358;p23"/>
              <p:cNvSpPr txBox="1"/>
              <p:nvPr/>
            </p:nvSpPr>
            <p:spPr>
              <a:xfrm>
                <a:off x="942975" y="520394"/>
                <a:ext cx="10456716" cy="34162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920750" indent="-450850">
                  <a:buFont typeface="+mj-lt"/>
                  <a:buAutoNum type="alphaLcPeriod" startAt="3"/>
                </a:pPr>
                <a:r>
                  <a:rPr lang="en-US" sz="2400" dirty="0">
                    <a:latin typeface="Verdana"/>
                    <a:ea typeface="Verdana"/>
                    <a:cs typeface="Verdana"/>
                  </a:rPr>
                  <a:t>Solve the equation using the inverse operation to find the value of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ea typeface="Verdana"/>
                        <a:cs typeface="Verdana"/>
                      </a:rPr>
                      <m:t>𝑚</m:t>
                    </m:r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</a:rPr>
                  <a:t>. Show your work.</a:t>
                </a:r>
              </a:p>
              <a:p>
                <a:pPr marL="920750" indent="-450850">
                  <a:buFont typeface="+mj-lt"/>
                  <a:buAutoNum type="alphaLcPeriod" startAt="3"/>
                </a:pPr>
                <a:endParaRPr lang="en-US" sz="2400" dirty="0">
                  <a:latin typeface="Verdana"/>
                  <a:ea typeface="Verdana"/>
                  <a:cs typeface="Verdana"/>
                </a:endParaRPr>
              </a:p>
              <a:p>
                <a:pPr marL="920750" indent="-450850">
                  <a:buFont typeface="+mj-lt"/>
                  <a:buAutoNum type="alphaLcPeriod" startAt="3"/>
                </a:pPr>
                <a:endParaRPr lang="en-US" sz="2400" dirty="0">
                  <a:latin typeface="Verdana"/>
                  <a:ea typeface="Verdana"/>
                  <a:cs typeface="Verdana"/>
                </a:endParaRPr>
              </a:p>
              <a:p>
                <a:pPr marL="920750" indent="-450850">
                  <a:buFont typeface="+mj-lt"/>
                  <a:buAutoNum type="alphaLcPeriod" startAt="3"/>
                </a:pPr>
                <a:endParaRPr lang="en-US" sz="2400" dirty="0">
                  <a:latin typeface="Verdana"/>
                  <a:ea typeface="Verdana"/>
                  <a:cs typeface="Verdana"/>
                </a:endParaRPr>
              </a:p>
              <a:p>
                <a:pPr marL="920750" indent="-450850">
                  <a:buFont typeface="+mj-lt"/>
                  <a:buAutoNum type="alphaLcPeriod" startAt="3"/>
                </a:pPr>
                <a:endParaRPr lang="en-US" sz="2400" dirty="0">
                  <a:latin typeface="Verdana"/>
                  <a:ea typeface="Verdana"/>
                  <a:cs typeface="Verdana"/>
                </a:endParaRPr>
              </a:p>
              <a:p>
                <a:pPr marL="920750" indent="-450850">
                  <a:buFont typeface="+mj-lt"/>
                  <a:buAutoNum type="alphaLcPeriod" startAt="3"/>
                </a:pPr>
                <a:endParaRPr lang="en-US" sz="2400" dirty="0">
                  <a:latin typeface="Verdana"/>
                  <a:ea typeface="Verdana"/>
                  <a:cs typeface="Verdana"/>
                </a:endParaRPr>
              </a:p>
              <a:p>
                <a:pPr marL="920750" indent="-450850">
                  <a:buFont typeface="+mj-lt"/>
                  <a:buAutoNum type="alphaLcPeriod" startAt="3"/>
                </a:pPr>
                <a:r>
                  <a:rPr lang="en-US" sz="2400" dirty="0">
                    <a:latin typeface="Verdana"/>
                    <a:ea typeface="Verdana"/>
                    <a:cs typeface="Verdana"/>
                  </a:rPr>
                  <a:t>Verify that the solution is correct by substituting the value found for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ea typeface="Verdana"/>
                        <a:cs typeface="Verdana"/>
                      </a:rPr>
                      <m:t>𝑚</m:t>
                    </m:r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</a:rPr>
                  <a:t> into the original equation. </a:t>
                </a:r>
              </a:p>
            </p:txBody>
          </p:sp>
        </mc:Choice>
        <mc:Fallback xmlns="">
          <p:sp>
            <p:nvSpPr>
              <p:cNvPr id="358" name="Google Shape;358;p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975" y="520394"/>
                <a:ext cx="10456716" cy="3416279"/>
              </a:xfrm>
              <a:prstGeom prst="rect">
                <a:avLst/>
              </a:prstGeom>
              <a:blipFill rotWithShape="0">
                <a:blip r:embed="rId3"/>
                <a:stretch>
                  <a:fillRect t="-1426" b="-285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9" name="Google Shape;359;p23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7" name="Google Shape;125;g104476d1465_1_17"/>
          <p:cNvSpPr txBox="1"/>
          <p:nvPr/>
        </p:nvSpPr>
        <p:spPr>
          <a:xfrm>
            <a:off x="865777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357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9600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58" name="Google Shape;358;p23"/>
              <p:cNvSpPr txBox="1"/>
              <p:nvPr/>
            </p:nvSpPr>
            <p:spPr>
              <a:xfrm>
                <a:off x="1185864" y="520394"/>
                <a:ext cx="10026452" cy="34162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460375" indent="-460375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the equation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+ 64=−12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to answer the following:</a:t>
                </a:r>
              </a:p>
              <a:p>
                <a:pPr marL="460375" indent="-460375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20750" indent="-45085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is the inverse operation that will be used to solve for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  <a:p>
                <a:pPr marL="920750" indent="-45085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20750" indent="-45085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20750" indent="-45085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20750" indent="-45085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20750" indent="-45085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Write and solve the equation using the inverse operation.  </a:t>
                </a:r>
              </a:p>
            </p:txBody>
          </p:sp>
        </mc:Choice>
        <mc:Fallback xmlns="">
          <p:sp>
            <p:nvSpPr>
              <p:cNvPr id="358" name="Google Shape;358;p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5864" y="520394"/>
                <a:ext cx="10026452" cy="3416279"/>
              </a:xfrm>
              <a:prstGeom prst="rect">
                <a:avLst/>
              </a:prstGeom>
              <a:blipFill rotWithShape="0">
                <a:blip r:embed="rId3"/>
                <a:stretch>
                  <a:fillRect l="-973" t="-13547" r="-2433" b="-303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9" name="Google Shape;359;p23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7" name="Google Shape;125;g104476d1465_1_17"/>
          <p:cNvSpPr txBox="1"/>
          <p:nvPr/>
        </p:nvSpPr>
        <p:spPr>
          <a:xfrm>
            <a:off x="865777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357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9600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415768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58" name="Google Shape;358;p23"/>
              <p:cNvSpPr txBox="1"/>
              <p:nvPr/>
            </p:nvSpPr>
            <p:spPr>
              <a:xfrm>
                <a:off x="1071563" y="520393"/>
                <a:ext cx="10199540" cy="30469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920750" indent="-450850">
                  <a:buFont typeface="+mj-lt"/>
                  <a:buAutoNum type="alphaL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is the value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  <a:p>
                <a:pPr marL="920750" indent="-45085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20750" indent="-45085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20750" indent="-45085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20750" indent="-45085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20750" indent="-45085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20750" indent="-45085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20750" indent="-450850">
                  <a:buFont typeface="+mj-lt"/>
                  <a:buAutoNum type="alphaL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Check your solution with your partner</a:t>
                </a:r>
                <a:r>
                  <a:rPr lang="en-US" dirty="0"/>
                  <a:t>. </a:t>
                </a:r>
              </a:p>
            </p:txBody>
          </p:sp>
        </mc:Choice>
        <mc:Fallback xmlns="">
          <p:sp>
            <p:nvSpPr>
              <p:cNvPr id="358" name="Google Shape;358;p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1563" y="520393"/>
                <a:ext cx="10199540" cy="3046948"/>
              </a:xfrm>
              <a:prstGeom prst="rect">
                <a:avLst/>
              </a:prstGeom>
              <a:blipFill rotWithShape="0">
                <a:blip r:embed="rId3"/>
                <a:stretch>
                  <a:fillRect t="-1800" b="-36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9" name="Google Shape;359;p23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7" name="Google Shape;125;g104476d1465_1_17"/>
          <p:cNvSpPr txBox="1"/>
          <p:nvPr/>
        </p:nvSpPr>
        <p:spPr>
          <a:xfrm>
            <a:off x="865777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357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9600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666623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217" name="Google Shape;217;p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ct val="96969"/>
            </a:pPr>
            <a:r>
              <a:rPr lang="en-US" sz="5500" b="1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19" name="Google Shape;219;p9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0950" y="2814305"/>
            <a:ext cx="1156228" cy="115622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8" name="Google Shape;125;g104476d1465_1_17"/>
          <p:cNvSpPr txBox="1"/>
          <p:nvPr/>
        </p:nvSpPr>
        <p:spPr>
          <a:xfrm>
            <a:off x="865777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358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9600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0"/>
          <p:cNvSpPr txBox="1"/>
          <p:nvPr/>
        </p:nvSpPr>
        <p:spPr>
          <a:xfrm>
            <a:off x="1425499" y="60325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14.4.4 Exploration: </a:t>
            </a: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</a:rPr>
              <a:t>Solving Equations Using Opposites </a:t>
            </a:r>
            <a:endParaRPr sz="3600" b="1" dirty="0">
              <a:solidFill>
                <a:srgbClr val="33BEA6"/>
              </a:solidFill>
              <a:latin typeface="Verdana"/>
              <a:ea typeface="Verdana"/>
              <a:cs typeface="Verdana"/>
            </a:endParaRPr>
          </a:p>
        </p:txBody>
      </p:sp>
      <p:pic>
        <p:nvPicPr>
          <p:cNvPr id="228" name="Google Shape;228;p10" descr="Icon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69201" y="308450"/>
            <a:ext cx="752254" cy="75225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29" name="Google Shape;229;p10"/>
              <p:cNvSpPr txBox="1"/>
              <p:nvPr/>
            </p:nvSpPr>
            <p:spPr>
              <a:xfrm>
                <a:off x="1421455" y="1386025"/>
                <a:ext cx="9605122" cy="15696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r>
                  <a:rPr lang="en-US" sz="2400" dirty="0">
                    <a:latin typeface="Verdana"/>
                    <a:ea typeface="Verdana"/>
                    <a:cs typeface="Verdana"/>
                  </a:rPr>
                  <a:t>Work with your partner to complete the following.</a:t>
                </a:r>
              </a:p>
              <a:p>
                <a:r>
                  <a:rPr lang="en-US" sz="2400" dirty="0">
                    <a:latin typeface="Verdana"/>
                    <a:ea typeface="Verdana"/>
                    <a:cs typeface="Verdana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/>
                    <a:ea typeface="Verdana"/>
                    <a:cs typeface="Verdana"/>
                  </a:rPr>
                  <a:t>Arrange the algebra tiles provided on the equation mat so that they represent the equation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−2+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</a:rPr>
                  <a:t>. </a:t>
                </a:r>
                <a:endParaRPr sz="2400" dirty="0">
                  <a:latin typeface="Verdana"/>
                  <a:ea typeface="Verdana"/>
                  <a:cs typeface="Verdana"/>
                </a:endParaRPr>
              </a:p>
            </p:txBody>
          </p:sp>
        </mc:Choice>
        <mc:Fallback xmlns="">
          <p:sp>
            <p:nvSpPr>
              <p:cNvPr id="229" name="Google Shape;229;p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1455" y="1386025"/>
                <a:ext cx="9605122" cy="1569620"/>
              </a:xfrm>
              <a:prstGeom prst="rect">
                <a:avLst/>
              </a:prstGeom>
              <a:blipFill rotWithShape="0">
                <a:blip r:embed="rId4"/>
                <a:stretch>
                  <a:fillRect l="-952" t="-3101" r="-1840" b="-736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0" name="Google Shape;230;p10"/>
          <p:cNvSpPr/>
          <p:nvPr/>
        </p:nvSpPr>
        <p:spPr>
          <a:xfrm>
            <a:off x="-693" y="0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8" name="Picture 7" descr="Icon&#10;&#10;Description automatically generated">
            <a:extLst>
              <a:ext uri="{FF2B5EF4-FFF2-40B4-BE49-F238E27FC236}">
                <a16:creationId xmlns:a16="http://schemas.microsoft.com/office/drawing/2014/main" id="{EE672E43-692D-5844-92D2-4C891E8FAAA7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41876" y="3556010"/>
            <a:ext cx="391580" cy="1358293"/>
          </a:xfrm>
          <a:prstGeom prst="rect">
            <a:avLst/>
          </a:prstGeom>
        </p:spPr>
      </p:pic>
      <p:pic>
        <p:nvPicPr>
          <p:cNvPr id="9" name="Picture 8" descr="Icon&#10;&#10;Description automatically generated">
            <a:extLst>
              <a:ext uri="{FF2B5EF4-FFF2-40B4-BE49-F238E27FC236}">
                <a16:creationId xmlns:a16="http://schemas.microsoft.com/office/drawing/2014/main" id="{E17F76C6-CD72-BA41-A57C-719F397F03E2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62907" y="3519886"/>
            <a:ext cx="403817" cy="403817"/>
          </a:xfrm>
          <a:prstGeom prst="rect">
            <a:avLst/>
          </a:prstGeom>
        </p:spPr>
      </p:pic>
      <p:pic>
        <p:nvPicPr>
          <p:cNvPr id="10" name="Picture 9" descr="Icon&#10;&#10;Description automatically generated">
            <a:extLst>
              <a:ext uri="{FF2B5EF4-FFF2-40B4-BE49-F238E27FC236}">
                <a16:creationId xmlns:a16="http://schemas.microsoft.com/office/drawing/2014/main" id="{187A0DB2-9526-F24C-AC2D-748C731AA71A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63542" y="4019631"/>
            <a:ext cx="403817" cy="403817"/>
          </a:xfrm>
          <a:prstGeom prst="rect">
            <a:avLst/>
          </a:prstGeom>
        </p:spPr>
      </p:pic>
      <p:pic>
        <p:nvPicPr>
          <p:cNvPr id="11" name="Picture 10" descr="Icon&#10;&#10;Description automatically generated">
            <a:extLst>
              <a:ext uri="{FF2B5EF4-FFF2-40B4-BE49-F238E27FC236}">
                <a16:creationId xmlns:a16="http://schemas.microsoft.com/office/drawing/2014/main" id="{B51CA30B-5174-034D-B37B-3A3A3D54E82A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62907" y="4507311"/>
            <a:ext cx="403817" cy="403817"/>
          </a:xfrm>
          <a:prstGeom prst="rect">
            <a:avLst/>
          </a:prstGeom>
        </p:spPr>
      </p:pic>
      <p:pic>
        <p:nvPicPr>
          <p:cNvPr id="12" name="Picture 11" descr="Icon&#10;&#10;Description automatically generated">
            <a:extLst>
              <a:ext uri="{FF2B5EF4-FFF2-40B4-BE49-F238E27FC236}">
                <a16:creationId xmlns:a16="http://schemas.microsoft.com/office/drawing/2014/main" id="{80CA96A7-5BA9-0F41-9E1F-32B9E82362B4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41087" y="3780236"/>
            <a:ext cx="403817" cy="403817"/>
          </a:xfrm>
          <a:prstGeom prst="rect">
            <a:avLst/>
          </a:prstGeom>
        </p:spPr>
      </p:pic>
      <p:pic>
        <p:nvPicPr>
          <p:cNvPr id="13" name="Picture 12" descr="Icon&#10;&#10;Description automatically generated">
            <a:extLst>
              <a:ext uri="{FF2B5EF4-FFF2-40B4-BE49-F238E27FC236}">
                <a16:creationId xmlns:a16="http://schemas.microsoft.com/office/drawing/2014/main" id="{0770EBBE-104C-994C-AA9E-7E38F8464D32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41087" y="4327606"/>
            <a:ext cx="403817" cy="403817"/>
          </a:xfrm>
          <a:prstGeom prst="rect">
            <a:avLst/>
          </a:prstGeom>
        </p:spPr>
      </p:pic>
      <p:pic>
        <p:nvPicPr>
          <p:cNvPr id="14" name="Picture 13" descr="Chart, scatter chart&#10;&#10;Description automatically generated">
            <a:extLst>
              <a:ext uri="{FF2B5EF4-FFF2-40B4-BE49-F238E27FC236}">
                <a16:creationId xmlns:a16="http://schemas.microsoft.com/office/drawing/2014/main" id="{08A8495F-C9B6-BC44-858B-66AC4DC20D78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31637" y="3324978"/>
            <a:ext cx="4716093" cy="3240325"/>
          </a:xfrm>
          <a:prstGeom prst="rect">
            <a:avLst/>
          </a:prstGeom>
        </p:spPr>
      </p:pic>
      <p:sp>
        <p:nvSpPr>
          <p:cNvPr id="16" name="Google Shape;125;g104476d1465_1_17"/>
          <p:cNvSpPr txBox="1"/>
          <p:nvPr/>
        </p:nvSpPr>
        <p:spPr>
          <a:xfrm>
            <a:off x="865777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358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" name="Google Shape;126;g104476d1465_1_17"/>
          <p:cNvPicPr preferRelativeResize="0"/>
          <p:nvPr/>
        </p:nvPicPr>
        <p:blipFill rotWithShape="1">
          <a:blip r:embed="rId9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9600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38" name="Google Shape;238;p11"/>
              <p:cNvSpPr txBox="1"/>
              <p:nvPr/>
            </p:nvSpPr>
            <p:spPr>
              <a:xfrm>
                <a:off x="942975" y="520394"/>
                <a:ext cx="10456716" cy="28930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/>
                    <a:ea typeface="Verdana"/>
                    <a:cs typeface="Verdana"/>
                  </a:rPr>
                  <a:t>Check your diagram with your partner. </a:t>
                </a:r>
              </a:p>
              <a:p>
                <a:r>
                  <a:rPr lang="en-US" sz="2400" dirty="0">
                    <a:latin typeface="Verdana"/>
                    <a:ea typeface="Verdana"/>
                    <a:cs typeface="Verdana"/>
                  </a:rPr>
                  <a:t> </a:t>
                </a:r>
              </a:p>
              <a:p>
                <a:endParaRPr lang="en-US" sz="2400" dirty="0">
                  <a:latin typeface="Verdana"/>
                  <a:ea typeface="Verdana"/>
                  <a:cs typeface="Verdana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400" dirty="0">
                    <a:latin typeface="Verdana"/>
                    <a:ea typeface="Verdana"/>
                    <a:cs typeface="Verdana"/>
                  </a:rPr>
                  <a:t>For this equation, there are no tiles that can be removed from both sides of the equation to find the value of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</a:rPr>
                  <a:t>.</a:t>
                </a:r>
              </a:p>
              <a:p>
                <a:pPr marL="460375"/>
                <a:r>
                  <a:rPr lang="en-US" sz="2400" dirty="0">
                    <a:latin typeface="Verdana"/>
                    <a:ea typeface="Verdana"/>
                    <a:cs typeface="Verdana"/>
                  </a:rPr>
                  <a:t>Discuss with your partner how zero pairs could be used to find the value of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</a:rPr>
                  <a:t>.</a:t>
                </a:r>
              </a:p>
              <a:p>
                <a:endParaRPr dirty="0"/>
              </a:p>
            </p:txBody>
          </p:sp>
        </mc:Choice>
        <mc:Fallback xmlns="">
          <p:sp>
            <p:nvSpPr>
              <p:cNvPr id="238" name="Google Shape;238;p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975" y="520394"/>
                <a:ext cx="10456716" cy="2893059"/>
              </a:xfrm>
              <a:prstGeom prst="rect">
                <a:avLst/>
              </a:prstGeom>
              <a:blipFill rotWithShape="0">
                <a:blip r:embed="rId3"/>
                <a:stretch>
                  <a:fillRect l="-933" t="-1684" r="-1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9" name="Google Shape;239;p11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7" name="Google Shape;125;g104476d1465_1_17"/>
          <p:cNvSpPr txBox="1"/>
          <p:nvPr/>
        </p:nvSpPr>
        <p:spPr>
          <a:xfrm>
            <a:off x="865777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358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9600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38" name="Google Shape;238;p11"/>
              <p:cNvSpPr txBox="1"/>
              <p:nvPr/>
            </p:nvSpPr>
            <p:spPr>
              <a:xfrm>
                <a:off x="985838" y="520394"/>
                <a:ext cx="10370990" cy="41549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460375" indent="-460375">
                  <a:buFont typeface="+mj-lt"/>
                  <a:buAutoNum type="arabicPeriod" startAt="4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goal when solving an equation is to isolate the variable. Which tiles can be added to both sides of the equation so that all tiles other than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on the left side of the equation can be eliminated?</a:t>
                </a:r>
              </a:p>
              <a:p>
                <a:pPr marL="342900" indent="-342900">
                  <a:buFont typeface="+mj-lt"/>
                  <a:buAutoNum type="arabicPeriod" startAt="4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2900" indent="-342900">
                  <a:buFont typeface="+mj-lt"/>
                  <a:buAutoNum type="arabicPeriod" startAt="4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2900" indent="-342900">
                  <a:buFont typeface="+mj-lt"/>
                  <a:buAutoNum type="arabicPeriod" startAt="4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5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Explain why, when tiles are added to one side of the equation, they also must be added to the other side. </a:t>
                </a:r>
              </a:p>
              <a:p>
                <a:endParaRPr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38" name="Google Shape;238;p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838" y="520394"/>
                <a:ext cx="10370990" cy="4154943"/>
              </a:xfrm>
              <a:prstGeom prst="rect">
                <a:avLst/>
              </a:prstGeom>
              <a:blipFill rotWithShape="0">
                <a:blip r:embed="rId3"/>
                <a:stretch>
                  <a:fillRect l="-941" t="-1173" r="-88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9" name="Google Shape;239;p11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7" name="Google Shape;125;g104476d1465_1_17"/>
          <p:cNvSpPr txBox="1"/>
          <p:nvPr/>
        </p:nvSpPr>
        <p:spPr>
          <a:xfrm>
            <a:off x="865777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358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9600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028418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1"/>
          <p:cNvSpPr txBox="1"/>
          <p:nvPr/>
        </p:nvSpPr>
        <p:spPr>
          <a:xfrm>
            <a:off x="1171575" y="520394"/>
            <a:ext cx="9999516" cy="4154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457200">
              <a:buFont typeface="+mj-lt"/>
              <a:buAutoNum type="arabicPeriod" startAt="6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Draw tiles on the equation mat to represent the solution to the equation.</a:t>
            </a:r>
          </a:p>
          <a:p>
            <a:pPr marL="457200" indent="-457200">
              <a:buFont typeface="+mj-lt"/>
              <a:buAutoNum type="arabicPeriod" startAt="6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6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6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6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6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6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6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6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/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39" name="Google Shape;239;p11"/>
          <p:cNvSpPr/>
          <p:nvPr/>
        </p:nvSpPr>
        <p:spPr>
          <a:xfrm>
            <a:off x="-26815" y="-8101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7" name="Picture 6" descr="Chart, scatter chart&#10;&#10;Description automatically generated">
            <a:extLst>
              <a:ext uri="{FF2B5EF4-FFF2-40B4-BE49-F238E27FC236}">
                <a16:creationId xmlns:a16="http://schemas.microsoft.com/office/drawing/2014/main" id="{03520C07-A7A4-8845-B005-ADE11C26E40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9146" y="1384716"/>
            <a:ext cx="4704375" cy="3232607"/>
          </a:xfrm>
          <a:prstGeom prst="rect">
            <a:avLst/>
          </a:prstGeom>
        </p:spPr>
      </p:pic>
      <p:pic>
        <p:nvPicPr>
          <p:cNvPr id="8" name="Picture 7" descr="Icon&#10;&#10;Description automatically generated">
            <a:extLst>
              <a:ext uri="{FF2B5EF4-FFF2-40B4-BE49-F238E27FC236}">
                <a16:creationId xmlns:a16="http://schemas.microsoft.com/office/drawing/2014/main" id="{1600F34A-CC78-464B-9518-62B5696B2E90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96904" y="2425987"/>
            <a:ext cx="331549" cy="1150062"/>
          </a:xfrm>
          <a:prstGeom prst="rect">
            <a:avLst/>
          </a:prstGeom>
        </p:spPr>
      </p:pic>
      <p:sp>
        <p:nvSpPr>
          <p:cNvPr id="10" name="Google Shape;125;g104476d1465_1_17"/>
          <p:cNvSpPr txBox="1"/>
          <p:nvPr/>
        </p:nvSpPr>
        <p:spPr>
          <a:xfrm>
            <a:off x="865777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358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126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9600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562776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38" name="Google Shape;238;p11"/>
              <p:cNvSpPr txBox="1"/>
              <p:nvPr/>
            </p:nvSpPr>
            <p:spPr>
              <a:xfrm>
                <a:off x="1042988" y="520394"/>
                <a:ext cx="10256690" cy="41630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460375" indent="-460375">
                  <a:buFont typeface="+mj-lt"/>
                  <a:buAutoNum type="arabicPeriod" startAt="7"/>
                  <a:tabLst>
                    <a:tab pos="450850" algn="l"/>
                  </a:tabLst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is the value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  <a:p>
                <a:pPr marL="460375" indent="-460375">
                  <a:buFont typeface="+mj-lt"/>
                  <a:buAutoNum type="arabicPeriod" startAt="7"/>
                  <a:tabLst>
                    <a:tab pos="450850" algn="l"/>
                  </a:tabLst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60375" indent="-460375">
                  <a:buFont typeface="+mj-lt"/>
                  <a:buAutoNum type="arabicPeriod" startAt="7"/>
                  <a:tabLst>
                    <a:tab pos="450850" algn="l"/>
                  </a:tabLst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60375" indent="-460375">
                  <a:buFont typeface="+mj-lt"/>
                  <a:buAutoNum type="arabicPeriod" startAt="7"/>
                  <a:tabLst>
                    <a:tab pos="450850" algn="l"/>
                  </a:tabLst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60375" indent="-460375">
                  <a:buFont typeface="+mj-lt"/>
                  <a:buAutoNum type="arabicPeriod" startAt="7"/>
                  <a:tabLst>
                    <a:tab pos="450850" algn="l"/>
                  </a:tabLst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60375" indent="-460375">
                  <a:buFont typeface="+mj-lt"/>
                  <a:buAutoNum type="arabicPeriod" startAt="7"/>
                  <a:tabLst>
                    <a:tab pos="450850" algn="l"/>
                  </a:tabLst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60375" indent="-460375">
                  <a:buFont typeface="+mj-lt"/>
                  <a:buAutoNum type="arabicPeriod" startAt="7"/>
                  <a:tabLst>
                    <a:tab pos="450850" algn="l"/>
                  </a:tabLst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60375" indent="-460375">
                  <a:buFont typeface="+mj-lt"/>
                  <a:buAutoNum type="arabicPeriod" startAt="7"/>
                  <a:tabLst>
                    <a:tab pos="450850" algn="l"/>
                  </a:tabLst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Discuss with your partner how solving for the variable in the equation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−2+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was different from solving for the variable in the equation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+ 64=</m:t>
                    </m:r>
                    <m:sPre>
                      <m:sPre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PrePr>
                      <m:sub/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12</m:t>
                        </m:r>
                      </m:e>
                    </m:sPre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even though both equations include addition. Summarize your discussion.</a:t>
                </a:r>
              </a:p>
            </p:txBody>
          </p:sp>
        </mc:Choice>
        <mc:Fallback xmlns="">
          <p:sp>
            <p:nvSpPr>
              <p:cNvPr id="238" name="Google Shape;238;p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2988" y="520394"/>
                <a:ext cx="10256690" cy="4163087"/>
              </a:xfrm>
              <a:prstGeom prst="rect">
                <a:avLst/>
              </a:prstGeom>
              <a:blipFill rotWithShape="0">
                <a:blip r:embed="rId3"/>
                <a:stretch>
                  <a:fillRect l="-891" t="-1318" b="-483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9" name="Google Shape;239;p11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7" name="Google Shape;125;g104476d1465_1_17"/>
          <p:cNvSpPr txBox="1"/>
          <p:nvPr/>
        </p:nvSpPr>
        <p:spPr>
          <a:xfrm>
            <a:off x="865777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359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9600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471905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"/>
          <p:cNvSpPr/>
          <p:nvPr/>
        </p:nvSpPr>
        <p:spPr>
          <a:xfrm>
            <a:off x="0" y="-8101"/>
            <a:ext cx="2731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187" name="Google Shape;187;p6"/>
          <p:cNvSpPr txBox="1">
            <a:spLocks noGrp="1"/>
          </p:cNvSpPr>
          <p:nvPr>
            <p:ph type="title" idx="4294967295"/>
          </p:nvPr>
        </p:nvSpPr>
        <p:spPr>
          <a:xfrm>
            <a:off x="5665258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ct val="96969"/>
            </a:pPr>
            <a:r>
              <a:rPr lang="en-US" sz="5500" b="1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89" name="Google Shape;189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3114" y="2852923"/>
            <a:ext cx="1152144" cy="115214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8" name="Google Shape;125;g104476d1465_1_17"/>
          <p:cNvSpPr txBox="1"/>
          <p:nvPr/>
        </p:nvSpPr>
        <p:spPr>
          <a:xfrm>
            <a:off x="865777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359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9600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68441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7"/>
          <p:cNvSpPr txBox="1"/>
          <p:nvPr/>
        </p:nvSpPr>
        <p:spPr>
          <a:xfrm>
            <a:off x="1425046" y="24134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14.4.5 Collaboration: </a:t>
            </a: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</a:rPr>
              <a:t>Solving Equations </a:t>
            </a:r>
            <a:endParaRPr sz="3200" b="1" dirty="0">
              <a:solidFill>
                <a:srgbClr val="33BEA6"/>
              </a:solidFill>
              <a:latin typeface="Verdana"/>
              <a:ea typeface="Verdana"/>
              <a:cs typeface="Verdana"/>
            </a:endParaRPr>
          </a:p>
        </p:txBody>
      </p:sp>
      <p:pic>
        <p:nvPicPr>
          <p:cNvPr id="198" name="Google Shape;198;p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75238" y="302999"/>
            <a:ext cx="749808" cy="74980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99" name="Google Shape;199;p7"/>
          <p:cNvSpPr txBox="1"/>
          <p:nvPr/>
        </p:nvSpPr>
        <p:spPr>
          <a:xfrm>
            <a:off x="1425046" y="1386025"/>
            <a:ext cx="9597940" cy="470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With your partner, determine who will be Partner A and who will be Partner B.</a:t>
            </a: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Solve the equations from your designated column.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equations in each row have the same solutions. Check your work with your partner, making revisions to your work if necessary.</a:t>
            </a:r>
          </a:p>
        </p:txBody>
      </p:sp>
      <p:sp>
        <p:nvSpPr>
          <p:cNvPr id="200" name="Google Shape;200;p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02D3C50A-35C5-E24D-A09E-39B15D9C03C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04895232"/>
                  </p:ext>
                </p:extLst>
              </p:nvPr>
            </p:nvGraphicFramePr>
            <p:xfrm>
              <a:off x="2875190" y="2958931"/>
              <a:ext cx="5417911" cy="1854369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2206917">
                      <a:extLst>
                        <a:ext uri="{9D8B030D-6E8A-4147-A177-3AD203B41FA5}">
                          <a16:colId xmlns:a16="http://schemas.microsoft.com/office/drawing/2014/main" val="2285989849"/>
                        </a:ext>
                      </a:extLst>
                    </a:gridCol>
                    <a:gridCol w="3210994">
                      <a:extLst>
                        <a:ext uri="{9D8B030D-6E8A-4147-A177-3AD203B41FA5}">
                          <a16:colId xmlns:a16="http://schemas.microsoft.com/office/drawing/2014/main" val="697434183"/>
                        </a:ext>
                      </a:extLst>
                    </a:gridCol>
                  </a:tblGrid>
                  <a:tr h="388308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Partner A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Partner B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1994285"/>
                      </a:ext>
                    </a:extLst>
                  </a:tr>
                  <a:tr h="488687"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  <m:r>
                                  <a:rPr lang="en-US" sz="2000" b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r>
                                  <a:rPr lang="en-US" sz="2000" b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000" b="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US" sz="2000" b="0" dirty="0">
                            <a:solidFill>
                              <a:schemeClr val="tx1"/>
                            </a:solidFill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73152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b="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r>
                                  <a:rPr lang="en-US" sz="2000" b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r>
                                  <a:rPr lang="en-US" sz="2000" b="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  <m:r>
                                  <a:rPr lang="en-US" sz="2000" b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000" b="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US" sz="2000" b="0" dirty="0">
                            <a:solidFill>
                              <a:schemeClr val="tx1"/>
                            </a:solidFill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73152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08349144"/>
                      </a:ext>
                    </a:extLst>
                  </a:tr>
                  <a:tr h="488687"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sz="2000" b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b="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  <m:r>
                                  <a:rPr lang="en-US" sz="2000" b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sz="2000" b="0" dirty="0">
                            <a:solidFill>
                              <a:schemeClr val="tx1"/>
                            </a:solidFill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73152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  <m:r>
                                  <a:rPr lang="en-US" sz="2000" b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sz="2000" b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b="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16</m:t>
                                </m:r>
                              </m:oMath>
                            </m:oMathPara>
                          </a14:m>
                          <a:endParaRPr lang="en-US" sz="2000" b="0" dirty="0">
                            <a:solidFill>
                              <a:schemeClr val="tx1"/>
                            </a:solidFill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73152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41507312"/>
                      </a:ext>
                    </a:extLst>
                  </a:tr>
                  <a:tr h="488687"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469</m:t>
                                </m:r>
                                <m:r>
                                  <a:rPr lang="en-US" sz="2000" b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456</m:t>
                                </m:r>
                                <m:r>
                                  <a:rPr lang="en-US" sz="2000" b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000" b="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oMath>
                            </m:oMathPara>
                          </a14:m>
                          <a:endParaRPr lang="en-US" sz="2000" b="0" dirty="0">
                            <a:solidFill>
                              <a:schemeClr val="tx1"/>
                            </a:solidFill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73152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b="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469</m:t>
                                </m:r>
                                <m:r>
                                  <a:rPr lang="en-US" sz="2000" b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000" b="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  <m:r>
                                  <a:rPr lang="en-US" sz="2000" b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r>
                                  <a:rPr lang="en-US" sz="2000" b="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456</m:t>
                                </m:r>
                              </m:oMath>
                            </m:oMathPara>
                          </a14:m>
                          <a:endParaRPr lang="en-US" sz="2000" b="0" dirty="0">
                            <a:solidFill>
                              <a:schemeClr val="tx1"/>
                            </a:solidFill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73152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0259497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02D3C50A-35C5-E24D-A09E-39B15D9C03C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04895232"/>
                  </p:ext>
                </p:extLst>
              </p:nvPr>
            </p:nvGraphicFramePr>
            <p:xfrm>
              <a:off x="1351189" y="2958930"/>
              <a:ext cx="5417911" cy="1854369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2206917">
                      <a:extLst>
                        <a:ext uri="{9D8B030D-6E8A-4147-A177-3AD203B41FA5}">
                          <a16:colId xmlns:a16="http://schemas.microsoft.com/office/drawing/2014/main" val="2285989849"/>
                        </a:ext>
                      </a:extLst>
                    </a:gridCol>
                    <a:gridCol w="3210994">
                      <a:extLst>
                        <a:ext uri="{9D8B030D-6E8A-4147-A177-3AD203B41FA5}">
                          <a16:colId xmlns:a16="http://schemas.microsoft.com/office/drawing/2014/main" val="697434183"/>
                        </a:ext>
                      </a:extLst>
                    </a:gridCol>
                  </a:tblGrid>
                  <a:tr h="388308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Partner A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chemeClr val="tx1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Partner B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1994285"/>
                      </a:ext>
                    </a:extLst>
                  </a:tr>
                  <a:tr h="48868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3152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75" t="-94872" r="-146552" b="-2025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3152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9170" t="-94872" r="-791" b="-2025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08349144"/>
                      </a:ext>
                    </a:extLst>
                  </a:tr>
                  <a:tr h="48868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3152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75" t="-200000" r="-146552" b="-1078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3152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9170" t="-200000" r="-791" b="-1078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41507312"/>
                      </a:ext>
                    </a:extLst>
                  </a:tr>
                  <a:tr h="48868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3152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75" t="-292308" r="-146552" b="-51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3152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9170" t="-292308" r="-791" b="-512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0259497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Google Shape;125;g104476d1465_1_17"/>
          <p:cNvSpPr txBox="1"/>
          <p:nvPr/>
        </p:nvSpPr>
        <p:spPr>
          <a:xfrm>
            <a:off x="865777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359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9600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231640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0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427" name="Google Shape;427;p30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428" name="Google Shape;428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8" name="Google Shape;125;g104476d1465_1_17"/>
          <p:cNvSpPr txBox="1"/>
          <p:nvPr/>
        </p:nvSpPr>
        <p:spPr>
          <a:xfrm>
            <a:off x="865777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360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9600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1"/>
          <p:cNvSpPr txBox="1"/>
          <p:nvPr/>
        </p:nvSpPr>
        <p:spPr>
          <a:xfrm>
            <a:off x="1433893" y="231775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14.4.6 Your Turn!</a:t>
            </a:r>
            <a:endParaRPr dirty="0"/>
          </a:p>
        </p:txBody>
      </p:sp>
      <p:pic>
        <p:nvPicPr>
          <p:cNvPr id="437" name="Google Shape;437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6593" y="23177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39" name="Google Shape;439;p31"/>
              <p:cNvSpPr txBox="1"/>
              <p:nvPr/>
            </p:nvSpPr>
            <p:spPr>
              <a:xfrm>
                <a:off x="1433893" y="1386026"/>
                <a:ext cx="9580246" cy="37856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Solve each equation. Show your steps in finding the solution. 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20750" indent="-450850"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+37=62</m:t>
                    </m:r>
                  </m:oMath>
                </a14:m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20750" indent="-45085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20750" indent="-45085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20750" indent="-45085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20750" indent="-45085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20750" indent="-45085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20750" indent="-450850"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18=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−23</m:t>
                    </m:r>
                  </m:oMath>
                </a14:m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39" name="Google Shape;439;p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3893" y="1386026"/>
                <a:ext cx="9580246" cy="3785611"/>
              </a:xfrm>
              <a:prstGeom prst="rect">
                <a:avLst/>
              </a:prstGeom>
              <a:blipFill rotWithShape="0">
                <a:blip r:embed="rId4"/>
                <a:stretch>
                  <a:fillRect l="-954" t="-1288" b="-273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0" name="Google Shape;440;p31"/>
          <p:cNvSpPr/>
          <p:nvPr/>
        </p:nvSpPr>
        <p:spPr>
          <a:xfrm>
            <a:off x="898" y="0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9" name="Google Shape;125;g104476d1465_1_17"/>
          <p:cNvSpPr txBox="1"/>
          <p:nvPr/>
        </p:nvSpPr>
        <p:spPr>
          <a:xfrm>
            <a:off x="865777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360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9600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33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458" name="Google Shape;458;p33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459" name="Google Shape;459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8" name="Google Shape;125;g104476d1465_1_17"/>
          <p:cNvSpPr txBox="1"/>
          <p:nvPr/>
        </p:nvSpPr>
        <p:spPr>
          <a:xfrm>
            <a:off x="865777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360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9600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34"/>
          <p:cNvSpPr txBox="1"/>
          <p:nvPr/>
        </p:nvSpPr>
        <p:spPr>
          <a:xfrm>
            <a:off x="1426300" y="-8101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14.4.7 Wrap-Up: Cool Down</a:t>
            </a:r>
            <a:endParaRPr dirty="0"/>
          </a:p>
        </p:txBody>
      </p:sp>
      <p:pic>
        <p:nvPicPr>
          <p:cNvPr id="468" name="Google Shape;468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9000" y="26809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69" name="Google Shape;469;p34"/>
              <p:cNvSpPr txBox="1"/>
              <p:nvPr/>
            </p:nvSpPr>
            <p:spPr>
              <a:xfrm>
                <a:off x="1314450" y="1386025"/>
                <a:ext cx="9073134" cy="15696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/>
                    <a:ea typeface="Verdana"/>
                    <a:cs typeface="Verdana"/>
                  </a:rPr>
                  <a:t>Your friend Giselle is absent today and will need the notes from class. Write a quick note to help her understand how to use inverse operations to solve the equation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ea typeface="Verdana"/>
                        <a:cs typeface="Verdana"/>
                      </a:rPr>
                      <m:t>25=</m:t>
                    </m:r>
                    <m:r>
                      <a:rPr lang="en-US" sz="2400">
                        <a:latin typeface="Cambria Math" panose="02040503050406030204" pitchFamily="18" charset="0"/>
                        <a:ea typeface="Verdana"/>
                        <a:cs typeface="Verdana"/>
                      </a:rPr>
                      <m:t>𝑦</m:t>
                    </m:r>
                    <m:r>
                      <a:rPr lang="en-US" sz="2400">
                        <a:latin typeface="Cambria Math" panose="02040503050406030204" pitchFamily="18" charset="0"/>
                        <a:ea typeface="Verdana"/>
                        <a:cs typeface="Verdana"/>
                      </a:rPr>
                      <m:t>+7</m:t>
                    </m:r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</a:rPr>
                  <a:t>. </a:t>
                </a:r>
              </a:p>
            </p:txBody>
          </p:sp>
        </mc:Choice>
        <mc:Fallback xmlns="">
          <p:sp>
            <p:nvSpPr>
              <p:cNvPr id="469" name="Google Shape;469;p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4450" y="1386025"/>
                <a:ext cx="9073134" cy="1569620"/>
              </a:xfrm>
              <a:prstGeom prst="rect">
                <a:avLst/>
              </a:prstGeom>
              <a:blipFill rotWithShape="0">
                <a:blip r:embed="rId4"/>
                <a:stretch>
                  <a:fillRect l="-1075" t="-3101" r="-1680" b="-736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0" name="Google Shape;470;p34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9" name="Google Shape;125;g104476d1465_1_17"/>
          <p:cNvSpPr txBox="1"/>
          <p:nvPr/>
        </p:nvSpPr>
        <p:spPr>
          <a:xfrm>
            <a:off x="865777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360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9600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1139</Words>
  <Application>Microsoft Office PowerPoint</Application>
  <PresentationFormat>Widescreen</PresentationFormat>
  <Paragraphs>238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Arial</vt:lpstr>
      <vt:lpstr>Arial Black</vt:lpstr>
      <vt:lpstr>Calibri</vt:lpstr>
      <vt:lpstr>Cambria</vt:lpstr>
      <vt:lpstr>Cambria Math</vt:lpstr>
      <vt:lpstr>Verdana</vt:lpstr>
      <vt:lpstr>1_Office Theme</vt:lpstr>
      <vt:lpstr>6th Grade Accelerated Math  Unit 14, Lesson 4  Solving One-Step Equations in One Variable Using Addition and Subtraction  Volume 2, pg. 354  </vt:lpstr>
      <vt:lpstr>Benchmark</vt:lpstr>
      <vt:lpstr>PowerPoint Presentation</vt:lpstr>
      <vt:lpstr>PowerPoint Presentation</vt:lpstr>
      <vt:lpstr>Warm-Up</vt:lpstr>
      <vt:lpstr>PowerPoint Presentation</vt:lpstr>
      <vt:lpstr>Collaboration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PowerPoint Presentation</vt:lpstr>
      <vt:lpstr>PowerPoint Presentation</vt:lpstr>
      <vt:lpstr>Exploration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Collaboration</vt:lpstr>
      <vt:lpstr>PowerPoint Presentation</vt:lpstr>
      <vt:lpstr>Your Turn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Name  Unit 14, Lesson 4  Lesson Name  Volume x, pg. #  </dc:title>
  <dc:creator>Karen McKenzie</dc:creator>
  <cp:lastModifiedBy>Cassie O'Connor</cp:lastModifiedBy>
  <cp:revision>10</cp:revision>
  <dcterms:created xsi:type="dcterms:W3CDTF">2015-03-17T18:51:18Z</dcterms:created>
  <dcterms:modified xsi:type="dcterms:W3CDTF">2022-07-02T04:59:28Z</dcterms:modified>
</cp:coreProperties>
</file>