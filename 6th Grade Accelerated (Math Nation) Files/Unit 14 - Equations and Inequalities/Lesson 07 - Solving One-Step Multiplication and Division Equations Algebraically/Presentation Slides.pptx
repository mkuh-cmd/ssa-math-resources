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65" r:id="rId11"/>
    <p:sldId id="268" r:id="rId12"/>
    <p:sldId id="278" r:id="rId13"/>
    <p:sldId id="279" r:id="rId14"/>
    <p:sldId id="277" r:id="rId15"/>
    <p:sldId id="287" r:id="rId16"/>
    <p:sldId id="288" r:id="rId17"/>
    <p:sldId id="290" r:id="rId18"/>
    <p:sldId id="29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hssq3OoqM7J6XYkDacLZ4V+Khz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31" autoAdjust="0"/>
    <p:restoredTop sz="94660"/>
  </p:normalViewPr>
  <p:slideViewPr>
    <p:cSldViewPr snapToGrid="0">
      <p:cViewPr varScale="1">
        <p:scale>
          <a:sx n="81" d="100"/>
          <a:sy n="81" d="100"/>
        </p:scale>
        <p:origin x="47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6th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fr-FR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7</a:t>
            </a:r>
            <a:br>
              <a:rPr lang="fr-FR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fr-FR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Solving One-Step Multiplication and Division Equations Algebraically</a:t>
            </a:r>
            <a:br>
              <a:rPr lang="en-US" sz="36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fr-FR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fr-FR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374</a:t>
            </a:r>
            <a:endParaRPr lang="fr-FR"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829054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15245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1745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690945" y="1600200"/>
            <a:ext cx="88101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MA.6.AR.2.3  </a:t>
            </a:r>
          </a:p>
          <a:p>
            <a:pPr marL="460375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and solve one-step equations in one variable within a mathematical or real-world context using multiplication and division, where all terms and solutions are integers.</a:t>
            </a:r>
            <a:endParaRPr lang="en-US" sz="2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907" y="326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58557" y="5437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1458557" y="1659133"/>
            <a:ext cx="97548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MA.K12.MTR.1.1 Actively participate in effortful learning both individually and collectively.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/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MA.K12.MTR.2.1 Demonstrate understanding by representing problems in multiple ways.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/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/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579090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28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690945" y="1232555"/>
            <a:ext cx="881011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Write and solve one-step equations in one variable within a mathematical or real-world context using multiplication and division, where all terms and solutions are integers.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22445" y="9357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43256C"/>
                </a:solidFill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14.7.1 Warm-Up: Different Problems, Same Solution</a:t>
            </a:r>
            <a:endParaRPr lang="en-US" sz="3600" b="1"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145" y="3149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1422445" y="1419275"/>
                <a:ext cx="9774646" cy="46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Write four equations whose solutions are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</a:t>
                </a:r>
                <a:endParaRPr lang="en-US" sz="16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45" y="1419275"/>
                <a:ext cx="9774646" cy="461624"/>
              </a:xfrm>
              <a:prstGeom prst="rect">
                <a:avLst/>
              </a:prstGeom>
              <a:blipFill rotWithShape="0">
                <a:blip r:embed="rId4"/>
                <a:stretch>
                  <a:fillRect l="-935" t="-11842" b="-27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-5217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1257107" y="-9362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4AB8D3"/>
                </a:solidFill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14.7.2 Guided Instruction: Using Inverses to Solve Equations</a:t>
            </a:r>
            <a:endParaRPr lang="en-US" sz="1200" b="1" dirty="0"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218" y="19557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19" name="Google Shape;319;p19"/>
          <p:cNvSpPr txBox="1"/>
          <p:nvPr/>
        </p:nvSpPr>
        <p:spPr>
          <a:xfrm>
            <a:off x="1465943" y="1531195"/>
            <a:ext cx="9260112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Inverse operations are used to solve equations by isolating a variable of interest.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When solving one-step equations using visual models, the inverse operation performed on one side of the model is also performed on the other side to keep the equation balanced.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With your partner, re-visit the meaning of balanced equations. Write a brief summary explaining what it means for equations to be balanced and how balance is maintained when solving. Include examples as part of your summary.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20" name="Google Shape;320;p19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Google Shape;178;p5"/>
              <p:cNvSpPr txBox="1"/>
              <p:nvPr/>
            </p:nvSpPr>
            <p:spPr>
              <a:xfrm>
                <a:off x="1030514" y="520393"/>
                <a:ext cx="10281638" cy="5016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Using the definition of inverse operations, complete the table to indicate which operation would reverse the given operation.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Consider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=21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to complete the following.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22338" indent="-4445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Discuss with your partner how to solve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=21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. </a:t>
                </a:r>
                <a:endParaRPr lang="en-US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8" name="Google Shape;178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14" y="520393"/>
                <a:ext cx="10281638" cy="5016718"/>
              </a:xfrm>
              <a:prstGeom prst="rect">
                <a:avLst/>
              </a:prstGeom>
              <a:blipFill rotWithShape="0">
                <a:blip r:embed="rId3"/>
                <a:stretch>
                  <a:fillRect l="-652" t="-7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Google Shape;179;p5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3E4A9E4-90CD-4FF7-97D1-5ECF8896A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44231"/>
                  </p:ext>
                </p:extLst>
              </p:nvPr>
            </p:nvGraphicFramePr>
            <p:xfrm>
              <a:off x="2695575" y="1613805"/>
              <a:ext cx="6800850" cy="1824990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3419475">
                      <a:extLst>
                        <a:ext uri="{9D8B030D-6E8A-4147-A177-3AD203B41FA5}">
                          <a16:colId xmlns:a16="http://schemas.microsoft.com/office/drawing/2014/main" val="1807836112"/>
                        </a:ext>
                      </a:extLst>
                    </a:gridCol>
                    <a:gridCol w="3381375">
                      <a:extLst>
                        <a:ext uri="{9D8B030D-6E8A-4147-A177-3AD203B41FA5}">
                          <a16:colId xmlns:a16="http://schemas.microsoft.com/office/drawing/2014/main" val="102055620"/>
                        </a:ext>
                      </a:extLst>
                    </a:gridCol>
                  </a:tblGrid>
                  <a:tr h="2908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Operation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Inverse Operation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5703523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Multiplication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568033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Division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8574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3E4A9E4-90CD-4FF7-97D1-5ECF8896A9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344231"/>
                  </p:ext>
                </p:extLst>
              </p:nvPr>
            </p:nvGraphicFramePr>
            <p:xfrm>
              <a:off x="1171575" y="1613805"/>
              <a:ext cx="6800850" cy="1824990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3419475">
                      <a:extLst>
                        <a:ext uri="{9D8B030D-6E8A-4147-A177-3AD203B41FA5}">
                          <a16:colId xmlns:a16="http://schemas.microsoft.com/office/drawing/2014/main" val="1807836112"/>
                        </a:ext>
                      </a:extLst>
                    </a:gridCol>
                    <a:gridCol w="3381375">
                      <a:extLst>
                        <a:ext uri="{9D8B030D-6E8A-4147-A177-3AD203B41FA5}">
                          <a16:colId xmlns:a16="http://schemas.microsoft.com/office/drawing/2014/main" val="10205562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Operation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Inverse Operation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5703523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" t="-51667" r="-98889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568033"/>
                      </a:ext>
                    </a:extLst>
                  </a:tr>
                  <a:tr h="7600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" t="-151667" r="-9888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8574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320800" y="615878"/>
                <a:ext cx="9701066" cy="5016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What operation is occurring between the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and its coefficient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?</a:t>
                </a: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To isolate the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from its coefficient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, what inverse operation should be performed? </a:t>
                </a: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Work with your partner to 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615878"/>
                <a:ext cx="9701066" cy="5016718"/>
              </a:xfrm>
              <a:prstGeom prst="rect">
                <a:avLst/>
              </a:prstGeom>
              <a:blipFill rotWithShape="0">
                <a:blip r:embed="rId3"/>
                <a:stretch>
                  <a:fillRect t="-851" b="-13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13CB4-56CB-4485-B146-74D64C4C5E27}"/>
              </a:ext>
            </a:extLst>
          </p:cNvPr>
          <p:cNvSpPr txBox="1"/>
          <p:nvPr/>
        </p:nvSpPr>
        <p:spPr>
          <a:xfrm>
            <a:off x="2073395" y="2247668"/>
            <a:ext cx="8045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1088571" y="520394"/>
                <a:ext cx="10165524" cy="5626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0375" indent="-460375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Consider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13=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−5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to complete the following.</a:t>
                </a:r>
              </a:p>
              <a:p>
                <a:pPr marL="460375" indent="-460375">
                  <a:buFont typeface="+mj-lt"/>
                  <a:buAutoNum type="arabicPeriod" startAt="4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What mathematical operation is represented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−5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?</a:t>
                </a:r>
              </a:p>
              <a:p>
                <a:pPr marL="922338" indent="-4619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0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What is the inverse operation?</a:t>
                </a:r>
              </a:p>
              <a:p>
                <a:pPr marL="460375"/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Perform the inverse operation in the boxes below.</a:t>
                </a:r>
              </a:p>
              <a:p>
                <a:pPr marL="922338" indent="-461963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22338" indent="-461963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Discuss with your partner how to check whether or not your solution is correct. Then, check your solution.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71" y="520394"/>
                <a:ext cx="10165524" cy="5626885"/>
              </a:xfrm>
              <a:prstGeom prst="rect">
                <a:avLst/>
              </a:prstGeom>
              <a:blipFill rotWithShape="0">
                <a:blip r:embed="rId3"/>
                <a:stretch>
                  <a:fillRect l="-660" b="-9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-45355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98CFCA-40C5-4F35-8183-0FA01A3F2F08}"/>
              </a:ext>
            </a:extLst>
          </p:cNvPr>
          <p:cNvSpPr/>
          <p:nvPr/>
        </p:nvSpPr>
        <p:spPr>
          <a:xfrm>
            <a:off x="3902909" y="3723649"/>
            <a:ext cx="765175" cy="5334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0B0CE-8895-4BB3-AF0A-0CDB4FD70652}"/>
              </a:ext>
            </a:extLst>
          </p:cNvPr>
          <p:cNvSpPr/>
          <p:nvPr/>
        </p:nvSpPr>
        <p:spPr>
          <a:xfrm>
            <a:off x="6498004" y="3723649"/>
            <a:ext cx="765175" cy="5334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1CC098-7477-4395-A72F-27A6DA164C7D}"/>
                  </a:ext>
                </a:extLst>
              </p:cNvPr>
              <p:cNvSpPr txBox="1"/>
              <p:nvPr/>
            </p:nvSpPr>
            <p:spPr>
              <a:xfrm>
                <a:off x="4650802" y="3648781"/>
                <a:ext cx="1912425" cy="683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13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den>
                          </m:f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1CC098-7477-4395-A72F-27A6DA164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801" y="3648781"/>
                <a:ext cx="1912425" cy="683136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1477749" y="3776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14.7.3 Guided Practice: </a:t>
            </a:r>
            <a:r>
              <a:rPr lang="en-US" sz="3200" b="1" dirty="0">
                <a:solidFill>
                  <a:srgbClr val="4AB8D3"/>
                </a:solidFill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Solving One-Step Multiplication and Division Equations Algebraically</a:t>
            </a:r>
            <a:endParaRPr lang="en-US" sz="3200" b="1" dirty="0"/>
          </a:p>
        </p:txBody>
      </p:sp>
      <p:pic>
        <p:nvPicPr>
          <p:cNvPr id="348" name="Google Shape;3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825" y="325715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49" name="Google Shape;349;p22"/>
          <p:cNvSpPr txBox="1"/>
          <p:nvPr/>
        </p:nvSpPr>
        <p:spPr>
          <a:xfrm>
            <a:off x="1477749" y="1643052"/>
            <a:ext cx="899433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SzPts val="1800"/>
              <a:buFont typeface="Verdana" panose="020B0604030504040204" pitchFamily="34" charset="0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Complete the table.</a:t>
            </a:r>
            <a:endParaRPr lang="en-US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538635-B186-4A6B-B09E-E4BC736F9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5662110"/>
                  </p:ext>
                </p:extLst>
              </p:nvPr>
            </p:nvGraphicFramePr>
            <p:xfrm>
              <a:off x="2050605" y="2231657"/>
              <a:ext cx="8090790" cy="381421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96654">
                      <a:extLst>
                        <a:ext uri="{9D8B030D-6E8A-4147-A177-3AD203B41FA5}">
                          <a16:colId xmlns:a16="http://schemas.microsoft.com/office/drawing/2014/main" val="3686672442"/>
                        </a:ext>
                      </a:extLst>
                    </a:gridCol>
                    <a:gridCol w="2919913">
                      <a:extLst>
                        <a:ext uri="{9D8B030D-6E8A-4147-A177-3AD203B41FA5}">
                          <a16:colId xmlns:a16="http://schemas.microsoft.com/office/drawing/2014/main" val="4230398318"/>
                        </a:ext>
                      </a:extLst>
                    </a:gridCol>
                    <a:gridCol w="1679171">
                      <a:extLst>
                        <a:ext uri="{9D8B030D-6E8A-4147-A177-3AD203B41FA5}">
                          <a16:colId xmlns:a16="http://schemas.microsoft.com/office/drawing/2014/main" val="1601670488"/>
                        </a:ext>
                      </a:extLst>
                    </a:gridCol>
                    <a:gridCol w="1995052">
                      <a:extLst>
                        <a:ext uri="{9D8B030D-6E8A-4147-A177-3AD203B41FA5}">
                          <a16:colId xmlns:a16="http://schemas.microsoft.com/office/drawing/2014/main" val="3147035425"/>
                        </a:ext>
                      </a:extLst>
                    </a:gridCol>
                  </a:tblGrid>
                  <a:tr h="5546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Equation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Description of How to Solve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Work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Solution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3359279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=18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Divide both sides of the equation by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6.</m:t>
                              </m:r>
                            </m:oMath>
                          </a14:m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3729096857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908164011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−36=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536194458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-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32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2764270385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4=−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26393518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C538635-B186-4A6B-B09E-E4BC736F9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5662110"/>
                  </p:ext>
                </p:extLst>
              </p:nvPr>
            </p:nvGraphicFramePr>
            <p:xfrm>
              <a:off x="526605" y="2231656"/>
              <a:ext cx="8090790" cy="381421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96654">
                      <a:extLst>
                        <a:ext uri="{9D8B030D-6E8A-4147-A177-3AD203B41FA5}">
                          <a16:colId xmlns:a16="http://schemas.microsoft.com/office/drawing/2014/main" val="3686672442"/>
                        </a:ext>
                      </a:extLst>
                    </a:gridCol>
                    <a:gridCol w="2919913">
                      <a:extLst>
                        <a:ext uri="{9D8B030D-6E8A-4147-A177-3AD203B41FA5}">
                          <a16:colId xmlns:a16="http://schemas.microsoft.com/office/drawing/2014/main" val="4230398318"/>
                        </a:ext>
                      </a:extLst>
                    </a:gridCol>
                    <a:gridCol w="1679171">
                      <a:extLst>
                        <a:ext uri="{9D8B030D-6E8A-4147-A177-3AD203B41FA5}">
                          <a16:colId xmlns:a16="http://schemas.microsoft.com/office/drawing/2014/main" val="1601670488"/>
                        </a:ext>
                      </a:extLst>
                    </a:gridCol>
                    <a:gridCol w="1995052">
                      <a:extLst>
                        <a:ext uri="{9D8B030D-6E8A-4147-A177-3AD203B41FA5}">
                          <a16:colId xmlns:a16="http://schemas.microsoft.com/office/drawing/2014/main" val="3147035425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Equation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Description of How to Solve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Work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Solution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>
                        <a:solidFill>
                          <a:schemeClr val="tx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3359279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997" marR="34997" marT="0" marB="0" anchor="ctr">
                        <a:blipFill>
                          <a:blip r:embed="rId5"/>
                          <a:stretch>
                            <a:fillRect l="-847" t="-105882" r="-441525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997" marR="34997" marT="0" marB="0" anchor="ctr">
                        <a:blipFill>
                          <a:blip r:embed="rId5"/>
                          <a:stretch>
                            <a:fillRect l="-51739" t="-105882" r="-126522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3729096857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997" marR="34997" marT="0" marB="0" anchor="ctr">
                        <a:blipFill>
                          <a:blip r:embed="rId5"/>
                          <a:stretch>
                            <a:fillRect l="-847" t="-205882" r="-441525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908164011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997" marR="34997" marT="0" marB="0" anchor="ctr">
                        <a:blipFill>
                          <a:blip r:embed="rId5"/>
                          <a:stretch>
                            <a:fillRect l="-847" t="-305882" r="-441525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536194458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997" marR="34997" marT="0" marB="0" anchor="ctr">
                        <a:blipFill>
                          <a:blip r:embed="rId5"/>
                          <a:stretch>
                            <a:fillRect l="-847" t="-414000" r="-441525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2764270385"/>
                      </a:ext>
                    </a:extLst>
                  </a:tr>
                  <a:tr h="6409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997" marR="34997" marT="0" marB="0" anchor="ctr">
                        <a:blipFill>
                          <a:blip r:embed="rId5"/>
                          <a:stretch>
                            <a:fillRect l="-847" t="-503922" r="-441525" b="-7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4997" marR="34997" marT="0" marB="0" anchor="ctr"/>
                    </a:tc>
                    <a:extLst>
                      <a:ext uri="{0D108BD9-81ED-4DB2-BD59-A6C34878D82A}">
                        <a16:rowId xmlns:a16="http://schemas.microsoft.com/office/drawing/2014/main" val="26393518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/>
          <p:nvPr/>
        </p:nvSpPr>
        <p:spPr>
          <a:xfrm>
            <a:off x="1117600" y="520394"/>
            <a:ext cx="10107466" cy="182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SzPts val="1800"/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With your partner, verify each solution is correct using substitution. </a:t>
            </a:r>
          </a:p>
          <a:p>
            <a:pPr>
              <a:spcAft>
                <a:spcPts val="1000"/>
              </a:spcAft>
            </a:pPr>
            <a:b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29" name="Google Shape;329;p2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277899" y="18525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14.7.4 Your Turn!</a:t>
            </a:r>
            <a:endParaRPr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599" y="18525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39" name="Google Shape;439;p31"/>
          <p:cNvSpPr txBox="1"/>
          <p:nvPr/>
        </p:nvSpPr>
        <p:spPr>
          <a:xfrm>
            <a:off x="1585298" y="932554"/>
            <a:ext cx="874960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Solve each equation algebraically. Show your work.</a:t>
            </a:r>
            <a:endParaRPr lang="en-US" dirty="0"/>
          </a:p>
        </p:txBody>
      </p:sp>
      <p:sp>
        <p:nvSpPr>
          <p:cNvPr id="440" name="Google Shape;440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A7EA569-4CBF-4724-839B-96F6E9971A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189382"/>
                  </p:ext>
                </p:extLst>
              </p:nvPr>
            </p:nvGraphicFramePr>
            <p:xfrm>
              <a:off x="3045468" y="1696732"/>
              <a:ext cx="6251731" cy="446400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140458">
                      <a:extLst>
                        <a:ext uri="{9D8B030D-6E8A-4147-A177-3AD203B41FA5}">
                          <a16:colId xmlns:a16="http://schemas.microsoft.com/office/drawing/2014/main" val="2654656443"/>
                        </a:ext>
                      </a:extLst>
                    </a:gridCol>
                    <a:gridCol w="3111273">
                      <a:extLst>
                        <a:ext uri="{9D8B030D-6E8A-4147-A177-3AD203B41FA5}">
                          <a16:colId xmlns:a16="http://schemas.microsoft.com/office/drawing/2014/main" val="875707584"/>
                        </a:ext>
                      </a:extLst>
                    </a:gridCol>
                  </a:tblGrid>
                  <a:tr h="1529992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2000" i="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0">
                                  <a:effectLst/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oMath>
                          </a14:m>
                          <a:endParaRPr lang="en-US" sz="1600" i="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1995" marR="31995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−11=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lang="en-US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1995" marR="31995" marT="0" marB="0"/>
                    </a:tc>
                    <a:extLst>
                      <a:ext uri="{0D108BD9-81ED-4DB2-BD59-A6C34878D82A}">
                        <a16:rowId xmlns:a16="http://schemas.microsoft.com/office/drawing/2014/main" val="3747905852"/>
                      </a:ext>
                    </a:extLst>
                  </a:tr>
                  <a:tr h="1483567">
                    <a:tc>
                      <a:txBody>
                        <a:bodyPr/>
                        <a:lstStyle/>
                        <a:p>
                          <a:pPr marL="400050" marR="0" lvl="0" indent="-400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3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=−84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1995" marR="31995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−42=6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1995" marR="31995" marT="0" marB="0"/>
                    </a:tc>
                    <a:extLst>
                      <a:ext uri="{0D108BD9-81ED-4DB2-BD59-A6C34878D82A}">
                        <a16:rowId xmlns:a16="http://schemas.microsoft.com/office/drawing/2014/main" val="2225932549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5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=72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1995" marR="31995" marT="0" marB="0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6"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sz="2000" i="0">
                                      <a:effectLst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sz="2000" i="0">
                                  <a:effectLst/>
                                  <a:latin typeface="Cambria Math" panose="02040503050406030204" pitchFamily="18" charset="0"/>
                                </a:rPr>
                                <m:t>=36</m:t>
                              </m:r>
                            </m:oMath>
                          </a14:m>
                          <a:endParaRPr lang="en-US" sz="2000" i="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31995" marR="31995" marT="0" marB="0"/>
                    </a:tc>
                    <a:extLst>
                      <a:ext uri="{0D108BD9-81ED-4DB2-BD59-A6C34878D82A}">
                        <a16:rowId xmlns:a16="http://schemas.microsoft.com/office/drawing/2014/main" val="4692581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A7EA569-4CBF-4724-839B-96F6E9971A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189382"/>
                  </p:ext>
                </p:extLst>
              </p:nvPr>
            </p:nvGraphicFramePr>
            <p:xfrm>
              <a:off x="1521467" y="1696731"/>
              <a:ext cx="6251731" cy="446400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140458">
                      <a:extLst>
                        <a:ext uri="{9D8B030D-6E8A-4147-A177-3AD203B41FA5}">
                          <a16:colId xmlns:a16="http://schemas.microsoft.com/office/drawing/2014/main" val="2654656443"/>
                        </a:ext>
                      </a:extLst>
                    </a:gridCol>
                    <a:gridCol w="3111273">
                      <a:extLst>
                        <a:ext uri="{9D8B030D-6E8A-4147-A177-3AD203B41FA5}">
                          <a16:colId xmlns:a16="http://schemas.microsoft.com/office/drawing/2014/main" val="875707584"/>
                        </a:ext>
                      </a:extLst>
                    </a:gridCol>
                  </a:tblGrid>
                  <a:tr h="15299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995" marR="31995" marT="0" marB="0">
                        <a:blipFill>
                          <a:blip r:embed="rId5"/>
                          <a:stretch>
                            <a:fillRect t="-826" r="-99597" b="-192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995" marR="31995" marT="0" marB="0">
                        <a:blipFill>
                          <a:blip r:embed="rId5"/>
                          <a:stretch>
                            <a:fillRect l="-100813" t="-826" r="-407" b="-1925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905852"/>
                      </a:ext>
                    </a:extLst>
                  </a:tr>
                  <a:tr h="14835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995" marR="31995" marT="0" marB="0">
                        <a:blipFill>
                          <a:blip r:embed="rId5"/>
                          <a:stretch>
                            <a:fillRect t="-104274" r="-99597" b="-99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995" marR="31995" marT="0" marB="0">
                        <a:blipFill>
                          <a:blip r:embed="rId5"/>
                          <a:stretch>
                            <a:fillRect l="-100813" t="-104274" r="-407" b="-99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5932549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995" marR="31995" marT="0" marB="0">
                        <a:blipFill>
                          <a:blip r:embed="rId5"/>
                          <a:stretch>
                            <a:fillRect t="-207826" r="-99597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995" marR="31995" marT="0" marB="0">
                        <a:blipFill>
                          <a:blip r:embed="rId5"/>
                          <a:stretch>
                            <a:fillRect l="-100813" t="-207826" r="-407" b="-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2581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300650" y="-1472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48227C"/>
                </a:solidFill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14.7.5 Wrap-Up: Error Analysis</a:t>
            </a:r>
            <a:endParaRPr lang="en-US" sz="1200" b="1"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350" y="22755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69" name="Google Shape;469;p34"/>
          <p:cNvSpPr txBox="1"/>
          <p:nvPr/>
        </p:nvSpPr>
        <p:spPr>
          <a:xfrm>
            <a:off x="1300651" y="1386025"/>
            <a:ext cx="966484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While checking her homework from last night, Lola noticed she got the following problem incorrect. Examine Lola’s work and write a note to her detailing how she can correct her mistake.</a:t>
            </a:r>
            <a:endParaRPr lang="en-US" sz="2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9558F-7CB1-4153-BA38-0D62C7620D3E}"/>
                  </a:ext>
                </a:extLst>
              </p:cNvPr>
              <p:cNvSpPr txBox="1"/>
              <p:nvPr/>
            </p:nvSpPr>
            <p:spPr>
              <a:xfrm>
                <a:off x="3549660" y="3030691"/>
                <a:ext cx="516682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42=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÷7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m:t>+7         +7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9558F-7CB1-4153-BA38-0D62C7620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660" y="3030690"/>
                <a:ext cx="5166826" cy="830997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2989AE-AE2A-42D3-A7B5-C22E5F512196}"/>
              </a:ext>
            </a:extLst>
          </p:cNvPr>
          <p:cNvCxnSpPr>
            <a:cxnSpLocks/>
          </p:cNvCxnSpPr>
          <p:nvPr/>
        </p:nvCxnSpPr>
        <p:spPr>
          <a:xfrm>
            <a:off x="5230337" y="3835620"/>
            <a:ext cx="1805473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BB3DCA-7F19-4E32-8DA4-DDA2D7AA5964}"/>
                  </a:ext>
                </a:extLst>
              </p:cNvPr>
              <p:cNvSpPr txBox="1"/>
              <p:nvPr/>
            </p:nvSpPr>
            <p:spPr>
              <a:xfrm>
                <a:off x="3775011" y="3932666"/>
                <a:ext cx="464197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49=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BB3DCA-7F19-4E32-8DA4-DDA2D7AA5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011" y="3932665"/>
                <a:ext cx="464197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25;g104476d1465_1_17"/>
          <p:cNvSpPr txBox="1"/>
          <p:nvPr/>
        </p:nvSpPr>
        <p:spPr>
          <a:xfrm>
            <a:off x="865006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82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737</Words>
  <Application>Microsoft Office PowerPoint</Application>
  <PresentationFormat>Widescreen</PresentationFormat>
  <Paragraphs>155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1_Office Theme</vt:lpstr>
      <vt:lpstr>6th Grade Accelerated Math  Unit 14, Lesson 7  Solving One-Step Multiplication and Division Equations Algebraically  Volume 2, pg. 374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 Unit 14, Lesson 7  Solving One-Step Multiplication and Division Equations Algebraically  Volume 2, pg. 374  </dc:title>
  <dc:creator>Karen McKenzie</dc:creator>
  <cp:lastModifiedBy>Cassie O'Connor</cp:lastModifiedBy>
  <cp:revision>5</cp:revision>
  <dcterms:created xsi:type="dcterms:W3CDTF">2015-03-17T18:51:18Z</dcterms:created>
  <dcterms:modified xsi:type="dcterms:W3CDTF">2022-07-02T05:01:39Z</dcterms:modified>
</cp:coreProperties>
</file>