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93" r:id="rId8"/>
    <p:sldId id="294" r:id="rId9"/>
    <p:sldId id="295" r:id="rId10"/>
    <p:sldId id="296" r:id="rId11"/>
    <p:sldId id="297" r:id="rId12"/>
    <p:sldId id="298" r:id="rId13"/>
    <p:sldId id="300" r:id="rId14"/>
    <p:sldId id="301" r:id="rId15"/>
    <p:sldId id="263" r:id="rId16"/>
    <p:sldId id="264" r:id="rId17"/>
    <p:sldId id="265" r:id="rId18"/>
    <p:sldId id="303" r:id="rId19"/>
    <p:sldId id="304" r:id="rId20"/>
    <p:sldId id="305" r:id="rId21"/>
    <p:sldId id="306" r:id="rId22"/>
    <p:sldId id="307" r:id="rId23"/>
    <p:sldId id="308"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hssq3OoqM7J6XYkDacLZ4V+KhzK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33"/>
    <p:restoredTop sz="94622"/>
  </p:normalViewPr>
  <p:slideViewPr>
    <p:cSldViewPr snapToGrid="0">
      <p:cViewPr varScale="1">
        <p:scale>
          <a:sx n="79" d="100"/>
          <a:sy n="79" d="100"/>
        </p:scale>
        <p:origin x="792"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51"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3" name="Google Shape;363;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extLst>
      <p:ext uri="{BB962C8B-B14F-4D97-AF65-F5344CB8AC3E}">
        <p14:creationId xmlns:p14="http://schemas.microsoft.com/office/powerpoint/2010/main" val="2392425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2" name="Google Shape;372;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3" name="Google Shape;373;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extLst>
      <p:ext uri="{BB962C8B-B14F-4D97-AF65-F5344CB8AC3E}">
        <p14:creationId xmlns:p14="http://schemas.microsoft.com/office/powerpoint/2010/main" val="1043938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3" name="Google Shape;383;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4" name="Google Shape;384;p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extLst>
      <p:ext uri="{BB962C8B-B14F-4D97-AF65-F5344CB8AC3E}">
        <p14:creationId xmlns:p14="http://schemas.microsoft.com/office/powerpoint/2010/main" val="21736571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extLst>
      <p:ext uri="{BB962C8B-B14F-4D97-AF65-F5344CB8AC3E}">
        <p14:creationId xmlns:p14="http://schemas.microsoft.com/office/powerpoint/2010/main" val="28269794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extLst>
      <p:ext uri="{BB962C8B-B14F-4D97-AF65-F5344CB8AC3E}">
        <p14:creationId xmlns:p14="http://schemas.microsoft.com/office/powerpoint/2010/main" val="4209778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extLst>
      <p:ext uri="{BB962C8B-B14F-4D97-AF65-F5344CB8AC3E}">
        <p14:creationId xmlns:p14="http://schemas.microsoft.com/office/powerpoint/2010/main" val="383621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extLst>
      <p:ext uri="{BB962C8B-B14F-4D97-AF65-F5344CB8AC3E}">
        <p14:creationId xmlns:p14="http://schemas.microsoft.com/office/powerpoint/2010/main" val="2591551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extLst>
      <p:ext uri="{BB962C8B-B14F-4D97-AF65-F5344CB8AC3E}">
        <p14:creationId xmlns:p14="http://schemas.microsoft.com/office/powerpoint/2010/main" val="7408312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extLst>
      <p:ext uri="{BB962C8B-B14F-4D97-AF65-F5344CB8AC3E}">
        <p14:creationId xmlns:p14="http://schemas.microsoft.com/office/powerpoint/2010/main" val="3695739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extLst>
      <p:ext uri="{BB962C8B-B14F-4D97-AF65-F5344CB8AC3E}">
        <p14:creationId xmlns:p14="http://schemas.microsoft.com/office/powerpoint/2010/main" val="20863788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2" name="Google Shape;432;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extLst>
      <p:ext uri="{BB962C8B-B14F-4D97-AF65-F5344CB8AC3E}">
        <p14:creationId xmlns:p14="http://schemas.microsoft.com/office/powerpoint/2010/main" val="3574250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extLst>
      <p:ext uri="{BB962C8B-B14F-4D97-AF65-F5344CB8AC3E}">
        <p14:creationId xmlns:p14="http://schemas.microsoft.com/office/powerpoint/2010/main" val="8178744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extLst>
      <p:ext uri="{BB962C8B-B14F-4D97-AF65-F5344CB8AC3E}">
        <p14:creationId xmlns:p14="http://schemas.microsoft.com/office/powerpoint/2010/main" val="11434048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extLst>
      <p:ext uri="{BB962C8B-B14F-4D97-AF65-F5344CB8AC3E}">
        <p14:creationId xmlns:p14="http://schemas.microsoft.com/office/powerpoint/2010/main" val="3864433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70.png"/><Relationship Id="rId7"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90352" y="2054277"/>
            <a:ext cx="5077649"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a:t>
            </a:r>
            <a:br>
              <a:rPr lang="en-US" sz="3600" b="1" dirty="0">
                <a:solidFill>
                  <a:srgbClr val="417DBF"/>
                </a:solidFill>
                <a:latin typeface="Verdana"/>
                <a:ea typeface="Verdana"/>
                <a:cs typeface="Verdana"/>
                <a:sym typeface="Verdana"/>
              </a:rPr>
            </a:br>
            <a:endParaRPr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14, Lesson 2</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Finding an Unknown Value in an Equation</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341</a:t>
            </a:r>
            <a:endParaRPr dirty="0"/>
          </a:p>
          <a:p>
            <a:pPr algn="ctr">
              <a:lnSpc>
                <a:spcPct val="100000"/>
              </a:lnSpc>
              <a:buClr>
                <a:srgbClr val="000000"/>
              </a:buClr>
            </a:pP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115" name="Google Shape;115;g104476d1465_0_0"/>
          <p:cNvSpPr/>
          <p:nvPr/>
        </p:nvSpPr>
        <p:spPr>
          <a:xfrm>
            <a:off x="0" y="0"/>
            <a:ext cx="4094106"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Logo&#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83677" y="1829054"/>
            <a:ext cx="3126752" cy="3644900"/>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410150" y="1913"/>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586650" y="237688"/>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711750" y="645792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341</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410150" y="1600200"/>
            <a:ext cx="9371700"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2400" dirty="0">
                <a:solidFill>
                  <a:schemeClr val="dk1"/>
                </a:solidFill>
                <a:latin typeface="Verdana"/>
                <a:ea typeface="Verdana"/>
                <a:cs typeface="Verdana"/>
                <a:sym typeface="Verdana"/>
              </a:rPr>
              <a:t>MA.6.AR.2.4</a:t>
            </a:r>
            <a:endParaRPr sz="2400" dirty="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2400" dirty="0">
                <a:solidFill>
                  <a:schemeClr val="dk1"/>
                </a:solidFill>
                <a:latin typeface="Verdana"/>
                <a:ea typeface="Verdana"/>
                <a:cs typeface="Verdana"/>
                <a:sym typeface="Verdana"/>
              </a:rPr>
              <a:t>Determine the unknown decimal or fraction in an equation involving any of the four operations, relating three numbers, with the unknown in any position.</a:t>
            </a:r>
            <a:endParaRPr sz="24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
          <p:cNvPicPr preferRelativeResize="0"/>
          <p:nvPr/>
        </p:nvPicPr>
        <p:blipFill rotWithShape="1">
          <a:blip r:embed="rId3">
            <a:alphaModFix/>
          </a:blip>
          <a:srcRect/>
          <a:stretch/>
        </p:blipFill>
        <p:spPr>
          <a:xfrm>
            <a:off x="878750" y="372300"/>
            <a:ext cx="747300" cy="747300"/>
          </a:xfrm>
          <a:prstGeom prst="rect">
            <a:avLst/>
          </a:prstGeom>
          <a:noFill/>
          <a:ln>
            <a:noFill/>
          </a:ln>
          <a:effectLst>
            <a:outerShdw blurRad="57150" dist="19050" dir="5400000" algn="bl" rotWithShape="0">
              <a:srgbClr val="000000">
                <a:alpha val="49803"/>
              </a:srgbClr>
            </a:outerShdw>
          </a:effectLst>
        </p:spPr>
      </p:pic>
      <p:sp>
        <p:nvSpPr>
          <p:cNvPr id="135" name="Google Shape;135;p1"/>
          <p:cNvSpPr txBox="1"/>
          <p:nvPr/>
        </p:nvSpPr>
        <p:spPr>
          <a:xfrm>
            <a:off x="1703400" y="129667"/>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1626050" y="1455367"/>
            <a:ext cx="9212012" cy="4205700"/>
          </a:xfrm>
          <a:prstGeom prst="rect">
            <a:avLst/>
          </a:prstGeom>
          <a:noFill/>
          <a:ln>
            <a:noFill/>
          </a:ln>
        </p:spPr>
        <p:txBody>
          <a:bodyPr spcFirstLastPara="1" wrap="square" lIns="91425" tIns="45700" rIns="91425" bIns="45700" anchor="t" anchorCtr="0">
            <a:noAutofit/>
          </a:bodyPr>
          <a:lstStyle/>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endParaRPr sz="2000" dirty="0">
              <a:latin typeface="Verdana" panose="020B0604030504040204" pitchFamily="34" charset="0"/>
              <a:ea typeface="Verdana" panose="020B0604030504040204" pitchFamily="34" charset="0"/>
              <a:cs typeface="Verdana" panose="020B0604030504040204" pitchFamily="34" charset="0"/>
            </a:endParaRPr>
          </a:p>
          <a:p>
            <a:pPr marL="457200"/>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endParaRPr sz="2000" dirty="0">
              <a:latin typeface="Verdana" panose="020B0604030504040204" pitchFamily="34" charset="0"/>
              <a:ea typeface="Verdana" panose="020B0604030504040204" pitchFamily="34" charset="0"/>
              <a:cs typeface="Verdana" panose="020B0604030504040204" pitchFamily="34" charset="0"/>
            </a:endParaRPr>
          </a:p>
          <a:p>
            <a:pPr marL="457200"/>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endParaRPr sz="2000" dirty="0">
              <a:latin typeface="Verdana" panose="020B0604030504040204" pitchFamily="34" charset="0"/>
              <a:ea typeface="Verdana" panose="020B0604030504040204" pitchFamily="34" charset="0"/>
              <a:cs typeface="Verdana" panose="020B0604030504040204" pitchFamily="34" charset="0"/>
            </a:endParaRPr>
          </a:p>
          <a:p>
            <a:pPr marL="457200"/>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endParaRPr sz="2000" dirty="0">
              <a:latin typeface="Verdana" panose="020B0604030504040204" pitchFamily="34" charset="0"/>
              <a:ea typeface="Verdana" panose="020B0604030504040204" pitchFamily="34" charset="0"/>
              <a:cs typeface="Verdana" panose="020B0604030504040204" pitchFamily="34" charset="0"/>
            </a:endParaRPr>
          </a:p>
        </p:txBody>
      </p:sp>
      <p:sp>
        <p:nvSpPr>
          <p:cNvPr id="138" name="Google Shape;138;p1"/>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750" y="645792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341</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2"/>
          <p:cNvSpPr txBox="1"/>
          <p:nvPr/>
        </p:nvSpPr>
        <p:spPr>
          <a:xfrm>
            <a:off x="1348675" y="-810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Targets</a:t>
            </a:r>
            <a:endParaRPr dirty="0"/>
          </a:p>
        </p:txBody>
      </p:sp>
      <p:pic>
        <p:nvPicPr>
          <p:cNvPr id="146" name="Google Shape;146;p2"/>
          <p:cNvPicPr preferRelativeResize="0"/>
          <p:nvPr/>
        </p:nvPicPr>
        <p:blipFill rotWithShape="1">
          <a:blip r:embed="rId3">
            <a:alphaModFix/>
          </a:blip>
          <a:srcRect/>
          <a:stretch/>
        </p:blipFill>
        <p:spPr>
          <a:xfrm>
            <a:off x="601375" y="204900"/>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1536700" y="1600200"/>
            <a:ext cx="9118600"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ct val="125000"/>
              <a:buFont typeface="Verdana"/>
              <a:buChar char="❏"/>
            </a:pPr>
            <a:r>
              <a:rPr lang="en-US" sz="2400" dirty="0">
                <a:solidFill>
                  <a:schemeClr val="dk1"/>
                </a:solidFill>
                <a:latin typeface="Verdana"/>
                <a:ea typeface="Verdana"/>
                <a:cs typeface="Verdana"/>
                <a:sym typeface="Verdana"/>
              </a:rPr>
              <a:t>I can determine an unknown decimal in a numeric equation with three numbers.</a:t>
            </a:r>
          </a:p>
          <a:p>
            <a:pPr marL="457200" indent="-450850">
              <a:buClr>
                <a:srgbClr val="434343"/>
              </a:buClr>
              <a:buSzPct val="125000"/>
              <a:buFont typeface="Verdana"/>
              <a:buChar char="❏"/>
            </a:pPr>
            <a:r>
              <a:rPr lang="en-US" sz="2400" dirty="0">
                <a:solidFill>
                  <a:schemeClr val="dk1"/>
                </a:solidFill>
                <a:latin typeface="Verdana"/>
                <a:ea typeface="Verdana"/>
                <a:cs typeface="Verdana"/>
                <a:sym typeface="Verdana"/>
              </a:rPr>
              <a:t>I can determine an unknown fraction in a numeric equation with three numbers.</a:t>
            </a:r>
            <a:endParaRPr sz="2400" dirty="0"/>
          </a:p>
        </p:txBody>
      </p:sp>
      <p:sp>
        <p:nvSpPr>
          <p:cNvPr id="149" name="Google Shape;149;p2"/>
          <p:cNvSpPr/>
          <p:nvPr/>
        </p:nvSpPr>
        <p:spPr>
          <a:xfrm>
            <a:off x="0" y="-810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750" y="645792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341</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8" name="Google Shape;125;g104476d1465_1_17"/>
          <p:cNvSpPr txBox="1"/>
          <p:nvPr/>
        </p:nvSpPr>
        <p:spPr>
          <a:xfrm>
            <a:off x="8711750" y="645792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342</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4"/>
          <p:cNvSpPr txBox="1"/>
          <p:nvPr/>
        </p:nvSpPr>
        <p:spPr>
          <a:xfrm>
            <a:off x="1423638" y="-18706"/>
            <a:ext cx="88259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3600" b="1" dirty="0">
                <a:solidFill>
                  <a:srgbClr val="3F2A67"/>
                </a:solidFill>
                <a:latin typeface="Verdana"/>
                <a:ea typeface="Verdana"/>
                <a:cs typeface="Verdana"/>
                <a:sym typeface="Verdana"/>
              </a:rPr>
              <a:t>14.2.1 Warm-Up: What is STEM?</a:t>
            </a:r>
            <a:endParaRPr dirty="0"/>
          </a:p>
        </p:txBody>
      </p:sp>
      <p:pic>
        <p:nvPicPr>
          <p:cNvPr id="167" name="Google Shape;167;p4"/>
          <p:cNvPicPr preferRelativeResize="0"/>
          <p:nvPr/>
        </p:nvPicPr>
        <p:blipFill rotWithShape="1">
          <a:blip r:embed="rId3">
            <a:alphaModFix/>
          </a:blip>
          <a:srcRect/>
          <a:stretch/>
        </p:blipFill>
        <p:spPr>
          <a:xfrm>
            <a:off x="676338" y="245454"/>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1423638" y="1306994"/>
            <a:ext cx="9772260" cy="4401164"/>
          </a:xfrm>
          <a:prstGeom prst="rect">
            <a:avLst/>
          </a:prstGeom>
          <a:noFill/>
          <a:ln>
            <a:noFill/>
          </a:ln>
        </p:spPr>
        <p:txBody>
          <a:bodyPr spcFirstLastPara="1" wrap="square" lIns="91425" tIns="45700" rIns="91425" bIns="45700" anchor="t" anchorCtr="0">
            <a:spAutoFit/>
          </a:bodyPr>
          <a:lstStyle/>
          <a:p>
            <a:pPr lvl="0"/>
            <a:r>
              <a:rPr lang="en-US" sz="2000" dirty="0">
                <a:latin typeface="Verdana"/>
                <a:ea typeface="Verdana"/>
                <a:cs typeface="Verdana"/>
                <a:sym typeface="Verdana"/>
              </a:rPr>
              <a:t>Science, Technology, Engineering, and Mathematics (STEM) is a way of thinking and doing. STEM skills are useful to almost every career. </a:t>
            </a:r>
          </a:p>
          <a:p>
            <a:pPr lvl="0"/>
            <a:endParaRPr lang="en-US" sz="2000" dirty="0">
              <a:latin typeface="Verdana"/>
              <a:ea typeface="Verdana"/>
              <a:cs typeface="Verdana"/>
              <a:sym typeface="Verdana"/>
            </a:endParaRPr>
          </a:p>
          <a:p>
            <a:pPr lvl="0"/>
            <a:r>
              <a:rPr lang="en-US" sz="2000" dirty="0">
                <a:latin typeface="Verdana"/>
                <a:ea typeface="Verdana"/>
                <a:cs typeface="Verdana"/>
                <a:sym typeface="Verdana"/>
              </a:rPr>
              <a:t>An individual does not need to be a master in all four areas of STEM to be successful; teamwork plays an important role. Playing to a person’s strengths and working as a team creates a greater impact than working alone. </a:t>
            </a:r>
          </a:p>
          <a:p>
            <a:pPr lvl="0"/>
            <a:endParaRPr lang="en-US" sz="2000" dirty="0">
              <a:latin typeface="Verdana"/>
              <a:ea typeface="Verdana"/>
              <a:cs typeface="Verdana"/>
              <a:sym typeface="Verdana"/>
            </a:endParaRPr>
          </a:p>
          <a:p>
            <a:pPr marL="457200" indent="-457200">
              <a:buFont typeface="+mj-lt"/>
              <a:buAutoNum type="arabicPeriod"/>
            </a:pPr>
            <a:r>
              <a:rPr lang="en-US" sz="2000" dirty="0">
                <a:latin typeface="Verdana"/>
                <a:ea typeface="Verdana"/>
                <a:cs typeface="Verdana"/>
                <a:sym typeface="Verdana"/>
              </a:rPr>
              <a:t>Describe a time where it was better for you to work as a team than alone. </a:t>
            </a:r>
          </a:p>
          <a:p>
            <a:pPr marL="457200" indent="-457200">
              <a:buFont typeface="+mj-lt"/>
              <a:buAutoNum type="arabicPeriod"/>
            </a:pPr>
            <a:endParaRPr lang="en-US" sz="2000" dirty="0">
              <a:latin typeface="Verdana"/>
              <a:ea typeface="Verdana"/>
              <a:cs typeface="Verdana"/>
              <a:sym typeface="Verdana"/>
            </a:endParaRPr>
          </a:p>
          <a:p>
            <a:pPr marL="457200" indent="-457200">
              <a:buFont typeface="+mj-lt"/>
              <a:buAutoNum type="arabicPeriod"/>
            </a:pPr>
            <a:endParaRPr lang="en-US" sz="2000" dirty="0">
              <a:latin typeface="Verdana"/>
              <a:ea typeface="Verdana"/>
              <a:cs typeface="Verdana"/>
              <a:sym typeface="Verdana"/>
            </a:endParaRPr>
          </a:p>
          <a:p>
            <a:pPr marL="457200" indent="-457200">
              <a:buFont typeface="+mj-lt"/>
              <a:buAutoNum type="arabicPeriod"/>
            </a:pPr>
            <a:r>
              <a:rPr lang="en-US" sz="2000" dirty="0">
                <a:latin typeface="Verdana"/>
                <a:ea typeface="Verdana"/>
                <a:cs typeface="Verdana"/>
                <a:sym typeface="Verdana"/>
              </a:rPr>
              <a:t>List two jobs that involve working as a team but are in different fields of STEM.</a:t>
            </a:r>
          </a:p>
        </p:txBody>
      </p:sp>
      <p:sp>
        <p:nvSpPr>
          <p:cNvPr id="170" name="Google Shape;170;p4"/>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750" y="645792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342</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24"/>
          <p:cNvSpPr/>
          <p:nvPr/>
        </p:nvSpPr>
        <p:spPr>
          <a:xfrm>
            <a:off x="0" y="-810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67" name="Google Shape;367;p24"/>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54B5D1"/>
                </a:solidFill>
                <a:latin typeface="Verdana"/>
                <a:ea typeface="Verdana"/>
                <a:cs typeface="Verdana"/>
                <a:sym typeface="Verdana"/>
              </a:rPr>
              <a:t>Refresher</a:t>
            </a:r>
            <a:endParaRPr sz="5100" b="1">
              <a:solidFill>
                <a:srgbClr val="54B5D1"/>
              </a:solidFill>
              <a:latin typeface="Verdana"/>
              <a:ea typeface="Verdana"/>
              <a:cs typeface="Verdana"/>
              <a:sym typeface="Verdana"/>
            </a:endParaRPr>
          </a:p>
        </p:txBody>
      </p:sp>
      <p:pic>
        <p:nvPicPr>
          <p:cNvPr id="369" name="Google Shape;369;p24" descr="Icon&#10;&#10;Description automatically generated"/>
          <p:cNvPicPr preferRelativeResize="0"/>
          <p:nvPr/>
        </p:nvPicPr>
        <p:blipFill rotWithShape="1">
          <a:blip r:embed="rId3">
            <a:alphaModFix/>
          </a:blip>
          <a:srcRect/>
          <a:stretch/>
        </p:blipFill>
        <p:spPr>
          <a:xfrm>
            <a:off x="4492434" y="279196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11750" y="645792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342</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892871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6" name="Google Shape;376;p25"/>
          <p:cNvSpPr txBox="1"/>
          <p:nvPr/>
        </p:nvSpPr>
        <p:spPr>
          <a:xfrm>
            <a:off x="1381748" y="-28084"/>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3600" b="1" dirty="0">
                <a:solidFill>
                  <a:srgbClr val="54B5D1"/>
                </a:solidFill>
                <a:latin typeface="Verdana"/>
                <a:ea typeface="Verdana"/>
                <a:cs typeface="Verdana"/>
                <a:sym typeface="Verdana"/>
              </a:rPr>
              <a:t>14.2.2 Refresher: The Unknown Value </a:t>
            </a:r>
            <a:endParaRPr dirty="0"/>
          </a:p>
        </p:txBody>
      </p:sp>
      <p:pic>
        <p:nvPicPr>
          <p:cNvPr id="378" name="Google Shape;378;p25"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92119" y="186710"/>
            <a:ext cx="749808" cy="749808"/>
          </a:xfrm>
          <a:prstGeom prst="rect">
            <a:avLst/>
          </a:prstGeom>
          <a:noFill/>
          <a:ln>
            <a:noFill/>
          </a:ln>
          <a:effectLst>
            <a:outerShdw blurRad="50800" dist="38100" dir="2700000" algn="tl" rotWithShape="0">
              <a:srgbClr val="000000">
                <a:alpha val="40000"/>
              </a:srgbClr>
            </a:outerShdw>
          </a:effectLst>
        </p:spPr>
      </p:pic>
      <p:sp>
        <p:nvSpPr>
          <p:cNvPr id="379" name="Google Shape;379;p25"/>
          <p:cNvSpPr txBox="1"/>
          <p:nvPr/>
        </p:nvSpPr>
        <p:spPr>
          <a:xfrm>
            <a:off x="1381748" y="1386026"/>
            <a:ext cx="9684536" cy="3785611"/>
          </a:xfrm>
          <a:prstGeom prst="rect">
            <a:avLst/>
          </a:prstGeom>
          <a:noFill/>
          <a:ln>
            <a:noFill/>
          </a:ln>
        </p:spPr>
        <p:txBody>
          <a:bodyPr spcFirstLastPara="1" wrap="square" lIns="91425" tIns="45700" rIns="91425" bIns="45700" anchor="t" anchorCtr="0">
            <a:spAutoFit/>
          </a:bodyPr>
          <a:lstStyle/>
          <a:p>
            <a:pPr lvl="0"/>
            <a:r>
              <a:rPr lang="en-US" sz="2400" dirty="0">
                <a:latin typeface="Verdana"/>
                <a:ea typeface="Verdana"/>
                <a:cs typeface="Verdana"/>
                <a:sym typeface="Verdana"/>
              </a:rPr>
              <a:t>With your partner, complete the following.</a:t>
            </a:r>
          </a:p>
          <a:p>
            <a:pPr lvl="0"/>
            <a:endParaRPr lang="en-US" sz="2400" dirty="0">
              <a:latin typeface="Verdana"/>
              <a:ea typeface="Verdana"/>
              <a:cs typeface="Verdana"/>
              <a:sym typeface="Verdana"/>
            </a:endParaRPr>
          </a:p>
          <a:p>
            <a:pPr lvl="0"/>
            <a:r>
              <a:rPr lang="en-US" sz="2400" dirty="0">
                <a:latin typeface="Verdana"/>
                <a:ea typeface="Verdana"/>
                <a:cs typeface="Verdana"/>
                <a:sym typeface="Verdana"/>
              </a:rPr>
              <a:t>In math, </a:t>
            </a:r>
            <a:r>
              <a:rPr lang="en-US" sz="2400" b="1" dirty="0">
                <a:latin typeface="Verdana"/>
                <a:ea typeface="Verdana"/>
                <a:cs typeface="Verdana"/>
                <a:sym typeface="Verdana"/>
              </a:rPr>
              <a:t>variables</a:t>
            </a:r>
            <a:r>
              <a:rPr lang="en-US" sz="2400" dirty="0">
                <a:latin typeface="Verdana"/>
                <a:ea typeface="Verdana"/>
                <a:cs typeface="Verdana"/>
                <a:sym typeface="Verdana"/>
              </a:rPr>
              <a:t> are used to represent unknown values. </a:t>
            </a:r>
          </a:p>
          <a:p>
            <a:pPr lvl="0"/>
            <a:endParaRPr lang="en-US" sz="2400" dirty="0">
              <a:latin typeface="Verdana"/>
              <a:ea typeface="Verdana"/>
              <a:cs typeface="Verdana"/>
              <a:sym typeface="Verdana"/>
            </a:endParaRPr>
          </a:p>
          <a:p>
            <a:pPr lvl="0"/>
            <a:endParaRPr lang="en-US" sz="2400" dirty="0">
              <a:latin typeface="Verdana"/>
              <a:ea typeface="Verdana"/>
              <a:cs typeface="Verdana"/>
              <a:sym typeface="Verdana"/>
            </a:endParaRPr>
          </a:p>
          <a:p>
            <a:pPr lvl="0"/>
            <a:endParaRPr lang="en-US" sz="2400" dirty="0">
              <a:latin typeface="Verdana"/>
              <a:ea typeface="Verdana"/>
              <a:cs typeface="Verdana"/>
              <a:sym typeface="Verdana"/>
            </a:endParaRPr>
          </a:p>
          <a:p>
            <a:pPr lvl="0"/>
            <a:endParaRPr lang="en-US" sz="2400" dirty="0">
              <a:latin typeface="Verdana"/>
              <a:ea typeface="Verdana"/>
              <a:cs typeface="Verdana"/>
              <a:sym typeface="Verdana"/>
            </a:endParaRPr>
          </a:p>
          <a:p>
            <a:pPr lvl="0"/>
            <a:endParaRPr lang="en-US" sz="2400" dirty="0">
              <a:latin typeface="Verdana"/>
              <a:ea typeface="Verdana"/>
              <a:cs typeface="Verdana"/>
              <a:sym typeface="Verdana"/>
            </a:endParaRPr>
          </a:p>
          <a:p>
            <a:pPr marL="457200" indent="-457200">
              <a:buFont typeface="+mj-lt"/>
              <a:buAutoNum type="arabicPeriod"/>
            </a:pPr>
            <a:r>
              <a:rPr lang="en-US" sz="2400" dirty="0">
                <a:latin typeface="Verdana"/>
                <a:ea typeface="Verdana"/>
                <a:cs typeface="Verdana"/>
                <a:sym typeface="Verdana"/>
              </a:rPr>
              <a:t>Circle the variable(s) in each expression.</a:t>
            </a:r>
          </a:p>
          <a:p>
            <a:pPr lvl="0"/>
            <a:endParaRPr lang="en-US" sz="2400" dirty="0">
              <a:latin typeface="Verdana"/>
              <a:ea typeface="Verdana"/>
              <a:cs typeface="Verdana"/>
              <a:sym typeface="Verdana"/>
            </a:endParaRPr>
          </a:p>
        </p:txBody>
      </p:sp>
      <p:sp>
        <p:nvSpPr>
          <p:cNvPr id="380" name="Google Shape;380;p25"/>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pSp>
        <p:nvGrpSpPr>
          <p:cNvPr id="8" name="Group 7">
            <a:extLst>
              <a:ext uri="{FF2B5EF4-FFF2-40B4-BE49-F238E27FC236}">
                <a16:creationId xmlns:a16="http://schemas.microsoft.com/office/drawing/2014/main" id="{44FA2DF2-DCDF-4F4B-BB38-DB3F4406F9E4}"/>
              </a:ext>
            </a:extLst>
          </p:cNvPr>
          <p:cNvGrpSpPr/>
          <p:nvPr/>
        </p:nvGrpSpPr>
        <p:grpSpPr>
          <a:xfrm>
            <a:off x="2781300" y="2854959"/>
            <a:ext cx="6629400" cy="1289058"/>
            <a:chOff x="2031300" y="3252877"/>
            <a:chExt cx="6629400" cy="1289283"/>
          </a:xfrm>
          <a:effectLst>
            <a:outerShdw blurRad="50800" dist="38100" dir="2700000" algn="tl" rotWithShape="0">
              <a:prstClr val="black">
                <a:alpha val="40000"/>
              </a:prstClr>
            </a:outerShdw>
          </a:effectLst>
        </p:grpSpPr>
        <p:sp>
          <p:nvSpPr>
            <p:cNvPr id="9" name="Rectangle 8">
              <a:extLst>
                <a:ext uri="{FF2B5EF4-FFF2-40B4-BE49-F238E27FC236}">
                  <a16:creationId xmlns:a16="http://schemas.microsoft.com/office/drawing/2014/main" id="{B9124493-1C96-084D-8A26-E23BDB5A03D7}"/>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grpSp>
          <p:nvGrpSpPr>
            <p:cNvPr id="10" name="Group 9">
              <a:extLst>
                <a:ext uri="{FF2B5EF4-FFF2-40B4-BE49-F238E27FC236}">
                  <a16:creationId xmlns:a16="http://schemas.microsoft.com/office/drawing/2014/main" id="{F81BE987-E748-5F4A-B622-B21CAE4FB027}"/>
                </a:ext>
              </a:extLst>
            </p:cNvPr>
            <p:cNvGrpSpPr/>
            <p:nvPr/>
          </p:nvGrpSpPr>
          <p:grpSpPr>
            <a:xfrm>
              <a:off x="2031300" y="3252877"/>
              <a:ext cx="6629400" cy="1289283"/>
              <a:chOff x="2031300" y="3262288"/>
              <a:chExt cx="6629400" cy="1266265"/>
            </a:xfrm>
          </p:grpSpPr>
          <p:sp>
            <p:nvSpPr>
              <p:cNvPr id="11" name="Rectangle 10">
                <a:extLst>
                  <a:ext uri="{FF2B5EF4-FFF2-40B4-BE49-F238E27FC236}">
                    <a16:creationId xmlns:a16="http://schemas.microsoft.com/office/drawing/2014/main" id="{F3BC3F78-4BAA-8E48-B328-9C2BCEE228F6}"/>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grpSp>
            <p:nvGrpSpPr>
              <p:cNvPr id="12" name="Group 11">
                <a:extLst>
                  <a:ext uri="{FF2B5EF4-FFF2-40B4-BE49-F238E27FC236}">
                    <a16:creationId xmlns:a16="http://schemas.microsoft.com/office/drawing/2014/main" id="{79369452-82CD-6E44-9B84-E91CB102F869}"/>
                  </a:ext>
                </a:extLst>
              </p:cNvPr>
              <p:cNvGrpSpPr/>
              <p:nvPr/>
            </p:nvGrpSpPr>
            <p:grpSpPr>
              <a:xfrm>
                <a:off x="2031300" y="3262288"/>
                <a:ext cx="6629400" cy="1266265"/>
                <a:chOff x="2031300" y="3373600"/>
                <a:chExt cx="6629400" cy="1266265"/>
              </a:xfrm>
            </p:grpSpPr>
            <p:sp>
              <p:nvSpPr>
                <p:cNvPr id="13" name="Rectangle 12">
                  <a:extLst>
                    <a:ext uri="{FF2B5EF4-FFF2-40B4-BE49-F238E27FC236}">
                      <a16:creationId xmlns:a16="http://schemas.microsoft.com/office/drawing/2014/main" id="{7FD9D110-5C2F-7B43-AEC2-664E1C719218}"/>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grpSp>
              <p:nvGrpSpPr>
                <p:cNvPr id="14" name="Group 13">
                  <a:extLst>
                    <a:ext uri="{FF2B5EF4-FFF2-40B4-BE49-F238E27FC236}">
                      <a16:creationId xmlns:a16="http://schemas.microsoft.com/office/drawing/2014/main" id="{8DDA7C41-FE72-7D46-9755-79330951535E}"/>
                    </a:ext>
                  </a:extLst>
                </p:cNvPr>
                <p:cNvGrpSpPr/>
                <p:nvPr/>
              </p:nvGrpSpPr>
              <p:grpSpPr>
                <a:xfrm>
                  <a:off x="2031300" y="3373600"/>
                  <a:ext cx="6629400" cy="1266265"/>
                  <a:chOff x="2031300" y="3373600"/>
                  <a:chExt cx="6629400" cy="1266265"/>
                </a:xfrm>
              </p:grpSpPr>
              <p:sp>
                <p:nvSpPr>
                  <p:cNvPr id="15" name="Rectangle 14">
                    <a:extLst>
                      <a:ext uri="{FF2B5EF4-FFF2-40B4-BE49-F238E27FC236}">
                        <a16:creationId xmlns:a16="http://schemas.microsoft.com/office/drawing/2014/main" id="{81C7097E-DB0C-3A44-A072-50FE41761461}"/>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grpSp>
                <p:nvGrpSpPr>
                  <p:cNvPr id="16" name="Group 15">
                    <a:extLst>
                      <a:ext uri="{FF2B5EF4-FFF2-40B4-BE49-F238E27FC236}">
                        <a16:creationId xmlns:a16="http://schemas.microsoft.com/office/drawing/2014/main" id="{71992A66-0679-7647-AB10-23E1C11EF573}"/>
                      </a:ext>
                    </a:extLst>
                  </p:cNvPr>
                  <p:cNvGrpSpPr/>
                  <p:nvPr/>
                </p:nvGrpSpPr>
                <p:grpSpPr>
                  <a:xfrm>
                    <a:off x="2031300" y="3373600"/>
                    <a:ext cx="6629400" cy="1266265"/>
                    <a:chOff x="0" y="0"/>
                    <a:chExt cx="6629400" cy="1266265"/>
                  </a:xfrm>
                </p:grpSpPr>
                <p:sp>
                  <p:nvSpPr>
                    <p:cNvPr id="17" name="Rectangle 16">
                      <a:extLst>
                        <a:ext uri="{FF2B5EF4-FFF2-40B4-BE49-F238E27FC236}">
                          <a16:creationId xmlns:a16="http://schemas.microsoft.com/office/drawing/2014/main" id="{F1C86917-4EB4-3B46-B871-7A7309F4487D}"/>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sp>
                  <p:nvSpPr>
                    <p:cNvPr id="18" name="Rounded Rectangle 17">
                      <a:extLst>
                        <a:ext uri="{FF2B5EF4-FFF2-40B4-BE49-F238E27FC236}">
                          <a16:creationId xmlns:a16="http://schemas.microsoft.com/office/drawing/2014/main" id="{68596C94-B5EA-C843-B155-E1FE6834A5FA}"/>
                        </a:ext>
                      </a:extLst>
                    </p:cNvPr>
                    <p:cNvSpPr/>
                    <p:nvPr/>
                  </p:nvSpPr>
                  <p:spPr>
                    <a:xfrm>
                      <a:off x="0" y="230841"/>
                      <a:ext cx="6629400" cy="1035424"/>
                    </a:xfrm>
                    <a:prstGeom prst="roundRect">
                      <a:avLst>
                        <a:gd name="adj" fmla="val 16667"/>
                      </a:avLst>
                    </a:prstGeom>
                    <a:solidFill>
                      <a:srgbClr val="E2EED5"/>
                    </a:solidFill>
                    <a:ln>
                      <a:noFill/>
                    </a:ln>
                  </p:spPr>
                  <p:txBody>
                    <a:bodyPr spcFirstLastPara="1" wrap="square" lIns="91425" tIns="45700" rIns="91425" bIns="45700" anchor="ctr" anchorCtr="0">
                      <a:noAutofit/>
                    </a:bodyPr>
                    <a:lstStyle/>
                    <a:p>
                      <a:pPr>
                        <a:spcAft>
                          <a:spcPts val="1000"/>
                        </a:spcAft>
                      </a:pPr>
                      <a:r>
                        <a:rPr lang="en-US" sz="2000" dirty="0">
                          <a:solidFill>
                            <a:srgbClr val="6C9A3C"/>
                          </a:solidFill>
                          <a:latin typeface="Verdana" panose="020B0604030504040204" pitchFamily="34" charset="0"/>
                          <a:ea typeface="MS Mincho" panose="02020609040205080304" pitchFamily="49" charset="-128"/>
                          <a:cs typeface="Cambria" panose="02040503050406030204" pitchFamily="18" charset="0"/>
                        </a:rPr>
                        <a:t>In an algebraic expression, a </a:t>
                      </a:r>
                      <a:r>
                        <a:rPr lang="en-US" sz="2000" b="1" i="1" dirty="0">
                          <a:solidFill>
                            <a:srgbClr val="6C9A3C"/>
                          </a:solidFill>
                          <a:latin typeface="Verdana" panose="020B0604030504040204" pitchFamily="34" charset="0"/>
                          <a:ea typeface="MS Mincho" panose="02020609040205080304" pitchFamily="49" charset="-128"/>
                          <a:cs typeface="Cambria" panose="02040503050406030204" pitchFamily="18" charset="0"/>
                        </a:rPr>
                        <a:t>variable</a:t>
                      </a:r>
                      <a:r>
                        <a:rPr lang="en-US" sz="2000" dirty="0">
                          <a:solidFill>
                            <a:srgbClr val="6C9A3C"/>
                          </a:solidFill>
                          <a:latin typeface="Verdana" panose="020B0604030504040204" pitchFamily="34" charset="0"/>
                          <a:ea typeface="MS Mincho" panose="02020609040205080304" pitchFamily="49" charset="-128"/>
                          <a:cs typeface="Cambria" panose="02040503050406030204" pitchFamily="18" charset="0"/>
                        </a:rPr>
                        <a:t> is a letter that represents a number.</a:t>
                      </a:r>
                      <a:endParaRPr lang="en-US" dirty="0">
                        <a:latin typeface="Cambria" panose="02040503050406030204" pitchFamily="18" charset="0"/>
                        <a:ea typeface="MS Mincho" panose="02020609040205080304" pitchFamily="49" charset="-128"/>
                        <a:cs typeface="Cambria" panose="02040503050406030204" pitchFamily="18" charset="0"/>
                      </a:endParaRPr>
                    </a:p>
                  </p:txBody>
                </p:sp>
              </p:grpSp>
            </p:grpSp>
          </p:grpSp>
        </p:grpSp>
      </p:grpSp>
      <p:pic>
        <p:nvPicPr>
          <p:cNvPr id="2" name="Picture 1">
            <a:extLst>
              <a:ext uri="{FF2B5EF4-FFF2-40B4-BE49-F238E27FC236}">
                <a16:creationId xmlns:a16="http://schemas.microsoft.com/office/drawing/2014/main" id="{4E424B3F-55E1-4940-8DE6-8164D29DD3E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195182" y="4968429"/>
            <a:ext cx="8057669" cy="800274"/>
          </a:xfrm>
          <a:prstGeom prst="rect">
            <a:avLst/>
          </a:prstGeom>
        </p:spPr>
      </p:pic>
      <p:sp>
        <p:nvSpPr>
          <p:cNvPr id="21" name="Google Shape;125;g104476d1465_1_17"/>
          <p:cNvSpPr txBox="1"/>
          <p:nvPr/>
        </p:nvSpPr>
        <p:spPr>
          <a:xfrm>
            <a:off x="8711750" y="645792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342</a:t>
            </a:r>
            <a:endParaRPr i="1" dirty="0">
              <a:latin typeface="Calibri"/>
              <a:ea typeface="Calibri"/>
              <a:cs typeface="Calibri"/>
              <a:sym typeface="Calibri"/>
            </a:endParaRPr>
          </a:p>
        </p:txBody>
      </p:sp>
      <p:pic>
        <p:nvPicPr>
          <p:cNvPr id="22"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303276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8" name="Google Shape;388;p26"/>
          <p:cNvSpPr txBox="1"/>
          <p:nvPr/>
        </p:nvSpPr>
        <p:spPr>
          <a:xfrm>
            <a:off x="2007765" y="372691"/>
            <a:ext cx="8327136" cy="3416279"/>
          </a:xfrm>
          <a:prstGeom prst="rect">
            <a:avLst/>
          </a:prstGeom>
          <a:noFill/>
          <a:ln>
            <a:noFill/>
          </a:ln>
        </p:spPr>
        <p:txBody>
          <a:bodyPr spcFirstLastPara="1" wrap="square" lIns="91425" tIns="45700" rIns="91425" bIns="45700" anchor="t" anchorCtr="0">
            <a:spAutoFit/>
          </a:bodyPr>
          <a:lstStyle/>
          <a:p>
            <a:pPr lvl="0"/>
            <a:r>
              <a:rPr lang="en-US" sz="2400" dirty="0">
                <a:latin typeface="Verdana"/>
                <a:ea typeface="Verdana"/>
                <a:cs typeface="Verdana"/>
                <a:sym typeface="Verdana"/>
              </a:rPr>
              <a:t>Variables are found in algebraic equations.</a:t>
            </a:r>
          </a:p>
          <a:p>
            <a:pPr lvl="0"/>
            <a:endParaRPr lang="en-US" sz="2400" dirty="0">
              <a:latin typeface="Verdana"/>
              <a:ea typeface="Verdana"/>
              <a:cs typeface="Verdana"/>
              <a:sym typeface="Verdana"/>
            </a:endParaRPr>
          </a:p>
          <a:p>
            <a:pPr lvl="0"/>
            <a:endParaRPr lang="en-US" sz="2400" dirty="0">
              <a:latin typeface="Verdana"/>
              <a:ea typeface="Verdana"/>
              <a:cs typeface="Verdana"/>
              <a:sym typeface="Verdana"/>
            </a:endParaRPr>
          </a:p>
          <a:p>
            <a:pPr lvl="0"/>
            <a:endParaRPr lang="en-US" sz="2400" dirty="0">
              <a:latin typeface="Verdana"/>
              <a:ea typeface="Verdana"/>
              <a:cs typeface="Verdana"/>
              <a:sym typeface="Verdana"/>
            </a:endParaRPr>
          </a:p>
          <a:p>
            <a:pPr lvl="0"/>
            <a:endParaRPr lang="en-US" sz="2400" dirty="0">
              <a:latin typeface="Verdana"/>
              <a:ea typeface="Verdana"/>
              <a:cs typeface="Verdana"/>
              <a:sym typeface="Verdana"/>
            </a:endParaRPr>
          </a:p>
          <a:p>
            <a:pPr lvl="0"/>
            <a:endParaRPr lang="en-US" sz="2400" dirty="0">
              <a:latin typeface="Verdana"/>
              <a:ea typeface="Verdana"/>
              <a:cs typeface="Verdana"/>
              <a:sym typeface="Verdana"/>
            </a:endParaRPr>
          </a:p>
          <a:p>
            <a:pPr lvl="0"/>
            <a:endParaRPr lang="en-US" sz="2000" dirty="0">
              <a:latin typeface="Verdana"/>
              <a:ea typeface="Verdana"/>
              <a:cs typeface="Verdana"/>
              <a:sym typeface="Verdana"/>
            </a:endParaRPr>
          </a:p>
          <a:p>
            <a:pPr lvl="0"/>
            <a:endParaRPr lang="en-US" sz="2400" dirty="0">
              <a:latin typeface="Verdana"/>
              <a:ea typeface="Verdana"/>
              <a:cs typeface="Verdana"/>
              <a:sym typeface="Verdana"/>
            </a:endParaRPr>
          </a:p>
          <a:p>
            <a:pPr marL="457200" indent="-457200">
              <a:buFont typeface="+mj-lt"/>
              <a:buAutoNum type="arabicPeriod" startAt="2"/>
            </a:pPr>
            <a:r>
              <a:rPr lang="en-US" sz="2400" dirty="0">
                <a:latin typeface="Verdana"/>
                <a:ea typeface="Verdana"/>
                <a:cs typeface="Verdana"/>
                <a:sym typeface="Verdana"/>
              </a:rPr>
              <a:t>Circle the algebraic equations.  </a:t>
            </a:r>
            <a:endParaRPr dirty="0"/>
          </a:p>
        </p:txBody>
      </p:sp>
      <p:sp>
        <p:nvSpPr>
          <p:cNvPr id="389" name="Google Shape;389;p26"/>
          <p:cNvSpPr/>
          <p:nvPr/>
        </p:nvSpPr>
        <p:spPr>
          <a:xfrm>
            <a:off x="842"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pSp>
        <p:nvGrpSpPr>
          <p:cNvPr id="19" name="Group 18">
            <a:extLst>
              <a:ext uri="{FF2B5EF4-FFF2-40B4-BE49-F238E27FC236}">
                <a16:creationId xmlns:a16="http://schemas.microsoft.com/office/drawing/2014/main" id="{13927AA7-63A5-0048-A24A-46000ADC0BC8}"/>
              </a:ext>
            </a:extLst>
          </p:cNvPr>
          <p:cNvGrpSpPr/>
          <p:nvPr/>
        </p:nvGrpSpPr>
        <p:grpSpPr>
          <a:xfrm>
            <a:off x="2780989" y="804978"/>
            <a:ext cx="6946765" cy="1148080"/>
            <a:chOff x="2031299" y="3252877"/>
            <a:chExt cx="6946765" cy="1148280"/>
          </a:xfrm>
          <a:effectLst>
            <a:outerShdw blurRad="50800" dist="38100" dir="2700000" algn="tl" rotWithShape="0">
              <a:prstClr val="black">
                <a:alpha val="40000"/>
              </a:prstClr>
            </a:outerShdw>
          </a:effectLst>
        </p:grpSpPr>
        <p:grpSp>
          <p:nvGrpSpPr>
            <p:cNvPr id="20" name="Group 19">
              <a:extLst>
                <a:ext uri="{FF2B5EF4-FFF2-40B4-BE49-F238E27FC236}">
                  <a16:creationId xmlns:a16="http://schemas.microsoft.com/office/drawing/2014/main" id="{47C27207-4428-B549-AAEC-FE3C8DF33C3B}"/>
                </a:ext>
              </a:extLst>
            </p:cNvPr>
            <p:cNvGrpSpPr/>
            <p:nvPr/>
          </p:nvGrpSpPr>
          <p:grpSpPr>
            <a:xfrm>
              <a:off x="2031299" y="3252877"/>
              <a:ext cx="6946765" cy="1148280"/>
              <a:chOff x="2031299" y="3252877"/>
              <a:chExt cx="6946765" cy="1148280"/>
            </a:xfrm>
          </p:grpSpPr>
          <p:sp>
            <p:nvSpPr>
              <p:cNvPr id="21" name="Rectangle 20">
                <a:extLst>
                  <a:ext uri="{FF2B5EF4-FFF2-40B4-BE49-F238E27FC236}">
                    <a16:creationId xmlns:a16="http://schemas.microsoft.com/office/drawing/2014/main" id="{2C330ECA-4978-7C41-9F86-807F6276B717}"/>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grpSp>
            <p:nvGrpSpPr>
              <p:cNvPr id="22" name="Group 21">
                <a:extLst>
                  <a:ext uri="{FF2B5EF4-FFF2-40B4-BE49-F238E27FC236}">
                    <a16:creationId xmlns:a16="http://schemas.microsoft.com/office/drawing/2014/main" id="{A77B7C77-0944-514D-B7C1-5E8ECA193CC6}"/>
                  </a:ext>
                </a:extLst>
              </p:cNvPr>
              <p:cNvGrpSpPr/>
              <p:nvPr/>
            </p:nvGrpSpPr>
            <p:grpSpPr>
              <a:xfrm>
                <a:off x="2031299" y="3252878"/>
                <a:ext cx="6946765" cy="1148279"/>
                <a:chOff x="2031299" y="3262288"/>
                <a:chExt cx="6946765" cy="1127778"/>
              </a:xfrm>
            </p:grpSpPr>
            <p:sp>
              <p:nvSpPr>
                <p:cNvPr id="23" name="Rectangle 22">
                  <a:extLst>
                    <a:ext uri="{FF2B5EF4-FFF2-40B4-BE49-F238E27FC236}">
                      <a16:creationId xmlns:a16="http://schemas.microsoft.com/office/drawing/2014/main" id="{693DB5B1-4EDC-2046-A7D7-1321ACE7D343}"/>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grpSp>
              <p:nvGrpSpPr>
                <p:cNvPr id="24" name="Group 23">
                  <a:extLst>
                    <a:ext uri="{FF2B5EF4-FFF2-40B4-BE49-F238E27FC236}">
                      <a16:creationId xmlns:a16="http://schemas.microsoft.com/office/drawing/2014/main" id="{F73F1541-25B3-BE4D-9ACF-F2A83DA5798E}"/>
                    </a:ext>
                  </a:extLst>
                </p:cNvPr>
                <p:cNvGrpSpPr/>
                <p:nvPr/>
              </p:nvGrpSpPr>
              <p:grpSpPr>
                <a:xfrm>
                  <a:off x="2031299" y="3262288"/>
                  <a:ext cx="6946765" cy="1127778"/>
                  <a:chOff x="2031299" y="3373600"/>
                  <a:chExt cx="6946765" cy="1127778"/>
                </a:xfrm>
              </p:grpSpPr>
              <p:sp>
                <p:nvSpPr>
                  <p:cNvPr id="25" name="Rectangle 24">
                    <a:extLst>
                      <a:ext uri="{FF2B5EF4-FFF2-40B4-BE49-F238E27FC236}">
                        <a16:creationId xmlns:a16="http://schemas.microsoft.com/office/drawing/2014/main" id="{AB79ACBE-3761-484A-99B7-36F266522595}"/>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grpSp>
                <p:nvGrpSpPr>
                  <p:cNvPr id="26" name="Group 25">
                    <a:extLst>
                      <a:ext uri="{FF2B5EF4-FFF2-40B4-BE49-F238E27FC236}">
                        <a16:creationId xmlns:a16="http://schemas.microsoft.com/office/drawing/2014/main" id="{45DA47FE-67DD-9C40-A299-6870FF34E4BE}"/>
                      </a:ext>
                    </a:extLst>
                  </p:cNvPr>
                  <p:cNvGrpSpPr/>
                  <p:nvPr/>
                </p:nvGrpSpPr>
                <p:grpSpPr>
                  <a:xfrm>
                    <a:off x="2031299" y="3373600"/>
                    <a:ext cx="6946765" cy="1127778"/>
                    <a:chOff x="2031299" y="3373600"/>
                    <a:chExt cx="6946765" cy="1127778"/>
                  </a:xfrm>
                </p:grpSpPr>
                <p:sp>
                  <p:nvSpPr>
                    <p:cNvPr id="27" name="Rectangle 26">
                      <a:extLst>
                        <a:ext uri="{FF2B5EF4-FFF2-40B4-BE49-F238E27FC236}">
                          <a16:creationId xmlns:a16="http://schemas.microsoft.com/office/drawing/2014/main" id="{01F59F05-4202-B24F-81B0-8A608F427682}"/>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grpSp>
                  <p:nvGrpSpPr>
                    <p:cNvPr id="28" name="Group 27">
                      <a:extLst>
                        <a:ext uri="{FF2B5EF4-FFF2-40B4-BE49-F238E27FC236}">
                          <a16:creationId xmlns:a16="http://schemas.microsoft.com/office/drawing/2014/main" id="{2040F33E-E685-AB41-8C66-49C71AF75358}"/>
                        </a:ext>
                      </a:extLst>
                    </p:cNvPr>
                    <p:cNvGrpSpPr/>
                    <p:nvPr/>
                  </p:nvGrpSpPr>
                  <p:grpSpPr>
                    <a:xfrm>
                      <a:off x="2031299" y="3373600"/>
                      <a:ext cx="6946765" cy="1127778"/>
                      <a:chOff x="-1" y="0"/>
                      <a:chExt cx="6946765" cy="1127778"/>
                    </a:xfrm>
                  </p:grpSpPr>
                  <p:sp>
                    <p:nvSpPr>
                      <p:cNvPr id="29" name="Rectangle 28">
                        <a:extLst>
                          <a:ext uri="{FF2B5EF4-FFF2-40B4-BE49-F238E27FC236}">
                            <a16:creationId xmlns:a16="http://schemas.microsoft.com/office/drawing/2014/main" id="{B8B17C6A-F6F8-8B41-B508-29BA81AA126C}"/>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sp>
                    <p:nvSpPr>
                      <p:cNvPr id="30" name="Rounded Rectangle 29">
                        <a:extLst>
                          <a:ext uri="{FF2B5EF4-FFF2-40B4-BE49-F238E27FC236}">
                            <a16:creationId xmlns:a16="http://schemas.microsoft.com/office/drawing/2014/main" id="{D2276912-5B2F-3B45-B74E-B93F47F9B534}"/>
                          </a:ext>
                        </a:extLst>
                      </p:cNvPr>
                      <p:cNvSpPr/>
                      <p:nvPr/>
                    </p:nvSpPr>
                    <p:spPr>
                      <a:xfrm>
                        <a:off x="-1" y="92354"/>
                        <a:ext cx="6946765" cy="1035424"/>
                      </a:xfrm>
                      <a:prstGeom prst="roundRect">
                        <a:avLst>
                          <a:gd name="adj" fmla="val 16667"/>
                        </a:avLst>
                      </a:prstGeom>
                      <a:solidFill>
                        <a:srgbClr val="E2EED5"/>
                      </a:solidFill>
                      <a:ln>
                        <a:noFill/>
                      </a:ln>
                    </p:spPr>
                    <p:txBody>
                      <a:bodyPr spcFirstLastPara="1" wrap="square" lIns="91425" tIns="45700" rIns="91425" bIns="45700" anchor="ctr" anchorCtr="0">
                        <a:noAutofit/>
                      </a:bodyPr>
                      <a:lstStyle/>
                      <a:p>
                        <a:pPr marL="74295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An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equation</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mathematical relation statement where two equivalent expressions or values are separated by an equal sign.</a:t>
                        </a:r>
                        <a:endParaRPr lang="en-US" sz="2000" dirty="0">
                          <a:latin typeface="Cambria" panose="02040503050406030204" pitchFamily="18" charset="0"/>
                          <a:ea typeface="MS Mincho" panose="02020609040205080304" pitchFamily="49" charset="-128"/>
                          <a:cs typeface="Cambria" panose="02040503050406030204" pitchFamily="18" charset="0"/>
                        </a:endParaRPr>
                      </a:p>
                    </p:txBody>
                  </p:sp>
                  <p:pic>
                    <p:nvPicPr>
                      <p:cNvPr id="31" name="Shape 13" descr="Icon&#10;&#10;Description automatically generated">
                        <a:extLst>
                          <a:ext uri="{FF2B5EF4-FFF2-40B4-BE49-F238E27FC236}">
                            <a16:creationId xmlns:a16="http://schemas.microsoft.com/office/drawing/2014/main" id="{C12B61AD-D94C-5444-945B-BFC4FC9D69F9}"/>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89865" y="179695"/>
                        <a:ext cx="539750" cy="539750"/>
                      </a:xfrm>
                      <a:prstGeom prst="rect">
                        <a:avLst/>
                      </a:prstGeom>
                      <a:noFill/>
                      <a:ln>
                        <a:noFill/>
                      </a:ln>
                      <a:effectLst>
                        <a:outerShdw blurRad="50800" dist="38100" dir="2700000" algn="tl" rotWithShape="0">
                          <a:prstClr val="black">
                            <a:alpha val="40000"/>
                          </a:prstClr>
                        </a:outerShdw>
                      </a:effectLst>
                    </p:spPr>
                  </p:pic>
                </p:grpSp>
              </p:grpSp>
            </p:grpSp>
          </p:grpSp>
        </p:grpSp>
      </p:grpSp>
      <p:grpSp>
        <p:nvGrpSpPr>
          <p:cNvPr id="44" name="Group 43">
            <a:extLst>
              <a:ext uri="{FF2B5EF4-FFF2-40B4-BE49-F238E27FC236}">
                <a16:creationId xmlns:a16="http://schemas.microsoft.com/office/drawing/2014/main" id="{A5EA5714-58E8-8A48-B934-BFF52F69EA5D}"/>
              </a:ext>
            </a:extLst>
          </p:cNvPr>
          <p:cNvGrpSpPr/>
          <p:nvPr/>
        </p:nvGrpSpPr>
        <p:grpSpPr>
          <a:xfrm>
            <a:off x="2780989" y="1954138"/>
            <a:ext cx="6946764" cy="1086119"/>
            <a:chOff x="2031300" y="3252877"/>
            <a:chExt cx="6946764" cy="1086248"/>
          </a:xfrm>
          <a:effectLst>
            <a:outerShdw blurRad="50800" dist="38100" dir="2700000" algn="tl" rotWithShape="0">
              <a:prstClr val="black">
                <a:alpha val="40000"/>
              </a:prstClr>
            </a:outerShdw>
          </a:effectLst>
        </p:grpSpPr>
        <p:sp>
          <p:nvSpPr>
            <p:cNvPr id="45" name="Rectangle 44">
              <a:extLst>
                <a:ext uri="{FF2B5EF4-FFF2-40B4-BE49-F238E27FC236}">
                  <a16:creationId xmlns:a16="http://schemas.microsoft.com/office/drawing/2014/main" id="{AD2AD03B-DF39-3D44-A1DF-419935FAE2E1}"/>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grpSp>
          <p:nvGrpSpPr>
            <p:cNvPr id="46" name="Group 45">
              <a:extLst>
                <a:ext uri="{FF2B5EF4-FFF2-40B4-BE49-F238E27FC236}">
                  <a16:creationId xmlns:a16="http://schemas.microsoft.com/office/drawing/2014/main" id="{09B068EC-B05F-3343-A999-BF718CB65E6D}"/>
                </a:ext>
              </a:extLst>
            </p:cNvPr>
            <p:cNvGrpSpPr/>
            <p:nvPr/>
          </p:nvGrpSpPr>
          <p:grpSpPr>
            <a:xfrm>
              <a:off x="2031300" y="3252879"/>
              <a:ext cx="6946764" cy="1086246"/>
              <a:chOff x="2031300" y="3262288"/>
              <a:chExt cx="6946764" cy="1066852"/>
            </a:xfrm>
          </p:grpSpPr>
          <p:sp>
            <p:nvSpPr>
              <p:cNvPr id="47" name="Rectangle 46">
                <a:extLst>
                  <a:ext uri="{FF2B5EF4-FFF2-40B4-BE49-F238E27FC236}">
                    <a16:creationId xmlns:a16="http://schemas.microsoft.com/office/drawing/2014/main" id="{95801C50-471C-FE40-9815-2156BEFF8FFE}"/>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grpSp>
            <p:nvGrpSpPr>
              <p:cNvPr id="48" name="Group 47">
                <a:extLst>
                  <a:ext uri="{FF2B5EF4-FFF2-40B4-BE49-F238E27FC236}">
                    <a16:creationId xmlns:a16="http://schemas.microsoft.com/office/drawing/2014/main" id="{E7BDD9CA-7A82-7940-943A-82F23F2AC434}"/>
                  </a:ext>
                </a:extLst>
              </p:cNvPr>
              <p:cNvGrpSpPr/>
              <p:nvPr/>
            </p:nvGrpSpPr>
            <p:grpSpPr>
              <a:xfrm>
                <a:off x="2031300" y="3262288"/>
                <a:ext cx="6946764" cy="1066852"/>
                <a:chOff x="2031300" y="3373600"/>
                <a:chExt cx="6946764" cy="1066852"/>
              </a:xfrm>
            </p:grpSpPr>
            <p:sp>
              <p:nvSpPr>
                <p:cNvPr id="49" name="Rectangle 48">
                  <a:extLst>
                    <a:ext uri="{FF2B5EF4-FFF2-40B4-BE49-F238E27FC236}">
                      <a16:creationId xmlns:a16="http://schemas.microsoft.com/office/drawing/2014/main" id="{2AC9E6F5-2691-E946-A8FB-2A63189D7F9F}"/>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grpSp>
              <p:nvGrpSpPr>
                <p:cNvPr id="50" name="Group 49">
                  <a:extLst>
                    <a:ext uri="{FF2B5EF4-FFF2-40B4-BE49-F238E27FC236}">
                      <a16:creationId xmlns:a16="http://schemas.microsoft.com/office/drawing/2014/main" id="{8F06EFBC-A217-1241-848D-4F1B61FF5947}"/>
                    </a:ext>
                  </a:extLst>
                </p:cNvPr>
                <p:cNvGrpSpPr/>
                <p:nvPr/>
              </p:nvGrpSpPr>
              <p:grpSpPr>
                <a:xfrm>
                  <a:off x="2031300" y="3373600"/>
                  <a:ext cx="6946764" cy="1066852"/>
                  <a:chOff x="2031300" y="3373600"/>
                  <a:chExt cx="6946764" cy="1066852"/>
                </a:xfrm>
              </p:grpSpPr>
              <p:sp>
                <p:nvSpPr>
                  <p:cNvPr id="51" name="Rectangle 50">
                    <a:extLst>
                      <a:ext uri="{FF2B5EF4-FFF2-40B4-BE49-F238E27FC236}">
                        <a16:creationId xmlns:a16="http://schemas.microsoft.com/office/drawing/2014/main" id="{97D31C41-D613-B949-9978-180BC42BE41B}"/>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grpSp>
                <p:nvGrpSpPr>
                  <p:cNvPr id="52" name="Group 51">
                    <a:extLst>
                      <a:ext uri="{FF2B5EF4-FFF2-40B4-BE49-F238E27FC236}">
                        <a16:creationId xmlns:a16="http://schemas.microsoft.com/office/drawing/2014/main" id="{0B6AFFD9-8121-4F4F-ADF4-A3B9655B956F}"/>
                      </a:ext>
                    </a:extLst>
                  </p:cNvPr>
                  <p:cNvGrpSpPr/>
                  <p:nvPr/>
                </p:nvGrpSpPr>
                <p:grpSpPr>
                  <a:xfrm>
                    <a:off x="2031300" y="3373600"/>
                    <a:ext cx="6946764" cy="1066852"/>
                    <a:chOff x="0" y="0"/>
                    <a:chExt cx="6946764" cy="1066852"/>
                  </a:xfrm>
                </p:grpSpPr>
                <p:sp>
                  <p:nvSpPr>
                    <p:cNvPr id="53" name="Rectangle 52">
                      <a:extLst>
                        <a:ext uri="{FF2B5EF4-FFF2-40B4-BE49-F238E27FC236}">
                          <a16:creationId xmlns:a16="http://schemas.microsoft.com/office/drawing/2014/main" id="{1E3EE6B5-93D9-124E-8DEE-A5BD97C78F0D}"/>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sp>
                  <p:nvSpPr>
                    <p:cNvPr id="54" name="Rounded Rectangle 53">
                      <a:extLst>
                        <a:ext uri="{FF2B5EF4-FFF2-40B4-BE49-F238E27FC236}">
                          <a16:creationId xmlns:a16="http://schemas.microsoft.com/office/drawing/2014/main" id="{201CF4AE-25DB-3E40-8C9A-87DE1D3FB24F}"/>
                        </a:ext>
                      </a:extLst>
                    </p:cNvPr>
                    <p:cNvSpPr/>
                    <p:nvPr/>
                  </p:nvSpPr>
                  <p:spPr>
                    <a:xfrm>
                      <a:off x="0" y="131357"/>
                      <a:ext cx="6946764" cy="935495"/>
                    </a:xfrm>
                    <a:prstGeom prst="roundRect">
                      <a:avLst>
                        <a:gd name="adj" fmla="val 16667"/>
                      </a:avLst>
                    </a:prstGeom>
                    <a:solidFill>
                      <a:srgbClr val="E2EED5"/>
                    </a:solidFill>
                    <a:ln>
                      <a:noFill/>
                    </a:ln>
                  </p:spPr>
                  <p:txBody>
                    <a:bodyPr spcFirstLastPara="1" wrap="square" lIns="91425" tIns="45700" rIns="91425" bIns="45700" anchor="ctr" anchorCtr="0">
                      <a:noAutofit/>
                    </a:bodyPr>
                    <a:lstStyle/>
                    <a:p>
                      <a:pPr marL="57150">
                        <a:spcAft>
                          <a:spcPts val="1000"/>
                        </a:spcAft>
                      </a:pPr>
                      <a:endParaRPr lang="en-US" sz="1800" dirty="0">
                        <a:solidFill>
                          <a:srgbClr val="6C9A3C"/>
                        </a:solidFill>
                        <a:latin typeface="Verdana" panose="020B0604030504040204" pitchFamily="34" charset="0"/>
                        <a:ea typeface="MS Mincho" panose="02020609040205080304" pitchFamily="49" charset="-128"/>
                        <a:cs typeface="Cambria" panose="02040503050406030204" pitchFamily="18" charset="0"/>
                      </a:endParaRPr>
                    </a:p>
                    <a:p>
                      <a:pPr marL="57150">
                        <a:spcAft>
                          <a:spcPts val="1000"/>
                        </a:spcAft>
                      </a:pPr>
                      <a:r>
                        <a:rPr lang="en-US" sz="2000" dirty="0">
                          <a:solidFill>
                            <a:srgbClr val="6C9A3C"/>
                          </a:solidFill>
                          <a:latin typeface="Verdana" panose="020B0604030504040204" pitchFamily="34" charset="0"/>
                          <a:ea typeface="MS Mincho" panose="02020609040205080304" pitchFamily="49" charset="-128"/>
                          <a:cs typeface="Cambria" panose="02040503050406030204" pitchFamily="18" charset="0"/>
                        </a:rPr>
                        <a:t>An </a:t>
                      </a:r>
                      <a:r>
                        <a:rPr lang="en-US" sz="2000" b="1" i="1" dirty="0">
                          <a:solidFill>
                            <a:srgbClr val="6C9A3C"/>
                          </a:solidFill>
                          <a:latin typeface="Verdana" panose="020B0604030504040204" pitchFamily="34" charset="0"/>
                          <a:ea typeface="MS Mincho" panose="02020609040205080304" pitchFamily="49" charset="-128"/>
                          <a:cs typeface="Cambria" panose="02040503050406030204" pitchFamily="18" charset="0"/>
                        </a:rPr>
                        <a:t>algebraic equation</a:t>
                      </a:r>
                      <a:r>
                        <a:rPr lang="en-US" sz="2000" dirty="0">
                          <a:solidFill>
                            <a:srgbClr val="6C9A3C"/>
                          </a:solidFill>
                          <a:latin typeface="Verdana" panose="020B0604030504040204" pitchFamily="34" charset="0"/>
                          <a:ea typeface="MS Mincho" panose="02020609040205080304" pitchFamily="49" charset="-128"/>
                          <a:cs typeface="Cambria" panose="02040503050406030204" pitchFamily="18" charset="0"/>
                        </a:rPr>
                        <a:t> is an equation with at least one variable.</a:t>
                      </a:r>
                      <a:endParaRPr lang="en-US" sz="2000" dirty="0">
                        <a:latin typeface="Cambria" panose="02040503050406030204" pitchFamily="18" charset="0"/>
                        <a:ea typeface="MS Mincho" panose="02020609040205080304" pitchFamily="49" charset="-128"/>
                        <a:cs typeface="Cambria" panose="02040503050406030204" pitchFamily="18" charset="0"/>
                      </a:endParaRPr>
                    </a:p>
                    <a:p>
                      <a:pPr marL="685800" indent="2057400">
                        <a:spcAft>
                          <a:spcPts val="1000"/>
                        </a:spcAft>
                      </a:pPr>
                      <a:r>
                        <a:rPr lang="en-US" sz="1800" dirty="0">
                          <a:solidFill>
                            <a:srgbClr val="6C9A3C"/>
                          </a:solidFill>
                          <a:latin typeface="Verdana" panose="020B0604030504040204" pitchFamily="34" charset="0"/>
                          <a:ea typeface="MS Mincho" panose="02020609040205080304" pitchFamily="49" charset="-128"/>
                          <a:cs typeface="Cambria" panose="02040503050406030204" pitchFamily="18" charset="0"/>
                        </a:rPr>
                        <a:t> </a:t>
                      </a:r>
                      <a:endParaRPr lang="en-US" sz="1200" dirty="0">
                        <a:latin typeface="Cambria" panose="02040503050406030204" pitchFamily="18" charset="0"/>
                        <a:ea typeface="MS Mincho" panose="02020609040205080304" pitchFamily="49" charset="-128"/>
                        <a:cs typeface="Cambria" panose="02040503050406030204" pitchFamily="18" charset="0"/>
                      </a:endParaRPr>
                    </a:p>
                  </p:txBody>
                </p:sp>
              </p:grpSp>
            </p:grpSp>
          </p:grpSp>
        </p:grpSp>
      </p:grpSp>
      <p:pic>
        <p:nvPicPr>
          <p:cNvPr id="3" name="Picture 2">
            <a:extLst>
              <a:ext uri="{FF2B5EF4-FFF2-40B4-BE49-F238E27FC236}">
                <a16:creationId xmlns:a16="http://schemas.microsoft.com/office/drawing/2014/main" id="{1384182C-FA21-EE4D-8042-38F00F9DA13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725267" y="3926397"/>
            <a:ext cx="8886609" cy="585216"/>
          </a:xfrm>
          <a:prstGeom prst="rect">
            <a:avLst/>
          </a:prstGeom>
        </p:spPr>
      </p:pic>
      <p:grpSp>
        <p:nvGrpSpPr>
          <p:cNvPr id="56" name="Group 55">
            <a:extLst>
              <a:ext uri="{FF2B5EF4-FFF2-40B4-BE49-F238E27FC236}">
                <a16:creationId xmlns:a16="http://schemas.microsoft.com/office/drawing/2014/main" id="{5710A3B0-0D89-8749-A33E-F51AC36E1B84}"/>
              </a:ext>
            </a:extLst>
          </p:cNvPr>
          <p:cNvGrpSpPr/>
          <p:nvPr/>
        </p:nvGrpSpPr>
        <p:grpSpPr>
          <a:xfrm>
            <a:off x="1903540" y="2342883"/>
            <a:ext cx="8045211" cy="4114792"/>
            <a:chOff x="1153498" y="3275735"/>
            <a:chExt cx="8045589" cy="4115086"/>
          </a:xfrm>
        </p:grpSpPr>
        <p:grpSp>
          <p:nvGrpSpPr>
            <p:cNvPr id="57" name="Group 56">
              <a:extLst>
                <a:ext uri="{FF2B5EF4-FFF2-40B4-BE49-F238E27FC236}">
                  <a16:creationId xmlns:a16="http://schemas.microsoft.com/office/drawing/2014/main" id="{49906399-DD27-F046-838A-043829472D8D}"/>
                </a:ext>
              </a:extLst>
            </p:cNvPr>
            <p:cNvGrpSpPr/>
            <p:nvPr/>
          </p:nvGrpSpPr>
          <p:grpSpPr>
            <a:xfrm>
              <a:off x="1153498" y="3275735"/>
              <a:ext cx="8045589" cy="4115086"/>
              <a:chOff x="1153498" y="3275735"/>
              <a:chExt cx="8045589" cy="4115086"/>
            </a:xfrm>
          </p:grpSpPr>
          <p:sp>
            <p:nvSpPr>
              <p:cNvPr id="58" name="Rectangle 57">
                <a:extLst>
                  <a:ext uri="{FF2B5EF4-FFF2-40B4-BE49-F238E27FC236}">
                    <a16:creationId xmlns:a16="http://schemas.microsoft.com/office/drawing/2014/main" id="{423A1481-01BB-2447-9A62-D174C7B12E47}"/>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grpSp>
            <p:nvGrpSpPr>
              <p:cNvPr id="59" name="Group 58">
                <a:extLst>
                  <a:ext uri="{FF2B5EF4-FFF2-40B4-BE49-F238E27FC236}">
                    <a16:creationId xmlns:a16="http://schemas.microsoft.com/office/drawing/2014/main" id="{1282DE93-040A-2547-9C0A-76CE73C87B0D}"/>
                  </a:ext>
                </a:extLst>
              </p:cNvPr>
              <p:cNvGrpSpPr/>
              <p:nvPr/>
            </p:nvGrpSpPr>
            <p:grpSpPr>
              <a:xfrm>
                <a:off x="1153498" y="3275735"/>
                <a:ext cx="8045589" cy="4115086"/>
                <a:chOff x="1153498" y="3275735"/>
                <a:chExt cx="8045589" cy="4115086"/>
              </a:xfrm>
            </p:grpSpPr>
            <p:sp>
              <p:nvSpPr>
                <p:cNvPr id="60" name="Rectangle 59">
                  <a:extLst>
                    <a:ext uri="{FF2B5EF4-FFF2-40B4-BE49-F238E27FC236}">
                      <a16:creationId xmlns:a16="http://schemas.microsoft.com/office/drawing/2014/main" id="{72918E93-875F-BF41-9912-6D1EC350AD4A}"/>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grpSp>
              <p:nvGrpSpPr>
                <p:cNvPr id="61" name="Group 60">
                  <a:extLst>
                    <a:ext uri="{FF2B5EF4-FFF2-40B4-BE49-F238E27FC236}">
                      <a16:creationId xmlns:a16="http://schemas.microsoft.com/office/drawing/2014/main" id="{B0519E73-B8E1-104F-9453-C550E90CE59F}"/>
                    </a:ext>
                  </a:extLst>
                </p:cNvPr>
                <p:cNvGrpSpPr/>
                <p:nvPr/>
              </p:nvGrpSpPr>
              <p:grpSpPr>
                <a:xfrm>
                  <a:off x="1153498" y="3275735"/>
                  <a:ext cx="8045589" cy="4115086"/>
                  <a:chOff x="1153498" y="3275735"/>
                  <a:chExt cx="8045589" cy="4115086"/>
                </a:xfrm>
              </p:grpSpPr>
              <p:sp>
                <p:nvSpPr>
                  <p:cNvPr id="62" name="Rectangle 61">
                    <a:extLst>
                      <a:ext uri="{FF2B5EF4-FFF2-40B4-BE49-F238E27FC236}">
                        <a16:creationId xmlns:a16="http://schemas.microsoft.com/office/drawing/2014/main" id="{CB9D0058-DFF7-5041-86CF-68763A019D7E}"/>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grpSp>
                <p:nvGrpSpPr>
                  <p:cNvPr id="63" name="Group 62">
                    <a:extLst>
                      <a:ext uri="{FF2B5EF4-FFF2-40B4-BE49-F238E27FC236}">
                        <a16:creationId xmlns:a16="http://schemas.microsoft.com/office/drawing/2014/main" id="{289AD584-5052-884A-BB8D-2E2ED1E76E5F}"/>
                      </a:ext>
                    </a:extLst>
                  </p:cNvPr>
                  <p:cNvGrpSpPr/>
                  <p:nvPr/>
                </p:nvGrpSpPr>
                <p:grpSpPr>
                  <a:xfrm>
                    <a:off x="1153498" y="3275735"/>
                    <a:ext cx="8045589" cy="4115086"/>
                    <a:chOff x="1153498" y="3275735"/>
                    <a:chExt cx="8045589" cy="4115086"/>
                  </a:xfrm>
                </p:grpSpPr>
                <p:sp>
                  <p:nvSpPr>
                    <p:cNvPr id="64" name="Rectangle 63">
                      <a:extLst>
                        <a:ext uri="{FF2B5EF4-FFF2-40B4-BE49-F238E27FC236}">
                          <a16:creationId xmlns:a16="http://schemas.microsoft.com/office/drawing/2014/main" id="{99F60DC8-02FE-104D-9175-1468A8E6A3A7}"/>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grpSp>
                  <p:nvGrpSpPr>
                    <p:cNvPr id="65" name="Group 64">
                      <a:extLst>
                        <a:ext uri="{FF2B5EF4-FFF2-40B4-BE49-F238E27FC236}">
                          <a16:creationId xmlns:a16="http://schemas.microsoft.com/office/drawing/2014/main" id="{9D8B2CC3-8700-484C-8517-D15EC40C42BA}"/>
                        </a:ext>
                      </a:extLst>
                    </p:cNvPr>
                    <p:cNvGrpSpPr/>
                    <p:nvPr/>
                  </p:nvGrpSpPr>
                  <p:grpSpPr>
                    <a:xfrm>
                      <a:off x="1153498" y="3275735"/>
                      <a:ext cx="8045589" cy="4115086"/>
                      <a:chOff x="-877802" y="0"/>
                      <a:chExt cx="8045589" cy="4115086"/>
                    </a:xfrm>
                  </p:grpSpPr>
                  <p:sp>
                    <p:nvSpPr>
                      <p:cNvPr id="66" name="Rectangle 65">
                        <a:extLst>
                          <a:ext uri="{FF2B5EF4-FFF2-40B4-BE49-F238E27FC236}">
                            <a16:creationId xmlns:a16="http://schemas.microsoft.com/office/drawing/2014/main" id="{F6493821-4074-9E4A-8E21-D1D30AFDC568}"/>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grpSp>
                    <p:nvGrpSpPr>
                      <p:cNvPr id="67" name="Group 66">
                        <a:extLst>
                          <a:ext uri="{FF2B5EF4-FFF2-40B4-BE49-F238E27FC236}">
                            <a16:creationId xmlns:a16="http://schemas.microsoft.com/office/drawing/2014/main" id="{8E9AD718-A712-5B4A-A1F4-76EAED45AA6C}"/>
                          </a:ext>
                        </a:extLst>
                      </p:cNvPr>
                      <p:cNvGrpSpPr/>
                      <p:nvPr/>
                    </p:nvGrpSpPr>
                    <p:grpSpPr>
                      <a:xfrm>
                        <a:off x="-877802" y="0"/>
                        <a:ext cx="8045589" cy="4115086"/>
                        <a:chOff x="-877802" y="0"/>
                        <a:chExt cx="8045589" cy="4115086"/>
                      </a:xfrm>
                    </p:grpSpPr>
                    <p:sp>
                      <p:nvSpPr>
                        <p:cNvPr id="69" name="Rectangle 68">
                          <a:extLst>
                            <a:ext uri="{FF2B5EF4-FFF2-40B4-BE49-F238E27FC236}">
                              <a16:creationId xmlns:a16="http://schemas.microsoft.com/office/drawing/2014/main" id="{A52FEB60-9F2E-8444-B9C0-0AEDF38B96DD}"/>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sp>
                      <p:nvSpPr>
                        <p:cNvPr id="70" name="Rectangle 69">
                          <a:extLst>
                            <a:ext uri="{FF2B5EF4-FFF2-40B4-BE49-F238E27FC236}">
                              <a16:creationId xmlns:a16="http://schemas.microsoft.com/office/drawing/2014/main" id="{5948595E-5CB3-D649-8D7C-7F31B85A6058}"/>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Cambria" panose="02040503050406030204" pitchFamily="18" charset="0"/>
                            </a:rPr>
                            <a:t> </a:t>
                          </a:r>
                        </a:p>
                      </p:txBody>
                    </p:sp>
                    <p:sp>
                      <p:nvSpPr>
                        <p:cNvPr id="71" name="Rounded Rectangle 70">
                          <a:extLst>
                            <a:ext uri="{FF2B5EF4-FFF2-40B4-BE49-F238E27FC236}">
                              <a16:creationId xmlns:a16="http://schemas.microsoft.com/office/drawing/2014/main" id="{D0D65921-5D1D-0C4E-B0DA-736DA8F862D5}"/>
                            </a:ext>
                          </a:extLst>
                        </p:cNvPr>
                        <p:cNvSpPr/>
                        <p:nvPr/>
                      </p:nvSpPr>
                      <p:spPr>
                        <a:xfrm>
                          <a:off x="-877802" y="2341215"/>
                          <a:ext cx="8045589" cy="1773871"/>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endParaRPr lang="en-US" sz="1800" dirty="0">
                            <a:solidFill>
                              <a:srgbClr val="00619E"/>
                            </a:solidFill>
                            <a:latin typeface="Verdana" panose="020B0604030504040204" pitchFamily="34" charset="0"/>
                            <a:ea typeface="Verdana" panose="020B0604030504040204" pitchFamily="34" charset="0"/>
                            <a:cs typeface="Verdana" panose="020B0604030504040204" pitchFamily="34" charset="0"/>
                          </a:endParaRPr>
                        </a:p>
                        <a:p>
                          <a:pPr marL="685800"/>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To </a:t>
                          </a: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solve</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 an equation means to find the solution.</a:t>
                          </a:r>
                          <a:endParaRPr lang="en-US" sz="2000" dirty="0">
                            <a:solidFill>
                              <a:srgbClr val="00619E"/>
                            </a:solidFill>
                            <a:latin typeface="Cambria" panose="02040503050406030204" pitchFamily="18" charset="0"/>
                            <a:ea typeface="MS Mincho" panose="02020609040205080304" pitchFamily="49" charset="-128"/>
                            <a:cs typeface="Verdana" panose="020B0604030504040204" pitchFamily="34" charset="0"/>
                          </a:endParaRPr>
                        </a:p>
                        <a:p>
                          <a:pPr marL="685800"/>
                          <a:endParaRPr lang="en-US" sz="800" dirty="0">
                            <a:latin typeface="Cambria" panose="02040503050406030204" pitchFamily="18" charset="0"/>
                            <a:ea typeface="MS Mincho" panose="02020609040205080304" pitchFamily="49" charset="-128"/>
                            <a:cs typeface="Cambria" panose="02040503050406030204" pitchFamily="18" charset="0"/>
                          </a:endParaRPr>
                        </a:p>
                        <a:p>
                          <a:pPr marL="685800"/>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The </a:t>
                          </a: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solution(s)</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 to an algebraic equation is (are) the value(s) of the variable(s) that makes the equation true.</a:t>
                          </a:r>
                          <a:endParaRPr lang="en-US" sz="2000" dirty="0">
                            <a:latin typeface="Cambria" panose="02040503050406030204" pitchFamily="18" charset="0"/>
                            <a:ea typeface="MS Mincho" panose="02020609040205080304" pitchFamily="49" charset="-128"/>
                            <a:cs typeface="Cambria" panose="02040503050406030204" pitchFamily="18" charset="0"/>
                          </a:endParaRPr>
                        </a:p>
                        <a:p>
                          <a:pPr marL="685800" indent="3714750">
                            <a:spcAft>
                              <a:spcPts val="1000"/>
                            </a:spcAft>
                          </a:pPr>
                          <a:r>
                            <a:rPr lang="en-US" sz="1200" dirty="0">
                              <a:solidFill>
                                <a:srgbClr val="00619E"/>
                              </a:solidFill>
                              <a:latin typeface="Cambria" panose="02040503050406030204" pitchFamily="18" charset="0"/>
                              <a:ea typeface="MS Mincho" panose="02020609040205080304" pitchFamily="49" charset="-128"/>
                              <a:cs typeface="Cambria" panose="02040503050406030204" pitchFamily="18" charset="0"/>
                            </a:rPr>
                            <a:t> </a:t>
                          </a:r>
                          <a:endParaRPr lang="en-US" sz="1200" dirty="0">
                            <a:latin typeface="Cambria" panose="02040503050406030204" pitchFamily="18" charset="0"/>
                            <a:ea typeface="MS Mincho" panose="02020609040205080304" pitchFamily="49" charset="-128"/>
                            <a:cs typeface="Cambria" panose="02040503050406030204" pitchFamily="18" charset="0"/>
                          </a:endParaRPr>
                        </a:p>
                      </p:txBody>
                    </p:sp>
                  </p:grpSp>
                  <p:pic>
                    <p:nvPicPr>
                      <p:cNvPr id="68" name="Shape 31" descr="Icon&#10;&#10;Description automatically generated">
                        <a:extLst>
                          <a:ext uri="{FF2B5EF4-FFF2-40B4-BE49-F238E27FC236}">
                            <a16:creationId xmlns:a16="http://schemas.microsoft.com/office/drawing/2014/main" id="{FAE8D578-4E4B-4143-BC4E-9500B8F5E59F}"/>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709638" y="2473689"/>
                        <a:ext cx="539750" cy="539750"/>
                      </a:xfrm>
                      <a:prstGeom prst="rect">
                        <a:avLst/>
                      </a:prstGeom>
                      <a:noFill/>
                      <a:ln>
                        <a:noFill/>
                      </a:ln>
                      <a:effectLst>
                        <a:outerShdw blurRad="50800" dist="38100" dir="2700000" algn="tl" rotWithShape="0">
                          <a:prstClr val="black">
                            <a:alpha val="40000"/>
                          </a:prstClr>
                        </a:outerShdw>
                      </a:effectLst>
                    </p:spPr>
                  </p:pic>
                </p:grpSp>
              </p:grpSp>
            </p:grpSp>
          </p:grpSp>
        </p:grpSp>
      </p:grpSp>
      <p:sp>
        <p:nvSpPr>
          <p:cNvPr id="55" name="Google Shape;125;g104476d1465_1_17"/>
          <p:cNvSpPr txBox="1"/>
          <p:nvPr/>
        </p:nvSpPr>
        <p:spPr>
          <a:xfrm>
            <a:off x="8711750" y="645792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342</a:t>
            </a:r>
            <a:endParaRPr i="1" dirty="0">
              <a:latin typeface="Calibri"/>
              <a:ea typeface="Calibri"/>
              <a:cs typeface="Calibri"/>
              <a:sym typeface="Calibri"/>
            </a:endParaRPr>
          </a:p>
        </p:txBody>
      </p:sp>
      <p:pic>
        <p:nvPicPr>
          <p:cNvPr id="73"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498544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8"/>
          <p:cNvSpPr/>
          <p:nvPr/>
        </p:nvSpPr>
        <p:spPr>
          <a:xfrm>
            <a:off x="0" y="-810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07" name="Google Shape;307;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308" name="Google Shape;308;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11750" y="645792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343</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720941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6" name="Google Shape;316;p19"/>
          <p:cNvSpPr txBox="1"/>
          <p:nvPr/>
        </p:nvSpPr>
        <p:spPr>
          <a:xfrm>
            <a:off x="1453288" y="-72974"/>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500" b="1" dirty="0">
                <a:solidFill>
                  <a:srgbClr val="54B5D1"/>
                </a:solidFill>
                <a:latin typeface="Verdana"/>
                <a:ea typeface="Verdana"/>
                <a:cs typeface="Verdana"/>
                <a:sym typeface="Verdana"/>
              </a:rPr>
              <a:t>14.2.3 Guided Instruction: Solving Equations Using Reasoning and Diagrams</a:t>
            </a:r>
            <a:endParaRPr sz="2500" dirty="0"/>
          </a:p>
        </p:txBody>
      </p:sp>
      <p:pic>
        <p:nvPicPr>
          <p:cNvPr id="317" name="Google Shape;317;p19"/>
          <p:cNvPicPr preferRelativeResize="0"/>
          <p:nvPr/>
        </p:nvPicPr>
        <p:blipFill rotWithShape="1">
          <a:blip r:embed="rId3">
            <a:alphaModFix/>
          </a:blip>
          <a:srcRect/>
          <a:stretch/>
        </p:blipFill>
        <p:spPr>
          <a:xfrm>
            <a:off x="705988" y="209415"/>
            <a:ext cx="747300" cy="747300"/>
          </a:xfrm>
          <a:prstGeom prst="rect">
            <a:avLst/>
          </a:prstGeom>
          <a:noFill/>
          <a:ln>
            <a:noFill/>
          </a:ln>
          <a:effectLst>
            <a:outerShdw blurRad="50800" dist="38100" dir="2700000" algn="tl" rotWithShape="0">
              <a:srgbClr val="000000">
                <a:alpha val="40000"/>
              </a:srgbClr>
            </a:outerShdw>
          </a:effectLst>
        </p:spPr>
      </p:pic>
      <p:sp>
        <p:nvSpPr>
          <p:cNvPr id="319" name="Google Shape;319;p19"/>
          <p:cNvSpPr txBox="1"/>
          <p:nvPr/>
        </p:nvSpPr>
        <p:spPr>
          <a:xfrm>
            <a:off x="1453288" y="1075850"/>
            <a:ext cx="9712960" cy="4893607"/>
          </a:xfrm>
          <a:prstGeom prst="rect">
            <a:avLst/>
          </a:prstGeom>
          <a:noFill/>
          <a:ln>
            <a:noFill/>
          </a:ln>
        </p:spPr>
        <p:txBody>
          <a:bodyPr spcFirstLastPara="1" wrap="square" lIns="91425" tIns="45700" rIns="91425" bIns="45700" anchor="t" anchorCtr="0">
            <a:spAutoFit/>
          </a:bodyPr>
          <a:lstStyle/>
          <a:p>
            <a:pPr lvl="0"/>
            <a:r>
              <a:rPr lang="en-US" sz="2400" dirty="0">
                <a:latin typeface="Verdana"/>
                <a:ea typeface="Verdana"/>
                <a:cs typeface="Verdana"/>
                <a:sym typeface="Verdana"/>
              </a:rPr>
              <a:t>For some equations, the solution can be found mentally or by using reasoning. </a:t>
            </a:r>
          </a:p>
          <a:p>
            <a:pPr lvl="0"/>
            <a:endParaRPr lang="en-US" sz="2400" dirty="0">
              <a:latin typeface="Verdana"/>
              <a:ea typeface="Verdana"/>
              <a:cs typeface="Verdana"/>
              <a:sym typeface="Verdana"/>
            </a:endParaRPr>
          </a:p>
          <a:p>
            <a:pPr marL="457200" indent="-457200">
              <a:buAutoNum type="arabicPeriod"/>
            </a:pPr>
            <a:r>
              <a:rPr lang="en-US" sz="2400" dirty="0">
                <a:latin typeface="Verdana"/>
                <a:ea typeface="Verdana"/>
                <a:cs typeface="Verdana"/>
                <a:sym typeface="Verdana"/>
              </a:rPr>
              <a:t>The solution to the equation </a:t>
            </a:r>
            <a:r>
              <a:rPr lang="en-US" sz="2400" i="1" dirty="0">
                <a:latin typeface="Cambria Math" panose="02040503050406030204" pitchFamily="18" charset="0"/>
                <a:ea typeface="Cambria Math" panose="02040503050406030204" pitchFamily="18" charset="0"/>
                <a:cs typeface="Verdana"/>
                <a:sym typeface="Verdana"/>
              </a:rPr>
              <a:t>n </a:t>
            </a:r>
            <a:r>
              <a:rPr lang="en-US" sz="2400" dirty="0">
                <a:latin typeface="Cambria Math" panose="02040503050406030204" pitchFamily="18" charset="0"/>
                <a:ea typeface="Cambria Math" panose="02040503050406030204" pitchFamily="18" charset="0"/>
                <a:cs typeface="Verdana"/>
                <a:sym typeface="Verdana"/>
              </a:rPr>
              <a:t>-12.1=35.3</a:t>
            </a:r>
            <a:r>
              <a:rPr lang="en-US" sz="2400" dirty="0">
                <a:latin typeface="Verdana"/>
                <a:ea typeface="Verdana"/>
                <a:cs typeface="Verdana"/>
                <a:sym typeface="Verdana"/>
              </a:rPr>
              <a:t> can be found using reasoning. </a:t>
            </a:r>
          </a:p>
          <a:p>
            <a:pPr marL="457200" indent="-457200">
              <a:buAutoNum type="arabicPeriod"/>
            </a:pPr>
            <a:endParaRPr lang="en-US" sz="2400" dirty="0">
              <a:latin typeface="Verdana"/>
              <a:ea typeface="Verdana"/>
              <a:cs typeface="Verdana"/>
              <a:sym typeface="Verdana"/>
            </a:endParaRPr>
          </a:p>
          <a:p>
            <a:pPr marL="920750" indent="-452438">
              <a:buFont typeface="+mj-lt"/>
              <a:buAutoNum type="alphaLcPeriod"/>
            </a:pPr>
            <a:r>
              <a:rPr lang="en-US" sz="2400" dirty="0">
                <a:latin typeface="Verdana"/>
                <a:ea typeface="Verdana"/>
                <a:cs typeface="Verdana"/>
                <a:sym typeface="Verdana"/>
              </a:rPr>
              <a:t>Discuss with your partner how to find the value of </a:t>
            </a:r>
            <a:r>
              <a:rPr lang="en-US" sz="2400" i="1" dirty="0">
                <a:latin typeface="Cambria Math" panose="02040503050406030204" pitchFamily="18" charset="0"/>
                <a:ea typeface="Cambria Math" panose="02040503050406030204" pitchFamily="18" charset="0"/>
                <a:cs typeface="Verdana" panose="020B0604030504040204" pitchFamily="34" charset="0"/>
                <a:sym typeface="Verdana"/>
              </a:rPr>
              <a:t>n</a:t>
            </a:r>
            <a:r>
              <a:rPr lang="en-US" sz="2400" dirty="0">
                <a:latin typeface="Verdana"/>
                <a:ea typeface="Verdana"/>
                <a:cs typeface="Verdana"/>
                <a:sym typeface="Verdana"/>
              </a:rPr>
              <a:t> in the equation </a:t>
            </a:r>
            <a:r>
              <a:rPr lang="en-US" sz="2400" i="1" dirty="0">
                <a:latin typeface="Cambria Math" panose="02040503050406030204" pitchFamily="18" charset="0"/>
                <a:ea typeface="Cambria Math" panose="02040503050406030204" pitchFamily="18" charset="0"/>
                <a:cs typeface="Verdana"/>
                <a:sym typeface="Verdana"/>
              </a:rPr>
              <a:t>n </a:t>
            </a:r>
            <a:r>
              <a:rPr lang="en-US" sz="2400" dirty="0">
                <a:latin typeface="Cambria Math" panose="02040503050406030204" pitchFamily="18" charset="0"/>
                <a:ea typeface="Cambria Math" panose="02040503050406030204" pitchFamily="18" charset="0"/>
                <a:cs typeface="Verdana"/>
                <a:sym typeface="Verdana"/>
              </a:rPr>
              <a:t>-12.1=35.3</a:t>
            </a:r>
            <a:r>
              <a:rPr lang="en-US" sz="2400" dirty="0">
                <a:latin typeface="Verdana"/>
                <a:ea typeface="Verdana"/>
                <a:cs typeface="Verdana"/>
                <a:sym typeface="Verdana"/>
              </a:rPr>
              <a:t>.</a:t>
            </a:r>
          </a:p>
          <a:p>
            <a:pPr marL="920750" indent="-452438">
              <a:buFont typeface="+mj-lt"/>
              <a:buAutoNum type="alphaLcPeriod"/>
            </a:pPr>
            <a:endParaRPr lang="en-US" sz="2400" dirty="0">
              <a:latin typeface="Verdana"/>
              <a:ea typeface="Verdana"/>
              <a:cs typeface="Verdana"/>
              <a:sym typeface="Verdana"/>
            </a:endParaRPr>
          </a:p>
          <a:p>
            <a:pPr marL="920750" indent="-452438">
              <a:buFont typeface="+mj-lt"/>
              <a:buAutoNum type="alphaLcPeriod"/>
            </a:pPr>
            <a:r>
              <a:rPr lang="en-US" sz="2400" dirty="0">
                <a:latin typeface="Verdana"/>
                <a:ea typeface="Verdana"/>
                <a:cs typeface="Verdana"/>
                <a:sym typeface="Verdana"/>
              </a:rPr>
              <a:t>The equation is rewritten vertically with a box in the place of the variable. Write the solution in the box and check whether it makes the equation true.</a:t>
            </a:r>
          </a:p>
          <a:p>
            <a:pPr lvl="0"/>
            <a:endParaRPr lang="en-US" sz="2400" dirty="0">
              <a:latin typeface="Verdana"/>
              <a:ea typeface="Verdana"/>
              <a:cs typeface="Verdana"/>
              <a:sym typeface="Verdana"/>
            </a:endParaRPr>
          </a:p>
        </p:txBody>
      </p:sp>
      <p:sp>
        <p:nvSpPr>
          <p:cNvPr id="320" name="Google Shape;320;p19"/>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 name="Picture 1">
            <a:extLst>
              <a:ext uri="{FF2B5EF4-FFF2-40B4-BE49-F238E27FC236}">
                <a16:creationId xmlns:a16="http://schemas.microsoft.com/office/drawing/2014/main" id="{5EE9CF9B-6F1E-CF4B-92B8-31811C1DF1D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585238" y="5581475"/>
            <a:ext cx="1028700" cy="1238250"/>
          </a:xfrm>
          <a:prstGeom prst="rect">
            <a:avLst/>
          </a:prstGeom>
        </p:spPr>
      </p:pic>
      <p:sp>
        <p:nvSpPr>
          <p:cNvPr id="10" name="Google Shape;125;g104476d1465_1_17"/>
          <p:cNvSpPr txBox="1"/>
          <p:nvPr/>
        </p:nvSpPr>
        <p:spPr>
          <a:xfrm>
            <a:off x="8711750" y="645792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343</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329797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8" name="Google Shape;328;p20"/>
          <p:cNvSpPr txBox="1"/>
          <p:nvPr/>
        </p:nvSpPr>
        <p:spPr>
          <a:xfrm>
            <a:off x="1117600" y="451813"/>
            <a:ext cx="10107466" cy="5386049"/>
          </a:xfrm>
          <a:prstGeom prst="rect">
            <a:avLst/>
          </a:prstGeom>
          <a:noFill/>
          <a:ln>
            <a:noFill/>
          </a:ln>
        </p:spPr>
        <p:txBody>
          <a:bodyPr spcFirstLastPara="1" wrap="square" lIns="91425" tIns="45700" rIns="91425" bIns="45700" anchor="t" anchorCtr="0">
            <a:spAutoFit/>
          </a:bodyPr>
          <a:lstStyle/>
          <a:p>
            <a:pPr lvl="0"/>
            <a:r>
              <a:rPr lang="en-US" sz="2000" dirty="0">
                <a:latin typeface="Verdana"/>
                <a:ea typeface="Verdana"/>
                <a:cs typeface="Verdana"/>
                <a:sym typeface="Verdana"/>
              </a:rPr>
              <a:t>Diagrams can also be helpful to find a solution.  </a:t>
            </a:r>
          </a:p>
          <a:p>
            <a:pPr lvl="0"/>
            <a:endParaRPr lang="en-US" sz="2000" dirty="0">
              <a:latin typeface="Verdana"/>
              <a:ea typeface="Verdana"/>
              <a:cs typeface="Verdana"/>
              <a:sym typeface="Verdana"/>
            </a:endParaRPr>
          </a:p>
          <a:p>
            <a:pPr marL="457200" indent="-457200">
              <a:buFont typeface="+mj-lt"/>
              <a:buAutoNum type="arabicPeriod" startAt="2"/>
            </a:pPr>
            <a:r>
              <a:rPr lang="en-US" sz="2000" dirty="0">
                <a:latin typeface="Verdana"/>
                <a:ea typeface="Verdana"/>
                <a:cs typeface="Verdana"/>
                <a:sym typeface="Verdana"/>
              </a:rPr>
              <a:t>Olivia gave equal amounts of money to each of her </a:t>
            </a:r>
            <a:r>
              <a:rPr lang="en-US" sz="2000" dirty="0">
                <a:latin typeface="Cambria Math" panose="02040503050406030204" pitchFamily="18" charset="0"/>
                <a:ea typeface="Cambria Math" panose="02040503050406030204" pitchFamily="18" charset="0"/>
                <a:cs typeface="Verdana"/>
                <a:sym typeface="Verdana"/>
              </a:rPr>
              <a:t>3</a:t>
            </a:r>
            <a:r>
              <a:rPr lang="en-US" sz="2000" dirty="0">
                <a:latin typeface="Verdana"/>
                <a:ea typeface="Verdana"/>
                <a:cs typeface="Verdana"/>
                <a:sym typeface="Verdana"/>
              </a:rPr>
              <a:t> children. Olivia gave each child </a:t>
            </a:r>
            <a:r>
              <a:rPr lang="en-US" sz="2000" dirty="0">
                <a:latin typeface="Cambria Math" panose="02040503050406030204" pitchFamily="18" charset="0"/>
                <a:ea typeface="Cambria Math" panose="02040503050406030204" pitchFamily="18" charset="0"/>
                <a:cs typeface="Verdana"/>
                <a:sym typeface="Verdana"/>
              </a:rPr>
              <a:t>$16.75</a:t>
            </a:r>
            <a:r>
              <a:rPr lang="en-US" sz="2000" dirty="0">
                <a:latin typeface="Verdana"/>
                <a:ea typeface="Verdana"/>
                <a:cs typeface="Verdana"/>
                <a:sym typeface="Verdana"/>
              </a:rPr>
              <a:t>. </a:t>
            </a:r>
          </a:p>
          <a:p>
            <a:pPr lvl="0"/>
            <a:endParaRPr lang="en-US" sz="2000" dirty="0">
              <a:latin typeface="Verdana"/>
              <a:ea typeface="Verdana"/>
              <a:cs typeface="Verdana"/>
              <a:sym typeface="Verdana"/>
            </a:endParaRPr>
          </a:p>
          <a:p>
            <a:pPr marL="468313"/>
            <a:r>
              <a:rPr lang="en-US" sz="2000" dirty="0">
                <a:latin typeface="Verdana"/>
                <a:ea typeface="Verdana"/>
                <a:cs typeface="Verdana"/>
                <a:sym typeface="Verdana"/>
              </a:rPr>
              <a:t>The bar model represents the equation </a:t>
            </a:r>
            <a:r>
              <a:rPr lang="en-US" sz="2000" dirty="0">
                <a:solidFill>
                  <a:schemeClr val="bg1"/>
                </a:solidFill>
                <a:latin typeface="Verdana"/>
                <a:ea typeface="Verdana"/>
                <a:cs typeface="Verdana"/>
                <a:sym typeface="Verdana"/>
              </a:rPr>
              <a:t>jkj</a:t>
            </a:r>
            <a:r>
              <a:rPr lang="en-US" sz="2000" dirty="0">
                <a:latin typeface="Cambria Math" panose="02040503050406030204" pitchFamily="18" charset="0"/>
                <a:ea typeface="Cambria Math" panose="02040503050406030204" pitchFamily="18" charset="0"/>
                <a:cs typeface="Verdana"/>
                <a:sym typeface="Verdana"/>
              </a:rPr>
              <a:t>=16.75</a:t>
            </a:r>
            <a:r>
              <a:rPr lang="en-US" sz="2000" dirty="0">
                <a:latin typeface="Verdana"/>
                <a:ea typeface="Verdana"/>
                <a:cs typeface="Verdana"/>
                <a:sym typeface="Verdana"/>
              </a:rPr>
              <a:t>, where </a:t>
            </a:r>
            <a:r>
              <a:rPr lang="en-US" sz="2000" i="1" dirty="0">
                <a:latin typeface="Verdana" panose="020B0604030504040204" pitchFamily="34" charset="0"/>
                <a:ea typeface="Verdana" panose="020B0604030504040204" pitchFamily="34" charset="0"/>
                <a:cs typeface="Verdana" panose="020B0604030504040204" pitchFamily="34" charset="0"/>
                <a:sym typeface="Verdana"/>
              </a:rPr>
              <a:t>m</a:t>
            </a:r>
            <a:r>
              <a:rPr lang="en-US" sz="2000" dirty="0">
                <a:latin typeface="Verdana"/>
                <a:ea typeface="Verdana"/>
                <a:cs typeface="Verdana"/>
                <a:sym typeface="Verdana"/>
              </a:rPr>
              <a:t> is the total amount of money Olivia gave all of her children.</a:t>
            </a:r>
          </a:p>
          <a:p>
            <a:pPr marL="468313"/>
            <a:endParaRPr lang="en-US" sz="2000" dirty="0">
              <a:latin typeface="Verdana"/>
              <a:ea typeface="Verdana"/>
              <a:cs typeface="Verdana"/>
              <a:sym typeface="Verdana"/>
            </a:endParaRPr>
          </a:p>
          <a:p>
            <a:pPr marL="468313"/>
            <a:endParaRPr lang="en-US" sz="2000" dirty="0">
              <a:latin typeface="Verdana"/>
              <a:ea typeface="Verdana"/>
              <a:cs typeface="Verdana"/>
              <a:sym typeface="Verdana"/>
            </a:endParaRPr>
          </a:p>
          <a:p>
            <a:pPr marL="468313"/>
            <a:endParaRPr lang="en-US" sz="2000" dirty="0">
              <a:latin typeface="Verdana"/>
              <a:ea typeface="Verdana"/>
              <a:cs typeface="Verdana"/>
              <a:sym typeface="Verdana"/>
            </a:endParaRPr>
          </a:p>
          <a:p>
            <a:pPr marL="468313"/>
            <a:endParaRPr lang="en-US" sz="2000" dirty="0">
              <a:latin typeface="Verdana"/>
              <a:ea typeface="Verdana"/>
              <a:cs typeface="Verdana"/>
              <a:sym typeface="Verdana"/>
            </a:endParaRPr>
          </a:p>
          <a:p>
            <a:pPr marL="468313"/>
            <a:endParaRPr lang="en-US" sz="2000" dirty="0">
              <a:latin typeface="Verdana"/>
              <a:ea typeface="Verdana"/>
              <a:cs typeface="Verdana"/>
              <a:sym typeface="Verdana"/>
            </a:endParaRPr>
          </a:p>
          <a:p>
            <a:pPr marL="920750" indent="-452438">
              <a:buFont typeface="+mj-lt"/>
              <a:buAutoNum type="alphaLcPeriod"/>
            </a:pPr>
            <a:r>
              <a:rPr lang="en-US" sz="2000" dirty="0">
                <a:latin typeface="Verdana"/>
                <a:ea typeface="Verdana"/>
                <a:cs typeface="Verdana"/>
                <a:sym typeface="Verdana"/>
              </a:rPr>
              <a:t>How can the bar model be used to find the total amount of money Olivia gave all of her children, </a:t>
            </a:r>
            <a:r>
              <a:rPr lang="en-US" sz="2000" i="1" dirty="0">
                <a:latin typeface="Verdana"/>
                <a:ea typeface="Verdana"/>
                <a:cs typeface="Verdana"/>
                <a:sym typeface="Verdana"/>
              </a:rPr>
              <a:t>m</a:t>
            </a:r>
            <a:r>
              <a:rPr lang="en-US" sz="2000" dirty="0">
                <a:latin typeface="Verdana"/>
                <a:ea typeface="Verdana"/>
                <a:cs typeface="Verdana"/>
                <a:sym typeface="Verdana"/>
              </a:rPr>
              <a:t>?</a:t>
            </a:r>
          </a:p>
          <a:p>
            <a:pPr marL="920750" indent="-452438">
              <a:buFont typeface="+mj-lt"/>
              <a:buAutoNum type="alphaLcPeriod"/>
            </a:pPr>
            <a:endParaRPr lang="en-US" sz="2000" dirty="0">
              <a:latin typeface="Verdana"/>
              <a:ea typeface="Verdana"/>
              <a:cs typeface="Verdana"/>
              <a:sym typeface="Verdana"/>
            </a:endParaRPr>
          </a:p>
          <a:p>
            <a:pPr marL="920750" indent="-452438">
              <a:buFont typeface="+mj-lt"/>
              <a:buAutoNum type="alphaLcPeriod"/>
            </a:pPr>
            <a:r>
              <a:rPr lang="en-US" sz="2000" dirty="0">
                <a:latin typeface="Verdana"/>
                <a:ea typeface="Verdana"/>
                <a:cs typeface="Verdana"/>
                <a:sym typeface="Verdana"/>
              </a:rPr>
              <a:t>What number can be divided by </a:t>
            </a:r>
            <a:r>
              <a:rPr lang="en-US" sz="2000" dirty="0">
                <a:latin typeface="Cambria Math" panose="02040503050406030204" pitchFamily="18" charset="0"/>
                <a:ea typeface="Cambria Math" panose="02040503050406030204" pitchFamily="18" charset="0"/>
                <a:cs typeface="Verdana"/>
                <a:sym typeface="Verdana"/>
              </a:rPr>
              <a:t>3</a:t>
            </a:r>
            <a:r>
              <a:rPr lang="en-US" sz="2000" dirty="0">
                <a:latin typeface="Verdana"/>
                <a:ea typeface="Verdana"/>
                <a:cs typeface="Verdana"/>
                <a:sym typeface="Verdana"/>
              </a:rPr>
              <a:t> to get a result of </a:t>
            </a:r>
            <a:r>
              <a:rPr lang="en-US" sz="2000" dirty="0">
                <a:latin typeface="Cambria Math" panose="02040503050406030204" pitchFamily="18" charset="0"/>
                <a:ea typeface="Cambria Math" panose="02040503050406030204" pitchFamily="18" charset="0"/>
                <a:cs typeface="Verdana"/>
                <a:sym typeface="Verdana"/>
              </a:rPr>
              <a:t>16.75</a:t>
            </a:r>
            <a:r>
              <a:rPr lang="en-US" sz="2000" dirty="0">
                <a:latin typeface="Verdana"/>
                <a:ea typeface="Verdana"/>
                <a:cs typeface="Verdana"/>
                <a:sym typeface="Verdana"/>
              </a:rPr>
              <a:t>?  </a:t>
            </a:r>
          </a:p>
          <a:p>
            <a:pPr lvl="0"/>
            <a:endParaRPr lang="en-US" sz="2400" dirty="0">
              <a:latin typeface="Verdana"/>
              <a:ea typeface="Verdana"/>
              <a:cs typeface="Verdana"/>
              <a:sym typeface="Verdana"/>
            </a:endParaRPr>
          </a:p>
        </p:txBody>
      </p:sp>
      <p:sp>
        <p:nvSpPr>
          <p:cNvPr id="329" name="Google Shape;329;p20"/>
          <p:cNvSpPr/>
          <p:nvPr/>
        </p:nvSpPr>
        <p:spPr>
          <a:xfrm>
            <a:off x="0" y="-810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 name="Picture 1">
            <a:extLst>
              <a:ext uri="{FF2B5EF4-FFF2-40B4-BE49-F238E27FC236}">
                <a16:creationId xmlns:a16="http://schemas.microsoft.com/office/drawing/2014/main" id="{F035BE9B-CEF3-AA46-AA69-40AACB23DA0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688889" y="2852251"/>
            <a:ext cx="6964889" cy="1187991"/>
          </a:xfrm>
          <a:prstGeom prst="rect">
            <a:avLst/>
          </a:prstGeom>
        </p:spPr>
      </p:pic>
      <p:pic>
        <p:nvPicPr>
          <p:cNvPr id="3" name="Picture 2">
            <a:extLst>
              <a:ext uri="{FF2B5EF4-FFF2-40B4-BE49-F238E27FC236}">
                <a16:creationId xmlns:a16="http://schemas.microsoft.com/office/drawing/2014/main" id="{BE530B07-A7C3-6A48-971D-16CA7E9F5D0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646566" y="1895061"/>
            <a:ext cx="313491" cy="510334"/>
          </a:xfrm>
          <a:prstGeom prst="rect">
            <a:avLst/>
          </a:prstGeom>
        </p:spPr>
      </p:pic>
      <p:pic>
        <p:nvPicPr>
          <p:cNvPr id="8" name="Picture 7">
            <a:extLst>
              <a:ext uri="{FF2B5EF4-FFF2-40B4-BE49-F238E27FC236}">
                <a16:creationId xmlns:a16="http://schemas.microsoft.com/office/drawing/2014/main" id="{F0B8A22A-CC2D-744A-8EFD-D4F142C28707}"/>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t="10179"/>
          <a:stretch/>
        </p:blipFill>
        <p:spPr>
          <a:xfrm>
            <a:off x="4084320" y="5463480"/>
            <a:ext cx="2942308" cy="1187991"/>
          </a:xfrm>
          <a:prstGeom prst="rect">
            <a:avLst/>
          </a:prstGeom>
        </p:spPr>
      </p:pic>
      <p:sp>
        <p:nvSpPr>
          <p:cNvPr id="9" name="Google Shape;125;g104476d1465_1_17"/>
          <p:cNvSpPr txBox="1"/>
          <p:nvPr/>
        </p:nvSpPr>
        <p:spPr>
          <a:xfrm>
            <a:off x="8711750" y="645792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343</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611332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8" name="Google Shape;328;p20"/>
          <p:cNvSpPr txBox="1"/>
          <p:nvPr/>
        </p:nvSpPr>
        <p:spPr>
          <a:xfrm>
            <a:off x="2007765" y="520393"/>
            <a:ext cx="8327136" cy="5663048"/>
          </a:xfrm>
          <a:prstGeom prst="rect">
            <a:avLst/>
          </a:prstGeom>
          <a:noFill/>
          <a:ln>
            <a:noFill/>
          </a:ln>
        </p:spPr>
        <p:txBody>
          <a:bodyPr spcFirstLastPara="1" wrap="square" lIns="91425" tIns="45700" rIns="91425" bIns="45700" anchor="t" anchorCtr="0">
            <a:spAutoFit/>
          </a:bodyPr>
          <a:lstStyle/>
          <a:p>
            <a:pPr marL="468313" indent="-468313">
              <a:lnSpc>
                <a:spcPct val="150000"/>
              </a:lnSpc>
              <a:buFont typeface="+mj-lt"/>
              <a:buAutoNum type="arabicPeriod" startAt="3"/>
            </a:pPr>
            <a:r>
              <a:rPr lang="en-US" sz="2000" dirty="0">
                <a:latin typeface="Verdana"/>
                <a:ea typeface="Verdana"/>
                <a:cs typeface="Verdana"/>
                <a:sym typeface="Verdana"/>
              </a:rPr>
              <a:t>A road construction crew paved    mile, which is                  of a full paving job. The bar model represents the equation                           	   , where </a:t>
            </a:r>
            <a:r>
              <a:rPr lang="en-US" sz="2000" i="1" dirty="0">
                <a:latin typeface="Cambria Math" panose="02040503050406030204" pitchFamily="18" charset="0"/>
                <a:ea typeface="Cambria Math" panose="02040503050406030204" pitchFamily="18" charset="0"/>
                <a:cs typeface="Verdana"/>
                <a:sym typeface="Verdana"/>
              </a:rPr>
              <a:t>r</a:t>
            </a:r>
            <a:r>
              <a:rPr lang="en-US" sz="2000" dirty="0">
                <a:latin typeface="Verdana"/>
                <a:ea typeface="Verdana"/>
                <a:cs typeface="Verdana"/>
                <a:sym typeface="Verdana"/>
              </a:rPr>
              <a:t> is the length of the whole road being paved.</a:t>
            </a:r>
          </a:p>
          <a:p>
            <a:pPr lvl="0">
              <a:lnSpc>
                <a:spcPct val="150000"/>
              </a:lnSpc>
            </a:pPr>
            <a:endParaRPr lang="en-US" sz="2400" dirty="0">
              <a:latin typeface="Verdana"/>
              <a:ea typeface="Verdana"/>
              <a:cs typeface="Verdana"/>
              <a:sym typeface="Verdana"/>
            </a:endParaRPr>
          </a:p>
          <a:p>
            <a:pPr lvl="0"/>
            <a:endParaRPr lang="en-US" sz="2400" dirty="0">
              <a:latin typeface="Verdana"/>
              <a:ea typeface="Verdana"/>
              <a:cs typeface="Verdana"/>
              <a:sym typeface="Verdana"/>
            </a:endParaRPr>
          </a:p>
          <a:p>
            <a:pPr lvl="0"/>
            <a:endParaRPr lang="en-US" sz="2400" dirty="0">
              <a:latin typeface="Verdana"/>
              <a:ea typeface="Verdana"/>
              <a:cs typeface="Verdana"/>
              <a:sym typeface="Verdana"/>
            </a:endParaRPr>
          </a:p>
          <a:p>
            <a:pPr lvl="0"/>
            <a:endParaRPr lang="en-US" sz="2400" dirty="0">
              <a:latin typeface="Verdana"/>
              <a:ea typeface="Verdana"/>
              <a:cs typeface="Verdana"/>
              <a:sym typeface="Verdana"/>
            </a:endParaRPr>
          </a:p>
          <a:p>
            <a:pPr lvl="0"/>
            <a:endParaRPr lang="en-US" sz="2400" dirty="0">
              <a:latin typeface="Verdana"/>
              <a:ea typeface="Verdana"/>
              <a:cs typeface="Verdana"/>
              <a:sym typeface="Verdana"/>
            </a:endParaRPr>
          </a:p>
          <a:p>
            <a:pPr marL="457200" indent="-457200">
              <a:buFont typeface="+mj-lt"/>
              <a:buAutoNum type="alphaLcPeriod"/>
            </a:pPr>
            <a:r>
              <a:rPr lang="en-US" sz="2000" dirty="0">
                <a:latin typeface="Verdana"/>
                <a:ea typeface="Verdana"/>
                <a:cs typeface="Verdana"/>
                <a:sym typeface="Verdana"/>
              </a:rPr>
              <a:t>Discuss with your partner how the diagram represents the information given.</a:t>
            </a:r>
          </a:p>
          <a:p>
            <a:pPr marL="457200" indent="-457200">
              <a:buFont typeface="+mj-lt"/>
              <a:buAutoNum type="alphaLcPeriod"/>
            </a:pPr>
            <a:endParaRPr lang="en-US" sz="2000" dirty="0">
              <a:latin typeface="Verdana"/>
              <a:ea typeface="Verdana"/>
              <a:cs typeface="Verdana"/>
              <a:sym typeface="Verdana"/>
            </a:endParaRPr>
          </a:p>
          <a:p>
            <a:pPr marL="457200" indent="-457200">
              <a:buFont typeface="+mj-lt"/>
              <a:buAutoNum type="alphaLcPeriod"/>
            </a:pPr>
            <a:r>
              <a:rPr lang="en-US" sz="2000" dirty="0">
                <a:latin typeface="Verdana"/>
                <a:ea typeface="Verdana"/>
                <a:cs typeface="Verdana"/>
                <a:sym typeface="Verdana"/>
              </a:rPr>
              <a:t>Describe how to use the bar model to solve the equation for </a:t>
            </a:r>
            <a:r>
              <a:rPr lang="en-US" sz="2000" i="1" dirty="0">
                <a:latin typeface="Cambria Math" panose="02040503050406030204" pitchFamily="18" charset="0"/>
                <a:ea typeface="Cambria Math" panose="02040503050406030204" pitchFamily="18" charset="0"/>
                <a:cs typeface="Verdana"/>
                <a:sym typeface="Verdana"/>
              </a:rPr>
              <a:t>r</a:t>
            </a:r>
            <a:r>
              <a:rPr lang="en-US" sz="2000" dirty="0">
                <a:latin typeface="Verdana"/>
                <a:ea typeface="Verdana"/>
                <a:cs typeface="Verdana"/>
                <a:sym typeface="Verdana"/>
              </a:rPr>
              <a:t>, the length of the road being paved.</a:t>
            </a:r>
          </a:p>
          <a:p>
            <a:pPr marL="457200" indent="-457200">
              <a:buFont typeface="+mj-lt"/>
              <a:buAutoNum type="alphaLcPeriod"/>
            </a:pPr>
            <a:endParaRPr lang="en-US" sz="2000" dirty="0">
              <a:latin typeface="Verdana"/>
              <a:ea typeface="Verdana"/>
              <a:cs typeface="Verdana"/>
              <a:sym typeface="Verdana"/>
            </a:endParaRPr>
          </a:p>
          <a:p>
            <a:pPr marL="457200" indent="-457200">
              <a:buFont typeface="+mj-lt"/>
              <a:buAutoNum type="alphaLcPeriod"/>
            </a:pPr>
            <a:r>
              <a:rPr lang="en-US" sz="2000" dirty="0">
                <a:latin typeface="Verdana"/>
                <a:ea typeface="Verdana"/>
                <a:cs typeface="Verdana"/>
                <a:sym typeface="Verdana"/>
              </a:rPr>
              <a:t>How long is the road being paved?</a:t>
            </a:r>
          </a:p>
        </p:txBody>
      </p:sp>
      <p:sp>
        <p:nvSpPr>
          <p:cNvPr id="329" name="Google Shape;329;p20"/>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 name="Picture 1">
            <a:extLst>
              <a:ext uri="{FF2B5EF4-FFF2-40B4-BE49-F238E27FC236}">
                <a16:creationId xmlns:a16="http://schemas.microsoft.com/office/drawing/2014/main" id="{AD8C1A35-B4EB-BA43-8399-2DF5C415BF4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670861" y="520394"/>
            <a:ext cx="183536" cy="448043"/>
          </a:xfrm>
          <a:prstGeom prst="rect">
            <a:avLst/>
          </a:prstGeom>
        </p:spPr>
      </p:pic>
      <p:pic>
        <p:nvPicPr>
          <p:cNvPr id="3" name="Picture 2">
            <a:extLst>
              <a:ext uri="{FF2B5EF4-FFF2-40B4-BE49-F238E27FC236}">
                <a16:creationId xmlns:a16="http://schemas.microsoft.com/office/drawing/2014/main" id="{5A8DF82C-1901-0340-99FA-5C8B87DD4EC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508385" y="1454388"/>
            <a:ext cx="802431" cy="491040"/>
          </a:xfrm>
          <a:prstGeom prst="rect">
            <a:avLst/>
          </a:prstGeom>
        </p:spPr>
      </p:pic>
      <p:pic>
        <p:nvPicPr>
          <p:cNvPr id="4" name="Picture 3">
            <a:extLst>
              <a:ext uri="{FF2B5EF4-FFF2-40B4-BE49-F238E27FC236}">
                <a16:creationId xmlns:a16="http://schemas.microsoft.com/office/drawing/2014/main" id="{8D56E0DD-3993-AF48-8CDA-CC53300C5AC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798605" y="520393"/>
            <a:ext cx="223200" cy="491040"/>
          </a:xfrm>
          <a:prstGeom prst="rect">
            <a:avLst/>
          </a:prstGeom>
        </p:spPr>
      </p:pic>
      <p:pic>
        <p:nvPicPr>
          <p:cNvPr id="5" name="Picture 4">
            <a:extLst>
              <a:ext uri="{FF2B5EF4-FFF2-40B4-BE49-F238E27FC236}">
                <a16:creationId xmlns:a16="http://schemas.microsoft.com/office/drawing/2014/main" id="{53EBDA3B-1AB4-6848-8C49-32622A40E333}"/>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254430" y="1962776"/>
            <a:ext cx="7683141" cy="1869661"/>
          </a:xfrm>
          <a:prstGeom prst="rect">
            <a:avLst/>
          </a:prstGeom>
        </p:spPr>
      </p:pic>
      <p:sp>
        <p:nvSpPr>
          <p:cNvPr id="11" name="Google Shape;125;g104476d1465_1_17"/>
          <p:cNvSpPr txBox="1"/>
          <p:nvPr/>
        </p:nvSpPr>
        <p:spPr>
          <a:xfrm>
            <a:off x="8711750" y="645792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344</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429095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2007765" y="380569"/>
                <a:ext cx="8327136" cy="6322460"/>
              </a:xfrm>
              <a:prstGeom prst="rect">
                <a:avLst/>
              </a:prstGeom>
              <a:noFill/>
              <a:ln>
                <a:noFill/>
              </a:ln>
            </p:spPr>
            <p:txBody>
              <a:bodyPr spcFirstLastPara="1" wrap="square" lIns="91425" tIns="45700" rIns="91425" bIns="45700" anchor="t" anchorCtr="0">
                <a:spAutoFit/>
              </a:bodyPr>
              <a:lstStyle/>
              <a:p>
                <a:pPr marL="920750" indent="-452438">
                  <a:buFont typeface="+mj-lt"/>
                  <a:buAutoNum type="alphaLcPeriod" startAt="4"/>
                </a:pPr>
                <a:r>
                  <a:rPr lang="en-US" sz="2000" dirty="0">
                    <a:latin typeface="Verdana"/>
                    <a:ea typeface="Verdana"/>
                    <a:cs typeface="Verdana"/>
                    <a:sym typeface="Verdana"/>
                  </a:rPr>
                  <a:t>Check your solution.</a:t>
                </a:r>
              </a:p>
              <a:p>
                <a:pPr marL="514350" indent="-514350">
                  <a:buFont typeface="+mj-lt"/>
                  <a:buAutoNum type="alphaLcPeriod" startAt="4"/>
                </a:pPr>
                <a:endParaRPr lang="en-US" sz="2000" dirty="0">
                  <a:latin typeface="Verdana"/>
                  <a:ea typeface="Verdana"/>
                  <a:cs typeface="Verdana"/>
                  <a:sym typeface="Verdana"/>
                </a:endParaRPr>
              </a:p>
              <a:p>
                <a:pPr marL="514350" indent="-514350">
                  <a:buFont typeface="+mj-lt"/>
                  <a:buAutoNum type="alphaLcPeriod" startAt="4"/>
                </a:pPr>
                <a:endParaRPr lang="en-US" sz="2000" dirty="0">
                  <a:latin typeface="Verdana"/>
                  <a:ea typeface="Verdana"/>
                  <a:cs typeface="Verdana"/>
                  <a:sym typeface="Verdana"/>
                </a:endParaRPr>
              </a:p>
              <a:p>
                <a:pPr marL="457200" indent="-457200">
                  <a:buFont typeface="+mj-lt"/>
                  <a:buAutoNum type="arabicPeriod" startAt="4"/>
                </a:pPr>
                <a:r>
                  <a:rPr lang="en-US" sz="2000" dirty="0" err="1">
                    <a:latin typeface="Verdana"/>
                    <a:ea typeface="Verdana"/>
                    <a:cs typeface="Verdana"/>
                    <a:sym typeface="Verdana"/>
                  </a:rPr>
                  <a:t>Donté</a:t>
                </a:r>
                <a:r>
                  <a:rPr lang="en-US" sz="2000" dirty="0">
                    <a:latin typeface="Verdana"/>
                    <a:ea typeface="Verdana"/>
                    <a:cs typeface="Verdana"/>
                    <a:sym typeface="Verdana"/>
                  </a:rPr>
                  <a:t> used milk for </a:t>
                </a:r>
                <a:r>
                  <a:rPr lang="en-US" sz="2000" dirty="0">
                    <a:latin typeface="Cambria Math" panose="02040503050406030204" pitchFamily="18" charset="0"/>
                    <a:ea typeface="Cambria Math" panose="02040503050406030204" pitchFamily="18" charset="0"/>
                    <a:cs typeface="Verdana"/>
                    <a:sym typeface="Verdana"/>
                  </a:rPr>
                  <a:t>3</a:t>
                </a:r>
                <a:r>
                  <a:rPr lang="en-US" sz="2000" dirty="0">
                    <a:latin typeface="Verdana"/>
                    <a:ea typeface="Verdana"/>
                    <a:cs typeface="Verdana"/>
                    <a:sym typeface="Verdana"/>
                  </a:rPr>
                  <a:t> batches of a recipe. He used </a:t>
                </a:r>
                <a14:m>
                  <m:oMath xmlns:m="http://schemas.openxmlformats.org/officeDocument/2006/math">
                    <m:f>
                      <m:fPr>
                        <m:ctrlPr>
                          <a:rPr lang="en-US" sz="2000" i="1" dirty="0">
                            <a:latin typeface="Cambria Math" panose="02040503050406030204" pitchFamily="18" charset="0"/>
                            <a:ea typeface="Cambria Math" panose="02040503050406030204" pitchFamily="18" charset="0"/>
                            <a:cs typeface="Verdana"/>
                            <a:sym typeface="Verdana"/>
                          </a:rPr>
                        </m:ctrlPr>
                      </m:fPr>
                      <m:num>
                        <m:r>
                          <a:rPr lang="en-US" sz="2000" i="1" dirty="0">
                            <a:latin typeface="Cambria Math" panose="02040503050406030204" pitchFamily="18" charset="0"/>
                            <a:ea typeface="Cambria Math" panose="02040503050406030204" pitchFamily="18" charset="0"/>
                            <a:cs typeface="Verdana"/>
                            <a:sym typeface="Verdana"/>
                          </a:rPr>
                          <m:t>3</m:t>
                        </m:r>
                      </m:num>
                      <m:den>
                        <m:r>
                          <a:rPr lang="en-US" sz="2000" i="1" dirty="0">
                            <a:latin typeface="Cambria Math" panose="02040503050406030204" pitchFamily="18" charset="0"/>
                            <a:ea typeface="Cambria Math" panose="02040503050406030204" pitchFamily="18" charset="0"/>
                            <a:cs typeface="Verdana"/>
                            <a:sym typeface="Verdana"/>
                          </a:rPr>
                          <m:t>4</m:t>
                        </m:r>
                      </m:den>
                    </m:f>
                  </m:oMath>
                </a14:m>
                <a:r>
                  <a:rPr lang="en-US" sz="2000" dirty="0">
                    <a:latin typeface="Cambria Math" panose="02040503050406030204" pitchFamily="18" charset="0"/>
                    <a:ea typeface="Cambria Math" panose="02040503050406030204" pitchFamily="18" charset="0"/>
                    <a:cs typeface="Verdana"/>
                    <a:sym typeface="Verdana"/>
                  </a:rPr>
                  <a:t> </a:t>
                </a:r>
                <a:r>
                  <a:rPr lang="en-US" sz="2000" dirty="0">
                    <a:latin typeface="Verdana"/>
                    <a:ea typeface="Verdana"/>
                    <a:cs typeface="Verdana"/>
                    <a:sym typeface="Verdana"/>
                  </a:rPr>
                  <a:t>cup of milk for each batch. </a:t>
                </a:r>
              </a:p>
              <a:p>
                <a:pPr marL="457200" indent="-457200">
                  <a:buFont typeface="+mj-lt"/>
                  <a:buAutoNum type="arabicPeriod" startAt="4"/>
                </a:pPr>
                <a:endParaRPr lang="en-US" sz="2000" dirty="0">
                  <a:latin typeface="Verdana"/>
                  <a:ea typeface="Verdana"/>
                  <a:cs typeface="Verdana"/>
                  <a:sym typeface="Verdana"/>
                </a:endParaRPr>
              </a:p>
              <a:p>
                <a:pPr marL="457200" indent="-457200">
                  <a:buFont typeface="+mj-lt"/>
                  <a:buAutoNum type="arabicPeriod" startAt="4"/>
                </a:pPr>
                <a:endParaRPr lang="en-US" sz="2000" dirty="0">
                  <a:latin typeface="Verdana"/>
                  <a:ea typeface="Verdana"/>
                  <a:cs typeface="Verdana"/>
                  <a:sym typeface="Verdana"/>
                </a:endParaRPr>
              </a:p>
              <a:p>
                <a:pPr marL="457200" indent="-457200">
                  <a:buFont typeface="+mj-lt"/>
                  <a:buAutoNum type="arabicPeriod" startAt="4"/>
                </a:pPr>
                <a:endParaRPr lang="en-US" sz="2000" dirty="0">
                  <a:latin typeface="Verdana"/>
                  <a:ea typeface="Verdana"/>
                  <a:cs typeface="Verdana"/>
                  <a:sym typeface="Verdana"/>
                </a:endParaRPr>
              </a:p>
              <a:p>
                <a:pPr marL="457200" indent="-457200">
                  <a:buFont typeface="+mj-lt"/>
                  <a:buAutoNum type="arabicPeriod" startAt="4"/>
                </a:pPr>
                <a:endParaRPr lang="en-US" sz="2000" dirty="0">
                  <a:latin typeface="Verdana"/>
                  <a:ea typeface="Verdana"/>
                  <a:cs typeface="Verdana"/>
                  <a:sym typeface="Verdana"/>
                </a:endParaRPr>
              </a:p>
              <a:p>
                <a:pPr marL="457200" indent="-457200">
                  <a:buFont typeface="+mj-lt"/>
                  <a:buAutoNum type="arabicPeriod" startAt="4"/>
                </a:pPr>
                <a:endParaRPr lang="en-US" sz="2000" dirty="0">
                  <a:latin typeface="Verdana"/>
                  <a:ea typeface="Verdana"/>
                  <a:cs typeface="Verdana"/>
                  <a:sym typeface="Verdana"/>
                </a:endParaRPr>
              </a:p>
              <a:p>
                <a:pPr marL="457200" indent="-457200">
                  <a:buFont typeface="+mj-lt"/>
                  <a:buAutoNum type="arabicPeriod" startAt="4"/>
                </a:pPr>
                <a:endParaRPr lang="en-US" sz="2000" dirty="0">
                  <a:latin typeface="Verdana"/>
                  <a:ea typeface="Verdana"/>
                  <a:cs typeface="Verdana"/>
                  <a:sym typeface="Verdana"/>
                </a:endParaRPr>
              </a:p>
              <a:p>
                <a:pPr marL="457200" indent="-457200">
                  <a:buFont typeface="+mj-lt"/>
                  <a:buAutoNum type="arabicPeriod" startAt="4"/>
                </a:pPr>
                <a:endParaRPr lang="en-US" sz="2000" dirty="0">
                  <a:latin typeface="Verdana"/>
                  <a:ea typeface="Verdana"/>
                  <a:cs typeface="Verdana"/>
                  <a:sym typeface="Verdana"/>
                </a:endParaRPr>
              </a:p>
              <a:p>
                <a:pPr marL="468313"/>
                <a:r>
                  <a:rPr lang="en-US" sz="2000" dirty="0">
                    <a:latin typeface="Verdana"/>
                    <a:ea typeface="Verdana"/>
                    <a:cs typeface="Verdana"/>
                    <a:sym typeface="Verdana"/>
                  </a:rPr>
                  <a:t>The equation </a:t>
                </a:r>
                <a:r>
                  <a:rPr lang="en-US" sz="2000" i="1" dirty="0">
                    <a:latin typeface="Cambria Math" panose="02040503050406030204" pitchFamily="18" charset="0"/>
                    <a:ea typeface="Cambria Math" panose="02040503050406030204" pitchFamily="18" charset="0"/>
                    <a:cs typeface="Verdana"/>
                    <a:sym typeface="Verdana"/>
                  </a:rPr>
                  <a:t>m </a:t>
                </a:r>
                <a:r>
                  <a:rPr lang="en-US" sz="2000" dirty="0">
                    <a:latin typeface="Cambria Math" panose="02040503050406030204" pitchFamily="18" charset="0"/>
                    <a:ea typeface="Cambria Math" panose="02040503050406030204" pitchFamily="18" charset="0"/>
                    <a:cs typeface="Verdana"/>
                    <a:sym typeface="Verdana"/>
                  </a:rPr>
                  <a:t>÷3=</a:t>
                </a:r>
                <a:r>
                  <a:rPr lang="en-US" sz="2000" dirty="0">
                    <a:latin typeface="Verdana"/>
                    <a:ea typeface="Verdana"/>
                    <a:cs typeface="Verdana"/>
                    <a:sym typeface="Verdana"/>
                  </a:rPr>
                  <a:t> </a:t>
                </a:r>
                <a14:m>
                  <m:oMath xmlns:m="http://schemas.openxmlformats.org/officeDocument/2006/math">
                    <m:f>
                      <m:fPr>
                        <m:ctrlPr>
                          <a:rPr lang="en-US" sz="2000" i="1" dirty="0">
                            <a:latin typeface="Cambria Math" panose="02040503050406030204" pitchFamily="18" charset="0"/>
                            <a:ea typeface="Cambria Math" panose="02040503050406030204" pitchFamily="18" charset="0"/>
                            <a:cs typeface="Verdana"/>
                            <a:sym typeface="Verdana"/>
                          </a:rPr>
                        </m:ctrlPr>
                      </m:fPr>
                      <m:num>
                        <m:r>
                          <a:rPr lang="en-US" sz="2000" i="1" dirty="0">
                            <a:latin typeface="Cambria Math" panose="02040503050406030204" pitchFamily="18" charset="0"/>
                            <a:ea typeface="Cambria Math" panose="02040503050406030204" pitchFamily="18" charset="0"/>
                            <a:cs typeface="Verdana"/>
                            <a:sym typeface="Verdana"/>
                          </a:rPr>
                          <m:t>3</m:t>
                        </m:r>
                      </m:num>
                      <m:den>
                        <m:r>
                          <a:rPr lang="en-US" sz="2000" i="1" dirty="0">
                            <a:latin typeface="Cambria Math" panose="02040503050406030204" pitchFamily="18" charset="0"/>
                            <a:ea typeface="Cambria Math" panose="02040503050406030204" pitchFamily="18" charset="0"/>
                            <a:cs typeface="Verdana"/>
                            <a:sym typeface="Verdana"/>
                          </a:rPr>
                          <m:t>4</m:t>
                        </m:r>
                      </m:den>
                    </m:f>
                    <m:r>
                      <a:rPr lang="en-US" sz="2000" dirty="0">
                        <a:latin typeface="Cambria Math" panose="02040503050406030204" pitchFamily="18" charset="0"/>
                        <a:ea typeface="Cambria Math" panose="02040503050406030204" pitchFamily="18" charset="0"/>
                        <a:cs typeface="Verdana"/>
                        <a:sym typeface="Verdana"/>
                      </a:rPr>
                      <m:t> </m:t>
                    </m:r>
                  </m:oMath>
                </a14:m>
                <a:r>
                  <a:rPr lang="en-US" sz="2000" dirty="0">
                    <a:latin typeface="Verdana"/>
                    <a:ea typeface="Verdana"/>
                    <a:cs typeface="Verdana"/>
                    <a:sym typeface="Verdana"/>
                  </a:rPr>
                  <a:t> can be used to find </a:t>
                </a:r>
                <a:r>
                  <a:rPr lang="en-US" sz="2000" i="1" dirty="0">
                    <a:latin typeface="Cambria Math" panose="02040503050406030204" pitchFamily="18" charset="0"/>
                    <a:ea typeface="Cambria Math" panose="02040503050406030204" pitchFamily="18" charset="0"/>
                    <a:cs typeface="Verdana"/>
                    <a:sym typeface="Verdana"/>
                  </a:rPr>
                  <a:t>m</a:t>
                </a:r>
                <a:r>
                  <a:rPr lang="en-US" sz="2000" dirty="0">
                    <a:latin typeface="Verdana"/>
                    <a:ea typeface="Verdana"/>
                    <a:cs typeface="Verdana"/>
                    <a:sym typeface="Verdana"/>
                  </a:rPr>
                  <a:t>, the amount of milk </a:t>
                </a:r>
                <a:r>
                  <a:rPr lang="en-US" sz="2000" dirty="0" err="1">
                    <a:latin typeface="Verdana"/>
                    <a:ea typeface="Verdana"/>
                    <a:cs typeface="Verdana"/>
                    <a:sym typeface="Verdana"/>
                  </a:rPr>
                  <a:t>Donté</a:t>
                </a:r>
                <a:r>
                  <a:rPr lang="en-US" sz="2000" dirty="0">
                    <a:latin typeface="Verdana"/>
                    <a:ea typeface="Verdana"/>
                    <a:cs typeface="Verdana"/>
                    <a:sym typeface="Verdana"/>
                  </a:rPr>
                  <a:t> used. </a:t>
                </a:r>
              </a:p>
              <a:p>
                <a:pPr lvl="0"/>
                <a:endParaRPr lang="en-US" sz="2000" dirty="0">
                  <a:latin typeface="Verdana"/>
                  <a:ea typeface="Verdana"/>
                  <a:cs typeface="Verdana"/>
                  <a:sym typeface="Verdana"/>
                </a:endParaRPr>
              </a:p>
              <a:p>
                <a:pPr marL="920750" indent="-452438">
                  <a:buFont typeface="+mj-lt"/>
                  <a:buAutoNum type="alphaLcPeriod"/>
                </a:pPr>
                <a:r>
                  <a:rPr lang="en-US" sz="2000" dirty="0">
                    <a:latin typeface="Verdana"/>
                    <a:ea typeface="Verdana"/>
                    <a:cs typeface="Verdana"/>
                    <a:sym typeface="Verdana"/>
                  </a:rPr>
                  <a:t>Use the measuring cups shown to solve the equation   </a:t>
                </a:r>
                <a:r>
                  <a:rPr lang="en-US" sz="2000" i="1" dirty="0">
                    <a:latin typeface="Cambria Math" panose="02040503050406030204" pitchFamily="18" charset="0"/>
                    <a:ea typeface="Cambria Math" panose="02040503050406030204" pitchFamily="18" charset="0"/>
                    <a:cs typeface="Verdana"/>
                    <a:sym typeface="Verdana"/>
                  </a:rPr>
                  <a:t>m </a:t>
                </a:r>
                <a:r>
                  <a:rPr lang="en-US" sz="2000" dirty="0">
                    <a:latin typeface="Cambria Math" panose="02040503050406030204" pitchFamily="18" charset="0"/>
                    <a:ea typeface="Cambria Math" panose="02040503050406030204" pitchFamily="18" charset="0"/>
                    <a:cs typeface="Verdana"/>
                    <a:sym typeface="Verdana"/>
                  </a:rPr>
                  <a:t>÷ 3=</a:t>
                </a:r>
                <a:r>
                  <a:rPr lang="en-US" sz="2000" dirty="0">
                    <a:latin typeface="Verdana"/>
                    <a:ea typeface="Verdana"/>
                    <a:cs typeface="Verdana"/>
                    <a:sym typeface="Verdana"/>
                  </a:rPr>
                  <a:t> </a:t>
                </a:r>
                <a14:m>
                  <m:oMath xmlns:m="http://schemas.openxmlformats.org/officeDocument/2006/math">
                    <m:f>
                      <m:fPr>
                        <m:ctrlPr>
                          <a:rPr lang="en-US" sz="2000" i="1" dirty="0">
                            <a:latin typeface="Cambria Math" panose="02040503050406030204" pitchFamily="18" charset="0"/>
                            <a:ea typeface="Cambria Math" panose="02040503050406030204" pitchFamily="18" charset="0"/>
                            <a:cs typeface="Verdana"/>
                            <a:sym typeface="Verdana"/>
                          </a:rPr>
                        </m:ctrlPr>
                      </m:fPr>
                      <m:num>
                        <m:r>
                          <a:rPr lang="en-US" sz="2000" i="1" dirty="0">
                            <a:latin typeface="Cambria Math" panose="02040503050406030204" pitchFamily="18" charset="0"/>
                            <a:ea typeface="Cambria Math" panose="02040503050406030204" pitchFamily="18" charset="0"/>
                            <a:cs typeface="Verdana"/>
                            <a:sym typeface="Verdana"/>
                          </a:rPr>
                          <m:t>3</m:t>
                        </m:r>
                      </m:num>
                      <m:den>
                        <m:r>
                          <a:rPr lang="en-US" sz="2000" i="1" dirty="0">
                            <a:latin typeface="Cambria Math" panose="02040503050406030204" pitchFamily="18" charset="0"/>
                            <a:ea typeface="Cambria Math" panose="02040503050406030204" pitchFamily="18" charset="0"/>
                            <a:cs typeface="Verdana"/>
                            <a:sym typeface="Verdana"/>
                          </a:rPr>
                          <m:t>4</m:t>
                        </m:r>
                      </m:den>
                    </m:f>
                  </m:oMath>
                </a14:m>
                <a:r>
                  <a:rPr lang="en-US" sz="2000" dirty="0">
                    <a:latin typeface="Verdana"/>
                    <a:ea typeface="Verdana"/>
                    <a:cs typeface="Verdana"/>
                    <a:sym typeface="Verdana"/>
                  </a:rPr>
                  <a:t> .</a:t>
                </a:r>
              </a:p>
              <a:p>
                <a:pPr marL="920750" indent="-452438">
                  <a:buFont typeface="+mj-lt"/>
                  <a:buAutoNum type="alphaLcPeriod"/>
                </a:pPr>
                <a:endParaRPr lang="en-US" sz="2000" dirty="0">
                  <a:latin typeface="Verdana"/>
                  <a:ea typeface="Verdana"/>
                  <a:cs typeface="Verdana"/>
                  <a:sym typeface="Verdana"/>
                </a:endParaRPr>
              </a:p>
              <a:p>
                <a:pPr marL="920750" indent="-452438">
                  <a:buFont typeface="+mj-lt"/>
                  <a:buAutoNum type="alphaLcPeriod"/>
                </a:pPr>
                <a:r>
                  <a:rPr lang="en-US" sz="2000" dirty="0">
                    <a:latin typeface="Verdana"/>
                    <a:ea typeface="Verdana"/>
                    <a:cs typeface="Verdana"/>
                    <a:sym typeface="Verdana"/>
                  </a:rPr>
                  <a:t>Check your solution.              </a:t>
                </a: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2007765" y="380569"/>
                <a:ext cx="8327136" cy="6322460"/>
              </a:xfrm>
              <a:prstGeom prst="rect">
                <a:avLst/>
              </a:prstGeom>
              <a:blipFill rotWithShape="0">
                <a:blip r:embed="rId3"/>
                <a:stretch>
                  <a:fillRect l="-805" t="-578" r="-1171" b="-771"/>
                </a:stretch>
              </a:blipFill>
              <a:ln>
                <a:noFill/>
              </a:ln>
            </p:spPr>
            <p:txBody>
              <a:bodyPr/>
              <a:lstStyle/>
              <a:p>
                <a:r>
                  <a:rPr lang="en-US">
                    <a:noFill/>
                  </a:rPr>
                  <a:t> </a:t>
                </a:r>
              </a:p>
            </p:txBody>
          </p:sp>
        </mc:Fallback>
      </mc:AlternateContent>
      <p:sp>
        <p:nvSpPr>
          <p:cNvPr id="329" name="Google Shape;329;p20"/>
          <p:cNvSpPr/>
          <p:nvPr/>
        </p:nvSpPr>
        <p:spPr>
          <a:xfrm>
            <a:off x="0" y="29876"/>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 name="Picture 1">
            <a:extLst>
              <a:ext uri="{FF2B5EF4-FFF2-40B4-BE49-F238E27FC236}">
                <a16:creationId xmlns:a16="http://schemas.microsoft.com/office/drawing/2014/main" id="{DAED0CA6-8C85-8943-A0E8-026F19853A9A}"/>
              </a:ext>
            </a:extLst>
          </p:cNvPr>
          <p:cNvPicPr>
            <a:picLocks noChangeAspect="1"/>
          </p:cNvPicPr>
          <p:nvPr/>
        </p:nvPicPr>
        <p:blipFill>
          <a:blip r:embed="rId4"/>
          <a:stretch>
            <a:fillRect/>
          </a:stretch>
        </p:blipFill>
        <p:spPr>
          <a:xfrm>
            <a:off x="5565140" y="-28286"/>
            <a:ext cx="2654300" cy="1231900"/>
          </a:xfrm>
          <a:prstGeom prst="rect">
            <a:avLst/>
          </a:prstGeom>
        </p:spPr>
      </p:pic>
      <p:pic>
        <p:nvPicPr>
          <p:cNvPr id="8" name="Picture 7">
            <a:extLst>
              <a:ext uri="{FF2B5EF4-FFF2-40B4-BE49-F238E27FC236}">
                <a16:creationId xmlns:a16="http://schemas.microsoft.com/office/drawing/2014/main" id="{2D730C48-4918-2A43-8573-BF94D4765CF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340418" y="2119252"/>
            <a:ext cx="5511165" cy="1810431"/>
          </a:xfrm>
          <a:prstGeom prst="rect">
            <a:avLst/>
          </a:prstGeom>
        </p:spPr>
      </p:pic>
      <p:pic>
        <p:nvPicPr>
          <p:cNvPr id="11" name="Picture 10">
            <a:extLst>
              <a:ext uri="{FF2B5EF4-FFF2-40B4-BE49-F238E27FC236}">
                <a16:creationId xmlns:a16="http://schemas.microsoft.com/office/drawing/2014/main" id="{F9AA7794-B9FD-C04A-B892-731DFDEB5EB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671821" y="6057709"/>
            <a:ext cx="2099697" cy="645320"/>
          </a:xfrm>
          <a:prstGeom prst="rect">
            <a:avLst/>
          </a:prstGeom>
        </p:spPr>
      </p:pic>
      <p:sp>
        <p:nvSpPr>
          <p:cNvPr id="9" name="Google Shape;125;g104476d1465_1_17"/>
          <p:cNvSpPr txBox="1"/>
          <p:nvPr/>
        </p:nvSpPr>
        <p:spPr>
          <a:xfrm>
            <a:off x="8711750" y="6495900"/>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344</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270355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810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11750" y="645792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345</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6" name="Google Shape;196;p7"/>
          <p:cNvSpPr txBox="1"/>
          <p:nvPr/>
        </p:nvSpPr>
        <p:spPr>
          <a:xfrm>
            <a:off x="1423638" y="60325"/>
            <a:ext cx="88259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33BEA6"/>
                </a:solidFill>
                <a:latin typeface="Verdana"/>
                <a:ea typeface="Verdana"/>
                <a:cs typeface="Verdana"/>
                <a:sym typeface="Verdana"/>
              </a:rPr>
              <a:t>14.2.4 Collaboration: Solving Equations Using Reasoning &amp; Diagrams</a:t>
            </a:r>
            <a:endParaRPr sz="1100" dirty="0"/>
          </a:p>
        </p:txBody>
      </p:sp>
      <p:pic>
        <p:nvPicPr>
          <p:cNvPr id="198" name="Google Shape;198;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73830" y="348271"/>
            <a:ext cx="749808" cy="749808"/>
          </a:xfrm>
          <a:prstGeom prst="rect">
            <a:avLst/>
          </a:prstGeom>
          <a:noFill/>
          <a:ln>
            <a:noFill/>
          </a:ln>
          <a:effectLst>
            <a:outerShdw blurRad="50800" dist="38100" dir="2700000" algn="tl" rotWithShape="0">
              <a:srgbClr val="000000">
                <a:alpha val="40000"/>
              </a:srgbClr>
            </a:outerShdw>
          </a:effectLst>
        </p:spPr>
      </p:pic>
      <p:sp>
        <p:nvSpPr>
          <p:cNvPr id="199" name="Google Shape;199;p7"/>
          <p:cNvSpPr txBox="1"/>
          <p:nvPr/>
        </p:nvSpPr>
        <p:spPr>
          <a:xfrm>
            <a:off x="1231900" y="1386025"/>
            <a:ext cx="9984232" cy="4770496"/>
          </a:xfrm>
          <a:prstGeom prst="rect">
            <a:avLst/>
          </a:prstGeom>
          <a:noFill/>
          <a:ln>
            <a:noFill/>
          </a:ln>
        </p:spPr>
        <p:txBody>
          <a:bodyPr spcFirstLastPara="1" wrap="square" lIns="91425" tIns="45700" rIns="91425" bIns="45700" anchor="t" anchorCtr="0">
            <a:spAutoFit/>
          </a:bodyPr>
          <a:lstStyle/>
          <a:p>
            <a:pPr lvl="0"/>
            <a:r>
              <a:rPr lang="en-US" sz="2400" dirty="0">
                <a:latin typeface="Verdana"/>
                <a:ea typeface="Verdana"/>
                <a:cs typeface="Verdana"/>
                <a:sym typeface="Verdana"/>
              </a:rPr>
              <a:t>With your partner, solve the following problems using reasoning and diagrams. </a:t>
            </a:r>
          </a:p>
          <a:p>
            <a:pPr lvl="0"/>
            <a:endParaRPr lang="en-US" sz="2400" dirty="0">
              <a:latin typeface="Verdana"/>
              <a:ea typeface="Verdana"/>
              <a:cs typeface="Verdana"/>
              <a:sym typeface="Verdana"/>
            </a:endParaRPr>
          </a:p>
          <a:p>
            <a:pPr marL="457200" indent="-457200">
              <a:buFont typeface="+mj-lt"/>
              <a:buAutoNum type="arabicPeriod"/>
            </a:pPr>
            <a:r>
              <a:rPr lang="en-US" sz="2400" dirty="0">
                <a:latin typeface="Verdana"/>
                <a:ea typeface="Verdana"/>
                <a:cs typeface="Verdana"/>
                <a:sym typeface="Verdana"/>
              </a:rPr>
              <a:t>Vincent had </a:t>
            </a:r>
            <a:r>
              <a:rPr lang="en-US" sz="2400" dirty="0">
                <a:latin typeface="Cambria Math" panose="02040503050406030204" pitchFamily="18" charset="0"/>
                <a:ea typeface="Cambria Math" panose="02040503050406030204" pitchFamily="18" charset="0"/>
                <a:cs typeface="Verdana"/>
                <a:sym typeface="Verdana"/>
              </a:rPr>
              <a:t>0.9</a:t>
            </a:r>
            <a:r>
              <a:rPr lang="en-US" sz="2400" dirty="0">
                <a:latin typeface="Verdana"/>
                <a:ea typeface="Verdana"/>
                <a:cs typeface="Verdana"/>
                <a:sym typeface="Verdana"/>
              </a:rPr>
              <a:t> liters (L) of water. He poured some into the mixing bowl and had </a:t>
            </a:r>
            <a:r>
              <a:rPr lang="en-US" sz="2400" dirty="0">
                <a:latin typeface="Cambria Math" panose="02040503050406030204" pitchFamily="18" charset="0"/>
                <a:ea typeface="Cambria Math" panose="02040503050406030204" pitchFamily="18" charset="0"/>
                <a:cs typeface="Verdana"/>
                <a:sym typeface="Verdana"/>
              </a:rPr>
              <a:t>0.35</a:t>
            </a:r>
            <a:r>
              <a:rPr lang="en-US" sz="2400" dirty="0">
                <a:latin typeface="Verdana"/>
                <a:ea typeface="Verdana"/>
                <a:cs typeface="Verdana"/>
                <a:sym typeface="Verdana"/>
              </a:rPr>
              <a:t> L left.</a:t>
            </a:r>
          </a:p>
          <a:p>
            <a:pPr marL="457200" indent="-457200">
              <a:buFont typeface="+mj-lt"/>
              <a:buAutoNum type="arabicPeriod"/>
            </a:pPr>
            <a:endParaRPr lang="en-US" sz="2000" dirty="0">
              <a:latin typeface="Verdana"/>
              <a:ea typeface="Verdana"/>
              <a:cs typeface="Verdana"/>
              <a:sym typeface="Verdana"/>
            </a:endParaRPr>
          </a:p>
          <a:p>
            <a:pPr marL="457200" indent="-457200">
              <a:buFont typeface="+mj-lt"/>
              <a:buAutoNum type="arabicPeriod"/>
            </a:pPr>
            <a:endParaRPr lang="en-US" sz="2000" dirty="0">
              <a:latin typeface="Verdana"/>
              <a:ea typeface="Verdana"/>
              <a:cs typeface="Verdana"/>
              <a:sym typeface="Verdana"/>
            </a:endParaRPr>
          </a:p>
          <a:p>
            <a:pPr marL="457200" indent="-457200">
              <a:buFont typeface="+mj-lt"/>
              <a:buAutoNum type="arabicPeriod"/>
            </a:pPr>
            <a:endParaRPr lang="en-US" sz="2000" dirty="0">
              <a:latin typeface="Verdana"/>
              <a:ea typeface="Verdana"/>
              <a:cs typeface="Verdana"/>
              <a:sym typeface="Verdana"/>
            </a:endParaRPr>
          </a:p>
          <a:p>
            <a:pPr marL="457200" indent="-457200">
              <a:buFont typeface="+mj-lt"/>
              <a:buAutoNum type="arabicPeriod"/>
            </a:pPr>
            <a:endParaRPr lang="en-US" sz="2000" dirty="0">
              <a:latin typeface="Verdana"/>
              <a:ea typeface="Verdana"/>
              <a:cs typeface="Verdana"/>
              <a:sym typeface="Verdana"/>
            </a:endParaRPr>
          </a:p>
          <a:p>
            <a:pPr marL="457200" indent="-457200">
              <a:buFont typeface="+mj-lt"/>
              <a:buAutoNum type="arabicPeriod"/>
            </a:pPr>
            <a:endParaRPr lang="en-US" sz="2000" dirty="0">
              <a:latin typeface="Verdana"/>
              <a:ea typeface="Verdana"/>
              <a:cs typeface="Verdana"/>
              <a:sym typeface="Verdana"/>
            </a:endParaRPr>
          </a:p>
          <a:p>
            <a:pPr marL="457200" indent="-457200">
              <a:buFont typeface="+mj-lt"/>
              <a:buAutoNum type="arabicPeriod"/>
            </a:pPr>
            <a:endParaRPr lang="en-US" sz="2000" dirty="0">
              <a:latin typeface="Verdana"/>
              <a:ea typeface="Verdana"/>
              <a:cs typeface="Verdana"/>
              <a:sym typeface="Verdana"/>
            </a:endParaRPr>
          </a:p>
          <a:p>
            <a:pPr lvl="0"/>
            <a:endParaRPr lang="en-US" sz="2000" dirty="0">
              <a:latin typeface="Verdana"/>
              <a:ea typeface="Verdana"/>
              <a:cs typeface="Verdana"/>
              <a:sym typeface="Verdana"/>
            </a:endParaRPr>
          </a:p>
          <a:p>
            <a:pPr marL="468313"/>
            <a:endParaRPr lang="en-US" sz="2000" dirty="0">
              <a:latin typeface="Verdana"/>
              <a:ea typeface="Verdana"/>
              <a:cs typeface="Verdana"/>
              <a:sym typeface="Verdana"/>
            </a:endParaRPr>
          </a:p>
          <a:p>
            <a:pPr lvl="0"/>
            <a:endParaRPr lang="en-US" sz="2400" dirty="0">
              <a:latin typeface="Verdana"/>
              <a:ea typeface="Verdana"/>
              <a:cs typeface="Verdana"/>
              <a:sym typeface="Verdana"/>
            </a:endParaRPr>
          </a:p>
        </p:txBody>
      </p:sp>
      <p:sp>
        <p:nvSpPr>
          <p:cNvPr id="200" name="Google Shape;200;p7"/>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 name="Picture 1">
            <a:extLst>
              <a:ext uri="{FF2B5EF4-FFF2-40B4-BE49-F238E27FC236}">
                <a16:creationId xmlns:a16="http://schemas.microsoft.com/office/drawing/2014/main" id="{1D46BDDE-9D58-004B-8D63-7D50A542079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998820" y="3771273"/>
            <a:ext cx="4194360" cy="2027640"/>
          </a:xfrm>
          <a:prstGeom prst="rect">
            <a:avLst/>
          </a:prstGeom>
        </p:spPr>
      </p:pic>
      <p:sp>
        <p:nvSpPr>
          <p:cNvPr id="10" name="Google Shape;125;g104476d1465_1_17"/>
          <p:cNvSpPr txBox="1"/>
          <p:nvPr/>
        </p:nvSpPr>
        <p:spPr>
          <a:xfrm>
            <a:off x="8711750" y="645792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345</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460500" y="520393"/>
            <a:ext cx="9421666" cy="5509160"/>
          </a:xfrm>
          <a:prstGeom prst="rect">
            <a:avLst/>
          </a:prstGeom>
          <a:noFill/>
          <a:ln>
            <a:noFill/>
          </a:ln>
        </p:spPr>
        <p:txBody>
          <a:bodyPr spcFirstLastPara="1" wrap="square" lIns="91425" tIns="45700" rIns="91425" bIns="45700" anchor="t" anchorCtr="0">
            <a:spAutoFit/>
          </a:bodyPr>
          <a:lstStyle/>
          <a:p>
            <a:pPr marL="468313"/>
            <a:r>
              <a:rPr lang="en-US" sz="2400" dirty="0">
                <a:latin typeface="Verdana"/>
                <a:ea typeface="Verdana"/>
                <a:cs typeface="Verdana"/>
                <a:sym typeface="Verdana"/>
              </a:rPr>
              <a:t>The bar model shown represents this situation.</a:t>
            </a:r>
          </a:p>
          <a:p>
            <a:pPr lvl="0"/>
            <a:endParaRPr lang="en-US" sz="2800" dirty="0">
              <a:latin typeface="Verdana"/>
              <a:ea typeface="Verdana"/>
              <a:cs typeface="Verdana"/>
              <a:sym typeface="Verdana"/>
            </a:endParaRPr>
          </a:p>
          <a:p>
            <a:pPr marL="457200" indent="-457200">
              <a:buFont typeface="+mj-lt"/>
              <a:buAutoNum type="alphaLcPeriod"/>
            </a:pPr>
            <a:endParaRPr lang="en-US" sz="2800" dirty="0">
              <a:latin typeface="Verdana"/>
              <a:ea typeface="Verdana"/>
              <a:cs typeface="Verdana"/>
              <a:sym typeface="Verdana"/>
            </a:endParaRPr>
          </a:p>
          <a:p>
            <a:pPr marL="457200" indent="-457200">
              <a:buFont typeface="+mj-lt"/>
              <a:buAutoNum type="alphaLcPeriod"/>
            </a:pPr>
            <a:endParaRPr lang="en-US" sz="2800" dirty="0">
              <a:latin typeface="Verdana"/>
              <a:ea typeface="Verdana"/>
              <a:cs typeface="Verdana"/>
              <a:sym typeface="Verdana"/>
            </a:endParaRPr>
          </a:p>
          <a:p>
            <a:pPr lvl="0"/>
            <a:endParaRPr lang="en-US" sz="2800" dirty="0">
              <a:latin typeface="Verdana"/>
              <a:ea typeface="Verdana"/>
              <a:cs typeface="Verdana"/>
              <a:sym typeface="Verdana"/>
            </a:endParaRPr>
          </a:p>
          <a:p>
            <a:pPr marL="457200" indent="-457200">
              <a:buFont typeface="+mj-lt"/>
              <a:buAutoNum type="alphaLcPeriod"/>
            </a:pPr>
            <a:r>
              <a:rPr lang="en-US" sz="2400" dirty="0">
                <a:latin typeface="Verdana"/>
                <a:ea typeface="Verdana"/>
                <a:cs typeface="Verdana"/>
                <a:sym typeface="Verdana"/>
              </a:rPr>
              <a:t>Discuss with your partner how the bar model represents Vincent’s situation. Then, write a brief summary of your discussion.</a:t>
            </a:r>
          </a:p>
          <a:p>
            <a:pPr marL="457200" indent="-457200">
              <a:buFont typeface="+mj-lt"/>
              <a:buAutoNum type="alphaLcPeriod"/>
            </a:pPr>
            <a:endParaRPr lang="en-US" sz="2400" dirty="0">
              <a:latin typeface="Verdana"/>
              <a:ea typeface="Verdana"/>
              <a:cs typeface="Verdana"/>
              <a:sym typeface="Verdana"/>
            </a:endParaRPr>
          </a:p>
          <a:p>
            <a:pPr marL="457200" indent="-457200">
              <a:buFont typeface="+mj-lt"/>
              <a:buAutoNum type="alphaLcPeriod"/>
            </a:pPr>
            <a:endParaRPr lang="en-US" sz="2400" dirty="0">
              <a:latin typeface="Verdana"/>
              <a:ea typeface="Verdana"/>
              <a:cs typeface="Verdana"/>
              <a:sym typeface="Verdana"/>
            </a:endParaRPr>
          </a:p>
          <a:p>
            <a:pPr marL="457200" indent="-457200">
              <a:buFont typeface="+mj-lt"/>
              <a:buAutoNum type="alphaLcPeriod"/>
            </a:pPr>
            <a:r>
              <a:rPr lang="en-US" sz="2400" dirty="0">
                <a:latin typeface="Verdana"/>
                <a:ea typeface="Verdana"/>
                <a:cs typeface="Verdana"/>
                <a:sym typeface="Verdana"/>
              </a:rPr>
              <a:t>The equation </a:t>
            </a:r>
            <a:r>
              <a:rPr lang="en-US" sz="2400" dirty="0">
                <a:latin typeface="Cambria Math" panose="02040503050406030204" pitchFamily="18" charset="0"/>
                <a:ea typeface="Cambria Math" panose="02040503050406030204" pitchFamily="18" charset="0"/>
                <a:cs typeface="Verdana"/>
                <a:sym typeface="Verdana"/>
              </a:rPr>
              <a:t>0.9 - </a:t>
            </a:r>
            <a:r>
              <a:rPr lang="en-US" sz="2400" i="1" dirty="0">
                <a:latin typeface="Cambria Math" panose="02040503050406030204" pitchFamily="18" charset="0"/>
                <a:ea typeface="Cambria Math" panose="02040503050406030204" pitchFamily="18" charset="0"/>
                <a:cs typeface="Verdana"/>
                <a:sym typeface="Verdana"/>
              </a:rPr>
              <a:t>w</a:t>
            </a:r>
            <a:r>
              <a:rPr lang="en-US" sz="2400" dirty="0">
                <a:latin typeface="Cambria Math" panose="02040503050406030204" pitchFamily="18" charset="0"/>
                <a:ea typeface="Cambria Math" panose="02040503050406030204" pitchFamily="18" charset="0"/>
                <a:cs typeface="Verdana"/>
                <a:sym typeface="Verdana"/>
              </a:rPr>
              <a:t> = 0.35 </a:t>
            </a:r>
            <a:r>
              <a:rPr lang="en-US" sz="2400" dirty="0">
                <a:latin typeface="Verdana"/>
                <a:ea typeface="Verdana"/>
                <a:cs typeface="Verdana"/>
                <a:sym typeface="Verdana"/>
              </a:rPr>
              <a:t>can also be used to represent this situation. Find the value of </a:t>
            </a:r>
            <a:r>
              <a:rPr lang="en-US" sz="2400" i="1" dirty="0">
                <a:latin typeface="Cambria Math" panose="02040503050406030204" pitchFamily="18" charset="0"/>
                <a:ea typeface="Cambria Math" panose="02040503050406030204" pitchFamily="18" charset="0"/>
                <a:cs typeface="Verdana"/>
                <a:sym typeface="Verdana"/>
              </a:rPr>
              <a:t>w</a:t>
            </a:r>
            <a:r>
              <a:rPr lang="en-US" sz="2400" dirty="0">
                <a:latin typeface="Verdana"/>
                <a:ea typeface="Verdana"/>
                <a:cs typeface="Verdana"/>
                <a:sym typeface="Verdana"/>
              </a:rPr>
              <a:t>, the amount of water Vincent poured into the mixing bowl.</a:t>
            </a:r>
          </a:p>
          <a:p>
            <a:pPr lvl="0"/>
            <a:endParaRPr lang="en-US" sz="2400" dirty="0">
              <a:latin typeface="Verdana"/>
              <a:ea typeface="Verdana"/>
              <a:cs typeface="Verdana"/>
              <a:sym typeface="Verdana"/>
            </a:endParaRPr>
          </a:p>
        </p:txBody>
      </p:sp>
      <p:sp>
        <p:nvSpPr>
          <p:cNvPr id="209" name="Google Shape;209;p8"/>
          <p:cNvSpPr/>
          <p:nvPr/>
        </p:nvSpPr>
        <p:spPr>
          <a:xfrm>
            <a:off x="0" y="-810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7" name="Picture 6">
            <a:extLst>
              <a:ext uri="{FF2B5EF4-FFF2-40B4-BE49-F238E27FC236}">
                <a16:creationId xmlns:a16="http://schemas.microsoft.com/office/drawing/2014/main" id="{D75AD644-6907-B94E-A6D7-70FF0FEDE94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029375" y="1035082"/>
            <a:ext cx="6133250" cy="1388078"/>
          </a:xfrm>
          <a:prstGeom prst="rect">
            <a:avLst/>
          </a:prstGeom>
        </p:spPr>
      </p:pic>
      <p:sp>
        <p:nvSpPr>
          <p:cNvPr id="8" name="Google Shape;125;g104476d1465_1_17"/>
          <p:cNvSpPr txBox="1"/>
          <p:nvPr/>
        </p:nvSpPr>
        <p:spPr>
          <a:xfrm>
            <a:off x="8711750" y="645792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345</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092200" y="177493"/>
            <a:ext cx="10007600" cy="5693826"/>
          </a:xfrm>
          <a:prstGeom prst="rect">
            <a:avLst/>
          </a:prstGeom>
          <a:noFill/>
          <a:ln>
            <a:noFill/>
          </a:ln>
        </p:spPr>
        <p:txBody>
          <a:bodyPr spcFirstLastPara="1" wrap="square" lIns="91425" tIns="45700" rIns="91425" bIns="45700" anchor="t" anchorCtr="0">
            <a:spAutoFit/>
          </a:bodyPr>
          <a:lstStyle/>
          <a:p>
            <a:pPr marL="457200" indent="-457200">
              <a:lnSpc>
                <a:spcPct val="150000"/>
              </a:lnSpc>
              <a:buFont typeface="+mj-lt"/>
              <a:buAutoNum type="arabicPeriod" startAt="2"/>
            </a:pPr>
            <a:r>
              <a:rPr lang="en-US" sz="2000" dirty="0">
                <a:latin typeface="Verdana"/>
                <a:ea typeface="Verdana"/>
                <a:cs typeface="Verdana"/>
                <a:sym typeface="Verdana"/>
              </a:rPr>
              <a:t>Josephine told her brother she would give him   of the money they made from hosting a lemonade stand at their school carnival. She gave her brother </a:t>
            </a:r>
            <a:r>
              <a:rPr lang="en-US" sz="2000" dirty="0">
                <a:latin typeface="Cambria Math" panose="02040503050406030204" pitchFamily="18" charset="0"/>
                <a:ea typeface="Cambria Math" panose="02040503050406030204" pitchFamily="18" charset="0"/>
                <a:cs typeface="Verdana"/>
                <a:sym typeface="Verdana"/>
              </a:rPr>
              <a:t>$24.25</a:t>
            </a:r>
            <a:r>
              <a:rPr lang="en-US" sz="2000" dirty="0">
                <a:latin typeface="Verdana"/>
                <a:ea typeface="Verdana"/>
                <a:cs typeface="Verdana"/>
                <a:sym typeface="Verdana"/>
              </a:rPr>
              <a:t>. This situation can be represented by the equation   </a:t>
            </a:r>
            <a:r>
              <a:rPr lang="en-US" sz="2000" i="1" dirty="0">
                <a:latin typeface="Verdana"/>
                <a:ea typeface="Verdana"/>
                <a:cs typeface="Verdana"/>
                <a:sym typeface="Verdana"/>
              </a:rPr>
              <a:t>x </a:t>
            </a:r>
            <a:r>
              <a:rPr lang="en-US" sz="2000" dirty="0">
                <a:latin typeface="Cambria Math" panose="02040503050406030204" pitchFamily="18" charset="0"/>
                <a:ea typeface="Cambria Math" panose="02040503050406030204" pitchFamily="18" charset="0"/>
                <a:cs typeface="Verdana"/>
                <a:sym typeface="Verdana"/>
              </a:rPr>
              <a:t>= 24.25 </a:t>
            </a:r>
            <a:r>
              <a:rPr lang="en-US" sz="2000" dirty="0">
                <a:latin typeface="Verdana"/>
                <a:ea typeface="Verdana"/>
                <a:cs typeface="Verdana"/>
                <a:sym typeface="Verdana"/>
              </a:rPr>
              <a:t>to find </a:t>
            </a:r>
            <a:r>
              <a:rPr lang="en-US" sz="2000" i="1" dirty="0">
                <a:latin typeface="Verdana"/>
                <a:ea typeface="Verdana"/>
                <a:cs typeface="Verdana"/>
                <a:sym typeface="Verdana"/>
              </a:rPr>
              <a:t>x</a:t>
            </a:r>
            <a:r>
              <a:rPr lang="en-US" sz="2000" dirty="0">
                <a:latin typeface="Verdana"/>
                <a:ea typeface="Verdana"/>
                <a:cs typeface="Verdana"/>
                <a:sym typeface="Verdana"/>
              </a:rPr>
              <a:t>, the amount of money they made at the lemonade stand.</a:t>
            </a:r>
          </a:p>
          <a:p>
            <a:pPr lvl="0"/>
            <a:endParaRPr lang="en-US" sz="2000" dirty="0">
              <a:latin typeface="Verdana"/>
              <a:ea typeface="Verdana"/>
              <a:cs typeface="Verdana"/>
              <a:sym typeface="Verdana"/>
            </a:endParaRPr>
          </a:p>
          <a:p>
            <a:pPr marL="920750" indent="-452438">
              <a:buFont typeface="+mj-lt"/>
              <a:buAutoNum type="alphaLcPeriod"/>
            </a:pPr>
            <a:r>
              <a:rPr lang="en-US" sz="2000" dirty="0">
                <a:latin typeface="Verdana"/>
                <a:ea typeface="Verdana"/>
                <a:cs typeface="Verdana"/>
                <a:sym typeface="Verdana"/>
              </a:rPr>
              <a:t>Use the bar model shown to represent the situation.</a:t>
            </a:r>
          </a:p>
          <a:p>
            <a:pPr marL="457200" indent="-457200">
              <a:buAutoNum type="alphaLcPeriod"/>
            </a:pPr>
            <a:endParaRPr lang="en-US" sz="2000" dirty="0">
              <a:latin typeface="Verdana"/>
              <a:ea typeface="Verdana"/>
              <a:cs typeface="Verdana"/>
              <a:sym typeface="Verdana"/>
            </a:endParaRPr>
          </a:p>
          <a:p>
            <a:pPr marL="457200" indent="-457200">
              <a:buAutoNum type="alphaLcPeriod"/>
            </a:pPr>
            <a:endParaRPr lang="en-US" sz="2000" dirty="0">
              <a:latin typeface="Verdana"/>
              <a:ea typeface="Verdana"/>
              <a:cs typeface="Verdana"/>
              <a:sym typeface="Verdana"/>
            </a:endParaRPr>
          </a:p>
          <a:p>
            <a:pPr marL="457200" indent="-457200">
              <a:buAutoNum type="alphaLcPeriod"/>
            </a:pPr>
            <a:endParaRPr lang="en-US" sz="2000" dirty="0">
              <a:latin typeface="Verdana"/>
              <a:ea typeface="Verdana"/>
              <a:cs typeface="Verdana"/>
              <a:sym typeface="Verdana"/>
            </a:endParaRPr>
          </a:p>
          <a:p>
            <a:pPr marL="457200" indent="-457200">
              <a:buAutoNum type="alphaLcPeriod"/>
            </a:pPr>
            <a:endParaRPr lang="en-US" sz="2000" dirty="0">
              <a:latin typeface="Verdana"/>
              <a:ea typeface="Verdana"/>
              <a:cs typeface="Verdana"/>
              <a:sym typeface="Verdana"/>
            </a:endParaRPr>
          </a:p>
          <a:p>
            <a:pPr marL="457200" indent="-457200">
              <a:buAutoNum type="alphaLcPeriod"/>
            </a:pPr>
            <a:endParaRPr lang="en-US" sz="2000" dirty="0">
              <a:latin typeface="Verdana"/>
              <a:ea typeface="Verdana"/>
              <a:cs typeface="Verdana"/>
              <a:sym typeface="Verdana"/>
            </a:endParaRPr>
          </a:p>
          <a:p>
            <a:pPr marL="457200" indent="-457200">
              <a:buAutoNum type="alphaLcPeriod"/>
            </a:pPr>
            <a:endParaRPr lang="en-US" sz="2000" dirty="0">
              <a:latin typeface="Verdana"/>
              <a:ea typeface="Verdana"/>
              <a:cs typeface="Verdana"/>
              <a:sym typeface="Verdana"/>
            </a:endParaRPr>
          </a:p>
          <a:p>
            <a:pPr marL="457200" indent="-457200">
              <a:buAutoNum type="alphaLcPeriod"/>
            </a:pPr>
            <a:endParaRPr lang="en-US" sz="2000" dirty="0">
              <a:latin typeface="Verdana"/>
              <a:ea typeface="Verdana"/>
              <a:cs typeface="Verdana"/>
              <a:sym typeface="Verdana"/>
            </a:endParaRPr>
          </a:p>
          <a:p>
            <a:pPr marL="920750" indent="-452438">
              <a:buAutoNum type="alphaLcPeriod"/>
            </a:pPr>
            <a:r>
              <a:rPr lang="en-US" sz="2000" dirty="0">
                <a:latin typeface="Verdana"/>
                <a:ea typeface="Verdana"/>
                <a:cs typeface="Verdana"/>
                <a:sym typeface="Verdana"/>
              </a:rPr>
              <a:t>Find the value of </a:t>
            </a:r>
            <a:r>
              <a:rPr lang="en-US" sz="2000" i="1" dirty="0">
                <a:latin typeface="Verdana"/>
                <a:ea typeface="Verdana"/>
                <a:cs typeface="Verdana"/>
                <a:sym typeface="Verdana"/>
              </a:rPr>
              <a:t>x</a:t>
            </a:r>
            <a:r>
              <a:rPr lang="en-US" sz="2000" dirty="0">
                <a:latin typeface="Verdana"/>
                <a:ea typeface="Verdana"/>
                <a:cs typeface="Verdana"/>
                <a:sym typeface="Verdana"/>
              </a:rPr>
              <a:t>, the amount of money they made at the lemonade stand.</a:t>
            </a:r>
          </a:p>
          <a:p>
            <a:pPr lvl="0"/>
            <a:endParaRPr lang="en-US" sz="2400" dirty="0">
              <a:latin typeface="Verdana"/>
              <a:ea typeface="Verdana"/>
              <a:cs typeface="Verdana"/>
              <a:sym typeface="Verdana"/>
            </a:endParaRPr>
          </a:p>
        </p:txBody>
      </p:sp>
      <p:sp>
        <p:nvSpPr>
          <p:cNvPr id="209" name="Google Shape;209;p8"/>
          <p:cNvSpPr/>
          <p:nvPr/>
        </p:nvSpPr>
        <p:spPr>
          <a:xfrm>
            <a:off x="0" y="-810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 name="Picture 1">
            <a:extLst>
              <a:ext uri="{FF2B5EF4-FFF2-40B4-BE49-F238E27FC236}">
                <a16:creationId xmlns:a16="http://schemas.microsoft.com/office/drawing/2014/main" id="{13852F46-BE77-974D-A637-8C45B1869C9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046732" y="3420031"/>
            <a:ext cx="8559426" cy="1217969"/>
          </a:xfrm>
          <a:prstGeom prst="rect">
            <a:avLst/>
          </a:prstGeom>
        </p:spPr>
      </p:pic>
      <p:pic>
        <p:nvPicPr>
          <p:cNvPr id="8" name="Picture 7">
            <a:extLst>
              <a:ext uri="{FF2B5EF4-FFF2-40B4-BE49-F238E27FC236}">
                <a16:creationId xmlns:a16="http://schemas.microsoft.com/office/drawing/2014/main" id="{7FFBBCDF-7D51-0E47-A5A7-E56545BFD99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570838" y="177493"/>
            <a:ext cx="212266" cy="492760"/>
          </a:xfrm>
          <a:prstGeom prst="rect">
            <a:avLst/>
          </a:prstGeom>
        </p:spPr>
      </p:pic>
      <p:sp>
        <p:nvSpPr>
          <p:cNvPr id="10" name="Google Shape;125;g104476d1465_1_17"/>
          <p:cNvSpPr txBox="1"/>
          <p:nvPr/>
        </p:nvSpPr>
        <p:spPr>
          <a:xfrm>
            <a:off x="8711750" y="645792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345</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445949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30"/>
          <p:cNvSpPr/>
          <p:nvPr/>
        </p:nvSpPr>
        <p:spPr>
          <a:xfrm>
            <a:off x="0" y="-8224"/>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27" name="Google Shape;427;p30"/>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428" name="Google Shape;428;p30"/>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11750" y="6457800"/>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346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644878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6" name="Google Shape;436;p31"/>
          <p:cNvSpPr txBox="1"/>
          <p:nvPr/>
        </p:nvSpPr>
        <p:spPr>
          <a:xfrm>
            <a:off x="1491438" y="137559"/>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dirty="0">
                <a:solidFill>
                  <a:srgbClr val="E24E5F"/>
                </a:solidFill>
                <a:latin typeface="Verdana"/>
                <a:ea typeface="Verdana"/>
                <a:cs typeface="Verdana"/>
                <a:sym typeface="Verdana"/>
              </a:rPr>
              <a:t>14.2.5 Your Turn!</a:t>
            </a:r>
            <a:endParaRPr dirty="0"/>
          </a:p>
        </p:txBody>
      </p:sp>
      <p:pic>
        <p:nvPicPr>
          <p:cNvPr id="437" name="Google Shape;437;p31"/>
          <p:cNvPicPr preferRelativeResize="0"/>
          <p:nvPr/>
        </p:nvPicPr>
        <p:blipFill rotWithShape="1">
          <a:blip r:embed="rId3">
            <a:alphaModFix/>
          </a:blip>
          <a:srcRect/>
          <a:stretch/>
        </p:blipFill>
        <p:spPr>
          <a:xfrm>
            <a:off x="667838" y="137559"/>
            <a:ext cx="747300" cy="747300"/>
          </a:xfrm>
          <a:prstGeom prst="rect">
            <a:avLst/>
          </a:prstGeom>
          <a:noFill/>
          <a:ln>
            <a:noFill/>
          </a:ln>
          <a:effectLst>
            <a:outerShdw blurRad="50800" dist="38100" dir="2700000" algn="tl" rotWithShape="0">
              <a:srgbClr val="000000">
                <a:alpha val="40000"/>
              </a:srgbClr>
            </a:outerShdw>
          </a:effectLst>
        </p:spPr>
      </p:pic>
      <p:sp>
        <p:nvSpPr>
          <p:cNvPr id="439" name="Google Shape;439;p31"/>
          <p:cNvSpPr txBox="1"/>
          <p:nvPr/>
        </p:nvSpPr>
        <p:spPr>
          <a:xfrm>
            <a:off x="1155700" y="997406"/>
            <a:ext cx="10308136" cy="5632271"/>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dirty="0" err="1">
                <a:latin typeface="Verdana"/>
                <a:ea typeface="Verdana"/>
                <a:cs typeface="Verdana"/>
                <a:sym typeface="Verdana"/>
              </a:rPr>
              <a:t>DeAndré</a:t>
            </a:r>
            <a:r>
              <a:rPr lang="en-US" sz="2400" dirty="0">
                <a:latin typeface="Verdana"/>
                <a:ea typeface="Verdana"/>
                <a:cs typeface="Verdana"/>
                <a:sym typeface="Verdana"/>
              </a:rPr>
              <a:t> paid </a:t>
            </a:r>
            <a:r>
              <a:rPr lang="en-US" sz="2400" dirty="0">
                <a:latin typeface="Cambria Math" panose="02040503050406030204" pitchFamily="18" charset="0"/>
                <a:ea typeface="Cambria Math" panose="02040503050406030204" pitchFamily="18" charset="0"/>
                <a:cs typeface="Verdana"/>
                <a:sym typeface="Verdana"/>
              </a:rPr>
              <a:t>$58.54 </a:t>
            </a:r>
            <a:r>
              <a:rPr lang="en-US" sz="2400" dirty="0">
                <a:latin typeface="Verdana"/>
                <a:ea typeface="Verdana"/>
                <a:cs typeface="Verdana"/>
                <a:sym typeface="Verdana"/>
              </a:rPr>
              <a:t>for a game at Store A, which was </a:t>
            </a:r>
            <a:r>
              <a:rPr lang="en-US" sz="2400" dirty="0">
                <a:latin typeface="Cambria Math" panose="02040503050406030204" pitchFamily="18" charset="0"/>
                <a:ea typeface="Cambria Math" panose="02040503050406030204" pitchFamily="18" charset="0"/>
                <a:cs typeface="Verdana"/>
                <a:sym typeface="Verdana"/>
              </a:rPr>
              <a:t>$9.21 </a:t>
            </a:r>
            <a:r>
              <a:rPr lang="en-US" sz="2400" dirty="0">
                <a:latin typeface="Verdana"/>
                <a:ea typeface="Verdana"/>
                <a:cs typeface="Verdana"/>
                <a:sym typeface="Verdana"/>
              </a:rPr>
              <a:t>less than the price of the game at Store B. This situation can be represented by the equation </a:t>
            </a:r>
            <a:r>
              <a:rPr lang="en-US" sz="2400" dirty="0">
                <a:latin typeface="Cambria Math" panose="02040503050406030204" pitchFamily="18" charset="0"/>
                <a:ea typeface="Cambria Math" panose="02040503050406030204" pitchFamily="18" charset="0"/>
                <a:cs typeface="Verdana"/>
                <a:sym typeface="Verdana"/>
              </a:rPr>
              <a:t>58.54 = </a:t>
            </a:r>
            <a:r>
              <a:rPr lang="en-US" sz="2400" i="1" dirty="0">
                <a:latin typeface="Cambria Math" panose="02040503050406030204" pitchFamily="18" charset="0"/>
                <a:ea typeface="Cambria Math" panose="02040503050406030204" pitchFamily="18" charset="0"/>
                <a:cs typeface="Verdana"/>
                <a:sym typeface="Verdana"/>
              </a:rPr>
              <a:t>b </a:t>
            </a:r>
            <a:r>
              <a:rPr lang="en-US" sz="2400" dirty="0">
                <a:latin typeface="Cambria Math" panose="02040503050406030204" pitchFamily="18" charset="0"/>
                <a:ea typeface="Cambria Math" panose="02040503050406030204" pitchFamily="18" charset="0"/>
                <a:cs typeface="Verdana"/>
                <a:sym typeface="Verdana"/>
              </a:rPr>
              <a:t>-9.21</a:t>
            </a:r>
            <a:r>
              <a:rPr lang="en-US" sz="2400" dirty="0">
                <a:latin typeface="Verdana"/>
                <a:ea typeface="Verdana"/>
                <a:cs typeface="Verdana"/>
                <a:sym typeface="Verdana"/>
              </a:rPr>
              <a:t>, where </a:t>
            </a:r>
            <a:r>
              <a:rPr lang="en-US" sz="2400" i="1" dirty="0">
                <a:latin typeface="Cambria Math" panose="02040503050406030204" pitchFamily="18" charset="0"/>
                <a:ea typeface="Cambria Math" panose="02040503050406030204" pitchFamily="18" charset="0"/>
                <a:cs typeface="Verdana"/>
                <a:sym typeface="Verdana"/>
              </a:rPr>
              <a:t>b</a:t>
            </a:r>
            <a:r>
              <a:rPr lang="en-US" sz="2400" dirty="0">
                <a:latin typeface="Verdana"/>
                <a:ea typeface="Verdana"/>
                <a:cs typeface="Verdana"/>
                <a:sym typeface="Verdana"/>
              </a:rPr>
              <a:t> is the price of the game at Store B.</a:t>
            </a:r>
          </a:p>
          <a:p>
            <a:pPr lvl="0"/>
            <a:endParaRPr lang="en-US" sz="2400" dirty="0">
              <a:latin typeface="Verdana"/>
              <a:ea typeface="Verdana"/>
              <a:cs typeface="Verdana"/>
              <a:sym typeface="Verdana"/>
            </a:endParaRPr>
          </a:p>
          <a:p>
            <a:pPr marL="920750" indent="-452438">
              <a:buFont typeface="+mj-lt"/>
              <a:buAutoNum type="alphaLcPeriod"/>
            </a:pPr>
            <a:r>
              <a:rPr lang="en-US" sz="2400" dirty="0">
                <a:latin typeface="Verdana"/>
                <a:ea typeface="Verdana"/>
                <a:cs typeface="Verdana"/>
                <a:sym typeface="Verdana"/>
              </a:rPr>
              <a:t>Complete the bar model diagram to represent this situation.</a:t>
            </a:r>
          </a:p>
          <a:p>
            <a:pPr marL="920750" indent="-452438">
              <a:buFont typeface="+mj-lt"/>
              <a:buAutoNum type="alphaLcPeriod"/>
            </a:pPr>
            <a:endParaRPr lang="en-US" sz="2400" dirty="0">
              <a:latin typeface="Verdana"/>
              <a:ea typeface="Verdana"/>
              <a:cs typeface="Verdana"/>
              <a:sym typeface="Verdana"/>
            </a:endParaRPr>
          </a:p>
          <a:p>
            <a:pPr marL="920750" indent="-452438">
              <a:buFont typeface="+mj-lt"/>
              <a:buAutoNum type="alphaLcPeriod"/>
            </a:pPr>
            <a:endParaRPr lang="en-US" sz="2400" dirty="0">
              <a:latin typeface="Verdana"/>
              <a:ea typeface="Verdana"/>
              <a:cs typeface="Verdana"/>
              <a:sym typeface="Verdana"/>
            </a:endParaRPr>
          </a:p>
          <a:p>
            <a:pPr marL="463550" indent="-463550">
              <a:buAutoNum type="alphaLcPeriod"/>
            </a:pPr>
            <a:endParaRPr lang="en-US" sz="2400" dirty="0">
              <a:latin typeface="Verdana"/>
              <a:ea typeface="Verdana"/>
              <a:cs typeface="Verdana"/>
              <a:sym typeface="Verdana"/>
            </a:endParaRPr>
          </a:p>
          <a:p>
            <a:pPr marL="463550" indent="-463550">
              <a:buAutoNum type="alphaLcPeriod"/>
            </a:pPr>
            <a:endParaRPr lang="en-US" sz="2400" dirty="0">
              <a:latin typeface="Verdana"/>
              <a:ea typeface="Verdana"/>
              <a:cs typeface="Verdana"/>
              <a:sym typeface="Verdana"/>
            </a:endParaRPr>
          </a:p>
          <a:p>
            <a:pPr marL="463550" indent="-463550">
              <a:buAutoNum type="alphaLcPeriod"/>
            </a:pPr>
            <a:endParaRPr lang="en-US" sz="2400" dirty="0">
              <a:latin typeface="Verdana"/>
              <a:ea typeface="Verdana"/>
              <a:cs typeface="Verdana"/>
              <a:sym typeface="Verdana"/>
            </a:endParaRPr>
          </a:p>
          <a:p>
            <a:pPr lvl="0"/>
            <a:endParaRPr lang="en-US" sz="2400" dirty="0">
              <a:latin typeface="Verdana"/>
              <a:ea typeface="Verdana"/>
              <a:cs typeface="Verdana"/>
              <a:sym typeface="Verdana"/>
            </a:endParaRPr>
          </a:p>
          <a:p>
            <a:pPr marL="920750" indent="-452438">
              <a:buFont typeface="+mj-lt"/>
              <a:buAutoNum type="alphaLcPeriod" startAt="2"/>
            </a:pPr>
            <a:r>
              <a:rPr lang="en-US" sz="2400" dirty="0">
                <a:latin typeface="Verdana"/>
                <a:ea typeface="Verdana"/>
                <a:cs typeface="Verdana"/>
                <a:sym typeface="Verdana"/>
              </a:rPr>
              <a:t>Find the value of </a:t>
            </a:r>
            <a:r>
              <a:rPr lang="en-US" sz="2400" i="1" dirty="0">
                <a:latin typeface="Cambria Math" panose="02040503050406030204" pitchFamily="18" charset="0"/>
                <a:ea typeface="Cambria Math" panose="02040503050406030204" pitchFamily="18" charset="0"/>
                <a:cs typeface="Verdana"/>
                <a:sym typeface="Verdana"/>
              </a:rPr>
              <a:t>b</a:t>
            </a:r>
            <a:r>
              <a:rPr lang="en-US" sz="2400" dirty="0">
                <a:latin typeface="Verdana"/>
                <a:ea typeface="Verdana"/>
                <a:cs typeface="Verdana"/>
                <a:sym typeface="Verdana"/>
              </a:rPr>
              <a:t>.</a:t>
            </a:r>
          </a:p>
          <a:p>
            <a:pPr lvl="0"/>
            <a:endParaRPr lang="en-US" sz="2400" dirty="0">
              <a:latin typeface="Verdana"/>
              <a:ea typeface="Verdana"/>
              <a:cs typeface="Verdana"/>
              <a:sym typeface="Verdana"/>
            </a:endParaRPr>
          </a:p>
        </p:txBody>
      </p:sp>
      <p:sp>
        <p:nvSpPr>
          <p:cNvPr id="440" name="Google Shape;440;p31"/>
          <p:cNvSpPr/>
          <p:nvPr/>
        </p:nvSpPr>
        <p:spPr>
          <a:xfrm>
            <a:off x="0" y="1043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 name="Picture 1">
            <a:extLst>
              <a:ext uri="{FF2B5EF4-FFF2-40B4-BE49-F238E27FC236}">
                <a16:creationId xmlns:a16="http://schemas.microsoft.com/office/drawing/2014/main" id="{0FEBF58D-920F-6A4A-8FAB-64A5F5F7649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780510" y="3988706"/>
            <a:ext cx="5058516" cy="1387205"/>
          </a:xfrm>
          <a:prstGeom prst="rect">
            <a:avLst/>
          </a:prstGeom>
        </p:spPr>
      </p:pic>
      <p:sp>
        <p:nvSpPr>
          <p:cNvPr id="10" name="Google Shape;125;g104476d1465_1_17"/>
          <p:cNvSpPr txBox="1"/>
          <p:nvPr/>
        </p:nvSpPr>
        <p:spPr>
          <a:xfrm>
            <a:off x="8711750" y="6457800"/>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346</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2195000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8" name="Google Shape;448;p32"/>
          <p:cNvSpPr txBox="1"/>
          <p:nvPr/>
        </p:nvSpPr>
        <p:spPr>
          <a:xfrm>
            <a:off x="1054100" y="520394"/>
            <a:ext cx="10234466" cy="4893607"/>
          </a:xfrm>
          <a:prstGeom prst="rect">
            <a:avLst/>
          </a:prstGeom>
          <a:noFill/>
          <a:ln>
            <a:noFill/>
          </a:ln>
        </p:spPr>
        <p:txBody>
          <a:bodyPr spcFirstLastPara="1" wrap="square" lIns="91425" tIns="45700" rIns="91425" bIns="45700" anchor="t" anchorCtr="0">
            <a:spAutoFit/>
          </a:bodyPr>
          <a:lstStyle/>
          <a:p>
            <a:pPr marL="514350" indent="-514350">
              <a:buFont typeface="+mj-lt"/>
              <a:buAutoNum type="arabicPeriod" startAt="2"/>
            </a:pPr>
            <a:r>
              <a:rPr lang="en-US" sz="2400" dirty="0">
                <a:latin typeface="Verdana"/>
                <a:ea typeface="Verdana"/>
                <a:cs typeface="Verdana"/>
                <a:sym typeface="Verdana"/>
              </a:rPr>
              <a:t>Mr. Bing placed a new </a:t>
            </a:r>
            <a:r>
              <a:rPr lang="en-US" sz="2400" dirty="0">
                <a:latin typeface="Cambria Math" panose="02040503050406030204" pitchFamily="18" charset="0"/>
                <a:ea typeface="Cambria Math" panose="02040503050406030204" pitchFamily="18" charset="0"/>
                <a:cs typeface="Verdana"/>
                <a:sym typeface="Verdana"/>
              </a:rPr>
              <a:t>5</a:t>
            </a:r>
            <a:r>
              <a:rPr lang="en-US" sz="2400" dirty="0">
                <a:latin typeface="Verdana"/>
                <a:ea typeface="Verdana"/>
                <a:cs typeface="Verdana"/>
                <a:sym typeface="Verdana"/>
              </a:rPr>
              <a:t>-gallon water bottle in the office water dispenser when he arrived in the morning. At the end of the day, the bottle had    gallons remaining. The equation                     		  can be used to find </a:t>
            </a:r>
            <a:r>
              <a:rPr lang="en-US" sz="2400" i="1" dirty="0">
                <a:latin typeface="Cambria Math" panose="02040503050406030204" pitchFamily="18" charset="0"/>
                <a:ea typeface="Cambria Math" panose="02040503050406030204" pitchFamily="18" charset="0"/>
                <a:cs typeface="Verdana" panose="020B0604030504040204" pitchFamily="34" charset="0"/>
                <a:sym typeface="Verdana"/>
              </a:rPr>
              <a:t>x</a:t>
            </a:r>
            <a:r>
              <a:rPr lang="en-US" sz="2400" dirty="0">
                <a:latin typeface="Verdana"/>
                <a:ea typeface="Verdana"/>
                <a:cs typeface="Verdana"/>
                <a:sym typeface="Verdana"/>
              </a:rPr>
              <a:t>, the gallons of water dispensed from the bottle. </a:t>
            </a:r>
          </a:p>
          <a:p>
            <a:pPr lvl="0"/>
            <a:endParaRPr lang="en-US" sz="2400" dirty="0">
              <a:latin typeface="Verdana"/>
              <a:ea typeface="Verdana"/>
              <a:cs typeface="Verdana"/>
              <a:sym typeface="Verdana"/>
            </a:endParaRPr>
          </a:p>
          <a:p>
            <a:pPr marL="920750" indent="-452438">
              <a:buFont typeface="+mj-lt"/>
              <a:buAutoNum type="alphaLcPeriod"/>
            </a:pPr>
            <a:r>
              <a:rPr lang="en-US" sz="2400" dirty="0">
                <a:latin typeface="Verdana"/>
                <a:ea typeface="Verdana"/>
                <a:cs typeface="Verdana"/>
                <a:sym typeface="Verdana"/>
              </a:rPr>
              <a:t>Draw a diagram representing the situation.</a:t>
            </a:r>
          </a:p>
          <a:p>
            <a:pPr marL="920750" indent="-452438">
              <a:buFont typeface="+mj-lt"/>
              <a:buAutoNum type="alphaLcPeriod"/>
            </a:pPr>
            <a:endParaRPr lang="en-US" sz="2400" dirty="0">
              <a:latin typeface="Verdana"/>
              <a:ea typeface="Verdana"/>
              <a:cs typeface="Verdana"/>
              <a:sym typeface="Verdana"/>
            </a:endParaRPr>
          </a:p>
          <a:p>
            <a:pPr marL="920750" indent="-452438">
              <a:buFont typeface="+mj-lt"/>
              <a:buAutoNum type="alphaLcPeriod"/>
            </a:pPr>
            <a:endParaRPr lang="en-US" sz="2400" dirty="0">
              <a:latin typeface="Verdana"/>
              <a:ea typeface="Verdana"/>
              <a:cs typeface="Verdana"/>
              <a:sym typeface="Verdana"/>
            </a:endParaRPr>
          </a:p>
          <a:p>
            <a:pPr marL="920750" indent="-452438">
              <a:buFont typeface="+mj-lt"/>
              <a:buAutoNum type="alphaLcPeriod"/>
            </a:pPr>
            <a:endParaRPr lang="en-US" sz="2400" dirty="0">
              <a:latin typeface="Verdana"/>
              <a:ea typeface="Verdana"/>
              <a:cs typeface="Verdana"/>
              <a:sym typeface="Verdana"/>
            </a:endParaRPr>
          </a:p>
          <a:p>
            <a:pPr marL="920750" indent="-452438">
              <a:buFont typeface="+mj-lt"/>
              <a:buAutoNum type="alphaLcPeriod"/>
            </a:pPr>
            <a:endParaRPr lang="en-US" sz="2400" dirty="0">
              <a:latin typeface="Verdana"/>
              <a:ea typeface="Verdana"/>
              <a:cs typeface="Verdana"/>
              <a:sym typeface="Verdana"/>
            </a:endParaRPr>
          </a:p>
          <a:p>
            <a:pPr marL="920750" indent="-452438">
              <a:buFont typeface="+mj-lt"/>
              <a:buAutoNum type="alphaLcPeriod"/>
            </a:pPr>
            <a:r>
              <a:rPr lang="en-US" sz="2400" dirty="0">
                <a:latin typeface="Verdana"/>
                <a:ea typeface="Verdana"/>
                <a:cs typeface="Verdana"/>
                <a:sym typeface="Verdana"/>
              </a:rPr>
              <a:t>How much water was dispensed from the bottle? Include units.</a:t>
            </a:r>
          </a:p>
        </p:txBody>
      </p:sp>
      <p:sp>
        <p:nvSpPr>
          <p:cNvPr id="449" name="Google Shape;449;p32"/>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 name="Picture 1">
            <a:extLst>
              <a:ext uri="{FF2B5EF4-FFF2-40B4-BE49-F238E27FC236}">
                <a16:creationId xmlns:a16="http://schemas.microsoft.com/office/drawing/2014/main" id="{49008095-62AA-AF48-BD3C-2387217BF10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98909" y="1289422"/>
            <a:ext cx="275357" cy="379358"/>
          </a:xfrm>
          <a:prstGeom prst="rect">
            <a:avLst/>
          </a:prstGeom>
        </p:spPr>
      </p:pic>
      <p:pic>
        <p:nvPicPr>
          <p:cNvPr id="6" name="Picture 5" descr="Diagram&#10;&#10;Description automatically generated">
            <a:extLst>
              <a:ext uri="{FF2B5EF4-FFF2-40B4-BE49-F238E27FC236}">
                <a16:creationId xmlns:a16="http://schemas.microsoft.com/office/drawing/2014/main" id="{256F2DB2-7C19-C04F-81C0-E84FC9802A92}"/>
              </a:ext>
            </a:extLst>
          </p:cNvPr>
          <p:cNvPicPr>
            <a:picLocks noChangeAspect="1"/>
          </p:cNvPicPr>
          <p:nvPr/>
        </p:nvPicPr>
        <p:blipFill rotWithShape="1">
          <a:blip r:embed="rId4"/>
          <a:srcRect t="19333" b="9167"/>
          <a:stretch/>
        </p:blipFill>
        <p:spPr>
          <a:xfrm>
            <a:off x="1698365" y="1668780"/>
            <a:ext cx="1498862" cy="379358"/>
          </a:xfrm>
          <a:prstGeom prst="rect">
            <a:avLst/>
          </a:prstGeom>
        </p:spPr>
      </p:pic>
      <p:sp>
        <p:nvSpPr>
          <p:cNvPr id="8" name="Google Shape;125;g104476d1465_1_17"/>
          <p:cNvSpPr txBox="1"/>
          <p:nvPr/>
        </p:nvSpPr>
        <p:spPr>
          <a:xfrm>
            <a:off x="8711750" y="6457800"/>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346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9633751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8224"/>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11750" y="6457800"/>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347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7522366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7" name="Google Shape;467;p34"/>
          <p:cNvSpPr txBox="1"/>
          <p:nvPr/>
        </p:nvSpPr>
        <p:spPr>
          <a:xfrm>
            <a:off x="1471700" y="-60440"/>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3600" b="1" dirty="0">
                <a:solidFill>
                  <a:srgbClr val="3F2A67"/>
                </a:solidFill>
                <a:latin typeface="Verdana"/>
                <a:ea typeface="Verdana"/>
                <a:cs typeface="Verdana"/>
                <a:sym typeface="Verdana"/>
              </a:rPr>
              <a:t>14.2.6 Wrap-Up: Reflection</a:t>
            </a:r>
            <a:endParaRPr dirty="0"/>
          </a:p>
        </p:txBody>
      </p:sp>
      <p:pic>
        <p:nvPicPr>
          <p:cNvPr id="468" name="Google Shape;468;p34"/>
          <p:cNvPicPr preferRelativeResize="0"/>
          <p:nvPr/>
        </p:nvPicPr>
        <p:blipFill rotWithShape="1">
          <a:blip r:embed="rId3">
            <a:alphaModFix/>
          </a:blip>
          <a:srcRect/>
          <a:stretch/>
        </p:blipFill>
        <p:spPr>
          <a:xfrm>
            <a:off x="724400" y="184546"/>
            <a:ext cx="747300" cy="747300"/>
          </a:xfrm>
          <a:prstGeom prst="rect">
            <a:avLst/>
          </a:prstGeom>
          <a:noFill/>
          <a:ln>
            <a:noFill/>
          </a:ln>
          <a:effectLst>
            <a:outerShdw blurRad="50800" dist="38100" dir="2700000" algn="tl" rotWithShape="0">
              <a:srgbClr val="000000">
                <a:alpha val="40000"/>
              </a:srgbClr>
            </a:outerShdw>
          </a:effectLst>
        </p:spPr>
      </p:pic>
      <p:sp>
        <p:nvSpPr>
          <p:cNvPr id="469" name="Google Shape;469;p34"/>
          <p:cNvSpPr txBox="1"/>
          <p:nvPr/>
        </p:nvSpPr>
        <p:spPr>
          <a:xfrm>
            <a:off x="1471700" y="1012317"/>
            <a:ext cx="8863201" cy="461624"/>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dirty="0">
                <a:latin typeface="Verdana"/>
                <a:ea typeface="Verdana"/>
                <a:cs typeface="Verdana"/>
                <a:sym typeface="Verdana"/>
              </a:rPr>
              <a:t>Complete the learning pyramid.</a:t>
            </a:r>
          </a:p>
        </p:txBody>
      </p:sp>
      <p:sp>
        <p:nvSpPr>
          <p:cNvPr id="470" name="Google Shape;470;p34"/>
          <p:cNvSpPr/>
          <p:nvPr/>
        </p:nvSpPr>
        <p:spPr>
          <a:xfrm>
            <a:off x="0" y="-8224"/>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 name="Picture 1">
            <a:extLst>
              <a:ext uri="{FF2B5EF4-FFF2-40B4-BE49-F238E27FC236}">
                <a16:creationId xmlns:a16="http://schemas.microsoft.com/office/drawing/2014/main" id="{A2D711CC-047A-614B-B591-38D86CF0FB8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00835" y="1554412"/>
            <a:ext cx="5141706" cy="5303588"/>
          </a:xfrm>
          <a:prstGeom prst="rect">
            <a:avLst/>
          </a:prstGeom>
        </p:spPr>
      </p:pic>
      <p:sp>
        <p:nvSpPr>
          <p:cNvPr id="9" name="Google Shape;125;g104476d1465_1_17"/>
          <p:cNvSpPr txBox="1"/>
          <p:nvPr/>
        </p:nvSpPr>
        <p:spPr>
          <a:xfrm>
            <a:off x="8711750" y="6457800"/>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347</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783261801"/>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619</TotalTime>
  <Words>1270</Words>
  <Application>Microsoft Office PowerPoint</Application>
  <PresentationFormat>Widescreen</PresentationFormat>
  <Paragraphs>226</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Arial Black</vt:lpstr>
      <vt:lpstr>Calibri</vt:lpstr>
      <vt:lpstr>Cambria</vt:lpstr>
      <vt:lpstr>Cambria Math</vt:lpstr>
      <vt:lpstr>Century Gothic</vt:lpstr>
      <vt:lpstr>Verdana</vt:lpstr>
      <vt:lpstr>1_Office Theme</vt:lpstr>
      <vt:lpstr>6th Grade Accelerated Math  Unit 14, Lesson 2  Finding an Unknown Value in an Equation  Volume 2, pg. 341  </vt:lpstr>
      <vt:lpstr>Benchmark</vt:lpstr>
      <vt:lpstr>PowerPoint Presentation</vt:lpstr>
      <vt:lpstr>PowerPoint Presentation</vt:lpstr>
      <vt:lpstr>Warm-Up</vt:lpstr>
      <vt:lpstr>PowerPoint Presentation</vt:lpstr>
      <vt:lpstr>Refresher</vt:lpstr>
      <vt:lpstr>PowerPoint Presentation</vt:lpstr>
      <vt:lpstr>PowerPoint Presentation</vt:lpstr>
      <vt:lpstr>Guided Instruction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Grade Accelerated Math  Unit 14, Lesson 2  Finding an Unknown Value in an Equation  Volume 2, pg. 341  </dc:title>
  <dc:creator>Karen McKenzie</dc:creator>
  <cp:lastModifiedBy>Cassie O'Connor</cp:lastModifiedBy>
  <cp:revision>6</cp:revision>
  <dcterms:created xsi:type="dcterms:W3CDTF">2015-03-17T18:51:18Z</dcterms:created>
  <dcterms:modified xsi:type="dcterms:W3CDTF">2022-07-02T04:57:43Z</dcterms:modified>
</cp:coreProperties>
</file>