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1.xml" ContentType="application/vnd.openxmlformats-officedocument.themeOverride+xml"/>
  <Override PartName="/ppt/notesSlides/notesSlide20.xml" ContentType="application/vnd.openxmlformats-officedocument.presentationml.notesSlide+xml"/>
  <Override PartName="/ppt/theme/themeOverride2.xml" ContentType="application/vnd.openxmlformats-officedocument.themeOverride+xml"/>
  <Override PartName="/ppt/notesSlides/notesSlide21.xml" ContentType="application/vnd.openxmlformats-officedocument.presentationml.notesSlide+xml"/>
  <Override PartName="/ppt/theme/themeOverride3.xml" ContentType="application/vnd.openxmlformats-officedocument.themeOverride+xml"/>
  <Override PartName="/ppt/notesSlides/notesSlide22.xml" ContentType="application/vnd.openxmlformats-officedocument.presentationml.notesSlide+xml"/>
  <Override PartName="/ppt/theme/themeOverride4.xml" ContentType="application/vnd.openxmlformats-officedocument.themeOverride+xml"/>
  <Override PartName="/ppt/notesSlides/notesSlide23.xml" ContentType="application/vnd.openxmlformats-officedocument.presentationml.notesSlide+xml"/>
  <Override PartName="/ppt/theme/themeOverride5.xml" ContentType="application/vnd.openxmlformats-officedocument.themeOverride+xml"/>
  <Override PartName="/ppt/notesSlides/notesSlide24.xml" ContentType="application/vnd.openxmlformats-officedocument.presentationml.notesSlide+xml"/>
  <Override PartName="/ppt/theme/themeOverride6.xml" ContentType="application/vnd.openxmlformats-officedocument.themeOverride+xml"/>
  <Override PartName="/ppt/notesSlides/notesSlide25.xml" ContentType="application/vnd.openxmlformats-officedocument.presentationml.notesSlide+xml"/>
  <Override PartName="/ppt/theme/themeOverride7.xml" ContentType="application/vnd.openxmlformats-officedocument.themeOverr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6" r:id="rId8"/>
    <p:sldId id="267" r:id="rId9"/>
    <p:sldId id="265" r:id="rId10"/>
    <p:sldId id="293" r:id="rId11"/>
    <p:sldId id="294" r:id="rId12"/>
    <p:sldId id="295" r:id="rId13"/>
    <p:sldId id="296" r:id="rId14"/>
    <p:sldId id="297" r:id="rId15"/>
    <p:sldId id="298" r:id="rId16"/>
    <p:sldId id="299" r:id="rId17"/>
    <p:sldId id="300" r:id="rId18"/>
    <p:sldId id="275" r:id="rId19"/>
    <p:sldId id="276" r:id="rId20"/>
    <p:sldId id="277" r:id="rId21"/>
    <p:sldId id="301" r:id="rId22"/>
    <p:sldId id="302" r:id="rId23"/>
    <p:sldId id="303" r:id="rId24"/>
    <p:sldId id="304" r:id="rId25"/>
    <p:sldId id="305" r:id="rId26"/>
    <p:sldId id="307" r:id="rId27"/>
    <p:sldId id="268" r:id="rId28"/>
    <p:sldId id="309" r:id="rId29"/>
    <p:sldId id="310" r:id="rId30"/>
    <p:sldId id="308" r:id="rId31"/>
    <p:sldId id="290" r:id="rId32"/>
    <p:sldId id="291"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hssq3OoqM7J6XYkDacLZ4V+Khz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56"/>
    <p:restoredTop sz="94622"/>
  </p:normalViewPr>
  <p:slideViewPr>
    <p:cSldViewPr snapToGrid="0">
      <p:cViewPr varScale="1">
        <p:scale>
          <a:sx n="77" d="100"/>
          <a:sy n="77" d="100"/>
        </p:scale>
        <p:origin x="768"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63"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59"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2303326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2790298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4181795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7872400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3187197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1330906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1291128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464384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36619379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2235121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37667519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extLst>
      <p:ext uri="{BB962C8B-B14F-4D97-AF65-F5344CB8AC3E}">
        <p14:creationId xmlns:p14="http://schemas.microsoft.com/office/powerpoint/2010/main" val="60356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extLst>
      <p:ext uri="{BB962C8B-B14F-4D97-AF65-F5344CB8AC3E}">
        <p14:creationId xmlns:p14="http://schemas.microsoft.com/office/powerpoint/2010/main" val="28738315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extLst>
      <p:ext uri="{BB962C8B-B14F-4D97-AF65-F5344CB8AC3E}">
        <p14:creationId xmlns:p14="http://schemas.microsoft.com/office/powerpoint/2010/main" val="15877719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extLst>
      <p:ext uri="{BB962C8B-B14F-4D97-AF65-F5344CB8AC3E}">
        <p14:creationId xmlns:p14="http://schemas.microsoft.com/office/powerpoint/2010/main" val="150166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extLst>
      <p:ext uri="{BB962C8B-B14F-4D97-AF65-F5344CB8AC3E}">
        <p14:creationId xmlns:p14="http://schemas.microsoft.com/office/powerpoint/2010/main" val="3821459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extLst>
      <p:ext uri="{BB962C8B-B14F-4D97-AF65-F5344CB8AC3E}">
        <p14:creationId xmlns:p14="http://schemas.microsoft.com/office/powerpoint/2010/main" val="4254825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tiff"/></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0.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21.xml"/><Relationship Id="rId7"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hemeOverride" Target="../theme/themeOverride2.xml"/><Relationship Id="rId6" Type="http://schemas.openxmlformats.org/officeDocument/2006/relationships/image" Target="../media/image36.png"/><Relationship Id="rId5"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hemeOverride" Target="../theme/themeOverride3.xml"/><Relationship Id="rId5" Type="http://schemas.openxmlformats.org/officeDocument/2006/relationships/image" Target="../media/image10.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hemeOverride" Target="../theme/themeOverride4.xml"/><Relationship Id="rId6" Type="http://schemas.openxmlformats.org/officeDocument/2006/relationships/image" Target="../media/image1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hemeOverride" Target="../theme/themeOverride5.xml"/><Relationship Id="rId6" Type="http://schemas.openxmlformats.org/officeDocument/2006/relationships/image" Target="../media/image10.png"/><Relationship Id="rId5"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hemeOverride" Target="../theme/themeOverride6.xml"/><Relationship Id="rId5" Type="http://schemas.openxmlformats.org/officeDocument/2006/relationships/image" Target="../media/image10.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hemeOverride" Target="../theme/themeOverride7.xml"/><Relationship Id="rId5" Type="http://schemas.openxmlformats.org/officeDocument/2006/relationships/image" Target="../media/image10.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0.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6</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Accelerated Math</a:t>
            </a:r>
            <a:br>
              <a:rPr lang="en-US" sz="3200" b="1" dirty="0">
                <a:solidFill>
                  <a:srgbClr val="417DBF"/>
                </a:solidFill>
                <a:latin typeface="Verdana"/>
                <a:ea typeface="Verdana"/>
                <a:cs typeface="Verdana"/>
                <a:sym typeface="Verdana"/>
              </a:rPr>
            </a:br>
            <a:endParaRPr sz="3200" b="1" dirty="0">
              <a:solidFill>
                <a:srgbClr val="417DBF"/>
              </a:solidFill>
              <a:latin typeface="Verdana"/>
              <a:ea typeface="Verdana"/>
              <a:cs typeface="Verdana"/>
              <a:sym typeface="Verdana"/>
            </a:endParaRPr>
          </a:p>
          <a:p>
            <a:pPr lvl="0" algn="ctr">
              <a:lnSpc>
                <a:spcPct val="100000"/>
              </a:lnSpc>
              <a:buClr>
                <a:srgbClr val="000000"/>
              </a:buClr>
            </a:pPr>
            <a:r>
              <a:rPr lang="en-US" sz="3200" b="1" dirty="0">
                <a:solidFill>
                  <a:srgbClr val="417DBF"/>
                </a:solidFill>
                <a:latin typeface="Verdana"/>
                <a:ea typeface="Verdana"/>
                <a:cs typeface="Verdana"/>
                <a:sym typeface="Verdana"/>
              </a:rPr>
              <a:t>Unit 14, Lesson 6</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rPr>
              <a:t>Solving One-Step Multiplication and Division Equations in One Variable Using Models</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2, pg. 367</a:t>
            </a:r>
            <a:endParaRPr sz="3200" dirty="0"/>
          </a:p>
          <a:p>
            <a:pPr algn="ctr">
              <a:lnSpc>
                <a:spcPct val="100000"/>
              </a:lnSpc>
              <a:buClr>
                <a:srgbClr val="000000"/>
              </a:buClr>
            </a:pPr>
            <a:endParaRPr sz="3200" b="1" dirty="0">
              <a:solidFill>
                <a:srgbClr val="417DBF"/>
              </a:solidFill>
              <a:latin typeface="Verdana"/>
              <a:ea typeface="Verdana"/>
              <a:cs typeface="Verdana"/>
              <a:sym typeface="Verdana"/>
            </a:endParaRPr>
          </a:p>
          <a:p>
            <a:pPr algn="ctr">
              <a:lnSpc>
                <a:spcPct val="75000"/>
              </a:lnSpc>
            </a:pPr>
            <a:endParaRPr sz="28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83677" y="1603832"/>
            <a:ext cx="3126752" cy="3644900"/>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736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50150" y="3723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367</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719974" y="1600200"/>
            <a:ext cx="8752052"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dirty="0">
                <a:solidFill>
                  <a:schemeClr val="dk1"/>
                </a:solidFill>
                <a:latin typeface="Verdana"/>
                <a:ea typeface="Verdana"/>
                <a:cs typeface="Verdana"/>
                <a:sym typeface="Verdana"/>
              </a:rPr>
              <a:t>MA.</a:t>
            </a:r>
            <a:r>
              <a:rPr lang="en-US" sz="2400" dirty="0">
                <a:solidFill>
                  <a:schemeClr val="dk1"/>
                </a:solidFill>
                <a:latin typeface="Verdana"/>
                <a:ea typeface="Verdana"/>
                <a:cs typeface="Verdana"/>
              </a:rPr>
              <a:t>6.AR.2.3 </a:t>
            </a:r>
            <a:endParaRPr sz="24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400" dirty="0">
                <a:solidFill>
                  <a:schemeClr val="dk1"/>
                </a:solidFill>
                <a:latin typeface="Verdana"/>
                <a:ea typeface="Verdana"/>
                <a:cs typeface="Verdana"/>
              </a:rPr>
              <a:t>Write and solve one-step equations in one variable within a mathematical or real-world context using multiplication and division, where all terms and solutions are integers.</a:t>
            </a:r>
            <a:endParaRPr sz="24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809807" y="341485"/>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634457" y="98852"/>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634457" y="1596390"/>
            <a:ext cx="9510846"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a:ea typeface="Verdana"/>
                <a:cs typeface="Verdana"/>
                <a:sym typeface="Verdana"/>
              </a:rPr>
              <a:t>MA.K12.MTR.1.1 Actively participate in effortful learning both individually and collectively.</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MA.K12.MTR.2.1 Demonstrate understanding by representing problems in multiple ways.</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MA.K12.MTR.4.1 Engage in discussions that reflect on the mathematical thinking of self and others.</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MA.K12.MTR.5.1 Use patterns and structure to help understand and connect mathematical concepts.</a:t>
            </a:r>
            <a:endParaRPr sz="2000" dirty="0"/>
          </a:p>
        </p:txBody>
      </p:sp>
      <p:sp>
        <p:nvSpPr>
          <p:cNvPr id="138" name="Google Shape;138;p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361375" y="4872"/>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614075" y="294072"/>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719974" y="1600200"/>
            <a:ext cx="8752052" cy="4205700"/>
          </a:xfrm>
          <a:prstGeom prst="rect">
            <a:avLst/>
          </a:prstGeom>
          <a:noFill/>
          <a:ln>
            <a:noFill/>
          </a:ln>
        </p:spPr>
        <p:txBody>
          <a:bodyPr spcFirstLastPara="1" wrap="square" lIns="91425" tIns="45700" rIns="91425" bIns="45700" anchor="t" anchorCtr="0">
            <a:noAutofit/>
          </a:bodyPr>
          <a:lstStyle/>
          <a:p>
            <a:pPr marL="471488" indent="-471488">
              <a:buSzPct val="1250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solve one-step multiplication and division equations using manipulatives.</a:t>
            </a:r>
          </a:p>
          <a:p>
            <a:pPr marL="471488" indent="-471488">
              <a:buSzPct val="1250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solve one-step multiplication and division equations using diagrams.</a:t>
            </a:r>
          </a:p>
          <a:p>
            <a:pPr marL="349250" indent="-342900">
              <a:buClr>
                <a:srgbClr val="434343"/>
              </a:buClr>
              <a:buSzPts val="3500"/>
              <a:buFont typeface="Wingdings" pitchFamily="2" charset="2"/>
              <a:buChar char="q"/>
            </a:pPr>
            <a:endParaRPr sz="2400" dirty="0">
              <a:latin typeface="Verdana" panose="020B0604030504040204" pitchFamily="34" charset="0"/>
              <a:ea typeface="Verdana" panose="020B0604030504040204" pitchFamily="34" charset="0"/>
              <a:cs typeface="Verdana" panose="020B0604030504040204" pitchFamily="34" charset="0"/>
            </a:endParaRPr>
          </a:p>
        </p:txBody>
      </p:sp>
      <p:sp>
        <p:nvSpPr>
          <p:cNvPr id="149" name="Google Shape;149;p2"/>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3785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390429"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14.6.1 Warm-Up: Math Fail</a:t>
            </a:r>
            <a:endParaRPr dirty="0"/>
          </a:p>
        </p:txBody>
      </p:sp>
      <p:pic>
        <p:nvPicPr>
          <p:cNvPr id="167" name="Google Shape;167;p4"/>
          <p:cNvPicPr preferRelativeResize="0"/>
          <p:nvPr/>
        </p:nvPicPr>
        <p:blipFill rotWithShape="1">
          <a:blip r:embed="rId3">
            <a:alphaModFix/>
          </a:blip>
          <a:srcRect/>
          <a:stretch/>
        </p:blipFill>
        <p:spPr>
          <a:xfrm>
            <a:off x="628034" y="265077"/>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390429" y="1386026"/>
            <a:ext cx="9667174" cy="5109051"/>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This children’s book has published a “math fail.”</a:t>
            </a:r>
          </a:p>
          <a:p>
            <a:endParaRPr lang="en-US" sz="2400" dirty="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pPr marL="457200" indent="-457200">
              <a:buFont typeface="+mj-lt"/>
              <a:buAutoNum type="arabicPeriod"/>
            </a:pPr>
            <a:r>
              <a:rPr lang="en-US" sz="2400" dirty="0">
                <a:latin typeface="Verdana"/>
                <a:ea typeface="Verdana"/>
                <a:cs typeface="Verdana"/>
              </a:rPr>
              <a:t>Explain the error shown in this image.</a:t>
            </a:r>
          </a:p>
          <a:p>
            <a:endParaRPr dirty="0"/>
          </a:p>
        </p:txBody>
      </p:sp>
      <p:sp>
        <p:nvSpPr>
          <p:cNvPr id="170" name="Google Shape;170;p4"/>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8" name="image11.png" descr="Calendar&#10;&#10;Description automatically generated">
            <a:extLst>
              <a:ext uri="{FF2B5EF4-FFF2-40B4-BE49-F238E27FC236}">
                <a16:creationId xmlns:a16="http://schemas.microsoft.com/office/drawing/2014/main" id="{8A6894D0-1714-5748-860E-3D799A56AC12}"/>
              </a:ext>
            </a:extLst>
          </p:cNvPr>
          <p:cNvPicPr>
            <a:picLocks noChangeAspect="1"/>
          </p:cNvPicPr>
          <p:nvPr/>
        </p:nvPicPr>
        <p:blipFill rotWithShape="1">
          <a:blip r:embed="rId4">
            <a:extLst>
              <a:ext uri="{28A0092B-C50C-407E-A947-70E740481C1C}">
                <a14:useLocalDpi xmlns:a14="http://schemas.microsoft.com/office/drawing/2010/main"/>
              </a:ext>
            </a:extLst>
          </a:blip>
          <a:srcRect t="15043" b="13973"/>
          <a:stretch/>
        </p:blipFill>
        <p:spPr bwMode="auto">
          <a:xfrm>
            <a:off x="3698966" y="1989149"/>
            <a:ext cx="4794069" cy="3482826"/>
          </a:xfrm>
          <a:prstGeom prst="rect">
            <a:avLst/>
          </a:prstGeom>
          <a:ln>
            <a:noFill/>
          </a:ln>
          <a:extLst>
            <a:ext uri="{53640926-AAD7-44D8-BBD7-CCE9431645EC}">
              <a14:shadowObscured xmlns:a14="http://schemas.microsoft.com/office/drawing/2010/main"/>
            </a:ext>
          </a:extLst>
        </p:spPr>
      </p:pic>
      <p:sp>
        <p:nvSpPr>
          <p:cNvPr id="10"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367</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449311" y="24493"/>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600" b="1" dirty="0">
                <a:solidFill>
                  <a:srgbClr val="33BEA6"/>
                </a:solidFill>
                <a:latin typeface="Verdana"/>
                <a:ea typeface="Verdana"/>
                <a:cs typeface="Verdana"/>
                <a:sym typeface="Verdana"/>
              </a:rPr>
              <a:t>14.6.2 Exploration: </a:t>
            </a:r>
            <a:r>
              <a:rPr lang="en-US" sz="3600" b="1" dirty="0">
                <a:solidFill>
                  <a:srgbClr val="33BEA6"/>
                </a:solidFill>
                <a:latin typeface="Verdana"/>
                <a:ea typeface="Verdana"/>
                <a:cs typeface="Verdana"/>
              </a:rPr>
              <a:t>Exploring Relationships</a:t>
            </a:r>
            <a:endParaRPr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3013" y="272618"/>
            <a:ext cx="752254" cy="752254"/>
          </a:xfrm>
          <a:prstGeom prst="rect">
            <a:avLst/>
          </a:prstGeom>
          <a:noFill/>
          <a:ln>
            <a:noFill/>
          </a:ln>
          <a:effectLst>
            <a:outerShdw blurRad="50800" dist="38100" dir="2700000" algn="tl" rotWithShape="0">
              <a:srgbClr val="000000">
                <a:alpha val="40000"/>
              </a:srgbClr>
            </a:outerShdw>
          </a:effectLst>
        </p:spPr>
      </p:pic>
      <p:sp>
        <p:nvSpPr>
          <p:cNvPr id="230" name="Google Shape;230;p10"/>
          <p:cNvSpPr/>
          <p:nvPr/>
        </p:nvSpPr>
        <p:spPr>
          <a:xfrm>
            <a:off x="-3415"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8" name="Google Shape;199;p7">
                <a:extLst>
                  <a:ext uri="{FF2B5EF4-FFF2-40B4-BE49-F238E27FC236}">
                    <a16:creationId xmlns:a16="http://schemas.microsoft.com/office/drawing/2014/main" id="{0CB106A0-EC05-E043-A579-FC76817A460D}"/>
                  </a:ext>
                </a:extLst>
              </p:cNvPr>
              <p:cNvSpPr txBox="1"/>
              <p:nvPr/>
            </p:nvSpPr>
            <p:spPr>
              <a:xfrm>
                <a:off x="2060448" y="1386026"/>
                <a:ext cx="8327136" cy="4893607"/>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rPr>
                  <a:t>Recall that when solving an equation, the mathematical sentence must remain balanced so that the two expressions remain equivalent. </a:t>
                </a:r>
              </a:p>
              <a:p>
                <a:r>
                  <a:rPr lang="en-US" sz="2400" dirty="0">
                    <a:latin typeface="Verdana"/>
                    <a:ea typeface="Verdana"/>
                    <a:cs typeface="Verdana"/>
                  </a:rPr>
                  <a:t> </a:t>
                </a:r>
              </a:p>
              <a:p>
                <a:pPr marL="457200" indent="-457200">
                  <a:buFont typeface="+mj-lt"/>
                  <a:buAutoNum type="arabicPeriod"/>
                </a:pPr>
                <a:r>
                  <a:rPr lang="en-US" sz="2400" dirty="0">
                    <a:latin typeface="Verdana"/>
                    <a:ea typeface="Verdana"/>
                    <a:cs typeface="Verdana"/>
                  </a:rPr>
                  <a:t>A model of the equation </a:t>
                </a:r>
                <a14:m>
                  <m:oMath xmlns:m="http://schemas.openxmlformats.org/officeDocument/2006/math">
                    <m:r>
                      <a:rPr lang="en-US" sz="2400">
                        <a:latin typeface="Cambria Math" panose="02040503050406030204" pitchFamily="18" charset="0"/>
                      </a:rPr>
                      <m:t>4</m:t>
                    </m:r>
                    <m:r>
                      <a:rPr lang="en-US" sz="2400">
                        <a:latin typeface="Cambria Math" panose="02040503050406030204" pitchFamily="18" charset="0"/>
                      </a:rPr>
                      <m:t>𝑥</m:t>
                    </m:r>
                    <m:r>
                      <a:rPr lang="en-US" sz="2400">
                        <a:latin typeface="Cambria Math" panose="02040503050406030204" pitchFamily="18" charset="0"/>
                      </a:rPr>
                      <m:t>=−16</m:t>
                    </m:r>
                  </m:oMath>
                </a14:m>
                <a:r>
                  <a:rPr lang="en-US" sz="2400" dirty="0">
                    <a:latin typeface="Verdana"/>
                    <a:ea typeface="Verdana"/>
                    <a:cs typeface="Verdana"/>
                  </a:rPr>
                  <a:t> is shown using algebra tiles.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61963"/>
                <a:r>
                  <a:rPr lang="en-US" sz="2400" dirty="0">
                    <a:latin typeface="Verdana" panose="020B0604030504040204" pitchFamily="34" charset="0"/>
                    <a:ea typeface="Verdana" panose="020B0604030504040204" pitchFamily="34" charset="0"/>
                    <a:cs typeface="Verdana" panose="020B0604030504040204" pitchFamily="34" charset="0"/>
                  </a:rPr>
                  <a:t>The      tile represents the variable,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and the     represents the constant term where each tile is </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unit. </a:t>
                </a:r>
                <a:endParaRPr lang="en-US" sz="2400" dirty="0">
                  <a:latin typeface="Times New Roman" panose="02020603050405020304" pitchFamily="18" charset="0"/>
                  <a:ea typeface="Times New Roman" panose="02020603050405020304" pitchFamily="18" charset="0"/>
                </a:endParaRPr>
              </a:p>
              <a:p>
                <a:pPr marL="457200" indent="-457200">
                  <a:buFont typeface="+mj-lt"/>
                  <a:buAutoNum type="arabicPeriod"/>
                </a:pPr>
                <a:endParaRPr lang="en-US" sz="2400" dirty="0">
                  <a:latin typeface="Verdana"/>
                  <a:ea typeface="Verdana"/>
                  <a:cs typeface="Verdana"/>
                </a:endParaRPr>
              </a:p>
              <a:p>
                <a:endParaRPr sz="2400" dirty="0"/>
              </a:p>
            </p:txBody>
          </p:sp>
        </mc:Choice>
        <mc:Fallback xmlns="">
          <p:sp>
            <p:nvSpPr>
              <p:cNvPr id="8" name="Google Shape;199;p7">
                <a:extLst>
                  <a:ext uri="{FF2B5EF4-FFF2-40B4-BE49-F238E27FC236}">
                    <a16:creationId xmlns:a16="http://schemas.microsoft.com/office/drawing/2014/main" xmlns:a14="http://schemas.microsoft.com/office/drawing/2010/main" xmlns="" id="{0CB106A0-EC05-E043-A579-FC76817A460D}"/>
                  </a:ext>
                </a:extLst>
              </p:cNvPr>
              <p:cNvSpPr txBox="1">
                <a:spLocks noRot="1" noChangeAspect="1" noMove="1" noResize="1" noEditPoints="1" noAdjustHandles="1" noChangeArrowheads="1" noChangeShapeType="1" noTextEdit="1"/>
              </p:cNvSpPr>
              <p:nvPr/>
            </p:nvSpPr>
            <p:spPr>
              <a:xfrm>
                <a:off x="2060448" y="1386026"/>
                <a:ext cx="8327136" cy="4893607"/>
              </a:xfrm>
              <a:prstGeom prst="rect">
                <a:avLst/>
              </a:prstGeom>
              <a:blipFill rotWithShape="0">
                <a:blip r:embed="rId4"/>
                <a:stretch>
                  <a:fillRect l="-1171" t="-996" r="-805"/>
                </a:stretch>
              </a:blipFill>
              <a:ln>
                <a:noFill/>
              </a:ln>
            </p:spPr>
            <p:txBody>
              <a:bodyPr/>
              <a:lstStyle/>
              <a:p>
                <a:r>
                  <a:rPr lang="en-US">
                    <a:noFill/>
                  </a:rPr>
                  <a:t> </a:t>
                </a:r>
              </a:p>
            </p:txBody>
          </p:sp>
        </mc:Fallback>
      </mc:AlternateContent>
      <p:pic>
        <p:nvPicPr>
          <p:cNvPr id="9" name="image9.png" descr="Icon&#10;&#10;Description automatically generated">
            <a:extLst>
              <a:ext uri="{FF2B5EF4-FFF2-40B4-BE49-F238E27FC236}">
                <a16:creationId xmlns:a16="http://schemas.microsoft.com/office/drawing/2014/main" id="{D7A631E2-E7F0-7646-9C46-D59EB027C5D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272242" y="3679996"/>
            <a:ext cx="469899" cy="1056066"/>
          </a:xfrm>
          <a:prstGeom prst="rect">
            <a:avLst/>
          </a:prstGeom>
          <a:ln/>
        </p:spPr>
      </p:pic>
      <p:pic>
        <p:nvPicPr>
          <p:cNvPr id="10" name="image12.png" descr="Icon&#10;&#10;Description automatically generated">
            <a:extLst>
              <a:ext uri="{FF2B5EF4-FFF2-40B4-BE49-F238E27FC236}">
                <a16:creationId xmlns:a16="http://schemas.microsoft.com/office/drawing/2014/main" id="{54FB7DED-CEB0-6943-A62D-680003FCC8DD}"/>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9818027" y="4257624"/>
            <a:ext cx="469899" cy="478438"/>
          </a:xfrm>
          <a:prstGeom prst="rect">
            <a:avLst/>
          </a:prstGeom>
          <a:ln/>
        </p:spPr>
      </p:pic>
      <p:sp>
        <p:nvSpPr>
          <p:cNvPr id="12"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368</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335314" y="520394"/>
                <a:ext cx="9672038" cy="4001055"/>
              </a:xfrm>
              <a:prstGeom prst="rect">
                <a:avLst/>
              </a:prstGeom>
              <a:noFill/>
              <a:ln>
                <a:noFill/>
              </a:ln>
            </p:spPr>
            <p:txBody>
              <a:bodyPr spcFirstLastPara="1" wrap="square" lIns="91425" tIns="45700" rIns="91425" bIns="45700" anchor="t" anchorCtr="0">
                <a:spAutoFit/>
              </a:bodyPr>
              <a:lstStyle/>
              <a:p>
                <a:pPr marL="457200" indent="-457200">
                  <a:buFont typeface="+mj-lt"/>
                  <a:buAutoNum type="alphaLcPeriod"/>
                </a:pPr>
                <a:endParaRPr lang="en-US" sz="2400" dirty="0">
                  <a:latin typeface="Verdana"/>
                  <a:ea typeface="Verdana"/>
                  <a:cs typeface="Verdana"/>
                </a:endParaRPr>
              </a:p>
              <a:p>
                <a:pPr marL="457200" indent="-457200">
                  <a:buFont typeface="+mj-lt"/>
                  <a:buAutoNum type="alphaLcPeriod"/>
                </a:pPr>
                <a:endParaRPr lang="en-US" sz="2400" dirty="0">
                  <a:latin typeface="Verdana"/>
                  <a:ea typeface="Verdana"/>
                  <a:cs typeface="Verdana"/>
                </a:endParaRPr>
              </a:p>
              <a:p>
                <a:pPr marL="457200" indent="-457200">
                  <a:buFont typeface="+mj-lt"/>
                  <a:buAutoNum type="alphaLcPeriod"/>
                </a:pPr>
                <a:endParaRPr lang="en-US" sz="2400" dirty="0">
                  <a:latin typeface="Verdana"/>
                  <a:ea typeface="Verdana"/>
                  <a:cs typeface="Verdana"/>
                </a:endParaRPr>
              </a:p>
              <a:p>
                <a:pPr marL="457200" indent="-457200">
                  <a:buFont typeface="+mj-lt"/>
                  <a:buAutoNum type="alphaLcPeriod"/>
                </a:pPr>
                <a:endParaRPr lang="en-US" sz="2400" dirty="0">
                  <a:latin typeface="Verdana"/>
                  <a:ea typeface="Verdana"/>
                  <a:cs typeface="Verdana"/>
                </a:endParaRPr>
              </a:p>
              <a:p>
                <a:pPr marL="457200" indent="-457200">
                  <a:buFont typeface="+mj-lt"/>
                  <a:buAutoNum type="alphaLcPeriod"/>
                </a:pPr>
                <a:endParaRPr lang="en-US" sz="2400" dirty="0">
                  <a:latin typeface="Verdana"/>
                  <a:ea typeface="Verdana"/>
                  <a:cs typeface="Verdana"/>
                </a:endParaRPr>
              </a:p>
              <a:p>
                <a:pPr marL="457200" indent="-457200">
                  <a:buFont typeface="+mj-lt"/>
                  <a:buAutoNum type="alphaLcPeriod"/>
                </a:pPr>
                <a:endParaRPr lang="en-US" sz="2400" dirty="0">
                  <a:latin typeface="Verdana"/>
                  <a:ea typeface="Verdana"/>
                  <a:cs typeface="Verdana"/>
                </a:endParaRPr>
              </a:p>
              <a:p>
                <a:pPr marL="457200" indent="-457200">
                  <a:buFont typeface="+mj-lt"/>
                  <a:buAutoNum type="alphaLcPeriod"/>
                </a:pPr>
                <a:endParaRPr lang="en-US" sz="2400" dirty="0">
                  <a:latin typeface="Verdana"/>
                  <a:ea typeface="Verdana"/>
                  <a:cs typeface="Verdana"/>
                </a:endParaRPr>
              </a:p>
              <a:p>
                <a:endParaRPr lang="en-US" sz="2400" dirty="0">
                  <a:latin typeface="Verdana"/>
                  <a:ea typeface="Verdana"/>
                  <a:cs typeface="Verdana"/>
                </a:endParaRPr>
              </a:p>
              <a:p>
                <a:pPr marL="914400" indent="-452438">
                  <a:buFont typeface="+mj-lt"/>
                  <a:buAutoNum type="alphaLcPeriod"/>
                </a:pPr>
                <a:r>
                  <a:rPr lang="en-US" sz="2400" dirty="0">
                    <a:latin typeface="Verdana"/>
                    <a:ea typeface="Verdana"/>
                    <a:cs typeface="Verdana"/>
                  </a:rPr>
                  <a:t>What operation is being applied to the </a:t>
                </a:r>
                <a14:m>
                  <m:oMath xmlns:m="http://schemas.openxmlformats.org/officeDocument/2006/math">
                    <m:r>
                      <a:rPr lang="en-US" sz="2400">
                        <a:latin typeface="Cambria Math" panose="02040503050406030204" pitchFamily="18" charset="0"/>
                        <a:ea typeface="Verdana"/>
                        <a:cs typeface="Verdana"/>
                      </a:rPr>
                      <m:t>4</m:t>
                    </m:r>
                  </m:oMath>
                </a14:m>
                <a:r>
                  <a:rPr lang="en-US" sz="2400" dirty="0">
                    <a:latin typeface="Verdana"/>
                    <a:ea typeface="Verdana"/>
                    <a:cs typeface="Verdana"/>
                  </a:rPr>
                  <a:t> and the </a:t>
                </a:r>
                <a14:m>
                  <m:oMath xmlns:m="http://schemas.openxmlformats.org/officeDocument/2006/math">
                    <m:r>
                      <a:rPr lang="en-US" sz="2400">
                        <a:latin typeface="Cambria Math" panose="02040503050406030204" pitchFamily="18" charset="0"/>
                        <a:ea typeface="Verdana"/>
                        <a:cs typeface="Verdana"/>
                      </a:rPr>
                      <m:t>𝑥</m:t>
                    </m:r>
                  </m:oMath>
                </a14:m>
                <a:r>
                  <a:rPr lang="en-US" sz="2400" dirty="0">
                    <a:latin typeface="Verdana"/>
                    <a:ea typeface="Verdana"/>
                    <a:cs typeface="Verdana"/>
                  </a:rPr>
                  <a:t> in the equation </a:t>
                </a:r>
                <a14:m>
                  <m:oMath xmlns:m="http://schemas.openxmlformats.org/officeDocument/2006/math">
                    <m:r>
                      <a:rPr lang="en-US" sz="2400">
                        <a:latin typeface="Cambria Math" panose="02040503050406030204" pitchFamily="18" charset="0"/>
                        <a:ea typeface="Verdana"/>
                        <a:cs typeface="Verdana"/>
                      </a:rPr>
                      <m:t>4</m:t>
                    </m:r>
                    <m:r>
                      <a:rPr lang="en-US" sz="2400">
                        <a:latin typeface="Cambria Math" panose="02040503050406030204" pitchFamily="18" charset="0"/>
                        <a:ea typeface="Verdana"/>
                        <a:cs typeface="Verdana"/>
                      </a:rPr>
                      <m:t>𝑥</m:t>
                    </m:r>
                    <m:r>
                      <a:rPr lang="en-US" sz="2400">
                        <a:latin typeface="Cambria Math" panose="02040503050406030204" pitchFamily="18" charset="0"/>
                        <a:ea typeface="Verdana"/>
                        <a:cs typeface="Verdana"/>
                      </a:rPr>
                      <m:t>=−16</m:t>
                    </m:r>
                  </m:oMath>
                </a14:m>
                <a:r>
                  <a:rPr lang="en-US" sz="2400" dirty="0">
                    <a:latin typeface="Verdana"/>
                    <a:ea typeface="Verdana"/>
                    <a:cs typeface="Verdana"/>
                  </a:rPr>
                  <a:t>?</a:t>
                </a:r>
              </a:p>
              <a:p>
                <a:endParaRPr dirty="0"/>
              </a:p>
            </p:txBody>
          </p:sp>
        </mc:Choice>
        <mc:Fallback xmlns="">
          <p:sp>
            <p:nvSpPr>
              <p:cNvPr id="208" name="Google Shape;208;p8"/>
              <p:cNvSpPr txBox="1">
                <a:spLocks noRot="1" noChangeAspect="1" noMove="1" noResize="1" noEditPoints="1" noAdjustHandles="1" noChangeArrowheads="1" noChangeShapeType="1" noTextEdit="1"/>
              </p:cNvSpPr>
              <p:nvPr/>
            </p:nvSpPr>
            <p:spPr>
              <a:xfrm>
                <a:off x="1335314" y="520394"/>
                <a:ext cx="9672038" cy="4001055"/>
              </a:xfrm>
              <a:prstGeom prst="rect">
                <a:avLst/>
              </a:prstGeom>
              <a:blipFill rotWithShape="0">
                <a:blip r:embed="rId3"/>
                <a:stretch>
                  <a:fillRect/>
                </a:stretch>
              </a:blipFill>
              <a:ln>
                <a:noFill/>
              </a:ln>
            </p:spPr>
            <p:txBody>
              <a:bodyPr/>
              <a:lstStyle/>
              <a:p>
                <a:r>
                  <a:rPr lang="en-US">
                    <a:noFill/>
                  </a:rPr>
                  <a:t> </a:t>
                </a:r>
              </a:p>
            </p:txBody>
          </p:sp>
        </mc:Fallback>
      </mc:AlternateContent>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6" name="image20.png" descr="A picture containing table&#10;&#10;Description automatically generated">
            <a:extLst>
              <a:ext uri="{FF2B5EF4-FFF2-40B4-BE49-F238E27FC236}">
                <a16:creationId xmlns:a16="http://schemas.microsoft.com/office/drawing/2014/main" id="{3D33DC60-FFF7-BE47-B27B-4B5CFDE41DB9}"/>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91455" y="221884"/>
            <a:ext cx="4809090" cy="3048091"/>
          </a:xfrm>
          <a:prstGeom prst="rect">
            <a:avLst/>
          </a:prstGeom>
          <a:ln/>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368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03086" y="520393"/>
            <a:ext cx="5763365" cy="2308284"/>
          </a:xfrm>
          <a:prstGeom prst="rect">
            <a:avLst/>
          </a:prstGeom>
          <a:noFill/>
          <a:ln>
            <a:noFill/>
          </a:ln>
        </p:spPr>
        <p:txBody>
          <a:bodyPr spcFirstLastPara="1" wrap="square" lIns="91425" tIns="45700" rIns="91425" bIns="45700" anchor="t" anchorCtr="0">
            <a:spAutoFit/>
          </a:bodyPr>
          <a:lstStyle/>
          <a:p>
            <a:pPr marL="914400"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The algebra tiles are arranged on the equation mat into equal-sized groups on both sides of the equation. How many groups were created?     </a:t>
            </a:r>
          </a:p>
          <a:p>
            <a:endParaRPr sz="2400" dirty="0">
              <a:latin typeface="Verdana" panose="020B0604030504040204" pitchFamily="34" charset="0"/>
              <a:ea typeface="Verdana" panose="020B0604030504040204" pitchFamily="34" charset="0"/>
              <a:cs typeface="Verdana" panose="020B0604030504040204" pitchFamily="34" charset="0"/>
            </a:endParaRPr>
          </a:p>
        </p:txBody>
      </p:sp>
      <p:sp>
        <p:nvSpPr>
          <p:cNvPr id="209" name="Google Shape;209;p8"/>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7" name="image8.png" descr="A picture containing diagram&#10;&#10;Description automatically generated">
            <a:extLst>
              <a:ext uri="{FF2B5EF4-FFF2-40B4-BE49-F238E27FC236}">
                <a16:creationId xmlns:a16="http://schemas.microsoft.com/office/drawing/2014/main" id="{45D82386-B387-CD41-B6F6-20CF42820460}"/>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6866450" y="158837"/>
            <a:ext cx="3530600" cy="5073650"/>
          </a:xfrm>
          <a:prstGeom prst="rect">
            <a:avLst/>
          </a:prstGeom>
          <a:ln/>
        </p:spPr>
      </p:pic>
      <p:sp>
        <p:nvSpPr>
          <p:cNvPr id="9"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368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234133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422400" y="520394"/>
                <a:ext cx="9502974" cy="3785611"/>
              </a:xfrm>
              <a:prstGeom prst="rect">
                <a:avLst/>
              </a:prstGeom>
              <a:noFill/>
              <a:ln>
                <a:noFill/>
              </a:ln>
            </p:spPr>
            <p:txBody>
              <a:bodyPr spcFirstLastPara="1" wrap="square" lIns="91425" tIns="45700" rIns="91425" bIns="45700" anchor="t" anchorCtr="0">
                <a:spAutoFit/>
              </a:bodyPr>
              <a:lstStyle/>
              <a:p>
                <a:pPr marL="914400" indent="-452438">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Use algebra tiles to sketch the solution of the equation.</a:t>
                </a:r>
              </a:p>
              <a:p>
                <a:pPr marL="914400" indent="-452438">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value of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422400" y="520394"/>
                <a:ext cx="9502974" cy="3785611"/>
              </a:xfrm>
              <a:prstGeom prst="rect">
                <a:avLst/>
              </a:prstGeom>
              <a:blipFill rotWithShape="0">
                <a:blip r:embed="rId3"/>
                <a:stretch>
                  <a:fillRect t="-1288" b="-2576"/>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8" name="image5.png" descr="Chart, scatter chart&#10;&#10;Description automatically generated">
            <a:extLst>
              <a:ext uri="{FF2B5EF4-FFF2-40B4-BE49-F238E27FC236}">
                <a16:creationId xmlns:a16="http://schemas.microsoft.com/office/drawing/2014/main" id="{D8730874-69DA-A149-90FE-F7F9A32AE62D}"/>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329944" y="1320552"/>
            <a:ext cx="3687887" cy="2386744"/>
          </a:xfrm>
          <a:prstGeom prst="rect">
            <a:avLst/>
          </a:prstGeom>
          <a:ln/>
        </p:spPr>
      </p:pic>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368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49729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204686" y="520394"/>
                <a:ext cx="9938402" cy="400069"/>
              </a:xfrm>
              <a:prstGeom prst="rect">
                <a:avLst/>
              </a:prstGeom>
              <a:noFill/>
              <a:ln>
                <a:noFill/>
              </a:ln>
            </p:spPr>
            <p:txBody>
              <a:bodyPr spcFirstLastPara="1" wrap="square" lIns="91425" tIns="45700" rIns="91425" bIns="45700" anchor="t" anchorCtr="0">
                <a:spAutoFit/>
              </a:bodyPr>
              <a:lstStyle/>
              <a:p>
                <a:pPr marL="466725"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hanger diagram represents the equation </a:t>
                </a:r>
                <a14:m>
                  <m:oMath xmlns:m="http://schemas.openxmlformats.org/officeDocument/2006/math">
                    <m:r>
                      <a:rPr lang="en-US" sz="2000" i="1">
                        <a:latin typeface="Cambria Math" panose="02040503050406030204" pitchFamily="18" charset="0"/>
                      </a:rPr>
                      <m:t>5</m:t>
                    </m:r>
                    <m:r>
                      <a:rPr lang="en-US" sz="2000" i="1">
                        <a:latin typeface="Cambria Math" panose="02040503050406030204" pitchFamily="18" charset="0"/>
                      </a:rPr>
                      <m:t>𝑥</m:t>
                    </m:r>
                    <m:r>
                      <a:rPr lang="en-US" sz="2000" i="1">
                        <a:latin typeface="Cambria Math" panose="02040503050406030204" pitchFamily="18" charset="0"/>
                      </a:rPr>
                      <m:t>=15</m:t>
                    </m:r>
                    <m:r>
                      <a:rPr lang="en-US" sz="2000">
                        <a:latin typeface="Cambria Math" panose="02040503050406030204" pitchFamily="18" charset="0"/>
                      </a:rPr>
                      <m:t>.</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204686" y="520394"/>
                <a:ext cx="9938402" cy="400069"/>
              </a:xfrm>
              <a:prstGeom prst="rect">
                <a:avLst/>
              </a:prstGeom>
              <a:blipFill rotWithShape="0">
                <a:blip r:embed="rId3"/>
                <a:stretch>
                  <a:fillRect l="-552" t="-9091" b="-27273"/>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7" name="Picture 6" descr="A picture containing text, clock&#10;&#10;Description automatically generated">
            <a:extLst>
              <a:ext uri="{FF2B5EF4-FFF2-40B4-BE49-F238E27FC236}">
                <a16:creationId xmlns:a16="http://schemas.microsoft.com/office/drawing/2014/main" id="{1D300E9F-B019-6D46-A463-32EA56C590C1}"/>
              </a:ext>
            </a:extLst>
          </p:cNvPr>
          <p:cNvPicPr>
            <a:picLocks noChangeAspect="1"/>
          </p:cNvPicPr>
          <p:nvPr/>
        </p:nvPicPr>
        <p:blipFill>
          <a:blip r:embed="rId4"/>
          <a:stretch>
            <a:fillRect/>
          </a:stretch>
        </p:blipFill>
        <p:spPr>
          <a:xfrm>
            <a:off x="4868998" y="1230157"/>
            <a:ext cx="2454004" cy="4389337"/>
          </a:xfrm>
          <a:prstGeom prst="rect">
            <a:avLst/>
          </a:prstGeom>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369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33286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Google Shape;208;p8">
                <a:extLst>
                  <a:ext uri="{FF2B5EF4-FFF2-40B4-BE49-F238E27FC236}">
                    <a16:creationId xmlns:a16="http://schemas.microsoft.com/office/drawing/2014/main" id="{4F426DEF-CF2B-0F49-9B77-0BCC03883CB6}"/>
                  </a:ext>
                </a:extLst>
              </p:cNvPr>
              <p:cNvSpPr txBox="1"/>
              <p:nvPr/>
            </p:nvSpPr>
            <p:spPr>
              <a:xfrm>
                <a:off x="1929878" y="526351"/>
                <a:ext cx="8332244" cy="4708941"/>
              </a:xfrm>
              <a:prstGeom prst="rect">
                <a:avLst/>
              </a:prstGeom>
              <a:noFill/>
              <a:ln>
                <a:noFill/>
              </a:ln>
            </p:spPr>
            <p:txBody>
              <a:bodyPr spcFirstLastPara="1" wrap="square" lIns="91425" tIns="45700" rIns="91425" bIns="45700" anchor="t" anchorCtr="0">
                <a:spAutoFit/>
              </a:bodyPr>
              <a:lstStyle/>
              <a:p>
                <a:pPr marL="914400" indent="-452438">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The left side of the hanger is broken into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equal parts. If </a:t>
                </a:r>
                <a14:m>
                  <m:oMath xmlns:m="http://schemas.openxmlformats.org/officeDocument/2006/math">
                    <m:r>
                      <a:rPr lang="en-US" sz="2000" i="1">
                        <a:latin typeface="Cambria Math" panose="02040503050406030204" pitchFamily="18"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is broken into the same number of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equal parts, each part will have the same weight as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one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block. Splitting each side of the hanger into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parts is the same as                          each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side of the equation by          </a:t>
                </a:r>
              </a:p>
              <a:p>
                <a:pPr marL="466725"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9" name="Google Shape;208;p8">
                <a:extLst>
                  <a:ext uri="{FF2B5EF4-FFF2-40B4-BE49-F238E27FC236}">
                    <a16:creationId xmlns:a16="http://schemas.microsoft.com/office/drawing/2014/main" id="{4F426DEF-CF2B-0F49-9B77-0BCC03883CB6}"/>
                  </a:ext>
                </a:extLst>
              </p:cNvPr>
              <p:cNvSpPr txBox="1">
                <a:spLocks noRot="1" noChangeAspect="1" noMove="1" noResize="1" noEditPoints="1" noAdjustHandles="1" noChangeArrowheads="1" noChangeShapeType="1" noTextEdit="1"/>
              </p:cNvSpPr>
              <p:nvPr/>
            </p:nvSpPr>
            <p:spPr>
              <a:xfrm>
                <a:off x="405878" y="526350"/>
                <a:ext cx="8332244" cy="4708941"/>
              </a:xfrm>
              <a:prstGeom prst="rect">
                <a:avLst/>
              </a:prstGeom>
              <a:blipFill>
                <a:blip r:embed="rId3"/>
                <a:stretch>
                  <a:fillRect t="-806"/>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197DEDEB-AB5F-6F4D-A536-EC68DADB4EA5}"/>
                  </a:ext>
                </a:extLst>
              </p:cNvPr>
              <p:cNvSpPr/>
              <p:nvPr/>
            </p:nvSpPr>
            <p:spPr>
              <a:xfrm>
                <a:off x="8520928" y="3300274"/>
                <a:ext cx="869315" cy="1017905"/>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endParaRPr lang="en-US" sz="2000">
                  <a:latin typeface="Verdana" panose="020B0604030504040204" pitchFamily="34" charset="0"/>
                  <a:ea typeface="Verdana" panose="020B0604030504040204" pitchFamily="34" charset="0"/>
                  <a:cs typeface="Verdana" panose="020B0604030504040204" pitchFamily="34" charset="0"/>
                </a:endParaRPr>
              </a:p>
              <a:p>
                <a:pPr marL="342900" indent="-342900">
                  <a:buFont typeface="Courier New" panose="02070309020205020404" pitchFamily="49" charset="0"/>
                  <a:buChar char="o"/>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oMath>
                </a14:m>
                <a:endParaRPr lang="en-US" sz="200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15</m:t>
                    </m:r>
                  </m:oMath>
                </a14:m>
                <a:endParaRPr lang="en-US" sz="200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Rounded Rectangle 9">
                <a:extLst>
                  <a:ext uri="{FF2B5EF4-FFF2-40B4-BE49-F238E27FC236}">
                    <a16:creationId xmlns:a16="http://schemas.microsoft.com/office/drawing/2014/main" id="{197DEDEB-AB5F-6F4D-A536-EC68DADB4EA5}"/>
                  </a:ext>
                </a:extLst>
              </p:cNvPr>
              <p:cNvSpPr>
                <a:spLocks noRot="1" noChangeAspect="1" noMove="1" noResize="1" noEditPoints="1" noAdjustHandles="1" noChangeArrowheads="1" noChangeShapeType="1" noTextEdit="1"/>
              </p:cNvSpPr>
              <p:nvPr/>
            </p:nvSpPr>
            <p:spPr>
              <a:xfrm>
                <a:off x="6996927" y="3300273"/>
                <a:ext cx="869315" cy="1017905"/>
              </a:xfrm>
              <a:prstGeom prst="roundRect">
                <a:avLst/>
              </a:prstGeom>
              <a:blipFill>
                <a:blip r:embed="rId5"/>
                <a:stretch>
                  <a:fillRect l="-1429" b="-10976"/>
                </a:stretch>
              </a:blipFill>
              <a:ln w="12700"/>
            </p:spPr>
            <p:txBody>
              <a:bodyPr/>
              <a:lstStyle/>
              <a:p>
                <a:r>
                  <a:rPr lang="en-US">
                    <a:noFill/>
                  </a:rPr>
                  <a:t> </a:t>
                </a:r>
              </a:p>
            </p:txBody>
          </p:sp>
        </mc:Fallback>
      </mc:AlternateContent>
      <p:sp>
        <p:nvSpPr>
          <p:cNvPr id="11" name="Rounded Rectangle 10">
            <a:extLst>
              <a:ext uri="{FF2B5EF4-FFF2-40B4-BE49-F238E27FC236}">
                <a16:creationId xmlns:a16="http://schemas.microsoft.com/office/drawing/2014/main" id="{B66CE247-57C5-7C40-AF65-A99E8D2A29D9}"/>
              </a:ext>
            </a:extLst>
          </p:cNvPr>
          <p:cNvSpPr/>
          <p:nvPr/>
        </p:nvSpPr>
        <p:spPr>
          <a:xfrm>
            <a:off x="5595124" y="3422195"/>
            <a:ext cx="2150773" cy="774065"/>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dividing</a:t>
            </a:r>
            <a:endParaRPr lang="en-US" sz="2000" dirty="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multiplying</a:t>
            </a:r>
            <a:endParaRPr lang="en-US" sz="2000" dirty="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F0ADF493-894A-A747-9EEB-92EB2FD3C5F6}"/>
                  </a:ext>
                </a:extLst>
              </p:cNvPr>
              <p:cNvSpPr/>
              <p:nvPr/>
            </p:nvSpPr>
            <p:spPr>
              <a:xfrm>
                <a:off x="5970799" y="4275811"/>
                <a:ext cx="1123504" cy="1047115"/>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ea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ea typeface="Times New Roman" panose="02020603050405020304" pitchFamily="18" charset="0"/>
                  <a:cs typeface="Times New Roman" panose="02020603050405020304" pitchFamily="18" charset="0"/>
                </a:endParaRPr>
              </a:p>
            </p:txBody>
          </p:sp>
        </mc:Choice>
        <mc:Fallback xmlns="">
          <p:sp>
            <p:nvSpPr>
              <p:cNvPr id="12" name="Rounded Rectangle 11">
                <a:extLst>
                  <a:ext uri="{FF2B5EF4-FFF2-40B4-BE49-F238E27FC236}">
                    <a16:creationId xmlns:a16="http://schemas.microsoft.com/office/drawing/2014/main" id="{F0ADF493-894A-A747-9EEB-92EB2FD3C5F6}"/>
                  </a:ext>
                </a:extLst>
              </p:cNvPr>
              <p:cNvSpPr>
                <a:spLocks noRot="1" noChangeAspect="1" noMove="1" noResize="1" noEditPoints="1" noAdjustHandles="1" noChangeArrowheads="1" noChangeShapeType="1" noTextEdit="1"/>
              </p:cNvSpPr>
              <p:nvPr/>
            </p:nvSpPr>
            <p:spPr>
              <a:xfrm>
                <a:off x="4446799" y="4275810"/>
                <a:ext cx="1123504" cy="1047115"/>
              </a:xfrm>
              <a:prstGeom prst="roundRect">
                <a:avLst/>
              </a:prstGeom>
              <a:blipFill>
                <a:blip r:embed="rId6"/>
                <a:stretch>
                  <a:fillRect t="-1190" b="-9524"/>
                </a:stretch>
              </a:blipFill>
              <a:ln w="127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6180CEC9-EA54-AE43-B65F-58469FEC90DB}"/>
                  </a:ext>
                </a:extLst>
              </p:cNvPr>
              <p:cNvSpPr/>
              <p:nvPr/>
            </p:nvSpPr>
            <p:spPr>
              <a:xfrm>
                <a:off x="8251968" y="786131"/>
                <a:ext cx="954405" cy="1040130"/>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3</m:t>
                    </m:r>
                  </m:oMath>
                </a14:m>
                <a:endParaRPr lang="en-US" sz="1800" dirty="0">
                  <a:ea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5</m:t>
                    </m:r>
                  </m:oMath>
                </a14:m>
                <a:endParaRPr lang="en-US" sz="1800" dirty="0">
                  <a:ea typeface="Times New Roman" panose="020206030504050203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15</m:t>
                    </m:r>
                  </m:oMath>
                </a14:m>
                <a:endParaRPr lang="en-US" sz="1800" dirty="0">
                  <a:ea typeface="Times New Roman" panose="02020603050405020304" pitchFamily="18" charset="0"/>
                  <a:cs typeface="Times New Roman" panose="02020603050405020304" pitchFamily="18" charset="0"/>
                </a:endParaRPr>
              </a:p>
            </p:txBody>
          </p:sp>
        </mc:Choice>
        <mc:Fallback xmlns="">
          <p:sp>
            <p:nvSpPr>
              <p:cNvPr id="13" name="Rounded Rectangle 12">
                <a:extLst>
                  <a:ext uri="{FF2B5EF4-FFF2-40B4-BE49-F238E27FC236}">
                    <a16:creationId xmlns:a16="http://schemas.microsoft.com/office/drawing/2014/main" id="{6180CEC9-EA54-AE43-B65F-58469FEC90DB}"/>
                  </a:ext>
                </a:extLst>
              </p:cNvPr>
              <p:cNvSpPr>
                <a:spLocks noRot="1" noChangeAspect="1" noMove="1" noResize="1" noEditPoints="1" noAdjustHandles="1" noChangeArrowheads="1" noChangeShapeType="1" noTextEdit="1"/>
              </p:cNvSpPr>
              <p:nvPr/>
            </p:nvSpPr>
            <p:spPr>
              <a:xfrm>
                <a:off x="6727967" y="786131"/>
                <a:ext cx="954405" cy="1040130"/>
              </a:xfrm>
              <a:prstGeom prst="roundRect">
                <a:avLst/>
              </a:prstGeom>
              <a:blipFill>
                <a:blip r:embed="rId7"/>
                <a:stretch>
                  <a:fillRect b="-2381"/>
                </a:stretch>
              </a:blipFill>
              <a:ln w="12700"/>
            </p:spPr>
            <p:txBody>
              <a:bodyPr/>
              <a:lstStyle/>
              <a:p>
                <a:r>
                  <a:rPr lang="en-US">
                    <a:noFill/>
                  </a:rPr>
                  <a:t> </a:t>
                </a:r>
              </a:p>
            </p:txBody>
          </p:sp>
        </mc:Fallback>
      </mc:AlternateContent>
      <p:sp>
        <p:nvSpPr>
          <p:cNvPr id="15"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369</a:t>
            </a:r>
            <a:endParaRPr i="1" dirty="0">
              <a:latin typeface="Calibri"/>
              <a:ea typeface="Calibri"/>
              <a:cs typeface="Calibri"/>
              <a:sym typeface="Calibri"/>
            </a:endParaRPr>
          </a:p>
        </p:txBody>
      </p:sp>
      <p:pic>
        <p:nvPicPr>
          <p:cNvPr id="16"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11513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320800" y="520394"/>
                <a:ext cx="9706174" cy="3785611"/>
              </a:xfrm>
              <a:prstGeom prst="rect">
                <a:avLst/>
              </a:prstGeom>
              <a:noFill/>
              <a:ln>
                <a:noFill/>
              </a:ln>
            </p:spPr>
            <p:txBody>
              <a:bodyPr spcFirstLastPara="1" wrap="square" lIns="91425" tIns="45700" rIns="91425" bIns="45700" anchor="t" anchorCtr="0">
                <a:spAutoFit/>
              </a:bodyPr>
              <a:lstStyle/>
              <a:p>
                <a:pPr marL="914400"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Sketch splitting the hanger diagram into the equal parts as described in Part A.</a:t>
                </a:r>
              </a:p>
              <a:p>
                <a:pPr marL="914400"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value of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320800" y="520394"/>
                <a:ext cx="9706174" cy="3785611"/>
              </a:xfrm>
              <a:prstGeom prst="rect">
                <a:avLst/>
              </a:prstGeom>
              <a:blipFill rotWithShape="0">
                <a:blip r:embed="rId3"/>
                <a:stretch>
                  <a:fillRect t="-1288" b="-2576"/>
                </a:stretch>
              </a:blipFill>
              <a:ln>
                <a:noFill/>
              </a:ln>
            </p:spPr>
            <p:txBody>
              <a:bodyPr/>
              <a:lstStyle/>
              <a:p>
                <a:r>
                  <a:rPr lang="en-US">
                    <a:noFill/>
                  </a:rPr>
                  <a:t> </a:t>
                </a:r>
              </a:p>
            </p:txBody>
          </p:sp>
        </mc:Fallback>
      </mc:AlternateContent>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369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169930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885371" y="520394"/>
            <a:ext cx="10577032" cy="3785611"/>
          </a:xfrm>
          <a:prstGeom prst="rect">
            <a:avLst/>
          </a:prstGeom>
          <a:noFill/>
          <a:ln>
            <a:noFill/>
          </a:ln>
        </p:spPr>
        <p:txBody>
          <a:bodyPr spcFirstLastPara="1" wrap="square" lIns="91425" tIns="45700" rIns="91425" bIns="45700" anchor="t" anchorCtr="0">
            <a:spAutoFit/>
          </a:bodyPr>
          <a:lstStyle/>
          <a:p>
            <a:pPr marL="914400" indent="-452438">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Compare your diagram with your partner. Discuss the similarities and differences.</a:t>
            </a:r>
          </a:p>
          <a:p>
            <a:pPr marL="914400" indent="-452438">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2438">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1962"/>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2" indent="-457200">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rPr>
              <a:t>Provide positive feedback to your partner in their book on their sketch and solution. </a:t>
            </a:r>
          </a:p>
        </p:txBody>
      </p:sp>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id="{6AEA69C0-F029-3C4E-9C99-DBDF5CE3999D}"/>
              </a:ext>
            </a:extLst>
          </p:cNvPr>
          <p:cNvGraphicFramePr>
            <a:graphicFrameLocks noGrp="1"/>
          </p:cNvGraphicFramePr>
          <p:nvPr>
            <p:extLst>
              <p:ext uri="{D42A27DB-BD31-4B8C-83A1-F6EECF244321}">
                <p14:modId xmlns:p14="http://schemas.microsoft.com/office/powerpoint/2010/main" val="2430586404"/>
              </p:ext>
            </p:extLst>
          </p:nvPr>
        </p:nvGraphicFramePr>
        <p:xfrm>
          <a:off x="2577024" y="4370652"/>
          <a:ext cx="7371727" cy="1765300"/>
        </p:xfrm>
        <a:graphic>
          <a:graphicData uri="http://schemas.openxmlformats.org/drawingml/2006/table">
            <a:tbl>
              <a:tblPr firstRow="1" firstCol="1" bandRow="1">
                <a:tableStyleId>{5C22544A-7EE6-4342-B048-85BDC9FD1C3A}</a:tableStyleId>
              </a:tblPr>
              <a:tblGrid>
                <a:gridCol w="1456725">
                  <a:extLst>
                    <a:ext uri="{9D8B030D-6E8A-4147-A177-3AD203B41FA5}">
                      <a16:colId xmlns:a16="http://schemas.microsoft.com/office/drawing/2014/main" val="2267864262"/>
                    </a:ext>
                  </a:extLst>
                </a:gridCol>
                <a:gridCol w="5915002">
                  <a:extLst>
                    <a:ext uri="{9D8B030D-6E8A-4147-A177-3AD203B41FA5}">
                      <a16:colId xmlns:a16="http://schemas.microsoft.com/office/drawing/2014/main" val="1591923403"/>
                    </a:ext>
                  </a:extLst>
                </a:gridCol>
              </a:tblGrid>
              <a:tr h="1765300">
                <a:tc>
                  <a:txBody>
                    <a:bodyPr/>
                    <a:lstStyle/>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Partner</a:t>
                      </a:r>
                    </a:p>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Feedback</a:t>
                      </a:r>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l">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437525"/>
                  </a:ext>
                </a:extLst>
              </a:tr>
            </a:tbl>
          </a:graphicData>
        </a:graphic>
      </p:graphicFrame>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369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03642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059543" y="520393"/>
            <a:ext cx="10228688" cy="1569620"/>
          </a:xfrm>
          <a:prstGeom prst="rect">
            <a:avLst/>
          </a:prstGeom>
          <a:noFill/>
          <a:ln>
            <a:noFill/>
          </a:ln>
        </p:spPr>
        <p:txBody>
          <a:bodyPr spcFirstLastPara="1" wrap="square" lIns="91425" tIns="45700" rIns="91425" bIns="45700" anchor="t" anchorCtr="0">
            <a:spAutoFit/>
          </a:bodyPr>
          <a:lstStyle/>
          <a:p>
            <a:pPr marL="461963" indent="-461963">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Inverse operations can be helpful in solving equations.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an arrow to match each operation on the left with its inverse operation on the right.</a:t>
            </a:r>
          </a:p>
        </p:txBody>
      </p:sp>
      <p:sp>
        <p:nvSpPr>
          <p:cNvPr id="209" name="Google Shape;209;p8"/>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6" name="Table 5">
            <a:extLst>
              <a:ext uri="{FF2B5EF4-FFF2-40B4-BE49-F238E27FC236}">
                <a16:creationId xmlns:a16="http://schemas.microsoft.com/office/drawing/2014/main" id="{73B991C2-A483-8F4B-9B86-0A864BA7BB5F}"/>
              </a:ext>
            </a:extLst>
          </p:cNvPr>
          <p:cNvGraphicFramePr>
            <a:graphicFrameLocks noGrp="1"/>
          </p:cNvGraphicFramePr>
          <p:nvPr>
            <p:extLst>
              <p:ext uri="{D42A27DB-BD31-4B8C-83A1-F6EECF244321}">
                <p14:modId xmlns:p14="http://schemas.microsoft.com/office/powerpoint/2010/main" val="1378324012"/>
              </p:ext>
            </p:extLst>
          </p:nvPr>
        </p:nvGraphicFramePr>
        <p:xfrm>
          <a:off x="3129170" y="3119390"/>
          <a:ext cx="5933661" cy="2558533"/>
        </p:xfrm>
        <a:graphic>
          <a:graphicData uri="http://schemas.openxmlformats.org/drawingml/2006/table">
            <a:tbl>
              <a:tblPr bandRow="1">
                <a:tableStyleId>{5C22544A-7EE6-4342-B048-85BDC9FD1C3A}</a:tableStyleId>
              </a:tblPr>
              <a:tblGrid>
                <a:gridCol w="2562263">
                  <a:extLst>
                    <a:ext uri="{9D8B030D-6E8A-4147-A177-3AD203B41FA5}">
                      <a16:colId xmlns:a16="http://schemas.microsoft.com/office/drawing/2014/main" val="3768883332"/>
                    </a:ext>
                  </a:extLst>
                </a:gridCol>
                <a:gridCol w="3371398">
                  <a:extLst>
                    <a:ext uri="{9D8B030D-6E8A-4147-A177-3AD203B41FA5}">
                      <a16:colId xmlns:a16="http://schemas.microsoft.com/office/drawing/2014/main" val="3636925226"/>
                    </a:ext>
                  </a:extLst>
                </a:gridCol>
              </a:tblGrid>
              <a:tr h="613139">
                <a:tc>
                  <a:txBody>
                    <a:bodyPr/>
                    <a:lstStyle/>
                    <a:p>
                      <a:pPr marL="0" marR="0">
                        <a:spcBef>
                          <a:spcPts val="0"/>
                        </a:spcBef>
                        <a:spcAft>
                          <a:spcPts val="0"/>
                        </a:spcAft>
                        <a:tabLst>
                          <a:tab pos="19685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division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spcBef>
                          <a:spcPts val="0"/>
                        </a:spcBef>
                        <a:spcAft>
                          <a:spcPts val="0"/>
                        </a:spcAft>
                        <a:tabLst>
                          <a:tab pos="1968500" algn="l"/>
                        </a:tabLst>
                      </a:pPr>
                      <a:r>
                        <a:rPr lang="en-US" sz="2000">
                          <a:effectLst/>
                          <a:latin typeface="Verdana" panose="020B0604030504040204" pitchFamily="34" charset="0"/>
                          <a:ea typeface="Verdana" panose="020B0604030504040204" pitchFamily="34" charset="0"/>
                          <a:cs typeface="Verdana" panose="020B0604030504040204" pitchFamily="34" charset="0"/>
                        </a:rPr>
                        <a:t>division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82661083"/>
                  </a:ext>
                </a:extLst>
              </a:tr>
              <a:tr h="613139">
                <a:tc>
                  <a:txBody>
                    <a:bodyPr/>
                    <a:lstStyle/>
                    <a:p>
                      <a:pPr marL="0" marR="0">
                        <a:spcBef>
                          <a:spcPts val="0"/>
                        </a:spcBef>
                        <a:spcAft>
                          <a:spcPts val="0"/>
                        </a:spcAft>
                        <a:tabLst>
                          <a:tab pos="19685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addition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spcBef>
                          <a:spcPts val="0"/>
                        </a:spcBef>
                        <a:spcAft>
                          <a:spcPts val="0"/>
                        </a:spcAft>
                        <a:tabLst>
                          <a:tab pos="19685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addition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9848096"/>
                  </a:ext>
                </a:extLst>
              </a:tr>
              <a:tr h="613139">
                <a:tc>
                  <a:txBody>
                    <a:bodyPr/>
                    <a:lstStyle/>
                    <a:p>
                      <a:pPr marL="0" marR="0">
                        <a:spcBef>
                          <a:spcPts val="0"/>
                        </a:spcBef>
                        <a:spcAft>
                          <a:spcPts val="0"/>
                        </a:spcAft>
                        <a:tabLst>
                          <a:tab pos="19685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subtraction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spcBef>
                          <a:spcPts val="0"/>
                        </a:spcBef>
                        <a:spcAft>
                          <a:spcPts val="0"/>
                        </a:spcAft>
                        <a:tabLst>
                          <a:tab pos="19685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subtraction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79822336"/>
                  </a:ext>
                </a:extLst>
              </a:tr>
              <a:tr h="719116">
                <a:tc>
                  <a:txBody>
                    <a:bodyPr/>
                    <a:lstStyle/>
                    <a:p>
                      <a:pPr marL="0" marR="0">
                        <a:spcBef>
                          <a:spcPts val="0"/>
                        </a:spcBef>
                        <a:spcAft>
                          <a:spcPts val="0"/>
                        </a:spcAft>
                        <a:tabLst>
                          <a:tab pos="1968500" algn="l"/>
                        </a:tabLst>
                      </a:pPr>
                      <a:r>
                        <a:rPr lang="en-US" sz="2000">
                          <a:effectLst/>
                          <a:latin typeface="Verdana" panose="020B0604030504040204" pitchFamily="34" charset="0"/>
                          <a:ea typeface="Verdana" panose="020B0604030504040204" pitchFamily="34" charset="0"/>
                          <a:cs typeface="Verdana" panose="020B0604030504040204" pitchFamily="34" charset="0"/>
                        </a:rPr>
                        <a:t>multiplication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r">
                        <a:spcBef>
                          <a:spcPts val="0"/>
                        </a:spcBef>
                        <a:spcAft>
                          <a:spcPts val="0"/>
                        </a:spcAft>
                        <a:tabLst>
                          <a:tab pos="19685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multiplication</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80078342"/>
                  </a:ext>
                </a:extLst>
              </a:tr>
            </a:tbl>
          </a:graphicData>
        </a:graphic>
      </p:graphicFrame>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25788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32114" y="520394"/>
            <a:ext cx="10083546" cy="3046948"/>
          </a:xfrm>
          <a:prstGeom prst="rect">
            <a:avLst/>
          </a:prstGeom>
          <a:noFill/>
          <a:ln>
            <a:noFill/>
          </a:ln>
        </p:spPr>
        <p:txBody>
          <a:bodyPr spcFirstLastPara="1" wrap="square" lIns="91425" tIns="45700" rIns="91425" bIns="45700" anchor="t" anchorCtr="0">
            <a:spAutoFit/>
          </a:bodyPr>
          <a:lstStyle/>
          <a:p>
            <a:pPr marL="914400" lvl="1"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what it means for operations to be inverses.</a:t>
            </a:r>
          </a:p>
          <a:p>
            <a:pPr marL="914400" lvl="1"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2438">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Which inverse operations were used to solve the equations in this exploration?</a:t>
            </a:r>
          </a:p>
        </p:txBody>
      </p:sp>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74725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5217"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451474" y="0"/>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54B5D1"/>
                </a:solidFill>
                <a:latin typeface="Verdana"/>
                <a:ea typeface="Verdana"/>
                <a:cs typeface="Verdana"/>
                <a:sym typeface="Verdana"/>
              </a:rPr>
              <a:t>14.6.3 Guided Instruction: </a:t>
            </a:r>
            <a:r>
              <a:rPr lang="en-US" sz="3200" b="1" dirty="0">
                <a:solidFill>
                  <a:srgbClr val="54B5D1"/>
                </a:solidFill>
                <a:latin typeface="Verdana"/>
                <a:ea typeface="Verdana"/>
                <a:cs typeface="Verdana"/>
              </a:rPr>
              <a:t>Using Models to Solve Equations</a:t>
            </a:r>
            <a:endParaRPr sz="1200" dirty="0"/>
          </a:p>
        </p:txBody>
      </p:sp>
      <p:pic>
        <p:nvPicPr>
          <p:cNvPr id="317" name="Google Shape;317;p19"/>
          <p:cNvPicPr preferRelativeResize="0"/>
          <p:nvPr/>
        </p:nvPicPr>
        <p:blipFill rotWithShape="1">
          <a:blip r:embed="rId3">
            <a:alphaModFix/>
          </a:blip>
          <a:srcRect/>
          <a:stretch/>
        </p:blipFill>
        <p:spPr>
          <a:xfrm>
            <a:off x="704174" y="207264"/>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19" name="Google Shape;319;p19"/>
              <p:cNvSpPr txBox="1"/>
              <p:nvPr/>
            </p:nvSpPr>
            <p:spPr>
              <a:xfrm>
                <a:off x="2060448" y="1386026"/>
                <a:ext cx="8327136" cy="3381783"/>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rPr>
                  <a:t>Algebra tiles can also be used to model division equations.</a:t>
                </a:r>
              </a:p>
              <a:p>
                <a:pPr marL="461963"/>
                <a:r>
                  <a:rPr lang="en-US" sz="2400" dirty="0">
                    <a:latin typeface="Verdana"/>
                    <a:ea typeface="Verdana"/>
                    <a:cs typeface="Verdana"/>
                  </a:rPr>
                  <a:t> </a:t>
                </a:r>
              </a:p>
              <a:p>
                <a:pPr marL="461963"/>
                <a:r>
                  <a:rPr lang="en-US" sz="2400" dirty="0">
                    <a:latin typeface="Verdana"/>
                    <a:ea typeface="Verdana"/>
                    <a:cs typeface="Verdana"/>
                  </a:rPr>
                  <a:t>The equation </a:t>
                </a:r>
                <a14:m>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𝑥</m:t>
                        </m:r>
                      </m:num>
                      <m:den>
                        <m:r>
                          <a:rPr lang="en-US" sz="2400">
                            <a:latin typeface="Cambria Math" panose="02040503050406030204" pitchFamily="18" charset="0"/>
                          </a:rPr>
                          <m:t>3</m:t>
                        </m:r>
                      </m:den>
                    </m:f>
                    <m:r>
                      <a:rPr lang="en-US" sz="2400">
                        <a:latin typeface="Cambria Math" panose="02040503050406030204" pitchFamily="18" charset="0"/>
                      </a:rPr>
                      <m:t>=4</m:t>
                    </m:r>
                  </m:oMath>
                </a14:m>
                <a:r>
                  <a:rPr lang="en-US" sz="2400" dirty="0">
                    <a:latin typeface="Verdana"/>
                    <a:ea typeface="Verdana"/>
                    <a:cs typeface="Verdana"/>
                  </a:rPr>
                  <a:t> can be rewritten as </a:t>
                </a:r>
                <a14:m>
                  <m:oMath xmlns:m="http://schemas.openxmlformats.org/officeDocument/2006/math">
                    <m:r>
                      <a:rPr lang="en-US" sz="2400">
                        <a:latin typeface="Cambria Math" panose="02040503050406030204" pitchFamily="18" charset="0"/>
                      </a:rPr>
                      <m:t>𝑥</m:t>
                    </m:r>
                    <m:r>
                      <a:rPr lang="en-US" sz="2400">
                        <a:latin typeface="Cambria Math" panose="02040503050406030204" pitchFamily="18" charset="0"/>
                      </a:rPr>
                      <m:t>÷3=4</m:t>
                    </m:r>
                  </m:oMath>
                </a14:m>
                <a:r>
                  <a:rPr lang="en-US" sz="2400" dirty="0">
                    <a:latin typeface="Verdana"/>
                    <a:ea typeface="Verdana"/>
                    <a:cs typeface="Verdana"/>
                  </a:rPr>
                  <a:t>. </a:t>
                </a:r>
              </a:p>
              <a:p>
                <a:pPr marL="461963"/>
                <a:r>
                  <a:rPr lang="en-US" sz="2400" dirty="0">
                    <a:latin typeface="Verdana"/>
                    <a:ea typeface="Verdana"/>
                    <a:cs typeface="Verdana"/>
                  </a:rPr>
                  <a:t> </a:t>
                </a:r>
              </a:p>
              <a:p>
                <a:pPr marL="461963"/>
                <a:r>
                  <a:rPr lang="en-US" sz="2400" dirty="0">
                    <a:latin typeface="Verdana"/>
                    <a:ea typeface="Verdana"/>
                    <a:cs typeface="Verdana"/>
                  </a:rPr>
                  <a:t>To represent division, show that </a:t>
                </a:r>
                <a14:m>
                  <m:oMath xmlns:m="http://schemas.openxmlformats.org/officeDocument/2006/math">
                    <m:r>
                      <a:rPr lang="en-US" sz="2400">
                        <a:latin typeface="Cambria Math" panose="02040503050406030204" pitchFamily="18" charset="0"/>
                      </a:rPr>
                      <m:t>𝑥</m:t>
                    </m:r>
                  </m:oMath>
                </a14:m>
                <a:r>
                  <a:rPr lang="en-US" sz="2400" dirty="0">
                    <a:latin typeface="Verdana"/>
                    <a:ea typeface="Verdana"/>
                    <a:cs typeface="Verdana"/>
                  </a:rPr>
                  <a:t> tile is being divided into equal parts. Sketch lines on the 	       tile to represent the fraction </a:t>
                </a:r>
                <a14:m>
                  <m:oMath xmlns:m="http://schemas.openxmlformats.org/officeDocument/2006/math">
                    <m:r>
                      <a:rPr lang="en-US" sz="2400">
                        <a:latin typeface="Cambria Math" panose="02040503050406030204" pitchFamily="18" charset="0"/>
                      </a:rPr>
                      <m:t>𝑥</m:t>
                    </m:r>
                    <m:r>
                      <a:rPr lang="en-US" sz="2400">
                        <a:latin typeface="Cambria Math" panose="02040503050406030204" pitchFamily="18" charset="0"/>
                      </a:rPr>
                      <m:t>÷3</m:t>
                    </m:r>
                  </m:oMath>
                </a14:m>
                <a:r>
                  <a:rPr lang="en-US" sz="2400" dirty="0">
                    <a:latin typeface="Verdana"/>
                    <a:ea typeface="Verdana"/>
                    <a:cs typeface="Verdana"/>
                  </a:rPr>
                  <a:t>. </a:t>
                </a:r>
              </a:p>
              <a:p>
                <a:endParaRPr dirty="0"/>
              </a:p>
            </p:txBody>
          </p:sp>
        </mc:Choice>
        <mc:Fallback xmlns="">
          <p:sp>
            <p:nvSpPr>
              <p:cNvPr id="319" name="Google Shape;319;p19"/>
              <p:cNvSpPr txBox="1">
                <a:spLocks noRot="1" noChangeAspect="1" noMove="1" noResize="1" noEditPoints="1" noAdjustHandles="1" noChangeArrowheads="1" noChangeShapeType="1" noTextEdit="1"/>
              </p:cNvSpPr>
              <p:nvPr/>
            </p:nvSpPr>
            <p:spPr>
              <a:xfrm>
                <a:off x="536448" y="1386025"/>
                <a:ext cx="8327136" cy="3381783"/>
              </a:xfrm>
              <a:prstGeom prst="rect">
                <a:avLst/>
              </a:prstGeom>
              <a:blipFill>
                <a:blip r:embed="rId5"/>
                <a:stretch>
                  <a:fillRect l="-1220" t="-1119"/>
                </a:stretch>
              </a:blipFill>
              <a:ln>
                <a:noFill/>
              </a:ln>
            </p:spPr>
            <p:txBody>
              <a:bodyPr/>
              <a:lstStyle/>
              <a:p>
                <a:r>
                  <a:rPr lang="en-US">
                    <a:noFill/>
                  </a:rPr>
                  <a:t> </a:t>
                </a:r>
              </a:p>
            </p:txBody>
          </p:sp>
        </mc:Fallback>
      </mc:AlternateContent>
      <p:sp>
        <p:nvSpPr>
          <p:cNvPr id="320" name="Google Shape;320;p19"/>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8" name="image1.png" descr="A picture containing chart&#10;&#10;Description automatically generated">
            <a:extLst>
              <a:ext uri="{FF2B5EF4-FFF2-40B4-BE49-F238E27FC236}">
                <a16:creationId xmlns:a16="http://schemas.microsoft.com/office/drawing/2014/main" id="{F01BBC65-99BF-D74E-BAF2-0463D7A042A0}"/>
              </a:ext>
            </a:extLst>
          </p:cNvPr>
          <p:cNvPicPr/>
          <p:nvPr/>
        </p:nvPicPr>
        <p:blipFill>
          <a:blip r:embed="rId6" cstate="screen">
            <a:extLst>
              <a:ext uri="{28A0092B-C50C-407E-A947-70E740481C1C}">
                <a14:useLocalDpi xmlns:a14="http://schemas.microsoft.com/office/drawing/2010/main"/>
              </a:ext>
            </a:extLst>
          </a:blip>
          <a:srcRect l="64899" t="17191" r="7861" b="68799"/>
          <a:stretch>
            <a:fillRect/>
          </a:stretch>
        </p:blipFill>
        <p:spPr>
          <a:xfrm>
            <a:off x="2636563" y="4141939"/>
            <a:ext cx="1114425" cy="303530"/>
          </a:xfrm>
          <a:prstGeom prst="rect">
            <a:avLst/>
          </a:prstGeom>
          <a:ln/>
        </p:spPr>
      </p:pic>
      <p:sp>
        <p:nvSpPr>
          <p:cNvPr id="10"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370</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016000" y="520393"/>
                <a:ext cx="10310666" cy="4649246"/>
              </a:xfrm>
              <a:prstGeom prst="rect">
                <a:avLst/>
              </a:prstGeom>
              <a:noFill/>
              <a:ln>
                <a:noFill/>
              </a:ln>
            </p:spPr>
            <p:txBody>
              <a:bodyPr spcFirstLastPara="1" wrap="square" lIns="91425" tIns="45700" rIns="91425" bIns="45700" anchor="t" anchorCtr="0">
                <a:spAutoFit/>
              </a:bodyPr>
              <a:lstStyle/>
              <a:p>
                <a:pPr marL="461963"/>
                <a:r>
                  <a:rPr lang="en-US" sz="2400" dirty="0">
                    <a:latin typeface="Verdana"/>
                    <a:ea typeface="Verdana"/>
                    <a:cs typeface="Verdana"/>
                  </a:rPr>
                  <a:t>This means when </a:t>
                </a:r>
                <a14:m>
                  <m:oMath xmlns:m="http://schemas.openxmlformats.org/officeDocument/2006/math">
                    <m:r>
                      <a:rPr lang="en-US" sz="2400">
                        <a:latin typeface="Cambria Math" panose="02040503050406030204" pitchFamily="18" charset="0"/>
                        <a:ea typeface="Verdana"/>
                        <a:cs typeface="Verdana"/>
                      </a:rPr>
                      <m:t>𝑥</m:t>
                    </m:r>
                  </m:oMath>
                </a14:m>
                <a:r>
                  <a:rPr lang="en-US" sz="2400" dirty="0">
                    <a:latin typeface="Verdana"/>
                    <a:ea typeface="Verdana"/>
                    <a:cs typeface="Verdana"/>
                  </a:rPr>
                  <a:t> is divided into </a:t>
                </a:r>
                <a14:m>
                  <m:oMath xmlns:m="http://schemas.openxmlformats.org/officeDocument/2006/math">
                    <m:r>
                      <a:rPr lang="en-US" sz="2400">
                        <a:latin typeface="Cambria Math" panose="02040503050406030204" pitchFamily="18" charset="0"/>
                        <a:ea typeface="Verdana"/>
                        <a:cs typeface="Verdana"/>
                      </a:rPr>
                      <m:t>3</m:t>
                    </m:r>
                  </m:oMath>
                </a14:m>
                <a:r>
                  <a:rPr lang="en-US" sz="2400" dirty="0">
                    <a:latin typeface="Verdana"/>
                    <a:ea typeface="Verdana"/>
                    <a:cs typeface="Verdana"/>
                  </a:rPr>
                  <a:t> parts, each part is equal to </a:t>
                </a:r>
                <a14:m>
                  <m:oMath xmlns:m="http://schemas.openxmlformats.org/officeDocument/2006/math">
                    <m:r>
                      <a:rPr lang="en-US" sz="2400">
                        <a:latin typeface="Cambria Math" panose="02040503050406030204" pitchFamily="18" charset="0"/>
                        <a:ea typeface="Verdana"/>
                        <a:cs typeface="Verdana"/>
                      </a:rPr>
                      <m:t>4</m:t>
                    </m:r>
                  </m:oMath>
                </a14:m>
                <a:r>
                  <a:rPr lang="en-US" sz="2400" dirty="0">
                    <a:latin typeface="Verdana"/>
                    <a:ea typeface="Verdana"/>
                    <a:cs typeface="Verdana"/>
                  </a:rPr>
                  <a:t>. The model shown illustrates that </a:t>
                </a:r>
                <a14:m>
                  <m:oMath xmlns:m="http://schemas.openxmlformats.org/officeDocument/2006/math">
                    <m:f>
                      <m:fPr>
                        <m:ctrlPr>
                          <a:rPr lang="en-US" sz="2400" i="1">
                            <a:latin typeface="Cambria Math" panose="02040503050406030204" pitchFamily="18" charset="0"/>
                            <a:ea typeface="Verdana"/>
                            <a:cs typeface="Verdana"/>
                          </a:rPr>
                        </m:ctrlPr>
                      </m:fPr>
                      <m:num>
                        <m:r>
                          <a:rPr lang="en-US" sz="2400">
                            <a:latin typeface="Cambria Math" panose="02040503050406030204" pitchFamily="18" charset="0"/>
                            <a:ea typeface="Verdana"/>
                            <a:cs typeface="Verdana"/>
                          </a:rPr>
                          <m:t>𝑥</m:t>
                        </m:r>
                      </m:num>
                      <m:den>
                        <m:r>
                          <a:rPr lang="en-US" sz="2400">
                            <a:latin typeface="Cambria Math" panose="02040503050406030204" pitchFamily="18" charset="0"/>
                            <a:ea typeface="Verdana"/>
                            <a:cs typeface="Verdana"/>
                          </a:rPr>
                          <m:t>3</m:t>
                        </m:r>
                      </m:den>
                    </m:f>
                    <m:r>
                      <a:rPr lang="en-US" sz="2400">
                        <a:latin typeface="Cambria Math" panose="02040503050406030204" pitchFamily="18" charset="0"/>
                        <a:ea typeface="Verdana"/>
                        <a:cs typeface="Verdana"/>
                      </a:rPr>
                      <m:t> = 4</m:t>
                    </m:r>
                  </m:oMath>
                </a14:m>
                <a:r>
                  <a:rPr lang="en-US" sz="2400" dirty="0">
                    <a:latin typeface="Verdana"/>
                    <a:ea typeface="Verdana"/>
                    <a:cs typeface="Verdana"/>
                  </a:rPr>
                  <a:t>. </a:t>
                </a:r>
              </a:p>
              <a:p>
                <a:pPr marL="461963"/>
                <a:endParaRPr lang="en-US" sz="2400" dirty="0">
                  <a:latin typeface="Verdana"/>
                  <a:ea typeface="Verdana"/>
                  <a:cs typeface="Verdana"/>
                </a:endParaRPr>
              </a:p>
              <a:p>
                <a:pPr marL="461963"/>
                <a:endParaRPr lang="en-US" sz="2400" dirty="0">
                  <a:latin typeface="Verdana"/>
                  <a:ea typeface="Verdana"/>
                  <a:cs typeface="Verdana"/>
                </a:endParaRPr>
              </a:p>
              <a:p>
                <a:pPr marL="461963"/>
                <a:endParaRPr lang="en-US" sz="2400" dirty="0">
                  <a:latin typeface="Verdana"/>
                  <a:ea typeface="Verdana"/>
                  <a:cs typeface="Verdana"/>
                </a:endParaRPr>
              </a:p>
              <a:p>
                <a:pPr marL="461963"/>
                <a:endParaRPr lang="en-US" sz="2400" dirty="0">
                  <a:latin typeface="Verdana"/>
                  <a:ea typeface="Verdana"/>
                  <a:cs typeface="Verdana"/>
                </a:endParaRPr>
              </a:p>
              <a:p>
                <a:pPr marL="919163" indent="-457200">
                  <a:buFont typeface="+mj-lt"/>
                  <a:buAutoNum type="alphaLcPeriod"/>
                </a:pPr>
                <a:r>
                  <a:rPr lang="en-US" sz="2400" dirty="0">
                    <a:latin typeface="Verdana"/>
                    <a:ea typeface="Verdana"/>
                    <a:cs typeface="Verdana"/>
                  </a:rPr>
                  <a:t>If each </a:t>
                </a:r>
                <a14:m>
                  <m:oMath xmlns:m="http://schemas.openxmlformats.org/officeDocument/2006/math">
                    <m:f>
                      <m:fPr>
                        <m:ctrlPr>
                          <a:rPr lang="en-US" sz="2400" i="1">
                            <a:latin typeface="Cambria Math" panose="02040503050406030204" pitchFamily="18" charset="0"/>
                            <a:ea typeface="Verdana"/>
                            <a:cs typeface="Verdana"/>
                          </a:rPr>
                        </m:ctrlPr>
                      </m:fPr>
                      <m:num>
                        <m:r>
                          <a:rPr lang="en-US" sz="2400">
                            <a:latin typeface="Cambria Math" panose="02040503050406030204" pitchFamily="18" charset="0"/>
                            <a:ea typeface="Verdana"/>
                            <a:cs typeface="Verdana"/>
                          </a:rPr>
                          <m:t>1</m:t>
                        </m:r>
                      </m:num>
                      <m:den>
                        <m:r>
                          <a:rPr lang="en-US" sz="2400">
                            <a:latin typeface="Cambria Math" panose="02040503050406030204" pitchFamily="18" charset="0"/>
                            <a:ea typeface="Verdana"/>
                            <a:cs typeface="Verdana"/>
                          </a:rPr>
                          <m:t>3</m:t>
                        </m:r>
                      </m:den>
                    </m:f>
                  </m:oMath>
                </a14:m>
                <a:r>
                  <a:rPr lang="en-US" sz="2400" dirty="0">
                    <a:latin typeface="Verdana"/>
                    <a:ea typeface="Verdana"/>
                    <a:cs typeface="Verdana"/>
                  </a:rPr>
                  <a:t> of </a:t>
                </a:r>
                <a14:m>
                  <m:oMath xmlns:m="http://schemas.openxmlformats.org/officeDocument/2006/math">
                    <m:r>
                      <a:rPr lang="en-US" sz="2400">
                        <a:latin typeface="Cambria Math" panose="02040503050406030204" pitchFamily="18" charset="0"/>
                        <a:ea typeface="Verdana"/>
                        <a:cs typeface="Verdana"/>
                      </a:rPr>
                      <m:t>𝑥</m:t>
                    </m:r>
                  </m:oMath>
                </a14:m>
                <a:r>
                  <a:rPr lang="en-US" sz="2400" dirty="0">
                    <a:latin typeface="Verdana"/>
                    <a:ea typeface="Verdana"/>
                    <a:cs typeface="Verdana"/>
                  </a:rPr>
                  <a:t> is equal to </a:t>
                </a:r>
                <a14:m>
                  <m:oMath xmlns:m="http://schemas.openxmlformats.org/officeDocument/2006/math">
                    <m:r>
                      <a:rPr lang="en-US" sz="2400">
                        <a:latin typeface="Cambria Math" panose="02040503050406030204" pitchFamily="18" charset="0"/>
                        <a:ea typeface="Verdana"/>
                        <a:cs typeface="Verdana"/>
                      </a:rPr>
                      <m:t>4</m:t>
                    </m:r>
                  </m:oMath>
                </a14:m>
                <a:r>
                  <a:rPr lang="en-US" sz="2400" dirty="0">
                    <a:latin typeface="Verdana"/>
                    <a:ea typeface="Verdana"/>
                    <a:cs typeface="Verdana"/>
                  </a:rPr>
                  <a:t>, discuss with your partner what the value of </a:t>
                </a:r>
                <a14:m>
                  <m:oMath xmlns:m="http://schemas.openxmlformats.org/officeDocument/2006/math">
                    <m:r>
                      <a:rPr lang="en-US" sz="2400">
                        <a:latin typeface="Cambria Math" panose="02040503050406030204" pitchFamily="18" charset="0"/>
                        <a:ea typeface="Verdana"/>
                        <a:cs typeface="Verdana"/>
                      </a:rPr>
                      <m:t>𝑥</m:t>
                    </m:r>
                  </m:oMath>
                </a14:m>
                <a:r>
                  <a:rPr lang="en-US" sz="2400" dirty="0">
                    <a:latin typeface="Verdana"/>
                    <a:ea typeface="Verdana"/>
                    <a:cs typeface="Verdana"/>
                  </a:rPr>
                  <a:t> is. As part of your discussion, include which operation can be used to determine the value of </a:t>
                </a:r>
                <a14:m>
                  <m:oMath xmlns:m="http://schemas.openxmlformats.org/officeDocument/2006/math">
                    <m:r>
                      <a:rPr lang="en-US" sz="2400">
                        <a:latin typeface="Cambria Math" panose="02040503050406030204" pitchFamily="18" charset="0"/>
                        <a:ea typeface="Verdana"/>
                        <a:cs typeface="Verdana"/>
                      </a:rPr>
                      <m:t>𝑥</m:t>
                    </m:r>
                  </m:oMath>
                </a14:m>
                <a:r>
                  <a:rPr lang="en-US" sz="2400" dirty="0">
                    <a:latin typeface="Verdana"/>
                    <a:ea typeface="Verdana"/>
                    <a:cs typeface="Verdana"/>
                  </a:rPr>
                  <a:t>. Summarize your discussion.</a:t>
                </a:r>
              </a:p>
              <a:p>
                <a:pPr marL="461963"/>
                <a:endParaRPr lang="en-US" sz="2400" dirty="0">
                  <a:latin typeface="Verdana"/>
                  <a:ea typeface="Verdana"/>
                  <a:cs typeface="Verdana"/>
                </a:endParaRPr>
              </a:p>
              <a:p>
                <a:endParaRPr dirty="0"/>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016000" y="520393"/>
                <a:ext cx="10310666" cy="4649246"/>
              </a:xfrm>
              <a:prstGeom prst="rect">
                <a:avLst/>
              </a:prstGeom>
              <a:blipFill rotWithShape="0">
                <a:blip r:embed="rId4"/>
                <a:stretch>
                  <a:fillRect t="-1180"/>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6" name="image23.png" descr="A picture containing calendar&#10;&#10;Description automatically generated">
            <a:extLst>
              <a:ext uri="{FF2B5EF4-FFF2-40B4-BE49-F238E27FC236}">
                <a16:creationId xmlns:a16="http://schemas.microsoft.com/office/drawing/2014/main" id="{463C7917-7FD7-F141-AAF2-16563F1F954A}"/>
              </a:ext>
            </a:extLst>
          </p:cNvPr>
          <p:cNvPicPr/>
          <p:nvPr/>
        </p:nvPicPr>
        <p:blipFill>
          <a:blip r:embed="rId5"/>
          <a:srcRect l="58867" t="22561" r="11883" b="70588"/>
          <a:stretch>
            <a:fillRect/>
          </a:stretch>
        </p:blipFill>
        <p:spPr>
          <a:xfrm>
            <a:off x="3303588" y="1825722"/>
            <a:ext cx="5584825" cy="940435"/>
          </a:xfrm>
          <a:prstGeom prst="rect">
            <a:avLst/>
          </a:prstGeom>
          <a:ln/>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overrideClrMapping bg1="lt1" tx1="dk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2007765" y="520394"/>
                <a:ext cx="8327136" cy="4154943"/>
              </a:xfrm>
              <a:prstGeom prst="rect">
                <a:avLst/>
              </a:prstGeom>
              <a:noFill/>
              <a:ln>
                <a:noFill/>
              </a:ln>
            </p:spPr>
            <p:txBody>
              <a:bodyPr spcFirstLastPara="1" wrap="square" lIns="91425" tIns="45700" rIns="91425" bIns="45700" anchor="t" anchorCtr="0">
                <a:spAutoFit/>
              </a:bodyPr>
              <a:lstStyle/>
              <a:p>
                <a:pPr marL="919163"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The image models the relationship discussed that can be used to determine the value of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9163"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r>
                  <a:rPr lang="en-US" sz="2400" dirty="0">
                    <a:latin typeface="Verdana" panose="020B0604030504040204" pitchFamily="34" charset="0"/>
                    <a:ea typeface="Verdana" panose="020B0604030504040204" pitchFamily="34" charset="0"/>
                    <a:cs typeface="Verdana" panose="020B0604030504040204" pitchFamily="34" charset="0"/>
                  </a:rPr>
                  <a:t>Explain how this representation can be used to determine the value of		  .</a:t>
                </a:r>
                <a:endParaRPr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483765" y="520393"/>
                <a:ext cx="8327136" cy="4154943"/>
              </a:xfrm>
              <a:prstGeom prst="rect">
                <a:avLst/>
              </a:prstGeom>
              <a:blipFill>
                <a:blip r:embed="rId5"/>
                <a:stretch>
                  <a:fillRect t="-1216" r="-2283" b="-2432"/>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7" name="image16.png" descr="Graphical user interface&#10;&#10;Description automatically generated with medium confidence">
            <a:extLst>
              <a:ext uri="{FF2B5EF4-FFF2-40B4-BE49-F238E27FC236}">
                <a16:creationId xmlns:a16="http://schemas.microsoft.com/office/drawing/2014/main" id="{A8321073-5AD4-694B-A7E9-E70B31ED3618}"/>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3795031" y="1388155"/>
            <a:ext cx="4601939" cy="2179995"/>
          </a:xfrm>
          <a:prstGeom prst="rect">
            <a:avLst/>
          </a:prstGeom>
          <a:ln/>
        </p:spPr>
      </p:pic>
      <p:pic>
        <p:nvPicPr>
          <p:cNvPr id="8" name="image1.png" descr="A picture containing chart&#10;&#10;Description automatically generated">
            <a:extLst>
              <a:ext uri="{FF2B5EF4-FFF2-40B4-BE49-F238E27FC236}">
                <a16:creationId xmlns:a16="http://schemas.microsoft.com/office/drawing/2014/main" id="{ECC11B02-0E75-0E49-B759-1B00B1DA5F1A}"/>
              </a:ext>
            </a:extLst>
          </p:cNvPr>
          <p:cNvPicPr/>
          <p:nvPr/>
        </p:nvPicPr>
        <p:blipFill>
          <a:blip r:embed="rId7" cstate="screen">
            <a:extLst>
              <a:ext uri="{28A0092B-C50C-407E-A947-70E740481C1C}">
                <a14:useLocalDpi xmlns:a14="http://schemas.microsoft.com/office/drawing/2010/main"/>
              </a:ext>
            </a:extLst>
          </a:blip>
          <a:srcRect l="64899" t="17191" r="7861" b="68799"/>
          <a:stretch>
            <a:fillRect/>
          </a:stretch>
        </p:blipFill>
        <p:spPr>
          <a:xfrm>
            <a:off x="6622153" y="4271525"/>
            <a:ext cx="1114425" cy="303530"/>
          </a:xfrm>
          <a:prstGeom prst="rect">
            <a:avLst/>
          </a:prstGeom>
          <a:ln/>
        </p:spPr>
      </p:pic>
      <p:sp>
        <p:nvSpPr>
          <p:cNvPr id="10"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371</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332905128"/>
      </p:ext>
    </p:extLst>
  </p:cSld>
  <p:clrMapOvr>
    <a:overrideClrMapping bg1="lt1" tx1="dk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117600" y="520394"/>
                <a:ext cx="10107466" cy="5632271"/>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value of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 by writing operations on each blank.</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a:r>
                  <a:rPr lang="en-US" sz="2400" dirty="0">
                    <a:latin typeface="Verdana" panose="020B0604030504040204" pitchFamily="34" charset="0"/>
                    <a:ea typeface="Verdana" panose="020B0604030504040204" pitchFamily="34" charset="0"/>
                    <a:cs typeface="Verdana" panose="020B0604030504040204" pitchFamily="34" charset="0"/>
                  </a:rPr>
                  <a:t>The original equation involved the operation _____________________. Its inverse operation, _____________________, was used to solve the equation.</a:t>
                </a:r>
              </a:p>
              <a:p>
                <a:pPr marL="461963"/>
                <a:endParaRPr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117600" y="520394"/>
                <a:ext cx="10107466" cy="5632271"/>
              </a:xfrm>
              <a:prstGeom prst="rect">
                <a:avLst/>
              </a:prstGeom>
              <a:blipFill rotWithShape="0">
                <a:blip r:embed="rId4"/>
                <a:stretch>
                  <a:fillRect t="-974"/>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371</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866105748"/>
      </p:ext>
    </p:extLst>
  </p:cSld>
  <p:clrMapOvr>
    <a:overrideClrMapping bg1="lt1" tx1="dk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030514" y="520394"/>
                <a:ext cx="10281638" cy="5262939"/>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Tape diagrams, also known as bar models, can be used to model and solve multiplication and division equations. </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tape diagram models the equation </a:t>
                </a:r>
                <a14:m>
                  <m:oMath xmlns:m="http://schemas.openxmlformats.org/officeDocument/2006/math">
                    <m:r>
                      <a:rPr lang="en-US" sz="2400" i="1">
                        <a:latin typeface="Cambria Math" panose="02040503050406030204" pitchFamily="18" charset="0"/>
                      </a:rPr>
                      <m:t>22=−11</m:t>
                    </m:r>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The solution to the equation </a:t>
                </a:r>
                <a14:m>
                  <m:oMath xmlns:m="http://schemas.openxmlformats.org/officeDocument/2006/math">
                    <m:r>
                      <a:rPr lang="en-US" sz="2400">
                        <a:latin typeface="Cambria Math" panose="02040503050406030204" pitchFamily="18" charset="0"/>
                        <a:ea typeface="Verdana" panose="020B0604030504040204" pitchFamily="34" charset="0"/>
                        <a:cs typeface="Verdana" panose="020B0604030504040204" pitchFamily="34" charset="0"/>
                      </a:rPr>
                      <m:t>22=−11</m:t>
                    </m:r>
                    <m:r>
                      <a:rPr lang="en-US" sz="2400">
                        <a:latin typeface="Cambria Math" panose="02040503050406030204" pitchFamily="18" charset="0"/>
                        <a:ea typeface="Verdana" panose="020B0604030504040204" pitchFamily="34" charset="0"/>
                        <a:cs typeface="Verdana" panose="020B0604030504040204" pitchFamily="34"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can be modeled in the following steps. Work with a different partner to explain what is occurring in each step.</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030514" y="520394"/>
                <a:ext cx="10281638" cy="5262939"/>
              </a:xfrm>
              <a:prstGeom prst="rect">
                <a:avLst/>
              </a:prstGeom>
              <a:blipFill rotWithShape="0">
                <a:blip r:embed="rId4"/>
                <a:stretch>
                  <a:fillRect l="-889" t="-926" r="-1008" b="-1620"/>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2" name="Picture 11">
            <a:extLst>
              <a:ext uri="{FF2B5EF4-FFF2-40B4-BE49-F238E27FC236}">
                <a16:creationId xmlns:a16="http://schemas.microsoft.com/office/drawing/2014/main" id="{9F9C4A85-8CE1-7C44-97BB-1AD73559209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09542" y="2550827"/>
            <a:ext cx="8123583" cy="1747996"/>
          </a:xfrm>
          <a:prstGeom prst="rect">
            <a:avLst/>
          </a:prstGeom>
        </p:spPr>
      </p:pic>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371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186687355"/>
      </p:ext>
    </p:extLst>
  </p:cSld>
  <p:clrMapOvr>
    <a:overrideClrMapping bg1="lt1" tx1="dk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103086" y="520394"/>
                <a:ext cx="10136494" cy="3416279"/>
              </a:xfrm>
              <a:prstGeom prst="rect">
                <a:avLst/>
              </a:prstGeom>
              <a:noFill/>
              <a:ln>
                <a:noFill/>
              </a:ln>
            </p:spPr>
            <p:txBody>
              <a:bodyPr spcFirstLastPara="1" wrap="square" lIns="91425" tIns="45700" rIns="91425" bIns="45700" anchor="t" anchorCtr="0">
                <a:spAutoFit/>
              </a:bodyPr>
              <a:lstStyle/>
              <a:p>
                <a:r>
                  <a:rPr lang="en-US" sz="2400" b="1" dirty="0">
                    <a:latin typeface="Verdana" panose="020B0604030504040204" pitchFamily="34" charset="0"/>
                    <a:ea typeface="Verdana" panose="020B0604030504040204" pitchFamily="34" charset="0"/>
                    <a:cs typeface="Verdana" panose="020B0604030504040204" pitchFamily="34" charset="0"/>
                  </a:rPr>
                  <a:t>Step 1</a:t>
                </a: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were the integers in the equation used to determine the negative value of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103086" y="520394"/>
                <a:ext cx="10136494" cy="3416279"/>
              </a:xfrm>
              <a:prstGeom prst="rect">
                <a:avLst/>
              </a:prstGeom>
              <a:blipFill rotWithShape="0">
                <a:blip r:embed="rId4"/>
                <a:stretch>
                  <a:fillRect l="-962" t="-1426" b="-2852"/>
                </a:stretch>
              </a:blipFill>
              <a:ln>
                <a:noFill/>
              </a:ln>
            </p:spPr>
            <p:txBody>
              <a:bodyPr/>
              <a:lstStyle/>
              <a:p>
                <a:r>
                  <a:rPr lang="en-US">
                    <a:noFill/>
                  </a:rPr>
                  <a:t> </a:t>
                </a:r>
              </a:p>
            </p:txBody>
          </p:sp>
        </mc:Fallback>
      </mc:AlternateContent>
      <p:sp>
        <p:nvSpPr>
          <p:cNvPr id="329" name="Google Shape;329;p20"/>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a:extLst>
              <a:ext uri="{FF2B5EF4-FFF2-40B4-BE49-F238E27FC236}">
                <a16:creationId xmlns:a16="http://schemas.microsoft.com/office/drawing/2014/main" id="{BCDADC3B-99D9-7E41-94EA-AB23B224185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96509" y="1361312"/>
            <a:ext cx="7987726" cy="1421218"/>
          </a:xfrm>
          <a:prstGeom prst="rect">
            <a:avLst/>
          </a:prstGeom>
        </p:spPr>
      </p:pic>
      <p:graphicFrame>
        <p:nvGraphicFramePr>
          <p:cNvPr id="4" name="Table 3">
            <a:extLst>
              <a:ext uri="{FF2B5EF4-FFF2-40B4-BE49-F238E27FC236}">
                <a16:creationId xmlns:a16="http://schemas.microsoft.com/office/drawing/2014/main" id="{C1A3012B-D47D-884E-BD72-DBB4F0106259}"/>
              </a:ext>
            </a:extLst>
          </p:cNvPr>
          <p:cNvGraphicFramePr>
            <a:graphicFrameLocks noGrp="1"/>
          </p:cNvGraphicFramePr>
          <p:nvPr>
            <p:extLst>
              <p:ext uri="{D42A27DB-BD31-4B8C-83A1-F6EECF244321}">
                <p14:modId xmlns:p14="http://schemas.microsoft.com/office/powerpoint/2010/main" val="2625658936"/>
              </p:ext>
            </p:extLst>
          </p:nvPr>
        </p:nvGraphicFramePr>
        <p:xfrm>
          <a:off x="2843565" y="4163126"/>
          <a:ext cx="7340670" cy="1841500"/>
        </p:xfrm>
        <a:graphic>
          <a:graphicData uri="http://schemas.openxmlformats.org/drawingml/2006/table">
            <a:tbl>
              <a:tblPr firstRow="1" firstCol="1" bandRow="1">
                <a:tableStyleId>{5C22544A-7EE6-4342-B048-85BDC9FD1C3A}</a:tableStyleId>
              </a:tblPr>
              <a:tblGrid>
                <a:gridCol w="7340670">
                  <a:extLst>
                    <a:ext uri="{9D8B030D-6E8A-4147-A177-3AD203B41FA5}">
                      <a16:colId xmlns:a16="http://schemas.microsoft.com/office/drawing/2014/main" val="1699604570"/>
                    </a:ext>
                  </a:extLst>
                </a:gridCol>
              </a:tblGrid>
              <a:tr h="0">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Explanation of Step 1</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73989450"/>
                  </a:ext>
                </a:extLst>
              </a:tr>
              <a:tr h="1536700">
                <a:tc>
                  <a:txBody>
                    <a:bodyPr/>
                    <a:lstStyle/>
                    <a:p>
                      <a:pPr marL="0" marR="0">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9365208"/>
                  </a:ext>
                </a:extLst>
              </a:tr>
            </a:tbl>
          </a:graphicData>
        </a:graphic>
      </p:graphicFrame>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371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62125243"/>
      </p:ext>
    </p:extLst>
  </p:cSld>
  <p:clrMapOvr>
    <a:overrideClrMapping bg1="lt1" tx1="dk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5"/>
        <p:cNvGrpSpPr/>
        <p:nvPr/>
      </p:nvGrpSpPr>
      <p:grpSpPr>
        <a:xfrm>
          <a:off x="0" y="0"/>
          <a:ext cx="0" cy="0"/>
          <a:chOff x="0" y="0"/>
          <a:chExt cx="0" cy="0"/>
        </a:xfrm>
      </p:grpSpPr>
      <p:sp>
        <p:nvSpPr>
          <p:cNvPr id="328" name="Google Shape;328;p20"/>
          <p:cNvSpPr txBox="1"/>
          <p:nvPr/>
        </p:nvSpPr>
        <p:spPr>
          <a:xfrm>
            <a:off x="1364343" y="520393"/>
            <a:ext cx="8970558" cy="2677616"/>
          </a:xfrm>
          <a:prstGeom prst="rect">
            <a:avLst/>
          </a:prstGeom>
          <a:noFill/>
          <a:ln>
            <a:noFill/>
          </a:ln>
        </p:spPr>
        <p:txBody>
          <a:bodyPr spcFirstLastPara="1" wrap="square" lIns="91425" tIns="45700" rIns="91425" bIns="45700" anchor="t" anchorCtr="0">
            <a:spAutoFit/>
          </a:bodyPr>
          <a:lstStyle/>
          <a:p>
            <a:r>
              <a:rPr lang="en-US" sz="2400" b="1" dirty="0">
                <a:latin typeface="Verdana" panose="020B0604030504040204" pitchFamily="34" charset="0"/>
                <a:ea typeface="Verdana" panose="020B0604030504040204" pitchFamily="34" charset="0"/>
                <a:cs typeface="Verdana" panose="020B0604030504040204" pitchFamily="34" charset="0"/>
              </a:rPr>
              <a:t>Step 2</a:t>
            </a: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329" name="Google Shape;329;p20"/>
          <p:cNvSpPr/>
          <p:nvPr/>
        </p:nvSpPr>
        <p:spPr>
          <a:xfrm>
            <a:off x="2045"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4" name="Table 3">
            <a:extLst>
              <a:ext uri="{FF2B5EF4-FFF2-40B4-BE49-F238E27FC236}">
                <a16:creationId xmlns:a16="http://schemas.microsoft.com/office/drawing/2014/main" id="{C1A3012B-D47D-884E-BD72-DBB4F0106259}"/>
              </a:ext>
            </a:extLst>
          </p:cNvPr>
          <p:cNvGraphicFramePr>
            <a:graphicFrameLocks noGrp="1"/>
          </p:cNvGraphicFramePr>
          <p:nvPr>
            <p:extLst>
              <p:ext uri="{D42A27DB-BD31-4B8C-83A1-F6EECF244321}">
                <p14:modId xmlns:p14="http://schemas.microsoft.com/office/powerpoint/2010/main" val="2306045326"/>
              </p:ext>
            </p:extLst>
          </p:nvPr>
        </p:nvGraphicFramePr>
        <p:xfrm>
          <a:off x="2843565" y="3198010"/>
          <a:ext cx="7340670" cy="2675519"/>
        </p:xfrm>
        <a:graphic>
          <a:graphicData uri="http://schemas.openxmlformats.org/drawingml/2006/table">
            <a:tbl>
              <a:tblPr firstRow="1" firstCol="1" bandRow="1">
                <a:tableStyleId>{5C22544A-7EE6-4342-B048-85BDC9FD1C3A}</a:tableStyleId>
              </a:tblPr>
              <a:tblGrid>
                <a:gridCol w="7340670">
                  <a:extLst>
                    <a:ext uri="{9D8B030D-6E8A-4147-A177-3AD203B41FA5}">
                      <a16:colId xmlns:a16="http://schemas.microsoft.com/office/drawing/2014/main" val="1699604570"/>
                    </a:ext>
                  </a:extLst>
                </a:gridCol>
              </a:tblGrid>
              <a:tr h="319891">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Explanation of Step 2</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73989450"/>
                  </a:ext>
                </a:extLst>
              </a:tr>
              <a:tr h="2355628">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9365208"/>
                  </a:ext>
                </a:extLst>
              </a:tr>
            </a:tbl>
          </a:graphicData>
        </a:graphic>
      </p:graphicFrame>
      <p:pic>
        <p:nvPicPr>
          <p:cNvPr id="2" name="Picture 1">
            <a:extLst>
              <a:ext uri="{FF2B5EF4-FFF2-40B4-BE49-F238E27FC236}">
                <a16:creationId xmlns:a16="http://schemas.microsoft.com/office/drawing/2014/main" id="{65587427-EF9E-3248-9E89-DC2003E1EBAA}"/>
              </a:ext>
            </a:extLst>
          </p:cNvPr>
          <p:cNvPicPr>
            <a:picLocks noChangeAspect="1"/>
          </p:cNvPicPr>
          <p:nvPr/>
        </p:nvPicPr>
        <p:blipFill>
          <a:blip r:embed="rId4"/>
          <a:stretch>
            <a:fillRect/>
          </a:stretch>
        </p:blipFill>
        <p:spPr>
          <a:xfrm>
            <a:off x="5514750" y="1253629"/>
            <a:ext cx="1162500" cy="1422438"/>
          </a:xfrm>
          <a:prstGeom prst="rect">
            <a:avLst/>
          </a:prstGeom>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124976602"/>
      </p:ext>
    </p:extLst>
  </p:cSld>
  <p:clrMapOvr>
    <a:overrideClrMapping bg1="lt1" tx1="dk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5"/>
        <p:cNvGrpSpPr/>
        <p:nvPr/>
      </p:nvGrpSpPr>
      <p:grpSpPr>
        <a:xfrm>
          <a:off x="0" y="0"/>
          <a:ext cx="0" cy="0"/>
          <a:chOff x="0" y="0"/>
          <a:chExt cx="0" cy="0"/>
        </a:xfrm>
      </p:grpSpPr>
      <p:pic>
        <p:nvPicPr>
          <p:cNvPr id="6" name="Picture 5" descr="A picture containing diagram&#10;&#10;Description automatically generated">
            <a:extLst>
              <a:ext uri="{FF2B5EF4-FFF2-40B4-BE49-F238E27FC236}">
                <a16:creationId xmlns:a16="http://schemas.microsoft.com/office/drawing/2014/main" id="{251E1F47-D253-B145-9E21-91F17E50315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81378" y="1253629"/>
            <a:ext cx="1029244" cy="1422439"/>
          </a:xfrm>
          <a:prstGeom prst="rect">
            <a:avLst/>
          </a:prstGeom>
        </p:spPr>
      </p:pic>
      <p:sp>
        <p:nvSpPr>
          <p:cNvPr id="328" name="Google Shape;328;p20"/>
          <p:cNvSpPr txBox="1"/>
          <p:nvPr/>
        </p:nvSpPr>
        <p:spPr>
          <a:xfrm>
            <a:off x="1291771" y="520393"/>
            <a:ext cx="9043130" cy="2677616"/>
          </a:xfrm>
          <a:prstGeom prst="rect">
            <a:avLst/>
          </a:prstGeom>
          <a:noFill/>
          <a:ln>
            <a:noFill/>
          </a:ln>
        </p:spPr>
        <p:txBody>
          <a:bodyPr spcFirstLastPara="1" wrap="square" lIns="91425" tIns="45700" rIns="91425" bIns="45700" anchor="t" anchorCtr="0">
            <a:spAutoFit/>
          </a:bodyPr>
          <a:lstStyle/>
          <a:p>
            <a:r>
              <a:rPr lang="en-US" sz="2400" b="1" dirty="0">
                <a:latin typeface="Verdana" panose="020B0604030504040204" pitchFamily="34" charset="0"/>
                <a:ea typeface="Verdana" panose="020B0604030504040204" pitchFamily="34" charset="0"/>
                <a:cs typeface="Verdana" panose="020B0604030504040204" pitchFamily="34" charset="0"/>
              </a:rPr>
              <a:t>Step 3</a:t>
            </a: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4" name="Table 3">
            <a:extLst>
              <a:ext uri="{FF2B5EF4-FFF2-40B4-BE49-F238E27FC236}">
                <a16:creationId xmlns:a16="http://schemas.microsoft.com/office/drawing/2014/main" id="{C1A3012B-D47D-884E-BD72-DBB4F0106259}"/>
              </a:ext>
            </a:extLst>
          </p:cNvPr>
          <p:cNvGraphicFramePr>
            <a:graphicFrameLocks noGrp="1"/>
          </p:cNvGraphicFramePr>
          <p:nvPr>
            <p:extLst>
              <p:ext uri="{D42A27DB-BD31-4B8C-83A1-F6EECF244321}">
                <p14:modId xmlns:p14="http://schemas.microsoft.com/office/powerpoint/2010/main" val="1142951053"/>
              </p:ext>
            </p:extLst>
          </p:nvPr>
        </p:nvGraphicFramePr>
        <p:xfrm>
          <a:off x="2843565" y="3198010"/>
          <a:ext cx="7340670" cy="2675519"/>
        </p:xfrm>
        <a:graphic>
          <a:graphicData uri="http://schemas.openxmlformats.org/drawingml/2006/table">
            <a:tbl>
              <a:tblPr firstRow="1" firstCol="1" bandRow="1">
                <a:tableStyleId>{5C22544A-7EE6-4342-B048-85BDC9FD1C3A}</a:tableStyleId>
              </a:tblPr>
              <a:tblGrid>
                <a:gridCol w="7340670">
                  <a:extLst>
                    <a:ext uri="{9D8B030D-6E8A-4147-A177-3AD203B41FA5}">
                      <a16:colId xmlns:a16="http://schemas.microsoft.com/office/drawing/2014/main" val="1699604570"/>
                    </a:ext>
                  </a:extLst>
                </a:gridCol>
              </a:tblGrid>
              <a:tr h="319891">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Explanation of Step 3</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73989450"/>
                  </a:ext>
                </a:extLst>
              </a:tr>
              <a:tr h="2355628">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9365208"/>
                  </a:ext>
                </a:extLst>
              </a:tr>
            </a:tbl>
          </a:graphicData>
        </a:graphic>
      </p:graphicFrame>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169627991"/>
      </p:ext>
    </p:extLst>
  </p:cSld>
  <p:clrMapOvr>
    <a:overrideClrMapping bg1="lt1" tx1="dk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1016000" y="520393"/>
            <a:ext cx="10310666" cy="1415732"/>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2"/>
            </a:pPr>
            <a:r>
              <a:rPr lang="en-US" sz="2400" dirty="0">
                <a:latin typeface="Verdana"/>
                <a:ea typeface="Verdana"/>
                <a:cs typeface="Verdana"/>
              </a:rPr>
              <a:t>Discuss with your partner how the operation used in the equation relates to the operation used in the solution. Summarize your discussion.</a:t>
            </a:r>
          </a:p>
          <a:p>
            <a:pPr marL="342900" indent="-342900">
              <a:buFont typeface="+mj-lt"/>
              <a:buAutoNum type="alphaLcPeriod" startAt="2"/>
            </a:pPr>
            <a:endParaRPr dirty="0"/>
          </a:p>
        </p:txBody>
      </p:sp>
      <p:sp>
        <p:nvSpPr>
          <p:cNvPr id="239" name="Google Shape;239;p1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760609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78435" y="-17093"/>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33BEA6"/>
                </a:solidFill>
                <a:latin typeface="Verdana"/>
                <a:ea typeface="Verdana"/>
                <a:cs typeface="Verdana"/>
                <a:sym typeface="Verdana"/>
              </a:rPr>
              <a:t>14.6.4 Collaboration: </a:t>
            </a:r>
            <a:r>
              <a:rPr lang="en-US" sz="3200" b="1" dirty="0">
                <a:solidFill>
                  <a:srgbClr val="33BEA6"/>
                </a:solidFill>
                <a:latin typeface="Verdana"/>
                <a:ea typeface="Verdana"/>
                <a:cs typeface="Verdana"/>
              </a:rPr>
              <a:t>Matching Equations and Solutions </a:t>
            </a:r>
            <a:endParaRPr sz="3200" b="1" dirty="0">
              <a:solidFill>
                <a:srgbClr val="33BEA6"/>
              </a:solidFill>
              <a:latin typeface="Verdana"/>
              <a:ea typeface="Verdana"/>
              <a:cs typeface="Verdana"/>
            </a:endParaRPr>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72197" y="270853"/>
            <a:ext cx="749808" cy="749808"/>
          </a:xfrm>
          <a:prstGeom prst="rect">
            <a:avLst/>
          </a:prstGeom>
          <a:noFill/>
          <a:ln>
            <a:noFill/>
          </a:ln>
          <a:effectLst>
            <a:outerShdw blurRad="50800" dist="38100" dir="2700000" algn="tl" rotWithShape="0">
              <a:srgbClr val="000000">
                <a:alpha val="40000"/>
              </a:srgbClr>
            </a:outerShdw>
          </a:effectLst>
        </p:spPr>
      </p:pic>
      <p:sp>
        <p:nvSpPr>
          <p:cNvPr id="199" name="Google Shape;199;p7"/>
          <p:cNvSpPr txBox="1"/>
          <p:nvPr/>
        </p:nvSpPr>
        <p:spPr>
          <a:xfrm>
            <a:off x="1422005" y="1386026"/>
            <a:ext cx="7112395" cy="132339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Match each equation to the correct solution. Record the equation with its solution in the table. Some solutions may be used more than once or not at all. Include an explanation for the match. </a:t>
            </a:r>
          </a:p>
        </p:txBody>
      </p:sp>
      <p:sp>
        <p:nvSpPr>
          <p:cNvPr id="200" name="Google Shape;200;p7"/>
          <p:cNvSpPr/>
          <p:nvPr/>
        </p:nvSpPr>
        <p:spPr>
          <a:xfrm>
            <a:off x="0" y="4642"/>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10" name="Rectangle: Rounded Corners 83">
                <a:extLst>
                  <a:ext uri="{FF2B5EF4-FFF2-40B4-BE49-F238E27FC236}">
                    <a16:creationId xmlns:a16="http://schemas.microsoft.com/office/drawing/2014/main" id="{2BFF30C0-8A74-D54E-950E-591477B8F6A4}"/>
                  </a:ext>
                </a:extLst>
              </p:cNvPr>
              <p:cNvSpPr/>
              <p:nvPr/>
            </p:nvSpPr>
            <p:spPr>
              <a:xfrm>
                <a:off x="8686801" y="1296184"/>
                <a:ext cx="1587500" cy="4796250"/>
              </a:xfrm>
              <a:prstGeom prst="roundRect">
                <a:avLst/>
              </a:prstGeom>
              <a:ln w="9525"/>
            </p:spPr>
            <p:style>
              <a:lnRef idx="2">
                <a:schemeClr val="dk1"/>
              </a:lnRef>
              <a:fillRef idx="1">
                <a:schemeClr val="lt1"/>
              </a:fillRef>
              <a:effectRef idx="0">
                <a:schemeClr val="dk1"/>
              </a:effectRef>
              <a:fontRef idx="minor">
                <a:schemeClr val="dk1"/>
              </a:fontRef>
            </p:style>
            <p:txBody>
              <a:bodyPr rot="0" spcFirstLastPara="0" vert="horz" wrap="square" lIns="0" tIns="45720" rIns="0" bIns="45720" numCol="1" spcCol="0" rtlCol="0" fromWordArt="0" anchor="t" anchorCtr="0" forceAA="0" compatLnSpc="1">
                <a:prstTxWarp prst="textNoShape">
                  <a:avLst/>
                </a:prstTxWarp>
                <a:noAutofit/>
              </a:bodyPr>
              <a:lstStyle/>
              <a:p>
                <a:pPr marL="342900" indent="-342900">
                  <a:lnSpc>
                    <a:spcPct val="200000"/>
                  </a:lnSpc>
                  <a:buFont typeface="Verdana" panose="020B0604030504040204" pitchFamily="34" charset="0"/>
                  <a:buAutoNum type="arabicPeriod"/>
                </a:pPr>
                <a14:m>
                  <m:oMath xmlns:m="http://schemas.openxmlformats.org/officeDocument/2006/math">
                    <m:r>
                      <a:rPr lang="en-US" sz="1800">
                        <a:latin typeface="Cambria Math" panose="02040503050406030204" pitchFamily="18" charset="0"/>
                        <a:ea typeface="Times New Roman" panose="02020603050405020304" pitchFamily="18" charset="0"/>
                        <a:cs typeface="Times New Roman" panose="02020603050405020304" pitchFamily="18" charset="0"/>
                      </a:rPr>
                      <m:t>−3</m:t>
                    </m:r>
                    <m:r>
                      <m:rPr>
                        <m:sty m:val="p"/>
                      </m:rPr>
                      <a:rPr lang="en-US" sz="1800">
                        <a:latin typeface="Cambria Math" panose="02040503050406030204" pitchFamily="18" charset="0"/>
                        <a:ea typeface="Times New Roman" panose="02020603050405020304" pitchFamily="18" charset="0"/>
                        <a:cs typeface="Times New Roman" panose="02020603050405020304" pitchFamily="18" charset="0"/>
                      </a:rPr>
                      <m:t>x</m:t>
                    </m:r>
                    <m:r>
                      <a:rPr lang="en-US" sz="1800">
                        <a:latin typeface="Cambria Math" panose="02040503050406030204" pitchFamily="18" charset="0"/>
                        <a:ea typeface="Times New Roman" panose="02020603050405020304" pitchFamily="18" charset="0"/>
                        <a:cs typeface="Times New Roman" panose="02020603050405020304" pitchFamily="18" charset="0"/>
                      </a:rPr>
                      <m:t>=−6</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200000"/>
                  </a:lnSpc>
                  <a:buFont typeface="Verdana" panose="020B0604030504040204" pitchFamily="34" charset="0"/>
                  <a:buAutoNum type="arabicPeriod"/>
                </a:pPr>
                <a14:m>
                  <m:oMath xmlns:m="http://schemas.openxmlformats.org/officeDocument/2006/math">
                    <m:r>
                      <a:rPr lang="en-US" sz="180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US" sz="1800">
                            <a:latin typeface="Cambria Math" panose="02040503050406030204" pitchFamily="18" charset="0"/>
                            <a:ea typeface="Times New Roman" panose="02020603050405020304" pitchFamily="18" charset="0"/>
                            <a:cs typeface="Times New Roman" panose="02020603050405020304" pitchFamily="18" charset="0"/>
                          </a:rPr>
                          <m:t>x</m:t>
                        </m:r>
                      </m:num>
                      <m:den>
                        <m:r>
                          <a:rPr lang="en-US" sz="1800">
                            <a:latin typeface="Cambria Math" panose="02040503050406030204" pitchFamily="18" charset="0"/>
                            <a:ea typeface="Times New Roman" panose="02020603050405020304" pitchFamily="18" charset="0"/>
                            <a:cs typeface="Times New Roman" panose="02020603050405020304" pitchFamily="18" charset="0"/>
                          </a:rPr>
                          <m:t>2</m:t>
                        </m:r>
                      </m:den>
                    </m:f>
                    <m:r>
                      <a:rPr lang="en-US" sz="1800">
                        <a:latin typeface="Cambria Math" panose="02040503050406030204" pitchFamily="18" charset="0"/>
                        <a:ea typeface="Times New Roman" panose="02020603050405020304" pitchFamily="18" charset="0"/>
                        <a:cs typeface="Times New Roman" panose="02020603050405020304" pitchFamily="18" charset="0"/>
                      </a:rPr>
                      <m:t>=4</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200000"/>
                  </a:lnSpc>
                  <a:buFont typeface="Verdana" panose="020B0604030504040204" pitchFamily="34" charset="0"/>
                  <a:buAutoNum type="arabicPeriod"/>
                </a:pPr>
                <a14:m>
                  <m:oMath xmlns:m="http://schemas.openxmlformats.org/officeDocument/2006/math">
                    <m:f>
                      <m:fPr>
                        <m:ctrlPr>
                          <a:rPr lang="en-US" sz="18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US" sz="1800">
                            <a:latin typeface="Cambria Math" panose="02040503050406030204" pitchFamily="18" charset="0"/>
                            <a:ea typeface="Times New Roman" panose="02020603050405020304" pitchFamily="18" charset="0"/>
                            <a:cs typeface="Times New Roman" panose="02020603050405020304" pitchFamily="18" charset="0"/>
                          </a:rPr>
                          <m:t>x</m:t>
                        </m:r>
                      </m:num>
                      <m:den>
                        <m:r>
                          <a:rPr lang="en-US" sz="1800">
                            <a:latin typeface="Cambria Math" panose="02040503050406030204" pitchFamily="18" charset="0"/>
                            <a:ea typeface="Times New Roman" panose="02020603050405020304" pitchFamily="18" charset="0"/>
                            <a:cs typeface="Times New Roman" panose="02020603050405020304" pitchFamily="18" charset="0"/>
                          </a:rPr>
                          <m:t>3</m:t>
                        </m:r>
                      </m:den>
                    </m:f>
                    <m:r>
                      <a:rPr lang="en-US" sz="1800">
                        <a:latin typeface="Cambria Math" panose="02040503050406030204" pitchFamily="18" charset="0"/>
                        <a:ea typeface="Times New Roman" panose="02020603050405020304" pitchFamily="18" charset="0"/>
                        <a:cs typeface="Times New Roman" panose="02020603050405020304" pitchFamily="18" charset="0"/>
                      </a:rPr>
                      <m:t>=3</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200000"/>
                  </a:lnSpc>
                  <a:buFont typeface="Verdana" panose="020B0604030504040204" pitchFamily="34" charset="0"/>
                  <a:buAutoNum type="arabicPeriod"/>
                </a:pPr>
                <a14:m>
                  <m:oMath xmlns:m="http://schemas.openxmlformats.org/officeDocument/2006/math">
                    <m:r>
                      <a:rPr lang="en-US" sz="180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US" sz="1800">
                            <a:latin typeface="Cambria Math" panose="02040503050406030204" pitchFamily="18" charset="0"/>
                            <a:ea typeface="Times New Roman" panose="02020603050405020304" pitchFamily="18" charset="0"/>
                            <a:cs typeface="Times New Roman" panose="02020603050405020304" pitchFamily="18" charset="0"/>
                          </a:rPr>
                          <m:t>x</m:t>
                        </m:r>
                      </m:num>
                      <m:den>
                        <m:r>
                          <a:rPr lang="en-US" sz="1800">
                            <a:latin typeface="Cambria Math" panose="02040503050406030204" pitchFamily="18" charset="0"/>
                            <a:ea typeface="Times New Roman" panose="02020603050405020304" pitchFamily="18" charset="0"/>
                            <a:cs typeface="Times New Roman" panose="02020603050405020304" pitchFamily="18" charset="0"/>
                          </a:rPr>
                          <m:t>2</m:t>
                        </m:r>
                      </m:den>
                    </m:f>
                    <m:r>
                      <a:rPr lang="en-US" sz="1800">
                        <a:latin typeface="Cambria Math" panose="02040503050406030204" pitchFamily="18" charset="0"/>
                        <a:ea typeface="Times New Roman" panose="02020603050405020304" pitchFamily="18" charset="0"/>
                        <a:cs typeface="Times New Roman" panose="02020603050405020304" pitchFamily="18" charset="0"/>
                      </a:rPr>
                      <m:t>=5</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200000"/>
                  </a:lnSpc>
                  <a:buFont typeface="Verdana" panose="020B0604030504040204" pitchFamily="34" charset="0"/>
                  <a:buAutoNum type="arabicPeriod"/>
                </a:pPr>
                <a14:m>
                  <m:oMath xmlns:m="http://schemas.openxmlformats.org/officeDocument/2006/math">
                    <m:r>
                      <a:rPr lang="en-US" sz="1800">
                        <a:latin typeface="Cambria Math" panose="02040503050406030204" pitchFamily="18" charset="0"/>
                        <a:ea typeface="Times New Roman" panose="02020603050405020304" pitchFamily="18" charset="0"/>
                        <a:cs typeface="Times New Roman" panose="02020603050405020304" pitchFamily="18" charset="0"/>
                      </a:rPr>
                      <m:t>3</m:t>
                    </m:r>
                    <m:r>
                      <m:rPr>
                        <m:sty m:val="p"/>
                      </m:rPr>
                      <a:rPr lang="en-US" sz="1800">
                        <a:latin typeface="Cambria Math" panose="02040503050406030204" pitchFamily="18" charset="0"/>
                        <a:ea typeface="Times New Roman" panose="02020603050405020304" pitchFamily="18" charset="0"/>
                        <a:cs typeface="Times New Roman" panose="02020603050405020304" pitchFamily="18" charset="0"/>
                      </a:rPr>
                      <m:t>x</m:t>
                    </m:r>
                    <m:r>
                      <a:rPr lang="en-US" sz="1800">
                        <a:latin typeface="Cambria Math" panose="02040503050406030204" pitchFamily="18" charset="0"/>
                        <a:ea typeface="Times New Roman" panose="02020603050405020304" pitchFamily="18" charset="0"/>
                        <a:cs typeface="Times New Roman" panose="02020603050405020304" pitchFamily="18" charset="0"/>
                      </a:rPr>
                      <m:t>=9</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200000"/>
                  </a:lnSpc>
                  <a:buFont typeface="Verdana" panose="020B0604030504040204" pitchFamily="34" charset="0"/>
                  <a:buAutoNum type="arabicPeriod"/>
                </a:pPr>
                <a14:m>
                  <m:oMath xmlns:m="http://schemas.openxmlformats.org/officeDocument/2006/math">
                    <m:f>
                      <m:fPr>
                        <m:ctrlPr>
                          <a:rPr lang="en-US" sz="18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US" sz="1800">
                            <a:latin typeface="Cambria Math" panose="02040503050406030204" pitchFamily="18" charset="0"/>
                            <a:ea typeface="Times New Roman" panose="02020603050405020304" pitchFamily="18" charset="0"/>
                            <a:cs typeface="Times New Roman" panose="02020603050405020304" pitchFamily="18" charset="0"/>
                          </a:rPr>
                          <m:t>x</m:t>
                        </m:r>
                      </m:num>
                      <m:den>
                        <m:r>
                          <a:rPr lang="en-US" sz="1800">
                            <a:latin typeface="Cambria Math" panose="02040503050406030204" pitchFamily="18" charset="0"/>
                            <a:ea typeface="Times New Roman" panose="02020603050405020304" pitchFamily="18" charset="0"/>
                            <a:cs typeface="Times New Roman" panose="02020603050405020304" pitchFamily="18" charset="0"/>
                          </a:rPr>
                          <m:t>10</m:t>
                        </m:r>
                      </m:den>
                    </m:f>
                    <m:r>
                      <a:rPr lang="en-US" sz="1800">
                        <a:latin typeface="Cambria Math" panose="02040503050406030204" pitchFamily="18" charset="0"/>
                        <a:ea typeface="Times New Roman" panose="02020603050405020304" pitchFamily="18" charset="0"/>
                        <a:cs typeface="Times New Roman" panose="02020603050405020304" pitchFamily="18" charset="0"/>
                      </a:rPr>
                      <m:t>=−2</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200000"/>
                  </a:lnSpc>
                  <a:spcAft>
                    <a:spcPts val="1000"/>
                  </a:spcAft>
                  <a:buFont typeface="Verdana" panose="020B0604030504040204" pitchFamily="34" charset="0"/>
                  <a:buAutoNum type="arabicPeriod"/>
                </a:pPr>
                <a14:m>
                  <m:oMath xmlns:m="http://schemas.openxmlformats.org/officeDocument/2006/math">
                    <m:r>
                      <a:rPr lang="en-US" sz="1800">
                        <a:latin typeface="Cambria Math" panose="02040503050406030204" pitchFamily="18" charset="0"/>
                        <a:ea typeface="Times New Roman" panose="02020603050405020304" pitchFamily="18" charset="0"/>
                        <a:cs typeface="Times New Roman" panose="02020603050405020304" pitchFamily="18" charset="0"/>
                      </a:rPr>
                      <m:t>4</m:t>
                    </m:r>
                    <m:r>
                      <m:rPr>
                        <m:sty m:val="p"/>
                      </m:rPr>
                      <a:rPr lang="en-US" sz="1800">
                        <a:latin typeface="Cambria Math" panose="02040503050406030204" pitchFamily="18" charset="0"/>
                        <a:ea typeface="Times New Roman" panose="02020603050405020304" pitchFamily="18" charset="0"/>
                        <a:cs typeface="Times New Roman" panose="02020603050405020304" pitchFamily="18" charset="0"/>
                      </a:rPr>
                      <m:t>x</m:t>
                    </m:r>
                    <m:r>
                      <a:rPr lang="en-US" sz="1800">
                        <a:latin typeface="Cambria Math" panose="02040503050406030204" pitchFamily="18" charset="0"/>
                        <a:ea typeface="Times New Roman" panose="02020603050405020304" pitchFamily="18" charset="0"/>
                        <a:cs typeface="Times New Roman" panose="02020603050405020304" pitchFamily="18" charset="0"/>
                      </a:rPr>
                      <m:t>=8</m:t>
                    </m:r>
                  </m:oMath>
                </a14:m>
                <a:endParaRPr lang="en-US" sz="1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Rectangle: Rounded Corners 83">
                <a:extLst>
                  <a:ext uri="{FF2B5EF4-FFF2-40B4-BE49-F238E27FC236}">
                    <a16:creationId xmlns:a16="http://schemas.microsoft.com/office/drawing/2014/main" id="{2BFF30C0-8A74-D54E-950E-591477B8F6A4}"/>
                  </a:ext>
                </a:extLst>
              </p:cNvPr>
              <p:cNvSpPr>
                <a:spLocks noRot="1" noChangeAspect="1" noMove="1" noResize="1" noEditPoints="1" noAdjustHandles="1" noChangeArrowheads="1" noChangeShapeType="1" noTextEdit="1"/>
              </p:cNvSpPr>
              <p:nvPr/>
            </p:nvSpPr>
            <p:spPr>
              <a:xfrm>
                <a:off x="7162801" y="1296184"/>
                <a:ext cx="1587500" cy="4796250"/>
              </a:xfrm>
              <a:prstGeom prst="roundRect">
                <a:avLst/>
              </a:prstGeom>
              <a:blipFill>
                <a:blip r:embed="rId5"/>
                <a:stretch>
                  <a:fillRect l="-2362"/>
                </a:stretch>
              </a:blipFill>
              <a:ln w="9525"/>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58A4AF5-366D-7842-9E08-8A43832AB041}"/>
                  </a:ext>
                </a:extLst>
              </p:cNvPr>
              <p:cNvGraphicFramePr>
                <a:graphicFrameLocks noGrp="1"/>
              </p:cNvGraphicFramePr>
              <p:nvPr>
                <p:extLst>
                  <p:ext uri="{D42A27DB-BD31-4B8C-83A1-F6EECF244321}">
                    <p14:modId xmlns:p14="http://schemas.microsoft.com/office/powerpoint/2010/main" val="651184522"/>
                  </p:ext>
                </p:extLst>
              </p:nvPr>
            </p:nvGraphicFramePr>
            <p:xfrm>
              <a:off x="2536572" y="3437692"/>
              <a:ext cx="3687445" cy="2890520"/>
            </p:xfrm>
            <a:graphic>
              <a:graphicData uri="http://schemas.openxmlformats.org/drawingml/2006/table">
                <a:tbl>
                  <a:tblPr firstRow="1" firstCol="1" bandRow="1">
                    <a:tableStyleId>{5C22544A-7EE6-4342-B048-85BDC9FD1C3A}</a:tableStyleId>
                  </a:tblPr>
                  <a:tblGrid>
                    <a:gridCol w="1756410">
                      <a:extLst>
                        <a:ext uri="{9D8B030D-6E8A-4147-A177-3AD203B41FA5}">
                          <a16:colId xmlns:a16="http://schemas.microsoft.com/office/drawing/2014/main" val="2727244757"/>
                        </a:ext>
                      </a:extLst>
                    </a:gridCol>
                    <a:gridCol w="1931035">
                      <a:extLst>
                        <a:ext uri="{9D8B030D-6E8A-4147-A177-3AD203B41FA5}">
                          <a16:colId xmlns:a16="http://schemas.microsoft.com/office/drawing/2014/main" val="2456490166"/>
                        </a:ext>
                      </a:extLst>
                    </a:gridCol>
                  </a:tblGrid>
                  <a:tr h="722630">
                    <a:tc>
                      <a:txBody>
                        <a:bodyPr/>
                        <a:lstStyle/>
                        <a:p>
                          <a:pPr marL="0" marR="0">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r>
                                <a:rPr lang="en-US" sz="1800" b="0" i="1">
                                  <a:solidFill>
                                    <a:schemeClr val="tx1"/>
                                  </a:solidFill>
                                  <a:effectLst/>
                                  <a:latin typeface="Cambria Math" panose="02040503050406030204" pitchFamily="18" charset="0"/>
                                </a:rPr>
                                <m:t>𝑥</m:t>
                              </m:r>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2</m:t>
                              </m:r>
                            </m:oMath>
                          </a14:m>
                          <a:endPar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E. </a:t>
                          </a:r>
                          <a14:m>
                            <m:oMath xmlns:m="http://schemas.openxmlformats.org/officeDocument/2006/math">
                              <m:r>
                                <a:rPr lang="en-US" sz="1800" b="0" i="1">
                                  <a:solidFill>
                                    <a:schemeClr val="tx1"/>
                                  </a:solidFill>
                                  <a:effectLst/>
                                  <a:latin typeface="Cambria Math" panose="02040503050406030204" pitchFamily="18" charset="0"/>
                                </a:rPr>
                                <m:t>𝑥</m:t>
                              </m:r>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3</m:t>
                              </m:r>
                            </m:oMath>
                          </a14:m>
                          <a:endParaRPr lang="en-US" sz="12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65780"/>
                      </a:ext>
                    </a:extLst>
                  </a:tr>
                  <a:tr h="722630">
                    <a:tc>
                      <a:txBody>
                        <a:bodyPr/>
                        <a:lstStyle/>
                        <a:p>
                          <a:pPr marL="0" marR="0">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US" sz="1800" b="0" i="1">
                                  <a:solidFill>
                                    <a:schemeClr val="tx1"/>
                                  </a:solidFill>
                                  <a:effectLst/>
                                  <a:latin typeface="Cambria Math" panose="02040503050406030204" pitchFamily="18" charset="0"/>
                                </a:rPr>
                                <m:t>𝑥</m:t>
                              </m:r>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20</m:t>
                              </m:r>
                            </m:oMath>
                          </a14:m>
                          <a:endPar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F. </a:t>
                          </a:r>
                          <a14:m>
                            <m:oMath xmlns:m="http://schemas.openxmlformats.org/officeDocument/2006/math">
                              <m:r>
                                <a:rPr lang="en-US" sz="1800" b="0" i="1">
                                  <a:solidFill>
                                    <a:schemeClr val="tx1"/>
                                  </a:solidFill>
                                  <a:effectLst/>
                                  <a:latin typeface="Cambria Math" panose="02040503050406030204" pitchFamily="18" charset="0"/>
                                </a:rPr>
                                <m:t>𝑥</m:t>
                              </m:r>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10</m:t>
                              </m:r>
                            </m:oMath>
                          </a14:m>
                          <a:endParaRPr lang="en-US" sz="12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8284298"/>
                      </a:ext>
                    </a:extLst>
                  </a:tr>
                  <a:tr h="722630">
                    <a:tc>
                      <a:txBody>
                        <a:bodyPr/>
                        <a:lstStyle/>
                        <a:p>
                          <a:pPr marL="0" marR="0">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r>
                                <a:rPr lang="en-US" sz="1800" b="0" i="1">
                                  <a:solidFill>
                                    <a:schemeClr val="tx1"/>
                                  </a:solidFill>
                                  <a:effectLst/>
                                  <a:latin typeface="Cambria Math" panose="02040503050406030204" pitchFamily="18" charset="0"/>
                                </a:rPr>
                                <m:t>𝑥</m:t>
                              </m:r>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10</m:t>
                              </m:r>
                            </m:oMath>
                          </a14:m>
                          <a:endPar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 </a:t>
                          </a:r>
                          <a14:m>
                            <m:oMath xmlns:m="http://schemas.openxmlformats.org/officeDocument/2006/math">
                              <m:r>
                                <a:rPr lang="en-US" sz="1800" b="0" i="1">
                                  <a:solidFill>
                                    <a:schemeClr val="tx1"/>
                                  </a:solidFill>
                                  <a:effectLst/>
                                  <a:latin typeface="Cambria Math" panose="02040503050406030204" pitchFamily="18" charset="0"/>
                                </a:rPr>
                                <m:t>𝑥</m:t>
                              </m:r>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8</m:t>
                              </m:r>
                            </m:oMath>
                          </a14:m>
                          <a:endPar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5714590"/>
                      </a:ext>
                    </a:extLst>
                  </a:tr>
                  <a:tr h="722630">
                    <a:tc>
                      <a:txBody>
                        <a:bodyPr/>
                        <a:lstStyle/>
                        <a:p>
                          <a:pPr marL="0" marR="0">
                            <a:spcBef>
                              <a:spcPts val="0"/>
                            </a:spcBef>
                            <a:spcAft>
                              <a:spcPts val="0"/>
                            </a:spcAft>
                          </a:pPr>
                          <a:r>
                            <a:rPr lang="en-US" sz="1800" b="0">
                              <a:solidFill>
                                <a:schemeClr val="tx1"/>
                              </a:solidFill>
                              <a:effectLst/>
                              <a:latin typeface="Verdana" panose="020B0604030504040204" pitchFamily="34" charset="0"/>
                              <a:ea typeface="Verdana" panose="020B0604030504040204" pitchFamily="34" charset="0"/>
                              <a:cs typeface="Verdana" panose="020B0604030504040204" pitchFamily="34" charset="0"/>
                            </a:rPr>
                            <a:t>D. </a:t>
                          </a:r>
                          <a14:m>
                            <m:oMath xmlns:m="http://schemas.openxmlformats.org/officeDocument/2006/math">
                              <m:r>
                                <a:rPr lang="en-US" sz="1800" b="0" i="1">
                                  <a:solidFill>
                                    <a:schemeClr val="tx1"/>
                                  </a:solidFill>
                                  <a:effectLst/>
                                  <a:latin typeface="Cambria Math" panose="02040503050406030204" pitchFamily="18" charset="0"/>
                                </a:rPr>
                                <m:t>𝑥</m:t>
                              </m:r>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9</m:t>
                              </m:r>
                            </m:oMath>
                          </a14:m>
                          <a:endParaRPr lang="en-US" sz="1200" b="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H. </a:t>
                          </a:r>
                          <a14:m>
                            <m:oMath xmlns:m="http://schemas.openxmlformats.org/officeDocument/2006/math">
                              <m:r>
                                <a:rPr lang="en-US" sz="1800" b="0" i="1">
                                  <a:solidFill>
                                    <a:schemeClr val="tx1"/>
                                  </a:solidFill>
                                  <a:effectLst/>
                                  <a:latin typeface="Cambria Math" panose="02040503050406030204" pitchFamily="18" charset="0"/>
                                </a:rPr>
                                <m:t>𝑥</m:t>
                              </m:r>
                              <m:r>
                                <a:rPr lang="en-US" sz="1800" b="0">
                                  <a:solidFill>
                                    <a:schemeClr val="tx1"/>
                                  </a:solidFill>
                                  <a:effectLst/>
                                  <a:latin typeface="Cambria Math" panose="02040503050406030204" pitchFamily="18" charset="0"/>
                                </a:rPr>
                                <m:t>=−</m:t>
                              </m:r>
                              <m:r>
                                <a:rPr lang="en-US" sz="1800" b="0" i="1">
                                  <a:solidFill>
                                    <a:schemeClr val="tx1"/>
                                  </a:solidFill>
                                  <a:effectLst/>
                                  <a:latin typeface="Cambria Math" panose="02040503050406030204" pitchFamily="18" charset="0"/>
                                </a:rPr>
                                <m:t>3</m:t>
                              </m:r>
                            </m:oMath>
                          </a14:m>
                          <a:endParaRPr lang="en-US" sz="12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555963"/>
                      </a:ext>
                    </a:extLst>
                  </a:tr>
                </a:tbl>
              </a:graphicData>
            </a:graphic>
          </p:graphicFrame>
        </mc:Choice>
        <mc:Fallback xmlns="">
          <p:graphicFrame>
            <p:nvGraphicFramePr>
              <p:cNvPr id="4" name="Table 3">
                <a:extLst>
                  <a:ext uri="{FF2B5EF4-FFF2-40B4-BE49-F238E27FC236}">
                    <a16:creationId xmlns:a16="http://schemas.microsoft.com/office/drawing/2014/main" id="{E58A4AF5-366D-7842-9E08-8A43832AB041}"/>
                  </a:ext>
                </a:extLst>
              </p:cNvPr>
              <p:cNvGraphicFramePr>
                <a:graphicFrameLocks noGrp="1"/>
              </p:cNvGraphicFramePr>
              <p:nvPr>
                <p:extLst>
                  <p:ext uri="{D42A27DB-BD31-4B8C-83A1-F6EECF244321}">
                    <p14:modId xmlns:p14="http://schemas.microsoft.com/office/powerpoint/2010/main" val="651184522"/>
                  </p:ext>
                </p:extLst>
              </p:nvPr>
            </p:nvGraphicFramePr>
            <p:xfrm>
              <a:off x="1012571" y="3437692"/>
              <a:ext cx="3687445" cy="2890520"/>
            </p:xfrm>
            <a:graphic>
              <a:graphicData uri="http://schemas.openxmlformats.org/drawingml/2006/table">
                <a:tbl>
                  <a:tblPr firstRow="1" firstCol="1" bandRow="1">
                    <a:tableStyleId>{5C22544A-7EE6-4342-B048-85BDC9FD1C3A}</a:tableStyleId>
                  </a:tblPr>
                  <a:tblGrid>
                    <a:gridCol w="1756410">
                      <a:extLst>
                        <a:ext uri="{9D8B030D-6E8A-4147-A177-3AD203B41FA5}">
                          <a16:colId xmlns:a16="http://schemas.microsoft.com/office/drawing/2014/main" val="2727244757"/>
                        </a:ext>
                      </a:extLst>
                    </a:gridCol>
                    <a:gridCol w="1931035">
                      <a:extLst>
                        <a:ext uri="{9D8B030D-6E8A-4147-A177-3AD203B41FA5}">
                          <a16:colId xmlns:a16="http://schemas.microsoft.com/office/drawing/2014/main" val="2456490166"/>
                        </a:ext>
                      </a:extLst>
                    </a:gridCol>
                  </a:tblGrid>
                  <a:tr h="722630">
                    <a:tc>
                      <a:txBody>
                        <a:bodyPr/>
                        <a:lstStyle/>
                        <a:p>
                          <a:endParaRPr lang="en-US"/>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blipFill>
                          <a:blip r:embed="rId6"/>
                          <a:stretch>
                            <a:fillRect r="-110791" b="-303509"/>
                          </a:stretch>
                        </a:blipFill>
                      </a:tcPr>
                    </a:tc>
                    <a:tc>
                      <a:txBody>
                        <a:bodyPr/>
                        <a:lstStyle/>
                        <a:p>
                          <a:endParaRPr lang="en-US"/>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blipFill>
                          <a:blip r:embed="rId6"/>
                          <a:stretch>
                            <a:fillRect l="-90850" r="-654" b="-303509"/>
                          </a:stretch>
                        </a:blipFill>
                      </a:tcPr>
                    </a:tc>
                    <a:extLst>
                      <a:ext uri="{0D108BD9-81ED-4DB2-BD59-A6C34878D82A}">
                        <a16:rowId xmlns:a16="http://schemas.microsoft.com/office/drawing/2014/main" val="29165780"/>
                      </a:ext>
                    </a:extLst>
                  </a:tr>
                  <a:tr h="722630">
                    <a:tc>
                      <a:txBody>
                        <a:bodyPr/>
                        <a:lstStyle/>
                        <a:p>
                          <a:endParaRPr lang="en-US"/>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blipFill>
                          <a:blip r:embed="rId6"/>
                          <a:stretch>
                            <a:fillRect t="-98276" r="-110791" b="-198276"/>
                          </a:stretch>
                        </a:blipFill>
                      </a:tcPr>
                    </a:tc>
                    <a:tc>
                      <a:txBody>
                        <a:bodyPr/>
                        <a:lstStyle/>
                        <a:p>
                          <a:endParaRPr lang="en-US"/>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blipFill>
                          <a:blip r:embed="rId6"/>
                          <a:stretch>
                            <a:fillRect l="-90850" t="-98276" r="-654" b="-198276"/>
                          </a:stretch>
                        </a:blipFill>
                      </a:tcPr>
                    </a:tc>
                    <a:extLst>
                      <a:ext uri="{0D108BD9-81ED-4DB2-BD59-A6C34878D82A}">
                        <a16:rowId xmlns:a16="http://schemas.microsoft.com/office/drawing/2014/main" val="4148284298"/>
                      </a:ext>
                    </a:extLst>
                  </a:tr>
                  <a:tr h="722630">
                    <a:tc>
                      <a:txBody>
                        <a:bodyPr/>
                        <a:lstStyle/>
                        <a:p>
                          <a:endParaRPr lang="en-US"/>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blipFill>
                          <a:blip r:embed="rId6"/>
                          <a:stretch>
                            <a:fillRect t="-201754" r="-110791" b="-101754"/>
                          </a:stretch>
                        </a:blipFill>
                      </a:tcPr>
                    </a:tc>
                    <a:tc>
                      <a:txBody>
                        <a:bodyPr/>
                        <a:lstStyle/>
                        <a:p>
                          <a:endParaRPr lang="en-US"/>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blipFill>
                          <a:blip r:embed="rId6"/>
                          <a:stretch>
                            <a:fillRect l="-90850" t="-201754" r="-654" b="-101754"/>
                          </a:stretch>
                        </a:blipFill>
                      </a:tcPr>
                    </a:tc>
                    <a:extLst>
                      <a:ext uri="{0D108BD9-81ED-4DB2-BD59-A6C34878D82A}">
                        <a16:rowId xmlns:a16="http://schemas.microsoft.com/office/drawing/2014/main" val="1005714590"/>
                      </a:ext>
                    </a:extLst>
                  </a:tr>
                  <a:tr h="722630">
                    <a:tc>
                      <a:txBody>
                        <a:bodyPr/>
                        <a:lstStyle/>
                        <a:p>
                          <a:endParaRPr lang="en-US"/>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blipFill>
                          <a:blip r:embed="rId6"/>
                          <a:stretch>
                            <a:fillRect t="-301754" r="-110791" b="-1754"/>
                          </a:stretch>
                        </a:blipFill>
                      </a:tcPr>
                    </a:tc>
                    <a:tc>
                      <a:txBody>
                        <a:bodyPr/>
                        <a:lstStyle/>
                        <a:p>
                          <a:endParaRPr lang="en-US"/>
                        </a:p>
                      </a:txBody>
                      <a:tcPr marL="68580" marR="6858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blipFill>
                          <a:blip r:embed="rId6"/>
                          <a:stretch>
                            <a:fillRect l="-90850" t="-301754" r="-654" b="-1754"/>
                          </a:stretch>
                        </a:blipFill>
                      </a:tcPr>
                    </a:tc>
                    <a:extLst>
                      <a:ext uri="{0D108BD9-81ED-4DB2-BD59-A6C34878D82A}">
                        <a16:rowId xmlns:a16="http://schemas.microsoft.com/office/drawing/2014/main" val="2524555963"/>
                      </a:ext>
                    </a:extLst>
                  </a:tr>
                </a:tbl>
              </a:graphicData>
            </a:graphic>
          </p:graphicFrame>
        </mc:Fallback>
      </mc:AlternateContent>
      <p:sp>
        <p:nvSpPr>
          <p:cNvPr id="11"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372</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895821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9" name="Google Shape;239;p1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id="{62B24471-6572-C84B-B6C6-677BDA461651}"/>
              </a:ext>
            </a:extLst>
          </p:cNvPr>
          <p:cNvGraphicFramePr>
            <a:graphicFrameLocks noGrp="1"/>
          </p:cNvGraphicFramePr>
          <p:nvPr>
            <p:extLst>
              <p:ext uri="{D42A27DB-BD31-4B8C-83A1-F6EECF244321}">
                <p14:modId xmlns:p14="http://schemas.microsoft.com/office/powerpoint/2010/main" val="3115581237"/>
              </p:ext>
            </p:extLst>
          </p:nvPr>
        </p:nvGraphicFramePr>
        <p:xfrm>
          <a:off x="2373086" y="391888"/>
          <a:ext cx="7820593" cy="5657497"/>
        </p:xfrm>
        <a:graphic>
          <a:graphicData uri="http://schemas.openxmlformats.org/drawingml/2006/table">
            <a:tbl>
              <a:tblPr firstRow="1" firstCol="1" bandRow="1">
                <a:tableStyleId>{5C22544A-7EE6-4342-B048-85BDC9FD1C3A}</a:tableStyleId>
              </a:tblPr>
              <a:tblGrid>
                <a:gridCol w="1474966">
                  <a:extLst>
                    <a:ext uri="{9D8B030D-6E8A-4147-A177-3AD203B41FA5}">
                      <a16:colId xmlns:a16="http://schemas.microsoft.com/office/drawing/2014/main" val="3501484568"/>
                    </a:ext>
                  </a:extLst>
                </a:gridCol>
                <a:gridCol w="1392064">
                  <a:extLst>
                    <a:ext uri="{9D8B030D-6E8A-4147-A177-3AD203B41FA5}">
                      <a16:colId xmlns:a16="http://schemas.microsoft.com/office/drawing/2014/main" val="3518220087"/>
                    </a:ext>
                  </a:extLst>
                </a:gridCol>
                <a:gridCol w="4953563">
                  <a:extLst>
                    <a:ext uri="{9D8B030D-6E8A-4147-A177-3AD203B41FA5}">
                      <a16:colId xmlns:a16="http://schemas.microsoft.com/office/drawing/2014/main" val="1057429470"/>
                    </a:ext>
                  </a:extLst>
                </a:gridCol>
              </a:tblGrid>
              <a:tr h="391432">
                <a:tc>
                  <a:txBody>
                    <a:bodyPr/>
                    <a:lstStyle/>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Equation</a:t>
                      </a:r>
                    </a:p>
                  </a:txBody>
                  <a:tcPr marL="38108" marR="38108"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Solution </a:t>
                      </a:r>
                    </a:p>
                  </a:txBody>
                  <a:tcPr marL="38108" marR="38108"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Explanation for Match</a:t>
                      </a:r>
                    </a:p>
                  </a:txBody>
                  <a:tcPr marL="38108" marR="38108"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72273656"/>
                  </a:ext>
                </a:extLst>
              </a:tr>
              <a:tr h="752295">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7531831"/>
                  </a:ext>
                </a:extLst>
              </a:tr>
              <a:tr h="752295">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7387927"/>
                  </a:ext>
                </a:extLst>
              </a:tr>
              <a:tr h="752295">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6084698"/>
                  </a:ext>
                </a:extLst>
              </a:tr>
              <a:tr h="752295">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2958648"/>
                  </a:ext>
                </a:extLst>
              </a:tr>
              <a:tr h="752295">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1231105"/>
                  </a:ext>
                </a:extLst>
              </a:tr>
              <a:tr h="752295">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3890517"/>
                  </a:ext>
                </a:extLst>
              </a:tr>
              <a:tr h="752295">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8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38108" marR="38108"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307788"/>
                  </a:ext>
                </a:extLst>
              </a:tr>
            </a:tbl>
          </a:graphicData>
        </a:graphic>
      </p:graphicFrame>
      <p:sp>
        <p:nvSpPr>
          <p:cNvPr id="6"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373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959418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373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92548" y="-116112"/>
            <a:ext cx="10075337"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14.6.5 Wrap-Up: Ticket Out the Door</a:t>
            </a:r>
            <a:endParaRPr dirty="0"/>
          </a:p>
        </p:txBody>
      </p:sp>
      <p:pic>
        <p:nvPicPr>
          <p:cNvPr id="468" name="Google Shape;468;p34"/>
          <p:cNvPicPr preferRelativeResize="0"/>
          <p:nvPr/>
        </p:nvPicPr>
        <p:blipFill rotWithShape="1">
          <a:blip r:embed="rId3">
            <a:alphaModFix/>
          </a:blip>
          <a:srcRect/>
          <a:stretch/>
        </p:blipFill>
        <p:spPr>
          <a:xfrm>
            <a:off x="663099" y="142896"/>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469" name="Google Shape;469;p34"/>
              <p:cNvSpPr txBox="1"/>
              <p:nvPr/>
            </p:nvSpPr>
            <p:spPr>
              <a:xfrm>
                <a:off x="1492548" y="1386025"/>
                <a:ext cx="9462936" cy="215439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rPr>
                  <a:t>Throughout this unit, you have been shown how to solve equations using tape diagrams, hanger diagrams, number lines, manipulatives, and inverse operations. Use one of these methods to model and solve the equation </a:t>
                </a:r>
                <a14:m>
                  <m:oMath xmlns:m="http://schemas.openxmlformats.org/officeDocument/2006/math">
                    <m:r>
                      <a:rPr lang="en-US" sz="2400">
                        <a:latin typeface="Cambria Math" panose="02040503050406030204" pitchFamily="18" charset="0"/>
                        <a:ea typeface="Verdana"/>
                        <a:cs typeface="Verdana"/>
                      </a:rPr>
                      <m:t>6</m:t>
                    </m:r>
                    <m:r>
                      <a:rPr lang="en-US" sz="2400">
                        <a:latin typeface="Cambria Math" panose="02040503050406030204" pitchFamily="18" charset="0"/>
                        <a:ea typeface="Verdana"/>
                        <a:cs typeface="Verdana"/>
                      </a:rPr>
                      <m:t>h</m:t>
                    </m:r>
                    <m:r>
                      <a:rPr lang="en-US" sz="2400">
                        <a:latin typeface="Cambria Math" panose="02040503050406030204" pitchFamily="18" charset="0"/>
                        <a:ea typeface="Verdana"/>
                        <a:cs typeface="Verdana"/>
                      </a:rPr>
                      <m:t>=−12</m:t>
                    </m:r>
                  </m:oMath>
                </a14:m>
                <a:r>
                  <a:rPr lang="en-US" sz="2400" dirty="0">
                    <a:latin typeface="Verdana"/>
                    <a:ea typeface="Verdana"/>
                    <a:cs typeface="Verdana"/>
                  </a:rPr>
                  <a:t>. </a:t>
                </a:r>
              </a:p>
              <a:p>
                <a:endParaRPr dirty="0"/>
              </a:p>
            </p:txBody>
          </p:sp>
        </mc:Choice>
        <mc:Fallback xmlns="">
          <p:sp>
            <p:nvSpPr>
              <p:cNvPr id="469" name="Google Shape;469;p34"/>
              <p:cNvSpPr txBox="1">
                <a:spLocks noRot="1" noChangeAspect="1" noMove="1" noResize="1" noEditPoints="1" noAdjustHandles="1" noChangeArrowheads="1" noChangeShapeType="1" noTextEdit="1"/>
              </p:cNvSpPr>
              <p:nvPr/>
            </p:nvSpPr>
            <p:spPr>
              <a:xfrm>
                <a:off x="1492548" y="1386025"/>
                <a:ext cx="9462936" cy="2154396"/>
              </a:xfrm>
              <a:prstGeom prst="rect">
                <a:avLst/>
              </a:prstGeom>
              <a:blipFill rotWithShape="0">
                <a:blip r:embed="rId4"/>
                <a:stretch>
                  <a:fillRect l="-1031" t="-2260" r="-1418"/>
                </a:stretch>
              </a:blipFill>
              <a:ln>
                <a:noFill/>
              </a:ln>
            </p:spPr>
            <p:txBody>
              <a:bodyPr/>
              <a:lstStyle/>
              <a:p>
                <a:r>
                  <a:rPr lang="en-US">
                    <a:noFill/>
                  </a:rPr>
                  <a:t> </a:t>
                </a:r>
              </a:p>
            </p:txBody>
          </p:sp>
        </mc:Fallback>
      </mc:AlternateContent>
      <p:sp>
        <p:nvSpPr>
          <p:cNvPr id="470" name="Google Shape;470;p34"/>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373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154</TotalTime>
  <Words>1277</Words>
  <Application>Microsoft Office PowerPoint</Application>
  <PresentationFormat>Widescreen</PresentationFormat>
  <Paragraphs>296</Paragraphs>
  <Slides>32</Slides>
  <Notes>32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Arial</vt:lpstr>
      <vt:lpstr>Arial Black</vt:lpstr>
      <vt:lpstr>Calibri</vt:lpstr>
      <vt:lpstr>Cambria</vt:lpstr>
      <vt:lpstr>Cambria Math</vt:lpstr>
      <vt:lpstr>Century Gothic</vt:lpstr>
      <vt:lpstr>Courier New</vt:lpstr>
      <vt:lpstr>Times New Roman</vt:lpstr>
      <vt:lpstr>Verdana</vt:lpstr>
      <vt:lpstr>Wingdings</vt:lpstr>
      <vt:lpstr>1_Office Theme</vt:lpstr>
      <vt:lpstr>6th Grade Accelerated Math  Unit 14, Lesson 6  Solving One-Step Multiplication and Division Equations in One Variable Using Models  Volume 2, pg. 367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Unit 14, Lesson 6  Solving One-Step Multiplication and Division Equations in One Variable Using Models  Volume x, pg. #  </dc:title>
  <dc:creator>Karen McKenzie</dc:creator>
  <cp:lastModifiedBy>Cassie O'Connor</cp:lastModifiedBy>
  <cp:revision>9</cp:revision>
  <dcterms:created xsi:type="dcterms:W3CDTF">2015-03-17T18:51:18Z</dcterms:created>
  <dcterms:modified xsi:type="dcterms:W3CDTF">2022-07-02T05:00:45Z</dcterms:modified>
</cp:coreProperties>
</file>