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4"/>
  </p:notesMasterIdLst>
  <p:sldIdLst>
    <p:sldId id="256" r:id="rId5"/>
    <p:sldId id="257" r:id="rId6"/>
    <p:sldId id="258" r:id="rId7"/>
    <p:sldId id="259" r:id="rId8"/>
    <p:sldId id="260" r:id="rId9"/>
    <p:sldId id="261" r:id="rId10"/>
    <p:sldId id="266" r:id="rId11"/>
    <p:sldId id="267" r:id="rId12"/>
    <p:sldId id="265" r:id="rId13"/>
    <p:sldId id="271" r:id="rId14"/>
    <p:sldId id="268" r:id="rId15"/>
    <p:sldId id="275" r:id="rId16"/>
    <p:sldId id="276" r:id="rId17"/>
    <p:sldId id="294" r:id="rId18"/>
    <p:sldId id="295" r:id="rId19"/>
    <p:sldId id="296" r:id="rId20"/>
    <p:sldId id="298" r:id="rId21"/>
    <p:sldId id="293" r:id="rId22"/>
    <p:sldId id="277" r:id="rId23"/>
    <p:sldId id="274" r:id="rId24"/>
    <p:sldId id="280" r:id="rId25"/>
    <p:sldId id="287" r:id="rId26"/>
    <p:sldId id="288" r:id="rId27"/>
    <p:sldId id="283" r:id="rId28"/>
    <p:sldId id="286" r:id="rId29"/>
    <p:sldId id="289" r:id="rId30"/>
    <p:sldId id="297" r:id="rId31"/>
    <p:sldId id="290" r:id="rId32"/>
    <p:sldId id="291"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hssq3OoqM7J6XYkDacLZ4V+Khz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21"/>
    <p:restoredTop sz="94622"/>
  </p:normalViewPr>
  <p:slideViewPr>
    <p:cSldViewPr snapToGrid="0">
      <p:cViewPr varScale="1">
        <p:scale>
          <a:sx n="56" d="100"/>
          <a:sy n="56" d="100"/>
        </p:scale>
        <p:origin x="84" y="408"/>
      </p:cViewPr>
      <p:guideLst>
        <p:guide orient="horz" pos="2160"/>
        <p:guide pos="3840"/>
      </p:guideLst>
    </p:cSldViewPr>
  </p:slideViewPr>
  <p:notesTextViewPr>
    <p:cViewPr>
      <p:scale>
        <a:sx n="1" d="1"/>
        <a:sy n="1" d="1"/>
      </p:scale>
      <p:origin x="0" y="0"/>
    </p:cViewPr>
  </p:notesTextViewPr>
  <p:sorterViewPr>
    <p:cViewPr>
      <p:scale>
        <a:sx n="100" d="100"/>
        <a:sy n="100" d="100"/>
      </p:scale>
      <p:origin x="0" y="-467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notesMaster" Target="notesMasters/notesMaster1.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4073514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4000167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3326288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2559420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356173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extLst>
      <p:ext uri="{BB962C8B-B14F-4D97-AF65-F5344CB8AC3E}">
        <p14:creationId xmlns:p14="http://schemas.microsoft.com/office/powerpoint/2010/main" val="36434379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1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5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2.png"/><Relationship Id="rId4" Type="http://schemas.openxmlformats.org/officeDocument/2006/relationships/image" Target="../media/image300.png"/></Relationships>
</file>

<file path=ppt/slides/_rels/slide2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1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Discovering Inverse Operations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347</a:t>
            </a: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83677" y="1829054"/>
            <a:ext cx="3126752" cy="3644900"/>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10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393515" y="3880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570015" y="27458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393515" y="1600200"/>
            <a:ext cx="9404970" cy="4205700"/>
          </a:xfrm>
          <a:prstGeom prst="rect">
            <a:avLst/>
          </a:prstGeom>
          <a:noFill/>
          <a:ln>
            <a:noFill/>
          </a:ln>
        </p:spPr>
        <p:txBody>
          <a:bodyPr spcFirstLastPara="1" wrap="square" lIns="91425" tIns="45700" rIns="91425" bIns="45700" anchor="t" anchorCtr="0">
            <a:normAutofit/>
          </a:bodyPr>
          <a:lstStyle/>
          <a:p>
            <a:pPr>
              <a:spcBef>
                <a:spcPts val="750"/>
              </a:spcBef>
              <a:buClr>
                <a:schemeClr val="dk1"/>
              </a:buClr>
              <a:buSzPts val="1100"/>
            </a:pPr>
            <a:r>
              <a:rPr lang="en-US" sz="2400" dirty="0">
                <a:solidFill>
                  <a:schemeClr val="dk1"/>
                </a:solidFill>
                <a:latin typeface="Verdana"/>
                <a:ea typeface="Verdana"/>
                <a:cs typeface="Verdana"/>
                <a:sym typeface="Verdana"/>
              </a:rPr>
              <a:t>MA.6.AR.2.2</a:t>
            </a:r>
          </a:p>
          <a:p>
            <a:pPr marL="469900">
              <a:spcBef>
                <a:spcPts val="750"/>
              </a:spcBef>
              <a:buClr>
                <a:schemeClr val="dk1"/>
              </a:buClr>
              <a:buSzPts val="1100"/>
            </a:pPr>
            <a:r>
              <a:rPr lang="en-US" sz="2400" dirty="0">
                <a:solidFill>
                  <a:schemeClr val="dk1"/>
                </a:solidFill>
                <a:latin typeface="Verdana"/>
                <a:ea typeface="Verdana"/>
                <a:cs typeface="Verdana"/>
                <a:sym typeface="Verdana"/>
              </a:rPr>
              <a:t>Write and solve one-step equations in one variable within a mathematical or real-world context using addition and subtraction, where all terms and solutions are integers. 		</a:t>
            </a:r>
            <a:endParaRPr sz="24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48830" y="359421"/>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73480" y="116788"/>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473480" y="1596390"/>
            <a:ext cx="9245040"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a:ea typeface="Verdana"/>
                <a:cs typeface="Verdana"/>
                <a:sym typeface="Verdana"/>
              </a:rPr>
              <a:t>MA.K12.MTR.1.1 Actively participate in effortful learning both individually and collectively.</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MA.K12.MTR.2.1 Demonstrate understanding by representing problems in multiple ways.</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MA.K12.MTR.4.1 Engage in discussions that reflect on the mathematical thinking of self and others.</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MA.K12.MTR.5.1 Use patterns and structure to help understand and connect mathematical concepts.</a:t>
            </a:r>
            <a:endParaRPr sz="2000" dirty="0"/>
          </a:p>
          <a:p>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MA.K12.MTR.6.1 Assess the reasonableness of solutions.</a:t>
            </a:r>
            <a:endParaRPr sz="2000" dirty="0"/>
          </a:p>
        </p:txBody>
      </p:sp>
      <p:sp>
        <p:nvSpPr>
          <p:cNvPr id="138" name="Google Shape;138;p1"/>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485249"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703087"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485249" y="1675630"/>
            <a:ext cx="9221502"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ct val="125000"/>
              <a:buFont typeface="Verdana"/>
              <a:buChar char="❏"/>
            </a:pPr>
            <a:r>
              <a:rPr lang="en-US" sz="2400" dirty="0">
                <a:solidFill>
                  <a:schemeClr val="dk1"/>
                </a:solidFill>
                <a:latin typeface="Verdana"/>
                <a:ea typeface="Verdana"/>
                <a:cs typeface="Verdana"/>
                <a:sym typeface="Verdana"/>
              </a:rPr>
              <a:t>I can use manipulatives to discover the role of inverse operations when solving one-step addition and subtraction equations.</a:t>
            </a:r>
          </a:p>
          <a:p>
            <a:pPr marL="457200" indent="-450850">
              <a:buClr>
                <a:srgbClr val="434343"/>
              </a:buClr>
              <a:buSzPct val="125000"/>
              <a:buFont typeface="Verdana"/>
              <a:buChar char="❏"/>
            </a:pPr>
            <a:r>
              <a:rPr lang="en-US" sz="2400" dirty="0">
                <a:solidFill>
                  <a:schemeClr val="dk1"/>
                </a:solidFill>
                <a:latin typeface="Verdana"/>
                <a:ea typeface="Verdana"/>
                <a:cs typeface="Verdana"/>
                <a:sym typeface="Verdana"/>
              </a:rPr>
              <a:t>I can solve addition and subtraction one-step equations in one variable using manipulatives, drawings, and number lines to show the inverse operations. </a:t>
            </a:r>
            <a:endParaRPr sz="2400" dirty="0"/>
          </a:p>
        </p:txBody>
      </p:sp>
      <p:sp>
        <p:nvSpPr>
          <p:cNvPr id="149" name="Google Shape;149;p2"/>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226"/>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37368" y="58899"/>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14.3.1 Warm-Up: Picture This</a:t>
            </a:r>
            <a:endParaRPr dirty="0"/>
          </a:p>
        </p:txBody>
      </p:sp>
      <p:pic>
        <p:nvPicPr>
          <p:cNvPr id="167" name="Google Shape;167;p4"/>
          <p:cNvPicPr preferRelativeResize="0"/>
          <p:nvPr/>
        </p:nvPicPr>
        <p:blipFill rotWithShape="1">
          <a:blip r:embed="rId3">
            <a:alphaModFix/>
          </a:blip>
          <a:srcRect/>
          <a:stretch/>
        </p:blipFill>
        <p:spPr>
          <a:xfrm>
            <a:off x="690068" y="279451"/>
            <a:ext cx="747300" cy="747300"/>
          </a:xfrm>
          <a:prstGeom prst="rect">
            <a:avLst/>
          </a:prstGeom>
          <a:noFill/>
          <a:ln>
            <a:noFill/>
          </a:ln>
          <a:effectLst>
            <a:outerShdw blurRad="50800" dist="38100" dir="2700000" algn="tl" rotWithShape="0">
              <a:srgbClr val="000000">
                <a:alpha val="40000"/>
              </a:srgbClr>
            </a:outerShdw>
          </a:effectLst>
        </p:spPr>
      </p:pic>
      <p:sp>
        <p:nvSpPr>
          <p:cNvPr id="170" name="Google Shape;170;p4"/>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TextBox 8">
            <a:extLst>
              <a:ext uri="{FF2B5EF4-FFF2-40B4-BE49-F238E27FC236}">
                <a16:creationId xmlns:a16="http://schemas.microsoft.com/office/drawing/2014/main" id="{F03CB65D-D7BB-4065-8D61-E4F2947A017D}"/>
              </a:ext>
            </a:extLst>
          </p:cNvPr>
          <p:cNvSpPr txBox="1"/>
          <p:nvPr/>
        </p:nvSpPr>
        <p:spPr>
          <a:xfrm>
            <a:off x="1772550" y="1248729"/>
            <a:ext cx="8651610" cy="4154984"/>
          </a:xfrm>
          <a:prstGeom prst="rect">
            <a:avLst/>
          </a:prstGeom>
          <a:noFill/>
        </p:spPr>
        <p:txBody>
          <a:bodyPr wrap="square">
            <a:spAutoFit/>
          </a:bodyPr>
          <a:lstStyle/>
          <a:p>
            <a:r>
              <a:rPr lang="en-US" sz="2400" dirty="0">
                <a:latin typeface="Verdana" panose="020B0604030504040204" pitchFamily="34" charset="0"/>
                <a:ea typeface="Verdana" panose="020B0604030504040204" pitchFamily="34" charset="0"/>
              </a:rPr>
              <a:t>Dale is helping to fix the roof at his uncle’s house. They are using a </a:t>
            </a:r>
            <a:r>
              <a:rPr lang="en-US" sz="2400" dirty="0">
                <a:latin typeface="Cambria Math" panose="02040503050406030204" pitchFamily="18" charset="0"/>
                <a:ea typeface="Cambria Math" panose="02040503050406030204" pitchFamily="18" charset="0"/>
              </a:rPr>
              <a:t>40</a:t>
            </a:r>
            <a:r>
              <a:rPr lang="en-US" sz="2400" dirty="0">
                <a:latin typeface="Verdana" panose="020B0604030504040204" pitchFamily="34" charset="0"/>
                <a:ea typeface="Verdana" panose="020B0604030504040204" pitchFamily="34" charset="0"/>
              </a:rPr>
              <a:t>-foot ladder. Dale is climbing the ladder to reach the roof. He is currently </a:t>
            </a:r>
            <a:r>
              <a:rPr lang="en-US" sz="2400" dirty="0">
                <a:latin typeface="Cambria Math" panose="02040503050406030204" pitchFamily="18" charset="0"/>
                <a:ea typeface="Cambria Math" panose="02040503050406030204" pitchFamily="18" charset="0"/>
              </a:rPr>
              <a:t>7</a:t>
            </a:r>
            <a:r>
              <a:rPr lang="en-US" sz="2400" dirty="0">
                <a:latin typeface="Verdana" panose="020B0604030504040204" pitchFamily="34" charset="0"/>
                <a:ea typeface="Verdana" panose="020B0604030504040204" pitchFamily="34" charset="0"/>
              </a:rPr>
              <a:t> feet up the ladder.</a:t>
            </a:r>
          </a:p>
          <a:p>
            <a:endParaRPr lang="en-US" sz="2400" dirty="0">
              <a:latin typeface="Verdana" panose="020B0604030504040204" pitchFamily="34" charset="0"/>
              <a:ea typeface="Verdana" panose="020B0604030504040204" pitchFamily="34" charset="0"/>
            </a:endParaRPr>
          </a:p>
          <a:p>
            <a:pPr marL="514350" indent="-514350">
              <a:buFont typeface="+mj-lt"/>
              <a:buAutoNum type="arabicPeriod"/>
            </a:pPr>
            <a:r>
              <a:rPr lang="en-US" sz="2400" dirty="0">
                <a:latin typeface="Verdana" panose="020B0604030504040204" pitchFamily="34" charset="0"/>
                <a:ea typeface="Verdana" panose="020B0604030504040204" pitchFamily="34" charset="0"/>
              </a:rPr>
              <a:t>Sketch a picture to represent this situation.</a:t>
            </a:r>
          </a:p>
          <a:p>
            <a:pPr marL="514350" indent="-514350">
              <a:buFont typeface="+mj-lt"/>
              <a:buAutoNum type="arabicPeriod"/>
            </a:pPr>
            <a:endParaRPr lang="en-US" sz="2400" dirty="0">
              <a:latin typeface="Verdana" panose="020B0604030504040204" pitchFamily="34" charset="0"/>
              <a:ea typeface="Verdana" panose="020B0604030504040204" pitchFamily="34" charset="0"/>
            </a:endParaRPr>
          </a:p>
          <a:p>
            <a:pPr marL="514350" indent="-514350">
              <a:buFont typeface="+mj-lt"/>
              <a:buAutoNum type="arabicPeriod"/>
            </a:pPr>
            <a:endParaRPr lang="en-US" sz="2400" dirty="0">
              <a:latin typeface="Verdana" panose="020B0604030504040204" pitchFamily="34" charset="0"/>
              <a:ea typeface="Verdana" panose="020B0604030504040204" pitchFamily="34" charset="0"/>
            </a:endParaRPr>
          </a:p>
          <a:p>
            <a:pPr marL="514350" indent="-514350">
              <a:buFont typeface="+mj-lt"/>
              <a:buAutoNum type="arabicPeriod"/>
            </a:pPr>
            <a:endParaRPr lang="en-US" sz="2400" dirty="0">
              <a:latin typeface="Verdana" panose="020B0604030504040204" pitchFamily="34" charset="0"/>
              <a:ea typeface="Verdana" panose="020B0604030504040204" pitchFamily="34" charset="0"/>
            </a:endParaRPr>
          </a:p>
          <a:p>
            <a:pPr marL="514350" indent="-514350">
              <a:buFont typeface="+mj-lt"/>
              <a:buAutoNum type="arabicPeriod"/>
            </a:pPr>
            <a:r>
              <a:rPr lang="en-US" sz="2400" dirty="0">
                <a:latin typeface="Verdana" panose="020B0604030504040204" pitchFamily="34" charset="0"/>
                <a:ea typeface="Verdana" panose="020B0604030504040204" pitchFamily="34" charset="0"/>
              </a:rPr>
              <a:t>How much farther does Dale have to go to reach the  roof? Include units.</a:t>
            </a:r>
          </a:p>
        </p:txBody>
      </p:sp>
      <p:sp>
        <p:nvSpPr>
          <p:cNvPr id="8"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462125" y="87249"/>
            <a:ext cx="1061508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14.3.2 Exploration: Solving Equations Using Algebra Tiles</a:t>
            </a:r>
          </a:p>
          <a:p>
            <a:pPr>
              <a:lnSpc>
                <a:spcPct val="90000"/>
              </a:lnSpc>
              <a:buClr>
                <a:schemeClr val="dk1"/>
              </a:buClr>
              <a:buSzPts val="5400"/>
            </a:pPr>
            <a:endParaRPr lang="en-US"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55403" y="243627"/>
            <a:ext cx="752254" cy="752254"/>
          </a:xfrm>
          <a:prstGeom prst="rect">
            <a:avLst/>
          </a:prstGeom>
          <a:noFill/>
          <a:ln>
            <a:noFill/>
          </a:ln>
          <a:effectLst>
            <a:outerShdw blurRad="50800" dist="38100" dir="2700000" algn="tl" rotWithShape="0">
              <a:srgbClr val="000000">
                <a:alpha val="40000"/>
              </a:srgbClr>
            </a:outerShdw>
          </a:effectLst>
        </p:spPr>
      </p:pic>
      <p:sp>
        <p:nvSpPr>
          <p:cNvPr id="230" name="Google Shape;230;p1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C7C1DD8-8C9D-4C6F-A674-9622FCAAC0BB}"/>
                  </a:ext>
                </a:extLst>
              </p:cNvPr>
              <p:cNvSpPr txBox="1"/>
              <p:nvPr/>
            </p:nvSpPr>
            <p:spPr>
              <a:xfrm>
                <a:off x="1407656" y="1519762"/>
                <a:ext cx="9648271" cy="4362348"/>
              </a:xfrm>
              <a:prstGeom prst="rect">
                <a:avLst/>
              </a:prstGeom>
              <a:noFill/>
            </p:spPr>
            <p:txBody>
              <a:bodyPr wrap="square">
                <a:spAutoFit/>
              </a:bodyPr>
              <a:lstStyle/>
              <a:p>
                <a:r>
                  <a:rPr lang="en-US" sz="2400" dirty="0">
                    <a:latin typeface="Verdana" panose="020B0604030504040204" pitchFamily="34" charset="0"/>
                    <a:ea typeface="Verdana" panose="020B0604030504040204" pitchFamily="34" charset="0"/>
                  </a:rPr>
                  <a:t>Algebra tiles can be used to represent and solve algebraic equations.</a:t>
                </a:r>
              </a:p>
              <a:p>
                <a:pPr>
                  <a:lnSpc>
                    <a:spcPct val="250000"/>
                  </a:lnSpc>
                </a:pPr>
                <a:r>
                  <a:rPr lang="en-US" sz="2400" dirty="0">
                    <a:latin typeface="Verdana" panose="020B0604030504040204" pitchFamily="34" charset="0"/>
                    <a:ea typeface="Verdana" panose="020B0604030504040204" pitchFamily="34" charset="0"/>
                  </a:rPr>
                  <a:t>In the model shown,	   represents 1 and      represents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rPr>
                  <a:t>.</a:t>
                </a:r>
              </a:p>
              <a:p>
                <a:pPr marL="457200" indent="-457200">
                  <a:lnSpc>
                    <a:spcPct val="250000"/>
                  </a:lnSpc>
                  <a:buFont typeface="+mj-lt"/>
                  <a:buAutoNum type="arabicPeriod"/>
                </a:pPr>
                <a:endParaRPr lang="en-US" sz="2400" dirty="0">
                  <a:latin typeface="Verdana" panose="020B0604030504040204" pitchFamily="34" charset="0"/>
                </a:endParaRPr>
              </a:p>
              <a:p>
                <a:pPr marL="457200" indent="-457200">
                  <a:lnSpc>
                    <a:spcPct val="250000"/>
                  </a:lnSpc>
                  <a:buFont typeface="+mj-lt"/>
                  <a:buAutoNum type="arabicPeriod"/>
                </a:pPr>
                <a:r>
                  <a:rPr lang="en-US" sz="2400" dirty="0">
                    <a:latin typeface="Verdana" panose="020B0604030504040204" pitchFamily="34" charset="0"/>
                  </a:rPr>
                  <a:t>The steps to determine the value of      using algebra tiles are shown. </a:t>
                </a:r>
                <a:endParaRPr lang="en-US" sz="2400" dirty="0"/>
              </a:p>
            </p:txBody>
          </p:sp>
        </mc:Choice>
        <mc:Fallback xmlns="">
          <p:sp>
            <p:nvSpPr>
              <p:cNvPr id="12" name="TextBox 11">
                <a:extLst>
                  <a:ext uri="{FF2B5EF4-FFF2-40B4-BE49-F238E27FC236}">
                    <a16:creationId xmlns:a16="http://schemas.microsoft.com/office/drawing/2014/main" id="{FC7C1DD8-8C9D-4C6F-A674-9622FCAAC0BB}"/>
                  </a:ext>
                </a:extLst>
              </p:cNvPr>
              <p:cNvSpPr txBox="1">
                <a:spLocks noRot="1" noChangeAspect="1" noMove="1" noResize="1" noEditPoints="1" noAdjustHandles="1" noChangeArrowheads="1" noChangeShapeType="1" noTextEdit="1"/>
              </p:cNvSpPr>
              <p:nvPr/>
            </p:nvSpPr>
            <p:spPr>
              <a:xfrm>
                <a:off x="1407656" y="1519762"/>
                <a:ext cx="9648271" cy="4362348"/>
              </a:xfrm>
              <a:prstGeom prst="rect">
                <a:avLst/>
              </a:prstGeom>
              <a:blipFill>
                <a:blip r:embed="rId4"/>
                <a:stretch>
                  <a:fillRect l="-1011" t="-1117" r="-1453" b="-2095"/>
                </a:stretch>
              </a:blipFill>
            </p:spPr>
            <p:txBody>
              <a:bodyPr/>
              <a:lstStyle/>
              <a:p>
                <a:r>
                  <a:rPr lang="en-US">
                    <a:noFill/>
                  </a:rPr>
                  <a:t> </a:t>
                </a:r>
              </a:p>
            </p:txBody>
          </p:sp>
        </mc:Fallback>
      </mc:AlternateContent>
      <p:pic>
        <p:nvPicPr>
          <p:cNvPr id="1028" name="Picture 4" descr="Icon&#10;&#10;Description automatically generated">
            <a:extLst>
              <a:ext uri="{FF2B5EF4-FFF2-40B4-BE49-F238E27FC236}">
                <a16:creationId xmlns:a16="http://schemas.microsoft.com/office/drawing/2014/main" id="{C8F2B229-E934-4EB1-BC68-72B5A836D5D4}"/>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23548" y="2654668"/>
            <a:ext cx="636182" cy="6361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con&#10;&#10;Description automatically generated">
            <a:extLst>
              <a:ext uri="{FF2B5EF4-FFF2-40B4-BE49-F238E27FC236}">
                <a16:creationId xmlns:a16="http://schemas.microsoft.com/office/drawing/2014/main" id="{0890FEE3-6260-4E71-8656-B12DA9DA996A}"/>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575549" y="4123548"/>
            <a:ext cx="473609" cy="121469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con&#10;&#10;Description automatically generated">
            <a:extLst>
              <a:ext uri="{FF2B5EF4-FFF2-40B4-BE49-F238E27FC236}">
                <a16:creationId xmlns:a16="http://schemas.microsoft.com/office/drawing/2014/main" id="{28C10BA9-6157-4D2E-AF85-09300EBC8F7C}"/>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8177218" y="2251245"/>
            <a:ext cx="435455" cy="1214690"/>
          </a:xfrm>
          <a:prstGeom prst="rect">
            <a:avLst/>
          </a:prstGeom>
          <a:noFill/>
          <a:extLst>
            <a:ext uri="{909E8E84-426E-40DD-AFC4-6F175D3DCCD1}">
              <a14:hiddenFill xmlns:a14="http://schemas.microsoft.com/office/drawing/2010/main">
                <a:solidFill>
                  <a:srgbClr val="FFFFFF"/>
                </a:solidFill>
              </a14:hiddenFill>
            </a:ext>
          </a:extLst>
        </p:spPr>
      </p:pic>
      <p:sp>
        <p:nvSpPr>
          <p:cNvPr id="15"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348</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734096" y="520393"/>
            <a:ext cx="10874474" cy="892512"/>
          </a:xfrm>
          <a:prstGeom prst="rect">
            <a:avLst/>
          </a:prstGeom>
          <a:noFill/>
          <a:ln>
            <a:noFill/>
          </a:ln>
        </p:spPr>
        <p:txBody>
          <a:bodyPr spcFirstLastPara="1" wrap="square" lIns="91425" tIns="45700" rIns="91425" bIns="45700" anchor="t" anchorCtr="0">
            <a:spAutoFit/>
          </a:bodyPr>
          <a:lstStyle/>
          <a:p>
            <a:pPr marL="923925" indent="-454025" fontAlgn="base">
              <a:buFont typeface="+mj-lt"/>
              <a:buAutoNum type="alphaLcPeriod"/>
            </a:pPr>
            <a:r>
              <a:rPr lang="en-US" sz="2400" dirty="0">
                <a:latin typeface="Verdana" panose="020B0604030504040204" pitchFamily="34" charset="0"/>
              </a:rPr>
              <a:t>Work with </a:t>
            </a:r>
            <a:r>
              <a:rPr lang="en-US" sz="2800" dirty="0">
                <a:latin typeface="Verdana" panose="020B0604030504040204" pitchFamily="34" charset="0"/>
              </a:rPr>
              <a:t>your</a:t>
            </a:r>
            <a:r>
              <a:rPr lang="en-US" sz="2400" dirty="0">
                <a:latin typeface="Verdana" panose="020B0604030504040204" pitchFamily="34" charset="0"/>
              </a:rPr>
              <a:t> partner to complete the last step according to the description.</a:t>
            </a:r>
          </a:p>
        </p:txBody>
      </p:sp>
      <p:sp>
        <p:nvSpPr>
          <p:cNvPr id="209" name="Google Shape;209;p8"/>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Graphical user interface, application&#10;&#10;Description automatically generated">
            <a:extLst>
              <a:ext uri="{FF2B5EF4-FFF2-40B4-BE49-F238E27FC236}">
                <a16:creationId xmlns:a16="http://schemas.microsoft.com/office/drawing/2014/main" id="{D0C14183-4794-3E49-ABBC-69FCBDB2CC8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61326" y="1412905"/>
            <a:ext cx="5889338" cy="5373571"/>
          </a:xfrm>
          <a:prstGeom prst="rect">
            <a:avLst/>
          </a:prstGeom>
        </p:spPr>
      </p:pic>
      <p:sp>
        <p:nvSpPr>
          <p:cNvPr id="7"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8" name="Google Shape;268;p14"/>
              <p:cNvSpPr txBox="1"/>
              <p:nvPr/>
            </p:nvSpPr>
            <p:spPr>
              <a:xfrm>
                <a:off x="1171977" y="520394"/>
                <a:ext cx="9998712" cy="5509160"/>
              </a:xfrm>
              <a:prstGeom prst="rect">
                <a:avLst/>
              </a:prstGeom>
              <a:noFill/>
              <a:ln>
                <a:noFill/>
              </a:ln>
            </p:spPr>
            <p:txBody>
              <a:bodyPr spcFirstLastPara="1" wrap="square" lIns="91425" tIns="45700" rIns="91425" bIns="45700" anchor="t" anchorCtr="0">
                <a:spAutoFit/>
              </a:bodyPr>
              <a:lstStyle/>
              <a:p>
                <a:pPr marL="923925" indent="-454025">
                  <a:buFont typeface="+mj-lt"/>
                  <a:buAutoNum type="alphaLcPeriod" startAt="2"/>
                </a:pPr>
                <a:r>
                  <a:rPr lang="en-US" sz="2200" dirty="0">
                    <a:latin typeface="Verdana" panose="020B0604030504040204" pitchFamily="34" charset="0"/>
                    <a:ea typeface="Verdana" panose="020B0604030504040204" pitchFamily="34" charset="0"/>
                  </a:rPr>
                  <a:t>The expressions </a:t>
                </a:r>
                <a14:m>
                  <m:oMath xmlns:m="http://schemas.openxmlformats.org/officeDocument/2006/math">
                    <m:r>
                      <a:rPr lang="en-US" sz="2200" i="1" dirty="0" smtClean="0">
                        <a:latin typeface="Cambria Math" panose="02040503050406030204" pitchFamily="18" charset="0"/>
                        <a:ea typeface="Cambria Math" panose="02040503050406030204" pitchFamily="18" charset="0"/>
                      </a:rPr>
                      <m:t>𝑥</m:t>
                    </m:r>
                    <m:r>
                      <a:rPr lang="en-US" sz="2200" i="1" dirty="0" smtClean="0">
                        <a:latin typeface="Cambria Math" panose="02040503050406030204" pitchFamily="18" charset="0"/>
                        <a:ea typeface="Cambria Math" panose="02040503050406030204" pitchFamily="18" charset="0"/>
                      </a:rPr>
                      <m:t>+3</m:t>
                    </m:r>
                  </m:oMath>
                </a14:m>
                <a:r>
                  <a:rPr lang="en-US" sz="2200" dirty="0">
                    <a:latin typeface="Verdana" panose="020B0604030504040204" pitchFamily="34" charset="0"/>
                    <a:ea typeface="Verdana" panose="020B0604030504040204" pitchFamily="34" charset="0"/>
                  </a:rPr>
                  <a:t> and </a:t>
                </a:r>
                <a14:m>
                  <m:oMath xmlns:m="http://schemas.openxmlformats.org/officeDocument/2006/math">
                    <m:r>
                      <a:rPr lang="en-US" sz="2200" i="1" dirty="0" smtClean="0">
                        <a:latin typeface="Cambria Math" panose="02040503050406030204" pitchFamily="18" charset="0"/>
                        <a:ea typeface="Cambria Math" panose="02040503050406030204" pitchFamily="18" charset="0"/>
                      </a:rPr>
                      <m:t>5</m:t>
                    </m:r>
                  </m:oMath>
                </a14:m>
                <a:r>
                  <a:rPr lang="en-US" sz="2200" dirty="0">
                    <a:latin typeface="Verdana" panose="020B0604030504040204" pitchFamily="34" charset="0"/>
                    <a:ea typeface="Verdana" panose="020B0604030504040204" pitchFamily="34" charset="0"/>
                  </a:rPr>
                  <a:t> are equivalent according to the given equation. Discuss with your partner whether the tiles you drew on each side of the equation mat in the last step represent an equivalent relationship. Then, write a brief summary of your discussion.</a:t>
                </a:r>
              </a:p>
              <a:p>
                <a:pPr marL="923925" indent="-454025">
                  <a:buFont typeface="+mj-lt"/>
                  <a:buAutoNum type="alphaLcPeriod" startAt="2"/>
                </a:pPr>
                <a:endParaRPr lang="en-US" sz="2200" dirty="0">
                  <a:latin typeface="Verdana" panose="020B0604030504040204" pitchFamily="34" charset="0"/>
                  <a:ea typeface="Verdana" panose="020B0604030504040204" pitchFamily="34" charset="0"/>
                </a:endParaRPr>
              </a:p>
              <a:p>
                <a:pPr marL="923925" indent="-454025">
                  <a:buFont typeface="+mj-lt"/>
                  <a:buAutoNum type="alphaLcPeriod" startAt="2"/>
                </a:pPr>
                <a:endParaRPr lang="en-US" sz="2200" dirty="0">
                  <a:latin typeface="Verdana" panose="020B0604030504040204" pitchFamily="34" charset="0"/>
                  <a:ea typeface="Verdana" panose="020B0604030504040204" pitchFamily="34" charset="0"/>
                </a:endParaRPr>
              </a:p>
              <a:p>
                <a:pPr marL="923925" indent="-454025">
                  <a:buFont typeface="+mj-lt"/>
                  <a:buAutoNum type="alphaLcPeriod" startAt="2"/>
                </a:pPr>
                <a:endParaRPr lang="en-US" sz="2200" dirty="0">
                  <a:latin typeface="Verdana" panose="020B0604030504040204" pitchFamily="34" charset="0"/>
                  <a:ea typeface="Verdana" panose="020B0604030504040204" pitchFamily="34" charset="0"/>
                </a:endParaRPr>
              </a:p>
              <a:p>
                <a:pPr marL="923925" indent="-454025">
                  <a:buFont typeface="+mj-lt"/>
                  <a:buAutoNum type="alphaLcPeriod" startAt="2"/>
                </a:pPr>
                <a:endParaRPr lang="en-US" sz="2200" dirty="0">
                  <a:latin typeface="Verdana" panose="020B0604030504040204" pitchFamily="34" charset="0"/>
                  <a:ea typeface="Verdana" panose="020B0604030504040204" pitchFamily="34" charset="0"/>
                </a:endParaRPr>
              </a:p>
              <a:p>
                <a:pPr marL="923925" indent="-454025">
                  <a:buFont typeface="+mj-lt"/>
                  <a:buAutoNum type="alphaLcPeriod" startAt="2"/>
                </a:pPr>
                <a:r>
                  <a:rPr lang="en-US" sz="2200" dirty="0">
                    <a:latin typeface="Verdana" panose="020B0604030504040204" pitchFamily="34" charset="0"/>
                  </a:rPr>
                  <a:t>How many blue tiles are equivalent to one teal tile?</a:t>
                </a:r>
              </a:p>
              <a:p>
                <a:pPr marL="923925" indent="-454025">
                  <a:buFont typeface="+mj-lt"/>
                  <a:buAutoNum type="alphaLcPeriod" startAt="2"/>
                </a:pPr>
                <a:endParaRPr lang="en-US" sz="2200" dirty="0">
                  <a:latin typeface="Verdana" panose="020B0604030504040204" pitchFamily="34" charset="0"/>
                </a:endParaRPr>
              </a:p>
              <a:p>
                <a:pPr marL="923925" indent="-454025">
                  <a:buFont typeface="+mj-lt"/>
                  <a:buAutoNum type="alphaLcPeriod" startAt="2"/>
                </a:pPr>
                <a:endParaRPr lang="en-US" sz="2200" dirty="0">
                  <a:latin typeface="Verdana" panose="020B0604030504040204" pitchFamily="34" charset="0"/>
                </a:endParaRPr>
              </a:p>
              <a:p>
                <a:pPr marL="923925" indent="-454025">
                  <a:buFont typeface="+mj-lt"/>
                  <a:buAutoNum type="alphaLcPeriod" startAt="2"/>
                </a:pPr>
                <a:endParaRPr lang="en-US" sz="2200" dirty="0">
                  <a:latin typeface="Verdana" panose="020B0604030504040204" pitchFamily="34" charset="0"/>
                </a:endParaRPr>
              </a:p>
              <a:p>
                <a:pPr marL="923925" indent="-454025">
                  <a:buFont typeface="+mj-lt"/>
                  <a:buAutoNum type="alphaLcPeriod" startAt="2"/>
                </a:pPr>
                <a:endParaRPr lang="en-US" sz="2200" dirty="0">
                  <a:latin typeface="Verdana" panose="020B0604030504040204" pitchFamily="34" charset="0"/>
                </a:endParaRPr>
              </a:p>
              <a:p>
                <a:pPr marL="923925" indent="-454025">
                  <a:buFont typeface="+mj-lt"/>
                  <a:buAutoNum type="alphaLcPeriod" startAt="2"/>
                </a:pPr>
                <a:r>
                  <a:rPr lang="en-US" sz="2200" dirty="0">
                    <a:latin typeface="Verdana" panose="020B0604030504040204" pitchFamily="34" charset="0"/>
                    <a:ea typeface="Verdana" panose="020B0604030504040204" pitchFamily="34" charset="0"/>
                  </a:rPr>
                  <a:t>What is the value of </a:t>
                </a:r>
                <a:r>
                  <a:rPr lang="en-US" sz="2200" i="1" dirty="0">
                    <a:latin typeface="Cambria Math" panose="02040503050406030204" pitchFamily="18" charset="0"/>
                    <a:ea typeface="Cambria Math" panose="02040503050406030204" pitchFamily="18" charset="0"/>
                  </a:rPr>
                  <a:t>x</a:t>
                </a:r>
                <a:r>
                  <a:rPr lang="en-US" sz="2200" dirty="0">
                    <a:latin typeface="Verdana" panose="020B0604030504040204" pitchFamily="34" charset="0"/>
                    <a:ea typeface="Verdana" panose="020B0604030504040204" pitchFamily="34" charset="0"/>
                  </a:rPr>
                  <a:t> in the equation </a:t>
                </a:r>
                <a14:m>
                  <m:oMath xmlns:m="http://schemas.openxmlformats.org/officeDocument/2006/math">
                    <m:r>
                      <a:rPr lang="en-US" sz="2200" i="1" dirty="0" smtClean="0">
                        <a:latin typeface="Cambria Math" panose="02040503050406030204" pitchFamily="18" charset="0"/>
                        <a:ea typeface="Cambria Math" panose="02040503050406030204" pitchFamily="18" charset="0"/>
                      </a:rPr>
                      <m:t>𝑥</m:t>
                    </m:r>
                    <m:r>
                      <a:rPr lang="en-US" sz="2200" i="1" dirty="0" smtClean="0">
                        <a:latin typeface="Cambria Math" panose="02040503050406030204" pitchFamily="18" charset="0"/>
                        <a:ea typeface="Cambria Math" panose="02040503050406030204" pitchFamily="18" charset="0"/>
                      </a:rPr>
                      <m:t> + 3=5</m:t>
                    </m:r>
                  </m:oMath>
                </a14:m>
                <a:r>
                  <a:rPr lang="en-US" sz="2200" dirty="0">
                    <a:latin typeface="Verdana" panose="020B0604030504040204" pitchFamily="34" charset="0"/>
                    <a:ea typeface="Verdana" panose="020B0604030504040204" pitchFamily="34" charset="0"/>
                  </a:rPr>
                  <a:t>?</a:t>
                </a:r>
                <a:endParaRPr lang="en-US" sz="2200" dirty="0">
                  <a:latin typeface="Verdana" panose="020B0604030504040204" pitchFamily="34" charset="0"/>
                </a:endParaRPr>
              </a:p>
              <a:p>
                <a:pPr marL="342900" indent="-342900">
                  <a:buFont typeface="+mj-lt"/>
                  <a:buAutoNum type="alphaLcPeriod" startAt="2"/>
                </a:pPr>
                <a:endParaRPr lang="en-US" sz="2200" dirty="0">
                  <a:latin typeface="Verdana" panose="020B0604030504040204" pitchFamily="34" charset="0"/>
                  <a:ea typeface="Verdana" panose="020B0604030504040204" pitchFamily="34" charset="0"/>
                </a:endParaRPr>
              </a:p>
            </p:txBody>
          </p:sp>
        </mc:Choice>
        <mc:Fallback xmlns="">
          <p:sp>
            <p:nvSpPr>
              <p:cNvPr id="268" name="Google Shape;268;p14"/>
              <p:cNvSpPr txBox="1">
                <a:spLocks noRot="1" noChangeAspect="1" noMove="1" noResize="1" noEditPoints="1" noAdjustHandles="1" noChangeArrowheads="1" noChangeShapeType="1" noTextEdit="1"/>
              </p:cNvSpPr>
              <p:nvPr/>
            </p:nvSpPr>
            <p:spPr>
              <a:xfrm>
                <a:off x="1171977" y="520394"/>
                <a:ext cx="9998712" cy="5509160"/>
              </a:xfrm>
              <a:prstGeom prst="rect">
                <a:avLst/>
              </a:prstGeom>
              <a:blipFill>
                <a:blip r:embed="rId3"/>
                <a:stretch>
                  <a:fillRect t="-885"/>
                </a:stretch>
              </a:blipFill>
              <a:ln>
                <a:noFill/>
              </a:ln>
            </p:spPr>
            <p:txBody>
              <a:bodyPr/>
              <a:lstStyle/>
              <a:p>
                <a:r>
                  <a:rPr lang="en-US">
                    <a:noFill/>
                  </a:rPr>
                  <a:t> </a:t>
                </a:r>
              </a:p>
            </p:txBody>
          </p:sp>
        </mc:Fallback>
      </mc:AlternateContent>
      <p:sp>
        <p:nvSpPr>
          <p:cNvPr id="269" name="Google Shape;269;p14"/>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349</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998978" y="442019"/>
                <a:ext cx="9296928" cy="5570715"/>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rPr>
                  <a:t>In the model shown,	represents</a:t>
                </a:r>
                <a:r>
                  <a:rPr lang="en-US" sz="1800" dirty="0">
                    <a:latin typeface="Verdana" panose="020B0604030504040204" pitchFamily="34" charset="0"/>
                    <a:ea typeface="Verdana" panose="020B0604030504040204" pitchFamily="34" charset="0"/>
                  </a:rPr>
                  <a:t> </a:t>
                </a:r>
                <a14:m>
                  <m:oMath xmlns:m="http://schemas.openxmlformats.org/officeDocument/2006/math">
                    <m:r>
                      <a:rPr lang="en-US" sz="1800" i="1" dirty="0" smtClean="0">
                        <a:latin typeface="Cambria Math" panose="02040503050406030204" pitchFamily="18" charset="0"/>
                        <a:ea typeface="Verdana" panose="020B0604030504040204" pitchFamily="34" charset="0"/>
                      </a:rPr>
                      <m:t>−</m:t>
                    </m:r>
                    <m:r>
                      <a:rPr lang="en-US" sz="1800" i="1" dirty="0" smtClean="0">
                        <a:latin typeface="Cambria Math" panose="02040503050406030204" pitchFamily="18" charset="0"/>
                        <a:ea typeface="Cambria Math" panose="02040503050406030204" pitchFamily="18" charset="0"/>
                      </a:rPr>
                      <m:t>1</m:t>
                    </m:r>
                  </m:oMath>
                </a14:m>
                <a:r>
                  <a:rPr lang="en-US" sz="2000" dirty="0">
                    <a:latin typeface="Verdana" panose="020B0604030504040204" pitchFamily="34" charset="0"/>
                    <a:ea typeface="Verdana" panose="020B0604030504040204" pitchFamily="34" charset="0"/>
                  </a:rPr>
                  <a:t> and     represents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𝑦</m:t>
                    </m:r>
                  </m:oMath>
                </a14:m>
                <a:r>
                  <a:rPr lang="en-US" sz="2000" dirty="0">
                    <a:latin typeface="Verdana" panose="020B0604030504040204" pitchFamily="34" charset="0"/>
                    <a:ea typeface="Verdana" panose="020B0604030504040204" pitchFamily="34" charset="0"/>
                  </a:rPr>
                  <a:t>.</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endParaRPr>
              </a:p>
              <a:p>
                <a:endParaRPr lang="en-US" sz="2000" dirty="0">
                  <a:latin typeface="Verdana" panose="020B0604030504040204" pitchFamily="34" charset="0"/>
                </a:endParaRPr>
              </a:p>
              <a:p>
                <a:pPr marL="923925" indent="-454025">
                  <a:buFont typeface="+mj-lt"/>
                  <a:buAutoNum type="alphaLcPeriod"/>
                </a:pPr>
                <a:r>
                  <a:rPr lang="en-US" sz="2000" dirty="0">
                    <a:latin typeface="Verdana" panose="020B0604030504040204" pitchFamily="34" charset="0"/>
                  </a:rPr>
                  <a:t>Work with your partner to determine how many red tiles are equivalent to one purple tile.</a:t>
                </a:r>
              </a:p>
              <a:p>
                <a:pPr marL="923925" indent="-454025">
                  <a:buFont typeface="+mj-lt"/>
                  <a:buAutoNum type="alphaLcPeriod"/>
                </a:pPr>
                <a:endParaRPr lang="en-US" sz="2000" dirty="0">
                  <a:latin typeface="Verdana" panose="020B0604030504040204" pitchFamily="34" charset="0"/>
                </a:endParaRPr>
              </a:p>
              <a:p>
                <a:pPr marL="923925" indent="-454025">
                  <a:buFont typeface="+mj-lt"/>
                  <a:buAutoNum type="alphaLcPeriod"/>
                </a:pPr>
                <a:endParaRPr lang="en-US" sz="2000" dirty="0">
                  <a:latin typeface="Verdana" panose="020B0604030504040204" pitchFamily="34" charset="0"/>
                </a:endParaRPr>
              </a:p>
              <a:p>
                <a:pPr marL="923925" indent="-454025">
                  <a:buFont typeface="+mj-lt"/>
                  <a:buAutoNum type="alphaLcPeriod"/>
                </a:pPr>
                <a:endParaRPr lang="en-US" sz="2000" dirty="0">
                  <a:latin typeface="Verdana" panose="020B0604030504040204" pitchFamily="34" charset="0"/>
                </a:endParaRPr>
              </a:p>
              <a:p>
                <a:pPr marL="923925" indent="-454025">
                  <a:buFont typeface="+mj-lt"/>
                  <a:buAutoNum type="alphaLcPeriod"/>
                </a:pPr>
                <a:endParaRPr lang="en-US" sz="1600" dirty="0"/>
              </a:p>
              <a:p>
                <a:pPr marL="923925" indent="-454025">
                  <a:buFont typeface="+mj-lt"/>
                  <a:buAutoNum type="alphaLcPeriod"/>
                </a:pPr>
                <a:r>
                  <a:rPr lang="en-US" sz="2000" dirty="0">
                    <a:latin typeface="Verdana" panose="020B0604030504040204" pitchFamily="34" charset="0"/>
                    <a:ea typeface="Verdana" panose="020B0604030504040204" pitchFamily="34" charset="0"/>
                  </a:rPr>
                  <a:t>What is the value of </a:t>
                </a:r>
                <a14:m>
                  <m:oMath xmlns:m="http://schemas.openxmlformats.org/officeDocument/2006/math">
                    <m:r>
                      <a:rPr lang="en-US" sz="2000" i="1" dirty="0" smtClean="0">
                        <a:latin typeface="Cambria Math" panose="02040503050406030204" pitchFamily="18" charset="0"/>
                        <a:ea typeface="Verdana" panose="020B0604030504040204" pitchFamily="34" charset="0"/>
                      </a:rPr>
                      <m:t>𝑦</m:t>
                    </m:r>
                  </m:oMath>
                </a14:m>
                <a:r>
                  <a:rPr lang="en-US" sz="2000" dirty="0">
                    <a:latin typeface="Verdana" panose="020B0604030504040204" pitchFamily="34" charset="0"/>
                    <a:ea typeface="Verdana" panose="020B0604030504040204" pitchFamily="34" charset="0"/>
                  </a:rPr>
                  <a:t> in the equation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−6 = −4 + </m:t>
                    </m:r>
                    <m:r>
                      <a:rPr lang="en-US" sz="2000" i="1" dirty="0" smtClean="0">
                        <a:latin typeface="Cambria Math" panose="02040503050406030204" pitchFamily="18" charset="0"/>
                        <a:ea typeface="Cambria Math" panose="02040503050406030204" pitchFamily="18" charset="0"/>
                      </a:rPr>
                      <m:t>𝑦</m:t>
                    </m:r>
                  </m:oMath>
                </a14:m>
                <a:r>
                  <a:rPr lang="en-US" sz="2000" dirty="0">
                    <a:latin typeface="Verdana" panose="020B0604030504040204" pitchFamily="34" charset="0"/>
                    <a:ea typeface="Verdana" panose="020B0604030504040204" pitchFamily="34" charset="0"/>
                  </a:rPr>
                  <a:t>?</a:t>
                </a:r>
                <a:endParaRPr lang="en-US" sz="1600" dirty="0">
                  <a:latin typeface="Verdana" panose="020B0604030504040204" pitchFamily="34" charset="0"/>
                  <a:ea typeface="Verdana" panose="020B0604030504040204" pitchFamily="34" charset="0"/>
                </a:endParaRP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998978" y="442019"/>
                <a:ext cx="9296928" cy="5570715"/>
              </a:xfrm>
              <a:prstGeom prst="rect">
                <a:avLst/>
              </a:prstGeom>
              <a:blipFill>
                <a:blip r:embed="rId3"/>
                <a:stretch>
                  <a:fillRect l="-721" t="-767" b="-1095"/>
                </a:stretch>
              </a:blipFill>
              <a:ln>
                <a:noFill/>
              </a:ln>
            </p:spPr>
            <p:txBody>
              <a:bodyPr/>
              <a:lstStyle/>
              <a:p>
                <a:r>
                  <a:rPr lang="en-US">
                    <a:noFill/>
                  </a:rPr>
                  <a:t> </a:t>
                </a:r>
              </a:p>
            </p:txBody>
          </p:sp>
        </mc:Fallback>
      </mc:AlternateContent>
      <p:sp>
        <p:nvSpPr>
          <p:cNvPr id="239" name="Google Shape;239;p11"/>
          <p:cNvSpPr/>
          <p:nvPr/>
        </p:nvSpPr>
        <p:spPr>
          <a:xfrm>
            <a:off x="-5817"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080" name="Picture 8" descr="Icon&#10;&#10;Description automatically generated">
            <a:extLst>
              <a:ext uri="{FF2B5EF4-FFF2-40B4-BE49-F238E27FC236}">
                <a16:creationId xmlns:a16="http://schemas.microsoft.com/office/drawing/2014/main" id="{C240AB4C-207F-492E-84FC-36B40EBA0346}"/>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82594" y="426166"/>
            <a:ext cx="419100" cy="41910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Icon&#10;&#10;Description automatically generated">
            <a:extLst>
              <a:ext uri="{FF2B5EF4-FFF2-40B4-BE49-F238E27FC236}">
                <a16:creationId xmlns:a16="http://schemas.microsoft.com/office/drawing/2014/main" id="{317E5175-6A5C-4425-9C2D-CB1B9F5B06A9}"/>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095888" y="130891"/>
            <a:ext cx="285750" cy="100965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A picture containing chart&#10;&#10;Description automatically generated">
            <a:extLst>
              <a:ext uri="{FF2B5EF4-FFF2-40B4-BE49-F238E27FC236}">
                <a16:creationId xmlns:a16="http://schemas.microsoft.com/office/drawing/2014/main" id="{3A8E75B5-C58A-441C-B6C6-CD8BCE1B3CE2}"/>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69233" y="1261589"/>
            <a:ext cx="4786626" cy="246268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349</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350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279430" y="150352"/>
            <a:ext cx="107859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4AB8D3"/>
                </a:solidFill>
                <a:latin typeface="Verdana" panose="020B0604030504040204" pitchFamily="34" charset="0"/>
              </a:rPr>
              <a:t>14.3.3 </a:t>
            </a:r>
            <a:r>
              <a:rPr lang="en-US" sz="3200" b="1" dirty="0">
                <a:solidFill>
                  <a:srgbClr val="54B5D1"/>
                </a:solidFill>
                <a:latin typeface="Verdana"/>
                <a:ea typeface="Verdana"/>
                <a:cs typeface="Verdana"/>
                <a:sym typeface="Verdana"/>
              </a:rPr>
              <a:t>Guided Instruction: Solving Equations Using Inverse Operations</a:t>
            </a:r>
          </a:p>
          <a:p>
            <a:pPr>
              <a:lnSpc>
                <a:spcPct val="90000"/>
              </a:lnSpc>
              <a:buClr>
                <a:schemeClr val="dk1"/>
              </a:buClr>
              <a:buSzPts val="5400"/>
            </a:pPr>
            <a:endParaRPr lang="en-US" sz="1200" dirty="0"/>
          </a:p>
        </p:txBody>
      </p:sp>
      <p:pic>
        <p:nvPicPr>
          <p:cNvPr id="317" name="Google Shape;317;p19"/>
          <p:cNvPicPr preferRelativeResize="0"/>
          <p:nvPr/>
        </p:nvPicPr>
        <p:blipFill rotWithShape="1">
          <a:blip r:embed="rId3">
            <a:alphaModFix/>
          </a:blip>
          <a:srcRect/>
          <a:stretch/>
        </p:blipFill>
        <p:spPr>
          <a:xfrm>
            <a:off x="532130" y="355103"/>
            <a:ext cx="747300" cy="747300"/>
          </a:xfrm>
          <a:prstGeom prst="rect">
            <a:avLst/>
          </a:prstGeom>
          <a:noFill/>
          <a:ln>
            <a:noFill/>
          </a:ln>
          <a:effectLst>
            <a:outerShdw blurRad="50800" dist="38100" dir="2700000" algn="tl" rotWithShape="0">
              <a:srgbClr val="000000">
                <a:alpha val="40000"/>
              </a:srgbClr>
            </a:outerShdw>
          </a:effectLst>
        </p:spPr>
      </p:pic>
      <p:sp>
        <p:nvSpPr>
          <p:cNvPr id="320" name="Google Shape;320;p19"/>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TextBox 8">
            <a:extLst>
              <a:ext uri="{FF2B5EF4-FFF2-40B4-BE49-F238E27FC236}">
                <a16:creationId xmlns:a16="http://schemas.microsoft.com/office/drawing/2014/main" id="{09A394B1-80EF-43B2-BAF0-8C5A26639393}"/>
              </a:ext>
            </a:extLst>
          </p:cNvPr>
          <p:cNvSpPr txBox="1"/>
          <p:nvPr/>
        </p:nvSpPr>
        <p:spPr>
          <a:xfrm>
            <a:off x="1279430" y="1613225"/>
            <a:ext cx="9266666" cy="3785652"/>
          </a:xfrm>
          <a:prstGeom prst="rect">
            <a:avLst/>
          </a:prstGeom>
          <a:noFill/>
        </p:spPr>
        <p:txBody>
          <a:bodyPr wrap="square">
            <a:spAutoFit/>
          </a:bodyPr>
          <a:lstStyle/>
          <a:p>
            <a:r>
              <a:rPr lang="en-US" sz="2000" dirty="0">
                <a:latin typeface="Verdana" panose="020B0604030504040204" pitchFamily="34" charset="0"/>
              </a:rPr>
              <a:t>An equation relates two equivalent expressions. When solving an equation, the mathematical sentence must remain balanced so that the two expressions remain equivalent.</a:t>
            </a:r>
          </a:p>
          <a:p>
            <a:endParaRPr lang="en-US" sz="2000" dirty="0">
              <a:latin typeface="Verdana" panose="020B0604030504040204" pitchFamily="34" charset="0"/>
            </a:endParaRPr>
          </a:p>
          <a:p>
            <a:pPr marL="457200" indent="-457200">
              <a:buFont typeface="+mj-lt"/>
              <a:buAutoNum type="arabicPeriod"/>
            </a:pPr>
            <a:r>
              <a:rPr lang="en-US" sz="2000" dirty="0">
                <a:latin typeface="Verdana" panose="020B0604030504040204" pitchFamily="34" charset="0"/>
              </a:rPr>
              <a:t>Discuss with your partner what it means for an equation to remain balanced. Then, summarize your discussion.</a:t>
            </a:r>
          </a:p>
          <a:p>
            <a:pPr marL="457200" indent="-457200">
              <a:buFont typeface="+mj-lt"/>
              <a:buAutoNum type="arabicPeriod"/>
            </a:pPr>
            <a:endParaRPr lang="en-US" sz="2000" dirty="0">
              <a:latin typeface="Verdana" panose="020B0604030504040204" pitchFamily="34" charset="0"/>
            </a:endParaRPr>
          </a:p>
          <a:p>
            <a:pPr marL="457200" indent="-457200">
              <a:buFont typeface="+mj-lt"/>
              <a:buAutoNum type="arabicPeriod"/>
            </a:pPr>
            <a:endParaRPr lang="en-US" sz="2000" dirty="0">
              <a:latin typeface="Verdana" panose="020B0604030504040204" pitchFamily="34" charset="0"/>
            </a:endParaRPr>
          </a:p>
          <a:p>
            <a:pPr marL="457200" indent="-457200">
              <a:buFont typeface="+mj-lt"/>
              <a:buAutoNum type="arabicPeriod"/>
            </a:pPr>
            <a:endParaRPr lang="en-US" sz="2000" dirty="0">
              <a:latin typeface="Verdana" panose="020B0604030504040204" pitchFamily="34" charset="0"/>
            </a:endParaRPr>
          </a:p>
          <a:p>
            <a:br>
              <a:rPr lang="en-US" sz="2000" dirty="0">
                <a:latin typeface="Verdana" panose="020B0604030504040204" pitchFamily="34" charset="0"/>
                <a:ea typeface="Verdana" panose="020B0604030504040204" pitchFamily="34" charset="0"/>
              </a:rPr>
            </a:br>
            <a:r>
              <a:rPr lang="en-US" sz="2000" dirty="0">
                <a:latin typeface="Verdana" panose="020B0604030504040204" pitchFamily="34" charset="0"/>
                <a:ea typeface="Verdana" panose="020B0604030504040204" pitchFamily="34" charset="0"/>
              </a:rPr>
              <a:t>When finding the solution to an equation, inverse operations are used to balance an equation.</a:t>
            </a:r>
          </a:p>
        </p:txBody>
      </p:sp>
      <p:sp>
        <p:nvSpPr>
          <p:cNvPr id="8"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350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9" name="Google Shape;239;p11"/>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TextBox 8">
            <a:extLst>
              <a:ext uri="{FF2B5EF4-FFF2-40B4-BE49-F238E27FC236}">
                <a16:creationId xmlns:a16="http://schemas.microsoft.com/office/drawing/2014/main" id="{4321553A-A174-4332-94D6-B13D81E19AC1}"/>
              </a:ext>
            </a:extLst>
          </p:cNvPr>
          <p:cNvSpPr txBox="1"/>
          <p:nvPr/>
        </p:nvSpPr>
        <p:spPr>
          <a:xfrm>
            <a:off x="1794933" y="233202"/>
            <a:ext cx="8602135" cy="707886"/>
          </a:xfrm>
          <a:prstGeom prst="rect">
            <a:avLst/>
          </a:prstGeom>
          <a:noFill/>
        </p:spPr>
        <p:txBody>
          <a:bodyPr wrap="square">
            <a:spAutoFit/>
          </a:bodyPr>
          <a:lstStyle/>
          <a:p>
            <a:br>
              <a:rPr lang="en-US" sz="2000" dirty="0">
                <a:latin typeface="Verdana" panose="020B0604030504040204" pitchFamily="34" charset="0"/>
                <a:ea typeface="Verdana" panose="020B0604030504040204" pitchFamily="34" charset="0"/>
              </a:rPr>
            </a:br>
            <a:endParaRPr lang="en-US" sz="2000" dirty="0">
              <a:latin typeface="Verdana" panose="020B0604030504040204" pitchFamily="34" charset="0"/>
              <a:ea typeface="Verdana" panose="020B0604030504040204" pitchFamily="34" charset="0"/>
            </a:endParaRPr>
          </a:p>
        </p:txBody>
      </p:sp>
      <p:sp>
        <p:nvSpPr>
          <p:cNvPr id="14" name="Rectangle: Rounded Corners 13">
            <a:extLst>
              <a:ext uri="{FF2B5EF4-FFF2-40B4-BE49-F238E27FC236}">
                <a16:creationId xmlns:a16="http://schemas.microsoft.com/office/drawing/2014/main" id="{6EF4C820-AB9D-4B27-8A91-FD6D6B2C1C4E}"/>
              </a:ext>
            </a:extLst>
          </p:cNvPr>
          <p:cNvSpPr/>
          <p:nvPr/>
        </p:nvSpPr>
        <p:spPr>
          <a:xfrm>
            <a:off x="1918197" y="418846"/>
            <a:ext cx="8498578" cy="104448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indent="2743200">
              <a:spcAft>
                <a:spcPts val="1000"/>
              </a:spcAft>
            </a:pPr>
            <a:r>
              <a:rPr lang="en-US" sz="1200" dirty="0">
                <a:latin typeface="Cambria" panose="02040503050406030204" pitchFamily="18" charset="0"/>
                <a:ea typeface="Times New Roman" panose="02020603050405020304" pitchFamily="18" charset="0"/>
                <a:cs typeface="Cambria" panose="02040503050406030204" pitchFamily="18" charset="0"/>
              </a:rPr>
              <a:t> </a:t>
            </a:r>
          </a:p>
        </p:txBody>
      </p:sp>
      <p:sp>
        <p:nvSpPr>
          <p:cNvPr id="11" name="TextBox 10">
            <a:extLst>
              <a:ext uri="{FF2B5EF4-FFF2-40B4-BE49-F238E27FC236}">
                <a16:creationId xmlns:a16="http://schemas.microsoft.com/office/drawing/2014/main" id="{D6A6C8D0-8A61-4B3E-A333-A62A027D8A29}"/>
              </a:ext>
            </a:extLst>
          </p:cNvPr>
          <p:cNvSpPr txBox="1"/>
          <p:nvPr/>
        </p:nvSpPr>
        <p:spPr>
          <a:xfrm>
            <a:off x="2248135" y="574299"/>
            <a:ext cx="8025668" cy="861774"/>
          </a:xfrm>
          <a:prstGeom prst="rect">
            <a:avLst/>
          </a:prstGeom>
          <a:noFill/>
        </p:spPr>
        <p:txBody>
          <a:bodyPr wrap="square">
            <a:spAutoFit/>
          </a:bodyPr>
          <a:lstStyle/>
          <a:p>
            <a:r>
              <a:rPr lang="en-US" dirty="0"/>
              <a:t> </a:t>
            </a:r>
            <a:r>
              <a:rPr lang="en-US" sz="1800" dirty="0">
                <a:solidFill>
                  <a:srgbClr val="6C9A3C"/>
                </a:solidFill>
                <a:latin typeface="Verdana" panose="020B0604030504040204" pitchFamily="34" charset="0"/>
                <a:ea typeface="Verdana" panose="020B0604030504040204" pitchFamily="34" charset="0"/>
                <a:cs typeface="Verdana" panose="020B0604030504040204" pitchFamily="34" charset="0"/>
              </a:rPr>
              <a:t>An </a:t>
            </a:r>
            <a:r>
              <a:rPr lang="en-US" sz="1800" b="1" i="1" dirty="0">
                <a:solidFill>
                  <a:srgbClr val="6C9A3C"/>
                </a:solidFill>
                <a:latin typeface="Verdana" panose="020B0604030504040204" pitchFamily="34" charset="0"/>
                <a:ea typeface="Verdana" panose="020B0604030504040204" pitchFamily="34" charset="0"/>
                <a:cs typeface="Verdana" panose="020B0604030504040204" pitchFamily="34" charset="0"/>
              </a:rPr>
              <a:t>inverse operation </a:t>
            </a:r>
            <a:r>
              <a:rPr lang="en-US" sz="1800" dirty="0">
                <a:solidFill>
                  <a:srgbClr val="6C9A3C"/>
                </a:solidFill>
                <a:latin typeface="Verdana" panose="020B0604030504040204" pitchFamily="34" charset="0"/>
                <a:ea typeface="Verdana" panose="020B0604030504040204" pitchFamily="34" charset="0"/>
                <a:cs typeface="Verdana" panose="020B0604030504040204" pitchFamily="34" charset="0"/>
              </a:rPr>
              <a:t>is an operation that reverses the effect of another operation.</a:t>
            </a:r>
            <a:endParaRPr lang="en-US" sz="1800" dirty="0">
              <a:latin typeface="Cambria" panose="02040503050406030204" pitchFamily="18" charset="0"/>
              <a:ea typeface="Times New Roman" panose="02020603050405020304" pitchFamily="18" charset="0"/>
              <a:cs typeface="Cambria" panose="02040503050406030204" pitchFamily="18" charset="0"/>
            </a:endParaRPr>
          </a:p>
          <a:p>
            <a:r>
              <a:rPr lang="en-US" dirty="0"/>
              <a:t> </a:t>
            </a:r>
          </a:p>
        </p:txBody>
      </p:sp>
      <p:sp>
        <p:nvSpPr>
          <p:cNvPr id="18" name="TextBox 17">
            <a:extLst>
              <a:ext uri="{FF2B5EF4-FFF2-40B4-BE49-F238E27FC236}">
                <a16:creationId xmlns:a16="http://schemas.microsoft.com/office/drawing/2014/main" id="{DF588317-9BB3-43C2-8C68-1817A9152D95}"/>
              </a:ext>
            </a:extLst>
          </p:cNvPr>
          <p:cNvSpPr txBox="1"/>
          <p:nvPr/>
        </p:nvSpPr>
        <p:spPr>
          <a:xfrm>
            <a:off x="1133365" y="2244685"/>
            <a:ext cx="9140438" cy="1107996"/>
          </a:xfrm>
          <a:prstGeom prst="rect">
            <a:avLst/>
          </a:prstGeom>
          <a:noFill/>
        </p:spPr>
        <p:txBody>
          <a:bodyPr wrap="square">
            <a:spAutoFit/>
          </a:bodyPr>
          <a:lstStyle/>
          <a:p>
            <a:pPr marL="463550" indent="-46355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Using the definition of inverse operations, complete the table to indicate which operation would reverse the given operation</a:t>
            </a:r>
            <a:endParaRPr lang="en-US" sz="2200" dirty="0"/>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67F57A88-9E94-41F8-BA83-B4FFA2BCF7F4}"/>
                  </a:ext>
                </a:extLst>
              </p:cNvPr>
              <p:cNvGraphicFramePr>
                <a:graphicFrameLocks noGrp="1"/>
              </p:cNvGraphicFramePr>
              <p:nvPr>
                <p:extLst>
                  <p:ext uri="{D42A27DB-BD31-4B8C-83A1-F6EECF244321}">
                    <p14:modId xmlns:p14="http://schemas.microsoft.com/office/powerpoint/2010/main" val="1726852029"/>
                  </p:ext>
                </p:extLst>
              </p:nvPr>
            </p:nvGraphicFramePr>
            <p:xfrm>
              <a:off x="1949787" y="3874924"/>
              <a:ext cx="8498578" cy="1608849"/>
            </p:xfrm>
            <a:graphic>
              <a:graphicData uri="http://schemas.openxmlformats.org/drawingml/2006/table">
                <a:tbl>
                  <a:tblPr bandRow="1">
                    <a:tableStyleId>{073A0DAA-6AF3-43AB-8588-CEC1D06C72B9}</a:tableStyleId>
                  </a:tblPr>
                  <a:tblGrid>
                    <a:gridCol w="4219903">
                      <a:extLst>
                        <a:ext uri="{9D8B030D-6E8A-4147-A177-3AD203B41FA5}">
                          <a16:colId xmlns:a16="http://schemas.microsoft.com/office/drawing/2014/main" val="2347938954"/>
                        </a:ext>
                      </a:extLst>
                    </a:gridCol>
                    <a:gridCol w="4278675">
                      <a:extLst>
                        <a:ext uri="{9D8B030D-6E8A-4147-A177-3AD203B41FA5}">
                          <a16:colId xmlns:a16="http://schemas.microsoft.com/office/drawing/2014/main" val="641210093"/>
                        </a:ext>
                      </a:extLst>
                    </a:gridCol>
                  </a:tblGrid>
                  <a:tr h="371273">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Operation</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Inverse Operation</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5539576"/>
                      </a:ext>
                    </a:extLst>
                  </a:tr>
                  <a:tr h="618788">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Subtraction (</a:t>
                          </a:r>
                          <a14:m>
                            <m:oMath xmlns:m="http://schemas.openxmlformats.org/officeDocument/2006/math">
                              <m:r>
                                <a:rPr lang="en-US" sz="1800">
                                  <a:effectLst/>
                                  <a:latin typeface="Cambria Math" panose="02040503050406030204" pitchFamily="18" charset="0"/>
                                </a:rPr>
                                <m:t>−</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838423"/>
                      </a:ext>
                    </a:extLst>
                  </a:tr>
                  <a:tr h="618788">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Addition (</a:t>
                          </a:r>
                          <a14:m>
                            <m:oMath xmlns:m="http://schemas.openxmlformats.org/officeDocument/2006/math">
                              <m:r>
                                <a:rPr lang="en-US" sz="1800">
                                  <a:effectLst/>
                                  <a:latin typeface="Cambria Math" panose="02040503050406030204" pitchFamily="18" charset="0"/>
                                </a:rPr>
                                <m:t>+</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784229"/>
                      </a:ext>
                    </a:extLst>
                  </a:tr>
                </a:tbl>
              </a:graphicData>
            </a:graphic>
          </p:graphicFrame>
        </mc:Choice>
        <mc:Fallback xmlns="">
          <p:graphicFrame>
            <p:nvGraphicFramePr>
              <p:cNvPr id="8" name="Table 7">
                <a:extLst>
                  <a:ext uri="{FF2B5EF4-FFF2-40B4-BE49-F238E27FC236}">
                    <a16:creationId xmlns:a16="http://schemas.microsoft.com/office/drawing/2014/main" id="{67F57A88-9E94-41F8-BA83-B4FFA2BCF7F4}"/>
                  </a:ext>
                </a:extLst>
              </p:cNvPr>
              <p:cNvGraphicFramePr>
                <a:graphicFrameLocks noGrp="1"/>
              </p:cNvGraphicFramePr>
              <p:nvPr>
                <p:extLst>
                  <p:ext uri="{D42A27DB-BD31-4B8C-83A1-F6EECF244321}">
                    <p14:modId xmlns:p14="http://schemas.microsoft.com/office/powerpoint/2010/main" val="1726852029"/>
                  </p:ext>
                </p:extLst>
              </p:nvPr>
            </p:nvGraphicFramePr>
            <p:xfrm>
              <a:off x="425787" y="3874923"/>
              <a:ext cx="8498578" cy="1608849"/>
            </p:xfrm>
            <a:graphic>
              <a:graphicData uri="http://schemas.openxmlformats.org/drawingml/2006/table">
                <a:tbl>
                  <a:tblPr bandRow="1">
                    <a:tableStyleId>{073A0DAA-6AF3-43AB-8588-CEC1D06C72B9}</a:tableStyleId>
                  </a:tblPr>
                  <a:tblGrid>
                    <a:gridCol w="4219903">
                      <a:extLst>
                        <a:ext uri="{9D8B030D-6E8A-4147-A177-3AD203B41FA5}">
                          <a16:colId xmlns:a16="http://schemas.microsoft.com/office/drawing/2014/main" val="2347938954"/>
                        </a:ext>
                      </a:extLst>
                    </a:gridCol>
                    <a:gridCol w="4278675">
                      <a:extLst>
                        <a:ext uri="{9D8B030D-6E8A-4147-A177-3AD203B41FA5}">
                          <a16:colId xmlns:a16="http://schemas.microsoft.com/office/drawing/2014/main" val="641210093"/>
                        </a:ext>
                      </a:extLst>
                    </a:gridCol>
                  </a:tblGrid>
                  <a:tr h="371273">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Operation</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Inverse Operation</a:t>
                          </a:r>
                          <a:endParaRPr lang="en-US"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5539576"/>
                      </a:ext>
                    </a:extLst>
                  </a:tr>
                  <a:tr h="61878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 t="-71429" r="-101802" b="-102041"/>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838423"/>
                      </a:ext>
                    </a:extLst>
                  </a:tr>
                  <a:tr h="61878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 t="-171429" r="-101802" b="-2041"/>
                          </a:stretch>
                        </a:blipFill>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784229"/>
                      </a:ext>
                    </a:extLst>
                  </a:tr>
                </a:tbl>
              </a:graphicData>
            </a:graphic>
          </p:graphicFrame>
        </mc:Fallback>
      </mc:AlternateContent>
      <p:sp>
        <p:nvSpPr>
          <p:cNvPr id="10"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350</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48918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405432" y="-20465"/>
            <a:ext cx="10786568"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4AB8D3"/>
                </a:solidFill>
                <a:latin typeface="Verdana" panose="020B0604030504040204" pitchFamily="34" charset="0"/>
                <a:ea typeface="Verdana" panose="020B0604030504040204" pitchFamily="34" charset="0"/>
                <a:cs typeface="Verdana" panose="020B0604030504040204" pitchFamily="34" charset="0"/>
              </a:rPr>
              <a:t>14.3.4</a:t>
            </a:r>
            <a:r>
              <a:rPr lang="en-US" sz="3200" b="1" dirty="0">
                <a:solidFill>
                  <a:srgbClr val="4AB8D3"/>
                </a:solidFill>
                <a:latin typeface="Verdana" panose="020B0604030504040204" pitchFamily="34" charset="0"/>
              </a:rPr>
              <a:t> </a:t>
            </a:r>
            <a:r>
              <a:rPr lang="en-US" sz="3200" b="1" dirty="0">
                <a:solidFill>
                  <a:srgbClr val="54B5D1"/>
                </a:solidFill>
                <a:latin typeface="Verdana"/>
                <a:ea typeface="Verdana"/>
                <a:cs typeface="Verdana"/>
                <a:sym typeface="Verdana"/>
              </a:rPr>
              <a:t>Guided Instruction: Solving Equations with Inverse Operations </a:t>
            </a:r>
            <a:endParaRPr lang="en-US" sz="1200" dirty="0"/>
          </a:p>
        </p:txBody>
      </p:sp>
      <p:pic>
        <p:nvPicPr>
          <p:cNvPr id="317" name="Google Shape;317;p19"/>
          <p:cNvPicPr preferRelativeResize="0"/>
          <p:nvPr/>
        </p:nvPicPr>
        <p:blipFill rotWithShape="1">
          <a:blip r:embed="rId3">
            <a:alphaModFix/>
          </a:blip>
          <a:srcRect/>
          <a:stretch/>
        </p:blipFill>
        <p:spPr>
          <a:xfrm>
            <a:off x="639209" y="197523"/>
            <a:ext cx="747300" cy="747300"/>
          </a:xfrm>
          <a:prstGeom prst="rect">
            <a:avLst/>
          </a:prstGeom>
          <a:noFill/>
          <a:ln>
            <a:noFill/>
          </a:ln>
          <a:effectLst>
            <a:outerShdw blurRad="50800" dist="38100" dir="2700000" algn="tl" rotWithShape="0">
              <a:srgbClr val="000000">
                <a:alpha val="40000"/>
              </a:srgbClr>
            </a:outerShdw>
          </a:effectLst>
        </p:spPr>
      </p:pic>
      <p:sp>
        <p:nvSpPr>
          <p:cNvPr id="320" name="Google Shape;320;p19"/>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D98B8F0-6F7D-4FBB-A8EC-A1E243E592C0}"/>
                  </a:ext>
                </a:extLst>
              </p:cNvPr>
              <p:cNvSpPr txBox="1"/>
              <p:nvPr/>
            </p:nvSpPr>
            <p:spPr>
              <a:xfrm>
                <a:off x="1017431" y="1589408"/>
                <a:ext cx="10147504" cy="4124206"/>
              </a:xfrm>
              <a:prstGeom prst="rect">
                <a:avLst/>
              </a:prstGeom>
              <a:noFill/>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Bar models and balance scales are useful tools for representing equations.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the bar model shown, each palm tree represents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unit.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bar model can be used to represent either an addition or subtraction equation. Fill in the missing values in each equation to match the bar model.</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endParaRPr lang="en-US" sz="1000" dirty="0">
                  <a:latin typeface="Cambria" panose="02040503050406030204" pitchFamily="18" charset="0"/>
                  <a:ea typeface="Times New Roman" panose="02020603050405020304" pitchFamily="18" charset="0"/>
                  <a:cs typeface="Cambria" panose="02040503050406030204" pitchFamily="18" charset="0"/>
                </a:endParaRPr>
              </a:p>
              <a:p>
                <a:endParaRPr lang="en-US" sz="12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TextBox 11">
                <a:extLst>
                  <a:ext uri="{FF2B5EF4-FFF2-40B4-BE49-F238E27FC236}">
                    <a16:creationId xmlns:a16="http://schemas.microsoft.com/office/drawing/2014/main" xmlns:a14="http://schemas.microsoft.com/office/drawing/2010/main" xmlns="" id="{BD98B8F0-6F7D-4FBB-A8EC-A1E243E592C0}"/>
                  </a:ext>
                </a:extLst>
              </p:cNvPr>
              <p:cNvSpPr txBox="1">
                <a:spLocks noRot="1" noChangeAspect="1" noMove="1" noResize="1" noEditPoints="1" noAdjustHandles="1" noChangeArrowheads="1" noChangeShapeType="1" noTextEdit="1"/>
              </p:cNvSpPr>
              <p:nvPr/>
            </p:nvSpPr>
            <p:spPr>
              <a:xfrm>
                <a:off x="1017431" y="1589408"/>
                <a:ext cx="10147504" cy="4124206"/>
              </a:xfrm>
              <a:prstGeom prst="rect">
                <a:avLst/>
              </a:prstGeom>
              <a:blipFill rotWithShape="0">
                <a:blip r:embed="rId4"/>
                <a:stretch>
                  <a:fillRect l="-661" t="-888"/>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BDEA2E0-0723-4C15-AB30-803849D25B68}"/>
              </a:ext>
            </a:extLst>
          </p:cNvPr>
          <p:cNvPicPr>
            <a:picLocks noChangeAspect="1"/>
          </p:cNvPicPr>
          <p:nvPr/>
        </p:nvPicPr>
        <p:blipFill>
          <a:blip r:embed="rId5"/>
          <a:stretch>
            <a:fillRect/>
          </a:stretch>
        </p:blipFill>
        <p:spPr>
          <a:xfrm>
            <a:off x="4003122" y="3047479"/>
            <a:ext cx="4176122" cy="1394581"/>
          </a:xfrm>
          <a:prstGeom prst="rect">
            <a:avLst/>
          </a:prstGeom>
        </p:spPr>
      </p:pic>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CC2BAB3-3E9A-4D82-8956-CBB63363BCCF}"/>
                  </a:ext>
                </a:extLst>
              </p:cNvPr>
              <p:cNvSpPr txBox="1"/>
              <p:nvPr/>
            </p:nvSpPr>
            <p:spPr>
              <a:xfrm>
                <a:off x="4774183" y="5449573"/>
                <a:ext cx="2634000" cy="1272143"/>
              </a:xfrm>
              <a:prstGeom prst="rect">
                <a:avLst/>
              </a:prstGeom>
              <a:noFill/>
            </p:spPr>
            <p:txBody>
              <a:bodyPr wrap="square">
                <a:spAutoFit/>
              </a:bodyPr>
              <a:lstStyle/>
              <a:p>
                <a:pPr algn="ctr">
                  <a:spcAft>
                    <a:spcPts val="10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3+______ = 8</m:t>
                      </m:r>
                    </m:oMath>
                  </m:oMathPara>
                </a14:m>
                <a:endParaRPr lang="en-US" sz="2000" dirty="0">
                  <a:latin typeface="Verdana" panose="020B0604030504040204" pitchFamily="34" charset="0"/>
                  <a:ea typeface="Verdana" panose="020B0604030504040204" pitchFamily="34" charset="0"/>
                  <a:cs typeface="Cambria" panose="02040503050406030204" pitchFamily="18" charset="0"/>
                </a:endParaRPr>
              </a:p>
              <a:p>
                <a:pPr marL="685800" algn="ct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Cambria" panose="02040503050406030204" pitchFamily="18" charset="0"/>
                </a:endParaRPr>
              </a:p>
              <a:p>
                <a:pPr algn="ctr">
                  <a:spcAft>
                    <a:spcPts val="10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8 − 3 = ______</m:t>
                      </m:r>
                    </m:oMath>
                  </m:oMathPara>
                </a14:m>
                <a:endParaRPr lang="en-US" sz="2000" dirty="0">
                  <a:latin typeface="Verdana" panose="020B0604030504040204" pitchFamily="34" charset="0"/>
                  <a:ea typeface="Verdana" panose="020B0604030504040204" pitchFamily="34" charset="0"/>
                  <a:cs typeface="Cambria" panose="02040503050406030204" pitchFamily="18" charset="0"/>
                </a:endParaRPr>
              </a:p>
            </p:txBody>
          </p:sp>
        </mc:Choice>
        <mc:Fallback xmlns="">
          <p:sp>
            <p:nvSpPr>
              <p:cNvPr id="33" name="TextBox 32">
                <a:extLst>
                  <a:ext uri="{FF2B5EF4-FFF2-40B4-BE49-F238E27FC236}">
                    <a16:creationId xmlns:a16="http://schemas.microsoft.com/office/drawing/2014/main" id="{DCC2BAB3-3E9A-4D82-8956-CBB63363BCCF}"/>
                  </a:ext>
                </a:extLst>
              </p:cNvPr>
              <p:cNvSpPr txBox="1">
                <a:spLocks noRot="1" noChangeAspect="1" noMove="1" noResize="1" noEditPoints="1" noAdjustHandles="1" noChangeArrowheads="1" noChangeShapeType="1" noTextEdit="1"/>
              </p:cNvSpPr>
              <p:nvPr/>
            </p:nvSpPr>
            <p:spPr>
              <a:xfrm>
                <a:off x="4774183" y="5449573"/>
                <a:ext cx="2634000" cy="1272143"/>
              </a:xfrm>
              <a:prstGeom prst="rect">
                <a:avLst/>
              </a:prstGeom>
              <a:blipFill>
                <a:blip r:embed="rId6"/>
                <a:stretch>
                  <a:fillRect/>
                </a:stretch>
              </a:blipFill>
            </p:spPr>
            <p:txBody>
              <a:bodyPr/>
              <a:lstStyle/>
              <a:p>
                <a:r>
                  <a:rPr lang="en-US">
                    <a:noFill/>
                  </a:rPr>
                  <a:t> </a:t>
                </a:r>
              </a:p>
            </p:txBody>
          </p:sp>
        </mc:Fallback>
      </mc:AlternateContent>
      <p:sp>
        <p:nvSpPr>
          <p:cNvPr id="13"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350</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841274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9" name="Google Shape;239;p11"/>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TextBox 8">
            <a:extLst>
              <a:ext uri="{FF2B5EF4-FFF2-40B4-BE49-F238E27FC236}">
                <a16:creationId xmlns:a16="http://schemas.microsoft.com/office/drawing/2014/main" id="{EABC1928-57C4-4AC3-8255-6680640AC79D}"/>
              </a:ext>
            </a:extLst>
          </p:cNvPr>
          <p:cNvSpPr txBox="1"/>
          <p:nvPr/>
        </p:nvSpPr>
        <p:spPr>
          <a:xfrm>
            <a:off x="1236372" y="275234"/>
            <a:ext cx="9776180" cy="3231654"/>
          </a:xfrm>
          <a:prstGeom prst="rect">
            <a:avLst/>
          </a:prstGeom>
          <a:noFill/>
        </p:spPr>
        <p:txBody>
          <a:bodyPr wrap="square">
            <a:spAutoFit/>
          </a:bodyPr>
          <a:lstStyle/>
          <a:p>
            <a:pPr marL="469900" indent="-4699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bar model shown can be used to represent either an addition or subtraction equation.</a:t>
            </a:r>
          </a:p>
          <a:p>
            <a:pPr marL="342900" indent="-3429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Circle the addition equation that matches the diagram.</a:t>
            </a:r>
            <a:endParaRPr lang="en-US" sz="2400" dirty="0">
              <a:latin typeface="Cambria" panose="02040503050406030204" pitchFamily="18" charset="0"/>
              <a:ea typeface="Times New Roman" panose="02020603050405020304" pitchFamily="18" charset="0"/>
              <a:cs typeface="Cambria" panose="02040503050406030204" pitchFamily="18" charset="0"/>
            </a:endParaRPr>
          </a:p>
          <a:p>
            <a:pPr marL="342900" indent="-342900">
              <a:buFont typeface="+mj-lt"/>
              <a:buAutoNum type="alphaLcPeriod"/>
            </a:pPr>
            <a:endParaRPr lang="en-US" sz="1200" dirty="0">
              <a:latin typeface="Cambria" panose="02040503050406030204" pitchFamily="18" charset="0"/>
              <a:ea typeface="Times New Roman" panose="02020603050405020304" pitchFamily="18" charset="0"/>
              <a:cs typeface="Cambria" panose="02040503050406030204" pitchFamily="18" charset="0"/>
            </a:endParaRPr>
          </a:p>
        </p:txBody>
      </p:sp>
      <p:grpSp>
        <p:nvGrpSpPr>
          <p:cNvPr id="12" name="Group 11">
            <a:extLst>
              <a:ext uri="{FF2B5EF4-FFF2-40B4-BE49-F238E27FC236}">
                <a16:creationId xmlns:a16="http://schemas.microsoft.com/office/drawing/2014/main" id="{CD1C2D02-CE35-4325-93B0-2977E094BFC3}"/>
              </a:ext>
            </a:extLst>
          </p:cNvPr>
          <p:cNvGrpSpPr/>
          <p:nvPr/>
        </p:nvGrpSpPr>
        <p:grpSpPr>
          <a:xfrm>
            <a:off x="4340541" y="1174546"/>
            <a:ext cx="3510916" cy="786767"/>
            <a:chOff x="3590414" y="3386597"/>
            <a:chExt cx="3511172" cy="786808"/>
          </a:xfrm>
        </p:grpSpPr>
        <p:grpSp>
          <p:nvGrpSpPr>
            <p:cNvPr id="13" name="Group 12">
              <a:extLst>
                <a:ext uri="{FF2B5EF4-FFF2-40B4-BE49-F238E27FC236}">
                  <a16:creationId xmlns:a16="http://schemas.microsoft.com/office/drawing/2014/main" id="{6BCF2520-1543-4CC1-B455-3E9981225730}"/>
                </a:ext>
              </a:extLst>
            </p:cNvPr>
            <p:cNvGrpSpPr/>
            <p:nvPr/>
          </p:nvGrpSpPr>
          <p:grpSpPr>
            <a:xfrm>
              <a:off x="3590414" y="3386597"/>
              <a:ext cx="3511172" cy="786808"/>
              <a:chOff x="-1" y="0"/>
              <a:chExt cx="3511172" cy="786808"/>
            </a:xfrm>
          </p:grpSpPr>
          <p:sp>
            <p:nvSpPr>
              <p:cNvPr id="14" name="Rectangle 13">
                <a:extLst>
                  <a:ext uri="{FF2B5EF4-FFF2-40B4-BE49-F238E27FC236}">
                    <a16:creationId xmlns:a16="http://schemas.microsoft.com/office/drawing/2014/main" id="{AF01C794-8DE5-45A9-8829-BCBB94404D74}"/>
                  </a:ext>
                </a:extLst>
              </p:cNvPr>
              <p:cNvSpPr/>
              <p:nvPr/>
            </p:nvSpPr>
            <p:spPr>
              <a:xfrm>
                <a:off x="0" y="0"/>
                <a:ext cx="3511150" cy="7868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p>
            </p:txBody>
          </p:sp>
          <p:sp>
            <p:nvSpPr>
              <p:cNvPr id="15" name="Rectangle 14">
                <a:extLst>
                  <a:ext uri="{FF2B5EF4-FFF2-40B4-BE49-F238E27FC236}">
                    <a16:creationId xmlns:a16="http://schemas.microsoft.com/office/drawing/2014/main" id="{70348EEA-FF0A-4C66-8F47-806723F10B1F}"/>
                  </a:ext>
                </a:extLst>
              </p:cNvPr>
              <p:cNvSpPr/>
              <p:nvPr/>
            </p:nvSpPr>
            <p:spPr>
              <a:xfrm>
                <a:off x="0" y="0"/>
                <a:ext cx="3511171" cy="3937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algn="ctr">
                  <a:spcAft>
                    <a:spcPts val="1000"/>
                  </a:spcAft>
                </a:pPr>
                <a:r>
                  <a:rPr lang="en-US" sz="2000" dirty="0">
                    <a:latin typeface="Cambria" panose="02040503050406030204" pitchFamily="18" charset="0"/>
                    <a:ea typeface="Times New Roman" panose="02020603050405020304" pitchFamily="18" charset="0"/>
                    <a:cs typeface="Cambria" panose="02040503050406030204" pitchFamily="18" charset="0"/>
                  </a:rPr>
                  <a:t>7 </a:t>
                </a:r>
              </a:p>
            </p:txBody>
          </p:sp>
          <p:sp>
            <p:nvSpPr>
              <p:cNvPr id="16" name="Rectangle 15">
                <a:extLst>
                  <a:ext uri="{FF2B5EF4-FFF2-40B4-BE49-F238E27FC236}">
                    <a16:creationId xmlns:a16="http://schemas.microsoft.com/office/drawing/2014/main" id="{3780F7E2-0DD5-4D4E-BE6D-3A518E75B94C}"/>
                  </a:ext>
                </a:extLst>
              </p:cNvPr>
              <p:cNvSpPr/>
              <p:nvPr/>
            </p:nvSpPr>
            <p:spPr>
              <a:xfrm>
                <a:off x="-1" y="393108"/>
                <a:ext cx="1257300" cy="3937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algn="ctr">
                  <a:spcAft>
                    <a:spcPts val="1000"/>
                  </a:spcAft>
                </a:pPr>
                <a:r>
                  <a:rPr lang="en-US" sz="2000" i="1" dirty="0">
                    <a:latin typeface="Cambria" panose="02040503050406030204" pitchFamily="18" charset="0"/>
                    <a:ea typeface="Times New Roman" panose="02020603050405020304" pitchFamily="18" charset="0"/>
                    <a:cs typeface="Cambria" panose="02040503050406030204" pitchFamily="18" charset="0"/>
                  </a:rPr>
                  <a:t>x </a:t>
                </a:r>
              </a:p>
            </p:txBody>
          </p:sp>
          <p:sp>
            <p:nvSpPr>
              <p:cNvPr id="17" name="Rectangle 16">
                <a:extLst>
                  <a:ext uri="{FF2B5EF4-FFF2-40B4-BE49-F238E27FC236}">
                    <a16:creationId xmlns:a16="http://schemas.microsoft.com/office/drawing/2014/main" id="{EAF9F2BD-9AD2-4A5F-872E-A069413D796F}"/>
                  </a:ext>
                </a:extLst>
              </p:cNvPr>
              <p:cNvSpPr/>
              <p:nvPr/>
            </p:nvSpPr>
            <p:spPr>
              <a:xfrm>
                <a:off x="1239141" y="393106"/>
                <a:ext cx="2272030" cy="3937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algn="ctr">
                  <a:spcAft>
                    <a:spcPts val="1000"/>
                  </a:spcAft>
                </a:pPr>
                <a:r>
                  <a:rPr lang="en-US" sz="2000" dirty="0">
                    <a:latin typeface="Cambria" panose="02040503050406030204" pitchFamily="18" charset="0"/>
                    <a:ea typeface="Times New Roman" panose="02020603050405020304" pitchFamily="18" charset="0"/>
                    <a:cs typeface="Cambria" panose="02040503050406030204" pitchFamily="18" charset="0"/>
                  </a:rPr>
                  <a:t>4 </a:t>
                </a:r>
              </a:p>
            </p:txBody>
          </p:sp>
        </p:grpSp>
      </p:gr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F672DEAD-B88D-469F-BDBA-AA3BE160F479}"/>
                  </a:ext>
                </a:extLst>
              </p:cNvPr>
              <p:cNvGraphicFramePr>
                <a:graphicFrameLocks noGrp="1"/>
              </p:cNvGraphicFramePr>
              <p:nvPr>
                <p:extLst>
                  <p:ext uri="{D42A27DB-BD31-4B8C-83A1-F6EECF244321}">
                    <p14:modId xmlns:p14="http://schemas.microsoft.com/office/powerpoint/2010/main" val="1378140976"/>
                  </p:ext>
                </p:extLst>
              </p:nvPr>
            </p:nvGraphicFramePr>
            <p:xfrm>
              <a:off x="2049801" y="3903299"/>
              <a:ext cx="8149322" cy="492760"/>
            </p:xfrm>
            <a:graphic>
              <a:graphicData uri="http://schemas.openxmlformats.org/drawingml/2006/table">
                <a:tbl>
                  <a:tblPr bandRow="1"/>
                  <a:tblGrid>
                    <a:gridCol w="2715944">
                      <a:extLst>
                        <a:ext uri="{9D8B030D-6E8A-4147-A177-3AD203B41FA5}">
                          <a16:colId xmlns:a16="http://schemas.microsoft.com/office/drawing/2014/main" val="852010665"/>
                        </a:ext>
                      </a:extLst>
                    </a:gridCol>
                    <a:gridCol w="2716689">
                      <a:extLst>
                        <a:ext uri="{9D8B030D-6E8A-4147-A177-3AD203B41FA5}">
                          <a16:colId xmlns:a16="http://schemas.microsoft.com/office/drawing/2014/main" val="779320416"/>
                        </a:ext>
                      </a:extLst>
                    </a:gridCol>
                    <a:gridCol w="2716689">
                      <a:extLst>
                        <a:ext uri="{9D8B030D-6E8A-4147-A177-3AD203B41FA5}">
                          <a16:colId xmlns:a16="http://schemas.microsoft.com/office/drawing/2014/main" val="2792364949"/>
                        </a:ext>
                      </a:extLst>
                    </a:gridCol>
                  </a:tblGrid>
                  <a:tr h="40020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Cambria Math" panose="02040503050406030204" pitchFamily="18" charset="0"/>
                                    <a:cs typeface="Cambria Math" panose="02040503050406030204" pitchFamily="18" charset="0"/>
                                  </a:rPr>
                                  <m:t>𝑥</m:t>
                                </m:r>
                                <m:r>
                                  <a:rPr lang="en-US" sz="2400" i="1">
                                    <a:effectLst/>
                                    <a:latin typeface="Cambria Math" panose="02040503050406030204" pitchFamily="18" charset="0"/>
                                    <a:ea typeface="Cambria Math" panose="02040503050406030204" pitchFamily="18" charset="0"/>
                                    <a:cs typeface="Cambria Math" panose="02040503050406030204" pitchFamily="18" charset="0"/>
                                  </a:rPr>
                                  <m:t>+7=4</m:t>
                                </m:r>
                              </m:oMath>
                            </m:oMathPara>
                          </a14:m>
                          <a:endParaRPr lang="en-US" sz="16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Cambria Math" panose="02040503050406030204" pitchFamily="18" charset="0"/>
                                    <a:cs typeface="Cambria Math" panose="02040503050406030204" pitchFamily="18" charset="0"/>
                                  </a:rPr>
                                  <m:t>7=</m:t>
                                </m:r>
                                <m:r>
                                  <a:rPr lang="en-US" sz="2400" i="1">
                                    <a:effectLst/>
                                    <a:latin typeface="Cambria Math" panose="02040503050406030204" pitchFamily="18" charset="0"/>
                                    <a:ea typeface="Cambria Math" panose="02040503050406030204" pitchFamily="18" charset="0"/>
                                    <a:cs typeface="Cambria Math" panose="02040503050406030204" pitchFamily="18" charset="0"/>
                                  </a:rPr>
                                  <m:t>𝑥</m:t>
                                </m:r>
                                <m:r>
                                  <a:rPr lang="en-US" sz="2400" i="1">
                                    <a:effectLst/>
                                    <a:latin typeface="Cambria Math" panose="02040503050406030204" pitchFamily="18" charset="0"/>
                                    <a:ea typeface="Cambria Math" panose="02040503050406030204" pitchFamily="18" charset="0"/>
                                    <a:cs typeface="Cambria Math" panose="02040503050406030204" pitchFamily="18" charset="0"/>
                                  </a:rPr>
                                  <m:t>+4</m:t>
                                </m:r>
                              </m:oMath>
                            </m:oMathPara>
                          </a14:m>
                          <a:endParaRPr lang="en-US" sz="16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Cambria Math" panose="02040503050406030204" pitchFamily="18" charset="0"/>
                                    <a:cs typeface="Cambria Math" panose="02040503050406030204" pitchFamily="18" charset="0"/>
                                  </a:rPr>
                                  <m:t>𝑥</m:t>
                                </m:r>
                                <m:r>
                                  <a:rPr lang="en-US" sz="2400" i="1">
                                    <a:effectLst/>
                                    <a:latin typeface="Cambria Math" panose="02040503050406030204" pitchFamily="18" charset="0"/>
                                    <a:ea typeface="Cambria Math" panose="02040503050406030204" pitchFamily="18" charset="0"/>
                                    <a:cs typeface="Cambria Math" panose="02040503050406030204" pitchFamily="18" charset="0"/>
                                  </a:rPr>
                                  <m:t>=7+4</m:t>
                                </m:r>
                              </m:oMath>
                            </m:oMathPara>
                          </a14:m>
                          <a:endParaRPr lang="en-US" sz="16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1263132977"/>
                      </a:ext>
                    </a:extLst>
                  </a:tr>
                </a:tbl>
              </a:graphicData>
            </a:graphic>
          </p:graphicFrame>
        </mc:Choice>
        <mc:Fallback xmlns="">
          <p:graphicFrame>
            <p:nvGraphicFramePr>
              <p:cNvPr id="18" name="Table 17">
                <a:extLst>
                  <a:ext uri="{FF2B5EF4-FFF2-40B4-BE49-F238E27FC236}">
                    <a16:creationId xmlns:a16="http://schemas.microsoft.com/office/drawing/2014/main" id="{F672DEAD-B88D-469F-BDBA-AA3BE160F479}"/>
                  </a:ext>
                </a:extLst>
              </p:cNvPr>
              <p:cNvGraphicFramePr>
                <a:graphicFrameLocks noGrp="1"/>
              </p:cNvGraphicFramePr>
              <p:nvPr>
                <p:extLst>
                  <p:ext uri="{D42A27DB-BD31-4B8C-83A1-F6EECF244321}">
                    <p14:modId xmlns:p14="http://schemas.microsoft.com/office/powerpoint/2010/main" val="1378140976"/>
                  </p:ext>
                </p:extLst>
              </p:nvPr>
            </p:nvGraphicFramePr>
            <p:xfrm>
              <a:off x="525801" y="3903299"/>
              <a:ext cx="8149322" cy="492760"/>
            </p:xfrm>
            <a:graphic>
              <a:graphicData uri="http://schemas.openxmlformats.org/drawingml/2006/table">
                <a:tbl>
                  <a:tblPr bandRow="1"/>
                  <a:tblGrid>
                    <a:gridCol w="2715944">
                      <a:extLst>
                        <a:ext uri="{9D8B030D-6E8A-4147-A177-3AD203B41FA5}">
                          <a16:colId xmlns:a16="http://schemas.microsoft.com/office/drawing/2014/main" val="852010665"/>
                        </a:ext>
                      </a:extLst>
                    </a:gridCol>
                    <a:gridCol w="2716689">
                      <a:extLst>
                        <a:ext uri="{9D8B030D-6E8A-4147-A177-3AD203B41FA5}">
                          <a16:colId xmlns:a16="http://schemas.microsoft.com/office/drawing/2014/main" val="779320416"/>
                        </a:ext>
                      </a:extLst>
                    </a:gridCol>
                    <a:gridCol w="2716689">
                      <a:extLst>
                        <a:ext uri="{9D8B030D-6E8A-4147-A177-3AD203B41FA5}">
                          <a16:colId xmlns:a16="http://schemas.microsoft.com/office/drawing/2014/main" val="2792364949"/>
                        </a:ext>
                      </a:extLst>
                    </a:gridCol>
                  </a:tblGrid>
                  <a:tr h="492760">
                    <a:tc>
                      <a:txBody>
                        <a:bodyPr/>
                        <a:lstStyle/>
                        <a:p>
                          <a:endParaRPr lang="en-US"/>
                        </a:p>
                      </a:txBody>
                      <a:tcPr marL="68580" marR="68580" marT="0" marB="0">
                        <a:lnL>
                          <a:noFill/>
                        </a:lnL>
                        <a:lnR>
                          <a:noFill/>
                        </a:lnR>
                        <a:lnT>
                          <a:noFill/>
                        </a:lnT>
                        <a:lnB>
                          <a:noFill/>
                        </a:lnB>
                        <a:blipFill>
                          <a:blip r:embed="rId4"/>
                          <a:stretch>
                            <a:fillRect r="-200467"/>
                          </a:stretch>
                        </a:blipFill>
                      </a:tcPr>
                    </a:tc>
                    <a:tc>
                      <a:txBody>
                        <a:bodyPr/>
                        <a:lstStyle/>
                        <a:p>
                          <a:endParaRPr lang="en-US"/>
                        </a:p>
                      </a:txBody>
                      <a:tcPr marL="68580" marR="68580" marT="0" marB="0">
                        <a:lnL>
                          <a:noFill/>
                        </a:lnL>
                        <a:lnR>
                          <a:noFill/>
                        </a:lnR>
                        <a:lnT>
                          <a:noFill/>
                        </a:lnT>
                        <a:lnB>
                          <a:noFill/>
                        </a:lnB>
                        <a:blipFill>
                          <a:blip r:embed="rId4"/>
                          <a:stretch>
                            <a:fillRect l="-99535" r="-99535"/>
                          </a:stretch>
                        </a:blipFill>
                      </a:tcPr>
                    </a:tc>
                    <a:tc>
                      <a:txBody>
                        <a:bodyPr/>
                        <a:lstStyle/>
                        <a:p>
                          <a:endParaRPr lang="en-US"/>
                        </a:p>
                      </a:txBody>
                      <a:tcPr marL="68580" marR="68580" marT="0" marB="0">
                        <a:lnL>
                          <a:noFill/>
                        </a:lnL>
                        <a:lnR>
                          <a:noFill/>
                        </a:lnR>
                        <a:lnT>
                          <a:noFill/>
                        </a:lnT>
                        <a:lnB>
                          <a:noFill/>
                        </a:lnB>
                        <a:blipFill>
                          <a:blip r:embed="rId4"/>
                          <a:stretch>
                            <a:fillRect l="-200467"/>
                          </a:stretch>
                        </a:blipFill>
                      </a:tcPr>
                    </a:tc>
                    <a:extLst>
                      <a:ext uri="{0D108BD9-81ED-4DB2-BD59-A6C34878D82A}">
                        <a16:rowId xmlns:a16="http://schemas.microsoft.com/office/drawing/2014/main" val="1263132977"/>
                      </a:ext>
                    </a:extLst>
                  </a:tr>
                </a:tbl>
              </a:graphicData>
            </a:graphic>
          </p:graphicFrame>
        </mc:Fallback>
      </mc:AlternateContent>
      <p:sp>
        <p:nvSpPr>
          <p:cNvPr id="19"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350</a:t>
            </a:r>
            <a:endParaRPr i="1" dirty="0">
              <a:latin typeface="Calibri"/>
              <a:ea typeface="Calibri"/>
              <a:cs typeface="Calibri"/>
              <a:sym typeface="Calibri"/>
            </a:endParaRPr>
          </a:p>
        </p:txBody>
      </p:sp>
      <p:pic>
        <p:nvPicPr>
          <p:cNvPr id="2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57445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9" name="Google Shape;239;p11"/>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A807DB6-06C5-4FC2-A975-8281D0064972}"/>
                  </a:ext>
                </a:extLst>
              </p:cNvPr>
              <p:cNvSpPr txBox="1"/>
              <p:nvPr/>
            </p:nvSpPr>
            <p:spPr>
              <a:xfrm>
                <a:off x="1159099" y="664817"/>
                <a:ext cx="9562986" cy="4524315"/>
              </a:xfrm>
              <a:prstGeom prst="rect">
                <a:avLst/>
              </a:prstGeom>
              <a:noFill/>
            </p:spPr>
            <p:txBody>
              <a:bodyPr wrap="square">
                <a:spAutoFit/>
              </a:bodyPr>
              <a:lstStyle/>
              <a:p>
                <a:pPr marL="923925" indent="-454025">
                  <a:buSzPct val="1000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an equivalent equation using the inverse operation.</a:t>
                </a:r>
              </a:p>
              <a:p>
                <a:pPr marL="923925" indent="-454025">
                  <a:buSzPts val="18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SzPts val="18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9900">
                  <a:buSzPts val="1800"/>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SzPts val="18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7100" indent="-457200">
                  <a:buSzPct val="1000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Justify to your partner that the equation you wrote is an equivalent equation.</a:t>
                </a:r>
              </a:p>
              <a:p>
                <a:pPr marL="923925" indent="-454025">
                  <a:buSzPts val="18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SzPts val="18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SzPts val="18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SzPct val="1000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value of the variable, </a:t>
                </a:r>
                <a14:m>
                  <m:oMath xmlns:m="http://schemas.openxmlformats.org/officeDocument/2006/math">
                    <m:r>
                      <a:rPr lang="en-US" sz="2400" i="1" dirty="0" smtClean="0">
                        <a:latin typeface="Cambria Math" panose="02040503050406030204" pitchFamily="18" charset="0"/>
                        <a:ea typeface="Cambria Math" panose="02040503050406030204" pitchFamily="18" charset="0"/>
                        <a:cs typeface="Verdana" panose="020B0604030504040204" pitchFamily="34"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12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9" name="TextBox 28">
                <a:extLst>
                  <a:ext uri="{FF2B5EF4-FFF2-40B4-BE49-F238E27FC236}">
                    <a16:creationId xmlns:a16="http://schemas.microsoft.com/office/drawing/2014/main" id="{7A807DB6-06C5-4FC2-A975-8281D0064972}"/>
                  </a:ext>
                </a:extLst>
              </p:cNvPr>
              <p:cNvSpPr txBox="1">
                <a:spLocks noRot="1" noChangeAspect="1" noMove="1" noResize="1" noEditPoints="1" noAdjustHandles="1" noChangeArrowheads="1" noChangeShapeType="1" noTextEdit="1"/>
              </p:cNvSpPr>
              <p:nvPr/>
            </p:nvSpPr>
            <p:spPr>
              <a:xfrm>
                <a:off x="1159099" y="664817"/>
                <a:ext cx="9562986" cy="4524315"/>
              </a:xfrm>
              <a:prstGeom prst="rect">
                <a:avLst/>
              </a:prstGeom>
              <a:blipFill>
                <a:blip r:embed="rId3"/>
                <a:stretch>
                  <a:fillRect t="-1078" b="-2022"/>
                </a:stretch>
              </a:blipFill>
            </p:spPr>
            <p:txBody>
              <a:bodyPr/>
              <a:lstStyle/>
              <a:p>
                <a:r>
                  <a:rPr lang="en-US">
                    <a:noFill/>
                  </a:rPr>
                  <a:t> </a:t>
                </a:r>
              </a:p>
            </p:txBody>
          </p:sp>
        </mc:Fallback>
      </mc:AlternateContent>
      <p:sp>
        <p:nvSpPr>
          <p:cNvPr id="6"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351</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2112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978794" y="520393"/>
                <a:ext cx="10385078" cy="4524275"/>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startAt="3"/>
                </a:pPr>
                <a:r>
                  <a:rPr lang="en-US" sz="1800" dirty="0">
                    <a:latin typeface="Verdana" panose="020B0604030504040204" pitchFamily="34" charset="0"/>
                    <a:ea typeface="Verdana" panose="020B0604030504040204" pitchFamily="34" charset="0"/>
                    <a:cs typeface="Verdana" panose="020B0604030504040204" pitchFamily="34" charset="0"/>
                  </a:rPr>
                  <a:t>Two balance scales are shown. The scale on the left is unbalanced. To balance the scale, an unknown value, </a:t>
                </a: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𝑥</m:t>
                    </m:r>
                  </m:oMath>
                </a14:m>
                <a:r>
                  <a:rPr lang="en-US" sz="1800" dirty="0">
                    <a:latin typeface="Verdana" panose="020B0604030504040204" pitchFamily="34" charset="0"/>
                    <a:ea typeface="Verdana" panose="020B0604030504040204" pitchFamily="34" charset="0"/>
                    <a:cs typeface="Verdana" panose="020B0604030504040204" pitchFamily="34" charset="0"/>
                  </a:rPr>
                  <a:t>, needs to be added to the right side of the scale. </a:t>
                </a: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The equation represented by the balance scale on the right is shown. Use inverse operations to find the value of </a:t>
                </a: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𝑥</m:t>
                    </m:r>
                  </m:oMath>
                </a14:m>
                <a:r>
                  <a:rPr lang="en-US" sz="1800" dirty="0">
                    <a:latin typeface="Verdana" panose="020B0604030504040204" pitchFamily="34" charset="0"/>
                    <a:ea typeface="Verdana" panose="020B0604030504040204" pitchFamily="34" charset="0"/>
                    <a:cs typeface="Verdana" panose="020B0604030504040204" pitchFamily="34" charset="0"/>
                  </a:rPr>
                  <a:t> by completing the steps shown. </a:t>
                </a:r>
                <a:endParaRPr lang="en-US" sz="1200" dirty="0">
                  <a:latin typeface="Verdana" panose="020B0604030504040204" pitchFamily="34" charset="0"/>
                  <a:ea typeface="Verdana" panose="020B0604030504040204" pitchFamily="34" charset="0"/>
                  <a:cs typeface="Verdana" panose="020B0604030504040204" pitchFamily="34" charset="0"/>
                </a:endParaRPr>
              </a:p>
              <a:p>
                <a:pPr marL="469900"/>
                <a:endParaRPr lang="en-US" sz="1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978794" y="520393"/>
                <a:ext cx="10385078" cy="4524275"/>
              </a:xfrm>
              <a:prstGeom prst="rect">
                <a:avLst/>
              </a:prstGeom>
              <a:blipFill>
                <a:blip r:embed="rId3"/>
                <a:stretch>
                  <a:fillRect l="-528" t="-673"/>
                </a:stretch>
              </a:blipFill>
              <a:ln>
                <a:noFill/>
              </a:ln>
            </p:spPr>
            <p:txBody>
              <a:bodyPr/>
              <a:lstStyle/>
              <a:p>
                <a:r>
                  <a:rPr lang="en-US">
                    <a:noFill/>
                  </a:rPr>
                  <a:t> </a:t>
                </a:r>
              </a:p>
            </p:txBody>
          </p:sp>
        </mc:Fallback>
      </mc:AlternateContent>
      <p:sp>
        <p:nvSpPr>
          <p:cNvPr id="239" name="Google Shape;239;p11"/>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Rectangle 7">
            <a:extLst>
              <a:ext uri="{FF2B5EF4-FFF2-40B4-BE49-F238E27FC236}">
                <a16:creationId xmlns:a16="http://schemas.microsoft.com/office/drawing/2014/main" id="{0BF04DBB-C738-4749-8C2E-49A152D3E8B6}"/>
              </a:ext>
            </a:extLst>
          </p:cNvPr>
          <p:cNvSpPr/>
          <p:nvPr/>
        </p:nvSpPr>
        <p:spPr>
          <a:xfrm>
            <a:off x="4720273" y="2254250"/>
            <a:ext cx="2751455" cy="23495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p>
        </p:txBody>
      </p:sp>
      <p:pic>
        <p:nvPicPr>
          <p:cNvPr id="4" name="Picture 3">
            <a:extLst>
              <a:ext uri="{FF2B5EF4-FFF2-40B4-BE49-F238E27FC236}">
                <a16:creationId xmlns:a16="http://schemas.microsoft.com/office/drawing/2014/main" id="{9B130467-4C5D-498D-A522-22323D9F19A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83522" y="1471758"/>
            <a:ext cx="5902299" cy="2475402"/>
          </a:xfrm>
          <a:prstGeom prst="rect">
            <a:avLst/>
          </a:prstGeom>
        </p:spPr>
      </p:pic>
      <p:sp>
        <p:nvSpPr>
          <p:cNvPr id="2" name="TextBox 1">
            <a:extLst>
              <a:ext uri="{FF2B5EF4-FFF2-40B4-BE49-F238E27FC236}">
                <a16:creationId xmlns:a16="http://schemas.microsoft.com/office/drawing/2014/main" id="{115C5FBE-4DE8-4749-861A-037D34AED5E1}"/>
              </a:ext>
            </a:extLst>
          </p:cNvPr>
          <p:cNvSpPr txBox="1"/>
          <p:nvPr/>
        </p:nvSpPr>
        <p:spPr>
          <a:xfrm rot="20567786">
            <a:off x="3199945" y="2086854"/>
            <a:ext cx="524503" cy="461665"/>
          </a:xfrm>
          <a:prstGeom prst="rect">
            <a:avLst/>
          </a:prstGeom>
          <a:noFill/>
        </p:spPr>
        <p:txBody>
          <a:bodyPr wrap="none" rtlCol="0">
            <a:spAutoFit/>
          </a:bodyPr>
          <a:lstStyle/>
          <a:p>
            <a:r>
              <a:rPr lang="en-US" sz="2400" dirty="0">
                <a:latin typeface="Cambria Math" panose="02040503050406030204" pitchFamily="18" charset="0"/>
                <a:ea typeface="Cambria Math" panose="02040503050406030204" pitchFamily="18" charset="0"/>
              </a:rPr>
              <a:t>11</a:t>
            </a:r>
          </a:p>
        </p:txBody>
      </p:sp>
      <p:sp>
        <p:nvSpPr>
          <p:cNvPr id="5" name="TextBox 4">
            <a:extLst>
              <a:ext uri="{FF2B5EF4-FFF2-40B4-BE49-F238E27FC236}">
                <a16:creationId xmlns:a16="http://schemas.microsoft.com/office/drawing/2014/main" id="{C409EA70-C670-1A41-BE32-9CDA84C11A34}"/>
              </a:ext>
            </a:extLst>
          </p:cNvPr>
          <p:cNvSpPr txBox="1"/>
          <p:nvPr/>
        </p:nvSpPr>
        <p:spPr>
          <a:xfrm rot="20332724">
            <a:off x="4791541" y="1734159"/>
            <a:ext cx="354584" cy="461665"/>
          </a:xfrm>
          <a:prstGeom prst="rect">
            <a:avLst/>
          </a:prstGeom>
          <a:noFill/>
        </p:spPr>
        <p:txBody>
          <a:bodyPr wrap="none" rtlCol="0">
            <a:spAutoFit/>
          </a:bodyPr>
          <a:lstStyle/>
          <a:p>
            <a:r>
              <a:rPr lang="en-US" sz="2400" dirty="0">
                <a:latin typeface="Cambria Math" panose="02040503050406030204" pitchFamily="18" charset="0"/>
                <a:ea typeface="Cambria Math" panose="02040503050406030204" pitchFamily="18" charset="0"/>
              </a:rPr>
              <a:t>5</a:t>
            </a:r>
          </a:p>
        </p:txBody>
      </p:sp>
      <p:sp>
        <p:nvSpPr>
          <p:cNvPr id="6" name="TextBox 5">
            <a:extLst>
              <a:ext uri="{FF2B5EF4-FFF2-40B4-BE49-F238E27FC236}">
                <a16:creationId xmlns:a16="http://schemas.microsoft.com/office/drawing/2014/main" id="{060444FD-6BA9-0846-B81E-DBC16A52F31F}"/>
              </a:ext>
            </a:extLst>
          </p:cNvPr>
          <p:cNvSpPr txBox="1"/>
          <p:nvPr/>
        </p:nvSpPr>
        <p:spPr>
          <a:xfrm>
            <a:off x="6495871" y="1856021"/>
            <a:ext cx="524503" cy="461665"/>
          </a:xfrm>
          <a:prstGeom prst="rect">
            <a:avLst/>
          </a:prstGeom>
          <a:noFill/>
        </p:spPr>
        <p:txBody>
          <a:bodyPr wrap="none" rtlCol="0">
            <a:spAutoFit/>
          </a:bodyPr>
          <a:lstStyle/>
          <a:p>
            <a:r>
              <a:rPr lang="en-US" sz="2400" dirty="0">
                <a:latin typeface="Cambria Math" panose="02040503050406030204" pitchFamily="18" charset="0"/>
                <a:ea typeface="Cambria Math" panose="02040503050406030204" pitchFamily="18" charset="0"/>
              </a:rPr>
              <a:t>11</a:t>
            </a:r>
          </a:p>
        </p:txBody>
      </p:sp>
      <p:sp>
        <p:nvSpPr>
          <p:cNvPr id="7" name="TextBox 6">
            <a:extLst>
              <a:ext uri="{FF2B5EF4-FFF2-40B4-BE49-F238E27FC236}">
                <a16:creationId xmlns:a16="http://schemas.microsoft.com/office/drawing/2014/main" id="{F8A0D70D-5631-044D-9589-1543E1CCAA94}"/>
              </a:ext>
            </a:extLst>
          </p:cNvPr>
          <p:cNvSpPr txBox="1"/>
          <p:nvPr/>
        </p:nvSpPr>
        <p:spPr>
          <a:xfrm>
            <a:off x="7901363" y="1856021"/>
            <a:ext cx="1019299" cy="461665"/>
          </a:xfrm>
          <a:prstGeom prst="rect">
            <a:avLst/>
          </a:prstGeom>
          <a:noFill/>
        </p:spPr>
        <p:txBody>
          <a:bodyPr wrap="square" rtlCol="0">
            <a:spAutoFit/>
          </a:bodyPr>
          <a:lstStyle/>
          <a:p>
            <a:r>
              <a:rPr lang="en-US" sz="2400" dirty="0">
                <a:latin typeface="Cambria Math" panose="02040503050406030204" pitchFamily="18" charset="0"/>
                <a:ea typeface="Cambria Math" panose="02040503050406030204" pitchFamily="18" charset="0"/>
              </a:rPr>
              <a:t>5 + </a:t>
            </a:r>
            <a:r>
              <a:rPr lang="en-US" sz="2400" i="1" dirty="0">
                <a:latin typeface="Cambria Math" panose="02040503050406030204" pitchFamily="18" charset="0"/>
                <a:ea typeface="Cambria Math" panose="02040503050406030204" pitchFamily="18" charset="0"/>
              </a:rPr>
              <a:t>x</a:t>
            </a:r>
          </a:p>
        </p:txBody>
      </p:sp>
      <p:pic>
        <p:nvPicPr>
          <p:cNvPr id="10" name="Picture 9" descr="Shape&#10;&#10;Description automatically generated with medium confidence">
            <a:extLst>
              <a:ext uri="{FF2B5EF4-FFF2-40B4-BE49-F238E27FC236}">
                <a16:creationId xmlns:a16="http://schemas.microsoft.com/office/drawing/2014/main" id="{9604479E-2F1F-7344-8EEA-90F74CD037F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26057" y="5028573"/>
            <a:ext cx="2953037" cy="1789719"/>
          </a:xfrm>
          <a:prstGeom prst="rect">
            <a:avLst/>
          </a:prstGeom>
        </p:spPr>
      </p:pic>
      <p:sp>
        <p:nvSpPr>
          <p:cNvPr id="13"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351</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045166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262130" y="520393"/>
                <a:ext cx="9818406" cy="4401164"/>
              </a:xfrm>
              <a:prstGeom prst="rect">
                <a:avLst/>
              </a:prstGeom>
              <a:noFill/>
              <a:ln>
                <a:noFill/>
              </a:ln>
            </p:spPr>
            <p:txBody>
              <a:bodyPr spcFirstLastPara="1" wrap="square" lIns="91425" tIns="45700" rIns="91425" bIns="45700" anchor="t" anchorCtr="0">
                <a:spAutoFit/>
              </a:bodyPr>
              <a:lstStyle/>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Rewrite the original equation, substituting the solution for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how to use the equation in Part B to confirm that your solution is correct.  </a:t>
                </a:r>
                <a:endParaRPr lang="en-US" sz="2400" dirty="0">
                  <a:latin typeface="Cambria" panose="02040503050406030204" pitchFamily="18" charset="0"/>
                  <a:ea typeface="Times New Roman" panose="02020603050405020304" pitchFamily="18" charset="0"/>
                  <a:cs typeface="Cambria" panose="02040503050406030204" pitchFamily="18" charset="0"/>
                </a:endParaRPr>
              </a:p>
              <a:p>
                <a:pPr marL="457200" indent="-457200">
                  <a:buFont typeface="+mj-lt"/>
                  <a:buAutoNum type="alphaLcPeriod" startAt="2"/>
                </a:pPr>
                <a:endParaRPr lang="en-US" sz="1600" dirty="0">
                  <a:latin typeface="Verdana" panose="020B0604030504040204" pitchFamily="34" charset="0"/>
                  <a:ea typeface="Verdana" panose="020B0604030504040204" pitchFamily="34" charset="0"/>
                  <a:cs typeface="Cambria" panose="02040503050406030204" pitchFamily="18"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262130" y="520393"/>
                <a:ext cx="9818406" cy="4401164"/>
              </a:xfrm>
              <a:prstGeom prst="rect">
                <a:avLst/>
              </a:prstGeom>
              <a:blipFill rotWithShape="0">
                <a:blip r:embed="rId3"/>
                <a:stretch>
                  <a:fillRect l="-931" t="-1108"/>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351</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8" name="Google Shape;298;p17"/>
          <p:cNvSpPr txBox="1"/>
          <p:nvPr/>
        </p:nvSpPr>
        <p:spPr>
          <a:xfrm>
            <a:off x="1184856" y="208421"/>
            <a:ext cx="9972954" cy="1200288"/>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Inverse operations can be used to find the value of the variable in an algebraic equation by creating equivalent equations. </a:t>
            </a:r>
            <a:endParaRPr lang="en-US" sz="1600" dirty="0">
              <a:latin typeface="Cambria" panose="02040503050406030204" pitchFamily="18" charset="0"/>
              <a:ea typeface="Times New Roman" panose="02020603050405020304" pitchFamily="18" charset="0"/>
              <a:cs typeface="Cambria" panose="02040503050406030204" pitchFamily="18" charset="0"/>
            </a:endParaRPr>
          </a:p>
        </p:txBody>
      </p:sp>
      <p:sp>
        <p:nvSpPr>
          <p:cNvPr id="299" name="Google Shape;299;p17"/>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 name="Rectangle: Rounded Corners 15">
            <a:extLst>
              <a:ext uri="{FF2B5EF4-FFF2-40B4-BE49-F238E27FC236}">
                <a16:creationId xmlns:a16="http://schemas.microsoft.com/office/drawing/2014/main" id="{F931881A-E014-42EC-B058-47EBE80090A0}"/>
              </a:ext>
            </a:extLst>
          </p:cNvPr>
          <p:cNvSpPr/>
          <p:nvPr/>
        </p:nvSpPr>
        <p:spPr>
          <a:xfrm>
            <a:off x="3176336" y="1838447"/>
            <a:ext cx="6772414" cy="269365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28650" indent="628650">
              <a:spcAft>
                <a:spcPts val="1000"/>
              </a:spcAft>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1200" dirty="0">
              <a:latin typeface="Cambria" panose="02040503050406030204" pitchFamily="18" charset="0"/>
              <a:ea typeface="Times New Roman" panose="02020603050405020304" pitchFamily="18" charset="0"/>
              <a:cs typeface="Cambria" panose="02040503050406030204" pitchFamily="18" charset="0"/>
            </a:endParaRPr>
          </a:p>
          <a:p>
            <a:pPr marL="628650" indent="628650">
              <a:spcAft>
                <a:spcPts val="1000"/>
              </a:spcAft>
            </a:pPr>
            <a:r>
              <a:rPr lang="en-US" sz="1200" dirty="0">
                <a:latin typeface="Cambria" panose="02040503050406030204" pitchFamily="18" charset="0"/>
                <a:ea typeface="Times New Roman" panose="02020603050405020304" pitchFamily="18" charset="0"/>
                <a:cs typeface="Cambria" panose="02040503050406030204" pitchFamily="18" charset="0"/>
              </a:rPr>
              <a:t>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F8D27E7-9556-4B12-B39D-ED1FB91629E0}"/>
                  </a:ext>
                </a:extLst>
              </p:cNvPr>
              <p:cNvSpPr txBox="1"/>
              <p:nvPr/>
            </p:nvSpPr>
            <p:spPr>
              <a:xfrm>
                <a:off x="2870384" y="2208391"/>
                <a:ext cx="7078366" cy="1954381"/>
              </a:xfrm>
              <a:prstGeom prst="rect">
                <a:avLst/>
              </a:prstGeom>
              <a:noFill/>
            </p:spPr>
            <p:txBody>
              <a:bodyPr wrap="square">
                <a:spAutoFit/>
              </a:bodyPr>
              <a:lstStyle/>
              <a:p>
                <a:pPr marL="628650" indent="628650">
                  <a:spcAft>
                    <a:spcPts val="1000"/>
                  </a:spcAft>
                </a:pPr>
                <a:r>
                  <a:rPr lang="en-US" sz="2400" b="1" i="1" dirty="0">
                    <a:solidFill>
                      <a:srgbClr val="6C993D"/>
                    </a:solidFill>
                    <a:latin typeface="Verdana" panose="020B0604030504040204" pitchFamily="34" charset="0"/>
                    <a:ea typeface="Verdana" panose="020B0604030504040204" pitchFamily="34" charset="0"/>
                    <a:cs typeface="Verdana" panose="020B0604030504040204" pitchFamily="34" charset="0"/>
                  </a:rPr>
                  <a:t>Addition Property of Equality</a:t>
                </a:r>
                <a:endParaRPr lang="en-US" sz="2400" dirty="0">
                  <a:latin typeface="Cambria" panose="02040503050406030204" pitchFamily="18" charset="0"/>
                  <a:ea typeface="Times New Roman" panose="02020603050405020304" pitchFamily="18" charset="0"/>
                  <a:cs typeface="Cambria" panose="02040503050406030204" pitchFamily="18" charset="0"/>
                </a:endParaRPr>
              </a:p>
              <a:p>
                <a:pPr marL="628650" indent="628650">
                  <a:spcAft>
                    <a:spcPts val="1000"/>
                  </a:spcAft>
                </a:pPr>
                <a:r>
                  <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𝑏</m:t>
                    </m:r>
                  </m:oMath>
                </a14:m>
                <a:r>
                  <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rPr>
                  <a:t> , then </a:t>
                </a:r>
                <a14:m>
                  <m:oMath xmlns:m="http://schemas.openxmlformats.org/officeDocument/2006/math">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𝑐</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𝑏</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𝑐</m:t>
                    </m:r>
                  </m:oMath>
                </a14:m>
                <a:endParaRPr lang="en-US" sz="2400" dirty="0">
                  <a:latin typeface="Cambria" panose="02040503050406030204" pitchFamily="18" charset="0"/>
                  <a:ea typeface="Times New Roman" panose="02020603050405020304" pitchFamily="18" charset="0"/>
                  <a:cs typeface="Cambria" panose="02040503050406030204" pitchFamily="18" charset="0"/>
                </a:endParaRPr>
              </a:p>
              <a:p>
                <a:pPr marL="628650" indent="628650">
                  <a:spcAft>
                    <a:spcPts val="1000"/>
                  </a:spcAft>
                </a:pPr>
                <a:r>
                  <a:rPr lang="en-US" sz="2400" b="1" i="1" dirty="0">
                    <a:solidFill>
                      <a:srgbClr val="6C993D"/>
                    </a:solidFill>
                    <a:latin typeface="Verdana" panose="020B0604030504040204" pitchFamily="34" charset="0"/>
                    <a:ea typeface="Verdana" panose="020B0604030504040204" pitchFamily="34" charset="0"/>
                    <a:cs typeface="Verdana" panose="020B0604030504040204" pitchFamily="34" charset="0"/>
                  </a:rPr>
                  <a:t>Subtraction Property of Equality</a:t>
                </a:r>
                <a:endParaRPr lang="en-US" sz="2400" dirty="0">
                  <a:latin typeface="Cambria" panose="02040503050406030204" pitchFamily="18" charset="0"/>
                  <a:ea typeface="Times New Roman" panose="02020603050405020304" pitchFamily="18" charset="0"/>
                  <a:cs typeface="Cambria" panose="02040503050406030204" pitchFamily="18" charset="0"/>
                </a:endParaRPr>
              </a:p>
              <a:p>
                <a:r>
                  <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rPr>
                  <a:t>	   If </a:t>
                </a:r>
                <a14:m>
                  <m:oMath xmlns:m="http://schemas.openxmlformats.org/officeDocument/2006/math">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𝑏</m:t>
                    </m:r>
                  </m:oMath>
                </a14:m>
                <a:r>
                  <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rPr>
                  <a:t> , then </a:t>
                </a:r>
                <a14:m>
                  <m:oMath xmlns:m="http://schemas.openxmlformats.org/officeDocument/2006/math">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𝑐</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𝑏</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2400" i="1">
                        <a:solidFill>
                          <a:srgbClr val="6C993D"/>
                        </a:solidFill>
                        <a:latin typeface="Cambria Math" panose="02040503050406030204" pitchFamily="18" charset="0"/>
                        <a:ea typeface="Verdana" panose="020B0604030504040204" pitchFamily="34" charset="0"/>
                        <a:cs typeface="Verdana" panose="020B0604030504040204" pitchFamily="34" charset="0"/>
                      </a:rPr>
                      <m:t>𝑐</m:t>
                    </m:r>
                  </m:oMath>
                </a14:m>
                <a:endParaRPr lang="en-US" sz="2400" dirty="0"/>
              </a:p>
            </p:txBody>
          </p:sp>
        </mc:Choice>
        <mc:Fallback xmlns="">
          <p:sp>
            <p:nvSpPr>
              <p:cNvPr id="13" name="TextBox 12">
                <a:extLst>
                  <a:ext uri="{FF2B5EF4-FFF2-40B4-BE49-F238E27FC236}">
                    <a16:creationId xmlns:a16="http://schemas.microsoft.com/office/drawing/2014/main" id="{DF8D27E7-9556-4B12-B39D-ED1FB91629E0}"/>
                  </a:ext>
                </a:extLst>
              </p:cNvPr>
              <p:cNvSpPr txBox="1">
                <a:spLocks noRot="1" noChangeAspect="1" noMove="1" noResize="1" noEditPoints="1" noAdjustHandles="1" noChangeArrowheads="1" noChangeShapeType="1" noTextEdit="1"/>
              </p:cNvSpPr>
              <p:nvPr/>
            </p:nvSpPr>
            <p:spPr>
              <a:xfrm>
                <a:off x="1346384" y="2208390"/>
                <a:ext cx="7078366" cy="1954381"/>
              </a:xfrm>
              <a:prstGeom prst="rect">
                <a:avLst/>
              </a:prstGeom>
              <a:blipFill>
                <a:blip r:embed="rId4"/>
                <a:stretch>
                  <a:fillRect t="-3226" b="-6452"/>
                </a:stretch>
              </a:blipFill>
            </p:spPr>
            <p:txBody>
              <a:bodyPr/>
              <a:lstStyle/>
              <a:p>
                <a:r>
                  <a:rPr lang="en-US">
                    <a:noFill/>
                  </a:rPr>
                  <a:t> </a:t>
                </a:r>
              </a:p>
            </p:txBody>
          </p:sp>
        </mc:Fallback>
      </mc:AlternateContent>
      <p:pic>
        <p:nvPicPr>
          <p:cNvPr id="17" name="Shape 23" descr="Icon&#10;&#10;Description automatically generated">
            <a:extLst>
              <a:ext uri="{FF2B5EF4-FFF2-40B4-BE49-F238E27FC236}">
                <a16:creationId xmlns:a16="http://schemas.microsoft.com/office/drawing/2014/main" id="{5116B3F8-0750-4B4D-A935-D4A929A9901A}"/>
              </a:ext>
            </a:extLst>
          </p:cNvPr>
          <p:cNvPicPr>
            <a:picLocks noChangeAspect="1"/>
          </p:cNvPicPr>
          <p:nvPr/>
        </p:nvPicPr>
        <p:blipFill rotWithShape="1">
          <a:blip r:embed="rId5" cstate="screen">
            <a:alphaModFix/>
            <a:extLst>
              <a:ext uri="{28A0092B-C50C-407E-A947-70E740481C1C}">
                <a14:useLocalDpi xmlns:a14="http://schemas.microsoft.com/office/drawing/2010/main"/>
              </a:ext>
            </a:extLst>
          </a:blip>
          <a:srcRect/>
          <a:stretch/>
        </p:blipFill>
        <p:spPr>
          <a:xfrm>
            <a:off x="3460438" y="2208391"/>
            <a:ext cx="541828" cy="526829"/>
          </a:xfrm>
          <a:prstGeom prst="rect">
            <a:avLst/>
          </a:prstGeom>
          <a:noFill/>
          <a:ln>
            <a:noFill/>
          </a:ln>
          <a:effectLst>
            <a:outerShdw blurRad="50800" dist="38100" dir="2700000" algn="tl" rotWithShape="0">
              <a:prstClr val="black">
                <a:alpha val="40000"/>
              </a:prstClr>
            </a:outerShdw>
          </a:effectLst>
        </p:spPr>
      </p:pic>
      <p:sp>
        <p:nvSpPr>
          <p:cNvPr id="9"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043189" y="652152"/>
                <a:ext cx="10093752" cy="5175735"/>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4"/>
                </a:pPr>
                <a:r>
                  <a:rPr lang="en-US" sz="1800" dirty="0">
                    <a:latin typeface="Verdana" panose="020B0604030504040204" pitchFamily="34" charset="0"/>
                    <a:ea typeface="Verdana" panose="020B0604030504040204" pitchFamily="34" charset="0"/>
                    <a:cs typeface="Verdana" panose="020B0604030504040204" pitchFamily="34" charset="0"/>
                  </a:rPr>
                  <a:t>The equation </a:t>
                </a: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𝑥</m:t>
                    </m:r>
                    <m:r>
                      <a:rPr lang="en-US" sz="1800" i="1">
                        <a:latin typeface="Cambria Math" panose="02040503050406030204" pitchFamily="18" charset="0"/>
                        <a:ea typeface="Cambria Math" panose="02040503050406030204" pitchFamily="18" charset="0"/>
                        <a:cs typeface="Cambria Math" panose="02040503050406030204" pitchFamily="18" charset="0"/>
                      </a:rPr>
                      <m:t>+23=78</m:t>
                    </m:r>
                  </m:oMath>
                </a14:m>
                <a:r>
                  <a:rPr lang="en-US" sz="1800" dirty="0">
                    <a:latin typeface="Verdana" panose="020B0604030504040204" pitchFamily="34" charset="0"/>
                    <a:ea typeface="Verdana" panose="020B0604030504040204" pitchFamily="34" charset="0"/>
                    <a:cs typeface="Verdana" panose="020B0604030504040204" pitchFamily="34" charset="0"/>
                  </a:rPr>
                  <a:t> can be solved by using inverse operations.</a:t>
                </a:r>
              </a:p>
              <a:p>
                <a:pPr marL="457200" indent="-457200">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Fill in values in each equivalent equation to solve for </a:t>
                </a: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𝑥</m:t>
                    </m:r>
                  </m:oMath>
                </a14:m>
                <a:r>
                  <a:rPr lang="en-US" sz="1800" dirty="0">
                    <a:latin typeface="Verdana" panose="020B0604030504040204" pitchFamily="34" charset="0"/>
                    <a:ea typeface="Verdana" panose="020B0604030504040204" pitchFamily="34" charset="0"/>
                    <a:cs typeface="Verdana" panose="020B0604030504040204" pitchFamily="34" charset="0"/>
                  </a:rPr>
                  <a:t>.</a:t>
                </a:r>
              </a:p>
              <a:p>
                <a:pPr marL="920750" indent="-460375">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1381125" indent="-1381125" algn="ctr">
                  <a:spcAft>
                    <a:spcPts val="10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+ 23 = 78</m:t>
                      </m:r>
                    </m:oMath>
                  </m:oMathPara>
                </a14:m>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1381125" indent="-1381125"/>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1381125" indent="-1381125" algn="ctr">
                  <a:spcAft>
                    <a:spcPts val="10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+23 − ________= 78 − _________</m:t>
                      </m:r>
                    </m:oMath>
                  </m:oMathPara>
                </a14:m>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1381125" indent="-1381125"/>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1381125" indent="-1381125" algn="ctr">
                  <a:spcAft>
                    <a:spcPts val="10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 =_________</m:t>
                      </m:r>
                    </m:oMath>
                  </m:oMathPara>
                </a14:m>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1381125" indent="-1381125" algn="ctr">
                  <a:spcAft>
                    <a:spcPts val="1000"/>
                  </a:spcAft>
                </a:pP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920750" indent="-460375">
                  <a:spcAft>
                    <a:spcPts val="1000"/>
                  </a:spcAft>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inverse operation used to solve the equation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+23 = 78</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20750" indent="-460375">
                  <a:spcAft>
                    <a:spcPts val="1000"/>
                  </a:spcAft>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spcAft>
                    <a:spcPts val="1000"/>
                  </a:spcAft>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With your partner, discuss how to confirm whether or not the solution is accurate.</a:t>
                </a:r>
                <a:endParaRPr lang="en-US" sz="20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043189" y="652152"/>
                <a:ext cx="10093752" cy="5175735"/>
              </a:xfrm>
              <a:prstGeom prst="rect">
                <a:avLst/>
              </a:prstGeom>
              <a:blipFill rotWithShape="0">
                <a:blip r:embed="rId3"/>
                <a:stretch>
                  <a:fillRect l="-483" t="-707" r="-1027"/>
                </a:stretch>
              </a:blipFill>
              <a:ln>
                <a:noFill/>
              </a:ln>
            </p:spPr>
            <p:txBody>
              <a:bodyPr/>
              <a:lstStyle/>
              <a:p>
                <a:r>
                  <a:rPr lang="en-US">
                    <a:noFill/>
                  </a:rPr>
                  <a:t> </a:t>
                </a:r>
              </a:p>
            </p:txBody>
          </p:sp>
        </mc:Fallback>
      </mc:AlternateContent>
      <p:sp>
        <p:nvSpPr>
          <p:cNvPr id="359" name="Google Shape;359;p23"/>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352</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31"/>
          <p:cNvSpPr txBox="1"/>
          <p:nvPr/>
        </p:nvSpPr>
        <p:spPr>
          <a:xfrm>
            <a:off x="1437368" y="102868"/>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14.3.5 Your Turn!</a:t>
            </a:r>
            <a:endParaRPr lang="en-US" dirty="0"/>
          </a:p>
        </p:txBody>
      </p:sp>
      <p:pic>
        <p:nvPicPr>
          <p:cNvPr id="437" name="Google Shape;437;p31"/>
          <p:cNvPicPr preferRelativeResize="0"/>
          <p:nvPr/>
        </p:nvPicPr>
        <p:blipFill rotWithShape="1">
          <a:blip r:embed="rId3">
            <a:alphaModFix/>
          </a:blip>
          <a:srcRect/>
          <a:stretch/>
        </p:blipFill>
        <p:spPr>
          <a:xfrm>
            <a:off x="690068" y="77110"/>
            <a:ext cx="747300" cy="747300"/>
          </a:xfrm>
          <a:prstGeom prst="rect">
            <a:avLst/>
          </a:prstGeom>
          <a:noFill/>
          <a:ln>
            <a:noFill/>
          </a:ln>
          <a:effectLst>
            <a:outerShdw blurRad="50800" dist="38100" dir="2700000" algn="tl" rotWithShape="0">
              <a:srgbClr val="000000">
                <a:alpha val="40000"/>
              </a:srgbClr>
            </a:outerShdw>
          </a:effectLst>
        </p:spPr>
      </p:pic>
      <p:sp>
        <p:nvSpPr>
          <p:cNvPr id="440" name="Google Shape;440;p31"/>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1" name="TextBox 10">
            <a:extLst>
              <a:ext uri="{FF2B5EF4-FFF2-40B4-BE49-F238E27FC236}">
                <a16:creationId xmlns:a16="http://schemas.microsoft.com/office/drawing/2014/main" id="{99B3C4B9-0BD5-42E3-8350-28FF67E7FECC}"/>
              </a:ext>
            </a:extLst>
          </p:cNvPr>
          <p:cNvSpPr txBox="1"/>
          <p:nvPr/>
        </p:nvSpPr>
        <p:spPr>
          <a:xfrm>
            <a:off x="1437368" y="1122437"/>
            <a:ext cx="8950790" cy="4893647"/>
          </a:xfrm>
          <a:prstGeom prst="rect">
            <a:avLst/>
          </a:prstGeom>
          <a:noFill/>
        </p:spPr>
        <p:txBody>
          <a:bodyPr wrap="square">
            <a:spAutoFit/>
          </a:bodyPr>
          <a:lstStyle/>
          <a:p>
            <a:pPr marL="463550" indent="-46355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algebra tiles below model an equation.</a:t>
            </a:r>
          </a:p>
          <a:p>
            <a:pPr marL="342900" indent="-342900">
              <a:buFont typeface="+mj-lt"/>
              <a:buAutoNum type="alphaLcPeriod"/>
            </a:pPr>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400" dirty="0">
              <a:highlight>
                <a:srgbClr val="00FFFF"/>
              </a:highlight>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many blue tiles are equivalent to one purple tile?</a:t>
            </a:r>
            <a:endParaRPr lang="en-US" sz="1600" dirty="0">
              <a:latin typeface="Cambria" panose="02040503050406030204" pitchFamily="18" charset="0"/>
              <a:ea typeface="Times New Roman" panose="02020603050405020304" pitchFamily="18" charset="0"/>
              <a:cs typeface="Cambria" panose="02040503050406030204" pitchFamily="18" charset="0"/>
            </a:endParaRPr>
          </a:p>
        </p:txBody>
      </p:sp>
      <p:pic>
        <p:nvPicPr>
          <p:cNvPr id="12" name="image6.png" descr="Chart&#10;&#10;Description automatically generated">
            <a:extLst>
              <a:ext uri="{FF2B5EF4-FFF2-40B4-BE49-F238E27FC236}">
                <a16:creationId xmlns:a16="http://schemas.microsoft.com/office/drawing/2014/main" id="{AFF69693-9B15-4725-9202-847E31CDE73B}"/>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2519851" y="1718492"/>
            <a:ext cx="6534503" cy="3208510"/>
          </a:xfrm>
          <a:prstGeom prst="rect">
            <a:avLst/>
          </a:prstGeom>
          <a:ln/>
        </p:spPr>
      </p:pic>
      <p:sp>
        <p:nvSpPr>
          <p:cNvPr id="9"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9" name="Google Shape;389;p26"/>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F4C838E-673F-4F68-BC57-81376AAAF3CD}"/>
                  </a:ext>
                </a:extLst>
              </p:cNvPr>
              <p:cNvSpPr txBox="1"/>
              <p:nvPr/>
            </p:nvSpPr>
            <p:spPr>
              <a:xfrm>
                <a:off x="1146220" y="307507"/>
                <a:ext cx="9944838" cy="6047809"/>
              </a:xfrm>
              <a:prstGeom prst="rect">
                <a:avLst/>
              </a:prstGeom>
              <a:noFill/>
            </p:spPr>
            <p:txBody>
              <a:bodyPr wrap="square">
                <a:spAutoFit/>
              </a:bodyPr>
              <a:lstStyle/>
              <a:p>
                <a:pPr marL="923925"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 one-variable equation to represent the tiles on the mat.</a:t>
                </a: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inverse operation </a:t>
                </a:r>
                <a:r>
                  <a:rPr lang="en-US" sz="2400">
                    <a:latin typeface="Verdana" panose="020B0604030504040204" pitchFamily="34" charset="0"/>
                    <a:ea typeface="Verdana" panose="020B0604030504040204" pitchFamily="34" charset="0"/>
                    <a:cs typeface="Verdana" panose="020B0604030504040204" pitchFamily="34" charset="0"/>
                  </a:rPr>
                  <a:t>can be used </a:t>
                </a:r>
                <a:r>
                  <a:rPr lang="en-US" sz="2400" dirty="0">
                    <a:latin typeface="Verdana" panose="020B0604030504040204" pitchFamily="34" charset="0"/>
                    <a:ea typeface="Verdana" panose="020B0604030504040204" pitchFamily="34" charset="0"/>
                    <a:cs typeface="Verdana" panose="020B0604030504040204" pitchFamily="34" charset="0"/>
                  </a:rPr>
                  <a:t>to solve the equation?</a:t>
                </a: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value of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 makes the equation true?</a:t>
                </a:r>
                <a:endParaRPr lang="en-US" sz="2400" dirty="0">
                  <a:latin typeface="Verdana" panose="020B0604030504040204" pitchFamily="34" charset="0"/>
                  <a:ea typeface="Verdana" panose="020B0604030504040204" pitchFamily="34" charset="0"/>
                  <a:cs typeface="Cambria" panose="02040503050406030204" pitchFamily="18" charset="0"/>
                </a:endParaRPr>
              </a:p>
              <a:p>
                <a:pPr marL="923925" indent="-454025">
                  <a:buFont typeface="+mj-lt"/>
                  <a:buAutoNum type="alphaLcPeriod" startAt="2"/>
                </a:pPr>
                <a:endParaRPr lang="en-US" sz="1100" dirty="0">
                  <a:latin typeface="Cambria" panose="02040503050406030204" pitchFamily="18" charset="0"/>
                  <a:ea typeface="Times New Roman" panose="02020603050405020304" pitchFamily="18" charset="0"/>
                  <a:cs typeface="Cambria" panose="02040503050406030204" pitchFamily="18" charset="0"/>
                </a:endParaRPr>
              </a:p>
              <a:p>
                <a:pPr marL="457200" indent="-457200">
                  <a:buFont typeface="+mj-lt"/>
                  <a:buAutoNum type="alphaLcPeriod" startAt="2"/>
                </a:pPr>
                <a:endParaRPr lang="en-US" sz="1600" dirty="0">
                  <a:latin typeface="Cambria" panose="02040503050406030204" pitchFamily="18" charset="0"/>
                  <a:ea typeface="Times New Roman" panose="02020603050405020304" pitchFamily="18" charset="0"/>
                  <a:cs typeface="Cambria" panose="02040503050406030204" pitchFamily="18" charset="0"/>
                </a:endParaRPr>
              </a:p>
            </p:txBody>
          </p:sp>
        </mc:Choice>
        <mc:Fallback>
          <p:sp>
            <p:nvSpPr>
              <p:cNvPr id="9" name="TextBox 8">
                <a:extLst>
                  <a:ext uri="{FF2B5EF4-FFF2-40B4-BE49-F238E27FC236}">
                    <a16:creationId xmlns:a16="http://schemas.microsoft.com/office/drawing/2014/main" id="{CF4C838E-673F-4F68-BC57-81376AAAF3CD}"/>
                  </a:ext>
                </a:extLst>
              </p:cNvPr>
              <p:cNvSpPr txBox="1">
                <a:spLocks noRot="1" noChangeAspect="1" noMove="1" noResize="1" noEditPoints="1" noAdjustHandles="1" noChangeArrowheads="1" noChangeShapeType="1" noTextEdit="1"/>
              </p:cNvSpPr>
              <p:nvPr/>
            </p:nvSpPr>
            <p:spPr>
              <a:xfrm>
                <a:off x="1146220" y="307507"/>
                <a:ext cx="9944838" cy="6047809"/>
              </a:xfrm>
              <a:prstGeom prst="rect">
                <a:avLst/>
              </a:prstGeom>
              <a:blipFill>
                <a:blip r:embed="rId3"/>
                <a:stretch>
                  <a:fillRect t="-806"/>
                </a:stretch>
              </a:blipFill>
            </p:spPr>
            <p:txBody>
              <a:bodyPr/>
              <a:lstStyle/>
              <a:p>
                <a:r>
                  <a:rPr lang="en-PH">
                    <a:noFill/>
                  </a:rPr>
                  <a:t> </a:t>
                </a:r>
              </a:p>
            </p:txBody>
          </p:sp>
        </mc:Fallback>
      </mc:AlternateContent>
      <p:sp>
        <p:nvSpPr>
          <p:cNvPr id="6"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352</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8" name="Google Shape;418;p29"/>
              <p:cNvSpPr txBox="1"/>
              <p:nvPr/>
            </p:nvSpPr>
            <p:spPr>
              <a:xfrm>
                <a:off x="1094704" y="520393"/>
                <a:ext cx="10153258" cy="587849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equation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−31 = </m:t>
                    </m:r>
                    <m:r>
                      <a:rPr lang="en-US" sz="2400" i="1">
                        <a:latin typeface="Cambria Math" panose="02040503050406030204" pitchFamily="18" charset="0"/>
                        <a:ea typeface="Cambria Math" panose="02040503050406030204" pitchFamily="18" charset="0"/>
                        <a:cs typeface="Cambria Math" panose="02040503050406030204" pitchFamily="18" charset="0"/>
                      </a:rPr>
                      <m:t>𝑠</m:t>
                    </m:r>
                    <m:r>
                      <a:rPr lang="en-US" sz="2400" i="1">
                        <a:latin typeface="Cambria Math" panose="02040503050406030204" pitchFamily="18" charset="0"/>
                        <a:ea typeface="Cambria Math" panose="02040503050406030204" pitchFamily="18" charset="0"/>
                        <a:cs typeface="Cambria Math" panose="02040503050406030204" pitchFamily="18" charset="0"/>
                      </a:rPr>
                      <m:t> – 6</m:t>
                    </m:r>
                  </m:oMath>
                </a14:m>
                <a:r>
                  <a:rPr lang="en-US" sz="2400" dirty="0">
                    <a:latin typeface="Verdana" panose="020B0604030504040204" pitchFamily="34" charset="0"/>
                    <a:ea typeface="Verdana" panose="020B0604030504040204" pitchFamily="34" charset="0"/>
                    <a:cs typeface="Verdana" panose="020B0604030504040204" pitchFamily="34" charset="0"/>
                  </a:rPr>
                  <a:t> can be solved using inverse operations.</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Fill in the missing information to solve for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𝑠</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23925"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fontAlgn="ctr"/>
                <a14:m>
                  <m:oMathPara xmlns:m="http://schemas.openxmlformats.org/officeDocument/2006/math">
                    <m:oMathParaPr>
                      <m:jc m:val="left"/>
                    </m:oMathParaPr>
                    <m:oMath xmlns:m="http://schemas.openxmlformats.org/officeDocument/2006/math">
                      <m:r>
                        <a:rPr lang="en-US" sz="2400">
                          <a:latin typeface="Cambria Math" charset="0"/>
                        </a:rPr>
                        <m:t>−31=  </m:t>
                      </m:r>
                      <m:r>
                        <a:rPr lang="en-US" sz="2400">
                          <a:latin typeface="Cambria Math" charset="0"/>
                        </a:rPr>
                        <m:t>𝑠</m:t>
                      </m:r>
                      <m:r>
                        <a:rPr lang="en-US" sz="2400">
                          <a:latin typeface="Cambria Math" charset="0"/>
                        </a:rPr>
                        <m:t>− 6</m:t>
                      </m:r>
                    </m:oMath>
                  </m:oMathPara>
                </a14:m>
                <a:endParaRPr lang="en-US" sz="2400" dirty="0"/>
              </a:p>
              <a:p>
                <a:pPr marL="923925" indent="-454025" fontAlgn="ctr"/>
                <a:endParaRPr lang="en-US" sz="2400" dirty="0"/>
              </a:p>
              <a:p>
                <a:pPr marL="923925" fontAlgn="ctr"/>
                <a14:m>
                  <m:oMath xmlns:m="http://schemas.openxmlformats.org/officeDocument/2006/math">
                    <m:r>
                      <a:rPr lang="en-US" sz="2400">
                        <a:latin typeface="Cambria Math" charset="0"/>
                      </a:rPr>
                      <m:t>−31+_________ =  </m:t>
                    </m:r>
                    <m:r>
                      <a:rPr lang="en-US" sz="2400">
                        <a:latin typeface="Cambria Math" charset="0"/>
                      </a:rPr>
                      <m:t>𝑠</m:t>
                    </m:r>
                    <m:r>
                      <a:rPr lang="en-US" sz="2400">
                        <a:latin typeface="Cambria Math" charset="0"/>
                      </a:rPr>
                      <m:t> − 6</m:t>
                    </m:r>
                  </m:oMath>
                </a14:m>
                <a:r>
                  <a:rPr lang="en-US" sz="2400" dirty="0"/>
                  <a:t> </a:t>
                </a:r>
                <a14:m>
                  <m:oMath xmlns:m="http://schemas.openxmlformats.org/officeDocument/2006/math">
                    <m:r>
                      <a:rPr lang="en-US" sz="2400">
                        <a:latin typeface="Cambria Math" charset="0"/>
                      </a:rPr>
                      <m:t>+ _________</m:t>
                    </m:r>
                  </m:oMath>
                </a14:m>
                <a:endParaRPr lang="en-US" sz="2400" dirty="0"/>
              </a:p>
              <a:p>
                <a:pPr marL="923925" fontAlgn="ctr"/>
                <a:endParaRPr lang="en-US" sz="2400" dirty="0"/>
              </a:p>
              <a:p>
                <a:pPr marL="923925" indent="-454025" fontAlgn="ctr"/>
                <a14:m>
                  <m:oMathPara xmlns:m="http://schemas.openxmlformats.org/officeDocument/2006/math">
                    <m:oMathParaPr>
                      <m:jc m:val="left"/>
                    </m:oMathParaPr>
                    <m:oMath xmlns:m="http://schemas.openxmlformats.org/officeDocument/2006/math">
                      <m:r>
                        <a:rPr lang="en-US" sz="2400">
                          <a:latin typeface="Cambria Math" charset="0"/>
                        </a:rPr>
                        <m:t>_________ =</m:t>
                      </m:r>
                      <m:r>
                        <a:rPr lang="en-US" sz="2400">
                          <a:latin typeface="Cambria Math" charset="0"/>
                        </a:rPr>
                        <m:t>𝑠</m:t>
                      </m:r>
                    </m:oMath>
                  </m:oMathPara>
                </a14:m>
                <a:endParaRPr lang="en-US" sz="2400" dirty="0"/>
              </a:p>
              <a:p>
                <a:pPr marL="923925" indent="-454025">
                  <a:buFont typeface="+mj-lt"/>
                  <a:buAutoNum type="alphaLcPeriod"/>
                </a:pPr>
                <a:endParaRPr lang="en-US" sz="2400" dirty="0">
                  <a:latin typeface="Verdana" panose="020B0604030504040204" pitchFamily="34" charset="0"/>
                  <a:ea typeface="Verdana" panose="020B0604030504040204" pitchFamily="34" charset="0"/>
                  <a:cs typeface="Cambria" panose="02040503050406030204" pitchFamily="18" charset="0"/>
                </a:endParaRPr>
              </a:p>
              <a:p>
                <a:pPr marL="923925"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Which inverse operation was used to solve the equation?</a:t>
                </a: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Check your solution.</a:t>
                </a:r>
                <a:endParaRPr lang="en-US" sz="2400" dirty="0">
                  <a:latin typeface="Cambria" panose="02040503050406030204" pitchFamily="18" charset="0"/>
                  <a:ea typeface="Times New Roman" panose="02020603050405020304" pitchFamily="18" charset="0"/>
                  <a:cs typeface="Cambria" panose="02040503050406030204" pitchFamily="18" charset="0"/>
                </a:endParaRPr>
              </a:p>
              <a:p>
                <a:pPr marL="923925" indent="-454025"/>
                <a:endParaRPr lang="en-US" sz="2400" dirty="0">
                  <a:latin typeface="Cambria" panose="02040503050406030204" pitchFamily="18" charset="0"/>
                  <a:ea typeface="Times New Roman" panose="02020603050405020304" pitchFamily="18" charset="0"/>
                  <a:cs typeface="Cambria" panose="02040503050406030204" pitchFamily="18" charset="0"/>
                </a:endParaRPr>
              </a:p>
              <a:p>
                <a:endParaRPr lang="en-US" sz="16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418" name="Google Shape;418;p29"/>
              <p:cNvSpPr txBox="1">
                <a:spLocks noRot="1" noChangeAspect="1" noMove="1" noResize="1" noEditPoints="1" noAdjustHandles="1" noChangeArrowheads="1" noChangeShapeType="1" noTextEdit="1"/>
              </p:cNvSpPr>
              <p:nvPr/>
            </p:nvSpPr>
            <p:spPr>
              <a:xfrm>
                <a:off x="1094704" y="520393"/>
                <a:ext cx="10153258" cy="5878492"/>
              </a:xfrm>
              <a:prstGeom prst="rect">
                <a:avLst/>
              </a:prstGeom>
              <a:blipFill rotWithShape="0">
                <a:blip r:embed="rId3"/>
                <a:stretch>
                  <a:fillRect l="-961" t="-7876"/>
                </a:stretch>
              </a:blipFill>
              <a:ln>
                <a:noFill/>
              </a:ln>
            </p:spPr>
            <p:txBody>
              <a:bodyPr/>
              <a:lstStyle/>
              <a:p>
                <a:r>
                  <a:rPr lang="en-US">
                    <a:noFill/>
                  </a:rPr>
                  <a:t> </a:t>
                </a:r>
              </a:p>
            </p:txBody>
          </p:sp>
        </mc:Fallback>
      </mc:AlternateContent>
      <p:sp>
        <p:nvSpPr>
          <p:cNvPr id="419" name="Google Shape;419;p29"/>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353</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9" name="Google Shape;449;p32"/>
          <p:cNvSpPr/>
          <p:nvPr/>
        </p:nvSpPr>
        <p:spPr>
          <a:xfrm>
            <a:off x="1611"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TextBox 8">
            <a:extLst>
              <a:ext uri="{FF2B5EF4-FFF2-40B4-BE49-F238E27FC236}">
                <a16:creationId xmlns:a16="http://schemas.microsoft.com/office/drawing/2014/main" id="{C65F0902-9B8D-4745-8B7B-5C187917D683}"/>
              </a:ext>
            </a:extLst>
          </p:cNvPr>
          <p:cNvSpPr txBox="1"/>
          <p:nvPr/>
        </p:nvSpPr>
        <p:spPr>
          <a:xfrm>
            <a:off x="1839828" y="300428"/>
            <a:ext cx="8125564" cy="3785652"/>
          </a:xfrm>
          <a:prstGeom prst="rect">
            <a:avLst/>
          </a:prstGeom>
          <a:noFill/>
        </p:spPr>
        <p:txBody>
          <a:bodyPr wrap="square">
            <a:spAutoFit/>
          </a:bodyPr>
          <a:lstStyle/>
          <a:p>
            <a:pPr marL="463550" indent="-46355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Two bar model diagrams are shown.</a:t>
            </a: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08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Write an algebraic equation for each diagram box diagram.</a:t>
            </a:r>
            <a:endParaRPr lang="en-US" sz="1100" dirty="0">
              <a:latin typeface="Cambria" panose="02040503050406030204" pitchFamily="18" charset="0"/>
              <a:ea typeface="Times New Roman" panose="02020603050405020304" pitchFamily="18" charset="0"/>
              <a:cs typeface="Cambria" panose="02040503050406030204" pitchFamily="18" charset="0"/>
            </a:endParaRPr>
          </a:p>
        </p:txBody>
      </p:sp>
      <p:pic>
        <p:nvPicPr>
          <p:cNvPr id="6" name="Picture 5">
            <a:extLst>
              <a:ext uri="{FF2B5EF4-FFF2-40B4-BE49-F238E27FC236}">
                <a16:creationId xmlns:a16="http://schemas.microsoft.com/office/drawing/2014/main" id="{1FCA582B-D40D-4C4A-A5AA-D63768C9FA5D}"/>
              </a:ext>
            </a:extLst>
          </p:cNvPr>
          <p:cNvPicPr>
            <a:picLocks noChangeAspect="1"/>
          </p:cNvPicPr>
          <p:nvPr/>
        </p:nvPicPr>
        <p:blipFill rotWithShape="1">
          <a:blip r:embed="rId3"/>
          <a:srcRect l="1283"/>
          <a:stretch/>
        </p:blipFill>
        <p:spPr>
          <a:xfrm>
            <a:off x="1949928" y="709531"/>
            <a:ext cx="8129153" cy="2432304"/>
          </a:xfrm>
          <a:prstGeom prst="rect">
            <a:avLst/>
          </a:prstGeom>
        </p:spPr>
      </p:pic>
      <p:pic>
        <p:nvPicPr>
          <p:cNvPr id="24" name="Picture 23">
            <a:extLst>
              <a:ext uri="{FF2B5EF4-FFF2-40B4-BE49-F238E27FC236}">
                <a16:creationId xmlns:a16="http://schemas.microsoft.com/office/drawing/2014/main" id="{DBAE994C-B18D-41DA-B5A2-48472C9615C6}"/>
              </a:ext>
            </a:extLst>
          </p:cNvPr>
          <p:cNvPicPr>
            <a:picLocks noChangeAspect="1"/>
          </p:cNvPicPr>
          <p:nvPr/>
        </p:nvPicPr>
        <p:blipFill>
          <a:blip r:embed="rId4"/>
          <a:stretch>
            <a:fillRect/>
          </a:stretch>
        </p:blipFill>
        <p:spPr>
          <a:xfrm>
            <a:off x="1927412" y="4086080"/>
            <a:ext cx="8021339" cy="32986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DD6B231-E422-6A41-A1D1-2E1A9166EDC0}"/>
                  </a:ext>
                </a:extLst>
              </p:cNvPr>
              <p:cNvSpPr txBox="1"/>
              <p:nvPr/>
            </p:nvSpPr>
            <p:spPr>
              <a:xfrm>
                <a:off x="3791201" y="1483530"/>
                <a:ext cx="28969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𝑚</m:t>
                      </m:r>
                    </m:oMath>
                  </m:oMathPara>
                </a14:m>
                <a:endParaRPr lang="en-US" sz="2000" dirty="0"/>
              </a:p>
            </p:txBody>
          </p:sp>
        </mc:Choice>
        <mc:Fallback xmlns="">
          <p:sp>
            <p:nvSpPr>
              <p:cNvPr id="2" name="TextBox 1">
                <a:extLst>
                  <a:ext uri="{FF2B5EF4-FFF2-40B4-BE49-F238E27FC236}">
                    <a16:creationId xmlns:a16="http://schemas.microsoft.com/office/drawing/2014/main" id="{0DD6B231-E422-6A41-A1D1-2E1A9166EDC0}"/>
                  </a:ext>
                </a:extLst>
              </p:cNvPr>
              <p:cNvSpPr txBox="1">
                <a:spLocks noRot="1" noChangeAspect="1" noMove="1" noResize="1" noEditPoints="1" noAdjustHandles="1" noChangeArrowheads="1" noChangeShapeType="1" noTextEdit="1"/>
              </p:cNvSpPr>
              <p:nvPr/>
            </p:nvSpPr>
            <p:spPr>
              <a:xfrm>
                <a:off x="3791201" y="1483530"/>
                <a:ext cx="289695" cy="307777"/>
              </a:xfrm>
              <a:prstGeom prst="rect">
                <a:avLst/>
              </a:prstGeom>
              <a:blipFill>
                <a:blip r:embed="rId5"/>
                <a:stretch>
                  <a:fillRect l="-10638" r="-8511" b="-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1EC71F9-697D-0348-A0EF-20769F612708}"/>
                  </a:ext>
                </a:extLst>
              </p:cNvPr>
              <p:cNvSpPr txBox="1"/>
              <p:nvPr/>
            </p:nvSpPr>
            <p:spPr>
              <a:xfrm>
                <a:off x="3284482" y="2091510"/>
                <a:ext cx="54822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−12</m:t>
                      </m:r>
                    </m:oMath>
                  </m:oMathPara>
                </a14:m>
                <a:endParaRPr lang="en-US" sz="2000" dirty="0"/>
              </a:p>
            </p:txBody>
          </p:sp>
        </mc:Choice>
        <mc:Fallback xmlns="">
          <p:sp>
            <p:nvSpPr>
              <p:cNvPr id="3" name="TextBox 2">
                <a:extLst>
                  <a:ext uri="{FF2B5EF4-FFF2-40B4-BE49-F238E27FC236}">
                    <a16:creationId xmlns:a16="http://schemas.microsoft.com/office/drawing/2014/main" id="{31EC71F9-697D-0348-A0EF-20769F612708}"/>
                  </a:ext>
                </a:extLst>
              </p:cNvPr>
              <p:cNvSpPr txBox="1">
                <a:spLocks noRot="1" noChangeAspect="1" noMove="1" noResize="1" noEditPoints="1" noAdjustHandles="1" noChangeArrowheads="1" noChangeShapeType="1" noTextEdit="1"/>
              </p:cNvSpPr>
              <p:nvPr/>
            </p:nvSpPr>
            <p:spPr>
              <a:xfrm>
                <a:off x="3284482" y="2091510"/>
                <a:ext cx="548227" cy="307777"/>
              </a:xfrm>
              <a:prstGeom prst="rect">
                <a:avLst/>
              </a:prstGeom>
              <a:blipFill>
                <a:blip r:embed="rId6"/>
                <a:stretch>
                  <a:fillRect l="-2222" r="-7778" b="-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8CD6408-5DBA-2942-AE2D-B86AB6BE3FFC}"/>
                  </a:ext>
                </a:extLst>
              </p:cNvPr>
              <p:cNvSpPr txBox="1"/>
              <p:nvPr/>
            </p:nvSpPr>
            <p:spPr>
              <a:xfrm>
                <a:off x="4183081" y="2091509"/>
                <a:ext cx="40556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−4</m:t>
                      </m:r>
                    </m:oMath>
                  </m:oMathPara>
                </a14:m>
                <a:endParaRPr lang="en-US" sz="2000" dirty="0"/>
              </a:p>
            </p:txBody>
          </p:sp>
        </mc:Choice>
        <mc:Fallback xmlns="">
          <p:sp>
            <p:nvSpPr>
              <p:cNvPr id="4" name="TextBox 3">
                <a:extLst>
                  <a:ext uri="{FF2B5EF4-FFF2-40B4-BE49-F238E27FC236}">
                    <a16:creationId xmlns:a16="http://schemas.microsoft.com/office/drawing/2014/main" id="{28CD6408-5DBA-2942-AE2D-B86AB6BE3FFC}"/>
                  </a:ext>
                </a:extLst>
              </p:cNvPr>
              <p:cNvSpPr txBox="1">
                <a:spLocks noRot="1" noChangeAspect="1" noMove="1" noResize="1" noEditPoints="1" noAdjustHandles="1" noChangeArrowheads="1" noChangeShapeType="1" noTextEdit="1"/>
              </p:cNvSpPr>
              <p:nvPr/>
            </p:nvSpPr>
            <p:spPr>
              <a:xfrm>
                <a:off x="4183081" y="2091509"/>
                <a:ext cx="405560" cy="307777"/>
              </a:xfrm>
              <a:prstGeom prst="rect">
                <a:avLst/>
              </a:prstGeom>
              <a:blipFill>
                <a:blip r:embed="rId7"/>
                <a:stretch>
                  <a:fillRect l="-1493" r="-11940" b="-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B36BA5A-7729-9946-A0F8-DCAFE9DBFB52}"/>
                  </a:ext>
                </a:extLst>
              </p:cNvPr>
              <p:cNvSpPr txBox="1"/>
              <p:nvPr/>
            </p:nvSpPr>
            <p:spPr>
              <a:xfrm>
                <a:off x="7841348" y="1483530"/>
                <a:ext cx="53951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−12</m:t>
                      </m:r>
                    </m:oMath>
                  </m:oMathPara>
                </a14:m>
                <a:endParaRPr lang="en-US" sz="2000" dirty="0"/>
              </a:p>
            </p:txBody>
          </p:sp>
        </mc:Choice>
        <mc:Fallback xmlns="">
          <p:sp>
            <p:nvSpPr>
              <p:cNvPr id="13" name="TextBox 12">
                <a:extLst>
                  <a:ext uri="{FF2B5EF4-FFF2-40B4-BE49-F238E27FC236}">
                    <a16:creationId xmlns:a16="http://schemas.microsoft.com/office/drawing/2014/main" id="{3B36BA5A-7729-9946-A0F8-DCAFE9DBFB52}"/>
                  </a:ext>
                </a:extLst>
              </p:cNvPr>
              <p:cNvSpPr txBox="1">
                <a:spLocks noRot="1" noChangeAspect="1" noMove="1" noResize="1" noEditPoints="1" noAdjustHandles="1" noChangeArrowheads="1" noChangeShapeType="1" noTextEdit="1"/>
              </p:cNvSpPr>
              <p:nvPr/>
            </p:nvSpPr>
            <p:spPr>
              <a:xfrm>
                <a:off x="7841348" y="1483530"/>
                <a:ext cx="539516" cy="400110"/>
              </a:xfrm>
              <a:prstGeom prst="rect">
                <a:avLst/>
              </a:prstGeom>
              <a:blipFill>
                <a:blip r:embed="rId8"/>
                <a:stretch>
                  <a:fillRect r="-202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9BF2ED7-2B79-AF42-8C60-F1FC4966D5ED}"/>
                  </a:ext>
                </a:extLst>
              </p:cNvPr>
              <p:cNvSpPr txBox="1"/>
              <p:nvPr/>
            </p:nvSpPr>
            <p:spPr>
              <a:xfrm>
                <a:off x="8255426" y="2091509"/>
                <a:ext cx="46373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𝑚</m:t>
                      </m:r>
                    </m:oMath>
                  </m:oMathPara>
                </a14:m>
                <a:endParaRPr lang="en-US" sz="2000" dirty="0"/>
              </a:p>
            </p:txBody>
          </p:sp>
        </mc:Choice>
        <mc:Fallback xmlns="">
          <p:sp>
            <p:nvSpPr>
              <p:cNvPr id="15" name="TextBox 14">
                <a:extLst>
                  <a:ext uri="{FF2B5EF4-FFF2-40B4-BE49-F238E27FC236}">
                    <a16:creationId xmlns:a16="http://schemas.microsoft.com/office/drawing/2014/main" id="{79BF2ED7-2B79-AF42-8C60-F1FC4966D5ED}"/>
                  </a:ext>
                </a:extLst>
              </p:cNvPr>
              <p:cNvSpPr txBox="1">
                <a:spLocks noRot="1" noChangeAspect="1" noMove="1" noResize="1" noEditPoints="1" noAdjustHandles="1" noChangeArrowheads="1" noChangeShapeType="1" noTextEdit="1"/>
              </p:cNvSpPr>
              <p:nvPr/>
            </p:nvSpPr>
            <p:spPr>
              <a:xfrm>
                <a:off x="8255426" y="2091509"/>
                <a:ext cx="463732" cy="4001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99EC5CD-B647-9E4D-B184-6E3C418F7E2C}"/>
                  </a:ext>
                </a:extLst>
              </p:cNvPr>
              <p:cNvSpPr txBox="1"/>
              <p:nvPr/>
            </p:nvSpPr>
            <p:spPr>
              <a:xfrm>
                <a:off x="7499494" y="2091509"/>
                <a:ext cx="46373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4</m:t>
                      </m:r>
                    </m:oMath>
                  </m:oMathPara>
                </a14:m>
                <a:endParaRPr lang="en-US" sz="2000" dirty="0"/>
              </a:p>
            </p:txBody>
          </p:sp>
        </mc:Choice>
        <mc:Fallback xmlns="">
          <p:sp>
            <p:nvSpPr>
              <p:cNvPr id="17" name="TextBox 16">
                <a:extLst>
                  <a:ext uri="{FF2B5EF4-FFF2-40B4-BE49-F238E27FC236}">
                    <a16:creationId xmlns:a16="http://schemas.microsoft.com/office/drawing/2014/main" id="{699EC5CD-B647-9E4D-B184-6E3C418F7E2C}"/>
                  </a:ext>
                </a:extLst>
              </p:cNvPr>
              <p:cNvSpPr txBox="1">
                <a:spLocks noRot="1" noChangeAspect="1" noMove="1" noResize="1" noEditPoints="1" noAdjustHandles="1" noChangeArrowheads="1" noChangeShapeType="1" noTextEdit="1"/>
              </p:cNvSpPr>
              <p:nvPr/>
            </p:nvSpPr>
            <p:spPr>
              <a:xfrm>
                <a:off x="7499494" y="2091509"/>
                <a:ext cx="463732" cy="400110"/>
              </a:xfrm>
              <a:prstGeom prst="rect">
                <a:avLst/>
              </a:prstGeom>
              <a:blipFill>
                <a:blip r:embed="rId10"/>
                <a:stretch>
                  <a:fillRect/>
                </a:stretch>
              </a:blipFill>
            </p:spPr>
            <p:txBody>
              <a:bodyPr/>
              <a:lstStyle/>
              <a:p>
                <a:r>
                  <a:rPr lang="en-US">
                    <a:noFill/>
                  </a:rPr>
                  <a:t> </a:t>
                </a:r>
              </a:p>
            </p:txBody>
          </p:sp>
        </mc:Fallback>
      </mc:AlternateContent>
      <p:sp>
        <p:nvSpPr>
          <p:cNvPr id="14"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353</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11"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78" name="Google Shape;478;p35"/>
              <p:cNvSpPr txBox="1"/>
              <p:nvPr/>
            </p:nvSpPr>
            <p:spPr>
              <a:xfrm>
                <a:off x="1094704" y="520393"/>
                <a:ext cx="10153258" cy="4770496"/>
              </a:xfrm>
              <a:prstGeom prst="rect">
                <a:avLst/>
              </a:prstGeom>
              <a:noFill/>
              <a:ln>
                <a:noFill/>
              </a:ln>
            </p:spPr>
            <p:txBody>
              <a:bodyPr spcFirstLastPara="1" wrap="square" lIns="91425" tIns="45700" rIns="91425" bIns="45700" anchor="t" anchorCtr="0">
                <a:spAutoFit/>
              </a:bodyPr>
              <a:lstStyle/>
              <a:p>
                <a:pPr marL="923925"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value of variable,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𝑚</m:t>
                    </m:r>
                  </m:oMath>
                </a14:m>
                <a:r>
                  <a:rPr lang="en-US" sz="2400" dirty="0">
                    <a:latin typeface="Verdana" panose="020B0604030504040204" pitchFamily="34" charset="0"/>
                    <a:ea typeface="Verdana" panose="020B0604030504040204" pitchFamily="34" charset="0"/>
                    <a:cs typeface="Verdana" panose="020B0604030504040204" pitchFamily="34" charset="0"/>
                  </a:rPr>
                  <a:t>, for each algebraic equation.</a:t>
                </a: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what you notice about the two equations. Summarize your discussion. </a:t>
                </a:r>
                <a:endParaRPr lang="en-US" sz="2400" dirty="0">
                  <a:latin typeface="Cambria" panose="02040503050406030204" pitchFamily="18" charset="0"/>
                  <a:ea typeface="Times New Roman" panose="02020603050405020304" pitchFamily="18" charset="0"/>
                  <a:cs typeface="Cambria" panose="02040503050406030204" pitchFamily="18" charset="0"/>
                </a:endParaRPr>
              </a:p>
              <a:p>
                <a:pPr marL="923925"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4025">
                  <a:buFont typeface="+mj-lt"/>
                  <a:buAutoNum type="alphaLcPeriod" startAt="2"/>
                </a:pPr>
                <a:endParaRPr lang="en-US" sz="1600" dirty="0">
                  <a:latin typeface="Verdana" panose="020B0604030504040204" pitchFamily="34" charset="0"/>
                  <a:ea typeface="Verdana" panose="020B0604030504040204" pitchFamily="34" charset="0"/>
                  <a:cs typeface="Cambria" panose="02040503050406030204" pitchFamily="18" charset="0"/>
                </a:endParaRPr>
              </a:p>
            </p:txBody>
          </p:sp>
        </mc:Choice>
        <mc:Fallback xmlns="">
          <p:sp>
            <p:nvSpPr>
              <p:cNvPr id="478" name="Google Shape;478;p35"/>
              <p:cNvSpPr txBox="1">
                <a:spLocks noRot="1" noChangeAspect="1" noMove="1" noResize="1" noEditPoints="1" noAdjustHandles="1" noChangeArrowheads="1" noChangeShapeType="1" noTextEdit="1"/>
              </p:cNvSpPr>
              <p:nvPr/>
            </p:nvSpPr>
            <p:spPr>
              <a:xfrm>
                <a:off x="1094704" y="520393"/>
                <a:ext cx="10153258" cy="4770496"/>
              </a:xfrm>
              <a:prstGeom prst="rect">
                <a:avLst/>
              </a:prstGeom>
              <a:blipFill rotWithShape="0">
                <a:blip r:embed="rId3"/>
                <a:stretch>
                  <a:fillRect t="-1149"/>
                </a:stretch>
              </a:blipFill>
              <a:ln>
                <a:noFill/>
              </a:ln>
            </p:spPr>
            <p:txBody>
              <a:bodyPr/>
              <a:lstStyle/>
              <a:p>
                <a:r>
                  <a:rPr lang="en-US">
                    <a:noFill/>
                  </a:rPr>
                  <a:t> </a:t>
                </a:r>
              </a:p>
            </p:txBody>
          </p:sp>
        </mc:Fallback>
      </mc:AlternateContent>
      <p:sp>
        <p:nvSpPr>
          <p:cNvPr id="479" name="Google Shape;479;p35"/>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a:extLst>
              <a:ext uri="{FF2B5EF4-FFF2-40B4-BE49-F238E27FC236}">
                <a16:creationId xmlns:a16="http://schemas.microsoft.com/office/drawing/2014/main" id="{8EDE304A-2BD0-41D4-B664-10FE53D18A8A}"/>
              </a:ext>
            </a:extLst>
          </p:cNvPr>
          <p:cNvPicPr>
            <a:picLocks noChangeAspect="1"/>
          </p:cNvPicPr>
          <p:nvPr/>
        </p:nvPicPr>
        <p:blipFill>
          <a:blip r:embed="rId4"/>
          <a:stretch>
            <a:fillRect/>
          </a:stretch>
        </p:blipFill>
        <p:spPr>
          <a:xfrm>
            <a:off x="1846452" y="1667824"/>
            <a:ext cx="8499096" cy="2061911"/>
          </a:xfrm>
          <a:prstGeom prst="rect">
            <a:avLst/>
          </a:prstGeom>
        </p:spPr>
      </p:pic>
      <p:sp>
        <p:nvSpPr>
          <p:cNvPr id="7"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353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74974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10963"/>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59597" y="2933694"/>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55781"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14.3.6 Wrap-Up: Reflection</a:t>
            </a:r>
            <a:endParaRPr dirty="0"/>
          </a:p>
        </p:txBody>
      </p:sp>
      <p:pic>
        <p:nvPicPr>
          <p:cNvPr id="468" name="Google Shape;468;p34"/>
          <p:cNvPicPr preferRelativeResize="0"/>
          <p:nvPr/>
        </p:nvPicPr>
        <p:blipFill rotWithShape="1">
          <a:blip r:embed="rId3">
            <a:alphaModFix/>
          </a:blip>
          <a:srcRect/>
          <a:stretch/>
        </p:blipFill>
        <p:spPr>
          <a:xfrm>
            <a:off x="626331" y="204751"/>
            <a:ext cx="747300" cy="747300"/>
          </a:xfrm>
          <a:prstGeom prst="rect">
            <a:avLst/>
          </a:prstGeom>
          <a:noFill/>
          <a:ln>
            <a:noFill/>
          </a:ln>
          <a:effectLst>
            <a:outerShdw blurRad="50800" dist="38100" dir="2700000" algn="tl" rotWithShape="0">
              <a:srgbClr val="000000">
                <a:alpha val="40000"/>
              </a:srgbClr>
            </a:outerShdw>
          </a:effectLst>
        </p:spPr>
      </p:pic>
      <p:sp>
        <p:nvSpPr>
          <p:cNvPr id="470" name="Google Shape;470;p34"/>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1" name="TextBox 10">
            <a:extLst>
              <a:ext uri="{FF2B5EF4-FFF2-40B4-BE49-F238E27FC236}">
                <a16:creationId xmlns:a16="http://schemas.microsoft.com/office/drawing/2014/main" id="{3C3282C4-987D-4934-96DD-529AED1432F2}"/>
              </a:ext>
            </a:extLst>
          </p:cNvPr>
          <p:cNvSpPr txBox="1"/>
          <p:nvPr/>
        </p:nvSpPr>
        <p:spPr>
          <a:xfrm>
            <a:off x="1455781" y="1243130"/>
            <a:ext cx="9587328" cy="1015663"/>
          </a:xfrm>
          <a:prstGeom prst="rect">
            <a:avLst/>
          </a:prstGeom>
          <a:noFill/>
        </p:spPr>
        <p:txBody>
          <a:bodyPr wrap="square">
            <a:spAutoFit/>
          </a:bodyPr>
          <a:lstStyle/>
          <a:p>
            <a:pPr marL="342900" indent="-342900">
              <a:buFont typeface="+mj-lt"/>
              <a:buAutoNum type="arabicPeriod"/>
            </a:pPr>
            <a:r>
              <a:rPr lang="en-US" sz="2000" dirty="0">
                <a:highlight>
                  <a:srgbClr val="FFFFFF"/>
                </a:highlight>
                <a:latin typeface="Verdana" panose="020B0604030504040204" pitchFamily="34" charset="0"/>
                <a:ea typeface="Verdana" panose="020B0604030504040204" pitchFamily="34" charset="0"/>
                <a:cs typeface="Verdana" panose="020B0604030504040204" pitchFamily="34" charset="0"/>
              </a:rPr>
              <a:t>Plot a point to indicate how you feel about today’s learning target: “</a:t>
            </a:r>
            <a:r>
              <a:rPr lang="en-US" sz="2000" dirty="0">
                <a:latin typeface="Verdana" panose="020B0604030504040204" pitchFamily="34" charset="0"/>
                <a:ea typeface="Verdana" panose="020B0604030504040204" pitchFamily="34" charset="0"/>
                <a:cs typeface="Verdana" panose="020B0604030504040204" pitchFamily="34" charset="0"/>
              </a:rPr>
              <a:t>I can use diagrams and inverse operations when solving one-step addition and subtraction equations.”</a:t>
            </a:r>
            <a:endParaRPr lang="en-US" sz="2000" dirty="0">
              <a:latin typeface="Cambria" panose="02040503050406030204" pitchFamily="18" charset="0"/>
              <a:ea typeface="Times New Roman" panose="02020603050405020304" pitchFamily="18" charset="0"/>
              <a:cs typeface="Cambria" panose="02040503050406030204" pitchFamily="18" charset="0"/>
            </a:endParaRPr>
          </a:p>
        </p:txBody>
      </p:sp>
      <p:pic>
        <p:nvPicPr>
          <p:cNvPr id="12" name="image3.png" descr="A close up of a flower&#10;&#10;Description automatically generated">
            <a:extLst>
              <a:ext uri="{FF2B5EF4-FFF2-40B4-BE49-F238E27FC236}">
                <a16:creationId xmlns:a16="http://schemas.microsoft.com/office/drawing/2014/main" id="{4F77FA39-CCB7-4BD1-AF10-8B66B543436F}"/>
              </a:ext>
            </a:extLst>
          </p:cNvPr>
          <p:cNvPicPr>
            <a:picLocks noChangeAspect="1"/>
          </p:cNvPicPr>
          <p:nvPr/>
        </p:nvPicPr>
        <p:blipFill>
          <a:blip r:embed="rId4"/>
          <a:srcRect/>
          <a:stretch>
            <a:fillRect/>
          </a:stretch>
        </p:blipFill>
        <p:spPr>
          <a:xfrm>
            <a:off x="3792199" y="2252195"/>
            <a:ext cx="4607602" cy="4485035"/>
          </a:xfrm>
          <a:prstGeom prst="rect">
            <a:avLst/>
          </a:prstGeom>
          <a:ln/>
        </p:spPr>
      </p:pic>
      <p:sp>
        <p:nvSpPr>
          <p:cNvPr id="9" name="Google Shape;125;g104476d1465_1_17"/>
          <p:cNvSpPr txBox="1"/>
          <p:nvPr/>
        </p:nvSpPr>
        <p:spPr>
          <a:xfrm>
            <a:off x="867991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354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1813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E57476-0EAD-4375-BFA7-6FD0B285DEDC}">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34023E66-64A9-42DC-9EB8-9143F8B8BF67}">
  <ds:schemaRefs>
    <ds:schemaRef ds:uri="http://schemas.microsoft.com/sharepoint/v3/contenttype/forms"/>
  </ds:schemaRefs>
</ds:datastoreItem>
</file>

<file path=customXml/itemProps3.xml><?xml version="1.0" encoding="utf-8"?>
<ds:datastoreItem xmlns:ds="http://schemas.openxmlformats.org/officeDocument/2006/customXml" ds:itemID="{1BFB0C9E-C56D-4EE5-9CFF-70EE45C53D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3009</TotalTime>
  <Words>1349</Words>
  <Application>Microsoft Office PowerPoint</Application>
  <PresentationFormat>Widescreen</PresentationFormat>
  <Paragraphs>292</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Arial Black</vt:lpstr>
      <vt:lpstr>Calibri</vt:lpstr>
      <vt:lpstr>Cambria</vt:lpstr>
      <vt:lpstr>Cambria Math</vt:lpstr>
      <vt:lpstr>Century Gothic</vt:lpstr>
      <vt:lpstr>Verdana</vt:lpstr>
      <vt:lpstr>1_Office Theme</vt:lpstr>
      <vt:lpstr>6th Grade Accelerated Math  Unit 14, Lesson 3  Discovering Inverse Operations  Volume 2, pg. 347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14, Lesson 3  Discovering Inverse Operations  Volume 2, pg. 347</dc:title>
  <dc:creator>Karen McKenzie</dc:creator>
  <cp:lastModifiedBy>vaanmx</cp:lastModifiedBy>
  <cp:revision>9</cp:revision>
  <dcterms:created xsi:type="dcterms:W3CDTF">2015-03-17T18:51:18Z</dcterms:created>
  <dcterms:modified xsi:type="dcterms:W3CDTF">2023-07-07T08:39:16Z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