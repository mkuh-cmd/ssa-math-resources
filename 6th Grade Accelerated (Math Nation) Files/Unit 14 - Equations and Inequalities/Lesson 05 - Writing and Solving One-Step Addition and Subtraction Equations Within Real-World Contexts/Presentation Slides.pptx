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93" r:id="rId14"/>
    <p:sldId id="294" r:id="rId15"/>
    <p:sldId id="295" r:id="rId16"/>
    <p:sldId id="278" r:id="rId17"/>
    <p:sldId id="279" r:id="rId18"/>
    <p:sldId id="280" r:id="rId19"/>
    <p:sldId id="296" r:id="rId20"/>
    <p:sldId id="299" r:id="rId21"/>
    <p:sldId id="297" r:id="rId22"/>
    <p:sldId id="298" r:id="rId23"/>
    <p:sldId id="300" r:id="rId24"/>
    <p:sldId id="301" r:id="rId25"/>
    <p:sldId id="302" r:id="rId26"/>
    <p:sldId id="303" r:id="rId27"/>
    <p:sldId id="304" r:id="rId28"/>
    <p:sldId id="306" r:id="rId29"/>
    <p:sldId id="305" r:id="rId30"/>
    <p:sldId id="308" r:id="rId31"/>
    <p:sldId id="309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1" roundtripDataSignature="AMtx7mhssq3OoqM7J6XYkDacLZ4V+Khz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12"/>
    <p:restoredTop sz="94622"/>
  </p:normalViewPr>
  <p:slideViewPr>
    <p:cSldViewPr snapToGrid="0">
      <p:cViewPr varScale="1">
        <p:scale>
          <a:sx n="112" d="100"/>
          <a:sy n="112" d="100"/>
        </p:scale>
        <p:origin x="-18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61" Type="http://customschemas.google.com/relationships/presentationmetadata" Target="meta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6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19007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7335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5710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45925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60987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04350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67830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5084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39339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67540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89223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22256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34335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36633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77714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24658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25976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3" name="Google Shape;43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4" name="Google Shape;44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3" name="Google Shape;453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3" name="Google Shape;463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14, Lesson 5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</a:rPr>
              <a:t>Writing and Solving One-Step Addition and Subtraction Equations Within Real-World Contexts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361</a:t>
            </a:r>
            <a:endParaRPr sz="3200"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2800" dirty="0">
              <a:solidFill>
                <a:srgbClr val="417DBF"/>
              </a:solidFill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Logo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3677" y="1603832"/>
            <a:ext cx="3126752" cy="3644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64308" y="1976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0808" y="2377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488108" y="1600200"/>
            <a:ext cx="921578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</a:t>
            </a: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6.AR.2.2 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Write and solve one-step equations in one variable within a mathematical or real-world context using addition and subtraction, where all terms and solutions are integers.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76" y="24263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5" name="Google Shape;135;p1"/>
          <p:cNvSpPr txBox="1"/>
          <p:nvPr/>
        </p:nvSpPr>
        <p:spPr>
          <a:xfrm>
            <a:off x="1579526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 dirty="0"/>
          </a:p>
        </p:txBody>
      </p:sp>
      <p:sp>
        <p:nvSpPr>
          <p:cNvPr id="137" name="Google Shape;137;p1"/>
          <p:cNvSpPr txBox="1"/>
          <p:nvPr/>
        </p:nvSpPr>
        <p:spPr>
          <a:xfrm>
            <a:off x="1716258" y="1596390"/>
            <a:ext cx="934724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 sz="1800"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 sz="1800"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sz="1800"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sz="1800"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sz="1800"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MA.K12.MTR.7.1 Apply mathematics to real-world contexts.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/>
        </p:nvSpPr>
        <p:spPr>
          <a:xfrm>
            <a:off x="1484952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 dirty="0"/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2790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1705571" y="1600200"/>
            <a:ext cx="878085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>
              <a:buSzPct val="125000"/>
              <a:buFont typeface="Wingdings" pitchFamily="2" charset="2"/>
              <a:buChar char="q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I can write and solve one-step equations in one variable within a real-world context using addition and subtraction.</a:t>
            </a:r>
          </a:p>
        </p:txBody>
      </p:sp>
      <p:sp>
        <p:nvSpPr>
          <p:cNvPr id="149" name="Google Shape;149;p2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/>
        </p:nvSpPr>
        <p:spPr>
          <a:xfrm>
            <a:off x="1437071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14.5.1 Warm-Up: Bell Work</a:t>
            </a:r>
            <a:endParaRPr dirty="0"/>
          </a:p>
        </p:txBody>
      </p:sp>
      <p:pic>
        <p:nvPicPr>
          <p:cNvPr id="167" name="Google Shape;16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771" y="26507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Google Shape;169;p4"/>
              <p:cNvSpPr txBox="1"/>
              <p:nvPr/>
            </p:nvSpPr>
            <p:spPr>
              <a:xfrm>
                <a:off x="1437071" y="1386026"/>
                <a:ext cx="9573890" cy="21543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Before last night, Faith had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𝑝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Instagram posts on her account. She made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4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more posts last night. She now has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313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Instagram posts on her account. Write an equation that can be used to find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𝑝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, the number of posts Faith had on her account before last night. </a:t>
                </a:r>
              </a:p>
              <a:p>
                <a:endParaRPr dirty="0"/>
              </a:p>
            </p:txBody>
          </p:sp>
        </mc:Choice>
        <mc:Fallback xmlns="">
          <p:sp>
            <p:nvSpPr>
              <p:cNvPr id="169" name="Google Shape;169;p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071" y="1386026"/>
                <a:ext cx="9573890" cy="2154396"/>
              </a:xfrm>
              <a:prstGeom prst="rect">
                <a:avLst/>
              </a:prstGeom>
              <a:blipFill rotWithShape="0">
                <a:blip r:embed="rId4"/>
                <a:stretch>
                  <a:fillRect l="-1019" t="-2542" r="-8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Google Shape;170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87" name="Google Shape;187;p6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9" name="Google Shape;18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3114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/>
        </p:nvSpPr>
        <p:spPr>
          <a:xfrm>
            <a:off x="1324096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14.5.2 Collaboration: </a:t>
            </a: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</a:rPr>
              <a:t>Solving Equations in Real-World Contexts</a:t>
            </a:r>
            <a:endParaRPr sz="3200" b="1" dirty="0">
              <a:solidFill>
                <a:srgbClr val="33BEA6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98" name="Google Shape;198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4288" y="287946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Google Shape;199;p7"/>
              <p:cNvSpPr txBox="1"/>
              <p:nvPr/>
            </p:nvSpPr>
            <p:spPr>
              <a:xfrm>
                <a:off x="1167618" y="1386025"/>
                <a:ext cx="10112796" cy="46166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000" dirty="0">
                    <a:latin typeface="Verdana"/>
                    <a:ea typeface="Verdana"/>
                    <a:cs typeface="Verdana"/>
                  </a:rPr>
                  <a:t>Work with your partner to complete the following.</a:t>
                </a:r>
              </a:p>
              <a:p>
                <a:r>
                  <a:rPr lang="en-US" sz="2000" dirty="0">
                    <a:latin typeface="Verdana"/>
                    <a:ea typeface="Verdana"/>
                    <a:cs typeface="Verdana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Kiran’s cat weighs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pounds less than Clare’s puppy. Clare’s puppy weighs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pounds. </a:t>
                </a:r>
              </a:p>
              <a:p>
                <a:r>
                  <a:rPr lang="en-US" sz="2000" dirty="0">
                    <a:latin typeface="Verdana"/>
                    <a:ea typeface="Verdana"/>
                    <a:cs typeface="Verdana"/>
                  </a:rPr>
                  <a:t> </a:t>
                </a:r>
              </a:p>
              <a:p>
                <a:pPr marL="914400" indent="-452438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Select all of the equations that could be used to find the weight of Kiran’s cat.</a:t>
                </a:r>
              </a:p>
              <a:p>
                <a:r>
                  <a:rPr lang="en-US" sz="2000" dirty="0">
                    <a:latin typeface="Verdana"/>
                    <a:ea typeface="Verdana"/>
                    <a:cs typeface="Verdana"/>
                  </a:rPr>
                  <a:t> </a:t>
                </a:r>
              </a:p>
              <a:p>
                <a:pPr marL="1377950" lvl="1" indent="-454025">
                  <a:buFont typeface="Wingdings" pitchFamily="2" charset="2"/>
                  <a:buChar char="q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+5=14</m:t>
                    </m:r>
                  </m:oMath>
                </a14:m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1377950" lvl="1" indent="-454025">
                  <a:buFont typeface="Wingdings" pitchFamily="2" charset="2"/>
                  <a:buChar char="q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−5=14</m:t>
                    </m:r>
                  </m:oMath>
                </a14:m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1377950" lvl="1" indent="-454025">
                  <a:buFont typeface="Wingdings" pitchFamily="2" charset="2"/>
                  <a:buChar char="q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=14+5</m:t>
                    </m:r>
                  </m:oMath>
                </a14:m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1377950" lvl="1" indent="-454025">
                  <a:buFont typeface="Wingdings" pitchFamily="2" charset="2"/>
                  <a:buChar char="q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=14−5</m:t>
                    </m:r>
                  </m:oMath>
                </a14:m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1377950" lvl="1" indent="-454025">
                  <a:buFont typeface="Wingdings" pitchFamily="2" charset="2"/>
                  <a:buChar char="q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−14=5</m:t>
                    </m:r>
                  </m:oMath>
                </a14:m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1377950" lvl="1" indent="-454025">
                  <a:buFont typeface="Wingdings" pitchFamily="2" charset="2"/>
                  <a:buChar char="q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+14=5</m:t>
                    </m:r>
                  </m:oMath>
                </a14:m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endParaRPr sz="1200" dirty="0"/>
              </a:p>
            </p:txBody>
          </p:sp>
        </mc:Choice>
        <mc:Fallback xmlns="">
          <p:sp>
            <p:nvSpPr>
              <p:cNvPr id="199" name="Google Shape;199;p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18" y="1386025"/>
                <a:ext cx="10112796" cy="4616608"/>
              </a:xfrm>
              <a:prstGeom prst="rect">
                <a:avLst/>
              </a:prstGeom>
              <a:blipFill rotWithShape="0">
                <a:blip r:embed="rId4"/>
                <a:stretch>
                  <a:fillRect l="-663" t="-6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oogle Shape;200;p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Google Shape;208;p8"/>
              <p:cNvSpPr txBox="1"/>
              <p:nvPr/>
            </p:nvSpPr>
            <p:spPr>
              <a:xfrm>
                <a:off x="1294228" y="520394"/>
                <a:ext cx="9754210" cy="3046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14400" indent="-452438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does the variable,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represent in this situation? </a:t>
                </a:r>
              </a:p>
              <a:p>
                <a:pPr marL="914400" indent="-452438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2438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2438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2438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2438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2438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2438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weight of Kiran’s cat?</a:t>
                </a:r>
              </a:p>
            </p:txBody>
          </p:sp>
        </mc:Choice>
        <mc:Fallback xmlns="">
          <p:sp>
            <p:nvSpPr>
              <p:cNvPr id="208" name="Google Shape;208;p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228" y="520394"/>
                <a:ext cx="9754210" cy="3046948"/>
              </a:xfrm>
              <a:prstGeom prst="rect">
                <a:avLst/>
              </a:prstGeom>
              <a:blipFill rotWithShape="0">
                <a:blip r:embed="rId3"/>
                <a:stretch>
                  <a:fillRect t="-1800" b="-36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Google Shape;209;p8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Google Shape;208;p8"/>
              <p:cNvSpPr txBox="1"/>
              <p:nvPr/>
            </p:nvSpPr>
            <p:spPr>
              <a:xfrm>
                <a:off x="1308295" y="520394"/>
                <a:ext cx="9726076" cy="4524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61963" indent="-461963">
                  <a:buFont typeface="+mj-lt"/>
                  <a:buAutoNum type="arabicPeriod" startAt="2"/>
                </a:pPr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Kiegan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collected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more items than his cousin Joel did for the annual toy drive. Joel collected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items.</a:t>
                </a:r>
              </a:p>
              <a:p>
                <a:pPr marL="342900" indent="-3429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243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Select all of the equations that could be used to find the number of items </a:t>
                </a:r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Kiegan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collected.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1377950" lvl="1" indent="-463550">
                  <a:buFont typeface="Wingdings" pitchFamily="2" charset="2"/>
                  <a:buChar char="q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=7−12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377950" lvl="1" indent="-463550">
                  <a:buFont typeface="Wingdings" pitchFamily="2" charset="2"/>
                  <a:buChar char="q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−7=12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377950" lvl="1" indent="-463550">
                  <a:buFont typeface="Wingdings" pitchFamily="2" charset="2"/>
                  <a:buChar char="q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+7=12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377950" lvl="1" indent="-463550">
                  <a:buFont typeface="Wingdings" pitchFamily="2" charset="2"/>
                  <a:buChar char="q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=12+7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377950" lvl="1" indent="-463550">
                  <a:buFont typeface="Wingdings" pitchFamily="2" charset="2"/>
                  <a:buChar char="q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+12=7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377950" lvl="1" indent="-463550">
                  <a:buFont typeface="Wingdings" pitchFamily="2" charset="2"/>
                  <a:buChar char="q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−12=7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8" name="Google Shape;208;p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295" y="520394"/>
                <a:ext cx="9726076" cy="4524275"/>
              </a:xfrm>
              <a:prstGeom prst="rect">
                <a:avLst/>
              </a:prstGeom>
              <a:blipFill rotWithShape="0">
                <a:blip r:embed="rId3"/>
                <a:stretch>
                  <a:fillRect l="-1003" t="-1211" b="-17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Google Shape;209;p8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2631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Google Shape;208;p8"/>
              <p:cNvSpPr txBox="1"/>
              <p:nvPr/>
            </p:nvSpPr>
            <p:spPr>
              <a:xfrm>
                <a:off x="1252025" y="520394"/>
                <a:ext cx="9838616" cy="3046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19163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does the variable,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represent in this situation? </a:t>
                </a:r>
              </a:p>
              <a:p>
                <a:pPr marL="919163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9163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9163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9163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9163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9163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9163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items did </a:t>
                </a:r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Kiegan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collect for the toy drive?</a:t>
                </a:r>
              </a:p>
            </p:txBody>
          </p:sp>
        </mc:Choice>
        <mc:Fallback xmlns="">
          <p:sp>
            <p:nvSpPr>
              <p:cNvPr id="208" name="Google Shape;208;p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025" y="520394"/>
                <a:ext cx="9838616" cy="3046948"/>
              </a:xfrm>
              <a:prstGeom prst="rect">
                <a:avLst/>
              </a:prstGeom>
              <a:blipFill rotWithShape="0">
                <a:blip r:embed="rId3"/>
                <a:stretch>
                  <a:fillRect t="-1800" b="-36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Google Shape;209;p8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4787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/>
        </p:nvSpPr>
        <p:spPr>
          <a:xfrm>
            <a:off x="1026942" y="520393"/>
            <a:ext cx="1028878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525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what you notice about the equations that represent the two situations. Summarize your discussion.</a:t>
            </a:r>
          </a:p>
        </p:txBody>
      </p:sp>
      <p:sp>
        <p:nvSpPr>
          <p:cNvPr id="209" name="Google Shape;209;p8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0662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37" name="Google Shape;337;p21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39" name="Google Shape;339;p2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 txBox="1"/>
          <p:nvPr/>
        </p:nvSpPr>
        <p:spPr>
          <a:xfrm>
            <a:off x="1436638" y="-8101"/>
            <a:ext cx="925480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14.5.3 Guided Practice: </a:t>
            </a: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</a:rPr>
              <a:t>Writing and Solving Real-World Equations to Find a Value </a:t>
            </a:r>
            <a:endParaRPr sz="2800" b="1" dirty="0">
              <a:solidFill>
                <a:srgbClr val="54B5D1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348" name="Google Shape;348;p22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8694" y="239207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49" name="Google Shape;349;p22"/>
              <p:cNvSpPr txBox="1"/>
              <p:nvPr/>
            </p:nvSpPr>
            <p:spPr>
              <a:xfrm>
                <a:off x="1436638" y="1419891"/>
                <a:ext cx="9574756" cy="2308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Jamal, a student at McLaughlin Middle School in Polk County, is preparing for a trip to Disney World with his mom and dad. An </a:t>
                </a:r>
                <a:r>
                  <a:rPr lang="en-US" sz="2400" dirty="0" smtClean="0">
                    <a:latin typeface="Verdana"/>
                    <a:ea typeface="Verdana"/>
                    <a:cs typeface="Verdana"/>
                  </a:rPr>
                  <a:t>adult 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ticket is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$139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. </a:t>
                </a:r>
                <a:r>
                  <a:rPr lang="en-US" sz="2400" dirty="0" smtClean="0">
                    <a:latin typeface="Verdana"/>
                    <a:ea typeface="Verdana"/>
                    <a:cs typeface="Verdana"/>
                  </a:rPr>
                  <a:t>A child’s 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ticket is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$5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less than an </a:t>
                </a:r>
                <a:r>
                  <a:rPr lang="en-US" sz="2400" dirty="0" smtClean="0">
                    <a:latin typeface="Verdana"/>
                    <a:ea typeface="Verdana"/>
                    <a:cs typeface="Verdana"/>
                  </a:rPr>
                  <a:t>adult 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ticket. Jamal’s parents are going to spend a total of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$412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, before tax, on tickets.</a:t>
                </a:r>
              </a:p>
              <a:p>
                <a:r>
                  <a:rPr lang="en-US" sz="2400" dirty="0">
                    <a:latin typeface="Verdana"/>
                    <a:ea typeface="Verdana"/>
                    <a:cs typeface="Verdana"/>
                  </a:rPr>
                  <a:t> </a:t>
                </a:r>
              </a:p>
            </p:txBody>
          </p:sp>
        </mc:Choice>
        <mc:Fallback>
          <p:sp>
            <p:nvSpPr>
              <p:cNvPr id="349" name="Google Shape;349;p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638" y="1419891"/>
                <a:ext cx="9574756" cy="2308284"/>
              </a:xfrm>
              <a:prstGeom prst="rect">
                <a:avLst/>
              </a:prstGeom>
              <a:blipFill rotWithShape="1">
                <a:blip r:embed="rId4"/>
                <a:stretch>
                  <a:fillRect l="-1019" t="-2111" r="-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0" name="Google Shape;350;p22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3"/>
          <p:cNvSpPr txBox="1"/>
          <p:nvPr/>
        </p:nvSpPr>
        <p:spPr>
          <a:xfrm>
            <a:off x="1167618" y="520394"/>
            <a:ext cx="1000743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52438"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</a:rPr>
              <a:t>Write an algebraic equation to represent the relationship between the cost of a child’s ticket and the cost of an adult ticket in this situation.</a:t>
            </a:r>
          </a:p>
          <a:p>
            <a:pPr marL="914400" indent="-452438"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914400" indent="-452438"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914400" indent="-452438"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914400" indent="-452438"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914400" indent="-452438"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</a:rPr>
              <a:t>What does the variable in your equation represent?</a:t>
            </a:r>
          </a:p>
        </p:txBody>
      </p:sp>
      <p:sp>
        <p:nvSpPr>
          <p:cNvPr id="359" name="Google Shape;359;p2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3"/>
          <p:cNvSpPr txBox="1"/>
          <p:nvPr/>
        </p:nvSpPr>
        <p:spPr>
          <a:xfrm>
            <a:off x="1223889" y="520394"/>
            <a:ext cx="9894888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9162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the equation.</a:t>
            </a:r>
          </a:p>
          <a:p>
            <a:pPr marL="914400" indent="-452438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was the cost of Jamal’s ticket?</a:t>
            </a:r>
          </a:p>
        </p:txBody>
      </p:sp>
      <p:sp>
        <p:nvSpPr>
          <p:cNvPr id="359" name="Google Shape;359;p23"/>
          <p:cNvSpPr/>
          <p:nvPr/>
        </p:nvSpPr>
        <p:spPr>
          <a:xfrm>
            <a:off x="4158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7166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8" name="Google Shape;358;p23"/>
              <p:cNvSpPr txBox="1"/>
              <p:nvPr/>
            </p:nvSpPr>
            <p:spPr>
              <a:xfrm>
                <a:off x="1336431" y="520393"/>
                <a:ext cx="9669804" cy="2308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61963" indent="-461963">
                  <a:buFont typeface="+mj-lt"/>
                  <a:buAutoNum type="arabicPeriod" startAt="2"/>
                  <a:tabLst>
                    <a:tab pos="452438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After doing some additional research, Jamal’s mom also decided to purchase the meal bundle for their trip. The meal plan price is different for adults than children. It costs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$110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his mom and dad. The total for all three meal plans was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$136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An equation can be written to find the unknown cost of Jamal’s meal plan.</a:t>
                </a:r>
              </a:p>
            </p:txBody>
          </p:sp>
        </mc:Choice>
        <mc:Fallback xmlns="">
          <p:sp>
            <p:nvSpPr>
              <p:cNvPr id="358" name="Google Shape;358;p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431" y="520393"/>
                <a:ext cx="9669804" cy="2308284"/>
              </a:xfrm>
              <a:prstGeom prst="rect">
                <a:avLst/>
              </a:prstGeom>
              <a:blipFill rotWithShape="0">
                <a:blip r:embed="rId3"/>
                <a:stretch>
                  <a:fillRect l="-946" t="-2111" b="-50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9" name="Google Shape;359;p23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8918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3"/>
          <p:cNvSpPr txBox="1"/>
          <p:nvPr/>
        </p:nvSpPr>
        <p:spPr>
          <a:xfrm>
            <a:off x="1055077" y="520394"/>
            <a:ext cx="10232512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52438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an algebraic equation that can be used to find the cost of Jamal’s meal plan.</a:t>
            </a:r>
          </a:p>
          <a:p>
            <a:pPr marL="914400" indent="-452438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does the variable in your equation represent? </a:t>
            </a:r>
          </a:p>
        </p:txBody>
      </p:sp>
      <p:sp>
        <p:nvSpPr>
          <p:cNvPr id="359" name="Google Shape;359;p23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1555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3"/>
          <p:cNvSpPr txBox="1"/>
          <p:nvPr/>
        </p:nvSpPr>
        <p:spPr>
          <a:xfrm>
            <a:off x="1195754" y="520394"/>
            <a:ext cx="9951158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9162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the equation.</a:t>
            </a:r>
          </a:p>
          <a:p>
            <a:pPr marL="919162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9162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9162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9162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9162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9162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9162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much was Jamal’s meal plan? </a:t>
            </a:r>
          </a:p>
        </p:txBody>
      </p:sp>
      <p:sp>
        <p:nvSpPr>
          <p:cNvPr id="359" name="Google Shape;359;p2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7894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8" name="Google Shape;358;p23"/>
              <p:cNvSpPr txBox="1"/>
              <p:nvPr/>
            </p:nvSpPr>
            <p:spPr>
              <a:xfrm>
                <a:off x="1237957" y="520393"/>
                <a:ext cx="9866752" cy="1569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equation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49+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107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complete the following.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243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word problem that can be represented by the equation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49+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107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58" name="Google Shape;358;p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957" y="520393"/>
                <a:ext cx="9866752" cy="1569620"/>
              </a:xfrm>
              <a:prstGeom prst="rect">
                <a:avLst/>
              </a:prstGeom>
              <a:blipFill rotWithShape="0">
                <a:blip r:embed="rId3"/>
                <a:stretch>
                  <a:fillRect l="-926" t="-29457" b="-3837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9" name="Google Shape;359;p2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0164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3"/>
          <p:cNvSpPr txBox="1"/>
          <p:nvPr/>
        </p:nvSpPr>
        <p:spPr>
          <a:xfrm>
            <a:off x="1195754" y="520394"/>
            <a:ext cx="9951158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9162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does the variable represent based on the word problem you created?</a:t>
            </a:r>
          </a:p>
          <a:p>
            <a:pPr marL="919162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9162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9162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9162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9162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9162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value of the variable?</a:t>
            </a:r>
          </a:p>
        </p:txBody>
      </p:sp>
      <p:sp>
        <p:nvSpPr>
          <p:cNvPr id="359" name="Google Shape;359;p2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8449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3"/>
          <p:cNvSpPr txBox="1"/>
          <p:nvPr/>
        </p:nvSpPr>
        <p:spPr>
          <a:xfrm>
            <a:off x="1153551" y="520393"/>
            <a:ext cx="1003556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52438"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Share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only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your word problem with your partner. Use your partner’s word problem to fill in the table.  </a:t>
            </a:r>
          </a:p>
        </p:txBody>
      </p:sp>
      <p:sp>
        <p:nvSpPr>
          <p:cNvPr id="359" name="Google Shape;359;p23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25BC1C0F-2BCD-1F4F-B2D1-49F19B558E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355381"/>
              </p:ext>
            </p:extLst>
          </p:nvPr>
        </p:nvGraphicFramePr>
        <p:xfrm>
          <a:off x="2276256" y="1878658"/>
          <a:ext cx="7790155" cy="42746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7115">
                  <a:extLst>
                    <a:ext uri="{9D8B030D-6E8A-4147-A177-3AD203B41FA5}">
                      <a16:colId xmlns:a16="http://schemas.microsoft.com/office/drawing/2014/main" xmlns="" val="1431287164"/>
                    </a:ext>
                  </a:extLst>
                </a:gridCol>
                <a:gridCol w="2653453">
                  <a:extLst>
                    <a:ext uri="{9D8B030D-6E8A-4147-A177-3AD203B41FA5}">
                      <a16:colId xmlns:a16="http://schemas.microsoft.com/office/drawing/2014/main" xmlns="" val="729971126"/>
                    </a:ext>
                  </a:extLst>
                </a:gridCol>
                <a:gridCol w="2123200">
                  <a:extLst>
                    <a:ext uri="{9D8B030D-6E8A-4147-A177-3AD203B41FA5}">
                      <a16:colId xmlns:a16="http://schemas.microsoft.com/office/drawing/2014/main" xmlns="" val="943697015"/>
                    </a:ext>
                  </a:extLst>
                </a:gridCol>
                <a:gridCol w="1506387">
                  <a:extLst>
                    <a:ext uri="{9D8B030D-6E8A-4147-A177-3AD203B41FA5}">
                      <a16:colId xmlns:a16="http://schemas.microsoft.com/office/drawing/2014/main" xmlns="" val="316680494"/>
                    </a:ext>
                  </a:extLst>
                </a:gridCol>
              </a:tblGrid>
              <a:tr h="84481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Partner’s Word Problem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What Does the Variable Represent?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Solve the Equation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Partner’s Initials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10487772"/>
                  </a:ext>
                </a:extLst>
              </a:tr>
              <a:tr h="33602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24184031"/>
                  </a:ext>
                </a:extLst>
              </a:tr>
            </a:tbl>
          </a:graphicData>
        </a:graphic>
      </p:graphicFrame>
      <p:sp>
        <p:nvSpPr>
          <p:cNvPr id="8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5653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87" name="Google Shape;187;p6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9" name="Google Shape;18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3114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8720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/>
        </p:nvSpPr>
        <p:spPr>
          <a:xfrm>
            <a:off x="1453597" y="0"/>
            <a:ext cx="985971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14.5.4 Collaboration: </a:t>
            </a: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</a:rPr>
              <a:t>Writing and Solving Equations for Real-World Contexts </a:t>
            </a:r>
            <a:endParaRPr sz="3200" b="1" dirty="0">
              <a:solidFill>
                <a:srgbClr val="33BEA6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98" name="Google Shape;198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586" y="259810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Google Shape;199;p7"/>
              <p:cNvSpPr txBox="1"/>
              <p:nvPr/>
            </p:nvSpPr>
            <p:spPr>
              <a:xfrm>
                <a:off x="1453597" y="1436825"/>
                <a:ext cx="9540838" cy="3785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61963" indent="-461963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PJ and Jasmine were given the following word problem.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61963"/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Lexi’s school is having a food drive. At the end of today’s lunch period, Lexi collected a total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34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non-perishable items for the food drive. Lexi celebrated, as it was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more than yesterday’s lunch collection! How many total non-perishable items were collected yesterday?   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9" name="Google Shape;199;p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597" y="1436825"/>
                <a:ext cx="9540838" cy="3785611"/>
              </a:xfrm>
              <a:prstGeom prst="rect">
                <a:avLst/>
              </a:prstGeom>
              <a:blipFill rotWithShape="0">
                <a:blip r:embed="rId4"/>
                <a:stretch>
                  <a:fillRect l="-958" t="-1288" r="-9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oogle Shape;200;p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2101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 txBox="1"/>
          <p:nvPr/>
        </p:nvSpPr>
        <p:spPr>
          <a:xfrm>
            <a:off x="984738" y="520394"/>
            <a:ext cx="10373190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</a:rPr>
              <a:t>Jasmine told PJ they needed to solve the problem using an addition equation. PJ disagreed and said they need to use a subtraction equation. </a:t>
            </a:r>
          </a:p>
          <a:p>
            <a:r>
              <a:rPr lang="en-US" sz="2000" dirty="0">
                <a:latin typeface="Verdana"/>
                <a:ea typeface="Verdana"/>
                <a:cs typeface="Verdana"/>
              </a:rPr>
              <a:t> </a:t>
            </a:r>
          </a:p>
          <a:p>
            <a:pPr marL="914400" indent="-452438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With your partner, determine who will follow Jasmine’s suggestion and who will follow PJ’s. Then, write the equation based on whose suggestion you are assigned and solve.</a:t>
            </a:r>
          </a:p>
          <a:p>
            <a:endParaRPr sz="1200" dirty="0"/>
          </a:p>
        </p:txBody>
      </p:sp>
      <p:sp>
        <p:nvSpPr>
          <p:cNvPr id="239" name="Google Shape;239;p1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B93B03AF-0361-EA4E-A36D-ADBAD14ED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885373"/>
              </p:ext>
            </p:extLst>
          </p:nvPr>
        </p:nvGraphicFramePr>
        <p:xfrm>
          <a:off x="2560981" y="3164686"/>
          <a:ext cx="7220705" cy="30359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49431">
                  <a:extLst>
                    <a:ext uri="{9D8B030D-6E8A-4147-A177-3AD203B41FA5}">
                      <a16:colId xmlns:a16="http://schemas.microsoft.com/office/drawing/2014/main" xmlns="" val="1919000393"/>
                    </a:ext>
                  </a:extLst>
                </a:gridCol>
                <a:gridCol w="3671274">
                  <a:extLst>
                    <a:ext uri="{9D8B030D-6E8A-4147-A177-3AD203B41FA5}">
                      <a16:colId xmlns:a16="http://schemas.microsoft.com/office/drawing/2014/main" xmlns="" val="2837361853"/>
                    </a:ext>
                  </a:extLst>
                </a:gridCol>
              </a:tblGrid>
              <a:tr h="55187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Jasmine’s Suggestion “Addition”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PJ’s Suggestion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“Subtraction”</a:t>
                      </a: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25940938"/>
                  </a:ext>
                </a:extLst>
              </a:tr>
              <a:tr h="242631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35329270"/>
                  </a:ext>
                </a:extLst>
              </a:tr>
            </a:tbl>
          </a:graphicData>
        </a:graphic>
      </p:graphicFrame>
      <p:sp>
        <p:nvSpPr>
          <p:cNvPr id="8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17603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 txBox="1"/>
          <p:nvPr/>
        </p:nvSpPr>
        <p:spPr>
          <a:xfrm>
            <a:off x="1392702" y="520394"/>
            <a:ext cx="9557262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52438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your equations and discuss your solutions with your partner.</a:t>
            </a:r>
          </a:p>
          <a:p>
            <a:pPr marL="914400" indent="-452438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1962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9162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who was correct in their initial suggestion – Jasmine, PJ, both of them, or neither of them. </a:t>
            </a:r>
          </a:p>
          <a:p>
            <a:pPr marL="919162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9162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9162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9162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9162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non-perishable food items were collected during Lexi’s lunch period yesterday?</a:t>
            </a:r>
          </a:p>
        </p:txBody>
      </p:sp>
      <p:sp>
        <p:nvSpPr>
          <p:cNvPr id="239" name="Google Shape;239;p1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55406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 txBox="1"/>
          <p:nvPr/>
        </p:nvSpPr>
        <p:spPr>
          <a:xfrm>
            <a:off x="1139483" y="520394"/>
            <a:ext cx="100637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 image of two swimmers in a pool is shown.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create an addition or subtraction word problem based on the image.</a:t>
            </a:r>
          </a:p>
        </p:txBody>
      </p:sp>
      <p:pic>
        <p:nvPicPr>
          <p:cNvPr id="6" name="Picture 5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xmlns="" id="{8DBB8FE8-38A4-A44E-ABFC-F9D2CB180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629" y="978956"/>
            <a:ext cx="4704743" cy="2450044"/>
          </a:xfrm>
          <a:prstGeom prst="rect">
            <a:avLst/>
          </a:prstGeom>
        </p:spPr>
      </p:pic>
      <p:sp>
        <p:nvSpPr>
          <p:cNvPr id="239" name="Google Shape;239;p11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59213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 txBox="1"/>
          <p:nvPr/>
        </p:nvSpPr>
        <p:spPr>
          <a:xfrm>
            <a:off x="984738" y="520393"/>
            <a:ext cx="10373190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52438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an equation to represent your scenario.</a:t>
            </a:r>
          </a:p>
          <a:p>
            <a:pPr marL="914400" indent="-452438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does the variable represent in your equation represent?</a:t>
            </a:r>
          </a:p>
          <a:p>
            <a:pPr marL="914400" indent="-452438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value of the variable?</a:t>
            </a:r>
          </a:p>
        </p:txBody>
      </p:sp>
      <p:sp>
        <p:nvSpPr>
          <p:cNvPr id="239" name="Google Shape;239;p1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247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27" name="Google Shape;427;p30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28" name="Google Shape;42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/>
        </p:nvSpPr>
        <p:spPr>
          <a:xfrm>
            <a:off x="1437071" y="257273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14.5.5 Your Turn!</a:t>
            </a:r>
            <a:endParaRPr dirty="0"/>
          </a:p>
        </p:txBody>
      </p:sp>
      <p:pic>
        <p:nvPicPr>
          <p:cNvPr id="437" name="Google Shape;43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771" y="25727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9" name="Google Shape;439;p31"/>
              <p:cNvSpPr txBox="1"/>
              <p:nvPr/>
            </p:nvSpPr>
            <p:spPr>
              <a:xfrm>
                <a:off x="1437071" y="1386026"/>
                <a:ext cx="9573890" cy="28930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400" dirty="0">
                    <a:latin typeface="Verdana"/>
                    <a:ea typeface="Verdana"/>
                    <a:cs typeface="Verdana"/>
                  </a:rPr>
                  <a:t>Write and solve an algebraic equation for each of the following.</a:t>
                </a:r>
              </a:p>
              <a:p>
                <a:r>
                  <a:rPr lang="en-US" sz="2400" dirty="0">
                    <a:latin typeface="Verdana"/>
                    <a:ea typeface="Verdana"/>
                    <a:cs typeface="Verdana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Priya and Gerri are working on an extra-credit poster for math class. Priya has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double-tip markers, which is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fewer than Gerri has. How many markers does Gerri have? </a:t>
                </a:r>
              </a:p>
              <a:p>
                <a:endParaRPr dirty="0"/>
              </a:p>
            </p:txBody>
          </p:sp>
        </mc:Choice>
        <mc:Fallback xmlns="">
          <p:sp>
            <p:nvSpPr>
              <p:cNvPr id="439" name="Google Shape;439;p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071" y="1386026"/>
                <a:ext cx="9573890" cy="2893059"/>
              </a:xfrm>
              <a:prstGeom prst="rect">
                <a:avLst/>
              </a:prstGeom>
              <a:blipFill rotWithShape="0">
                <a:blip r:embed="rId4"/>
                <a:stretch>
                  <a:fillRect l="-1019" t="-168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" name="Google Shape;440;p31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8" name="Google Shape;448;p32"/>
              <p:cNvSpPr txBox="1"/>
              <p:nvPr/>
            </p:nvSpPr>
            <p:spPr>
              <a:xfrm>
                <a:off x="956603" y="520393"/>
                <a:ext cx="10429460" cy="1415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The most popular elective at Arts Academy is the improv class. Out of the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97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students that have applied, only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45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can be accepted. How many students are not accepted?</a:t>
                </a:r>
              </a:p>
              <a:p>
                <a:endParaRPr dirty="0"/>
              </a:p>
            </p:txBody>
          </p:sp>
        </mc:Choice>
        <mc:Fallback xmlns="">
          <p:sp>
            <p:nvSpPr>
              <p:cNvPr id="448" name="Google Shape;448;p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603" y="520393"/>
                <a:ext cx="10429460" cy="1415732"/>
              </a:xfrm>
              <a:prstGeom prst="rect">
                <a:avLst/>
              </a:prstGeom>
              <a:blipFill rotWithShape="0">
                <a:blip r:embed="rId3"/>
                <a:stretch>
                  <a:fillRect l="-935" t="-3433" r="-1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9" name="Google Shape;449;p32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58" name="Google Shape;458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59" name="Google Shape;45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4"/>
          <p:cNvSpPr txBox="1"/>
          <p:nvPr/>
        </p:nvSpPr>
        <p:spPr>
          <a:xfrm>
            <a:off x="1378111" y="-825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14.5.6 Wrap-Up: Reflection</a:t>
            </a:r>
            <a:endParaRPr dirty="0"/>
          </a:p>
        </p:txBody>
      </p:sp>
      <p:pic>
        <p:nvPicPr>
          <p:cNvPr id="468" name="Google Shape;468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5173" y="17680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69" name="Google Shape;469;p34"/>
          <p:cNvSpPr txBox="1"/>
          <p:nvPr/>
        </p:nvSpPr>
        <p:spPr>
          <a:xfrm>
            <a:off x="1378111" y="1013498"/>
            <a:ext cx="969181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Shade in the arrow up to the statement that best describes your current understanding of the benchmark below:</a:t>
            </a:r>
          </a:p>
          <a:p>
            <a:endParaRPr lang="en-US" sz="800" dirty="0">
              <a:latin typeface="Verdana"/>
              <a:ea typeface="Verdana"/>
              <a:cs typeface="Verdana"/>
            </a:endParaRPr>
          </a:p>
          <a:p>
            <a:pPr marL="461963"/>
            <a:r>
              <a:rPr lang="en-US" sz="2000" dirty="0">
                <a:latin typeface="Verdana"/>
                <a:ea typeface="Verdana"/>
                <a:cs typeface="Verdana"/>
              </a:rPr>
              <a:t>Write and solve one-step equations in one variable within a mathematical or real-world context using addition and subtraction, where all terms and solutions are integers.</a:t>
            </a:r>
          </a:p>
          <a:p>
            <a:endParaRPr sz="1200" dirty="0"/>
          </a:p>
        </p:txBody>
      </p:sp>
      <p:sp>
        <p:nvSpPr>
          <p:cNvPr id="470" name="Google Shape;470;p34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9FB08A4E-8851-6040-88F7-91457D96F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532684"/>
              </p:ext>
            </p:extLst>
          </p:nvPr>
        </p:nvGraphicFramePr>
        <p:xfrm>
          <a:off x="2315876" y="2934184"/>
          <a:ext cx="8161866" cy="3541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401">
                  <a:extLst>
                    <a:ext uri="{9D8B030D-6E8A-4147-A177-3AD203B41FA5}">
                      <a16:colId xmlns:a16="http://schemas.microsoft.com/office/drawing/2014/main" xmlns="" val="4272927494"/>
                    </a:ext>
                  </a:extLst>
                </a:gridCol>
                <a:gridCol w="7321465">
                  <a:extLst>
                    <a:ext uri="{9D8B030D-6E8A-4147-A177-3AD203B41FA5}">
                      <a16:colId xmlns:a16="http://schemas.microsoft.com/office/drawing/2014/main" xmlns="" val="123342963"/>
                    </a:ext>
                  </a:extLst>
                </a:gridCol>
              </a:tblGrid>
              <a:tr h="1080737">
                <a:tc rowSpan="4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333" marR="71333" marT="35667" marB="3566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I’m so confident, I could explain how to write and solve one-step equations in one variable using addition or subtraction to someone else!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71333" marR="71333" marT="35667" marB="3566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39861277"/>
                  </a:ext>
                </a:extLst>
              </a:tr>
              <a:tr h="10807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get to the right answer, but I don’t understand well enough to explain how to write and solve one-step equations in one variable yet.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71333" marR="71333" marT="35667" marB="35667">
                    <a:lnL w="381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94863843"/>
                  </a:ext>
                </a:extLst>
              </a:tr>
              <a:tr h="712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understand some of this, but I don’t understand all of it yet.</a:t>
                      </a:r>
                    </a:p>
                  </a:txBody>
                  <a:tcPr marL="71333" marR="71333" marT="35667" marB="35667">
                    <a:lnL w="381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33782064"/>
                  </a:ext>
                </a:extLst>
              </a:tr>
              <a:tr h="4921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have been trying hard, but I am finding this challenging.</a:t>
                      </a:r>
                    </a:p>
                  </a:txBody>
                  <a:tcPr marL="71333" marR="71333" marT="35667" marB="35667" anchor="ctr">
                    <a:lnL w="381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05089524"/>
                  </a:ext>
                </a:extLst>
              </a:tr>
            </a:tbl>
          </a:graphicData>
        </a:graphic>
      </p:graphicFrame>
      <p:sp>
        <p:nvSpPr>
          <p:cNvPr id="9" name="Arrow: Up 5">
            <a:extLst>
              <a:ext uri="{FF2B5EF4-FFF2-40B4-BE49-F238E27FC236}">
                <a16:creationId xmlns:a16="http://schemas.microsoft.com/office/drawing/2014/main" xmlns="" id="{AFF44E6A-A131-B743-AE83-E6D4CAB09F69}"/>
              </a:ext>
            </a:extLst>
          </p:cNvPr>
          <p:cNvSpPr/>
          <p:nvPr/>
        </p:nvSpPr>
        <p:spPr>
          <a:xfrm>
            <a:off x="1923961" y="3041845"/>
            <a:ext cx="1087246" cy="3541881"/>
          </a:xfrm>
          <a:prstGeom prst="upArrow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1" name="Google Shape;125;g104476d1465_1_17"/>
          <p:cNvSpPr txBox="1"/>
          <p:nvPr/>
        </p:nvSpPr>
        <p:spPr>
          <a:xfrm>
            <a:off x="867931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1754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376B4C-305C-4352-80CA-C53C17D0E9FD}">
  <ds:schemaRefs>
    <ds:schemaRef ds:uri="http://schemas.microsoft.com/office/2006/metadata/properties"/>
    <ds:schemaRef ds:uri="http://schemas.microsoft.com/office/infopath/2007/PartnerControls"/>
    <ds:schemaRef ds:uri="c8f36ed4-5234-49bf-a7f7-5f171c3a2f56"/>
    <ds:schemaRef ds:uri="aecc3118-db6a-47b0-8115-3eb3ee12f279"/>
  </ds:schemaRefs>
</ds:datastoreItem>
</file>

<file path=customXml/itemProps2.xml><?xml version="1.0" encoding="utf-8"?>
<ds:datastoreItem xmlns:ds="http://schemas.openxmlformats.org/officeDocument/2006/customXml" ds:itemID="{78D8BF7E-628B-4884-AB63-4DE7607777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29F89B-4D10-4C2E-9C0E-63E233A23C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1147</Words>
  <Application>Microsoft Office PowerPoint</Application>
  <PresentationFormat>Custom</PresentationFormat>
  <Paragraphs>247</Paragraphs>
  <Slides>33</Slides>
  <Notes>33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1_Office Theme</vt:lpstr>
      <vt:lpstr>6th Grade Accelerated Math  Unit 14, Lesson 5  Writing and Solving One-Step Addition and Subtraction Equations Within Real-World Contexts  Volume 2, pg. 361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Grade Accelerated  Unit 14, Lesson 5  Writing and Solving One-Step Addition and Subtraction Equations Within Real-World Contexts  Volume 2, pg. #  </dc:title>
  <dc:creator>Karen McKenzie</dc:creator>
  <cp:lastModifiedBy>Sensei</cp:lastModifiedBy>
  <cp:revision>8</cp:revision>
  <dcterms:created xsi:type="dcterms:W3CDTF">2015-03-17T18:51:18Z</dcterms:created>
  <dcterms:modified xsi:type="dcterms:W3CDTF">2023-07-07T10:43:46Z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  <property fmtid="{D5CDD505-2E9C-101B-9397-08002B2CF9AE}" pid="3" name="MediaServiceImageTags">
    <vt:lpwstr/>
  </property>
</Properties>
</file>