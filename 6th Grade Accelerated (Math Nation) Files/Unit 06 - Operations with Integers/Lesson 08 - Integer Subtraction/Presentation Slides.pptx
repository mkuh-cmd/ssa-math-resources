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jyETP7yadzOi4s9e5+rYsK5XRw0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B734401-3CF1-4C9D-97DF-30852E556B94}">
  <a:tblStyle styleId="{5B734401-3CF1-4C9D-97DF-30852E556B9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p:restoredTop sz="94695"/>
  </p:normalViewPr>
  <p:slideViewPr>
    <p:cSldViewPr snapToGrid="0">
      <p:cViewPr varScale="1">
        <p:scale>
          <a:sx n="79" d="100"/>
          <a:sy n="79" d="100"/>
        </p:scale>
        <p:origin x="821"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presProps" Target="presProps.xml"/><Relationship Id="rId3" Type="http://schemas.openxmlformats.org/officeDocument/2006/relationships/slide" Target="slides/slide2.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1" name="Google Shape;201;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11529d0b5a6_0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g11529d0b5a6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 name="Google Shape;212;g11529d0b5a6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Google Shape;232;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8" name="Google Shape;248;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0" name="Google Shape;280;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p:nvPr/>
        </p:nvSpPr>
        <p:spPr>
          <a:xfrm>
            <a:off x="0" y="-810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14" name="Google Shape;114;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a:solidFill>
                  <a:srgbClr val="417DBF"/>
                </a:solidFill>
                <a:latin typeface="Verdana"/>
                <a:ea typeface="Verdana"/>
                <a:cs typeface="Verdana"/>
                <a:sym typeface="Verdana"/>
              </a:rPr>
              <a:t>6</a:t>
            </a:r>
            <a:r>
              <a:rPr lang="en-US" sz="3800" b="1" baseline="30000">
                <a:solidFill>
                  <a:srgbClr val="417DBF"/>
                </a:solidFill>
                <a:latin typeface="Verdana"/>
                <a:ea typeface="Verdana"/>
                <a:cs typeface="Verdana"/>
                <a:sym typeface="Verdana"/>
              </a:rPr>
              <a:t>th</a:t>
            </a:r>
            <a:r>
              <a:rPr lang="en-US" sz="3800" b="1">
                <a:solidFill>
                  <a:srgbClr val="417DBF"/>
                </a:solidFill>
                <a:latin typeface="Verdana"/>
                <a:ea typeface="Verdana"/>
                <a:cs typeface="Verdana"/>
                <a:sym typeface="Verdana"/>
              </a:rPr>
              <a:t> Grade Accelerated Math</a:t>
            </a:r>
            <a:endParaRPr sz="3800" b="1">
              <a:solidFill>
                <a:srgbClr val="417DBF"/>
              </a:solidFill>
              <a:latin typeface="Verdana"/>
              <a:ea typeface="Verdana"/>
              <a:cs typeface="Verdana"/>
              <a:sym typeface="Verdana"/>
            </a:endParaRPr>
          </a:p>
          <a:p>
            <a:pPr algn="ctr">
              <a:lnSpc>
                <a:spcPct val="100000"/>
              </a:lnSpc>
            </a:pPr>
            <a:endParaRPr sz="3800" b="1">
              <a:solidFill>
                <a:srgbClr val="417DBF"/>
              </a:solidFill>
              <a:latin typeface="Verdana"/>
              <a:ea typeface="Verdana"/>
              <a:cs typeface="Verdana"/>
              <a:sym typeface="Verdana"/>
            </a:endParaRPr>
          </a:p>
          <a:p>
            <a:pPr algn="ctr">
              <a:lnSpc>
                <a:spcPct val="100000"/>
              </a:lnSpc>
              <a:buClr>
                <a:srgbClr val="000000"/>
              </a:buClr>
            </a:pPr>
            <a:r>
              <a:rPr lang="en-US" sz="3800" b="1">
                <a:solidFill>
                  <a:srgbClr val="417DBF"/>
                </a:solidFill>
                <a:latin typeface="Verdana"/>
                <a:ea typeface="Verdana"/>
                <a:cs typeface="Verdana"/>
                <a:sym typeface="Verdana"/>
              </a:rPr>
              <a:t>Unit 6, Lesson 8</a:t>
            </a:r>
            <a:br>
              <a:rPr lang="en-US" sz="3800" b="1">
                <a:solidFill>
                  <a:srgbClr val="417DBF"/>
                </a:solidFill>
                <a:latin typeface="Verdana"/>
                <a:ea typeface="Verdana"/>
                <a:cs typeface="Verdana"/>
                <a:sym typeface="Verdana"/>
              </a:rPr>
            </a:br>
            <a:br>
              <a:rPr lang="en-US" sz="3800" b="1">
                <a:solidFill>
                  <a:srgbClr val="417DBF"/>
                </a:solidFill>
                <a:latin typeface="Verdana"/>
                <a:ea typeface="Verdana"/>
                <a:cs typeface="Verdana"/>
                <a:sym typeface="Verdana"/>
              </a:rPr>
            </a:br>
            <a:r>
              <a:rPr lang="en-US" sz="3800" b="1">
                <a:solidFill>
                  <a:srgbClr val="417DBF"/>
                </a:solidFill>
                <a:latin typeface="Verdana"/>
                <a:ea typeface="Verdana"/>
                <a:cs typeface="Verdana"/>
                <a:sym typeface="Verdana"/>
              </a:rPr>
              <a:t>Integer Subtraction</a:t>
            </a:r>
            <a:br>
              <a:rPr lang="en-US" sz="3800" b="1">
                <a:solidFill>
                  <a:srgbClr val="417DBF"/>
                </a:solidFill>
                <a:latin typeface="Verdana"/>
                <a:ea typeface="Verdana"/>
                <a:cs typeface="Verdana"/>
                <a:sym typeface="Verdana"/>
              </a:rPr>
            </a:br>
            <a:br>
              <a:rPr lang="en-US" sz="3800" b="1">
                <a:solidFill>
                  <a:srgbClr val="417DBF"/>
                </a:solidFill>
                <a:latin typeface="Verdana"/>
                <a:ea typeface="Verdana"/>
                <a:cs typeface="Verdana"/>
                <a:sym typeface="Verdana"/>
              </a:rPr>
            </a:br>
            <a:r>
              <a:rPr lang="en-US" sz="2800" b="1">
                <a:solidFill>
                  <a:srgbClr val="417DBF"/>
                </a:solidFill>
                <a:latin typeface="Verdana"/>
                <a:ea typeface="Verdana"/>
                <a:cs typeface="Verdana"/>
                <a:sym typeface="Verdana"/>
              </a:rPr>
              <a:t>Volume 1, pg. 269</a:t>
            </a:r>
            <a:endParaRPr/>
          </a:p>
          <a:p>
            <a:pPr algn="ctr">
              <a:lnSpc>
                <a:spcPct val="100000"/>
              </a:lnSpc>
              <a:buClr>
                <a:srgbClr val="000000"/>
              </a:buClr>
            </a:pPr>
            <a:endParaRPr sz="3400" b="1">
              <a:solidFill>
                <a:srgbClr val="417DBF"/>
              </a:solidFill>
              <a:latin typeface="Verdana"/>
              <a:ea typeface="Verdana"/>
              <a:cs typeface="Verdana"/>
              <a:sym typeface="Verdana"/>
            </a:endParaRPr>
          </a:p>
          <a:p>
            <a:pPr algn="ctr">
              <a:lnSpc>
                <a:spcPct val="75000"/>
              </a:lnSpc>
            </a:pPr>
            <a:endParaRPr sz="3100">
              <a:solidFill>
                <a:srgbClr val="417DBF"/>
              </a:solidFill>
            </a:endParaRPr>
          </a:p>
        </p:txBody>
      </p:sp>
      <p:pic>
        <p:nvPicPr>
          <p:cNvPr id="116" name="Google Shape;116;g104476d1465_0_0" descr="Logo&#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60503" y="1692057"/>
            <a:ext cx="2973100" cy="3465785"/>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499050" y="1111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a:solidFill>
                  <a:srgbClr val="54B5D1"/>
                </a:solidFill>
                <a:latin typeface="Verdana"/>
                <a:ea typeface="Verdana"/>
                <a:cs typeface="Verdana"/>
                <a:sym typeface="Verdana"/>
              </a:rPr>
              <a:t>Benchmark</a:t>
            </a:r>
            <a:endParaRPr sz="3700" b="1">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675550" y="346900"/>
            <a:ext cx="747300" cy="747300"/>
          </a:xfrm>
          <a:prstGeom prst="rect">
            <a:avLst/>
          </a:prstGeom>
          <a:noFill/>
          <a:ln>
            <a:noFill/>
          </a:ln>
          <a:effectLst>
            <a:outerShdw blurRad="57150" dist="19050" dir="5400000" algn="bl" rotWithShape="0">
              <a:srgbClr val="000000">
                <a:alpha val="49411"/>
              </a:srgbClr>
            </a:outerShdw>
          </a:effectLst>
        </p:spPr>
      </p:pic>
      <p:sp>
        <p:nvSpPr>
          <p:cNvPr id="125" name="Google Shape;125;g104476d1465_1_17"/>
          <p:cNvSpPr txBox="1"/>
          <p:nvPr/>
        </p:nvSpPr>
        <p:spPr>
          <a:xfrm>
            <a:off x="86990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a:t>
            </a:r>
            <a:r>
              <a:rPr lang="en-US" i="1" dirty="0">
                <a:latin typeface="Calibri"/>
                <a:ea typeface="Calibri"/>
                <a:cs typeface="Calibri"/>
                <a:sym typeface="Calibri"/>
              </a:rPr>
              <a:t>269</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37276" y="6200599"/>
            <a:ext cx="563850" cy="657276"/>
          </a:xfrm>
          <a:prstGeom prst="rect">
            <a:avLst/>
          </a:prstGeom>
          <a:noFill/>
          <a:ln>
            <a:noFill/>
          </a:ln>
          <a:effectLst>
            <a:outerShdw blurRad="57150" dist="19050" dir="5400000" algn="bl" rotWithShape="0">
              <a:srgbClr val="000000">
                <a:alpha val="49411"/>
              </a:srgbClr>
            </a:outerShdw>
          </a:effectLst>
        </p:spPr>
      </p:pic>
      <p:sp>
        <p:nvSpPr>
          <p:cNvPr id="127" name="Google Shape;127;g104476d1465_1_17"/>
          <p:cNvSpPr txBox="1"/>
          <p:nvPr/>
        </p:nvSpPr>
        <p:spPr>
          <a:xfrm>
            <a:off x="1499050" y="1600200"/>
            <a:ext cx="919390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3000" dirty="0">
                <a:solidFill>
                  <a:schemeClr val="dk1"/>
                </a:solidFill>
                <a:latin typeface="Verdana"/>
                <a:ea typeface="Verdana"/>
                <a:cs typeface="Verdana"/>
                <a:sym typeface="Verdana"/>
              </a:rPr>
              <a:t>MA.6.NSO.4.1</a:t>
            </a:r>
            <a:endParaRPr sz="30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3000" dirty="0">
                <a:solidFill>
                  <a:schemeClr val="dk1"/>
                </a:solidFill>
                <a:latin typeface="Verdana"/>
                <a:ea typeface="Verdana"/>
                <a:cs typeface="Verdana"/>
                <a:sym typeface="Verdana"/>
              </a:rPr>
              <a:t>Apply and extend previous understandings of operations with whole numbers to add and subtract integers with procedural fluency.</a:t>
            </a:r>
            <a:endParaRPr sz="16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pic>
        <p:nvPicPr>
          <p:cNvPr id="134" name="Google Shape;134;p1"/>
          <p:cNvPicPr preferRelativeResize="0"/>
          <p:nvPr/>
        </p:nvPicPr>
        <p:blipFill rotWithShape="1">
          <a:blip r:embed="rId3">
            <a:alphaModFix/>
          </a:blip>
          <a:srcRect/>
          <a:stretch/>
        </p:blipFill>
        <p:spPr>
          <a:xfrm>
            <a:off x="751750" y="300985"/>
            <a:ext cx="747300" cy="747300"/>
          </a:xfrm>
          <a:prstGeom prst="rect">
            <a:avLst/>
          </a:prstGeom>
          <a:noFill/>
          <a:ln>
            <a:noFill/>
          </a:ln>
          <a:effectLst>
            <a:outerShdw blurRad="57150" dist="19050" dir="5400000" algn="bl" rotWithShape="0">
              <a:srgbClr val="000000">
                <a:alpha val="49411"/>
              </a:srgbClr>
            </a:outerShdw>
          </a:effectLst>
        </p:spPr>
      </p:pic>
      <p:sp>
        <p:nvSpPr>
          <p:cNvPr id="136" name="Google Shape;136;p1"/>
          <p:cNvSpPr txBox="1"/>
          <p:nvPr/>
        </p:nvSpPr>
        <p:spPr>
          <a:xfrm>
            <a:off x="1576400" y="58352"/>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8" name="Google Shape;138;p1"/>
          <p:cNvSpPr txBox="1"/>
          <p:nvPr/>
        </p:nvSpPr>
        <p:spPr>
          <a:xfrm>
            <a:off x="1676400" y="1586963"/>
            <a:ext cx="8902860" cy="4205700"/>
          </a:xfrm>
          <a:prstGeom prst="rect">
            <a:avLst/>
          </a:prstGeom>
          <a:noFill/>
          <a:ln>
            <a:noFill/>
          </a:ln>
        </p:spPr>
        <p:txBody>
          <a:bodyPr spcFirstLastPara="1" wrap="square" lIns="91425" tIns="45700" rIns="91425" bIns="45700" anchor="t" anchorCtr="0">
            <a:noAutofit/>
          </a:bodyPr>
          <a:lstStyle/>
          <a:p>
            <a:pPr>
              <a:buSzPts val="1800"/>
            </a:pPr>
            <a:endParaRPr sz="2100" dirty="0">
              <a:solidFill>
                <a:schemeClr val="dk1"/>
              </a:solidFill>
              <a:latin typeface="Verdana"/>
              <a:ea typeface="Verdana"/>
              <a:cs typeface="Verdana"/>
              <a:sym typeface="Verdana"/>
            </a:endParaRPr>
          </a:p>
          <a:p>
            <a:pPr>
              <a:buSzPts val="1800"/>
            </a:pPr>
            <a:r>
              <a:rPr lang="en-US" sz="2100" dirty="0">
                <a:solidFill>
                  <a:schemeClr val="dk1"/>
                </a:solidFill>
                <a:latin typeface="Verdana"/>
                <a:ea typeface="Verdana"/>
                <a:cs typeface="Verdana"/>
                <a:sym typeface="Verdana"/>
              </a:rPr>
              <a:t>MA.K12.MTR.4.1 Engage in discussions that reflect on the mathematical thinking of self and others.</a:t>
            </a:r>
          </a:p>
          <a:p>
            <a:pPr>
              <a:buSzPts val="1800"/>
            </a:pPr>
            <a:endParaRPr sz="1700" dirty="0"/>
          </a:p>
          <a:p>
            <a:pPr marL="457200">
              <a:buSzPts val="1800"/>
            </a:pPr>
            <a:endParaRPr sz="2100" dirty="0">
              <a:solidFill>
                <a:schemeClr val="dk1"/>
              </a:solidFill>
              <a:latin typeface="Verdana"/>
              <a:ea typeface="Verdana"/>
              <a:cs typeface="Verdana"/>
              <a:sym typeface="Verdana"/>
            </a:endParaRPr>
          </a:p>
          <a:p>
            <a:pPr>
              <a:buSzPts val="1800"/>
            </a:pPr>
            <a:r>
              <a:rPr lang="en-US" sz="2100" dirty="0">
                <a:solidFill>
                  <a:schemeClr val="dk1"/>
                </a:solidFill>
                <a:latin typeface="Verdana"/>
                <a:ea typeface="Verdana"/>
                <a:cs typeface="Verdana"/>
                <a:sym typeface="Verdana"/>
              </a:rPr>
              <a:t>MA.K12.MTR.5.1 Use patterns and structure to help understand and connect mathematical concepts.</a:t>
            </a:r>
            <a:endParaRPr sz="1700" dirty="0"/>
          </a:p>
          <a:p>
            <a:pPr>
              <a:buSzPts val="1800"/>
            </a:pPr>
            <a:endParaRPr sz="1800" dirty="0">
              <a:solidFill>
                <a:schemeClr val="dk1"/>
              </a:solidFill>
              <a:latin typeface="Verdana"/>
              <a:ea typeface="Verdana"/>
              <a:cs typeface="Verdana"/>
              <a:sym typeface="Verdana"/>
            </a:endParaRPr>
          </a:p>
          <a:p>
            <a:pPr>
              <a:buSzPts val="1800"/>
            </a:pPr>
            <a:endParaRPr sz="1800" dirty="0">
              <a:solidFill>
                <a:schemeClr val="dk1"/>
              </a:solidFill>
              <a:latin typeface="Verdana"/>
              <a:ea typeface="Verdana"/>
              <a:cs typeface="Verdana"/>
              <a:sym typeface="Verdana"/>
            </a:endParaRPr>
          </a:p>
        </p:txBody>
      </p:sp>
      <p:sp>
        <p:nvSpPr>
          <p:cNvPr id="8" name="Google Shape;125;g104476d1465_1_17"/>
          <p:cNvSpPr txBox="1"/>
          <p:nvPr/>
        </p:nvSpPr>
        <p:spPr>
          <a:xfrm>
            <a:off x="86990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a:t>
            </a:r>
            <a:r>
              <a:rPr lang="en-US" i="1" dirty="0">
                <a:latin typeface="Calibri"/>
                <a:ea typeface="Calibri"/>
                <a:cs typeface="Calibri"/>
                <a:sym typeface="Calibri"/>
              </a:rPr>
              <a:t>269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372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sp>
        <p:nvSpPr>
          <p:cNvPr id="146" name="Google Shape;146;p2"/>
          <p:cNvSpPr txBox="1"/>
          <p:nvPr/>
        </p:nvSpPr>
        <p:spPr>
          <a:xfrm>
            <a:off x="1412175" y="-51387"/>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a:solidFill>
                  <a:srgbClr val="52BDA6"/>
                </a:solidFill>
                <a:latin typeface="Verdana"/>
                <a:ea typeface="Verdana"/>
                <a:cs typeface="Verdana"/>
                <a:sym typeface="Verdana"/>
              </a:rPr>
              <a:t>Learning Target</a:t>
            </a:r>
            <a:endParaRPr/>
          </a:p>
        </p:txBody>
      </p:sp>
      <p:pic>
        <p:nvPicPr>
          <p:cNvPr id="147" name="Google Shape;147;p2"/>
          <p:cNvPicPr preferRelativeResize="0"/>
          <p:nvPr/>
        </p:nvPicPr>
        <p:blipFill rotWithShape="1">
          <a:blip r:embed="rId3">
            <a:alphaModFix/>
          </a:blip>
          <a:srcRect/>
          <a:stretch/>
        </p:blipFill>
        <p:spPr>
          <a:xfrm>
            <a:off x="630013" y="237813"/>
            <a:ext cx="747300" cy="747300"/>
          </a:xfrm>
          <a:prstGeom prst="rect">
            <a:avLst/>
          </a:prstGeom>
          <a:noFill/>
          <a:ln>
            <a:noFill/>
          </a:ln>
          <a:effectLst>
            <a:outerShdw blurRad="50800" dist="38100" dir="2700000" algn="tl" rotWithShape="0">
              <a:srgbClr val="000000">
                <a:alpha val="40000"/>
              </a:srgbClr>
            </a:outerShdw>
          </a:effectLst>
        </p:spPr>
      </p:pic>
      <p:sp>
        <p:nvSpPr>
          <p:cNvPr id="149" name="Google Shape;149;p2"/>
          <p:cNvSpPr txBox="1"/>
          <p:nvPr/>
        </p:nvSpPr>
        <p:spPr>
          <a:xfrm>
            <a:off x="1412175" y="1600200"/>
            <a:ext cx="9367650" cy="4205700"/>
          </a:xfrm>
          <a:prstGeom prst="rect">
            <a:avLst/>
          </a:prstGeom>
          <a:noFill/>
          <a:ln>
            <a:noFill/>
          </a:ln>
        </p:spPr>
        <p:txBody>
          <a:bodyPr spcFirstLastPara="1" wrap="square" lIns="91425" tIns="45700" rIns="91425" bIns="45700" anchor="t" anchorCtr="0">
            <a:noAutofit/>
          </a:bodyPr>
          <a:lstStyle/>
          <a:p>
            <a:pPr marL="457200" indent="-419100">
              <a:buClr>
                <a:srgbClr val="434343"/>
              </a:buClr>
              <a:buSzPts val="3000"/>
              <a:buFont typeface="Verdana"/>
              <a:buChar char="❏"/>
            </a:pPr>
            <a:r>
              <a:rPr lang="en-US" sz="3000" dirty="0">
                <a:solidFill>
                  <a:schemeClr val="dk1"/>
                </a:solidFill>
                <a:latin typeface="Verdana"/>
                <a:ea typeface="Verdana"/>
                <a:cs typeface="Verdana"/>
                <a:sym typeface="Verdana"/>
              </a:rPr>
              <a:t>I can subtract integers with values greater than 100.</a:t>
            </a:r>
            <a:endParaRPr sz="900" dirty="0"/>
          </a:p>
          <a:p>
            <a:pPr marL="457200"/>
            <a:endParaRPr dirty="0"/>
          </a:p>
        </p:txBody>
      </p:sp>
      <p:sp>
        <p:nvSpPr>
          <p:cNvPr id="8" name="Google Shape;125;g104476d1465_1_17"/>
          <p:cNvSpPr txBox="1"/>
          <p:nvPr/>
        </p:nvSpPr>
        <p:spPr>
          <a:xfrm>
            <a:off x="86990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a:t>
            </a:r>
            <a:r>
              <a:rPr lang="en-US" i="1" dirty="0">
                <a:latin typeface="Calibri"/>
                <a:ea typeface="Calibri"/>
                <a:cs typeface="Calibri"/>
                <a:sym typeface="Calibri"/>
              </a:rPr>
              <a:t>269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372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125;g104476d1465_1_17"/>
          <p:cNvSpPr txBox="1"/>
          <p:nvPr/>
        </p:nvSpPr>
        <p:spPr>
          <a:xfrm>
            <a:off x="86990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270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372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167" name="Google Shape;167;p4"/>
          <p:cNvSpPr txBox="1"/>
          <p:nvPr/>
        </p:nvSpPr>
        <p:spPr>
          <a:xfrm>
            <a:off x="1446938" y="6032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500" b="1">
                <a:solidFill>
                  <a:srgbClr val="3F2A67"/>
                </a:solidFill>
                <a:latin typeface="Verdana"/>
                <a:ea typeface="Verdana"/>
                <a:cs typeface="Verdana"/>
                <a:sym typeface="Verdana"/>
              </a:rPr>
              <a:t>6.8.1 Warm-Up: Self-Reflection</a:t>
            </a:r>
            <a:endParaRPr sz="1300"/>
          </a:p>
        </p:txBody>
      </p:sp>
      <p:pic>
        <p:nvPicPr>
          <p:cNvPr id="168" name="Google Shape;168;p4"/>
          <p:cNvPicPr preferRelativeResize="0"/>
          <p:nvPr/>
        </p:nvPicPr>
        <p:blipFill rotWithShape="1">
          <a:blip r:embed="rId3">
            <a:alphaModFix/>
          </a:blip>
          <a:srcRect/>
          <a:stretch/>
        </p:blipFill>
        <p:spPr>
          <a:xfrm>
            <a:off x="699638" y="311785"/>
            <a:ext cx="747300" cy="747300"/>
          </a:xfrm>
          <a:prstGeom prst="rect">
            <a:avLst/>
          </a:prstGeom>
          <a:noFill/>
          <a:ln>
            <a:noFill/>
          </a:ln>
          <a:effectLst>
            <a:outerShdw blurRad="50800" dist="38100" dir="2700000" algn="tl" rotWithShape="0">
              <a:srgbClr val="000000">
                <a:alpha val="40000"/>
              </a:srgbClr>
            </a:outerShdw>
          </a:effectLst>
        </p:spPr>
      </p:pic>
      <p:sp>
        <p:nvSpPr>
          <p:cNvPr id="170" name="Google Shape;170;p4"/>
          <p:cNvSpPr txBox="1"/>
          <p:nvPr/>
        </p:nvSpPr>
        <p:spPr>
          <a:xfrm>
            <a:off x="1446938" y="1386025"/>
            <a:ext cx="9554120" cy="708000"/>
          </a:xfrm>
          <a:prstGeom prst="rect">
            <a:avLst/>
          </a:prstGeom>
          <a:noFill/>
          <a:ln>
            <a:noFill/>
          </a:ln>
        </p:spPr>
        <p:txBody>
          <a:bodyPr spcFirstLastPara="1" wrap="square" lIns="91425" tIns="45700" rIns="91425" bIns="45700" anchor="t" anchorCtr="0">
            <a:spAutoFit/>
          </a:bodyPr>
          <a:lstStyle/>
          <a:p>
            <a:pPr>
              <a:buSzPts val="2400"/>
            </a:pPr>
            <a:r>
              <a:rPr lang="en-US" sz="2000">
                <a:latin typeface="Verdana"/>
                <a:ea typeface="Verdana"/>
                <a:cs typeface="Verdana"/>
                <a:sym typeface="Verdana"/>
              </a:rPr>
              <a:t>For each statement, rate yourself on a scale of 1-5. </a:t>
            </a:r>
            <a:r>
              <a:rPr lang="en-US" sz="2000" dirty="0">
                <a:latin typeface="Verdana"/>
                <a:ea typeface="Verdana"/>
                <a:cs typeface="Verdana"/>
                <a:sym typeface="Verdana"/>
              </a:rPr>
              <a:t>A rating of 5 means “absolutely yes” and 1 means “absolutely not.”</a:t>
            </a:r>
            <a:endParaRPr sz="1000" dirty="0"/>
          </a:p>
        </p:txBody>
      </p:sp>
      <p:graphicFrame>
        <p:nvGraphicFramePr>
          <p:cNvPr id="171" name="Google Shape;171;p4"/>
          <p:cNvGraphicFramePr/>
          <p:nvPr/>
        </p:nvGraphicFramePr>
        <p:xfrm>
          <a:off x="2476500" y="2476500"/>
          <a:ext cx="7239000" cy="2834490"/>
        </p:xfrm>
        <a:graphic>
          <a:graphicData uri="http://schemas.openxmlformats.org/drawingml/2006/table">
            <a:tbl>
              <a:tblPr>
                <a:noFill/>
                <a:tableStyleId>{5B734401-3CF1-4C9D-97DF-30852E556B94}</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US" b="1">
                          <a:latin typeface="Verdana"/>
                          <a:ea typeface="Verdana"/>
                          <a:cs typeface="Verdana"/>
                          <a:sym typeface="Verdana"/>
                        </a:rPr>
                        <a:t>Statement</a:t>
                      </a:r>
                      <a:endParaRPr b="1">
                        <a:latin typeface="Verdana"/>
                        <a:ea typeface="Verdana"/>
                        <a:cs typeface="Verdana"/>
                        <a:sym typeface="Verdana"/>
                      </a:endParaRPr>
                    </a:p>
                  </a:txBody>
                  <a:tcPr marL="91425" marR="91425" marT="91425" marB="91425">
                    <a:solidFill>
                      <a:srgbClr val="CCCCCC"/>
                    </a:solidFill>
                  </a:tcPr>
                </a:tc>
                <a:tc>
                  <a:txBody>
                    <a:bodyPr/>
                    <a:lstStyle/>
                    <a:p>
                      <a:pPr marL="0" lvl="0" indent="0" algn="ctr" rtl="0">
                        <a:spcBef>
                          <a:spcPts val="0"/>
                        </a:spcBef>
                        <a:spcAft>
                          <a:spcPts val="0"/>
                        </a:spcAft>
                        <a:buNone/>
                      </a:pPr>
                      <a:r>
                        <a:rPr lang="en-US" b="1">
                          <a:latin typeface="Verdana"/>
                          <a:ea typeface="Verdana"/>
                          <a:cs typeface="Verdana"/>
                          <a:sym typeface="Verdana"/>
                        </a:rPr>
                        <a:t>Rating</a:t>
                      </a:r>
                      <a:endParaRPr b="1">
                        <a:latin typeface="Verdana"/>
                        <a:ea typeface="Verdana"/>
                        <a:cs typeface="Verdana"/>
                        <a:sym typeface="Verdana"/>
                      </a:endParaRPr>
                    </a:p>
                  </a:txBody>
                  <a:tcPr marL="91425" marR="91425" marT="91425" marB="91425">
                    <a:solidFill>
                      <a:srgbClr val="CCCCCC"/>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a:latin typeface="Verdana"/>
                          <a:ea typeface="Verdana"/>
                          <a:cs typeface="Verdana"/>
                          <a:sym typeface="Verdana"/>
                        </a:rPr>
                        <a:t>I can subtract integers using integer chips.</a:t>
                      </a:r>
                      <a:endParaRPr>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a:latin typeface="Verdana"/>
                        <a:ea typeface="Verdana"/>
                        <a:cs typeface="Verdana"/>
                        <a:sym typeface="Verdana"/>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a:latin typeface="Verdana"/>
                          <a:ea typeface="Verdana"/>
                          <a:cs typeface="Verdana"/>
                          <a:sym typeface="Verdana"/>
                        </a:rPr>
                        <a:t>I understand how to show subtraction of integers on the number line.</a:t>
                      </a:r>
                      <a:endParaRPr>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a:latin typeface="Verdana"/>
                        <a:ea typeface="Verdana"/>
                        <a:cs typeface="Verdana"/>
                        <a:sym typeface="Verdana"/>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US">
                          <a:latin typeface="Verdana"/>
                          <a:ea typeface="Verdana"/>
                          <a:cs typeface="Verdana"/>
                          <a:sym typeface="Verdana"/>
                        </a:rPr>
                        <a:t>I can subtract integers without using integer chips or a number line.</a:t>
                      </a:r>
                      <a:endParaRPr>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a:latin typeface="Verdana"/>
                        <a:ea typeface="Verdana"/>
                        <a:cs typeface="Verdana"/>
                        <a:sym typeface="Verdana"/>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US">
                          <a:latin typeface="Verdana"/>
                          <a:ea typeface="Verdana"/>
                          <a:cs typeface="Verdana"/>
                          <a:sym typeface="Verdana"/>
                        </a:rPr>
                        <a:t>I can explain to someone else how to subtract integers.</a:t>
                      </a:r>
                      <a:endParaRPr>
                        <a:latin typeface="Verdana"/>
                        <a:ea typeface="Verdana"/>
                        <a:cs typeface="Verdana"/>
                        <a:sym typeface="Verdana"/>
                      </a:endParaRPr>
                    </a:p>
                  </a:txBody>
                  <a:tcPr marL="91425" marR="91425" marT="91425" marB="91425"/>
                </a:tc>
                <a:tc>
                  <a:txBody>
                    <a:bodyPr/>
                    <a:lstStyle/>
                    <a:p>
                      <a:pPr marL="0" lvl="0" indent="0" algn="l" rtl="0">
                        <a:spcBef>
                          <a:spcPts val="0"/>
                        </a:spcBef>
                        <a:spcAft>
                          <a:spcPts val="0"/>
                        </a:spcAft>
                        <a:buNone/>
                      </a:pPr>
                      <a:endParaRPr>
                        <a:latin typeface="Verdana"/>
                        <a:ea typeface="Verdana"/>
                        <a:cs typeface="Verdana"/>
                        <a:sym typeface="Verdana"/>
                      </a:endParaRPr>
                    </a:p>
                  </a:txBody>
                  <a:tcPr marL="91425" marR="91425" marT="91425" marB="91425"/>
                </a:tc>
                <a:extLst>
                  <a:ext uri="{0D108BD9-81ED-4DB2-BD59-A6C34878D82A}">
                    <a16:rowId xmlns:a16="http://schemas.microsoft.com/office/drawing/2014/main" val="10004"/>
                  </a:ext>
                </a:extLst>
              </a:tr>
            </a:tbl>
          </a:graphicData>
        </a:graphic>
      </p:graphicFrame>
      <p:sp>
        <p:nvSpPr>
          <p:cNvPr id="9" name="Google Shape;125;g104476d1465_1_17"/>
          <p:cNvSpPr txBox="1"/>
          <p:nvPr/>
        </p:nvSpPr>
        <p:spPr>
          <a:xfrm>
            <a:off x="86990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270</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372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1"/>
          <p:cNvSpPr/>
          <p:nvPr/>
        </p:nvSpPr>
        <p:spPr>
          <a:xfrm>
            <a:off x="0" y="-8226"/>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79" name="Google Shape;179;p21"/>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181" name="Google Shape;181;p21" descr="Icon&#10;&#10;Description automatically generated"/>
          <p:cNvPicPr preferRelativeResize="0"/>
          <p:nvPr/>
        </p:nvPicPr>
        <p:blipFill rotWithShape="1">
          <a:blip r:embed="rId3">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990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270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372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2"/>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189" name="Google Shape;189;p22"/>
          <p:cNvSpPr txBox="1"/>
          <p:nvPr/>
        </p:nvSpPr>
        <p:spPr>
          <a:xfrm>
            <a:off x="1498507" y="-4877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54B5D1"/>
                </a:solidFill>
                <a:latin typeface="Verdana"/>
                <a:ea typeface="Verdana"/>
                <a:cs typeface="Verdana"/>
                <a:sym typeface="Verdana"/>
              </a:rPr>
              <a:t>6.8.2 Guided Practice: Subtracting Integers</a:t>
            </a:r>
            <a:endParaRPr/>
          </a:p>
        </p:txBody>
      </p:sp>
      <p:pic>
        <p:nvPicPr>
          <p:cNvPr id="191" name="Google Shape;191;p22"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48699" y="163516"/>
            <a:ext cx="749808" cy="749808"/>
          </a:xfrm>
          <a:prstGeom prst="rect">
            <a:avLst/>
          </a:prstGeom>
          <a:noFill/>
          <a:ln>
            <a:noFill/>
          </a:ln>
          <a:effectLst>
            <a:outerShdw blurRad="50800" dist="38100" dir="2700000" algn="tl" rotWithShape="0">
              <a:srgbClr val="000000">
                <a:alpha val="40000"/>
              </a:srgbClr>
            </a:outerShdw>
          </a:effectLst>
        </p:spPr>
      </p:pic>
      <p:sp>
        <p:nvSpPr>
          <p:cNvPr id="192" name="Google Shape;192;p22"/>
          <p:cNvSpPr txBox="1"/>
          <p:nvPr/>
        </p:nvSpPr>
        <p:spPr>
          <a:xfrm>
            <a:off x="1932450" y="1272834"/>
            <a:ext cx="8327100" cy="369291"/>
          </a:xfrm>
          <a:prstGeom prst="rect">
            <a:avLst/>
          </a:prstGeom>
          <a:noFill/>
          <a:ln>
            <a:noFill/>
          </a:ln>
        </p:spPr>
        <p:txBody>
          <a:bodyPr spcFirstLastPara="1" wrap="square" lIns="91425" tIns="45700" rIns="91425" bIns="45700" anchor="t" anchorCtr="0">
            <a:spAutoFit/>
          </a:bodyPr>
          <a:lstStyle/>
          <a:p>
            <a:pPr>
              <a:buSzPts val="2400"/>
            </a:pPr>
            <a:r>
              <a:rPr lang="en-US" sz="1800" dirty="0">
                <a:latin typeface="Verdana"/>
                <a:ea typeface="Verdana"/>
                <a:cs typeface="Verdana"/>
                <a:sym typeface="Verdana"/>
              </a:rPr>
              <a:t>1. Two expressions are shown. </a:t>
            </a:r>
            <a:endParaRPr sz="1800" dirty="0"/>
          </a:p>
        </p:txBody>
      </p:sp>
      <p:sp>
        <p:nvSpPr>
          <p:cNvPr id="193" name="Google Shape;193;p22"/>
          <p:cNvSpPr txBox="1"/>
          <p:nvPr/>
        </p:nvSpPr>
        <p:spPr>
          <a:xfrm>
            <a:off x="2305547" y="2479563"/>
            <a:ext cx="6469500" cy="738633"/>
          </a:xfrm>
          <a:prstGeom prst="rect">
            <a:avLst/>
          </a:prstGeom>
          <a:noFill/>
          <a:ln>
            <a:noFill/>
          </a:ln>
        </p:spPr>
        <p:txBody>
          <a:bodyPr spcFirstLastPara="1" wrap="square" lIns="91425" tIns="91425" rIns="91425" bIns="91425" anchor="t" anchorCtr="0">
            <a:spAutoFit/>
          </a:bodyPr>
          <a:lstStyle/>
          <a:p>
            <a:r>
              <a:rPr lang="en-US" sz="1800" dirty="0">
                <a:latin typeface="Verdana"/>
                <a:ea typeface="Verdana"/>
                <a:cs typeface="Verdana"/>
                <a:sym typeface="Verdana"/>
              </a:rPr>
              <a:t>With your partner, determine if the expressions are equivalent. Summarize your determination below.</a:t>
            </a:r>
            <a:endParaRPr sz="1800" dirty="0"/>
          </a:p>
        </p:txBody>
      </p:sp>
      <p:graphicFrame>
        <p:nvGraphicFramePr>
          <p:cNvPr id="194" name="Google Shape;194;p22"/>
          <p:cNvGraphicFramePr/>
          <p:nvPr>
            <p:extLst>
              <p:ext uri="{D42A27DB-BD31-4B8C-83A1-F6EECF244321}">
                <p14:modId xmlns:p14="http://schemas.microsoft.com/office/powerpoint/2010/main" val="3435485192"/>
              </p:ext>
            </p:extLst>
          </p:nvPr>
        </p:nvGraphicFramePr>
        <p:xfrm>
          <a:off x="3110498" y="1664730"/>
          <a:ext cx="6227000" cy="853380"/>
        </p:xfrm>
        <a:graphic>
          <a:graphicData uri="http://schemas.openxmlformats.org/drawingml/2006/table">
            <a:tbl>
              <a:tblPr>
                <a:noFill/>
                <a:tableStyleId>{5B734401-3CF1-4C9D-97DF-30852E556B94}</a:tableStyleId>
              </a:tblPr>
              <a:tblGrid>
                <a:gridCol w="3113500">
                  <a:extLst>
                    <a:ext uri="{9D8B030D-6E8A-4147-A177-3AD203B41FA5}">
                      <a16:colId xmlns:a16="http://schemas.microsoft.com/office/drawing/2014/main" val="20000"/>
                    </a:ext>
                  </a:extLst>
                </a:gridCol>
                <a:gridCol w="3113500">
                  <a:extLst>
                    <a:ext uri="{9D8B030D-6E8A-4147-A177-3AD203B41FA5}">
                      <a16:colId xmlns:a16="http://schemas.microsoft.com/office/drawing/2014/main" val="20001"/>
                    </a:ext>
                  </a:extLst>
                </a:gridCol>
              </a:tblGrid>
              <a:tr h="328650">
                <a:tc>
                  <a:txBody>
                    <a:bodyPr/>
                    <a:lstStyle/>
                    <a:p>
                      <a:pPr marL="0" lvl="0" indent="0" algn="ctr" rtl="0">
                        <a:spcBef>
                          <a:spcPts val="0"/>
                        </a:spcBef>
                        <a:spcAft>
                          <a:spcPts val="0"/>
                        </a:spcAft>
                        <a:buNone/>
                      </a:pPr>
                      <a:r>
                        <a:rPr lang="en-US" sz="1600" b="1" dirty="0">
                          <a:latin typeface="Verdana"/>
                          <a:ea typeface="Verdana"/>
                          <a:cs typeface="Verdana"/>
                          <a:sym typeface="Verdana"/>
                        </a:rPr>
                        <a:t>Expression A </a:t>
                      </a:r>
                      <a:endParaRPr sz="1600" b="1" dirty="0">
                        <a:latin typeface="Verdana"/>
                        <a:ea typeface="Verdana"/>
                        <a:cs typeface="Verdana"/>
                        <a:sym typeface="Verdana"/>
                      </a:endParaRPr>
                    </a:p>
                  </a:txBody>
                  <a:tcPr marL="91425" marR="91425" marT="91425" marB="91425">
                    <a:solidFill>
                      <a:srgbClr val="CCCCCC"/>
                    </a:solidFill>
                  </a:tcPr>
                </a:tc>
                <a:tc>
                  <a:txBody>
                    <a:bodyPr/>
                    <a:lstStyle/>
                    <a:p>
                      <a:pPr marL="0" lvl="0" indent="0" algn="ctr" rtl="0">
                        <a:spcBef>
                          <a:spcPts val="0"/>
                        </a:spcBef>
                        <a:spcAft>
                          <a:spcPts val="0"/>
                        </a:spcAft>
                        <a:buNone/>
                      </a:pPr>
                      <a:r>
                        <a:rPr lang="en-US" sz="1600" b="1">
                          <a:solidFill>
                            <a:schemeClr val="dk1"/>
                          </a:solidFill>
                          <a:latin typeface="Verdana"/>
                          <a:ea typeface="Verdana"/>
                          <a:cs typeface="Verdana"/>
                          <a:sym typeface="Verdana"/>
                        </a:rPr>
                        <a:t>Expression B</a:t>
                      </a:r>
                      <a:endParaRPr sz="1600" b="1">
                        <a:latin typeface="Verdana"/>
                        <a:ea typeface="Verdana"/>
                        <a:cs typeface="Verdana"/>
                        <a:sym typeface="Verdana"/>
                      </a:endParaRPr>
                    </a:p>
                  </a:txBody>
                  <a:tcPr marL="91425" marR="91425" marT="91425" marB="91425">
                    <a:solidFill>
                      <a:srgbClr val="CCCCCC"/>
                    </a:solidFill>
                  </a:tcPr>
                </a:tc>
                <a:extLst>
                  <a:ext uri="{0D108BD9-81ED-4DB2-BD59-A6C34878D82A}">
                    <a16:rowId xmlns:a16="http://schemas.microsoft.com/office/drawing/2014/main" val="10000"/>
                  </a:ext>
                </a:extLst>
              </a:tr>
              <a:tr h="328650">
                <a:tc>
                  <a:txBody>
                    <a:bodyPr/>
                    <a:lstStyle/>
                    <a:p>
                      <a:pPr marL="0" lvl="0" indent="0" algn="ctr" rtl="0">
                        <a:spcBef>
                          <a:spcPts val="0"/>
                        </a:spcBef>
                        <a:spcAft>
                          <a:spcPts val="0"/>
                        </a:spcAft>
                        <a:buNone/>
                      </a:pPr>
                      <a:r>
                        <a:rPr lang="en-US" sz="1600" dirty="0">
                          <a:latin typeface="Verdana"/>
                          <a:ea typeface="Verdana"/>
                          <a:cs typeface="Verdana"/>
                          <a:sym typeface="Verdana"/>
                        </a:rPr>
                        <a:t>−191 + 77</a:t>
                      </a:r>
                      <a:endParaRPr sz="1600" dirty="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r>
                        <a:rPr lang="en-US" sz="1600" dirty="0">
                          <a:latin typeface="Verdana"/>
                          <a:ea typeface="Verdana"/>
                          <a:cs typeface="Verdana"/>
                          <a:sym typeface="Verdana"/>
                        </a:rPr>
                        <a:t>−191 − (-77)</a:t>
                      </a:r>
                      <a:endParaRPr sz="1600" dirty="0">
                        <a:latin typeface="Verdana"/>
                        <a:ea typeface="Verdana"/>
                        <a:cs typeface="Verdana"/>
                        <a:sym typeface="Verdana"/>
                      </a:endParaRPr>
                    </a:p>
                  </a:txBody>
                  <a:tcPr marL="91425" marR="91425" marT="91425" marB="91425"/>
                </a:tc>
                <a:extLst>
                  <a:ext uri="{0D108BD9-81ED-4DB2-BD59-A6C34878D82A}">
                    <a16:rowId xmlns:a16="http://schemas.microsoft.com/office/drawing/2014/main" val="10001"/>
                  </a:ext>
                </a:extLst>
              </a:tr>
            </a:tbl>
          </a:graphicData>
        </a:graphic>
      </p:graphicFrame>
      <p:sp>
        <p:nvSpPr>
          <p:cNvPr id="195" name="Google Shape;195;p22"/>
          <p:cNvSpPr txBox="1"/>
          <p:nvPr/>
        </p:nvSpPr>
        <p:spPr>
          <a:xfrm>
            <a:off x="1897438" y="3278267"/>
            <a:ext cx="9037262" cy="2123628"/>
          </a:xfrm>
          <a:prstGeom prst="rect">
            <a:avLst/>
          </a:prstGeom>
          <a:noFill/>
          <a:ln>
            <a:noFill/>
          </a:ln>
        </p:spPr>
        <p:txBody>
          <a:bodyPr spcFirstLastPara="1" wrap="square" lIns="91425" tIns="91425" rIns="91425" bIns="91425" anchor="t" anchorCtr="0">
            <a:spAutoFit/>
          </a:bodyPr>
          <a:lstStyle/>
          <a:p>
            <a:pPr marL="342900" indent="-342900">
              <a:buFont typeface="+mj-lt"/>
              <a:buAutoNum type="arabicPeriod" startAt="2"/>
            </a:pPr>
            <a:r>
              <a:rPr lang="en-US" sz="1800" dirty="0">
                <a:latin typeface="Verdana"/>
                <a:ea typeface="Verdana"/>
                <a:cs typeface="Verdana"/>
                <a:sym typeface="Verdana"/>
              </a:rPr>
              <a:t>Annalise is on a trivia game show. Her score after the first round is 500 − points. She misses the first question in the second round, losing an additional 125 points. Kiersten said she could represent Annalise’s score using subtraction, while Dylan said it could only be represented with addition. </a:t>
            </a:r>
            <a:endParaRPr sz="1800" dirty="0">
              <a:latin typeface="Verdana"/>
              <a:ea typeface="Verdana"/>
              <a:cs typeface="Verdana"/>
              <a:sym typeface="Verdana"/>
            </a:endParaRPr>
          </a:p>
          <a:p>
            <a:endParaRPr sz="1800" dirty="0">
              <a:latin typeface="Verdana"/>
              <a:ea typeface="Verdana"/>
              <a:cs typeface="Verdana"/>
              <a:sym typeface="Verdana"/>
            </a:endParaRPr>
          </a:p>
          <a:p>
            <a:pPr marL="465138"/>
            <a:r>
              <a:rPr lang="en-US" sz="1800" dirty="0">
                <a:latin typeface="Verdana"/>
                <a:ea typeface="Verdana"/>
                <a:cs typeface="Verdana"/>
                <a:sym typeface="Verdana"/>
              </a:rPr>
              <a:t>a. Complete the table with the expression each student was thinking of. </a:t>
            </a:r>
            <a:endParaRPr sz="1800" dirty="0">
              <a:latin typeface="Verdana"/>
              <a:ea typeface="Verdana"/>
              <a:cs typeface="Verdana"/>
              <a:sym typeface="Verdana"/>
            </a:endParaRPr>
          </a:p>
        </p:txBody>
      </p:sp>
      <p:graphicFrame>
        <p:nvGraphicFramePr>
          <p:cNvPr id="196" name="Google Shape;196;p22"/>
          <p:cNvGraphicFramePr/>
          <p:nvPr>
            <p:extLst>
              <p:ext uri="{D42A27DB-BD31-4B8C-83A1-F6EECF244321}">
                <p14:modId xmlns:p14="http://schemas.microsoft.com/office/powerpoint/2010/main" val="899682966"/>
              </p:ext>
            </p:extLst>
          </p:nvPr>
        </p:nvGraphicFramePr>
        <p:xfrm>
          <a:off x="2975136" y="5401895"/>
          <a:ext cx="6497724" cy="1153386"/>
        </p:xfrm>
        <a:graphic>
          <a:graphicData uri="http://schemas.openxmlformats.org/drawingml/2006/table">
            <a:tbl>
              <a:tblPr>
                <a:noFill/>
                <a:tableStyleId>{5B734401-3CF1-4C9D-97DF-30852E556B94}</a:tableStyleId>
              </a:tblPr>
              <a:tblGrid>
                <a:gridCol w="3248862">
                  <a:extLst>
                    <a:ext uri="{9D8B030D-6E8A-4147-A177-3AD203B41FA5}">
                      <a16:colId xmlns:a16="http://schemas.microsoft.com/office/drawing/2014/main" val="20000"/>
                    </a:ext>
                  </a:extLst>
                </a:gridCol>
                <a:gridCol w="3248862">
                  <a:extLst>
                    <a:ext uri="{9D8B030D-6E8A-4147-A177-3AD203B41FA5}">
                      <a16:colId xmlns:a16="http://schemas.microsoft.com/office/drawing/2014/main" val="20001"/>
                    </a:ext>
                  </a:extLst>
                </a:gridCol>
              </a:tblGrid>
              <a:tr h="482856">
                <a:tc>
                  <a:txBody>
                    <a:bodyPr/>
                    <a:lstStyle/>
                    <a:p>
                      <a:pPr marL="0" lvl="0" indent="0" algn="ctr" rtl="0">
                        <a:spcBef>
                          <a:spcPts val="0"/>
                        </a:spcBef>
                        <a:spcAft>
                          <a:spcPts val="0"/>
                        </a:spcAft>
                        <a:buNone/>
                      </a:pPr>
                      <a:r>
                        <a:rPr lang="en-US" sz="1600" b="1" dirty="0">
                          <a:latin typeface="Verdana"/>
                          <a:ea typeface="Verdana"/>
                          <a:cs typeface="Verdana"/>
                          <a:sym typeface="Verdana"/>
                        </a:rPr>
                        <a:t>Kiersten’s Subtraction Expression</a:t>
                      </a:r>
                      <a:endParaRPr sz="1600" b="1" dirty="0">
                        <a:latin typeface="Verdana"/>
                        <a:ea typeface="Verdana"/>
                        <a:cs typeface="Verdana"/>
                        <a:sym typeface="Verdana"/>
                      </a:endParaRPr>
                    </a:p>
                  </a:txBody>
                  <a:tcPr marL="91425" marR="91425" marT="91425" marB="91425">
                    <a:solidFill>
                      <a:srgbClr val="CCCCCC"/>
                    </a:solidFill>
                  </a:tcPr>
                </a:tc>
                <a:tc>
                  <a:txBody>
                    <a:bodyPr/>
                    <a:lstStyle/>
                    <a:p>
                      <a:pPr marL="0" lvl="0" indent="0" algn="ctr" rtl="0">
                        <a:spcBef>
                          <a:spcPts val="0"/>
                        </a:spcBef>
                        <a:spcAft>
                          <a:spcPts val="0"/>
                        </a:spcAft>
                        <a:buNone/>
                      </a:pPr>
                      <a:r>
                        <a:rPr lang="en-US" sz="1600" b="1" dirty="0">
                          <a:solidFill>
                            <a:schemeClr val="dk1"/>
                          </a:solidFill>
                          <a:latin typeface="Verdana"/>
                          <a:ea typeface="Verdana"/>
                          <a:cs typeface="Verdana"/>
                          <a:sym typeface="Verdana"/>
                        </a:rPr>
                        <a:t>Dylan’s Addition Expression</a:t>
                      </a:r>
                      <a:endParaRPr sz="1600" b="1" dirty="0">
                        <a:latin typeface="Verdana"/>
                        <a:ea typeface="Verdana"/>
                        <a:cs typeface="Verdana"/>
                        <a:sym typeface="Verdana"/>
                      </a:endParaRPr>
                    </a:p>
                  </a:txBody>
                  <a:tcPr marL="91425" marR="91425" marT="91425" marB="91425">
                    <a:solidFill>
                      <a:srgbClr val="CCCCCC"/>
                    </a:solidFill>
                  </a:tcPr>
                </a:tc>
                <a:extLst>
                  <a:ext uri="{0D108BD9-81ED-4DB2-BD59-A6C34878D82A}">
                    <a16:rowId xmlns:a16="http://schemas.microsoft.com/office/drawing/2014/main" val="10000"/>
                  </a:ext>
                </a:extLst>
              </a:tr>
              <a:tr h="482856">
                <a:tc>
                  <a:txBody>
                    <a:bodyPr/>
                    <a:lstStyle/>
                    <a:p>
                      <a:pPr marL="0" lvl="0" indent="0" algn="ctr" rtl="0">
                        <a:spcBef>
                          <a:spcPts val="0"/>
                        </a:spcBef>
                        <a:spcAft>
                          <a:spcPts val="0"/>
                        </a:spcAft>
                        <a:buNone/>
                      </a:pPr>
                      <a:r>
                        <a:rPr lang="en-US" sz="1600" dirty="0">
                          <a:latin typeface="Verdana"/>
                          <a:ea typeface="Verdana"/>
                          <a:cs typeface="Verdana"/>
                          <a:sym typeface="Verdana"/>
                        </a:rPr>
                        <a:t>____ − ____</a:t>
                      </a:r>
                      <a:endParaRPr sz="1600" dirty="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r>
                        <a:rPr lang="en-US" sz="1600" dirty="0">
                          <a:latin typeface="Verdana"/>
                          <a:ea typeface="Verdana"/>
                          <a:cs typeface="Verdana"/>
                          <a:sym typeface="Verdana"/>
                        </a:rPr>
                        <a:t>____ + ____</a:t>
                      </a:r>
                      <a:endParaRPr sz="1600" dirty="0">
                        <a:latin typeface="Verdana"/>
                        <a:ea typeface="Verdana"/>
                        <a:cs typeface="Verdana"/>
                        <a:sym typeface="Verdana"/>
                      </a:endParaRPr>
                    </a:p>
                  </a:txBody>
                  <a:tcPr marL="91425" marR="91425" marT="91425" marB="91425"/>
                </a:tc>
                <a:extLst>
                  <a:ext uri="{0D108BD9-81ED-4DB2-BD59-A6C34878D82A}">
                    <a16:rowId xmlns:a16="http://schemas.microsoft.com/office/drawing/2014/main" val="10001"/>
                  </a:ext>
                </a:extLst>
              </a:tr>
            </a:tbl>
          </a:graphicData>
        </a:graphic>
      </p:graphicFrame>
      <p:sp>
        <p:nvSpPr>
          <p:cNvPr id="12" name="Google Shape;125;g104476d1465_1_17"/>
          <p:cNvSpPr txBox="1"/>
          <p:nvPr/>
        </p:nvSpPr>
        <p:spPr>
          <a:xfrm>
            <a:off x="86990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270</a:t>
            </a:r>
            <a:endParaRPr i="1" dirty="0">
              <a:latin typeface="Calibri"/>
              <a:ea typeface="Calibri"/>
              <a:cs typeface="Calibri"/>
              <a:sym typeface="Calibri"/>
            </a:endParaRPr>
          </a:p>
        </p:txBody>
      </p:sp>
      <p:pic>
        <p:nvPicPr>
          <p:cNvPr id="13"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372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3"/>
          <p:cNvSpPr/>
          <p:nvPr/>
        </p:nvSpPr>
        <p:spPr>
          <a:xfrm>
            <a:off x="-5088"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06" name="Google Shape;206;p23"/>
          <p:cNvSpPr txBox="1"/>
          <p:nvPr/>
        </p:nvSpPr>
        <p:spPr>
          <a:xfrm>
            <a:off x="1932450" y="1648672"/>
            <a:ext cx="8327100" cy="708000"/>
          </a:xfrm>
          <a:prstGeom prst="rect">
            <a:avLst/>
          </a:prstGeom>
          <a:noFill/>
          <a:ln>
            <a:noFill/>
          </a:ln>
        </p:spPr>
        <p:txBody>
          <a:bodyPr spcFirstLastPara="1" wrap="square" lIns="91425" tIns="45700" rIns="91425" bIns="45700" anchor="t" anchorCtr="0">
            <a:spAutoFit/>
          </a:bodyPr>
          <a:lstStyle/>
          <a:p>
            <a:pPr>
              <a:buSzPts val="2400"/>
            </a:pPr>
            <a:r>
              <a:rPr lang="en-US" sz="2000" dirty="0">
                <a:latin typeface="Verdana"/>
                <a:ea typeface="Verdana"/>
                <a:cs typeface="Verdana"/>
                <a:sym typeface="Verdana"/>
              </a:rPr>
              <a:t>3. Rewrite each subtraction equation as an equivalent addition equation.</a:t>
            </a:r>
            <a:endParaRPr sz="1000" dirty="0"/>
          </a:p>
        </p:txBody>
      </p:sp>
      <p:graphicFrame>
        <p:nvGraphicFramePr>
          <p:cNvPr id="207" name="Google Shape;207;p23"/>
          <p:cNvGraphicFramePr/>
          <p:nvPr>
            <p:extLst>
              <p:ext uri="{D42A27DB-BD31-4B8C-83A1-F6EECF244321}">
                <p14:modId xmlns:p14="http://schemas.microsoft.com/office/powerpoint/2010/main" val="570985253"/>
              </p:ext>
            </p:extLst>
          </p:nvPr>
        </p:nvGraphicFramePr>
        <p:xfrm>
          <a:off x="3050174" y="2504009"/>
          <a:ext cx="6430275" cy="1231900"/>
        </p:xfrm>
        <a:graphic>
          <a:graphicData uri="http://schemas.openxmlformats.org/drawingml/2006/table">
            <a:tbl>
              <a:tblPr>
                <a:noFill/>
                <a:tableStyleId>{5B734401-3CF1-4C9D-97DF-30852E556B94}</a:tableStyleId>
              </a:tblPr>
              <a:tblGrid>
                <a:gridCol w="1899475">
                  <a:extLst>
                    <a:ext uri="{9D8B030D-6E8A-4147-A177-3AD203B41FA5}">
                      <a16:colId xmlns:a16="http://schemas.microsoft.com/office/drawing/2014/main" val="20000"/>
                    </a:ext>
                  </a:extLst>
                </a:gridCol>
                <a:gridCol w="2283764">
                  <a:extLst>
                    <a:ext uri="{9D8B030D-6E8A-4147-A177-3AD203B41FA5}">
                      <a16:colId xmlns:a16="http://schemas.microsoft.com/office/drawing/2014/main" val="20001"/>
                    </a:ext>
                  </a:extLst>
                </a:gridCol>
                <a:gridCol w="2247036">
                  <a:extLst>
                    <a:ext uri="{9D8B030D-6E8A-4147-A177-3AD203B41FA5}">
                      <a16:colId xmlns:a16="http://schemas.microsoft.com/office/drawing/2014/main" val="20002"/>
                    </a:ext>
                  </a:extLst>
                </a:gridCol>
              </a:tblGrid>
              <a:tr h="615950">
                <a:tc>
                  <a:txBody>
                    <a:bodyPr/>
                    <a:lstStyle/>
                    <a:p>
                      <a:pPr marL="0" lvl="0" indent="0" algn="ctr" rtl="0">
                        <a:spcBef>
                          <a:spcPts val="0"/>
                        </a:spcBef>
                        <a:spcAft>
                          <a:spcPts val="0"/>
                        </a:spcAft>
                        <a:buNone/>
                      </a:pPr>
                      <a:r>
                        <a:rPr lang="en-US" b="1" dirty="0">
                          <a:latin typeface="Verdana"/>
                          <a:ea typeface="Verdana"/>
                          <a:cs typeface="Verdana"/>
                          <a:sym typeface="Verdana"/>
                        </a:rPr>
                        <a:t>Subtraction Equation</a:t>
                      </a:r>
                      <a:endParaRPr b="1" dirty="0">
                        <a:latin typeface="Verdana"/>
                        <a:ea typeface="Verdana"/>
                        <a:cs typeface="Verdana"/>
                        <a:sym typeface="Verdana"/>
                      </a:endParaRPr>
                    </a:p>
                  </a:txBody>
                  <a:tcPr marL="91425" marR="91425" marT="91425" marB="91425" anchor="ctr">
                    <a:solidFill>
                      <a:srgbClr val="CCCCCC"/>
                    </a:solidFill>
                  </a:tcPr>
                </a:tc>
                <a:tc>
                  <a:txBody>
                    <a:bodyPr/>
                    <a:lstStyle/>
                    <a:p>
                      <a:pPr marL="0" lvl="0" indent="0" algn="ctr" rtl="0">
                        <a:spcBef>
                          <a:spcPts val="0"/>
                        </a:spcBef>
                        <a:spcAft>
                          <a:spcPts val="0"/>
                        </a:spcAft>
                        <a:buNone/>
                      </a:pPr>
                      <a:r>
                        <a:rPr lang="en-US">
                          <a:latin typeface="Verdana"/>
                          <a:ea typeface="Verdana"/>
                          <a:cs typeface="Verdana"/>
                          <a:sym typeface="Verdana"/>
                        </a:rPr>
                        <a:t>513 − 382 = 131</a:t>
                      </a:r>
                      <a:endParaRPr>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US" dirty="0">
                          <a:latin typeface="Verdana"/>
                          <a:ea typeface="Verdana"/>
                          <a:cs typeface="Verdana"/>
                          <a:sym typeface="Verdana"/>
                        </a:rPr>
                        <a:t>957 − </a:t>
                      </a:r>
                      <a:r>
                        <a:rPr lang="en-US" baseline="30000" dirty="0">
                          <a:latin typeface="Verdana"/>
                          <a:ea typeface="Verdana"/>
                          <a:cs typeface="Verdana"/>
                          <a:sym typeface="Verdana"/>
                        </a:rPr>
                        <a:t>-</a:t>
                      </a:r>
                      <a:r>
                        <a:rPr lang="en-US" dirty="0">
                          <a:latin typeface="Verdana"/>
                          <a:ea typeface="Verdana"/>
                          <a:cs typeface="Verdana"/>
                          <a:sym typeface="Verdana"/>
                        </a:rPr>
                        <a:t>136 − = 1,093</a:t>
                      </a:r>
                      <a:endParaRPr dirty="0">
                        <a:latin typeface="Verdana"/>
                        <a:ea typeface="Verdana"/>
                        <a:cs typeface="Verdana"/>
                        <a:sym typeface="Verdana"/>
                      </a:endParaRPr>
                    </a:p>
                  </a:txBody>
                  <a:tcPr marL="91425" marR="91425" marT="91425" marB="91425" anchor="ctr"/>
                </a:tc>
                <a:extLst>
                  <a:ext uri="{0D108BD9-81ED-4DB2-BD59-A6C34878D82A}">
                    <a16:rowId xmlns:a16="http://schemas.microsoft.com/office/drawing/2014/main" val="10000"/>
                  </a:ext>
                </a:extLst>
              </a:tr>
              <a:tr h="615950">
                <a:tc>
                  <a:txBody>
                    <a:bodyPr/>
                    <a:lstStyle/>
                    <a:p>
                      <a:pPr marL="0" lvl="0" indent="0" algn="ctr" rtl="0">
                        <a:spcBef>
                          <a:spcPts val="0"/>
                        </a:spcBef>
                        <a:spcAft>
                          <a:spcPts val="0"/>
                        </a:spcAft>
                        <a:buNone/>
                      </a:pPr>
                      <a:r>
                        <a:rPr lang="en-US" b="1">
                          <a:latin typeface="Verdana"/>
                          <a:ea typeface="Verdana"/>
                          <a:cs typeface="Verdana"/>
                          <a:sym typeface="Verdana"/>
                        </a:rPr>
                        <a:t>Addition Equation</a:t>
                      </a:r>
                      <a:endParaRPr b="1">
                        <a:latin typeface="Verdana"/>
                        <a:ea typeface="Verdana"/>
                        <a:cs typeface="Verdana"/>
                        <a:sym typeface="Verdana"/>
                      </a:endParaRPr>
                    </a:p>
                  </a:txBody>
                  <a:tcPr marL="91425" marR="91425" marT="91425" marB="91425" anchor="ctr">
                    <a:solidFill>
                      <a:srgbClr val="CCCCCC"/>
                    </a:solidFill>
                  </a:tcPr>
                </a:tc>
                <a:tc>
                  <a:txBody>
                    <a:bodyPr/>
                    <a:lstStyle/>
                    <a:p>
                      <a:pPr marL="0" lvl="0" indent="0" algn="ctr" rtl="0">
                        <a:spcBef>
                          <a:spcPts val="0"/>
                        </a:spcBef>
                        <a:spcAft>
                          <a:spcPts val="0"/>
                        </a:spcAft>
                        <a:buNone/>
                      </a:pPr>
                      <a:endParaRPr>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endParaRPr dirty="0">
                        <a:latin typeface="Verdana"/>
                        <a:ea typeface="Verdana"/>
                        <a:cs typeface="Verdana"/>
                        <a:sym typeface="Verdana"/>
                      </a:endParaRPr>
                    </a:p>
                  </a:txBody>
                  <a:tcPr marL="91425" marR="91425" marT="91425" marB="91425" anchor="ctr"/>
                </a:tc>
                <a:extLst>
                  <a:ext uri="{0D108BD9-81ED-4DB2-BD59-A6C34878D82A}">
                    <a16:rowId xmlns:a16="http://schemas.microsoft.com/office/drawing/2014/main" val="10001"/>
                  </a:ext>
                </a:extLst>
              </a:tr>
            </a:tbl>
          </a:graphicData>
        </a:graphic>
      </p:graphicFrame>
      <p:sp>
        <p:nvSpPr>
          <p:cNvPr id="208" name="Google Shape;208;p23"/>
          <p:cNvSpPr txBox="1"/>
          <p:nvPr/>
        </p:nvSpPr>
        <p:spPr>
          <a:xfrm>
            <a:off x="2020438" y="4030583"/>
            <a:ext cx="7702500" cy="2339700"/>
          </a:xfrm>
          <a:prstGeom prst="rect">
            <a:avLst/>
          </a:prstGeom>
          <a:noFill/>
          <a:ln>
            <a:noFill/>
          </a:ln>
        </p:spPr>
        <p:txBody>
          <a:bodyPr spcFirstLastPara="1" wrap="square" lIns="91425" tIns="91425" rIns="91425" bIns="91425" anchor="t" anchorCtr="0">
            <a:spAutoFit/>
          </a:bodyPr>
          <a:lstStyle/>
          <a:p>
            <a:r>
              <a:rPr lang="en-US" sz="2000" dirty="0">
                <a:latin typeface="Verdana"/>
                <a:ea typeface="Verdana"/>
                <a:cs typeface="Verdana"/>
                <a:sym typeface="Verdana"/>
              </a:rPr>
              <a:t>Addition and subtraction are </a:t>
            </a:r>
            <a:r>
              <a:rPr lang="en-US" sz="2000" b="1" dirty="0">
                <a:latin typeface="Verdana"/>
                <a:ea typeface="Verdana"/>
                <a:cs typeface="Verdana"/>
                <a:sym typeface="Verdana"/>
              </a:rPr>
              <a:t>inverse operations</a:t>
            </a:r>
            <a:r>
              <a:rPr lang="en-US" sz="2000" dirty="0">
                <a:latin typeface="Verdana"/>
                <a:ea typeface="Verdana"/>
                <a:cs typeface="Verdana"/>
                <a:sym typeface="Verdana"/>
              </a:rPr>
              <a:t>, which means they are operations that have the opposite effect of each other. </a:t>
            </a:r>
            <a:endParaRPr sz="2000" dirty="0">
              <a:latin typeface="Verdana"/>
              <a:ea typeface="Verdana"/>
              <a:cs typeface="Verdana"/>
              <a:sym typeface="Verdana"/>
            </a:endParaRPr>
          </a:p>
          <a:p>
            <a:endParaRPr sz="2000" dirty="0">
              <a:latin typeface="Verdana"/>
              <a:ea typeface="Verdana"/>
              <a:cs typeface="Verdana"/>
              <a:sym typeface="Verdana"/>
            </a:endParaRPr>
          </a:p>
          <a:p>
            <a:r>
              <a:rPr lang="en-US" sz="2000" dirty="0">
                <a:latin typeface="Verdana"/>
                <a:ea typeface="Verdana"/>
                <a:cs typeface="Verdana"/>
                <a:sym typeface="Verdana"/>
              </a:rPr>
              <a:t>Understanding this relationship and the existence of additive inverses can be helpful when subtracting integers.</a:t>
            </a:r>
            <a:endParaRPr dirty="0"/>
          </a:p>
        </p:txBody>
      </p:sp>
      <p:sp>
        <p:nvSpPr>
          <p:cNvPr id="9" name="TextBox 8">
            <a:extLst>
              <a:ext uri="{FF2B5EF4-FFF2-40B4-BE49-F238E27FC236}">
                <a16:creationId xmlns:a16="http://schemas.microsoft.com/office/drawing/2014/main" id="{BCAE0CEC-2CB2-4F44-9308-147EA8D4AEE5}"/>
              </a:ext>
            </a:extLst>
          </p:cNvPr>
          <p:cNvSpPr txBox="1"/>
          <p:nvPr/>
        </p:nvSpPr>
        <p:spPr>
          <a:xfrm>
            <a:off x="2271073" y="303886"/>
            <a:ext cx="7988475" cy="1015663"/>
          </a:xfrm>
          <a:prstGeom prst="rect">
            <a:avLst/>
          </a:prstGeom>
          <a:noFill/>
        </p:spPr>
        <p:txBody>
          <a:bodyPr wrap="square">
            <a:spAutoFit/>
          </a:bodyPr>
          <a:lstStyle/>
          <a:p>
            <a:pPr marL="350838" indent="-350838"/>
            <a:r>
              <a:rPr lang="en-US" sz="2000" dirty="0">
                <a:latin typeface="Verdana"/>
                <a:ea typeface="Verdana"/>
                <a:cs typeface="Verdana"/>
                <a:sym typeface="Verdana"/>
              </a:rPr>
              <a:t>b. </a:t>
            </a:r>
            <a:r>
              <a:rPr lang="en-US" sz="2000" dirty="0" err="1">
                <a:latin typeface="Verdana"/>
                <a:ea typeface="Verdana"/>
                <a:cs typeface="Verdana"/>
                <a:sym typeface="Verdana"/>
              </a:rPr>
              <a:t>Kiefirst</a:t>
            </a:r>
            <a:r>
              <a:rPr lang="en-US" sz="2000" dirty="0">
                <a:latin typeface="Verdana"/>
                <a:ea typeface="Verdana"/>
                <a:cs typeface="Verdana"/>
                <a:sym typeface="Verdana"/>
              </a:rPr>
              <a:t> question in the second round, but Dylan said it was −625. </a:t>
            </a:r>
            <a:r>
              <a:rPr lang="en-US" sz="2000" dirty="0" err="1">
                <a:latin typeface="Verdana"/>
                <a:ea typeface="Verdana"/>
                <a:cs typeface="Verdana"/>
                <a:sym typeface="Verdana"/>
              </a:rPr>
              <a:t>rsten</a:t>
            </a:r>
            <a:r>
              <a:rPr lang="en-US" sz="2000" dirty="0">
                <a:latin typeface="Verdana"/>
                <a:ea typeface="Verdana"/>
                <a:cs typeface="Verdana"/>
                <a:sym typeface="Verdana"/>
              </a:rPr>
              <a:t> said Annalise’s score was −375 after missing the Explain which student is correct.</a:t>
            </a:r>
            <a:endParaRPr lang="en-US" sz="2000" dirty="0"/>
          </a:p>
        </p:txBody>
      </p:sp>
      <p:sp>
        <p:nvSpPr>
          <p:cNvPr id="10" name="Google Shape;125;g104476d1465_1_17"/>
          <p:cNvSpPr txBox="1"/>
          <p:nvPr/>
        </p:nvSpPr>
        <p:spPr>
          <a:xfrm>
            <a:off x="86990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271</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372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g11529d0b5a6_0_45"/>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sp>
        <p:nvSpPr>
          <p:cNvPr id="217" name="Google Shape;217;g11529d0b5a6_0_45"/>
          <p:cNvSpPr txBox="1"/>
          <p:nvPr/>
        </p:nvSpPr>
        <p:spPr>
          <a:xfrm>
            <a:off x="2007765" y="520393"/>
            <a:ext cx="8327100" cy="246300"/>
          </a:xfrm>
          <a:prstGeom prst="rect">
            <a:avLst/>
          </a:prstGeom>
          <a:noFill/>
          <a:ln>
            <a:noFill/>
          </a:ln>
        </p:spPr>
        <p:txBody>
          <a:bodyPr spcFirstLastPara="1" wrap="square" lIns="91425" tIns="45700" rIns="91425" bIns="45700" anchor="t" anchorCtr="0">
            <a:spAutoFit/>
          </a:bodyPr>
          <a:lstStyle/>
          <a:p>
            <a:pPr>
              <a:buSzPts val="2400"/>
            </a:pPr>
            <a:endParaRPr sz="1000"/>
          </a:p>
        </p:txBody>
      </p:sp>
      <p:sp>
        <p:nvSpPr>
          <p:cNvPr id="218" name="Google Shape;218;g11529d0b5a6_0_45"/>
          <p:cNvSpPr txBox="1"/>
          <p:nvPr/>
        </p:nvSpPr>
        <p:spPr>
          <a:xfrm>
            <a:off x="1435100" y="3044975"/>
            <a:ext cx="8847850" cy="2646848"/>
          </a:xfrm>
          <a:prstGeom prst="rect">
            <a:avLst/>
          </a:prstGeom>
          <a:noFill/>
          <a:ln>
            <a:noFill/>
          </a:ln>
        </p:spPr>
        <p:txBody>
          <a:bodyPr spcFirstLastPara="1" wrap="square" lIns="91425" tIns="91425" rIns="91425" bIns="91425" anchor="t" anchorCtr="0">
            <a:spAutoFit/>
          </a:bodyPr>
          <a:lstStyle/>
          <a:p>
            <a:r>
              <a:rPr lang="en-US" sz="2000" dirty="0">
                <a:latin typeface="Verdana"/>
                <a:ea typeface="Verdana"/>
                <a:cs typeface="Verdana"/>
                <a:sym typeface="Verdana"/>
              </a:rPr>
              <a:t>4. Complete the statements below using this information. </a:t>
            </a:r>
            <a:endParaRPr sz="2000" dirty="0">
              <a:latin typeface="Verdana"/>
              <a:ea typeface="Verdana"/>
              <a:cs typeface="Verdana"/>
              <a:sym typeface="Verdana"/>
            </a:endParaRPr>
          </a:p>
          <a:p>
            <a:endParaRPr sz="2000" dirty="0">
              <a:latin typeface="Verdana"/>
              <a:ea typeface="Verdana"/>
              <a:cs typeface="Verdana"/>
              <a:sym typeface="Verdana"/>
            </a:endParaRPr>
          </a:p>
          <a:p>
            <a:pPr marL="350838">
              <a:lnSpc>
                <a:spcPct val="150000"/>
              </a:lnSpc>
            </a:pPr>
            <a:r>
              <a:rPr lang="en-US" sz="2000" dirty="0">
                <a:latin typeface="Verdana"/>
                <a:ea typeface="Verdana"/>
                <a:cs typeface="Verdana"/>
                <a:sym typeface="Verdana"/>
              </a:rPr>
              <a:t>A subtraction expression can be rewritten as an equivalent addition expression by changing the operation from subtraction to ________________ and changing the second value to its _____________ _____________.</a:t>
            </a:r>
            <a:endParaRPr dirty="0"/>
          </a:p>
        </p:txBody>
      </p:sp>
      <p:pic>
        <p:nvPicPr>
          <p:cNvPr id="219" name="Google Shape;219;g11529d0b5a6_0_45"/>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2848989" y="928148"/>
            <a:ext cx="6494025" cy="1382600"/>
          </a:xfrm>
          <a:prstGeom prst="rect">
            <a:avLst/>
          </a:prstGeom>
          <a:noFill/>
          <a:ln>
            <a:noFill/>
          </a:ln>
        </p:spPr>
      </p:pic>
      <p:sp>
        <p:nvSpPr>
          <p:cNvPr id="8" name="Google Shape;125;g104476d1465_1_17"/>
          <p:cNvSpPr txBox="1"/>
          <p:nvPr/>
        </p:nvSpPr>
        <p:spPr>
          <a:xfrm>
            <a:off x="86990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271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372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5"/>
          <p:cNvSpPr/>
          <p:nvPr/>
        </p:nvSpPr>
        <p:spPr>
          <a:xfrm>
            <a:off x="0" y="-8226"/>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27" name="Google Shape;227;p15"/>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3BEA6"/>
                </a:solidFill>
                <a:latin typeface="Verdana"/>
                <a:ea typeface="Verdana"/>
                <a:cs typeface="Verdana"/>
                <a:sym typeface="Verdana"/>
              </a:rPr>
              <a:t>Try It</a:t>
            </a:r>
            <a:endParaRPr sz="5100" b="1">
              <a:solidFill>
                <a:srgbClr val="33BEA6"/>
              </a:solidFill>
              <a:latin typeface="Verdana"/>
              <a:ea typeface="Verdana"/>
              <a:cs typeface="Verdana"/>
              <a:sym typeface="Verdana"/>
            </a:endParaRPr>
          </a:p>
        </p:txBody>
      </p:sp>
      <p:pic>
        <p:nvPicPr>
          <p:cNvPr id="229" name="Google Shape;229;p15"/>
          <p:cNvPicPr preferRelativeResize="0"/>
          <p:nvPr/>
        </p:nvPicPr>
        <p:blipFill rotWithShape="1">
          <a:blip r:embed="rId3">
            <a:alphaModFix/>
          </a:blip>
          <a:srcRect/>
          <a:stretch/>
        </p:blipFill>
        <p:spPr>
          <a:xfrm>
            <a:off x="4813171" y="2852928"/>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990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271</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372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6"/>
          <p:cNvSpPr/>
          <p:nvPr/>
        </p:nvSpPr>
        <p:spPr>
          <a:xfrm>
            <a:off x="-13247"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37" name="Google Shape;237;p16"/>
          <p:cNvSpPr txBox="1"/>
          <p:nvPr/>
        </p:nvSpPr>
        <p:spPr>
          <a:xfrm>
            <a:off x="1439060" y="75712"/>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3BEA6"/>
                </a:solidFill>
                <a:latin typeface="Verdana"/>
                <a:ea typeface="Verdana"/>
                <a:cs typeface="Verdana"/>
                <a:sym typeface="Verdana"/>
              </a:rPr>
              <a:t>6.8.3 Try It: Subtracting Integers</a:t>
            </a:r>
            <a:endParaRPr/>
          </a:p>
        </p:txBody>
      </p:sp>
      <p:pic>
        <p:nvPicPr>
          <p:cNvPr id="239" name="Google Shape;239;p1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89252" y="363658"/>
            <a:ext cx="749808" cy="749808"/>
          </a:xfrm>
          <a:prstGeom prst="rect">
            <a:avLst/>
          </a:prstGeom>
          <a:noFill/>
          <a:ln>
            <a:noFill/>
          </a:ln>
          <a:effectLst>
            <a:outerShdw blurRad="50800" dist="38100" dir="2700000" algn="tl" rotWithShape="0">
              <a:srgbClr val="000000">
                <a:alpha val="40000"/>
              </a:srgbClr>
            </a:outerShdw>
          </a:effectLst>
        </p:spPr>
      </p:pic>
      <p:sp>
        <p:nvSpPr>
          <p:cNvPr id="240" name="Google Shape;240;p16"/>
          <p:cNvSpPr txBox="1"/>
          <p:nvPr/>
        </p:nvSpPr>
        <p:spPr>
          <a:xfrm>
            <a:off x="1439060" y="1217180"/>
            <a:ext cx="8820490" cy="1323399"/>
          </a:xfrm>
          <a:prstGeom prst="rect">
            <a:avLst/>
          </a:prstGeom>
          <a:noFill/>
          <a:ln>
            <a:noFill/>
          </a:ln>
        </p:spPr>
        <p:txBody>
          <a:bodyPr spcFirstLastPara="1" wrap="square" lIns="91425" tIns="45700" rIns="91425" bIns="45700" anchor="t" anchorCtr="0">
            <a:spAutoFit/>
          </a:bodyPr>
          <a:lstStyle/>
          <a:p>
            <a:pPr marL="457200" indent="-457200">
              <a:buSzPct val="100000"/>
              <a:buFont typeface="+mj-lt"/>
              <a:buAutoNum type="arabicPeriod"/>
            </a:pPr>
            <a:r>
              <a:rPr lang="en-US" sz="2000" dirty="0">
                <a:latin typeface="Verdana"/>
                <a:ea typeface="Verdana"/>
                <a:cs typeface="Verdana"/>
                <a:sym typeface="Verdana"/>
              </a:rPr>
              <a:t>The table shows the beginning and ending elevations, in feet (ft), of six different hiking trails. The change in elevation along the trail can be found by subtracting the initial elevation from the final elevation.</a:t>
            </a:r>
            <a:endParaRPr sz="2000" dirty="0"/>
          </a:p>
        </p:txBody>
      </p:sp>
      <p:sp>
        <p:nvSpPr>
          <p:cNvPr id="241" name="Google Shape;241;p16"/>
          <p:cNvSpPr txBox="1"/>
          <p:nvPr/>
        </p:nvSpPr>
        <p:spPr>
          <a:xfrm>
            <a:off x="2730230" y="2480958"/>
            <a:ext cx="7322746" cy="461635"/>
          </a:xfrm>
          <a:prstGeom prst="rect">
            <a:avLst/>
          </a:prstGeom>
          <a:noFill/>
          <a:ln>
            <a:noFill/>
          </a:ln>
        </p:spPr>
        <p:txBody>
          <a:bodyPr spcFirstLastPara="1" wrap="square" lIns="91425" tIns="91425" rIns="91425" bIns="91425" anchor="t" anchorCtr="0">
            <a:spAutoFit/>
          </a:bodyPr>
          <a:lstStyle/>
          <a:p>
            <a:r>
              <a:rPr lang="en-US" sz="1800" i="1" dirty="0">
                <a:solidFill>
                  <a:schemeClr val="dk1"/>
                </a:solidFill>
                <a:latin typeface="Verdana"/>
                <a:ea typeface="Verdana"/>
                <a:cs typeface="Verdana"/>
                <a:sym typeface="Verdana"/>
              </a:rPr>
              <a:t>(final elevation) - (initial elevation) = (change in elevation)</a:t>
            </a:r>
            <a:endParaRPr sz="1800" i="1" dirty="0">
              <a:solidFill>
                <a:schemeClr val="dk1"/>
              </a:solidFill>
            </a:endParaRPr>
          </a:p>
        </p:txBody>
      </p:sp>
      <p:sp>
        <p:nvSpPr>
          <p:cNvPr id="242" name="Google Shape;242;p16"/>
          <p:cNvSpPr txBox="1"/>
          <p:nvPr/>
        </p:nvSpPr>
        <p:spPr>
          <a:xfrm>
            <a:off x="1938031" y="2919721"/>
            <a:ext cx="3705793" cy="2646848"/>
          </a:xfrm>
          <a:prstGeom prst="rect">
            <a:avLst/>
          </a:prstGeom>
          <a:noFill/>
          <a:ln>
            <a:noFill/>
          </a:ln>
        </p:spPr>
        <p:txBody>
          <a:bodyPr spcFirstLastPara="1" wrap="square" lIns="91425" tIns="91425" rIns="91425" bIns="91425" anchor="t" anchorCtr="0">
            <a:spAutoFit/>
          </a:bodyPr>
          <a:lstStyle/>
          <a:p>
            <a:pPr marL="457200" indent="-457200">
              <a:buFont typeface="+mj-lt"/>
              <a:buAutoNum type="alphaLcPeriod"/>
            </a:pPr>
            <a:r>
              <a:rPr lang="en-US" sz="2000" dirty="0">
                <a:latin typeface="Verdana"/>
                <a:ea typeface="Verdana"/>
                <a:cs typeface="Verdana"/>
                <a:sym typeface="Verdana"/>
              </a:rPr>
              <a:t>Write an expression that represents the change in elevation along each hiking trail. Then, write the value that represents the change in elevation. </a:t>
            </a:r>
            <a:endParaRPr sz="2000" dirty="0">
              <a:latin typeface="Verdana"/>
              <a:ea typeface="Verdana"/>
              <a:cs typeface="Verdana"/>
              <a:sym typeface="Verdana"/>
            </a:endParaRPr>
          </a:p>
          <a:p>
            <a:endParaRPr sz="2000" dirty="0">
              <a:latin typeface="Verdana"/>
              <a:ea typeface="Verdana"/>
              <a:cs typeface="Verdana"/>
              <a:sym typeface="Verdana"/>
            </a:endParaRPr>
          </a:p>
        </p:txBody>
      </p:sp>
      <p:graphicFrame>
        <p:nvGraphicFramePr>
          <p:cNvPr id="243" name="Google Shape;243;p16"/>
          <p:cNvGraphicFramePr/>
          <p:nvPr>
            <p:extLst>
              <p:ext uri="{D42A27DB-BD31-4B8C-83A1-F6EECF244321}">
                <p14:modId xmlns:p14="http://schemas.microsoft.com/office/powerpoint/2010/main" val="1582984249"/>
              </p:ext>
            </p:extLst>
          </p:nvPr>
        </p:nvGraphicFramePr>
        <p:xfrm>
          <a:off x="5555426" y="3162628"/>
          <a:ext cx="5061400" cy="2651550"/>
        </p:xfrm>
        <a:graphic>
          <a:graphicData uri="http://schemas.openxmlformats.org/drawingml/2006/table">
            <a:tbl>
              <a:tblPr>
                <a:noFill/>
                <a:tableStyleId>{5B734401-3CF1-4C9D-97DF-30852E556B94}</a:tableStyleId>
              </a:tblPr>
              <a:tblGrid>
                <a:gridCol w="1142575">
                  <a:extLst>
                    <a:ext uri="{9D8B030D-6E8A-4147-A177-3AD203B41FA5}">
                      <a16:colId xmlns:a16="http://schemas.microsoft.com/office/drawing/2014/main" val="20000"/>
                    </a:ext>
                  </a:extLst>
                </a:gridCol>
                <a:gridCol w="1256600">
                  <a:extLst>
                    <a:ext uri="{9D8B030D-6E8A-4147-A177-3AD203B41FA5}">
                      <a16:colId xmlns:a16="http://schemas.microsoft.com/office/drawing/2014/main" val="20001"/>
                    </a:ext>
                  </a:extLst>
                </a:gridCol>
                <a:gridCol w="1309200">
                  <a:extLst>
                    <a:ext uri="{9D8B030D-6E8A-4147-A177-3AD203B41FA5}">
                      <a16:colId xmlns:a16="http://schemas.microsoft.com/office/drawing/2014/main" val="20002"/>
                    </a:ext>
                  </a:extLst>
                </a:gridCol>
                <a:gridCol w="1353025">
                  <a:extLst>
                    <a:ext uri="{9D8B030D-6E8A-4147-A177-3AD203B41FA5}">
                      <a16:colId xmlns:a16="http://schemas.microsoft.com/office/drawing/2014/main" val="20003"/>
                    </a:ext>
                  </a:extLst>
                </a:gridCol>
              </a:tblGrid>
              <a:tr h="595500">
                <a:tc>
                  <a:txBody>
                    <a:bodyPr/>
                    <a:lstStyle/>
                    <a:p>
                      <a:pPr marL="0" lvl="0" indent="0" algn="ctr" rtl="0">
                        <a:spcBef>
                          <a:spcPts val="0"/>
                        </a:spcBef>
                        <a:spcAft>
                          <a:spcPts val="0"/>
                        </a:spcAft>
                        <a:buNone/>
                      </a:pPr>
                      <a:r>
                        <a:rPr lang="en-US" sz="1000" b="1">
                          <a:latin typeface="Verdana"/>
                          <a:ea typeface="Verdana"/>
                          <a:cs typeface="Verdana"/>
                          <a:sym typeface="Verdana"/>
                        </a:rPr>
                        <a:t>Initial Elevation (ft)</a:t>
                      </a:r>
                      <a:endParaRPr sz="1000" b="1">
                        <a:latin typeface="Verdana"/>
                        <a:ea typeface="Verdana"/>
                        <a:cs typeface="Verdana"/>
                        <a:sym typeface="Verdana"/>
                      </a:endParaRPr>
                    </a:p>
                  </a:txBody>
                  <a:tcPr marL="91425" marR="91425" marT="91425" marB="91425">
                    <a:solidFill>
                      <a:srgbClr val="CCCCCC"/>
                    </a:solidFill>
                  </a:tcPr>
                </a:tc>
                <a:tc>
                  <a:txBody>
                    <a:bodyPr/>
                    <a:lstStyle/>
                    <a:p>
                      <a:pPr marL="0" lvl="0" indent="0" algn="ctr" rtl="0">
                        <a:spcBef>
                          <a:spcPts val="0"/>
                        </a:spcBef>
                        <a:spcAft>
                          <a:spcPts val="0"/>
                        </a:spcAft>
                        <a:buNone/>
                      </a:pPr>
                      <a:r>
                        <a:rPr lang="en-US" sz="1000" b="1" dirty="0">
                          <a:latin typeface="Verdana"/>
                          <a:ea typeface="Verdana"/>
                          <a:cs typeface="Verdana"/>
                          <a:sym typeface="Verdana"/>
                        </a:rPr>
                        <a:t>Final Elevation (ft)</a:t>
                      </a:r>
                      <a:endParaRPr sz="1000" b="1" dirty="0">
                        <a:latin typeface="Verdana"/>
                        <a:ea typeface="Verdana"/>
                        <a:cs typeface="Verdana"/>
                        <a:sym typeface="Verdana"/>
                      </a:endParaRPr>
                    </a:p>
                  </a:txBody>
                  <a:tcPr marL="91425" marR="91425" marT="91425" marB="91425">
                    <a:solidFill>
                      <a:srgbClr val="CCCCCC"/>
                    </a:solidFill>
                  </a:tcPr>
                </a:tc>
                <a:tc>
                  <a:txBody>
                    <a:bodyPr/>
                    <a:lstStyle/>
                    <a:p>
                      <a:pPr marL="0" lvl="0" indent="0" algn="ctr" rtl="0">
                        <a:spcBef>
                          <a:spcPts val="0"/>
                        </a:spcBef>
                        <a:spcAft>
                          <a:spcPts val="0"/>
                        </a:spcAft>
                        <a:buNone/>
                      </a:pPr>
                      <a:r>
                        <a:rPr lang="en-US" sz="1000" b="1" dirty="0">
                          <a:latin typeface="Verdana"/>
                          <a:ea typeface="Verdana"/>
                          <a:cs typeface="Verdana"/>
                          <a:sym typeface="Verdana"/>
                        </a:rPr>
                        <a:t>Difference Between Final and Beginning</a:t>
                      </a:r>
                      <a:endParaRPr sz="1000" b="1" dirty="0">
                        <a:latin typeface="Verdana"/>
                        <a:ea typeface="Verdana"/>
                        <a:cs typeface="Verdana"/>
                        <a:sym typeface="Verdana"/>
                      </a:endParaRPr>
                    </a:p>
                  </a:txBody>
                  <a:tcPr marL="91425" marR="91425" marT="91425" marB="91425">
                    <a:solidFill>
                      <a:srgbClr val="CCCCCC"/>
                    </a:solidFill>
                  </a:tcPr>
                </a:tc>
                <a:tc>
                  <a:txBody>
                    <a:bodyPr/>
                    <a:lstStyle/>
                    <a:p>
                      <a:pPr marL="0" lvl="0" indent="0" algn="ctr" rtl="0">
                        <a:spcBef>
                          <a:spcPts val="0"/>
                        </a:spcBef>
                        <a:spcAft>
                          <a:spcPts val="0"/>
                        </a:spcAft>
                        <a:buNone/>
                      </a:pPr>
                      <a:r>
                        <a:rPr lang="en-US" sz="1000" b="1" dirty="0">
                          <a:latin typeface="Verdana"/>
                          <a:ea typeface="Verdana"/>
                          <a:cs typeface="Verdana"/>
                          <a:sym typeface="Verdana"/>
                        </a:rPr>
                        <a:t>Change in Elevation (ft)</a:t>
                      </a:r>
                      <a:endParaRPr sz="1000" b="1" dirty="0">
                        <a:latin typeface="Verdana"/>
                        <a:ea typeface="Verdana"/>
                        <a:cs typeface="Verdana"/>
                        <a:sym typeface="Verdana"/>
                      </a:endParaRPr>
                    </a:p>
                  </a:txBody>
                  <a:tcPr marL="91425" marR="91425" marT="91425" marB="91425">
                    <a:solidFill>
                      <a:srgbClr val="CCCCCC"/>
                    </a:solidFill>
                  </a:tcPr>
                </a:tc>
                <a:extLst>
                  <a:ext uri="{0D108BD9-81ED-4DB2-BD59-A6C34878D82A}">
                    <a16:rowId xmlns:a16="http://schemas.microsoft.com/office/drawing/2014/main" val="10000"/>
                  </a:ext>
                </a:extLst>
              </a:tr>
              <a:tr h="296325">
                <a:tc>
                  <a:txBody>
                    <a:bodyPr/>
                    <a:lstStyle/>
                    <a:p>
                      <a:pPr marL="0" lvl="0" indent="0" algn="ctr" rtl="0">
                        <a:spcBef>
                          <a:spcPts val="0"/>
                        </a:spcBef>
                        <a:spcAft>
                          <a:spcPts val="0"/>
                        </a:spcAft>
                        <a:buNone/>
                      </a:pPr>
                      <a:r>
                        <a:rPr lang="en-US" sz="1000">
                          <a:latin typeface="Verdana"/>
                          <a:ea typeface="Verdana"/>
                          <a:cs typeface="Verdana"/>
                          <a:sym typeface="Verdana"/>
                        </a:rPr>
                        <a:t>400</a:t>
                      </a:r>
                      <a:endParaRPr sz="100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r>
                        <a:rPr lang="en-US" sz="1000">
                          <a:latin typeface="Verdana"/>
                          <a:ea typeface="Verdana"/>
                          <a:cs typeface="Verdana"/>
                          <a:sym typeface="Verdana"/>
                        </a:rPr>
                        <a:t>900</a:t>
                      </a:r>
                      <a:endParaRPr sz="100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r>
                        <a:rPr lang="en-US" sz="1000">
                          <a:latin typeface="Verdana"/>
                          <a:ea typeface="Verdana"/>
                          <a:cs typeface="Verdana"/>
                          <a:sym typeface="Verdana"/>
                        </a:rPr>
                        <a:t>900 - 400</a:t>
                      </a:r>
                      <a:endParaRPr sz="100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r>
                        <a:rPr lang="en-US" sz="1000">
                          <a:latin typeface="Verdana"/>
                          <a:ea typeface="Verdana"/>
                          <a:cs typeface="Verdana"/>
                          <a:sym typeface="Verdana"/>
                        </a:rPr>
                        <a:t>500</a:t>
                      </a:r>
                      <a:endParaRPr sz="1000">
                        <a:latin typeface="Verdana"/>
                        <a:ea typeface="Verdana"/>
                        <a:cs typeface="Verdana"/>
                        <a:sym typeface="Verdana"/>
                      </a:endParaRPr>
                    </a:p>
                  </a:txBody>
                  <a:tcPr marL="91425" marR="91425" marT="91425" marB="91425"/>
                </a:tc>
                <a:extLst>
                  <a:ext uri="{0D108BD9-81ED-4DB2-BD59-A6C34878D82A}">
                    <a16:rowId xmlns:a16="http://schemas.microsoft.com/office/drawing/2014/main" val="10001"/>
                  </a:ext>
                </a:extLst>
              </a:tr>
              <a:tr h="296325">
                <a:tc>
                  <a:txBody>
                    <a:bodyPr/>
                    <a:lstStyle/>
                    <a:p>
                      <a:pPr marL="0" lvl="0" indent="0" algn="ctr" rtl="0">
                        <a:spcBef>
                          <a:spcPts val="0"/>
                        </a:spcBef>
                        <a:spcAft>
                          <a:spcPts val="0"/>
                        </a:spcAft>
                        <a:buNone/>
                      </a:pPr>
                      <a:r>
                        <a:rPr lang="en-US" sz="1000">
                          <a:latin typeface="Verdana"/>
                          <a:ea typeface="Verdana"/>
                          <a:cs typeface="Verdana"/>
                          <a:sym typeface="Verdana"/>
                        </a:rPr>
                        <a:t>115</a:t>
                      </a:r>
                      <a:endParaRPr sz="100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r>
                        <a:rPr lang="en-US" sz="1000">
                          <a:latin typeface="Verdana"/>
                          <a:ea typeface="Verdana"/>
                          <a:cs typeface="Verdana"/>
                          <a:sym typeface="Verdana"/>
                        </a:rPr>
                        <a:t>68</a:t>
                      </a:r>
                      <a:endParaRPr sz="100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endParaRPr sz="100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endParaRPr sz="1000">
                        <a:latin typeface="Verdana"/>
                        <a:ea typeface="Verdana"/>
                        <a:cs typeface="Verdana"/>
                        <a:sym typeface="Verdana"/>
                      </a:endParaRPr>
                    </a:p>
                  </a:txBody>
                  <a:tcPr marL="91425" marR="91425" marT="91425" marB="91425"/>
                </a:tc>
                <a:extLst>
                  <a:ext uri="{0D108BD9-81ED-4DB2-BD59-A6C34878D82A}">
                    <a16:rowId xmlns:a16="http://schemas.microsoft.com/office/drawing/2014/main" val="10002"/>
                  </a:ext>
                </a:extLst>
              </a:tr>
              <a:tr h="296325">
                <a:tc>
                  <a:txBody>
                    <a:bodyPr/>
                    <a:lstStyle/>
                    <a:p>
                      <a:pPr marL="0" lvl="0" indent="0" algn="ctr" rtl="0">
                        <a:spcBef>
                          <a:spcPts val="0"/>
                        </a:spcBef>
                        <a:spcAft>
                          <a:spcPts val="0"/>
                        </a:spcAft>
                        <a:buNone/>
                      </a:pPr>
                      <a:r>
                        <a:rPr lang="en-US" sz="1000">
                          <a:latin typeface="Verdana"/>
                          <a:ea typeface="Verdana"/>
                          <a:cs typeface="Verdana"/>
                          <a:sym typeface="Verdana"/>
                        </a:rPr>
                        <a:t>294</a:t>
                      </a:r>
                      <a:endParaRPr sz="100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r>
                        <a:rPr lang="en-US" sz="1000">
                          <a:latin typeface="Verdana"/>
                          <a:ea typeface="Verdana"/>
                          <a:cs typeface="Verdana"/>
                          <a:sym typeface="Verdana"/>
                        </a:rPr>
                        <a:t>-121</a:t>
                      </a:r>
                      <a:endParaRPr sz="100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endParaRPr sz="100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endParaRPr sz="1000">
                        <a:latin typeface="Verdana"/>
                        <a:ea typeface="Verdana"/>
                        <a:cs typeface="Verdana"/>
                        <a:sym typeface="Verdana"/>
                      </a:endParaRPr>
                    </a:p>
                  </a:txBody>
                  <a:tcPr marL="91425" marR="91425" marT="91425" marB="91425"/>
                </a:tc>
                <a:extLst>
                  <a:ext uri="{0D108BD9-81ED-4DB2-BD59-A6C34878D82A}">
                    <a16:rowId xmlns:a16="http://schemas.microsoft.com/office/drawing/2014/main" val="10003"/>
                  </a:ext>
                </a:extLst>
              </a:tr>
              <a:tr h="296325">
                <a:tc>
                  <a:txBody>
                    <a:bodyPr/>
                    <a:lstStyle/>
                    <a:p>
                      <a:pPr marL="0" lvl="0" indent="0" algn="ctr" rtl="0">
                        <a:spcBef>
                          <a:spcPts val="0"/>
                        </a:spcBef>
                        <a:spcAft>
                          <a:spcPts val="0"/>
                        </a:spcAft>
                        <a:buNone/>
                      </a:pPr>
                      <a:r>
                        <a:rPr lang="en-US" sz="1000">
                          <a:latin typeface="Verdana"/>
                          <a:ea typeface="Verdana"/>
                          <a:cs typeface="Verdana"/>
                          <a:sym typeface="Verdana"/>
                        </a:rPr>
                        <a:t>-200</a:t>
                      </a:r>
                      <a:endParaRPr sz="100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r>
                        <a:rPr lang="en-US" sz="1000">
                          <a:latin typeface="Verdana"/>
                          <a:ea typeface="Verdana"/>
                          <a:cs typeface="Verdana"/>
                          <a:sym typeface="Verdana"/>
                        </a:rPr>
                        <a:t>610</a:t>
                      </a:r>
                      <a:endParaRPr sz="100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endParaRPr sz="100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endParaRPr sz="1000">
                        <a:latin typeface="Verdana"/>
                        <a:ea typeface="Verdana"/>
                        <a:cs typeface="Verdana"/>
                        <a:sym typeface="Verdana"/>
                      </a:endParaRPr>
                    </a:p>
                  </a:txBody>
                  <a:tcPr marL="91425" marR="91425" marT="91425" marB="91425"/>
                </a:tc>
                <a:extLst>
                  <a:ext uri="{0D108BD9-81ED-4DB2-BD59-A6C34878D82A}">
                    <a16:rowId xmlns:a16="http://schemas.microsoft.com/office/drawing/2014/main" val="10004"/>
                  </a:ext>
                </a:extLst>
              </a:tr>
              <a:tr h="296325">
                <a:tc>
                  <a:txBody>
                    <a:bodyPr/>
                    <a:lstStyle/>
                    <a:p>
                      <a:pPr marL="0" lvl="0" indent="0" algn="ctr" rtl="0">
                        <a:spcBef>
                          <a:spcPts val="0"/>
                        </a:spcBef>
                        <a:spcAft>
                          <a:spcPts val="0"/>
                        </a:spcAft>
                        <a:buNone/>
                      </a:pPr>
                      <a:r>
                        <a:rPr lang="en-US" sz="1000">
                          <a:latin typeface="Verdana"/>
                          <a:ea typeface="Verdana"/>
                          <a:cs typeface="Verdana"/>
                          <a:sym typeface="Verdana"/>
                        </a:rPr>
                        <a:t>-163</a:t>
                      </a:r>
                      <a:endParaRPr sz="100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r>
                        <a:rPr lang="en-US" sz="1000">
                          <a:latin typeface="Verdana"/>
                          <a:ea typeface="Verdana"/>
                          <a:cs typeface="Verdana"/>
                          <a:sym typeface="Verdana"/>
                        </a:rPr>
                        <a:t>-57</a:t>
                      </a:r>
                      <a:endParaRPr sz="100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endParaRPr sz="100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endParaRPr sz="1000">
                        <a:latin typeface="Verdana"/>
                        <a:ea typeface="Verdana"/>
                        <a:cs typeface="Verdana"/>
                        <a:sym typeface="Verdana"/>
                      </a:endParaRPr>
                    </a:p>
                  </a:txBody>
                  <a:tcPr marL="91425" marR="91425" marT="91425" marB="91425"/>
                </a:tc>
                <a:extLst>
                  <a:ext uri="{0D108BD9-81ED-4DB2-BD59-A6C34878D82A}">
                    <a16:rowId xmlns:a16="http://schemas.microsoft.com/office/drawing/2014/main" val="10005"/>
                  </a:ext>
                </a:extLst>
              </a:tr>
              <a:tr h="296325">
                <a:tc>
                  <a:txBody>
                    <a:bodyPr/>
                    <a:lstStyle/>
                    <a:p>
                      <a:pPr marL="0" lvl="0" indent="0" algn="ctr" rtl="0">
                        <a:spcBef>
                          <a:spcPts val="0"/>
                        </a:spcBef>
                        <a:spcAft>
                          <a:spcPts val="0"/>
                        </a:spcAft>
                        <a:buNone/>
                      </a:pPr>
                      <a:r>
                        <a:rPr lang="en-US" sz="1000">
                          <a:latin typeface="Verdana"/>
                          <a:ea typeface="Verdana"/>
                          <a:cs typeface="Verdana"/>
                          <a:sym typeface="Verdana"/>
                        </a:rPr>
                        <a:t>-17</a:t>
                      </a:r>
                      <a:endParaRPr sz="100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r>
                        <a:rPr lang="en-US" sz="1000">
                          <a:latin typeface="Verdana"/>
                          <a:ea typeface="Verdana"/>
                          <a:cs typeface="Verdana"/>
                          <a:sym typeface="Verdana"/>
                        </a:rPr>
                        <a:t>-87</a:t>
                      </a:r>
                      <a:endParaRPr sz="100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endParaRPr sz="1000" dirty="0">
                        <a:latin typeface="Verdana"/>
                        <a:ea typeface="Verdana"/>
                        <a:cs typeface="Verdana"/>
                        <a:sym typeface="Verdana"/>
                      </a:endParaRPr>
                    </a:p>
                  </a:txBody>
                  <a:tcPr marL="91425" marR="91425" marT="91425" marB="91425"/>
                </a:tc>
                <a:tc>
                  <a:txBody>
                    <a:bodyPr/>
                    <a:lstStyle/>
                    <a:p>
                      <a:pPr marL="0" lvl="0" indent="0" algn="ctr" rtl="0">
                        <a:spcBef>
                          <a:spcPts val="0"/>
                        </a:spcBef>
                        <a:spcAft>
                          <a:spcPts val="0"/>
                        </a:spcAft>
                        <a:buNone/>
                      </a:pPr>
                      <a:endParaRPr sz="1000" dirty="0">
                        <a:latin typeface="Verdana"/>
                        <a:ea typeface="Verdana"/>
                        <a:cs typeface="Verdana"/>
                        <a:sym typeface="Verdana"/>
                      </a:endParaRPr>
                    </a:p>
                  </a:txBody>
                  <a:tcPr marL="91425" marR="91425" marT="91425" marB="91425"/>
                </a:tc>
                <a:extLst>
                  <a:ext uri="{0D108BD9-81ED-4DB2-BD59-A6C34878D82A}">
                    <a16:rowId xmlns:a16="http://schemas.microsoft.com/office/drawing/2014/main" val="10006"/>
                  </a:ext>
                </a:extLst>
              </a:tr>
            </a:tbl>
          </a:graphicData>
        </a:graphic>
      </p:graphicFrame>
      <p:sp>
        <p:nvSpPr>
          <p:cNvPr id="244" name="Google Shape;244;p16"/>
          <p:cNvSpPr txBox="1"/>
          <p:nvPr/>
        </p:nvSpPr>
        <p:spPr>
          <a:xfrm>
            <a:off x="1932451" y="5814179"/>
            <a:ext cx="7274861" cy="800189"/>
          </a:xfrm>
          <a:prstGeom prst="rect">
            <a:avLst/>
          </a:prstGeom>
          <a:noFill/>
          <a:ln>
            <a:noFill/>
          </a:ln>
        </p:spPr>
        <p:txBody>
          <a:bodyPr spcFirstLastPara="1" wrap="square" lIns="91425" tIns="91425" rIns="91425" bIns="91425" anchor="t" anchorCtr="0">
            <a:spAutoFit/>
          </a:bodyPr>
          <a:lstStyle/>
          <a:p>
            <a:pPr marL="342900" indent="-342900">
              <a:buFont typeface="+mj-lt"/>
              <a:buAutoNum type="alphaLcPeriod" startAt="2"/>
            </a:pPr>
            <a:r>
              <a:rPr lang="en-US" sz="2000" dirty="0">
                <a:latin typeface="Verdana"/>
                <a:ea typeface="Verdana"/>
                <a:cs typeface="Verdana"/>
                <a:sym typeface="Verdana"/>
              </a:rPr>
              <a:t>Explain what a negative change in elevation means in this context. </a:t>
            </a:r>
            <a:endParaRPr sz="2000" dirty="0">
              <a:latin typeface="Verdana"/>
              <a:ea typeface="Verdana"/>
              <a:cs typeface="Verdana"/>
              <a:sym typeface="Verdana"/>
            </a:endParaRPr>
          </a:p>
        </p:txBody>
      </p:sp>
      <p:sp>
        <p:nvSpPr>
          <p:cNvPr id="13" name="TextBox 12">
            <a:extLst>
              <a:ext uri="{FF2B5EF4-FFF2-40B4-BE49-F238E27FC236}">
                <a16:creationId xmlns:a16="http://schemas.microsoft.com/office/drawing/2014/main" id="{9201659E-B114-4B1A-A4EF-CB17AF626012}"/>
              </a:ext>
            </a:extLst>
          </p:cNvPr>
          <p:cNvSpPr txBox="1"/>
          <p:nvPr/>
        </p:nvSpPr>
        <p:spPr>
          <a:xfrm>
            <a:off x="2392216" y="5229404"/>
            <a:ext cx="3005523" cy="584775"/>
          </a:xfrm>
          <a:prstGeom prst="rect">
            <a:avLst/>
          </a:prstGeom>
          <a:noFill/>
        </p:spPr>
        <p:txBody>
          <a:bodyPr wrap="square">
            <a:spAutoFit/>
          </a:bodyPr>
          <a:lstStyle/>
          <a:p>
            <a:r>
              <a:rPr lang="en-US" sz="1600" dirty="0">
                <a:latin typeface="Verdana"/>
                <a:ea typeface="Verdana"/>
                <a:cs typeface="Verdana"/>
                <a:sym typeface="Verdana"/>
              </a:rPr>
              <a:t>The first row has been completed as an example.</a:t>
            </a:r>
            <a:endParaRPr lang="en-US" sz="1600" dirty="0"/>
          </a:p>
        </p:txBody>
      </p:sp>
      <p:sp>
        <p:nvSpPr>
          <p:cNvPr id="14" name="Google Shape;125;g104476d1465_1_17"/>
          <p:cNvSpPr txBox="1"/>
          <p:nvPr/>
        </p:nvSpPr>
        <p:spPr>
          <a:xfrm>
            <a:off x="86990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271</a:t>
            </a:r>
            <a:endParaRPr i="1" dirty="0">
              <a:latin typeface="Calibri"/>
              <a:ea typeface="Calibri"/>
              <a:cs typeface="Calibri"/>
              <a:sym typeface="Calibri"/>
            </a:endParaRPr>
          </a:p>
        </p:txBody>
      </p:sp>
      <p:pic>
        <p:nvPicPr>
          <p:cNvPr id="15"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372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7"/>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53" name="Google Shape;253;p17"/>
          <p:cNvSpPr txBox="1"/>
          <p:nvPr/>
        </p:nvSpPr>
        <p:spPr>
          <a:xfrm>
            <a:off x="1524000" y="520393"/>
            <a:ext cx="9294630" cy="3786600"/>
          </a:xfrm>
          <a:prstGeom prst="rect">
            <a:avLst/>
          </a:prstGeom>
          <a:noFill/>
          <a:ln>
            <a:noFill/>
          </a:ln>
        </p:spPr>
        <p:txBody>
          <a:bodyPr spcFirstLastPara="1" wrap="square" lIns="91425" tIns="45700" rIns="91425" bIns="45700" anchor="t" anchorCtr="0">
            <a:spAutoFit/>
          </a:bodyPr>
          <a:lstStyle/>
          <a:p>
            <a:pPr>
              <a:buSzPts val="2400"/>
            </a:pPr>
            <a:r>
              <a:rPr lang="en-US" sz="2400" dirty="0">
                <a:latin typeface="Verdana"/>
                <a:ea typeface="Verdana"/>
                <a:cs typeface="Verdana"/>
                <a:sym typeface="Verdana"/>
              </a:rPr>
              <a:t>2. Find each difference.</a:t>
            </a: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a:buSzPts val="2400"/>
            </a:pPr>
            <a:r>
              <a:rPr lang="en-US" sz="2400" dirty="0">
                <a:latin typeface="Verdana"/>
                <a:ea typeface="Verdana"/>
                <a:cs typeface="Verdana"/>
                <a:sym typeface="Verdana"/>
              </a:rPr>
              <a:t>    a. −664 − 231 </a:t>
            </a: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a:buSzPts val="2400"/>
            </a:pPr>
            <a:endParaRPr sz="2400" dirty="0">
              <a:latin typeface="Verdana"/>
              <a:ea typeface="Verdana"/>
              <a:cs typeface="Verdana"/>
              <a:sym typeface="Verdana"/>
            </a:endParaRPr>
          </a:p>
          <a:p>
            <a:pPr>
              <a:buSzPts val="2400"/>
            </a:pPr>
            <a:r>
              <a:rPr lang="en-US" sz="2400" dirty="0">
                <a:latin typeface="Verdana"/>
                <a:ea typeface="Verdana"/>
                <a:cs typeface="Verdana"/>
                <a:sym typeface="Verdana"/>
              </a:rPr>
              <a:t>    b. 109 − (−115)</a:t>
            </a:r>
            <a:endParaRPr dirty="0"/>
          </a:p>
        </p:txBody>
      </p:sp>
      <p:sp>
        <p:nvSpPr>
          <p:cNvPr id="6" name="Google Shape;125;g104476d1465_1_17"/>
          <p:cNvSpPr txBox="1"/>
          <p:nvPr/>
        </p:nvSpPr>
        <p:spPr>
          <a:xfrm>
            <a:off x="86990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272</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372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0"/>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61" name="Google Shape;261;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262" name="Google Shape;262;p30"/>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990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272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372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1"/>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71" name="Google Shape;271;p31"/>
          <p:cNvSpPr txBox="1"/>
          <p:nvPr/>
        </p:nvSpPr>
        <p:spPr>
          <a:xfrm>
            <a:off x="1446938" y="154812"/>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a:solidFill>
                  <a:srgbClr val="E24E5F"/>
                </a:solidFill>
                <a:latin typeface="Verdana"/>
                <a:ea typeface="Verdana"/>
                <a:cs typeface="Verdana"/>
                <a:sym typeface="Verdana"/>
              </a:rPr>
              <a:t>6.8.4 Your Turn!</a:t>
            </a:r>
            <a:endParaRPr/>
          </a:p>
        </p:txBody>
      </p:sp>
      <p:pic>
        <p:nvPicPr>
          <p:cNvPr id="272" name="Google Shape;272;p31"/>
          <p:cNvPicPr preferRelativeResize="0"/>
          <p:nvPr/>
        </p:nvPicPr>
        <p:blipFill rotWithShape="1">
          <a:blip r:embed="rId3">
            <a:alphaModFix/>
          </a:blip>
          <a:srcRect/>
          <a:stretch/>
        </p:blipFill>
        <p:spPr>
          <a:xfrm>
            <a:off x="699638" y="154812"/>
            <a:ext cx="747300" cy="747300"/>
          </a:xfrm>
          <a:prstGeom prst="rect">
            <a:avLst/>
          </a:prstGeom>
          <a:noFill/>
          <a:ln>
            <a:noFill/>
          </a:ln>
        </p:spPr>
      </p:pic>
      <p:sp>
        <p:nvSpPr>
          <p:cNvPr id="274" name="Google Shape;274;p31"/>
          <p:cNvSpPr txBox="1"/>
          <p:nvPr/>
        </p:nvSpPr>
        <p:spPr>
          <a:xfrm>
            <a:off x="1932448" y="1196275"/>
            <a:ext cx="8327100" cy="400200"/>
          </a:xfrm>
          <a:prstGeom prst="rect">
            <a:avLst/>
          </a:prstGeom>
          <a:noFill/>
          <a:ln>
            <a:noFill/>
          </a:ln>
        </p:spPr>
        <p:txBody>
          <a:bodyPr spcFirstLastPara="1" wrap="square" lIns="91425" tIns="45700" rIns="91425" bIns="45700" anchor="t" anchorCtr="0">
            <a:spAutoFit/>
          </a:bodyPr>
          <a:lstStyle/>
          <a:p>
            <a:pPr>
              <a:buSzPts val="2400"/>
            </a:pPr>
            <a:r>
              <a:rPr lang="en-US" sz="2000">
                <a:latin typeface="Verdana"/>
                <a:ea typeface="Verdana"/>
                <a:cs typeface="Verdana"/>
                <a:sym typeface="Verdana"/>
              </a:rPr>
              <a:t>1. Evaluate each expression.</a:t>
            </a:r>
            <a:endParaRPr sz="1000"/>
          </a:p>
        </p:txBody>
      </p:sp>
      <p:sp>
        <p:nvSpPr>
          <p:cNvPr id="275" name="Google Shape;275;p31"/>
          <p:cNvSpPr txBox="1"/>
          <p:nvPr/>
        </p:nvSpPr>
        <p:spPr>
          <a:xfrm>
            <a:off x="2519850" y="1943575"/>
            <a:ext cx="3223800" cy="4094400"/>
          </a:xfrm>
          <a:prstGeom prst="rect">
            <a:avLst/>
          </a:prstGeom>
          <a:noFill/>
          <a:ln>
            <a:noFill/>
          </a:ln>
        </p:spPr>
        <p:txBody>
          <a:bodyPr spcFirstLastPara="1" wrap="square" lIns="91425" tIns="45700" rIns="91425" bIns="45700" anchor="t" anchorCtr="0">
            <a:spAutoFit/>
          </a:bodyPr>
          <a:lstStyle/>
          <a:p>
            <a:pPr>
              <a:buSzPts val="2400"/>
            </a:pPr>
            <a:r>
              <a:rPr lang="en-US" sz="2000">
                <a:latin typeface="Verdana"/>
                <a:ea typeface="Verdana"/>
                <a:cs typeface="Verdana"/>
                <a:sym typeface="Verdana"/>
              </a:rPr>
              <a:t>a. </a:t>
            </a:r>
            <a:r>
              <a:rPr lang="en-US" sz="2000" dirty="0">
                <a:latin typeface="Verdana"/>
                <a:ea typeface="Verdana"/>
                <a:cs typeface="Verdana"/>
                <a:sym typeface="Verdana"/>
              </a:rPr>
              <a:t>740 − (−171)</a:t>
            </a: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r>
              <a:rPr lang="en-US" sz="2000" dirty="0">
                <a:latin typeface="Verdana"/>
                <a:ea typeface="Verdana"/>
                <a:cs typeface="Verdana"/>
                <a:sym typeface="Verdana"/>
              </a:rPr>
              <a:t>c. −738 − (−212)</a:t>
            </a: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r>
              <a:rPr lang="en-US" sz="2000" dirty="0">
                <a:latin typeface="Verdana"/>
                <a:ea typeface="Verdana"/>
                <a:cs typeface="Verdana"/>
                <a:sym typeface="Verdana"/>
              </a:rPr>
              <a:t>e. −877 − 814</a:t>
            </a: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r>
              <a:rPr lang="en-US" sz="2000" dirty="0">
                <a:latin typeface="Verdana"/>
                <a:ea typeface="Verdana"/>
                <a:cs typeface="Verdana"/>
                <a:sym typeface="Verdana"/>
              </a:rPr>
              <a:t>g. 157 − (−120)</a:t>
            </a:r>
            <a:endParaRPr sz="2000" dirty="0">
              <a:latin typeface="Verdana"/>
              <a:ea typeface="Verdana"/>
              <a:cs typeface="Verdana"/>
              <a:sym typeface="Verdana"/>
            </a:endParaRPr>
          </a:p>
        </p:txBody>
      </p:sp>
      <p:sp>
        <p:nvSpPr>
          <p:cNvPr id="276" name="Google Shape;276;p31"/>
          <p:cNvSpPr txBox="1"/>
          <p:nvPr/>
        </p:nvSpPr>
        <p:spPr>
          <a:xfrm>
            <a:off x="6804058" y="1890698"/>
            <a:ext cx="3223800" cy="4094400"/>
          </a:xfrm>
          <a:prstGeom prst="rect">
            <a:avLst/>
          </a:prstGeom>
          <a:noFill/>
          <a:ln>
            <a:noFill/>
          </a:ln>
        </p:spPr>
        <p:txBody>
          <a:bodyPr spcFirstLastPara="1" wrap="square" lIns="91425" tIns="45700" rIns="91425" bIns="45700" anchor="t" anchorCtr="0">
            <a:spAutoFit/>
          </a:bodyPr>
          <a:lstStyle/>
          <a:p>
            <a:pPr>
              <a:buSzPts val="2400"/>
            </a:pPr>
            <a:r>
              <a:rPr lang="en-US" sz="2000" dirty="0">
                <a:latin typeface="Verdana"/>
                <a:ea typeface="Verdana"/>
                <a:cs typeface="Verdana"/>
                <a:sym typeface="Verdana"/>
              </a:rPr>
              <a:t>b. 569 − 143</a:t>
            </a: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r>
              <a:rPr lang="en-US" sz="2000" dirty="0">
                <a:latin typeface="Verdana"/>
                <a:ea typeface="Verdana"/>
                <a:cs typeface="Verdana"/>
                <a:sym typeface="Verdana"/>
              </a:rPr>
              <a:t>d. 333 − (−204)</a:t>
            </a: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r>
              <a:rPr lang="en-US" sz="2000" dirty="0">
                <a:latin typeface="Verdana"/>
                <a:ea typeface="Verdana"/>
                <a:cs typeface="Verdana"/>
                <a:sym typeface="Verdana"/>
              </a:rPr>
              <a:t>f. −691 − 293</a:t>
            </a: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r>
              <a:rPr lang="en-US" sz="2000" dirty="0">
                <a:latin typeface="Verdana"/>
                <a:ea typeface="Verdana"/>
                <a:cs typeface="Verdana"/>
                <a:sym typeface="Verdana"/>
              </a:rPr>
              <a:t>h. 341 − (−504)</a:t>
            </a:r>
            <a:endParaRPr sz="2000" dirty="0">
              <a:latin typeface="Verdana"/>
              <a:ea typeface="Verdana"/>
              <a:cs typeface="Verdana"/>
              <a:sym typeface="Verdana"/>
            </a:endParaRPr>
          </a:p>
        </p:txBody>
      </p:sp>
      <p:sp>
        <p:nvSpPr>
          <p:cNvPr id="10" name="Google Shape;125;g104476d1465_1_17"/>
          <p:cNvSpPr txBox="1"/>
          <p:nvPr/>
        </p:nvSpPr>
        <p:spPr>
          <a:xfrm>
            <a:off x="86990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272</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372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3"/>
          <p:cNvSpPr/>
          <p:nvPr/>
        </p:nvSpPr>
        <p:spPr>
          <a:xfrm>
            <a:off x="0" y="-8226"/>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85" name="Google Shape;285;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286" name="Google Shape;286;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990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273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372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4"/>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95" name="Google Shape;295;p34"/>
          <p:cNvSpPr txBox="1"/>
          <p:nvPr/>
        </p:nvSpPr>
        <p:spPr>
          <a:xfrm>
            <a:off x="1488013" y="9869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F2A67"/>
                </a:solidFill>
                <a:latin typeface="Verdana"/>
                <a:ea typeface="Verdana"/>
                <a:cs typeface="Verdana"/>
                <a:sym typeface="Verdana"/>
              </a:rPr>
              <a:t>6.8.5 Wrap-Up: Ticket Out the Door</a:t>
            </a:r>
            <a:endParaRPr/>
          </a:p>
        </p:txBody>
      </p:sp>
      <p:pic>
        <p:nvPicPr>
          <p:cNvPr id="296" name="Google Shape;296;p34"/>
          <p:cNvPicPr preferRelativeResize="0"/>
          <p:nvPr/>
        </p:nvPicPr>
        <p:blipFill rotWithShape="1">
          <a:blip r:embed="rId3">
            <a:alphaModFix/>
          </a:blip>
          <a:srcRect/>
          <a:stretch/>
        </p:blipFill>
        <p:spPr>
          <a:xfrm>
            <a:off x="658563" y="273259"/>
            <a:ext cx="747300" cy="747300"/>
          </a:xfrm>
          <a:prstGeom prst="rect">
            <a:avLst/>
          </a:prstGeom>
          <a:noFill/>
          <a:ln>
            <a:noFill/>
          </a:ln>
          <a:effectLst>
            <a:outerShdw blurRad="50800" dist="38100" dir="2700000" algn="tl" rotWithShape="0">
              <a:srgbClr val="000000">
                <a:alpha val="40000"/>
              </a:srgbClr>
            </a:outerShdw>
          </a:effectLst>
        </p:spPr>
      </p:pic>
      <p:sp>
        <p:nvSpPr>
          <p:cNvPr id="297" name="Google Shape;297;p34"/>
          <p:cNvSpPr txBox="1"/>
          <p:nvPr/>
        </p:nvSpPr>
        <p:spPr>
          <a:xfrm>
            <a:off x="1488013" y="1386026"/>
            <a:ext cx="8899571" cy="461665"/>
          </a:xfrm>
          <a:prstGeom prst="rect">
            <a:avLst/>
          </a:prstGeom>
          <a:noFill/>
          <a:ln>
            <a:noFill/>
          </a:ln>
        </p:spPr>
        <p:txBody>
          <a:bodyPr spcFirstLastPara="1" wrap="square" lIns="91425" tIns="45700" rIns="91425" bIns="45700" anchor="t" anchorCtr="0">
            <a:spAutoFit/>
          </a:bodyPr>
          <a:lstStyle/>
          <a:p>
            <a:pPr>
              <a:buSzPts val="2400"/>
            </a:pPr>
            <a:r>
              <a:rPr lang="en-US" sz="2400" dirty="0">
                <a:latin typeface="Verdana"/>
                <a:ea typeface="Verdana"/>
                <a:cs typeface="Verdana"/>
                <a:sym typeface="Verdana"/>
              </a:rPr>
              <a:t>1. Evaluate each expression.</a:t>
            </a:r>
            <a:endParaRPr dirty="0"/>
          </a:p>
        </p:txBody>
      </p:sp>
      <p:sp>
        <p:nvSpPr>
          <p:cNvPr id="298" name="Google Shape;298;p34"/>
          <p:cNvSpPr txBox="1"/>
          <p:nvPr/>
        </p:nvSpPr>
        <p:spPr>
          <a:xfrm>
            <a:off x="2519850" y="2382446"/>
            <a:ext cx="3000000" cy="554100"/>
          </a:xfrm>
          <a:prstGeom prst="rect">
            <a:avLst/>
          </a:prstGeom>
          <a:noFill/>
          <a:ln>
            <a:noFill/>
          </a:ln>
        </p:spPr>
        <p:txBody>
          <a:bodyPr spcFirstLastPara="1" wrap="square" lIns="91425" tIns="91425" rIns="91425" bIns="91425" anchor="t" anchorCtr="0">
            <a:spAutoFit/>
          </a:bodyPr>
          <a:lstStyle/>
          <a:p>
            <a:r>
              <a:rPr lang="en-US" sz="2400" dirty="0">
                <a:latin typeface="Verdana"/>
                <a:ea typeface="Verdana"/>
                <a:cs typeface="Verdana"/>
                <a:sym typeface="Verdana"/>
              </a:rPr>
              <a:t>a. 447 − (−702)</a:t>
            </a:r>
            <a:endParaRPr sz="2400" dirty="0">
              <a:latin typeface="Verdana"/>
              <a:ea typeface="Verdana"/>
              <a:cs typeface="Verdana"/>
              <a:sym typeface="Verdana"/>
            </a:endParaRPr>
          </a:p>
        </p:txBody>
      </p:sp>
      <p:sp>
        <p:nvSpPr>
          <p:cNvPr id="299" name="Google Shape;299;p34"/>
          <p:cNvSpPr txBox="1"/>
          <p:nvPr/>
        </p:nvSpPr>
        <p:spPr>
          <a:xfrm>
            <a:off x="2519850" y="4680425"/>
            <a:ext cx="3000000" cy="554100"/>
          </a:xfrm>
          <a:prstGeom prst="rect">
            <a:avLst/>
          </a:prstGeom>
          <a:noFill/>
          <a:ln>
            <a:noFill/>
          </a:ln>
        </p:spPr>
        <p:txBody>
          <a:bodyPr spcFirstLastPara="1" wrap="square" lIns="91425" tIns="91425" rIns="91425" bIns="91425" anchor="t" anchorCtr="0">
            <a:spAutoFit/>
          </a:bodyPr>
          <a:lstStyle/>
          <a:p>
            <a:r>
              <a:rPr lang="en-US" sz="2400">
                <a:latin typeface="Verdana"/>
                <a:ea typeface="Verdana"/>
                <a:cs typeface="Verdana"/>
                <a:sym typeface="Verdana"/>
              </a:rPr>
              <a:t>c. −309 − 525</a:t>
            </a:r>
            <a:endParaRPr/>
          </a:p>
        </p:txBody>
      </p:sp>
      <p:sp>
        <p:nvSpPr>
          <p:cNvPr id="300" name="Google Shape;300;p34"/>
          <p:cNvSpPr txBox="1"/>
          <p:nvPr/>
        </p:nvSpPr>
        <p:spPr>
          <a:xfrm>
            <a:off x="6701400" y="2394425"/>
            <a:ext cx="3000000" cy="554100"/>
          </a:xfrm>
          <a:prstGeom prst="rect">
            <a:avLst/>
          </a:prstGeom>
          <a:noFill/>
          <a:ln>
            <a:noFill/>
          </a:ln>
        </p:spPr>
        <p:txBody>
          <a:bodyPr spcFirstLastPara="1" wrap="square" lIns="91425" tIns="91425" rIns="91425" bIns="91425" anchor="t" anchorCtr="0">
            <a:spAutoFit/>
          </a:bodyPr>
          <a:lstStyle/>
          <a:p>
            <a:r>
              <a:rPr lang="en-US" sz="2400">
                <a:latin typeface="Verdana"/>
                <a:ea typeface="Verdana"/>
                <a:cs typeface="Verdana"/>
                <a:sym typeface="Verdana"/>
              </a:rPr>
              <a:t>b. −834 − (−610)</a:t>
            </a:r>
            <a:endParaRPr/>
          </a:p>
        </p:txBody>
      </p:sp>
      <p:sp>
        <p:nvSpPr>
          <p:cNvPr id="11" name="Google Shape;125;g104476d1465_1_17"/>
          <p:cNvSpPr txBox="1"/>
          <p:nvPr/>
        </p:nvSpPr>
        <p:spPr>
          <a:xfrm>
            <a:off x="86990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273</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372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844</Words>
  <Application>Microsoft Office PowerPoint</Application>
  <PresentationFormat>Widescreen</PresentationFormat>
  <Paragraphs>152</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Arial Black</vt:lpstr>
      <vt:lpstr>Calibri</vt:lpstr>
      <vt:lpstr>Century Gothic</vt:lpstr>
      <vt:lpstr>Verdana</vt:lpstr>
      <vt:lpstr>1_Office Theme</vt:lpstr>
      <vt:lpstr>6th Grade Accelerated Math  Unit 6, Lesson 8  Integer Subtraction  Volume 1, pg. 269  </vt:lpstr>
      <vt:lpstr>Benchmark</vt:lpstr>
      <vt:lpstr>PowerPoint Presentation</vt:lpstr>
      <vt:lpstr>PowerPoint Presentation</vt:lpstr>
      <vt:lpstr>Warm-Up</vt:lpstr>
      <vt:lpstr>PowerPoint Presentation</vt:lpstr>
      <vt:lpstr>Guided Practice</vt:lpstr>
      <vt:lpstr>PowerPoint Presentation</vt:lpstr>
      <vt:lpstr>PowerPoint Presentation</vt:lpstr>
      <vt:lpstr>PowerPoint Presentation</vt:lpstr>
      <vt:lpstr>Try It</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Accelerated Math  Unit 6, Lesson 8  Integer Subtraction  Volume 1, pg. 269  </dc:title>
  <dc:creator>Karen McKenzie</dc:creator>
  <cp:lastModifiedBy>Cassie O'Connor</cp:lastModifiedBy>
  <cp:revision>5</cp:revision>
  <dcterms:created xsi:type="dcterms:W3CDTF">2015-03-17T18:51:18Z</dcterms:created>
  <dcterms:modified xsi:type="dcterms:W3CDTF">2022-06-29T19:07:47Z</dcterms:modified>
</cp:coreProperties>
</file>