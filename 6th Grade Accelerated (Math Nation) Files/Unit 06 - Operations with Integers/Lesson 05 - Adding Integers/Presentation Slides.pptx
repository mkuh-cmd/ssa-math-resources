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jfCwtxtiKs0JOwKLdQFTouBiss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95"/>
  </p:normalViewPr>
  <p:slideViewPr>
    <p:cSldViewPr snapToGrid="0">
      <p:cViewPr varScale="1">
        <p:scale>
          <a:sx n="101" d="100"/>
          <a:sy n="101" d="100"/>
        </p:scale>
        <p:origin x="208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43" Type="http://customschemas.google.com/relationships/presentationmetadata" Target="meta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53a864c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153a864c8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1153a864c87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53a864c8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153a864c87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1153a864c87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53a864c8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153a864c8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1153a864c87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53a864c8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1153a864c87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g1153a864c87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5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Integers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254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5" name="Google Shape;115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03" y="1692057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52050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550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52050" y="1600200"/>
            <a:ext cx="87587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MA.6.NSO.4.1</a:t>
            </a:r>
            <a:endParaRPr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Apply and extend previous understandings of operations with whole numbers to add and subtract integers with procedural fluency.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250" y="3596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639900" y="1169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739900" y="1596390"/>
            <a:ext cx="93000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494819" y="2580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657" y="31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715438" y="1600200"/>
            <a:ext cx="87611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buClr>
                <a:srgbClr val="434343"/>
              </a:buClr>
              <a:buSzPts val="2800"/>
              <a:buFont typeface="Verdana"/>
              <a:buChar char="❏"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add integers with procedural fluency.</a:t>
            </a:r>
            <a:endParaRPr sz="700"/>
          </a:p>
          <a:p>
            <a:pPr marL="457200"/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241813" y="-110034"/>
            <a:ext cx="91768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6.5.1 Warm-Up: True Equations</a:t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513" y="16682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1241813" y="1386025"/>
            <a:ext cx="996437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Using integers between −3 and 3 one time each, fill in the blanks to make the equation true.</a:t>
            </a:r>
            <a:endParaRPr dirty="0"/>
          </a:p>
        </p:txBody>
      </p:sp>
      <p:pic>
        <p:nvPicPr>
          <p:cNvPr id="171" name="Google Shape;17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266" y="2761975"/>
            <a:ext cx="5865465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9" name="Google Shape;179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355914" y="0"/>
            <a:ext cx="97049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6.5.2 Exploration: Additive Inverses</a:t>
            </a:r>
            <a:endParaRPr/>
          </a:p>
        </p:txBody>
      </p:sp>
      <p:pic>
        <p:nvPicPr>
          <p:cNvPr id="191" name="Google Shape;191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616" y="248125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2" name="Google Shape;192;p10"/>
          <p:cNvSpPr txBox="1"/>
          <p:nvPr/>
        </p:nvSpPr>
        <p:spPr>
          <a:xfrm>
            <a:off x="1283700" y="1386025"/>
            <a:ext cx="9880596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the number line to show the sum of −4 + 4. Then, complete the equation.</a:t>
            </a:r>
            <a:endParaRPr dirty="0"/>
          </a:p>
        </p:txBody>
      </p:sp>
      <p:pic>
        <p:nvPicPr>
          <p:cNvPr id="193" name="Google Shape;19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3800" y="2336475"/>
            <a:ext cx="6204400" cy="15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1351870" y="4400425"/>
            <a:ext cx="9684426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Represent the sum of −4 + 4 using integer chips.</a:t>
            </a:r>
            <a:endParaRPr dirty="0"/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1447081" y="545793"/>
            <a:ext cx="9448468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the number line to show the sum of 7 + (−7). Then, complete the equation.</a:t>
            </a:r>
            <a:endParaRPr dirty="0"/>
          </a:p>
        </p:txBody>
      </p:sp>
      <p:pic>
        <p:nvPicPr>
          <p:cNvPr id="204" name="Google Shape;20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200" y="1564975"/>
            <a:ext cx="7759600" cy="172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1498600" y="3978200"/>
            <a:ext cx="858045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Represent the sum of 7 + (−7) using integer chips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53a864c87_0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4" name="Google Shape;214;g1153a864c87_0_17"/>
          <p:cNvSpPr txBox="1"/>
          <p:nvPr/>
        </p:nvSpPr>
        <p:spPr>
          <a:xfrm>
            <a:off x="1020674" y="1427593"/>
            <a:ext cx="1030130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Additive inverses are another way to represent the concept of a zero pair. </a:t>
            </a:r>
            <a:endParaRPr sz="1000" dirty="0"/>
          </a:p>
        </p:txBody>
      </p:sp>
      <p:pic>
        <p:nvPicPr>
          <p:cNvPr id="215" name="Google Shape;215;g1153a864c87_0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5564" y="250397"/>
            <a:ext cx="5211525" cy="11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153a864c87_0_17"/>
          <p:cNvSpPr txBox="1"/>
          <p:nvPr/>
        </p:nvSpPr>
        <p:spPr>
          <a:xfrm>
            <a:off x="1054100" y="2829600"/>
            <a:ext cx="995245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5. What number is the additive inverse of −15?</a:t>
            </a:r>
            <a:endParaRPr/>
          </a:p>
        </p:txBody>
      </p:sp>
      <p:sp>
        <p:nvSpPr>
          <p:cNvPr id="217" name="Google Shape;217;g1153a864c87_0_17"/>
          <p:cNvSpPr txBox="1"/>
          <p:nvPr/>
        </p:nvSpPr>
        <p:spPr>
          <a:xfrm>
            <a:off x="1118490" y="4514738"/>
            <a:ext cx="982367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6. What number is the additive inverse of 27?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53a864c87_0_36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6" name="Google Shape;226;g1153a864c87_0_36"/>
          <p:cNvSpPr txBox="1"/>
          <p:nvPr/>
        </p:nvSpPr>
        <p:spPr>
          <a:xfrm>
            <a:off x="1549263" y="1426400"/>
            <a:ext cx="96024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Use your number to fill in the blanks in the statement.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For the value _______, there exists (−______) so that ______ + (−______) = 0 and (−_______) + ________ = 0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7" name="Google Shape;227;g1153a864c87_0_36"/>
          <p:cNvSpPr txBox="1"/>
          <p:nvPr/>
        </p:nvSpPr>
        <p:spPr>
          <a:xfrm>
            <a:off x="1559338" y="4086933"/>
            <a:ext cx="947815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Use your partner’s number to fill in the blanks in the statement.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For the value _______, there exists (−______) so that ______ + (−______) = 0 and (−_______) + ________=0.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7263A48-A97B-4F9F-91E2-6EF6B601FA99}"/>
              </a:ext>
            </a:extLst>
          </p:cNvPr>
          <p:cNvSpPr txBox="1"/>
          <p:nvPr/>
        </p:nvSpPr>
        <p:spPr>
          <a:xfrm>
            <a:off x="1193801" y="3486231"/>
            <a:ext cx="817988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Write your partner’s positive integer: _____.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A4EAA2C-1CCF-4F94-8668-3DD66B872B70}"/>
              </a:ext>
            </a:extLst>
          </p:cNvPr>
          <p:cNvSpPr txBox="1"/>
          <p:nvPr/>
        </p:nvSpPr>
        <p:spPr>
          <a:xfrm>
            <a:off x="1039317" y="810796"/>
            <a:ext cx="10157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7. Choose any positive integer and write it in the blank: ____. </a:t>
            </a: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225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1446938" y="-517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6.5.3 Guided Instruction: Adding Integers</a:t>
            </a:r>
            <a:endParaRPr/>
          </a:p>
        </p:txBody>
      </p:sp>
      <p:pic>
        <p:nvPicPr>
          <p:cNvPr id="246" name="Google Shape;24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638" y="15553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8" name="Google Shape;248;p19"/>
          <p:cNvSpPr txBox="1"/>
          <p:nvPr/>
        </p:nvSpPr>
        <p:spPr>
          <a:xfrm>
            <a:off x="1484612" y="1386025"/>
            <a:ext cx="9478772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Understanding the existence of additive inverses can be helpful when adding integers with larger absolute values.</a:t>
            </a:r>
            <a:endParaRPr sz="1000" dirty="0"/>
          </a:p>
        </p:txBody>
      </p:sp>
      <p:sp>
        <p:nvSpPr>
          <p:cNvPr id="249" name="Google Shape;249;p19"/>
          <p:cNvSpPr txBox="1"/>
          <p:nvPr/>
        </p:nvSpPr>
        <p:spPr>
          <a:xfrm>
            <a:off x="1446938" y="2240325"/>
            <a:ext cx="9298124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Complete each statement based on your understanding of    adding integers so far.</a:t>
            </a:r>
            <a:endParaRPr sz="1000" dirty="0"/>
          </a:p>
        </p:txBody>
      </p:sp>
      <p:sp>
        <p:nvSpPr>
          <p:cNvPr id="250" name="Google Shape;250;p19"/>
          <p:cNvSpPr txBox="1"/>
          <p:nvPr/>
        </p:nvSpPr>
        <p:spPr>
          <a:xfrm>
            <a:off x="2060450" y="3121200"/>
            <a:ext cx="816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a. When adding two positive integers, the sum is</a:t>
            </a:r>
            <a:endParaRPr/>
          </a:p>
        </p:txBody>
      </p:sp>
      <p:pic>
        <p:nvPicPr>
          <p:cNvPr id="251" name="Google Shape;251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3613800"/>
            <a:ext cx="1554084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2060450" y="4789438"/>
            <a:ext cx="816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b. When adding two negative integers, the sum is</a:t>
            </a:r>
            <a:endParaRPr/>
          </a:p>
        </p:txBody>
      </p:sp>
      <p:pic>
        <p:nvPicPr>
          <p:cNvPr id="253" name="Google Shape;253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5282050"/>
            <a:ext cx="1554084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320800" y="520393"/>
            <a:ext cx="970103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When adding a positive and a negative integer, the sum will be either positive or negative, depending on which value has the larger absolute value.</a:t>
            </a:r>
            <a:endParaRPr dirty="0"/>
          </a:p>
        </p:txBody>
      </p:sp>
      <p:sp>
        <p:nvSpPr>
          <p:cNvPr id="263" name="Google Shape;263;p20"/>
          <p:cNvSpPr txBox="1"/>
          <p:nvPr/>
        </p:nvSpPr>
        <p:spPr>
          <a:xfrm>
            <a:off x="1417936" y="2127600"/>
            <a:ext cx="8970928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2. Consider the expression 40 + (−165).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01638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a. What will be the sign of the sum?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01638"/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01638"/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01638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b. Explain your reasoning.</a:t>
            </a:r>
            <a:endParaRPr dirty="0"/>
          </a:p>
        </p:txBody>
      </p:sp>
      <p:pic>
        <p:nvPicPr>
          <p:cNvPr id="264" name="Google Shape;264;p20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3775" y="3052200"/>
            <a:ext cx="2331112" cy="12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153a864c87_0_7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3" name="Google Shape;273;g1153a864c87_0_70"/>
          <p:cNvSpPr txBox="1"/>
          <p:nvPr/>
        </p:nvSpPr>
        <p:spPr>
          <a:xfrm>
            <a:off x="1079500" y="520394"/>
            <a:ext cx="1018363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When adding these integers, zero pairs are created.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additive inverses to explain how many zero pairs are created.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remains after combining the additive inverses?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equation.</a:t>
            </a:r>
            <a:endParaRPr dirty="0"/>
          </a:p>
        </p:txBody>
      </p:sp>
      <p:sp>
        <p:nvSpPr>
          <p:cNvPr id="274" name="Google Shape;274;g1153a864c87_0_70"/>
          <p:cNvSpPr txBox="1"/>
          <p:nvPr/>
        </p:nvSpPr>
        <p:spPr>
          <a:xfrm>
            <a:off x="3954175" y="5389200"/>
            <a:ext cx="443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40 + (−165) = ________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53a864c87_0_84"/>
          <p:cNvSpPr/>
          <p:nvPr/>
        </p:nvSpPr>
        <p:spPr>
          <a:xfrm>
            <a:off x="-18288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3" name="Google Shape;283;g1153a864c87_0_84"/>
          <p:cNvSpPr txBox="1"/>
          <p:nvPr/>
        </p:nvSpPr>
        <p:spPr>
          <a:xfrm>
            <a:off x="1587500" y="509945"/>
            <a:ext cx="8866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Complete the statements to describe how to find the sum of −1,029 + (−38).</a:t>
            </a:r>
            <a:endParaRPr sz="1300" dirty="0"/>
          </a:p>
        </p:txBody>
      </p:sp>
      <p:sp>
        <p:nvSpPr>
          <p:cNvPr id="284" name="Google Shape;284;g1153a864c87_0_84"/>
          <p:cNvSpPr txBox="1"/>
          <p:nvPr/>
        </p:nvSpPr>
        <p:spPr>
          <a:xfrm>
            <a:off x="2058325" y="1610259"/>
            <a:ext cx="5423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When adding −1,029 + (−38)</a:t>
            </a:r>
            <a:endParaRPr sz="23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5" name="Google Shape;285;g1153a864c87_0_84"/>
          <p:cNvSpPr txBox="1"/>
          <p:nvPr/>
        </p:nvSpPr>
        <p:spPr>
          <a:xfrm>
            <a:off x="8778025" y="1575635"/>
            <a:ext cx="1069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are</a:t>
            </a:r>
            <a:endParaRPr sz="1300"/>
          </a:p>
        </p:txBody>
      </p:sp>
      <p:sp>
        <p:nvSpPr>
          <p:cNvPr id="286" name="Google Shape;286;g1153a864c87_0_84"/>
          <p:cNvSpPr txBox="1"/>
          <p:nvPr/>
        </p:nvSpPr>
        <p:spPr>
          <a:xfrm>
            <a:off x="2123125" y="2292559"/>
            <a:ext cx="7724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created because the signs of the addends are </a:t>
            </a:r>
            <a:endParaRPr sz="2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7" name="Google Shape;287;g1153a864c87_0_84"/>
          <p:cNvSpPr txBox="1"/>
          <p:nvPr/>
        </p:nvSpPr>
        <p:spPr>
          <a:xfrm>
            <a:off x="3810000" y="2903086"/>
            <a:ext cx="6189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The sum can be found by adding the </a:t>
            </a:r>
            <a:endParaRPr sz="23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8" name="Google Shape;288;g1153a864c87_0_84"/>
          <p:cNvSpPr txBox="1"/>
          <p:nvPr/>
        </p:nvSpPr>
        <p:spPr>
          <a:xfrm>
            <a:off x="1907550" y="3529611"/>
            <a:ext cx="8478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absolute values of the addends. Since both addends are </a:t>
            </a:r>
            <a:endParaRPr sz="2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g1153a864c87_0_84"/>
          <p:cNvSpPr txBox="1"/>
          <p:nvPr/>
        </p:nvSpPr>
        <p:spPr>
          <a:xfrm>
            <a:off x="3810000" y="4069249"/>
            <a:ext cx="6858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the ray for the second addend of the sum</a:t>
            </a:r>
            <a:endParaRPr sz="2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g1153a864c87_0_84"/>
          <p:cNvSpPr txBox="1"/>
          <p:nvPr/>
        </p:nvSpPr>
        <p:spPr>
          <a:xfrm>
            <a:off x="2058325" y="4661987"/>
            <a:ext cx="3879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will go farther to the</a:t>
            </a:r>
            <a:endParaRPr sz="2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1" name="Google Shape;291;g1153a864c87_0_84"/>
          <p:cNvSpPr txBox="1"/>
          <p:nvPr/>
        </p:nvSpPr>
        <p:spPr>
          <a:xfrm>
            <a:off x="6781650" y="4652812"/>
            <a:ext cx="4125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>
                <a:latin typeface="Verdana"/>
                <a:ea typeface="Verdana"/>
                <a:cs typeface="Verdana"/>
                <a:sym typeface="Verdana"/>
              </a:rPr>
              <a:t>of zero on a number line.</a:t>
            </a:r>
            <a:endParaRPr sz="2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2" name="Google Shape;292;g1153a864c87_0_84"/>
          <p:cNvSpPr txBox="1"/>
          <p:nvPr/>
        </p:nvSpPr>
        <p:spPr>
          <a:xfrm>
            <a:off x="2029225" y="5397337"/>
            <a:ext cx="513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The sum of −1,029 + (</a:t>
            </a:r>
            <a:r>
              <a:rPr lang="en-US" sz="2300" baseline="30000" dirty="0"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38) is</a:t>
            </a:r>
            <a:endParaRPr sz="23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3" name="Google Shape;293;g1153a864c87_0_84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50" y="1497423"/>
            <a:ext cx="1888710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1153a864c87_0_8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3126" y="2831360"/>
            <a:ext cx="1631917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1153a864c87_0_84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3126" y="3964087"/>
            <a:ext cx="1531725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1153a864c87_0_84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301" y="4645435"/>
            <a:ext cx="1397757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1153a864c87_0_84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50" y="5235412"/>
            <a:ext cx="1397750" cy="14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5" name="Google Shape;305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" name="Google Shape;30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1445684" y="5536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6.5.4 Collaboration: Reasoning </a:t>
            </a:r>
            <a:r>
              <a:rPr lang="en-US" sz="36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Integers</a:t>
            </a:r>
            <a:endParaRPr dirty="0"/>
          </a:p>
        </p:txBody>
      </p:sp>
      <p:pic>
        <p:nvPicPr>
          <p:cNvPr id="317" name="Google Shape;317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876" y="34330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18" name="Google Shape;318;p7"/>
          <p:cNvSpPr txBox="1"/>
          <p:nvPr/>
        </p:nvSpPr>
        <p:spPr>
          <a:xfrm>
            <a:off x="1190854" y="1386025"/>
            <a:ext cx="10066288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Work with your partner to fill in the blanks with an integer to make each equation true. </a:t>
            </a:r>
            <a:endParaRPr dirty="0"/>
          </a:p>
        </p:txBody>
      </p:sp>
      <p:pic>
        <p:nvPicPr>
          <p:cNvPr id="319" name="Google Shape;319;p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200" y="2267649"/>
            <a:ext cx="3115600" cy="2466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7"/>
          <p:cNvSpPr txBox="1"/>
          <p:nvPr/>
        </p:nvSpPr>
        <p:spPr>
          <a:xfrm>
            <a:off x="1295400" y="5086800"/>
            <a:ext cx="8856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Choose one equation and explain your thinking in determining the missing value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8" name="Google Shape;328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9" name="Google Shape;32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370700" y="8686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6.5.5 Your Turn!</a:t>
            </a:r>
            <a:endParaRPr/>
          </a:p>
        </p:txBody>
      </p:sp>
      <p:pic>
        <p:nvPicPr>
          <p:cNvPr id="339" name="Google Shape;33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400" y="8686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1370700" y="807613"/>
            <a:ext cx="9450622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Find each sum.</a:t>
            </a:r>
            <a:endParaRPr sz="1000" dirty="0"/>
          </a:p>
        </p:txBody>
      </p:sp>
      <p:sp>
        <p:nvSpPr>
          <p:cNvPr id="342" name="Google Shape;342;p31"/>
          <p:cNvSpPr txBox="1"/>
          <p:nvPr/>
        </p:nvSpPr>
        <p:spPr>
          <a:xfrm>
            <a:off x="1932450" y="1207825"/>
            <a:ext cx="32940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a. 10 + (−204)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c. 904 + (−11)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e. 205 + (−643)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g. −399 + (−405)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i. 703 + (−190)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6096000" y="1207825"/>
            <a:ext cx="32940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b. (−99) + (99)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d. −1 + 76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f. −151 + (−70)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h. −80 + 606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j. −600 + (−78)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2" name="Google Shape;352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3" name="Google Shape;35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/>
          <p:nvPr/>
        </p:nvSpPr>
        <p:spPr>
          <a:xfrm>
            <a:off x="0" y="215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2" name="Google Shape;362;p34"/>
          <p:cNvSpPr txBox="1"/>
          <p:nvPr/>
        </p:nvSpPr>
        <p:spPr>
          <a:xfrm>
            <a:off x="1357400" y="-50521"/>
            <a:ext cx="93991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6.5.6 Wrap-Up: Growth Mindset</a:t>
            </a:r>
            <a:endParaRPr/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950" y="2320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4" name="Google Shape;364;p34"/>
          <p:cNvSpPr txBox="1"/>
          <p:nvPr/>
        </p:nvSpPr>
        <p:spPr>
          <a:xfrm>
            <a:off x="2060448" y="1386025"/>
            <a:ext cx="8327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Today, I am still unsure about ___________________________________________________________________________________.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2060448" y="3568825"/>
            <a:ext cx="8327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To fill in this gap, I intend to ___________________________________________________________________________________.</a:t>
            </a: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859</Words>
  <Application>Microsoft Macintosh PowerPoint</Application>
  <PresentationFormat>Widescreen</PresentationFormat>
  <Paragraphs>155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Black</vt:lpstr>
      <vt:lpstr>Calibri</vt:lpstr>
      <vt:lpstr>Century Gothic</vt:lpstr>
      <vt:lpstr>Verdana</vt:lpstr>
      <vt:lpstr>Arial</vt:lpstr>
      <vt:lpstr>1_Office Theme</vt:lpstr>
      <vt:lpstr>6th Grade Accelerated Math  Unit 6, Lesson 5  Adding Integers  Volume 1, pg. 254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6, Lesson 5  Adding Integers  Volume 1, pg. 254  </dc:title>
  <dc:creator>Karen McKenzie</dc:creator>
  <cp:lastModifiedBy>jslater9816@gmail.com</cp:lastModifiedBy>
  <cp:revision>7</cp:revision>
  <dcterms:created xsi:type="dcterms:W3CDTF">2015-03-17T18:51:18Z</dcterms:created>
  <dcterms:modified xsi:type="dcterms:W3CDTF">2022-07-29T01:31:00Z</dcterms:modified>
</cp:coreProperties>
</file>