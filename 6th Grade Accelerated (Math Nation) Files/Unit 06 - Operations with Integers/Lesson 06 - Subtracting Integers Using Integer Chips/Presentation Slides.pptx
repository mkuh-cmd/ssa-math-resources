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gm5IecCDJ74i9TgtZcqkYzpNZo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A1B13B4-0B9B-4333-87FC-5FEC26DA66D2}">
  <a:tblStyle styleId="{1A1B13B4-0B9B-4333-87FC-5FEC26DA66D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95"/>
  </p:normalViewPr>
  <p:slideViewPr>
    <p:cSldViewPr snapToGrid="0">
      <p:cViewPr varScale="1">
        <p:scale>
          <a:sx n="101" d="100"/>
          <a:sy n="101" d="100"/>
        </p:scale>
        <p:origin x="208" y="3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41" Type="http://customschemas.google.com/relationships/presentationmetadata" Target="meta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15223ae94b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115223ae94b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g115223ae94b_0_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 name="Google Shape;27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4" name="Google Shape;114;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Math</a:t>
            </a:r>
            <a:endParaRPr sz="3800" b="1">
              <a:solidFill>
                <a:srgbClr val="417DBF"/>
              </a:solidFill>
              <a:latin typeface="Verdana"/>
              <a:ea typeface="Verdana"/>
              <a:cs typeface="Verdana"/>
              <a:sym typeface="Verdana"/>
            </a:endParaRPr>
          </a:p>
          <a:p>
            <a:pPr algn="ctr">
              <a:lnSpc>
                <a:spcPct val="100000"/>
              </a:lnSpc>
            </a:pP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6, Lesson 6</a:t>
            </a: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
            </a: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Subtracting Integers Using Integer Chips</a:t>
            </a: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
            </a: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pg. 259</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5" name="Google Shape;115;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60503" y="1700157"/>
            <a:ext cx="2973100" cy="3465785"/>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716454" y="78871"/>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892954" y="314646"/>
            <a:ext cx="747300" cy="747300"/>
          </a:xfrm>
          <a:prstGeom prst="rect">
            <a:avLst/>
          </a:prstGeom>
          <a:noFill/>
          <a:ln>
            <a:noFill/>
          </a:ln>
          <a:effectLst>
            <a:outerShdw blurRad="57150" dist="19050" dir="5400000" algn="bl" rotWithShape="0">
              <a:srgbClr val="000000">
                <a:alpha val="49411"/>
              </a:srgbClr>
            </a:outerShdw>
          </a:effectLst>
        </p:spPr>
      </p:pic>
      <p:sp>
        <p:nvSpPr>
          <p:cNvPr id="125"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259</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
        <p:nvSpPr>
          <p:cNvPr id="127" name="Google Shape;127;g104476d1465_1_17"/>
          <p:cNvSpPr txBox="1"/>
          <p:nvPr/>
        </p:nvSpPr>
        <p:spPr>
          <a:xfrm>
            <a:off x="1858780" y="1600200"/>
            <a:ext cx="847444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700" dirty="0">
                <a:solidFill>
                  <a:schemeClr val="dk1"/>
                </a:solidFill>
                <a:latin typeface="Verdana"/>
                <a:ea typeface="Verdana"/>
                <a:cs typeface="Verdana"/>
                <a:sym typeface="Verdana"/>
              </a:rPr>
              <a:t>MA.6.NSO.4.1</a:t>
            </a:r>
            <a:endParaRPr sz="27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700" dirty="0">
                <a:solidFill>
                  <a:schemeClr val="dk1"/>
                </a:solidFill>
                <a:latin typeface="Verdana"/>
                <a:ea typeface="Verdana"/>
                <a:cs typeface="Verdana"/>
                <a:sym typeface="Verdana"/>
              </a:rPr>
              <a:t>Apply and extend previous understandings of operations with whole numbers to add and subtract integers with procedural fluency.</a:t>
            </a:r>
            <a:endParaRPr sz="13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1767750" y="372300"/>
            <a:ext cx="747300" cy="747300"/>
          </a:xfrm>
          <a:prstGeom prst="rect">
            <a:avLst/>
          </a:prstGeom>
          <a:noFill/>
          <a:ln>
            <a:noFill/>
          </a:ln>
          <a:effectLst>
            <a:outerShdw blurRad="57150" dist="19050" dir="5400000" algn="bl" rotWithShape="0">
              <a:srgbClr val="000000">
                <a:alpha val="49411"/>
              </a:srgbClr>
            </a:outerShdw>
          </a:effectLst>
        </p:spPr>
      </p:pic>
      <p:sp>
        <p:nvSpPr>
          <p:cNvPr id="136" name="Google Shape;136;p1"/>
          <p:cNvSpPr txBox="1"/>
          <p:nvPr/>
        </p:nvSpPr>
        <p:spPr>
          <a:xfrm>
            <a:off x="2592400" y="1296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2568960" y="1596390"/>
            <a:ext cx="7641840" cy="4205700"/>
          </a:xfrm>
          <a:prstGeom prst="rect">
            <a:avLst/>
          </a:prstGeom>
          <a:noFill/>
          <a:ln>
            <a:noFill/>
          </a:ln>
        </p:spPr>
        <p:txBody>
          <a:bodyPr spcFirstLastPara="1" wrap="square" lIns="91425" tIns="45700" rIns="91425" bIns="45700" anchor="t" anchorCtr="0">
            <a:noAutofit/>
          </a:bodyPr>
          <a:lstStyle/>
          <a:p>
            <a:pPr>
              <a:buSzPts val="1800"/>
            </a:pPr>
            <a:r>
              <a:rPr lang="en-US" sz="2100">
                <a:solidFill>
                  <a:schemeClr val="dk1"/>
                </a:solidFill>
                <a:latin typeface="Verdana"/>
                <a:ea typeface="Verdana"/>
                <a:cs typeface="Verdana"/>
                <a:sym typeface="Verdana"/>
              </a:rPr>
              <a:t>MA.K12.MTR.2.1 Demonstrate understanding by representing problems in multiple ways.</a:t>
            </a:r>
            <a:endParaRPr sz="1700"/>
          </a:p>
          <a:p>
            <a:pPr>
              <a:buSzPts val="1800"/>
            </a:pPr>
            <a:endParaRPr sz="1700"/>
          </a:p>
          <a:p>
            <a:pPr marL="457200">
              <a:buSzPts val="1800"/>
            </a:pPr>
            <a:endParaRPr sz="2100">
              <a:solidFill>
                <a:schemeClr val="dk1"/>
              </a:solidFill>
              <a:latin typeface="Verdana"/>
              <a:ea typeface="Verdana"/>
              <a:cs typeface="Verdana"/>
              <a:sym typeface="Verdana"/>
            </a:endParaRPr>
          </a:p>
          <a:p>
            <a:pPr marL="457200">
              <a:buSzPts val="1800"/>
            </a:pPr>
            <a:endParaRPr sz="2100">
              <a:solidFill>
                <a:schemeClr val="dk1"/>
              </a:solidFill>
              <a:latin typeface="Verdana"/>
              <a:ea typeface="Verdana"/>
              <a:cs typeface="Verdana"/>
              <a:sym typeface="Verdana"/>
            </a:endParaRPr>
          </a:p>
          <a:p>
            <a:pPr>
              <a:buSzPts val="1800"/>
            </a:pPr>
            <a:r>
              <a:rPr lang="en-US" sz="2100">
                <a:solidFill>
                  <a:schemeClr val="dk1"/>
                </a:solidFill>
                <a:latin typeface="Verdana"/>
                <a:ea typeface="Verdana"/>
                <a:cs typeface="Verdana"/>
                <a:sym typeface="Verdana"/>
              </a:rPr>
              <a:t>MA.K12.MTR.5.1 Use patterns and structure to help understand and connect mathematical concepts.</a:t>
            </a:r>
            <a:endParaRPr sz="1700"/>
          </a:p>
          <a:p>
            <a:pPr>
              <a:buSzPts val="1800"/>
            </a:pPr>
            <a:endParaRPr sz="1800">
              <a:solidFill>
                <a:schemeClr val="dk1"/>
              </a:solidFill>
              <a:latin typeface="Verdana"/>
              <a:ea typeface="Verdana"/>
              <a:cs typeface="Verdana"/>
              <a:sym typeface="Verdana"/>
            </a:endParaRPr>
          </a:p>
          <a:p>
            <a:pPr>
              <a:buSzPts val="1800"/>
            </a:pPr>
            <a:endParaRPr sz="1800">
              <a:solidFill>
                <a:schemeClr val="dk1"/>
              </a:solidFill>
              <a:latin typeface="Verdana"/>
              <a:ea typeface="Verdana"/>
              <a:cs typeface="Verdana"/>
              <a:sym typeface="Verdana"/>
            </a:endParaRPr>
          </a:p>
        </p:txBody>
      </p:sp>
      <p:sp>
        <p:nvSpPr>
          <p:cNvPr id="8"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259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591224"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a:t>
            </a:r>
            <a:endParaRPr/>
          </a:p>
        </p:txBody>
      </p:sp>
      <p:pic>
        <p:nvPicPr>
          <p:cNvPr id="147" name="Google Shape;147;p2"/>
          <p:cNvPicPr preferRelativeResize="0"/>
          <p:nvPr/>
        </p:nvPicPr>
        <p:blipFill rotWithShape="1">
          <a:blip r:embed="rId3">
            <a:alphaModFix/>
          </a:blip>
          <a:srcRect/>
          <a:stretch/>
        </p:blipFill>
        <p:spPr>
          <a:xfrm>
            <a:off x="809062" y="289200"/>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692154" y="1600200"/>
            <a:ext cx="8807692" cy="4205700"/>
          </a:xfrm>
          <a:prstGeom prst="rect">
            <a:avLst/>
          </a:prstGeom>
          <a:noFill/>
          <a:ln>
            <a:noFill/>
          </a:ln>
        </p:spPr>
        <p:txBody>
          <a:bodyPr spcFirstLastPara="1" wrap="square" lIns="91425" tIns="45700" rIns="91425" bIns="45700" anchor="t" anchorCtr="0">
            <a:noAutofit/>
          </a:bodyPr>
          <a:lstStyle/>
          <a:p>
            <a:pPr marL="457200" indent="-425450">
              <a:buClr>
                <a:srgbClr val="434343"/>
              </a:buClr>
              <a:buSzPts val="3100"/>
              <a:buFont typeface="Verdana"/>
              <a:buChar char="❏"/>
            </a:pPr>
            <a:r>
              <a:rPr lang="en-US" sz="3100">
                <a:solidFill>
                  <a:schemeClr val="dk1"/>
                </a:solidFill>
                <a:latin typeface="Verdana"/>
                <a:ea typeface="Verdana"/>
                <a:cs typeface="Verdana"/>
                <a:sym typeface="Verdana"/>
              </a:rPr>
              <a:t>I can use integer chips to subtract integers.</a:t>
            </a:r>
            <a:endParaRPr sz="1000"/>
          </a:p>
          <a:p>
            <a:pPr marL="457200"/>
            <a:endParaRPr dirty="0"/>
          </a:p>
        </p:txBody>
      </p:sp>
      <p:sp>
        <p:nvSpPr>
          <p:cNvPr id="8"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259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259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487349" y="5407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6.6.1 Warm-Up: When Will I Use This?</a:t>
            </a:r>
            <a:endParaRPr/>
          </a:p>
        </p:txBody>
      </p:sp>
      <p:pic>
        <p:nvPicPr>
          <p:cNvPr id="168" name="Google Shape;168;p4"/>
          <p:cNvPicPr preferRelativeResize="0"/>
          <p:nvPr/>
        </p:nvPicPr>
        <p:blipFill rotWithShape="1">
          <a:blip r:embed="rId3">
            <a:alphaModFix/>
          </a:blip>
          <a:srcRect/>
          <a:stretch/>
        </p:blipFill>
        <p:spPr>
          <a:xfrm>
            <a:off x="740049" y="191231"/>
            <a:ext cx="747300" cy="747300"/>
          </a:xfrm>
          <a:prstGeom prst="rect">
            <a:avLst/>
          </a:prstGeom>
          <a:noFill/>
          <a:ln>
            <a:noFill/>
          </a:ln>
          <a:effectLst>
            <a:outerShdw blurRad="50800" dist="38100" dir="2700000" algn="tl" rotWithShape="0">
              <a:srgbClr val="000000">
                <a:alpha val="40000"/>
              </a:srgbClr>
            </a:outerShdw>
          </a:effectLst>
        </p:spPr>
      </p:pic>
      <p:sp>
        <p:nvSpPr>
          <p:cNvPr id="170" name="Google Shape;170;p4"/>
          <p:cNvSpPr txBox="1"/>
          <p:nvPr/>
        </p:nvSpPr>
        <p:spPr>
          <a:xfrm>
            <a:off x="1487349" y="1007956"/>
            <a:ext cx="7682051" cy="4832052"/>
          </a:xfrm>
          <a:prstGeom prst="rect">
            <a:avLst/>
          </a:prstGeom>
          <a:noFill/>
          <a:ln>
            <a:noFill/>
          </a:ln>
        </p:spPr>
        <p:txBody>
          <a:bodyPr spcFirstLastPara="1" wrap="square" lIns="91425" tIns="45700" rIns="91425" bIns="45700" anchor="t" anchorCtr="0">
            <a:spAutoFit/>
          </a:bodyPr>
          <a:lstStyle/>
          <a:p>
            <a:pPr>
              <a:buSzPts val="2400"/>
            </a:pPr>
            <a:endParaRPr sz="2000" dirty="0">
              <a:latin typeface="Verdana"/>
              <a:ea typeface="Verdana"/>
              <a:cs typeface="Verdana"/>
              <a:sym typeface="Verdana"/>
            </a:endParaRPr>
          </a:p>
          <a:p>
            <a:pPr marL="457200" indent="-457200">
              <a:buSzPts val="2400"/>
              <a:buFont typeface="+mj-lt"/>
              <a:buAutoNum type="arabicPeriod"/>
            </a:pPr>
            <a:r>
              <a:rPr lang="en-US" sz="2400" dirty="0">
                <a:latin typeface="Verdana"/>
                <a:ea typeface="Verdana"/>
                <a:cs typeface="Verdana"/>
                <a:sym typeface="Verdana"/>
              </a:rPr>
              <a:t>The speaker states, “It’s not about what you learn, it’s about what methods, tools, and tactics you have to develop in order to solve the problem that you may never see again for the rest of your life …” What does he mean by “methods, tools, and tactics”? </a:t>
            </a:r>
          </a:p>
          <a:p>
            <a:pPr marL="457200" indent="-457200">
              <a:buSzPts val="2400"/>
              <a:buFont typeface="+mj-lt"/>
              <a:buAutoNum type="arabicPeriod"/>
            </a:pPr>
            <a:endParaRPr sz="2400" dirty="0">
              <a:latin typeface="Verdana"/>
              <a:ea typeface="Verdana"/>
              <a:cs typeface="Verdana"/>
              <a:sym typeface="Verdana"/>
            </a:endParaRPr>
          </a:p>
          <a:p>
            <a:pPr marL="457200" indent="-457200">
              <a:buSzPts val="2400"/>
              <a:buFont typeface="+mj-lt"/>
              <a:buAutoNum type="arabicPeriod"/>
            </a:pPr>
            <a:r>
              <a:rPr lang="en-US" sz="2400" dirty="0">
                <a:latin typeface="Verdana"/>
                <a:ea typeface="Verdana"/>
                <a:cs typeface="Verdana"/>
                <a:sym typeface="Verdana"/>
              </a:rPr>
              <a:t>The quote continues to say, “… but you will see other problems where these methods and tools will become immensely valuable to you.” Where might these methods, tools, and tactics help you in everyday life?</a:t>
            </a:r>
            <a:endParaRPr sz="2400" dirty="0"/>
          </a:p>
        </p:txBody>
      </p:sp>
      <p:sp>
        <p:nvSpPr>
          <p:cNvPr id="8"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259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35834" y="1391485"/>
            <a:ext cx="2527300" cy="2527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78" name="Google Shape;178;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180" name="Google Shape;180;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0"/>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88" name="Google Shape;188;p10"/>
          <p:cNvSpPr txBox="1"/>
          <p:nvPr/>
        </p:nvSpPr>
        <p:spPr>
          <a:xfrm>
            <a:off x="1423199" y="61192"/>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3BEA6"/>
                </a:solidFill>
                <a:latin typeface="Verdana"/>
                <a:ea typeface="Verdana"/>
                <a:cs typeface="Verdana"/>
                <a:sym typeface="Verdana"/>
              </a:rPr>
              <a:t>6.6.2 Exploration: Subtracting Integers</a:t>
            </a:r>
            <a:endParaRPr/>
          </a:p>
        </p:txBody>
      </p:sp>
      <p:pic>
        <p:nvPicPr>
          <p:cNvPr id="190" name="Google Shape;190;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66901" y="309317"/>
            <a:ext cx="752254" cy="752254"/>
          </a:xfrm>
          <a:prstGeom prst="rect">
            <a:avLst/>
          </a:prstGeom>
          <a:noFill/>
          <a:ln>
            <a:noFill/>
          </a:ln>
          <a:effectLst>
            <a:outerShdw blurRad="50800" dist="38100" dir="2700000" algn="tl" rotWithShape="0">
              <a:srgbClr val="000000">
                <a:alpha val="40000"/>
              </a:srgbClr>
            </a:outerShdw>
          </a:effectLst>
        </p:spPr>
      </p:pic>
      <p:sp>
        <p:nvSpPr>
          <p:cNvPr id="191" name="Google Shape;191;p10"/>
          <p:cNvSpPr txBox="1"/>
          <p:nvPr/>
        </p:nvSpPr>
        <p:spPr>
          <a:xfrm>
            <a:off x="2060448" y="1386026"/>
            <a:ext cx="8117358" cy="1323399"/>
          </a:xfrm>
          <a:prstGeom prst="rect">
            <a:avLst/>
          </a:prstGeom>
          <a:noFill/>
          <a:ln>
            <a:noFill/>
          </a:ln>
        </p:spPr>
        <p:txBody>
          <a:bodyPr spcFirstLastPara="1" wrap="square" lIns="91425" tIns="45700" rIns="91425" bIns="45700" anchor="t" anchorCtr="0">
            <a:spAutoFit/>
          </a:bodyPr>
          <a:lstStyle/>
          <a:p>
            <a:pPr marL="342900" indent="-342900">
              <a:buSzPct val="100000"/>
              <a:buFont typeface="+mj-lt"/>
              <a:buAutoNum type="arabicPeriod"/>
            </a:pPr>
            <a:r>
              <a:rPr lang="en-US" sz="2000" dirty="0">
                <a:latin typeface="Verdana"/>
                <a:ea typeface="Verdana"/>
                <a:cs typeface="Verdana"/>
                <a:sym typeface="Verdana"/>
              </a:rPr>
              <a:t>In the first column, a larger circle represents a number that has a larger absolute value than that of the smaller circle. Without discussing it with your partner, enter a numeric example for each visual model. Then, in the </a:t>
            </a:r>
            <a:r>
              <a:rPr lang="en-US" sz="2000" b="1" dirty="0">
                <a:latin typeface="Verdana"/>
                <a:ea typeface="Verdana"/>
                <a:cs typeface="Verdana"/>
                <a:sym typeface="Verdana"/>
              </a:rPr>
              <a:t>“My</a:t>
            </a:r>
            <a:endParaRPr sz="2000" dirty="0"/>
          </a:p>
        </p:txBody>
      </p:sp>
      <p:sp>
        <p:nvSpPr>
          <p:cNvPr id="192" name="Google Shape;192;p10"/>
          <p:cNvSpPr txBox="1"/>
          <p:nvPr/>
        </p:nvSpPr>
        <p:spPr>
          <a:xfrm>
            <a:off x="2390428" y="4408085"/>
            <a:ext cx="3972900" cy="1415742"/>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After completing all of your own examples and guesses, record your partner’s examples and guesses.</a:t>
            </a:r>
            <a:endParaRPr sz="2000" dirty="0">
              <a:latin typeface="Verdana"/>
              <a:ea typeface="Verdana"/>
              <a:cs typeface="Verdana"/>
              <a:sym typeface="Verdana"/>
            </a:endParaRPr>
          </a:p>
        </p:txBody>
      </p:sp>
      <p:pic>
        <p:nvPicPr>
          <p:cNvPr id="193" name="Google Shape;193;p10"/>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6733378" y="2709425"/>
            <a:ext cx="3398175" cy="3490025"/>
          </a:xfrm>
          <a:prstGeom prst="rect">
            <a:avLst/>
          </a:prstGeom>
          <a:noFill/>
          <a:ln>
            <a:noFill/>
          </a:ln>
        </p:spPr>
      </p:pic>
      <p:sp>
        <p:nvSpPr>
          <p:cNvPr id="2" name="TextBox 1">
            <a:extLst>
              <a:ext uri="{FF2B5EF4-FFF2-40B4-BE49-F238E27FC236}">
                <a16:creationId xmlns:a16="http://schemas.microsoft.com/office/drawing/2014/main" xmlns="" id="{162ACB90-52EB-4332-8776-2018A9E5F321}"/>
              </a:ext>
            </a:extLst>
          </p:cNvPr>
          <p:cNvSpPr txBox="1"/>
          <p:nvPr/>
        </p:nvSpPr>
        <p:spPr>
          <a:xfrm>
            <a:off x="2390429" y="2592372"/>
            <a:ext cx="4176911" cy="1323439"/>
          </a:xfrm>
          <a:prstGeom prst="rect">
            <a:avLst/>
          </a:prstGeom>
          <a:noFill/>
        </p:spPr>
        <p:txBody>
          <a:bodyPr wrap="square" rtlCol="0">
            <a:spAutoFit/>
          </a:bodyPr>
          <a:lstStyle/>
          <a:p>
            <a:r>
              <a:rPr lang="en-US" sz="2000" b="1" dirty="0">
                <a:latin typeface="Verdana"/>
                <a:ea typeface="Verdana"/>
                <a:cs typeface="Verdana"/>
                <a:sym typeface="Verdana"/>
              </a:rPr>
              <a:t>Guess: Answer Will be + or −”</a:t>
            </a:r>
            <a:r>
              <a:rPr lang="en-US" sz="2000" dirty="0">
                <a:latin typeface="Verdana"/>
                <a:ea typeface="Verdana"/>
                <a:cs typeface="Verdana"/>
                <a:sym typeface="Verdana"/>
              </a:rPr>
              <a:t> column, enter whether you think the result will be positive (+) or negative (−).</a:t>
            </a:r>
            <a:endParaRPr lang="en-US" sz="2000" dirty="0"/>
          </a:p>
        </p:txBody>
      </p:sp>
      <p:sp>
        <p:nvSpPr>
          <p:cNvPr id="11"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260</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1"/>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02" name="Google Shape;202;p11"/>
          <p:cNvSpPr txBox="1"/>
          <p:nvPr/>
        </p:nvSpPr>
        <p:spPr>
          <a:xfrm>
            <a:off x="1439056" y="520395"/>
            <a:ext cx="8895809" cy="1015622"/>
          </a:xfrm>
          <a:prstGeom prst="rect">
            <a:avLst/>
          </a:prstGeom>
          <a:noFill/>
          <a:ln>
            <a:noFill/>
          </a:ln>
        </p:spPr>
        <p:txBody>
          <a:bodyPr spcFirstLastPara="1" wrap="square" lIns="91425" tIns="45700" rIns="91425" bIns="45700" anchor="t" anchorCtr="0">
            <a:spAutoFit/>
          </a:bodyPr>
          <a:lstStyle/>
          <a:p>
            <a:pPr marL="342900" indent="-342900">
              <a:buSzPct val="100000"/>
              <a:buFont typeface="+mj-lt"/>
              <a:buAutoNum type="arabicPeriod" startAt="2"/>
            </a:pPr>
            <a:r>
              <a:rPr lang="en-US" sz="2000" dirty="0">
                <a:latin typeface="Verdana"/>
                <a:ea typeface="Verdana"/>
                <a:cs typeface="Verdana"/>
                <a:sym typeface="Verdana"/>
              </a:rPr>
              <a:t>Now, form a group of four by joining another pair of classmates. Discuss your guesses. Do all four of you agree on all of the problems? If not, list which problems you disagree on.</a:t>
            </a:r>
            <a:endParaRPr sz="2000" dirty="0"/>
          </a:p>
        </p:txBody>
      </p:sp>
      <p:sp>
        <p:nvSpPr>
          <p:cNvPr id="203" name="Google Shape;203;p11"/>
          <p:cNvSpPr txBox="1"/>
          <p:nvPr/>
        </p:nvSpPr>
        <p:spPr>
          <a:xfrm>
            <a:off x="1439056" y="2143186"/>
            <a:ext cx="4656935" cy="2954625"/>
          </a:xfrm>
          <a:prstGeom prst="rect">
            <a:avLst/>
          </a:prstGeom>
          <a:noFill/>
          <a:ln>
            <a:noFill/>
          </a:ln>
        </p:spPr>
        <p:txBody>
          <a:bodyPr spcFirstLastPara="1" wrap="square" lIns="91425" tIns="91425" rIns="91425" bIns="91425" anchor="t" anchorCtr="0">
            <a:spAutoFit/>
          </a:bodyPr>
          <a:lstStyle/>
          <a:p>
            <a:pPr marL="342900" indent="-342900">
              <a:buSzPct val="100000"/>
              <a:buFont typeface="+mj-lt"/>
              <a:buAutoNum type="arabicPeriod" startAt="3"/>
            </a:pPr>
            <a:r>
              <a:rPr lang="en-US" sz="2000" dirty="0">
                <a:latin typeface="Verdana"/>
                <a:ea typeface="Verdana"/>
                <a:cs typeface="Verdana"/>
                <a:sym typeface="Verdana"/>
              </a:rPr>
              <a:t>Tell your teacher when you are ready to test out the guesses with a calculator. Use the calculator to find the answer for one problem from each visual model. When each of you are in agreement with the rule, check the box in the column that represents the answer.</a:t>
            </a:r>
            <a:endParaRPr sz="2000" dirty="0">
              <a:latin typeface="Verdana"/>
              <a:ea typeface="Verdana"/>
              <a:cs typeface="Verdana"/>
              <a:sym typeface="Verdana"/>
            </a:endParaRPr>
          </a:p>
        </p:txBody>
      </p:sp>
      <p:pic>
        <p:nvPicPr>
          <p:cNvPr id="204" name="Google Shape;204;p11"/>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285070" y="2143186"/>
            <a:ext cx="3767906" cy="3806701"/>
          </a:xfrm>
          <a:prstGeom prst="rect">
            <a:avLst/>
          </a:prstGeom>
          <a:noFill/>
          <a:ln>
            <a:noFill/>
          </a:ln>
        </p:spPr>
      </p:pic>
      <p:sp>
        <p:nvSpPr>
          <p:cNvPr id="8"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8"/>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2" name="Google Shape;212;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213" name="Google Shape;213;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9"/>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22" name="Google Shape;222;p19"/>
          <p:cNvSpPr txBox="1"/>
          <p:nvPr/>
        </p:nvSpPr>
        <p:spPr>
          <a:xfrm>
            <a:off x="1275666" y="-920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100" b="1">
                <a:solidFill>
                  <a:srgbClr val="54B5D1"/>
                </a:solidFill>
                <a:latin typeface="Verdana"/>
                <a:ea typeface="Verdana"/>
                <a:cs typeface="Verdana"/>
                <a:sym typeface="Verdana"/>
              </a:rPr>
              <a:t>6.6.3 Guided Instruction: Using Integer Chips to Show Subtraction</a:t>
            </a:r>
            <a:endParaRPr sz="900"/>
          </a:p>
        </p:txBody>
      </p:sp>
      <p:pic>
        <p:nvPicPr>
          <p:cNvPr id="223" name="Google Shape;223;p19"/>
          <p:cNvPicPr preferRelativeResize="0"/>
          <p:nvPr/>
        </p:nvPicPr>
        <p:blipFill rotWithShape="1">
          <a:blip r:embed="rId3">
            <a:alphaModFix/>
          </a:blip>
          <a:srcRect/>
          <a:stretch/>
        </p:blipFill>
        <p:spPr>
          <a:xfrm>
            <a:off x="528366" y="115238"/>
            <a:ext cx="747300" cy="747300"/>
          </a:xfrm>
          <a:prstGeom prst="rect">
            <a:avLst/>
          </a:prstGeom>
          <a:noFill/>
          <a:ln>
            <a:noFill/>
          </a:ln>
          <a:effectLst>
            <a:outerShdw blurRad="50800" dist="38100" dir="2700000" algn="tl" rotWithShape="0">
              <a:srgbClr val="000000">
                <a:alpha val="40000"/>
              </a:srgbClr>
            </a:outerShdw>
          </a:effectLst>
        </p:spPr>
      </p:pic>
      <p:sp>
        <p:nvSpPr>
          <p:cNvPr id="225" name="Google Shape;225;p19"/>
          <p:cNvSpPr txBox="1"/>
          <p:nvPr/>
        </p:nvSpPr>
        <p:spPr>
          <a:xfrm>
            <a:off x="1218648" y="1386025"/>
            <a:ext cx="10010700" cy="1323399"/>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Integer chips can also be used to model subtraction. </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To find the difference of (−5) − 2 using integer chips, begin by first arranging 5 negative integer chips on your desk, as shown below.</a:t>
            </a:r>
            <a:endParaRPr sz="1000" dirty="0"/>
          </a:p>
        </p:txBody>
      </p:sp>
      <p:sp>
        <p:nvSpPr>
          <p:cNvPr id="226" name="Google Shape;226;p19"/>
          <p:cNvSpPr txBox="1"/>
          <p:nvPr/>
        </p:nvSpPr>
        <p:spPr>
          <a:xfrm>
            <a:off x="1275666" y="4233600"/>
            <a:ext cx="9640668" cy="2031900"/>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a:pPr>
            <a:r>
              <a:rPr lang="en-US" sz="2000" dirty="0">
                <a:latin typeface="Verdana"/>
                <a:ea typeface="Verdana"/>
                <a:cs typeface="Verdana"/>
                <a:sym typeface="Verdana"/>
              </a:rPr>
              <a:t>Draw a picture of how you think integer chips can be used to represent subtracting positive 2 from the 5 negative integer chips that are already on your desk.</a:t>
            </a:r>
            <a:endParaRPr sz="2000" dirty="0">
              <a:latin typeface="Verdana"/>
              <a:ea typeface="Verdana"/>
              <a:cs typeface="Verdana"/>
              <a:sym typeface="Verdana"/>
            </a:endParaRPr>
          </a:p>
          <a:p>
            <a:endParaRPr sz="2000" dirty="0">
              <a:latin typeface="Verdana"/>
              <a:ea typeface="Verdana"/>
              <a:cs typeface="Verdana"/>
              <a:sym typeface="Verdana"/>
            </a:endParaRPr>
          </a:p>
          <a:p>
            <a:r>
              <a:rPr lang="en-US" sz="2000" dirty="0">
                <a:latin typeface="Verdana"/>
                <a:ea typeface="Verdana"/>
                <a:cs typeface="Verdana"/>
                <a:sym typeface="Verdana"/>
              </a:rPr>
              <a:t>Consider using zero pairs. It is okay if you do not know; just try your best.</a:t>
            </a:r>
            <a:endParaRPr sz="2000" dirty="0">
              <a:latin typeface="Verdana"/>
              <a:ea typeface="Verdana"/>
              <a:cs typeface="Verdana"/>
              <a:sym typeface="Verdana"/>
            </a:endParaRPr>
          </a:p>
        </p:txBody>
      </p:sp>
      <p:pic>
        <p:nvPicPr>
          <p:cNvPr id="227" name="Google Shape;227;p1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3849751" y="3028164"/>
            <a:ext cx="4492485" cy="1013263"/>
          </a:xfrm>
          <a:prstGeom prst="rect">
            <a:avLst/>
          </a:prstGeom>
          <a:noFill/>
          <a:ln>
            <a:noFill/>
          </a:ln>
        </p:spPr>
      </p:pic>
      <p:sp>
        <p:nvSpPr>
          <p:cNvPr id="10"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0"/>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36" name="Google Shape;236;p20"/>
          <p:cNvSpPr txBox="1"/>
          <p:nvPr/>
        </p:nvSpPr>
        <p:spPr>
          <a:xfrm>
            <a:off x="2018565" y="995593"/>
            <a:ext cx="8327100" cy="877200"/>
          </a:xfrm>
          <a:prstGeom prst="rect">
            <a:avLst/>
          </a:prstGeom>
          <a:noFill/>
          <a:ln>
            <a:noFill/>
          </a:ln>
        </p:spPr>
        <p:txBody>
          <a:bodyPr spcFirstLastPara="1" wrap="square" lIns="91425" tIns="45700" rIns="91425" bIns="45700" anchor="t" anchorCtr="0">
            <a:spAutoFit/>
          </a:bodyPr>
          <a:lstStyle/>
          <a:p>
            <a:pPr>
              <a:buSzPts val="2400"/>
            </a:pPr>
            <a:r>
              <a:rPr lang="en-US" sz="1700" dirty="0">
                <a:latin typeface="Verdana"/>
                <a:ea typeface="Verdana"/>
                <a:cs typeface="Verdana"/>
                <a:sym typeface="Verdana"/>
              </a:rPr>
              <a:t>When adding 0 to a value, the value of the expression does not change. In a model, adding zero pairs represents adding 0. The value of the model does not change, but the integer chips that are available do.</a:t>
            </a:r>
            <a:endParaRPr sz="700" dirty="0"/>
          </a:p>
        </p:txBody>
      </p:sp>
      <p:pic>
        <p:nvPicPr>
          <p:cNvPr id="237" name="Google Shape;237;p2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3408750" y="99780"/>
            <a:ext cx="5546738" cy="895825"/>
          </a:xfrm>
          <a:prstGeom prst="rect">
            <a:avLst/>
          </a:prstGeom>
          <a:noFill/>
          <a:ln>
            <a:noFill/>
          </a:ln>
        </p:spPr>
      </p:pic>
      <p:sp>
        <p:nvSpPr>
          <p:cNvPr id="238" name="Google Shape;238;p20"/>
          <p:cNvSpPr txBox="1"/>
          <p:nvPr/>
        </p:nvSpPr>
        <p:spPr>
          <a:xfrm>
            <a:off x="2024400" y="1801397"/>
            <a:ext cx="8143200" cy="800189"/>
          </a:xfrm>
          <a:prstGeom prst="rect">
            <a:avLst/>
          </a:prstGeom>
          <a:noFill/>
          <a:ln>
            <a:noFill/>
          </a:ln>
        </p:spPr>
        <p:txBody>
          <a:bodyPr spcFirstLastPara="1" wrap="square" lIns="91425" tIns="91425" rIns="91425" bIns="91425" anchor="t" anchorCtr="0">
            <a:spAutoFit/>
          </a:bodyPr>
          <a:lstStyle/>
          <a:p>
            <a:pPr marL="342900" indent="-342900">
              <a:buSzPct val="100000"/>
              <a:buFont typeface="+mj-lt"/>
              <a:buAutoNum type="arabicPeriod" startAt="2"/>
            </a:pPr>
            <a:r>
              <a:rPr lang="en-US" sz="2000" dirty="0">
                <a:latin typeface="Verdana"/>
                <a:ea typeface="Verdana"/>
                <a:cs typeface="Verdana"/>
                <a:sym typeface="Verdana"/>
              </a:rPr>
              <a:t>Complete the table to show how (−3) − 6 can be represented using integer chips.</a:t>
            </a:r>
            <a:endParaRPr sz="2000" dirty="0">
              <a:latin typeface="Verdana"/>
              <a:ea typeface="Verdana"/>
              <a:cs typeface="Verdana"/>
              <a:sym typeface="Verdana"/>
            </a:endParaRPr>
          </a:p>
        </p:txBody>
      </p:sp>
      <p:graphicFrame>
        <p:nvGraphicFramePr>
          <p:cNvPr id="239" name="Google Shape;239;p20"/>
          <p:cNvGraphicFramePr/>
          <p:nvPr>
            <p:extLst>
              <p:ext uri="{D42A27DB-BD31-4B8C-83A1-F6EECF244321}">
                <p14:modId xmlns:p14="http://schemas.microsoft.com/office/powerpoint/2010/main" val="1609640430"/>
              </p:ext>
            </p:extLst>
          </p:nvPr>
        </p:nvGraphicFramePr>
        <p:xfrm>
          <a:off x="2476500" y="2505789"/>
          <a:ext cx="7239000" cy="4069822"/>
        </p:xfrm>
        <a:graphic>
          <a:graphicData uri="http://schemas.openxmlformats.org/drawingml/2006/table">
            <a:tbl>
              <a:tblPr>
                <a:noFill/>
                <a:tableStyleId>{1A1B13B4-0B9B-4333-87FC-5FEC26DA66D2}</a:tableStyleId>
              </a:tblPr>
              <a:tblGrid>
                <a:gridCol w="3619500">
                  <a:extLst>
                    <a:ext uri="{9D8B030D-6E8A-4147-A177-3AD203B41FA5}">
                      <a16:colId xmlns:a16="http://schemas.microsoft.com/office/drawing/2014/main" xmlns="" val="20000"/>
                    </a:ext>
                  </a:extLst>
                </a:gridCol>
                <a:gridCol w="3619500">
                  <a:extLst>
                    <a:ext uri="{9D8B030D-6E8A-4147-A177-3AD203B41FA5}">
                      <a16:colId xmlns:a16="http://schemas.microsoft.com/office/drawing/2014/main" xmlns="" val="20001"/>
                    </a:ext>
                  </a:extLst>
                </a:gridCol>
              </a:tblGrid>
              <a:tr h="948600">
                <a:tc>
                  <a:txBody>
                    <a:bodyPr/>
                    <a:lstStyle/>
                    <a:p>
                      <a:pPr marL="0" lvl="0" indent="0" algn="l" rtl="0">
                        <a:spcBef>
                          <a:spcPts val="0"/>
                        </a:spcBef>
                        <a:spcAft>
                          <a:spcPts val="0"/>
                        </a:spcAft>
                        <a:buNone/>
                      </a:pPr>
                      <a:r>
                        <a:rPr lang="en-US" dirty="0">
                          <a:latin typeface="Verdana"/>
                          <a:ea typeface="Verdana"/>
                          <a:cs typeface="Verdana"/>
                          <a:sym typeface="Verdana"/>
                        </a:rPr>
                        <a:t>Begin by representing the first integer, −3, with integer chips.</a:t>
                      </a:r>
                      <a:endParaRPr dirty="0">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0"/>
                  </a:ext>
                </a:extLst>
              </a:tr>
              <a:tr h="851832">
                <a:tc>
                  <a:txBody>
                    <a:bodyPr/>
                    <a:lstStyle/>
                    <a:p>
                      <a:pPr marL="0" lvl="0" indent="0" algn="l" rtl="0">
                        <a:spcBef>
                          <a:spcPts val="0"/>
                        </a:spcBef>
                        <a:spcAft>
                          <a:spcPts val="0"/>
                        </a:spcAft>
                        <a:buNone/>
                      </a:pPr>
                      <a:r>
                        <a:rPr lang="en-US">
                          <a:latin typeface="Verdana"/>
                          <a:ea typeface="Verdana"/>
                          <a:cs typeface="Verdana"/>
                          <a:sym typeface="Verdana"/>
                        </a:rPr>
                        <a:t>Determine what should be subtracted from the model.</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r>
                        <a:rPr lang="en-US" dirty="0">
                          <a:latin typeface="Verdana"/>
                          <a:ea typeface="Verdana"/>
                          <a:cs typeface="Verdana"/>
                          <a:sym typeface="Verdana"/>
                        </a:rPr>
                        <a:t>6</a:t>
                      </a:r>
                      <a:endParaRPr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1"/>
                  </a:ext>
                </a:extLst>
              </a:tr>
              <a:tr h="616550">
                <a:tc>
                  <a:txBody>
                    <a:bodyPr/>
                    <a:lstStyle/>
                    <a:p>
                      <a:pPr marL="0" lvl="0" indent="0" algn="l" rtl="0">
                        <a:spcBef>
                          <a:spcPts val="0"/>
                        </a:spcBef>
                        <a:spcAft>
                          <a:spcPts val="0"/>
                        </a:spcAft>
                        <a:buNone/>
                      </a:pPr>
                      <a:r>
                        <a:rPr lang="en-US">
                          <a:latin typeface="Verdana"/>
                          <a:ea typeface="Verdana"/>
                          <a:cs typeface="Verdana"/>
                          <a:sym typeface="Verdana"/>
                        </a:rPr>
                        <a:t>If the chips that need to be removed from the model are not available, add the number of zero pairs needed to be able to do so.</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2"/>
                  </a:ext>
                </a:extLst>
              </a:tr>
              <a:tr h="616550">
                <a:tc gridSpan="2">
                  <a:txBody>
                    <a:bodyPr/>
                    <a:lstStyle/>
                    <a:p>
                      <a:pPr marL="0" lvl="0" indent="0" algn="l" rtl="0">
                        <a:spcBef>
                          <a:spcPts val="0"/>
                        </a:spcBef>
                        <a:spcAft>
                          <a:spcPts val="0"/>
                        </a:spcAft>
                        <a:buNone/>
                      </a:pPr>
                      <a:r>
                        <a:rPr lang="en-US">
                          <a:latin typeface="Verdana"/>
                          <a:ea typeface="Verdana"/>
                          <a:cs typeface="Verdana"/>
                          <a:sym typeface="Verdana"/>
                        </a:rPr>
                        <a:t>Cross out the integer chips from the model drawn above to represent the subtraction.</a:t>
                      </a:r>
                      <a:endParaRPr>
                        <a:latin typeface="Verdana"/>
                        <a:ea typeface="Verdana"/>
                        <a:cs typeface="Verdana"/>
                        <a:sym typeface="Verdana"/>
                      </a:endParaRPr>
                    </a:p>
                  </a:txBody>
                  <a:tcPr marL="91425" marR="91425" marT="91425" marB="91425"/>
                </a:tc>
                <a:tc hMerge="1">
                  <a:txBody>
                    <a:bodyPr/>
                    <a:lstStyle/>
                    <a:p>
                      <a:endParaRPr lang="en-US"/>
                    </a:p>
                  </a:txBody>
                  <a:tcPr/>
                </a:tc>
                <a:extLst>
                  <a:ext uri="{0D108BD9-81ED-4DB2-BD59-A6C34878D82A}">
                    <a16:rowId xmlns:a16="http://schemas.microsoft.com/office/drawing/2014/main" xmlns="" val="10003"/>
                  </a:ext>
                </a:extLst>
              </a:tr>
              <a:tr h="616550">
                <a:tc>
                  <a:txBody>
                    <a:bodyPr/>
                    <a:lstStyle/>
                    <a:p>
                      <a:pPr marL="0" lvl="0" indent="0" algn="l" rtl="0">
                        <a:spcBef>
                          <a:spcPts val="0"/>
                        </a:spcBef>
                        <a:spcAft>
                          <a:spcPts val="0"/>
                        </a:spcAft>
                        <a:buNone/>
                      </a:pPr>
                      <a:r>
                        <a:rPr lang="en-US">
                          <a:latin typeface="Verdana"/>
                          <a:ea typeface="Verdana"/>
                          <a:cs typeface="Verdana"/>
                          <a:sym typeface="Verdana"/>
                        </a:rPr>
                        <a:t>Find the value of the expression based on the integer chips remaining.</a:t>
                      </a:r>
                      <a:endParaRPr>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dirty="0">
                          <a:latin typeface="Verdana"/>
                          <a:ea typeface="Verdana"/>
                          <a:cs typeface="Verdana"/>
                          <a:sym typeface="Verdana"/>
                        </a:rPr>
                        <a:t>−3 − 6 = _____</a:t>
                      </a:r>
                      <a:endParaRPr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4"/>
                  </a:ext>
                </a:extLst>
              </a:tr>
            </a:tbl>
          </a:graphicData>
        </a:graphic>
      </p:graphicFrame>
      <p:sp>
        <p:nvSpPr>
          <p:cNvPr id="240" name="Google Shape;240;p20"/>
          <p:cNvSpPr txBox="1"/>
          <p:nvPr/>
        </p:nvSpPr>
        <p:spPr>
          <a:xfrm>
            <a:off x="7187100" y="3572626"/>
            <a:ext cx="2738100" cy="400079"/>
          </a:xfrm>
          <a:prstGeom prst="rect">
            <a:avLst/>
          </a:prstGeom>
          <a:noFill/>
          <a:ln>
            <a:noFill/>
          </a:ln>
        </p:spPr>
        <p:txBody>
          <a:bodyPr spcFirstLastPara="1" wrap="square" lIns="91425" tIns="91425" rIns="91425" bIns="91425" anchor="t" anchorCtr="0">
            <a:spAutoFit/>
          </a:bodyPr>
          <a:lstStyle/>
          <a:p>
            <a:r>
              <a:rPr lang="en-US" dirty="0">
                <a:latin typeface="Verdana"/>
                <a:ea typeface="Verdana"/>
                <a:cs typeface="Verdana"/>
                <a:sym typeface="Verdana"/>
              </a:rPr>
              <a:t>integer chips need to be </a:t>
            </a:r>
          </a:p>
        </p:txBody>
      </p:sp>
      <p:pic>
        <p:nvPicPr>
          <p:cNvPr id="241" name="Google Shape;241;p20"/>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6371307" y="3556289"/>
            <a:ext cx="881475" cy="461325"/>
          </a:xfrm>
          <a:prstGeom prst="rect">
            <a:avLst/>
          </a:prstGeom>
          <a:noFill/>
          <a:ln>
            <a:noFill/>
          </a:ln>
        </p:spPr>
      </p:pic>
      <p:pic>
        <p:nvPicPr>
          <p:cNvPr id="242" name="Google Shape;242;p20"/>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6826836" y="4495659"/>
            <a:ext cx="1825801" cy="752525"/>
          </a:xfrm>
          <a:prstGeom prst="rect">
            <a:avLst/>
          </a:prstGeom>
          <a:noFill/>
          <a:ln>
            <a:noFill/>
          </a:ln>
        </p:spPr>
      </p:pic>
      <p:pic>
        <p:nvPicPr>
          <p:cNvPr id="243" name="Google Shape;243;p20"/>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6967800" y="2601586"/>
            <a:ext cx="1825801" cy="752525"/>
          </a:xfrm>
          <a:prstGeom prst="rect">
            <a:avLst/>
          </a:prstGeom>
          <a:noFill/>
          <a:ln>
            <a:noFill/>
          </a:ln>
        </p:spPr>
      </p:pic>
      <p:sp>
        <p:nvSpPr>
          <p:cNvPr id="2" name="TextBox 1">
            <a:extLst>
              <a:ext uri="{FF2B5EF4-FFF2-40B4-BE49-F238E27FC236}">
                <a16:creationId xmlns:a16="http://schemas.microsoft.com/office/drawing/2014/main" xmlns="" id="{0AD71369-8CFA-4A24-B129-87DA865C3282}"/>
              </a:ext>
            </a:extLst>
          </p:cNvPr>
          <p:cNvSpPr txBox="1"/>
          <p:nvPr/>
        </p:nvSpPr>
        <p:spPr>
          <a:xfrm>
            <a:off x="6192002" y="4017480"/>
            <a:ext cx="3377396" cy="523220"/>
          </a:xfrm>
          <a:prstGeom prst="rect">
            <a:avLst/>
          </a:prstGeom>
          <a:noFill/>
        </p:spPr>
        <p:txBody>
          <a:bodyPr wrap="square" rtlCol="0">
            <a:spAutoFit/>
          </a:bodyPr>
          <a:lstStyle/>
          <a:p>
            <a:r>
              <a:rPr lang="en-US" dirty="0">
                <a:latin typeface="Verdana"/>
                <a:ea typeface="Verdana"/>
                <a:cs typeface="Verdana"/>
                <a:sym typeface="Verdana"/>
              </a:rPr>
              <a:t>subtracted from the model</a:t>
            </a:r>
          </a:p>
          <a:p>
            <a:endParaRPr lang="en-US" dirty="0"/>
          </a:p>
        </p:txBody>
      </p:sp>
      <p:sp>
        <p:nvSpPr>
          <p:cNvPr id="14"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261</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115223ae94b_0_46"/>
          <p:cNvSpPr/>
          <p:nvPr/>
        </p:nvSpPr>
        <p:spPr>
          <a:xfrm>
            <a:off x="-1763"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252" name="Google Shape;252;g115223ae94b_0_46"/>
          <p:cNvSpPr txBox="1"/>
          <p:nvPr/>
        </p:nvSpPr>
        <p:spPr>
          <a:xfrm>
            <a:off x="1932440" y="217993"/>
            <a:ext cx="8327100" cy="1400700"/>
          </a:xfrm>
          <a:prstGeom prst="rect">
            <a:avLst/>
          </a:prstGeom>
          <a:noFill/>
          <a:ln>
            <a:noFill/>
          </a:ln>
        </p:spPr>
        <p:txBody>
          <a:bodyPr spcFirstLastPara="1" wrap="square" lIns="91425" tIns="45700" rIns="91425" bIns="45700" anchor="t" anchorCtr="0">
            <a:spAutoFit/>
          </a:bodyPr>
          <a:lstStyle/>
          <a:p>
            <a:pPr marL="342900" indent="-342900">
              <a:buSzPct val="100000"/>
              <a:buFont typeface="+mj-lt"/>
              <a:buAutoNum type="arabicPeriod" startAt="3"/>
            </a:pPr>
            <a:r>
              <a:rPr lang="en-US" sz="1700" dirty="0">
                <a:latin typeface="Verdana"/>
                <a:ea typeface="Verdana"/>
                <a:cs typeface="Verdana"/>
                <a:sym typeface="Verdana"/>
              </a:rPr>
              <a:t>Look at your guess for representing (−5) − 2. Using the directions in the table for (−3) − 6, determine if your guess was correct. If your guess was correct, explain how you decided you should add two zero pairs to the model. If your guess was not correct, explain what confused you about the zero pairs.</a:t>
            </a:r>
            <a:endParaRPr sz="700" dirty="0"/>
          </a:p>
        </p:txBody>
      </p:sp>
      <p:sp>
        <p:nvSpPr>
          <p:cNvPr id="253" name="Google Shape;253;g115223ae94b_0_46"/>
          <p:cNvSpPr txBox="1"/>
          <p:nvPr/>
        </p:nvSpPr>
        <p:spPr>
          <a:xfrm>
            <a:off x="2024400" y="1872800"/>
            <a:ext cx="8143200" cy="708000"/>
          </a:xfrm>
          <a:prstGeom prst="rect">
            <a:avLst/>
          </a:prstGeom>
          <a:noFill/>
          <a:ln>
            <a:noFill/>
          </a:ln>
        </p:spPr>
        <p:txBody>
          <a:bodyPr spcFirstLastPara="1" wrap="square" lIns="91425" tIns="91425" rIns="91425" bIns="91425" anchor="t" anchorCtr="0">
            <a:spAutoFit/>
          </a:bodyPr>
          <a:lstStyle/>
          <a:p>
            <a:pPr marL="342900" indent="-342900">
              <a:buFont typeface="+mj-lt"/>
              <a:buAutoNum type="arabicPeriod" startAt="4"/>
            </a:pPr>
            <a:r>
              <a:rPr lang="en-US" sz="1700" dirty="0">
                <a:latin typeface="Verdana"/>
                <a:ea typeface="Verdana"/>
                <a:cs typeface="Verdana"/>
                <a:sym typeface="Verdana"/>
              </a:rPr>
              <a:t>Complete the table to show how 4 − 6 can be represented using integer chips.</a:t>
            </a:r>
            <a:endParaRPr sz="1700" dirty="0">
              <a:latin typeface="Verdana"/>
              <a:ea typeface="Verdana"/>
              <a:cs typeface="Verdana"/>
              <a:sym typeface="Verdana"/>
            </a:endParaRPr>
          </a:p>
        </p:txBody>
      </p:sp>
      <p:graphicFrame>
        <p:nvGraphicFramePr>
          <p:cNvPr id="254" name="Google Shape;254;g115223ae94b_0_46"/>
          <p:cNvGraphicFramePr/>
          <p:nvPr/>
        </p:nvGraphicFramePr>
        <p:xfrm>
          <a:off x="2476500" y="2580800"/>
          <a:ext cx="7239000" cy="3834540"/>
        </p:xfrm>
        <a:graphic>
          <a:graphicData uri="http://schemas.openxmlformats.org/drawingml/2006/table">
            <a:tbl>
              <a:tblPr>
                <a:noFill/>
                <a:tableStyleId>{1A1B13B4-0B9B-4333-87FC-5FEC26DA66D2}</a:tableStyleId>
              </a:tblPr>
              <a:tblGrid>
                <a:gridCol w="3619500">
                  <a:extLst>
                    <a:ext uri="{9D8B030D-6E8A-4147-A177-3AD203B41FA5}">
                      <a16:colId xmlns:a16="http://schemas.microsoft.com/office/drawing/2014/main" xmlns="" val="20000"/>
                    </a:ext>
                  </a:extLst>
                </a:gridCol>
                <a:gridCol w="3619500">
                  <a:extLst>
                    <a:ext uri="{9D8B030D-6E8A-4147-A177-3AD203B41FA5}">
                      <a16:colId xmlns:a16="http://schemas.microsoft.com/office/drawing/2014/main" xmlns="" val="20001"/>
                    </a:ext>
                  </a:extLst>
                </a:gridCol>
              </a:tblGrid>
              <a:tr h="948600">
                <a:tc>
                  <a:txBody>
                    <a:bodyPr/>
                    <a:lstStyle/>
                    <a:p>
                      <a:pPr marL="0" lvl="0" indent="0" algn="l" rtl="0">
                        <a:spcBef>
                          <a:spcPts val="0"/>
                        </a:spcBef>
                        <a:spcAft>
                          <a:spcPts val="0"/>
                        </a:spcAft>
                        <a:buNone/>
                      </a:pPr>
                      <a:r>
                        <a:rPr lang="en-US">
                          <a:latin typeface="Verdana"/>
                          <a:ea typeface="Verdana"/>
                          <a:cs typeface="Verdana"/>
                          <a:sym typeface="Verdana"/>
                        </a:rPr>
                        <a:t>Begin by representing the first integer with counters.</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0"/>
                  </a:ext>
                </a:extLst>
              </a:tr>
              <a:tr h="616550">
                <a:tc>
                  <a:txBody>
                    <a:bodyPr/>
                    <a:lstStyle/>
                    <a:p>
                      <a:pPr marL="0" lvl="0" indent="0" algn="l" rtl="0">
                        <a:spcBef>
                          <a:spcPts val="0"/>
                        </a:spcBef>
                        <a:spcAft>
                          <a:spcPts val="0"/>
                        </a:spcAft>
                        <a:buNone/>
                      </a:pPr>
                      <a:r>
                        <a:rPr lang="en-US">
                          <a:latin typeface="Verdana"/>
                          <a:ea typeface="Verdana"/>
                          <a:cs typeface="Verdana"/>
                          <a:sym typeface="Verdana"/>
                        </a:rPr>
                        <a:t>Determine what should be subtracted from the model.</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r>
                        <a:rPr lang="en-US">
                          <a:latin typeface="Verdana"/>
                          <a:ea typeface="Verdana"/>
                          <a:cs typeface="Verdana"/>
                          <a:sym typeface="Verdana"/>
                        </a:rPr>
                        <a:t>_</a:t>
                      </a: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1"/>
                  </a:ext>
                </a:extLst>
              </a:tr>
              <a:tr h="616550">
                <a:tc>
                  <a:txBody>
                    <a:bodyPr/>
                    <a:lstStyle/>
                    <a:p>
                      <a:pPr marL="0" lvl="0" indent="0" algn="l" rtl="0">
                        <a:spcBef>
                          <a:spcPts val="0"/>
                        </a:spcBef>
                        <a:spcAft>
                          <a:spcPts val="0"/>
                        </a:spcAft>
                        <a:buNone/>
                      </a:pPr>
                      <a:r>
                        <a:rPr lang="en-US">
                          <a:latin typeface="Verdana"/>
                          <a:ea typeface="Verdana"/>
                          <a:cs typeface="Verdana"/>
                          <a:sym typeface="Verdana"/>
                        </a:rPr>
                        <a:t>If the chips that need to be removed from the model are not available, add the number of zero pairs needed to be able to do so.</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2"/>
                  </a:ext>
                </a:extLst>
              </a:tr>
              <a:tr h="616550">
                <a:tc gridSpan="2">
                  <a:txBody>
                    <a:bodyPr/>
                    <a:lstStyle/>
                    <a:p>
                      <a:pPr marL="0" lvl="0" indent="0" algn="l" rtl="0">
                        <a:spcBef>
                          <a:spcPts val="0"/>
                        </a:spcBef>
                        <a:spcAft>
                          <a:spcPts val="0"/>
                        </a:spcAft>
                        <a:buNone/>
                      </a:pPr>
                      <a:r>
                        <a:rPr lang="en-US">
                          <a:latin typeface="Verdana"/>
                          <a:ea typeface="Verdana"/>
                          <a:cs typeface="Verdana"/>
                          <a:sym typeface="Verdana"/>
                        </a:rPr>
                        <a:t>Cross out the integer chips from the model drawn above to represent the subtraction.</a:t>
                      </a:r>
                      <a:endParaRPr>
                        <a:latin typeface="Verdana"/>
                        <a:ea typeface="Verdana"/>
                        <a:cs typeface="Verdana"/>
                        <a:sym typeface="Verdana"/>
                      </a:endParaRPr>
                    </a:p>
                  </a:txBody>
                  <a:tcPr marL="91425" marR="91425" marT="91425" marB="91425"/>
                </a:tc>
                <a:tc hMerge="1">
                  <a:txBody>
                    <a:bodyPr/>
                    <a:lstStyle/>
                    <a:p>
                      <a:endParaRPr lang="en-US"/>
                    </a:p>
                  </a:txBody>
                  <a:tcPr/>
                </a:tc>
                <a:extLst>
                  <a:ext uri="{0D108BD9-81ED-4DB2-BD59-A6C34878D82A}">
                    <a16:rowId xmlns:a16="http://schemas.microsoft.com/office/drawing/2014/main" xmlns="" val="10003"/>
                  </a:ext>
                </a:extLst>
              </a:tr>
              <a:tr h="616550">
                <a:tc>
                  <a:txBody>
                    <a:bodyPr/>
                    <a:lstStyle/>
                    <a:p>
                      <a:pPr marL="0" lvl="0" indent="0" algn="l" rtl="0">
                        <a:spcBef>
                          <a:spcPts val="0"/>
                        </a:spcBef>
                        <a:spcAft>
                          <a:spcPts val="0"/>
                        </a:spcAft>
                        <a:buNone/>
                      </a:pPr>
                      <a:r>
                        <a:rPr lang="en-US">
                          <a:latin typeface="Verdana"/>
                          <a:ea typeface="Verdana"/>
                          <a:cs typeface="Verdana"/>
                          <a:sym typeface="Verdana"/>
                        </a:rPr>
                        <a:t>Find the value of the expression based on the integer chips remaining.</a:t>
                      </a:r>
                      <a:endParaRPr>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a:latin typeface="Verdana"/>
                          <a:ea typeface="Verdana"/>
                          <a:cs typeface="Verdana"/>
                          <a:sym typeface="Verdana"/>
                        </a:rPr>
                        <a:t>4 − 6 = ______</a:t>
                      </a: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4"/>
                  </a:ext>
                </a:extLst>
              </a:tr>
            </a:tbl>
          </a:graphicData>
        </a:graphic>
      </p:graphicFrame>
      <p:sp>
        <p:nvSpPr>
          <p:cNvPr id="255" name="Google Shape;255;g115223ae94b_0_46"/>
          <p:cNvSpPr txBox="1"/>
          <p:nvPr/>
        </p:nvSpPr>
        <p:spPr>
          <a:xfrm>
            <a:off x="7187100" y="3572625"/>
            <a:ext cx="2738100" cy="615600"/>
          </a:xfrm>
          <a:prstGeom prst="rect">
            <a:avLst/>
          </a:prstGeom>
          <a:noFill/>
          <a:ln>
            <a:noFill/>
          </a:ln>
        </p:spPr>
        <p:txBody>
          <a:bodyPr spcFirstLastPara="1" wrap="square" lIns="91425" tIns="91425" rIns="91425" bIns="91425" anchor="t" anchorCtr="0">
            <a:spAutoFit/>
          </a:bodyPr>
          <a:lstStyle/>
          <a:p>
            <a:r>
              <a:rPr lang="en-US">
                <a:latin typeface="Verdana"/>
                <a:ea typeface="Verdana"/>
                <a:cs typeface="Verdana"/>
                <a:sym typeface="Verdana"/>
              </a:rPr>
              <a:t>integer chips need to be subtracted from the model</a:t>
            </a:r>
            <a:endParaRPr>
              <a:latin typeface="Verdana"/>
              <a:ea typeface="Verdana"/>
              <a:cs typeface="Verdana"/>
              <a:sym typeface="Verdana"/>
            </a:endParaRPr>
          </a:p>
        </p:txBody>
      </p:sp>
      <p:pic>
        <p:nvPicPr>
          <p:cNvPr id="256" name="Google Shape;256;g115223ae94b_0_46"/>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305626" y="3649761"/>
            <a:ext cx="881475" cy="461325"/>
          </a:xfrm>
          <a:prstGeom prst="rect">
            <a:avLst/>
          </a:prstGeom>
          <a:noFill/>
          <a:ln>
            <a:noFill/>
          </a:ln>
        </p:spPr>
      </p:pic>
      <p:sp>
        <p:nvSpPr>
          <p:cNvPr id="10"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262</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1"/>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64" name="Google Shape;264;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266" name="Google Shape;266;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2"/>
          <p:cNvSpPr/>
          <p:nvPr/>
        </p:nvSpPr>
        <p:spPr>
          <a:xfrm>
            <a:off x="-2175"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74" name="Google Shape;274;p22"/>
          <p:cNvSpPr txBox="1"/>
          <p:nvPr/>
        </p:nvSpPr>
        <p:spPr>
          <a:xfrm>
            <a:off x="1421313" y="6849"/>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500" b="1">
                <a:solidFill>
                  <a:srgbClr val="54B5D1"/>
                </a:solidFill>
                <a:latin typeface="Verdana"/>
                <a:ea typeface="Verdana"/>
                <a:cs typeface="Verdana"/>
                <a:sym typeface="Verdana"/>
              </a:rPr>
              <a:t>6.6.4 Guided Practice: Subtraction </a:t>
            </a:r>
            <a:r>
              <a:rPr lang="en-US" sz="3500" b="1" smtClean="0">
                <a:solidFill>
                  <a:srgbClr val="54B5D1"/>
                </a:solidFill>
                <a:latin typeface="Verdana"/>
                <a:ea typeface="Verdana"/>
                <a:cs typeface="Verdana"/>
                <a:sym typeface="Verdana"/>
              </a:rPr>
              <a:t>With </a:t>
            </a:r>
            <a:r>
              <a:rPr lang="en-US" sz="3500" b="1" dirty="0">
                <a:solidFill>
                  <a:srgbClr val="54B5D1"/>
                </a:solidFill>
                <a:latin typeface="Verdana"/>
                <a:ea typeface="Verdana"/>
                <a:cs typeface="Verdana"/>
                <a:sym typeface="Verdana"/>
              </a:rPr>
              <a:t>Integer Chips </a:t>
            </a:r>
            <a:endParaRPr sz="1300" dirty="0"/>
          </a:p>
        </p:txBody>
      </p:sp>
      <p:pic>
        <p:nvPicPr>
          <p:cNvPr id="276" name="Google Shape;276;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71505" y="172875"/>
            <a:ext cx="749808" cy="749808"/>
          </a:xfrm>
          <a:prstGeom prst="rect">
            <a:avLst/>
          </a:prstGeom>
          <a:noFill/>
          <a:ln>
            <a:noFill/>
          </a:ln>
          <a:effectLst>
            <a:outerShdw blurRad="50800" dist="38100" dir="2700000" algn="tl" rotWithShape="0">
              <a:srgbClr val="000000">
                <a:alpha val="40000"/>
              </a:srgbClr>
            </a:outerShdw>
          </a:effectLst>
        </p:spPr>
      </p:pic>
      <p:sp>
        <p:nvSpPr>
          <p:cNvPr id="277" name="Google Shape;277;p22"/>
          <p:cNvSpPr txBox="1"/>
          <p:nvPr/>
        </p:nvSpPr>
        <p:spPr>
          <a:xfrm>
            <a:off x="1421313" y="1386025"/>
            <a:ext cx="9605370" cy="708000"/>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a:pPr>
            <a:r>
              <a:rPr lang="en-US" sz="2000" dirty="0">
                <a:latin typeface="Verdana"/>
                <a:ea typeface="Verdana"/>
                <a:cs typeface="Verdana"/>
                <a:sym typeface="Verdana"/>
              </a:rPr>
              <a:t>Complete the table to show how (−2) − (−5) can be represented using integer chips.</a:t>
            </a:r>
            <a:endParaRPr sz="1000" dirty="0"/>
          </a:p>
        </p:txBody>
      </p:sp>
      <p:graphicFrame>
        <p:nvGraphicFramePr>
          <p:cNvPr id="278" name="Google Shape;278;p22"/>
          <p:cNvGraphicFramePr/>
          <p:nvPr/>
        </p:nvGraphicFramePr>
        <p:xfrm>
          <a:off x="2476500" y="2358575"/>
          <a:ext cx="7239000" cy="3834540"/>
        </p:xfrm>
        <a:graphic>
          <a:graphicData uri="http://schemas.openxmlformats.org/drawingml/2006/table">
            <a:tbl>
              <a:tblPr>
                <a:noFill/>
                <a:tableStyleId>{1A1B13B4-0B9B-4333-87FC-5FEC26DA66D2}</a:tableStyleId>
              </a:tblPr>
              <a:tblGrid>
                <a:gridCol w="3619500">
                  <a:extLst>
                    <a:ext uri="{9D8B030D-6E8A-4147-A177-3AD203B41FA5}">
                      <a16:colId xmlns:a16="http://schemas.microsoft.com/office/drawing/2014/main" xmlns="" val="20000"/>
                    </a:ext>
                  </a:extLst>
                </a:gridCol>
                <a:gridCol w="3619500">
                  <a:extLst>
                    <a:ext uri="{9D8B030D-6E8A-4147-A177-3AD203B41FA5}">
                      <a16:colId xmlns:a16="http://schemas.microsoft.com/office/drawing/2014/main" xmlns="" val="20001"/>
                    </a:ext>
                  </a:extLst>
                </a:gridCol>
              </a:tblGrid>
              <a:tr h="948600">
                <a:tc>
                  <a:txBody>
                    <a:bodyPr/>
                    <a:lstStyle/>
                    <a:p>
                      <a:pPr marL="0" lvl="0" indent="0" algn="l" rtl="0">
                        <a:spcBef>
                          <a:spcPts val="0"/>
                        </a:spcBef>
                        <a:spcAft>
                          <a:spcPts val="0"/>
                        </a:spcAft>
                        <a:buNone/>
                      </a:pPr>
                      <a:r>
                        <a:rPr lang="en-US">
                          <a:latin typeface="Verdana"/>
                          <a:ea typeface="Verdana"/>
                          <a:cs typeface="Verdana"/>
                          <a:sym typeface="Verdana"/>
                        </a:rPr>
                        <a:t>Begin by representing the first integer with counters.</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0"/>
                  </a:ext>
                </a:extLst>
              </a:tr>
              <a:tr h="616550">
                <a:tc>
                  <a:txBody>
                    <a:bodyPr/>
                    <a:lstStyle/>
                    <a:p>
                      <a:pPr marL="0" lvl="0" indent="0" algn="l" rtl="0">
                        <a:spcBef>
                          <a:spcPts val="0"/>
                        </a:spcBef>
                        <a:spcAft>
                          <a:spcPts val="0"/>
                        </a:spcAft>
                        <a:buNone/>
                      </a:pPr>
                      <a:r>
                        <a:rPr lang="en-US">
                          <a:latin typeface="Verdana"/>
                          <a:ea typeface="Verdana"/>
                          <a:cs typeface="Verdana"/>
                          <a:sym typeface="Verdana"/>
                        </a:rPr>
                        <a:t>Determine what should be subtracted from the model.</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r>
                        <a:rPr lang="en-US">
                          <a:latin typeface="Verdana"/>
                          <a:ea typeface="Verdana"/>
                          <a:cs typeface="Verdana"/>
                          <a:sym typeface="Verdana"/>
                        </a:rPr>
                        <a:t>_</a:t>
                      </a: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1"/>
                  </a:ext>
                </a:extLst>
              </a:tr>
              <a:tr h="616550">
                <a:tc>
                  <a:txBody>
                    <a:bodyPr/>
                    <a:lstStyle/>
                    <a:p>
                      <a:pPr marL="0" lvl="0" indent="0" algn="l" rtl="0">
                        <a:spcBef>
                          <a:spcPts val="0"/>
                        </a:spcBef>
                        <a:spcAft>
                          <a:spcPts val="0"/>
                        </a:spcAft>
                        <a:buNone/>
                      </a:pPr>
                      <a:r>
                        <a:rPr lang="en-US">
                          <a:latin typeface="Verdana"/>
                          <a:ea typeface="Verdana"/>
                          <a:cs typeface="Verdana"/>
                          <a:sym typeface="Verdana"/>
                        </a:rPr>
                        <a:t>If the chips that need to be removed from the model are not available, add the number of zero pairs needed to be able to do so.</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2"/>
                  </a:ext>
                </a:extLst>
              </a:tr>
              <a:tr h="616550">
                <a:tc gridSpan="2">
                  <a:txBody>
                    <a:bodyPr/>
                    <a:lstStyle/>
                    <a:p>
                      <a:pPr marL="0" lvl="0" indent="0" algn="l" rtl="0">
                        <a:spcBef>
                          <a:spcPts val="0"/>
                        </a:spcBef>
                        <a:spcAft>
                          <a:spcPts val="0"/>
                        </a:spcAft>
                        <a:buNone/>
                      </a:pPr>
                      <a:r>
                        <a:rPr lang="en-US">
                          <a:latin typeface="Verdana"/>
                          <a:ea typeface="Verdana"/>
                          <a:cs typeface="Verdana"/>
                          <a:sym typeface="Verdana"/>
                        </a:rPr>
                        <a:t>Cross out the integer chips from the model drawn above to represent the subtraction.</a:t>
                      </a:r>
                      <a:endParaRPr>
                        <a:latin typeface="Verdana"/>
                        <a:ea typeface="Verdana"/>
                        <a:cs typeface="Verdana"/>
                        <a:sym typeface="Verdana"/>
                      </a:endParaRPr>
                    </a:p>
                  </a:txBody>
                  <a:tcPr marL="91425" marR="91425" marT="91425" marB="91425"/>
                </a:tc>
                <a:tc hMerge="1">
                  <a:txBody>
                    <a:bodyPr/>
                    <a:lstStyle/>
                    <a:p>
                      <a:endParaRPr lang="en-US"/>
                    </a:p>
                  </a:txBody>
                  <a:tcPr/>
                </a:tc>
                <a:extLst>
                  <a:ext uri="{0D108BD9-81ED-4DB2-BD59-A6C34878D82A}">
                    <a16:rowId xmlns:a16="http://schemas.microsoft.com/office/drawing/2014/main" xmlns="" val="10003"/>
                  </a:ext>
                </a:extLst>
              </a:tr>
              <a:tr h="616550">
                <a:tc>
                  <a:txBody>
                    <a:bodyPr/>
                    <a:lstStyle/>
                    <a:p>
                      <a:pPr marL="0" lvl="0" indent="0" algn="l" rtl="0">
                        <a:spcBef>
                          <a:spcPts val="0"/>
                        </a:spcBef>
                        <a:spcAft>
                          <a:spcPts val="0"/>
                        </a:spcAft>
                        <a:buNone/>
                      </a:pPr>
                      <a:r>
                        <a:rPr lang="en-US">
                          <a:latin typeface="Verdana"/>
                          <a:ea typeface="Verdana"/>
                          <a:cs typeface="Verdana"/>
                          <a:sym typeface="Verdana"/>
                        </a:rPr>
                        <a:t>Find the value of the expression based on the integer chips remaining.</a:t>
                      </a:r>
                      <a:endParaRPr>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dirty="0">
                          <a:latin typeface="Verdana"/>
                          <a:ea typeface="Verdana"/>
                          <a:cs typeface="Verdana"/>
                          <a:sym typeface="Verdana"/>
                        </a:rPr>
                        <a:t>−2 − (−5) = ______</a:t>
                      </a:r>
                      <a:endParaRPr dirty="0">
                        <a:latin typeface="Verdana"/>
                        <a:ea typeface="Verdana"/>
                        <a:cs typeface="Verdana"/>
                        <a:sym typeface="Verdana"/>
                      </a:endParaRPr>
                    </a:p>
                  </a:txBody>
                  <a:tcPr marL="91425" marR="91425" marT="91425" marB="91425"/>
                </a:tc>
                <a:extLst>
                  <a:ext uri="{0D108BD9-81ED-4DB2-BD59-A6C34878D82A}">
                    <a16:rowId xmlns:a16="http://schemas.microsoft.com/office/drawing/2014/main" xmlns="" val="10004"/>
                  </a:ext>
                </a:extLst>
              </a:tr>
            </a:tbl>
          </a:graphicData>
        </a:graphic>
      </p:graphicFrame>
      <p:pic>
        <p:nvPicPr>
          <p:cNvPr id="279" name="Google Shape;279;p22"/>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6359626" y="3368961"/>
            <a:ext cx="881475" cy="461325"/>
          </a:xfrm>
          <a:prstGeom prst="rect">
            <a:avLst/>
          </a:prstGeom>
          <a:noFill/>
          <a:ln>
            <a:noFill/>
          </a:ln>
        </p:spPr>
      </p:pic>
      <p:sp>
        <p:nvSpPr>
          <p:cNvPr id="280" name="Google Shape;280;p22"/>
          <p:cNvSpPr txBox="1"/>
          <p:nvPr/>
        </p:nvSpPr>
        <p:spPr>
          <a:xfrm>
            <a:off x="7210650" y="3307175"/>
            <a:ext cx="2738100" cy="615600"/>
          </a:xfrm>
          <a:prstGeom prst="rect">
            <a:avLst/>
          </a:prstGeom>
          <a:noFill/>
          <a:ln>
            <a:noFill/>
          </a:ln>
        </p:spPr>
        <p:txBody>
          <a:bodyPr spcFirstLastPara="1" wrap="square" lIns="91425" tIns="91425" rIns="91425" bIns="91425" anchor="t" anchorCtr="0">
            <a:spAutoFit/>
          </a:bodyPr>
          <a:lstStyle/>
          <a:p>
            <a:r>
              <a:rPr lang="en-US">
                <a:latin typeface="Verdana"/>
                <a:ea typeface="Verdana"/>
                <a:cs typeface="Verdana"/>
                <a:sym typeface="Verdana"/>
              </a:rPr>
              <a:t>integer chips need to be subtracted from the model</a:t>
            </a:r>
            <a:endParaRPr>
              <a:latin typeface="Verdana"/>
              <a:ea typeface="Verdana"/>
              <a:cs typeface="Verdana"/>
              <a:sym typeface="Verdana"/>
            </a:endParaRPr>
          </a:p>
        </p:txBody>
      </p:sp>
      <p:sp>
        <p:nvSpPr>
          <p:cNvPr id="11"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262</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3"/>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89" name="Google Shape;289;p23"/>
          <p:cNvSpPr txBox="1"/>
          <p:nvPr/>
        </p:nvSpPr>
        <p:spPr>
          <a:xfrm>
            <a:off x="1372564" y="520393"/>
            <a:ext cx="9597502" cy="400200"/>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2. Use integer chips to represent how </a:t>
            </a:r>
            <a:r>
              <a:rPr lang="en-US" sz="2000" baseline="30000" dirty="0">
                <a:latin typeface="Verdana"/>
                <a:ea typeface="Verdana"/>
                <a:cs typeface="Verdana"/>
                <a:sym typeface="Verdana"/>
              </a:rPr>
              <a:t>-</a:t>
            </a:r>
            <a:r>
              <a:rPr lang="en-US" sz="2000" dirty="0">
                <a:latin typeface="Verdana"/>
                <a:ea typeface="Verdana"/>
                <a:cs typeface="Verdana"/>
                <a:sym typeface="Verdana"/>
              </a:rPr>
              <a:t>4 − </a:t>
            </a:r>
            <a:r>
              <a:rPr lang="en-US" sz="2000" baseline="30000" dirty="0">
                <a:latin typeface="Verdana"/>
                <a:ea typeface="Verdana"/>
                <a:cs typeface="Verdana"/>
                <a:sym typeface="Verdana"/>
              </a:rPr>
              <a:t>-</a:t>
            </a:r>
            <a:r>
              <a:rPr lang="en-US" sz="2000" dirty="0">
                <a:latin typeface="Verdana"/>
                <a:ea typeface="Verdana"/>
                <a:cs typeface="Verdana"/>
                <a:sym typeface="Verdana"/>
              </a:rPr>
              <a:t>4 = 0. </a:t>
            </a:r>
            <a:endParaRPr sz="1000" dirty="0"/>
          </a:p>
        </p:txBody>
      </p:sp>
      <p:grpSp>
        <p:nvGrpSpPr>
          <p:cNvPr id="3" name="Group 2">
            <a:extLst>
              <a:ext uri="{FF2B5EF4-FFF2-40B4-BE49-F238E27FC236}">
                <a16:creationId xmlns:a16="http://schemas.microsoft.com/office/drawing/2014/main" xmlns="" id="{DAC0EB3A-8334-4763-9AB0-02FCD84616F1}"/>
              </a:ext>
            </a:extLst>
          </p:cNvPr>
          <p:cNvGrpSpPr/>
          <p:nvPr/>
        </p:nvGrpSpPr>
        <p:grpSpPr>
          <a:xfrm>
            <a:off x="1394085" y="1212450"/>
            <a:ext cx="9272480" cy="4904242"/>
            <a:chOff x="483775" y="1212450"/>
            <a:chExt cx="8045100" cy="4904242"/>
          </a:xfrm>
        </p:grpSpPr>
        <p:sp>
          <p:nvSpPr>
            <p:cNvPr id="290" name="Google Shape;290;p23"/>
            <p:cNvSpPr txBox="1"/>
            <p:nvPr/>
          </p:nvSpPr>
          <p:spPr>
            <a:xfrm>
              <a:off x="483775" y="1212450"/>
              <a:ext cx="8045100" cy="2339072"/>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startAt="3"/>
              </a:pPr>
              <a:r>
                <a:rPr lang="en-US" sz="2000" dirty="0">
                  <a:latin typeface="Verdana"/>
                  <a:ea typeface="Verdana"/>
                  <a:cs typeface="Verdana"/>
                  <a:sym typeface="Verdana"/>
                </a:rPr>
                <a:t>Jennifer borrowed money from Amber twice. The first time, it was $1 for a bottle of water. The second time, it was $5 for ice cream. Jennifer owes Amber a total of $6. Later, Amber told Jennifer not to worry about paying her back $2 of the $6. The amount that Jennifer still owes Amber can be represented by the expression −6 − (−2).</a:t>
              </a:r>
              <a:endParaRPr sz="2000" dirty="0">
                <a:latin typeface="Verdana"/>
                <a:ea typeface="Verdana"/>
                <a:cs typeface="Verdana"/>
                <a:sym typeface="Verdana"/>
              </a:endParaRPr>
            </a:p>
            <a:p>
              <a:endParaRPr sz="2000" dirty="0">
                <a:latin typeface="Verdana"/>
                <a:ea typeface="Verdana"/>
                <a:cs typeface="Verdana"/>
                <a:sym typeface="Verdana"/>
              </a:endParaRPr>
            </a:p>
          </p:txBody>
        </p:sp>
        <p:sp>
          <p:nvSpPr>
            <p:cNvPr id="2" name="TextBox 1">
              <a:extLst>
                <a:ext uri="{FF2B5EF4-FFF2-40B4-BE49-F238E27FC236}">
                  <a16:creationId xmlns:a16="http://schemas.microsoft.com/office/drawing/2014/main" xmlns="" id="{38F38CA1-1001-494A-AFA9-CF261B04BEB5}"/>
                </a:ext>
              </a:extLst>
            </p:cNvPr>
            <p:cNvSpPr txBox="1"/>
            <p:nvPr/>
          </p:nvSpPr>
          <p:spPr>
            <a:xfrm>
              <a:off x="940165" y="3346703"/>
              <a:ext cx="7132320" cy="2769989"/>
            </a:xfrm>
            <a:prstGeom prst="rect">
              <a:avLst/>
            </a:prstGeom>
            <a:noFill/>
          </p:spPr>
          <p:txBody>
            <a:bodyPr wrap="square" rtlCol="0">
              <a:spAutoFit/>
            </a:bodyPr>
            <a:lstStyle/>
            <a:p>
              <a:r>
                <a:rPr lang="en-US" sz="2000" dirty="0">
                  <a:latin typeface="Verdana"/>
                  <a:ea typeface="Verdana"/>
                  <a:cs typeface="Verdana"/>
                  <a:sym typeface="Verdana"/>
                </a:rPr>
                <a:t> </a:t>
              </a:r>
            </a:p>
            <a:p>
              <a:pPr marL="457200" lvl="2" indent="-457200">
                <a:buFont typeface="+mj-lt"/>
                <a:buAutoNum type="alphaLcPeriod"/>
              </a:pPr>
              <a:r>
                <a:rPr lang="en-US" sz="2000" dirty="0">
                  <a:latin typeface="Verdana"/>
                  <a:ea typeface="Verdana"/>
                  <a:cs typeface="Verdana"/>
                  <a:sym typeface="Verdana"/>
                </a:rPr>
                <a:t>Draw integer chips to represent −6 − (−2) and the value of the expression. </a:t>
              </a:r>
            </a:p>
            <a:p>
              <a:endParaRPr lang="en-US" sz="2000" dirty="0">
                <a:latin typeface="Verdana"/>
                <a:ea typeface="Verdana"/>
                <a:cs typeface="Verdana"/>
                <a:sym typeface="Verdana"/>
              </a:endParaRPr>
            </a:p>
            <a:p>
              <a:endParaRPr lang="en-US" sz="2000" dirty="0">
                <a:latin typeface="Verdana"/>
                <a:ea typeface="Verdana"/>
                <a:cs typeface="Verdana"/>
                <a:sym typeface="Verdana"/>
              </a:endParaRPr>
            </a:p>
            <a:p>
              <a:endParaRPr lang="en-US" sz="2000" dirty="0">
                <a:latin typeface="Verdana"/>
                <a:ea typeface="Verdana"/>
                <a:cs typeface="Verdana"/>
                <a:sym typeface="Verdana"/>
              </a:endParaRPr>
            </a:p>
            <a:p>
              <a:pPr marL="457200" indent="-457200">
                <a:buFont typeface="+mj-lt"/>
                <a:buAutoNum type="alphaLcPeriod" startAt="2"/>
              </a:pPr>
              <a:r>
                <a:rPr lang="en-US" sz="2000" dirty="0">
                  <a:latin typeface="Verdana"/>
                  <a:ea typeface="Verdana"/>
                  <a:cs typeface="Verdana"/>
                  <a:sym typeface="Verdana"/>
                </a:rPr>
                <a:t>Determine the amount that Jennifer still owes Amber.</a:t>
              </a:r>
            </a:p>
            <a:p>
              <a:endParaRPr lang="en-US" dirty="0"/>
            </a:p>
          </p:txBody>
        </p:sp>
      </p:grpSp>
      <p:sp>
        <p:nvSpPr>
          <p:cNvPr id="9"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0"/>
          <p:cNvSpPr/>
          <p:nvPr/>
        </p:nvSpPr>
        <p:spPr>
          <a:xfrm>
            <a:off x="0" y="1452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98" name="Google Shape;298;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299" name="Google Shape;299;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1"/>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08" name="Google Shape;308;p31"/>
          <p:cNvSpPr txBox="1"/>
          <p:nvPr/>
        </p:nvSpPr>
        <p:spPr>
          <a:xfrm>
            <a:off x="1423654" y="123350"/>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E24E5F"/>
                </a:solidFill>
                <a:latin typeface="Verdana"/>
                <a:ea typeface="Verdana"/>
                <a:cs typeface="Verdana"/>
                <a:sym typeface="Verdana"/>
              </a:rPr>
              <a:t>6.6.5 Your Turn!</a:t>
            </a:r>
            <a:endParaRPr/>
          </a:p>
        </p:txBody>
      </p:sp>
      <p:pic>
        <p:nvPicPr>
          <p:cNvPr id="309" name="Google Shape;309;p31"/>
          <p:cNvPicPr preferRelativeResize="0"/>
          <p:nvPr/>
        </p:nvPicPr>
        <p:blipFill rotWithShape="1">
          <a:blip r:embed="rId3">
            <a:alphaModFix/>
          </a:blip>
          <a:srcRect/>
          <a:stretch/>
        </p:blipFill>
        <p:spPr>
          <a:xfrm>
            <a:off x="676354" y="123350"/>
            <a:ext cx="747300" cy="747300"/>
          </a:xfrm>
          <a:prstGeom prst="rect">
            <a:avLst/>
          </a:prstGeom>
          <a:noFill/>
          <a:ln>
            <a:noFill/>
          </a:ln>
        </p:spPr>
      </p:pic>
      <p:sp>
        <p:nvSpPr>
          <p:cNvPr id="311" name="Google Shape;311;p31"/>
          <p:cNvSpPr txBox="1"/>
          <p:nvPr/>
        </p:nvSpPr>
        <p:spPr>
          <a:xfrm>
            <a:off x="1643404" y="1051225"/>
            <a:ext cx="8905188" cy="831000"/>
          </a:xfrm>
          <a:prstGeom prst="rect">
            <a:avLst/>
          </a:prstGeom>
          <a:noFill/>
          <a:ln>
            <a:noFill/>
          </a:ln>
        </p:spPr>
        <p:txBody>
          <a:bodyPr spcFirstLastPara="1" wrap="square" lIns="91425" tIns="45700" rIns="91425" bIns="45700" anchor="t" anchorCtr="0">
            <a:spAutoFit/>
          </a:bodyPr>
          <a:lstStyle/>
          <a:p>
            <a:pPr marL="457200" indent="-457200">
              <a:buSzPts val="2400"/>
              <a:buFont typeface="+mj-lt"/>
              <a:buAutoNum type="arabicPeriod"/>
            </a:pPr>
            <a:r>
              <a:rPr lang="en-US" sz="2400" dirty="0">
                <a:latin typeface="Verdana"/>
                <a:ea typeface="Verdana"/>
                <a:cs typeface="Verdana"/>
                <a:sym typeface="Verdana"/>
              </a:rPr>
              <a:t>Use integer chips to find the value of each expression.</a:t>
            </a:r>
            <a:endParaRPr dirty="0"/>
          </a:p>
        </p:txBody>
      </p:sp>
      <p:sp>
        <p:nvSpPr>
          <p:cNvPr id="312" name="Google Shape;312;p31"/>
          <p:cNvSpPr txBox="1"/>
          <p:nvPr/>
        </p:nvSpPr>
        <p:spPr>
          <a:xfrm>
            <a:off x="2478000" y="2062800"/>
            <a:ext cx="3164400" cy="3509400"/>
          </a:xfrm>
          <a:prstGeom prst="rect">
            <a:avLst/>
          </a:prstGeom>
          <a:noFill/>
          <a:ln>
            <a:noFill/>
          </a:ln>
        </p:spPr>
        <p:txBody>
          <a:bodyPr spcFirstLastPara="1" wrap="square" lIns="91425" tIns="91425" rIns="91425" bIns="91425" anchor="t" anchorCtr="0">
            <a:spAutoFit/>
          </a:bodyPr>
          <a:lstStyle/>
          <a:p>
            <a:r>
              <a:rPr lang="en-US" sz="2400" dirty="0">
                <a:latin typeface="Verdana"/>
                <a:ea typeface="Verdana"/>
                <a:cs typeface="Verdana"/>
                <a:sym typeface="Verdana"/>
              </a:rPr>
              <a:t>a. −11 − 6</a:t>
            </a:r>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r>
              <a:rPr lang="en-US" sz="2400" dirty="0">
                <a:latin typeface="Verdana"/>
                <a:ea typeface="Verdana"/>
                <a:cs typeface="Verdana"/>
                <a:sym typeface="Verdana"/>
              </a:rPr>
              <a:t>c. 5 − (−8)</a:t>
            </a:r>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r>
              <a:rPr lang="en-US" sz="2400" dirty="0">
                <a:latin typeface="Verdana"/>
                <a:ea typeface="Verdana"/>
                <a:cs typeface="Verdana"/>
                <a:sym typeface="Verdana"/>
              </a:rPr>
              <a:t>e. −1 − 2</a:t>
            </a:r>
            <a:endParaRPr sz="2400" dirty="0">
              <a:latin typeface="Verdana"/>
              <a:ea typeface="Verdana"/>
              <a:cs typeface="Verdana"/>
              <a:sym typeface="Verdana"/>
            </a:endParaRPr>
          </a:p>
        </p:txBody>
      </p:sp>
      <p:sp>
        <p:nvSpPr>
          <p:cNvPr id="313" name="Google Shape;313;p31"/>
          <p:cNvSpPr txBox="1"/>
          <p:nvPr/>
        </p:nvSpPr>
        <p:spPr>
          <a:xfrm>
            <a:off x="6888576" y="2062800"/>
            <a:ext cx="3164400" cy="3509400"/>
          </a:xfrm>
          <a:prstGeom prst="rect">
            <a:avLst/>
          </a:prstGeom>
          <a:noFill/>
          <a:ln>
            <a:noFill/>
          </a:ln>
        </p:spPr>
        <p:txBody>
          <a:bodyPr spcFirstLastPara="1" wrap="square" lIns="91425" tIns="91425" rIns="91425" bIns="91425" anchor="t" anchorCtr="0">
            <a:spAutoFit/>
          </a:bodyPr>
          <a:lstStyle/>
          <a:p>
            <a:r>
              <a:rPr lang="en-US" sz="2400" dirty="0">
                <a:latin typeface="Verdana"/>
                <a:ea typeface="Verdana"/>
                <a:cs typeface="Verdana"/>
                <a:sym typeface="Verdana"/>
              </a:rPr>
              <a:t>b. −4 − (−7)</a:t>
            </a:r>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r>
              <a:rPr lang="en-US" sz="2400" dirty="0">
                <a:latin typeface="Verdana"/>
                <a:ea typeface="Verdana"/>
                <a:cs typeface="Verdana"/>
                <a:sym typeface="Verdana"/>
              </a:rPr>
              <a:t>d. 9 − (−3)</a:t>
            </a:r>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r>
              <a:rPr lang="en-US" sz="2400" dirty="0">
                <a:latin typeface="Verdana"/>
                <a:ea typeface="Verdana"/>
                <a:cs typeface="Verdana"/>
                <a:sym typeface="Verdana"/>
              </a:rPr>
              <a:t>f. −12 − 4</a:t>
            </a:r>
            <a:endParaRPr sz="2400" dirty="0">
              <a:latin typeface="Verdana"/>
              <a:ea typeface="Verdana"/>
              <a:cs typeface="Verdana"/>
              <a:sym typeface="Verdana"/>
            </a:endParaRPr>
          </a:p>
        </p:txBody>
      </p:sp>
      <p:sp>
        <p:nvSpPr>
          <p:cNvPr id="10"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263</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3"/>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22" name="Google Shape;322;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23" name="Google Shape;323;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4"/>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32" name="Google Shape;332;p34"/>
          <p:cNvSpPr txBox="1"/>
          <p:nvPr/>
        </p:nvSpPr>
        <p:spPr>
          <a:xfrm>
            <a:off x="1529119" y="-5476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6.6.6 Wrap-Up: Cool Down</a:t>
            </a:r>
            <a:endParaRPr/>
          </a:p>
        </p:txBody>
      </p:sp>
      <p:pic>
        <p:nvPicPr>
          <p:cNvPr id="333" name="Google Shape;333;p34"/>
          <p:cNvPicPr preferRelativeResize="0"/>
          <p:nvPr/>
        </p:nvPicPr>
        <p:blipFill rotWithShape="1">
          <a:blip r:embed="rId3">
            <a:alphaModFix/>
          </a:blip>
          <a:srcRect/>
          <a:stretch/>
        </p:blipFill>
        <p:spPr>
          <a:xfrm>
            <a:off x="699669" y="193060"/>
            <a:ext cx="747300" cy="747300"/>
          </a:xfrm>
          <a:prstGeom prst="rect">
            <a:avLst/>
          </a:prstGeom>
          <a:noFill/>
          <a:ln>
            <a:noFill/>
          </a:ln>
          <a:effectLst>
            <a:outerShdw blurRad="50800" dist="38100" dir="2700000" algn="tl" rotWithShape="0">
              <a:srgbClr val="000000">
                <a:alpha val="40000"/>
              </a:srgbClr>
            </a:outerShdw>
          </a:effectLst>
        </p:spPr>
      </p:pic>
      <p:sp>
        <p:nvSpPr>
          <p:cNvPr id="334" name="Google Shape;334;p34"/>
          <p:cNvSpPr txBox="1"/>
          <p:nvPr/>
        </p:nvSpPr>
        <p:spPr>
          <a:xfrm>
            <a:off x="1406882" y="1040426"/>
            <a:ext cx="6813168" cy="1323399"/>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a:pPr>
            <a:r>
              <a:rPr lang="en-US" sz="2000" dirty="0">
                <a:latin typeface="Verdana"/>
                <a:ea typeface="Verdana"/>
                <a:cs typeface="Verdana"/>
                <a:sym typeface="Verdana"/>
              </a:rPr>
              <a:t>Choose two of the visual models of subtraction that you are sure will result in a positive answer. </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p:txBody>
      </p:sp>
      <p:sp>
        <p:nvSpPr>
          <p:cNvPr id="335" name="Google Shape;335;p34"/>
          <p:cNvSpPr txBox="1"/>
          <p:nvPr/>
        </p:nvSpPr>
        <p:spPr>
          <a:xfrm>
            <a:off x="1446969" y="3888001"/>
            <a:ext cx="6373481" cy="800189"/>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startAt="2"/>
            </a:pPr>
            <a:r>
              <a:rPr lang="en-US" sz="2000" dirty="0">
                <a:latin typeface="Verdana"/>
                <a:ea typeface="Verdana"/>
                <a:cs typeface="Verdana"/>
                <a:sym typeface="Verdana"/>
              </a:rPr>
              <a:t>Choose one visual model that is a challenge for you.</a:t>
            </a:r>
            <a:endParaRPr sz="2000" dirty="0">
              <a:latin typeface="Verdana"/>
              <a:ea typeface="Verdana"/>
              <a:cs typeface="Verdana"/>
              <a:sym typeface="Verdana"/>
            </a:endParaRPr>
          </a:p>
        </p:txBody>
      </p:sp>
      <p:pic>
        <p:nvPicPr>
          <p:cNvPr id="336" name="Google Shape;336;p34"/>
          <p:cNvPicPr preferRelativeResize="0"/>
          <p:nvPr/>
        </p:nvPicPr>
        <p:blipFill>
          <a:blip r:embed="rId4">
            <a:alphaModFix/>
          </a:blip>
          <a:stretch>
            <a:fillRect/>
          </a:stretch>
        </p:blipFill>
        <p:spPr>
          <a:xfrm>
            <a:off x="8220038" y="1040426"/>
            <a:ext cx="1602500" cy="5367249"/>
          </a:xfrm>
          <a:prstGeom prst="rect">
            <a:avLst/>
          </a:prstGeom>
          <a:noFill/>
          <a:ln>
            <a:noFill/>
          </a:ln>
        </p:spPr>
      </p:pic>
      <p:sp>
        <p:nvSpPr>
          <p:cNvPr id="11" name="TextBox 10">
            <a:extLst>
              <a:ext uri="{FF2B5EF4-FFF2-40B4-BE49-F238E27FC236}">
                <a16:creationId xmlns:a16="http://schemas.microsoft.com/office/drawing/2014/main" xmlns="" id="{F8E72DCD-D312-46C0-8928-8E4CF8F21BA4}"/>
              </a:ext>
            </a:extLst>
          </p:cNvPr>
          <p:cNvSpPr txBox="1"/>
          <p:nvPr/>
        </p:nvSpPr>
        <p:spPr>
          <a:xfrm>
            <a:off x="2054645" y="2090886"/>
            <a:ext cx="5102519" cy="1323439"/>
          </a:xfrm>
          <a:prstGeom prst="rect">
            <a:avLst/>
          </a:prstGeom>
          <a:noFill/>
        </p:spPr>
        <p:txBody>
          <a:bodyPr wrap="square">
            <a:spAutoFit/>
          </a:bodyPr>
          <a:lstStyle/>
          <a:p>
            <a:pPr marL="457200" indent="-457200">
              <a:buSzPct val="100000"/>
              <a:buFont typeface="+mj-lt"/>
              <a:buAutoNum type="alphaLcPeriod"/>
            </a:pPr>
            <a:r>
              <a:rPr lang="en-US" sz="2000" dirty="0">
                <a:latin typeface="Verdana"/>
                <a:ea typeface="Verdana"/>
                <a:cs typeface="Verdana"/>
                <a:sym typeface="Verdana"/>
              </a:rPr>
              <a:t>Draw an asterisk (*) next to both in the table. </a:t>
            </a:r>
          </a:p>
          <a:p>
            <a:pPr marL="457200" indent="-457200">
              <a:buSzPct val="100000"/>
              <a:buFont typeface="+mj-lt"/>
              <a:buAutoNum type="alphaLcPeriod"/>
            </a:pPr>
            <a:endParaRPr lang="en-US" sz="2000" dirty="0">
              <a:latin typeface="Verdana"/>
              <a:ea typeface="Verdana"/>
              <a:cs typeface="Verdana"/>
              <a:sym typeface="Verdana"/>
            </a:endParaRPr>
          </a:p>
          <a:p>
            <a:pPr marL="457200" indent="-457200">
              <a:buSzPct val="100000"/>
              <a:buFont typeface="+mj-lt"/>
              <a:buAutoNum type="alphaLcPeriod"/>
            </a:pPr>
            <a:r>
              <a:rPr lang="en-US" sz="2000" dirty="0">
                <a:latin typeface="Verdana"/>
                <a:ea typeface="Verdana"/>
                <a:cs typeface="Verdana"/>
                <a:sym typeface="Verdana"/>
              </a:rPr>
              <a:t>Give an example of them below.</a:t>
            </a:r>
            <a:endParaRPr lang="en-US" sz="2000" dirty="0"/>
          </a:p>
        </p:txBody>
      </p:sp>
      <p:sp>
        <p:nvSpPr>
          <p:cNvPr id="13" name="TextBox 12">
            <a:extLst>
              <a:ext uri="{FF2B5EF4-FFF2-40B4-BE49-F238E27FC236}">
                <a16:creationId xmlns:a16="http://schemas.microsoft.com/office/drawing/2014/main" xmlns="" id="{4AB858EB-5F7C-4206-BA93-8D20DDC05BEC}"/>
              </a:ext>
            </a:extLst>
          </p:cNvPr>
          <p:cNvSpPr txBox="1"/>
          <p:nvPr/>
        </p:nvSpPr>
        <p:spPr>
          <a:xfrm>
            <a:off x="2054645" y="4688189"/>
            <a:ext cx="5102519" cy="1631216"/>
          </a:xfrm>
          <a:prstGeom prst="rect">
            <a:avLst/>
          </a:prstGeom>
          <a:noFill/>
        </p:spPr>
        <p:txBody>
          <a:bodyPr wrap="square">
            <a:spAutoFit/>
          </a:bodyPr>
          <a:lstStyle/>
          <a:p>
            <a:pPr marL="457200" indent="-457200">
              <a:buFont typeface="+mj-lt"/>
              <a:buAutoNum type="alphaLcPeriod"/>
            </a:pPr>
            <a:r>
              <a:rPr lang="en-US" sz="2000" dirty="0">
                <a:latin typeface="Verdana"/>
                <a:ea typeface="Verdana"/>
                <a:cs typeface="Verdana"/>
                <a:sym typeface="Verdana"/>
              </a:rPr>
              <a:t>Draw an exclamation point (!) next to it in the table. </a:t>
            </a:r>
          </a:p>
          <a:p>
            <a:pPr marL="457200" indent="-457200">
              <a:buSzPts val="2400"/>
              <a:buFont typeface="+mj-lt"/>
              <a:buAutoNum type="alphaLcPeriod"/>
            </a:pPr>
            <a:endParaRPr lang="en-US" sz="2000" dirty="0">
              <a:latin typeface="Verdana"/>
              <a:ea typeface="Verdana"/>
              <a:cs typeface="Verdana"/>
              <a:sym typeface="Verdana"/>
            </a:endParaRPr>
          </a:p>
          <a:p>
            <a:pPr marL="457200" indent="-457200">
              <a:buSzPct val="100000"/>
              <a:buFont typeface="+mj-lt"/>
              <a:buAutoNum type="alphaLcPeriod"/>
            </a:pPr>
            <a:r>
              <a:rPr lang="en-US" sz="2000" dirty="0">
                <a:latin typeface="Verdana"/>
                <a:ea typeface="Verdana"/>
                <a:cs typeface="Verdana"/>
                <a:sym typeface="Verdana"/>
              </a:rPr>
              <a:t>Explain using an example why it is a</a:t>
            </a:r>
            <a:r>
              <a:rPr lang="en-US" sz="2000" dirty="0"/>
              <a:t> </a:t>
            </a:r>
            <a:r>
              <a:rPr lang="en-US" sz="2000" dirty="0">
                <a:latin typeface="Verdana"/>
                <a:ea typeface="Verdana"/>
                <a:cs typeface="Verdana"/>
                <a:sym typeface="Verdana"/>
              </a:rPr>
              <a:t>challenge</a:t>
            </a:r>
            <a:r>
              <a:rPr lang="en-US" sz="2000" dirty="0"/>
              <a:t>. </a:t>
            </a:r>
            <a:endParaRPr lang="en-US" sz="2000" dirty="0">
              <a:latin typeface="Verdana"/>
              <a:ea typeface="Verdana"/>
              <a:cs typeface="Verdana"/>
              <a:sym typeface="Verdana"/>
            </a:endParaRPr>
          </a:p>
        </p:txBody>
      </p:sp>
      <p:sp>
        <p:nvSpPr>
          <p:cNvPr id="12" name="Google Shape;125;g104476d1465_1_17"/>
          <p:cNvSpPr txBox="1"/>
          <p:nvPr/>
        </p:nvSpPr>
        <p:spPr>
          <a:xfrm>
            <a:off x="8652483"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264</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90709"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1324</Words>
  <Application>Microsoft Macintosh PowerPoint</Application>
  <PresentationFormat>Widescreen</PresentationFormat>
  <Paragraphs>144</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 Black</vt:lpstr>
      <vt:lpstr>Calibri</vt:lpstr>
      <vt:lpstr>Century Gothic</vt:lpstr>
      <vt:lpstr>Verdana</vt:lpstr>
      <vt:lpstr>Arial</vt:lpstr>
      <vt:lpstr>1_Office Theme</vt:lpstr>
      <vt:lpstr>6th Grade Accelerated Math  Unit 6, Lesson 6  Subtracting Integers Using Integer Chips  Volume 1, pg. 259  </vt:lpstr>
      <vt:lpstr>Benchmark</vt:lpstr>
      <vt:lpstr>PowerPoint Presentation</vt:lpstr>
      <vt:lpstr>PowerPoint Presentation</vt:lpstr>
      <vt:lpstr>Warm-Up</vt:lpstr>
      <vt:lpstr>PowerPoint Presentation</vt:lpstr>
      <vt:lpstr>Exploration</vt:lpstr>
      <vt:lpstr>PowerPoint Presentation</vt:lpstr>
      <vt:lpstr>PowerPoint Presentation</vt:lpstr>
      <vt:lpstr>Guided Instruction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6, Lesson 6  Subtracting Integers Using Integer Chips  Volume 1, pg. 259  </dc:title>
  <dc:creator>Karen McKenzie</dc:creator>
  <cp:lastModifiedBy>jslater9816@gmail.com</cp:lastModifiedBy>
  <cp:revision>7</cp:revision>
  <dcterms:created xsi:type="dcterms:W3CDTF">2015-03-17T18:51:18Z</dcterms:created>
  <dcterms:modified xsi:type="dcterms:W3CDTF">2022-07-29T01:34:16Z</dcterms:modified>
</cp:coreProperties>
</file>