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gKQswGiiwsSQcsCgpfrIC0KPT/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4520BD-2488-403F-B60A-E2C354AAD881}">
  <a:tblStyle styleId="{564520BD-2488-403F-B60A-E2C354AAD8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8"/>
    <p:restoredTop sz="94695"/>
  </p:normalViewPr>
  <p:slideViewPr>
    <p:cSldViewPr snapToGrid="0">
      <p:cViewPr varScale="1">
        <p:scale>
          <a:sx n="106" d="100"/>
          <a:sy n="106" d="100"/>
        </p:scale>
        <p:origin x="192" y="2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40" Type="http://customschemas.google.com/relationships/presentationmetadata" Target="meta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2" name="Google Shape;27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00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5" Type="http://schemas.openxmlformats.org/officeDocument/2006/relationships/image" Target="../media/image220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14" name="Google Shape;114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endParaRPr sz="38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</a:pPr>
            <a:endParaRPr sz="38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11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Multiplying and Dividing Integers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283</a:t>
            </a:r>
            <a:endParaRPr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>
              <a:solidFill>
                <a:srgbClr val="417DBF"/>
              </a:solidFill>
            </a:endParaRPr>
          </a:p>
        </p:txBody>
      </p:sp>
      <p:cxnSp>
        <p:nvCxnSpPr>
          <p:cNvPr id="115" name="Google Shape;115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6" name="Google Shape;116;g104476d1465_0_0" descr="Logo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0503" y="1918611"/>
            <a:ext cx="2973100" cy="34657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80205" y="203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6705" y="2378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7305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88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480205" y="1600200"/>
            <a:ext cx="92315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MA.6.NSO.4.2 </a:t>
            </a:r>
            <a:endParaRPr sz="3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Apply and extend previous understandings of operations with whole numbers to multiply and divide integers with procedural fluency.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8046" y="24263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36" name="Google Shape;136;p1"/>
          <p:cNvSpPr txBox="1"/>
          <p:nvPr/>
        </p:nvSpPr>
        <p:spPr>
          <a:xfrm>
            <a:off x="1402696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8" name="Google Shape;138;p1"/>
          <p:cNvSpPr txBox="1"/>
          <p:nvPr/>
        </p:nvSpPr>
        <p:spPr>
          <a:xfrm>
            <a:off x="1533832" y="1596596"/>
            <a:ext cx="912433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1800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sz="2000" dirty="0"/>
          </a:p>
          <a:p>
            <a:pPr marL="457200">
              <a:buSzPts val="1800"/>
            </a:pP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1800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sz="2000" dirty="0"/>
          </a:p>
          <a:p>
            <a:pPr marL="457200">
              <a:buSzPts val="1800"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1800"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305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88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1371207" y="-8226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/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9045" y="28097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9" name="Google Shape;149;p2"/>
          <p:cNvSpPr txBox="1"/>
          <p:nvPr/>
        </p:nvSpPr>
        <p:spPr>
          <a:xfrm>
            <a:off x="1336345" y="1600200"/>
            <a:ext cx="951931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19100">
              <a:buClr>
                <a:srgbClr val="434343"/>
              </a:buClr>
              <a:buSzPts val="3000"/>
              <a:buFont typeface="Verdana"/>
              <a:buChar char="❏"/>
            </a:pPr>
            <a:r>
              <a:rPr lang="en-US" sz="3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multiply and divide integers with procedural fluency.</a:t>
            </a:r>
            <a:endParaRPr sz="900"/>
          </a:p>
          <a:p>
            <a:pPr marL="457200"/>
            <a:endParaRPr dirty="0"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305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88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-9832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7305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88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-11971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1456725" y="12640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6.11.1 Warm-Up: What’s Going </a:t>
            </a:r>
            <a:r>
              <a:rPr lang="en-US" sz="36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On </a:t>
            </a:r>
            <a:r>
              <a:rPr lang="en-US"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in This Graph?</a:t>
            </a:r>
            <a:endParaRPr/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425" y="2635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0" name="Google Shape;170;p4"/>
          <p:cNvSpPr txBox="1"/>
          <p:nvPr/>
        </p:nvSpPr>
        <p:spPr>
          <a:xfrm>
            <a:off x="933627" y="1386025"/>
            <a:ext cx="1058074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400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The graph shows the average global temperatures between 1880 and 2020 compared to the middle of the 20th century. All temperatures are in degrees Celsius (℃)</a:t>
            </a:r>
            <a:endParaRPr sz="800" dirty="0"/>
          </a:p>
        </p:txBody>
      </p:sp>
      <p:sp>
        <p:nvSpPr>
          <p:cNvPr id="171" name="Google Shape;171;p4"/>
          <p:cNvSpPr txBox="1"/>
          <p:nvPr/>
        </p:nvSpPr>
        <p:spPr>
          <a:xfrm>
            <a:off x="1111045" y="4800588"/>
            <a:ext cx="972001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1. What are you curious about after examining the graph? </a:t>
            </a:r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pPr marL="350838" indent="-350838"/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2. Imagine this graph is included in a newspaper article. Write a catchy headline that captures what’s going on in the graph.</a:t>
            </a:r>
            <a:endParaRPr sz="18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2" name="Google Shape;172;p4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5018" y="2102699"/>
            <a:ext cx="4792064" cy="28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5;g104476d1465_1_17"/>
          <p:cNvSpPr txBox="1"/>
          <p:nvPr/>
        </p:nvSpPr>
        <p:spPr>
          <a:xfrm>
            <a:off x="87305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88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2" name="Google Shape;182;p24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2434" y="279196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305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88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/>
          <p:nvPr/>
        </p:nvSpPr>
        <p:spPr>
          <a:xfrm>
            <a:off x="-19133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90" name="Google Shape;190;p25"/>
          <p:cNvSpPr txBox="1"/>
          <p:nvPr/>
        </p:nvSpPr>
        <p:spPr>
          <a:xfrm>
            <a:off x="1310482" y="-82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6.11.2 Refresher: Multiplying and Dividing Integers</a:t>
            </a:r>
            <a:endParaRPr/>
          </a:p>
        </p:txBody>
      </p:sp>
      <p:pic>
        <p:nvPicPr>
          <p:cNvPr id="192" name="Google Shape;192;p25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0853" y="206568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3" name="Google Shape;193;p25"/>
          <p:cNvSpPr txBox="1"/>
          <p:nvPr/>
        </p:nvSpPr>
        <p:spPr>
          <a:xfrm>
            <a:off x="1455174" y="1386026"/>
            <a:ext cx="3676436" cy="1846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ct val="100000"/>
              <a:buFont typeface="+mj-lt"/>
              <a:buAutoNum type="arabicPeriod"/>
            </a:pPr>
            <a:r>
              <a:rPr lang="en-US" sz="1900" dirty="0">
                <a:latin typeface="Verdana"/>
                <a:ea typeface="Verdana"/>
                <a:cs typeface="Verdana"/>
                <a:sym typeface="Verdana"/>
              </a:rPr>
              <a:t>Work with your partner to complete the tables. The last row of each table is missing both the rule and an example equation.</a:t>
            </a:r>
            <a:endParaRPr sz="900" dirty="0"/>
          </a:p>
        </p:txBody>
      </p:sp>
      <p:pic>
        <p:nvPicPr>
          <p:cNvPr id="194" name="Google Shape;19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0677" y="1140268"/>
            <a:ext cx="4517764" cy="541686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7305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88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02" name="Google Shape;202;p6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4" name="Google Shape;20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305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88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/>
          <p:nvPr/>
        </p:nvSpPr>
        <p:spPr>
          <a:xfrm>
            <a:off x="-30929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1445992" y="-842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3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6.11.3 Collaboration: Multiplying and Dividing Integers</a:t>
            </a:r>
            <a:endParaRPr sz="1100"/>
          </a:p>
        </p:txBody>
      </p:sp>
      <p:pic>
        <p:nvPicPr>
          <p:cNvPr id="214" name="Google Shape;214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184" y="250026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15" name="Google Shape;215;p7"/>
          <p:cNvSpPr txBox="1"/>
          <p:nvPr/>
        </p:nvSpPr>
        <p:spPr>
          <a:xfrm>
            <a:off x="1407030" y="1386025"/>
            <a:ext cx="9633936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2100" indent="-292100">
              <a:buSzPts val="2400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1. The table shows two different products. Work with your partner to find five different factor pairs that, when multiplied, will result in the product. The factors cannot include 1 or −1.</a:t>
            </a:r>
            <a:endParaRPr sz="800" dirty="0"/>
          </a:p>
        </p:txBody>
      </p:sp>
      <p:pic>
        <p:nvPicPr>
          <p:cNvPr id="216" name="Google Shape;216;p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9251" y="2309426"/>
            <a:ext cx="3313501" cy="240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 txBox="1"/>
          <p:nvPr/>
        </p:nvSpPr>
        <p:spPr>
          <a:xfrm>
            <a:off x="1445992" y="4779800"/>
            <a:ext cx="9059516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50838" indent="-350838"/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2. Explain a strategy or an approach that each partner suggested. </a:t>
            </a:r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pPr marL="350838" indent="-350838"/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pPr marL="350838" indent="-350838"/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pPr marL="350838" indent="-350838"/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3. Explain which of the products, (−90) or 42, was the easiest to find factor pairs for and why.</a:t>
            </a:r>
            <a:endParaRPr sz="18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" name="Google Shape;125;g104476d1465_1_17"/>
          <p:cNvSpPr txBox="1"/>
          <p:nvPr/>
        </p:nvSpPr>
        <p:spPr>
          <a:xfrm>
            <a:off x="87305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88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1111045" y="520393"/>
            <a:ext cx="1012054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400"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4. The table shows two different quotients. Work with your partner to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buSzPts val="2400"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find four different pairs of dividends and divisors that result in the given quotient when they are divided. The numbers 1 or −1 cannot be used.</a:t>
            </a:r>
            <a:endParaRPr sz="800"/>
          </a:p>
        </p:txBody>
      </p:sp>
      <p:sp>
        <p:nvSpPr>
          <p:cNvPr id="227" name="Google Shape;227;p8"/>
          <p:cNvSpPr txBox="1"/>
          <p:nvPr/>
        </p:nvSpPr>
        <p:spPr>
          <a:xfrm>
            <a:off x="1066408" y="4038900"/>
            <a:ext cx="10624434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50838" indent="-350838"/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5. Explain a strategy or an approach that each partner suggested. </a:t>
            </a:r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pPr marL="350838" indent="-350838"/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pPr marL="350838" indent="-350838"/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pPr marL="350838" indent="-350838"/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pPr marL="350838" indent="-350838"/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6. Explain which of the quotients, (−8) or 13, was the easiest to find dividends and divisors for and why.</a:t>
            </a:r>
            <a:endParaRPr sz="18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28" name="Google Shape;228;p8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8328" y="1630676"/>
            <a:ext cx="3645991" cy="23179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5;g104476d1465_1_17"/>
          <p:cNvSpPr txBox="1"/>
          <p:nvPr/>
        </p:nvSpPr>
        <p:spPr>
          <a:xfrm>
            <a:off x="87305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88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36" name="Google Shape;236;p21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8" name="Google Shape;238;p2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305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88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1461456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6.11.4 Guided Practice: Finding Missing Factors, Products, or Quotients</a:t>
            </a:r>
            <a:endParaRPr sz="500"/>
          </a:p>
        </p:txBody>
      </p:sp>
      <p:pic>
        <p:nvPicPr>
          <p:cNvPr id="248" name="Google Shape;248;p22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1648" y="166026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Google Shape;249;p22"/>
              <p:cNvSpPr txBox="1"/>
              <p:nvPr/>
            </p:nvSpPr>
            <p:spPr>
              <a:xfrm>
                <a:off x="1160206" y="1386026"/>
                <a:ext cx="10127584" cy="46797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>
                  <a:buSzPts val="2400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1. Fill in the missing values to make each equation true. </a:t>
                </a:r>
              </a:p>
              <a:p>
                <a:pPr>
                  <a:buSzPts val="2400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17575" indent="-488950">
                  <a:buSzPts val="2400"/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(−7) ∙ ____ = −14 </a:t>
                </a:r>
              </a:p>
              <a:p>
                <a:pPr marL="917575" indent="-488950">
                  <a:buSzPts val="2400"/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17575" indent="-488950">
                  <a:buSzPts val="2400"/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17575" indent="-488950">
                  <a:buSzPts val="2400"/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____ ÷ (−5) = 7</a:t>
                </a:r>
              </a:p>
              <a:p>
                <a:pPr marL="917575" indent="-488950">
                  <a:buSzPts val="2400"/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17575" indent="-488950">
                  <a:buSzPts val="2400"/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17575" indent="-488950">
                  <a:buSzPts val="2400"/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i="1">
                            <a:latin typeface="Cambria Math" charset="0"/>
                            <a:ea typeface="Verdana"/>
                            <a:cs typeface="Verdana"/>
                            <a:sym typeface="Verdana"/>
                          </a:rPr>
                        </m:ctrlPr>
                      </m:fPr>
                      <m:num>
                        <m:r>
                          <a:rPr lang="ar-AE" sz="2400" i="1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40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8</m:t>
                        </m:r>
                      </m:den>
                    </m:f>
                  </m:oMath>
                </a14:m>
                <a:r>
                  <a:rPr lang="ar-AE" sz="2400" dirty="0">
                    <a:latin typeface="Verdana"/>
                    <a:ea typeface="Verdana"/>
                    <a:cs typeface="Verdana"/>
                    <a:sym typeface="Verdana"/>
                  </a:rPr>
                  <a:t> = ____ </a:t>
                </a:r>
              </a:p>
              <a:p>
                <a:pPr marL="917575" indent="-488950">
                  <a:buSzPts val="2400"/>
                  <a:buFont typeface="+mj-lt"/>
                  <a:buAutoNum type="alphaLcPeriod"/>
                </a:pPr>
                <a:endParaRPr lang="ar-AE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17575" indent="-488950">
                  <a:buSzPts val="2400"/>
                  <a:buFont typeface="+mj-lt"/>
                  <a:buAutoNum type="alphaLcPeriod"/>
                </a:pPr>
                <a:endParaRPr lang="ar-AE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17575" indent="-488950">
                  <a:buSzPts val="2400"/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____ × (−9) = 63</a:t>
                </a:r>
                <a:endParaRPr dirty="0"/>
              </a:p>
            </p:txBody>
          </p:sp>
        </mc:Choice>
        <mc:Fallback xmlns="">
          <p:sp>
            <p:nvSpPr>
              <p:cNvPr id="249" name="Google Shape;249;p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206" y="1386026"/>
                <a:ext cx="10127584" cy="4679767"/>
              </a:xfrm>
              <a:prstGeom prst="rect">
                <a:avLst/>
              </a:prstGeom>
              <a:blipFill rotWithShape="0">
                <a:blip r:embed="rId4"/>
                <a:stretch>
                  <a:fillRect l="-903" t="-1042" b="-18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7305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88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2007765" y="520393"/>
            <a:ext cx="83271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400"/>
              <a:buFont typeface="+mj-lt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Consider the equation shown. Phillip said −12 is the missing factor while Alicia claimed it is 12.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algn="ctr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algn="ctr">
              <a:buSzPts val="2400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(−1) ∙ (−2) ∙ _?_ = 24 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400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Explain which student is correct using, rules for multiplying integers.</a:t>
            </a:r>
            <a:endParaRPr dirty="0"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7305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88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66" name="Google Shape;266;p3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7" name="Google Shape;26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305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88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76" name="Google Shape;276;p31"/>
          <p:cNvSpPr txBox="1"/>
          <p:nvPr/>
        </p:nvSpPr>
        <p:spPr>
          <a:xfrm>
            <a:off x="1462710" y="16538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6.11.5 Your Turn!</a:t>
            </a:r>
            <a:endParaRPr/>
          </a:p>
        </p:txBody>
      </p:sp>
      <p:pic>
        <p:nvPicPr>
          <p:cNvPr id="277" name="Google Shape;27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5410" y="16538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1"/>
          <p:cNvSpPr txBox="1"/>
          <p:nvPr/>
        </p:nvSpPr>
        <p:spPr>
          <a:xfrm>
            <a:off x="2365960" y="1069800"/>
            <a:ext cx="832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400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1. Find each product or quotient.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0" name="Google Shape;280;p31"/>
              <p:cNvGraphicFramePr/>
              <p:nvPr>
                <p:extLst>
                  <p:ext uri="{D42A27DB-BD31-4B8C-83A1-F6EECF244321}">
                    <p14:modId xmlns:p14="http://schemas.microsoft.com/office/powerpoint/2010/main" val="1765140467"/>
                  </p:ext>
                </p:extLst>
              </p:nvPr>
            </p:nvGraphicFramePr>
            <p:xfrm>
              <a:off x="2508100" y="1658150"/>
              <a:ext cx="7175800" cy="4485300"/>
            </p:xfrm>
            <a:graphic>
              <a:graphicData uri="http://schemas.openxmlformats.org/drawingml/2006/table">
                <a:tbl>
                  <a:tblPr>
                    <a:noFill/>
                    <a:tableStyleId>{564520BD-2488-403F-B60A-E2C354AAD881}</a:tableStyleId>
                  </a:tblPr>
                  <a:tblGrid>
                    <a:gridCol w="179395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79395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79395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79395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1121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−11 × 9 </a:t>
                          </a:r>
                          <a:endParaRPr sz="2000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−4 ∙ (−12) −</a:t>
                          </a:r>
                          <a:endParaRPr sz="2000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−100 ÷ 25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charset="0"/>
                                        <a:ea typeface="Verdana"/>
                                        <a:cs typeface="Verdana"/>
                                        <a:sym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  <a:sym typeface="Verdana"/>
                                      </a:rPr>
                                      <m:t>−60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  <a:sym typeface="Verdana"/>
                                      </a:rPr>
                                      <m:t>−5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sz="2000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121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96 ÷ (−6)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(−5) × (−13)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charset="0"/>
                                        <a:ea typeface="Verdana"/>
                                        <a:cs typeface="Verdana"/>
                                        <a:sym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  <a:sym typeface="Verdana"/>
                                      </a:rPr>
                                      <m:t>84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  <a:sym typeface="Verdana"/>
                                      </a:rPr>
                                      <m:t>−12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sz="2000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(−7)(−7)</a:t>
                          </a:r>
                          <a:endParaRPr sz="2000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121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110 ÷ (−11)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(−6)(−24) </a:t>
                          </a:r>
                          <a:endParaRPr sz="2000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9 × (−15) 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−18 × 96</a:t>
                          </a:r>
                          <a:endParaRPr sz="2000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1121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26 ÷ (−13)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150 ÷ (−3)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−39 × (−4)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charset="0"/>
                                        <a:ea typeface="Verdana"/>
                                        <a:cs typeface="Verdana"/>
                                        <a:sym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  <a:sym typeface="Verdana"/>
                                      </a:rPr>
                                      <m:t>−88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  <a:sym typeface="Verdana"/>
                                      </a:rPr>
                                      <m:t>−4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0" name="Google Shape;280;p31"/>
              <p:cNvGraphicFramePr/>
              <p:nvPr>
                <p:extLst>
                  <p:ext uri="{D42A27DB-BD31-4B8C-83A1-F6EECF244321}">
                    <p14:modId xmlns:p14="http://schemas.microsoft.com/office/powerpoint/2010/main" val="1765140467"/>
                  </p:ext>
                </p:extLst>
              </p:nvPr>
            </p:nvGraphicFramePr>
            <p:xfrm>
              <a:off x="984100" y="1658150"/>
              <a:ext cx="7175800" cy="4485300"/>
            </p:xfrm>
            <a:graphic>
              <a:graphicData uri="http://schemas.openxmlformats.org/drawingml/2006/table">
                <a:tbl>
                  <a:tblPr>
                    <a:noFill/>
                    <a:tableStyleId>{564520BD-2488-403F-B60A-E2C354AAD881}</a:tableStyleId>
                  </a:tblPr>
                  <a:tblGrid>
                    <a:gridCol w="17939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939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39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939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121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−11 × 9 </a:t>
                          </a:r>
                          <a:endParaRPr sz="2000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−4 ∙ (−12) −</a:t>
                          </a:r>
                          <a:endParaRPr sz="2000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−100 ÷ 25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>
                        <a:blipFill>
                          <a:blip r:embed="rId5"/>
                          <a:stretch>
                            <a:fillRect l="-301020" t="-543" r="-680" b="-30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21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96 ÷ (−6)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(−5) × (−13)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>
                        <a:blipFill>
                          <a:blip r:embed="rId5"/>
                          <a:stretch>
                            <a:fillRect l="-200000" t="-100543" r="-100339" b="-2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(−7)(−7)</a:t>
                          </a:r>
                          <a:endParaRPr sz="2000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21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110 ÷ (−11)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(−6)(−24) </a:t>
                          </a:r>
                          <a:endParaRPr sz="2000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9 × (−15) 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−18 × 96</a:t>
                          </a:r>
                          <a:endParaRPr sz="2000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121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26 ÷ (−13)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150 ÷ (−3)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−39 × (−4)</a:t>
                          </a:r>
                          <a:endParaRPr sz="200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25" marR="91425" marT="91425" marB="91425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>
                        <a:blipFill>
                          <a:blip r:embed="rId5"/>
                          <a:stretch>
                            <a:fillRect l="-301020" t="-300543" r="-680" b="-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125;g104476d1465_1_17"/>
          <p:cNvSpPr txBox="1"/>
          <p:nvPr/>
        </p:nvSpPr>
        <p:spPr>
          <a:xfrm>
            <a:off x="87305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88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89" name="Google Shape;289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90" name="Google Shape;29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305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88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/>
          <p:cNvSpPr/>
          <p:nvPr/>
        </p:nvSpPr>
        <p:spPr>
          <a:xfrm>
            <a:off x="-1184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99" name="Google Shape;299;p34"/>
          <p:cNvSpPr txBox="1"/>
          <p:nvPr/>
        </p:nvSpPr>
        <p:spPr>
          <a:xfrm>
            <a:off x="1392632" y="-82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6.11.6 Wrap-Up: Reflection</a:t>
            </a:r>
            <a:endParaRPr/>
          </a:p>
        </p:txBody>
      </p:sp>
      <p:pic>
        <p:nvPicPr>
          <p:cNvPr id="300" name="Google Shape;30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332" y="18383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01" name="Google Shape;301;p34"/>
          <p:cNvSpPr txBox="1"/>
          <p:nvPr/>
        </p:nvSpPr>
        <p:spPr>
          <a:xfrm>
            <a:off x="1101213" y="1386025"/>
            <a:ext cx="1024557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400"/>
            </a:pPr>
            <a:r>
              <a:rPr lang="en-US" sz="2200">
                <a:latin typeface="Verdana"/>
                <a:ea typeface="Verdana"/>
                <a:cs typeface="Verdana"/>
                <a:sym typeface="Verdana"/>
              </a:rPr>
              <a:t>1. </a:t>
            </a: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Complete the learning period based on today’s lesson.</a:t>
            </a:r>
            <a:endParaRPr sz="1200" dirty="0"/>
          </a:p>
        </p:txBody>
      </p:sp>
      <p:pic>
        <p:nvPicPr>
          <p:cNvPr id="302" name="Google Shape;302;p34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4589" y="1905951"/>
            <a:ext cx="4582827" cy="47363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7305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88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704</Words>
  <Application>Microsoft Macintosh PowerPoint</Application>
  <PresentationFormat>Widescreen</PresentationFormat>
  <Paragraphs>114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 Black</vt:lpstr>
      <vt:lpstr>Calibri</vt:lpstr>
      <vt:lpstr>Cambria Math</vt:lpstr>
      <vt:lpstr>Century Gothic</vt:lpstr>
      <vt:lpstr>Verdana</vt:lpstr>
      <vt:lpstr>Arial</vt:lpstr>
      <vt:lpstr>1_Office Theme</vt:lpstr>
      <vt:lpstr>6th Grade Accelerated Math  Unit 6, Lesson 11  Multiplying and Dividing Integers  Volume 1, pg. 283  </vt:lpstr>
      <vt:lpstr>Benchmark</vt:lpstr>
      <vt:lpstr>PowerPoint Presentation</vt:lpstr>
      <vt:lpstr>PowerPoint Presentation</vt:lpstr>
      <vt:lpstr>Warm-Up</vt:lpstr>
      <vt:lpstr>PowerPoint Presentation</vt:lpstr>
      <vt:lpstr>Refresher</vt:lpstr>
      <vt:lpstr>PowerPoint Presentation</vt:lpstr>
      <vt:lpstr>Collaboration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Grade Accelerated Math  Unit 6, Lesson 11  Multiplying and Dividing Integers  Volume 1, pg. 283  </dc:title>
  <dc:creator>Karen McKenzie</dc:creator>
  <cp:lastModifiedBy>jslater9816@gmail.com</cp:lastModifiedBy>
  <cp:revision>6</cp:revision>
  <dcterms:created xsi:type="dcterms:W3CDTF">2015-03-17T18:51:18Z</dcterms:created>
  <dcterms:modified xsi:type="dcterms:W3CDTF">2022-07-29T02:23:01Z</dcterms:modified>
</cp:coreProperties>
</file>