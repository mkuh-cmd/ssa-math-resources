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8SAX4CJ5GHzeRsUyIO8d1BIxI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8"/>
    <p:restoredTop sz="94667"/>
  </p:normalViewPr>
  <p:slideViewPr>
    <p:cSldViewPr snapToGrid="0">
      <p:cViewPr varScale="1">
        <p:scale>
          <a:sx n="79" d="100"/>
          <a:sy n="79" d="100"/>
        </p:scale>
        <p:origin x="96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155b9a1cc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155b9a1cc8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1155b9a1cc8_0_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155b9a1cc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1155b9a1cc8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1155b9a1cc8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55b9a1cc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155b9a1cc8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g1155b9a1cc8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155b9a1cc8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1155b9a1cc8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1155b9a1cc8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9" name="Google Shape;309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9" name="Google Shape;34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27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14" name="Google Shape;114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</a:pPr>
            <a:endParaRPr sz="38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9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Multiplying Integers Using Models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273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cxnSp>
        <p:nvCxnSpPr>
          <p:cNvPr id="115" name="Google Shape;115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0503" y="1700157"/>
            <a:ext cx="2973100" cy="3465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96097" y="19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597" y="2377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5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27" name="Google Shape;127;g104476d1465_1_17"/>
          <p:cNvSpPr txBox="1"/>
          <p:nvPr/>
        </p:nvSpPr>
        <p:spPr>
          <a:xfrm>
            <a:off x="1496097" y="1600200"/>
            <a:ext cx="871470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MA.6.NSO.4.2</a:t>
            </a:r>
            <a:endParaRPr sz="3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Apply and extend previous understandings of operations with whole numbers to multiply and divide integers with procedural fluency.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115" y="3114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507765" y="68811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/>
          </a:p>
        </p:txBody>
      </p:sp>
      <p:sp>
        <p:nvSpPr>
          <p:cNvPr id="138" name="Google Shape;138;p1"/>
          <p:cNvSpPr txBox="1"/>
          <p:nvPr/>
        </p:nvSpPr>
        <p:spPr>
          <a:xfrm>
            <a:off x="1507765" y="1596390"/>
            <a:ext cx="976423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1800"/>
            </a:pPr>
            <a:r>
              <a:rPr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 Demonstrate understanding by representing problems in multiple ways.</a:t>
            </a:r>
            <a:endParaRPr sz="1600"/>
          </a:p>
          <a:p>
            <a:pPr marL="457200">
              <a:buSzPts val="18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sz="1600" dirty="0"/>
          </a:p>
          <a:p>
            <a:pPr marL="457200">
              <a:buSzPts val="1800"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r>
              <a:rPr lang="en-US" sz="2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sz="1600" dirty="0"/>
          </a:p>
          <a:p>
            <a:pPr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1800"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519534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372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9" name="Google Shape;149;p2"/>
          <p:cNvSpPr txBox="1"/>
          <p:nvPr/>
        </p:nvSpPr>
        <p:spPr>
          <a:xfrm>
            <a:off x="1307805" y="1600200"/>
            <a:ext cx="957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19100">
              <a:buClr>
                <a:srgbClr val="434343"/>
              </a:buClr>
              <a:buSzPts val="3000"/>
              <a:buFont typeface="Verdana"/>
              <a:buChar char="❏"/>
            </a:pPr>
            <a:r>
              <a:rPr lang="en-US" sz="30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 can multiply integers using integer chips, number lines, and patterns.</a:t>
            </a:r>
            <a:endParaRPr sz="900" dirty="0"/>
          </a:p>
          <a:p>
            <a:pPr marL="457200"/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1, pg. 273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7" name="Google Shape;157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212045" y="12717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6.9.1 Warm-Up: Which One Doesn’t Belong?</a:t>
            </a: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745" y="36002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1807535" y="1386026"/>
            <a:ext cx="85800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Four number lines modeling addition are shown.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1" name="Google Shape;171;p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64725" y="1981038"/>
            <a:ext cx="8077798" cy="27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4"/>
          <p:cNvSpPr txBox="1"/>
          <p:nvPr/>
        </p:nvSpPr>
        <p:spPr>
          <a:xfrm>
            <a:off x="2060450" y="5177400"/>
            <a:ext cx="788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Explain which one doesn’t belong.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80" name="Google Shape;180;p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2" name="Google Shape;182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-30538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1455929" y="-256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3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6.9.2 Exploration: Using Integer Chips to Represent Multiplication</a:t>
            </a:r>
            <a:endParaRPr sz="1100"/>
          </a:p>
        </p:txBody>
      </p:sp>
      <p:pic>
        <p:nvPicPr>
          <p:cNvPr id="192" name="Google Shape;192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9631" y="245556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3" name="Google Shape;193;p10"/>
          <p:cNvSpPr txBox="1"/>
          <p:nvPr/>
        </p:nvSpPr>
        <p:spPr>
          <a:xfrm>
            <a:off x="2060448" y="1386025"/>
            <a:ext cx="8327100" cy="115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1. The addition expression 7 + 7 + 7 can be written as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lnSpc>
                <a:spcPct val="115000"/>
              </a:lnSpc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   ______ ∙ 7. This is because repeated addition of integers can be expressed as</a:t>
            </a:r>
            <a:endParaRPr sz="1000" dirty="0"/>
          </a:p>
        </p:txBody>
      </p:sp>
      <p:pic>
        <p:nvPicPr>
          <p:cNvPr id="194" name="Google Shape;194;p10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7679" y="2122650"/>
            <a:ext cx="1585545" cy="7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0"/>
          <p:cNvSpPr txBox="1"/>
          <p:nvPr/>
        </p:nvSpPr>
        <p:spPr>
          <a:xfrm>
            <a:off x="2120350" y="2874900"/>
            <a:ext cx="7255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indent="-34925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2. The expression 5 × 2 can be interpreted as adding _____ groups of _____ or adding _____ groups of _____.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2120350" y="4192500"/>
            <a:ext cx="7553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indent="-349250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3. Use integer chips to represent one of these interpretations.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2120350" y="4992900"/>
            <a:ext cx="1698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Recall that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4724000" y="50391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= −1 and</a:t>
            </a:r>
            <a:endParaRPr sz="2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7131750" y="49929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= +1.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2120350" y="5748388"/>
            <a:ext cx="5683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>
                <a:latin typeface="Verdana"/>
                <a:ea typeface="Verdana"/>
                <a:cs typeface="Verdana"/>
                <a:sym typeface="Verdana"/>
              </a:rPr>
              <a:t>Draw a picture of your representation.</a:t>
            </a: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4626" y="4885196"/>
            <a:ext cx="628887" cy="8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31299" y="4922027"/>
            <a:ext cx="563850" cy="63434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26;g104476d1465_1_17"/>
          <p:cNvPicPr preferRelativeResize="0"/>
          <p:nvPr/>
        </p:nvPicPr>
        <p:blipFill rotWithShape="1"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477926" y="520393"/>
            <a:ext cx="9386778" cy="56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4. Describe how the integer chips represent the value of the expression 5 × 2.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5. The expression 5 × (−2) can be interpreted as adding _____ groups of _____ or adding _____ groups of _____.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6. Explain which interpretation of 5 × (−2) you think would be easier to represent using integer chips.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7. Discuss your choice with your partner. Then, work together to use integer chips to represent one of the interpretations. Draw a picture of the representation.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155b9a1cc8_0_35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0" name="Google Shape;220;g1155b9a1cc8_0_35"/>
          <p:cNvSpPr txBox="1"/>
          <p:nvPr/>
        </p:nvSpPr>
        <p:spPr>
          <a:xfrm>
            <a:off x="1212112" y="520399"/>
            <a:ext cx="9918426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8. Describe how the integer chips represent the value of the expression 5 × (−2).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349250" indent="-349250">
              <a:buSzPts val="2400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9. What is the value of the expression 5 × (−2)?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0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1" name="Google Shape;221;g1155b9a1cc8_0_35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0701" y="2696250"/>
            <a:ext cx="7770599" cy="11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1155b9a1cc8_0_35"/>
          <p:cNvSpPr txBox="1"/>
          <p:nvPr/>
        </p:nvSpPr>
        <p:spPr>
          <a:xfrm>
            <a:off x="1212112" y="4084075"/>
            <a:ext cx="9532326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000" b="1" i="1" dirty="0">
                <a:latin typeface="Verdana"/>
                <a:ea typeface="Verdana"/>
                <a:cs typeface="Verdana"/>
                <a:sym typeface="Verdana"/>
              </a:rPr>
              <a:t>commutative property of multiplication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 states that the order in which multiplication is performed does not change the value of the expression. </a:t>
            </a:r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517525" indent="-517525"/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10. Using the commutative property of multiplication, what is the value of the expression 2− × 5?</a:t>
            </a:r>
            <a:endParaRPr dirty="0"/>
          </a:p>
        </p:txBody>
      </p:sp>
      <p:sp>
        <p:nvSpPr>
          <p:cNvPr id="8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155b9a1cc8_0_48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30" name="Google Shape;230;g1155b9a1cc8_0_48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8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2" name="Google Shape;232;g1155b9a1cc8_0_4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0950" y="2814305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155b9a1cc8_0_5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40" name="Google Shape;240;g1155b9a1cc8_0_57"/>
          <p:cNvSpPr txBox="1"/>
          <p:nvPr/>
        </p:nvSpPr>
        <p:spPr>
          <a:xfrm>
            <a:off x="1392799" y="60202"/>
            <a:ext cx="920786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6.9.3 Exploration: Multiplying a Negative Integer by a Negative Integer</a:t>
            </a:r>
            <a:endParaRPr sz="600"/>
          </a:p>
        </p:txBody>
      </p:sp>
      <p:pic>
        <p:nvPicPr>
          <p:cNvPr id="242" name="Google Shape;242;g1155b9a1cc8_0_57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6501" y="308327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3" name="Google Shape;243;g1155b9a1cc8_0_57"/>
          <p:cNvSpPr txBox="1"/>
          <p:nvPr/>
        </p:nvSpPr>
        <p:spPr>
          <a:xfrm>
            <a:off x="1287302" y="1386026"/>
            <a:ext cx="9903792" cy="129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1. Complete the statement. </a:t>
            </a:r>
            <a:endParaRPr sz="17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lnSpc>
                <a:spcPct val="115000"/>
              </a:lnSpc>
            </a:pPr>
            <a:endParaRPr sz="1700" dirty="0">
              <a:latin typeface="Verdana"/>
              <a:ea typeface="Verdana"/>
              <a:cs typeface="Verdana"/>
              <a:sym typeface="Verdana"/>
            </a:endParaRPr>
          </a:p>
          <a:p>
            <a:pPr marL="349250">
              <a:lnSpc>
                <a:spcPct val="115000"/>
              </a:lnSpc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The expression, (</a:t>
            </a:r>
            <a:r>
              <a:rPr lang="en-US" sz="1700" dirty="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−5</a:t>
            </a: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)(</a:t>
            </a:r>
            <a:r>
              <a:rPr lang="en-US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−2</a:t>
            </a: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), indicates that</a:t>
            </a:r>
            <a:r>
              <a:rPr lang="en-US" sz="1700" dirty="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______ </a:t>
            </a: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groups </a:t>
            </a:r>
            <a:endParaRPr sz="1700" dirty="0">
              <a:latin typeface="Verdana"/>
              <a:ea typeface="Verdana"/>
              <a:cs typeface="Verdana"/>
              <a:sym typeface="Verdana"/>
            </a:endParaRPr>
          </a:p>
          <a:p>
            <a:pPr marL="349250">
              <a:lnSpc>
                <a:spcPct val="115000"/>
              </a:lnSpc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of </a:t>
            </a:r>
            <a:r>
              <a:rPr lang="en-US" sz="1700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________</a:t>
            </a: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 should be removed. </a:t>
            </a:r>
            <a:endParaRPr sz="700" dirty="0"/>
          </a:p>
        </p:txBody>
      </p:sp>
      <p:sp>
        <p:nvSpPr>
          <p:cNvPr id="244" name="Google Shape;244;g1155b9a1cc8_0_57"/>
          <p:cNvSpPr txBox="1"/>
          <p:nvPr/>
        </p:nvSpPr>
        <p:spPr>
          <a:xfrm>
            <a:off x="1287302" y="2803669"/>
            <a:ext cx="9211906" cy="446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2. Use the steps below to discover how to represent (−5)(−2) using integer chips. </a:t>
            </a:r>
            <a:endParaRPr sz="17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5" name="Google Shape;245;g1155b9a1cc8_0_57"/>
          <p:cNvSpPr txBox="1"/>
          <p:nvPr/>
        </p:nvSpPr>
        <p:spPr>
          <a:xfrm>
            <a:off x="1293462" y="3507275"/>
            <a:ext cx="9635476" cy="707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700" b="1">
                <a:latin typeface="Verdana"/>
                <a:ea typeface="Verdana"/>
                <a:cs typeface="Verdana"/>
                <a:sym typeface="Verdana"/>
              </a:rPr>
              <a:t>Step 1: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 First, use your integer chips to create the set of zero pairs that will be needed to find (−5 )(−2). Draw the groups of zero pairs in the box below.</a:t>
            </a:r>
            <a:endParaRPr sz="1100"/>
          </a:p>
        </p:txBody>
      </p:sp>
      <p:sp>
        <p:nvSpPr>
          <p:cNvPr id="246" name="Google Shape;246;g1155b9a1cc8_0_57"/>
          <p:cNvSpPr/>
          <p:nvPr/>
        </p:nvSpPr>
        <p:spPr>
          <a:xfrm>
            <a:off x="3412500" y="4337075"/>
            <a:ext cx="5367000" cy="10446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7" name="Google Shape;247;g1155b9a1cc8_0_57"/>
          <p:cNvSpPr txBox="1"/>
          <p:nvPr/>
        </p:nvSpPr>
        <p:spPr>
          <a:xfrm>
            <a:off x="1414340" y="5488075"/>
            <a:ext cx="811692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700" b="1">
                <a:latin typeface="Verdana"/>
                <a:ea typeface="Verdana"/>
                <a:cs typeface="Verdana"/>
                <a:sym typeface="Verdana"/>
              </a:rPr>
              <a:t>Step 2: 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Remove 5 groups of 2 negative integer chips. 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700" b="1">
                <a:latin typeface="Verdana"/>
                <a:ea typeface="Verdana"/>
                <a:cs typeface="Verdana"/>
                <a:sym typeface="Verdana"/>
              </a:rPr>
              <a:t>Step 3: </a:t>
            </a:r>
            <a:r>
              <a:rPr lang="en-US" sz="1700">
                <a:latin typeface="Verdana"/>
                <a:ea typeface="Verdana"/>
                <a:cs typeface="Verdana"/>
                <a:sym typeface="Verdana"/>
              </a:rPr>
              <a:t>Remove any remaining zero pairs, if needed.</a:t>
            </a:r>
            <a:endParaRPr/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155b9a1cc8_0_7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6" name="Google Shape;256;g1155b9a1cc8_0_76"/>
          <p:cNvSpPr txBox="1"/>
          <p:nvPr/>
        </p:nvSpPr>
        <p:spPr>
          <a:xfrm>
            <a:off x="1010093" y="520393"/>
            <a:ext cx="10322444" cy="3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3. Complete the statement. </a:t>
            </a: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The value of expression (−5 )(−2) is _______. </a:t>
            </a: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endParaRPr sz="2200" dirty="0">
              <a:latin typeface="Verdana"/>
              <a:ea typeface="Verdana"/>
              <a:cs typeface="Verdana"/>
              <a:sym typeface="Verdana"/>
            </a:endParaRPr>
          </a:p>
          <a:p>
            <a:pPr marL="401638" indent="-401638">
              <a:buSzPts val="2400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4. With your partner, discuss whether or not you think the product when multiplying two negative values will always be positive. Explain your thinking.</a:t>
            </a:r>
            <a:endParaRPr sz="22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64" name="Google Shape;264;p18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5" name="Google Shape;26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1467226" y="-142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9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6.9.4 Guided Instruction: Multiplying Integers Using the Number Line</a:t>
            </a:r>
            <a:endParaRPr sz="700"/>
          </a:p>
        </p:txBody>
      </p:sp>
      <p:pic>
        <p:nvPicPr>
          <p:cNvPr id="275" name="Google Shape;2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26" y="20584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7" name="Google Shape;277;p19"/>
          <p:cNvSpPr txBox="1"/>
          <p:nvPr/>
        </p:nvSpPr>
        <p:spPr>
          <a:xfrm>
            <a:off x="1445148" y="1124000"/>
            <a:ext cx="952155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Recall that (2)(4) means 2 groups with 4 units in each group. The product is the total number of objects.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This can be represented on the number line as shown.</a:t>
            </a:r>
            <a:endParaRPr sz="800" dirty="0"/>
          </a:p>
        </p:txBody>
      </p:sp>
      <p:sp>
        <p:nvSpPr>
          <p:cNvPr id="278" name="Google Shape;278;p19"/>
          <p:cNvSpPr txBox="1"/>
          <p:nvPr/>
        </p:nvSpPr>
        <p:spPr>
          <a:xfrm>
            <a:off x="1467226" y="3293675"/>
            <a:ext cx="9169598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indent="-349250"/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1. Represent each multiplication expression on the number line. Then, use it to complete the equation.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9" name="Google Shape;279;p1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6525" y="2324611"/>
            <a:ext cx="3438950" cy="105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25452" y="3987401"/>
            <a:ext cx="3741075" cy="27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88" name="Google Shape;288;p21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0" name="Google Shape;290;p21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1470399" y="6689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6.9.5 Guided Practice: Multiplying Integers Using Models </a:t>
            </a:r>
            <a:endParaRPr sz="1000"/>
          </a:p>
        </p:txBody>
      </p:sp>
      <p:pic>
        <p:nvPicPr>
          <p:cNvPr id="300" name="Google Shape;300;p22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0591" y="232917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1" name="Google Shape;301;p22"/>
          <p:cNvSpPr txBox="1"/>
          <p:nvPr/>
        </p:nvSpPr>
        <p:spPr>
          <a:xfrm>
            <a:off x="1275907" y="1386025"/>
            <a:ext cx="989618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1. 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Use integer chips to model and evaluate each expression.</a:t>
            </a:r>
            <a:endParaRPr dirty="0"/>
          </a:p>
        </p:txBody>
      </p:sp>
      <p:sp>
        <p:nvSpPr>
          <p:cNvPr id="302" name="Google Shape;302;p22"/>
          <p:cNvSpPr txBox="1"/>
          <p:nvPr/>
        </p:nvSpPr>
        <p:spPr>
          <a:xfrm>
            <a:off x="2060450" y="26203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a. (3)(−5) =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3" name="Google Shape;303;p22"/>
          <p:cNvSpPr txBox="1"/>
          <p:nvPr/>
        </p:nvSpPr>
        <p:spPr>
          <a:xfrm>
            <a:off x="2060450" y="47256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b. −2 × −2 =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3486900" y="3154863"/>
            <a:ext cx="5885100" cy="1047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3486900" y="5345038"/>
            <a:ext cx="5885100" cy="1047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477926" y="520393"/>
            <a:ext cx="9386778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24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2. Use a number line model to evaluate each expression. </a:t>
            </a: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>
              <a:buSzPts val="24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349250">
              <a:buSzPts val="2400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a. (8)(−1) =</a:t>
            </a:r>
            <a:endParaRPr sz="1100" dirty="0"/>
          </a:p>
        </p:txBody>
      </p:sp>
      <p:sp>
        <p:nvSpPr>
          <p:cNvPr id="315" name="Google Shape;315;p23"/>
          <p:cNvSpPr txBox="1"/>
          <p:nvPr/>
        </p:nvSpPr>
        <p:spPr>
          <a:xfrm>
            <a:off x="2043925" y="32889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100">
                <a:latin typeface="Verdana"/>
                <a:ea typeface="Verdana"/>
                <a:cs typeface="Verdana"/>
                <a:sym typeface="Verdana"/>
              </a:rPr>
              <a:t>b. (−4)(−4) =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1477926" y="5186425"/>
            <a:ext cx="9386798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9250" indent="-349250"/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3. Which model for multiplication of integers do you prefer: multiplication chips or the number line?</a:t>
            </a:r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7" name="Google Shape;317;p23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3925" y="2128282"/>
            <a:ext cx="8386200" cy="614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3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1964" y="4098025"/>
            <a:ext cx="8650113" cy="5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26" name="Google Shape;326;p30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7" name="Google Shape;32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1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1471653" y="216051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3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6.9.6 Your Turn! </a:t>
            </a:r>
            <a:endParaRPr/>
          </a:p>
        </p:txBody>
      </p:sp>
      <p:pic>
        <p:nvPicPr>
          <p:cNvPr id="337" name="Google Shape;33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353" y="216051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1932448" y="1142050"/>
            <a:ext cx="832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1638" indent="-401638"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1. Find the value of each expression using your preferred method.</a:t>
            </a:r>
            <a:endParaRPr dirty="0"/>
          </a:p>
        </p:txBody>
      </p:sp>
      <p:sp>
        <p:nvSpPr>
          <p:cNvPr id="340" name="Google Shape;340;p31"/>
          <p:cNvSpPr txBox="1"/>
          <p:nvPr/>
        </p:nvSpPr>
        <p:spPr>
          <a:xfrm>
            <a:off x="2382375" y="2195650"/>
            <a:ext cx="177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a. 2 × −8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4921375" y="2195650"/>
            <a:ext cx="2105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b. −6 ∙ (−3) 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2" name="Google Shape;342;p31"/>
          <p:cNvSpPr txBox="1"/>
          <p:nvPr/>
        </p:nvSpPr>
        <p:spPr>
          <a:xfrm>
            <a:off x="7650150" y="2195650"/>
            <a:ext cx="2277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c. (−7)(−6)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2382375" y="4671400"/>
            <a:ext cx="162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d. 5(−3)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4736125" y="4671400"/>
            <a:ext cx="247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e. −9 × −4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7783650" y="4671400"/>
            <a:ext cx="247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f. 7 ∙ 5</a:t>
            </a:r>
            <a:endParaRPr sz="2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3"/>
          <p:cNvSpPr/>
          <p:nvPr/>
        </p:nvSpPr>
        <p:spPr>
          <a:xfrm>
            <a:off x="0" y="-1733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4" name="Google Shape;354;p33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55" name="Google Shape;35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4" name="Google Shape;364;p34"/>
          <p:cNvSpPr txBox="1"/>
          <p:nvPr/>
        </p:nvSpPr>
        <p:spPr>
          <a:xfrm>
            <a:off x="1645069" y="-2298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6.9.7 Wrap-Up: Cool Down</a:t>
            </a:r>
            <a:endParaRPr/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867" y="23806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66" name="Google Shape;366;p34"/>
          <p:cNvSpPr txBox="1"/>
          <p:nvPr/>
        </p:nvSpPr>
        <p:spPr>
          <a:xfrm>
            <a:off x="1392865" y="1386025"/>
            <a:ext cx="9662266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1638" indent="-401638">
              <a:buSzPts val="24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1. Complete each rule by drawing the sign of the product as an integer chip.</a:t>
            </a:r>
            <a:endParaRPr dirty="0"/>
          </a:p>
        </p:txBody>
      </p:sp>
      <p:pic>
        <p:nvPicPr>
          <p:cNvPr id="367" name="Google Shape;367;p34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1475" y="2300339"/>
            <a:ext cx="3869062" cy="415733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5;g104476d1465_1_17"/>
          <p:cNvSpPr txBox="1"/>
          <p:nvPr/>
        </p:nvSpPr>
        <p:spPr>
          <a:xfrm>
            <a:off x="874848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8670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971</Words>
  <Application>Microsoft Office PowerPoint</Application>
  <PresentationFormat>Widescreen</PresentationFormat>
  <Paragraphs>138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Century Gothic</vt:lpstr>
      <vt:lpstr>Verdana</vt:lpstr>
      <vt:lpstr>1_Office Theme</vt:lpstr>
      <vt:lpstr>6th Grade Accelerated Math  Unit 6, Lesson 9  Multiplying Integers Using Models  Volume 1, pg. 273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Guided Instruction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6, Lesson 9  Multiplying Integers Using Models  Volume 1, pg. 273  </dc:title>
  <dc:creator>Karen McKenzie</dc:creator>
  <cp:lastModifiedBy>Cassie O'Connor</cp:lastModifiedBy>
  <cp:revision>4</cp:revision>
  <dcterms:created xsi:type="dcterms:W3CDTF">2015-03-17T18:51:18Z</dcterms:created>
  <dcterms:modified xsi:type="dcterms:W3CDTF">2022-06-29T19:10:15Z</dcterms:modified>
</cp:coreProperties>
</file>