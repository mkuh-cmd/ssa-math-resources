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gDyRSS1ATBoBQPesUhGUi1guOc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695"/>
  </p:normalViewPr>
  <p:slideViewPr>
    <p:cSldViewPr snapToGrid="0">
      <p:cViewPr varScale="1">
        <p:scale>
          <a:sx n="101" d="100"/>
          <a:sy n="101" d="100"/>
        </p:scale>
        <p:origin x="208" y="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40" Type="http://customschemas.google.com/relationships/presentationmetadata" Target="meta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8" name="Google Shape;348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14" name="Google Shape;114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4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Adding Integers Using Number Lines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249</a:t>
            </a:r>
            <a:endParaRPr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cxnSp>
        <p:nvCxnSpPr>
          <p:cNvPr id="115" name="Google Shape;115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503" y="1692057"/>
            <a:ext cx="2973100" cy="3465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717059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559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pic>
        <p:nvPicPr>
          <p:cNvPr id="125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6" name="Google Shape;126;g104476d1465_1_17"/>
          <p:cNvSpPr txBox="1"/>
          <p:nvPr/>
        </p:nvSpPr>
        <p:spPr>
          <a:xfrm>
            <a:off x="1877962" y="1462225"/>
            <a:ext cx="858303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</a:t>
            </a:r>
            <a:r>
              <a:rPr lang="en-US" sz="3000" dirty="0">
                <a:latin typeface="Verdana"/>
                <a:ea typeface="Verdana"/>
                <a:cs typeface="Verdana"/>
                <a:sym typeface="Verdana"/>
              </a:rPr>
              <a:t>6.NSO.4.1</a:t>
            </a:r>
            <a:endParaRPr sz="3000" dirty="0"/>
          </a:p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000" dirty="0">
                <a:latin typeface="Verdana"/>
                <a:ea typeface="Verdana"/>
                <a:cs typeface="Verdana"/>
                <a:sym typeface="Verdana"/>
              </a:rPr>
              <a:t>Apply and extend previous understandings of operations with whole numbers to add and subtract integers with procedural fluency.</a:t>
            </a:r>
            <a:endParaRPr dirty="0"/>
          </a:p>
        </p:txBody>
      </p:sp>
      <p:sp>
        <p:nvSpPr>
          <p:cNvPr id="127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249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"/>
          <p:cNvSpPr/>
          <p:nvPr/>
        </p:nvSpPr>
        <p:spPr>
          <a:xfrm>
            <a:off x="0" y="3699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1472140" y="659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978" y="3551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8" name="Google Shape;138;p2"/>
          <p:cNvSpPr txBox="1"/>
          <p:nvPr/>
        </p:nvSpPr>
        <p:spPr>
          <a:xfrm>
            <a:off x="1692759" y="1600200"/>
            <a:ext cx="880648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add integers using a number line.</a:t>
            </a:r>
            <a:endParaRPr dirty="0"/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9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249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46" name="Google Shape;146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7" name="Google Shape;147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249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1424259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6.4.1 Warm-Up: Speed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Is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Not Important  </a:t>
            </a:r>
            <a:endParaRPr dirty="0"/>
          </a:p>
        </p:txBody>
      </p:sp>
      <p:pic>
        <p:nvPicPr>
          <p:cNvPr id="157" name="Google Shape;15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959" y="1974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9" name="Google Shape;159;p4"/>
          <p:cNvSpPr txBox="1"/>
          <p:nvPr/>
        </p:nvSpPr>
        <p:spPr>
          <a:xfrm>
            <a:off x="1424259" y="1386026"/>
            <a:ext cx="9599514" cy="36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100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How fast you perform calculations in mathematics is not at</a:t>
            </a:r>
            <a:endParaRPr dirty="0"/>
          </a:p>
          <a:p>
            <a:pPr>
              <a:buSzPts val="2100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all related to how “good” you are at math. Fast calculation</a:t>
            </a:r>
            <a:endParaRPr dirty="0"/>
          </a:p>
          <a:p>
            <a:pPr>
              <a:buSzPts val="2100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is not important. What matters is deep thinking and</a:t>
            </a:r>
            <a:endParaRPr dirty="0"/>
          </a:p>
          <a:p>
            <a:pPr>
              <a:buSzPts val="2100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understanding.</a:t>
            </a:r>
            <a:endParaRPr dirty="0"/>
          </a:p>
          <a:p>
            <a:pPr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100"/>
              <a:buFont typeface="+mj-lt"/>
              <a:buAutoNum type="arabicPeriod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Describe a time when you felt rushed to perform calculations on a math assignment or assessment.</a:t>
            </a:r>
            <a:endParaRPr dirty="0"/>
          </a:p>
          <a:p>
            <a:pPr marL="457200" indent="-457200">
              <a:buSzPts val="2100"/>
              <a:buFont typeface="+mj-lt"/>
              <a:buAutoNum type="arabicPeriod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100"/>
              <a:buFont typeface="+mj-lt"/>
              <a:buAutoNum type="arabicPeriod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If you were given as much time as you needed in 	the situation you described, how would that have affected your feelings and performance on completing the assignment or assessment?</a:t>
            </a:r>
            <a:endParaRPr sz="21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9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249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9" name="Google Shape;169;p2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2434" y="279196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>
            <a:off x="0" y="1179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1268566" y="-7736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6.4.2 Refresher: Plotting Numbers on a Number Line</a:t>
            </a:r>
            <a:endParaRPr/>
          </a:p>
        </p:txBody>
      </p:sp>
      <p:pic>
        <p:nvPicPr>
          <p:cNvPr id="178" name="Google Shape;178;p25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937" y="13742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9" name="Google Shape;179;p25"/>
          <p:cNvSpPr txBox="1"/>
          <p:nvPr/>
        </p:nvSpPr>
        <p:spPr>
          <a:xfrm>
            <a:off x="1443789" y="1386025"/>
            <a:ext cx="9560454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200"/>
              <a:buFont typeface="Arial"/>
              <a:buAutoNum type="arabicPeriod"/>
            </a:pPr>
            <a:r>
              <a:rPr lang="en-US" sz="2200">
                <a:latin typeface="Verdana"/>
                <a:ea typeface="Verdana"/>
                <a:cs typeface="Verdana"/>
                <a:sym typeface="Verdana"/>
              </a:rPr>
              <a:t>Plot each of the following integers on the number line below. </a:t>
            </a: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Label each point with the letter indicated.</a:t>
            </a:r>
            <a:endParaRPr dirty="0"/>
          </a:p>
          <a:p>
            <a:pPr marL="457200" indent="-317500">
              <a:buSzPts val="22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17500">
              <a:buSzPts val="22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17500">
              <a:buSzPts val="22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17500">
              <a:buSzPts val="22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2. Complete the statements.</a:t>
            </a:r>
            <a:endParaRPr sz="22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41908" y="2203434"/>
            <a:ext cx="7059561" cy="1230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5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3691" y="3848197"/>
            <a:ext cx="5213022" cy="2970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5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1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424259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1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6.4.3 Guided Instruction: Rules for Adding Integers on a Number Line</a:t>
            </a:r>
            <a:endParaRPr sz="3100"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959" y="28554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2" name="Google Shape;202;p19"/>
          <p:cNvSpPr txBox="1"/>
          <p:nvPr/>
        </p:nvSpPr>
        <p:spPr>
          <a:xfrm>
            <a:off x="1424259" y="1386025"/>
            <a:ext cx="9599514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200"/>
            </a:pPr>
            <a:r>
              <a:rPr lang="en-US" sz="2200">
                <a:latin typeface="Verdana"/>
                <a:ea typeface="Verdana"/>
                <a:cs typeface="Verdana"/>
                <a:sym typeface="Verdana"/>
              </a:rPr>
              <a:t>In addition to integer chips, number lines are another helpful tool you can use to model adding integers. </a:t>
            </a:r>
            <a:endParaRPr/>
          </a:p>
          <a:p>
            <a:pPr>
              <a:buSzPts val="22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200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1. Complete the following to model integer addition. </a:t>
            </a:r>
            <a:endParaRPr dirty="0"/>
          </a:p>
          <a:p>
            <a:pPr algn="ctr">
              <a:buSzPts val="2200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−3 + (−2) = ___________</a:t>
            </a:r>
            <a:endParaRPr sz="22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3" name="Google Shape;203;p19" descr="Tab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0853" y="3424825"/>
            <a:ext cx="6879619" cy="2223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5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0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2007765" y="520394"/>
            <a:ext cx="8327136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2200"/>
            </a:pPr>
            <a:r>
              <a:rPr lang="en-US" sz="2200"/>
              <a:t>4 + (−7) = ___________</a:t>
            </a:r>
            <a:endParaRPr sz="2200"/>
          </a:p>
        </p:txBody>
      </p:sp>
      <p:pic>
        <p:nvPicPr>
          <p:cNvPr id="214" name="Google Shape;21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9789" y="150985"/>
            <a:ext cx="6892423" cy="366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23" name="Google Shape;223;p3"/>
          <p:cNvSpPr txBox="1"/>
          <p:nvPr/>
        </p:nvSpPr>
        <p:spPr>
          <a:xfrm>
            <a:off x="1459832" y="520394"/>
            <a:ext cx="8875069" cy="618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200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2. The sum of integers can be represented using rays on a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9250" indent="-349250">
              <a:buSzPts val="2200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    number line. A ray has a single endpoint and extends in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    a specified direction based on the sign of the integer.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• A ray that represents a positive integer has its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endpoint at 0, with the arrow extending to the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____________.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• A ray that represents a negative integer has its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endpoint at 0, with the arrow extending to the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____________.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• To represent a sum</a:t>
            </a:r>
            <a:r>
              <a:rPr lang="en-US" sz="2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draw a ray for the first integer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 starts at 0 and extends in the direction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indicated by the ____________ of the first integer.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 ends at the location of the first integer on the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12750">
              <a:buSzPts val="2200"/>
            </a:pPr>
            <a:r>
              <a:rPr lang="en-US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 line.</a:t>
            </a:r>
            <a:endParaRPr sz="2200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24" name="Google Shape;22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7766" y="2035880"/>
            <a:ext cx="7910245" cy="655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3" name="Google Shape;233;p36"/>
          <p:cNvSpPr txBox="1"/>
          <p:nvPr/>
        </p:nvSpPr>
        <p:spPr>
          <a:xfrm>
            <a:off x="1427747" y="520394"/>
            <a:ext cx="9487172" cy="578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SzPts val="2200"/>
              <a:buFont typeface="Arial"/>
              <a:buChar char="•"/>
            </a:pPr>
            <a:r>
              <a:rPr lang="en-US" sz="22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Then, draw a ray for the second integer that starts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r>
              <a:rPr lang="en-US" sz="22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first ray’s arrow ends and extends in the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r>
              <a:rPr lang="en-US" sz="22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direction indicated by the ____________ of the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r>
              <a:rPr lang="en-US" sz="22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 integer. It ends after moving the number of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r>
              <a:rPr lang="en-US" sz="22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units indicated by the second integer.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r>
              <a:rPr lang="en-US" sz="2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• The sum of the two integers is the integer where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r>
              <a:rPr lang="en-US" sz="2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second ray ends.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sz="22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r>
              <a:rPr lang="en-US" sz="2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The diagram shown represents </a:t>
            </a:r>
            <a:r>
              <a:rPr lang="en-US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−3 </a:t>
            </a:r>
            <a:r>
              <a:rPr lang="en-US" sz="22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+ 4 </a:t>
            </a:r>
            <a:r>
              <a:rPr lang="en-US" sz="2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+1 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sz="22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sz="22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sz="22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sz="22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sz="22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200"/>
            </a:pPr>
            <a:endParaRPr sz="22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SzPts val="200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Give an example or explain when a number line model would be more useful than using integer chips.</a:t>
            </a:r>
            <a:endParaRPr sz="20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</p:txBody>
      </p:sp>
      <p:pic>
        <p:nvPicPr>
          <p:cNvPr id="234" name="Google Shape;23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8063" y="3697381"/>
            <a:ext cx="5395428" cy="1638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42" name="Google Shape;242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3" name="Google Shape;24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1423005" y="3642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6.4.4 Collaboration: Commutative Property</a:t>
            </a:r>
            <a:endParaRPr/>
          </a:p>
        </p:txBody>
      </p:sp>
      <p:pic>
        <p:nvPicPr>
          <p:cNvPr id="253" name="Google Shape;253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3197" y="324369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54" name="Google Shape;254;p7"/>
          <p:cNvSpPr txBox="1"/>
          <p:nvPr/>
        </p:nvSpPr>
        <p:spPr>
          <a:xfrm>
            <a:off x="1423005" y="1386026"/>
            <a:ext cx="9602022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400" b="1" i="1" dirty="0">
                <a:latin typeface="Verdana"/>
                <a:ea typeface="Verdana"/>
                <a:cs typeface="Verdana"/>
                <a:sym typeface="Verdana"/>
              </a:rPr>
              <a:t>commutative property of addition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states that the order in which addition is performed does not change the value of the expression.</a:t>
            </a:r>
            <a:endParaRPr dirty="0"/>
          </a:p>
          <a:p>
            <a:pPr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With your partner, add integers using the commutative</a:t>
            </a:r>
            <a:endParaRPr dirty="0"/>
          </a:p>
          <a:p>
            <a:pPr>
              <a:buSzPts val="2400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property.</a:t>
            </a:r>
            <a:endParaRPr dirty="0"/>
          </a:p>
          <a:p>
            <a:pPr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400"/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Complete the table by sketching the integer chip model for the first column, the number line model for the third column, and answering the question in the last column.</a:t>
            </a:r>
            <a:endParaRPr dirty="0"/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9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5" name="Google Shape;26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0287" y="259578"/>
            <a:ext cx="6392415" cy="5941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7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4" name="Google Shape;274;p37"/>
          <p:cNvSpPr txBox="1"/>
          <p:nvPr/>
        </p:nvSpPr>
        <p:spPr>
          <a:xfrm>
            <a:off x="1138989" y="520394"/>
            <a:ext cx="10064688" cy="5739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200"/>
              <a:buFont typeface="+mj-lt"/>
              <a:buAutoNum type="arabicPeriod" startAt="2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Show the model for (−7) + 9 on the number line below.</a:t>
            </a:r>
            <a:endParaRPr dirty="0"/>
          </a:p>
          <a:p>
            <a:pPr marL="457200" indent="-457200">
              <a:buSzPts val="2200"/>
              <a:buFont typeface="+mj-lt"/>
              <a:buAutoNum type="arabicPeriod" startAt="2"/>
            </a:pPr>
            <a:endParaRPr lang="en-US" sz="22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200"/>
              <a:buFont typeface="+mj-lt"/>
              <a:buAutoNum type="arabicPeriod" startAt="2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200"/>
              <a:buFont typeface="+mj-lt"/>
              <a:buAutoNum type="arabicPeriod" startAt="2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200"/>
              <a:buFont typeface="+mj-lt"/>
              <a:buAutoNum type="arabicPeriod" startAt="2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200"/>
              <a:buFont typeface="+mj-lt"/>
              <a:buAutoNum type="arabicPeriod" startAt="2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200"/>
              <a:buFont typeface="+mj-lt"/>
              <a:buAutoNum type="arabicPeriod" startAt="2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Show the model for 9 + (−7) on the number line below.</a:t>
            </a:r>
            <a:endParaRPr dirty="0"/>
          </a:p>
          <a:p>
            <a:pPr marL="457200" indent="-457200">
              <a:buSzPts val="2100"/>
              <a:buFont typeface="+mj-lt"/>
              <a:buAutoNum type="arabicPeriod" startAt="2"/>
            </a:pPr>
            <a:endParaRPr lang="en-US"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100"/>
              <a:buFont typeface="+mj-lt"/>
              <a:buAutoNum type="arabicPeriod" startAt="2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100"/>
              <a:buFont typeface="+mj-lt"/>
              <a:buAutoNum type="arabicPeriod" startAt="2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100"/>
              <a:buFont typeface="+mj-lt"/>
              <a:buAutoNum type="arabicPeriod" startAt="2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100"/>
              <a:buFont typeface="+mj-lt"/>
              <a:buAutoNum type="arabicPeriod" startAt="2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200"/>
              <a:buFont typeface="+mj-lt"/>
              <a:buAutoNum type="arabicPeriod" startAt="2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Discuss with your partner how the two number line models for (−7) + 9 and 9 + (−7) show that (−7) + 9 = 9 + (−7). Write a summary of your reasoning.</a:t>
            </a:r>
            <a:endParaRPr dirty="0"/>
          </a:p>
          <a:p>
            <a:pPr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5" name="Google Shape;27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6683" y="1405895"/>
            <a:ext cx="8069301" cy="83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4935" y="3424825"/>
            <a:ext cx="8069301" cy="83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5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9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84" name="Google Shape;284;p15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5" name="Google Shape;28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171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94" name="Google Shape;294;p16"/>
          <p:cNvSpPr txBox="1"/>
          <p:nvPr/>
        </p:nvSpPr>
        <p:spPr>
          <a:xfrm>
            <a:off x="1510950" y="6361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6.4.5 Try It: Adding Integers Using Number Lines </a:t>
            </a:r>
            <a:endParaRPr/>
          </a:p>
        </p:txBody>
      </p:sp>
      <p:pic>
        <p:nvPicPr>
          <p:cNvPr id="295" name="Google Shape;295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142" y="35155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96" name="Google Shape;296;p16"/>
          <p:cNvSpPr txBox="1"/>
          <p:nvPr/>
        </p:nvSpPr>
        <p:spPr>
          <a:xfrm>
            <a:off x="973008" y="1386026"/>
            <a:ext cx="10517094" cy="386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SzPts val="2100"/>
              <a:buFont typeface="Arial"/>
              <a:buAutoNum type="arabicPeriod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Find each sum. Use the number line to model the addition. </a:t>
            </a:r>
            <a:endParaRPr dirty="0"/>
          </a:p>
          <a:p>
            <a:r>
              <a:rPr lang="en-US" dirty="0"/>
              <a:t>	</a:t>
            </a:r>
            <a:endParaRPr dirty="0"/>
          </a:p>
          <a:p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	a. 8 + (−18) = ________</a:t>
            </a:r>
            <a:endParaRPr dirty="0"/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	b. −7 + (−5) = ________</a:t>
            </a:r>
            <a:endParaRPr dirty="0"/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	c. −3 + 20 = ________</a:t>
            </a:r>
            <a:endParaRPr sz="21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7" name="Google Shape;297;p16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9850" y="2601966"/>
            <a:ext cx="7010400" cy="437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6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9851" y="4037426"/>
            <a:ext cx="7188577" cy="44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9851" y="5521241"/>
            <a:ext cx="7188577" cy="44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5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8" name="Google Shape;308;p11"/>
          <p:cNvSpPr txBox="1"/>
          <p:nvPr/>
        </p:nvSpPr>
        <p:spPr>
          <a:xfrm>
            <a:off x="1347537" y="1019251"/>
            <a:ext cx="9496926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>
              <a:buSzPts val="2600"/>
              <a:buFont typeface="+mj-lt"/>
              <a:buAutoNum type="arabicPeriod" startAt="2"/>
            </a:pPr>
            <a:r>
              <a:rPr lang="en-US" sz="2600">
                <a:latin typeface="Verdana"/>
                <a:ea typeface="Verdana"/>
                <a:cs typeface="Verdana"/>
                <a:sym typeface="Verdana"/>
              </a:rPr>
              <a:t>Write the numerical expression for the model below. </a:t>
            </a:r>
            <a:r>
              <a:rPr lang="en-US" sz="2600" dirty="0">
                <a:latin typeface="Verdana"/>
                <a:ea typeface="Verdana"/>
                <a:cs typeface="Verdana"/>
                <a:sym typeface="Verdana"/>
              </a:rPr>
              <a:t>Then, find the sum</a:t>
            </a:r>
            <a:r>
              <a:rPr lang="en-US" sz="2600" dirty="0"/>
              <a:t>.</a:t>
            </a:r>
            <a:endParaRPr sz="2600" dirty="0"/>
          </a:p>
        </p:txBody>
      </p:sp>
      <p:pic>
        <p:nvPicPr>
          <p:cNvPr id="309" name="Google Shape;309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67372" y="2919752"/>
            <a:ext cx="7457257" cy="1010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18" name="Google Shape;318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9" name="Google Shape;31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"/>
          <p:cNvSpPr/>
          <p:nvPr/>
        </p:nvSpPr>
        <p:spPr>
          <a:xfrm>
            <a:off x="185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28" name="Google Shape;328;p31"/>
          <p:cNvSpPr txBox="1"/>
          <p:nvPr/>
        </p:nvSpPr>
        <p:spPr>
          <a:xfrm>
            <a:off x="1424352" y="215227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6.4.6 Your Turn!</a:t>
            </a:r>
            <a:endParaRPr/>
          </a:p>
        </p:txBody>
      </p:sp>
      <p:pic>
        <p:nvPicPr>
          <p:cNvPr id="329" name="Google Shape;32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052" y="215227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 txBox="1"/>
          <p:nvPr/>
        </p:nvSpPr>
        <p:spPr>
          <a:xfrm>
            <a:off x="930442" y="1081225"/>
            <a:ext cx="10011352" cy="36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100"/>
              <a:buFont typeface="Arial"/>
              <a:buAutoNum type="arabicPeriod"/>
            </a:pPr>
            <a:r>
              <a:rPr lang="en-US" sz="2100">
                <a:latin typeface="Verdana"/>
                <a:ea typeface="Verdana"/>
                <a:cs typeface="Verdana"/>
                <a:sym typeface="Verdana"/>
              </a:rPr>
              <a:t>For each number line model, write the addition expression represented and find the sum.</a:t>
            </a:r>
            <a:endParaRPr/>
          </a:p>
          <a:p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	a. </a:t>
            </a:r>
            <a:endParaRPr dirty="0"/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	b.</a:t>
            </a:r>
            <a:endParaRPr dirty="0"/>
          </a:p>
        </p:txBody>
      </p:sp>
      <p:pic>
        <p:nvPicPr>
          <p:cNvPr id="331" name="Google Shape;33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1796" y="1827258"/>
            <a:ext cx="5138725" cy="1912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1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11795" y="4267996"/>
            <a:ext cx="5747498" cy="228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5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1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41" name="Google Shape;341;p14"/>
          <p:cNvSpPr txBox="1"/>
          <p:nvPr/>
        </p:nvSpPr>
        <p:spPr>
          <a:xfrm>
            <a:off x="1331495" y="1281746"/>
            <a:ext cx="9940934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600"/>
            </a:pPr>
            <a:r>
              <a:rPr lang="en-US" sz="2600" dirty="0">
                <a:latin typeface="Verdana"/>
                <a:ea typeface="Verdana"/>
                <a:cs typeface="Verdana"/>
                <a:sym typeface="Verdana"/>
              </a:rPr>
              <a:t>2. Use the number line to show the sum of </a:t>
            </a:r>
            <a:endParaRPr dirty="0"/>
          </a:p>
          <a:p>
            <a:pPr>
              <a:buSzPts val="2600"/>
            </a:pPr>
            <a:r>
              <a:rPr lang="en-US" sz="2600" dirty="0"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Verdana"/>
                <a:sym typeface="Verdana"/>
              </a:rPr>
              <a:t>-8+5</a:t>
            </a:r>
            <a:r>
              <a:rPr lang="en-US" sz="2600" dirty="0">
                <a:latin typeface="Verdana"/>
                <a:ea typeface="Verdana"/>
                <a:cs typeface="Verdana"/>
                <a:sym typeface="Verdana"/>
              </a:rPr>
              <a:t>. Then, complete the equation.</a:t>
            </a:r>
            <a:endParaRPr sz="2600" dirty="0"/>
          </a:p>
        </p:txBody>
      </p:sp>
      <p:pic>
        <p:nvPicPr>
          <p:cNvPr id="342" name="Google Shape;34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5974" y="2302603"/>
            <a:ext cx="8689557" cy="224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2" name="Google Shape;352;p38"/>
          <p:cNvSpPr txBox="1"/>
          <p:nvPr/>
        </p:nvSpPr>
        <p:spPr>
          <a:xfrm>
            <a:off x="1299412" y="500392"/>
            <a:ext cx="8944906" cy="141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In a single day, the temperature in degrees Fahrenheit (℉) of a town in Canada began at a low of −20℉ and increased 40℉ by noon.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53" name="Google Shape;353;p3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67561" y="1670541"/>
            <a:ext cx="528379" cy="38907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E459ADF-1218-4759-B26C-6532EA9717D1}"/>
              </a:ext>
            </a:extLst>
          </p:cNvPr>
          <p:cNvSpPr txBox="1"/>
          <p:nvPr/>
        </p:nvSpPr>
        <p:spPr>
          <a:xfrm>
            <a:off x="1828801" y="1798320"/>
            <a:ext cx="615375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Plot a point at the low temperature. 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Draw a ray along the number line to represent the increase of 40℉.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Which direction does the arrow extend to show the increase in temperature?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What was the temperature in the town by noon?</a:t>
            </a:r>
          </a:p>
          <a:p>
            <a:endParaRPr lang="en-US" dirty="0"/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9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/>
          <p:nvPr/>
        </p:nvSpPr>
        <p:spPr>
          <a:xfrm>
            <a:off x="0" y="-23184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3" name="Google Shape;363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4" name="Google Shape;36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3" name="Google Shape;373;p34"/>
          <p:cNvSpPr txBox="1"/>
          <p:nvPr/>
        </p:nvSpPr>
        <p:spPr>
          <a:xfrm>
            <a:off x="1465334" y="-8682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6.4.7 Wrap-Up: Reflection</a:t>
            </a:r>
            <a:endParaRPr/>
          </a:p>
        </p:txBody>
      </p:sp>
      <p:pic>
        <p:nvPicPr>
          <p:cNvPr id="374" name="Google Shape;37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884" y="1362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75" name="Google Shape;375;p34"/>
          <p:cNvSpPr txBox="1"/>
          <p:nvPr/>
        </p:nvSpPr>
        <p:spPr>
          <a:xfrm>
            <a:off x="1465334" y="1238878"/>
            <a:ext cx="9411998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100"/>
              <a:buFont typeface="Arial"/>
              <a:buAutoNum type="arabicPeriod"/>
            </a:pPr>
            <a:r>
              <a:rPr lang="en-US" sz="2100">
                <a:latin typeface="Verdana"/>
                <a:ea typeface="Verdana"/>
                <a:cs typeface="Verdana"/>
                <a:sym typeface="Verdana"/>
              </a:rPr>
              <a:t>Color in the arrow up to the statement that best describes your current level of confidence with using a number line to add integers. </a:t>
            </a:r>
            <a:endParaRPr/>
          </a:p>
        </p:txBody>
      </p:sp>
      <p:pic>
        <p:nvPicPr>
          <p:cNvPr id="376" name="Google Shape;376;p3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46201" y="2300666"/>
            <a:ext cx="6628713" cy="401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5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19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0" name="Google Shape;127;g104476d1465_1_17"/>
          <p:cNvSpPr txBox="1"/>
          <p:nvPr/>
        </p:nvSpPr>
        <p:spPr>
          <a:xfrm>
            <a:off x="865369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932</Words>
  <Application>Microsoft Macintosh PowerPoint</Application>
  <PresentationFormat>Widescreen</PresentationFormat>
  <Paragraphs>175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 Black</vt:lpstr>
      <vt:lpstr>Calibri</vt:lpstr>
      <vt:lpstr>Cambria Math</vt:lpstr>
      <vt:lpstr>Verdana</vt:lpstr>
      <vt:lpstr>Arial</vt:lpstr>
      <vt:lpstr>1_Office Theme</vt:lpstr>
      <vt:lpstr>6th Grade Accelerated Math  Unit 6, Lesson 4  Adding Integers Using Number Lines  Volume 1, pg. 249  </vt:lpstr>
      <vt:lpstr>Benchmark</vt:lpstr>
      <vt:lpstr>PowerPoint Presentation</vt:lpstr>
      <vt:lpstr>Warm-Up</vt:lpstr>
      <vt:lpstr>PowerPoint Presentation</vt:lpstr>
      <vt:lpstr>Refresher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6, Lesson 4  Adding Integers Using Number Lines  Volume 1, pg. 249  </dc:title>
  <dc:creator>Karen McKenzie</dc:creator>
  <cp:lastModifiedBy>jslater9816@gmail.com</cp:lastModifiedBy>
  <cp:revision>4</cp:revision>
  <dcterms:created xsi:type="dcterms:W3CDTF">2015-03-17T18:51:18Z</dcterms:created>
  <dcterms:modified xsi:type="dcterms:W3CDTF">2022-07-29T01:20:38Z</dcterms:modified>
</cp:coreProperties>
</file>