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288" r:id="rId10"/>
    <p:sldId id="289" r:id="rId11"/>
    <p:sldId id="290" r:id="rId12"/>
    <p:sldId id="336" r:id="rId13"/>
    <p:sldId id="332" r:id="rId14"/>
    <p:sldId id="342" r:id="rId15"/>
    <p:sldId id="343" r:id="rId16"/>
    <p:sldId id="323" r:id="rId17"/>
    <p:sldId id="324" r:id="rId18"/>
    <p:sldId id="344" r:id="rId19"/>
    <p:sldId id="302" r:id="rId20"/>
    <p:sldId id="303" r:id="rId21"/>
    <p:sldId id="337" r:id="rId22"/>
    <p:sldId id="306" r:id="rId23"/>
    <p:sldId id="30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37"/>
    <p:restoredTop sz="94660"/>
  </p:normalViewPr>
  <p:slideViewPr>
    <p:cSldViewPr snapToGrid="0">
      <p:cViewPr varScale="1">
        <p:scale>
          <a:sx n="79" d="100"/>
          <a:sy n="79" d="100"/>
        </p:scale>
        <p:origin x="31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2440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8938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4169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1872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4871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4514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28218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99279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694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07340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47989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7815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9248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2.emf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10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Prime Factorization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238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70015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21356" y="12307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856" y="3588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32965" y="1600200"/>
            <a:ext cx="867783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MA.6.NSO.3.4</a:t>
            </a:r>
          </a:p>
          <a:p>
            <a:pPr marL="468313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 composite whole numbers as a product of prime factors with natural number exponents. </a:t>
            </a: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497" y="3361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0147" y="93516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90147" y="1596390"/>
            <a:ext cx="979946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1916" y="-5144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754" y="237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501916" y="1600200"/>
            <a:ext cx="918816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8313" indent="-468313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 can express composite whole numbers as a product of prime factors.</a:t>
            </a:r>
            <a:endParaRPr lang="en-US" sz="2400" i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2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72168" y="-96975"/>
            <a:ext cx="949547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6.2.1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69" y="18810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372168" y="1386025"/>
            <a:ext cx="9703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of the following would you rather choose? Justify your reasoning using mathematics.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">
                <a:extLst>
                  <a:ext uri="{FF2B5EF4-FFF2-40B4-BE49-F238E27FC236}">
                    <a16:creationId xmlns:a16="http://schemas.microsoft.com/office/drawing/2014/main" id="{C81444C3-DBAF-2D4A-BE6D-561322C849BC}"/>
                  </a:ext>
                </a:extLst>
              </p:cNvPr>
              <p:cNvSpPr/>
              <p:nvPr/>
            </p:nvSpPr>
            <p:spPr>
              <a:xfrm>
                <a:off x="2519850" y="2270969"/>
                <a:ext cx="3280099" cy="11684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Deposit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$3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 in the bank and have it triple each week for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 weeks.</a:t>
                </a:r>
                <a:endParaRPr lang="en-US" sz="2000" i="1" dirty="0">
                  <a:latin typeface="Cambria Math" panose="02040503050406030204" pitchFamily="18" charset="0"/>
                  <a:ea typeface="Times New Roman" panose="020206030504050203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: Rounded Corners 1">
                <a:extLst>
                  <a:ext uri="{FF2B5EF4-FFF2-40B4-BE49-F238E27FC236}">
                    <a16:creationId xmlns:a16="http://schemas.microsoft.com/office/drawing/2014/main" id="{C81444C3-DBAF-2D4A-BE6D-561322C849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49" y="2270969"/>
                <a:ext cx="3280099" cy="1168400"/>
              </a:xfrm>
              <a:prstGeom prst="roundRect">
                <a:avLst/>
              </a:prstGeom>
              <a:blipFill>
                <a:blip r:embed="rId5"/>
                <a:stretch>
                  <a:fillRect r="-766" b="-319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2">
                <a:extLst>
                  <a:ext uri="{FF2B5EF4-FFF2-40B4-BE49-F238E27FC236}">
                    <a16:creationId xmlns:a16="http://schemas.microsoft.com/office/drawing/2014/main" id="{B6E3E709-189B-B54A-A643-FE149125CFEF}"/>
                  </a:ext>
                </a:extLst>
              </p:cNvPr>
              <p:cNvSpPr/>
              <p:nvPr/>
            </p:nvSpPr>
            <p:spPr>
              <a:xfrm>
                <a:off x="6096000" y="2251211"/>
                <a:ext cx="3709812" cy="11684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Deposit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$4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 in the bank and have it quadruple each week for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 weeks.</a:t>
                </a:r>
                <a:endParaRPr lang="en-US" sz="1800" i="1" dirty="0">
                  <a:latin typeface="Cambria Math" panose="02040503050406030204" pitchFamily="18" charset="0"/>
                  <a:ea typeface="Times New Roman" panose="020206030504050203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: Rounded Corners 2">
                <a:extLst>
                  <a:ext uri="{FF2B5EF4-FFF2-40B4-BE49-F238E27FC236}">
                    <a16:creationId xmlns:a16="http://schemas.microsoft.com/office/drawing/2014/main" id="{B6E3E709-189B-B54A-A643-FE149125C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251211"/>
                <a:ext cx="3709812" cy="1168400"/>
              </a:xfrm>
              <a:prstGeom prst="roundRect">
                <a:avLst/>
              </a:prstGeom>
              <a:blipFill>
                <a:blip r:embed="rId6"/>
                <a:stretch>
                  <a:fillRect r="-2034" b="-210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74777" y="60326"/>
            <a:ext cx="997246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6.2.2 Collaboration: Exploring Factors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69" y="30793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374777" y="1386026"/>
                <a:ext cx="9698478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on the following.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factor pair that uses the greatest factor other than itself.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factor pair that uses the greatest factor other than itself.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factor pair that uses the greatest factor other than itself.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777" y="1386026"/>
                <a:ext cx="9698478" cy="5324535"/>
              </a:xfrm>
              <a:prstGeom prst="rect">
                <a:avLst/>
              </a:prstGeom>
              <a:blipFill rotWithShape="0">
                <a:blip r:embed="rId4"/>
                <a:stretch>
                  <a:fillRect l="-692" t="-572" r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83341" y="520393"/>
                <a:ext cx="9975984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factor pair that uses the greatest factor other than itself.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did each of the above tasks, problems 2-4, relate to the factor pair that came before it?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was different about rewriting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factor pair using the greatest factor other than itself?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41" y="520393"/>
                <a:ext cx="9975984" cy="4093428"/>
              </a:xfrm>
              <a:prstGeom prst="rect">
                <a:avLst/>
              </a:prstGeom>
              <a:blipFill rotWithShape="0">
                <a:blip r:embed="rId3"/>
                <a:stretch>
                  <a:fillRect l="-672" t="-893" r="-183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2016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9372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70211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6.2.3 Guided Instruction: Prime Factorization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2911" y="26759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370211" y="1386026"/>
                <a:ext cx="970761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of the factor pairs from the Collaboration can be used to rewrite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more than one pair of factors.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example, the first factor pair was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2∙12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rewritten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24=2∙12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written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2∙6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also be rewritten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24=2∙2∙6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expressed as ________,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rewritten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24=__________________________________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211" y="1386026"/>
                <a:ext cx="9707610" cy="4708981"/>
              </a:xfrm>
              <a:prstGeom prst="rect">
                <a:avLst/>
              </a:prstGeom>
              <a:blipFill rotWithShape="0">
                <a:blip r:embed="rId4"/>
                <a:stretch>
                  <a:fillRect l="-691" t="-647" r="-2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8450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54741" y="520394"/>
                <a:ext cx="1043318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This is called the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prime factorization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all of the factors are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prime numbers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41" y="520394"/>
                <a:ext cx="10433184" cy="1015663"/>
              </a:xfrm>
              <a:prstGeom prst="rect">
                <a:avLst/>
              </a:prstGeom>
              <a:blipFill rotWithShape="0">
                <a:blip r:embed="rId3"/>
                <a:stretch>
                  <a:fillRect l="-643" b="-3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32">
            <a:extLst>
              <a:ext uri="{FF2B5EF4-FFF2-40B4-BE49-F238E27FC236}">
                <a16:creationId xmlns:a16="http://schemas.microsoft.com/office/drawing/2014/main" id="{826D4402-F8A8-B04C-8494-B0EA33989C76}"/>
              </a:ext>
            </a:extLst>
          </p:cNvPr>
          <p:cNvSpPr txBox="1"/>
          <p:nvPr/>
        </p:nvSpPr>
        <p:spPr>
          <a:xfrm>
            <a:off x="2781300" y="3267554"/>
            <a:ext cx="6629400" cy="465455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</a:pPr>
            <a:r>
              <a:rPr lang="en-US" sz="1800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mbria Math" panose="02040503050406030204" pitchFamily="18" charset="0"/>
              </a:rPr>
              <a:t>A</a:t>
            </a:r>
            <a:r>
              <a:rPr lang="en-US" sz="1800" b="1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mbria Math" panose="02040503050406030204" pitchFamily="18" charset="0"/>
              </a:rPr>
              <a:t> prime factor </a:t>
            </a:r>
            <a:r>
              <a:rPr lang="en-US" sz="1800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mbria Math" panose="02040503050406030204" pitchFamily="18" charset="0"/>
              </a:rPr>
              <a:t>is a factor that is a prime number.</a:t>
            </a:r>
            <a:endParaRPr lang="en-US" sz="1600" i="1" dirty="0">
              <a:latin typeface="Cambria Math" panose="02040503050406030204" pitchFamily="18" charset="0"/>
              <a:ea typeface="Times New Roman" panose="02020603050405020304" pitchFamily="18" charset="0"/>
              <a:cs typeface="Cambria Math" panose="020405030504060302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3E26FA-D875-C442-9EA5-F78E494A3219}"/>
              </a:ext>
            </a:extLst>
          </p:cNvPr>
          <p:cNvGrpSpPr/>
          <p:nvPr/>
        </p:nvGrpSpPr>
        <p:grpSpPr>
          <a:xfrm>
            <a:off x="2781300" y="4227569"/>
            <a:ext cx="6629400" cy="930911"/>
            <a:chOff x="44483" y="346707"/>
            <a:chExt cx="6629400" cy="9315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Text Box 38">
              <a:extLst>
                <a:ext uri="{FF2B5EF4-FFF2-40B4-BE49-F238E27FC236}">
                  <a16:creationId xmlns:a16="http://schemas.microsoft.com/office/drawing/2014/main" id="{306E5C9C-D164-374E-B5CB-C222341270CC}"/>
                </a:ext>
              </a:extLst>
            </p:cNvPr>
            <p:cNvSpPr txBox="1"/>
            <p:nvPr/>
          </p:nvSpPr>
          <p:spPr>
            <a:xfrm>
              <a:off x="44483" y="346707"/>
              <a:ext cx="6629400" cy="931512"/>
            </a:xfrm>
            <a:prstGeom prst="roundRect">
              <a:avLst/>
            </a:prstGeom>
            <a:solidFill>
              <a:srgbClr val="E2EED5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685800">
                <a:lnSpc>
                  <a:spcPct val="107000"/>
                </a:lnSpc>
              </a:pP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Cambria Math" panose="02040503050406030204" pitchFamily="18" charset="0"/>
                </a:rPr>
                <a:t>Prime factorization 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Cambria Math" panose="02040503050406030204" pitchFamily="18" charset="0"/>
                </a:rPr>
                <a:t>is the expression of a number as the product of prime factors.</a:t>
              </a:r>
              <a:endParaRPr lang="en-US" sz="1800" i="1" dirty="0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endParaRPr>
            </a:p>
          </p:txBody>
        </p:sp>
        <p:pic>
          <p:nvPicPr>
            <p:cNvPr id="13" name="Picture 12" descr="Icon&#10;&#10;Description automatically generated">
              <a:extLst>
                <a:ext uri="{FF2B5EF4-FFF2-40B4-BE49-F238E27FC236}">
                  <a16:creationId xmlns:a16="http://schemas.microsoft.com/office/drawing/2014/main" id="{C44F30AF-7B17-6741-9851-B824694D7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3826" y="519714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4122448-87CA-6941-BFE0-37B837898824}"/>
              </a:ext>
            </a:extLst>
          </p:cNvPr>
          <p:cNvGrpSpPr/>
          <p:nvPr/>
        </p:nvGrpSpPr>
        <p:grpSpPr>
          <a:xfrm>
            <a:off x="2781300" y="1819813"/>
            <a:ext cx="6629400" cy="1101725"/>
            <a:chOff x="0" y="-1058817"/>
            <a:chExt cx="6629400" cy="11022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27">
                  <a:extLst>
                    <a:ext uri="{FF2B5EF4-FFF2-40B4-BE49-F238E27FC236}">
                      <a16:creationId xmlns:a16="http://schemas.microsoft.com/office/drawing/2014/main" id="{112250FC-E313-1144-AD02-2B9EAFD96E7F}"/>
                    </a:ext>
                  </a:extLst>
                </p:cNvPr>
                <p:cNvSpPr txBox="1"/>
                <p:nvPr/>
              </p:nvSpPr>
              <p:spPr>
                <a:xfrm>
                  <a:off x="0" y="-1058817"/>
                  <a:ext cx="6629400" cy="1102235"/>
                </a:xfrm>
                <a:prstGeom prst="roundRect">
                  <a:avLst/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742950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</a:t>
                  </a:r>
                  <a:r>
                    <a:rPr lang="en-US" sz="2000" b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prime number 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is a whole number greater than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that is not divisible by any whole number other than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and itself.</a:t>
                  </a:r>
                  <a:endParaRPr lang="en-US" sz="18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6" name="Text Box 27">
                  <a:extLst>
                    <a:ext uri="{FF2B5EF4-FFF2-40B4-BE49-F238E27FC236}">
                      <a16:creationId xmlns:a16="http://schemas.microsoft.com/office/drawing/2014/main" id="{112250FC-E313-1144-AD02-2B9EAFD96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1058817"/>
                  <a:ext cx="6629400" cy="1102235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Picture 16" descr="Icon&#10;&#10;Description automatically generated">
              <a:extLst>
                <a:ext uri="{FF2B5EF4-FFF2-40B4-BE49-F238E27FC236}">
                  <a16:creationId xmlns:a16="http://schemas.microsoft.com/office/drawing/2014/main" id="{6B8CDDE7-15F0-2244-ADF2-D75896710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9343" y="-777575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8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2242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4054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64765" y="537932"/>
                <a:ext cx="107579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3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Cory determined the prime factorization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different factor pairs.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65" y="537932"/>
                <a:ext cx="10757996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623" t="-1060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C7A0FB3D-CF06-0D42-86E1-25B372178866}"/>
              </a:ext>
            </a:extLst>
          </p:cNvPr>
          <p:cNvSpPr txBox="1"/>
          <p:nvPr/>
        </p:nvSpPr>
        <p:spPr>
          <a:xfrm>
            <a:off x="1447799" y="1233599"/>
            <a:ext cx="8395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8313" indent="-454025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whether Cory’s method changed the final result.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A023DF-8AC1-1B4C-9C47-5979AFDF82D3}"/>
              </a:ext>
            </a:extLst>
          </p:cNvPr>
          <p:cNvSpPr txBox="1"/>
          <p:nvPr/>
        </p:nvSpPr>
        <p:spPr>
          <a:xfrm>
            <a:off x="1447800" y="4694816"/>
            <a:ext cx="5528310" cy="4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Why did Cory circle the values he did?</a:t>
            </a:r>
            <a:endParaRPr lang="en-US" sz="2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EB94878-47C1-7B40-AC5A-BDF188E26A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9221624"/>
                  </p:ext>
                </p:extLst>
              </p:nvPr>
            </p:nvGraphicFramePr>
            <p:xfrm>
              <a:off x="1956546" y="2066955"/>
              <a:ext cx="7886700" cy="2282952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7886700">
                      <a:extLst>
                        <a:ext uri="{9D8B030D-6E8A-4147-A177-3AD203B41FA5}">
                          <a16:colId xmlns:a16="http://schemas.microsoft.com/office/drawing/2014/main" val="3905369899"/>
                        </a:ext>
                      </a:extLst>
                    </a:gridCol>
                  </a:tblGrid>
                  <a:tr h="226215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br>
                            <a:rPr lang="en-US" sz="2000" dirty="0">
                              <a:effectLst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     ∙     12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br>
                            <a:rPr lang="en-US" sz="2000" dirty="0">
                              <a:effectLst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0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  3  </m:t>
                                </m:r>
                                <m:r>
                                  <a:rPr lang="en-US" sz="20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0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 </a:t>
                          </a:r>
                          <a:br>
                            <a:rPr lang="en-US" sz="2000" dirty="0">
                              <a:effectLst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                             2  ∙  2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marL="50074" marR="50074" marT="0" marB="0"/>
                    </a:tc>
                    <a:extLst>
                      <a:ext uri="{0D108BD9-81ED-4DB2-BD59-A6C34878D82A}">
                        <a16:rowId xmlns:a16="http://schemas.microsoft.com/office/drawing/2014/main" val="14901770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EB94878-47C1-7B40-AC5A-BDF188E26A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9221624"/>
                  </p:ext>
                </p:extLst>
              </p:nvPr>
            </p:nvGraphicFramePr>
            <p:xfrm>
              <a:off x="1956546" y="2066955"/>
              <a:ext cx="7886700" cy="2282952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78867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905369899"/>
                        </a:ext>
                      </a:extLst>
                    </a:gridCol>
                  </a:tblGrid>
                  <a:tr h="22829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074" marR="50074" marT="0" marB="0">
                        <a:blipFill rotWithShape="0">
                          <a:blip r:embed="rId4"/>
                          <a:stretch>
                            <a:fillRect t="-267" r="-154" b="-232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49017709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DF5C87-EA55-B049-A142-AE1EBD95DA1A}"/>
              </a:ext>
            </a:extLst>
          </p:cNvPr>
          <p:cNvCxnSpPr>
            <a:cxnSpLocks/>
          </p:cNvCxnSpPr>
          <p:nvPr/>
        </p:nvCxnSpPr>
        <p:spPr>
          <a:xfrm flipH="1">
            <a:off x="5524060" y="2347458"/>
            <a:ext cx="190500" cy="26383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95FDE41-09EE-A84A-8C97-08CFD43CF49D}"/>
              </a:ext>
            </a:extLst>
          </p:cNvPr>
          <p:cNvCxnSpPr>
            <a:cxnSpLocks/>
          </p:cNvCxnSpPr>
          <p:nvPr/>
        </p:nvCxnSpPr>
        <p:spPr>
          <a:xfrm>
            <a:off x="5999553" y="2334650"/>
            <a:ext cx="188912" cy="35617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B69F5F8-F349-DB49-B2BB-C78FCE97B3B1}"/>
              </a:ext>
            </a:extLst>
          </p:cNvPr>
          <p:cNvSpPr/>
          <p:nvPr/>
        </p:nvSpPr>
        <p:spPr>
          <a:xfrm>
            <a:off x="6170752" y="2737307"/>
            <a:ext cx="311150" cy="284162"/>
          </a:xfrm>
          <a:prstGeom prst="ellipse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 dirty="0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 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100361-56A5-454A-8833-A7E67B201C0F}"/>
              </a:ext>
            </a:extLst>
          </p:cNvPr>
          <p:cNvCxnSpPr>
            <a:cxnSpLocks/>
          </p:cNvCxnSpPr>
          <p:nvPr/>
        </p:nvCxnSpPr>
        <p:spPr>
          <a:xfrm flipH="1">
            <a:off x="6115689" y="3117362"/>
            <a:ext cx="145552" cy="22458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B419042-F739-FF45-AF0E-F9422177DDBA}"/>
              </a:ext>
            </a:extLst>
          </p:cNvPr>
          <p:cNvCxnSpPr>
            <a:cxnSpLocks/>
          </p:cNvCxnSpPr>
          <p:nvPr/>
        </p:nvCxnSpPr>
        <p:spPr>
          <a:xfrm>
            <a:off x="6460438" y="3102158"/>
            <a:ext cx="146112" cy="23979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20C8CB96-4DFD-E840-9674-96427433D0C0}"/>
              </a:ext>
            </a:extLst>
          </p:cNvPr>
          <p:cNvSpPr/>
          <p:nvPr/>
        </p:nvSpPr>
        <p:spPr>
          <a:xfrm flipH="1">
            <a:off x="5810641" y="3397309"/>
            <a:ext cx="377825" cy="280988"/>
          </a:xfrm>
          <a:prstGeom prst="ellipse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 dirty="0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 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A65E2C-C95C-4A45-B0A4-82D7A3EBAC1D}"/>
              </a:ext>
            </a:extLst>
          </p:cNvPr>
          <p:cNvCxnSpPr>
            <a:cxnSpLocks/>
          </p:cNvCxnSpPr>
          <p:nvPr/>
        </p:nvCxnSpPr>
        <p:spPr>
          <a:xfrm flipH="1">
            <a:off x="6533494" y="3699561"/>
            <a:ext cx="129384" cy="29247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0D4889-C1DD-504D-B755-A2CBBA2B16BE}"/>
              </a:ext>
            </a:extLst>
          </p:cNvPr>
          <p:cNvCxnSpPr>
            <a:cxnSpLocks/>
          </p:cNvCxnSpPr>
          <p:nvPr/>
        </p:nvCxnSpPr>
        <p:spPr>
          <a:xfrm>
            <a:off x="6844645" y="3701167"/>
            <a:ext cx="166075" cy="319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DA467583-8676-AC44-9EEA-1F863A6DA56D}"/>
              </a:ext>
            </a:extLst>
          </p:cNvPr>
          <p:cNvSpPr/>
          <p:nvPr/>
        </p:nvSpPr>
        <p:spPr>
          <a:xfrm>
            <a:off x="6533494" y="3378448"/>
            <a:ext cx="311150" cy="284162"/>
          </a:xfrm>
          <a:prstGeom prst="ellipse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 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2ECD77C-13C5-3A46-851B-F7A52449490A}"/>
              </a:ext>
            </a:extLst>
          </p:cNvPr>
          <p:cNvSpPr/>
          <p:nvPr/>
        </p:nvSpPr>
        <p:spPr>
          <a:xfrm>
            <a:off x="5224085" y="2706911"/>
            <a:ext cx="311150" cy="284162"/>
          </a:xfrm>
          <a:prstGeom prst="ellipse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 dirty="0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 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C30C090-BAE2-1748-87F7-94ACC0788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338" y="4043617"/>
            <a:ext cx="330200" cy="3048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88F8D4A-FA22-3E48-974F-30B65629A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644" y="4037390"/>
            <a:ext cx="330200" cy="304800"/>
          </a:xfrm>
          <a:prstGeom prst="rect">
            <a:avLst/>
          </a:prstGeom>
        </p:spPr>
      </p:pic>
      <p:sp>
        <p:nvSpPr>
          <p:cNvPr id="75" name="Rectangle 56">
            <a:extLst>
              <a:ext uri="{FF2B5EF4-FFF2-40B4-BE49-F238E27FC236}">
                <a16:creationId xmlns:a16="http://schemas.microsoft.com/office/drawing/2014/main" id="{6E3EF01D-D069-0641-880D-D05E51D6D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9162" y="-146580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2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56447" y="520393"/>
                <a:ext cx="10029772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3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prime factorization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completing the work below.</a:t>
                </a: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8313" lvl="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prime factorization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___________________.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3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447" y="520393"/>
                <a:ext cx="10029772" cy="4401205"/>
              </a:xfrm>
              <a:prstGeom prst="rect">
                <a:avLst/>
              </a:prstGeom>
              <a:blipFill rotWithShape="0">
                <a:blip r:embed="rId3"/>
                <a:stretch>
                  <a:fillRect l="-66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D05FBD-4E78-5045-B13A-100141D1F42F}"/>
              </a:ext>
            </a:extLst>
          </p:cNvPr>
          <p:cNvCxnSpPr/>
          <p:nvPr/>
        </p:nvCxnSpPr>
        <p:spPr>
          <a:xfrm rot="10800000" flipH="1">
            <a:off x="6042839" y="1743680"/>
            <a:ext cx="136525" cy="47117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148FFF-99F5-DE45-A9AC-52981F90CC50}"/>
              </a:ext>
            </a:extLst>
          </p:cNvPr>
          <p:cNvCxnSpPr/>
          <p:nvPr/>
        </p:nvCxnSpPr>
        <p:spPr>
          <a:xfrm>
            <a:off x="6278424" y="1746220"/>
            <a:ext cx="154305" cy="47117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89D6F87-C3C4-3644-9A2A-F811FFFDEC8C}"/>
              </a:ext>
            </a:extLst>
          </p:cNvPr>
          <p:cNvSpPr/>
          <p:nvPr/>
        </p:nvSpPr>
        <p:spPr>
          <a:xfrm>
            <a:off x="6334938" y="2263110"/>
            <a:ext cx="311150" cy="284480"/>
          </a:xfrm>
          <a:prstGeom prst="ellipse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 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8ACB25-8ED1-E843-919B-40FC608E193F}"/>
              </a:ext>
            </a:extLst>
          </p:cNvPr>
          <p:cNvCxnSpPr/>
          <p:nvPr/>
        </p:nvCxnSpPr>
        <p:spPr>
          <a:xfrm rot="10800000" flipH="1">
            <a:off x="5661839" y="2554575"/>
            <a:ext cx="325755" cy="4978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007169-55BB-A449-901E-7A4DD3F06011}"/>
              </a:ext>
            </a:extLst>
          </p:cNvPr>
          <p:cNvCxnSpPr/>
          <p:nvPr/>
        </p:nvCxnSpPr>
        <p:spPr>
          <a:xfrm>
            <a:off x="6055538" y="2554575"/>
            <a:ext cx="63500" cy="4978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7D5C8D4-1BA3-0D42-9C19-2A17403193C7}"/>
              </a:ext>
            </a:extLst>
          </p:cNvPr>
          <p:cNvSpPr/>
          <p:nvPr/>
        </p:nvSpPr>
        <p:spPr>
          <a:xfrm>
            <a:off x="5928538" y="3086705"/>
            <a:ext cx="311150" cy="284480"/>
          </a:xfrm>
          <a:prstGeom prst="ellipse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 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731773-E3FF-A24B-97E1-5D08D393EB84}"/>
              </a:ext>
            </a:extLst>
          </p:cNvPr>
          <p:cNvCxnSpPr/>
          <p:nvPr/>
        </p:nvCxnSpPr>
        <p:spPr>
          <a:xfrm rot="10800000" flipH="1">
            <a:off x="5306239" y="3365470"/>
            <a:ext cx="325755" cy="4978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825C8C-C696-2849-A579-0622846A2E27}"/>
              </a:ext>
            </a:extLst>
          </p:cNvPr>
          <p:cNvCxnSpPr/>
          <p:nvPr/>
        </p:nvCxnSpPr>
        <p:spPr>
          <a:xfrm>
            <a:off x="5661838" y="3365470"/>
            <a:ext cx="217170" cy="4978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FB31C8-E452-5B45-8728-BD41C8BA57C9}"/>
                  </a:ext>
                </a:extLst>
              </p:cNvPr>
              <p:cNvSpPr txBox="1"/>
              <p:nvPr/>
            </p:nvSpPr>
            <p:spPr>
              <a:xfrm>
                <a:off x="5688052" y="2193075"/>
                <a:ext cx="66702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FB31C8-E452-5B45-8728-BD41C8BA5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051" y="2193075"/>
                <a:ext cx="66702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64AB07-88C9-E04D-AA31-75C6E37D5529}"/>
                  </a:ext>
                </a:extLst>
              </p:cNvPr>
              <p:cNvSpPr txBox="1"/>
              <p:nvPr/>
            </p:nvSpPr>
            <p:spPr>
              <a:xfrm>
                <a:off x="5308221" y="3028890"/>
                <a:ext cx="66702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64AB07-88C9-E04D-AA31-75C6E37D5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220" y="3028890"/>
                <a:ext cx="667029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ED00B0-6ACC-D548-9A55-EFD74B982046}"/>
                  </a:ext>
                </a:extLst>
              </p:cNvPr>
              <p:cNvSpPr txBox="1"/>
              <p:nvPr/>
            </p:nvSpPr>
            <p:spPr>
              <a:xfrm>
                <a:off x="6167071" y="2210872"/>
                <a:ext cx="66702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ED00B0-6ACC-D548-9A55-EFD74B982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070" y="2210872"/>
                <a:ext cx="66702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ED092E-5644-7841-95F8-75431E4007A1}"/>
                  </a:ext>
                </a:extLst>
              </p:cNvPr>
              <p:cNvSpPr txBox="1"/>
              <p:nvPr/>
            </p:nvSpPr>
            <p:spPr>
              <a:xfrm>
                <a:off x="5750599" y="3040653"/>
                <a:ext cx="66702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ED092E-5644-7841-95F8-75431E400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598" y="3040653"/>
                <a:ext cx="66702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EB7FC4-6981-2A48-AC7C-5EB9CD17F381}"/>
                  </a:ext>
                </a:extLst>
              </p:cNvPr>
              <p:cNvSpPr txBox="1"/>
              <p:nvPr/>
            </p:nvSpPr>
            <p:spPr>
              <a:xfrm>
                <a:off x="5928539" y="1369636"/>
                <a:ext cx="66702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EB7FC4-6981-2A48-AC7C-5EB9CD17F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538" y="1369636"/>
                <a:ext cx="66702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83;g104476d1465_1_17"/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5408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21976" y="520393"/>
                <a:ext cx="10298714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3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2×2×2×3×3×5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product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2×2×2×3×3×5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prime factorization of _______ is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2×2×2×3×3×5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Numbers with multiple repeating prime factors can be written using exponents. For example, the prime factorization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written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×5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3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Why is it helpful to write the prime factorization with exponents?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dirty="0"/>
                  <a:t> </a:t>
                </a:r>
                <a:endParaRPr lang="en-US" sz="12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976" y="520393"/>
                <a:ext cx="10298714" cy="5539978"/>
              </a:xfrm>
              <a:prstGeom prst="rect">
                <a:avLst/>
              </a:prstGeom>
              <a:blipFill rotWithShape="0">
                <a:blip r:embed="rId3"/>
                <a:stretch>
                  <a:fillRect l="-651" t="-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5890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3317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52781" y="-810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6.2.4 Guided Practice: Prime Factorization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2973" y="15792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452781" y="1386026"/>
                <a:ext cx="954247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prime factorization of each value. Use exponents where appropriate.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132</m:t>
                    </m:r>
                  </m:oMath>
                </a14:m>
                <a:r>
                  <a:rPr lang="en-US" sz="2000" dirty="0"/>
                  <a:t>		           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270</m:t>
                    </m:r>
                  </m:oMath>
                </a14:m>
                <a:r>
                  <a:rPr lang="en-US" sz="2000" dirty="0"/>
                  <a:t>		             	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c.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  882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781" y="1386026"/>
                <a:ext cx="9542470" cy="1323439"/>
              </a:xfrm>
              <a:prstGeom prst="rect">
                <a:avLst/>
              </a:prstGeom>
              <a:blipFill rotWithShape="0">
                <a:blip r:embed="rId4"/>
                <a:stretch>
                  <a:fillRect l="-702" t="-2765" b="-38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6485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56447" y="520394"/>
                <a:ext cx="10029772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Sophie said the prime factorization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3∙7∙10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error Sophie made. Then, write her a brief note explaining her error and how she can learn from it. </a:t>
                </a: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prime factorization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447" y="520394"/>
                <a:ext cx="10029772" cy="5324535"/>
              </a:xfrm>
              <a:prstGeom prst="rect">
                <a:avLst/>
              </a:prstGeom>
              <a:blipFill rotWithShape="0">
                <a:blip r:embed="rId3"/>
                <a:stretch>
                  <a:fillRect l="-669" t="-686" b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E0E8000-CFC6-1C44-81C5-575B9DC98979}"/>
              </a:ext>
            </a:extLst>
          </p:cNvPr>
          <p:cNvSpPr/>
          <p:nvPr/>
        </p:nvSpPr>
        <p:spPr>
          <a:xfrm>
            <a:off x="3244231" y="2261235"/>
            <a:ext cx="2226929" cy="3006090"/>
          </a:xfrm>
          <a:prstGeom prst="roundRect">
            <a:avLst>
              <a:gd name="adj" fmla="val 16667"/>
            </a:avLst>
          </a:prstGeom>
          <a:solidFill>
            <a:srgbClr val="D8E2F3"/>
          </a:solidFill>
          <a:ln w="952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en-US" sz="1600" i="1" dirty="0">
              <a:latin typeface="Cambria Math" panose="02040503050406030204" pitchFamily="18" charset="0"/>
              <a:ea typeface="Times New Roman" panose="02020603050405020304" pitchFamily="18" charset="0"/>
              <a:cs typeface="Cambria Math" panose="020405030504060302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F2575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endParaRPr lang="en-US" sz="1600" i="1" dirty="0">
              <a:latin typeface="Cambria Math" panose="02040503050406030204" pitchFamily="18" charset="0"/>
              <a:ea typeface="Times New Roman" panose="02020603050405020304" pitchFamily="18" charset="0"/>
              <a:cs typeface="Cambria Math" panose="020405030504060302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en-US" sz="1600" i="1" dirty="0">
              <a:latin typeface="Cambria Math" panose="02040503050406030204" pitchFamily="18" charset="0"/>
              <a:ea typeface="Times New Roman" panose="02020603050405020304" pitchFamily="18" charset="0"/>
              <a:cs typeface="Cambria Math" panose="020405030504060302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en-US" sz="1600" i="1" dirty="0">
              <a:latin typeface="Cambria Math" panose="02040503050406030204" pitchFamily="18" charset="0"/>
              <a:ea typeface="Times New Roman" panose="02020603050405020304" pitchFamily="18" charset="0"/>
              <a:cs typeface="Cambria Math" panose="020405030504060302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en-US" sz="1600" i="1" dirty="0">
              <a:latin typeface="Cambria Math" panose="02040503050406030204" pitchFamily="18" charset="0"/>
              <a:ea typeface="Times New Roman" panose="02020603050405020304" pitchFamily="18" charset="0"/>
              <a:cs typeface="Cambria Math" panose="020405030504060302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en-US" sz="1600" i="1" dirty="0">
              <a:latin typeface="Cambria Math" panose="02040503050406030204" pitchFamily="18" charset="0"/>
              <a:ea typeface="Times New Roman" panose="02020603050405020304" pitchFamily="18" charset="0"/>
              <a:cs typeface="Cambria Math" panose="020405030504060302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en-US" sz="1600" i="1" dirty="0">
              <a:latin typeface="Cambria Math" panose="02040503050406030204" pitchFamily="18" charset="0"/>
              <a:ea typeface="Times New Roman" panose="02020603050405020304" pitchFamily="18" charset="0"/>
              <a:cs typeface="Cambria Math" panose="020405030504060302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r>
              <a:rPr lang="en-US" sz="1600" i="1" dirty="0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 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40F8F19-207A-DE41-B591-44073DE27D5B}"/>
              </a:ext>
            </a:extLst>
          </p:cNvPr>
          <p:cNvSpPr/>
          <p:nvPr/>
        </p:nvSpPr>
        <p:spPr>
          <a:xfrm>
            <a:off x="6096000" y="2091690"/>
            <a:ext cx="3736340" cy="334518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600" i="1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 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9972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6977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884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36508" y="24189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6.2.5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208" y="241898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336508" y="1386026"/>
                <a:ext cx="977501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prime factorization of each value. Use exponents where appropriate.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/>
                  <a:t> </a:t>
                </a:r>
                <a:endParaRPr lang="en-US" sz="2000" i="1" dirty="0"/>
              </a:p>
              <a:p>
                <a:pPr marL="468313"/>
                <a:r>
                  <a:rPr lang="en-US" sz="2000" dirty="0"/>
                  <a:t>a.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904</m:t>
                    </m:r>
                  </m:oMath>
                </a14:m>
                <a:r>
                  <a:rPr lang="en-US" sz="2000" dirty="0"/>
                  <a:t>			b.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1,125</m:t>
                    </m:r>
                  </m:oMath>
                </a14:m>
                <a:r>
                  <a:rPr lang="en-US" sz="2000" dirty="0"/>
                  <a:t>			c.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endParaRPr lang="en-US" sz="2000" dirty="0"/>
              </a:p>
              <a:p>
                <a:endParaRPr lang="en-US" sz="2000" i="1" dirty="0"/>
              </a:p>
              <a:p>
                <a:endParaRPr lang="en-US" sz="2000" i="1" dirty="0"/>
              </a:p>
              <a:p>
                <a:endParaRPr lang="en-US" sz="2000" i="1" dirty="0"/>
              </a:p>
              <a:p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number includes the largest exponent when written in prime factorization? Explain your answer.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508" y="1386026"/>
                <a:ext cx="9775016" cy="3170099"/>
              </a:xfrm>
              <a:prstGeom prst="rect">
                <a:avLst/>
              </a:prstGeom>
              <a:blipFill rotWithShape="0">
                <a:blip r:embed="rId4"/>
                <a:stretch>
                  <a:fillRect l="-686" t="-1154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DC2B2F01-8660-A34C-BF05-7A1BC188E9E2}"/>
                  </a:ext>
                </a:extLst>
              </p:cNvPr>
              <p:cNvSpPr/>
              <p:nvPr/>
            </p:nvSpPr>
            <p:spPr>
              <a:xfrm>
                <a:off x="3926448" y="4602480"/>
                <a:ext cx="1296827" cy="410845"/>
              </a:xfrm>
              <a:prstGeom prst="roundRect">
                <a:avLst>
                  <a:gd name="adj" fmla="val 1666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1"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5,670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Times New Roman" panose="020206030504050203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DC2B2F01-8660-A34C-BF05-7A1BC188E9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447" y="4602479"/>
                <a:ext cx="1296827" cy="410845"/>
              </a:xfrm>
              <a:prstGeom prst="roundRect">
                <a:avLst>
                  <a:gd name="adj" fmla="val 16667"/>
                </a:avLst>
              </a:prstGeom>
              <a:blipFill>
                <a:blip r:embed="rId6"/>
                <a:stretch>
                  <a:fillRect/>
                </a:stretch>
              </a:blip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B87716F0-9BC0-184C-8DA7-2A142FF1BAB1}"/>
                  </a:ext>
                </a:extLst>
              </p:cNvPr>
              <p:cNvSpPr/>
              <p:nvPr/>
            </p:nvSpPr>
            <p:spPr>
              <a:xfrm>
                <a:off x="6978494" y="4602481"/>
                <a:ext cx="1296827" cy="410845"/>
              </a:xfrm>
              <a:prstGeom prst="roundRect">
                <a:avLst>
                  <a:gd name="adj" fmla="val 1666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1"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64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endParaRPr lang="en-US" sz="1600" i="1" dirty="0">
                  <a:latin typeface="Cambria Math" panose="02040503050406030204" pitchFamily="18" charset="0"/>
                  <a:ea typeface="Times New Roman" panose="020206030504050203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B87716F0-9BC0-184C-8DA7-2A142FF1B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493" y="4602480"/>
                <a:ext cx="1296827" cy="410845"/>
              </a:xfrm>
              <a:prstGeom prst="roundRect">
                <a:avLst>
                  <a:gd name="adj" fmla="val 16667"/>
                </a:avLst>
              </a:prstGeom>
              <a:blipFill>
                <a:blip r:embed="rId7"/>
                <a:stretch>
                  <a:fillRect/>
                </a:stretch>
              </a:blip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2981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21976" y="520394"/>
                <a:ext cx="10298714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a number that meets the following conditions.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Wingdings" pitchFamily="2" charset="2"/>
                  <a:buChar char="§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 of the number is less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Wingdings" pitchFamily="2" charset="2"/>
                  <a:buChar char="§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of its prime factors has an exponent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2438">
                  <a:buFont typeface="Wingdings" pitchFamily="2" charset="2"/>
                  <a:buChar char="§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expressed in exponential form, its prime factorization has only two unique bases.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976" y="520394"/>
                <a:ext cx="10298714" cy="2554545"/>
              </a:xfrm>
              <a:prstGeom prst="rect">
                <a:avLst/>
              </a:prstGeom>
              <a:blipFill rotWithShape="0">
                <a:blip r:embed="rId3"/>
                <a:stretch>
                  <a:fillRect l="-651" t="-1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3438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8517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95109" y="-71293"/>
            <a:ext cx="1052021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6.2.6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60" y="19262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412960" y="1386026"/>
                <a:ext cx="9622112" cy="4924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prime factorization of each value. Use exponents where appropriate.</a:t>
                </a:r>
                <a:r>
                  <a:rPr lang="en-US" dirty="0"/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920750" indent="-452438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168</m:t>
                    </m:r>
                  </m:oMath>
                </a14:m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1,040</m:t>
                    </m:r>
                  </m:oMath>
                </a14:m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:endParaRPr lang="en-US" sz="2000" dirty="0"/>
              </a:p>
              <a:p>
                <a:pPr marL="920750" indent="-452438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960" y="1386026"/>
                <a:ext cx="9622112" cy="4924425"/>
              </a:xfrm>
              <a:prstGeom prst="rect">
                <a:avLst/>
              </a:prstGeom>
              <a:blipFill rotWithShape="0">
                <a:blip r:embed="rId4"/>
                <a:stretch>
                  <a:fillRect l="-697" t="-743" b="-1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132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4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13567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2742</TotalTime>
  <Words>983</Words>
  <Application>Microsoft Office PowerPoint</Application>
  <PresentationFormat>Widescreen</PresentationFormat>
  <Paragraphs>214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6th Grade Accelerated Math  Unit 6, Lesson 2  Prime Factorization  Volume 1, pg. 238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22</cp:revision>
  <dcterms:created xsi:type="dcterms:W3CDTF">2015-03-17T18:51:18Z</dcterms:created>
  <dcterms:modified xsi:type="dcterms:W3CDTF">2022-06-29T19:01:20Z</dcterms:modified>
</cp:coreProperties>
</file>