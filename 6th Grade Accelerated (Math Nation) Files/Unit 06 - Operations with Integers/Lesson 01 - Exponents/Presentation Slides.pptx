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9"/>
  </p:notesMasterIdLst>
  <p:sldIdLst>
    <p:sldId id="256" r:id="rId2"/>
    <p:sldId id="257" r:id="rId3"/>
    <p:sldId id="285" r:id="rId4"/>
    <p:sldId id="286" r:id="rId5"/>
    <p:sldId id="261" r:id="rId6"/>
    <p:sldId id="287" r:id="rId7"/>
    <p:sldId id="289" r:id="rId8"/>
    <p:sldId id="290" r:id="rId9"/>
    <p:sldId id="336" r:id="rId10"/>
    <p:sldId id="342" r:id="rId11"/>
    <p:sldId id="343" r:id="rId12"/>
    <p:sldId id="323" r:id="rId13"/>
    <p:sldId id="324" r:id="rId14"/>
    <p:sldId id="337" r:id="rId15"/>
    <p:sldId id="314" r:id="rId16"/>
    <p:sldId id="315" r:id="rId17"/>
    <p:sldId id="332" r:id="rId18"/>
    <p:sldId id="344" r:id="rId19"/>
    <p:sldId id="345" r:id="rId20"/>
    <p:sldId id="320" r:id="rId21"/>
    <p:sldId id="321" r:id="rId22"/>
    <p:sldId id="302" r:id="rId23"/>
    <p:sldId id="303" r:id="rId24"/>
    <p:sldId id="335" r:id="rId25"/>
    <p:sldId id="306" r:id="rId26"/>
    <p:sldId id="307" r:id="rId27"/>
    <p:sldId id="341" r:id="rId2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76C46"/>
    <a:srgbClr val="C9DF6F"/>
    <a:srgbClr val="417DBF"/>
    <a:srgbClr val="3F2A67"/>
    <a:srgbClr val="E24E5F"/>
    <a:srgbClr val="26B7D4"/>
    <a:srgbClr val="54B5D1"/>
    <a:srgbClr val="33BEA6"/>
    <a:srgbClr val="2DA48F"/>
    <a:srgbClr val="52BD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573"/>
    <p:restoredTop sz="94695"/>
  </p:normalViewPr>
  <p:slideViewPr>
    <p:cSldViewPr snapToGrid="0">
      <p:cViewPr varScale="1">
        <p:scale>
          <a:sx n="89" d="100"/>
          <a:sy n="89" d="100"/>
        </p:scale>
        <p:origin x="200" y="58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55" Type="http://customschemas.google.com/relationships/presentationmetadata" Target="metadata"/><Relationship Id="rId56" Type="http://schemas.openxmlformats.org/officeDocument/2006/relationships/presProps" Target="presProps.xml"/><Relationship Id="rId57" Type="http://schemas.openxmlformats.org/officeDocument/2006/relationships/viewProps" Target="viewProps.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9" Type="http://schemas.openxmlformats.org/officeDocument/2006/relationships/slide" Target="slides/slide8.xml"/><Relationship Id="rId7" Type="http://schemas.openxmlformats.org/officeDocument/2006/relationships/slide" Target="slides/slide6.xml"/><Relationship Id="rId8" Type="http://schemas.openxmlformats.org/officeDocument/2006/relationships/slide" Target="slides/slide7.xml"/><Relationship Id="rId58" Type="http://schemas.openxmlformats.org/officeDocument/2006/relationships/theme" Target="theme/theme1.xml"/><Relationship Id="rId59"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41801933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2921475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24704992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12210055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23296392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12288088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19353921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23332417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31268990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36986938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8986028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5366638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37646021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29003565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371279437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extLst>
      <p:ext uri="{BB962C8B-B14F-4D97-AF65-F5344CB8AC3E}">
        <p14:creationId xmlns:p14="http://schemas.microsoft.com/office/powerpoint/2010/main" val="88218248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197798163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392726738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extLst>
      <p:ext uri="{BB962C8B-B14F-4D97-AF65-F5344CB8AC3E}">
        <p14:creationId xmlns:p14="http://schemas.microsoft.com/office/powerpoint/2010/main" val="289908652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38592128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4557215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 Id="rId3"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 Id="rId3"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4"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4"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4"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4"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4"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4"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4"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4"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1.png"/><Relationship Id="rId7"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4"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4" Type="http://schemas.openxmlformats.org/officeDocument/2006/relationships/image" Target="../media/image230.png"/><Relationship Id="rId5"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4"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4"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5" Type="http://schemas.openxmlformats.org/officeDocument/2006/relationships/image" Target="../media/image260.png"/><Relationship Id="rId6"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7.xml"/><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4" Type="http://schemas.openxmlformats.org/officeDocument/2006/relationships/image" Target="../media/image29.png"/><Relationship Id="rId5"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4"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4" Type="http://schemas.openxmlformats.org/officeDocument/2006/relationships/image" Target="../media/image310.png"/><Relationship Id="rId5"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4"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5" Type="http://schemas.openxmlformats.org/officeDocument/2006/relationships/image" Target="../media/image33.png"/><Relationship Id="rId6" Type="http://schemas.openxmlformats.org/officeDocument/2006/relationships/image" Target="../media/image34.png"/><Relationship Id="rId7"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4" Type="http://schemas.openxmlformats.org/officeDocument/2006/relationships/image" Target="../media/image35.png"/><Relationship Id="rId5"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3" Type="http://schemas.openxmlformats.org/officeDocument/2006/relationships/image" Target="../media/image36.png"/><Relationship Id="rId4"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3" Type="http://schemas.openxmlformats.org/officeDocument/2006/relationships/image" Target="../media/image36.png"/><Relationship Id="rId5" Type="http://schemas.openxmlformats.org/officeDocument/2006/relationships/image" Target="../media/image37.png"/><Relationship Id="rId6"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3" Type="http://schemas.openxmlformats.org/officeDocument/2006/relationships/image" Target="../media/image38.png"/><Relationship Id="rId4"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0" name="Google Shape;309;g104476d1465_1_39">
            <a:extLst>
              <a:ext uri="{FF2B5EF4-FFF2-40B4-BE49-F238E27FC236}">
                <a16:creationId xmlns:a16="http://schemas.microsoft.com/office/drawing/2014/main" xmlns="" id="{566F1422-A32C-7745-9E85-5AF7B9DBC697}"/>
              </a:ext>
            </a:extLst>
          </p:cNvPr>
          <p:cNvSpPr/>
          <p:nvPr/>
        </p:nvSpPr>
        <p:spPr>
          <a:xfrm>
            <a:off x="0" y="-8100"/>
            <a:ext cx="4094106"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261" name="Google Shape;261;g104476d1465_0_0"/>
          <p:cNvSpPr txBox="1">
            <a:spLocks noGrp="1"/>
          </p:cNvSpPr>
          <p:nvPr>
            <p:ph type="ctrTitle" idx="4294967295"/>
          </p:nvPr>
        </p:nvSpPr>
        <p:spPr>
          <a:xfrm>
            <a:off x="5742834" y="2054277"/>
            <a:ext cx="4925167"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6</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Accelerated Math</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6, Lesson 1</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Exponents</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233</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pic>
        <p:nvPicPr>
          <p:cNvPr id="6" name="Picture 5" descr="Logo&#10;&#10;Description automatically generated">
            <a:extLst>
              <a:ext uri="{FF2B5EF4-FFF2-40B4-BE49-F238E27FC236}">
                <a16:creationId xmlns:a16="http://schemas.microsoft.com/office/drawing/2014/main" xmlns="" id="{A3BF60F1-A9D6-B043-9905-FB1D55DD5BC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60503" y="1692057"/>
            <a:ext cx="2973100" cy="3465785"/>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485781" y="74969"/>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662281" y="310744"/>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720469"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233</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58695"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xmlns="" id="{527A9F9F-07B8-ED47-B967-E5507C67DBC5}"/>
              </a:ext>
            </a:extLst>
          </p:cNvPr>
          <p:cNvSpPr txBox="1">
            <a:spLocks/>
          </p:cNvSpPr>
          <p:nvPr/>
        </p:nvSpPr>
        <p:spPr>
          <a:xfrm>
            <a:off x="1626358" y="1613848"/>
            <a:ext cx="8229600"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MA.6.NSO.3.3</a:t>
            </a:r>
          </a:p>
          <a:p>
            <a:pPr indent="0">
              <a:buNone/>
            </a:pPr>
            <a:r>
              <a:rPr lang="en-US" sz="2400" dirty="0">
                <a:latin typeface="Verdana" panose="020B0604030504040204" pitchFamily="34" charset="0"/>
                <a:ea typeface="Verdana" panose="020B0604030504040204" pitchFamily="34" charset="0"/>
                <a:cs typeface="Verdana" panose="020B0604030504040204" pitchFamily="34" charset="0"/>
              </a:rPr>
              <a:t>Evaluate positive rational numbers and integers with natural number exponents.</a:t>
            </a:r>
          </a:p>
          <a:p>
            <a:pPr indent="0">
              <a:buNone/>
            </a:pPr>
            <a:endParaRPr lang="en-US" dirty="0">
              <a:solidFill>
                <a:schemeClr val="tx1"/>
              </a:solidFill>
              <a:latin typeface="Century Gothic"/>
              <a:ea typeface="Century Gothic"/>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669109" y="358653"/>
            <a:ext cx="747300" cy="747300"/>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xmlns="" id="{08B3C7FF-E6D0-2145-9A84-003D15672764}"/>
              </a:ext>
            </a:extLst>
          </p:cNvPr>
          <p:cNvSpPr txBox="1">
            <a:spLocks/>
          </p:cNvSpPr>
          <p:nvPr/>
        </p:nvSpPr>
        <p:spPr>
          <a:xfrm>
            <a:off x="1493759" y="116020"/>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xmlns="" id="{A6E18E39-B007-D647-9935-55A748533A45}"/>
              </a:ext>
            </a:extLst>
          </p:cNvPr>
          <p:cNvSpPr txBox="1">
            <a:spLocks/>
          </p:cNvSpPr>
          <p:nvPr/>
        </p:nvSpPr>
        <p:spPr>
          <a:xfrm>
            <a:off x="1610436" y="1596390"/>
            <a:ext cx="9558888"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9" name="Google Shape;282;g104476d1465_1_17"/>
          <p:cNvSpPr txBox="1"/>
          <p:nvPr/>
        </p:nvSpPr>
        <p:spPr>
          <a:xfrm>
            <a:off x="8720469"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233</a:t>
            </a:r>
            <a:endParaRPr i="1" dirty="0">
              <a:latin typeface="Calibri"/>
              <a:ea typeface="Calibri"/>
              <a:cs typeface="Calibri"/>
              <a:sym typeface="Calibri"/>
            </a:endParaRPr>
          </a:p>
        </p:txBody>
      </p:sp>
      <p:pic>
        <p:nvPicPr>
          <p:cNvPr id="12"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58695"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10" name="Google Shape;301;g103996e1364_0_16">
            <a:extLst>
              <a:ext uri="{FF2B5EF4-FFF2-40B4-BE49-F238E27FC236}">
                <a16:creationId xmlns:a16="http://schemas.microsoft.com/office/drawing/2014/main" xmlns="" id="{5771FBFA-7311-BB45-8AFF-04B380531EE6}"/>
              </a:ext>
            </a:extLst>
          </p:cNvPr>
          <p:cNvSpPr txBox="1">
            <a:spLocks/>
          </p:cNvSpPr>
          <p:nvPr/>
        </p:nvSpPr>
        <p:spPr>
          <a:xfrm>
            <a:off x="1379572" y="-51387"/>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xmlns="" id="{81DC7EB0-4FED-FC45-BAEC-D699ED5C2169}"/>
              </a:ext>
            </a:extLst>
          </p:cNvPr>
          <p:cNvPicPr preferRelativeResize="0"/>
          <p:nvPr/>
        </p:nvPicPr>
        <p:blipFill>
          <a:blip r:embed="rId3">
            <a:alphaModFix/>
          </a:blip>
          <a:stretch>
            <a:fillRect/>
          </a:stretch>
        </p:blipFill>
        <p:spPr>
          <a:xfrm>
            <a:off x="597410" y="237813"/>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xmlns="" id="{9B7C98EC-F13C-9146-B728-D7044DB4247D}"/>
              </a:ext>
            </a:extLst>
          </p:cNvPr>
          <p:cNvSpPr txBox="1">
            <a:spLocks/>
          </p:cNvSpPr>
          <p:nvPr/>
        </p:nvSpPr>
        <p:spPr>
          <a:xfrm>
            <a:off x="1344710" y="1600200"/>
            <a:ext cx="950258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457200">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I understand the role of a base and an exponent in the exponential form of a numeric expression.</a:t>
            </a:r>
          </a:p>
          <a:p>
            <a:pPr marL="457200" indent="-457200">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I can write a numeric expression using repeated multiplication in exponential form.</a:t>
            </a:r>
          </a:p>
          <a:p>
            <a:pPr marL="457200" indent="-457200">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I can write an expression in exponential form as a numeric expression using repeated multiplication.</a:t>
            </a:r>
          </a:p>
          <a:p>
            <a:pPr marL="457200" indent="-457200">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I can evaluate a positive rational number raised to a power.</a:t>
            </a:r>
          </a:p>
        </p:txBody>
      </p:sp>
      <p:sp>
        <p:nvSpPr>
          <p:cNvPr id="8" name="Google Shape;282;g104476d1465_1_17"/>
          <p:cNvSpPr txBox="1"/>
          <p:nvPr/>
        </p:nvSpPr>
        <p:spPr>
          <a:xfrm>
            <a:off x="8720469"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233</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58695"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p:cNvSpPr txBox="1"/>
          <p:nvPr/>
        </p:nvSpPr>
        <p:spPr>
          <a:xfrm>
            <a:off x="8720469"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233</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58695" y="6200599"/>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362986" y="-76154"/>
            <a:ext cx="9609813"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6.1.1 Warm-Up: Graphic Designer</a:t>
            </a:r>
          </a:p>
        </p:txBody>
      </p:sp>
      <p:pic>
        <p:nvPicPr>
          <p:cNvPr id="13" name="Google Shape;326;g103996e1364_0_25">
            <a:extLst>
              <a:ext uri="{FF2B5EF4-FFF2-40B4-BE49-F238E27FC236}">
                <a16:creationId xmlns:a16="http://schemas.microsoft.com/office/drawing/2014/main" xmlns="" id="{0B25478F-1F7B-DF44-A9BD-898178E878B3}"/>
              </a:ext>
            </a:extLst>
          </p:cNvPr>
          <p:cNvPicPr preferRelativeResize="0"/>
          <p:nvPr/>
        </p:nvPicPr>
        <p:blipFill>
          <a:blip r:embed="rId3">
            <a:alphaModFix/>
          </a:blip>
          <a:stretch>
            <a:fillRect/>
          </a:stretch>
        </p:blipFill>
        <p:spPr>
          <a:xfrm>
            <a:off x="615687" y="197486"/>
            <a:ext cx="747300" cy="747300"/>
          </a:xfrm>
          <a:prstGeom prst="rect">
            <a:avLst/>
          </a:prstGeom>
          <a:noFill/>
          <a:ln>
            <a:noFill/>
          </a:ln>
          <a:effectLst>
            <a:outerShdw blurRad="50800" dist="38100" dir="2700000" algn="tl" rotWithShape="0">
              <a:prstClr val="black">
                <a:alpha val="40000"/>
              </a:prstClr>
            </a:outerShdw>
          </a:effectLst>
        </p:spPr>
      </p:pic>
      <p:sp>
        <p:nvSpPr>
          <p:cNvPr id="2" name="TextBox 1">
            <a:extLst>
              <a:ext uri="{FF2B5EF4-FFF2-40B4-BE49-F238E27FC236}">
                <a16:creationId xmlns:a16="http://schemas.microsoft.com/office/drawing/2014/main" xmlns="" id="{E1D7562E-134F-D14B-AF1A-DF40E11EF758}"/>
              </a:ext>
            </a:extLst>
          </p:cNvPr>
          <p:cNvSpPr txBox="1"/>
          <p:nvPr/>
        </p:nvSpPr>
        <p:spPr>
          <a:xfrm>
            <a:off x="1228299" y="1386026"/>
            <a:ext cx="9991434" cy="4708981"/>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Maurice Woods is a graphic designer and founder of the </a:t>
            </a:r>
            <a:r>
              <a:rPr lang="en-US" sz="2000" dirty="0" err="1">
                <a:latin typeface="Verdana" panose="020B0604030504040204" pitchFamily="34" charset="0"/>
                <a:ea typeface="Verdana" panose="020B0604030504040204" pitchFamily="34" charset="0"/>
                <a:cs typeface="Verdana" panose="020B0604030504040204" pitchFamily="34" charset="0"/>
              </a:rPr>
              <a:t>Inneract</a:t>
            </a:r>
            <a:r>
              <a:rPr lang="en-US" sz="2000" dirty="0">
                <a:latin typeface="Verdana" panose="020B0604030504040204" pitchFamily="34" charset="0"/>
                <a:ea typeface="Verdana" panose="020B0604030504040204" pitchFamily="34" charset="0"/>
                <a:cs typeface="Verdana" panose="020B0604030504040204" pitchFamily="34" charset="0"/>
              </a:rPr>
              <a:t> Project. He says, “Design is really about a process of thinking creatively and critically about how to solve something in a way that not only makes sense to people, but produces a solution to a problem.” How does that process relate to your study of mathematics?</a:t>
            </a: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 Maurice states that one of the skills he brought with him from his basketball career to his design career was his experience with teamwork and what it means to be flexible and compromise. Describe an experience when teamwork was needed for you to reach a goal.</a:t>
            </a: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 Maurice said, “I want to be remembered for giving back to the community and giving back to young people ... I get more joy out of that than any project I work on.” What do you want to be remembered for in life?</a:t>
            </a:r>
            <a:endParaRPr lang="en-US" dirty="0"/>
          </a:p>
        </p:txBody>
      </p:sp>
      <p:sp>
        <p:nvSpPr>
          <p:cNvPr id="9" name="Google Shape;282;g104476d1465_1_17"/>
          <p:cNvSpPr txBox="1"/>
          <p:nvPr/>
        </p:nvSpPr>
        <p:spPr>
          <a:xfrm>
            <a:off x="8720469"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233</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58695"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16267" y="0"/>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xmlns="" id="{2AC58C8F-2DD8-F347-9ECA-58EE9E1B7E9C}"/>
              </a:ext>
            </a:extLst>
          </p:cNvPr>
          <p:cNvPicPr preferRelativeResize="0"/>
          <p:nvPr/>
        </p:nvPicPr>
        <p:blipFill rotWithShape="1">
          <a:blip r:embed="rId3">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720469"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234</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58695"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9964617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279238" y="0"/>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6.1.2 Guided Instruction: </a:t>
            </a:r>
            <a:r>
              <a:rPr lang="en-US" sz="3600" b="1">
                <a:solidFill>
                  <a:srgbClr val="54B5D1"/>
                </a:solidFill>
                <a:latin typeface="Verdana"/>
                <a:ea typeface="Verdana"/>
                <a:cs typeface="Verdana"/>
                <a:sym typeface="Verdana"/>
              </a:rPr>
              <a:t>Expressions </a:t>
            </a:r>
            <a:r>
              <a:rPr lang="en-US" sz="3600" b="1" smtClean="0">
                <a:solidFill>
                  <a:srgbClr val="54B5D1"/>
                </a:solidFill>
                <a:latin typeface="Verdana"/>
                <a:ea typeface="Verdana"/>
                <a:cs typeface="Verdana"/>
                <a:sym typeface="Verdana"/>
              </a:rPr>
              <a:t>With </a:t>
            </a:r>
            <a:r>
              <a:rPr lang="en-US" sz="3600" b="1" dirty="0">
                <a:solidFill>
                  <a:srgbClr val="54B5D1"/>
                </a:solidFill>
                <a:latin typeface="Verdana"/>
                <a:ea typeface="Verdana"/>
                <a:cs typeface="Verdana"/>
                <a:sym typeface="Verdana"/>
              </a:rPr>
              <a:t>Exponents</a:t>
            </a:r>
          </a:p>
        </p:txBody>
      </p:sp>
      <p:pic>
        <p:nvPicPr>
          <p:cNvPr id="9" name="Google Shape;345;g103996e1364_0_321">
            <a:extLst>
              <a:ext uri="{FF2B5EF4-FFF2-40B4-BE49-F238E27FC236}">
                <a16:creationId xmlns:a16="http://schemas.microsoft.com/office/drawing/2014/main" xmlns="" id="{CBDD45DF-949B-9F42-BFF6-A7167F0CF795}"/>
              </a:ext>
            </a:extLst>
          </p:cNvPr>
          <p:cNvPicPr preferRelativeResize="0"/>
          <p:nvPr/>
        </p:nvPicPr>
        <p:blipFill rotWithShape="1">
          <a:blip r:embed="rId3">
            <a:alphaModFix/>
          </a:blip>
          <a:srcRect/>
          <a:stretch/>
        </p:blipFill>
        <p:spPr>
          <a:xfrm>
            <a:off x="531938" y="207264"/>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xmlns="" id="{C01B13E8-EC8D-E443-A329-C5E3593DD13A}"/>
                  </a:ext>
                </a:extLst>
              </p:cNvPr>
              <p:cNvSpPr txBox="1"/>
              <p:nvPr/>
            </p:nvSpPr>
            <p:spPr>
              <a:xfrm>
                <a:off x="1279238" y="1273044"/>
                <a:ext cx="9889556" cy="2246769"/>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The principal at Fitzgerald Middle School has been tasked with contacting everyone at the school regarding an upcoming change. The principal uses a phone tree to contact the staff. The principal calls </a:t>
                </a:r>
                <a14:m>
                  <m:oMath xmlns:m="http://schemas.openxmlformats.org/officeDocument/2006/math">
                    <m:r>
                      <a:rPr lang="en-US" sz="2000" i="1">
                        <a:latin typeface="Cambria Math" panose="02040503050406030204" pitchFamily="18" charset="0"/>
                      </a:rPr>
                      <m:t>2</m:t>
                    </m:r>
                  </m:oMath>
                </a14:m>
                <a:r>
                  <a:rPr lang="en-US" sz="2000" dirty="0">
                    <a:latin typeface="Verdana" panose="020B0604030504040204" pitchFamily="34" charset="0"/>
                    <a:ea typeface="Verdana" panose="020B0604030504040204" pitchFamily="34" charset="0"/>
                    <a:cs typeface="Verdana" panose="020B0604030504040204" pitchFamily="34" charset="0"/>
                  </a:rPr>
                  <a:t> people, then those </a:t>
                </a:r>
                <a14:m>
                  <m:oMath xmlns:m="http://schemas.openxmlformats.org/officeDocument/2006/math">
                    <m:r>
                      <a:rPr lang="en-US" sz="2000" i="1">
                        <a:latin typeface="Cambria Math" panose="02040503050406030204" pitchFamily="18" charset="0"/>
                      </a:rPr>
                      <m:t>2</m:t>
                    </m:r>
                  </m:oMath>
                </a14:m>
                <a:r>
                  <a:rPr lang="en-US" sz="2000" dirty="0">
                    <a:latin typeface="Verdana" panose="020B0604030504040204" pitchFamily="34" charset="0"/>
                    <a:ea typeface="Verdana" panose="020B0604030504040204" pitchFamily="34" charset="0"/>
                    <a:cs typeface="Verdana" panose="020B0604030504040204" pitchFamily="34" charset="0"/>
                  </a:rPr>
                  <a:t> people will call </a:t>
                </a:r>
                <a14:m>
                  <m:oMath xmlns:m="http://schemas.openxmlformats.org/officeDocument/2006/math">
                    <m:r>
                      <a:rPr lang="en-US" sz="2000" i="1">
                        <a:latin typeface="Cambria Math" panose="02040503050406030204" pitchFamily="18" charset="0"/>
                      </a:rPr>
                      <m:t>2</m:t>
                    </m:r>
                  </m:oMath>
                </a14:m>
                <a:r>
                  <a:rPr lang="en-US" sz="2000" dirty="0">
                    <a:latin typeface="Verdana" panose="020B0604030504040204" pitchFamily="34" charset="0"/>
                    <a:ea typeface="Verdana" panose="020B0604030504040204" pitchFamily="34" charset="0"/>
                    <a:cs typeface="Verdana" panose="020B0604030504040204" pitchFamily="34" charset="0"/>
                  </a:rPr>
                  <a:t> other people. This process repeats until everyone has been contacted. </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Fill in the blanks for the phone tree.</a:t>
                </a:r>
              </a:p>
            </p:txBody>
          </p:sp>
        </mc:Choice>
        <mc:Fallback xmlns="">
          <p:sp>
            <p:nvSpPr>
              <p:cNvPr id="13" name="TextBox 12">
                <a:extLst>
                  <a:ext uri="{FF2B5EF4-FFF2-40B4-BE49-F238E27FC236}">
                    <a16:creationId xmlns:a16="http://schemas.microsoft.com/office/drawing/2014/main" xmlns:a14="http://schemas.microsoft.com/office/drawing/2010/main" xmlns="" id="{C01B13E8-EC8D-E443-A329-C5E3593DD13A}"/>
                  </a:ext>
                </a:extLst>
              </p:cNvPr>
              <p:cNvSpPr txBox="1">
                <a:spLocks noRot="1" noChangeAspect="1" noMove="1" noResize="1" noEditPoints="1" noAdjustHandles="1" noChangeArrowheads="1" noChangeShapeType="1" noTextEdit="1"/>
              </p:cNvSpPr>
              <p:nvPr/>
            </p:nvSpPr>
            <p:spPr>
              <a:xfrm>
                <a:off x="1279238" y="1273044"/>
                <a:ext cx="9889556" cy="2246769"/>
              </a:xfrm>
              <a:prstGeom prst="rect">
                <a:avLst/>
              </a:prstGeom>
              <a:blipFill rotWithShape="0">
                <a:blip r:embed="rId4"/>
                <a:stretch>
                  <a:fillRect l="-678" t="-1902" b="-40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xmlns="" id="{D5AF6BA8-CFF4-A440-985A-DF1050C9C2C5}"/>
                  </a:ext>
                </a:extLst>
              </p:cNvPr>
              <p:cNvGraphicFramePr>
                <a:graphicFrameLocks noGrp="1"/>
              </p:cNvGraphicFramePr>
              <p:nvPr>
                <p:extLst>
                  <p:ext uri="{D42A27DB-BD31-4B8C-83A1-F6EECF244321}">
                    <p14:modId xmlns:p14="http://schemas.microsoft.com/office/powerpoint/2010/main" val="2472917751"/>
                  </p:ext>
                </p:extLst>
              </p:nvPr>
            </p:nvGraphicFramePr>
            <p:xfrm>
              <a:off x="2893463" y="3805915"/>
              <a:ext cx="6405075" cy="2651760"/>
            </p:xfrm>
            <a:graphic>
              <a:graphicData uri="http://schemas.openxmlformats.org/drawingml/2006/table">
                <a:tbl>
                  <a:tblPr firstRow="1" firstCol="1" bandRow="1">
                    <a:tableStyleId>{A91F0D33-8C57-4600-99A7-42BC86742BE1}</a:tableStyleId>
                  </a:tblPr>
                  <a:tblGrid>
                    <a:gridCol w="3105491">
                      <a:extLst>
                        <a:ext uri="{9D8B030D-6E8A-4147-A177-3AD203B41FA5}">
                          <a16:colId xmlns:a16="http://schemas.microsoft.com/office/drawing/2014/main" xmlns="" val="1591348104"/>
                        </a:ext>
                      </a:extLst>
                    </a:gridCol>
                    <a:gridCol w="3299584">
                      <a:extLst>
                        <a:ext uri="{9D8B030D-6E8A-4147-A177-3AD203B41FA5}">
                          <a16:colId xmlns:a16="http://schemas.microsoft.com/office/drawing/2014/main" xmlns="" val="4128215846"/>
                        </a:ext>
                      </a:extLst>
                    </a:gridCol>
                  </a:tblGrid>
                  <a:tr h="365760">
                    <a:tc gridSpan="2">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Phone Tree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hMerge="1">
                      <a:txBody>
                        <a:bodyPr/>
                        <a:lstStyle/>
                        <a:p>
                          <a:endParaRPr lang="en-US"/>
                        </a:p>
                      </a:txBody>
                      <a:tcPr/>
                    </a:tc>
                    <a:extLst>
                      <a:ext uri="{0D108BD9-81ED-4DB2-BD59-A6C34878D82A}">
                        <a16:rowId xmlns:a16="http://schemas.microsoft.com/office/drawing/2014/main" xmlns="" val="4167656222"/>
                      </a:ext>
                    </a:extLst>
                  </a:tr>
                  <a:tr h="457200">
                    <a:tc>
                      <a:txBody>
                        <a:bodyPr/>
                        <a:lstStyle/>
                        <a:p>
                          <a:pPr marL="0" marR="0">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First round of calls: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2</m:t>
                                </m:r>
                              </m:oMath>
                            </m:oMathPara>
                          </a14:m>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16526579"/>
                      </a:ext>
                    </a:extLst>
                  </a:tr>
                  <a:tr h="457200">
                    <a:tc>
                      <a:txBody>
                        <a:bodyPr/>
                        <a:lstStyle/>
                        <a:p>
                          <a:pPr marL="0" marR="0">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Second round of calls: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2 ∙ 2</m:t>
                                </m:r>
                              </m:oMath>
                            </m:oMathPara>
                          </a14:m>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814723939"/>
                      </a:ext>
                    </a:extLst>
                  </a:tr>
                  <a:tr h="457200">
                    <a:tc>
                      <a:txBody>
                        <a:bodyPr/>
                        <a:lstStyle/>
                        <a:p>
                          <a:pPr marL="0" marR="0">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Third round of calls: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2 ∙ 2 ∙ 2</m:t>
                                </m:r>
                              </m:oMath>
                            </m:oMathPara>
                          </a14:m>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781310809"/>
                      </a:ext>
                    </a:extLst>
                  </a:tr>
                  <a:tr h="457200">
                    <a:tc>
                      <a:txBody>
                        <a:bodyPr/>
                        <a:lstStyle/>
                        <a:p>
                          <a:pPr marL="0" marR="0">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Fourth round of calls: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2 ∙ _____ ∙ _____ ∙ _____</m:t>
                                </m:r>
                              </m:oMath>
                            </m:oMathPara>
                          </a14:m>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200393037"/>
                      </a:ext>
                    </a:extLst>
                  </a:tr>
                  <a:tr h="457200">
                    <a:tc>
                      <a:txBody>
                        <a:bodyPr/>
                        <a:lstStyle/>
                        <a:p>
                          <a:pPr marL="0" marR="0">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Fifth round of calls: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dirty="0">
                              <a:effectLst/>
                            </a:rPr>
                            <a:t> </a:t>
                          </a:r>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033052367"/>
                      </a:ext>
                    </a:extLst>
                  </a:tr>
                </a:tbl>
              </a:graphicData>
            </a:graphic>
          </p:graphicFrame>
        </mc:Choice>
        <mc:Fallback xmlns="">
          <p:graphicFrame>
            <p:nvGraphicFramePr>
              <p:cNvPr id="2" name="Table 1">
                <a:extLst>
                  <a:ext uri="{FF2B5EF4-FFF2-40B4-BE49-F238E27FC236}">
                    <a16:creationId xmlns:a16="http://schemas.microsoft.com/office/drawing/2014/main" id="{D5AF6BA8-CFF4-A440-985A-DF1050C9C2C5}"/>
                  </a:ext>
                </a:extLst>
              </p:cNvPr>
              <p:cNvGraphicFramePr>
                <a:graphicFrameLocks noGrp="1"/>
              </p:cNvGraphicFramePr>
              <p:nvPr>
                <p:extLst>
                  <p:ext uri="{D42A27DB-BD31-4B8C-83A1-F6EECF244321}">
                    <p14:modId xmlns:p14="http://schemas.microsoft.com/office/powerpoint/2010/main" val="2472917751"/>
                  </p:ext>
                </p:extLst>
              </p:nvPr>
            </p:nvGraphicFramePr>
            <p:xfrm>
              <a:off x="1369462" y="3805915"/>
              <a:ext cx="6405075" cy="2651760"/>
            </p:xfrm>
            <a:graphic>
              <a:graphicData uri="http://schemas.openxmlformats.org/drawingml/2006/table">
                <a:tbl>
                  <a:tblPr firstRow="1" firstCol="1" bandRow="1">
                    <a:tableStyleId>{A91F0D33-8C57-4600-99A7-42BC86742BE1}</a:tableStyleId>
                  </a:tblPr>
                  <a:tblGrid>
                    <a:gridCol w="3105491">
                      <a:extLst>
                        <a:ext uri="{9D8B030D-6E8A-4147-A177-3AD203B41FA5}">
                          <a16:colId xmlns:a16="http://schemas.microsoft.com/office/drawing/2014/main" val="1591348104"/>
                        </a:ext>
                      </a:extLst>
                    </a:gridCol>
                    <a:gridCol w="3299584">
                      <a:extLst>
                        <a:ext uri="{9D8B030D-6E8A-4147-A177-3AD203B41FA5}">
                          <a16:colId xmlns:a16="http://schemas.microsoft.com/office/drawing/2014/main" val="4128215846"/>
                        </a:ext>
                      </a:extLst>
                    </a:gridCol>
                  </a:tblGrid>
                  <a:tr h="365760">
                    <a:tc gridSpan="2">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Phone Tree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hMerge="1">
                      <a:txBody>
                        <a:bodyPr/>
                        <a:lstStyle/>
                        <a:p>
                          <a:endParaRPr lang="en-US"/>
                        </a:p>
                      </a:txBody>
                      <a:tcPr/>
                    </a:tc>
                    <a:extLst>
                      <a:ext uri="{0D108BD9-81ED-4DB2-BD59-A6C34878D82A}">
                        <a16:rowId xmlns:a16="http://schemas.microsoft.com/office/drawing/2014/main" val="4167656222"/>
                      </a:ext>
                    </a:extLst>
                  </a:tr>
                  <a:tr h="457200">
                    <a:tc>
                      <a:txBody>
                        <a:bodyPr/>
                        <a:lstStyle/>
                        <a:p>
                          <a:pPr marL="0" marR="0">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First round of calls: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93870" t="-91667" r="-383" b="-419444"/>
                          </a:stretch>
                        </a:blipFill>
                      </a:tcPr>
                    </a:tc>
                    <a:extLst>
                      <a:ext uri="{0D108BD9-81ED-4DB2-BD59-A6C34878D82A}">
                        <a16:rowId xmlns:a16="http://schemas.microsoft.com/office/drawing/2014/main" val="216526579"/>
                      </a:ext>
                    </a:extLst>
                  </a:tr>
                  <a:tr h="457200">
                    <a:tc>
                      <a:txBody>
                        <a:bodyPr/>
                        <a:lstStyle/>
                        <a:p>
                          <a:pPr marL="0" marR="0">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Second round of calls: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93870" t="-191667" r="-383" b="-319444"/>
                          </a:stretch>
                        </a:blipFill>
                      </a:tcPr>
                    </a:tc>
                    <a:extLst>
                      <a:ext uri="{0D108BD9-81ED-4DB2-BD59-A6C34878D82A}">
                        <a16:rowId xmlns:a16="http://schemas.microsoft.com/office/drawing/2014/main" val="2814723939"/>
                      </a:ext>
                    </a:extLst>
                  </a:tr>
                  <a:tr h="457200">
                    <a:tc>
                      <a:txBody>
                        <a:bodyPr/>
                        <a:lstStyle/>
                        <a:p>
                          <a:pPr marL="0" marR="0">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Third round of calls: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93870" t="-283784" r="-383" b="-210811"/>
                          </a:stretch>
                        </a:blipFill>
                      </a:tcPr>
                    </a:tc>
                    <a:extLst>
                      <a:ext uri="{0D108BD9-81ED-4DB2-BD59-A6C34878D82A}">
                        <a16:rowId xmlns:a16="http://schemas.microsoft.com/office/drawing/2014/main" val="1781310809"/>
                      </a:ext>
                    </a:extLst>
                  </a:tr>
                  <a:tr h="457200">
                    <a:tc>
                      <a:txBody>
                        <a:bodyPr/>
                        <a:lstStyle/>
                        <a:p>
                          <a:pPr marL="0" marR="0">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Fourth round of calls: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93870" t="-394444" r="-383" b="-116667"/>
                          </a:stretch>
                        </a:blipFill>
                      </a:tcPr>
                    </a:tc>
                    <a:extLst>
                      <a:ext uri="{0D108BD9-81ED-4DB2-BD59-A6C34878D82A}">
                        <a16:rowId xmlns:a16="http://schemas.microsoft.com/office/drawing/2014/main" val="3200393037"/>
                      </a:ext>
                    </a:extLst>
                  </a:tr>
                  <a:tr h="457200">
                    <a:tc>
                      <a:txBody>
                        <a:bodyPr/>
                        <a:lstStyle/>
                        <a:p>
                          <a:pPr marL="0" marR="0">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Fifth round of calls: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dirty="0">
                              <a:effectLst/>
                            </a:rPr>
                            <a:t> </a:t>
                          </a:r>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3052367"/>
                      </a:ext>
                    </a:extLst>
                  </a:tr>
                </a:tbl>
              </a:graphicData>
            </a:graphic>
          </p:graphicFrame>
        </mc:Fallback>
      </mc:AlternateContent>
      <p:sp>
        <p:nvSpPr>
          <p:cNvPr id="10" name="Google Shape;282;g104476d1465_1_17"/>
          <p:cNvSpPr txBox="1"/>
          <p:nvPr/>
        </p:nvSpPr>
        <p:spPr>
          <a:xfrm>
            <a:off x="8720469"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234</a:t>
            </a:r>
            <a:endParaRPr i="1" dirty="0">
              <a:latin typeface="Calibri"/>
              <a:ea typeface="Calibri"/>
              <a:cs typeface="Calibri"/>
              <a:sym typeface="Calibri"/>
            </a:endParaRPr>
          </a:p>
        </p:txBody>
      </p:sp>
      <p:pic>
        <p:nvPicPr>
          <p:cNvPr id="11" name="Google Shape;283;g104476d1465_1_17"/>
          <p:cNvPicPr preferRelativeResize="0"/>
          <p:nvPr/>
        </p:nvPicPr>
        <p:blipFill>
          <a:blip r:embed="rId7" cstate="screen">
            <a:alphaModFix/>
            <a:extLst>
              <a:ext uri="{28A0092B-C50C-407E-A947-70E740481C1C}">
                <a14:useLocalDpi xmlns:a14="http://schemas.microsoft.com/office/drawing/2010/main"/>
              </a:ext>
            </a:extLst>
          </a:blip>
          <a:stretch>
            <a:fillRect/>
          </a:stretch>
        </p:blipFill>
        <p:spPr>
          <a:xfrm>
            <a:off x="11458695"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7849695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xmlns="" id="{2FA392D8-3ED3-7940-83A8-1451AA8A08D4}"/>
                  </a:ext>
                </a:extLst>
              </p:cNvPr>
              <p:cNvSpPr txBox="1"/>
              <p:nvPr/>
            </p:nvSpPr>
            <p:spPr>
              <a:xfrm>
                <a:off x="1037231" y="520393"/>
                <a:ext cx="9986282" cy="3789179"/>
              </a:xfrm>
              <a:prstGeom prst="rect">
                <a:avLst/>
              </a:prstGeom>
              <a:noFill/>
            </p:spPr>
            <p:txBody>
              <a:bodyPr wrap="square" rtlCol="0">
                <a:spAutoFit/>
              </a:bodyPr>
              <a:lstStyle/>
              <a:p>
                <a:pPr marL="914400" indent="-4572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What do you notice about the phone tree?</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buFont typeface="+mj-lt"/>
                  <a:buAutoNum type="alphaLcPeriod" startAt="3"/>
                </a:pPr>
                <a:r>
                  <a:rPr lang="en-US" sz="2000" dirty="0">
                    <a:latin typeface="Verdana" panose="020B0604030504040204" pitchFamily="34" charset="0"/>
                    <a:ea typeface="Verdana" panose="020B0604030504040204" pitchFamily="34" charset="0"/>
                    <a:cs typeface="Verdana" panose="020B0604030504040204" pitchFamily="34" charset="0"/>
                  </a:rPr>
                  <a:t>How many people were contacted on the fifth round?</a:t>
                </a:r>
              </a:p>
              <a:p>
                <a:r>
                  <a:rPr lang="en-US" sz="2000" b="1"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The fifth round of calls can be rewritten in exponential form as </a:t>
                </a:r>
                <a14:m>
                  <m:oMath xmlns:m="http://schemas.openxmlformats.org/officeDocument/2006/math">
                    <m:sSup>
                      <m:sSupPr>
                        <m:ctrlPr>
                          <a:rPr lang="en-US" sz="2000" i="1">
                            <a:latin typeface="Cambria Math" charset="0"/>
                          </a:rPr>
                        </m:ctrlPr>
                      </m:sSupPr>
                      <m:e>
                        <m:r>
                          <a:rPr lang="en-US" sz="2000" i="1">
                            <a:latin typeface="Cambria Math" panose="02040503050406030204" pitchFamily="18" charset="0"/>
                          </a:rPr>
                          <m:t>2</m:t>
                        </m:r>
                      </m:e>
                      <m:sup>
                        <m:r>
                          <a:rPr lang="en-US" sz="2000" i="1">
                            <a:latin typeface="Cambria Math" panose="02040503050406030204" pitchFamily="18" charset="0"/>
                          </a:rPr>
                          <m:t>5</m:t>
                        </m:r>
                      </m:sup>
                    </m:sSup>
                  </m:oMath>
                </a14:m>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buFont typeface="+mj-lt"/>
                  <a:buAutoNum type="alphaLcPeriod" startAt="4"/>
                </a:pPr>
                <a:r>
                  <a:rPr lang="en-US" sz="2000" dirty="0">
                    <a:latin typeface="Verdana" panose="020B0604030504040204" pitchFamily="34" charset="0"/>
                    <a:ea typeface="Verdana" panose="020B0604030504040204" pitchFamily="34" charset="0"/>
                    <a:cs typeface="Verdana" panose="020B0604030504040204" pitchFamily="34" charset="0"/>
                  </a:rPr>
                  <a:t>How does the exponential expression for the fifth round of calls relate to the repeated multiplication written in the phone tree? </a:t>
                </a:r>
              </a:p>
              <a:p>
                <a:r>
                  <a:rPr lang="en-US" sz="2000" b="1"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 </a:t>
                </a: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1037231" y="520393"/>
                <a:ext cx="9986282" cy="3789179"/>
              </a:xfrm>
              <a:prstGeom prst="rect">
                <a:avLst/>
              </a:prstGeom>
              <a:blipFill rotWithShape="0">
                <a:blip r:embed="rId3"/>
                <a:stretch>
                  <a:fillRect l="-611" t="-965"/>
                </a:stretch>
              </a:blipFill>
            </p:spPr>
            <p:txBody>
              <a:bodyPr/>
              <a:lstStyle/>
              <a:p>
                <a:r>
                  <a:rPr lang="en-US">
                    <a:noFill/>
                  </a:rPr>
                  <a:t> </a:t>
                </a:r>
              </a:p>
            </p:txBody>
          </p:sp>
        </mc:Fallback>
      </mc:AlternateContent>
      <p:sp>
        <p:nvSpPr>
          <p:cNvPr id="6" name="Google Shape;282;g104476d1465_1_17"/>
          <p:cNvSpPr txBox="1"/>
          <p:nvPr/>
        </p:nvSpPr>
        <p:spPr>
          <a:xfrm>
            <a:off x="8720469"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234</a:t>
            </a:r>
            <a:endParaRPr i="1" dirty="0">
              <a:latin typeface="Calibri"/>
              <a:ea typeface="Calibri"/>
              <a:cs typeface="Calibri"/>
              <a:sym typeface="Calibri"/>
            </a:endParaRPr>
          </a:p>
        </p:txBody>
      </p:sp>
      <p:pic>
        <p:nvPicPr>
          <p:cNvPr id="7"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58695"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6023689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xmlns="" id="{2FA392D8-3ED3-7940-83A8-1451AA8A08D4}"/>
                  </a:ext>
                </a:extLst>
              </p:cNvPr>
              <p:cNvSpPr txBox="1"/>
              <p:nvPr/>
            </p:nvSpPr>
            <p:spPr>
              <a:xfrm>
                <a:off x="928048" y="520393"/>
                <a:ext cx="10486570" cy="4100481"/>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The numeric expression </a:t>
                </a:r>
                <a14:m>
                  <m:oMath xmlns:m="http://schemas.openxmlformats.org/officeDocument/2006/math">
                    <m:r>
                      <a:rPr lang="en-US" sz="2000" i="1">
                        <a:latin typeface="Cambria Math" panose="02040503050406030204" pitchFamily="18" charset="0"/>
                      </a:rPr>
                      <m:t>2 ∙ 2 ∙ 2 ∙ 2 ∙ 2</m:t>
                    </m:r>
                  </m:oMath>
                </a14:m>
                <a:r>
                  <a:rPr lang="en-US" sz="2000" dirty="0">
                    <a:latin typeface="Verdana" panose="020B0604030504040204" pitchFamily="34" charset="0"/>
                    <a:ea typeface="Verdana" panose="020B0604030504040204" pitchFamily="34" charset="0"/>
                    <a:cs typeface="Verdana" panose="020B0604030504040204" pitchFamily="34" charset="0"/>
                  </a:rPr>
                  <a:t> can be rewritten in exponential form as </a:t>
                </a:r>
                <a14:m>
                  <m:oMath xmlns:m="http://schemas.openxmlformats.org/officeDocument/2006/math">
                    <m:sSup>
                      <m:sSupPr>
                        <m:ctrlPr>
                          <a:rPr lang="en-US" sz="2000" i="1">
                            <a:latin typeface="Cambria Math" charset="0"/>
                          </a:rPr>
                        </m:ctrlPr>
                      </m:sSupPr>
                      <m:e>
                        <m:r>
                          <a:rPr lang="en-US" sz="2000" i="1">
                            <a:latin typeface="Cambria Math" panose="02040503050406030204" pitchFamily="18" charset="0"/>
                          </a:rPr>
                          <m:t>2</m:t>
                        </m:r>
                      </m:e>
                      <m:sup>
                        <m:r>
                          <a:rPr lang="en-US" sz="2000" i="1">
                            <a:latin typeface="Cambria Math" panose="02040503050406030204" pitchFamily="18" charset="0"/>
                          </a:rPr>
                          <m:t>5</m:t>
                        </m:r>
                      </m:sup>
                    </m:sSup>
                  </m:oMath>
                </a14:m>
                <a:r>
                  <a:rPr lang="en-US" sz="2000" dirty="0">
                    <a:latin typeface="Verdana" panose="020B0604030504040204" pitchFamily="34" charset="0"/>
                    <a:ea typeface="Verdana" panose="020B0604030504040204" pitchFamily="34" charset="0"/>
                    <a:cs typeface="Verdana" panose="020B0604030504040204" pitchFamily="34" charset="0"/>
                  </a:rPr>
                  <a:t>, where </a:t>
                </a:r>
                <a14:m>
                  <m:oMath xmlns:m="http://schemas.openxmlformats.org/officeDocument/2006/math">
                    <m:r>
                      <a:rPr lang="en-US" sz="2000" i="1">
                        <a:latin typeface="Cambria Math" panose="02040503050406030204" pitchFamily="18" charset="0"/>
                      </a:rPr>
                      <m:t>2</m:t>
                    </m:r>
                  </m:oMath>
                </a14:m>
                <a:r>
                  <a:rPr lang="en-US" sz="2000" dirty="0">
                    <a:latin typeface="Verdana" panose="020B0604030504040204" pitchFamily="34" charset="0"/>
                    <a:ea typeface="Verdana" panose="020B0604030504040204" pitchFamily="34" charset="0"/>
                    <a:cs typeface="Verdana" panose="020B0604030504040204" pitchFamily="34" charset="0"/>
                  </a:rPr>
                  <a:t> is the </a:t>
                </a:r>
                <a:r>
                  <a:rPr lang="en-US" sz="2000" b="1" i="1" dirty="0">
                    <a:latin typeface="Verdana" panose="020B0604030504040204" pitchFamily="34" charset="0"/>
                    <a:ea typeface="Verdana" panose="020B0604030504040204" pitchFamily="34" charset="0"/>
                    <a:cs typeface="Verdana" panose="020B0604030504040204" pitchFamily="34" charset="0"/>
                  </a:rPr>
                  <a:t>base</a:t>
                </a:r>
                <a:r>
                  <a:rPr lang="en-US" sz="20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i="1">
                        <a:latin typeface="Cambria Math" panose="02040503050406030204" pitchFamily="18" charset="0"/>
                      </a:rPr>
                      <m:t>5</m:t>
                    </m:r>
                  </m:oMath>
                </a14:m>
                <a:r>
                  <a:rPr lang="en-US" sz="2000" dirty="0">
                    <a:latin typeface="Verdana" panose="020B0604030504040204" pitchFamily="34" charset="0"/>
                    <a:ea typeface="Verdana" panose="020B0604030504040204" pitchFamily="34" charset="0"/>
                    <a:cs typeface="Verdana" panose="020B0604030504040204" pitchFamily="34" charset="0"/>
                  </a:rPr>
                  <a:t> is the </a:t>
                </a:r>
                <a:r>
                  <a:rPr lang="en-US" sz="2000" b="1" i="1" dirty="0">
                    <a:latin typeface="Verdana" panose="020B0604030504040204" pitchFamily="34" charset="0"/>
                    <a:ea typeface="Verdana" panose="020B0604030504040204" pitchFamily="34" charset="0"/>
                    <a:cs typeface="Verdana" panose="020B0604030504040204" pitchFamily="34" charset="0"/>
                  </a:rPr>
                  <a:t>exponent</a:t>
                </a:r>
                <a:r>
                  <a:rPr lang="en-US" sz="2000" dirty="0">
                    <a:latin typeface="Verdana" panose="020B0604030504040204" pitchFamily="34" charset="0"/>
                    <a:ea typeface="Verdana" panose="020B0604030504040204" pitchFamily="34" charset="0"/>
                    <a:cs typeface="Verdana" panose="020B0604030504040204" pitchFamily="34" charset="0"/>
                  </a:rPr>
                  <a:t>.</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Exponents are also commonly referred to as powers. For example, </a:t>
                </a:r>
                <a14:m>
                  <m:oMath xmlns:m="http://schemas.openxmlformats.org/officeDocument/2006/math">
                    <m:sSup>
                      <m:sSupPr>
                        <m:ctrlPr>
                          <a:rPr lang="en-US" sz="2000" i="1">
                            <a:latin typeface="Cambria Math" charset="0"/>
                          </a:rPr>
                        </m:ctrlPr>
                      </m:sSupPr>
                      <m:e>
                        <m:r>
                          <a:rPr lang="en-US" sz="2000" i="1">
                            <a:latin typeface="Cambria Math" panose="02040503050406030204" pitchFamily="18" charset="0"/>
                          </a:rPr>
                          <m:t>2</m:t>
                        </m:r>
                      </m:e>
                      <m:sup>
                        <m:r>
                          <a:rPr lang="en-US" sz="2000" i="1">
                            <a:latin typeface="Cambria Math" panose="02040503050406030204" pitchFamily="18" charset="0"/>
                          </a:rPr>
                          <m:t>5</m:t>
                        </m:r>
                      </m:sup>
                    </m:sSup>
                  </m:oMath>
                </a14:m>
                <a:r>
                  <a:rPr lang="en-US" sz="2000" dirty="0">
                    <a:latin typeface="Verdana" panose="020B0604030504040204" pitchFamily="34" charset="0"/>
                    <a:ea typeface="Verdana" panose="020B0604030504040204" pitchFamily="34" charset="0"/>
                    <a:cs typeface="Verdana" panose="020B0604030504040204" pitchFamily="34" charset="0"/>
                  </a:rPr>
                  <a:t> is read as “</a:t>
                </a:r>
                <a14:m>
                  <m:oMath xmlns:m="http://schemas.openxmlformats.org/officeDocument/2006/math">
                    <m:r>
                      <a:rPr lang="en-US" sz="2000" i="1">
                        <a:latin typeface="Cambria Math" panose="02040503050406030204" pitchFamily="18" charset="0"/>
                      </a:rPr>
                      <m:t>2</m:t>
                    </m:r>
                  </m:oMath>
                </a14:m>
                <a:r>
                  <a:rPr lang="en-US" sz="2000" dirty="0">
                    <a:latin typeface="Verdana" panose="020B0604030504040204" pitchFamily="34" charset="0"/>
                    <a:ea typeface="Verdana" panose="020B0604030504040204" pitchFamily="34" charset="0"/>
                    <a:cs typeface="Verdana" panose="020B0604030504040204" pitchFamily="34" charset="0"/>
                  </a:rPr>
                  <a:t> to the </a:t>
                </a:r>
                <a14:m>
                  <m:oMath xmlns:m="http://schemas.openxmlformats.org/officeDocument/2006/math">
                    <m:r>
                      <a:rPr lang="en-US" sz="2000" i="1">
                        <a:latin typeface="Cambria Math" panose="02040503050406030204" pitchFamily="18" charset="0"/>
                      </a:rPr>
                      <m:t>5</m:t>
                    </m:r>
                  </m:oMath>
                </a14:m>
                <a:r>
                  <a:rPr lang="en-US" sz="2000" baseline="30000" dirty="0" err="1">
                    <a:latin typeface="Verdana" panose="020B0604030504040204" pitchFamily="34" charset="0"/>
                    <a:ea typeface="Verdana" panose="020B0604030504040204" pitchFamily="34" charset="0"/>
                    <a:cs typeface="Verdana" panose="020B0604030504040204" pitchFamily="34" charset="0"/>
                  </a:rPr>
                  <a:t>th</a:t>
                </a:r>
                <a:r>
                  <a:rPr lang="en-US" sz="2000" dirty="0">
                    <a:latin typeface="Verdana" panose="020B0604030504040204" pitchFamily="34" charset="0"/>
                    <a:ea typeface="Verdana" panose="020B0604030504040204" pitchFamily="34" charset="0"/>
                    <a:cs typeface="Verdana" panose="020B0604030504040204" pitchFamily="34" charset="0"/>
                  </a:rPr>
                  <a:t> power.”</a:t>
                </a: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928048" y="520393"/>
                <a:ext cx="10486570" cy="4100481"/>
              </a:xfrm>
              <a:prstGeom prst="rect">
                <a:avLst/>
              </a:prstGeom>
              <a:blipFill rotWithShape="0">
                <a:blip r:embed="rId3"/>
                <a:stretch>
                  <a:fillRect l="-581" t="-9361" r="-349" b="-1634"/>
                </a:stretch>
              </a:blipFill>
            </p:spPr>
            <p:txBody>
              <a:bodyPr/>
              <a:lstStyle/>
              <a:p>
                <a:r>
                  <a:rPr lang="en-US">
                    <a:noFill/>
                  </a:rPr>
                  <a:t> </a:t>
                </a:r>
              </a:p>
            </p:txBody>
          </p:sp>
        </mc:Fallback>
      </mc:AlternateContent>
      <p:sp>
        <p:nvSpPr>
          <p:cNvPr id="7" name="Text Box 37">
            <a:extLst>
              <a:ext uri="{FF2B5EF4-FFF2-40B4-BE49-F238E27FC236}">
                <a16:creationId xmlns:a16="http://schemas.microsoft.com/office/drawing/2014/main" xmlns="" id="{08312BC3-8C2A-EA48-AC81-5BC03C9982D0}"/>
              </a:ext>
            </a:extLst>
          </p:cNvPr>
          <p:cNvSpPr txBox="1"/>
          <p:nvPr/>
        </p:nvSpPr>
        <p:spPr>
          <a:xfrm>
            <a:off x="2781300" y="1636164"/>
            <a:ext cx="6629400" cy="812800"/>
          </a:xfrm>
          <a:prstGeom prst="roundRect">
            <a:avLst/>
          </a:prstGeom>
          <a:solidFill>
            <a:srgbClr val="E2EED5"/>
          </a:solidFill>
          <a:ln>
            <a:noFill/>
          </a:ln>
          <a:effectLst>
            <a:outerShdw blurRad="50800" dist="38100" dir="2700000" algn="tl" rotWithShape="0">
              <a:prstClr val="black">
                <a:alpha val="40000"/>
              </a:prstClr>
            </a:outerShdw>
          </a:effectLst>
        </p:spPr>
        <p:style>
          <a:lnRef idx="3">
            <a:schemeClr val="lt1"/>
          </a:lnRef>
          <a:fillRef idx="1">
            <a:schemeClr val="accent5"/>
          </a:fillRef>
          <a:effectRef idx="1">
            <a:schemeClr val="accent5"/>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685800">
              <a:lnSpc>
                <a:spcPct val="107000"/>
              </a:lnSpc>
            </a:pPr>
            <a:r>
              <a:rPr lang="en-US" sz="2000" dirty="0">
                <a:solidFill>
                  <a:srgbClr val="6C993D"/>
                </a:solidFill>
                <a:latin typeface="Verdana" panose="020B0604030504040204" pitchFamily="34" charset="0"/>
                <a:ea typeface="Times New Roman" panose="02020603050405020304" pitchFamily="18" charset="0"/>
                <a:cs typeface="Times New Roman" panose="02020603050405020304" pitchFamily="18" charset="0"/>
              </a:rPr>
              <a:t>The </a:t>
            </a:r>
            <a:r>
              <a:rPr lang="en-US" sz="2000" b="1" i="1" dirty="0">
                <a:solidFill>
                  <a:srgbClr val="6C993D"/>
                </a:solidFill>
                <a:latin typeface="Verdana" panose="020B0604030504040204" pitchFamily="34" charset="0"/>
                <a:ea typeface="Times New Roman" panose="02020603050405020304" pitchFamily="18" charset="0"/>
                <a:cs typeface="Times New Roman" panose="02020603050405020304" pitchFamily="18" charset="0"/>
              </a:rPr>
              <a:t>base</a:t>
            </a:r>
            <a:r>
              <a:rPr lang="en-US" sz="2000" dirty="0">
                <a:solidFill>
                  <a:srgbClr val="6C993D"/>
                </a:solidFill>
                <a:latin typeface="Verdana" panose="020B0604030504040204" pitchFamily="34" charset="0"/>
                <a:ea typeface="Times New Roman" panose="02020603050405020304" pitchFamily="18" charset="0"/>
                <a:cs typeface="Times New Roman" panose="02020603050405020304" pitchFamily="18" charset="0"/>
              </a:rPr>
              <a:t> of an exponent is the number used as a factor in exponential form.</a:t>
            </a:r>
            <a:endParaRPr lang="en-US" sz="2000" dirty="0">
              <a:ea typeface="Times New Roman" panose="02020603050405020304" pitchFamily="18" charset="0"/>
              <a:cs typeface="Times New Roman" panose="02020603050405020304" pitchFamily="18" charset="0"/>
            </a:endParaRPr>
          </a:p>
        </p:txBody>
      </p:sp>
      <p:sp>
        <p:nvSpPr>
          <p:cNvPr id="10" name="Text Box 23">
            <a:extLst>
              <a:ext uri="{FF2B5EF4-FFF2-40B4-BE49-F238E27FC236}">
                <a16:creationId xmlns:a16="http://schemas.microsoft.com/office/drawing/2014/main" xmlns="" id="{0B86CD6F-73AA-094F-B5C9-96B3A9A0E57F}"/>
              </a:ext>
            </a:extLst>
          </p:cNvPr>
          <p:cNvSpPr txBox="1"/>
          <p:nvPr/>
        </p:nvSpPr>
        <p:spPr>
          <a:xfrm>
            <a:off x="2781300" y="2654898"/>
            <a:ext cx="6629400" cy="812800"/>
          </a:xfrm>
          <a:prstGeom prst="roundRect">
            <a:avLst/>
          </a:prstGeom>
          <a:solidFill>
            <a:srgbClr val="E2EED5"/>
          </a:solidFill>
          <a:ln>
            <a:noFill/>
          </a:ln>
          <a:effectLst>
            <a:outerShdw blurRad="50800" dist="38100" dir="2700000" algn="tl" rotWithShape="0">
              <a:prstClr val="black">
                <a:alpha val="40000"/>
              </a:prstClr>
            </a:outerShdw>
          </a:effectLst>
        </p:spPr>
        <p:style>
          <a:lnRef idx="3">
            <a:schemeClr val="lt1"/>
          </a:lnRef>
          <a:fillRef idx="1">
            <a:schemeClr val="accent5"/>
          </a:fillRef>
          <a:effectRef idx="1">
            <a:schemeClr val="accent5"/>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685800">
              <a:lnSpc>
                <a:spcPct val="107000"/>
              </a:lnSpc>
            </a:pPr>
            <a:r>
              <a:rPr lang="en-US" sz="2000" dirty="0">
                <a:solidFill>
                  <a:srgbClr val="6C993D"/>
                </a:solidFill>
                <a:latin typeface="Verdana" panose="020B0604030504040204" pitchFamily="34" charset="0"/>
                <a:ea typeface="Times New Roman" panose="02020603050405020304" pitchFamily="18" charset="0"/>
                <a:cs typeface="Times New Roman" panose="02020603050405020304" pitchFamily="18" charset="0"/>
              </a:rPr>
              <a:t>The </a:t>
            </a:r>
            <a:r>
              <a:rPr lang="en-US" sz="2000" b="1" i="1" dirty="0">
                <a:solidFill>
                  <a:srgbClr val="6C993D"/>
                </a:solidFill>
                <a:latin typeface="Verdana" panose="020B0604030504040204" pitchFamily="34" charset="0"/>
                <a:ea typeface="Times New Roman" panose="02020603050405020304" pitchFamily="18" charset="0"/>
                <a:cs typeface="Times New Roman" panose="02020603050405020304" pitchFamily="18" charset="0"/>
              </a:rPr>
              <a:t>exponent</a:t>
            </a:r>
            <a:r>
              <a:rPr lang="en-US" sz="2000" dirty="0">
                <a:solidFill>
                  <a:srgbClr val="6C993D"/>
                </a:solidFill>
                <a:latin typeface="Verdana" panose="020B0604030504040204" pitchFamily="34" charset="0"/>
                <a:ea typeface="Times New Roman" panose="02020603050405020304" pitchFamily="18" charset="0"/>
                <a:cs typeface="Times New Roman" panose="02020603050405020304" pitchFamily="18" charset="0"/>
              </a:rPr>
              <a:t> is the number of times the base occurs as a factor.</a:t>
            </a:r>
            <a:endParaRPr lang="en-US" sz="2000" dirty="0">
              <a:ea typeface="Times New Roman" panose="02020603050405020304" pitchFamily="18" charset="0"/>
              <a:cs typeface="Times New Roman" panose="02020603050405020304" pitchFamily="18" charset="0"/>
            </a:endParaRPr>
          </a:p>
        </p:txBody>
      </p:sp>
      <p:pic>
        <p:nvPicPr>
          <p:cNvPr id="13" name="Picture 12" descr="Icon&#10;&#10;Description automatically generated">
            <a:extLst>
              <a:ext uri="{FF2B5EF4-FFF2-40B4-BE49-F238E27FC236}">
                <a16:creationId xmlns:a16="http://schemas.microsoft.com/office/drawing/2014/main" xmlns="" id="{4263637E-5826-2A4F-A69B-17384D9E266A}"/>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950367" y="1772689"/>
            <a:ext cx="539750" cy="539750"/>
          </a:xfrm>
          <a:prstGeom prst="rect">
            <a:avLst/>
          </a:prstGeom>
          <a:effectLst>
            <a:outerShdw blurRad="50800" dist="38100" dir="2700000" algn="tl" rotWithShape="0">
              <a:prstClr val="black">
                <a:alpha val="40000"/>
              </a:prstClr>
            </a:outerShdw>
          </a:effectLst>
        </p:spPr>
      </p:pic>
      <p:pic>
        <p:nvPicPr>
          <p:cNvPr id="15" name="Picture 14" descr="Icon&#10;&#10;Description automatically generated">
            <a:extLst>
              <a:ext uri="{FF2B5EF4-FFF2-40B4-BE49-F238E27FC236}">
                <a16:creationId xmlns:a16="http://schemas.microsoft.com/office/drawing/2014/main" xmlns="" id="{92FE31B4-E7DB-CB45-B2A4-97BAA78E31BB}"/>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950367" y="2819599"/>
            <a:ext cx="539750" cy="539750"/>
          </a:xfrm>
          <a:prstGeom prst="rect">
            <a:avLst/>
          </a:prstGeom>
          <a:effectLst>
            <a:outerShdw blurRad="50800" dist="38100" dir="2700000" algn="tl" rotWithShape="0">
              <a:prstClr val="black">
                <a:alpha val="40000"/>
              </a:prstClr>
            </a:outerShdw>
          </a:effectLst>
        </p:spPr>
      </p:pic>
      <p:sp>
        <p:nvSpPr>
          <p:cNvPr id="11" name="Google Shape;282;g104476d1465_1_17"/>
          <p:cNvSpPr txBox="1"/>
          <p:nvPr/>
        </p:nvSpPr>
        <p:spPr>
          <a:xfrm>
            <a:off x="8720469"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234</a:t>
            </a:r>
            <a:endParaRPr i="1" dirty="0">
              <a:latin typeface="Calibri"/>
              <a:ea typeface="Calibri"/>
              <a:cs typeface="Calibri"/>
              <a:sym typeface="Calibri"/>
            </a:endParaRPr>
          </a:p>
        </p:txBody>
      </p:sp>
      <p:pic>
        <p:nvPicPr>
          <p:cNvPr id="16"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58695"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7239305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xmlns="" id="{2FA392D8-3ED3-7940-83A8-1451AA8A08D4}"/>
                  </a:ext>
                </a:extLst>
              </p:cNvPr>
              <p:cNvSpPr txBox="1"/>
              <p:nvPr/>
            </p:nvSpPr>
            <p:spPr>
              <a:xfrm>
                <a:off x="1023582" y="520393"/>
                <a:ext cx="10295502" cy="5847755"/>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Complete the statements using the definitions of base and exponent.</a:t>
                </a:r>
              </a:p>
              <a:p>
                <a:pPr marL="914400" indent="-457200">
                  <a:lnSpc>
                    <a:spcPct val="250000"/>
                  </a:lnSpc>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In the exponential expression </a:t>
                </a:r>
                <a14:m>
                  <m:oMath xmlns:m="http://schemas.openxmlformats.org/officeDocument/2006/math">
                    <m:sSup>
                      <m:sSupPr>
                        <m:ctrlPr>
                          <a:rPr lang="en-US" sz="2000" i="1">
                            <a:latin typeface="Cambria Math" charset="0"/>
                          </a:rPr>
                        </m:ctrlPr>
                      </m:sSupPr>
                      <m:e>
                        <m:r>
                          <a:rPr lang="en-US" sz="2000" i="1">
                            <a:latin typeface="Cambria Math" panose="02040503050406030204" pitchFamily="18" charset="0"/>
                          </a:rPr>
                          <m:t>9</m:t>
                        </m:r>
                      </m:e>
                      <m:sup>
                        <m:r>
                          <a:rPr lang="en-US" sz="2000" i="1">
                            <a:latin typeface="Cambria Math" panose="02040503050406030204" pitchFamily="18" charset="0"/>
                          </a:rPr>
                          <m:t>3</m:t>
                        </m:r>
                      </m:sup>
                    </m:sSup>
                  </m:oMath>
                </a14:m>
                <a:r>
                  <a:rPr lang="en-US" sz="2000" dirty="0">
                    <a:latin typeface="Verdana" panose="020B0604030504040204" pitchFamily="34" charset="0"/>
                    <a:ea typeface="Verdana" panose="020B0604030504040204" pitchFamily="34" charset="0"/>
                    <a:cs typeface="Verdana" panose="020B0604030504040204" pitchFamily="34" charset="0"/>
                  </a:rPr>
                  <a:t>, the </a:t>
                </a:r>
                <a14:m>
                  <m:oMath xmlns:m="http://schemas.openxmlformats.org/officeDocument/2006/math">
                    <m:r>
                      <a:rPr lang="en-US" sz="2000" i="1">
                        <a:latin typeface="Cambria Math" panose="02040503050406030204" pitchFamily="18" charset="0"/>
                      </a:rPr>
                      <m:t>9</m:t>
                    </m:r>
                  </m:oMath>
                </a14:m>
                <a:r>
                  <a:rPr lang="en-US" sz="2000" dirty="0">
                    <a:latin typeface="Verdana" panose="020B0604030504040204" pitchFamily="34" charset="0"/>
                    <a:ea typeface="Verdana" panose="020B0604030504040204" pitchFamily="34" charset="0"/>
                    <a:cs typeface="Verdana" panose="020B0604030504040204" pitchFamily="34" charset="0"/>
                  </a:rPr>
                  <a:t> is the</a:t>
                </a:r>
              </a:p>
              <a:p>
                <a:pPr marL="914400">
                  <a:lnSpc>
                    <a:spcPct val="250000"/>
                  </a:lnSpc>
                </a:pPr>
                <a:r>
                  <a:rPr lang="en-US" sz="2000" dirty="0">
                    <a:latin typeface="Verdana" panose="020B0604030504040204" pitchFamily="34" charset="0"/>
                    <a:ea typeface="Verdana" panose="020B0604030504040204" pitchFamily="34" charset="0"/>
                    <a:cs typeface="Verdana" panose="020B0604030504040204" pitchFamily="34" charset="0"/>
                  </a:rPr>
                  <a:t>of the expression and the </a:t>
                </a:r>
                <a14:m>
                  <m:oMath xmlns:m="http://schemas.openxmlformats.org/officeDocument/2006/math">
                    <m:r>
                      <a:rPr lang="en-US" sz="2000" i="1">
                        <a:latin typeface="Cambria Math" panose="02040503050406030204" pitchFamily="18" charset="0"/>
                      </a:rPr>
                      <m:t>3</m:t>
                    </m:r>
                  </m:oMath>
                </a14:m>
                <a:r>
                  <a:rPr lang="en-US" sz="2000" dirty="0">
                    <a:latin typeface="Verdana" panose="020B0604030504040204" pitchFamily="34" charset="0"/>
                    <a:ea typeface="Verdana" panose="020B0604030504040204" pitchFamily="34" charset="0"/>
                    <a:cs typeface="Verdana" panose="020B0604030504040204" pitchFamily="34" charset="0"/>
                  </a:rPr>
                  <a:t> is the </a:t>
                </a:r>
              </a:p>
              <a:p>
                <a:r>
                  <a:rPr lang="en-US" sz="2000" dirty="0">
                    <a:latin typeface="Verdana" panose="020B0604030504040204" pitchFamily="34" charset="0"/>
                    <a:ea typeface="Verdana" panose="020B0604030504040204" pitchFamily="34" charset="0"/>
                    <a:cs typeface="Verdana" panose="020B0604030504040204" pitchFamily="34" charset="0"/>
                  </a:rPr>
                  <a:t>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dirty="0"/>
              </a:p>
              <a:p>
                <a:pPr marL="914400" indent="-50165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The exponential expression </a:t>
                </a:r>
                <a14:m>
                  <m:oMath xmlns:m="http://schemas.openxmlformats.org/officeDocument/2006/math">
                    <m:sSup>
                      <m:sSupPr>
                        <m:ctrlPr>
                          <a:rPr lang="en-US" sz="2000" i="1">
                            <a:latin typeface="Cambria Math" charset="0"/>
                          </a:rPr>
                        </m:ctrlPr>
                      </m:sSupPr>
                      <m:e>
                        <m:r>
                          <a:rPr lang="en-US" sz="2000" i="1">
                            <a:latin typeface="Cambria Math" panose="02040503050406030204" pitchFamily="18" charset="0"/>
                          </a:rPr>
                          <m:t>9</m:t>
                        </m:r>
                      </m:e>
                      <m:sup>
                        <m:r>
                          <a:rPr lang="en-US" sz="2000" i="1">
                            <a:latin typeface="Cambria Math" panose="02040503050406030204" pitchFamily="18" charset="0"/>
                          </a:rPr>
                          <m:t>3</m:t>
                        </m:r>
                      </m:sup>
                    </m:sSup>
                  </m:oMath>
                </a14:m>
                <a:r>
                  <a:rPr lang="en-US" sz="2000" dirty="0">
                    <a:latin typeface="Verdana" panose="020B0604030504040204" pitchFamily="34" charset="0"/>
                    <a:ea typeface="Verdana" panose="020B0604030504040204" pitchFamily="34" charset="0"/>
                    <a:cs typeface="Verdana" panose="020B0604030504040204" pitchFamily="34" charset="0"/>
                  </a:rPr>
                  <a:t> has the same value as</a:t>
                </a:r>
              </a:p>
              <a:p>
                <a:pPr marL="914400" indent="-50165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50165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50165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50165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50165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50165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50165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50165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Evaluate </a:t>
                </a:r>
                <a14:m>
                  <m:oMath xmlns:m="http://schemas.openxmlformats.org/officeDocument/2006/math">
                    <m:sSup>
                      <m:sSupPr>
                        <m:ctrlPr>
                          <a:rPr lang="en-US" sz="2000" i="1">
                            <a:latin typeface="Cambria Math" charset="0"/>
                          </a:rPr>
                        </m:ctrlPr>
                      </m:sSupPr>
                      <m:e>
                        <m:r>
                          <a:rPr lang="en-US" sz="2000" i="1">
                            <a:latin typeface="Cambria Math" panose="02040503050406030204" pitchFamily="18" charset="0"/>
                          </a:rPr>
                          <m:t>9</m:t>
                        </m:r>
                      </m:e>
                      <m:sup>
                        <m:r>
                          <a:rPr lang="en-US" sz="2000" i="1">
                            <a:latin typeface="Cambria Math" panose="02040503050406030204" pitchFamily="18" charset="0"/>
                          </a:rPr>
                          <m:t>3</m:t>
                        </m:r>
                      </m:sup>
                    </m:sSup>
                    <m:r>
                      <a:rPr lang="en-US" sz="2000">
                        <a:latin typeface="Cambria Math" panose="02040503050406030204" pitchFamily="18" charset="0"/>
                      </a:rPr>
                      <m:t>.</m:t>
                    </m:r>
                  </m:oMath>
                </a14:m>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1023582" y="520393"/>
                <a:ext cx="10295502" cy="5847755"/>
              </a:xfrm>
              <a:prstGeom prst="rect">
                <a:avLst/>
              </a:prstGeom>
              <a:blipFill rotWithShape="0">
                <a:blip r:embed="rId3"/>
                <a:stretch>
                  <a:fillRect l="-651" t="-625" b="-938"/>
                </a:stretch>
              </a:blipFill>
            </p:spPr>
            <p:txBody>
              <a:bodyPr/>
              <a:lstStyle/>
              <a:p>
                <a:r>
                  <a:rPr lang="en-US">
                    <a:noFill/>
                  </a:rPr>
                  <a:t> </a:t>
                </a:r>
              </a:p>
            </p:txBody>
          </p:sp>
        </mc:Fallback>
      </mc:AlternateContent>
      <p:sp>
        <p:nvSpPr>
          <p:cNvPr id="6" name="Rectangle: Rounded Corners 13">
            <a:extLst>
              <a:ext uri="{FF2B5EF4-FFF2-40B4-BE49-F238E27FC236}">
                <a16:creationId xmlns:a16="http://schemas.microsoft.com/office/drawing/2014/main" xmlns="" id="{E23AD2F0-1558-9C48-91D6-CC13E6F3321D}"/>
              </a:ext>
            </a:extLst>
          </p:cNvPr>
          <p:cNvSpPr/>
          <p:nvPr/>
        </p:nvSpPr>
        <p:spPr>
          <a:xfrm>
            <a:off x="7964964" y="936906"/>
            <a:ext cx="1748427" cy="833557"/>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228600" indent="-285750">
              <a:lnSpc>
                <a:spcPct val="115000"/>
              </a:lnSpc>
              <a:buFont typeface="Courier New" panose="02070309020205020404" pitchFamily="49" charset="0"/>
              <a:buChar char="o"/>
            </a:pPr>
            <a:r>
              <a:rPr lang="en-US" sz="2000" dirty="0">
                <a:solidFill>
                  <a:srgbClr val="000000"/>
                </a:solidFill>
                <a:latin typeface="Verdana" panose="020B0604030504040204" pitchFamily="34" charset="0"/>
                <a:ea typeface="Times New Roman" panose="02020603050405020304" pitchFamily="18" charset="0"/>
                <a:cs typeface="Times New Roman" panose="02020603050405020304" pitchFamily="18" charset="0"/>
              </a:rPr>
              <a:t>base</a:t>
            </a:r>
            <a:endParaRPr lang="en-US" sz="2000" dirty="0">
              <a:ea typeface="Times New Roman" panose="02020603050405020304" pitchFamily="18" charset="0"/>
              <a:cs typeface="Times New Roman" panose="02020603050405020304" pitchFamily="18" charset="0"/>
            </a:endParaRPr>
          </a:p>
          <a:p>
            <a:pPr marL="228600" indent="-285750">
              <a:lnSpc>
                <a:spcPct val="115000"/>
              </a:lnSpc>
              <a:buFont typeface="Courier New" panose="02070309020205020404" pitchFamily="49" charset="0"/>
              <a:buChar char="o"/>
            </a:pPr>
            <a:r>
              <a:rPr lang="en-US" sz="2000" dirty="0">
                <a:solidFill>
                  <a:srgbClr val="000000"/>
                </a:solidFill>
                <a:latin typeface="Verdana" panose="020B0604030504040204" pitchFamily="34" charset="0"/>
                <a:ea typeface="Times New Roman" panose="02020603050405020304" pitchFamily="18" charset="0"/>
                <a:cs typeface="Times New Roman" panose="02020603050405020304" pitchFamily="18" charset="0"/>
              </a:rPr>
              <a:t>exponent</a:t>
            </a:r>
            <a:endParaRPr lang="en-US" sz="2000" dirty="0">
              <a:ea typeface="Times New Roman" panose="02020603050405020304" pitchFamily="18" charset="0"/>
              <a:cs typeface="Times New Roman" panose="02020603050405020304" pitchFamily="18" charset="0"/>
            </a:endParaRPr>
          </a:p>
        </p:txBody>
      </p:sp>
      <p:sp>
        <p:nvSpPr>
          <p:cNvPr id="7" name="Rectangle: Rounded Corners 13">
            <a:extLst>
              <a:ext uri="{FF2B5EF4-FFF2-40B4-BE49-F238E27FC236}">
                <a16:creationId xmlns:a16="http://schemas.microsoft.com/office/drawing/2014/main" xmlns="" id="{1BCD8F28-1EDB-A243-97C3-7EBBA7D1DEDA}"/>
              </a:ext>
            </a:extLst>
          </p:cNvPr>
          <p:cNvSpPr/>
          <p:nvPr/>
        </p:nvSpPr>
        <p:spPr>
          <a:xfrm>
            <a:off x="6444223" y="1852351"/>
            <a:ext cx="1887043" cy="833557"/>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228600" indent="-285750">
              <a:lnSpc>
                <a:spcPct val="115000"/>
              </a:lnSpc>
              <a:buFont typeface="Courier New" panose="02070309020205020404" pitchFamily="49" charset="0"/>
              <a:buChar char="o"/>
            </a:pPr>
            <a:r>
              <a:rPr lang="en-US" sz="2000" dirty="0">
                <a:solidFill>
                  <a:srgbClr val="000000"/>
                </a:solidFill>
                <a:latin typeface="Verdana" panose="020B0604030504040204" pitchFamily="34" charset="0"/>
                <a:ea typeface="Times New Roman" panose="02020603050405020304" pitchFamily="18" charset="0"/>
                <a:cs typeface="Times New Roman" panose="02020603050405020304" pitchFamily="18" charset="0"/>
              </a:rPr>
              <a:t>base.</a:t>
            </a:r>
            <a:endParaRPr lang="en-US" sz="2000" dirty="0">
              <a:ea typeface="Times New Roman" panose="02020603050405020304" pitchFamily="18" charset="0"/>
              <a:cs typeface="Times New Roman" panose="02020603050405020304" pitchFamily="18" charset="0"/>
            </a:endParaRPr>
          </a:p>
          <a:p>
            <a:pPr marL="228600" indent="-285750">
              <a:lnSpc>
                <a:spcPct val="115000"/>
              </a:lnSpc>
              <a:buFont typeface="Courier New" panose="02070309020205020404" pitchFamily="49" charset="0"/>
              <a:buChar char="o"/>
            </a:pPr>
            <a:r>
              <a:rPr lang="en-US" sz="2000" dirty="0">
                <a:solidFill>
                  <a:srgbClr val="000000"/>
                </a:solidFill>
                <a:latin typeface="Verdana" panose="020B0604030504040204" pitchFamily="34" charset="0"/>
                <a:ea typeface="Times New Roman" panose="02020603050405020304" pitchFamily="18" charset="0"/>
                <a:cs typeface="Times New Roman" panose="02020603050405020304" pitchFamily="18" charset="0"/>
              </a:rPr>
              <a:t>exponent.</a:t>
            </a:r>
            <a:endParaRPr lang="en-US" sz="2000" dirty="0">
              <a:ea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1" name="Rectangle: Rounded Corners 14">
                <a:extLst>
                  <a:ext uri="{FF2B5EF4-FFF2-40B4-BE49-F238E27FC236}">
                    <a16:creationId xmlns:a16="http://schemas.microsoft.com/office/drawing/2014/main" xmlns="" id="{8771E22E-1086-1A45-B138-A5E1007E943D}"/>
                  </a:ext>
                </a:extLst>
              </p:cNvPr>
              <p:cNvSpPr/>
              <p:nvPr/>
            </p:nvSpPr>
            <p:spPr>
              <a:xfrm>
                <a:off x="3009055" y="3674437"/>
                <a:ext cx="2987040" cy="1127538"/>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171450" indent="-228600">
                  <a:lnSpc>
                    <a:spcPct val="115000"/>
                  </a:lnSpc>
                </a:pPr>
                <a14:m>
                  <m:oMath xmlns:m="http://schemas.openxmlformats.org/officeDocument/2006/math">
                    <m:r>
                      <a:rPr lang="en-US" sz="18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3∙3∙3∙3∙3∙3∙3∙3∙3</m:t>
                    </m:r>
                  </m:oMath>
                </a14:m>
                <a:r>
                  <a:rPr lang="en-US" sz="1800" dirty="0">
                    <a:solidFill>
                      <a:srgbClr val="000000"/>
                    </a:solidFill>
                    <a:latin typeface="Verdana" panose="020B0604030504040204" pitchFamily="34" charset="0"/>
                    <a:ea typeface="Times New Roman" panose="02020603050405020304" pitchFamily="18" charset="0"/>
                    <a:cs typeface="Times New Roman" panose="02020603050405020304" pitchFamily="18" charset="0"/>
                  </a:rPr>
                  <a:t>.</a:t>
                </a:r>
                <a:endParaRPr lang="en-US" sz="1100" dirty="0">
                  <a:ea typeface="Times New Roman" panose="02020603050405020304" pitchFamily="18" charset="0"/>
                  <a:cs typeface="Times New Roman" panose="02020603050405020304" pitchFamily="18" charset="0"/>
                </a:endParaRPr>
              </a:p>
              <a:p>
                <a:pPr marL="171450" indent="-228600">
                  <a:lnSpc>
                    <a:spcPct val="115000"/>
                  </a:lnSpc>
                </a:pPr>
                <a14:m>
                  <m:oMath xmlns:m="http://schemas.openxmlformats.org/officeDocument/2006/math">
                    <m:r>
                      <a:rPr lang="en-US" sz="18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9(3)</m:t>
                    </m:r>
                  </m:oMath>
                </a14:m>
                <a:r>
                  <a:rPr lang="en-US" sz="1800" dirty="0">
                    <a:solidFill>
                      <a:srgbClr val="000000"/>
                    </a:solidFill>
                    <a:latin typeface="Verdana" panose="020B0604030504040204" pitchFamily="34" charset="0"/>
                    <a:ea typeface="Times New Roman" panose="02020603050405020304" pitchFamily="18" charset="0"/>
                    <a:cs typeface="Times New Roman" panose="02020603050405020304" pitchFamily="18" charset="0"/>
                  </a:rPr>
                  <a:t>.</a:t>
                </a:r>
                <a:endParaRPr lang="en-US" sz="1100" dirty="0">
                  <a:ea typeface="Times New Roman" panose="02020603050405020304" pitchFamily="18" charset="0"/>
                  <a:cs typeface="Times New Roman" panose="02020603050405020304" pitchFamily="18" charset="0"/>
                </a:endParaRPr>
              </a:p>
              <a:p>
                <a:pPr marL="171450" indent="-228600">
                  <a:lnSpc>
                    <a:spcPct val="115000"/>
                  </a:lnSpc>
                </a:pPr>
                <a14:m>
                  <m:oMath xmlns:m="http://schemas.openxmlformats.org/officeDocument/2006/math">
                    <m:d>
                      <m:dPr>
                        <m:ctrlPr>
                          <a:rPr lang="en-US" sz="1800" i="1">
                            <a:solidFill>
                              <a:srgbClr val="000000"/>
                            </a:solidFill>
                            <a:latin typeface="Cambria Math" charset="0"/>
                            <a:ea typeface="Times New Roman" panose="02020603050405020304" pitchFamily="18" charset="0"/>
                            <a:cs typeface="Times New Roman" panose="02020603050405020304" pitchFamily="18" charset="0"/>
                          </a:rPr>
                        </m:ctrlPr>
                      </m:dPr>
                      <m:e>
                        <m:r>
                          <a:rPr lang="en-US" sz="18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9</m:t>
                        </m:r>
                      </m:e>
                    </m:d>
                    <m:d>
                      <m:dPr>
                        <m:ctrlPr>
                          <a:rPr lang="en-US" sz="1800" i="1">
                            <a:solidFill>
                              <a:srgbClr val="000000"/>
                            </a:solidFill>
                            <a:latin typeface="Cambria Math" charset="0"/>
                            <a:ea typeface="Times New Roman" panose="02020603050405020304" pitchFamily="18" charset="0"/>
                            <a:cs typeface="Times New Roman" panose="02020603050405020304" pitchFamily="18" charset="0"/>
                          </a:rPr>
                        </m:ctrlPr>
                      </m:dPr>
                      <m:e>
                        <m:r>
                          <a:rPr lang="en-US" sz="18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9</m:t>
                        </m:r>
                      </m:e>
                    </m:d>
                    <m:d>
                      <m:dPr>
                        <m:ctrlPr>
                          <a:rPr lang="en-US" sz="1800" i="1">
                            <a:solidFill>
                              <a:srgbClr val="000000"/>
                            </a:solidFill>
                            <a:latin typeface="Cambria Math" charset="0"/>
                            <a:ea typeface="Times New Roman" panose="02020603050405020304" pitchFamily="18" charset="0"/>
                            <a:cs typeface="Times New Roman" panose="02020603050405020304" pitchFamily="18" charset="0"/>
                          </a:rPr>
                        </m:ctrlPr>
                      </m:dPr>
                      <m:e>
                        <m:r>
                          <a:rPr lang="en-US" sz="18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9</m:t>
                        </m:r>
                      </m:e>
                    </m:d>
                    <m:r>
                      <a:rPr lang="en-US" sz="180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oMath>
                </a14:m>
                <a:r>
                  <a:rPr lang="en-US" sz="1100" dirty="0">
                    <a:ea typeface="Times New Roman" panose="02020603050405020304" pitchFamily="18" charset="0"/>
                    <a:cs typeface="Times New Roman" panose="02020603050405020304" pitchFamily="18" charset="0"/>
                  </a:rPr>
                  <a:t> </a:t>
                </a:r>
              </a:p>
            </p:txBody>
          </p:sp>
        </mc:Choice>
        <mc:Fallback xmlns="">
          <p:sp>
            <p:nvSpPr>
              <p:cNvPr id="11" name="Rectangle: Rounded Corners 14">
                <a:extLst>
                  <a:ext uri="{FF2B5EF4-FFF2-40B4-BE49-F238E27FC236}">
                    <a16:creationId xmlns:a16="http://schemas.microsoft.com/office/drawing/2014/main" id="{8771E22E-1086-1A45-B138-A5E1007E943D}"/>
                  </a:ext>
                </a:extLst>
              </p:cNvPr>
              <p:cNvSpPr>
                <a:spLocks noRot="1" noChangeAspect="1" noMove="1" noResize="1" noEditPoints="1" noAdjustHandles="1" noChangeArrowheads="1" noChangeShapeType="1" noTextEdit="1"/>
              </p:cNvSpPr>
              <p:nvPr/>
            </p:nvSpPr>
            <p:spPr>
              <a:xfrm>
                <a:off x="1485055" y="3674437"/>
                <a:ext cx="2987040" cy="1127538"/>
              </a:xfrm>
              <a:prstGeom prst="roundRect">
                <a:avLst/>
              </a:prstGeom>
              <a:blipFill>
                <a:blip r:embed="rId5"/>
                <a:stretch>
                  <a:fillRect/>
                </a:stretch>
              </a:blipFill>
              <a:ln>
                <a:solidFill>
                  <a:schemeClr val="tx1"/>
                </a:solidFill>
              </a:ln>
            </p:spPr>
            <p:txBody>
              <a:bodyPr/>
              <a:lstStyle/>
              <a:p>
                <a:r>
                  <a:rPr lang="en-US">
                    <a:noFill/>
                  </a:rPr>
                  <a:t> </a:t>
                </a:r>
              </a:p>
            </p:txBody>
          </p:sp>
        </mc:Fallback>
      </mc:AlternateContent>
      <p:sp>
        <p:nvSpPr>
          <p:cNvPr id="13" name="Text Box 40">
            <a:extLst>
              <a:ext uri="{FF2B5EF4-FFF2-40B4-BE49-F238E27FC236}">
                <a16:creationId xmlns:a16="http://schemas.microsoft.com/office/drawing/2014/main" xmlns="" id="{A6D7E347-2546-9D41-8F80-5E37F6913897}"/>
              </a:ext>
            </a:extLst>
          </p:cNvPr>
          <p:cNvSpPr txBox="1"/>
          <p:nvPr/>
        </p:nvSpPr>
        <p:spPr>
          <a:xfrm>
            <a:off x="2553545" y="5029691"/>
            <a:ext cx="7781356" cy="786130"/>
          </a:xfrm>
          <a:prstGeom prst="roundRect">
            <a:avLst/>
          </a:prstGeom>
          <a:solidFill>
            <a:srgbClr val="B8E6F5"/>
          </a:solidFill>
          <a:ln>
            <a:noFill/>
          </a:ln>
          <a:effectLst>
            <a:outerShdw blurRad="50800" dist="38100" dir="2700000" algn="tl" rotWithShape="0">
              <a:prstClr val="black">
                <a:alpha val="40000"/>
              </a:prstClr>
            </a:outerShdw>
          </a:effectLst>
        </p:spPr>
        <p:style>
          <a:lnRef idx="3">
            <a:schemeClr val="lt1"/>
          </a:lnRef>
          <a:fillRef idx="1">
            <a:schemeClr val="accent5"/>
          </a:fillRef>
          <a:effectRef idx="1">
            <a:schemeClr val="accent5"/>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742950">
              <a:lnSpc>
                <a:spcPct val="107000"/>
              </a:lnSpc>
              <a:spcAft>
                <a:spcPts val="800"/>
              </a:spcAft>
            </a:pPr>
            <a:r>
              <a:rPr lang="en-US" sz="2000" dirty="0">
                <a:solidFill>
                  <a:srgbClr val="0075BF"/>
                </a:solidFill>
                <a:latin typeface="Verdana" panose="020B0604030504040204" pitchFamily="34" charset="0"/>
                <a:ea typeface="Times New Roman" panose="02020603050405020304" pitchFamily="18" charset="0"/>
                <a:cs typeface="Times New Roman" panose="02020603050405020304" pitchFamily="18" charset="0"/>
              </a:rPr>
              <a:t>In mathematics, </a:t>
            </a:r>
            <a:r>
              <a:rPr lang="en-US" sz="2000" b="1" dirty="0">
                <a:solidFill>
                  <a:srgbClr val="0075BF"/>
                </a:solidFill>
                <a:latin typeface="Verdana" panose="020B0604030504040204" pitchFamily="34" charset="0"/>
                <a:ea typeface="Times New Roman" panose="02020603050405020304" pitchFamily="18" charset="0"/>
                <a:cs typeface="Times New Roman" panose="02020603050405020304" pitchFamily="18" charset="0"/>
              </a:rPr>
              <a:t>evaluate</a:t>
            </a:r>
            <a:r>
              <a:rPr lang="en-US" sz="2000" dirty="0">
                <a:solidFill>
                  <a:srgbClr val="0075BF"/>
                </a:solidFill>
                <a:latin typeface="Verdana" panose="020B0604030504040204" pitchFamily="34" charset="0"/>
                <a:ea typeface="Times New Roman" panose="02020603050405020304" pitchFamily="18" charset="0"/>
                <a:cs typeface="Times New Roman" panose="02020603050405020304" pitchFamily="18" charset="0"/>
              </a:rPr>
              <a:t> is an instruction that means “find the value of.”</a:t>
            </a:r>
            <a:endParaRPr lang="en-US" sz="2000" dirty="0">
              <a:ea typeface="Times New Roman" panose="02020603050405020304" pitchFamily="18" charset="0"/>
              <a:cs typeface="Times New Roman" panose="02020603050405020304" pitchFamily="18" charset="0"/>
            </a:endParaRPr>
          </a:p>
        </p:txBody>
      </p:sp>
      <p:pic>
        <p:nvPicPr>
          <p:cNvPr id="15" name="Picture 14" descr="Icon&#10;&#10;Description automatically generated">
            <a:extLst>
              <a:ext uri="{FF2B5EF4-FFF2-40B4-BE49-F238E27FC236}">
                <a16:creationId xmlns:a16="http://schemas.microsoft.com/office/drawing/2014/main" xmlns="" id="{CE8C5BE2-2996-3049-B97E-60C8369BB0FE}"/>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2739180" y="5152881"/>
            <a:ext cx="539750" cy="539750"/>
          </a:xfrm>
          <a:prstGeom prst="rect">
            <a:avLst/>
          </a:prstGeom>
          <a:effectLst>
            <a:outerShdw blurRad="50800" dist="38100" dir="2700000" algn="tl" rotWithShape="0">
              <a:prstClr val="black">
                <a:alpha val="40000"/>
              </a:prstClr>
            </a:outerShdw>
          </a:effectLst>
        </p:spPr>
      </p:pic>
      <p:sp>
        <p:nvSpPr>
          <p:cNvPr id="16" name="Google Shape;282;g104476d1465_1_17"/>
          <p:cNvSpPr txBox="1"/>
          <p:nvPr/>
        </p:nvSpPr>
        <p:spPr>
          <a:xfrm>
            <a:off x="8720469"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234</a:t>
            </a:r>
            <a:endParaRPr i="1" dirty="0">
              <a:latin typeface="Calibri"/>
              <a:ea typeface="Calibri"/>
              <a:cs typeface="Calibri"/>
              <a:sym typeface="Calibri"/>
            </a:endParaRPr>
          </a:p>
        </p:txBody>
      </p:sp>
      <p:pic>
        <p:nvPicPr>
          <p:cNvPr id="17" name="Google Shape;283;g104476d1465_1_17"/>
          <p:cNvPicPr preferRelativeResize="0"/>
          <p:nvPr/>
        </p:nvPicPr>
        <p:blipFill>
          <a:blip r:embed="rId7" cstate="screen">
            <a:alphaModFix/>
            <a:extLst>
              <a:ext uri="{28A0092B-C50C-407E-A947-70E740481C1C}">
                <a14:useLocalDpi xmlns:a14="http://schemas.microsoft.com/office/drawing/2010/main"/>
              </a:ext>
            </a:extLst>
          </a:blip>
          <a:stretch>
            <a:fillRect/>
          </a:stretch>
        </p:blipFill>
        <p:spPr>
          <a:xfrm>
            <a:off x="11458695"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8657310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25955"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pic>
        <p:nvPicPr>
          <p:cNvPr id="9218" name="Picture 2" descr="Icon&#10;&#10;Description automatically generated">
            <a:extLst>
              <a:ext uri="{FF2B5EF4-FFF2-40B4-BE49-F238E27FC236}">
                <a16:creationId xmlns:a16="http://schemas.microsoft.com/office/drawing/2014/main" xmlns="" id="{B02E8C6A-53AD-AA4E-A4ED-406F3B0E3707}"/>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51272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p:cNvSpPr txBox="1"/>
          <p:nvPr/>
        </p:nvSpPr>
        <p:spPr>
          <a:xfrm>
            <a:off x="8720469"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235</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58695"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930146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264256" y="0"/>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6.1.3 Guided Practice: Equivalent Expressions</a:t>
            </a:r>
          </a:p>
        </p:txBody>
      </p:sp>
      <p:pic>
        <p:nvPicPr>
          <p:cNvPr id="8" name="Picture 2" descr="Icon&#10;&#10;Description automatically generated">
            <a:extLst>
              <a:ext uri="{FF2B5EF4-FFF2-40B4-BE49-F238E27FC236}">
                <a16:creationId xmlns:a16="http://schemas.microsoft.com/office/drawing/2014/main" xmlns="" id="{B3C42596-1BDF-794D-A82A-7C54635CB81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514448" y="247914"/>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xmlns="" id="{31D40250-DEDD-2C41-8538-3D4DD18CCC4A}"/>
                  </a:ext>
                </a:extLst>
              </p:cNvPr>
              <p:cNvSpPr txBox="1"/>
              <p:nvPr/>
            </p:nvSpPr>
            <p:spPr>
              <a:xfrm>
                <a:off x="1264256" y="1386025"/>
                <a:ext cx="9919520" cy="3630738"/>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Write each numeric expression in exponential form.</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buFont typeface="+mj-lt"/>
                  <a:buAutoNum type="alphaLcPeriod"/>
                </a:pPr>
                <a:r>
                  <a:rPr lang="en-US" sz="2000" dirty="0">
                    <a:latin typeface="Verdana" panose="020B0604030504040204" pitchFamily="34" charset="0"/>
                    <a:ea typeface="Verdana" panose="020B0604030504040204" pitchFamily="34" charset="0"/>
                  </a:rPr>
                  <a:t> </a:t>
                </a:r>
                <a14:m>
                  <m:oMath xmlns:m="http://schemas.openxmlformats.org/officeDocument/2006/math">
                    <m:r>
                      <a:rPr lang="en-US" sz="2000">
                        <a:latin typeface="Cambria Math" panose="02040503050406030204" pitchFamily="18" charset="0"/>
                      </a:rPr>
                      <m:t> 5 ∙  5  ∙  5  ∙  5</m:t>
                    </m:r>
                  </m:oMath>
                </a14:m>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buFont typeface="+mj-lt"/>
                  <a:buAutoNum type="alphaLcPeriod" startAt="2"/>
                </a:pPr>
                <a:r>
                  <a:rPr lang="en-US" sz="2000" dirty="0">
                    <a:latin typeface="Verdana" panose="020B0604030504040204" pitchFamily="34" charset="0"/>
                    <a:ea typeface="Verdana" panose="020B0604030504040204" pitchFamily="34" charset="0"/>
                  </a:rPr>
                  <a:t> </a:t>
                </a:r>
                <a14:m>
                  <m:oMath xmlns:m="http://schemas.openxmlformats.org/officeDocument/2006/math">
                    <m:d>
                      <m:dPr>
                        <m:ctrlPr>
                          <a:rPr lang="en-US" sz="2000" i="1">
                            <a:latin typeface="Cambria Math" charset="0"/>
                          </a:rPr>
                        </m:ctrlPr>
                      </m:dPr>
                      <m:e>
                        <m:f>
                          <m:fPr>
                            <m:ctrlPr>
                              <a:rPr lang="en-US" sz="2000" i="1">
                                <a:latin typeface="Cambria Math" charset="0"/>
                              </a:rPr>
                            </m:ctrlPr>
                          </m:fPr>
                          <m:num>
                            <m:r>
                              <a:rPr lang="en-US" sz="2000">
                                <a:latin typeface="Cambria Math" panose="02040503050406030204" pitchFamily="18" charset="0"/>
                              </a:rPr>
                              <m:t>6</m:t>
                            </m:r>
                          </m:num>
                          <m:den>
                            <m:r>
                              <a:rPr lang="en-US" sz="2000">
                                <a:latin typeface="Cambria Math" panose="02040503050406030204" pitchFamily="18" charset="0"/>
                              </a:rPr>
                              <m:t>7</m:t>
                            </m:r>
                          </m:den>
                        </m:f>
                      </m:e>
                    </m:d>
                    <m:r>
                      <a:rPr lang="en-US" sz="2000">
                        <a:latin typeface="Cambria Math" panose="02040503050406030204" pitchFamily="18" charset="0"/>
                      </a:rPr>
                      <m:t> ×</m:t>
                    </m:r>
                    <m:d>
                      <m:dPr>
                        <m:ctrlPr>
                          <a:rPr lang="en-US" sz="2000" i="1">
                            <a:latin typeface="Cambria Math" charset="0"/>
                          </a:rPr>
                        </m:ctrlPr>
                      </m:dPr>
                      <m:e>
                        <m:f>
                          <m:fPr>
                            <m:ctrlPr>
                              <a:rPr lang="en-US" sz="2000" i="1">
                                <a:latin typeface="Cambria Math" charset="0"/>
                              </a:rPr>
                            </m:ctrlPr>
                          </m:fPr>
                          <m:num>
                            <m:r>
                              <a:rPr lang="en-US" sz="2000">
                                <a:latin typeface="Cambria Math" panose="02040503050406030204" pitchFamily="18" charset="0"/>
                              </a:rPr>
                              <m:t>6</m:t>
                            </m:r>
                          </m:num>
                          <m:den>
                            <m:r>
                              <a:rPr lang="en-US" sz="2000">
                                <a:latin typeface="Cambria Math" panose="02040503050406030204" pitchFamily="18" charset="0"/>
                              </a:rPr>
                              <m:t>7</m:t>
                            </m:r>
                          </m:den>
                        </m:f>
                      </m:e>
                    </m:d>
                    <m:r>
                      <a:rPr lang="en-US" sz="2000">
                        <a:latin typeface="Cambria Math" panose="02040503050406030204" pitchFamily="18" charset="0"/>
                      </a:rPr>
                      <m:t> × </m:t>
                    </m:r>
                    <m:d>
                      <m:dPr>
                        <m:ctrlPr>
                          <a:rPr lang="en-US" sz="2000" i="1">
                            <a:latin typeface="Cambria Math" charset="0"/>
                          </a:rPr>
                        </m:ctrlPr>
                      </m:dPr>
                      <m:e>
                        <m:f>
                          <m:fPr>
                            <m:ctrlPr>
                              <a:rPr lang="en-US" sz="2000" i="1">
                                <a:latin typeface="Cambria Math" charset="0"/>
                              </a:rPr>
                            </m:ctrlPr>
                          </m:fPr>
                          <m:num>
                            <m:r>
                              <a:rPr lang="en-US" sz="2000">
                                <a:latin typeface="Cambria Math" panose="02040503050406030204" pitchFamily="18" charset="0"/>
                              </a:rPr>
                              <m:t>6</m:t>
                            </m:r>
                          </m:num>
                          <m:den>
                            <m:r>
                              <a:rPr lang="en-US" sz="2000">
                                <a:latin typeface="Cambria Math" panose="02040503050406030204" pitchFamily="18" charset="0"/>
                              </a:rPr>
                              <m:t>7</m:t>
                            </m:r>
                          </m:den>
                        </m:f>
                      </m:e>
                    </m:d>
                  </m:oMath>
                </a14:m>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buFont typeface="+mj-lt"/>
                  <a:buAutoNum type="alphaLcPeriod" startAt="3"/>
                </a:pPr>
                <a:r>
                  <a:rPr lang="en-US" sz="2000" dirty="0">
                    <a:latin typeface="Verdana" panose="020B0604030504040204" pitchFamily="34" charset="0"/>
                    <a:ea typeface="Verdana" panose="020B0604030504040204" pitchFamily="34" charset="0"/>
                  </a:rPr>
                  <a:t> </a:t>
                </a:r>
                <a14:m>
                  <m:oMath xmlns:m="http://schemas.openxmlformats.org/officeDocument/2006/math">
                    <m:r>
                      <a:rPr lang="en-US" sz="2000">
                        <a:latin typeface="Cambria Math" panose="02040503050406030204" pitchFamily="18" charset="0"/>
                      </a:rPr>
                      <m:t>(3.25)(3.25)</m:t>
                    </m:r>
                  </m:oMath>
                </a14:m>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0" name="TextBox 9">
                <a:extLst>
                  <a:ext uri="{FF2B5EF4-FFF2-40B4-BE49-F238E27FC236}">
                    <a16:creationId xmlns:a16="http://schemas.microsoft.com/office/drawing/2014/main" xmlns:a14="http://schemas.microsoft.com/office/drawing/2010/main" xmlns="" id="{31D40250-DEDD-2C41-8538-3D4DD18CCC4A}"/>
                  </a:ext>
                </a:extLst>
              </p:cNvPr>
              <p:cNvSpPr txBox="1">
                <a:spLocks noRot="1" noChangeAspect="1" noMove="1" noResize="1" noEditPoints="1" noAdjustHandles="1" noChangeArrowheads="1" noChangeShapeType="1" noTextEdit="1"/>
              </p:cNvSpPr>
              <p:nvPr/>
            </p:nvSpPr>
            <p:spPr>
              <a:xfrm>
                <a:off x="1264256" y="1386025"/>
                <a:ext cx="9919520" cy="3630738"/>
              </a:xfrm>
              <a:prstGeom prst="rect">
                <a:avLst/>
              </a:prstGeom>
              <a:blipFill rotWithShape="0">
                <a:blip r:embed="rId4"/>
                <a:stretch>
                  <a:fillRect l="-676" t="-1007" b="-2181"/>
                </a:stretch>
              </a:blipFill>
            </p:spPr>
            <p:txBody>
              <a:bodyPr/>
              <a:lstStyle/>
              <a:p>
                <a:r>
                  <a:rPr lang="en-US">
                    <a:noFill/>
                  </a:rPr>
                  <a:t> </a:t>
                </a:r>
              </a:p>
            </p:txBody>
          </p:sp>
        </mc:Fallback>
      </mc:AlternateContent>
      <p:sp>
        <p:nvSpPr>
          <p:cNvPr id="9" name="Google Shape;282;g104476d1465_1_17"/>
          <p:cNvSpPr txBox="1"/>
          <p:nvPr/>
        </p:nvSpPr>
        <p:spPr>
          <a:xfrm>
            <a:off x="8720469"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235</a:t>
            </a:r>
            <a:endParaRPr i="1" dirty="0">
              <a:latin typeface="Calibri"/>
              <a:ea typeface="Calibri"/>
              <a:cs typeface="Calibri"/>
              <a:sym typeface="Calibri"/>
            </a:endParaRPr>
          </a:p>
        </p:txBody>
      </p:sp>
      <p:pic>
        <p:nvPicPr>
          <p:cNvPr id="11"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58695"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7455233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xmlns="" id="{2FA392D8-3ED3-7940-83A8-1451AA8A08D4}"/>
                  </a:ext>
                </a:extLst>
              </p:cNvPr>
              <p:cNvSpPr txBox="1"/>
              <p:nvPr/>
            </p:nvSpPr>
            <p:spPr>
              <a:xfrm>
                <a:off x="1064525" y="520394"/>
                <a:ext cx="10213616" cy="4641271"/>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Rewrite each expression given in exponential form as repeated multiplication.</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buFont typeface="+mj-lt"/>
                  <a:buAutoNum type="alphaLcPeriod"/>
                </a:pPr>
                <a:r>
                  <a:rPr lang="en-US" sz="2000" dirty="0">
                    <a:latin typeface="Verdana" panose="020B0604030504040204" pitchFamily="34" charset="0"/>
                    <a:ea typeface="Verdana" panose="020B0604030504040204" pitchFamily="34" charset="0"/>
                  </a:rPr>
                  <a:t> </a:t>
                </a:r>
                <a14:m>
                  <m:oMath xmlns:m="http://schemas.openxmlformats.org/officeDocument/2006/math">
                    <m:sSup>
                      <m:sSupPr>
                        <m:ctrlPr>
                          <a:rPr lang="en-US" sz="2000" i="1">
                            <a:latin typeface="Cambria Math" charset="0"/>
                          </a:rPr>
                        </m:ctrlPr>
                      </m:sSupPr>
                      <m:e>
                        <m:r>
                          <a:rPr lang="en-US" sz="2000">
                            <a:latin typeface="Cambria Math" panose="02040503050406030204" pitchFamily="18" charset="0"/>
                          </a:rPr>
                          <m:t>7</m:t>
                        </m:r>
                      </m:e>
                      <m:sup>
                        <m:r>
                          <a:rPr lang="en-US" sz="2000">
                            <a:latin typeface="Cambria Math" panose="02040503050406030204" pitchFamily="18" charset="0"/>
                          </a:rPr>
                          <m:t>5</m:t>
                        </m:r>
                      </m:sup>
                    </m:sSup>
                  </m:oMath>
                </a14:m>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buFont typeface="+mj-lt"/>
                  <a:buAutoNum type="alphaLcPeriod" startAt="2"/>
                </a:pPr>
                <a:r>
                  <a:rPr lang="en-US" sz="2000" dirty="0">
                    <a:latin typeface="Verdana" panose="020B0604030504040204" pitchFamily="34" charset="0"/>
                    <a:ea typeface="Verdana" panose="020B0604030504040204" pitchFamily="34" charset="0"/>
                  </a:rPr>
                  <a:t> </a:t>
                </a:r>
                <a14:m>
                  <m:oMath xmlns:m="http://schemas.openxmlformats.org/officeDocument/2006/math">
                    <m:sSup>
                      <m:sSupPr>
                        <m:ctrlPr>
                          <a:rPr lang="en-US" sz="2000" i="1">
                            <a:latin typeface="Cambria Math" charset="0"/>
                          </a:rPr>
                        </m:ctrlPr>
                      </m:sSupPr>
                      <m:e>
                        <m:r>
                          <a:rPr lang="en-US" sz="2000">
                            <a:latin typeface="Cambria Math" panose="02040503050406030204" pitchFamily="18" charset="0"/>
                          </a:rPr>
                          <m:t>(1.5)</m:t>
                        </m:r>
                      </m:e>
                      <m:sup>
                        <m:r>
                          <a:rPr lang="en-US" sz="2000">
                            <a:latin typeface="Cambria Math" panose="02040503050406030204" pitchFamily="18" charset="0"/>
                          </a:rPr>
                          <m:t>2</m:t>
                        </m:r>
                      </m:sup>
                    </m:sSup>
                  </m:oMath>
                </a14:m>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buFont typeface="+mj-lt"/>
                  <a:buAutoNum type="alphaLcPeriod" startAt="3"/>
                </a:pPr>
                <a:r>
                  <a:rPr lang="en-US" sz="2000" dirty="0">
                    <a:latin typeface="Verdana" panose="020B0604030504040204" pitchFamily="34" charset="0"/>
                    <a:ea typeface="Verdana" panose="020B0604030504040204" pitchFamily="34" charset="0"/>
                  </a:rPr>
                  <a:t> </a:t>
                </a:r>
                <a14:m>
                  <m:oMath xmlns:m="http://schemas.openxmlformats.org/officeDocument/2006/math">
                    <m:sSup>
                      <m:sSupPr>
                        <m:ctrlPr>
                          <a:rPr lang="en-US" sz="2000" i="1">
                            <a:latin typeface="Cambria Math" charset="0"/>
                          </a:rPr>
                        </m:ctrlPr>
                      </m:sSupPr>
                      <m:e>
                        <m:d>
                          <m:dPr>
                            <m:ctrlPr>
                              <a:rPr lang="en-US" sz="2000" i="1">
                                <a:latin typeface="Cambria Math" charset="0"/>
                              </a:rPr>
                            </m:ctrlPr>
                          </m:dPr>
                          <m:e>
                            <m:f>
                              <m:fPr>
                                <m:ctrlPr>
                                  <a:rPr lang="en-US" sz="2000" i="1">
                                    <a:latin typeface="Cambria Math" charset="0"/>
                                  </a:rPr>
                                </m:ctrlPr>
                              </m:fPr>
                              <m:num>
                                <m:r>
                                  <a:rPr lang="en-US" sz="2000">
                                    <a:latin typeface="Cambria Math" panose="02040503050406030204" pitchFamily="18" charset="0"/>
                                  </a:rPr>
                                  <m:t>3</m:t>
                                </m:r>
                              </m:num>
                              <m:den>
                                <m:r>
                                  <a:rPr lang="en-US" sz="2000">
                                    <a:latin typeface="Cambria Math" panose="02040503050406030204" pitchFamily="18" charset="0"/>
                                  </a:rPr>
                                  <m:t>4</m:t>
                                </m:r>
                              </m:den>
                            </m:f>
                          </m:e>
                        </m:d>
                      </m:e>
                      <m:sup>
                        <m:r>
                          <a:rPr lang="en-US" sz="2000">
                            <a:latin typeface="Cambria Math" panose="02040503050406030204" pitchFamily="18" charset="0"/>
                          </a:rPr>
                          <m:t>3</m:t>
                        </m:r>
                      </m:sup>
                    </m:sSup>
                  </m:oMath>
                </a14:m>
                <a:r>
                  <a:rPr lang="en-US" sz="2000" dirty="0">
                    <a:latin typeface="Verdana" panose="020B0604030504040204" pitchFamily="34" charset="0"/>
                    <a:ea typeface="Verdana" panose="020B0604030504040204" pitchFamily="34" charset="0"/>
                    <a:cs typeface="Verdana" panose="020B0604030504040204" pitchFamily="34" charset="0"/>
                  </a:rPr>
                  <a:t>	</a:t>
                </a:r>
                <a:r>
                  <a:rPr lang="en-US" dirty="0"/>
                  <a:t>	   </a:t>
                </a: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1064525" y="520394"/>
                <a:ext cx="10213616" cy="4641271"/>
              </a:xfrm>
              <a:prstGeom prst="rect">
                <a:avLst/>
              </a:prstGeom>
              <a:blipFill rotWithShape="0">
                <a:blip r:embed="rId3"/>
                <a:stretch>
                  <a:fillRect l="-657" t="-787"/>
                </a:stretch>
              </a:blipFill>
            </p:spPr>
            <p:txBody>
              <a:bodyPr/>
              <a:lstStyle/>
              <a:p>
                <a:r>
                  <a:rPr lang="en-US">
                    <a:noFill/>
                  </a:rPr>
                  <a:t> </a:t>
                </a:r>
              </a:p>
            </p:txBody>
          </p:sp>
        </mc:Fallback>
      </mc:AlternateContent>
      <p:sp>
        <p:nvSpPr>
          <p:cNvPr id="6" name="Google Shape;282;g104476d1465_1_17"/>
          <p:cNvSpPr txBox="1"/>
          <p:nvPr/>
        </p:nvSpPr>
        <p:spPr>
          <a:xfrm>
            <a:off x="8720469"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235</a:t>
            </a:r>
            <a:endParaRPr i="1" dirty="0">
              <a:latin typeface="Calibri"/>
              <a:ea typeface="Calibri"/>
              <a:cs typeface="Calibri"/>
              <a:sym typeface="Calibri"/>
            </a:endParaRPr>
          </a:p>
        </p:txBody>
      </p:sp>
      <p:pic>
        <p:nvPicPr>
          <p:cNvPr id="7"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58695"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5068378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276C46"/>
          </a:solidFill>
          <a:ln w="9525" cap="flat" cmpd="sng">
            <a:no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pic>
        <p:nvPicPr>
          <p:cNvPr id="3074" name="Picture 2">
            <a:extLst>
              <a:ext uri="{FF2B5EF4-FFF2-40B4-BE49-F238E27FC236}">
                <a16:creationId xmlns:a16="http://schemas.microsoft.com/office/drawing/2014/main" xmlns="" id="{D0821C8B-4657-A74D-94B5-D6CF373A1741}"/>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513114"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p:cNvSpPr txBox="1"/>
          <p:nvPr/>
        </p:nvSpPr>
        <p:spPr>
          <a:xfrm>
            <a:off x="8720469"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235</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58695"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2656430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456393" y="82757"/>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3BEA6"/>
                </a:solidFill>
                <a:latin typeface="Verdana"/>
                <a:ea typeface="Verdana"/>
                <a:cs typeface="Verdana"/>
                <a:sym typeface="Verdana"/>
              </a:rPr>
              <a:t>6.1.4 Collaboration: Evaluating Exponential Expressions</a:t>
            </a:r>
          </a:p>
        </p:txBody>
      </p:sp>
      <p:pic>
        <p:nvPicPr>
          <p:cNvPr id="9" name="Picture 2">
            <a:extLst>
              <a:ext uri="{FF2B5EF4-FFF2-40B4-BE49-F238E27FC236}">
                <a16:creationId xmlns:a16="http://schemas.microsoft.com/office/drawing/2014/main" xmlns="" id="{A80EBD0F-404F-0B4B-AC09-DA5A6DF6026E}"/>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706585" y="370703"/>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xmlns="" id="{E44DF7DE-9172-3E4E-B74A-7A51585FB6EA}"/>
              </a:ext>
            </a:extLst>
          </p:cNvPr>
          <p:cNvSpPr txBox="1"/>
          <p:nvPr/>
        </p:nvSpPr>
        <p:spPr>
          <a:xfrm>
            <a:off x="1456393" y="1386026"/>
            <a:ext cx="9535246" cy="4001095"/>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With your partner, discuss the four expressions in the table.</a:t>
            </a: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Which expression does not represent the same value as the others? </a:t>
            </a:r>
          </a:p>
          <a:p>
            <a:r>
              <a:rPr lang="en-US" dirty="0"/>
              <a:t> </a:t>
            </a: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xmlns="" id="{0DF4A504-16E2-BC48-8D87-095E4F9C7501}"/>
                  </a:ext>
                </a:extLst>
              </p:cNvPr>
              <p:cNvGraphicFramePr>
                <a:graphicFrameLocks noGrp="1"/>
              </p:cNvGraphicFramePr>
              <p:nvPr>
                <p:extLst>
                  <p:ext uri="{D42A27DB-BD31-4B8C-83A1-F6EECF244321}">
                    <p14:modId xmlns:p14="http://schemas.microsoft.com/office/powerpoint/2010/main" val="3726321754"/>
                  </p:ext>
                </p:extLst>
              </p:nvPr>
            </p:nvGraphicFramePr>
            <p:xfrm>
              <a:off x="4047008" y="1964512"/>
              <a:ext cx="4097984" cy="1828800"/>
            </p:xfrm>
            <a:graphic>
              <a:graphicData uri="http://schemas.openxmlformats.org/drawingml/2006/table">
                <a:tbl>
                  <a:tblPr firstRow="1" firstCol="1" bandRow="1">
                    <a:tableStyleId>{A91F0D33-8C57-4600-99A7-42BC86742BE1}</a:tableStyleId>
                  </a:tblPr>
                  <a:tblGrid>
                    <a:gridCol w="2002408">
                      <a:extLst>
                        <a:ext uri="{9D8B030D-6E8A-4147-A177-3AD203B41FA5}">
                          <a16:colId xmlns:a16="http://schemas.microsoft.com/office/drawing/2014/main" xmlns="" val="3698197306"/>
                        </a:ext>
                      </a:extLst>
                    </a:gridCol>
                    <a:gridCol w="2095576">
                      <a:extLst>
                        <a:ext uri="{9D8B030D-6E8A-4147-A177-3AD203B41FA5}">
                          <a16:colId xmlns:a16="http://schemas.microsoft.com/office/drawing/2014/main" xmlns="" val="2517390237"/>
                        </a:ext>
                      </a:extLst>
                    </a:gridCol>
                  </a:tblGrid>
                  <a:tr h="457200">
                    <a:tc>
                      <a:txBody>
                        <a:bodyPr/>
                        <a:lstStyle/>
                        <a:p>
                          <a:pPr marL="0" marR="0">
                            <a:lnSpc>
                              <a:spcPct val="107000"/>
                            </a:lnSpc>
                            <a:spcBef>
                              <a:spcPts val="0"/>
                            </a:spcBef>
                            <a:spcAft>
                              <a:spcPts val="0"/>
                            </a:spcAft>
                          </a:pPr>
                          <a:r>
                            <a:rPr lang="en-US" sz="2000" b="1">
                              <a:effectLst/>
                              <a:latin typeface="Verdana" panose="020B0604030504040204" pitchFamily="34" charset="0"/>
                              <a:ea typeface="Verdana" panose="020B0604030504040204" pitchFamily="34" charset="0"/>
                              <a:cs typeface="Verdana" panose="020B0604030504040204" pitchFamily="34" charset="0"/>
                            </a:rPr>
                            <a:t>Expression A</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(2)(2)(2)(2)</m:t>
                                </m:r>
                              </m:oMath>
                            </m:oMathPara>
                          </a14:m>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980357655"/>
                      </a:ext>
                    </a:extLst>
                  </a:tr>
                  <a:tr h="457200">
                    <a:tc>
                      <a:txBody>
                        <a:bodyPr/>
                        <a:lstStyle/>
                        <a:p>
                          <a:pPr marL="0" marR="0">
                            <a:lnSpc>
                              <a:spcPct val="107000"/>
                            </a:lnSpc>
                            <a:spcBef>
                              <a:spcPts val="0"/>
                            </a:spcBef>
                            <a:spcAft>
                              <a:spcPts val="0"/>
                            </a:spcAft>
                          </a:pPr>
                          <a:r>
                            <a:rPr lang="en-US" sz="2000" b="1">
                              <a:effectLst/>
                              <a:latin typeface="Verdana" panose="020B0604030504040204" pitchFamily="34" charset="0"/>
                              <a:ea typeface="Verdana" panose="020B0604030504040204" pitchFamily="34" charset="0"/>
                              <a:cs typeface="Verdana" panose="020B0604030504040204" pitchFamily="34" charset="0"/>
                            </a:rPr>
                            <a:t>Expression B</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m:t>
                                </m:r>
                                <m:sSup>
                                  <m:sSupPr>
                                    <m:ctrlPr>
                                      <a:rPr lang="en-US" sz="2000" i="1">
                                        <a:effectLst/>
                                        <a:latin typeface="Cambria Math" charset="0"/>
                                      </a:rPr>
                                    </m:ctrlPr>
                                  </m:sSupPr>
                                  <m:e>
                                    <m:r>
                                      <a:rPr lang="en-US" sz="2000">
                                        <a:effectLst/>
                                        <a:latin typeface="Cambria Math" panose="02040503050406030204" pitchFamily="18" charset="0"/>
                                      </a:rPr>
                                      <m:t>2</m:t>
                                    </m:r>
                                  </m:e>
                                  <m:sup>
                                    <m:r>
                                      <a:rPr lang="en-US" sz="2000">
                                        <a:effectLst/>
                                        <a:latin typeface="Cambria Math" panose="02040503050406030204" pitchFamily="18" charset="0"/>
                                      </a:rPr>
                                      <m:t>4</m:t>
                                    </m:r>
                                  </m:sup>
                                </m:sSup>
                                <m:r>
                                  <a:rPr lang="en-US" sz="2000">
                                    <a:effectLst/>
                                    <a:latin typeface="Cambria Math" panose="02040503050406030204" pitchFamily="18" charset="0"/>
                                  </a:rPr>
                                  <m:t>)</m:t>
                                </m:r>
                              </m:oMath>
                            </m:oMathPara>
                          </a14:m>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43313440"/>
                      </a:ext>
                    </a:extLst>
                  </a:tr>
                  <a:tr h="457200">
                    <a:tc>
                      <a:txBody>
                        <a:bodyPr/>
                        <a:lstStyle/>
                        <a:p>
                          <a:pPr marL="0" marR="0">
                            <a:lnSpc>
                              <a:spcPct val="107000"/>
                            </a:lnSpc>
                            <a:spcBef>
                              <a:spcPts val="0"/>
                            </a:spcBef>
                            <a:spcAft>
                              <a:spcPts val="0"/>
                            </a:spcAft>
                          </a:pPr>
                          <a:r>
                            <a:rPr lang="en-US" sz="2000" b="1">
                              <a:effectLst/>
                              <a:latin typeface="Verdana" panose="020B0604030504040204" pitchFamily="34" charset="0"/>
                              <a:ea typeface="Verdana" panose="020B0604030504040204" pitchFamily="34" charset="0"/>
                              <a:cs typeface="Verdana" panose="020B0604030504040204" pitchFamily="34" charset="0"/>
                            </a:rPr>
                            <a:t>Expression C</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16</m:t>
                                </m:r>
                              </m:oMath>
                            </m:oMathPara>
                          </a14:m>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128223866"/>
                      </a:ext>
                    </a:extLst>
                  </a:tr>
                  <a:tr h="457200">
                    <a:tc>
                      <a:txBody>
                        <a:bodyPr/>
                        <a:lstStyle/>
                        <a:p>
                          <a:pPr marL="0" marR="0">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Expression D</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2 × 4</m:t>
                                </m:r>
                              </m:oMath>
                            </m:oMathPara>
                          </a14:m>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717087407"/>
                      </a:ext>
                    </a:extLst>
                  </a:tr>
                </a:tbl>
              </a:graphicData>
            </a:graphic>
          </p:graphicFrame>
        </mc:Choice>
        <mc:Fallback xmlns="">
          <p:graphicFrame>
            <p:nvGraphicFramePr>
              <p:cNvPr id="2" name="Table 1">
                <a:extLst>
                  <a:ext uri="{FF2B5EF4-FFF2-40B4-BE49-F238E27FC236}">
                    <a16:creationId xmlns:a16="http://schemas.microsoft.com/office/drawing/2014/main" id="{0DF4A504-16E2-BC48-8D87-095E4F9C7501}"/>
                  </a:ext>
                </a:extLst>
              </p:cNvPr>
              <p:cNvGraphicFramePr>
                <a:graphicFrameLocks noGrp="1"/>
              </p:cNvGraphicFramePr>
              <p:nvPr>
                <p:extLst>
                  <p:ext uri="{D42A27DB-BD31-4B8C-83A1-F6EECF244321}">
                    <p14:modId xmlns:p14="http://schemas.microsoft.com/office/powerpoint/2010/main" val="3726321754"/>
                  </p:ext>
                </p:extLst>
              </p:nvPr>
            </p:nvGraphicFramePr>
            <p:xfrm>
              <a:off x="2523008" y="1964512"/>
              <a:ext cx="4097984" cy="1828800"/>
            </p:xfrm>
            <a:graphic>
              <a:graphicData uri="http://schemas.openxmlformats.org/drawingml/2006/table">
                <a:tbl>
                  <a:tblPr firstRow="1" firstCol="1" bandRow="1">
                    <a:tableStyleId>{A91F0D33-8C57-4600-99A7-42BC86742BE1}</a:tableStyleId>
                  </a:tblPr>
                  <a:tblGrid>
                    <a:gridCol w="2002408">
                      <a:extLst>
                        <a:ext uri="{9D8B030D-6E8A-4147-A177-3AD203B41FA5}">
                          <a16:colId xmlns:a16="http://schemas.microsoft.com/office/drawing/2014/main" val="3698197306"/>
                        </a:ext>
                      </a:extLst>
                    </a:gridCol>
                    <a:gridCol w="2095576">
                      <a:extLst>
                        <a:ext uri="{9D8B030D-6E8A-4147-A177-3AD203B41FA5}">
                          <a16:colId xmlns:a16="http://schemas.microsoft.com/office/drawing/2014/main" val="2517390237"/>
                        </a:ext>
                      </a:extLst>
                    </a:gridCol>
                  </a:tblGrid>
                  <a:tr h="457200">
                    <a:tc>
                      <a:txBody>
                        <a:bodyPr/>
                        <a:lstStyle/>
                        <a:p>
                          <a:pPr marL="0" marR="0">
                            <a:lnSpc>
                              <a:spcPct val="107000"/>
                            </a:lnSpc>
                            <a:spcBef>
                              <a:spcPts val="0"/>
                            </a:spcBef>
                            <a:spcAft>
                              <a:spcPts val="0"/>
                            </a:spcAft>
                          </a:pPr>
                          <a:r>
                            <a:rPr lang="en-US" sz="2000" b="1">
                              <a:effectLst/>
                              <a:latin typeface="Verdana" panose="020B0604030504040204" pitchFamily="34" charset="0"/>
                              <a:ea typeface="Verdana" panose="020B0604030504040204" pitchFamily="34" charset="0"/>
                              <a:cs typeface="Verdana" panose="020B0604030504040204" pitchFamily="34" charset="0"/>
                            </a:rPr>
                            <a:t>Expression A</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95783" t="-2778" r="-602" b="-319444"/>
                          </a:stretch>
                        </a:blipFill>
                      </a:tcPr>
                    </a:tc>
                    <a:extLst>
                      <a:ext uri="{0D108BD9-81ED-4DB2-BD59-A6C34878D82A}">
                        <a16:rowId xmlns:a16="http://schemas.microsoft.com/office/drawing/2014/main" val="2980357655"/>
                      </a:ext>
                    </a:extLst>
                  </a:tr>
                  <a:tr h="457200">
                    <a:tc>
                      <a:txBody>
                        <a:bodyPr/>
                        <a:lstStyle/>
                        <a:p>
                          <a:pPr marL="0" marR="0">
                            <a:lnSpc>
                              <a:spcPct val="107000"/>
                            </a:lnSpc>
                            <a:spcBef>
                              <a:spcPts val="0"/>
                            </a:spcBef>
                            <a:spcAft>
                              <a:spcPts val="0"/>
                            </a:spcAft>
                          </a:pPr>
                          <a:r>
                            <a:rPr lang="en-US" sz="2000" b="1">
                              <a:effectLst/>
                              <a:latin typeface="Verdana" panose="020B0604030504040204" pitchFamily="34" charset="0"/>
                              <a:ea typeface="Verdana" panose="020B0604030504040204" pitchFamily="34" charset="0"/>
                              <a:cs typeface="Verdana" panose="020B0604030504040204" pitchFamily="34" charset="0"/>
                            </a:rPr>
                            <a:t>Expression B</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95783" t="-100000" r="-602" b="-210811"/>
                          </a:stretch>
                        </a:blipFill>
                      </a:tcPr>
                    </a:tc>
                    <a:extLst>
                      <a:ext uri="{0D108BD9-81ED-4DB2-BD59-A6C34878D82A}">
                        <a16:rowId xmlns:a16="http://schemas.microsoft.com/office/drawing/2014/main" val="343313440"/>
                      </a:ext>
                    </a:extLst>
                  </a:tr>
                  <a:tr h="457200">
                    <a:tc>
                      <a:txBody>
                        <a:bodyPr/>
                        <a:lstStyle/>
                        <a:p>
                          <a:pPr marL="0" marR="0">
                            <a:lnSpc>
                              <a:spcPct val="107000"/>
                            </a:lnSpc>
                            <a:spcBef>
                              <a:spcPts val="0"/>
                            </a:spcBef>
                            <a:spcAft>
                              <a:spcPts val="0"/>
                            </a:spcAft>
                          </a:pPr>
                          <a:r>
                            <a:rPr lang="en-US" sz="2000" b="1">
                              <a:effectLst/>
                              <a:latin typeface="Verdana" panose="020B0604030504040204" pitchFamily="34" charset="0"/>
                              <a:ea typeface="Verdana" panose="020B0604030504040204" pitchFamily="34" charset="0"/>
                              <a:cs typeface="Verdana" panose="020B0604030504040204" pitchFamily="34" charset="0"/>
                            </a:rPr>
                            <a:t>Expression C</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95783" t="-205556" r="-602" b="-116667"/>
                          </a:stretch>
                        </a:blipFill>
                      </a:tcPr>
                    </a:tc>
                    <a:extLst>
                      <a:ext uri="{0D108BD9-81ED-4DB2-BD59-A6C34878D82A}">
                        <a16:rowId xmlns:a16="http://schemas.microsoft.com/office/drawing/2014/main" val="2128223866"/>
                      </a:ext>
                    </a:extLst>
                  </a:tr>
                  <a:tr h="457200">
                    <a:tc>
                      <a:txBody>
                        <a:bodyPr/>
                        <a:lstStyle/>
                        <a:p>
                          <a:pPr marL="0" marR="0">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Expression D</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95783" t="-305556" r="-602" b="-16667"/>
                          </a:stretch>
                        </a:blipFill>
                      </a:tcPr>
                    </a:tc>
                    <a:extLst>
                      <a:ext uri="{0D108BD9-81ED-4DB2-BD59-A6C34878D82A}">
                        <a16:rowId xmlns:a16="http://schemas.microsoft.com/office/drawing/2014/main" val="2717087407"/>
                      </a:ext>
                    </a:extLst>
                  </a:tr>
                </a:tbl>
              </a:graphicData>
            </a:graphic>
          </p:graphicFrame>
        </mc:Fallback>
      </mc:AlternateContent>
      <p:sp>
        <p:nvSpPr>
          <p:cNvPr id="11" name="Google Shape;282;g104476d1465_1_17"/>
          <p:cNvSpPr txBox="1"/>
          <p:nvPr/>
        </p:nvSpPr>
        <p:spPr>
          <a:xfrm>
            <a:off x="8720469"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235</a:t>
            </a:r>
            <a:endParaRPr i="1" dirty="0">
              <a:latin typeface="Calibri"/>
              <a:ea typeface="Calibri"/>
              <a:cs typeface="Calibri"/>
              <a:sym typeface="Calibri"/>
            </a:endParaRPr>
          </a:p>
        </p:txBody>
      </p:sp>
      <p:pic>
        <p:nvPicPr>
          <p:cNvPr id="12"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58695"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654776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a16="http://schemas.microsoft.com/office/drawing/2014/main" xmlns="" id="{2FA392D8-3ED3-7940-83A8-1451AA8A08D4}"/>
              </a:ext>
            </a:extLst>
          </p:cNvPr>
          <p:cNvSpPr txBox="1"/>
          <p:nvPr/>
        </p:nvSpPr>
        <p:spPr>
          <a:xfrm>
            <a:off x="1310185" y="520394"/>
            <a:ext cx="9722296" cy="2862322"/>
          </a:xfrm>
          <a:prstGeom prst="rect">
            <a:avLst/>
          </a:prstGeom>
          <a:noFill/>
        </p:spPr>
        <p:txBody>
          <a:bodyPr wrap="square" rtlCol="0">
            <a:spAutoFit/>
          </a:bodyPr>
          <a:lstStyle/>
          <a:p>
            <a:pPr marL="914400" indent="-4572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Explain your answer or show the work that led to your conclusion.</a:t>
            </a:r>
          </a:p>
          <a:p>
            <a:pPr marL="914400" indent="-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buFont typeface="+mj-lt"/>
              <a:buAutoNum type="alphaLcPeriod" startAt="3"/>
            </a:pPr>
            <a:r>
              <a:rPr lang="en-US" sz="2000" dirty="0">
                <a:latin typeface="Verdana" panose="020B0604030504040204" pitchFamily="34" charset="0"/>
                <a:ea typeface="Verdana" panose="020B0604030504040204" pitchFamily="34" charset="0"/>
                <a:cs typeface="Verdana" panose="020B0604030504040204" pitchFamily="34" charset="0"/>
              </a:rPr>
              <a:t>Explain what mathematics process should be done if the directions state to </a:t>
            </a:r>
            <a:r>
              <a:rPr lang="en-US" sz="2000" b="1" dirty="0">
                <a:latin typeface="Verdana" panose="020B0604030504040204" pitchFamily="34" charset="0"/>
                <a:ea typeface="Verdana" panose="020B0604030504040204" pitchFamily="34" charset="0"/>
                <a:cs typeface="Verdana" panose="020B0604030504040204" pitchFamily="34" charset="0"/>
              </a:rPr>
              <a:t>evaluate</a:t>
            </a:r>
            <a:r>
              <a:rPr lang="en-US" sz="2000" dirty="0">
                <a:latin typeface="Verdana" panose="020B0604030504040204" pitchFamily="34" charset="0"/>
                <a:ea typeface="Verdana" panose="020B0604030504040204" pitchFamily="34" charset="0"/>
                <a:cs typeface="Verdana" panose="020B0604030504040204" pitchFamily="34" charset="0"/>
              </a:rPr>
              <a:t> an expression.</a:t>
            </a:r>
          </a:p>
        </p:txBody>
      </p:sp>
      <p:sp>
        <p:nvSpPr>
          <p:cNvPr id="6" name="Google Shape;282;g104476d1465_1_17"/>
          <p:cNvSpPr txBox="1"/>
          <p:nvPr/>
        </p:nvSpPr>
        <p:spPr>
          <a:xfrm>
            <a:off x="8720469"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235</a:t>
            </a:r>
            <a:endParaRPr i="1" dirty="0">
              <a:latin typeface="Calibri"/>
              <a:ea typeface="Calibri"/>
              <a:cs typeface="Calibri"/>
              <a:sym typeface="Calibri"/>
            </a:endParaRPr>
          </a:p>
        </p:txBody>
      </p:sp>
      <p:pic>
        <p:nvPicPr>
          <p:cNvPr id="7"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58695"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6877973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xmlns="" id="{2FA392D8-3ED3-7940-83A8-1451AA8A08D4}"/>
                  </a:ext>
                </a:extLst>
              </p:cNvPr>
              <p:cNvSpPr txBox="1"/>
              <p:nvPr/>
            </p:nvSpPr>
            <p:spPr>
              <a:xfrm>
                <a:off x="1132764" y="520393"/>
                <a:ext cx="10077138" cy="4093428"/>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Marta’s work for evaluating the expression </a:t>
                </a:r>
                <a14:m>
                  <m:oMath xmlns:m="http://schemas.openxmlformats.org/officeDocument/2006/math">
                    <m:sSup>
                      <m:sSupPr>
                        <m:ctrlPr>
                          <a:rPr lang="en-US" sz="2000" i="1">
                            <a:latin typeface="Cambria Math" charset="0"/>
                          </a:rPr>
                        </m:ctrlPr>
                      </m:sSupPr>
                      <m:e>
                        <m:r>
                          <a:rPr lang="en-US" sz="2000" i="1">
                            <a:latin typeface="Cambria Math" panose="02040503050406030204" pitchFamily="18" charset="0"/>
                          </a:rPr>
                          <m:t>3</m:t>
                        </m:r>
                      </m:e>
                      <m:sup>
                        <m:r>
                          <a:rPr lang="en-US" sz="2000" i="1">
                            <a:latin typeface="Cambria Math" panose="02040503050406030204" pitchFamily="18" charset="0"/>
                          </a:rPr>
                          <m:t>2</m:t>
                        </m:r>
                      </m:sup>
                    </m:sSup>
                  </m:oMath>
                </a14:m>
                <a:r>
                  <a:rPr lang="en-US" sz="2000" dirty="0">
                    <a:latin typeface="Verdana" panose="020B0604030504040204" pitchFamily="34" charset="0"/>
                    <a:ea typeface="Verdana" panose="020B0604030504040204" pitchFamily="34" charset="0"/>
                    <a:cs typeface="Verdana" panose="020B0604030504040204" pitchFamily="34" charset="0"/>
                  </a:rPr>
                  <a:t> is shown:</a:t>
                </a: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Discuss Marta’s work with your partner. </a:t>
                </a:r>
              </a:p>
              <a:p>
                <a:pPr marL="914400" indent="-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Explain whether her work is correct or incorrect. If it is correct, describe how you know. If it is incorrect, describe her error and provide the correct evaluation of the expression.</a:t>
                </a:r>
              </a:p>
              <a:p>
                <a:pPr marL="914400" indent="-457200"/>
                <a:r>
                  <a:rPr lang="en-US" sz="2000" b="1"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1132764" y="520393"/>
                <a:ext cx="10077138" cy="4093428"/>
              </a:xfrm>
              <a:prstGeom prst="rect">
                <a:avLst/>
              </a:prstGeom>
              <a:blipFill rotWithShape="0">
                <a:blip r:embed="rId3"/>
                <a:stretch>
                  <a:fillRect l="-665" t="-893"/>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xmlns="" id="{6E3411C5-D2C9-0540-901B-E9982EFD2348}"/>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828943" y="927492"/>
            <a:ext cx="2684780" cy="692150"/>
          </a:xfrm>
          <a:prstGeom prst="rect">
            <a:avLst/>
          </a:prstGeom>
        </p:spPr>
      </p:pic>
      <p:sp>
        <p:nvSpPr>
          <p:cNvPr id="7" name="Google Shape;282;g104476d1465_1_17"/>
          <p:cNvSpPr txBox="1"/>
          <p:nvPr/>
        </p:nvSpPr>
        <p:spPr>
          <a:xfrm>
            <a:off x="8720469"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236</a:t>
            </a:r>
            <a:endParaRPr i="1" dirty="0">
              <a:latin typeface="Calibri"/>
              <a:ea typeface="Calibri"/>
              <a:cs typeface="Calibri"/>
              <a:sym typeface="Calibri"/>
            </a:endParaRPr>
          </a:p>
        </p:txBody>
      </p:sp>
      <p:pic>
        <p:nvPicPr>
          <p:cNvPr id="8"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58695"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9926984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a16="http://schemas.microsoft.com/office/drawing/2014/main" xmlns="" id="{2FA392D8-3ED3-7940-83A8-1451AA8A08D4}"/>
              </a:ext>
            </a:extLst>
          </p:cNvPr>
          <p:cNvSpPr txBox="1"/>
          <p:nvPr/>
        </p:nvSpPr>
        <p:spPr>
          <a:xfrm>
            <a:off x="941696" y="520393"/>
            <a:ext cx="10459274" cy="923330"/>
          </a:xfrm>
          <a:prstGeom prst="rect">
            <a:avLst/>
          </a:prstGeom>
          <a:noFill/>
        </p:spPr>
        <p:txBody>
          <a:bodyPr wrap="square" rtlCol="0">
            <a:spAutoFit/>
          </a:bodyPr>
          <a:lstStyle/>
          <a:p>
            <a:pPr marL="457200" indent="-4572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Determine if each equation in the table is true or false.  Show your work to support your answer.</a:t>
            </a:r>
          </a:p>
          <a:p>
            <a:r>
              <a:rPr lang="en-US" dirty="0"/>
              <a:t> </a:t>
            </a: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xmlns="" id="{0B25C7AE-42CF-D24E-9742-4EB854305916}"/>
                  </a:ext>
                </a:extLst>
              </p:cNvPr>
              <p:cNvGraphicFramePr>
                <a:graphicFrameLocks noGrp="1"/>
              </p:cNvGraphicFramePr>
              <p:nvPr>
                <p:extLst>
                  <p:ext uri="{D42A27DB-BD31-4B8C-83A1-F6EECF244321}">
                    <p14:modId xmlns:p14="http://schemas.microsoft.com/office/powerpoint/2010/main" val="3414412549"/>
                  </p:ext>
                </p:extLst>
              </p:nvPr>
            </p:nvGraphicFramePr>
            <p:xfrm>
              <a:off x="2811346" y="1443723"/>
              <a:ext cx="6569309" cy="4761138"/>
            </p:xfrm>
            <a:graphic>
              <a:graphicData uri="http://schemas.openxmlformats.org/drawingml/2006/table">
                <a:tbl>
                  <a:tblPr firstRow="1" firstCol="1" bandRow="1">
                    <a:tableStyleId>{A91F0D33-8C57-4600-99A7-42BC86742BE1}</a:tableStyleId>
                  </a:tblPr>
                  <a:tblGrid>
                    <a:gridCol w="1866419">
                      <a:extLst>
                        <a:ext uri="{9D8B030D-6E8A-4147-A177-3AD203B41FA5}">
                          <a16:colId xmlns:a16="http://schemas.microsoft.com/office/drawing/2014/main" xmlns="" val="3382068389"/>
                        </a:ext>
                      </a:extLst>
                    </a:gridCol>
                    <a:gridCol w="1478197">
                      <a:extLst>
                        <a:ext uri="{9D8B030D-6E8A-4147-A177-3AD203B41FA5}">
                          <a16:colId xmlns:a16="http://schemas.microsoft.com/office/drawing/2014/main" xmlns="" val="1154787041"/>
                        </a:ext>
                      </a:extLst>
                    </a:gridCol>
                    <a:gridCol w="3224693">
                      <a:extLst>
                        <a:ext uri="{9D8B030D-6E8A-4147-A177-3AD203B41FA5}">
                          <a16:colId xmlns:a16="http://schemas.microsoft.com/office/drawing/2014/main" xmlns="" val="2626734823"/>
                        </a:ext>
                      </a:extLst>
                    </a:gridCol>
                  </a:tblGrid>
                  <a:tr h="500545">
                    <a:tc>
                      <a:txBody>
                        <a:bodyPr/>
                        <a:lstStyle/>
                        <a:p>
                          <a:pPr marL="0" marR="0" algn="ctr">
                            <a:lnSpc>
                              <a:spcPct val="107000"/>
                            </a:lnSpc>
                            <a:spcBef>
                              <a:spcPts val="0"/>
                            </a:spcBef>
                            <a:spcAft>
                              <a:spcPts val="0"/>
                            </a:spcAft>
                          </a:pPr>
                          <a:r>
                            <a:rPr lang="en-US" sz="2000" b="1">
                              <a:effectLst/>
                              <a:latin typeface="Verdana" panose="020B0604030504040204" pitchFamily="34" charset="0"/>
                              <a:ea typeface="Verdana" panose="020B0604030504040204" pitchFamily="34" charset="0"/>
                              <a:cs typeface="Verdana" panose="020B0604030504040204" pitchFamily="34" charset="0"/>
                            </a:rPr>
                            <a:t>Equation</a:t>
                          </a:r>
                        </a:p>
                      </a:txBody>
                      <a:tcPr marL="60092" marR="6009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2000" b="1">
                              <a:effectLst/>
                              <a:latin typeface="Verdana" panose="020B0604030504040204" pitchFamily="34" charset="0"/>
                              <a:ea typeface="Verdana" panose="020B0604030504040204" pitchFamily="34" charset="0"/>
                              <a:cs typeface="Verdana" panose="020B0604030504040204" pitchFamily="34" charset="0"/>
                            </a:rPr>
                            <a:t>True or False?</a:t>
                          </a:r>
                        </a:p>
                      </a:txBody>
                      <a:tcPr marL="60092" marR="6009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Work</a:t>
                          </a:r>
                        </a:p>
                      </a:txBody>
                      <a:tcPr marL="60092" marR="6009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2736695083"/>
                      </a:ext>
                    </a:extLst>
                  </a:tr>
                  <a:tr h="962587">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charset="0"/>
                                      </a:rPr>
                                    </m:ctrlPr>
                                  </m:sSupPr>
                                  <m:e>
                                    <m:r>
                                      <a:rPr lang="en-US" sz="2000">
                                        <a:effectLst/>
                                        <a:latin typeface="Cambria Math" panose="02040503050406030204" pitchFamily="18" charset="0"/>
                                      </a:rPr>
                                      <m:t>16</m:t>
                                    </m:r>
                                  </m:e>
                                  <m:sup>
                                    <m:r>
                                      <a:rPr lang="en-US" sz="2000">
                                        <a:effectLst/>
                                        <a:latin typeface="Cambria Math" panose="02040503050406030204" pitchFamily="18" charset="0"/>
                                      </a:rPr>
                                      <m:t>1</m:t>
                                    </m:r>
                                  </m:sup>
                                </m:sSup>
                                <m:r>
                                  <a:rPr lang="en-US" sz="2000">
                                    <a:effectLst/>
                                    <a:latin typeface="Cambria Math" panose="02040503050406030204" pitchFamily="18" charset="0"/>
                                  </a:rPr>
                                  <m:t> =</m:t>
                                </m:r>
                                <m:sSup>
                                  <m:sSupPr>
                                    <m:ctrlPr>
                                      <a:rPr lang="en-US" sz="2000" i="1">
                                        <a:effectLst/>
                                        <a:latin typeface="Cambria Math" charset="0"/>
                                      </a:rPr>
                                    </m:ctrlPr>
                                  </m:sSupPr>
                                  <m:e>
                                    <m:r>
                                      <a:rPr lang="en-US" sz="2000">
                                        <a:effectLst/>
                                        <a:latin typeface="Cambria Math" panose="02040503050406030204" pitchFamily="18" charset="0"/>
                                      </a:rPr>
                                      <m:t> 8</m:t>
                                    </m:r>
                                  </m:e>
                                  <m:sup>
                                    <m:r>
                                      <a:rPr lang="en-US" sz="2000">
                                        <a:effectLst/>
                                        <a:latin typeface="Cambria Math" panose="02040503050406030204" pitchFamily="18" charset="0"/>
                                      </a:rPr>
                                      <m:t>2</m:t>
                                    </m:r>
                                  </m:sup>
                                </m:sSup>
                              </m:oMath>
                            </m:oMathPara>
                          </a14:m>
                          <a:endParaRPr lang="en-US" sz="2000">
                            <a:effectLst/>
                            <a:latin typeface="Calibri" panose="020F0502020204030204" pitchFamily="34" charset="0"/>
                            <a:ea typeface="Times New Roman" panose="02020603050405020304" pitchFamily="18" charset="0"/>
                            <a:cs typeface="Times New Roman" panose="02020603050405020304" pitchFamily="18" charset="0"/>
                          </a:endParaRPr>
                        </a:p>
                      </a:txBody>
                      <a:tcPr marL="60092" marR="6009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a:effectLst/>
                            </a:rPr>
                            <a:t> </a:t>
                          </a:r>
                          <a:endParaRPr lang="en-US" sz="2000">
                            <a:effectLst/>
                            <a:latin typeface="Calibri" panose="020F0502020204030204" pitchFamily="34" charset="0"/>
                            <a:ea typeface="Times New Roman" panose="02020603050405020304" pitchFamily="18" charset="0"/>
                            <a:cs typeface="Times New Roman" panose="02020603050405020304" pitchFamily="18" charset="0"/>
                          </a:endParaRPr>
                        </a:p>
                      </a:txBody>
                      <a:tcPr marL="60092" marR="6009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dirty="0">
                              <a:effectLst/>
                            </a:rPr>
                            <a:t> </a:t>
                          </a:r>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0092" marR="6009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824199354"/>
                      </a:ext>
                    </a:extLst>
                  </a:tr>
                  <a:tr h="962587">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3+3+3 =</m:t>
                                </m:r>
                                <m:sSup>
                                  <m:sSupPr>
                                    <m:ctrlPr>
                                      <a:rPr lang="en-US" sz="2000" i="1">
                                        <a:effectLst/>
                                        <a:latin typeface="Cambria Math" charset="0"/>
                                      </a:rPr>
                                    </m:ctrlPr>
                                  </m:sSupPr>
                                  <m:e>
                                    <m:r>
                                      <a:rPr lang="en-US" sz="2000">
                                        <a:effectLst/>
                                        <a:latin typeface="Cambria Math" panose="02040503050406030204" pitchFamily="18" charset="0"/>
                                      </a:rPr>
                                      <m:t> 3</m:t>
                                    </m:r>
                                  </m:e>
                                  <m:sup>
                                    <m:r>
                                      <a:rPr lang="en-US" sz="2000">
                                        <a:effectLst/>
                                        <a:latin typeface="Cambria Math" panose="02040503050406030204" pitchFamily="18" charset="0"/>
                                      </a:rPr>
                                      <m:t>3</m:t>
                                    </m:r>
                                  </m:sup>
                                </m:sSup>
                              </m:oMath>
                            </m:oMathPara>
                          </a14:m>
                          <a:endParaRPr lang="en-US" sz="2000">
                            <a:effectLst/>
                            <a:latin typeface="Calibri" panose="020F0502020204030204" pitchFamily="34" charset="0"/>
                            <a:ea typeface="Times New Roman" panose="02020603050405020304" pitchFamily="18" charset="0"/>
                            <a:cs typeface="Times New Roman" panose="02020603050405020304" pitchFamily="18" charset="0"/>
                          </a:endParaRPr>
                        </a:p>
                      </a:txBody>
                      <a:tcPr marL="60092" marR="6009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a:effectLst/>
                            </a:rPr>
                            <a:t> </a:t>
                          </a:r>
                          <a:endParaRPr lang="en-US" sz="2000">
                            <a:effectLst/>
                            <a:latin typeface="Calibri" panose="020F0502020204030204" pitchFamily="34" charset="0"/>
                            <a:ea typeface="Times New Roman" panose="02020603050405020304" pitchFamily="18" charset="0"/>
                            <a:cs typeface="Times New Roman" panose="02020603050405020304" pitchFamily="18" charset="0"/>
                          </a:endParaRPr>
                        </a:p>
                      </a:txBody>
                      <a:tcPr marL="60092" marR="6009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dirty="0">
                              <a:effectLst/>
                            </a:rPr>
                            <a:t> </a:t>
                          </a:r>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0092" marR="6009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033415708"/>
                      </a:ext>
                    </a:extLst>
                  </a:tr>
                  <a:tr h="963032">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f>
                                  <m:fPr>
                                    <m:ctrlPr>
                                      <a:rPr lang="en-US" sz="2000" i="1">
                                        <a:effectLst/>
                                        <a:latin typeface="Cambria Math" charset="0"/>
                                      </a:rPr>
                                    </m:ctrlPr>
                                  </m:fPr>
                                  <m:num>
                                    <m:r>
                                      <a:rPr lang="en-US" sz="2000">
                                        <a:effectLst/>
                                        <a:latin typeface="Cambria Math" panose="02040503050406030204" pitchFamily="18" charset="0"/>
                                      </a:rPr>
                                      <m:t>1</m:t>
                                    </m:r>
                                  </m:num>
                                  <m:den>
                                    <m:r>
                                      <a:rPr lang="en-US" sz="2000">
                                        <a:effectLst/>
                                        <a:latin typeface="Cambria Math" panose="02040503050406030204" pitchFamily="18" charset="0"/>
                                      </a:rPr>
                                      <m:t>2</m:t>
                                    </m:r>
                                  </m:den>
                                </m:f>
                                <m:r>
                                  <a:rPr lang="en-US" sz="2000">
                                    <a:effectLst/>
                                    <a:latin typeface="Cambria Math" panose="02040503050406030204" pitchFamily="18" charset="0"/>
                                  </a:rPr>
                                  <m:t>∙</m:t>
                                </m:r>
                                <m:f>
                                  <m:fPr>
                                    <m:ctrlPr>
                                      <a:rPr lang="en-US" sz="2000" i="1">
                                        <a:effectLst/>
                                        <a:latin typeface="Cambria Math" charset="0"/>
                                      </a:rPr>
                                    </m:ctrlPr>
                                  </m:fPr>
                                  <m:num>
                                    <m:r>
                                      <a:rPr lang="en-US" sz="2000">
                                        <a:effectLst/>
                                        <a:latin typeface="Cambria Math" panose="02040503050406030204" pitchFamily="18" charset="0"/>
                                      </a:rPr>
                                      <m:t>1</m:t>
                                    </m:r>
                                  </m:num>
                                  <m:den>
                                    <m:r>
                                      <a:rPr lang="en-US" sz="2000">
                                        <a:effectLst/>
                                        <a:latin typeface="Cambria Math" panose="02040503050406030204" pitchFamily="18" charset="0"/>
                                      </a:rPr>
                                      <m:t>2</m:t>
                                    </m:r>
                                  </m:den>
                                </m:f>
                                <m:r>
                                  <a:rPr lang="en-US" sz="2000">
                                    <a:effectLst/>
                                    <a:latin typeface="Cambria Math" panose="02040503050406030204" pitchFamily="18" charset="0"/>
                                  </a:rPr>
                                  <m:t>∙</m:t>
                                </m:r>
                                <m:f>
                                  <m:fPr>
                                    <m:ctrlPr>
                                      <a:rPr lang="en-US" sz="2000" i="1">
                                        <a:effectLst/>
                                        <a:latin typeface="Cambria Math" charset="0"/>
                                      </a:rPr>
                                    </m:ctrlPr>
                                  </m:fPr>
                                  <m:num>
                                    <m:r>
                                      <a:rPr lang="en-US" sz="2000">
                                        <a:effectLst/>
                                        <a:latin typeface="Cambria Math" panose="02040503050406030204" pitchFamily="18" charset="0"/>
                                      </a:rPr>
                                      <m:t>1</m:t>
                                    </m:r>
                                  </m:num>
                                  <m:den>
                                    <m:r>
                                      <a:rPr lang="en-US" sz="2000">
                                        <a:effectLst/>
                                        <a:latin typeface="Cambria Math" panose="02040503050406030204" pitchFamily="18" charset="0"/>
                                      </a:rPr>
                                      <m:t>2</m:t>
                                    </m:r>
                                  </m:den>
                                </m:f>
                                <m:r>
                                  <a:rPr lang="en-US" sz="2000">
                                    <a:effectLst/>
                                    <a:latin typeface="Cambria Math" panose="02040503050406030204" pitchFamily="18" charset="0"/>
                                  </a:rPr>
                                  <m:t>∙</m:t>
                                </m:r>
                                <m:f>
                                  <m:fPr>
                                    <m:ctrlPr>
                                      <a:rPr lang="en-US" sz="2000" i="1">
                                        <a:effectLst/>
                                        <a:latin typeface="Cambria Math" charset="0"/>
                                      </a:rPr>
                                    </m:ctrlPr>
                                  </m:fPr>
                                  <m:num>
                                    <m:r>
                                      <a:rPr lang="en-US" sz="2000">
                                        <a:effectLst/>
                                        <a:latin typeface="Cambria Math" panose="02040503050406030204" pitchFamily="18" charset="0"/>
                                      </a:rPr>
                                      <m:t>1</m:t>
                                    </m:r>
                                  </m:num>
                                  <m:den>
                                    <m:r>
                                      <a:rPr lang="en-US" sz="2000">
                                        <a:effectLst/>
                                        <a:latin typeface="Cambria Math" panose="02040503050406030204" pitchFamily="18" charset="0"/>
                                      </a:rPr>
                                      <m:t>2</m:t>
                                    </m:r>
                                  </m:den>
                                </m:f>
                                <m:r>
                                  <a:rPr lang="en-US" sz="2000">
                                    <a:effectLst/>
                                    <a:latin typeface="Cambria Math" panose="02040503050406030204" pitchFamily="18" charset="0"/>
                                  </a:rPr>
                                  <m:t> = 4 ∙</m:t>
                                </m:r>
                                <m:f>
                                  <m:fPr>
                                    <m:ctrlPr>
                                      <a:rPr lang="en-US" sz="2000" i="1">
                                        <a:effectLst/>
                                        <a:latin typeface="Cambria Math" charset="0"/>
                                      </a:rPr>
                                    </m:ctrlPr>
                                  </m:fPr>
                                  <m:num>
                                    <m:r>
                                      <a:rPr lang="en-US" sz="2000">
                                        <a:effectLst/>
                                        <a:latin typeface="Cambria Math" panose="02040503050406030204" pitchFamily="18" charset="0"/>
                                      </a:rPr>
                                      <m:t>1</m:t>
                                    </m:r>
                                  </m:num>
                                  <m:den>
                                    <m:r>
                                      <a:rPr lang="en-US" sz="2000">
                                        <a:effectLst/>
                                        <a:latin typeface="Cambria Math" panose="02040503050406030204" pitchFamily="18" charset="0"/>
                                      </a:rPr>
                                      <m:t>2</m:t>
                                    </m:r>
                                  </m:den>
                                </m:f>
                              </m:oMath>
                            </m:oMathPara>
                          </a14:m>
                          <a:endParaRPr lang="en-US" sz="2000">
                            <a:effectLst/>
                            <a:latin typeface="Calibri" panose="020F0502020204030204" pitchFamily="34" charset="0"/>
                            <a:ea typeface="Times New Roman" panose="02020603050405020304" pitchFamily="18" charset="0"/>
                            <a:cs typeface="Times New Roman" panose="02020603050405020304" pitchFamily="18" charset="0"/>
                          </a:endParaRPr>
                        </a:p>
                      </a:txBody>
                      <a:tcPr marL="60092" marR="6009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a:effectLst/>
                            </a:rPr>
                            <a:t> </a:t>
                          </a:r>
                          <a:endParaRPr lang="en-US" sz="2000">
                            <a:effectLst/>
                            <a:latin typeface="Calibri" panose="020F0502020204030204" pitchFamily="34" charset="0"/>
                            <a:ea typeface="Times New Roman" panose="02020603050405020304" pitchFamily="18" charset="0"/>
                            <a:cs typeface="Times New Roman" panose="02020603050405020304" pitchFamily="18" charset="0"/>
                          </a:endParaRPr>
                        </a:p>
                      </a:txBody>
                      <a:tcPr marL="60092" marR="6009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dirty="0">
                              <a:effectLst/>
                            </a:rPr>
                            <a:t> </a:t>
                          </a:r>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0092" marR="6009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556040001"/>
                      </a:ext>
                    </a:extLst>
                  </a:tr>
                  <a:tr h="962587">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m:t>
                                </m:r>
                                <m:sSup>
                                  <m:sSupPr>
                                    <m:ctrlPr>
                                      <a:rPr lang="en-US" sz="2000" i="1">
                                        <a:effectLst/>
                                        <a:latin typeface="Cambria Math" charset="0"/>
                                      </a:rPr>
                                    </m:ctrlPr>
                                  </m:sSupPr>
                                  <m:e>
                                    <m:r>
                                      <a:rPr lang="en-US" sz="2000">
                                        <a:effectLst/>
                                        <a:latin typeface="Cambria Math" panose="02040503050406030204" pitchFamily="18" charset="0"/>
                                      </a:rPr>
                                      <m:t>5)</m:t>
                                    </m:r>
                                  </m:e>
                                  <m:sup>
                                    <m:r>
                                      <a:rPr lang="en-US" sz="2000">
                                        <a:effectLst/>
                                        <a:latin typeface="Cambria Math" panose="02040503050406030204" pitchFamily="18" charset="0"/>
                                      </a:rPr>
                                      <m:t>3</m:t>
                                    </m:r>
                                  </m:sup>
                                </m:sSup>
                                <m:r>
                                  <a:rPr lang="en-US" sz="2000">
                                    <a:effectLst/>
                                    <a:latin typeface="Cambria Math" panose="02040503050406030204" pitchFamily="18" charset="0"/>
                                  </a:rPr>
                                  <m:t> = 5 ∙5∙5</m:t>
                                </m:r>
                              </m:oMath>
                            </m:oMathPara>
                          </a14:m>
                          <a:endParaRPr lang="en-US" sz="2000">
                            <a:effectLst/>
                            <a:latin typeface="Calibri" panose="020F0502020204030204" pitchFamily="34" charset="0"/>
                            <a:ea typeface="Times New Roman" panose="02020603050405020304" pitchFamily="18" charset="0"/>
                            <a:cs typeface="Times New Roman" panose="02020603050405020304" pitchFamily="18" charset="0"/>
                          </a:endParaRPr>
                        </a:p>
                      </a:txBody>
                      <a:tcPr marL="60092" marR="6009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a:effectLst/>
                            </a:rPr>
                            <a:t> </a:t>
                          </a:r>
                          <a:endParaRPr lang="en-US" sz="2000">
                            <a:effectLst/>
                            <a:latin typeface="Calibri" panose="020F0502020204030204" pitchFamily="34" charset="0"/>
                            <a:ea typeface="Times New Roman" panose="02020603050405020304" pitchFamily="18" charset="0"/>
                            <a:cs typeface="Times New Roman" panose="02020603050405020304" pitchFamily="18" charset="0"/>
                          </a:endParaRPr>
                        </a:p>
                      </a:txBody>
                      <a:tcPr marL="60092" marR="6009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dirty="0">
                              <a:effectLst/>
                            </a:rPr>
                            <a:t> </a:t>
                          </a:r>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0092" marR="6009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609737226"/>
                      </a:ext>
                    </a:extLst>
                  </a:tr>
                </a:tbl>
              </a:graphicData>
            </a:graphic>
          </p:graphicFrame>
        </mc:Choice>
        <mc:Fallback xmlns="">
          <p:graphicFrame>
            <p:nvGraphicFramePr>
              <p:cNvPr id="2" name="Table 1">
                <a:extLst>
                  <a:ext uri="{FF2B5EF4-FFF2-40B4-BE49-F238E27FC236}">
                    <a16:creationId xmlns:a16="http://schemas.microsoft.com/office/drawing/2014/main" id="{0B25C7AE-42CF-D24E-9742-4EB854305916}"/>
                  </a:ext>
                </a:extLst>
              </p:cNvPr>
              <p:cNvGraphicFramePr>
                <a:graphicFrameLocks noGrp="1"/>
              </p:cNvGraphicFramePr>
              <p:nvPr>
                <p:extLst>
                  <p:ext uri="{D42A27DB-BD31-4B8C-83A1-F6EECF244321}">
                    <p14:modId xmlns:p14="http://schemas.microsoft.com/office/powerpoint/2010/main" val="3414412549"/>
                  </p:ext>
                </p:extLst>
              </p:nvPr>
            </p:nvGraphicFramePr>
            <p:xfrm>
              <a:off x="1287345" y="1443723"/>
              <a:ext cx="6569309" cy="4732246"/>
            </p:xfrm>
            <a:graphic>
              <a:graphicData uri="http://schemas.openxmlformats.org/drawingml/2006/table">
                <a:tbl>
                  <a:tblPr firstRow="1" firstCol="1" bandRow="1">
                    <a:tableStyleId>{A91F0D33-8C57-4600-99A7-42BC86742BE1}</a:tableStyleId>
                  </a:tblPr>
                  <a:tblGrid>
                    <a:gridCol w="1866419">
                      <a:extLst>
                        <a:ext uri="{9D8B030D-6E8A-4147-A177-3AD203B41FA5}">
                          <a16:colId xmlns:a16="http://schemas.microsoft.com/office/drawing/2014/main" val="3382068389"/>
                        </a:ext>
                      </a:extLst>
                    </a:gridCol>
                    <a:gridCol w="1478197">
                      <a:extLst>
                        <a:ext uri="{9D8B030D-6E8A-4147-A177-3AD203B41FA5}">
                          <a16:colId xmlns:a16="http://schemas.microsoft.com/office/drawing/2014/main" val="1154787041"/>
                        </a:ext>
                      </a:extLst>
                    </a:gridCol>
                    <a:gridCol w="3224693">
                      <a:extLst>
                        <a:ext uri="{9D8B030D-6E8A-4147-A177-3AD203B41FA5}">
                          <a16:colId xmlns:a16="http://schemas.microsoft.com/office/drawing/2014/main" val="2626734823"/>
                        </a:ext>
                      </a:extLst>
                    </a:gridCol>
                  </a:tblGrid>
                  <a:tr h="623380">
                    <a:tc>
                      <a:txBody>
                        <a:bodyPr/>
                        <a:lstStyle/>
                        <a:p>
                          <a:pPr marL="0" marR="0" algn="ctr">
                            <a:lnSpc>
                              <a:spcPct val="107000"/>
                            </a:lnSpc>
                            <a:spcBef>
                              <a:spcPts val="0"/>
                            </a:spcBef>
                            <a:spcAft>
                              <a:spcPts val="0"/>
                            </a:spcAft>
                          </a:pPr>
                          <a:r>
                            <a:rPr lang="en-US" sz="2000" b="1">
                              <a:effectLst/>
                              <a:latin typeface="Verdana" panose="020B0604030504040204" pitchFamily="34" charset="0"/>
                              <a:ea typeface="Verdana" panose="020B0604030504040204" pitchFamily="34" charset="0"/>
                              <a:cs typeface="Verdana" panose="020B0604030504040204" pitchFamily="34" charset="0"/>
                            </a:rPr>
                            <a:t>Equation</a:t>
                          </a:r>
                        </a:p>
                      </a:txBody>
                      <a:tcPr marL="60092" marR="6009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2000" b="1">
                              <a:effectLst/>
                              <a:latin typeface="Verdana" panose="020B0604030504040204" pitchFamily="34" charset="0"/>
                              <a:ea typeface="Verdana" panose="020B0604030504040204" pitchFamily="34" charset="0"/>
                              <a:cs typeface="Verdana" panose="020B0604030504040204" pitchFamily="34" charset="0"/>
                            </a:rPr>
                            <a:t>True or False?</a:t>
                          </a:r>
                        </a:p>
                      </a:txBody>
                      <a:tcPr marL="60092" marR="6009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Work</a:t>
                          </a:r>
                        </a:p>
                      </a:txBody>
                      <a:tcPr marL="60092" marR="6009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736695083"/>
                      </a:ext>
                    </a:extLst>
                  </a:tr>
                  <a:tr h="962587">
                    <a:tc>
                      <a:txBody>
                        <a:bodyPr/>
                        <a:lstStyle/>
                        <a:p>
                          <a:endParaRPr lang="en-US"/>
                        </a:p>
                      </a:txBody>
                      <a:tcPr marL="60092" marR="6009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80" t="-73684" r="-253061" b="-328947"/>
                          </a:stretch>
                        </a:blipFill>
                      </a:tcPr>
                    </a:tc>
                    <a:tc>
                      <a:txBody>
                        <a:bodyPr/>
                        <a:lstStyle/>
                        <a:p>
                          <a:pPr marL="0" marR="0">
                            <a:lnSpc>
                              <a:spcPct val="107000"/>
                            </a:lnSpc>
                            <a:spcBef>
                              <a:spcPts val="0"/>
                            </a:spcBef>
                            <a:spcAft>
                              <a:spcPts val="0"/>
                            </a:spcAft>
                          </a:pPr>
                          <a:r>
                            <a:rPr lang="en-US" sz="2000">
                              <a:effectLst/>
                            </a:rPr>
                            <a:t> </a:t>
                          </a:r>
                          <a:endParaRPr lang="en-US" sz="2000">
                            <a:effectLst/>
                            <a:latin typeface="Calibri" panose="020F0502020204030204" pitchFamily="34" charset="0"/>
                            <a:ea typeface="Times New Roman" panose="02020603050405020304" pitchFamily="18" charset="0"/>
                            <a:cs typeface="Times New Roman" panose="02020603050405020304" pitchFamily="18" charset="0"/>
                          </a:endParaRPr>
                        </a:p>
                      </a:txBody>
                      <a:tcPr marL="60092" marR="6009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dirty="0">
                              <a:effectLst/>
                            </a:rPr>
                            <a:t> </a:t>
                          </a:r>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0092" marR="6009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24199354"/>
                      </a:ext>
                    </a:extLst>
                  </a:tr>
                  <a:tr h="962587">
                    <a:tc>
                      <a:txBody>
                        <a:bodyPr/>
                        <a:lstStyle/>
                        <a:p>
                          <a:endParaRPr lang="en-US"/>
                        </a:p>
                      </a:txBody>
                      <a:tcPr marL="60092" marR="6009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80" t="-173684" r="-253061" b="-228947"/>
                          </a:stretch>
                        </a:blipFill>
                      </a:tcPr>
                    </a:tc>
                    <a:tc>
                      <a:txBody>
                        <a:bodyPr/>
                        <a:lstStyle/>
                        <a:p>
                          <a:pPr marL="0" marR="0">
                            <a:lnSpc>
                              <a:spcPct val="107000"/>
                            </a:lnSpc>
                            <a:spcBef>
                              <a:spcPts val="0"/>
                            </a:spcBef>
                            <a:spcAft>
                              <a:spcPts val="0"/>
                            </a:spcAft>
                          </a:pPr>
                          <a:r>
                            <a:rPr lang="en-US" sz="2000">
                              <a:effectLst/>
                            </a:rPr>
                            <a:t> </a:t>
                          </a:r>
                          <a:endParaRPr lang="en-US" sz="2000">
                            <a:effectLst/>
                            <a:latin typeface="Calibri" panose="020F0502020204030204" pitchFamily="34" charset="0"/>
                            <a:ea typeface="Times New Roman" panose="02020603050405020304" pitchFamily="18" charset="0"/>
                            <a:cs typeface="Times New Roman" panose="02020603050405020304" pitchFamily="18" charset="0"/>
                          </a:endParaRPr>
                        </a:p>
                      </a:txBody>
                      <a:tcPr marL="60092" marR="6009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dirty="0">
                              <a:effectLst/>
                            </a:rPr>
                            <a:t> </a:t>
                          </a:r>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0092" marR="6009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3415708"/>
                      </a:ext>
                    </a:extLst>
                  </a:tr>
                  <a:tr h="1221105">
                    <a:tc>
                      <a:txBody>
                        <a:bodyPr/>
                        <a:lstStyle/>
                        <a:p>
                          <a:endParaRPr lang="en-US"/>
                        </a:p>
                      </a:txBody>
                      <a:tcPr marL="60092" marR="6009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80" t="-214433" r="-253061" b="-79381"/>
                          </a:stretch>
                        </a:blipFill>
                      </a:tcPr>
                    </a:tc>
                    <a:tc>
                      <a:txBody>
                        <a:bodyPr/>
                        <a:lstStyle/>
                        <a:p>
                          <a:pPr marL="0" marR="0">
                            <a:lnSpc>
                              <a:spcPct val="107000"/>
                            </a:lnSpc>
                            <a:spcBef>
                              <a:spcPts val="0"/>
                            </a:spcBef>
                            <a:spcAft>
                              <a:spcPts val="0"/>
                            </a:spcAft>
                          </a:pPr>
                          <a:r>
                            <a:rPr lang="en-US" sz="2000">
                              <a:effectLst/>
                            </a:rPr>
                            <a:t> </a:t>
                          </a:r>
                          <a:endParaRPr lang="en-US" sz="2000">
                            <a:effectLst/>
                            <a:latin typeface="Calibri" panose="020F0502020204030204" pitchFamily="34" charset="0"/>
                            <a:ea typeface="Times New Roman" panose="02020603050405020304" pitchFamily="18" charset="0"/>
                            <a:cs typeface="Times New Roman" panose="02020603050405020304" pitchFamily="18" charset="0"/>
                          </a:endParaRPr>
                        </a:p>
                      </a:txBody>
                      <a:tcPr marL="60092" marR="6009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dirty="0">
                              <a:effectLst/>
                            </a:rPr>
                            <a:t> </a:t>
                          </a:r>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0092" marR="6009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56040001"/>
                      </a:ext>
                    </a:extLst>
                  </a:tr>
                  <a:tr h="962587">
                    <a:tc>
                      <a:txBody>
                        <a:bodyPr/>
                        <a:lstStyle/>
                        <a:p>
                          <a:endParaRPr lang="en-US"/>
                        </a:p>
                      </a:txBody>
                      <a:tcPr marL="60092" marR="6009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80" t="-401316" r="-253061" b="-1316"/>
                          </a:stretch>
                        </a:blipFill>
                      </a:tcPr>
                    </a:tc>
                    <a:tc>
                      <a:txBody>
                        <a:bodyPr/>
                        <a:lstStyle/>
                        <a:p>
                          <a:pPr marL="0" marR="0">
                            <a:lnSpc>
                              <a:spcPct val="107000"/>
                            </a:lnSpc>
                            <a:spcBef>
                              <a:spcPts val="0"/>
                            </a:spcBef>
                            <a:spcAft>
                              <a:spcPts val="0"/>
                            </a:spcAft>
                          </a:pPr>
                          <a:r>
                            <a:rPr lang="en-US" sz="2000">
                              <a:effectLst/>
                            </a:rPr>
                            <a:t> </a:t>
                          </a:r>
                          <a:endParaRPr lang="en-US" sz="2000">
                            <a:effectLst/>
                            <a:latin typeface="Calibri" panose="020F0502020204030204" pitchFamily="34" charset="0"/>
                            <a:ea typeface="Times New Roman" panose="02020603050405020304" pitchFamily="18" charset="0"/>
                            <a:cs typeface="Times New Roman" panose="02020603050405020304" pitchFamily="18" charset="0"/>
                          </a:endParaRPr>
                        </a:p>
                      </a:txBody>
                      <a:tcPr marL="60092" marR="6009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dirty="0">
                              <a:effectLst/>
                            </a:rPr>
                            <a:t> </a:t>
                          </a:r>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0092" marR="6009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09737226"/>
                      </a:ext>
                    </a:extLst>
                  </a:tr>
                </a:tbl>
              </a:graphicData>
            </a:graphic>
          </p:graphicFrame>
        </mc:Fallback>
      </mc:AlternateContent>
      <p:sp>
        <p:nvSpPr>
          <p:cNvPr id="7" name="Google Shape;282;g104476d1465_1_17"/>
          <p:cNvSpPr txBox="1"/>
          <p:nvPr/>
        </p:nvSpPr>
        <p:spPr>
          <a:xfrm>
            <a:off x="8720469"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236</a:t>
            </a:r>
            <a:endParaRPr i="1" dirty="0">
              <a:latin typeface="Calibri"/>
              <a:ea typeface="Calibri"/>
              <a:cs typeface="Calibri"/>
              <a:sym typeface="Calibri"/>
            </a:endParaRPr>
          </a:p>
        </p:txBody>
      </p:sp>
      <p:pic>
        <p:nvPicPr>
          <p:cNvPr id="8"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58695"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1622021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116285" y="2766150"/>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Try It</a:t>
            </a:r>
            <a:endParaRPr sz="5100" b="1" dirty="0">
              <a:solidFill>
                <a:srgbClr val="33BEA6"/>
              </a:solidFill>
              <a:latin typeface="Verdana"/>
              <a:ea typeface="Verdana"/>
              <a:cs typeface="Verdana"/>
              <a:sym typeface="Verdana"/>
            </a:endParaRPr>
          </a:p>
        </p:txBody>
      </p:sp>
      <p:pic>
        <p:nvPicPr>
          <p:cNvPr id="7170" name="Picture 2">
            <a:extLst>
              <a:ext uri="{FF2B5EF4-FFF2-40B4-BE49-F238E27FC236}">
                <a16:creationId xmlns:a16="http://schemas.microsoft.com/office/drawing/2014/main" xmlns="" id="{B098E9CE-9B4F-0D4F-9369-4E0B8D4E3D1A}"/>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813171" y="2852928"/>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p:cNvSpPr txBox="1"/>
          <p:nvPr/>
        </p:nvSpPr>
        <p:spPr>
          <a:xfrm>
            <a:off x="8720469"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236</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58695"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9704739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291552" y="0"/>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6.1.5 Try It: Evaluating Exponential Expressions</a:t>
            </a:r>
          </a:p>
        </p:txBody>
      </p:sp>
      <p:pic>
        <p:nvPicPr>
          <p:cNvPr id="9" name="Picture 2">
            <a:extLst>
              <a:ext uri="{FF2B5EF4-FFF2-40B4-BE49-F238E27FC236}">
                <a16:creationId xmlns:a16="http://schemas.microsoft.com/office/drawing/2014/main" xmlns="" id="{E0B7508E-1910-D441-91B6-6EA6022F20CC}"/>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541744" y="287946"/>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xmlns="" id="{0AB6A3A1-5A0D-C84F-AC89-57E6782F43E5}"/>
                  </a:ext>
                </a:extLst>
              </p:cNvPr>
              <p:cNvSpPr txBox="1"/>
              <p:nvPr/>
            </p:nvSpPr>
            <p:spPr>
              <a:xfrm>
                <a:off x="1291552" y="1386025"/>
                <a:ext cx="9864928" cy="4333494"/>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Evaluate each expression written in exponential form.</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buFont typeface="+mj-lt"/>
                  <a:buAutoNum type="alphaLcPeriod"/>
                </a:pPr>
                <a:r>
                  <a:rPr lang="en-US" sz="2000" dirty="0">
                    <a:latin typeface="Verdana" panose="020B0604030504040204" pitchFamily="34" charset="0"/>
                    <a:ea typeface="Verdana" panose="020B0604030504040204" pitchFamily="34" charset="0"/>
                  </a:rPr>
                  <a:t> </a:t>
                </a:r>
                <a14:m>
                  <m:oMath xmlns:m="http://schemas.openxmlformats.org/officeDocument/2006/math">
                    <m:sSup>
                      <m:sSupPr>
                        <m:ctrlPr>
                          <a:rPr lang="en-US" sz="2000" i="1">
                            <a:latin typeface="Cambria Math" charset="0"/>
                          </a:rPr>
                        </m:ctrlPr>
                      </m:sSupPr>
                      <m:e>
                        <m:d>
                          <m:dPr>
                            <m:ctrlPr>
                              <a:rPr lang="en-US" sz="2000" i="1">
                                <a:latin typeface="Cambria Math" charset="0"/>
                              </a:rPr>
                            </m:ctrlPr>
                          </m:dPr>
                          <m:e>
                            <m:f>
                              <m:fPr>
                                <m:ctrlPr>
                                  <a:rPr lang="en-US" sz="2000" i="1">
                                    <a:latin typeface="Cambria Math" charset="0"/>
                                  </a:rPr>
                                </m:ctrlPr>
                              </m:fPr>
                              <m:num>
                                <m:r>
                                  <a:rPr lang="en-US" sz="2000">
                                    <a:latin typeface="Cambria Math" panose="02040503050406030204" pitchFamily="18" charset="0"/>
                                  </a:rPr>
                                  <m:t>2</m:t>
                                </m:r>
                              </m:num>
                              <m:den>
                                <m:r>
                                  <a:rPr lang="en-US" sz="2000">
                                    <a:latin typeface="Cambria Math" panose="02040503050406030204" pitchFamily="18" charset="0"/>
                                  </a:rPr>
                                  <m:t>5</m:t>
                                </m:r>
                              </m:den>
                            </m:f>
                          </m:e>
                        </m:d>
                      </m:e>
                      <m:sup>
                        <m:r>
                          <a:rPr lang="en-US" sz="2000">
                            <a:latin typeface="Cambria Math" panose="02040503050406030204" pitchFamily="18" charset="0"/>
                          </a:rPr>
                          <m:t>2</m:t>
                        </m:r>
                      </m:sup>
                    </m:sSup>
                  </m:oMath>
                </a14:m>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buFont typeface="+mj-lt"/>
                  <a:buAutoNum type="alphaLcPeriod" startAt="2"/>
                </a:pPr>
                <a:r>
                  <a:rPr lang="en-US" sz="2000" dirty="0">
                    <a:latin typeface="Verdana" panose="020B0604030504040204" pitchFamily="34" charset="0"/>
                    <a:ea typeface="Verdana" panose="020B0604030504040204" pitchFamily="34" charset="0"/>
                  </a:rPr>
                  <a:t> </a:t>
                </a:r>
                <a14:m>
                  <m:oMath xmlns:m="http://schemas.openxmlformats.org/officeDocument/2006/math">
                    <m:sSup>
                      <m:sSupPr>
                        <m:ctrlPr>
                          <a:rPr lang="en-US" sz="2000" i="1">
                            <a:latin typeface="Cambria Math" charset="0"/>
                          </a:rPr>
                        </m:ctrlPr>
                      </m:sSupPr>
                      <m:e>
                        <m:r>
                          <a:rPr lang="en-US" sz="2000">
                            <a:latin typeface="Cambria Math" panose="02040503050406030204" pitchFamily="18" charset="0"/>
                          </a:rPr>
                          <m:t>4</m:t>
                        </m:r>
                      </m:e>
                      <m:sup>
                        <m:r>
                          <a:rPr lang="en-US" sz="2000">
                            <a:latin typeface="Cambria Math" panose="02040503050406030204" pitchFamily="18" charset="0"/>
                          </a:rPr>
                          <m:t>5</m:t>
                        </m:r>
                      </m:sup>
                    </m:sSup>
                  </m:oMath>
                </a14:m>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buFont typeface="+mj-lt"/>
                  <a:buAutoNum type="alphaLcPeriod" startAt="3"/>
                </a:pPr>
                <a:r>
                  <a:rPr lang="en-US" sz="2000" dirty="0">
                    <a:latin typeface="Verdana" panose="020B0604030504040204" pitchFamily="34" charset="0"/>
                    <a:ea typeface="Verdana" panose="020B0604030504040204" pitchFamily="34" charset="0"/>
                  </a:rPr>
                  <a:t> </a:t>
                </a:r>
                <a14:m>
                  <m:oMath xmlns:m="http://schemas.openxmlformats.org/officeDocument/2006/math">
                    <m:sSup>
                      <m:sSupPr>
                        <m:ctrlPr>
                          <a:rPr lang="en-US" sz="2000" i="1">
                            <a:latin typeface="Cambria Math" charset="0"/>
                          </a:rPr>
                        </m:ctrlPr>
                      </m:sSupPr>
                      <m:e>
                        <m:r>
                          <a:rPr lang="en-US" sz="2000">
                            <a:latin typeface="Cambria Math" panose="02040503050406030204" pitchFamily="18" charset="0"/>
                          </a:rPr>
                          <m:t>(6.2)</m:t>
                        </m:r>
                      </m:e>
                      <m:sup>
                        <m:r>
                          <a:rPr lang="en-US" sz="2000">
                            <a:latin typeface="Cambria Math" panose="02040503050406030204" pitchFamily="18" charset="0"/>
                          </a:rPr>
                          <m:t>3</m:t>
                        </m:r>
                      </m:sup>
                    </m:sSup>
                  </m:oMath>
                </a14:m>
                <a:r>
                  <a:rPr lang="en-US" sz="2000" dirty="0">
                    <a:latin typeface="Verdana" panose="020B0604030504040204" pitchFamily="34" charset="0"/>
                    <a:ea typeface="Verdana" panose="020B0604030504040204" pitchFamily="34" charset="0"/>
                    <a:cs typeface="Verdana" panose="020B0604030504040204" pitchFamily="34" charset="0"/>
                  </a:rPr>
                  <a:t> </a:t>
                </a:r>
              </a:p>
            </p:txBody>
          </p:sp>
        </mc:Choice>
        <mc:Fallback xmlns="">
          <p:sp>
            <p:nvSpPr>
              <p:cNvPr id="10" name="TextBox 9">
                <a:extLst>
                  <a:ext uri="{FF2B5EF4-FFF2-40B4-BE49-F238E27FC236}">
                    <a16:creationId xmlns:a16="http://schemas.microsoft.com/office/drawing/2014/main" xmlns:a14="http://schemas.microsoft.com/office/drawing/2010/main" xmlns="" id="{0AB6A3A1-5A0D-C84F-AC89-57E6782F43E5}"/>
                  </a:ext>
                </a:extLst>
              </p:cNvPr>
              <p:cNvSpPr txBox="1">
                <a:spLocks noRot="1" noChangeAspect="1" noMove="1" noResize="1" noEditPoints="1" noAdjustHandles="1" noChangeArrowheads="1" noChangeShapeType="1" noTextEdit="1"/>
              </p:cNvSpPr>
              <p:nvPr/>
            </p:nvSpPr>
            <p:spPr>
              <a:xfrm>
                <a:off x="1291552" y="1386025"/>
                <a:ext cx="9864928" cy="4333494"/>
              </a:xfrm>
              <a:prstGeom prst="rect">
                <a:avLst/>
              </a:prstGeom>
              <a:blipFill rotWithShape="0">
                <a:blip r:embed="rId4"/>
                <a:stretch>
                  <a:fillRect l="-680" t="-844" b="-1125"/>
                </a:stretch>
              </a:blipFill>
            </p:spPr>
            <p:txBody>
              <a:bodyPr/>
              <a:lstStyle/>
              <a:p>
                <a:r>
                  <a:rPr lang="en-US">
                    <a:noFill/>
                  </a:rPr>
                  <a:t> </a:t>
                </a:r>
              </a:p>
            </p:txBody>
          </p:sp>
        </mc:Fallback>
      </mc:AlternateContent>
      <p:sp>
        <p:nvSpPr>
          <p:cNvPr id="11" name="Google Shape;282;g104476d1465_1_17"/>
          <p:cNvSpPr txBox="1"/>
          <p:nvPr/>
        </p:nvSpPr>
        <p:spPr>
          <a:xfrm>
            <a:off x="8720469"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236</a:t>
            </a:r>
            <a:endParaRPr i="1" dirty="0">
              <a:latin typeface="Calibri"/>
              <a:ea typeface="Calibri"/>
              <a:cs typeface="Calibri"/>
              <a:sym typeface="Calibri"/>
            </a:endParaRPr>
          </a:p>
        </p:txBody>
      </p:sp>
      <p:pic>
        <p:nvPicPr>
          <p:cNvPr id="12"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58695"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4459340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xmlns="" id="{93D338D9-F4F3-AC46-BAB5-0DC7D3916679}"/>
              </a:ext>
            </a:extLst>
          </p:cNvPr>
          <p:cNvPicPr preferRelativeResize="0"/>
          <p:nvPr/>
        </p:nvPicPr>
        <p:blipFill rotWithShape="1">
          <a:blip r:embed="rId3">
            <a:alphaModFix/>
          </a:blip>
          <a:srcRect/>
          <a:stretch/>
        </p:blipFill>
        <p:spPr>
          <a:xfrm>
            <a:off x="4412728" y="2897929"/>
            <a:ext cx="1122440" cy="1062143"/>
          </a:xfrm>
          <a:prstGeom prst="rect">
            <a:avLst/>
          </a:prstGeom>
          <a:noFill/>
          <a:ln>
            <a:noFill/>
          </a:ln>
          <a:effectLst>
            <a:outerShdw blurRad="50800" dist="38100" dir="2700000" algn="tl" rotWithShape="0">
              <a:prstClr val="black">
                <a:alpha val="40000"/>
              </a:prstClr>
            </a:outerShdw>
          </a:effectLst>
        </p:spPr>
      </p:pic>
      <p:sp>
        <p:nvSpPr>
          <p:cNvPr id="7" name="Google Shape;282;g104476d1465_1_17"/>
          <p:cNvSpPr txBox="1"/>
          <p:nvPr/>
        </p:nvSpPr>
        <p:spPr>
          <a:xfrm>
            <a:off x="8720469"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237</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58695"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3731165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Google Shape;428;g103996e1364_0_428">
            <a:extLst>
              <a:ext uri="{FF2B5EF4-FFF2-40B4-BE49-F238E27FC236}">
                <a16:creationId xmlns:a16="http://schemas.microsoft.com/office/drawing/2014/main" xmlns="" id="{07112538-C7A8-8B4A-B739-C3032B04086A}"/>
              </a:ext>
            </a:extLst>
          </p:cNvPr>
          <p:cNvSpPr txBox="1">
            <a:spLocks/>
          </p:cNvSpPr>
          <p:nvPr/>
        </p:nvSpPr>
        <p:spPr>
          <a:xfrm>
            <a:off x="1457647" y="146858"/>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E24E5F"/>
                </a:solidFill>
                <a:latin typeface="Verdana"/>
                <a:ea typeface="Verdana"/>
                <a:cs typeface="Verdana"/>
                <a:sym typeface="Verdana"/>
              </a:rPr>
              <a:t>6.1.6 Your Turn!</a:t>
            </a:r>
          </a:p>
        </p:txBody>
      </p:sp>
      <p:pic>
        <p:nvPicPr>
          <p:cNvPr id="9" name="Google Shape;430;g103996e1364_0_428">
            <a:extLst>
              <a:ext uri="{FF2B5EF4-FFF2-40B4-BE49-F238E27FC236}">
                <a16:creationId xmlns:a16="http://schemas.microsoft.com/office/drawing/2014/main" xmlns="" id="{032D5487-B5A9-DE4B-AE87-33198BE16145}"/>
              </a:ext>
            </a:extLst>
          </p:cNvPr>
          <p:cNvPicPr preferRelativeResize="0"/>
          <p:nvPr/>
        </p:nvPicPr>
        <p:blipFill rotWithShape="1">
          <a:blip r:embed="rId3">
            <a:alphaModFix/>
          </a:blip>
          <a:srcRect/>
          <a:stretch/>
        </p:blipFill>
        <p:spPr>
          <a:xfrm>
            <a:off x="710347" y="146858"/>
            <a:ext cx="747300" cy="747300"/>
          </a:xfrm>
          <a:prstGeom prst="rect">
            <a:avLst/>
          </a:prstGeom>
          <a:noFill/>
          <a:ln>
            <a:noFill/>
          </a:ln>
        </p:spPr>
      </p:pic>
      <p:sp>
        <p:nvSpPr>
          <p:cNvPr id="12" name="TextBox 11">
            <a:extLst>
              <a:ext uri="{FF2B5EF4-FFF2-40B4-BE49-F238E27FC236}">
                <a16:creationId xmlns:a16="http://schemas.microsoft.com/office/drawing/2014/main" xmlns="" id="{759C3E41-93EC-B84D-963F-86A3B15AC1C6}"/>
              </a:ext>
            </a:extLst>
          </p:cNvPr>
          <p:cNvSpPr txBox="1"/>
          <p:nvPr/>
        </p:nvSpPr>
        <p:spPr>
          <a:xfrm>
            <a:off x="1457647" y="1386025"/>
            <a:ext cx="9532738" cy="615553"/>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For each set of expressions, circle the equivalent expressions.</a:t>
            </a:r>
          </a:p>
          <a:p>
            <a:pPr lvl="0"/>
            <a:endParaRPr lang="en-US" dirty="0"/>
          </a:p>
        </p:txBody>
      </p:sp>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xmlns="" id="{B87950C6-AE22-924B-B196-BB5C24510EC8}"/>
                  </a:ext>
                </a:extLst>
              </p:cNvPr>
              <p:cNvGraphicFramePr>
                <a:graphicFrameLocks noGrp="1"/>
              </p:cNvGraphicFramePr>
              <p:nvPr>
                <p:extLst>
                  <p:ext uri="{D42A27DB-BD31-4B8C-83A1-F6EECF244321}">
                    <p14:modId xmlns:p14="http://schemas.microsoft.com/office/powerpoint/2010/main" val="430489041"/>
                  </p:ext>
                </p:extLst>
              </p:nvPr>
            </p:nvGraphicFramePr>
            <p:xfrm>
              <a:off x="2146200" y="2374330"/>
              <a:ext cx="6943090" cy="326136"/>
            </p:xfrm>
            <a:graphic>
              <a:graphicData uri="http://schemas.openxmlformats.org/drawingml/2006/table">
                <a:tbl>
                  <a:tblPr firstRow="1" firstCol="1" bandRow="1">
                    <a:tableStyleId>{A91F0D33-8C57-4600-99A7-42BC86742BE1}</a:tableStyleId>
                  </a:tblPr>
                  <a:tblGrid>
                    <a:gridCol w="1735455">
                      <a:extLst>
                        <a:ext uri="{9D8B030D-6E8A-4147-A177-3AD203B41FA5}">
                          <a16:colId xmlns:a16="http://schemas.microsoft.com/office/drawing/2014/main" xmlns="" val="577380456"/>
                        </a:ext>
                      </a:extLst>
                    </a:gridCol>
                    <a:gridCol w="1735455">
                      <a:extLst>
                        <a:ext uri="{9D8B030D-6E8A-4147-A177-3AD203B41FA5}">
                          <a16:colId xmlns:a16="http://schemas.microsoft.com/office/drawing/2014/main" xmlns="" val="2894239776"/>
                        </a:ext>
                      </a:extLst>
                    </a:gridCol>
                    <a:gridCol w="1736090">
                      <a:extLst>
                        <a:ext uri="{9D8B030D-6E8A-4147-A177-3AD203B41FA5}">
                          <a16:colId xmlns:a16="http://schemas.microsoft.com/office/drawing/2014/main" xmlns="" val="3464190149"/>
                        </a:ext>
                      </a:extLst>
                    </a:gridCol>
                    <a:gridCol w="1736090">
                      <a:extLst>
                        <a:ext uri="{9D8B030D-6E8A-4147-A177-3AD203B41FA5}">
                          <a16:colId xmlns:a16="http://schemas.microsoft.com/office/drawing/2014/main" xmlns="" val="1626237906"/>
                        </a:ext>
                      </a:extLst>
                    </a:gridCol>
                  </a:tblGrid>
                  <a:tr h="0">
                    <a:tc>
                      <a:txBody>
                        <a:bodyPr/>
                        <a:lstStyle/>
                        <a:p>
                          <a:pPr marL="342900" marR="0" lvl="0" indent="-342900" algn="ctr">
                            <a:lnSpc>
                              <a:spcPct val="107000"/>
                            </a:lnSpc>
                            <a:spcBef>
                              <a:spcPts val="0"/>
                            </a:spcBef>
                            <a:spcAft>
                              <a:spcPts val="0"/>
                            </a:spcAft>
                            <a:buFont typeface="+mj-lt"/>
                            <a:buAutoNum type="alphaLcPeriod"/>
                          </a:pPr>
                          <a14:m>
                            <m:oMath xmlns:m="http://schemas.openxmlformats.org/officeDocument/2006/math">
                              <m:sSup>
                                <m:sSupPr>
                                  <m:ctrlPr>
                                    <a:rPr lang="en-US" sz="2000" i="1">
                                      <a:effectLst/>
                                      <a:latin typeface="Cambria Math" charset="0"/>
                                    </a:rPr>
                                  </m:ctrlPr>
                                </m:sSupPr>
                                <m:e>
                                  <m:d>
                                    <m:dPr>
                                      <m:ctrlPr>
                                        <a:rPr lang="en-US" sz="2000" i="1">
                                          <a:effectLst/>
                                          <a:latin typeface="Cambria Math" charset="0"/>
                                        </a:rPr>
                                      </m:ctrlPr>
                                    </m:dPr>
                                    <m:e>
                                      <m:r>
                                        <a:rPr lang="en-US" sz="2000">
                                          <a:effectLst/>
                                          <a:latin typeface="Cambria Math" panose="02040503050406030204" pitchFamily="18" charset="0"/>
                                        </a:rPr>
                                        <m:t>4</m:t>
                                      </m:r>
                                    </m:e>
                                  </m:d>
                                </m:e>
                                <m:sup>
                                  <m:r>
                                    <a:rPr lang="en-US" sz="2000">
                                      <a:effectLst/>
                                      <a:latin typeface="Cambria Math" panose="02040503050406030204" pitchFamily="18" charset="0"/>
                                    </a:rPr>
                                    <m:t>3</m:t>
                                  </m:r>
                                </m:sup>
                              </m:sSup>
                            </m:oMath>
                          </a14:m>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charset="0"/>
                                      </a:rPr>
                                    </m:ctrlPr>
                                  </m:sSupPr>
                                  <m:e>
                                    <m:d>
                                      <m:dPr>
                                        <m:ctrlPr>
                                          <a:rPr lang="en-US" sz="2000" i="1">
                                            <a:effectLst/>
                                            <a:latin typeface="Cambria Math" charset="0"/>
                                          </a:rPr>
                                        </m:ctrlPr>
                                      </m:dPr>
                                      <m:e>
                                        <m:r>
                                          <a:rPr lang="en-US" sz="2000">
                                            <a:effectLst/>
                                            <a:latin typeface="Cambria Math" panose="02040503050406030204" pitchFamily="18" charset="0"/>
                                          </a:rPr>
                                          <m:t>3</m:t>
                                        </m:r>
                                      </m:e>
                                    </m:d>
                                  </m:e>
                                  <m:sup>
                                    <m:r>
                                      <a:rPr lang="en-US" sz="2000">
                                        <a:effectLst/>
                                        <a:latin typeface="Cambria Math" panose="02040503050406030204" pitchFamily="18" charset="0"/>
                                      </a:rPr>
                                      <m:t>4</m:t>
                                    </m:r>
                                  </m:sup>
                                </m:sSup>
                              </m:oMath>
                            </m:oMathPara>
                          </a14:m>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d>
                                  <m:dPr>
                                    <m:ctrlPr>
                                      <a:rPr lang="en-US" sz="2000" i="1">
                                        <a:effectLst/>
                                        <a:latin typeface="Cambria Math" charset="0"/>
                                      </a:rPr>
                                    </m:ctrlPr>
                                  </m:dPr>
                                  <m:e>
                                    <m:r>
                                      <a:rPr lang="en-US" sz="2000">
                                        <a:effectLst/>
                                        <a:latin typeface="Cambria Math" panose="02040503050406030204" pitchFamily="18" charset="0"/>
                                      </a:rPr>
                                      <m:t>4</m:t>
                                    </m:r>
                                  </m:e>
                                </m:d>
                                <m:d>
                                  <m:dPr>
                                    <m:ctrlPr>
                                      <a:rPr lang="en-US" sz="2000" i="1">
                                        <a:effectLst/>
                                        <a:latin typeface="Cambria Math" charset="0"/>
                                      </a:rPr>
                                    </m:ctrlPr>
                                  </m:dPr>
                                  <m:e>
                                    <m:r>
                                      <a:rPr lang="en-US" sz="2000">
                                        <a:effectLst/>
                                        <a:latin typeface="Cambria Math" panose="02040503050406030204" pitchFamily="18" charset="0"/>
                                      </a:rPr>
                                      <m:t>4</m:t>
                                    </m:r>
                                  </m:e>
                                </m:d>
                                <m:d>
                                  <m:dPr>
                                    <m:ctrlPr>
                                      <a:rPr lang="en-US" sz="2000" i="1">
                                        <a:effectLst/>
                                        <a:latin typeface="Cambria Math" charset="0"/>
                                      </a:rPr>
                                    </m:ctrlPr>
                                  </m:dPr>
                                  <m:e>
                                    <m:r>
                                      <a:rPr lang="en-US" sz="2000">
                                        <a:effectLst/>
                                        <a:latin typeface="Cambria Math" panose="02040503050406030204" pitchFamily="18" charset="0"/>
                                      </a:rPr>
                                      <m:t>4</m:t>
                                    </m:r>
                                  </m:e>
                                </m:d>
                              </m:oMath>
                            </m:oMathPara>
                          </a14:m>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4+4+4</m:t>
                                </m:r>
                              </m:oMath>
                            </m:oMathPara>
                          </a14:m>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xmlns="" val="1855717833"/>
                      </a:ext>
                    </a:extLst>
                  </a:tr>
                </a:tbl>
              </a:graphicData>
            </a:graphic>
          </p:graphicFrame>
        </mc:Choice>
        <mc:Fallback xmlns="">
          <p:graphicFrame>
            <p:nvGraphicFramePr>
              <p:cNvPr id="5" name="Table 4">
                <a:extLst>
                  <a:ext uri="{FF2B5EF4-FFF2-40B4-BE49-F238E27FC236}">
                    <a16:creationId xmlns:a16="http://schemas.microsoft.com/office/drawing/2014/main" id="{B87950C6-AE22-924B-B196-BB5C24510EC8}"/>
                  </a:ext>
                </a:extLst>
              </p:cNvPr>
              <p:cNvGraphicFramePr>
                <a:graphicFrameLocks noGrp="1"/>
              </p:cNvGraphicFramePr>
              <p:nvPr>
                <p:extLst>
                  <p:ext uri="{D42A27DB-BD31-4B8C-83A1-F6EECF244321}">
                    <p14:modId xmlns:p14="http://schemas.microsoft.com/office/powerpoint/2010/main" val="430489041"/>
                  </p:ext>
                </p:extLst>
              </p:nvPr>
            </p:nvGraphicFramePr>
            <p:xfrm>
              <a:off x="622200" y="2374330"/>
              <a:ext cx="6943090" cy="332677"/>
            </p:xfrm>
            <a:graphic>
              <a:graphicData uri="http://schemas.openxmlformats.org/drawingml/2006/table">
                <a:tbl>
                  <a:tblPr firstRow="1" firstCol="1" bandRow="1">
                    <a:tableStyleId>{A91F0D33-8C57-4600-99A7-42BC86742BE1}</a:tableStyleId>
                  </a:tblPr>
                  <a:tblGrid>
                    <a:gridCol w="1735455">
                      <a:extLst>
                        <a:ext uri="{9D8B030D-6E8A-4147-A177-3AD203B41FA5}">
                          <a16:colId xmlns:a16="http://schemas.microsoft.com/office/drawing/2014/main" val="577380456"/>
                        </a:ext>
                      </a:extLst>
                    </a:gridCol>
                    <a:gridCol w="1735455">
                      <a:extLst>
                        <a:ext uri="{9D8B030D-6E8A-4147-A177-3AD203B41FA5}">
                          <a16:colId xmlns:a16="http://schemas.microsoft.com/office/drawing/2014/main" val="2894239776"/>
                        </a:ext>
                      </a:extLst>
                    </a:gridCol>
                    <a:gridCol w="1736090">
                      <a:extLst>
                        <a:ext uri="{9D8B030D-6E8A-4147-A177-3AD203B41FA5}">
                          <a16:colId xmlns:a16="http://schemas.microsoft.com/office/drawing/2014/main" val="3464190149"/>
                        </a:ext>
                      </a:extLst>
                    </a:gridCol>
                    <a:gridCol w="1736090">
                      <a:extLst>
                        <a:ext uri="{9D8B030D-6E8A-4147-A177-3AD203B41FA5}">
                          <a16:colId xmlns:a16="http://schemas.microsoft.com/office/drawing/2014/main" val="1626237906"/>
                        </a:ext>
                      </a:extLst>
                    </a:gridCol>
                  </a:tblGrid>
                  <a:tr h="332677">
                    <a:tc>
                      <a:txBody>
                        <a:bodyPr/>
                        <a:lstStyle/>
                        <a:p>
                          <a:endParaRPr lang="en-US"/>
                        </a:p>
                      </a:txBody>
                      <a:tcPr marL="68580" marR="68580" marT="0" marB="0" anchor="ctr">
                        <a:blipFill>
                          <a:blip r:embed="rId5"/>
                          <a:stretch>
                            <a:fillRect t="-10714" r="-300730" b="-32143"/>
                          </a:stretch>
                        </a:blipFill>
                      </a:tcPr>
                    </a:tc>
                    <a:tc>
                      <a:txBody>
                        <a:bodyPr/>
                        <a:lstStyle/>
                        <a:p>
                          <a:endParaRPr lang="en-US"/>
                        </a:p>
                      </a:txBody>
                      <a:tcPr marL="68580" marR="68580" marT="0" marB="0" anchor="ctr">
                        <a:blipFill>
                          <a:blip r:embed="rId5"/>
                          <a:stretch>
                            <a:fillRect l="-100000" t="-10714" r="-200730" b="-32143"/>
                          </a:stretch>
                        </a:blipFill>
                      </a:tcPr>
                    </a:tc>
                    <a:tc>
                      <a:txBody>
                        <a:bodyPr/>
                        <a:lstStyle/>
                        <a:p>
                          <a:endParaRPr lang="en-US"/>
                        </a:p>
                      </a:txBody>
                      <a:tcPr marL="68580" marR="68580" marT="0" marB="0" anchor="ctr">
                        <a:blipFill>
                          <a:blip r:embed="rId5"/>
                          <a:stretch>
                            <a:fillRect l="-200000" t="-10714" r="-100730" b="-32143"/>
                          </a:stretch>
                        </a:blipFill>
                      </a:tcPr>
                    </a:tc>
                    <a:tc>
                      <a:txBody>
                        <a:bodyPr/>
                        <a:lstStyle/>
                        <a:p>
                          <a:endParaRPr lang="en-US"/>
                        </a:p>
                      </a:txBody>
                      <a:tcPr marL="68580" marR="68580" marT="0" marB="0" anchor="ctr">
                        <a:blipFill>
                          <a:blip r:embed="rId5"/>
                          <a:stretch>
                            <a:fillRect l="-300000" t="-10714" r="-730" b="-32143"/>
                          </a:stretch>
                        </a:blipFill>
                      </a:tcPr>
                    </a:tc>
                    <a:extLst>
                      <a:ext uri="{0D108BD9-81ED-4DB2-BD59-A6C34878D82A}">
                        <a16:rowId xmlns:a16="http://schemas.microsoft.com/office/drawing/2014/main" val="1855717833"/>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xmlns="" id="{2C844415-A337-6C4B-853F-951645287CDC}"/>
                  </a:ext>
                </a:extLst>
              </p:cNvPr>
              <p:cNvGraphicFramePr>
                <a:graphicFrameLocks noGrp="1"/>
              </p:cNvGraphicFramePr>
              <p:nvPr>
                <p:extLst>
                  <p:ext uri="{D42A27DB-BD31-4B8C-83A1-F6EECF244321}">
                    <p14:modId xmlns:p14="http://schemas.microsoft.com/office/powerpoint/2010/main" val="2994419345"/>
                  </p:ext>
                </p:extLst>
              </p:nvPr>
            </p:nvGraphicFramePr>
            <p:xfrm>
              <a:off x="2146200" y="3804856"/>
              <a:ext cx="6943090" cy="683959"/>
            </p:xfrm>
            <a:graphic>
              <a:graphicData uri="http://schemas.openxmlformats.org/drawingml/2006/table">
                <a:tbl>
                  <a:tblPr firstRow="1" firstCol="1" bandRow="1">
                    <a:tableStyleId>{A91F0D33-8C57-4600-99A7-42BC86742BE1}</a:tableStyleId>
                  </a:tblPr>
                  <a:tblGrid>
                    <a:gridCol w="1735455">
                      <a:extLst>
                        <a:ext uri="{9D8B030D-6E8A-4147-A177-3AD203B41FA5}">
                          <a16:colId xmlns:a16="http://schemas.microsoft.com/office/drawing/2014/main" xmlns="" val="3026775056"/>
                        </a:ext>
                      </a:extLst>
                    </a:gridCol>
                    <a:gridCol w="1735455">
                      <a:extLst>
                        <a:ext uri="{9D8B030D-6E8A-4147-A177-3AD203B41FA5}">
                          <a16:colId xmlns:a16="http://schemas.microsoft.com/office/drawing/2014/main" xmlns="" val="957947223"/>
                        </a:ext>
                      </a:extLst>
                    </a:gridCol>
                    <a:gridCol w="1736090">
                      <a:extLst>
                        <a:ext uri="{9D8B030D-6E8A-4147-A177-3AD203B41FA5}">
                          <a16:colId xmlns:a16="http://schemas.microsoft.com/office/drawing/2014/main" xmlns="" val="1435309949"/>
                        </a:ext>
                      </a:extLst>
                    </a:gridCol>
                    <a:gridCol w="1736090">
                      <a:extLst>
                        <a:ext uri="{9D8B030D-6E8A-4147-A177-3AD203B41FA5}">
                          <a16:colId xmlns:a16="http://schemas.microsoft.com/office/drawing/2014/main" xmlns="" val="1402560446"/>
                        </a:ext>
                      </a:extLst>
                    </a:gridCol>
                  </a:tblGrid>
                  <a:tr h="0">
                    <a:tc>
                      <a:txBody>
                        <a:bodyPr/>
                        <a:lstStyle/>
                        <a:p>
                          <a:pPr marL="457200" marR="0" lvl="0" indent="-457200" algn="ctr">
                            <a:lnSpc>
                              <a:spcPct val="107000"/>
                            </a:lnSpc>
                            <a:spcBef>
                              <a:spcPts val="0"/>
                            </a:spcBef>
                            <a:spcAft>
                              <a:spcPts val="0"/>
                            </a:spcAft>
                            <a:buFont typeface="+mj-lt"/>
                            <a:buAutoNum type="alphaLcPeriod" startAt="2"/>
                          </a:pPr>
                          <a14:m>
                            <m:oMath xmlns:m="http://schemas.openxmlformats.org/officeDocument/2006/math">
                              <m:sSup>
                                <m:sSupPr>
                                  <m:ctrlPr>
                                    <a:rPr lang="en-US" sz="2000" i="1">
                                      <a:effectLst/>
                                      <a:latin typeface="Cambria Math" charset="0"/>
                                    </a:rPr>
                                  </m:ctrlPr>
                                </m:sSupPr>
                                <m:e>
                                  <m:d>
                                    <m:dPr>
                                      <m:ctrlPr>
                                        <a:rPr lang="en-US" sz="2000" i="1">
                                          <a:effectLst/>
                                          <a:latin typeface="Cambria Math" charset="0"/>
                                        </a:rPr>
                                      </m:ctrlPr>
                                    </m:dPr>
                                    <m:e>
                                      <m:f>
                                        <m:fPr>
                                          <m:ctrlPr>
                                            <a:rPr lang="en-US" sz="2000" i="1">
                                              <a:effectLst/>
                                              <a:latin typeface="Cambria Math" charset="0"/>
                                            </a:rPr>
                                          </m:ctrlPr>
                                        </m:fPr>
                                        <m:num>
                                          <m:r>
                                            <a:rPr lang="en-US" sz="2000">
                                              <a:effectLst/>
                                              <a:latin typeface="Cambria Math" panose="02040503050406030204" pitchFamily="18" charset="0"/>
                                            </a:rPr>
                                            <m:t>5</m:t>
                                          </m:r>
                                        </m:num>
                                        <m:den>
                                          <m:r>
                                            <a:rPr lang="en-US" sz="2000">
                                              <a:effectLst/>
                                              <a:latin typeface="Cambria Math" panose="02040503050406030204" pitchFamily="18" charset="0"/>
                                            </a:rPr>
                                            <m:t>3</m:t>
                                          </m:r>
                                        </m:den>
                                      </m:f>
                                    </m:e>
                                  </m:d>
                                </m:e>
                                <m:sup>
                                  <m:r>
                                    <a:rPr lang="en-US" sz="2000">
                                      <a:effectLst/>
                                      <a:latin typeface="Cambria Math" panose="02040503050406030204" pitchFamily="18" charset="0"/>
                                    </a:rPr>
                                    <m:t>2</m:t>
                                  </m:r>
                                </m:sup>
                              </m:sSup>
                            </m:oMath>
                          </a14:m>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charset="0"/>
                                      </a:rPr>
                                    </m:ctrlPr>
                                  </m:sSupPr>
                                  <m:e>
                                    <m:d>
                                      <m:dPr>
                                        <m:ctrlPr>
                                          <a:rPr lang="en-US" sz="2000" i="1">
                                            <a:effectLst/>
                                            <a:latin typeface="Cambria Math" charset="0"/>
                                          </a:rPr>
                                        </m:ctrlPr>
                                      </m:dPr>
                                      <m:e>
                                        <m:f>
                                          <m:fPr>
                                            <m:ctrlPr>
                                              <a:rPr lang="en-US" sz="2000" i="1">
                                                <a:effectLst/>
                                                <a:latin typeface="Cambria Math" charset="0"/>
                                              </a:rPr>
                                            </m:ctrlPr>
                                          </m:fPr>
                                          <m:num>
                                            <m:r>
                                              <a:rPr lang="en-US" sz="2000">
                                                <a:effectLst/>
                                                <a:latin typeface="Cambria Math" panose="02040503050406030204" pitchFamily="18" charset="0"/>
                                              </a:rPr>
                                              <m:t>3</m:t>
                                            </m:r>
                                          </m:num>
                                          <m:den>
                                            <m:r>
                                              <a:rPr lang="en-US" sz="2000">
                                                <a:effectLst/>
                                                <a:latin typeface="Cambria Math" panose="02040503050406030204" pitchFamily="18" charset="0"/>
                                              </a:rPr>
                                              <m:t>5</m:t>
                                            </m:r>
                                          </m:den>
                                        </m:f>
                                      </m:e>
                                    </m:d>
                                  </m:e>
                                  <m:sup>
                                    <m:r>
                                      <a:rPr lang="en-US" sz="2000">
                                        <a:effectLst/>
                                        <a:latin typeface="Cambria Math" panose="02040503050406030204" pitchFamily="18" charset="0"/>
                                      </a:rPr>
                                      <m:t>2</m:t>
                                    </m:r>
                                  </m:sup>
                                </m:sSup>
                              </m:oMath>
                            </m:oMathPara>
                          </a14:m>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f>
                                  <m:fPr>
                                    <m:ctrlPr>
                                      <a:rPr lang="en-US" sz="2000" i="1">
                                        <a:effectLst/>
                                        <a:latin typeface="Cambria Math" charset="0"/>
                                      </a:rPr>
                                    </m:ctrlPr>
                                  </m:fPr>
                                  <m:num>
                                    <m:r>
                                      <a:rPr lang="en-US" sz="2000">
                                        <a:effectLst/>
                                        <a:latin typeface="Cambria Math" panose="02040503050406030204" pitchFamily="18" charset="0"/>
                                      </a:rPr>
                                      <m:t>10</m:t>
                                    </m:r>
                                  </m:num>
                                  <m:den>
                                    <m:r>
                                      <a:rPr lang="en-US" sz="2000">
                                        <a:effectLst/>
                                        <a:latin typeface="Cambria Math" panose="02040503050406030204" pitchFamily="18" charset="0"/>
                                      </a:rPr>
                                      <m:t>6</m:t>
                                    </m:r>
                                  </m:den>
                                </m:f>
                              </m:oMath>
                            </m:oMathPara>
                          </a14:m>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f>
                                  <m:fPr>
                                    <m:ctrlPr>
                                      <a:rPr lang="en-US" sz="2000" i="1">
                                        <a:effectLst/>
                                        <a:latin typeface="Cambria Math" charset="0"/>
                                      </a:rPr>
                                    </m:ctrlPr>
                                  </m:fPr>
                                  <m:num>
                                    <m:r>
                                      <a:rPr lang="en-US" sz="2000">
                                        <a:effectLst/>
                                        <a:latin typeface="Cambria Math" panose="02040503050406030204" pitchFamily="18" charset="0"/>
                                      </a:rPr>
                                      <m:t>25</m:t>
                                    </m:r>
                                  </m:num>
                                  <m:den>
                                    <m:r>
                                      <a:rPr lang="en-US" sz="2000">
                                        <a:effectLst/>
                                        <a:latin typeface="Cambria Math" panose="02040503050406030204" pitchFamily="18" charset="0"/>
                                      </a:rPr>
                                      <m:t>9</m:t>
                                    </m:r>
                                  </m:den>
                                </m:f>
                              </m:oMath>
                            </m:oMathPara>
                          </a14:m>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xmlns="" val="3436839651"/>
                      </a:ext>
                    </a:extLst>
                  </a:tr>
                </a:tbl>
              </a:graphicData>
            </a:graphic>
          </p:graphicFrame>
        </mc:Choice>
        <mc:Fallback xmlns="">
          <p:graphicFrame>
            <p:nvGraphicFramePr>
              <p:cNvPr id="7" name="Table 6">
                <a:extLst>
                  <a:ext uri="{FF2B5EF4-FFF2-40B4-BE49-F238E27FC236}">
                    <a16:creationId xmlns:a16="http://schemas.microsoft.com/office/drawing/2014/main" id="{2C844415-A337-6C4B-853F-951645287CDC}"/>
                  </a:ext>
                </a:extLst>
              </p:cNvPr>
              <p:cNvGraphicFramePr>
                <a:graphicFrameLocks noGrp="1"/>
              </p:cNvGraphicFramePr>
              <p:nvPr>
                <p:extLst>
                  <p:ext uri="{D42A27DB-BD31-4B8C-83A1-F6EECF244321}">
                    <p14:modId xmlns:p14="http://schemas.microsoft.com/office/powerpoint/2010/main" val="2994419345"/>
                  </p:ext>
                </p:extLst>
              </p:nvPr>
            </p:nvGraphicFramePr>
            <p:xfrm>
              <a:off x="622200" y="3804855"/>
              <a:ext cx="6943090" cy="692277"/>
            </p:xfrm>
            <a:graphic>
              <a:graphicData uri="http://schemas.openxmlformats.org/drawingml/2006/table">
                <a:tbl>
                  <a:tblPr firstRow="1" firstCol="1" bandRow="1">
                    <a:tableStyleId>{A91F0D33-8C57-4600-99A7-42BC86742BE1}</a:tableStyleId>
                  </a:tblPr>
                  <a:tblGrid>
                    <a:gridCol w="1735455">
                      <a:extLst>
                        <a:ext uri="{9D8B030D-6E8A-4147-A177-3AD203B41FA5}">
                          <a16:colId xmlns:a16="http://schemas.microsoft.com/office/drawing/2014/main" val="3026775056"/>
                        </a:ext>
                      </a:extLst>
                    </a:gridCol>
                    <a:gridCol w="1735455">
                      <a:extLst>
                        <a:ext uri="{9D8B030D-6E8A-4147-A177-3AD203B41FA5}">
                          <a16:colId xmlns:a16="http://schemas.microsoft.com/office/drawing/2014/main" val="957947223"/>
                        </a:ext>
                      </a:extLst>
                    </a:gridCol>
                    <a:gridCol w="1736090">
                      <a:extLst>
                        <a:ext uri="{9D8B030D-6E8A-4147-A177-3AD203B41FA5}">
                          <a16:colId xmlns:a16="http://schemas.microsoft.com/office/drawing/2014/main" val="1435309949"/>
                        </a:ext>
                      </a:extLst>
                    </a:gridCol>
                    <a:gridCol w="1736090">
                      <a:extLst>
                        <a:ext uri="{9D8B030D-6E8A-4147-A177-3AD203B41FA5}">
                          <a16:colId xmlns:a16="http://schemas.microsoft.com/office/drawing/2014/main" val="1402560446"/>
                        </a:ext>
                      </a:extLst>
                    </a:gridCol>
                  </a:tblGrid>
                  <a:tr h="692277">
                    <a:tc>
                      <a:txBody>
                        <a:bodyPr/>
                        <a:lstStyle/>
                        <a:p>
                          <a:endParaRPr lang="en-US"/>
                        </a:p>
                      </a:txBody>
                      <a:tcPr marL="68580" marR="68580" marT="0" marB="0" anchor="ctr">
                        <a:blipFill>
                          <a:blip r:embed="rId6"/>
                          <a:stretch>
                            <a:fillRect r="-300730" b="-8929"/>
                          </a:stretch>
                        </a:blipFill>
                      </a:tcPr>
                    </a:tc>
                    <a:tc>
                      <a:txBody>
                        <a:bodyPr/>
                        <a:lstStyle/>
                        <a:p>
                          <a:endParaRPr lang="en-US"/>
                        </a:p>
                      </a:txBody>
                      <a:tcPr marL="68580" marR="68580" marT="0" marB="0" anchor="ctr">
                        <a:blipFill>
                          <a:blip r:embed="rId6"/>
                          <a:stretch>
                            <a:fillRect l="-100000" r="-200730" b="-8929"/>
                          </a:stretch>
                        </a:blipFill>
                      </a:tcPr>
                    </a:tc>
                    <a:tc>
                      <a:txBody>
                        <a:bodyPr/>
                        <a:lstStyle/>
                        <a:p>
                          <a:endParaRPr lang="en-US"/>
                        </a:p>
                      </a:txBody>
                      <a:tcPr marL="68580" marR="68580" marT="0" marB="0" anchor="ctr">
                        <a:blipFill>
                          <a:blip r:embed="rId6"/>
                          <a:stretch>
                            <a:fillRect l="-200000" r="-100730" b="-8929"/>
                          </a:stretch>
                        </a:blipFill>
                      </a:tcPr>
                    </a:tc>
                    <a:tc>
                      <a:txBody>
                        <a:bodyPr/>
                        <a:lstStyle/>
                        <a:p>
                          <a:endParaRPr lang="en-US"/>
                        </a:p>
                      </a:txBody>
                      <a:tcPr marL="68580" marR="68580" marT="0" marB="0" anchor="ctr">
                        <a:blipFill>
                          <a:blip r:embed="rId6"/>
                          <a:stretch>
                            <a:fillRect l="-300000" r="-730" b="-8929"/>
                          </a:stretch>
                        </a:blipFill>
                      </a:tcPr>
                    </a:tc>
                    <a:extLst>
                      <a:ext uri="{0D108BD9-81ED-4DB2-BD59-A6C34878D82A}">
                        <a16:rowId xmlns:a16="http://schemas.microsoft.com/office/drawing/2014/main" val="3436839651"/>
                      </a:ext>
                    </a:extLst>
                  </a:tr>
                </a:tbl>
              </a:graphicData>
            </a:graphic>
          </p:graphicFrame>
        </mc:Fallback>
      </mc:AlternateContent>
      <p:sp>
        <p:nvSpPr>
          <p:cNvPr id="10" name="Google Shape;282;g104476d1465_1_17"/>
          <p:cNvSpPr txBox="1"/>
          <p:nvPr/>
        </p:nvSpPr>
        <p:spPr>
          <a:xfrm>
            <a:off x="8720469"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237</a:t>
            </a:r>
            <a:endParaRPr i="1" dirty="0">
              <a:latin typeface="Calibri"/>
              <a:ea typeface="Calibri"/>
              <a:cs typeface="Calibri"/>
              <a:sym typeface="Calibri"/>
            </a:endParaRPr>
          </a:p>
        </p:txBody>
      </p:sp>
      <p:pic>
        <p:nvPicPr>
          <p:cNvPr id="13" name="Google Shape;283;g104476d1465_1_17"/>
          <p:cNvPicPr preferRelativeResize="0"/>
          <p:nvPr/>
        </p:nvPicPr>
        <p:blipFill>
          <a:blip r:embed="rId7" cstate="screen">
            <a:alphaModFix/>
            <a:extLst>
              <a:ext uri="{28A0092B-C50C-407E-A947-70E740481C1C}">
                <a14:useLocalDpi xmlns:a14="http://schemas.microsoft.com/office/drawing/2010/main"/>
              </a:ext>
            </a:extLst>
          </a:blip>
          <a:stretch>
            <a:fillRect/>
          </a:stretch>
        </p:blipFill>
        <p:spPr>
          <a:xfrm>
            <a:off x="11458695"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9869233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a16="http://schemas.microsoft.com/office/drawing/2014/main" xmlns="" id="{2FA392D8-3ED3-7940-83A8-1451AA8A08D4}"/>
              </a:ext>
            </a:extLst>
          </p:cNvPr>
          <p:cNvSpPr txBox="1"/>
          <p:nvPr/>
        </p:nvSpPr>
        <p:spPr>
          <a:xfrm>
            <a:off x="1037230" y="520393"/>
            <a:ext cx="10268206" cy="707886"/>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Complete the table by rewriting the numeric expression in the form indicated. Then, find the value of each expression.</a:t>
            </a: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xmlns="" id="{26DD756F-D814-3343-BBA4-0D55A2370EA7}"/>
                  </a:ext>
                </a:extLst>
              </p:cNvPr>
              <p:cNvGraphicFramePr>
                <a:graphicFrameLocks noGrp="1"/>
              </p:cNvGraphicFramePr>
              <p:nvPr>
                <p:extLst>
                  <p:ext uri="{D42A27DB-BD31-4B8C-83A1-F6EECF244321}">
                    <p14:modId xmlns:p14="http://schemas.microsoft.com/office/powerpoint/2010/main" val="3797510578"/>
                  </p:ext>
                </p:extLst>
              </p:nvPr>
            </p:nvGraphicFramePr>
            <p:xfrm>
              <a:off x="2770908" y="1609553"/>
              <a:ext cx="6800850" cy="3395472"/>
            </p:xfrm>
            <a:graphic>
              <a:graphicData uri="http://schemas.openxmlformats.org/drawingml/2006/table">
                <a:tbl>
                  <a:tblPr firstRow="1" firstCol="1" bandRow="1">
                    <a:tableStyleId>{A91F0D33-8C57-4600-99A7-42BC86742BE1}</a:tableStyleId>
                  </a:tblPr>
                  <a:tblGrid>
                    <a:gridCol w="2259965">
                      <a:extLst>
                        <a:ext uri="{9D8B030D-6E8A-4147-A177-3AD203B41FA5}">
                          <a16:colId xmlns:a16="http://schemas.microsoft.com/office/drawing/2014/main" xmlns="" val="1353437119"/>
                        </a:ext>
                      </a:extLst>
                    </a:gridCol>
                    <a:gridCol w="2314575">
                      <a:extLst>
                        <a:ext uri="{9D8B030D-6E8A-4147-A177-3AD203B41FA5}">
                          <a16:colId xmlns:a16="http://schemas.microsoft.com/office/drawing/2014/main" xmlns="" val="894999078"/>
                        </a:ext>
                      </a:extLst>
                    </a:gridCol>
                    <a:gridCol w="2226310">
                      <a:extLst>
                        <a:ext uri="{9D8B030D-6E8A-4147-A177-3AD203B41FA5}">
                          <a16:colId xmlns:a16="http://schemas.microsoft.com/office/drawing/2014/main" xmlns="" val="3723366654"/>
                        </a:ext>
                      </a:extLst>
                    </a:gridCol>
                  </a:tblGrid>
                  <a:tr h="457200">
                    <a:tc>
                      <a:txBody>
                        <a:bodyPr/>
                        <a:lstStyle/>
                        <a:p>
                          <a:pPr marL="0" marR="0" algn="ctr">
                            <a:lnSpc>
                              <a:spcPct val="107000"/>
                            </a:lnSpc>
                            <a:spcBef>
                              <a:spcPts val="0"/>
                            </a:spcBef>
                            <a:spcAft>
                              <a:spcPts val="0"/>
                            </a:spcAft>
                          </a:pPr>
                          <a:r>
                            <a:rPr lang="en-US" sz="2000" b="1">
                              <a:effectLst/>
                              <a:latin typeface="Verdana" panose="020B0604030504040204" pitchFamily="34" charset="0"/>
                              <a:ea typeface="Verdana" panose="020B0604030504040204" pitchFamily="34" charset="0"/>
                              <a:cs typeface="Verdana" panose="020B0604030504040204" pitchFamily="34" charset="0"/>
                            </a:rPr>
                            <a:t>Exponential Form</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2000" b="1">
                              <a:effectLst/>
                              <a:latin typeface="Verdana" panose="020B0604030504040204" pitchFamily="34" charset="0"/>
                              <a:ea typeface="Verdana" panose="020B0604030504040204" pitchFamily="34" charset="0"/>
                              <a:cs typeface="Verdana" panose="020B0604030504040204" pitchFamily="34" charset="0"/>
                            </a:rPr>
                            <a:t>Expanded Form</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Value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154401418"/>
                      </a:ext>
                    </a:extLst>
                  </a:tr>
                  <a:tr h="685800">
                    <a:tc>
                      <a:txBody>
                        <a:bodyPr/>
                        <a:lstStyle/>
                        <a:p>
                          <a:pPr marL="0" marR="0" algn="ctr">
                            <a:lnSpc>
                              <a:spcPct val="107000"/>
                            </a:lnSpc>
                            <a:spcBef>
                              <a:spcPts val="0"/>
                            </a:spcBef>
                            <a:spcAft>
                              <a:spcPts val="0"/>
                            </a:spcAft>
                          </a:pPr>
                          <a:r>
                            <a:rPr lang="en-US" sz="2000">
                              <a:effectLst/>
                            </a:rPr>
                            <a:t> </a:t>
                          </a:r>
                          <a:endParaRPr lang="en-US" sz="20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(11)(11)(11)</m:t>
                                </m:r>
                              </m:oMath>
                            </m:oMathPara>
                          </a14:m>
                          <a:endParaRPr lang="en-US" sz="20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rPr>
                            <a:t> </a:t>
                          </a:r>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817114364"/>
                      </a:ext>
                    </a:extLst>
                  </a:tr>
                  <a:tr h="685800">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charset="0"/>
                                      </a:rPr>
                                    </m:ctrlPr>
                                  </m:sSupPr>
                                  <m:e>
                                    <m:d>
                                      <m:dPr>
                                        <m:ctrlPr>
                                          <a:rPr lang="en-US" sz="2000" i="1">
                                            <a:effectLst/>
                                            <a:latin typeface="Cambria Math" charset="0"/>
                                          </a:rPr>
                                        </m:ctrlPr>
                                      </m:dPr>
                                      <m:e>
                                        <m:f>
                                          <m:fPr>
                                            <m:ctrlPr>
                                              <a:rPr lang="en-US" sz="2000" i="1">
                                                <a:effectLst/>
                                                <a:latin typeface="Cambria Math" charset="0"/>
                                              </a:rPr>
                                            </m:ctrlPr>
                                          </m:fPr>
                                          <m:num>
                                            <m:r>
                                              <a:rPr lang="en-US" sz="2000">
                                                <a:effectLst/>
                                                <a:latin typeface="Cambria Math" panose="02040503050406030204" pitchFamily="18" charset="0"/>
                                              </a:rPr>
                                              <m:t>7</m:t>
                                            </m:r>
                                          </m:num>
                                          <m:den>
                                            <m:r>
                                              <a:rPr lang="en-US" sz="2000">
                                                <a:effectLst/>
                                                <a:latin typeface="Cambria Math" panose="02040503050406030204" pitchFamily="18" charset="0"/>
                                              </a:rPr>
                                              <m:t>15</m:t>
                                            </m:r>
                                          </m:den>
                                        </m:f>
                                      </m:e>
                                    </m:d>
                                  </m:e>
                                  <m:sup>
                                    <m:r>
                                      <a:rPr lang="en-US" sz="2000">
                                        <a:effectLst/>
                                        <a:latin typeface="Cambria Math" panose="02040503050406030204" pitchFamily="18" charset="0"/>
                                      </a:rPr>
                                      <m:t>3</m:t>
                                    </m:r>
                                  </m:sup>
                                </m:sSup>
                              </m:oMath>
                            </m:oMathPara>
                          </a14:m>
                          <a:endParaRPr lang="en-US" sz="20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a:effectLst/>
                            </a:rPr>
                            <a:t> </a:t>
                          </a:r>
                          <a:endParaRPr lang="en-US" sz="20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rPr>
                            <a:t> </a:t>
                          </a:r>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499412655"/>
                      </a:ext>
                    </a:extLst>
                  </a:tr>
                  <a:tr h="685800">
                    <a:tc>
                      <a:txBody>
                        <a:bodyPr/>
                        <a:lstStyle/>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charset="0"/>
                                      </a:rPr>
                                    </m:ctrlPr>
                                  </m:sSupPr>
                                  <m:e>
                                    <m:d>
                                      <m:dPr>
                                        <m:ctrlPr>
                                          <a:rPr lang="en-US" sz="2000" i="1">
                                            <a:effectLst/>
                                            <a:latin typeface="Cambria Math" charset="0"/>
                                          </a:rPr>
                                        </m:ctrlPr>
                                      </m:dPr>
                                      <m:e>
                                        <m:r>
                                          <a:rPr lang="en-US" sz="2000">
                                            <a:effectLst/>
                                            <a:latin typeface="Cambria Math" panose="02040503050406030204" pitchFamily="18" charset="0"/>
                                          </a:rPr>
                                          <m:t>5.2</m:t>
                                        </m:r>
                                      </m:e>
                                    </m:d>
                                  </m:e>
                                  <m:sup>
                                    <m:r>
                                      <a:rPr lang="en-US" sz="2000">
                                        <a:effectLst/>
                                        <a:latin typeface="Cambria Math" panose="02040503050406030204" pitchFamily="18" charset="0"/>
                                      </a:rPr>
                                      <m:t>2</m:t>
                                    </m:r>
                                  </m:sup>
                                </m:sSup>
                              </m:oMath>
                            </m:oMathPara>
                          </a14:m>
                          <a:endParaRPr lang="en-US" sz="20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a:effectLst/>
                            </a:rPr>
                            <a:t> </a:t>
                          </a:r>
                          <a:endParaRPr lang="en-US" sz="20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rPr>
                            <a:t> </a:t>
                          </a:r>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696578414"/>
                      </a:ext>
                    </a:extLst>
                  </a:tr>
                  <a:tr h="685800">
                    <a:tc>
                      <a:txBody>
                        <a:bodyPr/>
                        <a:lstStyle/>
                        <a:p>
                          <a:pPr marL="0" marR="0" algn="ctr">
                            <a:lnSpc>
                              <a:spcPct val="107000"/>
                            </a:lnSpc>
                            <a:spcBef>
                              <a:spcPts val="0"/>
                            </a:spcBef>
                            <a:spcAft>
                              <a:spcPts val="0"/>
                            </a:spcAft>
                          </a:pPr>
                          <a:r>
                            <a:rPr lang="en-US" sz="2000">
                              <a:effectLst/>
                            </a:rPr>
                            <a:t> </a:t>
                          </a:r>
                          <a:endParaRPr lang="en-US" sz="20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f>
                                  <m:fPr>
                                    <m:ctrlPr>
                                      <a:rPr lang="en-US" sz="2000" i="1">
                                        <a:effectLst/>
                                        <a:latin typeface="Cambria Math" charset="0"/>
                                      </a:rPr>
                                    </m:ctrlPr>
                                  </m:fPr>
                                  <m:num>
                                    <m:r>
                                      <a:rPr lang="en-US" sz="2000">
                                        <a:effectLst/>
                                        <a:latin typeface="Cambria Math" panose="02040503050406030204" pitchFamily="18" charset="0"/>
                                      </a:rPr>
                                      <m:t>4</m:t>
                                    </m:r>
                                  </m:num>
                                  <m:den>
                                    <m:r>
                                      <a:rPr lang="en-US" sz="2000">
                                        <a:effectLst/>
                                        <a:latin typeface="Cambria Math" panose="02040503050406030204" pitchFamily="18" charset="0"/>
                                      </a:rPr>
                                      <m:t>5</m:t>
                                    </m:r>
                                  </m:den>
                                </m:f>
                                <m:r>
                                  <a:rPr lang="en-US" sz="2000">
                                    <a:effectLst/>
                                    <a:latin typeface="Cambria Math" panose="02040503050406030204" pitchFamily="18" charset="0"/>
                                  </a:rPr>
                                  <m:t>∙</m:t>
                                </m:r>
                                <m:f>
                                  <m:fPr>
                                    <m:ctrlPr>
                                      <a:rPr lang="en-US" sz="2000" i="1">
                                        <a:effectLst/>
                                        <a:latin typeface="Cambria Math" charset="0"/>
                                      </a:rPr>
                                    </m:ctrlPr>
                                  </m:fPr>
                                  <m:num>
                                    <m:r>
                                      <a:rPr lang="en-US" sz="2000">
                                        <a:effectLst/>
                                        <a:latin typeface="Cambria Math" panose="02040503050406030204" pitchFamily="18" charset="0"/>
                                      </a:rPr>
                                      <m:t>4</m:t>
                                    </m:r>
                                  </m:num>
                                  <m:den>
                                    <m:r>
                                      <a:rPr lang="en-US" sz="2000">
                                        <a:effectLst/>
                                        <a:latin typeface="Cambria Math" panose="02040503050406030204" pitchFamily="18" charset="0"/>
                                      </a:rPr>
                                      <m:t>5</m:t>
                                    </m:r>
                                  </m:den>
                                </m:f>
                                <m:r>
                                  <a:rPr lang="en-US" sz="2000">
                                    <a:effectLst/>
                                    <a:latin typeface="Cambria Math" panose="02040503050406030204" pitchFamily="18" charset="0"/>
                                  </a:rPr>
                                  <m:t>∙</m:t>
                                </m:r>
                                <m:f>
                                  <m:fPr>
                                    <m:ctrlPr>
                                      <a:rPr lang="en-US" sz="2000" i="1">
                                        <a:effectLst/>
                                        <a:latin typeface="Cambria Math" charset="0"/>
                                      </a:rPr>
                                    </m:ctrlPr>
                                  </m:fPr>
                                  <m:num>
                                    <m:r>
                                      <a:rPr lang="en-US" sz="2000">
                                        <a:effectLst/>
                                        <a:latin typeface="Cambria Math" panose="02040503050406030204" pitchFamily="18" charset="0"/>
                                      </a:rPr>
                                      <m:t>4</m:t>
                                    </m:r>
                                  </m:num>
                                  <m:den>
                                    <m:r>
                                      <a:rPr lang="en-US" sz="2000">
                                        <a:effectLst/>
                                        <a:latin typeface="Cambria Math" panose="02040503050406030204" pitchFamily="18" charset="0"/>
                                      </a:rPr>
                                      <m:t>5</m:t>
                                    </m:r>
                                  </m:den>
                                </m:f>
                                <m:r>
                                  <a:rPr lang="en-US" sz="2000">
                                    <a:effectLst/>
                                    <a:latin typeface="Cambria Math" panose="02040503050406030204" pitchFamily="18" charset="0"/>
                                  </a:rPr>
                                  <m:t>∙</m:t>
                                </m:r>
                                <m:f>
                                  <m:fPr>
                                    <m:ctrlPr>
                                      <a:rPr lang="en-US" sz="2000" i="1">
                                        <a:effectLst/>
                                        <a:latin typeface="Cambria Math" charset="0"/>
                                      </a:rPr>
                                    </m:ctrlPr>
                                  </m:fPr>
                                  <m:num>
                                    <m:r>
                                      <a:rPr lang="en-US" sz="2000">
                                        <a:effectLst/>
                                        <a:latin typeface="Cambria Math" panose="02040503050406030204" pitchFamily="18" charset="0"/>
                                      </a:rPr>
                                      <m:t>4</m:t>
                                    </m:r>
                                  </m:num>
                                  <m:den>
                                    <m:r>
                                      <a:rPr lang="en-US" sz="2000">
                                        <a:effectLst/>
                                        <a:latin typeface="Cambria Math" panose="02040503050406030204" pitchFamily="18" charset="0"/>
                                      </a:rPr>
                                      <m:t>5</m:t>
                                    </m:r>
                                  </m:den>
                                </m:f>
                              </m:oMath>
                            </m:oMathPara>
                          </a14:m>
                          <a:endParaRPr lang="en-US" sz="20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rPr>
                            <a:t> </a:t>
                          </a:r>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643013163"/>
                      </a:ext>
                    </a:extLst>
                  </a:tr>
                </a:tbl>
              </a:graphicData>
            </a:graphic>
          </p:graphicFrame>
        </mc:Choice>
        <mc:Fallback xmlns="">
          <p:graphicFrame>
            <p:nvGraphicFramePr>
              <p:cNvPr id="2" name="Table 1">
                <a:extLst>
                  <a:ext uri="{FF2B5EF4-FFF2-40B4-BE49-F238E27FC236}">
                    <a16:creationId xmlns:a16="http://schemas.microsoft.com/office/drawing/2014/main" id="{26DD756F-D814-3343-BBA4-0D55A2370EA7}"/>
                  </a:ext>
                </a:extLst>
              </p:cNvPr>
              <p:cNvGraphicFramePr>
                <a:graphicFrameLocks noGrp="1"/>
              </p:cNvGraphicFramePr>
              <p:nvPr>
                <p:extLst>
                  <p:ext uri="{D42A27DB-BD31-4B8C-83A1-F6EECF244321}">
                    <p14:modId xmlns:p14="http://schemas.microsoft.com/office/powerpoint/2010/main" val="3797510578"/>
                  </p:ext>
                </p:extLst>
              </p:nvPr>
            </p:nvGraphicFramePr>
            <p:xfrm>
              <a:off x="1246908" y="1609553"/>
              <a:ext cx="6800850" cy="3370962"/>
            </p:xfrm>
            <a:graphic>
              <a:graphicData uri="http://schemas.openxmlformats.org/drawingml/2006/table">
                <a:tbl>
                  <a:tblPr firstRow="1" firstCol="1" bandRow="1">
                    <a:tableStyleId>{A91F0D33-8C57-4600-99A7-42BC86742BE1}</a:tableStyleId>
                  </a:tblPr>
                  <a:tblGrid>
                    <a:gridCol w="2259965">
                      <a:extLst>
                        <a:ext uri="{9D8B030D-6E8A-4147-A177-3AD203B41FA5}">
                          <a16:colId xmlns:a16="http://schemas.microsoft.com/office/drawing/2014/main" val="1353437119"/>
                        </a:ext>
                      </a:extLst>
                    </a:gridCol>
                    <a:gridCol w="2314575">
                      <a:extLst>
                        <a:ext uri="{9D8B030D-6E8A-4147-A177-3AD203B41FA5}">
                          <a16:colId xmlns:a16="http://schemas.microsoft.com/office/drawing/2014/main" val="894999078"/>
                        </a:ext>
                      </a:extLst>
                    </a:gridCol>
                    <a:gridCol w="2226310">
                      <a:extLst>
                        <a:ext uri="{9D8B030D-6E8A-4147-A177-3AD203B41FA5}">
                          <a16:colId xmlns:a16="http://schemas.microsoft.com/office/drawing/2014/main" val="3723366654"/>
                        </a:ext>
                      </a:extLst>
                    </a:gridCol>
                  </a:tblGrid>
                  <a:tr h="623380">
                    <a:tc>
                      <a:txBody>
                        <a:bodyPr/>
                        <a:lstStyle/>
                        <a:p>
                          <a:pPr marL="0" marR="0" algn="ctr">
                            <a:lnSpc>
                              <a:spcPct val="107000"/>
                            </a:lnSpc>
                            <a:spcBef>
                              <a:spcPts val="0"/>
                            </a:spcBef>
                            <a:spcAft>
                              <a:spcPts val="0"/>
                            </a:spcAft>
                          </a:pPr>
                          <a:r>
                            <a:rPr lang="en-US" sz="2000" b="1">
                              <a:effectLst/>
                              <a:latin typeface="Verdana" panose="020B0604030504040204" pitchFamily="34" charset="0"/>
                              <a:ea typeface="Verdana" panose="020B0604030504040204" pitchFamily="34" charset="0"/>
                              <a:cs typeface="Verdana" panose="020B0604030504040204" pitchFamily="34" charset="0"/>
                            </a:rPr>
                            <a:t>Exponential Form</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2000" b="1">
                              <a:effectLst/>
                              <a:latin typeface="Verdana" panose="020B0604030504040204" pitchFamily="34" charset="0"/>
                              <a:ea typeface="Verdana" panose="020B0604030504040204" pitchFamily="34" charset="0"/>
                              <a:cs typeface="Verdana" panose="020B0604030504040204" pitchFamily="34" charset="0"/>
                            </a:rPr>
                            <a:t>Expanded Form</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Value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54401418"/>
                      </a:ext>
                    </a:extLst>
                  </a:tr>
                  <a:tr h="685800">
                    <a:tc>
                      <a:txBody>
                        <a:bodyPr/>
                        <a:lstStyle/>
                        <a:p>
                          <a:pPr marL="0" marR="0" algn="ctr">
                            <a:lnSpc>
                              <a:spcPct val="107000"/>
                            </a:lnSpc>
                            <a:spcBef>
                              <a:spcPts val="0"/>
                            </a:spcBef>
                            <a:spcAft>
                              <a:spcPts val="0"/>
                            </a:spcAft>
                          </a:pPr>
                          <a:r>
                            <a:rPr lang="en-US" sz="2000">
                              <a:effectLst/>
                            </a:rPr>
                            <a:t> </a:t>
                          </a:r>
                          <a:endParaRPr lang="en-US" sz="20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7814" t="-101818" r="-96721" b="-303636"/>
                          </a:stretch>
                        </a:blipFill>
                      </a:tcPr>
                    </a:tc>
                    <a:tc>
                      <a:txBody>
                        <a:bodyPr/>
                        <a:lstStyle/>
                        <a:p>
                          <a:pPr marL="0" marR="0" algn="ctr">
                            <a:lnSpc>
                              <a:spcPct val="107000"/>
                            </a:lnSpc>
                            <a:spcBef>
                              <a:spcPts val="0"/>
                            </a:spcBef>
                            <a:spcAft>
                              <a:spcPts val="0"/>
                            </a:spcAft>
                          </a:pPr>
                          <a:r>
                            <a:rPr lang="en-US" sz="2000" dirty="0">
                              <a:effectLst/>
                            </a:rPr>
                            <a:t> </a:t>
                          </a:r>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17114364"/>
                      </a:ext>
                    </a:extLst>
                  </a:tr>
                  <a:tr h="690182">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62" t="-205556" r="-202247" b="-209259"/>
                          </a:stretch>
                        </a:blipFill>
                      </a:tcPr>
                    </a:tc>
                    <a:tc>
                      <a:txBody>
                        <a:bodyPr/>
                        <a:lstStyle/>
                        <a:p>
                          <a:pPr marL="0" marR="0" algn="ctr">
                            <a:lnSpc>
                              <a:spcPct val="107000"/>
                            </a:lnSpc>
                            <a:spcBef>
                              <a:spcPts val="0"/>
                            </a:spcBef>
                            <a:spcAft>
                              <a:spcPts val="0"/>
                            </a:spcAft>
                          </a:pPr>
                          <a:r>
                            <a:rPr lang="en-US" sz="2000">
                              <a:effectLst/>
                            </a:rPr>
                            <a:t> </a:t>
                          </a:r>
                          <a:endParaRPr lang="en-US" sz="20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rPr>
                            <a:t> </a:t>
                          </a:r>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99412655"/>
                      </a:ext>
                    </a:extLst>
                  </a:tr>
                  <a:tr h="68580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62" t="-300000" r="-202247" b="-105455"/>
                          </a:stretch>
                        </a:blipFill>
                      </a:tcPr>
                    </a:tc>
                    <a:tc>
                      <a:txBody>
                        <a:bodyPr/>
                        <a:lstStyle/>
                        <a:p>
                          <a:pPr marL="0" marR="0" algn="ctr">
                            <a:lnSpc>
                              <a:spcPct val="107000"/>
                            </a:lnSpc>
                            <a:spcBef>
                              <a:spcPts val="0"/>
                            </a:spcBef>
                            <a:spcAft>
                              <a:spcPts val="0"/>
                            </a:spcAft>
                          </a:pPr>
                          <a:r>
                            <a:rPr lang="en-US" sz="2000">
                              <a:effectLst/>
                            </a:rPr>
                            <a:t> </a:t>
                          </a:r>
                          <a:endParaRPr lang="en-US" sz="20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rPr>
                            <a:t> </a:t>
                          </a:r>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96578414"/>
                      </a:ext>
                    </a:extLst>
                  </a:tr>
                  <a:tr h="685800">
                    <a:tc>
                      <a:txBody>
                        <a:bodyPr/>
                        <a:lstStyle/>
                        <a:p>
                          <a:pPr marL="0" marR="0" algn="ctr">
                            <a:lnSpc>
                              <a:spcPct val="107000"/>
                            </a:lnSpc>
                            <a:spcBef>
                              <a:spcPts val="0"/>
                            </a:spcBef>
                            <a:spcAft>
                              <a:spcPts val="0"/>
                            </a:spcAft>
                          </a:pPr>
                          <a:r>
                            <a:rPr lang="en-US" sz="2000">
                              <a:effectLst/>
                            </a:rPr>
                            <a:t> </a:t>
                          </a:r>
                          <a:endParaRPr lang="en-US" sz="20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7814" t="-407407" r="-96721" b="-7407"/>
                          </a:stretch>
                        </a:blipFill>
                      </a:tcPr>
                    </a:tc>
                    <a:tc>
                      <a:txBody>
                        <a:bodyPr/>
                        <a:lstStyle/>
                        <a:p>
                          <a:pPr marL="0" marR="0" algn="ctr">
                            <a:lnSpc>
                              <a:spcPct val="107000"/>
                            </a:lnSpc>
                            <a:spcBef>
                              <a:spcPts val="0"/>
                            </a:spcBef>
                            <a:spcAft>
                              <a:spcPts val="0"/>
                            </a:spcAft>
                          </a:pPr>
                          <a:r>
                            <a:rPr lang="en-US" sz="2000" dirty="0">
                              <a:effectLst/>
                            </a:rPr>
                            <a:t> </a:t>
                          </a:r>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43013163"/>
                      </a:ext>
                    </a:extLst>
                  </a:tr>
                </a:tbl>
              </a:graphicData>
            </a:graphic>
          </p:graphicFrame>
        </mc:Fallback>
      </mc:AlternateContent>
      <p:sp>
        <p:nvSpPr>
          <p:cNvPr id="7" name="Google Shape;282;g104476d1465_1_17"/>
          <p:cNvSpPr txBox="1"/>
          <p:nvPr/>
        </p:nvSpPr>
        <p:spPr>
          <a:xfrm>
            <a:off x="8720469"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237</a:t>
            </a:r>
            <a:endParaRPr i="1" dirty="0">
              <a:latin typeface="Calibri"/>
              <a:ea typeface="Calibri"/>
              <a:cs typeface="Calibri"/>
              <a:sym typeface="Calibri"/>
            </a:endParaRPr>
          </a:p>
        </p:txBody>
      </p:sp>
      <p:pic>
        <p:nvPicPr>
          <p:cNvPr id="8"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58695"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9931734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18396"/>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xmlns="" id="{DE95225C-59B5-E847-AFA2-B83DCFFA10D8}"/>
              </a:ext>
            </a:extLst>
          </p:cNvPr>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p:cNvSpPr txBox="1"/>
          <p:nvPr/>
        </p:nvSpPr>
        <p:spPr>
          <a:xfrm>
            <a:off x="8720469"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237</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58695"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0807036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456;g103996e1364_0_463">
            <a:extLst>
              <a:ext uri="{FF2B5EF4-FFF2-40B4-BE49-F238E27FC236}">
                <a16:creationId xmlns:a16="http://schemas.microsoft.com/office/drawing/2014/main" xmlns="" id="{68C03D65-F0BF-3F41-B52A-024F47388982}"/>
              </a:ext>
            </a:extLst>
          </p:cNvPr>
          <p:cNvSpPr txBox="1">
            <a:spLocks/>
          </p:cNvSpPr>
          <p:nvPr/>
        </p:nvSpPr>
        <p:spPr>
          <a:xfrm>
            <a:off x="1400997" y="-107128"/>
            <a:ext cx="983111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6.1.7 Wrap-Up: Ticket Out the Door</a:t>
            </a:r>
          </a:p>
        </p:txBody>
      </p:sp>
      <p:pic>
        <p:nvPicPr>
          <p:cNvPr id="9" name="Google Shape;458;g103996e1364_0_463">
            <a:extLst>
              <a:ext uri="{FF2B5EF4-FFF2-40B4-BE49-F238E27FC236}">
                <a16:creationId xmlns:a16="http://schemas.microsoft.com/office/drawing/2014/main" xmlns="" id="{EEA44D6C-2366-AC41-B1B5-EDDC34786A66}"/>
              </a:ext>
            </a:extLst>
          </p:cNvPr>
          <p:cNvPicPr preferRelativeResize="0"/>
          <p:nvPr/>
        </p:nvPicPr>
        <p:blipFill rotWithShape="1">
          <a:blip r:embed="rId3">
            <a:alphaModFix/>
          </a:blip>
          <a:srcRect/>
          <a:stretch/>
        </p:blipFill>
        <p:spPr>
          <a:xfrm>
            <a:off x="571547" y="185896"/>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xmlns="" id="{0370EDB7-6994-3D43-ABF9-E04CBAFB9CD9}"/>
              </a:ext>
            </a:extLst>
          </p:cNvPr>
          <p:cNvSpPr txBox="1"/>
          <p:nvPr/>
        </p:nvSpPr>
        <p:spPr>
          <a:xfrm>
            <a:off x="1318847" y="1386025"/>
            <a:ext cx="9810338" cy="1631216"/>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Jose and Georgette were asked to each roll a number cube five times and record the number from each roll onto a chart. The number that Jose rolls represents the base of an exponential expression, and Georgette’s roll represents the exponent of the expression. The table below shows the results of rolling the number cubes five times.</a:t>
            </a: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xmlns="" id="{CD2539A6-8D2D-DF49-BC67-F615695DEEB6}"/>
                  </a:ext>
                </a:extLst>
              </p:cNvPr>
              <p:cNvGraphicFramePr>
                <a:graphicFrameLocks noGrp="1"/>
              </p:cNvGraphicFramePr>
              <p:nvPr>
                <p:extLst>
                  <p:ext uri="{D42A27DB-BD31-4B8C-83A1-F6EECF244321}">
                    <p14:modId xmlns:p14="http://schemas.microsoft.com/office/powerpoint/2010/main" val="106269537"/>
                  </p:ext>
                </p:extLst>
              </p:nvPr>
            </p:nvGraphicFramePr>
            <p:xfrm>
              <a:off x="2258519" y="3467914"/>
              <a:ext cx="7794456" cy="2294827"/>
            </p:xfrm>
            <a:graphic>
              <a:graphicData uri="http://schemas.openxmlformats.org/drawingml/2006/table">
                <a:tbl>
                  <a:tblPr firstRow="1" firstCol="1" bandRow="1">
                    <a:tableStyleId>{A91F0D33-8C57-4600-99A7-42BC86742BE1}</a:tableStyleId>
                  </a:tblPr>
                  <a:tblGrid>
                    <a:gridCol w="1239286">
                      <a:extLst>
                        <a:ext uri="{9D8B030D-6E8A-4147-A177-3AD203B41FA5}">
                          <a16:colId xmlns:a16="http://schemas.microsoft.com/office/drawing/2014/main" xmlns="" val="2658341693"/>
                        </a:ext>
                      </a:extLst>
                    </a:gridCol>
                    <a:gridCol w="2358267">
                      <a:extLst>
                        <a:ext uri="{9D8B030D-6E8A-4147-A177-3AD203B41FA5}">
                          <a16:colId xmlns:a16="http://schemas.microsoft.com/office/drawing/2014/main" xmlns="" val="626918775"/>
                        </a:ext>
                      </a:extLst>
                    </a:gridCol>
                    <a:gridCol w="2170562">
                      <a:extLst>
                        <a:ext uri="{9D8B030D-6E8A-4147-A177-3AD203B41FA5}">
                          <a16:colId xmlns:a16="http://schemas.microsoft.com/office/drawing/2014/main" xmlns="" val="1518267032"/>
                        </a:ext>
                      </a:extLst>
                    </a:gridCol>
                    <a:gridCol w="2026341">
                      <a:extLst>
                        <a:ext uri="{9D8B030D-6E8A-4147-A177-3AD203B41FA5}">
                          <a16:colId xmlns:a16="http://schemas.microsoft.com/office/drawing/2014/main" xmlns="" val="3775648739"/>
                        </a:ext>
                      </a:extLst>
                    </a:gridCol>
                  </a:tblGrid>
                  <a:tr h="660400">
                    <a:tc>
                      <a:txBody>
                        <a:bodyPr/>
                        <a:lstStyle/>
                        <a:p>
                          <a:pPr marL="0" marR="0" algn="ctr">
                            <a:lnSpc>
                              <a:spcPct val="107000"/>
                            </a:lnSpc>
                            <a:spcBef>
                              <a:spcPts val="0"/>
                            </a:spcBef>
                            <a:spcAft>
                              <a:spcPts val="0"/>
                            </a:spcAft>
                          </a:pPr>
                          <a:r>
                            <a:rPr lang="en-US" sz="2000" b="1">
                              <a:effectLst/>
                              <a:latin typeface="Verdana" panose="020B0604030504040204" pitchFamily="34" charset="0"/>
                              <a:ea typeface="Verdana" panose="020B0604030504040204" pitchFamily="34" charset="0"/>
                              <a:cs typeface="Verdana" panose="020B0604030504040204" pitchFamily="34" charset="0"/>
                            </a:rPr>
                            <a:t>Roll</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2000" b="1">
                              <a:effectLst/>
                              <a:latin typeface="Verdana" panose="020B0604030504040204" pitchFamily="34" charset="0"/>
                              <a:ea typeface="Verdana" panose="020B0604030504040204" pitchFamily="34" charset="0"/>
                              <a:cs typeface="Verdana" panose="020B0604030504040204" pitchFamily="34" charset="0"/>
                            </a:rPr>
                            <a:t>Jose’s Number Cube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2000" b="1">
                              <a:effectLst/>
                              <a:latin typeface="Verdana" panose="020B0604030504040204" pitchFamily="34" charset="0"/>
                              <a:ea typeface="Verdana" panose="020B0604030504040204" pitchFamily="34" charset="0"/>
                              <a:cs typeface="Verdana" panose="020B0604030504040204" pitchFamily="34" charset="0"/>
                            </a:rPr>
                            <a:t>Georgette’s Number Cube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Exponential Expression</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3147678498"/>
                      </a:ext>
                    </a:extLst>
                  </a:tr>
                  <a:tr h="214630">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m:t>
                                </m:r>
                              </m:oMath>
                            </m:oMathPara>
                          </a14:m>
                          <a:endParaRPr lang="en-US" sz="20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5</m:t>
                                </m:r>
                              </m:oMath>
                            </m:oMathPara>
                          </a14:m>
                          <a:endParaRPr lang="en-US" sz="20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3</m:t>
                                </m:r>
                              </m:oMath>
                            </m:oMathPara>
                          </a14:m>
                          <a:endParaRPr lang="en-US" sz="20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charset="0"/>
                                      </a:rPr>
                                    </m:ctrlPr>
                                  </m:sSupPr>
                                  <m:e>
                                    <m:r>
                                      <a:rPr lang="en-US" sz="2000">
                                        <a:effectLst/>
                                        <a:latin typeface="Cambria Math" panose="02040503050406030204" pitchFamily="18" charset="0"/>
                                      </a:rPr>
                                      <m:t>5</m:t>
                                    </m:r>
                                  </m:e>
                                  <m:sup>
                                    <m:r>
                                      <a:rPr lang="en-US" sz="2000">
                                        <a:effectLst/>
                                        <a:latin typeface="Cambria Math" panose="02040503050406030204" pitchFamily="18" charset="0"/>
                                      </a:rPr>
                                      <m:t>3</m:t>
                                    </m:r>
                                  </m:sup>
                                </m:sSup>
                              </m:oMath>
                            </m:oMathPara>
                          </a14:m>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332604627"/>
                      </a:ext>
                    </a:extLst>
                  </a:tr>
                  <a:tr h="214630">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2</m:t>
                                </m:r>
                              </m:oMath>
                            </m:oMathPara>
                          </a14:m>
                          <a:endParaRPr lang="en-US" sz="20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5</m:t>
                                </m:r>
                              </m:oMath>
                            </m:oMathPara>
                          </a14:m>
                          <a:endParaRPr lang="en-US" sz="20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4</m:t>
                                </m:r>
                              </m:oMath>
                            </m:oMathPara>
                          </a14:m>
                          <a:endParaRPr lang="en-US" sz="20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charset="0"/>
                                      </a:rPr>
                                    </m:ctrlPr>
                                  </m:sSupPr>
                                  <m:e>
                                    <m:r>
                                      <a:rPr lang="en-US" sz="2000">
                                        <a:effectLst/>
                                        <a:latin typeface="Cambria Math" panose="02040503050406030204" pitchFamily="18" charset="0"/>
                                      </a:rPr>
                                      <m:t>5</m:t>
                                    </m:r>
                                  </m:e>
                                  <m:sup>
                                    <m:r>
                                      <a:rPr lang="en-US" sz="2000">
                                        <a:effectLst/>
                                        <a:latin typeface="Cambria Math" panose="02040503050406030204" pitchFamily="18" charset="0"/>
                                      </a:rPr>
                                      <m:t>4</m:t>
                                    </m:r>
                                  </m:sup>
                                </m:sSup>
                              </m:oMath>
                            </m:oMathPara>
                          </a14:m>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3723118770"/>
                      </a:ext>
                    </a:extLst>
                  </a:tr>
                  <a:tr h="214630">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3</m:t>
                                </m:r>
                              </m:oMath>
                            </m:oMathPara>
                          </a14:m>
                          <a:endParaRPr lang="en-US" sz="20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6</m:t>
                                </m:r>
                              </m:oMath>
                            </m:oMathPara>
                          </a14:m>
                          <a:endParaRPr lang="en-US" sz="20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2</m:t>
                                </m:r>
                              </m:oMath>
                            </m:oMathPara>
                          </a14:m>
                          <a:endParaRPr lang="en-US" sz="20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charset="0"/>
                                      </a:rPr>
                                    </m:ctrlPr>
                                  </m:sSupPr>
                                  <m:e>
                                    <m:r>
                                      <a:rPr lang="en-US" sz="2000">
                                        <a:effectLst/>
                                        <a:latin typeface="Cambria Math" panose="02040503050406030204" pitchFamily="18" charset="0"/>
                                      </a:rPr>
                                      <m:t>6</m:t>
                                    </m:r>
                                  </m:e>
                                  <m:sup>
                                    <m:r>
                                      <a:rPr lang="en-US" sz="2000">
                                        <a:effectLst/>
                                        <a:latin typeface="Cambria Math" panose="02040503050406030204" pitchFamily="18" charset="0"/>
                                      </a:rPr>
                                      <m:t>2</m:t>
                                    </m:r>
                                  </m:sup>
                                </m:sSup>
                              </m:oMath>
                            </m:oMathPara>
                          </a14:m>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2204558881"/>
                      </a:ext>
                    </a:extLst>
                  </a:tr>
                  <a:tr h="214630">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4</m:t>
                                </m:r>
                              </m:oMath>
                            </m:oMathPara>
                          </a14:m>
                          <a:endParaRPr lang="en-US" sz="20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4</m:t>
                                </m:r>
                              </m:oMath>
                            </m:oMathPara>
                          </a14:m>
                          <a:endParaRPr lang="en-US" sz="20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5</m:t>
                                </m:r>
                              </m:oMath>
                            </m:oMathPara>
                          </a14:m>
                          <a:endParaRPr lang="en-US" sz="20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charset="0"/>
                                      </a:rPr>
                                    </m:ctrlPr>
                                  </m:sSupPr>
                                  <m:e>
                                    <m:r>
                                      <a:rPr lang="en-US" sz="2000">
                                        <a:effectLst/>
                                        <a:latin typeface="Cambria Math" panose="02040503050406030204" pitchFamily="18" charset="0"/>
                                      </a:rPr>
                                      <m:t>4</m:t>
                                    </m:r>
                                  </m:e>
                                  <m:sup>
                                    <m:r>
                                      <a:rPr lang="en-US" sz="2000">
                                        <a:effectLst/>
                                        <a:latin typeface="Cambria Math" panose="02040503050406030204" pitchFamily="18" charset="0"/>
                                      </a:rPr>
                                      <m:t>5</m:t>
                                    </m:r>
                                  </m:sup>
                                </m:sSup>
                              </m:oMath>
                            </m:oMathPara>
                          </a14:m>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148184636"/>
                      </a:ext>
                    </a:extLst>
                  </a:tr>
                  <a:tr h="214630">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5</m:t>
                                </m:r>
                              </m:oMath>
                            </m:oMathPara>
                          </a14:m>
                          <a:endParaRPr lang="en-US" sz="20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m:t>
                                </m:r>
                              </m:oMath>
                            </m:oMathPara>
                          </a14:m>
                          <a:endParaRPr lang="en-US" sz="20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4</m:t>
                                </m:r>
                              </m:oMath>
                            </m:oMathPara>
                          </a14:m>
                          <a:endParaRPr lang="en-US" sz="20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charset="0"/>
                                      </a:rPr>
                                    </m:ctrlPr>
                                  </m:sSupPr>
                                  <m:e>
                                    <m:r>
                                      <a:rPr lang="en-US" sz="2000">
                                        <a:effectLst/>
                                        <a:latin typeface="Cambria Math" panose="02040503050406030204" pitchFamily="18" charset="0"/>
                                      </a:rPr>
                                      <m:t>1</m:t>
                                    </m:r>
                                  </m:e>
                                  <m:sup>
                                    <m:r>
                                      <a:rPr lang="en-US" sz="2000">
                                        <a:effectLst/>
                                        <a:latin typeface="Cambria Math" panose="02040503050406030204" pitchFamily="18" charset="0"/>
                                      </a:rPr>
                                      <m:t>4</m:t>
                                    </m:r>
                                  </m:sup>
                                </m:sSup>
                              </m:oMath>
                            </m:oMathPara>
                          </a14:m>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613211900"/>
                      </a:ext>
                    </a:extLst>
                  </a:tr>
                </a:tbl>
              </a:graphicData>
            </a:graphic>
          </p:graphicFrame>
        </mc:Choice>
        <mc:Fallback xmlns="">
          <p:graphicFrame>
            <p:nvGraphicFramePr>
              <p:cNvPr id="2" name="Table 1">
                <a:extLst>
                  <a:ext uri="{FF2B5EF4-FFF2-40B4-BE49-F238E27FC236}">
                    <a16:creationId xmlns:a16="http://schemas.microsoft.com/office/drawing/2014/main" id="{CD2539A6-8D2D-DF49-BC67-F615695DEEB6}"/>
                  </a:ext>
                </a:extLst>
              </p:cNvPr>
              <p:cNvGraphicFramePr>
                <a:graphicFrameLocks noGrp="1"/>
              </p:cNvGraphicFramePr>
              <p:nvPr>
                <p:extLst>
                  <p:ext uri="{D42A27DB-BD31-4B8C-83A1-F6EECF244321}">
                    <p14:modId xmlns:p14="http://schemas.microsoft.com/office/powerpoint/2010/main" val="106269537"/>
                  </p:ext>
                </p:extLst>
              </p:nvPr>
            </p:nvGraphicFramePr>
            <p:xfrm>
              <a:off x="734519" y="3467913"/>
              <a:ext cx="7794456" cy="2331278"/>
            </p:xfrm>
            <a:graphic>
              <a:graphicData uri="http://schemas.openxmlformats.org/drawingml/2006/table">
                <a:tbl>
                  <a:tblPr firstRow="1" firstCol="1" bandRow="1">
                    <a:tableStyleId>{A91F0D33-8C57-4600-99A7-42BC86742BE1}</a:tableStyleId>
                  </a:tblPr>
                  <a:tblGrid>
                    <a:gridCol w="1239286">
                      <a:extLst>
                        <a:ext uri="{9D8B030D-6E8A-4147-A177-3AD203B41FA5}">
                          <a16:colId xmlns:a16="http://schemas.microsoft.com/office/drawing/2014/main" val="2658341693"/>
                        </a:ext>
                      </a:extLst>
                    </a:gridCol>
                    <a:gridCol w="2358267">
                      <a:extLst>
                        <a:ext uri="{9D8B030D-6E8A-4147-A177-3AD203B41FA5}">
                          <a16:colId xmlns:a16="http://schemas.microsoft.com/office/drawing/2014/main" val="626918775"/>
                        </a:ext>
                      </a:extLst>
                    </a:gridCol>
                    <a:gridCol w="2170562">
                      <a:extLst>
                        <a:ext uri="{9D8B030D-6E8A-4147-A177-3AD203B41FA5}">
                          <a16:colId xmlns:a16="http://schemas.microsoft.com/office/drawing/2014/main" val="1518267032"/>
                        </a:ext>
                      </a:extLst>
                    </a:gridCol>
                    <a:gridCol w="2026341">
                      <a:extLst>
                        <a:ext uri="{9D8B030D-6E8A-4147-A177-3AD203B41FA5}">
                          <a16:colId xmlns:a16="http://schemas.microsoft.com/office/drawing/2014/main" val="3775648739"/>
                        </a:ext>
                      </a:extLst>
                    </a:gridCol>
                  </a:tblGrid>
                  <a:tr h="660400">
                    <a:tc>
                      <a:txBody>
                        <a:bodyPr/>
                        <a:lstStyle/>
                        <a:p>
                          <a:pPr marL="0" marR="0" algn="ctr">
                            <a:lnSpc>
                              <a:spcPct val="107000"/>
                            </a:lnSpc>
                            <a:spcBef>
                              <a:spcPts val="0"/>
                            </a:spcBef>
                            <a:spcAft>
                              <a:spcPts val="0"/>
                            </a:spcAft>
                          </a:pPr>
                          <a:r>
                            <a:rPr lang="en-US" sz="2000" b="1">
                              <a:effectLst/>
                              <a:latin typeface="Verdana" panose="020B0604030504040204" pitchFamily="34" charset="0"/>
                              <a:ea typeface="Verdana" panose="020B0604030504040204" pitchFamily="34" charset="0"/>
                              <a:cs typeface="Verdana" panose="020B0604030504040204" pitchFamily="34" charset="0"/>
                            </a:rPr>
                            <a:t>Roll</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2000" b="1">
                              <a:effectLst/>
                              <a:latin typeface="Verdana" panose="020B0604030504040204" pitchFamily="34" charset="0"/>
                              <a:ea typeface="Verdana" panose="020B0604030504040204" pitchFamily="34" charset="0"/>
                              <a:cs typeface="Verdana" panose="020B0604030504040204" pitchFamily="34" charset="0"/>
                            </a:rPr>
                            <a:t>Jose’s Number Cube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2000" b="1">
                              <a:effectLst/>
                              <a:latin typeface="Verdana" panose="020B0604030504040204" pitchFamily="34" charset="0"/>
                              <a:ea typeface="Verdana" panose="020B0604030504040204" pitchFamily="34" charset="0"/>
                              <a:cs typeface="Verdana" panose="020B0604030504040204" pitchFamily="34" charset="0"/>
                            </a:rPr>
                            <a:t>Georgette’s Number Cube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Exponential Expression</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147678498"/>
                      </a:ext>
                    </a:extLst>
                  </a:tr>
                  <a:tr h="333566">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t="-223077" r="-528571" b="-411538"/>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52688" t="-223077" r="-178495" b="-411538"/>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66082" t="-223077" r="-94152" b="-411538"/>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84375" t="-223077" r="-625" b="-411538"/>
                          </a:stretch>
                        </a:blipFill>
                      </a:tcPr>
                    </a:tc>
                    <a:extLst>
                      <a:ext uri="{0D108BD9-81ED-4DB2-BD59-A6C34878D82A}">
                        <a16:rowId xmlns:a16="http://schemas.microsoft.com/office/drawing/2014/main" val="332604627"/>
                      </a:ext>
                    </a:extLst>
                  </a:tr>
                  <a:tr h="332677">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t="-311111" r="-528571" b="-296296"/>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52688" t="-311111" r="-178495" b="-296296"/>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66082" t="-311111" r="-94152" b="-296296"/>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84375" t="-311111" r="-625" b="-296296"/>
                          </a:stretch>
                        </a:blipFill>
                      </a:tcPr>
                    </a:tc>
                    <a:extLst>
                      <a:ext uri="{0D108BD9-81ED-4DB2-BD59-A6C34878D82A}">
                        <a16:rowId xmlns:a16="http://schemas.microsoft.com/office/drawing/2014/main" val="3723118770"/>
                      </a:ext>
                    </a:extLst>
                  </a:tr>
                  <a:tr h="333566">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t="-426923" r="-528571" b="-207692"/>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52688" t="-426923" r="-178495" b="-207692"/>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66082" t="-426923" r="-94152" b="-207692"/>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84375" t="-426923" r="-625" b="-207692"/>
                          </a:stretch>
                        </a:blipFill>
                      </a:tcPr>
                    </a:tc>
                    <a:extLst>
                      <a:ext uri="{0D108BD9-81ED-4DB2-BD59-A6C34878D82A}">
                        <a16:rowId xmlns:a16="http://schemas.microsoft.com/office/drawing/2014/main" val="2204558881"/>
                      </a:ext>
                    </a:extLst>
                  </a:tr>
                  <a:tr h="338392">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t="-507407" r="-528571" b="-100000"/>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52688" t="-507407" r="-178495" b="-100000"/>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66082" t="-507407" r="-94152" b="-100000"/>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84375" t="-507407" r="-625" b="-100000"/>
                          </a:stretch>
                        </a:blipFill>
                      </a:tcPr>
                    </a:tc>
                    <a:extLst>
                      <a:ext uri="{0D108BD9-81ED-4DB2-BD59-A6C34878D82A}">
                        <a16:rowId xmlns:a16="http://schemas.microsoft.com/office/drawing/2014/main" val="1148184636"/>
                      </a:ext>
                    </a:extLst>
                  </a:tr>
                  <a:tr h="332677">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t="-630769" r="-528571" b="-3846"/>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52688" t="-630769" r="-178495" b="-3846"/>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66082" t="-630769" r="-94152" b="-3846"/>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84375" t="-630769" r="-625" b="-3846"/>
                          </a:stretch>
                        </a:blipFill>
                      </a:tcPr>
                    </a:tc>
                    <a:extLst>
                      <a:ext uri="{0D108BD9-81ED-4DB2-BD59-A6C34878D82A}">
                        <a16:rowId xmlns:a16="http://schemas.microsoft.com/office/drawing/2014/main" val="1613211900"/>
                      </a:ext>
                    </a:extLst>
                  </a:tr>
                </a:tbl>
              </a:graphicData>
            </a:graphic>
          </p:graphicFrame>
        </mc:Fallback>
      </mc:AlternateContent>
      <p:sp>
        <p:nvSpPr>
          <p:cNvPr id="10" name="Google Shape;282;g104476d1465_1_17"/>
          <p:cNvSpPr txBox="1"/>
          <p:nvPr/>
        </p:nvSpPr>
        <p:spPr>
          <a:xfrm>
            <a:off x="8720469"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237</a:t>
            </a:r>
            <a:endParaRPr i="1" dirty="0">
              <a:latin typeface="Calibri"/>
              <a:ea typeface="Calibri"/>
              <a:cs typeface="Calibri"/>
              <a:sym typeface="Calibri"/>
            </a:endParaRPr>
          </a:p>
        </p:txBody>
      </p:sp>
      <p:pic>
        <p:nvPicPr>
          <p:cNvPr id="11"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58695"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2905918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xmlns="" id="{2FA392D8-3ED3-7940-83A8-1451AA8A08D4}"/>
                  </a:ext>
                </a:extLst>
              </p:cNvPr>
              <p:cNvSpPr txBox="1"/>
              <p:nvPr/>
            </p:nvSpPr>
            <p:spPr>
              <a:xfrm>
                <a:off x="1160060" y="520393"/>
                <a:ext cx="10022546" cy="5328062"/>
              </a:xfrm>
              <a:prstGeom prst="rect">
                <a:avLst/>
              </a:prstGeom>
              <a:noFill/>
            </p:spPr>
            <p:txBody>
              <a:bodyPr wrap="square" rtlCol="0">
                <a:spAutoFit/>
              </a:bodyPr>
              <a:lstStyle/>
              <a:p>
                <a:pPr marL="457200" indent="-457200">
                  <a:buFont typeface="+mj-lt"/>
                  <a:buAutoNum type="arabicPeriod"/>
                </a:pPr>
                <a:endParaRPr lang="en-US" sz="2000" dirty="0"/>
              </a:p>
              <a:p>
                <a:pPr marL="457200" indent="-457200">
                  <a:buFont typeface="+mj-lt"/>
                  <a:buAutoNum type="arabicPeriod"/>
                </a:pPr>
                <a:endParaRPr lang="en-US" sz="2000" dirty="0"/>
              </a:p>
              <a:p>
                <a:pPr marL="457200" indent="-457200">
                  <a:buFont typeface="+mj-lt"/>
                  <a:buAutoNum type="arabicPeriod"/>
                </a:pPr>
                <a:endParaRPr lang="en-US" sz="2000" dirty="0"/>
              </a:p>
              <a:p>
                <a:pPr marL="457200" indent="-457200">
                  <a:buFont typeface="+mj-lt"/>
                  <a:buAutoNum type="arabicPeriod"/>
                </a:pPr>
                <a:endParaRPr lang="en-US" sz="2000" dirty="0"/>
              </a:p>
              <a:p>
                <a:pPr marL="457200" indent="-457200">
                  <a:buFont typeface="+mj-lt"/>
                  <a:buAutoNum type="arabicPeriod"/>
                </a:pPr>
                <a:endParaRPr lang="en-US" sz="2000" dirty="0"/>
              </a:p>
              <a:p>
                <a:pPr marL="457200" indent="-457200">
                  <a:buFont typeface="+mj-lt"/>
                  <a:buAutoNum type="arabicPeriod"/>
                </a:pPr>
                <a:endParaRPr lang="en-US" sz="2000" dirty="0"/>
              </a:p>
              <a:p>
                <a:pPr marL="457200" indent="-457200">
                  <a:buFont typeface="+mj-lt"/>
                  <a:buAutoNum type="arabicPeriod"/>
                </a:pPr>
                <a:endParaRPr lang="en-US" sz="2000" dirty="0"/>
              </a:p>
              <a:p>
                <a:pPr lvl="0"/>
                <a:endParaRPr lang="en-US" sz="2000" dirty="0">
                  <a:latin typeface="Verdana" panose="020B0604030504040204" pitchFamily="34" charset="0"/>
                  <a:ea typeface="Verdana" panose="020B0604030504040204" pitchFamily="34" charset="0"/>
                </a:endParaRPr>
              </a:p>
              <a:p>
                <a:pPr lvl="0"/>
                <a:endParaRPr lang="en-US" sz="2000" dirty="0">
                  <a:latin typeface="Verdana" panose="020B0604030504040204" pitchFamily="34" charset="0"/>
                  <a:ea typeface="Verdana" panose="020B0604030504040204" pitchFamily="34" charset="0"/>
                </a:endParaRPr>
              </a:p>
              <a:p>
                <a:pPr marL="457200" indent="-457200">
                  <a:buFont typeface="+mj-lt"/>
                  <a:buAutoNum type="arabicPeriod"/>
                </a:pPr>
                <a:r>
                  <a:rPr lang="en-US" sz="2000" dirty="0">
                    <a:latin typeface="Verdana" panose="020B0604030504040204" pitchFamily="34" charset="0"/>
                    <a:ea typeface="Verdana" panose="020B0604030504040204" pitchFamily="34" charset="0"/>
                  </a:rPr>
                  <a:t>Determine if either Jose or Georgette were right. If neither are correct, then which exponential expression has the largest value?  </a:t>
                </a:r>
              </a:p>
              <a:p>
                <a:r>
                  <a:rPr lang="en-US" sz="2000" dirty="0">
                    <a:latin typeface="Verdana" panose="020B0604030504040204" pitchFamily="34" charset="0"/>
                    <a:ea typeface="Verdana" panose="020B0604030504040204" pitchFamily="34" charset="0"/>
                  </a:rPr>
                  <a:t> </a:t>
                </a:r>
              </a:p>
              <a:p>
                <a:r>
                  <a:rPr lang="en-US" sz="2000" dirty="0">
                    <a:latin typeface="Verdana" panose="020B0604030504040204" pitchFamily="34" charset="0"/>
                    <a:ea typeface="Verdana" panose="020B0604030504040204" pitchFamily="34" charset="0"/>
                  </a:rPr>
                  <a:t> </a:t>
                </a:r>
              </a:p>
              <a:p>
                <a:r>
                  <a:rPr lang="en-US" sz="2000" dirty="0">
                    <a:latin typeface="Verdana" panose="020B0604030504040204" pitchFamily="34" charset="0"/>
                    <a:ea typeface="Verdana" panose="020B0604030504040204" pitchFamily="34" charset="0"/>
                  </a:rPr>
                  <a:t> </a:t>
                </a:r>
              </a:p>
              <a:p>
                <a:pPr marL="457200" indent="-457200">
                  <a:buFont typeface="+mj-lt"/>
                  <a:buAutoNum type="arabicPeriod" startAt="2"/>
                </a:pPr>
                <a:r>
                  <a:rPr lang="en-US" sz="2000" dirty="0">
                    <a:latin typeface="Verdana" panose="020B0604030504040204" pitchFamily="34" charset="0"/>
                    <a:ea typeface="Verdana" panose="020B0604030504040204" pitchFamily="34" charset="0"/>
                  </a:rPr>
                  <a:t>Determine if it is possible that Jose’s conjecture or Georgette’s conjecture is always true using the exponential expressions </a:t>
                </a:r>
                <a14:m>
                  <m:oMath xmlns:m="http://schemas.openxmlformats.org/officeDocument/2006/math">
                    <m:sSup>
                      <m:sSupPr>
                        <m:ctrlPr>
                          <a:rPr lang="en-US" sz="2000" i="1">
                            <a:latin typeface="Cambria Math" charset="0"/>
                          </a:rPr>
                        </m:ctrlPr>
                      </m:sSupPr>
                      <m:e>
                        <m:r>
                          <a:rPr lang="en-US" sz="2000" i="1">
                            <a:latin typeface="Cambria Math" panose="02040503050406030204" pitchFamily="18" charset="0"/>
                          </a:rPr>
                          <m:t>2</m:t>
                        </m:r>
                      </m:e>
                      <m:sup>
                        <m:r>
                          <a:rPr lang="en-US" sz="2000" i="1">
                            <a:latin typeface="Cambria Math" panose="02040503050406030204" pitchFamily="18" charset="0"/>
                          </a:rPr>
                          <m:t>5</m:t>
                        </m:r>
                      </m:sup>
                    </m:sSup>
                  </m:oMath>
                </a14:m>
                <a:r>
                  <a:rPr lang="en-US" sz="2000" dirty="0">
                    <a:latin typeface="Verdana" panose="020B0604030504040204" pitchFamily="34" charset="0"/>
                    <a:ea typeface="Verdana" panose="020B0604030504040204" pitchFamily="34" charset="0"/>
                  </a:rPr>
                  <a:t> and </a:t>
                </a:r>
                <a14:m>
                  <m:oMath xmlns:m="http://schemas.openxmlformats.org/officeDocument/2006/math">
                    <m:sSup>
                      <m:sSupPr>
                        <m:ctrlPr>
                          <a:rPr lang="en-US" sz="2000" i="1">
                            <a:latin typeface="Cambria Math" charset="0"/>
                          </a:rPr>
                        </m:ctrlPr>
                      </m:sSupPr>
                      <m:e>
                        <m:r>
                          <a:rPr lang="en-US" sz="2000" i="1">
                            <a:latin typeface="Cambria Math" panose="02040503050406030204" pitchFamily="18" charset="0"/>
                          </a:rPr>
                          <m:t>5</m:t>
                        </m:r>
                      </m:e>
                      <m:sup>
                        <m:r>
                          <a:rPr lang="en-US" sz="2000" i="1">
                            <a:latin typeface="Cambria Math" panose="02040503050406030204" pitchFamily="18" charset="0"/>
                          </a:rPr>
                          <m:t>2</m:t>
                        </m:r>
                      </m:sup>
                    </m:sSup>
                  </m:oMath>
                </a14:m>
                <a:r>
                  <a:rPr lang="en-US" sz="2000" dirty="0">
                    <a:latin typeface="Verdana" panose="020B0604030504040204" pitchFamily="34" charset="0"/>
                    <a:ea typeface="Verdana" panose="020B0604030504040204" pitchFamily="34" charset="0"/>
                  </a:rPr>
                  <a:t>. Explain your findings.</a:t>
                </a: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1160060" y="520393"/>
                <a:ext cx="10022546" cy="5328062"/>
              </a:xfrm>
              <a:prstGeom prst="rect">
                <a:avLst/>
              </a:prstGeom>
              <a:blipFill rotWithShape="0">
                <a:blip r:embed="rId3"/>
                <a:stretch>
                  <a:fillRect l="-669" b="-1144"/>
                </a:stretch>
              </a:blipFill>
            </p:spPr>
            <p:txBody>
              <a:bodyPr/>
              <a:lstStyle/>
              <a:p>
                <a:r>
                  <a:rPr lang="en-US">
                    <a:noFill/>
                  </a:rPr>
                  <a:t> </a:t>
                </a:r>
              </a:p>
            </p:txBody>
          </p:sp>
        </mc:Fallback>
      </mc:AlternateContent>
      <p:graphicFrame>
        <p:nvGraphicFramePr>
          <p:cNvPr id="7" name="Table 6">
            <a:extLst>
              <a:ext uri="{FF2B5EF4-FFF2-40B4-BE49-F238E27FC236}">
                <a16:creationId xmlns:a16="http://schemas.microsoft.com/office/drawing/2014/main" xmlns="" id="{90F36D4D-E08A-9140-94C2-3C8F93B17E02}"/>
              </a:ext>
            </a:extLst>
          </p:cNvPr>
          <p:cNvGraphicFramePr>
            <a:graphicFrameLocks noGrp="1"/>
          </p:cNvGraphicFramePr>
          <p:nvPr>
            <p:extLst>
              <p:ext uri="{D42A27DB-BD31-4B8C-83A1-F6EECF244321}">
                <p14:modId xmlns:p14="http://schemas.microsoft.com/office/powerpoint/2010/main" val="2739362158"/>
              </p:ext>
            </p:extLst>
          </p:nvPr>
        </p:nvGraphicFramePr>
        <p:xfrm>
          <a:off x="2007765" y="686765"/>
          <a:ext cx="8327136" cy="2254060"/>
        </p:xfrm>
        <a:graphic>
          <a:graphicData uri="http://schemas.openxmlformats.org/drawingml/2006/table">
            <a:tbl>
              <a:tblPr firstRow="1" firstCol="1" bandRow="1">
                <a:tableStyleId>{A91F0D33-8C57-4600-99A7-42BC86742BE1}</a:tableStyleId>
              </a:tblPr>
              <a:tblGrid>
                <a:gridCol w="4184560">
                  <a:extLst>
                    <a:ext uri="{9D8B030D-6E8A-4147-A177-3AD203B41FA5}">
                      <a16:colId xmlns:a16="http://schemas.microsoft.com/office/drawing/2014/main" xmlns="" val="3368609987"/>
                    </a:ext>
                  </a:extLst>
                </a:gridCol>
                <a:gridCol w="4142576">
                  <a:extLst>
                    <a:ext uri="{9D8B030D-6E8A-4147-A177-3AD203B41FA5}">
                      <a16:colId xmlns:a16="http://schemas.microsoft.com/office/drawing/2014/main" xmlns="" val="1775121237"/>
                    </a:ext>
                  </a:extLst>
                </a:gridCol>
              </a:tblGrid>
              <a:tr h="0">
                <a:tc>
                  <a:txBody>
                    <a:bodyPr/>
                    <a:lstStyle/>
                    <a:p>
                      <a:pPr marL="0" marR="0">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rPr>
                        <a:t>Jose conjectures that the value of the exponential expression from Roll 3 is the greatest because the exponential expression that has the largest base is always greater.</a:t>
                      </a:r>
                      <a:endParaRPr lang="en-US" sz="2000" dirty="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rPr>
                        <a:t>Georgette conjectures that the value of the exponential expression from Roll 4 is the greatest because the exponential expression that has the largest exponent is always greater.</a:t>
                      </a:r>
                      <a:endParaRPr lang="en-US" sz="2000" dirty="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891333013"/>
                  </a:ext>
                </a:extLst>
              </a:tr>
            </a:tbl>
          </a:graphicData>
        </a:graphic>
      </p:graphicFrame>
      <p:sp>
        <p:nvSpPr>
          <p:cNvPr id="8" name="Google Shape;282;g104476d1465_1_17"/>
          <p:cNvSpPr txBox="1"/>
          <p:nvPr/>
        </p:nvSpPr>
        <p:spPr>
          <a:xfrm>
            <a:off x="8720469"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237</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58695"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724385247"/>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2190</TotalTime>
  <Words>1197</Words>
  <Application>Microsoft Macintosh PowerPoint</Application>
  <PresentationFormat>Widescreen</PresentationFormat>
  <Paragraphs>304</Paragraphs>
  <Slides>27</Slides>
  <Notes>27</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27</vt:i4>
      </vt:variant>
    </vt:vector>
  </HeadingPairs>
  <TitlesOfParts>
    <vt:vector size="37" baseType="lpstr">
      <vt:lpstr>Arial Black</vt:lpstr>
      <vt:lpstr>Calibri</vt:lpstr>
      <vt:lpstr>Cambria Math</vt:lpstr>
      <vt:lpstr>Century Gothic</vt:lpstr>
      <vt:lpstr>Courier New</vt:lpstr>
      <vt:lpstr>Times New Roman</vt:lpstr>
      <vt:lpstr>Verdana</vt:lpstr>
      <vt:lpstr>Wingdings</vt:lpstr>
      <vt:lpstr>Arial</vt:lpstr>
      <vt:lpstr>1_Office Theme</vt:lpstr>
      <vt:lpstr>6th Grade Accelerated Math  Unit 6, Lesson 1  Exponents  Volume 2, pg. 233  </vt:lpstr>
      <vt:lpstr>Benchmark</vt:lpstr>
      <vt:lpstr>PowerPoint Presentation</vt:lpstr>
      <vt:lpstr>PowerPoint Presentation</vt:lpstr>
      <vt:lpstr>Warm-Up</vt:lpstr>
      <vt:lpstr>PowerPoint Presentation</vt:lpstr>
      <vt:lpstr>Guided Instruction</vt:lpstr>
      <vt:lpstr>PowerPoint Presentation</vt:lpstr>
      <vt:lpstr>PowerPoint Presentation</vt:lpstr>
      <vt:lpstr>PowerPoint Presentation</vt:lpstr>
      <vt:lpstr>PowerPoint Presentation</vt:lpstr>
      <vt:lpstr>Guided Practice</vt:lpstr>
      <vt:lpstr>PowerPoint Presentation</vt:lpstr>
      <vt:lpstr>PowerPoint Presentation</vt:lpstr>
      <vt:lpstr>Collaboration</vt:lpstr>
      <vt:lpstr>PowerPoint Presentation</vt:lpstr>
      <vt:lpstr>PowerPoint Presentation</vt:lpstr>
      <vt:lpstr>PowerPoint Presentation</vt:lpstr>
      <vt:lpstr>PowerPoint Presentation</vt:lpstr>
      <vt:lpstr>Try It</vt:lpstr>
      <vt:lpstr>PowerPoint Presentation</vt:lpstr>
      <vt:lpstr>Your Turn</vt:lpstr>
      <vt:lpstr>PowerPoint Presentation</vt:lpstr>
      <vt:lpstr>PowerPoint Presentation</vt:lpstr>
      <vt:lpstr>Wrap-Up</vt:lpstr>
      <vt:lpstr>PowerPoint Presentation</vt:lpstr>
      <vt:lpstr>PowerPoint Presentation</vt:lpstr>
    </vt:vector>
  </TitlesOfParts>
  <LinksUpToDate>false</LinksUpToDate>
  <SharedDoc>false</SharedDoc>
  <HyperlinksChanged>false</HyperlinksChanged>
  <AppVersion>15.0032</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  </dc:title>
  <dc:creator>Karen McKenzie</dc:creator>
  <cp:lastModifiedBy>jslater9816@gmail.com</cp:lastModifiedBy>
  <cp:revision>24</cp:revision>
  <dcterms:created xsi:type="dcterms:W3CDTF">2015-03-17T18:51:18Z</dcterms:created>
  <dcterms:modified xsi:type="dcterms:W3CDTF">2022-07-29T00:46:54Z</dcterms:modified>
</cp:coreProperties>
</file>