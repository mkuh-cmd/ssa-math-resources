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9"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iOl46ZH0/70WQy8ApzIOmWSN3U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87AF83-C201-407D-91E2-2AC5D7F399F6}">
  <a:tblStyle styleId="{FF87AF83-C201-407D-91E2-2AC5D7F399F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05"/>
    <p:restoredTop sz="94622"/>
  </p:normalViewPr>
  <p:slideViewPr>
    <p:cSldViewPr snapToGrid="0">
      <p:cViewPr varScale="1">
        <p:scale>
          <a:sx n="105" d="100"/>
          <a:sy n="105" d="100"/>
        </p:scale>
        <p:origin x="216" y="2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46" Type="http://customschemas.google.com/relationships/presentationmetadata" Target="metadata"/><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99" name="Google Shape;199;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114577c4e0d_0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g114577c4e0d_0_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114577c4e0d_0_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2521614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14577c4e0d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g114577c4e0d_0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114577c4e0d_0_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14577c4e0d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g114577c4e0d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g114577c4e0d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5" Type="http://schemas.openxmlformats.org/officeDocument/2006/relationships/image" Target="../media/image230.png"/><Relationship Id="rId6" Type="http://schemas.openxmlformats.org/officeDocument/2006/relationships/image" Target="../media/image240.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5" Type="http://schemas.openxmlformats.org/officeDocument/2006/relationships/image" Target="../media/image290.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4" name="Google Shape;114;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Math</a:t>
            </a:r>
            <a:endParaRPr sz="3800" b="1">
              <a:solidFill>
                <a:srgbClr val="417DBF"/>
              </a:solidFill>
              <a:latin typeface="Verdana"/>
              <a:ea typeface="Verdana"/>
              <a:cs typeface="Verdana"/>
              <a:sym typeface="Verdana"/>
            </a:endParaRPr>
          </a:p>
          <a:p>
            <a:pPr algn="ctr">
              <a:lnSpc>
                <a:spcPct val="100000"/>
              </a:lnSpc>
            </a:pP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6, Lesson 10</a:t>
            </a: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
            </a: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Dividing Integers Using Integer Chips</a:t>
            </a: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
            </a: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pg. 278</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60503" y="1918611"/>
            <a:ext cx="2973100" cy="3465785"/>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770602" y="145856"/>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947102" y="381631"/>
            <a:ext cx="747300" cy="747300"/>
          </a:xfrm>
          <a:prstGeom prst="rect">
            <a:avLst/>
          </a:prstGeom>
          <a:noFill/>
          <a:ln>
            <a:noFill/>
          </a:ln>
          <a:effectLst>
            <a:outerShdw blurRad="57150" dist="19050" dir="5400000" algn="bl" rotWithShape="0">
              <a:srgbClr val="000000">
                <a:alpha val="49411"/>
              </a:srgbClr>
            </a:outerShdw>
          </a:effectLst>
        </p:spPr>
      </p:pic>
      <p:sp>
        <p:nvSpPr>
          <p:cNvPr id="125"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278</a:t>
            </a:r>
            <a:endParaRPr i="1">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
        <p:nvSpPr>
          <p:cNvPr id="127" name="Google Shape;127;g104476d1465_1_17"/>
          <p:cNvSpPr txBox="1"/>
          <p:nvPr/>
        </p:nvSpPr>
        <p:spPr>
          <a:xfrm>
            <a:off x="1694402" y="1600200"/>
            <a:ext cx="8516398"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000">
                <a:solidFill>
                  <a:schemeClr val="dk1"/>
                </a:solidFill>
                <a:latin typeface="Verdana"/>
                <a:ea typeface="Verdana"/>
                <a:cs typeface="Verdana"/>
                <a:sym typeface="Verdana"/>
              </a:rPr>
              <a:t>MA.6.NSO.4.2</a:t>
            </a:r>
            <a:endParaRPr sz="300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000" dirty="0">
                <a:solidFill>
                  <a:schemeClr val="dk1"/>
                </a:solidFill>
                <a:latin typeface="Verdana"/>
                <a:ea typeface="Verdana"/>
                <a:cs typeface="Verdana"/>
                <a:sym typeface="Verdana"/>
              </a:rPr>
              <a:t>Apply and extend previous understandings of operations with whole numbers to multiply and divide integers with procedural fluency.</a:t>
            </a:r>
            <a:endParaRPr sz="16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788036" y="334977"/>
            <a:ext cx="747300" cy="747300"/>
          </a:xfrm>
          <a:prstGeom prst="rect">
            <a:avLst/>
          </a:prstGeom>
          <a:noFill/>
          <a:ln>
            <a:noFill/>
          </a:ln>
          <a:effectLst>
            <a:outerShdw blurRad="57150" dist="19050" dir="5400000" algn="bl" rotWithShape="0">
              <a:srgbClr val="000000">
                <a:alpha val="49411"/>
              </a:srgbClr>
            </a:outerShdw>
          </a:effectLst>
        </p:spPr>
      </p:pic>
      <p:sp>
        <p:nvSpPr>
          <p:cNvPr id="136" name="Google Shape;136;p1"/>
          <p:cNvSpPr txBox="1"/>
          <p:nvPr/>
        </p:nvSpPr>
        <p:spPr>
          <a:xfrm>
            <a:off x="1612686" y="92344"/>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716833" y="1596391"/>
            <a:ext cx="9346094" cy="1721845"/>
          </a:xfrm>
          <a:prstGeom prst="rect">
            <a:avLst/>
          </a:prstGeom>
          <a:noFill/>
          <a:ln>
            <a:noFill/>
          </a:ln>
        </p:spPr>
        <p:txBody>
          <a:bodyPr spcFirstLastPara="1" wrap="square" lIns="91425" tIns="45700" rIns="91425" bIns="45700" anchor="ctr" anchorCtr="0">
            <a:noAutofit/>
          </a:bodyPr>
          <a:lstStyle/>
          <a:p>
            <a:pPr>
              <a:buSzPts val="1800"/>
            </a:pPr>
            <a:r>
              <a:rPr lang="en-US" sz="2400" dirty="0">
                <a:solidFill>
                  <a:schemeClr val="dk1"/>
                </a:solidFill>
                <a:latin typeface="Verdana"/>
                <a:ea typeface="Verdana"/>
                <a:cs typeface="Verdana"/>
                <a:sym typeface="Verdana"/>
              </a:rPr>
              <a:t>MA.K12.MTR.5.1 Use patterns and structure to help understand and connect mathematical concepts.</a:t>
            </a:r>
            <a:endParaRPr sz="2400" dirty="0"/>
          </a:p>
          <a:p>
            <a:pPr>
              <a:buSzPts val="1800"/>
            </a:pPr>
            <a:endParaRPr sz="1800" dirty="0">
              <a:solidFill>
                <a:schemeClr val="dk1"/>
              </a:solidFill>
              <a:latin typeface="Verdana"/>
              <a:ea typeface="Verdana"/>
              <a:cs typeface="Verdana"/>
              <a:sym typeface="Verdana"/>
            </a:endParaRPr>
          </a:p>
          <a:p>
            <a:pPr>
              <a:buSzPts val="1800"/>
            </a:pPr>
            <a:endParaRPr sz="1800" dirty="0">
              <a:solidFill>
                <a:schemeClr val="dk1"/>
              </a:solidFill>
              <a:latin typeface="Verdana"/>
              <a:ea typeface="Verdana"/>
              <a:cs typeface="Verdana"/>
              <a:sym typeface="Verdana"/>
            </a:endParaRPr>
          </a:p>
        </p:txBody>
      </p:sp>
      <p:sp>
        <p:nvSpPr>
          <p:cNvPr id="8"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278</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525683" y="93306"/>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7" name="Google Shape;147;p2"/>
          <p:cNvPicPr preferRelativeResize="0"/>
          <p:nvPr/>
        </p:nvPicPr>
        <p:blipFill rotWithShape="1">
          <a:blip r:embed="rId3">
            <a:alphaModFix/>
          </a:blip>
          <a:srcRect/>
          <a:stretch/>
        </p:blipFill>
        <p:spPr>
          <a:xfrm>
            <a:off x="743521" y="382506"/>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490821" y="1600200"/>
            <a:ext cx="9210358" cy="4205700"/>
          </a:xfrm>
          <a:prstGeom prst="rect">
            <a:avLst/>
          </a:prstGeom>
          <a:noFill/>
          <a:ln>
            <a:noFill/>
          </a:ln>
        </p:spPr>
        <p:txBody>
          <a:bodyPr spcFirstLastPara="1" wrap="square" lIns="91425" tIns="45700" rIns="91425" bIns="45700" anchor="t" anchorCtr="0">
            <a:noAutofit/>
          </a:bodyPr>
          <a:lstStyle/>
          <a:p>
            <a:pPr marL="457200" indent="-419100">
              <a:buClr>
                <a:srgbClr val="434343"/>
              </a:buClr>
              <a:buSzPts val="3000"/>
              <a:buFont typeface="Verdana"/>
              <a:buChar char="❏"/>
            </a:pPr>
            <a:r>
              <a:rPr lang="en-US" sz="3000" dirty="0">
                <a:solidFill>
                  <a:schemeClr val="dk1"/>
                </a:solidFill>
                <a:latin typeface="Verdana"/>
                <a:ea typeface="Verdana"/>
                <a:cs typeface="Verdana"/>
                <a:sym typeface="Verdana"/>
              </a:rPr>
              <a:t>I can use integer chips and patterns to discover rules for dividing integers.</a:t>
            </a:r>
            <a:endParaRPr sz="900" dirty="0"/>
          </a:p>
          <a:p>
            <a:pPr marL="457200"/>
            <a:endParaRPr dirty="0"/>
          </a:p>
        </p:txBody>
      </p:sp>
      <p:sp>
        <p:nvSpPr>
          <p:cNvPr id="8"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278</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278</a:t>
            </a:r>
            <a:endParaRPr i="1">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316201" y="98314"/>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6.10.1 Warm-Up: Notice and Wonder</a:t>
            </a:r>
            <a:endParaRPr/>
          </a:p>
        </p:txBody>
      </p:sp>
      <p:pic>
        <p:nvPicPr>
          <p:cNvPr id="168" name="Google Shape;168;p4"/>
          <p:cNvPicPr preferRelativeResize="0"/>
          <p:nvPr/>
        </p:nvPicPr>
        <p:blipFill rotWithShape="1">
          <a:blip r:embed="rId3">
            <a:alphaModFix/>
          </a:blip>
          <a:srcRect/>
          <a:stretch/>
        </p:blipFill>
        <p:spPr>
          <a:xfrm>
            <a:off x="568901" y="235474"/>
            <a:ext cx="747300" cy="747300"/>
          </a:xfrm>
          <a:prstGeom prst="rect">
            <a:avLst/>
          </a:prstGeom>
          <a:noFill/>
          <a:ln>
            <a:noFill/>
          </a:ln>
          <a:effectLst>
            <a:outerShdw blurRad="50800" dist="38100" dir="2700000" algn="tl" rotWithShape="0">
              <a:srgbClr val="000000">
                <a:alpha val="40000"/>
              </a:srgbClr>
            </a:outerShdw>
          </a:effectLst>
        </p:spPr>
      </p:pic>
      <p:sp>
        <p:nvSpPr>
          <p:cNvPr id="170" name="Google Shape;170;p4"/>
          <p:cNvSpPr txBox="1"/>
          <p:nvPr/>
        </p:nvSpPr>
        <p:spPr>
          <a:xfrm>
            <a:off x="1361353" y="2672929"/>
            <a:ext cx="9559594" cy="3046948"/>
          </a:xfrm>
          <a:prstGeom prst="rect">
            <a:avLst/>
          </a:prstGeom>
          <a:noFill/>
          <a:ln>
            <a:noFill/>
          </a:ln>
        </p:spPr>
        <p:txBody>
          <a:bodyPr spcFirstLastPara="1" wrap="square" lIns="91425" tIns="45700" rIns="91425" bIns="45700" anchor="t" anchorCtr="0">
            <a:spAutoFit/>
          </a:bodyPr>
          <a:lstStyle/>
          <a:p>
            <a:pPr marL="457200" indent="-457200">
              <a:buSzPts val="2400"/>
              <a:buFont typeface="+mj-lt"/>
              <a:buAutoNum type="arabicPeriod"/>
            </a:pPr>
            <a:r>
              <a:rPr lang="en-US" sz="2400" dirty="0">
                <a:latin typeface="Verdana"/>
                <a:ea typeface="Verdana"/>
                <a:cs typeface="Verdana"/>
                <a:sym typeface="Verdana"/>
              </a:rPr>
              <a:t>Write down one thing you notice about the picture. </a:t>
            </a:r>
            <a:endParaRPr sz="2400" dirty="0">
              <a:latin typeface="Verdana"/>
              <a:ea typeface="Verdana"/>
              <a:cs typeface="Verdana"/>
              <a:sym typeface="Verdana"/>
            </a:endParaRPr>
          </a:p>
          <a:p>
            <a:pPr marL="457200" indent="-457200">
              <a:buSzPts val="2400"/>
              <a:buFont typeface="+mj-lt"/>
              <a:buAutoNum type="arabicPeriod"/>
            </a:pPr>
            <a:endParaRPr sz="2400" dirty="0">
              <a:latin typeface="Verdana"/>
              <a:ea typeface="Verdana"/>
              <a:cs typeface="Verdana"/>
              <a:sym typeface="Verdana"/>
            </a:endParaRPr>
          </a:p>
          <a:p>
            <a:pPr marL="457200" indent="-457200">
              <a:buSzPts val="2400"/>
              <a:buFont typeface="+mj-lt"/>
              <a:buAutoNum type="arabicPeriod"/>
            </a:pPr>
            <a:endParaRPr sz="2400" dirty="0">
              <a:latin typeface="Verdana"/>
              <a:ea typeface="Verdana"/>
              <a:cs typeface="Verdana"/>
              <a:sym typeface="Verdana"/>
            </a:endParaRPr>
          </a:p>
          <a:p>
            <a:pPr marL="457200" indent="-457200">
              <a:buSzPts val="2400"/>
              <a:buFont typeface="+mj-lt"/>
              <a:buAutoNum type="arabicPeriod"/>
            </a:pPr>
            <a:r>
              <a:rPr lang="en-US" sz="2400" dirty="0">
                <a:latin typeface="Verdana"/>
                <a:ea typeface="Verdana"/>
                <a:cs typeface="Verdana"/>
                <a:sym typeface="Verdana"/>
              </a:rPr>
              <a:t>Write down one thing you wonder about the picture. </a:t>
            </a:r>
            <a:endParaRPr sz="2400" dirty="0">
              <a:latin typeface="Verdana"/>
              <a:ea typeface="Verdana"/>
              <a:cs typeface="Verdana"/>
              <a:sym typeface="Verdana"/>
            </a:endParaRPr>
          </a:p>
          <a:p>
            <a:pPr marL="457200" indent="-457200">
              <a:buSzPts val="2400"/>
              <a:buFont typeface="+mj-lt"/>
              <a:buAutoNum type="arabicPeriod"/>
            </a:pPr>
            <a:endParaRPr sz="2400" dirty="0">
              <a:latin typeface="Verdana"/>
              <a:ea typeface="Verdana"/>
              <a:cs typeface="Verdana"/>
              <a:sym typeface="Verdana"/>
            </a:endParaRPr>
          </a:p>
          <a:p>
            <a:pPr marL="457200" indent="-457200">
              <a:buSzPts val="2400"/>
              <a:buFont typeface="+mj-lt"/>
              <a:buAutoNum type="arabicPeriod"/>
            </a:pPr>
            <a:endParaRPr sz="2400" dirty="0">
              <a:latin typeface="Verdana"/>
              <a:ea typeface="Verdana"/>
              <a:cs typeface="Verdana"/>
              <a:sym typeface="Verdana"/>
            </a:endParaRPr>
          </a:p>
          <a:p>
            <a:pPr marL="457200" indent="-457200">
              <a:buSzPts val="2400"/>
              <a:buFont typeface="+mj-lt"/>
              <a:buAutoNum type="arabicPeriod"/>
            </a:pPr>
            <a:r>
              <a:rPr lang="en-US" sz="2400" dirty="0">
                <a:latin typeface="Verdana"/>
                <a:ea typeface="Verdana"/>
                <a:cs typeface="Verdana"/>
                <a:sym typeface="Verdana"/>
              </a:rPr>
              <a:t>Isaac described the image as a math fail. Why do you think he described it that way?</a:t>
            </a:r>
            <a:endParaRPr dirty="0"/>
          </a:p>
        </p:txBody>
      </p:sp>
      <p:pic>
        <p:nvPicPr>
          <p:cNvPr id="171" name="Google Shape;171;p4"/>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6141150" y="944774"/>
            <a:ext cx="3560050" cy="1420650"/>
          </a:xfrm>
          <a:prstGeom prst="rect">
            <a:avLst/>
          </a:prstGeom>
          <a:noFill/>
          <a:ln>
            <a:noFill/>
          </a:ln>
        </p:spPr>
      </p:pic>
      <p:sp>
        <p:nvSpPr>
          <p:cNvPr id="9"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278</a:t>
            </a:r>
            <a:endParaRPr i="1">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79" name="Google Shape;179;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180" name="Google Shape;180;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279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9"/>
          <p:cNvSpPr/>
          <p:nvPr/>
        </p:nvSpPr>
        <p:spPr>
          <a:xfrm>
            <a:off x="273"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89" name="Google Shape;189;p19"/>
          <p:cNvSpPr txBox="1"/>
          <p:nvPr/>
        </p:nvSpPr>
        <p:spPr>
          <a:xfrm>
            <a:off x="1362854" y="7332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6.10.2 Guided Instruction: Using Integer Chips to Represent Division</a:t>
            </a:r>
            <a:endParaRPr sz="800"/>
          </a:p>
        </p:txBody>
      </p:sp>
      <p:pic>
        <p:nvPicPr>
          <p:cNvPr id="190" name="Google Shape;190;p19"/>
          <p:cNvPicPr preferRelativeResize="0"/>
          <p:nvPr/>
        </p:nvPicPr>
        <p:blipFill rotWithShape="1">
          <a:blip r:embed="rId3">
            <a:alphaModFix/>
          </a:blip>
          <a:srcRect/>
          <a:stretch/>
        </p:blipFill>
        <p:spPr>
          <a:xfrm>
            <a:off x="615554" y="280591"/>
            <a:ext cx="747300" cy="747300"/>
          </a:xfrm>
          <a:prstGeom prst="rect">
            <a:avLst/>
          </a:prstGeom>
          <a:noFill/>
          <a:ln>
            <a:noFill/>
          </a:ln>
          <a:effectLst>
            <a:outerShdw blurRad="50800" dist="38100" dir="2700000" algn="tl" rotWithShape="0">
              <a:srgbClr val="000000">
                <a:alpha val="40000"/>
              </a:srgbClr>
            </a:outerShdw>
          </a:effectLst>
        </p:spPr>
      </p:pic>
      <p:sp>
        <p:nvSpPr>
          <p:cNvPr id="192" name="Google Shape;192;p19"/>
          <p:cNvSpPr txBox="1"/>
          <p:nvPr/>
        </p:nvSpPr>
        <p:spPr>
          <a:xfrm>
            <a:off x="1054359" y="1133025"/>
            <a:ext cx="10083278" cy="3170058"/>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Recall that division is repeated subtraction. </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For example, 24 ÷ 8 can be expressed as 24 − 8 − 8 − 8 because 3 groups of 8 can be subtracted from 24. </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This shows that 24 is made up of ____ groups of 8.</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The expression 24 ÷ 8 can also be interpreted as dividing 24 into 8 equal-sized groups. In the representation shown, 24 positive integer chips are divided into 8 equal-sized groups.</a:t>
            </a:r>
            <a:endParaRPr sz="2000" dirty="0"/>
          </a:p>
        </p:txBody>
      </p:sp>
      <p:sp>
        <p:nvSpPr>
          <p:cNvPr id="193" name="Google Shape;193;p19"/>
          <p:cNvSpPr txBox="1"/>
          <p:nvPr/>
        </p:nvSpPr>
        <p:spPr>
          <a:xfrm>
            <a:off x="1119673" y="5362781"/>
            <a:ext cx="9791850" cy="800189"/>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The quotient is the result of the division, or the value of the integer chips in each group. </a:t>
            </a:r>
            <a:endParaRPr sz="2000" dirty="0">
              <a:latin typeface="Verdana"/>
              <a:ea typeface="Verdana"/>
              <a:cs typeface="Verdana"/>
              <a:sym typeface="Verdana"/>
            </a:endParaRPr>
          </a:p>
        </p:txBody>
      </p:sp>
      <p:sp>
        <p:nvSpPr>
          <p:cNvPr id="194" name="Google Shape;194;p19"/>
          <p:cNvSpPr txBox="1"/>
          <p:nvPr/>
        </p:nvSpPr>
        <p:spPr>
          <a:xfrm>
            <a:off x="5030603" y="6114985"/>
            <a:ext cx="2997795" cy="492412"/>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24 ÷ 8 = ____</a:t>
            </a:r>
            <a:endParaRPr sz="2000" dirty="0">
              <a:latin typeface="Verdana"/>
              <a:ea typeface="Verdana"/>
              <a:cs typeface="Verdana"/>
              <a:sym typeface="Verdana"/>
            </a:endParaRPr>
          </a:p>
        </p:txBody>
      </p:sp>
      <p:pic>
        <p:nvPicPr>
          <p:cNvPr id="195" name="Google Shape;195;p1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2668150" y="4303084"/>
            <a:ext cx="6855696" cy="1186063"/>
          </a:xfrm>
          <a:prstGeom prst="rect">
            <a:avLst/>
          </a:prstGeom>
          <a:noFill/>
          <a:ln>
            <a:noFill/>
          </a:ln>
        </p:spPr>
      </p:pic>
      <p:sp>
        <p:nvSpPr>
          <p:cNvPr id="11"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279</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0"/>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04" name="Google Shape;204;p20"/>
          <p:cNvSpPr txBox="1"/>
          <p:nvPr/>
        </p:nvSpPr>
        <p:spPr>
          <a:xfrm>
            <a:off x="1062197" y="344013"/>
            <a:ext cx="10296848" cy="707846"/>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a:pPr>
            <a:r>
              <a:rPr lang="en-US" sz="2000" dirty="0">
                <a:latin typeface="Verdana"/>
                <a:ea typeface="Verdana"/>
                <a:cs typeface="Verdana"/>
                <a:sym typeface="Verdana"/>
              </a:rPr>
              <a:t>Complete the table to describe the division, then draw the visual model using integer chips, and determine the quotient.</a:t>
            </a:r>
            <a:endParaRPr sz="2000" dirty="0"/>
          </a:p>
        </p:txBody>
      </p:sp>
      <mc:AlternateContent xmlns:mc="http://schemas.openxmlformats.org/markup-compatibility/2006" xmlns:a14="http://schemas.microsoft.com/office/drawing/2010/main">
        <mc:Choice Requires="a14">
          <p:graphicFrame>
            <p:nvGraphicFramePr>
              <p:cNvPr id="205" name="Google Shape;205;p20"/>
              <p:cNvGraphicFramePr/>
              <p:nvPr>
                <p:extLst>
                  <p:ext uri="{D42A27DB-BD31-4B8C-83A1-F6EECF244321}">
                    <p14:modId xmlns:p14="http://schemas.microsoft.com/office/powerpoint/2010/main" val="2195768004"/>
                  </p:ext>
                </p:extLst>
              </p:nvPr>
            </p:nvGraphicFramePr>
            <p:xfrm>
              <a:off x="2476500" y="1183953"/>
              <a:ext cx="7239000" cy="3291750"/>
            </p:xfrm>
            <a:graphic>
              <a:graphicData uri="http://schemas.openxmlformats.org/drawingml/2006/table">
                <a:tbl>
                  <a:tblPr>
                    <a:noFill/>
                    <a:tableStyleId>{FF87AF83-C201-407D-91E2-2AC5D7F399F6}</a:tableStyleId>
                  </a:tblPr>
                  <a:tblGrid>
                    <a:gridCol w="1755032">
                      <a:extLst>
                        <a:ext uri="{9D8B030D-6E8A-4147-A177-3AD203B41FA5}">
                          <a16:colId xmlns:a16="http://schemas.microsoft.com/office/drawing/2014/main" xmlns="" val="20000"/>
                        </a:ext>
                      </a:extLst>
                    </a:gridCol>
                    <a:gridCol w="1657078">
                      <a:extLst>
                        <a:ext uri="{9D8B030D-6E8A-4147-A177-3AD203B41FA5}">
                          <a16:colId xmlns:a16="http://schemas.microsoft.com/office/drawing/2014/main" xmlns="" val="20001"/>
                        </a:ext>
                      </a:extLst>
                    </a:gridCol>
                    <a:gridCol w="2017140">
                      <a:extLst>
                        <a:ext uri="{9D8B030D-6E8A-4147-A177-3AD203B41FA5}">
                          <a16:colId xmlns:a16="http://schemas.microsoft.com/office/drawing/2014/main" xmlns="" val="20002"/>
                        </a:ext>
                      </a:extLst>
                    </a:gridCol>
                    <a:gridCol w="1809750">
                      <a:extLst>
                        <a:ext uri="{9D8B030D-6E8A-4147-A177-3AD203B41FA5}">
                          <a16:colId xmlns:a16="http://schemas.microsoft.com/office/drawing/2014/main" xmlns="" val="20003"/>
                        </a:ext>
                      </a:extLst>
                    </a:gridCol>
                  </a:tblGrid>
                  <a:tr h="381000">
                    <a:tc>
                      <a:txBody>
                        <a:bodyPr/>
                        <a:lstStyle/>
                        <a:p>
                          <a:pPr marL="0" lvl="0" indent="0" algn="ctr" rtl="0">
                            <a:spcBef>
                              <a:spcPts val="0"/>
                            </a:spcBef>
                            <a:spcAft>
                              <a:spcPts val="0"/>
                            </a:spcAft>
                            <a:buNone/>
                          </a:pPr>
                          <a:r>
                            <a:rPr lang="en-US" sz="1800" b="1" dirty="0">
                              <a:latin typeface="Verdana"/>
                              <a:ea typeface="Verdana"/>
                              <a:cs typeface="Verdana"/>
                              <a:sym typeface="Verdana"/>
                            </a:rPr>
                            <a:t>Division Expression</a:t>
                          </a:r>
                          <a:endParaRPr sz="18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800" b="1" dirty="0">
                              <a:latin typeface="Verdana"/>
                              <a:ea typeface="Verdana"/>
                              <a:cs typeface="Verdana"/>
                              <a:sym typeface="Verdana"/>
                            </a:rPr>
                            <a:t>Written Description</a:t>
                          </a:r>
                          <a:endParaRPr sz="18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800" b="1" dirty="0">
                              <a:latin typeface="Verdana"/>
                              <a:ea typeface="Verdana"/>
                              <a:cs typeface="Verdana"/>
                              <a:sym typeface="Verdana"/>
                            </a:rPr>
                            <a:t>Visual Model of Division</a:t>
                          </a:r>
                          <a:endParaRPr sz="18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800" b="1">
                              <a:latin typeface="Verdana"/>
                              <a:ea typeface="Verdana"/>
                              <a:cs typeface="Verdana"/>
                              <a:sym typeface="Verdana"/>
                            </a:rPr>
                            <a:t>Quotient</a:t>
                          </a:r>
                          <a:endParaRPr sz="1800" b="1">
                            <a:latin typeface="Verdana"/>
                            <a:ea typeface="Verdana"/>
                            <a:cs typeface="Verdana"/>
                            <a:sym typeface="Verdana"/>
                          </a:endParaRPr>
                        </a:p>
                      </a:txBody>
                      <a:tcPr marL="91425" marR="91425" marT="91425" marB="91425" anchor="ctr">
                        <a:solidFill>
                          <a:srgbClr val="B7B7B7"/>
                        </a:solidFill>
                      </a:tcPr>
                    </a:tc>
                    <a:extLst>
                      <a:ext uri="{0D108BD9-81ED-4DB2-BD59-A6C34878D82A}">
                        <a16:rowId xmlns:a16="http://schemas.microsoft.com/office/drawing/2014/main" xmlns="" val="10000"/>
                      </a:ext>
                    </a:extLst>
                  </a:tr>
                  <a:tr h="381000">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1800" i="1" dirty="0" smtClean="0">
                                        <a:latin typeface="Cambria Math" charset="0"/>
                                        <a:ea typeface="Verdana"/>
                                        <a:cs typeface="Verdana"/>
                                        <a:sym typeface="Verdana"/>
                                      </a:rPr>
                                    </m:ctrlPr>
                                  </m:fPr>
                                  <m:num>
                                    <m:r>
                                      <a:rPr lang="en-US" sz="1800" b="0" i="1" dirty="0" smtClean="0">
                                        <a:latin typeface="Cambria Math" panose="02040503050406030204" pitchFamily="18" charset="0"/>
                                        <a:ea typeface="Verdana"/>
                                        <a:cs typeface="Verdana"/>
                                        <a:sym typeface="Verdana"/>
                                      </a:rPr>
                                      <m:t>15</m:t>
                                    </m:r>
                                  </m:num>
                                  <m:den>
                                    <m:r>
                                      <a:rPr lang="en-US" sz="1800" b="0" i="1" dirty="0" smtClean="0">
                                        <a:latin typeface="Cambria Math" panose="02040503050406030204" pitchFamily="18" charset="0"/>
                                        <a:ea typeface="Verdana"/>
                                        <a:cs typeface="Verdana"/>
                                        <a:sym typeface="Verdana"/>
                                      </a:rPr>
                                      <m:t>5</m:t>
                                    </m:r>
                                  </m:den>
                                </m:f>
                              </m:oMath>
                            </m:oMathPara>
                          </a14:m>
                          <a:endParaRPr sz="1800" dirty="0">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r>
                            <a:rPr lang="en-US" sz="1800">
                              <a:latin typeface="Verdana"/>
                              <a:ea typeface="Verdana"/>
                              <a:cs typeface="Verdana"/>
                              <a:sym typeface="Verdana"/>
                            </a:rPr>
                            <a:t>Divide ___ into ___ equal sized groups</a:t>
                          </a:r>
                          <a:endParaRPr sz="180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8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800"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1"/>
                      </a:ext>
                    </a:extLst>
                  </a:tr>
                  <a:tr h="381000">
                    <a:tc>
                      <a:txBody>
                        <a:bodyPr/>
                        <a:lstStyle/>
                        <a:p>
                          <a:pPr marL="0" lvl="0" indent="0" algn="ctr" rtl="0">
                            <a:spcBef>
                              <a:spcPts val="0"/>
                            </a:spcBef>
                            <a:spcAft>
                              <a:spcPts val="0"/>
                            </a:spcAft>
                            <a:buNone/>
                          </a:pPr>
                          <a:r>
                            <a:rPr lang="en-US" sz="1800">
                              <a:latin typeface="Verdana"/>
                              <a:ea typeface="Verdana"/>
                              <a:cs typeface="Verdana"/>
                              <a:sym typeface="Verdana"/>
                            </a:rPr>
                            <a:t>−6 ÷ 2</a:t>
                          </a:r>
                          <a:endParaRPr sz="1800">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r>
                            <a:rPr lang="en-US" sz="1800" dirty="0">
                              <a:latin typeface="Verdana"/>
                              <a:ea typeface="Verdana"/>
                              <a:cs typeface="Verdana"/>
                              <a:sym typeface="Verdana"/>
                            </a:rPr>
                            <a:t>Divide ___ into ___ equal sized groups</a:t>
                          </a:r>
                          <a:endParaRPr sz="18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80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800"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2"/>
                      </a:ext>
                    </a:extLst>
                  </a:tr>
                </a:tbl>
              </a:graphicData>
            </a:graphic>
          </p:graphicFrame>
        </mc:Choice>
        <mc:Fallback xmlns="">
          <p:graphicFrame>
            <p:nvGraphicFramePr>
              <p:cNvPr id="205" name="Google Shape;205;p20"/>
              <p:cNvGraphicFramePr/>
              <p:nvPr>
                <p:extLst>
                  <p:ext uri="{D42A27DB-BD31-4B8C-83A1-F6EECF244321}">
                    <p14:modId xmlns:p14="http://schemas.microsoft.com/office/powerpoint/2010/main" val="2195768004"/>
                  </p:ext>
                </p:extLst>
              </p:nvPr>
            </p:nvGraphicFramePr>
            <p:xfrm>
              <a:off x="2476500" y="1183953"/>
              <a:ext cx="7239000" cy="3291750"/>
            </p:xfrm>
            <a:graphic>
              <a:graphicData uri="http://schemas.openxmlformats.org/drawingml/2006/table">
                <a:tbl>
                  <a:tblPr>
                    <a:noFill/>
                    <a:tableStyleId>{FF87AF83-C201-407D-91E2-2AC5D7F399F6}</a:tableStyleId>
                  </a:tblPr>
                  <a:tblGrid>
                    <a:gridCol w="1755032">
                      <a:extLst>
                        <a:ext uri="{9D8B030D-6E8A-4147-A177-3AD203B41FA5}">
                          <a16:colId xmlns:a16="http://schemas.microsoft.com/office/drawing/2014/main" val="20000"/>
                        </a:ext>
                      </a:extLst>
                    </a:gridCol>
                    <a:gridCol w="1657078">
                      <a:extLst>
                        <a:ext uri="{9D8B030D-6E8A-4147-A177-3AD203B41FA5}">
                          <a16:colId xmlns:a16="http://schemas.microsoft.com/office/drawing/2014/main" val="20001"/>
                        </a:ext>
                      </a:extLst>
                    </a:gridCol>
                    <a:gridCol w="201714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731490">
                    <a:tc>
                      <a:txBody>
                        <a:bodyPr/>
                        <a:lstStyle/>
                        <a:p>
                          <a:pPr marL="0" lvl="0" indent="0" algn="ctr" rtl="0">
                            <a:spcBef>
                              <a:spcPts val="0"/>
                            </a:spcBef>
                            <a:spcAft>
                              <a:spcPts val="0"/>
                            </a:spcAft>
                            <a:buNone/>
                          </a:pPr>
                          <a:r>
                            <a:rPr lang="en-US" sz="1800" b="1" dirty="0">
                              <a:latin typeface="Verdana"/>
                              <a:ea typeface="Verdana"/>
                              <a:cs typeface="Verdana"/>
                              <a:sym typeface="Verdana"/>
                            </a:rPr>
                            <a:t>Division Expression</a:t>
                          </a:r>
                          <a:endParaRPr sz="18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800" b="1" dirty="0">
                              <a:latin typeface="Verdana"/>
                              <a:ea typeface="Verdana"/>
                              <a:cs typeface="Verdana"/>
                              <a:sym typeface="Verdana"/>
                            </a:rPr>
                            <a:t>Written Description</a:t>
                          </a:r>
                          <a:endParaRPr sz="18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800" b="1" dirty="0">
                              <a:latin typeface="Verdana"/>
                              <a:ea typeface="Verdana"/>
                              <a:cs typeface="Verdana"/>
                              <a:sym typeface="Verdana"/>
                            </a:rPr>
                            <a:t>Visual Model of Division</a:t>
                          </a:r>
                          <a:endParaRPr sz="18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800" b="1">
                              <a:latin typeface="Verdana"/>
                              <a:ea typeface="Verdana"/>
                              <a:cs typeface="Verdana"/>
                              <a:sym typeface="Verdana"/>
                            </a:rPr>
                            <a:t>Quotient</a:t>
                          </a:r>
                          <a:endParaRPr sz="1800" b="1">
                            <a:latin typeface="Verdana"/>
                            <a:ea typeface="Verdana"/>
                            <a:cs typeface="Verdana"/>
                            <a:sym typeface="Verdana"/>
                          </a:endParaRPr>
                        </a:p>
                      </a:txBody>
                      <a:tcPr marL="91425" marR="91425" marT="91425" marB="91425" anchor="ctr">
                        <a:solidFill>
                          <a:srgbClr val="B7B7B7"/>
                        </a:solidFill>
                      </a:tcPr>
                    </a:tc>
                    <a:extLst>
                      <a:ext uri="{0D108BD9-81ED-4DB2-BD59-A6C34878D82A}">
                        <a16:rowId xmlns:a16="http://schemas.microsoft.com/office/drawing/2014/main" val="10000"/>
                      </a:ext>
                    </a:extLst>
                  </a:tr>
                  <a:tr h="1280130">
                    <a:tc>
                      <a:txBody>
                        <a:bodyPr/>
                        <a:lstStyle/>
                        <a:p>
                          <a:endParaRPr lang="en-US"/>
                        </a:p>
                      </a:txBody>
                      <a:tcPr marL="91425" marR="91425" marT="91425" marB="91425" anchor="ctr">
                        <a:blipFill>
                          <a:blip r:embed="rId3"/>
                          <a:stretch>
                            <a:fillRect l="-347" t="-57346" r="-313194" b="-103318"/>
                          </a:stretch>
                        </a:blipFill>
                      </a:tcPr>
                    </a:tc>
                    <a:tc>
                      <a:txBody>
                        <a:bodyPr/>
                        <a:lstStyle/>
                        <a:p>
                          <a:pPr marL="0" lvl="0" indent="0" algn="l" rtl="0">
                            <a:spcBef>
                              <a:spcPts val="0"/>
                            </a:spcBef>
                            <a:spcAft>
                              <a:spcPts val="0"/>
                            </a:spcAft>
                            <a:buNone/>
                          </a:pPr>
                          <a:r>
                            <a:rPr lang="en-US" sz="1800">
                              <a:latin typeface="Verdana"/>
                              <a:ea typeface="Verdana"/>
                              <a:cs typeface="Verdana"/>
                              <a:sym typeface="Verdana"/>
                            </a:rPr>
                            <a:t>Divide ___ into ___ equal sized groups</a:t>
                          </a:r>
                          <a:endParaRPr sz="180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8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800" dirty="0">
                            <a:latin typeface="Verdana"/>
                            <a:ea typeface="Verdana"/>
                            <a:cs typeface="Verdana"/>
                            <a:sym typeface="Verdana"/>
                          </a:endParaRPr>
                        </a:p>
                      </a:txBody>
                      <a:tcPr marL="91425" marR="91425" marT="91425" marB="91425"/>
                    </a:tc>
                    <a:extLst>
                      <a:ext uri="{0D108BD9-81ED-4DB2-BD59-A6C34878D82A}">
                        <a16:rowId xmlns:a16="http://schemas.microsoft.com/office/drawing/2014/main" val="10001"/>
                      </a:ext>
                    </a:extLst>
                  </a:tr>
                  <a:tr h="1280130">
                    <a:tc>
                      <a:txBody>
                        <a:bodyPr/>
                        <a:lstStyle/>
                        <a:p>
                          <a:pPr marL="0" lvl="0" indent="0" algn="ctr" rtl="0">
                            <a:spcBef>
                              <a:spcPts val="0"/>
                            </a:spcBef>
                            <a:spcAft>
                              <a:spcPts val="0"/>
                            </a:spcAft>
                            <a:buNone/>
                          </a:pPr>
                          <a:r>
                            <a:rPr lang="en-US" sz="1800">
                              <a:latin typeface="Verdana"/>
                              <a:ea typeface="Verdana"/>
                              <a:cs typeface="Verdana"/>
                              <a:sym typeface="Verdana"/>
                            </a:rPr>
                            <a:t>−6 ÷ 2</a:t>
                          </a:r>
                          <a:endParaRPr sz="1800">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r>
                            <a:rPr lang="en-US" sz="1800" dirty="0">
                              <a:latin typeface="Verdana"/>
                              <a:ea typeface="Verdana"/>
                              <a:cs typeface="Verdana"/>
                              <a:sym typeface="Verdana"/>
                            </a:rPr>
                            <a:t>Divide ___ into ___ equal sized groups</a:t>
                          </a:r>
                          <a:endParaRPr sz="18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80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800" dirty="0">
                            <a:latin typeface="Verdana"/>
                            <a:ea typeface="Verdana"/>
                            <a:cs typeface="Verdana"/>
                            <a:sym typeface="Verdana"/>
                          </a:endParaRPr>
                        </a:p>
                      </a:txBody>
                      <a:tcPr marL="91425" marR="91425" marT="91425" marB="91425"/>
                    </a:tc>
                    <a:extLst>
                      <a:ext uri="{0D108BD9-81ED-4DB2-BD59-A6C34878D82A}">
                        <a16:rowId xmlns:a16="http://schemas.microsoft.com/office/drawing/2014/main" val="10002"/>
                      </a:ext>
                    </a:extLst>
                  </a:tr>
                </a:tbl>
              </a:graphicData>
            </a:graphic>
          </p:graphicFrame>
        </mc:Fallback>
      </mc:AlternateContent>
      <p:sp>
        <p:nvSpPr>
          <p:cNvPr id="206" name="Google Shape;206;p20"/>
          <p:cNvSpPr txBox="1"/>
          <p:nvPr/>
        </p:nvSpPr>
        <p:spPr>
          <a:xfrm>
            <a:off x="1408922" y="4475703"/>
            <a:ext cx="9413282" cy="1107965"/>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When modeling division with integer chips, the divisor must be positive, as this indicates the number of groups needed. When the divisor is negative, the expression can be rewritten using opposites.</a:t>
            </a:r>
            <a:endParaRPr sz="2000" dirty="0">
              <a:latin typeface="Verdana"/>
              <a:ea typeface="Verdana"/>
              <a:cs typeface="Verdana"/>
              <a:sym typeface="Verdana"/>
            </a:endParaRPr>
          </a:p>
        </p:txBody>
      </p:sp>
      <mc:AlternateContent xmlns:mc="http://schemas.openxmlformats.org/markup-compatibility/2006" xmlns:a14="http://schemas.microsoft.com/office/drawing/2010/main">
        <mc:Choice Requires="a14">
          <p:sp>
            <p:nvSpPr>
              <p:cNvPr id="207" name="Google Shape;207;p20"/>
              <p:cNvSpPr txBox="1"/>
              <p:nvPr/>
            </p:nvSpPr>
            <p:spPr>
              <a:xfrm>
                <a:off x="1445078" y="5919045"/>
                <a:ext cx="9373670" cy="619883"/>
              </a:xfrm>
              <a:prstGeom prst="rect">
                <a:avLst/>
              </a:prstGeom>
              <a:noFill/>
              <a:ln>
                <a:noFill/>
              </a:ln>
            </p:spPr>
            <p:txBody>
              <a:bodyPr spcFirstLastPara="1" wrap="square" lIns="91425" tIns="91425" rIns="91425" bIns="91425" anchor="t" anchorCtr="0">
                <a:spAutoFit/>
              </a:bodyPr>
              <a:lstStyle/>
              <a:p>
                <a:pPr lvl="0"/>
                <a:r>
                  <a:rPr lang="en-US" sz="2000" dirty="0">
                    <a:latin typeface="Verdana"/>
                    <a:ea typeface="Verdana"/>
                    <a:cs typeface="Verdana"/>
                    <a:sym typeface="Verdana"/>
                  </a:rPr>
                  <a:t>For example, </a:t>
                </a:r>
                <a14:m>
                  <m:oMath xmlns:m="http://schemas.openxmlformats.org/officeDocument/2006/math">
                    <m:f>
                      <m:fPr>
                        <m:ctrlPr>
                          <a:rPr lang="en-US" sz="2000" i="1" dirty="0">
                            <a:latin typeface="Cambria Math" charset="0"/>
                            <a:ea typeface="Verdana"/>
                            <a:cs typeface="Verdana"/>
                            <a:sym typeface="Verdana"/>
                          </a:rPr>
                        </m:ctrlPr>
                      </m:fPr>
                      <m:num>
                        <m:r>
                          <a:rPr lang="en-US" sz="2000" i="1" dirty="0">
                            <a:latin typeface="Cambria Math" panose="02040503050406030204" pitchFamily="18" charset="0"/>
                            <a:ea typeface="Verdana"/>
                            <a:cs typeface="Verdana"/>
                            <a:sym typeface="Verdana"/>
                          </a:rPr>
                          <m:t>8</m:t>
                        </m:r>
                      </m:num>
                      <m:den>
                        <m:r>
                          <a:rPr lang="en-US" sz="2000" i="1" dirty="0">
                            <a:latin typeface="Cambria Math" panose="02040503050406030204" pitchFamily="18" charset="0"/>
                            <a:ea typeface="Verdana"/>
                            <a:cs typeface="Verdana"/>
                            <a:sym typeface="Verdana"/>
                          </a:rPr>
                          <m:t>−2</m:t>
                        </m:r>
                      </m:den>
                    </m:f>
                    <m:r>
                      <a:rPr lang="en-US" sz="2000" i="1" dirty="0">
                        <a:latin typeface="Cambria Math" panose="02040503050406030204" pitchFamily="18" charset="0"/>
                        <a:ea typeface="Verdana"/>
                        <a:cs typeface="Verdana"/>
                        <a:sym typeface="Verdana"/>
                      </a:rPr>
                      <m:t>  </m:t>
                    </m:r>
                  </m:oMath>
                </a14:m>
                <a:r>
                  <a:rPr lang="en-US" sz="2000" dirty="0">
                    <a:latin typeface="Verdana"/>
                    <a:ea typeface="Verdana"/>
                    <a:cs typeface="Verdana"/>
                    <a:sym typeface="Verdana"/>
                  </a:rPr>
                  <a:t>can be rewritten as </a:t>
                </a:r>
                <a14:m>
                  <m:oMath xmlns:m="http://schemas.openxmlformats.org/officeDocument/2006/math">
                    <m:f>
                      <m:fPr>
                        <m:ctrlPr>
                          <a:rPr lang="en-US" sz="2000" i="1" dirty="0">
                            <a:latin typeface="Cambria Math" charset="0"/>
                            <a:ea typeface="Verdana"/>
                            <a:cs typeface="Verdana"/>
                            <a:sym typeface="Verdana"/>
                          </a:rPr>
                        </m:ctrlPr>
                      </m:fPr>
                      <m:num>
                        <m:r>
                          <a:rPr lang="en-US" sz="2000" i="1" dirty="0">
                            <a:latin typeface="Cambria Math" panose="02040503050406030204" pitchFamily="18" charset="0"/>
                            <a:ea typeface="Verdana"/>
                            <a:cs typeface="Verdana"/>
                            <a:sym typeface="Verdana"/>
                          </a:rPr>
                          <m:t>−8</m:t>
                        </m:r>
                      </m:num>
                      <m:den>
                        <m:r>
                          <a:rPr lang="en-US" sz="2000" i="1" dirty="0">
                            <a:latin typeface="Cambria Math" panose="02040503050406030204" pitchFamily="18" charset="0"/>
                            <a:ea typeface="Verdana"/>
                            <a:cs typeface="Verdana"/>
                            <a:sym typeface="Verdana"/>
                          </a:rPr>
                          <m:t>2</m:t>
                        </m:r>
                      </m:den>
                    </m:f>
                    <m:r>
                      <a:rPr lang="en-US" sz="2000" i="1" dirty="0">
                        <a:latin typeface="Cambria Math" panose="02040503050406030204" pitchFamily="18" charset="0"/>
                        <a:ea typeface="Verdana"/>
                        <a:cs typeface="Verdana"/>
                        <a:sym typeface="Verdana"/>
                      </a:rPr>
                      <m:t>  </m:t>
                    </m:r>
                  </m:oMath>
                </a14:m>
                <a:r>
                  <a:rPr lang="en-US" sz="2000" dirty="0">
                    <a:latin typeface="Verdana"/>
                    <a:ea typeface="Verdana"/>
                    <a:cs typeface="Verdana"/>
                    <a:sym typeface="Verdana"/>
                  </a:rPr>
                  <a:t>because </a:t>
                </a:r>
                <a14:m>
                  <m:oMath xmlns:m="http://schemas.openxmlformats.org/officeDocument/2006/math">
                    <m:f>
                      <m:fPr>
                        <m:ctrlPr>
                          <a:rPr lang="en-US" sz="2000" i="1" dirty="0">
                            <a:latin typeface="Cambria Math" charset="0"/>
                            <a:ea typeface="Verdana"/>
                            <a:cs typeface="Verdana"/>
                            <a:sym typeface="Verdana"/>
                          </a:rPr>
                        </m:ctrlPr>
                      </m:fPr>
                      <m:num>
                        <m:r>
                          <a:rPr lang="en-US" sz="2000" i="1" dirty="0">
                            <a:latin typeface="Cambria Math" panose="02040503050406030204" pitchFamily="18" charset="0"/>
                            <a:ea typeface="Verdana"/>
                            <a:cs typeface="Verdana"/>
                            <a:sym typeface="Verdana"/>
                          </a:rPr>
                          <m:t>8</m:t>
                        </m:r>
                      </m:num>
                      <m:den>
                        <m:r>
                          <a:rPr lang="en-US" sz="2000" i="1" dirty="0">
                            <a:latin typeface="Cambria Math" panose="02040503050406030204" pitchFamily="18" charset="0"/>
                            <a:ea typeface="Verdana"/>
                            <a:cs typeface="Verdana"/>
                            <a:sym typeface="Verdana"/>
                          </a:rPr>
                          <m:t>−2</m:t>
                        </m:r>
                      </m:den>
                    </m:f>
                  </m:oMath>
                </a14:m>
                <a:r>
                  <a:rPr lang="en-US" sz="2000" dirty="0">
                    <a:latin typeface="Verdana"/>
                    <a:ea typeface="Verdana"/>
                    <a:cs typeface="Verdana"/>
                    <a:sym typeface="Verdana"/>
                  </a:rPr>
                  <a:t> = </a:t>
                </a:r>
                <a14:m>
                  <m:oMath xmlns:m="http://schemas.openxmlformats.org/officeDocument/2006/math">
                    <m:f>
                      <m:fPr>
                        <m:ctrlPr>
                          <a:rPr lang="en-US" sz="2000" i="1" dirty="0">
                            <a:latin typeface="Cambria Math" charset="0"/>
                            <a:ea typeface="Verdana"/>
                            <a:cs typeface="Verdana"/>
                            <a:sym typeface="Verdana"/>
                          </a:rPr>
                        </m:ctrlPr>
                      </m:fPr>
                      <m:num>
                        <m:r>
                          <a:rPr lang="en-US" sz="2000" i="1" dirty="0">
                            <a:latin typeface="Cambria Math" panose="02040503050406030204" pitchFamily="18" charset="0"/>
                            <a:ea typeface="Verdana"/>
                            <a:cs typeface="Verdana"/>
                            <a:sym typeface="Verdana"/>
                          </a:rPr>
                          <m:t>−8</m:t>
                        </m:r>
                      </m:num>
                      <m:den>
                        <m:r>
                          <a:rPr lang="en-US" sz="2000" i="1" dirty="0">
                            <a:latin typeface="Cambria Math" panose="02040503050406030204" pitchFamily="18" charset="0"/>
                            <a:ea typeface="Verdana"/>
                            <a:cs typeface="Verdana"/>
                            <a:sym typeface="Verdana"/>
                          </a:rPr>
                          <m:t>2</m:t>
                        </m:r>
                      </m:den>
                    </m:f>
                  </m:oMath>
                </a14:m>
                <a:r>
                  <a:rPr lang="en-US" sz="2000" dirty="0">
                    <a:latin typeface="Verdana"/>
                    <a:ea typeface="Verdana"/>
                    <a:cs typeface="Verdana"/>
                    <a:sym typeface="Verdana"/>
                  </a:rPr>
                  <a:t>.</a:t>
                </a:r>
                <a:endParaRPr sz="2000" dirty="0">
                  <a:latin typeface="Verdana"/>
                  <a:ea typeface="Verdana"/>
                  <a:cs typeface="Verdana"/>
                  <a:sym typeface="Verdana"/>
                </a:endParaRPr>
              </a:p>
            </p:txBody>
          </p:sp>
        </mc:Choice>
        <mc:Fallback xmlns="">
          <p:sp>
            <p:nvSpPr>
              <p:cNvPr id="207" name="Google Shape;207;p20"/>
              <p:cNvSpPr txBox="1">
                <a:spLocks noRot="1" noChangeAspect="1" noMove="1" noResize="1" noEditPoints="1" noAdjustHandles="1" noChangeArrowheads="1" noChangeShapeType="1" noTextEdit="1"/>
              </p:cNvSpPr>
              <p:nvPr/>
            </p:nvSpPr>
            <p:spPr>
              <a:xfrm>
                <a:off x="1445078" y="5919045"/>
                <a:ext cx="9373670" cy="619883"/>
              </a:xfrm>
              <a:prstGeom prst="rect">
                <a:avLst/>
              </a:prstGeom>
              <a:blipFill rotWithShape="0">
                <a:blip r:embed="rId5"/>
                <a:stretch>
                  <a:fillRect l="-650" t="-46078" b="-62745"/>
                </a:stretch>
              </a:blipFill>
              <a:ln>
                <a:noFill/>
              </a:ln>
            </p:spPr>
            <p:txBody>
              <a:bodyPr/>
              <a:lstStyle/>
              <a:p>
                <a:r>
                  <a:rPr lang="en-US">
                    <a:noFill/>
                  </a:rPr>
                  <a:t> </a:t>
                </a:r>
              </a:p>
            </p:txBody>
          </p:sp>
        </mc:Fallback>
      </mc:AlternateContent>
      <p:sp>
        <p:nvSpPr>
          <p:cNvPr id="9"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114577c4e0d_0_33"/>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16" name="Google Shape;216;g114577c4e0d_0_33"/>
              <p:cNvGraphicFramePr/>
              <p:nvPr>
                <p:extLst>
                  <p:ext uri="{D42A27DB-BD31-4B8C-83A1-F6EECF244321}">
                    <p14:modId xmlns:p14="http://schemas.microsoft.com/office/powerpoint/2010/main" val="3264387654"/>
                  </p:ext>
                </p:extLst>
              </p:nvPr>
            </p:nvGraphicFramePr>
            <p:xfrm>
              <a:off x="2178150" y="149940"/>
              <a:ext cx="7239000" cy="3230790"/>
            </p:xfrm>
            <a:graphic>
              <a:graphicData uri="http://schemas.openxmlformats.org/drawingml/2006/table">
                <a:tbl>
                  <a:tblPr>
                    <a:noFill/>
                    <a:tableStyleId>{FF87AF83-C201-407D-91E2-2AC5D7F399F6}</a:tableStyleId>
                  </a:tblPr>
                  <a:tblGrid>
                    <a:gridCol w="1485735">
                      <a:extLst>
                        <a:ext uri="{9D8B030D-6E8A-4147-A177-3AD203B41FA5}">
                          <a16:colId xmlns:a16="http://schemas.microsoft.com/office/drawing/2014/main" xmlns="" val="20000"/>
                        </a:ext>
                      </a:extLst>
                    </a:gridCol>
                    <a:gridCol w="1461154">
                      <a:extLst>
                        <a:ext uri="{9D8B030D-6E8A-4147-A177-3AD203B41FA5}">
                          <a16:colId xmlns:a16="http://schemas.microsoft.com/office/drawing/2014/main" xmlns="" val="20001"/>
                        </a:ext>
                      </a:extLst>
                    </a:gridCol>
                    <a:gridCol w="1555423">
                      <a:extLst>
                        <a:ext uri="{9D8B030D-6E8A-4147-A177-3AD203B41FA5}">
                          <a16:colId xmlns:a16="http://schemas.microsoft.com/office/drawing/2014/main" xmlns="" val="20002"/>
                        </a:ext>
                      </a:extLst>
                    </a:gridCol>
                    <a:gridCol w="1376313">
                      <a:extLst>
                        <a:ext uri="{9D8B030D-6E8A-4147-A177-3AD203B41FA5}">
                          <a16:colId xmlns:a16="http://schemas.microsoft.com/office/drawing/2014/main" xmlns="" val="20003"/>
                        </a:ext>
                      </a:extLst>
                    </a:gridCol>
                    <a:gridCol w="1360375">
                      <a:extLst>
                        <a:ext uri="{9D8B030D-6E8A-4147-A177-3AD203B41FA5}">
                          <a16:colId xmlns:a16="http://schemas.microsoft.com/office/drawing/2014/main" xmlns="" val="20004"/>
                        </a:ext>
                      </a:extLst>
                    </a:gridCol>
                  </a:tblGrid>
                  <a:tr h="381000">
                    <a:tc>
                      <a:txBody>
                        <a:bodyPr/>
                        <a:lstStyle/>
                        <a:p>
                          <a:pPr marL="0" lvl="0" indent="0" algn="ctr" rtl="0">
                            <a:spcBef>
                              <a:spcPts val="0"/>
                            </a:spcBef>
                            <a:spcAft>
                              <a:spcPts val="0"/>
                            </a:spcAft>
                            <a:buNone/>
                          </a:pPr>
                          <a:r>
                            <a:rPr lang="en-US" sz="1600" b="1" dirty="0">
                              <a:latin typeface="Verdana"/>
                              <a:ea typeface="Verdana"/>
                              <a:cs typeface="Verdana"/>
                              <a:sym typeface="Verdana"/>
                            </a:rPr>
                            <a:t>Division Expression</a:t>
                          </a:r>
                          <a:endParaRPr sz="16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600" b="1" dirty="0">
                              <a:latin typeface="Verdana"/>
                              <a:ea typeface="Verdana"/>
                              <a:cs typeface="Verdana"/>
                              <a:sym typeface="Verdana"/>
                            </a:rPr>
                            <a:t>Equivalent Division Expression</a:t>
                          </a:r>
                          <a:endParaRPr sz="16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600" b="1" dirty="0">
                              <a:latin typeface="Verdana"/>
                              <a:ea typeface="Verdana"/>
                              <a:cs typeface="Verdana"/>
                              <a:sym typeface="Verdana"/>
                            </a:rPr>
                            <a:t>Written Description</a:t>
                          </a:r>
                          <a:endParaRPr sz="16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600" b="1">
                              <a:latin typeface="Verdana"/>
                              <a:ea typeface="Verdana"/>
                              <a:cs typeface="Verdana"/>
                              <a:sym typeface="Verdana"/>
                            </a:rPr>
                            <a:t>Visual Model of Division</a:t>
                          </a:r>
                          <a:endParaRPr sz="1600" b="1">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600" b="1" dirty="0">
                              <a:latin typeface="Verdana"/>
                              <a:ea typeface="Verdana"/>
                              <a:cs typeface="Verdana"/>
                              <a:sym typeface="Verdana"/>
                            </a:rPr>
                            <a:t>Quotient</a:t>
                          </a:r>
                          <a:endParaRPr sz="1600" b="1" dirty="0">
                            <a:latin typeface="Verdana"/>
                            <a:ea typeface="Verdana"/>
                            <a:cs typeface="Verdana"/>
                            <a:sym typeface="Verdana"/>
                          </a:endParaRPr>
                        </a:p>
                      </a:txBody>
                      <a:tcPr marL="91425" marR="91425" marT="91425" marB="91425" anchor="ctr">
                        <a:solidFill>
                          <a:srgbClr val="B7B7B7"/>
                        </a:solidFill>
                      </a:tcPr>
                    </a:tc>
                    <a:extLst>
                      <a:ext uri="{0D108BD9-81ED-4DB2-BD59-A6C34878D82A}">
                        <a16:rowId xmlns:a16="http://schemas.microsoft.com/office/drawing/2014/main" xmlns="" val="10000"/>
                      </a:ext>
                    </a:extLst>
                  </a:tr>
                  <a:tr h="381000">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1600" i="1" smtClean="0">
                                        <a:latin typeface="Cambria Math" charset="0"/>
                                        <a:ea typeface="Verdana"/>
                                        <a:cs typeface="Verdana"/>
                                        <a:sym typeface="Verdana"/>
                                      </a:rPr>
                                    </m:ctrlPr>
                                  </m:fPr>
                                  <m:num>
                                    <m:r>
                                      <a:rPr lang="en-US" sz="1600" b="0" i="1" smtClean="0">
                                        <a:latin typeface="Cambria Math" panose="02040503050406030204" pitchFamily="18" charset="0"/>
                                        <a:ea typeface="Verdana"/>
                                        <a:cs typeface="Verdana"/>
                                        <a:sym typeface="Verdana"/>
                                      </a:rPr>
                                      <m:t>9</m:t>
                                    </m:r>
                                  </m:num>
                                  <m:den>
                                    <m:r>
                                      <a:rPr lang="en-US" sz="1600" b="0" i="1" smtClean="0">
                                        <a:latin typeface="Cambria Math" panose="02040503050406030204" pitchFamily="18" charset="0"/>
                                        <a:ea typeface="Verdana"/>
                                        <a:cs typeface="Verdana"/>
                                        <a:sym typeface="Verdana"/>
                                      </a:rPr>
                                      <m:t>−3</m:t>
                                    </m:r>
                                  </m:den>
                                </m:f>
                              </m:oMath>
                            </m:oMathPara>
                          </a14:m>
                          <a:endParaRPr sz="1600" dirty="0">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r>
                            <a:rPr lang="en-US" sz="1600" dirty="0">
                              <a:latin typeface="Verdana"/>
                              <a:ea typeface="Verdana"/>
                              <a:cs typeface="Verdana"/>
                              <a:sym typeface="Verdana"/>
                            </a:rPr>
                            <a:t>Divide ___ into ___ equal sized groups</a:t>
                          </a: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60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1"/>
                      </a:ext>
                    </a:extLst>
                  </a:tr>
                  <a:tr h="381000">
                    <a:tc>
                      <a:txBody>
                        <a:bodyPr/>
                        <a:lstStyle/>
                        <a:p>
                          <a:pPr marL="0" lvl="0" indent="0" algn="ctr" rtl="0">
                            <a:spcBef>
                              <a:spcPts val="0"/>
                            </a:spcBef>
                            <a:spcAft>
                              <a:spcPts val="0"/>
                            </a:spcAft>
                            <a:buNone/>
                          </a:pPr>
                          <a:r>
                            <a:rPr lang="en-US" sz="1600">
                              <a:latin typeface="Verdana"/>
                              <a:ea typeface="Verdana"/>
                              <a:cs typeface="Verdana"/>
                              <a:sym typeface="Verdana"/>
                            </a:rPr>
                            <a:t>−12 ÷ −2</a:t>
                          </a:r>
                          <a:endParaRPr sz="1600">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r>
                            <a:rPr lang="en-US" sz="1600">
                              <a:latin typeface="Verdana"/>
                              <a:ea typeface="Verdana"/>
                              <a:cs typeface="Verdana"/>
                              <a:sym typeface="Verdana"/>
                            </a:rPr>
                            <a:t>Divide ___ into ___ equal sized groups</a:t>
                          </a:r>
                          <a:endParaRPr sz="160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2"/>
                      </a:ext>
                    </a:extLst>
                  </a:tr>
                </a:tbl>
              </a:graphicData>
            </a:graphic>
          </p:graphicFrame>
        </mc:Choice>
        <mc:Fallback xmlns="">
          <p:graphicFrame>
            <p:nvGraphicFramePr>
              <p:cNvPr id="216" name="Google Shape;216;g114577c4e0d_0_33"/>
              <p:cNvGraphicFramePr/>
              <p:nvPr>
                <p:extLst>
                  <p:ext uri="{D42A27DB-BD31-4B8C-83A1-F6EECF244321}">
                    <p14:modId xmlns:p14="http://schemas.microsoft.com/office/powerpoint/2010/main" val="3264387654"/>
                  </p:ext>
                </p:extLst>
              </p:nvPr>
            </p:nvGraphicFramePr>
            <p:xfrm>
              <a:off x="654150" y="149940"/>
              <a:ext cx="7239000" cy="3230790"/>
            </p:xfrm>
            <a:graphic>
              <a:graphicData uri="http://schemas.openxmlformats.org/drawingml/2006/table">
                <a:tbl>
                  <a:tblPr>
                    <a:noFill/>
                    <a:tableStyleId>{FF87AF83-C201-407D-91E2-2AC5D7F399F6}</a:tableStyleId>
                  </a:tblPr>
                  <a:tblGrid>
                    <a:gridCol w="1485735">
                      <a:extLst>
                        <a:ext uri="{9D8B030D-6E8A-4147-A177-3AD203B41FA5}">
                          <a16:colId xmlns:a16="http://schemas.microsoft.com/office/drawing/2014/main" val="20000"/>
                        </a:ext>
                      </a:extLst>
                    </a:gridCol>
                    <a:gridCol w="1461154">
                      <a:extLst>
                        <a:ext uri="{9D8B030D-6E8A-4147-A177-3AD203B41FA5}">
                          <a16:colId xmlns:a16="http://schemas.microsoft.com/office/drawing/2014/main" val="20001"/>
                        </a:ext>
                      </a:extLst>
                    </a:gridCol>
                    <a:gridCol w="1555423">
                      <a:extLst>
                        <a:ext uri="{9D8B030D-6E8A-4147-A177-3AD203B41FA5}">
                          <a16:colId xmlns:a16="http://schemas.microsoft.com/office/drawing/2014/main" val="20002"/>
                        </a:ext>
                      </a:extLst>
                    </a:gridCol>
                    <a:gridCol w="1376313">
                      <a:extLst>
                        <a:ext uri="{9D8B030D-6E8A-4147-A177-3AD203B41FA5}">
                          <a16:colId xmlns:a16="http://schemas.microsoft.com/office/drawing/2014/main" val="20003"/>
                        </a:ext>
                      </a:extLst>
                    </a:gridCol>
                    <a:gridCol w="1360375">
                      <a:extLst>
                        <a:ext uri="{9D8B030D-6E8A-4147-A177-3AD203B41FA5}">
                          <a16:colId xmlns:a16="http://schemas.microsoft.com/office/drawing/2014/main" val="20004"/>
                        </a:ext>
                      </a:extLst>
                    </a:gridCol>
                  </a:tblGrid>
                  <a:tr h="914370">
                    <a:tc>
                      <a:txBody>
                        <a:bodyPr/>
                        <a:lstStyle/>
                        <a:p>
                          <a:pPr marL="0" lvl="0" indent="0" algn="ctr" rtl="0">
                            <a:spcBef>
                              <a:spcPts val="0"/>
                            </a:spcBef>
                            <a:spcAft>
                              <a:spcPts val="0"/>
                            </a:spcAft>
                            <a:buNone/>
                          </a:pPr>
                          <a:r>
                            <a:rPr lang="en-US" sz="1600" b="1" dirty="0">
                              <a:latin typeface="Verdana"/>
                              <a:ea typeface="Verdana"/>
                              <a:cs typeface="Verdana"/>
                              <a:sym typeface="Verdana"/>
                            </a:rPr>
                            <a:t>Division Expression</a:t>
                          </a:r>
                          <a:endParaRPr sz="16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600" b="1" dirty="0">
                              <a:latin typeface="Verdana"/>
                              <a:ea typeface="Verdana"/>
                              <a:cs typeface="Verdana"/>
                              <a:sym typeface="Verdana"/>
                            </a:rPr>
                            <a:t>Equivalent Division Expression</a:t>
                          </a:r>
                          <a:endParaRPr sz="16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600" b="1" dirty="0">
                              <a:latin typeface="Verdana"/>
                              <a:ea typeface="Verdana"/>
                              <a:cs typeface="Verdana"/>
                              <a:sym typeface="Verdana"/>
                            </a:rPr>
                            <a:t>Written Description</a:t>
                          </a:r>
                          <a:endParaRPr sz="16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600" b="1">
                              <a:latin typeface="Verdana"/>
                              <a:ea typeface="Verdana"/>
                              <a:cs typeface="Verdana"/>
                              <a:sym typeface="Verdana"/>
                            </a:rPr>
                            <a:t>Visual Model of Division</a:t>
                          </a:r>
                          <a:endParaRPr sz="1600" b="1">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1600" b="1" dirty="0">
                              <a:latin typeface="Verdana"/>
                              <a:ea typeface="Verdana"/>
                              <a:cs typeface="Verdana"/>
                              <a:sym typeface="Verdana"/>
                            </a:rPr>
                            <a:t>Quotient</a:t>
                          </a:r>
                          <a:endParaRPr sz="1600" b="1" dirty="0">
                            <a:latin typeface="Verdana"/>
                            <a:ea typeface="Verdana"/>
                            <a:cs typeface="Verdana"/>
                            <a:sym typeface="Verdana"/>
                          </a:endParaRPr>
                        </a:p>
                      </a:txBody>
                      <a:tcPr marL="91425" marR="91425" marT="91425" marB="91425" anchor="ctr">
                        <a:solidFill>
                          <a:srgbClr val="B7B7B7"/>
                        </a:solidFill>
                      </a:tcPr>
                    </a:tc>
                    <a:extLst>
                      <a:ext uri="{0D108BD9-81ED-4DB2-BD59-A6C34878D82A}">
                        <a16:rowId xmlns:a16="http://schemas.microsoft.com/office/drawing/2014/main" val="10000"/>
                      </a:ext>
                    </a:extLst>
                  </a:tr>
                  <a:tr h="1158210">
                    <a:tc>
                      <a:txBody>
                        <a:bodyPr/>
                        <a:lstStyle/>
                        <a:p>
                          <a:endParaRPr lang="en-US"/>
                        </a:p>
                      </a:txBody>
                      <a:tcPr marL="91425" marR="91425" marT="91425" marB="91425" anchor="ctr">
                        <a:blipFill>
                          <a:blip r:embed="rId4"/>
                          <a:stretch>
                            <a:fillRect l="-410" t="-79058" r="-387705" b="-102094"/>
                          </a:stretch>
                        </a:blipFill>
                      </a:tcPr>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r>
                            <a:rPr lang="en-US" sz="1600" dirty="0">
                              <a:latin typeface="Verdana"/>
                              <a:ea typeface="Verdana"/>
                              <a:cs typeface="Verdana"/>
                              <a:sym typeface="Verdana"/>
                            </a:rPr>
                            <a:t>Divide ___ into ___ equal sized groups</a:t>
                          </a: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600">
                            <a:latin typeface="Verdana"/>
                            <a:ea typeface="Verdana"/>
                            <a:cs typeface="Verdana"/>
                            <a:sym typeface="Verdana"/>
                          </a:endParaRPr>
                        </a:p>
                      </a:txBody>
                      <a:tcPr marL="91425" marR="91425" marT="91425" marB="91425"/>
                    </a:tc>
                    <a:extLst>
                      <a:ext uri="{0D108BD9-81ED-4DB2-BD59-A6C34878D82A}">
                        <a16:rowId xmlns:a16="http://schemas.microsoft.com/office/drawing/2014/main" val="10001"/>
                      </a:ext>
                    </a:extLst>
                  </a:tr>
                  <a:tr h="1158210">
                    <a:tc>
                      <a:txBody>
                        <a:bodyPr/>
                        <a:lstStyle/>
                        <a:p>
                          <a:pPr marL="0" lvl="0" indent="0" algn="ctr" rtl="0">
                            <a:spcBef>
                              <a:spcPts val="0"/>
                            </a:spcBef>
                            <a:spcAft>
                              <a:spcPts val="0"/>
                            </a:spcAft>
                            <a:buNone/>
                          </a:pPr>
                          <a:r>
                            <a:rPr lang="en-US" sz="1600">
                              <a:latin typeface="Verdana"/>
                              <a:ea typeface="Verdana"/>
                              <a:cs typeface="Verdana"/>
                              <a:sym typeface="Verdana"/>
                            </a:rPr>
                            <a:t>−12 ÷ −2</a:t>
                          </a:r>
                          <a:endParaRPr sz="1600">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r>
                            <a:rPr lang="en-US" sz="1600">
                              <a:latin typeface="Verdana"/>
                              <a:ea typeface="Verdana"/>
                              <a:cs typeface="Verdana"/>
                              <a:sym typeface="Verdana"/>
                            </a:rPr>
                            <a:t>Divide ___ into ___ equal sized groups</a:t>
                          </a:r>
                          <a:endParaRPr sz="160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1600" dirty="0">
                            <a:latin typeface="Verdana"/>
                            <a:ea typeface="Verdana"/>
                            <a:cs typeface="Verdana"/>
                            <a:sym typeface="Verdana"/>
                          </a:endParaRPr>
                        </a:p>
                      </a:txBody>
                      <a:tcPr marL="91425" marR="91425" marT="91425" marB="91425"/>
                    </a:tc>
                    <a:extLst>
                      <a:ext uri="{0D108BD9-81ED-4DB2-BD59-A6C34878D82A}">
                        <a16:rowId xmlns:a16="http://schemas.microsoft.com/office/drawing/2014/main" val="10002"/>
                      </a:ext>
                    </a:extLst>
                  </a:tr>
                </a:tbl>
              </a:graphicData>
            </a:graphic>
          </p:graphicFrame>
        </mc:Fallback>
      </mc:AlternateContent>
      <p:sp>
        <p:nvSpPr>
          <p:cNvPr id="217" name="Google Shape;217;g114577c4e0d_0_33"/>
          <p:cNvSpPr txBox="1"/>
          <p:nvPr/>
        </p:nvSpPr>
        <p:spPr>
          <a:xfrm>
            <a:off x="1548883" y="3477271"/>
            <a:ext cx="3580046" cy="1938962"/>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startAt="3"/>
            </a:pPr>
            <a:r>
              <a:rPr lang="en-US" sz="1900" dirty="0">
                <a:latin typeface="Verdana"/>
                <a:ea typeface="Verdana"/>
                <a:cs typeface="Verdana"/>
                <a:sym typeface="Verdana"/>
              </a:rPr>
              <a:t>Use the pattern of the division in the tables to complete the rules by drawing the sign of the quotient as an integer chip.</a:t>
            </a:r>
            <a:endParaRPr sz="1900" dirty="0">
              <a:latin typeface="Verdana"/>
              <a:ea typeface="Verdana"/>
              <a:cs typeface="Verdana"/>
              <a:sym typeface="Verdana"/>
            </a:endParaRPr>
          </a:p>
        </p:txBody>
      </p:sp>
      <p:pic>
        <p:nvPicPr>
          <p:cNvPr id="218" name="Google Shape;218;g114577c4e0d_0_33"/>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5359674" y="3477271"/>
            <a:ext cx="4424849" cy="3022976"/>
          </a:xfrm>
          <a:prstGeom prst="rect">
            <a:avLst/>
          </a:prstGeom>
          <a:noFill/>
          <a:ln>
            <a:noFill/>
          </a:ln>
        </p:spPr>
      </p:pic>
      <p:sp>
        <p:nvSpPr>
          <p:cNvPr id="8"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
        <p:nvSpPr>
          <p:cNvPr id="2" name="TextBox 1"/>
          <p:cNvSpPr txBox="1"/>
          <p:nvPr/>
        </p:nvSpPr>
        <p:spPr>
          <a:xfrm>
            <a:off x="1385670" y="256032"/>
            <a:ext cx="792480" cy="400110"/>
          </a:xfrm>
          <a:prstGeom prst="rect">
            <a:avLst/>
          </a:prstGeom>
          <a:noFill/>
        </p:spPr>
        <p:txBody>
          <a:bodyPr wrap="square" rtlCol="0">
            <a:spAutoFit/>
          </a:bodyPr>
          <a:lstStyle/>
          <a:p>
            <a:r>
              <a:rPr lang="en-US" sz="2000" dirty="0" smtClean="0">
                <a:latin typeface="Verdana" charset="0"/>
                <a:ea typeface="Verdana" charset="0"/>
                <a:cs typeface="Verdana" charset="0"/>
              </a:rPr>
              <a:t>2.</a:t>
            </a:r>
            <a:endParaRPr lang="en-US" sz="2000" dirty="0">
              <a:latin typeface="Verdana" charset="0"/>
              <a:ea typeface="Verdana" charset="0"/>
              <a:cs typeface="Verdana"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6"/>
          <p:cNvSpPr/>
          <p:nvPr/>
        </p:nvSpPr>
        <p:spPr>
          <a:xfrm>
            <a:off x="0" y="0"/>
            <a:ext cx="2731200" cy="6866100"/>
          </a:xfrm>
          <a:prstGeom prst="rect">
            <a:avLst/>
          </a:prstGeom>
          <a:solidFill>
            <a:srgbClr val="276C46"/>
          </a:solidFill>
          <a:ln w="9525" cap="flat" cmpd="sng">
            <a:no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26" name="Google Shape;226;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228" name="Google Shape;228;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36" name="Google Shape;236;p7"/>
          <p:cNvSpPr txBox="1"/>
          <p:nvPr/>
        </p:nvSpPr>
        <p:spPr>
          <a:xfrm>
            <a:off x="1362854" y="60325"/>
            <a:ext cx="94513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100" b="1">
                <a:solidFill>
                  <a:srgbClr val="33BEA6"/>
                </a:solidFill>
                <a:latin typeface="Verdana"/>
                <a:ea typeface="Verdana"/>
                <a:cs typeface="Verdana"/>
                <a:sym typeface="Verdana"/>
              </a:rPr>
              <a:t>6.10.3 Collaboration: How Are Integer Multiplication and Division Related?</a:t>
            </a:r>
            <a:endParaRPr sz="900"/>
          </a:p>
        </p:txBody>
      </p:sp>
      <p:pic>
        <p:nvPicPr>
          <p:cNvPr id="238" name="Google Shape;23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13046" y="348271"/>
            <a:ext cx="749808" cy="749808"/>
          </a:xfrm>
          <a:prstGeom prst="rect">
            <a:avLst/>
          </a:prstGeom>
          <a:noFill/>
          <a:ln>
            <a:noFill/>
          </a:ln>
          <a:effectLst>
            <a:outerShdw blurRad="50800" dist="38100" dir="2700000" algn="tl" rotWithShape="0">
              <a:srgbClr val="000000">
                <a:alpha val="40000"/>
              </a:srgbClr>
            </a:outerShdw>
          </a:effectLst>
        </p:spPr>
      </p:pic>
      <p:sp>
        <p:nvSpPr>
          <p:cNvPr id="239" name="Google Shape;239;p7"/>
          <p:cNvSpPr txBox="1"/>
          <p:nvPr/>
        </p:nvSpPr>
        <p:spPr>
          <a:xfrm>
            <a:off x="1119673" y="1386025"/>
            <a:ext cx="10208650" cy="4524275"/>
          </a:xfrm>
          <a:prstGeom prst="rect">
            <a:avLst/>
          </a:prstGeom>
          <a:noFill/>
          <a:ln>
            <a:noFill/>
          </a:ln>
        </p:spPr>
        <p:txBody>
          <a:bodyPr spcFirstLastPara="1" wrap="square" lIns="91425" tIns="45700" rIns="91425" bIns="45700" anchor="t" anchorCtr="0">
            <a:spAutoFit/>
          </a:bodyPr>
          <a:lstStyle/>
          <a:p>
            <a:pPr>
              <a:buSzPts val="2400"/>
            </a:pPr>
            <a:r>
              <a:rPr lang="en-US" sz="1800" dirty="0">
                <a:latin typeface="Verdana"/>
                <a:ea typeface="Verdana"/>
                <a:cs typeface="Verdana"/>
                <a:sym typeface="Verdana"/>
              </a:rPr>
              <a:t>Jeannie and </a:t>
            </a:r>
            <a:r>
              <a:rPr lang="en-US" sz="1800" dirty="0" err="1">
                <a:latin typeface="Verdana"/>
                <a:ea typeface="Verdana"/>
                <a:cs typeface="Verdana"/>
                <a:sym typeface="Verdana"/>
              </a:rPr>
              <a:t>Solimar</a:t>
            </a:r>
            <a:r>
              <a:rPr lang="en-US" sz="1800" dirty="0">
                <a:latin typeface="Verdana"/>
                <a:ea typeface="Verdana"/>
                <a:cs typeface="Verdana"/>
                <a:sym typeface="Verdana"/>
              </a:rPr>
              <a:t> were discussing the relationship between </a:t>
            </a:r>
            <a:endParaRPr sz="1800" dirty="0">
              <a:latin typeface="Verdana"/>
              <a:ea typeface="Verdana"/>
              <a:cs typeface="Verdana"/>
              <a:sym typeface="Verdana"/>
            </a:endParaRPr>
          </a:p>
          <a:p>
            <a:pPr>
              <a:buSzPts val="2400"/>
            </a:pPr>
            <a:r>
              <a:rPr lang="en-US" sz="1800" dirty="0">
                <a:latin typeface="Verdana"/>
                <a:ea typeface="Verdana"/>
                <a:cs typeface="Verdana"/>
                <a:sym typeface="Verdana"/>
              </a:rPr>
              <a:t>5 × −2 = −10 and (−10) ÷ (−2) = 5.</a:t>
            </a:r>
            <a:endParaRPr sz="1800" dirty="0">
              <a:latin typeface="Verdana"/>
              <a:ea typeface="Verdana"/>
              <a:cs typeface="Verdana"/>
              <a:sym typeface="Verdana"/>
            </a:endParaRPr>
          </a:p>
          <a:p>
            <a:pPr>
              <a:buSzPts val="2400"/>
            </a:pPr>
            <a:endParaRPr sz="1800" dirty="0">
              <a:latin typeface="Verdana"/>
              <a:ea typeface="Verdana"/>
              <a:cs typeface="Verdana"/>
              <a:sym typeface="Verdana"/>
            </a:endParaRPr>
          </a:p>
          <a:p>
            <a:pPr>
              <a:buSzPts val="2400"/>
            </a:pPr>
            <a:r>
              <a:rPr lang="en-US" sz="1800" dirty="0">
                <a:latin typeface="Verdana"/>
                <a:ea typeface="Verdana"/>
                <a:cs typeface="Verdana"/>
                <a:sym typeface="Verdana"/>
              </a:rPr>
              <a:t> </a:t>
            </a:r>
            <a:r>
              <a:rPr lang="en-US" sz="1800" dirty="0" err="1">
                <a:latin typeface="Verdana"/>
                <a:ea typeface="Verdana"/>
                <a:cs typeface="Verdana"/>
                <a:sym typeface="Verdana"/>
              </a:rPr>
              <a:t>Solimar</a:t>
            </a:r>
            <a:r>
              <a:rPr lang="en-US" sz="1800" dirty="0">
                <a:latin typeface="Verdana"/>
                <a:ea typeface="Verdana"/>
                <a:cs typeface="Verdana"/>
                <a:sym typeface="Verdana"/>
              </a:rPr>
              <a:t> said, “The multiplication equation can be interpreted as 5 groups of −2 and the division equation can be interpreted as how many groups of −2 are in −10. Isn’t that basically the same thing?” </a:t>
            </a:r>
            <a:endParaRPr sz="1800" dirty="0">
              <a:latin typeface="Verdana"/>
              <a:ea typeface="Verdana"/>
              <a:cs typeface="Verdana"/>
              <a:sym typeface="Verdana"/>
            </a:endParaRPr>
          </a:p>
          <a:p>
            <a:pPr>
              <a:buSzPts val="2400"/>
            </a:pPr>
            <a:endParaRPr sz="1800" dirty="0">
              <a:latin typeface="Verdana"/>
              <a:ea typeface="Verdana"/>
              <a:cs typeface="Verdana"/>
              <a:sym typeface="Verdana"/>
            </a:endParaRPr>
          </a:p>
          <a:p>
            <a:pPr>
              <a:buSzPts val="2400"/>
            </a:pPr>
            <a:r>
              <a:rPr lang="en-US" sz="1800" dirty="0">
                <a:latin typeface="Verdana"/>
                <a:ea typeface="Verdana"/>
                <a:cs typeface="Verdana"/>
                <a:sym typeface="Verdana"/>
              </a:rPr>
              <a:t>Jeannie replied, “I agree. I also think it is interesting to see how the rules seem to be related. In the multiplication equation, we are multiplying a positive by a negative and the answer is a negative. In the division equation, we do the reverse of the multiplication problem and find that a negative divided by a negative is a positive.” </a:t>
            </a:r>
            <a:endParaRPr sz="1800" dirty="0">
              <a:latin typeface="Verdana"/>
              <a:ea typeface="Verdana"/>
              <a:cs typeface="Verdana"/>
              <a:sym typeface="Verdana"/>
            </a:endParaRPr>
          </a:p>
          <a:p>
            <a:pPr>
              <a:buSzPts val="2400"/>
            </a:pPr>
            <a:endParaRPr sz="1800" dirty="0">
              <a:latin typeface="Verdana"/>
              <a:ea typeface="Verdana"/>
              <a:cs typeface="Verdana"/>
              <a:sym typeface="Verdana"/>
            </a:endParaRPr>
          </a:p>
          <a:p>
            <a:pPr>
              <a:buSzPts val="2400"/>
            </a:pPr>
            <a:r>
              <a:rPr lang="en-US" sz="1800" dirty="0" err="1">
                <a:latin typeface="Verdana"/>
                <a:ea typeface="Verdana"/>
                <a:cs typeface="Verdana"/>
                <a:sym typeface="Verdana"/>
              </a:rPr>
              <a:t>Solimar</a:t>
            </a:r>
            <a:r>
              <a:rPr lang="en-US" sz="1800" dirty="0">
                <a:latin typeface="Verdana"/>
                <a:ea typeface="Verdana"/>
                <a:cs typeface="Verdana"/>
                <a:sym typeface="Verdana"/>
              </a:rPr>
              <a:t> said, “Yeah, that’s a cool connection. Do you think the rules are the same for multiplication and division?” </a:t>
            </a:r>
            <a:endParaRPr sz="1800" dirty="0">
              <a:latin typeface="Verdana"/>
              <a:ea typeface="Verdana"/>
              <a:cs typeface="Verdana"/>
              <a:sym typeface="Verdana"/>
            </a:endParaRPr>
          </a:p>
          <a:p>
            <a:pPr>
              <a:buSzPts val="2400"/>
            </a:pPr>
            <a:endParaRPr sz="1800" dirty="0">
              <a:latin typeface="Verdana"/>
              <a:ea typeface="Verdana"/>
              <a:cs typeface="Verdana"/>
              <a:sym typeface="Verdana"/>
            </a:endParaRPr>
          </a:p>
          <a:p>
            <a:pPr>
              <a:buSzPts val="2400"/>
            </a:pPr>
            <a:r>
              <a:rPr lang="en-US" sz="1800" dirty="0">
                <a:latin typeface="Verdana"/>
                <a:ea typeface="Verdana"/>
                <a:cs typeface="Verdana"/>
                <a:sym typeface="Verdana"/>
              </a:rPr>
              <a:t>Jeannie said, “I think they might be related to each other.” </a:t>
            </a:r>
            <a:endParaRPr sz="1800" dirty="0"/>
          </a:p>
        </p:txBody>
      </p:sp>
      <p:sp>
        <p:nvSpPr>
          <p:cNvPr id="8"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40" name="Google Shape;240;p7"/>
          <p:cNvSpPr txBox="1"/>
          <p:nvPr/>
        </p:nvSpPr>
        <p:spPr>
          <a:xfrm>
            <a:off x="1963661" y="783955"/>
            <a:ext cx="8595900" cy="1415742"/>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a:pPr>
            <a:r>
              <a:rPr lang="en-US" sz="2000" dirty="0">
                <a:latin typeface="Verdana"/>
                <a:ea typeface="Verdana"/>
                <a:cs typeface="Verdana"/>
                <a:sym typeface="Verdana"/>
              </a:rPr>
              <a:t>Discuss </a:t>
            </a:r>
            <a:r>
              <a:rPr lang="en-US" sz="2000" dirty="0" err="1">
                <a:latin typeface="Verdana"/>
                <a:ea typeface="Verdana"/>
                <a:cs typeface="Verdana"/>
                <a:sym typeface="Verdana"/>
              </a:rPr>
              <a:t>Solimar</a:t>
            </a:r>
            <a:r>
              <a:rPr lang="en-US" sz="2000" dirty="0">
                <a:latin typeface="Verdana"/>
                <a:ea typeface="Verdana"/>
                <a:cs typeface="Verdana"/>
                <a:sym typeface="Verdana"/>
              </a:rPr>
              <a:t> and Jeannie’s conversation with your partner. </a:t>
            </a:r>
            <a:endParaRPr sz="2000" dirty="0">
              <a:latin typeface="Verdana"/>
              <a:ea typeface="Verdana"/>
              <a:cs typeface="Verdana"/>
              <a:sym typeface="Verdana"/>
            </a:endParaRPr>
          </a:p>
          <a:p>
            <a:pPr marL="457200" indent="-457200">
              <a:buSzPts val="2400"/>
              <a:buFont typeface="+mj-lt"/>
              <a:buAutoNum type="arabicPeriod"/>
            </a:pPr>
            <a:endParaRPr sz="2000" dirty="0">
              <a:latin typeface="Verdana"/>
              <a:ea typeface="Verdana"/>
              <a:cs typeface="Verdana"/>
              <a:sym typeface="Verdana"/>
            </a:endParaRPr>
          </a:p>
          <a:p>
            <a:pPr marL="457200" indent="-457200">
              <a:buSzPct val="100000"/>
              <a:buFont typeface="+mj-lt"/>
              <a:buAutoNum type="arabicPeriod"/>
            </a:pPr>
            <a:r>
              <a:rPr lang="en-US" sz="2000" dirty="0">
                <a:latin typeface="Verdana"/>
                <a:ea typeface="Verdana"/>
                <a:cs typeface="Verdana"/>
                <a:sym typeface="Verdana"/>
              </a:rPr>
              <a:t>Create two integer division equations that can be rewritten with the related multiplication equation.</a:t>
            </a:r>
            <a:endParaRPr sz="2000" dirty="0">
              <a:latin typeface="Verdana"/>
              <a:ea typeface="Verdana"/>
              <a:cs typeface="Verdana"/>
              <a:sym typeface="Verdana"/>
            </a:endParaRPr>
          </a:p>
        </p:txBody>
      </p:sp>
      <p:graphicFrame>
        <p:nvGraphicFramePr>
          <p:cNvPr id="241" name="Google Shape;241;p7"/>
          <p:cNvGraphicFramePr/>
          <p:nvPr>
            <p:extLst>
              <p:ext uri="{D42A27DB-BD31-4B8C-83A1-F6EECF244321}">
                <p14:modId xmlns:p14="http://schemas.microsoft.com/office/powerpoint/2010/main" val="2609444722"/>
              </p:ext>
            </p:extLst>
          </p:nvPr>
        </p:nvGraphicFramePr>
        <p:xfrm>
          <a:off x="2476500" y="3612120"/>
          <a:ext cx="7239000" cy="1767750"/>
        </p:xfrm>
        <a:graphic>
          <a:graphicData uri="http://schemas.openxmlformats.org/drawingml/2006/table">
            <a:tbl>
              <a:tblPr>
                <a:noFill/>
                <a:tableStyleId>{FF87AF83-C201-407D-91E2-2AC5D7F399F6}</a:tableStyleId>
              </a:tblPr>
              <a:tblGrid>
                <a:gridCol w="3619500">
                  <a:extLst>
                    <a:ext uri="{9D8B030D-6E8A-4147-A177-3AD203B41FA5}">
                      <a16:colId xmlns:a16="http://schemas.microsoft.com/office/drawing/2014/main" xmlns="" val="20000"/>
                    </a:ext>
                  </a:extLst>
                </a:gridCol>
                <a:gridCol w="3619500">
                  <a:extLst>
                    <a:ext uri="{9D8B030D-6E8A-4147-A177-3AD203B41FA5}">
                      <a16:colId xmlns:a16="http://schemas.microsoft.com/office/drawing/2014/main" xmlns="" val="20001"/>
                    </a:ext>
                  </a:extLst>
                </a:gridCol>
              </a:tblGrid>
              <a:tr h="381000">
                <a:tc>
                  <a:txBody>
                    <a:bodyPr/>
                    <a:lstStyle/>
                    <a:p>
                      <a:pPr marL="0" lvl="0" indent="0" algn="ctr" rtl="0">
                        <a:spcBef>
                          <a:spcPts val="0"/>
                        </a:spcBef>
                        <a:spcAft>
                          <a:spcPts val="0"/>
                        </a:spcAft>
                        <a:buNone/>
                      </a:pPr>
                      <a:r>
                        <a:rPr lang="en-US" sz="2000" b="1" dirty="0">
                          <a:latin typeface="Verdana"/>
                          <a:ea typeface="Verdana"/>
                          <a:cs typeface="Verdana"/>
                          <a:sym typeface="Verdana"/>
                        </a:rPr>
                        <a:t>Division Equation</a:t>
                      </a:r>
                      <a:endParaRPr sz="2000" b="1" dirty="0">
                        <a:latin typeface="Verdana"/>
                        <a:ea typeface="Verdana"/>
                        <a:cs typeface="Verdana"/>
                        <a:sym typeface="Verdana"/>
                      </a:endParaRPr>
                    </a:p>
                  </a:txBody>
                  <a:tcPr marL="91425" marR="91425" marT="91425" marB="91425" anchor="ctr">
                    <a:solidFill>
                      <a:srgbClr val="B7B7B7"/>
                    </a:solidFill>
                  </a:tcPr>
                </a:tc>
                <a:tc>
                  <a:txBody>
                    <a:bodyPr/>
                    <a:lstStyle/>
                    <a:p>
                      <a:pPr marL="0" lvl="0" indent="0" algn="ctr" rtl="0">
                        <a:spcBef>
                          <a:spcPts val="0"/>
                        </a:spcBef>
                        <a:spcAft>
                          <a:spcPts val="0"/>
                        </a:spcAft>
                        <a:buNone/>
                      </a:pPr>
                      <a:r>
                        <a:rPr lang="en-US" sz="2000" b="1" dirty="0">
                          <a:latin typeface="Verdana"/>
                          <a:ea typeface="Verdana"/>
                          <a:cs typeface="Verdana"/>
                          <a:sym typeface="Verdana"/>
                        </a:rPr>
                        <a:t>Related Multiplication Equation</a:t>
                      </a:r>
                      <a:endParaRPr sz="2000" b="1" dirty="0">
                        <a:latin typeface="Verdana"/>
                        <a:ea typeface="Verdana"/>
                        <a:cs typeface="Verdana"/>
                        <a:sym typeface="Verdana"/>
                      </a:endParaRPr>
                    </a:p>
                  </a:txBody>
                  <a:tcPr marL="91425" marR="91425" marT="91425" marB="91425" anchor="ctr">
                    <a:solidFill>
                      <a:srgbClr val="B7B7B7"/>
                    </a:solidFill>
                  </a:tcPr>
                </a:tc>
                <a:extLst>
                  <a:ext uri="{0D108BD9-81ED-4DB2-BD59-A6C34878D82A}">
                    <a16:rowId xmlns:a16="http://schemas.microsoft.com/office/drawing/2014/main" xmlns="" val="10000"/>
                  </a:ext>
                </a:extLst>
              </a:tr>
              <a:tr h="381000">
                <a:tc>
                  <a:txBody>
                    <a:bodyPr/>
                    <a:lstStyle/>
                    <a:p>
                      <a:pPr marL="0" lvl="0" indent="0" algn="l" rtl="0">
                        <a:spcBef>
                          <a:spcPts val="0"/>
                        </a:spcBef>
                        <a:spcAft>
                          <a:spcPts val="0"/>
                        </a:spcAft>
                        <a:buNone/>
                      </a:pPr>
                      <a:endParaRPr sz="200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2000"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1"/>
                  </a:ext>
                </a:extLst>
              </a:tr>
              <a:tr h="381000">
                <a:tc>
                  <a:txBody>
                    <a:bodyPr/>
                    <a:lstStyle/>
                    <a:p>
                      <a:pPr marL="0" lvl="0" indent="0" algn="l" rtl="0">
                        <a:spcBef>
                          <a:spcPts val="0"/>
                        </a:spcBef>
                        <a:spcAft>
                          <a:spcPts val="0"/>
                        </a:spcAft>
                        <a:buNone/>
                      </a:pPr>
                      <a:endParaRPr sz="2000"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sz="2000"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2"/>
                  </a:ext>
                </a:extLst>
              </a:tr>
            </a:tbl>
          </a:graphicData>
        </a:graphic>
      </p:graphicFrame>
      <p:sp>
        <p:nvSpPr>
          <p:cNvPr id="9"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extLst>
      <p:ext uri="{BB962C8B-B14F-4D97-AF65-F5344CB8AC3E}">
        <p14:creationId xmlns:p14="http://schemas.microsoft.com/office/powerpoint/2010/main" val="490685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7"/>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49" name="Google Shape;249;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251" name="Google Shape;251;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8"/>
          <p:cNvSpPr/>
          <p:nvPr/>
        </p:nvSpPr>
        <p:spPr>
          <a:xfrm>
            <a:off x="0" y="-12827"/>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59" name="Google Shape;259;p28"/>
          <p:cNvSpPr txBox="1"/>
          <p:nvPr/>
        </p:nvSpPr>
        <p:spPr>
          <a:xfrm>
            <a:off x="1493483" y="25830"/>
            <a:ext cx="8979154"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2900" b="1">
                <a:solidFill>
                  <a:srgbClr val="54B5D1"/>
                </a:solidFill>
                <a:latin typeface="Verdana"/>
                <a:ea typeface="Verdana"/>
                <a:cs typeface="Verdana"/>
                <a:sym typeface="Verdana"/>
              </a:rPr>
              <a:t>6.10.4 Bring It Together: How Are Integer Multiplication and Division Related?</a:t>
            </a:r>
            <a:endParaRPr sz="200"/>
          </a:p>
        </p:txBody>
      </p:sp>
      <p:sp>
        <p:nvSpPr>
          <p:cNvPr id="261" name="Google Shape;261;p28"/>
          <p:cNvSpPr txBox="1"/>
          <p:nvPr/>
        </p:nvSpPr>
        <p:spPr>
          <a:xfrm>
            <a:off x="1310551" y="1386025"/>
            <a:ext cx="9789572" cy="677100"/>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a:pPr>
            <a:r>
              <a:rPr lang="en-US" sz="1900" dirty="0">
                <a:latin typeface="Verdana"/>
                <a:ea typeface="Verdana"/>
                <a:cs typeface="Verdana"/>
                <a:sym typeface="Verdana"/>
              </a:rPr>
              <a:t>Write the missing factor in each given equation. Then, write the related division or multiplication equation.</a:t>
            </a:r>
            <a:endParaRPr sz="900" dirty="0"/>
          </a:p>
        </p:txBody>
      </p:sp>
      <p:pic>
        <p:nvPicPr>
          <p:cNvPr id="262" name="Google Shape;262;p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43675" y="255418"/>
            <a:ext cx="749808" cy="749808"/>
          </a:xfrm>
          <a:prstGeom prst="rect">
            <a:avLst/>
          </a:prstGeom>
          <a:noFill/>
          <a:ln>
            <a:noFill/>
          </a:ln>
          <a:effectLst>
            <a:outerShdw blurRad="50800" dist="38100" dir="2700000" algn="tl" rotWithShape="0">
              <a:srgbClr val="000000">
                <a:alpha val="40000"/>
              </a:srgbClr>
            </a:outerShdw>
          </a:effectLst>
        </p:spPr>
      </p:pic>
      <p:pic>
        <p:nvPicPr>
          <p:cNvPr id="263" name="Google Shape;263;p28"/>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3531910" y="2120325"/>
            <a:ext cx="4895003" cy="3671500"/>
          </a:xfrm>
          <a:prstGeom prst="rect">
            <a:avLst/>
          </a:prstGeom>
          <a:noFill/>
          <a:ln>
            <a:noFill/>
          </a:ln>
        </p:spPr>
      </p:pic>
      <p:sp>
        <p:nvSpPr>
          <p:cNvPr id="264" name="Google Shape;264;p28"/>
          <p:cNvSpPr txBox="1"/>
          <p:nvPr/>
        </p:nvSpPr>
        <p:spPr>
          <a:xfrm>
            <a:off x="1408922" y="5791825"/>
            <a:ext cx="8472634" cy="769500"/>
          </a:xfrm>
          <a:prstGeom prst="rect">
            <a:avLst/>
          </a:prstGeom>
          <a:noFill/>
          <a:ln>
            <a:noFill/>
          </a:ln>
        </p:spPr>
        <p:txBody>
          <a:bodyPr spcFirstLastPara="1" wrap="square" lIns="91425" tIns="91425" rIns="91425" bIns="91425" anchor="t" anchorCtr="0">
            <a:spAutoFit/>
          </a:bodyPr>
          <a:lstStyle/>
          <a:p>
            <a:pPr marL="457200" indent="-457200">
              <a:buSzPct val="100000"/>
              <a:buFont typeface="+mj-lt"/>
              <a:buAutoNum type="arabicPeriod" startAt="2"/>
            </a:pPr>
            <a:r>
              <a:rPr lang="en-US" sz="1900" dirty="0">
                <a:latin typeface="Verdana"/>
                <a:ea typeface="Verdana"/>
                <a:cs typeface="Verdana"/>
                <a:sym typeface="Verdana"/>
              </a:rPr>
              <a:t>How are rules for multiplication of integers related to the rules for division of integers? </a:t>
            </a:r>
            <a:endParaRPr sz="1900" dirty="0">
              <a:latin typeface="Verdana"/>
              <a:ea typeface="Verdana"/>
              <a:cs typeface="Verdana"/>
              <a:sym typeface="Verdana"/>
            </a:endParaRPr>
          </a:p>
        </p:txBody>
      </p:sp>
      <p:sp>
        <p:nvSpPr>
          <p:cNvPr id="10"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114577c4e0d_0_63"/>
          <p:cNvSpPr/>
          <p:nvPr/>
        </p:nvSpPr>
        <p:spPr>
          <a:xfrm>
            <a:off x="0" y="-8226"/>
            <a:ext cx="2731200" cy="6866100"/>
          </a:xfrm>
          <a:prstGeom prst="rect">
            <a:avLst/>
          </a:prstGeom>
          <a:solidFill>
            <a:srgbClr val="276C46"/>
          </a:solidFill>
          <a:ln w="9525" cap="flat" cmpd="sng">
            <a:no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72" name="Google Shape;272;g114577c4e0d_0_63"/>
          <p:cNvSpPr txBox="1">
            <a:spLocks noGrp="1"/>
          </p:cNvSpPr>
          <p:nvPr>
            <p:ph type="title" idx="4294967295"/>
          </p:nvPr>
        </p:nvSpPr>
        <p:spPr>
          <a:xfrm>
            <a:off x="5665258" y="2766145"/>
            <a:ext cx="500280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274" name="Google Shape;274;g114577c4e0d_0_63"/>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g114577c4e0d_0_72"/>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282" name="Google Shape;282;g114577c4e0d_0_72"/>
          <p:cNvSpPr txBox="1"/>
          <p:nvPr/>
        </p:nvSpPr>
        <p:spPr>
          <a:xfrm>
            <a:off x="1476548" y="-3504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300" b="1">
                <a:solidFill>
                  <a:srgbClr val="33BEA6"/>
                </a:solidFill>
                <a:latin typeface="Verdana"/>
                <a:ea typeface="Verdana"/>
                <a:cs typeface="Verdana"/>
                <a:sym typeface="Verdana"/>
              </a:rPr>
              <a:t>6.10.5 Collaboration: Which One Doesn’t Belong?</a:t>
            </a:r>
            <a:endParaRPr sz="1100"/>
          </a:p>
        </p:txBody>
      </p:sp>
      <p:pic>
        <p:nvPicPr>
          <p:cNvPr id="284" name="Google Shape;284;g114577c4e0d_0_7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26740" y="252900"/>
            <a:ext cx="749808" cy="749808"/>
          </a:xfrm>
          <a:prstGeom prst="rect">
            <a:avLst/>
          </a:prstGeom>
          <a:noFill/>
          <a:ln>
            <a:noFill/>
          </a:ln>
          <a:effectLst>
            <a:outerShdw blurRad="50800" dist="38100" dir="2700000" algn="tl" rotWithShape="0">
              <a:srgbClr val="000000">
                <a:alpha val="40000"/>
              </a:srgbClr>
            </a:outerShdw>
          </a:effectLst>
        </p:spPr>
      </p:pic>
      <p:sp>
        <p:nvSpPr>
          <p:cNvPr id="285" name="Google Shape;285;g114577c4e0d_0_72"/>
          <p:cNvSpPr txBox="1"/>
          <p:nvPr/>
        </p:nvSpPr>
        <p:spPr>
          <a:xfrm>
            <a:off x="1261797" y="1386025"/>
            <a:ext cx="9924402" cy="861900"/>
          </a:xfrm>
          <a:prstGeom prst="rect">
            <a:avLst/>
          </a:prstGeom>
          <a:noFill/>
          <a:ln>
            <a:noFill/>
          </a:ln>
        </p:spPr>
        <p:txBody>
          <a:bodyPr spcFirstLastPara="1" wrap="square" lIns="91425" tIns="45700" rIns="91425" bIns="45700" anchor="t" anchorCtr="0">
            <a:spAutoFit/>
          </a:bodyPr>
          <a:lstStyle/>
          <a:p>
            <a:pPr marL="457200" indent="-457200">
              <a:buSzPts val="2400"/>
              <a:buFont typeface="+mj-lt"/>
              <a:buAutoNum type="arabicPeriod"/>
            </a:pPr>
            <a:r>
              <a:rPr lang="en-US" sz="2500" dirty="0">
                <a:latin typeface="Verdana"/>
                <a:ea typeface="Verdana"/>
                <a:cs typeface="Verdana"/>
                <a:sym typeface="Verdana"/>
              </a:rPr>
              <a:t>Circle the expression that does not belong with the other three.</a:t>
            </a:r>
            <a:endParaRPr sz="1500" dirty="0"/>
          </a:p>
        </p:txBody>
      </p:sp>
      <mc:AlternateContent xmlns:mc="http://schemas.openxmlformats.org/markup-compatibility/2006" xmlns:a14="http://schemas.microsoft.com/office/drawing/2010/main">
        <mc:Choice Requires="a14">
          <p:sp>
            <p:nvSpPr>
              <p:cNvPr id="286" name="Google Shape;286;g114577c4e0d_0_72"/>
              <p:cNvSpPr txBox="1"/>
              <p:nvPr/>
            </p:nvSpPr>
            <p:spPr>
              <a:xfrm>
                <a:off x="3076625" y="2475252"/>
                <a:ext cx="1030200" cy="878480"/>
              </a:xfrm>
              <a:prstGeom prst="rect">
                <a:avLst/>
              </a:prstGeom>
              <a:noFill/>
              <a:ln>
                <a:noFill/>
              </a:ln>
            </p:spPr>
            <p:txBody>
              <a:bodyPr spcFirstLastPara="1" wrap="square" lIns="91425" tIns="91425" rIns="91425" bIns="91425" anchor="t" anchorCtr="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charset="0"/>
                            </a:rPr>
                          </m:ctrlPr>
                        </m:fPr>
                        <m:num>
                          <m:r>
                            <a:rPr lang="en-US" sz="2400" i="1">
                              <a:latin typeface="Cambria Math" panose="02040503050406030204" pitchFamily="18" charset="0"/>
                            </a:rPr>
                            <m:t>10</m:t>
                          </m:r>
                        </m:num>
                        <m:den>
                          <m:r>
                            <a:rPr lang="en-US" sz="2400" i="1">
                              <a:latin typeface="Cambria Math" panose="02040503050406030204" pitchFamily="18" charset="0"/>
                            </a:rPr>
                            <m:t>−5</m:t>
                          </m:r>
                        </m:den>
                      </m:f>
                    </m:oMath>
                  </m:oMathPara>
                </a14:m>
                <a:endParaRPr dirty="0"/>
              </a:p>
            </p:txBody>
          </p:sp>
        </mc:Choice>
        <mc:Fallback xmlns="">
          <p:sp>
            <p:nvSpPr>
              <p:cNvPr id="286" name="Google Shape;286;g114577c4e0d_0_72"/>
              <p:cNvSpPr txBox="1">
                <a:spLocks noRot="1" noChangeAspect="1" noMove="1" noResize="1" noEditPoints="1" noAdjustHandles="1" noChangeArrowheads="1" noChangeShapeType="1" noTextEdit="1"/>
              </p:cNvSpPr>
              <p:nvPr/>
            </p:nvSpPr>
            <p:spPr>
              <a:xfrm>
                <a:off x="1552625" y="2475252"/>
                <a:ext cx="1030200" cy="878480"/>
              </a:xfrm>
              <a:prstGeom prst="rect">
                <a:avLst/>
              </a:prstGeom>
              <a:blipFill>
                <a:blip r:embed="rId5"/>
                <a:stretch>
                  <a:fillRect b="-1429"/>
                </a:stretch>
              </a:blipFill>
              <a:ln>
                <a:noFill/>
              </a:ln>
            </p:spPr>
            <p:txBody>
              <a:bodyPr/>
              <a:lstStyle/>
              <a:p>
                <a:r>
                  <a:rPr lang="en-US">
                    <a:noFill/>
                  </a:rPr>
                  <a:t> </a:t>
                </a:r>
              </a:p>
            </p:txBody>
          </p:sp>
        </mc:Fallback>
      </mc:AlternateContent>
      <p:sp>
        <p:nvSpPr>
          <p:cNvPr id="289" name="Google Shape;289;g114577c4e0d_0_72"/>
          <p:cNvSpPr txBox="1"/>
          <p:nvPr/>
        </p:nvSpPr>
        <p:spPr>
          <a:xfrm>
            <a:off x="1278294" y="4001825"/>
            <a:ext cx="9045912" cy="1723518"/>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startAt="2"/>
            </a:pPr>
            <a:r>
              <a:rPr lang="en-US" sz="2500" dirty="0">
                <a:latin typeface="Verdana"/>
                <a:ea typeface="Verdana"/>
                <a:cs typeface="Verdana"/>
                <a:sym typeface="Verdana"/>
              </a:rPr>
              <a:t>Explain why the expression does not belong. </a:t>
            </a:r>
            <a:endParaRPr sz="2500" dirty="0">
              <a:latin typeface="Verdana"/>
              <a:ea typeface="Verdana"/>
              <a:cs typeface="Verdana"/>
              <a:sym typeface="Verdana"/>
            </a:endParaRPr>
          </a:p>
          <a:p>
            <a:endParaRPr sz="2500" dirty="0">
              <a:latin typeface="Verdana"/>
              <a:ea typeface="Verdana"/>
              <a:cs typeface="Verdana"/>
              <a:sym typeface="Verdana"/>
            </a:endParaRPr>
          </a:p>
          <a:p>
            <a:pPr marL="457200" indent="-457200">
              <a:buFont typeface="+mj-lt"/>
              <a:buAutoNum type="arabicPeriod" startAt="3"/>
            </a:pPr>
            <a:r>
              <a:rPr lang="en-US" sz="2500" dirty="0">
                <a:latin typeface="Verdana"/>
                <a:ea typeface="Verdana"/>
                <a:cs typeface="Verdana"/>
                <a:sym typeface="Verdana"/>
              </a:rPr>
              <a:t>Verify your answers with your partner and, if necessary, resolve any differences.</a:t>
            </a:r>
            <a:endParaRPr sz="2500" dirty="0">
              <a:latin typeface="Verdana"/>
              <a:ea typeface="Verdana"/>
              <a:cs typeface="Verdana"/>
              <a:sym typeface="Verdana"/>
            </a:endParaRPr>
          </a:p>
        </p:txBody>
      </p:sp>
      <mc:AlternateContent xmlns:mc="http://schemas.openxmlformats.org/markup-compatibility/2006" xmlns:a14="http://schemas.microsoft.com/office/drawing/2010/main">
        <mc:Choice Requires="a14">
          <p:sp>
            <p:nvSpPr>
              <p:cNvPr id="13" name="Google Shape;286;g114577c4e0d_0_72">
                <a:extLst>
                  <a:ext uri="{FF2B5EF4-FFF2-40B4-BE49-F238E27FC236}">
                    <a16:creationId xmlns:a16="http://schemas.microsoft.com/office/drawing/2014/main" xmlns="" id="{07BB2140-19F7-1946-A9BB-AA557ECE813B}"/>
                  </a:ext>
                </a:extLst>
              </p:cNvPr>
              <p:cNvSpPr txBox="1"/>
              <p:nvPr/>
            </p:nvSpPr>
            <p:spPr>
              <a:xfrm>
                <a:off x="4462850" y="2475252"/>
                <a:ext cx="1030200" cy="878480"/>
              </a:xfrm>
              <a:prstGeom prst="rect">
                <a:avLst/>
              </a:prstGeom>
              <a:noFill/>
              <a:ln>
                <a:noFill/>
              </a:ln>
            </p:spPr>
            <p:txBody>
              <a:bodyPr spcFirstLastPara="1" wrap="square" lIns="91425" tIns="91425" rIns="91425" bIns="91425" anchor="t" anchorCtr="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charset="0"/>
                            </a:rPr>
                          </m:ctrlPr>
                        </m:fPr>
                        <m:num>
                          <m:r>
                            <a:rPr lang="en-US" sz="2400" i="1">
                              <a:latin typeface="Cambria Math" panose="02040503050406030204" pitchFamily="18" charset="0"/>
                            </a:rPr>
                            <m:t>−10</m:t>
                          </m:r>
                        </m:num>
                        <m:den>
                          <m:r>
                            <a:rPr lang="en-US" sz="2400" i="1">
                              <a:latin typeface="Cambria Math" panose="02040503050406030204" pitchFamily="18" charset="0"/>
                            </a:rPr>
                            <m:t>5</m:t>
                          </m:r>
                        </m:den>
                      </m:f>
                    </m:oMath>
                  </m:oMathPara>
                </a14:m>
                <a:endParaRPr dirty="0"/>
              </a:p>
            </p:txBody>
          </p:sp>
        </mc:Choice>
        <mc:Fallback xmlns="">
          <p:sp>
            <p:nvSpPr>
              <p:cNvPr id="13" name="Google Shape;286;g114577c4e0d_0_72">
                <a:extLst>
                  <a:ext uri="{FF2B5EF4-FFF2-40B4-BE49-F238E27FC236}">
                    <a16:creationId xmlns:a16="http://schemas.microsoft.com/office/drawing/2014/main" id="{07BB2140-19F7-1946-A9BB-AA557ECE813B}"/>
                  </a:ext>
                </a:extLst>
              </p:cNvPr>
              <p:cNvSpPr txBox="1">
                <a:spLocks noRot="1" noChangeAspect="1" noMove="1" noResize="1" noEditPoints="1" noAdjustHandles="1" noChangeArrowheads="1" noChangeShapeType="1" noTextEdit="1"/>
              </p:cNvSpPr>
              <p:nvPr/>
            </p:nvSpPr>
            <p:spPr>
              <a:xfrm>
                <a:off x="2938850" y="2475252"/>
                <a:ext cx="1030200" cy="878480"/>
              </a:xfrm>
              <a:prstGeom prst="rect">
                <a:avLst/>
              </a:prstGeom>
              <a:blipFill>
                <a:blip r:embed="rId6"/>
                <a:stretch>
                  <a:fillRect b="-142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Google Shape;286;g114577c4e0d_0_72">
                <a:extLst>
                  <a:ext uri="{FF2B5EF4-FFF2-40B4-BE49-F238E27FC236}">
                    <a16:creationId xmlns:a16="http://schemas.microsoft.com/office/drawing/2014/main" xmlns="" id="{82A7FCB5-7BD3-C04E-A428-82B6F49452B5}"/>
                  </a:ext>
                </a:extLst>
              </p:cNvPr>
              <p:cNvSpPr txBox="1"/>
              <p:nvPr/>
            </p:nvSpPr>
            <p:spPr>
              <a:xfrm>
                <a:off x="5849075" y="2475252"/>
                <a:ext cx="1030200" cy="878480"/>
              </a:xfrm>
              <a:prstGeom prst="rect">
                <a:avLst/>
              </a:prstGeom>
              <a:noFill/>
              <a:ln>
                <a:noFill/>
              </a:ln>
            </p:spPr>
            <p:txBody>
              <a:bodyPr spcFirstLastPara="1" wrap="square" lIns="91425" tIns="91425" rIns="91425" bIns="91425" anchor="t" anchorCtr="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charset="0"/>
                            </a:rPr>
                          </m:ctrlPr>
                        </m:fPr>
                        <m:num>
                          <m:r>
                            <a:rPr lang="en-US" sz="2400" i="1">
                              <a:latin typeface="Cambria Math" panose="02040503050406030204" pitchFamily="18" charset="0"/>
                            </a:rPr>
                            <m:t>−10</m:t>
                          </m:r>
                        </m:num>
                        <m:den>
                          <m:r>
                            <a:rPr lang="en-US" sz="2400" i="1">
                              <a:latin typeface="Cambria Math" panose="02040503050406030204" pitchFamily="18" charset="0"/>
                            </a:rPr>
                            <m:t>−5</m:t>
                          </m:r>
                        </m:den>
                      </m:f>
                    </m:oMath>
                  </m:oMathPara>
                </a14:m>
                <a:endParaRPr dirty="0"/>
              </a:p>
            </p:txBody>
          </p:sp>
        </mc:Choice>
        <mc:Fallback xmlns="">
          <p:sp>
            <p:nvSpPr>
              <p:cNvPr id="14" name="Google Shape;286;g114577c4e0d_0_72">
                <a:extLst>
                  <a:ext uri="{FF2B5EF4-FFF2-40B4-BE49-F238E27FC236}">
                    <a16:creationId xmlns:a16="http://schemas.microsoft.com/office/drawing/2014/main" id="{82A7FCB5-7BD3-C04E-A428-82B6F49452B5}"/>
                  </a:ext>
                </a:extLst>
              </p:cNvPr>
              <p:cNvSpPr txBox="1">
                <a:spLocks noRot="1" noChangeAspect="1" noMove="1" noResize="1" noEditPoints="1" noAdjustHandles="1" noChangeArrowheads="1" noChangeShapeType="1" noTextEdit="1"/>
              </p:cNvSpPr>
              <p:nvPr/>
            </p:nvSpPr>
            <p:spPr>
              <a:xfrm>
                <a:off x="4325075" y="2475252"/>
                <a:ext cx="1030200" cy="878480"/>
              </a:xfrm>
              <a:prstGeom prst="rect">
                <a:avLst/>
              </a:prstGeom>
              <a:blipFill>
                <a:blip r:embed="rId7"/>
                <a:stretch>
                  <a:fillRect b="-142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Google Shape;286;g114577c4e0d_0_72">
                <a:extLst>
                  <a:ext uri="{FF2B5EF4-FFF2-40B4-BE49-F238E27FC236}">
                    <a16:creationId xmlns:a16="http://schemas.microsoft.com/office/drawing/2014/main" xmlns="" id="{418979C5-B6AC-D342-9C80-1296D3D7F997}"/>
                  </a:ext>
                </a:extLst>
              </p:cNvPr>
              <p:cNvSpPr txBox="1"/>
              <p:nvPr/>
            </p:nvSpPr>
            <p:spPr>
              <a:xfrm>
                <a:off x="7314750" y="2438667"/>
                <a:ext cx="1030200" cy="884123"/>
              </a:xfrm>
              <a:prstGeom prst="rect">
                <a:avLst/>
              </a:prstGeom>
              <a:noFill/>
              <a:ln>
                <a:noFill/>
              </a:ln>
            </p:spPr>
            <p:txBody>
              <a:bodyPr spcFirstLastPara="1" wrap="square" lIns="91425" tIns="91425" rIns="91425" bIns="91425" anchor="t" anchorCtr="0">
                <a:spAutoFit/>
              </a:bodyPr>
              <a:lstStyle/>
              <a:p>
                <a:r>
                  <a:rPr lang="en-US" sz="2400" dirty="0"/>
                  <a:t>- </a:t>
                </a:r>
                <a14:m>
                  <m:oMath xmlns:m="http://schemas.openxmlformats.org/officeDocument/2006/math">
                    <m:f>
                      <m:fPr>
                        <m:ctrlPr>
                          <a:rPr lang="en-US" sz="3200" i="1">
                            <a:latin typeface="Cambria Math" charset="0"/>
                          </a:rPr>
                        </m:ctrlPr>
                      </m:fPr>
                      <m:num>
                        <m:r>
                          <a:rPr lang="en-US" sz="3200" i="1">
                            <a:latin typeface="Cambria Math" panose="02040503050406030204" pitchFamily="18" charset="0"/>
                          </a:rPr>
                          <m:t>10</m:t>
                        </m:r>
                      </m:num>
                      <m:den>
                        <m:r>
                          <a:rPr lang="en-US" sz="3200" i="1">
                            <a:latin typeface="Cambria Math" panose="02040503050406030204" pitchFamily="18" charset="0"/>
                          </a:rPr>
                          <m:t>5</m:t>
                        </m:r>
                      </m:den>
                    </m:f>
                  </m:oMath>
                </a14:m>
                <a:endParaRPr dirty="0"/>
              </a:p>
            </p:txBody>
          </p:sp>
        </mc:Choice>
        <mc:Fallback xmlns="">
          <p:sp>
            <p:nvSpPr>
              <p:cNvPr id="15" name="Google Shape;286;g114577c4e0d_0_72">
                <a:extLst>
                  <a:ext uri="{FF2B5EF4-FFF2-40B4-BE49-F238E27FC236}">
                    <a16:creationId xmlns:a16="http://schemas.microsoft.com/office/drawing/2014/main" id="{418979C5-B6AC-D342-9C80-1296D3D7F997}"/>
                  </a:ext>
                </a:extLst>
              </p:cNvPr>
              <p:cNvSpPr txBox="1">
                <a:spLocks noRot="1" noChangeAspect="1" noMove="1" noResize="1" noEditPoints="1" noAdjustHandles="1" noChangeArrowheads="1" noChangeShapeType="1" noTextEdit="1"/>
              </p:cNvSpPr>
              <p:nvPr/>
            </p:nvSpPr>
            <p:spPr>
              <a:xfrm>
                <a:off x="5790750" y="2438666"/>
                <a:ext cx="1030200" cy="884123"/>
              </a:xfrm>
              <a:prstGeom prst="rect">
                <a:avLst/>
              </a:prstGeom>
              <a:blipFill>
                <a:blip r:embed="rId8"/>
                <a:stretch>
                  <a:fillRect l="-9756"/>
                </a:stretch>
              </a:blipFill>
              <a:ln>
                <a:noFill/>
              </a:ln>
            </p:spPr>
            <p:txBody>
              <a:bodyPr/>
              <a:lstStyle/>
              <a:p>
                <a:r>
                  <a:rPr lang="en-US">
                    <a:noFill/>
                  </a:rPr>
                  <a:t> </a:t>
                </a:r>
              </a:p>
            </p:txBody>
          </p:sp>
        </mc:Fallback>
      </mc:AlternateContent>
      <p:sp>
        <p:nvSpPr>
          <p:cNvPr id="16"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281</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9"/>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299" name="Google Shape;299;p29"/>
              <p:cNvSpPr txBox="1"/>
              <p:nvPr/>
            </p:nvSpPr>
            <p:spPr>
              <a:xfrm>
                <a:off x="1250302" y="520393"/>
                <a:ext cx="9842026" cy="5209591"/>
              </a:xfrm>
              <a:prstGeom prst="rect">
                <a:avLst/>
              </a:prstGeom>
              <a:noFill/>
              <a:ln>
                <a:noFill/>
              </a:ln>
            </p:spPr>
            <p:txBody>
              <a:bodyPr spcFirstLastPara="1" wrap="square" lIns="91425" tIns="45700" rIns="91425" bIns="45700" anchor="t" anchorCtr="0">
                <a:spAutoFit/>
              </a:bodyPr>
              <a:lstStyle/>
              <a:p>
                <a:pPr>
                  <a:buSzPts val="2400"/>
                </a:pPr>
                <a:r>
                  <a:rPr lang="en-US" sz="2100" dirty="0">
                    <a:latin typeface="Verdana"/>
                    <a:ea typeface="Verdana"/>
                    <a:cs typeface="Verdana"/>
                    <a:sym typeface="Verdana"/>
                  </a:rPr>
                  <a:t>Quotients can have negative signs in different places. </a:t>
                </a:r>
              </a:p>
              <a:p>
                <a:pPr>
                  <a:buSzPts val="2400"/>
                </a:pPr>
                <a:endParaRPr lang="en-US" sz="2100" dirty="0">
                  <a:latin typeface="Verdana"/>
                  <a:ea typeface="Verdana"/>
                  <a:cs typeface="Verdana"/>
                  <a:sym typeface="Verdana"/>
                </a:endParaRPr>
              </a:p>
              <a:p>
                <a:pPr>
                  <a:buSzPts val="2400"/>
                </a:pPr>
                <a:endParaRPr lang="en-US" sz="2100" dirty="0">
                  <a:latin typeface="Verdana"/>
                  <a:ea typeface="Verdana"/>
                  <a:cs typeface="Verdana"/>
                  <a:sym typeface="Verdana"/>
                </a:endParaRPr>
              </a:p>
              <a:p>
                <a:pPr marL="457200" indent="-457200">
                  <a:buSzPct val="100000"/>
                  <a:buFont typeface="+mj-lt"/>
                  <a:buAutoNum type="arabicPeriod" startAt="4"/>
                </a:pPr>
                <a:r>
                  <a:rPr lang="en-US" sz="2100" dirty="0">
                    <a:latin typeface="Verdana"/>
                    <a:ea typeface="Verdana"/>
                    <a:cs typeface="Verdana"/>
                    <a:sym typeface="Verdana"/>
                  </a:rPr>
                  <a:t>The values </a:t>
                </a:r>
                <a14:m>
                  <m:oMath xmlns:m="http://schemas.openxmlformats.org/officeDocument/2006/math">
                    <m:f>
                      <m:fPr>
                        <m:ctrlPr>
                          <a:rPr lang="ar-AE" sz="2100" i="1">
                            <a:latin typeface="Cambria Math" charset="0"/>
                            <a:ea typeface="Verdana"/>
                            <a:cs typeface="Verdana"/>
                            <a:sym typeface="Verdana"/>
                          </a:rPr>
                        </m:ctrlPr>
                      </m:fPr>
                      <m:num>
                        <m:r>
                          <a:rPr lang="en-US" sz="2100" i="1">
                            <a:latin typeface="Cambria Math" panose="02040503050406030204" pitchFamily="18" charset="0"/>
                            <a:ea typeface="Verdana"/>
                            <a:cs typeface="Verdana"/>
                            <a:sym typeface="Verdana"/>
                          </a:rPr>
                          <m:t>12</m:t>
                        </m:r>
                      </m:num>
                      <m:den>
                        <m:r>
                          <a:rPr lang="en-US" sz="2100" i="1">
                            <a:latin typeface="Cambria Math" panose="02040503050406030204" pitchFamily="18" charset="0"/>
                            <a:ea typeface="Verdana"/>
                            <a:cs typeface="Verdana"/>
                            <a:sym typeface="Verdana"/>
                          </a:rPr>
                          <m:t>−</m:t>
                        </m:r>
                        <m:r>
                          <a:rPr lang="en-US" sz="2100" i="1">
                            <a:latin typeface="Cambria Math" panose="02040503050406030204" pitchFamily="18" charset="0"/>
                            <a:ea typeface="Verdana"/>
                            <a:cs typeface="Verdana"/>
                            <a:sym typeface="Verdana"/>
                          </a:rPr>
                          <m:t>2</m:t>
                        </m:r>
                      </m:den>
                    </m:f>
                  </m:oMath>
                </a14:m>
                <a:r>
                  <a:rPr lang="en-US" sz="2100" dirty="0">
                    <a:latin typeface="Verdana"/>
                    <a:ea typeface="Verdana"/>
                    <a:cs typeface="Verdana"/>
                    <a:sym typeface="Verdana"/>
                  </a:rPr>
                  <a:t>, </a:t>
                </a:r>
                <a14:m>
                  <m:oMath xmlns:m="http://schemas.openxmlformats.org/officeDocument/2006/math">
                    <m:f>
                      <m:fPr>
                        <m:ctrlPr>
                          <a:rPr lang="ar-AE" sz="2100" i="1">
                            <a:latin typeface="Cambria Math" charset="0"/>
                            <a:ea typeface="Verdana"/>
                            <a:cs typeface="Verdana"/>
                            <a:sym typeface="Verdana"/>
                          </a:rPr>
                        </m:ctrlPr>
                      </m:fPr>
                      <m:num>
                        <m:r>
                          <a:rPr lang="en-US" sz="2100" i="1">
                            <a:latin typeface="Cambria Math" panose="02040503050406030204" pitchFamily="18" charset="0"/>
                            <a:ea typeface="Verdana"/>
                            <a:cs typeface="Verdana"/>
                            <a:sym typeface="Verdana"/>
                          </a:rPr>
                          <m:t>−</m:t>
                        </m:r>
                        <m:r>
                          <a:rPr lang="en-US" sz="2100" i="1">
                            <a:latin typeface="Cambria Math" panose="02040503050406030204" pitchFamily="18" charset="0"/>
                            <a:ea typeface="Verdana"/>
                            <a:cs typeface="Verdana"/>
                            <a:sym typeface="Verdana"/>
                          </a:rPr>
                          <m:t>12</m:t>
                        </m:r>
                      </m:num>
                      <m:den>
                        <m:r>
                          <a:rPr lang="en-US" sz="2100" i="1">
                            <a:latin typeface="Cambria Math" panose="02040503050406030204" pitchFamily="18" charset="0"/>
                            <a:ea typeface="Verdana"/>
                            <a:cs typeface="Verdana"/>
                            <a:sym typeface="Verdana"/>
                          </a:rPr>
                          <m:t>2</m:t>
                        </m:r>
                      </m:den>
                    </m:f>
                  </m:oMath>
                </a14:m>
                <a:r>
                  <a:rPr lang="en-US" sz="2100" dirty="0">
                    <a:latin typeface="Verdana"/>
                    <a:ea typeface="Verdana"/>
                    <a:cs typeface="Verdana"/>
                    <a:sym typeface="Verdana"/>
                  </a:rPr>
                  <a:t>, and − (</a:t>
                </a:r>
                <a14:m>
                  <m:oMath xmlns:m="http://schemas.openxmlformats.org/officeDocument/2006/math">
                    <m:f>
                      <m:fPr>
                        <m:ctrlPr>
                          <a:rPr lang="ar-AE" sz="2100" i="1">
                            <a:latin typeface="Cambria Math" charset="0"/>
                            <a:ea typeface="Verdana"/>
                            <a:cs typeface="Verdana"/>
                            <a:sym typeface="Verdana"/>
                          </a:rPr>
                        </m:ctrlPr>
                      </m:fPr>
                      <m:num>
                        <m:r>
                          <a:rPr lang="en-US" sz="2100" i="1">
                            <a:latin typeface="Cambria Math" panose="02040503050406030204" pitchFamily="18" charset="0"/>
                            <a:ea typeface="Verdana"/>
                            <a:cs typeface="Verdana"/>
                            <a:sym typeface="Verdana"/>
                          </a:rPr>
                          <m:t>12</m:t>
                        </m:r>
                      </m:num>
                      <m:den>
                        <m:r>
                          <a:rPr lang="en-US" sz="2100" i="1">
                            <a:latin typeface="Cambria Math" panose="02040503050406030204" pitchFamily="18" charset="0"/>
                            <a:ea typeface="Verdana"/>
                            <a:cs typeface="Verdana"/>
                            <a:sym typeface="Verdana"/>
                          </a:rPr>
                          <m:t>2</m:t>
                        </m:r>
                      </m:den>
                    </m:f>
                    <m:r>
                      <a:rPr lang="en-US" sz="2100">
                        <a:latin typeface="Cambria Math" panose="02040503050406030204" pitchFamily="18" charset="0"/>
                        <a:ea typeface="Verdana"/>
                        <a:cs typeface="Verdana"/>
                        <a:sym typeface="Verdana"/>
                      </a:rPr>
                      <m:t>) </m:t>
                    </m:r>
                  </m:oMath>
                </a14:m>
                <a:r>
                  <a:rPr lang="en-US" sz="2100" dirty="0">
                    <a:latin typeface="Verdana"/>
                    <a:ea typeface="Verdana"/>
                    <a:cs typeface="Verdana"/>
                    <a:sym typeface="Verdana"/>
                  </a:rPr>
                  <a:t>are equivalent. Explain why they are equivalent using your understanding of dividing integers. </a:t>
                </a:r>
              </a:p>
              <a:p>
                <a:pPr>
                  <a:buSzPts val="2400"/>
                </a:pPr>
                <a:endParaRPr lang="en-US" sz="2100" dirty="0">
                  <a:latin typeface="Verdana"/>
                  <a:ea typeface="Verdana"/>
                  <a:cs typeface="Verdana"/>
                  <a:sym typeface="Verdana"/>
                </a:endParaRPr>
              </a:p>
              <a:p>
                <a:pPr>
                  <a:buSzPts val="2400"/>
                </a:pPr>
                <a:endParaRPr lang="en-US" sz="2100" dirty="0">
                  <a:latin typeface="Verdana"/>
                  <a:ea typeface="Verdana"/>
                  <a:cs typeface="Verdana"/>
                  <a:sym typeface="Verdana"/>
                </a:endParaRPr>
              </a:p>
              <a:p>
                <a:pPr marL="457200" indent="-457200">
                  <a:buSzPct val="100000"/>
                  <a:buFont typeface="+mj-lt"/>
                  <a:buAutoNum type="arabicPeriod" startAt="5"/>
                </a:pPr>
                <a:r>
                  <a:rPr lang="en-US" sz="2100" dirty="0">
                    <a:latin typeface="Verdana"/>
                    <a:ea typeface="Verdana"/>
                    <a:cs typeface="Verdana"/>
                    <a:sym typeface="Verdana"/>
                  </a:rPr>
                  <a:t>Discuss your explanation with your partner. If necessary, edit your explanation based on your discussion. </a:t>
                </a:r>
              </a:p>
              <a:p>
                <a:pPr>
                  <a:buSzPts val="2400"/>
                </a:pPr>
                <a:endParaRPr lang="en-US" sz="2100" dirty="0">
                  <a:latin typeface="Verdana"/>
                  <a:ea typeface="Verdana"/>
                  <a:cs typeface="Verdana"/>
                  <a:sym typeface="Verdana"/>
                </a:endParaRPr>
              </a:p>
              <a:p>
                <a:pPr>
                  <a:buSzPts val="2400"/>
                </a:pPr>
                <a:endParaRPr lang="en-US" sz="2100" dirty="0">
                  <a:latin typeface="Verdana"/>
                  <a:ea typeface="Verdana"/>
                  <a:cs typeface="Verdana"/>
                  <a:sym typeface="Verdana"/>
                </a:endParaRPr>
              </a:p>
              <a:p>
                <a:pPr marL="457200" indent="-457200">
                  <a:buSzPct val="100000"/>
                  <a:buFont typeface="+mj-lt"/>
                  <a:buAutoNum type="arabicPeriod" startAt="6"/>
                </a:pPr>
                <a:r>
                  <a:rPr lang="en-US" sz="2100" dirty="0">
                    <a:latin typeface="Verdana"/>
                    <a:ea typeface="Verdana"/>
                    <a:cs typeface="Verdana"/>
                    <a:sym typeface="Verdana"/>
                  </a:rPr>
                  <a:t>Create two equivalent expressions for 21 ÷ (−7). </a:t>
                </a:r>
              </a:p>
              <a:p>
                <a:pPr>
                  <a:buSzPts val="2400"/>
                </a:pPr>
                <a:endParaRPr lang="en-US" sz="2100" dirty="0">
                  <a:latin typeface="Verdana"/>
                  <a:ea typeface="Verdana"/>
                  <a:cs typeface="Verdana"/>
                  <a:sym typeface="Verdana"/>
                </a:endParaRPr>
              </a:p>
              <a:p>
                <a:pPr>
                  <a:buSzPts val="2400"/>
                </a:pPr>
                <a:endParaRPr lang="en-US" sz="2100" dirty="0">
                  <a:latin typeface="Verdana"/>
                  <a:ea typeface="Verdana"/>
                  <a:cs typeface="Verdana"/>
                  <a:sym typeface="Verdana"/>
                </a:endParaRPr>
              </a:p>
              <a:p>
                <a:pPr marL="457200" indent="-457200">
                  <a:buSzPct val="100000"/>
                  <a:buFont typeface="+mj-lt"/>
                  <a:buAutoNum type="arabicPeriod" startAt="7"/>
                </a:pPr>
                <a:r>
                  <a:rPr lang="en-US" sz="2100" dirty="0">
                    <a:latin typeface="Verdana" panose="020B0604030504040204" pitchFamily="34" charset="0"/>
                    <a:ea typeface="Verdana" panose="020B0604030504040204" pitchFamily="34" charset="0"/>
                    <a:cs typeface="Verdana"/>
                    <a:sym typeface="Verdana"/>
                  </a:rPr>
                  <a:t> </a:t>
                </a:r>
                <a14:m>
                  <m:oMath xmlns:m="http://schemas.openxmlformats.org/officeDocument/2006/math">
                    <m:f>
                      <m:fPr>
                        <m:ctrlPr>
                          <a:rPr lang="ar-AE" sz="2100" i="1">
                            <a:latin typeface="Cambria Math" charset="0"/>
                            <a:ea typeface="Verdana"/>
                            <a:cs typeface="Verdana"/>
                            <a:sym typeface="Verdana"/>
                          </a:rPr>
                        </m:ctrlPr>
                      </m:fPr>
                      <m:num>
                        <m:r>
                          <a:rPr lang="en-US" sz="2100" i="1">
                            <a:latin typeface="Cambria Math" panose="02040503050406030204" pitchFamily="18" charset="0"/>
                            <a:ea typeface="Verdana"/>
                            <a:cs typeface="Verdana"/>
                            <a:sym typeface="Verdana"/>
                          </a:rPr>
                          <m:t>−</m:t>
                        </m:r>
                        <m:r>
                          <a:rPr lang="en-US" sz="2100" i="1">
                            <a:latin typeface="Cambria Math" panose="02040503050406030204" pitchFamily="18" charset="0"/>
                            <a:ea typeface="Verdana"/>
                            <a:cs typeface="Verdana"/>
                            <a:sym typeface="Verdana"/>
                          </a:rPr>
                          <m:t>40</m:t>
                        </m:r>
                      </m:num>
                      <m:den>
                        <m:r>
                          <a:rPr lang="en-US" sz="2100" i="1">
                            <a:latin typeface="Cambria Math" panose="02040503050406030204" pitchFamily="18" charset="0"/>
                            <a:ea typeface="Verdana"/>
                            <a:cs typeface="Verdana"/>
                            <a:sym typeface="Verdana"/>
                          </a:rPr>
                          <m:t>−</m:t>
                        </m:r>
                        <m:r>
                          <a:rPr lang="en-US" sz="2100" i="1">
                            <a:latin typeface="Cambria Math" panose="02040503050406030204" pitchFamily="18" charset="0"/>
                            <a:ea typeface="Verdana"/>
                            <a:cs typeface="Verdana"/>
                            <a:sym typeface="Verdana"/>
                          </a:rPr>
                          <m:t>8</m:t>
                        </m:r>
                      </m:den>
                    </m:f>
                    <m:r>
                      <a:rPr lang="en-US" sz="2100" i="1">
                        <a:latin typeface="Cambria Math" panose="02040503050406030204" pitchFamily="18" charset="0"/>
                        <a:ea typeface="Verdana"/>
                        <a:cs typeface="Verdana"/>
                        <a:sym typeface="Verdana"/>
                      </a:rPr>
                      <m:t> </m:t>
                    </m:r>
                  </m:oMath>
                </a14:m>
                <a:r>
                  <a:rPr lang="en-US" sz="2100" dirty="0">
                    <a:latin typeface="Verdana" panose="020B0604030504040204" pitchFamily="34" charset="0"/>
                    <a:ea typeface="Verdana" panose="020B0604030504040204" pitchFamily="34" charset="0"/>
                    <a:cs typeface="Verdana"/>
                    <a:sym typeface="Verdana"/>
                  </a:rPr>
                  <a:t> is not equivalent to − (</a:t>
                </a:r>
                <a14:m>
                  <m:oMath xmlns:m="http://schemas.openxmlformats.org/officeDocument/2006/math">
                    <m:f>
                      <m:fPr>
                        <m:ctrlPr>
                          <a:rPr lang="ar-AE" sz="2100" i="1">
                            <a:latin typeface="Cambria Math" charset="0"/>
                            <a:ea typeface="Verdana"/>
                            <a:cs typeface="Verdana"/>
                            <a:sym typeface="Verdana"/>
                          </a:rPr>
                        </m:ctrlPr>
                      </m:fPr>
                      <m:num>
                        <m:r>
                          <a:rPr lang="en-US" sz="2100" i="1">
                            <a:latin typeface="Cambria Math" panose="02040503050406030204" pitchFamily="18" charset="0"/>
                            <a:ea typeface="Verdana"/>
                            <a:cs typeface="Verdana"/>
                            <a:sym typeface="Verdana"/>
                          </a:rPr>
                          <m:t>40</m:t>
                        </m:r>
                      </m:num>
                      <m:den>
                        <m:r>
                          <a:rPr lang="en-US" sz="2100" i="1">
                            <a:latin typeface="Cambria Math" panose="02040503050406030204" pitchFamily="18" charset="0"/>
                            <a:ea typeface="Verdana"/>
                            <a:cs typeface="Verdana"/>
                            <a:sym typeface="Verdana"/>
                          </a:rPr>
                          <m:t>8</m:t>
                        </m:r>
                      </m:den>
                    </m:f>
                    <m:r>
                      <a:rPr lang="en-US" sz="2100" i="1">
                        <a:latin typeface="Cambria Math" panose="02040503050406030204" pitchFamily="18" charset="0"/>
                        <a:ea typeface="Verdana"/>
                        <a:cs typeface="Verdana"/>
                        <a:sym typeface="Verdana"/>
                      </a:rPr>
                      <m:t> </m:t>
                    </m:r>
                  </m:oMath>
                </a14:m>
                <a:r>
                  <a:rPr lang="en-US" sz="2100" dirty="0">
                    <a:latin typeface="Verdana" panose="020B0604030504040204" pitchFamily="34" charset="0"/>
                    <a:ea typeface="Verdana" panose="020B0604030504040204" pitchFamily="34" charset="0"/>
                    <a:cs typeface="Verdana"/>
                    <a:sym typeface="Verdana"/>
                  </a:rPr>
                  <a:t>). Explain why not.</a:t>
                </a:r>
                <a:endParaRPr sz="1100" dirty="0">
                  <a:latin typeface="Verdana" panose="020B0604030504040204" pitchFamily="34" charset="0"/>
                  <a:ea typeface="Verdana" panose="020B0604030504040204" pitchFamily="34" charset="0"/>
                </a:endParaRPr>
              </a:p>
            </p:txBody>
          </p:sp>
        </mc:Choice>
        <mc:Fallback xmlns="">
          <p:sp>
            <p:nvSpPr>
              <p:cNvPr id="299" name="Google Shape;299;p29"/>
              <p:cNvSpPr txBox="1">
                <a:spLocks noRot="1" noChangeAspect="1" noMove="1" noResize="1" noEditPoints="1" noAdjustHandles="1" noChangeArrowheads="1" noChangeShapeType="1" noTextEdit="1"/>
              </p:cNvSpPr>
              <p:nvPr/>
            </p:nvSpPr>
            <p:spPr>
              <a:xfrm>
                <a:off x="1250302" y="520393"/>
                <a:ext cx="9842026" cy="5209591"/>
              </a:xfrm>
              <a:prstGeom prst="rect">
                <a:avLst/>
              </a:prstGeom>
              <a:blipFill rotWithShape="0">
                <a:blip r:embed="rId3"/>
                <a:stretch>
                  <a:fillRect l="-743" t="-819"/>
                </a:stretch>
              </a:blipFill>
              <a:ln>
                <a:noFill/>
              </a:ln>
            </p:spPr>
            <p:txBody>
              <a:bodyPr/>
              <a:lstStyle/>
              <a:p>
                <a:r>
                  <a:rPr lang="en-US">
                    <a:noFill/>
                  </a:rPr>
                  <a:t> </a:t>
                </a:r>
              </a:p>
            </p:txBody>
          </p:sp>
        </mc:Fallback>
      </mc:AlternateContent>
      <p:sp>
        <p:nvSpPr>
          <p:cNvPr id="6"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1"/>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09" name="Google Shape;30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2"/>
          <p:cNvSpPr/>
          <p:nvPr/>
        </p:nvSpPr>
        <p:spPr>
          <a:xfrm>
            <a:off x="251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17" name="Google Shape;317;p22"/>
          <p:cNvSpPr txBox="1"/>
          <p:nvPr/>
        </p:nvSpPr>
        <p:spPr>
          <a:xfrm>
            <a:off x="1409507" y="66433"/>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54B5D1"/>
                </a:solidFill>
                <a:latin typeface="Verdana"/>
                <a:ea typeface="Verdana"/>
                <a:cs typeface="Verdana"/>
                <a:sym typeface="Verdana"/>
              </a:rPr>
              <a:t>6.10.6 Guided Practice: Dividing Integers</a:t>
            </a:r>
            <a:endParaRPr/>
          </a:p>
        </p:txBody>
      </p:sp>
      <p:pic>
        <p:nvPicPr>
          <p:cNvPr id="319" name="Google Shape;319;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59699" y="232459"/>
            <a:ext cx="749808" cy="749808"/>
          </a:xfrm>
          <a:prstGeom prst="rect">
            <a:avLst/>
          </a:prstGeom>
          <a:noFill/>
          <a:ln>
            <a:noFill/>
          </a:ln>
          <a:effectLst>
            <a:outerShdw blurRad="50800" dist="38100" dir="2700000" algn="tl" rotWithShape="0">
              <a:srgbClr val="000000">
                <a:alpha val="40000"/>
              </a:srgbClr>
            </a:outerShdw>
          </a:effectLst>
        </p:spPr>
      </p:pic>
      <p:sp>
        <p:nvSpPr>
          <p:cNvPr id="320" name="Google Shape;320;p22"/>
          <p:cNvSpPr txBox="1"/>
          <p:nvPr/>
        </p:nvSpPr>
        <p:spPr>
          <a:xfrm>
            <a:off x="1698171" y="1386025"/>
            <a:ext cx="8689377" cy="400200"/>
          </a:xfrm>
          <a:prstGeom prst="rect">
            <a:avLst/>
          </a:prstGeom>
          <a:noFill/>
          <a:ln>
            <a:noFill/>
          </a:ln>
        </p:spPr>
        <p:txBody>
          <a:bodyPr spcFirstLastPara="1" wrap="square" lIns="91425" tIns="45700" rIns="91425" bIns="45700" anchor="t" anchorCtr="0">
            <a:spAutoFit/>
          </a:bodyPr>
          <a:lstStyle/>
          <a:p>
            <a:pPr>
              <a:buSzPts val="2400"/>
            </a:pPr>
            <a:r>
              <a:rPr lang="en-US" sz="2000">
                <a:latin typeface="Verdana"/>
                <a:ea typeface="Verdana"/>
                <a:cs typeface="Verdana"/>
                <a:sym typeface="Verdana"/>
              </a:rPr>
              <a:t>1. Find each quotient. </a:t>
            </a:r>
            <a:endParaRPr sz="2000"/>
          </a:p>
        </p:txBody>
      </p:sp>
      <p:sp>
        <p:nvSpPr>
          <p:cNvPr id="321" name="Google Shape;321;p22"/>
          <p:cNvSpPr txBox="1"/>
          <p:nvPr/>
        </p:nvSpPr>
        <p:spPr>
          <a:xfrm>
            <a:off x="2111325" y="2069125"/>
            <a:ext cx="3000000" cy="492600"/>
          </a:xfrm>
          <a:prstGeom prst="rect">
            <a:avLst/>
          </a:prstGeom>
          <a:noFill/>
          <a:ln>
            <a:noFill/>
          </a:ln>
        </p:spPr>
        <p:txBody>
          <a:bodyPr spcFirstLastPara="1" wrap="square" lIns="91425" tIns="91425" rIns="91425" bIns="91425" anchor="t" anchorCtr="0">
            <a:spAutoFit/>
          </a:bodyPr>
          <a:lstStyle/>
          <a:p>
            <a:r>
              <a:rPr lang="en-US" sz="2000">
                <a:latin typeface="Verdana"/>
                <a:ea typeface="Verdana"/>
                <a:cs typeface="Verdana"/>
                <a:sym typeface="Verdana"/>
              </a:rPr>
              <a:t>a. 12 ÷ −4 = ____</a:t>
            </a:r>
            <a:endParaRPr sz="2000">
              <a:latin typeface="Verdana"/>
              <a:ea typeface="Verdana"/>
              <a:cs typeface="Verdana"/>
              <a:sym typeface="Verdana"/>
            </a:endParaRPr>
          </a:p>
        </p:txBody>
      </p:sp>
      <mc:AlternateContent xmlns:mc="http://schemas.openxmlformats.org/markup-compatibility/2006" xmlns:a14="http://schemas.microsoft.com/office/drawing/2010/main">
        <mc:Choice Requires="a14">
          <p:sp>
            <p:nvSpPr>
              <p:cNvPr id="322" name="Google Shape;322;p22"/>
              <p:cNvSpPr txBox="1"/>
              <p:nvPr/>
            </p:nvSpPr>
            <p:spPr>
              <a:xfrm>
                <a:off x="6177300" y="2004426"/>
                <a:ext cx="3000000" cy="621999"/>
              </a:xfrm>
              <a:prstGeom prst="rect">
                <a:avLst/>
              </a:prstGeom>
              <a:noFill/>
              <a:ln>
                <a:noFill/>
              </a:ln>
            </p:spPr>
            <p:txBody>
              <a:bodyPr spcFirstLastPara="1" wrap="square" lIns="91425" tIns="91425" rIns="91425" bIns="91425" anchor="t" anchorCtr="0">
                <a:spAutoFit/>
              </a:bodyPr>
              <a:lstStyle/>
              <a:p>
                <a:pPr lvl="0"/>
                <a:r>
                  <a:rPr lang="en-US" sz="2000" dirty="0">
                    <a:latin typeface="Verdana"/>
                    <a:ea typeface="Verdana"/>
                    <a:cs typeface="Verdana"/>
                    <a:sym typeface="Verdana"/>
                  </a:rPr>
                  <a:t>b. </a:t>
                </a:r>
                <a14:m>
                  <m:oMath xmlns:m="http://schemas.openxmlformats.org/officeDocument/2006/math">
                    <m:f>
                      <m:fPr>
                        <m:ctrlPr>
                          <a:rPr lang="ar-AE" sz="2000" i="1">
                            <a:latin typeface="Cambria Math" charset="0"/>
                            <a:ea typeface="Verdana"/>
                            <a:cs typeface="Verdana"/>
                            <a:sym typeface="Verdana"/>
                          </a:rPr>
                        </m:ctrlPr>
                      </m:fPr>
                      <m:num>
                        <m:r>
                          <a:rPr lang="en-US" sz="2000" i="1">
                            <a:latin typeface="Cambria Math" panose="02040503050406030204" pitchFamily="18" charset="0"/>
                            <a:ea typeface="Verdana"/>
                            <a:cs typeface="Verdana"/>
                            <a:sym typeface="Verdana"/>
                          </a:rPr>
                          <m:t>−</m:t>
                        </m:r>
                        <m:r>
                          <a:rPr lang="en-US" sz="2000" i="1">
                            <a:latin typeface="Cambria Math" panose="02040503050406030204" pitchFamily="18" charset="0"/>
                            <a:ea typeface="Verdana"/>
                            <a:cs typeface="Verdana"/>
                            <a:sym typeface="Verdana"/>
                          </a:rPr>
                          <m:t>63</m:t>
                        </m:r>
                      </m:num>
                      <m:den>
                        <m:r>
                          <a:rPr lang="en-US" sz="2000" i="1">
                            <a:latin typeface="Cambria Math" panose="02040503050406030204" pitchFamily="18" charset="0"/>
                            <a:ea typeface="Verdana"/>
                            <a:cs typeface="Verdana"/>
                            <a:sym typeface="Verdana"/>
                          </a:rPr>
                          <m:t>−</m:t>
                        </m:r>
                        <m:r>
                          <a:rPr lang="en-US" sz="2000" i="1">
                            <a:latin typeface="Cambria Math" panose="02040503050406030204" pitchFamily="18" charset="0"/>
                            <a:ea typeface="Verdana"/>
                            <a:cs typeface="Verdana"/>
                            <a:sym typeface="Verdana"/>
                          </a:rPr>
                          <m:t>9</m:t>
                        </m:r>
                      </m:den>
                    </m:f>
                    <m:r>
                      <a:rPr lang="en-US" sz="2000" i="1">
                        <a:latin typeface="Cambria Math" panose="02040503050406030204" pitchFamily="18" charset="0"/>
                        <a:ea typeface="Verdana"/>
                        <a:cs typeface="Verdana"/>
                        <a:sym typeface="Verdana"/>
                      </a:rPr>
                      <m:t> </m:t>
                    </m:r>
                  </m:oMath>
                </a14:m>
                <a:r>
                  <a:rPr lang="en-US" sz="2000" dirty="0">
                    <a:latin typeface="Verdana"/>
                    <a:ea typeface="Verdana"/>
                    <a:cs typeface="Verdana"/>
                    <a:sym typeface="Verdana"/>
                  </a:rPr>
                  <a:t>    =   ____</a:t>
                </a:r>
                <a:endParaRPr sz="2000" dirty="0">
                  <a:latin typeface="Verdana"/>
                  <a:ea typeface="Verdana"/>
                  <a:cs typeface="Verdana"/>
                  <a:sym typeface="Verdana"/>
                </a:endParaRPr>
              </a:p>
            </p:txBody>
          </p:sp>
        </mc:Choice>
        <mc:Fallback xmlns="">
          <p:sp>
            <p:nvSpPr>
              <p:cNvPr id="322" name="Google Shape;322;p22"/>
              <p:cNvSpPr txBox="1">
                <a:spLocks noRot="1" noChangeAspect="1" noMove="1" noResize="1" noEditPoints="1" noAdjustHandles="1" noChangeArrowheads="1" noChangeShapeType="1" noTextEdit="1"/>
              </p:cNvSpPr>
              <p:nvPr/>
            </p:nvSpPr>
            <p:spPr>
              <a:xfrm>
                <a:off x="4653300" y="2004425"/>
                <a:ext cx="3000000" cy="621999"/>
              </a:xfrm>
              <a:prstGeom prst="rect">
                <a:avLst/>
              </a:prstGeom>
              <a:blipFill>
                <a:blip r:embed="rId5"/>
                <a:stretch>
                  <a:fillRect l="-20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3" name="Google Shape;323;p22"/>
              <p:cNvSpPr txBox="1"/>
              <p:nvPr/>
            </p:nvSpPr>
            <p:spPr>
              <a:xfrm>
                <a:off x="2111325" y="2986799"/>
                <a:ext cx="3000000" cy="621999"/>
              </a:xfrm>
              <a:prstGeom prst="rect">
                <a:avLst/>
              </a:prstGeom>
              <a:noFill/>
              <a:ln>
                <a:noFill/>
              </a:ln>
            </p:spPr>
            <p:txBody>
              <a:bodyPr spcFirstLastPara="1" wrap="square" lIns="91425" tIns="91425" rIns="91425" bIns="91425" anchor="t" anchorCtr="0">
                <a:spAutoFit/>
              </a:bodyPr>
              <a:lstStyle/>
              <a:p>
                <a:pPr lvl="0"/>
                <a:r>
                  <a:rPr lang="en-US" sz="2000" dirty="0">
                    <a:latin typeface="Verdana"/>
                    <a:ea typeface="Verdana"/>
                    <a:cs typeface="Verdana"/>
                    <a:sym typeface="Verdana"/>
                  </a:rPr>
                  <a:t>c. − (</a:t>
                </a:r>
                <a14:m>
                  <m:oMath xmlns:m="http://schemas.openxmlformats.org/officeDocument/2006/math">
                    <m:f>
                      <m:fPr>
                        <m:ctrlPr>
                          <a:rPr lang="ar-AE" sz="2000" i="1">
                            <a:latin typeface="Cambria Math" charset="0"/>
                            <a:ea typeface="Verdana"/>
                            <a:cs typeface="Verdana"/>
                            <a:sym typeface="Verdana"/>
                          </a:rPr>
                        </m:ctrlPr>
                      </m:fPr>
                      <m:num>
                        <m:r>
                          <a:rPr lang="en-US" sz="2000" i="1">
                            <a:latin typeface="Cambria Math" panose="02040503050406030204" pitchFamily="18" charset="0"/>
                            <a:ea typeface="Verdana"/>
                            <a:cs typeface="Verdana"/>
                            <a:sym typeface="Verdana"/>
                          </a:rPr>
                          <m:t>28</m:t>
                        </m:r>
                      </m:num>
                      <m:den>
                        <m:r>
                          <a:rPr lang="en-US" sz="2000" i="1">
                            <a:latin typeface="Cambria Math" panose="02040503050406030204" pitchFamily="18" charset="0"/>
                            <a:ea typeface="Verdana"/>
                            <a:cs typeface="Verdana"/>
                            <a:sym typeface="Verdana"/>
                          </a:rPr>
                          <m:t>4</m:t>
                        </m:r>
                      </m:den>
                    </m:f>
                    <m:r>
                      <a:rPr lang="en-US" sz="2000" i="1">
                        <a:latin typeface="Cambria Math" panose="02040503050406030204" pitchFamily="18" charset="0"/>
                        <a:ea typeface="Verdana"/>
                        <a:cs typeface="Verdana"/>
                        <a:sym typeface="Verdana"/>
                      </a:rPr>
                      <m:t> </m:t>
                    </m:r>
                  </m:oMath>
                </a14:m>
                <a:r>
                  <a:rPr lang="en-US" sz="2000" dirty="0">
                    <a:latin typeface="Verdana"/>
                    <a:ea typeface="Verdana"/>
                    <a:cs typeface="Verdana"/>
                    <a:sym typeface="Verdana"/>
                  </a:rPr>
                  <a:t>) =    ____ </a:t>
                </a:r>
                <a:endParaRPr sz="2000" dirty="0">
                  <a:latin typeface="Verdana"/>
                  <a:ea typeface="Verdana"/>
                  <a:cs typeface="Verdana"/>
                  <a:sym typeface="Verdana"/>
                </a:endParaRPr>
              </a:p>
            </p:txBody>
          </p:sp>
        </mc:Choice>
        <mc:Fallback xmlns="">
          <p:sp>
            <p:nvSpPr>
              <p:cNvPr id="323" name="Google Shape;323;p22"/>
              <p:cNvSpPr txBox="1">
                <a:spLocks noRot="1" noChangeAspect="1" noMove="1" noResize="1" noEditPoints="1" noAdjustHandles="1" noChangeArrowheads="1" noChangeShapeType="1" noTextEdit="1"/>
              </p:cNvSpPr>
              <p:nvPr/>
            </p:nvSpPr>
            <p:spPr>
              <a:xfrm>
                <a:off x="587325" y="2986798"/>
                <a:ext cx="3000000" cy="621999"/>
              </a:xfrm>
              <a:prstGeom prst="rect">
                <a:avLst/>
              </a:prstGeom>
              <a:blipFill>
                <a:blip r:embed="rId6"/>
                <a:stretch>
                  <a:fillRect l="-2033"/>
                </a:stretch>
              </a:blipFill>
              <a:ln>
                <a:noFill/>
              </a:ln>
            </p:spPr>
            <p:txBody>
              <a:bodyPr/>
              <a:lstStyle/>
              <a:p>
                <a:r>
                  <a:rPr lang="en-US">
                    <a:noFill/>
                  </a:rPr>
                  <a:t> </a:t>
                </a:r>
              </a:p>
            </p:txBody>
          </p:sp>
        </mc:Fallback>
      </mc:AlternateContent>
      <p:sp>
        <p:nvSpPr>
          <p:cNvPr id="324" name="Google Shape;324;p22"/>
          <p:cNvSpPr txBox="1"/>
          <p:nvPr/>
        </p:nvSpPr>
        <p:spPr>
          <a:xfrm>
            <a:off x="6177300" y="3051497"/>
            <a:ext cx="3000000" cy="492600"/>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d. 60 ÷ 5 = ____</a:t>
            </a:r>
            <a:endParaRPr dirty="0"/>
          </a:p>
        </p:txBody>
      </p:sp>
      <mc:AlternateContent xmlns:mc="http://schemas.openxmlformats.org/markup-compatibility/2006" xmlns:a14="http://schemas.microsoft.com/office/drawing/2010/main">
        <mc:Choice Requires="a14">
          <p:sp>
            <p:nvSpPr>
              <p:cNvPr id="325" name="Google Shape;325;p22"/>
              <p:cNvSpPr txBox="1"/>
              <p:nvPr/>
            </p:nvSpPr>
            <p:spPr>
              <a:xfrm>
                <a:off x="2111325" y="3896252"/>
                <a:ext cx="3252900" cy="621999"/>
              </a:xfrm>
              <a:prstGeom prst="rect">
                <a:avLst/>
              </a:prstGeom>
              <a:noFill/>
              <a:ln>
                <a:noFill/>
              </a:ln>
            </p:spPr>
            <p:txBody>
              <a:bodyPr spcFirstLastPara="1" wrap="square" lIns="91425" tIns="91425" rIns="91425" bIns="91425" anchor="t" anchorCtr="0">
                <a:spAutoFit/>
              </a:bodyPr>
              <a:lstStyle/>
              <a:p>
                <a:pPr lvl="0"/>
                <a:r>
                  <a:rPr lang="en-US" sz="2000" dirty="0">
                    <a:latin typeface="Verdana"/>
                    <a:ea typeface="Verdana"/>
                    <a:cs typeface="Verdana"/>
                    <a:sym typeface="Verdana"/>
                  </a:rPr>
                  <a:t>e. − (</a:t>
                </a:r>
                <a14:m>
                  <m:oMath xmlns:m="http://schemas.openxmlformats.org/officeDocument/2006/math">
                    <m:f>
                      <m:fPr>
                        <m:ctrlPr>
                          <a:rPr lang="ar-AE" sz="2000" i="1">
                            <a:latin typeface="Cambria Math" charset="0"/>
                            <a:ea typeface="Verdana"/>
                            <a:cs typeface="Verdana"/>
                            <a:sym typeface="Verdana"/>
                          </a:rPr>
                        </m:ctrlPr>
                      </m:fPr>
                      <m:num>
                        <m:r>
                          <a:rPr lang="en-US" sz="2000" i="1">
                            <a:latin typeface="Cambria Math" panose="02040503050406030204" pitchFamily="18" charset="0"/>
                            <a:ea typeface="Verdana"/>
                            <a:cs typeface="Verdana"/>
                            <a:sym typeface="Verdana"/>
                          </a:rPr>
                          <m:t>−</m:t>
                        </m:r>
                        <m:r>
                          <a:rPr lang="en-US" sz="2000" i="1">
                            <a:latin typeface="Cambria Math" panose="02040503050406030204" pitchFamily="18" charset="0"/>
                            <a:ea typeface="Verdana"/>
                            <a:cs typeface="Verdana"/>
                            <a:sym typeface="Verdana"/>
                          </a:rPr>
                          <m:t>30</m:t>
                        </m:r>
                      </m:num>
                      <m:den>
                        <m:r>
                          <a:rPr lang="en-US" sz="2000" i="1">
                            <a:latin typeface="Cambria Math" panose="02040503050406030204" pitchFamily="18" charset="0"/>
                            <a:ea typeface="Verdana"/>
                            <a:cs typeface="Verdana"/>
                            <a:sym typeface="Verdana"/>
                          </a:rPr>
                          <m:t>−</m:t>
                        </m:r>
                        <m:r>
                          <a:rPr lang="en-US" sz="2000" i="1">
                            <a:latin typeface="Cambria Math" panose="02040503050406030204" pitchFamily="18" charset="0"/>
                            <a:ea typeface="Verdana"/>
                            <a:cs typeface="Verdana"/>
                            <a:sym typeface="Verdana"/>
                          </a:rPr>
                          <m:t>5</m:t>
                        </m:r>
                      </m:den>
                    </m:f>
                    <m:r>
                      <a:rPr lang="en-US" sz="2000" i="1">
                        <a:latin typeface="Cambria Math" panose="02040503050406030204" pitchFamily="18" charset="0"/>
                        <a:ea typeface="Verdana"/>
                        <a:cs typeface="Verdana"/>
                        <a:sym typeface="Verdana"/>
                      </a:rPr>
                      <m:t> </m:t>
                    </m:r>
                  </m:oMath>
                </a14:m>
                <a:r>
                  <a:rPr lang="en-US" sz="2000" dirty="0">
                    <a:latin typeface="Verdana"/>
                    <a:ea typeface="Verdana"/>
                    <a:cs typeface="Verdana"/>
                    <a:sym typeface="Verdana"/>
                  </a:rPr>
                  <a:t>) =  ____</a:t>
                </a:r>
                <a:endParaRPr sz="2000" dirty="0">
                  <a:latin typeface="Verdana"/>
                  <a:ea typeface="Verdana"/>
                  <a:cs typeface="Verdana"/>
                  <a:sym typeface="Verdana"/>
                </a:endParaRPr>
              </a:p>
            </p:txBody>
          </p:sp>
        </mc:Choice>
        <mc:Fallback xmlns="">
          <p:sp>
            <p:nvSpPr>
              <p:cNvPr id="325" name="Google Shape;325;p22"/>
              <p:cNvSpPr txBox="1">
                <a:spLocks noRot="1" noChangeAspect="1" noMove="1" noResize="1" noEditPoints="1" noAdjustHandles="1" noChangeArrowheads="1" noChangeShapeType="1" noTextEdit="1"/>
              </p:cNvSpPr>
              <p:nvPr/>
            </p:nvSpPr>
            <p:spPr>
              <a:xfrm>
                <a:off x="587325" y="3896251"/>
                <a:ext cx="3252900" cy="621999"/>
              </a:xfrm>
              <a:prstGeom prst="rect">
                <a:avLst/>
              </a:prstGeom>
              <a:blipFill>
                <a:blip r:embed="rId7"/>
                <a:stretch>
                  <a:fillRect l="-187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6" name="Google Shape;326;p22"/>
              <p:cNvSpPr txBox="1"/>
              <p:nvPr/>
            </p:nvSpPr>
            <p:spPr>
              <a:xfrm>
                <a:off x="1611067" y="4749876"/>
                <a:ext cx="8132421" cy="643800"/>
              </a:xfrm>
              <a:prstGeom prst="rect">
                <a:avLst/>
              </a:prstGeom>
              <a:noFill/>
              <a:ln>
                <a:noFill/>
              </a:ln>
            </p:spPr>
            <p:txBody>
              <a:bodyPr spcFirstLastPara="1" wrap="square" lIns="91425" tIns="91425" rIns="91425" bIns="91425" anchor="t" anchorCtr="0">
                <a:spAutoFit/>
              </a:bodyPr>
              <a:lstStyle/>
              <a:p>
                <a:pPr lvl="0"/>
                <a:r>
                  <a:rPr lang="en-US" sz="2000" dirty="0">
                    <a:latin typeface="Verdana"/>
                    <a:ea typeface="Verdana"/>
                    <a:cs typeface="Verdana"/>
                    <a:sym typeface="Verdana"/>
                  </a:rPr>
                  <a:t>2. Create two expressions equivalent to </a:t>
                </a:r>
                <a14:m>
                  <m:oMath xmlns:m="http://schemas.openxmlformats.org/officeDocument/2006/math">
                    <m:f>
                      <m:fPr>
                        <m:ctrlPr>
                          <a:rPr lang="ar-AE" sz="2000" i="1">
                            <a:latin typeface="Cambria Math" charset="0"/>
                            <a:ea typeface="Verdana"/>
                            <a:cs typeface="Verdana"/>
                            <a:sym typeface="Verdana"/>
                          </a:rPr>
                        </m:ctrlPr>
                      </m:fPr>
                      <m:num>
                        <m:r>
                          <a:rPr lang="en-US" sz="2000" i="1">
                            <a:latin typeface="Cambria Math" panose="02040503050406030204" pitchFamily="18" charset="0"/>
                            <a:ea typeface="Verdana"/>
                            <a:cs typeface="Verdana"/>
                            <a:sym typeface="Verdana"/>
                          </a:rPr>
                          <m:t>−</m:t>
                        </m:r>
                        <m:r>
                          <a:rPr lang="en-US" sz="2000" i="1">
                            <a:latin typeface="Cambria Math" panose="02040503050406030204" pitchFamily="18" charset="0"/>
                            <a:ea typeface="Verdana"/>
                            <a:cs typeface="Verdana"/>
                            <a:sym typeface="Verdana"/>
                          </a:rPr>
                          <m:t>20</m:t>
                        </m:r>
                      </m:num>
                      <m:den>
                        <m:r>
                          <a:rPr lang="en-US" sz="2000" i="1">
                            <a:latin typeface="Cambria Math" panose="02040503050406030204" pitchFamily="18" charset="0"/>
                            <a:ea typeface="Verdana"/>
                            <a:cs typeface="Verdana"/>
                            <a:sym typeface="Verdana"/>
                          </a:rPr>
                          <m:t>10</m:t>
                        </m:r>
                      </m:den>
                    </m:f>
                    <m:r>
                      <a:rPr lang="en-US" sz="2000" i="1">
                        <a:latin typeface="Cambria Math" panose="02040503050406030204" pitchFamily="18" charset="0"/>
                        <a:ea typeface="Verdana"/>
                        <a:cs typeface="Verdana"/>
                        <a:sym typeface="Verdana"/>
                      </a:rPr>
                      <m:t> </m:t>
                    </m:r>
                  </m:oMath>
                </a14:m>
                <a:r>
                  <a:rPr lang="en-US" sz="2000" dirty="0">
                    <a:latin typeface="Verdana"/>
                    <a:ea typeface="Verdana"/>
                    <a:cs typeface="Verdana"/>
                    <a:sym typeface="Verdana"/>
                  </a:rPr>
                  <a:t>.</a:t>
                </a:r>
                <a:endParaRPr sz="2000" dirty="0">
                  <a:latin typeface="Verdana"/>
                  <a:ea typeface="Verdana"/>
                  <a:cs typeface="Verdana"/>
                  <a:sym typeface="Verdana"/>
                </a:endParaRPr>
              </a:p>
            </p:txBody>
          </p:sp>
        </mc:Choice>
        <mc:Fallback xmlns="">
          <p:sp>
            <p:nvSpPr>
              <p:cNvPr id="326" name="Google Shape;326;p22"/>
              <p:cNvSpPr txBox="1">
                <a:spLocks noRot="1" noChangeAspect="1" noMove="1" noResize="1" noEditPoints="1" noAdjustHandles="1" noChangeArrowheads="1" noChangeShapeType="1" noTextEdit="1"/>
              </p:cNvSpPr>
              <p:nvPr/>
            </p:nvSpPr>
            <p:spPr>
              <a:xfrm>
                <a:off x="1611067" y="4749876"/>
                <a:ext cx="8132421" cy="643800"/>
              </a:xfrm>
              <a:prstGeom prst="rect">
                <a:avLst/>
              </a:prstGeom>
              <a:blipFill rotWithShape="0">
                <a:blip r:embed="rId8"/>
                <a:stretch>
                  <a:fillRect l="-750"/>
                </a:stretch>
              </a:blipFill>
              <a:ln>
                <a:noFill/>
              </a:ln>
            </p:spPr>
            <p:txBody>
              <a:bodyPr/>
              <a:lstStyle/>
              <a:p>
                <a:r>
                  <a:rPr lang="en-US">
                    <a:noFill/>
                  </a:rPr>
                  <a:t> </a:t>
                </a:r>
              </a:p>
            </p:txBody>
          </p:sp>
        </mc:Fallback>
      </mc:AlternateContent>
      <p:sp>
        <p:nvSpPr>
          <p:cNvPr id="327" name="Google Shape;327;p22"/>
          <p:cNvSpPr txBox="1"/>
          <p:nvPr/>
        </p:nvSpPr>
        <p:spPr>
          <a:xfrm>
            <a:off x="1614196" y="5733449"/>
            <a:ext cx="8074992" cy="492600"/>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3. What is the value of the expressions above?</a:t>
            </a:r>
            <a:endParaRPr dirty="0"/>
          </a:p>
        </p:txBody>
      </p:sp>
      <p:sp>
        <p:nvSpPr>
          <p:cNvPr id="15"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282</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0"/>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5" name="Google Shape;335;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36" name="Google Shape;336;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1"/>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45" name="Google Shape;345;p31"/>
          <p:cNvSpPr txBox="1"/>
          <p:nvPr/>
        </p:nvSpPr>
        <p:spPr>
          <a:xfrm>
            <a:off x="1204234" y="188875"/>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E24E5F"/>
                </a:solidFill>
                <a:latin typeface="Verdana"/>
                <a:ea typeface="Verdana"/>
                <a:cs typeface="Verdana"/>
                <a:sym typeface="Verdana"/>
              </a:rPr>
              <a:t>6.10.7 Your Turn!</a:t>
            </a:r>
            <a:endParaRPr/>
          </a:p>
        </p:txBody>
      </p:sp>
      <p:pic>
        <p:nvPicPr>
          <p:cNvPr id="346" name="Google Shape;346;p31"/>
          <p:cNvPicPr preferRelativeResize="0"/>
          <p:nvPr/>
        </p:nvPicPr>
        <p:blipFill rotWithShape="1">
          <a:blip r:embed="rId3">
            <a:alphaModFix/>
          </a:blip>
          <a:srcRect/>
          <a:stretch/>
        </p:blipFill>
        <p:spPr>
          <a:xfrm>
            <a:off x="456934" y="188875"/>
            <a:ext cx="747300" cy="747300"/>
          </a:xfrm>
          <a:prstGeom prst="rect">
            <a:avLst/>
          </a:prstGeom>
          <a:noFill/>
          <a:ln>
            <a:noFill/>
          </a:ln>
        </p:spPr>
      </p:pic>
      <p:sp>
        <p:nvSpPr>
          <p:cNvPr id="348" name="Google Shape;348;p31"/>
          <p:cNvSpPr txBox="1"/>
          <p:nvPr/>
        </p:nvSpPr>
        <p:spPr>
          <a:xfrm>
            <a:off x="1418253" y="1386025"/>
            <a:ext cx="9611490" cy="830956"/>
          </a:xfrm>
          <a:prstGeom prst="rect">
            <a:avLst/>
          </a:prstGeom>
          <a:noFill/>
          <a:ln>
            <a:noFill/>
          </a:ln>
        </p:spPr>
        <p:txBody>
          <a:bodyPr spcFirstLastPara="1" wrap="square" lIns="91425" tIns="45700" rIns="91425" bIns="45700" anchor="t" anchorCtr="0">
            <a:spAutoFit/>
          </a:bodyPr>
          <a:lstStyle/>
          <a:p>
            <a:pPr marL="457200" indent="-381000">
              <a:buSzPts val="2400"/>
              <a:buFont typeface="Verdana"/>
              <a:buAutoNum type="arabicPeriod"/>
            </a:pPr>
            <a:r>
              <a:rPr lang="en-US" sz="2400">
                <a:latin typeface="Verdana"/>
                <a:ea typeface="Verdana"/>
                <a:cs typeface="Verdana"/>
                <a:sym typeface="Verdana"/>
              </a:rPr>
              <a:t>In each column below, create three different division expressions that would result in the given quotient.</a:t>
            </a:r>
            <a:endParaRPr/>
          </a:p>
        </p:txBody>
      </p:sp>
      <p:pic>
        <p:nvPicPr>
          <p:cNvPr id="349" name="Google Shape;349;p31"/>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3405988" y="2739026"/>
            <a:ext cx="5380036" cy="3571825"/>
          </a:xfrm>
          <a:prstGeom prst="rect">
            <a:avLst/>
          </a:prstGeom>
          <a:noFill/>
          <a:ln>
            <a:noFill/>
          </a:ln>
        </p:spPr>
      </p:pic>
      <p:sp>
        <p:nvSpPr>
          <p:cNvPr id="9"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3"/>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58" name="Google Shape;3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59" name="Google Shape;3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4"/>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68" name="Google Shape;368;p34"/>
          <p:cNvSpPr txBox="1"/>
          <p:nvPr/>
        </p:nvSpPr>
        <p:spPr>
          <a:xfrm>
            <a:off x="1487941"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6.10.8 Wrap-Up: Reflection</a:t>
            </a:r>
            <a:endParaRPr/>
          </a:p>
        </p:txBody>
      </p:sp>
      <p:pic>
        <p:nvPicPr>
          <p:cNvPr id="369" name="Google Shape;369;p34"/>
          <p:cNvPicPr preferRelativeResize="0"/>
          <p:nvPr/>
        </p:nvPicPr>
        <p:blipFill rotWithShape="1">
          <a:blip r:embed="rId3">
            <a:alphaModFix/>
          </a:blip>
          <a:srcRect/>
          <a:stretch/>
        </p:blipFill>
        <p:spPr>
          <a:xfrm>
            <a:off x="720362" y="283274"/>
            <a:ext cx="747300" cy="747300"/>
          </a:xfrm>
          <a:prstGeom prst="rect">
            <a:avLst/>
          </a:prstGeom>
          <a:noFill/>
          <a:ln>
            <a:noFill/>
          </a:ln>
          <a:effectLst>
            <a:outerShdw blurRad="50800" dist="38100" dir="2700000" algn="tl" rotWithShape="0">
              <a:srgbClr val="000000">
                <a:alpha val="40000"/>
              </a:srgbClr>
            </a:outerShdw>
          </a:effectLst>
        </p:spPr>
      </p:pic>
      <p:sp>
        <p:nvSpPr>
          <p:cNvPr id="370" name="Google Shape;370;p34"/>
          <p:cNvSpPr txBox="1"/>
          <p:nvPr/>
        </p:nvSpPr>
        <p:spPr>
          <a:xfrm>
            <a:off x="1156996" y="1386025"/>
            <a:ext cx="10134004" cy="1200600"/>
          </a:xfrm>
          <a:prstGeom prst="rect">
            <a:avLst/>
          </a:prstGeom>
          <a:noFill/>
          <a:ln>
            <a:noFill/>
          </a:ln>
        </p:spPr>
        <p:txBody>
          <a:bodyPr spcFirstLastPara="1" wrap="square" lIns="91425" tIns="45700" rIns="91425" bIns="45700" anchor="t" anchorCtr="0">
            <a:spAutoFit/>
          </a:bodyPr>
          <a:lstStyle/>
          <a:p>
            <a:pPr marL="457200" indent="-381000">
              <a:buSzPts val="2400"/>
              <a:buFont typeface="Verdana"/>
              <a:buAutoNum type="arabicPeriod"/>
            </a:pPr>
            <a:r>
              <a:rPr lang="en-US" sz="2400">
                <a:latin typeface="Verdana"/>
                <a:ea typeface="Verdana"/>
                <a:cs typeface="Verdana"/>
                <a:sym typeface="Verdana"/>
              </a:rPr>
              <a:t>Use the emoji scale to indicate your level of confidence with understanding and using the rules for multiplying and dividing integers.</a:t>
            </a:r>
            <a:endParaRPr/>
          </a:p>
        </p:txBody>
      </p:sp>
      <p:pic>
        <p:nvPicPr>
          <p:cNvPr id="371" name="Google Shape;371;p34"/>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2384026" y="2948177"/>
            <a:ext cx="7423945" cy="2263850"/>
          </a:xfrm>
          <a:prstGeom prst="rect">
            <a:avLst/>
          </a:prstGeom>
          <a:noFill/>
          <a:ln>
            <a:noFill/>
          </a:ln>
        </p:spPr>
      </p:pic>
      <p:sp>
        <p:nvSpPr>
          <p:cNvPr id="9" name="Google Shape;125;g104476d1465_1_17"/>
          <p:cNvSpPr txBox="1"/>
          <p:nvPr/>
        </p:nvSpPr>
        <p:spPr>
          <a:xfrm>
            <a:off x="876077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9004"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1157</Words>
  <Application>Microsoft Macintosh PowerPoint</Application>
  <PresentationFormat>Widescreen</PresentationFormat>
  <Paragraphs>158</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 Black</vt:lpstr>
      <vt:lpstr>Calibri</vt:lpstr>
      <vt:lpstr>Cambria Math</vt:lpstr>
      <vt:lpstr>Century Gothic</vt:lpstr>
      <vt:lpstr>Verdana</vt:lpstr>
      <vt:lpstr>Arial</vt:lpstr>
      <vt:lpstr>1_Office Theme</vt:lpstr>
      <vt:lpstr>6th Grade Accelerated Math  Unit 6, Lesson 10  Dividing Integers Using Integer Chips  Volume 1, pg. 278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Collaboration</vt:lpstr>
      <vt:lpstr>PowerPoint Presentation</vt:lpstr>
      <vt:lpstr>PowerPoint Presentation</vt:lpstr>
      <vt:lpstr>Bring It Together</vt:lpstr>
      <vt:lpstr>PowerPoint Presentation</vt:lpstr>
      <vt:lpstr>Collaboration</vt:lpstr>
      <vt:lpstr>PowerPoint Presentation</vt:lpstr>
      <vt:lpstr>PowerPoint Presentation</vt:lpstr>
      <vt:lpstr>Guided Practice</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6, Lesson 10  Dividing Integers Using Integer Chips  Volume 1, pg. 278  </dc:title>
  <dc:creator>Karen McKenzie</dc:creator>
  <cp:lastModifiedBy>jslater9816@gmail.com</cp:lastModifiedBy>
  <cp:revision>7</cp:revision>
  <dcterms:created xsi:type="dcterms:W3CDTF">2015-03-17T18:51:18Z</dcterms:created>
  <dcterms:modified xsi:type="dcterms:W3CDTF">2022-07-29T02:01:06Z</dcterms:modified>
</cp:coreProperties>
</file>