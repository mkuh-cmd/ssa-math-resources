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93" r:id="rId9"/>
    <p:sldId id="263" r:id="rId10"/>
    <p:sldId id="264" r:id="rId11"/>
    <p:sldId id="265" r:id="rId12"/>
    <p:sldId id="269" r:id="rId13"/>
    <p:sldId id="270" r:id="rId14"/>
    <p:sldId id="294" r:id="rId15"/>
    <p:sldId id="278" r:id="rId16"/>
    <p:sldId id="279" r:id="rId17"/>
    <p:sldId id="287" r:id="rId18"/>
    <p:sldId id="288" r:id="rId19"/>
    <p:sldId id="289" r:id="rId20"/>
    <p:sldId id="290" r:id="rId21"/>
    <p:sldId id="291"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jZxNjFsmWQJkaYOY2NZ4Ppk4dkw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51"/>
    <p:restoredTop sz="94622"/>
  </p:normalViewPr>
  <p:slideViewPr>
    <p:cSldViewPr snapToGrid="0">
      <p:cViewPr varScale="1">
        <p:scale>
          <a:sx n="103" d="100"/>
          <a:sy n="103" d="100"/>
        </p:scale>
        <p:origin x="200" y="28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48" Type="http://customschemas.google.com/relationships/presentationmetadata" Target="metadata"/><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extLst>
      <p:ext uri="{BB962C8B-B14F-4D97-AF65-F5344CB8AC3E}">
        <p14:creationId xmlns:p14="http://schemas.microsoft.com/office/powerpoint/2010/main" val="19992578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3" name="Google Shape;243;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 name="Google Shape;253;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extLst>
      <p:ext uri="{BB962C8B-B14F-4D97-AF65-F5344CB8AC3E}">
        <p14:creationId xmlns:p14="http://schemas.microsoft.com/office/powerpoint/2010/main" val="34805261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3" name="Google Shape;333;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 name="Google Shape;342;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3" name="Google Shape;343;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2" name="Google Shape;432;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5" Type="http://schemas.openxmlformats.org/officeDocument/2006/relationships/image" Target="../media/image170.png"/><Relationship Id="rId6"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4" Type="http://schemas.openxmlformats.org/officeDocument/2006/relationships/image" Target="../media/image190.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5" Type="http://schemas.openxmlformats.org/officeDocument/2006/relationships/image" Target="../media/image250.png"/><Relationship Id="rId6"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4" Type="http://schemas.openxmlformats.org/officeDocument/2006/relationships/image" Target="../media/image28.png"/><Relationship Id="rId5"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p:nvPr/>
        </p:nvSpPr>
        <p:spPr>
          <a:xfrm>
            <a:off x="0" y="0"/>
            <a:ext cx="4094106"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14" name="Google Shape;114;g104476d1465_0_0"/>
          <p:cNvSpPr txBox="1">
            <a:spLocks noGrp="1"/>
          </p:cNvSpPr>
          <p:nvPr>
            <p:ph type="ctrTitle" idx="4294967295"/>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a:t>
            </a:r>
            <a:br>
              <a:rPr lang="en-US" sz="3800" b="1" dirty="0">
                <a:solidFill>
                  <a:srgbClr val="417DBF"/>
                </a:solidFill>
                <a:latin typeface="Verdana"/>
                <a:ea typeface="Verdana"/>
                <a:cs typeface="Verdana"/>
                <a:sym typeface="Verdana"/>
              </a:rPr>
            </a:br>
            <a:endParaRPr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6, Lesson 12</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Multiplying and Dividing </a:t>
            </a:r>
            <a:r>
              <a:rPr lang="en-US" sz="3800" b="1">
                <a:solidFill>
                  <a:srgbClr val="417DBF"/>
                </a:solidFill>
                <a:latin typeface="Verdana"/>
                <a:ea typeface="Verdana"/>
                <a:cs typeface="Verdana"/>
                <a:sym typeface="Verdana"/>
              </a:rPr>
              <a:t>Integers </a:t>
            </a:r>
            <a:r>
              <a:rPr lang="en-US" sz="3800" b="1" smtClean="0">
                <a:solidFill>
                  <a:srgbClr val="417DBF"/>
                </a:solidFill>
                <a:latin typeface="Verdana"/>
                <a:ea typeface="Verdana"/>
                <a:cs typeface="Verdana"/>
                <a:sym typeface="Verdana"/>
              </a:rPr>
              <a:t>With </a:t>
            </a:r>
            <a:r>
              <a:rPr lang="en-US" sz="3800" b="1" dirty="0">
                <a:solidFill>
                  <a:srgbClr val="417DBF"/>
                </a:solidFill>
                <a:latin typeface="Verdana"/>
                <a:ea typeface="Verdana"/>
                <a:cs typeface="Verdana"/>
                <a:sym typeface="Verdana"/>
              </a:rPr>
              <a:t>Procedural Fluency</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287</a:t>
            </a: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115" name="Google Shape;115;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pic>
        <p:nvPicPr>
          <p:cNvPr id="116" name="Google Shape;116;g104476d1465_0_0" descr="Logo&#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60503" y="1700157"/>
            <a:ext cx="2973100" cy="3465785"/>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747856"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924356" y="372300"/>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715287"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287</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3513" y="6200599"/>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671656" y="1600200"/>
            <a:ext cx="8848688"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3500" dirty="0">
                <a:solidFill>
                  <a:schemeClr val="dk1"/>
                </a:solidFill>
                <a:latin typeface="Verdana"/>
                <a:ea typeface="Verdana"/>
                <a:cs typeface="Verdana"/>
                <a:sym typeface="Verdana"/>
              </a:rPr>
              <a:t>MA.6.NSO.4.2</a:t>
            </a:r>
            <a:endParaRPr sz="3500" dirty="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3500" dirty="0">
                <a:solidFill>
                  <a:schemeClr val="dk1"/>
                </a:solidFill>
                <a:latin typeface="Verdana"/>
                <a:ea typeface="Verdana"/>
                <a:cs typeface="Verdana"/>
                <a:sym typeface="Verdana"/>
              </a:rPr>
              <a:t>Apply and extend previous understandings of operations with whole numbers to multiply and divide integers with procedural fluency.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34" name="Google Shape;134;p1"/>
          <p:cNvPicPr preferRelativeResize="0"/>
          <p:nvPr/>
        </p:nvPicPr>
        <p:blipFill rotWithShape="1">
          <a:blip r:embed="rId3">
            <a:alphaModFix/>
          </a:blip>
          <a:srcRect/>
          <a:stretch/>
        </p:blipFill>
        <p:spPr>
          <a:xfrm>
            <a:off x="957522" y="372300"/>
            <a:ext cx="747300" cy="747300"/>
          </a:xfrm>
          <a:prstGeom prst="rect">
            <a:avLst/>
          </a:prstGeom>
          <a:noFill/>
          <a:ln>
            <a:noFill/>
          </a:ln>
          <a:effectLst>
            <a:outerShdw blurRad="57150" dist="19050" dir="5400000" algn="bl" rotWithShape="0">
              <a:srgbClr val="000000">
                <a:alpha val="49803"/>
              </a:srgbClr>
            </a:outerShdw>
          </a:effectLst>
        </p:spPr>
      </p:pic>
      <p:sp>
        <p:nvSpPr>
          <p:cNvPr id="136" name="Google Shape;136;p1"/>
          <p:cNvSpPr txBox="1"/>
          <p:nvPr/>
        </p:nvSpPr>
        <p:spPr>
          <a:xfrm>
            <a:off x="1782172" y="129667"/>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8" name="Google Shape;138;p1"/>
          <p:cNvSpPr txBox="1"/>
          <p:nvPr/>
        </p:nvSpPr>
        <p:spPr>
          <a:xfrm>
            <a:off x="1704822" y="1596390"/>
            <a:ext cx="9370116" cy="4205700"/>
          </a:xfrm>
          <a:prstGeom prst="rect">
            <a:avLst/>
          </a:prstGeom>
          <a:noFill/>
          <a:ln>
            <a:noFill/>
          </a:ln>
        </p:spPr>
        <p:txBody>
          <a:bodyPr spcFirstLastPara="1" wrap="square" lIns="91425" tIns="45700" rIns="91425" bIns="45700" anchor="t" anchorCtr="0">
            <a:noAutofit/>
          </a:bodyPr>
          <a:lstStyle/>
          <a:p>
            <a:r>
              <a:rPr lang="en-US" sz="3200" dirty="0">
                <a:solidFill>
                  <a:schemeClr val="dk1"/>
                </a:solidFill>
                <a:latin typeface="Verdana"/>
                <a:ea typeface="Verdana"/>
                <a:cs typeface="Verdana"/>
                <a:sym typeface="Verdana"/>
              </a:rPr>
              <a:t>MA.K12.MTR.3.1 Complete tasks with mathematical fluency.</a:t>
            </a:r>
            <a:endParaRPr sz="3200" dirty="0"/>
          </a:p>
          <a:p>
            <a:pPr marL="457200"/>
            <a:endParaRPr sz="3200" dirty="0">
              <a:solidFill>
                <a:schemeClr val="dk1"/>
              </a:solidFill>
              <a:latin typeface="Verdana"/>
              <a:ea typeface="Verdana"/>
              <a:cs typeface="Verdana"/>
              <a:sym typeface="Verdana"/>
            </a:endParaRPr>
          </a:p>
          <a:p>
            <a:r>
              <a:rPr lang="en-US" sz="3200" dirty="0">
                <a:solidFill>
                  <a:schemeClr val="dk1"/>
                </a:solidFill>
                <a:latin typeface="Verdana"/>
                <a:ea typeface="Verdana"/>
                <a:cs typeface="Verdana"/>
                <a:sym typeface="Verdana"/>
              </a:rPr>
              <a:t>MA.K12.MTR.5.1 Use patterns and structure to help understand and connect mathematical concepts.</a:t>
            </a:r>
            <a:endParaRPr sz="3200" dirty="0"/>
          </a:p>
        </p:txBody>
      </p:sp>
      <p:sp>
        <p:nvSpPr>
          <p:cNvPr id="8" name="Google Shape;125;g104476d1465_1_17"/>
          <p:cNvSpPr txBox="1"/>
          <p:nvPr/>
        </p:nvSpPr>
        <p:spPr>
          <a:xfrm>
            <a:off x="8715287"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287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3513"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sp>
        <p:nvSpPr>
          <p:cNvPr id="146" name="Google Shape;146;p2"/>
          <p:cNvSpPr txBox="1"/>
          <p:nvPr/>
        </p:nvSpPr>
        <p:spPr>
          <a:xfrm>
            <a:off x="1608302" y="0"/>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a:t>
            </a:r>
            <a:endParaRPr dirty="0"/>
          </a:p>
        </p:txBody>
      </p:sp>
      <p:pic>
        <p:nvPicPr>
          <p:cNvPr id="147" name="Google Shape;147;p2"/>
          <p:cNvPicPr preferRelativeResize="0"/>
          <p:nvPr/>
        </p:nvPicPr>
        <p:blipFill rotWithShape="1">
          <a:blip r:embed="rId3">
            <a:alphaModFix/>
          </a:blip>
          <a:srcRect/>
          <a:stretch/>
        </p:blipFill>
        <p:spPr>
          <a:xfrm>
            <a:off x="826140" y="289200"/>
            <a:ext cx="747300" cy="747300"/>
          </a:xfrm>
          <a:prstGeom prst="rect">
            <a:avLst/>
          </a:prstGeom>
          <a:noFill/>
          <a:ln>
            <a:noFill/>
          </a:ln>
          <a:effectLst>
            <a:outerShdw blurRad="50800" dist="38100" dir="2700000" algn="tl" rotWithShape="0">
              <a:srgbClr val="000000">
                <a:alpha val="40000"/>
              </a:srgbClr>
            </a:outerShdw>
          </a:effectLst>
        </p:spPr>
      </p:pic>
      <p:sp>
        <p:nvSpPr>
          <p:cNvPr id="149" name="Google Shape;149;p2"/>
          <p:cNvSpPr txBox="1"/>
          <p:nvPr/>
        </p:nvSpPr>
        <p:spPr>
          <a:xfrm>
            <a:off x="1377387" y="1600200"/>
            <a:ext cx="9437226"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ts val="3500"/>
              <a:buFont typeface="Verdana"/>
              <a:buChar char="❏"/>
            </a:pPr>
            <a:r>
              <a:rPr lang="en-US" sz="3500" dirty="0">
                <a:solidFill>
                  <a:schemeClr val="dk1"/>
                </a:solidFill>
                <a:latin typeface="Verdana"/>
                <a:ea typeface="Verdana"/>
                <a:cs typeface="Verdana"/>
                <a:sym typeface="Verdana"/>
              </a:rPr>
              <a:t>I can multiply and divide integers with procedural fluency.</a:t>
            </a:r>
          </a:p>
        </p:txBody>
      </p:sp>
      <p:sp>
        <p:nvSpPr>
          <p:cNvPr id="8" name="Google Shape;125;g104476d1465_1_17"/>
          <p:cNvSpPr txBox="1"/>
          <p:nvPr/>
        </p:nvSpPr>
        <p:spPr>
          <a:xfrm>
            <a:off x="8715287"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287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3513"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2627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7" name="Google Shape;125;g104476d1465_1_17"/>
          <p:cNvSpPr txBox="1"/>
          <p:nvPr/>
        </p:nvSpPr>
        <p:spPr>
          <a:xfrm>
            <a:off x="8715287"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288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3513"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67" name="Google Shape;167;p4"/>
          <p:cNvSpPr txBox="1"/>
          <p:nvPr/>
        </p:nvSpPr>
        <p:spPr>
          <a:xfrm>
            <a:off x="1455056" y="13688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6.12.1 Warm-Up: Thinking Algebraically</a:t>
            </a:r>
            <a:endParaRPr dirty="0"/>
          </a:p>
        </p:txBody>
      </p:sp>
      <p:pic>
        <p:nvPicPr>
          <p:cNvPr id="168" name="Google Shape;168;p4"/>
          <p:cNvPicPr preferRelativeResize="0"/>
          <p:nvPr/>
        </p:nvPicPr>
        <p:blipFill rotWithShape="1">
          <a:blip r:embed="rId3">
            <a:alphaModFix/>
          </a:blip>
          <a:srcRect/>
          <a:stretch/>
        </p:blipFill>
        <p:spPr>
          <a:xfrm>
            <a:off x="707756" y="274046"/>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170" name="Google Shape;170;p4"/>
              <p:cNvSpPr txBox="1"/>
              <p:nvPr/>
            </p:nvSpPr>
            <p:spPr>
              <a:xfrm>
                <a:off x="1455056" y="1386026"/>
                <a:ext cx="9537920" cy="3416279"/>
              </a:xfrm>
              <a:prstGeom prst="rect">
                <a:avLst/>
              </a:prstGeom>
              <a:noFill/>
              <a:ln>
                <a:noFill/>
              </a:ln>
            </p:spPr>
            <p:txBody>
              <a:bodyPr spcFirstLastPara="1" wrap="square" lIns="91425" tIns="45700" rIns="91425" bIns="45700" anchor="t" anchorCtr="0">
                <a:spAutoFit/>
              </a:bodyPr>
              <a:lstStyle/>
              <a:p>
                <a:pPr lvl="0"/>
                <a:r>
                  <a:rPr lang="en-US" sz="2400" dirty="0">
                    <a:latin typeface="Verdana"/>
                    <a:ea typeface="Verdana"/>
                    <a:cs typeface="Verdana"/>
                    <a:sym typeface="Verdana"/>
                  </a:rPr>
                  <a:t>A number line is shown. The numbers </a:t>
                </a:r>
                <a14:m>
                  <m:oMath xmlns:m="http://schemas.openxmlformats.org/officeDocument/2006/math">
                    <m:r>
                      <a:rPr lang="en-US" sz="2400" i="1" dirty="0">
                        <a:latin typeface="Cambria Math" panose="02040503050406030204" pitchFamily="18" charset="0"/>
                        <a:ea typeface="Verdana"/>
                        <a:cs typeface="Verdana"/>
                        <a:sym typeface="Verdana"/>
                      </a:rPr>
                      <m:t>0</m:t>
                    </m:r>
                  </m:oMath>
                </a14:m>
                <a:r>
                  <a:rPr lang="en-US" sz="2400" dirty="0">
                    <a:latin typeface="Verdana"/>
                    <a:ea typeface="Verdana"/>
                    <a:cs typeface="Verdana"/>
                    <a:sym typeface="Verdana"/>
                  </a:rPr>
                  <a:t> and </a:t>
                </a:r>
                <a14:m>
                  <m:oMath xmlns:m="http://schemas.openxmlformats.org/officeDocument/2006/math">
                    <m:r>
                      <a:rPr lang="en-US" sz="2400" i="1" dirty="0">
                        <a:latin typeface="Cambria Math" panose="02040503050406030204" pitchFamily="18" charset="0"/>
                        <a:ea typeface="Verdana"/>
                        <a:cs typeface="Verdana"/>
                        <a:sym typeface="Verdana"/>
                      </a:rPr>
                      <m:t>1</m:t>
                    </m:r>
                  </m:oMath>
                </a14:m>
                <a:r>
                  <a:rPr lang="en-US" sz="2400" dirty="0">
                    <a:latin typeface="Verdana"/>
                    <a:ea typeface="Verdana"/>
                    <a:cs typeface="Verdana"/>
                    <a:sym typeface="Verdana"/>
                  </a:rPr>
                  <a:t> are marked on the line, along with two other numbers, </a:t>
                </a:r>
                <a14:m>
                  <m:oMath xmlns:m="http://schemas.openxmlformats.org/officeDocument/2006/math">
                    <m:r>
                      <a:rPr lang="en-US" sz="2400" i="1" dirty="0">
                        <a:latin typeface="Cambria Math" panose="02040503050406030204" pitchFamily="18" charset="0"/>
                        <a:ea typeface="Verdana"/>
                        <a:cs typeface="Verdana"/>
                        <a:sym typeface="Verdana"/>
                      </a:rPr>
                      <m:t>𝑎</m:t>
                    </m:r>
                  </m:oMath>
                </a14:m>
                <a:r>
                  <a:rPr lang="en-US" sz="2400" dirty="0">
                    <a:latin typeface="Verdana"/>
                    <a:ea typeface="Verdana"/>
                    <a:cs typeface="Verdana"/>
                    <a:sym typeface="Verdana"/>
                  </a:rPr>
                  <a:t> and </a:t>
                </a:r>
                <a14:m>
                  <m:oMath xmlns:m="http://schemas.openxmlformats.org/officeDocument/2006/math">
                    <m:r>
                      <a:rPr lang="en-US" sz="2400" i="1" dirty="0">
                        <a:latin typeface="Cambria Math" panose="02040503050406030204" pitchFamily="18" charset="0"/>
                        <a:ea typeface="Verdana"/>
                        <a:cs typeface="Verdana"/>
                        <a:sym typeface="Verdana"/>
                      </a:rPr>
                      <m:t>𝑏</m:t>
                    </m:r>
                  </m:oMath>
                </a14:m>
                <a:r>
                  <a:rPr lang="en-US" sz="2400" dirty="0">
                    <a:latin typeface="Verdana"/>
                    <a:ea typeface="Verdana"/>
                    <a:cs typeface="Verdana"/>
                    <a:sym typeface="Verdana"/>
                  </a:rPr>
                  <a:t>.</a:t>
                </a:r>
              </a:p>
              <a:p>
                <a:pPr lvl="0"/>
                <a:endParaRPr lang="en-US" sz="2400" dirty="0">
                  <a:latin typeface="Verdana"/>
                  <a:ea typeface="Verdana"/>
                  <a:cs typeface="Verdana"/>
                  <a:sym typeface="Verdana"/>
                </a:endParaRPr>
              </a:p>
              <a:p>
                <a:pPr lvl="0"/>
                <a:endParaRPr lang="en-US" sz="2400" dirty="0">
                  <a:latin typeface="Verdana"/>
                  <a:ea typeface="Verdana"/>
                  <a:cs typeface="Verdana"/>
                  <a:sym typeface="Verdana"/>
                </a:endParaRPr>
              </a:p>
              <a:p>
                <a:pPr lvl="0"/>
                <a:endParaRPr lang="en-US" sz="2400" dirty="0">
                  <a:latin typeface="Verdana"/>
                  <a:ea typeface="Verdana"/>
                  <a:cs typeface="Verdana"/>
                  <a:sym typeface="Verdana"/>
                </a:endParaRPr>
              </a:p>
              <a:p>
                <a:pPr lvl="0"/>
                <a:endParaRPr lang="en-US" sz="2400" dirty="0">
                  <a:latin typeface="Verdana"/>
                  <a:ea typeface="Verdana"/>
                  <a:cs typeface="Verdana"/>
                  <a:sym typeface="Verdana"/>
                </a:endParaRPr>
              </a:p>
              <a:p>
                <a:pPr marL="457200" indent="-457200">
                  <a:buFont typeface="+mj-lt"/>
                  <a:buAutoNum type="arabicPeriod"/>
                </a:pPr>
                <a:r>
                  <a:rPr lang="en-US" sz="2400" dirty="0">
                    <a:latin typeface="Verdana"/>
                    <a:ea typeface="Verdana"/>
                    <a:cs typeface="Verdana"/>
                    <a:sym typeface="Verdana"/>
                  </a:rPr>
                  <a:t>Circle one expression from those shown below that will have a negative value.</a:t>
                </a:r>
              </a:p>
              <a:p>
                <a:pPr marL="457200" indent="-457200">
                  <a:buFont typeface="+mj-lt"/>
                  <a:buAutoNum type="arabicPeriod"/>
                </a:pPr>
                <a:endParaRPr lang="en-US" sz="2400" dirty="0">
                  <a:latin typeface="Verdana"/>
                  <a:ea typeface="Verdana"/>
                  <a:cs typeface="Verdana"/>
                  <a:sym typeface="Verdana"/>
                </a:endParaRPr>
              </a:p>
            </p:txBody>
          </p:sp>
        </mc:Choice>
        <mc:Fallback xmlns="">
          <p:sp>
            <p:nvSpPr>
              <p:cNvPr id="170" name="Google Shape;170;p4"/>
              <p:cNvSpPr txBox="1">
                <a:spLocks noRot="1" noChangeAspect="1" noMove="1" noResize="1" noEditPoints="1" noAdjustHandles="1" noChangeArrowheads="1" noChangeShapeType="1" noTextEdit="1"/>
              </p:cNvSpPr>
              <p:nvPr/>
            </p:nvSpPr>
            <p:spPr>
              <a:xfrm>
                <a:off x="1455056" y="1386026"/>
                <a:ext cx="9537920" cy="3416279"/>
              </a:xfrm>
              <a:prstGeom prst="rect">
                <a:avLst/>
              </a:prstGeom>
              <a:blipFill rotWithShape="0">
                <a:blip r:embed="rId4"/>
                <a:stretch>
                  <a:fillRect l="-1023" t="-1604"/>
                </a:stretch>
              </a:blipFill>
              <a:ln>
                <a:noFill/>
              </a:ln>
            </p:spPr>
            <p:txBody>
              <a:bodyPr/>
              <a:lstStyle/>
              <a:p>
                <a:r>
                  <a:rPr lang="en-US">
                    <a:noFill/>
                  </a:rPr>
                  <a:t> </a:t>
                </a:r>
              </a:p>
            </p:txBody>
          </p:sp>
        </mc:Fallback>
      </mc:AlternateContent>
      <p:pic>
        <p:nvPicPr>
          <p:cNvPr id="3" name="Picture 2">
            <a:extLst>
              <a:ext uri="{FF2B5EF4-FFF2-40B4-BE49-F238E27FC236}">
                <a16:creationId xmlns:a16="http://schemas.microsoft.com/office/drawing/2014/main" xmlns="" id="{C0E82604-DD57-B44A-B8B2-C5F42B2BDFC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940740" y="2909265"/>
            <a:ext cx="8598410" cy="776030"/>
          </a:xfrm>
          <a:prstGeom prst="rect">
            <a:avLst/>
          </a:prstGeom>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xmlns="" id="{2E4A181C-04B2-9644-B685-4A9C419EC807}"/>
                  </a:ext>
                </a:extLst>
              </p:cNvPr>
              <p:cNvGraphicFramePr>
                <a:graphicFrameLocks noGrp="1"/>
              </p:cNvGraphicFramePr>
              <p:nvPr>
                <p:extLst>
                  <p:ext uri="{D42A27DB-BD31-4B8C-83A1-F6EECF244321}">
                    <p14:modId xmlns:p14="http://schemas.microsoft.com/office/powerpoint/2010/main" val="1432257407"/>
                  </p:ext>
                </p:extLst>
              </p:nvPr>
            </p:nvGraphicFramePr>
            <p:xfrm>
              <a:off x="2519851" y="5171636"/>
              <a:ext cx="6889115" cy="457200"/>
            </p:xfrm>
            <a:graphic>
              <a:graphicData uri="http://schemas.openxmlformats.org/drawingml/2006/table">
                <a:tbl>
                  <a:tblPr firstRow="1" firstCol="1" bandRow="1">
                    <a:tableStyleId>{5C22544A-7EE6-4342-B048-85BDC9FD1C3A}</a:tableStyleId>
                  </a:tblPr>
                  <a:tblGrid>
                    <a:gridCol w="1334135">
                      <a:extLst>
                        <a:ext uri="{9D8B030D-6E8A-4147-A177-3AD203B41FA5}">
                          <a16:colId xmlns:a16="http://schemas.microsoft.com/office/drawing/2014/main" xmlns="" val="995493958"/>
                        </a:ext>
                      </a:extLst>
                    </a:gridCol>
                    <a:gridCol w="1388745">
                      <a:extLst>
                        <a:ext uri="{9D8B030D-6E8A-4147-A177-3AD203B41FA5}">
                          <a16:colId xmlns:a16="http://schemas.microsoft.com/office/drawing/2014/main" xmlns="" val="2182547480"/>
                        </a:ext>
                      </a:extLst>
                    </a:gridCol>
                    <a:gridCol w="1388745">
                      <a:extLst>
                        <a:ext uri="{9D8B030D-6E8A-4147-A177-3AD203B41FA5}">
                          <a16:colId xmlns:a16="http://schemas.microsoft.com/office/drawing/2014/main" xmlns="" val="454195344"/>
                        </a:ext>
                      </a:extLst>
                    </a:gridCol>
                    <a:gridCol w="1388745">
                      <a:extLst>
                        <a:ext uri="{9D8B030D-6E8A-4147-A177-3AD203B41FA5}">
                          <a16:colId xmlns:a16="http://schemas.microsoft.com/office/drawing/2014/main" xmlns="" val="1355651426"/>
                        </a:ext>
                      </a:extLst>
                    </a:gridCol>
                    <a:gridCol w="1388745">
                      <a:extLst>
                        <a:ext uri="{9D8B030D-6E8A-4147-A177-3AD203B41FA5}">
                          <a16:colId xmlns:a16="http://schemas.microsoft.com/office/drawing/2014/main" xmlns="" val="558551944"/>
                        </a:ext>
                      </a:extLst>
                    </a:gridCol>
                  </a:tblGrid>
                  <a:tr h="45720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𝒂</m:t>
                                </m:r>
                                <m:r>
                                  <a:rPr lang="en-US" sz="2000" smtClean="0">
                                    <a:solidFill>
                                      <a:schemeClr val="tx1"/>
                                    </a:solidFill>
                                    <a:effectLst/>
                                    <a:latin typeface="Cambria Math" panose="02040503050406030204" pitchFamily="18" charset="0"/>
                                  </a:rPr>
                                  <m:t>−</m:t>
                                </m:r>
                                <m:r>
                                  <a:rPr lang="en-US" sz="2000" smtClean="0">
                                    <a:solidFill>
                                      <a:schemeClr val="tx1"/>
                                    </a:solidFill>
                                    <a:effectLst/>
                                    <a:latin typeface="Cambria Math" panose="02040503050406030204" pitchFamily="18" charset="0"/>
                                  </a:rPr>
                                  <m:t>𝟏</m:t>
                                </m:r>
                              </m:oMath>
                            </m:oMathPara>
                          </a14:m>
                          <a:endParaRPr lang="en-US" sz="20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𝒂</m:t>
                                </m:r>
                                <m:r>
                                  <a:rPr lang="en-US" sz="2000" smtClean="0">
                                    <a:solidFill>
                                      <a:schemeClr val="tx1"/>
                                    </a:solidFill>
                                    <a:effectLst/>
                                    <a:latin typeface="Cambria Math" panose="02040503050406030204" pitchFamily="18" charset="0"/>
                                  </a:rPr>
                                  <m:t>−</m:t>
                                </m:r>
                                <m:r>
                                  <a:rPr lang="en-US" sz="2000" smtClean="0">
                                    <a:solidFill>
                                      <a:schemeClr val="tx1"/>
                                    </a:solidFill>
                                    <a:effectLst/>
                                    <a:latin typeface="Cambria Math" panose="02040503050406030204" pitchFamily="18" charset="0"/>
                                  </a:rPr>
                                  <m:t>𝟐</m:t>
                                </m:r>
                              </m:oMath>
                            </m:oMathPara>
                          </a14:m>
                          <a:endParaRPr lang="en-US" sz="20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𝒂</m:t>
                                </m:r>
                                <m:r>
                                  <a:rPr lang="en-US" sz="2000" smtClean="0">
                                    <a:solidFill>
                                      <a:schemeClr val="tx1"/>
                                    </a:solidFill>
                                    <a:effectLst/>
                                    <a:latin typeface="Cambria Math" panose="02040503050406030204" pitchFamily="18" charset="0"/>
                                  </a:rPr>
                                  <m:t>+</m:t>
                                </m:r>
                                <m:r>
                                  <a:rPr lang="en-US" sz="2000" smtClean="0">
                                    <a:solidFill>
                                      <a:schemeClr val="tx1"/>
                                    </a:solidFill>
                                    <a:effectLst/>
                                    <a:latin typeface="Cambria Math" panose="02040503050406030204" pitchFamily="18" charset="0"/>
                                  </a:rPr>
                                  <m:t>𝒃</m:t>
                                </m:r>
                              </m:oMath>
                            </m:oMathPara>
                          </a14:m>
                          <a:endParaRPr lang="en-US" sz="20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𝒂</m:t>
                                </m:r>
                                <m:r>
                                  <a:rPr lang="en-US" sz="2000" smtClean="0">
                                    <a:solidFill>
                                      <a:schemeClr val="tx1"/>
                                    </a:solidFill>
                                    <a:effectLst/>
                                    <a:latin typeface="Cambria Math" panose="02040503050406030204" pitchFamily="18" charset="0"/>
                                  </a:rPr>
                                  <m:t>−</m:t>
                                </m:r>
                                <m:r>
                                  <a:rPr lang="en-US" sz="2000" smtClean="0">
                                    <a:solidFill>
                                      <a:schemeClr val="tx1"/>
                                    </a:solidFill>
                                    <a:effectLst/>
                                    <a:latin typeface="Cambria Math" panose="02040503050406030204" pitchFamily="18" charset="0"/>
                                  </a:rPr>
                                  <m:t>𝒃</m:t>
                                </m:r>
                              </m:oMath>
                            </m:oMathPara>
                          </a14:m>
                          <a:endParaRPr lang="en-US" sz="20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𝒂𝒃</m:t>
                                </m:r>
                                <m:r>
                                  <a:rPr lang="en-US" sz="2000" smtClean="0">
                                    <a:solidFill>
                                      <a:schemeClr val="tx1"/>
                                    </a:solidFill>
                                    <a:effectLst/>
                                    <a:latin typeface="Cambria Math" panose="02040503050406030204" pitchFamily="18" charset="0"/>
                                  </a:rPr>
                                  <m:t>+</m:t>
                                </m:r>
                                <m:r>
                                  <a:rPr lang="en-US" sz="2000" smtClean="0">
                                    <a:solidFill>
                                      <a:schemeClr val="tx1"/>
                                    </a:solidFill>
                                    <a:effectLst/>
                                    <a:latin typeface="Cambria Math" panose="02040503050406030204" pitchFamily="18" charset="0"/>
                                  </a:rPr>
                                  <m:t>𝟏</m:t>
                                </m:r>
                              </m:oMath>
                            </m:oMathPara>
                          </a14:m>
                          <a:endParaRPr lang="en-US" sz="20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007826460"/>
                      </a:ext>
                    </a:extLst>
                  </a:tr>
                </a:tbl>
              </a:graphicData>
            </a:graphic>
          </p:graphicFrame>
        </mc:Choice>
        <mc:Fallback xmlns="">
          <p:graphicFrame>
            <p:nvGraphicFramePr>
              <p:cNvPr id="4" name="Table 3">
                <a:extLst>
                  <a:ext uri="{FF2B5EF4-FFF2-40B4-BE49-F238E27FC236}">
                    <a16:creationId xmlns:a16="http://schemas.microsoft.com/office/drawing/2014/main" id="{2E4A181C-04B2-9644-B685-4A9C419EC807}"/>
                  </a:ext>
                </a:extLst>
              </p:cNvPr>
              <p:cNvGraphicFramePr>
                <a:graphicFrameLocks noGrp="1"/>
              </p:cNvGraphicFramePr>
              <p:nvPr>
                <p:extLst>
                  <p:ext uri="{D42A27DB-BD31-4B8C-83A1-F6EECF244321}">
                    <p14:modId xmlns:p14="http://schemas.microsoft.com/office/powerpoint/2010/main" val="1432257407"/>
                  </p:ext>
                </p:extLst>
              </p:nvPr>
            </p:nvGraphicFramePr>
            <p:xfrm>
              <a:off x="995850" y="5171636"/>
              <a:ext cx="6889115" cy="457200"/>
            </p:xfrm>
            <a:graphic>
              <a:graphicData uri="http://schemas.openxmlformats.org/drawingml/2006/table">
                <a:tbl>
                  <a:tblPr firstRow="1" firstCol="1" bandRow="1">
                    <a:tableStyleId>{5C22544A-7EE6-4342-B048-85BDC9FD1C3A}</a:tableStyleId>
                  </a:tblPr>
                  <a:tblGrid>
                    <a:gridCol w="1334135">
                      <a:extLst>
                        <a:ext uri="{9D8B030D-6E8A-4147-A177-3AD203B41FA5}">
                          <a16:colId xmlns:a16="http://schemas.microsoft.com/office/drawing/2014/main" val="995493958"/>
                        </a:ext>
                      </a:extLst>
                    </a:gridCol>
                    <a:gridCol w="1388745">
                      <a:extLst>
                        <a:ext uri="{9D8B030D-6E8A-4147-A177-3AD203B41FA5}">
                          <a16:colId xmlns:a16="http://schemas.microsoft.com/office/drawing/2014/main" val="2182547480"/>
                        </a:ext>
                      </a:extLst>
                    </a:gridCol>
                    <a:gridCol w="1388745">
                      <a:extLst>
                        <a:ext uri="{9D8B030D-6E8A-4147-A177-3AD203B41FA5}">
                          <a16:colId xmlns:a16="http://schemas.microsoft.com/office/drawing/2014/main" val="454195344"/>
                        </a:ext>
                      </a:extLst>
                    </a:gridCol>
                    <a:gridCol w="1388745">
                      <a:extLst>
                        <a:ext uri="{9D8B030D-6E8A-4147-A177-3AD203B41FA5}">
                          <a16:colId xmlns:a16="http://schemas.microsoft.com/office/drawing/2014/main" val="1355651426"/>
                        </a:ext>
                      </a:extLst>
                    </a:gridCol>
                    <a:gridCol w="1388745">
                      <a:extLst>
                        <a:ext uri="{9D8B030D-6E8A-4147-A177-3AD203B41FA5}">
                          <a16:colId xmlns:a16="http://schemas.microsoft.com/office/drawing/2014/main" val="558551944"/>
                        </a:ext>
                      </a:extLst>
                    </a:gridCol>
                  </a:tblGrid>
                  <a:tr h="4572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952" t="-2703" r="-419048" b="-270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96364" t="-2703" r="-300000" b="-270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98165" t="-2703" r="-202752" b="-270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295455" t="-2703" r="-100909" b="-270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399083" t="-2703" r="-1835" b="-2703"/>
                          </a:stretch>
                        </a:blipFill>
                      </a:tcPr>
                    </a:tc>
                    <a:extLst>
                      <a:ext uri="{0D108BD9-81ED-4DB2-BD59-A6C34878D82A}">
                        <a16:rowId xmlns:a16="http://schemas.microsoft.com/office/drawing/2014/main" val="2007826460"/>
                      </a:ext>
                    </a:extLst>
                  </a:tr>
                </a:tbl>
              </a:graphicData>
            </a:graphic>
          </p:graphicFrame>
        </mc:Fallback>
      </mc:AlternateContent>
      <p:sp>
        <p:nvSpPr>
          <p:cNvPr id="10" name="Google Shape;125;g104476d1465_1_17"/>
          <p:cNvSpPr txBox="1"/>
          <p:nvPr/>
        </p:nvSpPr>
        <p:spPr>
          <a:xfrm>
            <a:off x="8715287"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288</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11453513"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5"/>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79" name="Google Shape;179;p5"/>
          <p:cNvSpPr txBox="1"/>
          <p:nvPr/>
        </p:nvSpPr>
        <p:spPr>
          <a:xfrm>
            <a:off x="1226916" y="520394"/>
            <a:ext cx="9888834" cy="3416279"/>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400" dirty="0">
                <a:latin typeface="Verdana"/>
                <a:ea typeface="Verdana"/>
                <a:cs typeface="Verdana"/>
                <a:sym typeface="Verdana"/>
              </a:rPr>
              <a:t>Explain how you know the expression selected will have a negative value based on the number line.</a:t>
            </a:r>
          </a:p>
          <a:p>
            <a:pPr marL="457200" indent="-457200">
              <a:buFont typeface="+mj-lt"/>
              <a:buAutoNum type="arabicPeriod" startAt="2"/>
            </a:pPr>
            <a:endParaRPr lang="en-US" sz="2400" dirty="0">
              <a:latin typeface="Verdana"/>
              <a:ea typeface="Verdana"/>
              <a:cs typeface="Verdana"/>
              <a:sym typeface="Verdana"/>
            </a:endParaRPr>
          </a:p>
          <a:p>
            <a:pPr marL="457200" indent="-457200">
              <a:buFont typeface="+mj-lt"/>
              <a:buAutoNum type="arabicPeriod" startAt="2"/>
            </a:pPr>
            <a:endParaRPr lang="en-US" sz="2400" dirty="0">
              <a:latin typeface="Verdana"/>
              <a:ea typeface="Verdana"/>
              <a:cs typeface="Verdana"/>
              <a:sym typeface="Verdana"/>
            </a:endParaRPr>
          </a:p>
          <a:p>
            <a:pPr marL="457200" indent="-457200">
              <a:buFont typeface="+mj-lt"/>
              <a:buAutoNum type="arabicPeriod" startAt="2"/>
            </a:pPr>
            <a:endParaRPr lang="en-US" sz="2400" dirty="0">
              <a:latin typeface="Verdana"/>
              <a:ea typeface="Verdana"/>
              <a:cs typeface="Verdana"/>
              <a:sym typeface="Verdana"/>
            </a:endParaRPr>
          </a:p>
          <a:p>
            <a:pPr marL="457200" indent="-457200">
              <a:buFont typeface="+mj-lt"/>
              <a:buAutoNum type="arabicPeriod" startAt="2"/>
            </a:pPr>
            <a:endParaRPr lang="en-US" sz="2400" dirty="0">
              <a:latin typeface="Verdana"/>
              <a:ea typeface="Verdana"/>
              <a:cs typeface="Verdana"/>
              <a:sym typeface="Verdana"/>
            </a:endParaRPr>
          </a:p>
          <a:p>
            <a:pPr marL="457200" indent="-457200">
              <a:buFont typeface="+mj-lt"/>
              <a:buAutoNum type="arabicPeriod" startAt="2"/>
            </a:pPr>
            <a:endParaRPr lang="en-US" sz="2400" dirty="0">
              <a:latin typeface="Verdana"/>
              <a:ea typeface="Verdana"/>
              <a:cs typeface="Verdana"/>
              <a:sym typeface="Verdana"/>
            </a:endParaRPr>
          </a:p>
          <a:p>
            <a:pPr marL="457200" indent="-457200">
              <a:buFont typeface="+mj-lt"/>
              <a:buAutoNum type="arabicPeriod" startAt="2"/>
            </a:pPr>
            <a:r>
              <a:rPr lang="en-US" sz="2400" dirty="0">
                <a:latin typeface="Verdana"/>
                <a:ea typeface="Verdana"/>
                <a:cs typeface="Verdana"/>
                <a:sym typeface="Verdana"/>
              </a:rPr>
              <a:t>Find a classmate who chose a different expression that will have a negative value.</a:t>
            </a:r>
          </a:p>
        </p:txBody>
      </p:sp>
      <p:sp>
        <p:nvSpPr>
          <p:cNvPr id="6" name="Google Shape;125;g104476d1465_1_17"/>
          <p:cNvSpPr txBox="1"/>
          <p:nvPr/>
        </p:nvSpPr>
        <p:spPr>
          <a:xfrm>
            <a:off x="8715287"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288</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53513"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2" name="Table 1">
            <a:extLst>
              <a:ext uri="{FF2B5EF4-FFF2-40B4-BE49-F238E27FC236}">
                <a16:creationId xmlns:a16="http://schemas.microsoft.com/office/drawing/2014/main" xmlns="" id="{121C9512-9D14-EC4A-88C7-7B7C9B6D4E1A}"/>
              </a:ext>
            </a:extLst>
          </p:cNvPr>
          <p:cNvGraphicFramePr>
            <a:graphicFrameLocks noGrp="1"/>
          </p:cNvGraphicFramePr>
          <p:nvPr>
            <p:extLst>
              <p:ext uri="{D42A27DB-BD31-4B8C-83A1-F6EECF244321}">
                <p14:modId xmlns:p14="http://schemas.microsoft.com/office/powerpoint/2010/main" val="200182212"/>
              </p:ext>
            </p:extLst>
          </p:nvPr>
        </p:nvGraphicFramePr>
        <p:xfrm>
          <a:off x="2518773" y="2828677"/>
          <a:ext cx="7154454" cy="3071380"/>
        </p:xfrm>
        <a:graphic>
          <a:graphicData uri="http://schemas.openxmlformats.org/drawingml/2006/table">
            <a:tbl>
              <a:tblPr firstRow="1" firstCol="1" bandRow="1">
                <a:tableStyleId>{5C22544A-7EE6-4342-B048-85BDC9FD1C3A}</a:tableStyleId>
              </a:tblPr>
              <a:tblGrid>
                <a:gridCol w="1737643">
                  <a:extLst>
                    <a:ext uri="{9D8B030D-6E8A-4147-A177-3AD203B41FA5}">
                      <a16:colId xmlns:a16="http://schemas.microsoft.com/office/drawing/2014/main" xmlns="" val="2967484184"/>
                    </a:ext>
                  </a:extLst>
                </a:gridCol>
                <a:gridCol w="4319945">
                  <a:extLst>
                    <a:ext uri="{9D8B030D-6E8A-4147-A177-3AD203B41FA5}">
                      <a16:colId xmlns:a16="http://schemas.microsoft.com/office/drawing/2014/main" xmlns="" val="4093445030"/>
                    </a:ext>
                  </a:extLst>
                </a:gridCol>
                <a:gridCol w="1096866">
                  <a:extLst>
                    <a:ext uri="{9D8B030D-6E8A-4147-A177-3AD203B41FA5}">
                      <a16:colId xmlns:a16="http://schemas.microsoft.com/office/drawing/2014/main" xmlns="" val="2969811918"/>
                    </a:ext>
                  </a:extLst>
                </a:gridCol>
              </a:tblGrid>
              <a:tr h="1089479">
                <a:tc>
                  <a:txBody>
                    <a:bodyPr/>
                    <a:lstStyle/>
                    <a:p>
                      <a:pPr marL="0" marR="0" algn="ctr">
                        <a:lnSpc>
                          <a:spcPct val="107000"/>
                        </a:lnSpc>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Classmate’s</a:t>
                      </a:r>
                      <a:endParaRPr lang="en-US" sz="16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Selected Expression</a:t>
                      </a:r>
                      <a:endParaRPr lang="en-US" sz="16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Classmate’s Explanation for Why the Value is Negative</a:t>
                      </a:r>
                      <a:endParaRPr lang="en-US" sz="16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Initials</a:t>
                      </a:r>
                      <a:endParaRPr lang="en-US" sz="16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11607352"/>
                  </a:ext>
                </a:extLst>
              </a:tr>
              <a:tr h="1981901">
                <a:tc>
                  <a:txBody>
                    <a:bodyPr/>
                    <a:lstStyle/>
                    <a:p>
                      <a:pPr marL="0" marR="0">
                        <a:lnSpc>
                          <a:spcPct val="107000"/>
                        </a:lnSpc>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7000"/>
                        </a:lnSpc>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7000"/>
                        </a:lnSpc>
                        <a:spcBef>
                          <a:spcPts val="0"/>
                        </a:spcBef>
                        <a:spcAft>
                          <a:spcPts val="0"/>
                        </a:spcAft>
                      </a:pPr>
                      <a:r>
                        <a:rPr lang="en-US" sz="18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141244907"/>
                  </a:ext>
                </a:extLst>
              </a:tr>
            </a:tbl>
          </a:graphicData>
        </a:graphic>
      </p:graphicFrame>
      <p:sp>
        <p:nvSpPr>
          <p:cNvPr id="8" name="Google Shape;179;p5">
            <a:extLst>
              <a:ext uri="{FF2B5EF4-FFF2-40B4-BE49-F238E27FC236}">
                <a16:creationId xmlns:a16="http://schemas.microsoft.com/office/drawing/2014/main" xmlns="" id="{CC581D59-D8E7-B447-8EC9-3E02A5477FA8}"/>
              </a:ext>
            </a:extLst>
          </p:cNvPr>
          <p:cNvSpPr txBox="1"/>
          <p:nvPr/>
        </p:nvSpPr>
        <p:spPr>
          <a:xfrm>
            <a:off x="1331089" y="520393"/>
            <a:ext cx="9680488" cy="1938952"/>
          </a:xfrm>
          <a:prstGeom prst="rect">
            <a:avLst/>
          </a:prstGeom>
          <a:noFill/>
          <a:ln>
            <a:noFill/>
          </a:ln>
        </p:spPr>
        <p:txBody>
          <a:bodyPr spcFirstLastPara="1" wrap="square" lIns="91425" tIns="45700" rIns="91425" bIns="45700" anchor="t" anchorCtr="0">
            <a:spAutoFit/>
          </a:bodyPr>
          <a:lstStyle/>
          <a:p>
            <a:pPr marL="466725"/>
            <a:r>
              <a:rPr lang="en-US" sz="2400" dirty="0">
                <a:latin typeface="Verdana"/>
                <a:ea typeface="Verdana"/>
                <a:cs typeface="Verdana"/>
                <a:sym typeface="Verdana"/>
              </a:rPr>
              <a:t>Record their expression and explanation for why they chose it in the table. Then, have them initial that you recorded it correctly. You are the only person who should write in the first two columns of the table.</a:t>
            </a:r>
          </a:p>
          <a:p>
            <a:pPr marL="457200" indent="-457200">
              <a:buFont typeface="+mj-lt"/>
              <a:buAutoNum type="arabicPeriod" startAt="2"/>
            </a:pPr>
            <a:endParaRPr lang="en-US" sz="2400" dirty="0">
              <a:latin typeface="Verdana"/>
              <a:ea typeface="Verdana"/>
              <a:cs typeface="Verdana"/>
              <a:sym typeface="Verdana"/>
            </a:endParaRPr>
          </a:p>
        </p:txBody>
      </p:sp>
      <p:sp>
        <p:nvSpPr>
          <p:cNvPr id="7" name="Google Shape;125;g104476d1465_1_17"/>
          <p:cNvSpPr txBox="1"/>
          <p:nvPr/>
        </p:nvSpPr>
        <p:spPr>
          <a:xfrm>
            <a:off x="8715287"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288</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53513"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497602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8226"/>
            <a:ext cx="2731200" cy="6866100"/>
          </a:xfrm>
          <a:prstGeom prst="rect">
            <a:avLst/>
          </a:prstGeom>
          <a:solidFill>
            <a:srgbClr val="276C46"/>
          </a:solidFill>
          <a:ln w="9525" cap="flat" cmpd="sng">
            <a:no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5287"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288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3513"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7"/>
          <p:cNvSpPr/>
          <p:nvPr/>
        </p:nvSpPr>
        <p:spPr>
          <a:xfrm>
            <a:off x="-25478"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97" name="Google Shape;197;p7"/>
          <p:cNvSpPr txBox="1"/>
          <p:nvPr/>
        </p:nvSpPr>
        <p:spPr>
          <a:xfrm>
            <a:off x="1441063" y="60325"/>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6.12.2 Collaboration: Multiplying Multiple Integers</a:t>
            </a:r>
            <a:endParaRPr dirty="0"/>
          </a:p>
        </p:txBody>
      </p:sp>
      <p:pic>
        <p:nvPicPr>
          <p:cNvPr id="199" name="Google Shape;199;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91255" y="348271"/>
            <a:ext cx="749808" cy="749808"/>
          </a:xfrm>
          <a:prstGeom prst="rect">
            <a:avLst/>
          </a:prstGeom>
          <a:noFill/>
          <a:ln>
            <a:noFill/>
          </a:ln>
          <a:effectLst>
            <a:outerShdw blurRad="50800" dist="38100" dir="2700000" algn="tl" rotWithShape="0">
              <a:srgbClr val="000000">
                <a:alpha val="40000"/>
              </a:srgbClr>
            </a:outerShdw>
          </a:effectLst>
        </p:spPr>
      </p:pic>
      <p:sp>
        <p:nvSpPr>
          <p:cNvPr id="200" name="Google Shape;200;p7"/>
          <p:cNvSpPr txBox="1"/>
          <p:nvPr/>
        </p:nvSpPr>
        <p:spPr>
          <a:xfrm>
            <a:off x="1441063" y="1386025"/>
            <a:ext cx="9565906" cy="830956"/>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dirty="0">
                <a:latin typeface="Verdana"/>
                <a:ea typeface="Verdana"/>
                <a:cs typeface="Verdana"/>
                <a:sym typeface="Verdana"/>
              </a:rPr>
              <a:t>Work with your partner to find the product of each expression.</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E6241DB0-4B77-6442-B109-9B2692DDC985}"/>
                  </a:ext>
                </a:extLst>
              </p:cNvPr>
              <p:cNvGraphicFramePr>
                <a:graphicFrameLocks noGrp="1"/>
              </p:cNvGraphicFramePr>
              <p:nvPr>
                <p:extLst>
                  <p:ext uri="{D42A27DB-BD31-4B8C-83A1-F6EECF244321}">
                    <p14:modId xmlns:p14="http://schemas.microsoft.com/office/powerpoint/2010/main" val="3207270691"/>
                  </p:ext>
                </p:extLst>
              </p:nvPr>
            </p:nvGraphicFramePr>
            <p:xfrm>
              <a:off x="3129179" y="2306438"/>
              <a:ext cx="5933642" cy="4151237"/>
            </p:xfrm>
            <a:graphic>
              <a:graphicData uri="http://schemas.openxmlformats.org/drawingml/2006/table">
                <a:tbl>
                  <a:tblPr firstRow="1" firstCol="1" bandRow="1">
                    <a:tableStyleId>{5C22544A-7EE6-4342-B048-85BDC9FD1C3A}</a:tableStyleId>
                  </a:tblPr>
                  <a:tblGrid>
                    <a:gridCol w="1946564">
                      <a:extLst>
                        <a:ext uri="{9D8B030D-6E8A-4147-A177-3AD203B41FA5}">
                          <a16:colId xmlns:a16="http://schemas.microsoft.com/office/drawing/2014/main" xmlns="" val="1930266615"/>
                        </a:ext>
                      </a:extLst>
                    </a:gridCol>
                    <a:gridCol w="1993264">
                      <a:extLst>
                        <a:ext uri="{9D8B030D-6E8A-4147-A177-3AD203B41FA5}">
                          <a16:colId xmlns:a16="http://schemas.microsoft.com/office/drawing/2014/main" xmlns="" val="753753646"/>
                        </a:ext>
                      </a:extLst>
                    </a:gridCol>
                    <a:gridCol w="1993814">
                      <a:extLst>
                        <a:ext uri="{9D8B030D-6E8A-4147-A177-3AD203B41FA5}">
                          <a16:colId xmlns:a16="http://schemas.microsoft.com/office/drawing/2014/main" xmlns="" val="2254225061"/>
                        </a:ext>
                      </a:extLst>
                    </a:gridCol>
                  </a:tblGrid>
                  <a:tr h="1132155">
                    <a:tc>
                      <a:txBody>
                        <a:bodyPr/>
                        <a:lstStyle/>
                        <a:p>
                          <a:pPr marL="0" marR="0">
                            <a:lnSpc>
                              <a:spcPct val="107000"/>
                            </a:lnSpc>
                            <a:spcBef>
                              <a:spcPts val="0"/>
                            </a:spcBef>
                            <a:spcAft>
                              <a:spcPts val="0"/>
                            </a:spcAft>
                          </a:pPr>
                          <a:r>
                            <a:rPr lang="en-US" sz="16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      </a:t>
                          </a:r>
                          <a14:m>
                            <m:oMath xmlns:m="http://schemas.openxmlformats.org/officeDocument/2006/math">
                              <m:r>
                                <a:rPr lang="en-US" sz="1600" b="0">
                                  <a:solidFill>
                                    <a:schemeClr val="tx1"/>
                                  </a:solidFill>
                                  <a:effectLst/>
                                  <a:latin typeface="Cambria Math" panose="02040503050406030204" pitchFamily="18" charset="0"/>
                                </a:rPr>
                                <m:t>5(−9)</m:t>
                              </m:r>
                            </m:oMath>
                          </a14:m>
                          <a:endParaRPr lang="en-US" sz="14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59336" marR="5933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7000"/>
                            </a:lnSpc>
                            <a:spcBef>
                              <a:spcPts val="0"/>
                            </a:spcBef>
                            <a:spcAft>
                              <a:spcPts val="0"/>
                            </a:spcAft>
                          </a:pPr>
                          <a:r>
                            <a:rPr lang="en-US" sz="16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b.    </a:t>
                          </a:r>
                          <a14:m>
                            <m:oMath xmlns:m="http://schemas.openxmlformats.org/officeDocument/2006/math">
                              <m:r>
                                <a:rPr lang="en-US" sz="1600" b="0">
                                  <a:solidFill>
                                    <a:schemeClr val="tx1"/>
                                  </a:solidFill>
                                  <a:effectLst/>
                                  <a:latin typeface="Cambria Math" panose="02040503050406030204" pitchFamily="18" charset="0"/>
                                </a:rPr>
                                <m:t>−6(−4)</m:t>
                              </m:r>
                            </m:oMath>
                          </a14:m>
                          <a:endParaRPr lang="en-US" sz="14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59336" marR="5933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7000"/>
                            </a:lnSpc>
                            <a:spcBef>
                              <a:spcPts val="0"/>
                            </a:spcBef>
                            <a:spcAft>
                              <a:spcPts val="0"/>
                            </a:spcAft>
                          </a:pPr>
                          <a:r>
                            <a:rPr lang="en-US" sz="16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c.      </a:t>
                          </a:r>
                          <a14:m>
                            <m:oMath xmlns:m="http://schemas.openxmlformats.org/officeDocument/2006/math">
                              <m:r>
                                <a:rPr lang="en-US" sz="1600" b="0">
                                  <a:solidFill>
                                    <a:schemeClr val="tx1"/>
                                  </a:solidFill>
                                  <a:effectLst/>
                                  <a:latin typeface="Cambria Math" panose="02040503050406030204" pitchFamily="18" charset="0"/>
                                </a:rPr>
                                <m:t>0(−3)</m:t>
                              </m:r>
                            </m:oMath>
                          </a14:m>
                          <a:endParaRPr lang="en-US" sz="14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59336" marR="5933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72942127"/>
                      </a:ext>
                    </a:extLst>
                  </a:tr>
                  <a:tr h="1509541">
                    <a:tc>
                      <a:txBody>
                        <a:bodyPr/>
                        <a:lstStyle/>
                        <a:p>
                          <a:pPr marL="0" marR="0">
                            <a:lnSpc>
                              <a:spcPct val="107000"/>
                            </a:lnSpc>
                            <a:spcBef>
                              <a:spcPts val="0"/>
                            </a:spcBef>
                            <a:spcAft>
                              <a:spcPts val="0"/>
                            </a:spcAft>
                          </a:pPr>
                          <a:r>
                            <a:rPr lang="en-US" sz="16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d.  </a:t>
                          </a:r>
                          <a14:m>
                            <m:oMath xmlns:m="http://schemas.openxmlformats.org/officeDocument/2006/math">
                              <m:r>
                                <a:rPr lang="en-US" sz="1600" b="0">
                                  <a:solidFill>
                                    <a:schemeClr val="tx1"/>
                                  </a:solidFill>
                                  <a:effectLst/>
                                  <a:latin typeface="Cambria Math" panose="02040503050406030204" pitchFamily="18" charset="0"/>
                                </a:rPr>
                                <m:t>(−1)(−1)(3)</m:t>
                              </m:r>
                            </m:oMath>
                          </a14:m>
                          <a:endParaRPr lang="en-US" sz="14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59336" marR="5933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7000"/>
                            </a:lnSpc>
                            <a:spcBef>
                              <a:spcPts val="0"/>
                            </a:spcBef>
                            <a:spcAft>
                              <a:spcPts val="0"/>
                            </a:spcAft>
                          </a:pPr>
                          <a:r>
                            <a:rPr lang="en-US" sz="16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   </a:t>
                          </a:r>
                          <a14:m>
                            <m:oMath xmlns:m="http://schemas.openxmlformats.org/officeDocument/2006/math">
                              <m:r>
                                <a:rPr lang="en-US" sz="1600" b="0">
                                  <a:solidFill>
                                    <a:schemeClr val="tx1"/>
                                  </a:solidFill>
                                  <a:effectLst/>
                                  <a:latin typeface="Cambria Math" panose="02040503050406030204" pitchFamily="18" charset="0"/>
                                </a:rPr>
                                <m:t>4∙(−2)∙(5)</m:t>
                              </m:r>
                            </m:oMath>
                          </a14:m>
                          <a:endParaRPr lang="en-US" sz="14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59336" marR="5933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7000"/>
                            </a:lnSpc>
                            <a:spcBef>
                              <a:spcPts val="0"/>
                            </a:spcBef>
                            <a:spcAft>
                              <a:spcPts val="0"/>
                            </a:spcAft>
                          </a:pPr>
                          <a:r>
                            <a:rPr lang="en-US" sz="16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f. </a:t>
                          </a:r>
                          <a14:m>
                            <m:oMath xmlns:m="http://schemas.openxmlformats.org/officeDocument/2006/math">
                              <m:r>
                                <a:rPr lang="en-US" sz="1600" b="0">
                                  <a:solidFill>
                                    <a:schemeClr val="tx1"/>
                                  </a:solidFill>
                                  <a:effectLst/>
                                  <a:latin typeface="Cambria Math" panose="02040503050406030204" pitchFamily="18" charset="0"/>
                                </a:rPr>
                                <m:t>−2(−2)(−2)(−2)</m:t>
                              </m:r>
                            </m:oMath>
                          </a14:m>
                          <a:endParaRPr lang="en-US" sz="14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59336" marR="5933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64259235"/>
                      </a:ext>
                    </a:extLst>
                  </a:tr>
                  <a:tr h="1509541">
                    <a:tc gridSpan="3">
                      <a:txBody>
                        <a:bodyPr/>
                        <a:lstStyle/>
                        <a:p>
                          <a:pPr marL="1127760" marR="0">
                            <a:lnSpc>
                              <a:spcPct val="107000"/>
                            </a:lnSpc>
                            <a:spcBef>
                              <a:spcPts val="0"/>
                            </a:spcBef>
                            <a:spcAft>
                              <a:spcPts val="0"/>
                            </a:spcAft>
                          </a:pPr>
                          <a:r>
                            <a:rPr lang="en-US" sz="16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g.      </a:t>
                          </a:r>
                          <a14:m>
                            <m:oMath xmlns:m="http://schemas.openxmlformats.org/officeDocument/2006/math">
                              <m:r>
                                <a:rPr lang="en-US" sz="1600" b="0">
                                  <a:solidFill>
                                    <a:schemeClr val="tx1"/>
                                  </a:solidFill>
                                  <a:effectLst/>
                                  <a:latin typeface="Cambria Math" panose="02040503050406030204" pitchFamily="18" charset="0"/>
                                </a:rPr>
                                <m:t>(−1)×(−2)×3×(−2)×(−1)×2</m:t>
                              </m:r>
                            </m:oMath>
                          </a14:m>
                          <a:endParaRPr lang="en-US" sz="14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59336" marR="5933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3992798979"/>
                      </a:ext>
                    </a:extLst>
                  </a:tr>
                </a:tbl>
              </a:graphicData>
            </a:graphic>
          </p:graphicFrame>
        </mc:Choice>
        <mc:Fallback xmlns="">
          <p:graphicFrame>
            <p:nvGraphicFramePr>
              <p:cNvPr id="2" name="Table 1">
                <a:extLst>
                  <a:ext uri="{FF2B5EF4-FFF2-40B4-BE49-F238E27FC236}">
                    <a16:creationId xmlns:a16="http://schemas.microsoft.com/office/drawing/2014/main" id="{E6241DB0-4B77-6442-B109-9B2692DDC985}"/>
                  </a:ext>
                </a:extLst>
              </p:cNvPr>
              <p:cNvGraphicFramePr>
                <a:graphicFrameLocks noGrp="1"/>
              </p:cNvGraphicFramePr>
              <p:nvPr>
                <p:extLst>
                  <p:ext uri="{D42A27DB-BD31-4B8C-83A1-F6EECF244321}">
                    <p14:modId xmlns:p14="http://schemas.microsoft.com/office/powerpoint/2010/main" val="3207270691"/>
                  </p:ext>
                </p:extLst>
              </p:nvPr>
            </p:nvGraphicFramePr>
            <p:xfrm>
              <a:off x="1605179" y="2306437"/>
              <a:ext cx="5933642" cy="4151237"/>
            </p:xfrm>
            <a:graphic>
              <a:graphicData uri="http://schemas.openxmlformats.org/drawingml/2006/table">
                <a:tbl>
                  <a:tblPr firstRow="1" firstCol="1" bandRow="1">
                    <a:tableStyleId>{5C22544A-7EE6-4342-B048-85BDC9FD1C3A}</a:tableStyleId>
                  </a:tblPr>
                  <a:tblGrid>
                    <a:gridCol w="1946564">
                      <a:extLst>
                        <a:ext uri="{9D8B030D-6E8A-4147-A177-3AD203B41FA5}">
                          <a16:colId xmlns:a16="http://schemas.microsoft.com/office/drawing/2014/main" val="1930266615"/>
                        </a:ext>
                      </a:extLst>
                    </a:gridCol>
                    <a:gridCol w="1993264">
                      <a:extLst>
                        <a:ext uri="{9D8B030D-6E8A-4147-A177-3AD203B41FA5}">
                          <a16:colId xmlns:a16="http://schemas.microsoft.com/office/drawing/2014/main" val="753753646"/>
                        </a:ext>
                      </a:extLst>
                    </a:gridCol>
                    <a:gridCol w="1993814">
                      <a:extLst>
                        <a:ext uri="{9D8B030D-6E8A-4147-A177-3AD203B41FA5}">
                          <a16:colId xmlns:a16="http://schemas.microsoft.com/office/drawing/2014/main" val="2254225061"/>
                        </a:ext>
                      </a:extLst>
                    </a:gridCol>
                  </a:tblGrid>
                  <a:tr h="1132155">
                    <a:tc>
                      <a:txBody>
                        <a:bodyPr/>
                        <a:lstStyle/>
                        <a:p>
                          <a:endParaRPr lang="en-US"/>
                        </a:p>
                      </a:txBody>
                      <a:tcPr marL="59336" marR="5933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49" t="-6742" r="-204545" b="-269663"/>
                          </a:stretch>
                        </a:blipFill>
                      </a:tcPr>
                    </a:tc>
                    <a:tc>
                      <a:txBody>
                        <a:bodyPr/>
                        <a:lstStyle/>
                        <a:p>
                          <a:endParaRPr lang="en-US"/>
                        </a:p>
                      </a:txBody>
                      <a:tcPr marL="59336" marR="5933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8726" t="-6742" r="-100637" b="-269663"/>
                          </a:stretch>
                        </a:blipFill>
                      </a:tcPr>
                    </a:tc>
                    <a:tc>
                      <a:txBody>
                        <a:bodyPr/>
                        <a:lstStyle/>
                        <a:p>
                          <a:endParaRPr lang="en-US"/>
                        </a:p>
                      </a:txBody>
                      <a:tcPr marL="59336" marR="5933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98726" t="-6742" r="-637" b="-269663"/>
                          </a:stretch>
                        </a:blipFill>
                      </a:tcPr>
                    </a:tc>
                    <a:extLst>
                      <a:ext uri="{0D108BD9-81ED-4DB2-BD59-A6C34878D82A}">
                        <a16:rowId xmlns:a16="http://schemas.microsoft.com/office/drawing/2014/main" val="272942127"/>
                      </a:ext>
                    </a:extLst>
                  </a:tr>
                  <a:tr h="1509541">
                    <a:tc>
                      <a:txBody>
                        <a:bodyPr/>
                        <a:lstStyle/>
                        <a:p>
                          <a:endParaRPr lang="en-US"/>
                        </a:p>
                      </a:txBody>
                      <a:tcPr marL="59336" marR="5933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49" t="-79167" r="-204545" b="-100000"/>
                          </a:stretch>
                        </a:blipFill>
                      </a:tcPr>
                    </a:tc>
                    <a:tc>
                      <a:txBody>
                        <a:bodyPr/>
                        <a:lstStyle/>
                        <a:p>
                          <a:endParaRPr lang="en-US"/>
                        </a:p>
                      </a:txBody>
                      <a:tcPr marL="59336" marR="5933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98726" t="-79167" r="-100637" b="-100000"/>
                          </a:stretch>
                        </a:blipFill>
                      </a:tcPr>
                    </a:tc>
                    <a:tc>
                      <a:txBody>
                        <a:bodyPr/>
                        <a:lstStyle/>
                        <a:p>
                          <a:endParaRPr lang="en-US"/>
                        </a:p>
                      </a:txBody>
                      <a:tcPr marL="59336" marR="5933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98726" t="-79167" r="-637" b="-100000"/>
                          </a:stretch>
                        </a:blipFill>
                      </a:tcPr>
                    </a:tc>
                    <a:extLst>
                      <a:ext uri="{0D108BD9-81ED-4DB2-BD59-A6C34878D82A}">
                        <a16:rowId xmlns:a16="http://schemas.microsoft.com/office/drawing/2014/main" val="264259235"/>
                      </a:ext>
                    </a:extLst>
                  </a:tr>
                  <a:tr h="1509541">
                    <a:tc gridSpan="3">
                      <a:txBody>
                        <a:bodyPr/>
                        <a:lstStyle/>
                        <a:p>
                          <a:endParaRPr lang="en-US"/>
                        </a:p>
                      </a:txBody>
                      <a:tcPr marL="59336" marR="5933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14" t="-180672" r="-214" b="-840"/>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92798979"/>
                      </a:ext>
                    </a:extLst>
                  </a:tr>
                </a:tbl>
              </a:graphicData>
            </a:graphic>
          </p:graphicFrame>
        </mc:Fallback>
      </mc:AlternateContent>
      <p:sp>
        <p:nvSpPr>
          <p:cNvPr id="9" name="Google Shape;125;g104476d1465_1_17"/>
          <p:cNvSpPr txBox="1"/>
          <p:nvPr/>
        </p:nvSpPr>
        <p:spPr>
          <a:xfrm>
            <a:off x="8715287"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288</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53513"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09" name="Google Shape;209;p8"/>
          <p:cNvSpPr txBox="1"/>
          <p:nvPr/>
        </p:nvSpPr>
        <p:spPr>
          <a:xfrm>
            <a:off x="1319514" y="520394"/>
            <a:ext cx="9703638" cy="3416279"/>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400" dirty="0">
                <a:latin typeface="Verdana"/>
                <a:ea typeface="Verdana"/>
                <a:cs typeface="Verdana"/>
                <a:sym typeface="Verdana"/>
              </a:rPr>
              <a:t>In expressions d-g, more than two factors are being multiplied.</a:t>
            </a:r>
          </a:p>
          <a:p>
            <a:pPr marL="457200" indent="-457200">
              <a:buFont typeface="+mj-lt"/>
              <a:buAutoNum type="arabicPeriod" startAt="2"/>
            </a:pPr>
            <a:endParaRPr lang="en-US" sz="2400" dirty="0">
              <a:latin typeface="Verdana"/>
              <a:ea typeface="Verdana"/>
              <a:cs typeface="Verdana"/>
              <a:sym typeface="Verdana"/>
            </a:endParaRPr>
          </a:p>
          <a:p>
            <a:pPr marL="466725"/>
            <a:r>
              <a:rPr lang="en-US" sz="2400" dirty="0">
                <a:latin typeface="Verdana"/>
                <a:ea typeface="Verdana"/>
                <a:cs typeface="Verdana"/>
                <a:sym typeface="Verdana"/>
              </a:rPr>
              <a:t>Discuss with your partner how the rules you developed previously for multiplying two integers could be extended for multiplying more than two integers.</a:t>
            </a:r>
          </a:p>
          <a:p>
            <a:pPr marL="466725"/>
            <a:endParaRPr lang="en-US" sz="2400" dirty="0">
              <a:latin typeface="Verdana"/>
              <a:ea typeface="Verdana"/>
              <a:cs typeface="Verdana"/>
              <a:sym typeface="Verdana"/>
            </a:endParaRPr>
          </a:p>
          <a:p>
            <a:pPr marL="466725"/>
            <a:r>
              <a:rPr lang="en-US" sz="2400" dirty="0">
                <a:latin typeface="Verdana"/>
                <a:ea typeface="Verdana"/>
                <a:cs typeface="Verdana"/>
                <a:sym typeface="Verdana"/>
              </a:rPr>
              <a:t>Write at least one rule that would apply in this situation.</a:t>
            </a:r>
          </a:p>
          <a:p>
            <a:pPr marL="466725"/>
            <a:endParaRPr lang="en-US" sz="2400" dirty="0">
              <a:latin typeface="Verdana"/>
              <a:ea typeface="Verdana"/>
              <a:cs typeface="Verdana"/>
              <a:sym typeface="Verdana"/>
            </a:endParaRPr>
          </a:p>
        </p:txBody>
      </p:sp>
      <p:sp>
        <p:nvSpPr>
          <p:cNvPr id="6" name="Google Shape;125;g104476d1465_1_17"/>
          <p:cNvSpPr txBox="1"/>
          <p:nvPr/>
        </p:nvSpPr>
        <p:spPr>
          <a:xfrm>
            <a:off x="8715287"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288</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53513"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12"/>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47" name="Google Shape;247;p12"/>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3BEA6"/>
                </a:solidFill>
                <a:latin typeface="Verdana"/>
                <a:ea typeface="Verdana"/>
                <a:cs typeface="Verdana"/>
                <a:sym typeface="Verdana"/>
              </a:rPr>
              <a:t>Activity</a:t>
            </a:r>
            <a:endParaRPr sz="5100" b="1">
              <a:solidFill>
                <a:srgbClr val="33BEA6"/>
              </a:solidFill>
              <a:latin typeface="Verdana"/>
              <a:ea typeface="Verdana"/>
              <a:cs typeface="Verdana"/>
              <a:sym typeface="Verdana"/>
            </a:endParaRPr>
          </a:p>
        </p:txBody>
      </p:sp>
      <p:pic>
        <p:nvPicPr>
          <p:cNvPr id="249" name="Google Shape;249;p12" descr="Icon&#10;&#10;Description automatically generated"/>
          <p:cNvPicPr preferRelativeResize="0"/>
          <p:nvPr/>
        </p:nvPicPr>
        <p:blipFill rotWithShape="1">
          <a:blip r:embed="rId3">
            <a:alphaModFix/>
          </a:blip>
          <a:srcRect/>
          <a:stretch/>
        </p:blipFill>
        <p:spPr>
          <a:xfrm>
            <a:off x="5208903"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5287"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289</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3513"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3"/>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57" name="Google Shape;257;p13"/>
          <p:cNvSpPr txBox="1"/>
          <p:nvPr/>
        </p:nvSpPr>
        <p:spPr>
          <a:xfrm>
            <a:off x="1350807" y="-822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6.12.3 Activity: Integer War – Multiplication Edition </a:t>
            </a:r>
            <a:endParaRPr dirty="0"/>
          </a:p>
        </p:txBody>
      </p:sp>
      <p:pic>
        <p:nvPicPr>
          <p:cNvPr id="259" name="Google Shape;259;p13"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00999" y="279720"/>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260" name="Google Shape;260;p13"/>
              <p:cNvSpPr txBox="1"/>
              <p:nvPr/>
            </p:nvSpPr>
            <p:spPr>
              <a:xfrm>
                <a:off x="1350807" y="1386025"/>
                <a:ext cx="9746418" cy="4154943"/>
              </a:xfrm>
              <a:prstGeom prst="rect">
                <a:avLst/>
              </a:prstGeom>
              <a:noFill/>
              <a:ln>
                <a:noFill/>
              </a:ln>
            </p:spPr>
            <p:txBody>
              <a:bodyPr spcFirstLastPara="1" wrap="square" lIns="91425" tIns="45700" rIns="91425" bIns="45700" anchor="t" anchorCtr="0">
                <a:spAutoFit/>
              </a:bodyPr>
              <a:lstStyle/>
              <a:p>
                <a:pPr lvl="0"/>
                <a:r>
                  <a:rPr lang="en-US" sz="2200" b="1" dirty="0">
                    <a:latin typeface="Verdana"/>
                    <a:ea typeface="Verdana"/>
                    <a:cs typeface="Verdana"/>
                    <a:sym typeface="Verdana"/>
                  </a:rPr>
                  <a:t>Set Up:</a:t>
                </a:r>
              </a:p>
              <a:p>
                <a:pPr marL="342900" indent="-342900">
                  <a:buFont typeface="Arial" panose="020B0604020202020204" pitchFamily="34" charset="0"/>
                  <a:buChar char="•"/>
                </a:pPr>
                <a:r>
                  <a:rPr lang="en-US" sz="2200" dirty="0">
                    <a:latin typeface="Verdana"/>
                    <a:ea typeface="Verdana"/>
                    <a:cs typeface="Verdana"/>
                    <a:sym typeface="Verdana"/>
                  </a:rPr>
                  <a:t>Remove all jokers and face cards (Kings, Queens, and Jacks) from the deck.</a:t>
                </a:r>
              </a:p>
              <a:p>
                <a:pPr marL="342900" indent="-342900">
                  <a:buFont typeface="Arial" panose="020B0604020202020204" pitchFamily="34" charset="0"/>
                  <a:buChar char="•"/>
                </a:pPr>
                <a:r>
                  <a:rPr lang="en-US" sz="2200" dirty="0">
                    <a:latin typeface="Verdana"/>
                    <a:ea typeface="Verdana"/>
                    <a:cs typeface="Verdana"/>
                    <a:sym typeface="Verdana"/>
                  </a:rPr>
                  <a:t>With your partner, determine who is the dealer. The dealer deals the entire deck of cards to each player, face down.</a:t>
                </a:r>
              </a:p>
              <a:p>
                <a:pPr lvl="0"/>
                <a:endParaRPr lang="en-US" sz="2200" dirty="0">
                  <a:latin typeface="Verdana"/>
                  <a:ea typeface="Verdana"/>
                  <a:cs typeface="Verdana"/>
                  <a:sym typeface="Verdana"/>
                </a:endParaRPr>
              </a:p>
              <a:p>
                <a:pPr lvl="0"/>
                <a:r>
                  <a:rPr lang="en-US" sz="2200" b="1" dirty="0">
                    <a:latin typeface="Verdana"/>
                    <a:ea typeface="Verdana"/>
                    <a:cs typeface="Verdana"/>
                    <a:sym typeface="Verdana"/>
                  </a:rPr>
                  <a:t>Rules:</a:t>
                </a:r>
              </a:p>
              <a:p>
                <a:pPr marL="342900" indent="-342900">
                  <a:buFont typeface="Arial" panose="020B0604020202020204" pitchFamily="34" charset="0"/>
                  <a:buChar char="•"/>
                </a:pPr>
                <a:r>
                  <a:rPr lang="en-US" sz="2200" dirty="0">
                    <a:latin typeface="Verdana"/>
                    <a:ea typeface="Verdana"/>
                    <a:cs typeface="Verdana"/>
                    <a:sym typeface="Verdana"/>
                  </a:rPr>
                  <a:t>The black cards (Spades   and Clubs  ) represent positive values.</a:t>
                </a:r>
              </a:p>
              <a:p>
                <a:pPr marL="342900" indent="-342900">
                  <a:buFont typeface="Arial" panose="020B0604020202020204" pitchFamily="34" charset="0"/>
                  <a:buChar char="•"/>
                </a:pPr>
                <a:r>
                  <a:rPr lang="en-US" sz="2200" dirty="0">
                    <a:latin typeface="Verdana"/>
                    <a:ea typeface="Verdana"/>
                    <a:cs typeface="Verdana"/>
                    <a:sym typeface="Verdana"/>
                  </a:rPr>
                  <a:t>The red cards (Diamonds   and Hearts  ) represent negative values.</a:t>
                </a:r>
              </a:p>
              <a:p>
                <a:pPr marL="342900" indent="-342900">
                  <a:buFont typeface="Arial" panose="020B0604020202020204" pitchFamily="34" charset="0"/>
                  <a:buChar char="•"/>
                </a:pPr>
                <a:r>
                  <a:rPr lang="en-US" sz="2200" dirty="0">
                    <a:latin typeface="Verdana"/>
                    <a:ea typeface="Verdana"/>
                    <a:cs typeface="Verdana"/>
                    <a:sym typeface="Verdana"/>
                  </a:rPr>
                  <a:t>Aces represent either </a:t>
                </a:r>
                <a14:m>
                  <m:oMath xmlns:m="http://schemas.openxmlformats.org/officeDocument/2006/math">
                    <m:r>
                      <a:rPr lang="en-US" sz="2200" i="1" dirty="0">
                        <a:latin typeface="Cambria Math" panose="02040503050406030204" pitchFamily="18" charset="0"/>
                        <a:ea typeface="Verdana"/>
                        <a:cs typeface="Verdana"/>
                        <a:sym typeface="Verdana"/>
                      </a:rPr>
                      <m:t>1</m:t>
                    </m:r>
                  </m:oMath>
                </a14:m>
                <a:r>
                  <a:rPr lang="en-US" sz="2200" dirty="0">
                    <a:latin typeface="Verdana"/>
                    <a:ea typeface="Verdana"/>
                    <a:cs typeface="Verdana"/>
                    <a:sym typeface="Verdana"/>
                  </a:rPr>
                  <a:t> or </a:t>
                </a:r>
                <a14:m>
                  <m:oMath xmlns:m="http://schemas.openxmlformats.org/officeDocument/2006/math">
                    <m:r>
                      <a:rPr lang="en-US" sz="2200" i="1" dirty="0">
                        <a:latin typeface="Cambria Math" panose="02040503050406030204" pitchFamily="18" charset="0"/>
                        <a:ea typeface="Verdana"/>
                        <a:cs typeface="Verdana"/>
                        <a:sym typeface="Verdana"/>
                      </a:rPr>
                      <m:t>−1</m:t>
                    </m:r>
                  </m:oMath>
                </a14:m>
                <a:r>
                  <a:rPr lang="en-US" sz="2200" dirty="0">
                    <a:latin typeface="Verdana"/>
                    <a:ea typeface="Verdana"/>
                    <a:cs typeface="Verdana"/>
                    <a:sym typeface="Verdana"/>
                  </a:rPr>
                  <a:t>, while the other cards represent the positive or negative value indicated on the card.</a:t>
                </a:r>
              </a:p>
            </p:txBody>
          </p:sp>
        </mc:Choice>
        <mc:Fallback xmlns="">
          <p:sp>
            <p:nvSpPr>
              <p:cNvPr id="260" name="Google Shape;260;p13"/>
              <p:cNvSpPr txBox="1">
                <a:spLocks noRot="1" noChangeAspect="1" noMove="1" noResize="1" noEditPoints="1" noAdjustHandles="1" noChangeArrowheads="1" noChangeShapeType="1" noTextEdit="1"/>
              </p:cNvSpPr>
              <p:nvPr/>
            </p:nvSpPr>
            <p:spPr>
              <a:xfrm>
                <a:off x="1350807" y="1386025"/>
                <a:ext cx="9746418" cy="4154943"/>
              </a:xfrm>
              <a:prstGeom prst="rect">
                <a:avLst/>
              </a:prstGeom>
              <a:blipFill rotWithShape="0">
                <a:blip r:embed="rId4"/>
                <a:stretch>
                  <a:fillRect l="-814" t="-733" r="-1189" b="-2199"/>
                </a:stretch>
              </a:blipFill>
              <a:ln>
                <a:noFill/>
              </a:ln>
            </p:spPr>
            <p:txBody>
              <a:bodyPr/>
              <a:lstStyle/>
              <a:p>
                <a:r>
                  <a:rPr lang="en-US">
                    <a:noFill/>
                  </a:rPr>
                  <a:t> </a:t>
                </a:r>
              </a:p>
            </p:txBody>
          </p:sp>
        </mc:Fallback>
      </mc:AlternateContent>
      <p:pic>
        <p:nvPicPr>
          <p:cNvPr id="6" name="Picture 5">
            <a:extLst>
              <a:ext uri="{FF2B5EF4-FFF2-40B4-BE49-F238E27FC236}">
                <a16:creationId xmlns:a16="http://schemas.microsoft.com/office/drawing/2014/main" xmlns="" id="{7771DA84-1C1F-1A4F-8743-567682933EA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258857" y="3851910"/>
            <a:ext cx="203200" cy="234462"/>
          </a:xfrm>
          <a:prstGeom prst="rect">
            <a:avLst/>
          </a:prstGeom>
        </p:spPr>
      </p:pic>
      <p:pic>
        <p:nvPicPr>
          <p:cNvPr id="8" name="Picture 7" descr="Shape&#10;&#10;Description automatically generated with medium confidence">
            <a:extLst>
              <a:ext uri="{FF2B5EF4-FFF2-40B4-BE49-F238E27FC236}">
                <a16:creationId xmlns:a16="http://schemas.microsoft.com/office/drawing/2014/main" xmlns="" id="{3248A65F-4E2D-7E40-86F6-B843F3BA9EB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948637" y="3851910"/>
            <a:ext cx="208411" cy="234462"/>
          </a:xfrm>
          <a:prstGeom prst="rect">
            <a:avLst/>
          </a:prstGeom>
        </p:spPr>
      </p:pic>
      <p:pic>
        <p:nvPicPr>
          <p:cNvPr id="10" name="Picture 9" descr="Icon&#10;&#10;Description automatically generated with medium confidence">
            <a:extLst>
              <a:ext uri="{FF2B5EF4-FFF2-40B4-BE49-F238E27FC236}">
                <a16:creationId xmlns:a16="http://schemas.microsoft.com/office/drawing/2014/main" xmlns="" id="{81E7AE83-18C0-0F49-8B0F-E0FEE9C32B97}"/>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360457" y="4187871"/>
            <a:ext cx="228600" cy="241300"/>
          </a:xfrm>
          <a:prstGeom prst="rect">
            <a:avLst/>
          </a:prstGeom>
        </p:spPr>
      </p:pic>
      <p:pic>
        <p:nvPicPr>
          <p:cNvPr id="12" name="Picture 11" descr="A red square with a black background&#10;&#10;Description automatically generated with low confidence">
            <a:extLst>
              <a:ext uri="{FF2B5EF4-FFF2-40B4-BE49-F238E27FC236}">
                <a16:creationId xmlns:a16="http://schemas.microsoft.com/office/drawing/2014/main" xmlns="" id="{C0DFCD68-D24D-D146-B5B5-06CE851158D7}"/>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7157048" y="4187871"/>
            <a:ext cx="228600" cy="228600"/>
          </a:xfrm>
          <a:prstGeom prst="rect">
            <a:avLst/>
          </a:prstGeom>
        </p:spPr>
      </p:pic>
      <p:sp>
        <p:nvSpPr>
          <p:cNvPr id="13" name="Google Shape;125;g104476d1465_1_17"/>
          <p:cNvSpPr txBox="1"/>
          <p:nvPr/>
        </p:nvSpPr>
        <p:spPr>
          <a:xfrm>
            <a:off x="8715287"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289</a:t>
            </a:r>
            <a:endParaRPr i="1" dirty="0">
              <a:latin typeface="Calibri"/>
              <a:ea typeface="Calibri"/>
              <a:cs typeface="Calibri"/>
              <a:sym typeface="Calibri"/>
            </a:endParaRPr>
          </a:p>
        </p:txBody>
      </p:sp>
      <p:pic>
        <p:nvPicPr>
          <p:cNvPr id="14" name="Google Shape;126;g104476d1465_1_17"/>
          <p:cNvPicPr preferRelativeResize="0"/>
          <p:nvPr/>
        </p:nvPicPr>
        <p:blipFill rotWithShape="1">
          <a:blip r:embed="rId9" cstate="screen">
            <a:alphaModFix/>
            <a:extLst>
              <a:ext uri="{28A0092B-C50C-407E-A947-70E740481C1C}">
                <a14:useLocalDpi xmlns:a14="http://schemas.microsoft.com/office/drawing/2010/main"/>
              </a:ext>
            </a:extLst>
          </a:blip>
          <a:srcRect/>
          <a:stretch/>
        </p:blipFill>
        <p:spPr>
          <a:xfrm>
            <a:off x="11453513"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09" name="Google Shape;209;p8"/>
          <p:cNvSpPr txBox="1"/>
          <p:nvPr/>
        </p:nvSpPr>
        <p:spPr>
          <a:xfrm>
            <a:off x="1250066" y="520393"/>
            <a:ext cx="9842534" cy="5109051"/>
          </a:xfrm>
          <a:prstGeom prst="rect">
            <a:avLst/>
          </a:prstGeom>
          <a:noFill/>
          <a:ln>
            <a:noFill/>
          </a:ln>
        </p:spPr>
        <p:txBody>
          <a:bodyPr spcFirstLastPara="1" wrap="square" lIns="91425" tIns="45700" rIns="91425" bIns="45700" anchor="t" anchorCtr="0">
            <a:spAutoFit/>
          </a:bodyPr>
          <a:lstStyle/>
          <a:p>
            <a:r>
              <a:rPr lang="en-US" sz="2400" b="1" dirty="0">
                <a:latin typeface="Verdana"/>
                <a:ea typeface="Verdana"/>
                <a:cs typeface="Verdana"/>
                <a:sym typeface="Verdana"/>
              </a:rPr>
              <a:t>How to Play:</a:t>
            </a:r>
          </a:p>
          <a:p>
            <a:pPr marL="342900" indent="-342900">
              <a:buFont typeface="Arial" panose="020B0604020202020204" pitchFamily="34" charset="0"/>
              <a:buChar char="•"/>
            </a:pPr>
            <a:r>
              <a:rPr lang="en-US" sz="2400" dirty="0">
                <a:latin typeface="Verdana"/>
                <a:ea typeface="Verdana"/>
                <a:cs typeface="Verdana"/>
                <a:sym typeface="Verdana"/>
              </a:rPr>
              <a:t>To begin, each player will flip over one card from their deck and place it in the center.</a:t>
            </a:r>
          </a:p>
          <a:p>
            <a:pPr marL="342900" indent="-342900">
              <a:buFont typeface="Arial" panose="020B0604020202020204" pitchFamily="34" charset="0"/>
              <a:buChar char="•"/>
            </a:pPr>
            <a:r>
              <a:rPr lang="en-US" sz="2400" dirty="0">
                <a:latin typeface="Verdana"/>
                <a:ea typeface="Verdana"/>
                <a:cs typeface="Verdana"/>
                <a:sym typeface="Verdana"/>
              </a:rPr>
              <a:t>The first player who figures out the product of the two integers keeps both cards and adds them to the bottom of their stack.</a:t>
            </a:r>
          </a:p>
          <a:p>
            <a:pPr marL="922338" lvl="3" indent="-455613">
              <a:buFont typeface="Arial" panose="020B0604020202020204" pitchFamily="34" charset="0"/>
              <a:buChar char="•"/>
            </a:pPr>
            <a:r>
              <a:rPr lang="en-US" sz="2400" dirty="0">
                <a:latin typeface="Verdana"/>
                <a:ea typeface="Verdana"/>
                <a:cs typeface="Verdana"/>
                <a:sym typeface="Verdana"/>
              </a:rPr>
              <a:t>NOTE: If a player says an incorrect product, the other player responds for a chance to win the hand before the first player can change their answer.</a:t>
            </a:r>
          </a:p>
          <a:p>
            <a:pPr marL="466725" lvl="3" indent="-457200">
              <a:buFont typeface="Arial" panose="020B0604020202020204" pitchFamily="34" charset="0"/>
              <a:buChar char="•"/>
            </a:pPr>
            <a:r>
              <a:rPr lang="en-US" sz="2400" dirty="0">
                <a:latin typeface="Verdana"/>
                <a:ea typeface="Verdana"/>
                <a:cs typeface="Verdana"/>
                <a:sym typeface="Verdana"/>
              </a:rPr>
              <a:t>Repeat this process until time is called or until one player has all of the cards in the deck.</a:t>
            </a:r>
          </a:p>
          <a:p>
            <a:pPr marL="922338" lvl="3" indent="-455613">
              <a:buFont typeface="Arial" panose="020B0604020202020204" pitchFamily="34" charset="0"/>
              <a:buChar char="•"/>
            </a:pPr>
            <a:endParaRPr lang="en-US" sz="2400" dirty="0">
              <a:latin typeface="Verdana"/>
              <a:ea typeface="Verdana"/>
              <a:cs typeface="Verdana"/>
              <a:sym typeface="Verdana"/>
            </a:endParaRPr>
          </a:p>
          <a:p>
            <a:pPr marL="342900" indent="-342900">
              <a:buFont typeface="Arial" panose="020B0604020202020204" pitchFamily="34" charset="0"/>
              <a:buChar char="•"/>
            </a:pPr>
            <a:endParaRPr lang="en-US" sz="2400" dirty="0">
              <a:latin typeface="Verdana"/>
              <a:ea typeface="Verdana"/>
              <a:cs typeface="Verdana"/>
              <a:sym typeface="Verdana"/>
            </a:endParaRPr>
          </a:p>
          <a:p>
            <a:pPr marL="342900" indent="-342900">
              <a:buFont typeface="Arial" panose="020B0604020202020204" pitchFamily="34" charset="0"/>
              <a:buChar char="•"/>
            </a:pPr>
            <a:endParaRPr b="1" dirty="0"/>
          </a:p>
        </p:txBody>
      </p:sp>
      <p:sp>
        <p:nvSpPr>
          <p:cNvPr id="6" name="Google Shape;125;g104476d1465_1_17"/>
          <p:cNvSpPr txBox="1"/>
          <p:nvPr/>
        </p:nvSpPr>
        <p:spPr>
          <a:xfrm>
            <a:off x="8715287"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289</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53513"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95208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1"/>
          <p:cNvSpPr/>
          <p:nvPr/>
        </p:nvSpPr>
        <p:spPr>
          <a:xfrm>
            <a:off x="0" y="-8226"/>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37" name="Google Shape;337;p21"/>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pic>
        <p:nvPicPr>
          <p:cNvPr id="339" name="Google Shape;339;p21" descr="Icon&#10;&#10;Description automatically generated"/>
          <p:cNvPicPr preferRelativeResize="0"/>
          <p:nvPr/>
        </p:nvPicPr>
        <p:blipFill rotWithShape="1">
          <a:blip r:embed="rId3">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5287"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289</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3513"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22"/>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47" name="Google Shape;347;p22"/>
          <p:cNvSpPr txBox="1"/>
          <p:nvPr/>
        </p:nvSpPr>
        <p:spPr>
          <a:xfrm>
            <a:off x="1453802" y="83688"/>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54B5D1"/>
                </a:solidFill>
                <a:latin typeface="Verdana"/>
                <a:ea typeface="Verdana"/>
                <a:cs typeface="Verdana"/>
                <a:sym typeface="Verdana"/>
              </a:rPr>
              <a:t>6.12.4 Guided Practice: Finding Products or Quotients</a:t>
            </a:r>
            <a:endParaRPr dirty="0"/>
          </a:p>
        </p:txBody>
      </p:sp>
      <p:pic>
        <p:nvPicPr>
          <p:cNvPr id="349" name="Google Shape;349;p22"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03994" y="249714"/>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350" name="Google Shape;350;p22"/>
              <p:cNvSpPr txBox="1"/>
              <p:nvPr/>
            </p:nvSpPr>
            <p:spPr>
              <a:xfrm>
                <a:off x="2060448" y="1386025"/>
                <a:ext cx="8327136" cy="4310242"/>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dirty="0">
                    <a:latin typeface="Verdana"/>
                    <a:ea typeface="Verdana"/>
                    <a:cs typeface="Verdana"/>
                    <a:sym typeface="Verdana"/>
                  </a:rPr>
                  <a:t>Find each product or quotient.</a:t>
                </a:r>
              </a:p>
              <a:p>
                <a:pPr marL="457200" indent="-457200">
                  <a:buFont typeface="+mj-lt"/>
                  <a:buAutoNum type="arabicPeriod"/>
                </a:pPr>
                <a:endParaRPr lang="en-US" sz="2400" dirty="0">
                  <a:latin typeface="Verdana"/>
                  <a:ea typeface="Verdana"/>
                  <a:cs typeface="Verdana"/>
                  <a:sym typeface="Verdana"/>
                </a:endParaRPr>
              </a:p>
              <a:p>
                <a:pPr marL="922338"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sym typeface="Verdana"/>
                  </a:rPr>
                  <a:t> </a:t>
                </a:r>
                <a14:m>
                  <m:oMath xmlns:m="http://schemas.openxmlformats.org/officeDocument/2006/math">
                    <m:r>
                      <a:rPr lang="en-US" sz="2400" i="1">
                        <a:latin typeface="Cambria Math" panose="02040503050406030204" pitchFamily="18" charset="0"/>
                        <a:ea typeface="Verdana"/>
                        <a:cs typeface="Verdana"/>
                        <a:sym typeface="Verdana"/>
                      </a:rPr>
                      <m:t>10 </m:t>
                    </m:r>
                    <m:r>
                      <a:rPr lang="en-US" sz="2400" i="1">
                        <a:latin typeface="Cambria Math" panose="02040503050406030204" pitchFamily="18" charset="0"/>
                        <a:ea typeface="Cambria Math" panose="02040503050406030204" pitchFamily="18" charset="0"/>
                        <a:cs typeface="Verdana"/>
                        <a:sym typeface="Verdana"/>
                      </a:rPr>
                      <m:t>×</m:t>
                    </m:r>
                    <m:d>
                      <m:dPr>
                        <m:ctrlPr>
                          <a:rPr lang="en-US" sz="2400" i="1">
                            <a:latin typeface="Cambria Math" charset="0"/>
                            <a:ea typeface="Cambria Math" panose="02040503050406030204" pitchFamily="18" charset="0"/>
                            <a:cs typeface="Verdana"/>
                            <a:sym typeface="Verdana"/>
                          </a:rPr>
                        </m:ctrlPr>
                      </m:dPr>
                      <m:e>
                        <m:r>
                          <a:rPr lang="en-US" sz="2400" i="1">
                            <a:latin typeface="Cambria Math" panose="02040503050406030204" pitchFamily="18" charset="0"/>
                            <a:ea typeface="Cambria Math" panose="02040503050406030204" pitchFamily="18" charset="0"/>
                            <a:cs typeface="Verdana"/>
                            <a:sym typeface="Verdana"/>
                          </a:rPr>
                          <m:t>−65</m:t>
                        </m:r>
                      </m:e>
                    </m:d>
                  </m:oMath>
                </a14:m>
                <a:r>
                  <a:rPr lang="en-US" sz="2400" dirty="0">
                    <a:latin typeface="Verdana" panose="020B0604030504040204" pitchFamily="34" charset="0"/>
                    <a:ea typeface="Verdana" panose="020B0604030504040204" pitchFamily="34" charset="0"/>
                    <a:cs typeface="Verdana" panose="020B0604030504040204" pitchFamily="34" charset="0"/>
                    <a:sym typeface="Verdana"/>
                  </a:rPr>
                  <a:t>                     b.   </a:t>
                </a:r>
                <a14:m>
                  <m:oMath xmlns:m="http://schemas.openxmlformats.org/officeDocument/2006/math">
                    <m:r>
                      <a:rPr lang="en-US" sz="2400" i="1">
                        <a:latin typeface="Cambria Math" panose="02040503050406030204" pitchFamily="18" charset="0"/>
                        <a:ea typeface="Verdana"/>
                        <a:cs typeface="Verdana"/>
                        <a:sym typeface="Verdana"/>
                      </a:rPr>
                      <m:t>−19</m:t>
                    </m:r>
                    <m:r>
                      <a:rPr lang="en-US" sz="2400" i="1">
                        <a:latin typeface="Cambria Math" panose="02040503050406030204" pitchFamily="18" charset="0"/>
                        <a:ea typeface="Cambria Math" panose="02040503050406030204" pitchFamily="18" charset="0"/>
                        <a:cs typeface="Verdana"/>
                        <a:sym typeface="Verdana"/>
                      </a:rPr>
                      <m:t>×99</m:t>
                    </m:r>
                  </m:oMath>
                </a14:m>
                <a:endParaRPr lang="en-US" sz="2400" dirty="0">
                  <a:latin typeface="Verdana" panose="020B0604030504040204" pitchFamily="34" charset="0"/>
                  <a:ea typeface="Verdana" panose="020B0604030504040204" pitchFamily="34" charset="0"/>
                  <a:cs typeface="Verdana" panose="020B0604030504040204" pitchFamily="34" charset="0"/>
                  <a:sym typeface="Verdana"/>
                </a:endParaRPr>
              </a:p>
              <a:p>
                <a:pPr marL="457200" indent="-457200">
                  <a:buFont typeface="+mj-lt"/>
                  <a:buAutoNum type="alphaLcPeriod"/>
                </a:pPr>
                <a:endParaRPr lang="en-US" sz="2400" dirty="0">
                  <a:latin typeface="Verdana"/>
                  <a:ea typeface="Verdana"/>
                  <a:cs typeface="Verdana"/>
                  <a:sym typeface="Verdana"/>
                </a:endParaRPr>
              </a:p>
              <a:p>
                <a:pPr lvl="0"/>
                <a:endParaRPr lang="en-US" sz="2400" dirty="0">
                  <a:latin typeface="Verdana"/>
                  <a:ea typeface="Verdana"/>
                  <a:cs typeface="Verdana"/>
                  <a:sym typeface="Verdana"/>
                </a:endParaRPr>
              </a:p>
              <a:p>
                <a:pPr marL="457200" indent="-457200">
                  <a:buFont typeface="+mj-lt"/>
                  <a:buAutoNum type="alphaLcPeriod"/>
                </a:pPr>
                <a:endParaRPr lang="en-US" sz="2400" dirty="0">
                  <a:latin typeface="Verdana"/>
                  <a:ea typeface="Verdana"/>
                  <a:cs typeface="Verdana"/>
                  <a:sym typeface="Verdana"/>
                </a:endParaRPr>
              </a:p>
              <a:p>
                <a:pPr marL="922338" indent="-455613">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sym typeface="Verdana"/>
                  </a:rPr>
                  <a:t> </a:t>
                </a:r>
                <a14:m>
                  <m:oMath xmlns:m="http://schemas.openxmlformats.org/officeDocument/2006/math">
                    <m:r>
                      <a:rPr lang="en-US" sz="2400" i="1">
                        <a:latin typeface="Cambria Math" panose="02040503050406030204" pitchFamily="18" charset="0"/>
                        <a:ea typeface="Verdana"/>
                        <a:cs typeface="Verdana"/>
                        <a:sym typeface="Verdana"/>
                      </a:rPr>
                      <m:t>−812</m:t>
                    </m:r>
                    <m:r>
                      <a:rPr lang="en-US" sz="2400" i="1">
                        <a:latin typeface="Cambria Math" panose="02040503050406030204" pitchFamily="18" charset="0"/>
                        <a:ea typeface="Cambria Math" panose="02040503050406030204" pitchFamily="18" charset="0"/>
                        <a:cs typeface="Verdana"/>
                        <a:sym typeface="Verdana"/>
                      </a:rPr>
                      <m:t>÷(−7)</m:t>
                    </m:r>
                  </m:oMath>
                </a14:m>
                <a:r>
                  <a:rPr lang="en-US" sz="2400" dirty="0">
                    <a:latin typeface="Verdana" panose="020B0604030504040204" pitchFamily="34" charset="0"/>
                    <a:ea typeface="Verdana" panose="020B0604030504040204" pitchFamily="34" charset="0"/>
                    <a:cs typeface="Verdana" panose="020B0604030504040204" pitchFamily="34" charset="0"/>
                    <a:sym typeface="Verdana"/>
                  </a:rPr>
                  <a:t>                  d.    </a:t>
                </a:r>
                <a14:m>
                  <m:oMath xmlns:m="http://schemas.openxmlformats.org/officeDocument/2006/math">
                    <m:f>
                      <m:fPr>
                        <m:ctrlPr>
                          <a:rPr lang="en-US" sz="2400" i="1">
                            <a:latin typeface="Cambria Math" charset="0"/>
                            <a:ea typeface="Verdana"/>
                            <a:cs typeface="Verdana"/>
                            <a:sym typeface="Verdana"/>
                          </a:rPr>
                        </m:ctrlPr>
                      </m:fPr>
                      <m:num>
                        <m:r>
                          <a:rPr lang="en-US" sz="2400" i="1">
                            <a:latin typeface="Cambria Math" panose="02040503050406030204" pitchFamily="18" charset="0"/>
                            <a:ea typeface="Verdana"/>
                            <a:cs typeface="Verdana"/>
                            <a:sym typeface="Verdana"/>
                          </a:rPr>
                          <m:t>208</m:t>
                        </m:r>
                      </m:num>
                      <m:den>
                        <m:r>
                          <a:rPr lang="en-US" sz="2400" i="1">
                            <a:latin typeface="Cambria Math" panose="02040503050406030204" pitchFamily="18" charset="0"/>
                            <a:ea typeface="Verdana"/>
                            <a:cs typeface="Verdana"/>
                            <a:sym typeface="Verdana"/>
                          </a:rPr>
                          <m:t>−16</m:t>
                        </m:r>
                      </m:den>
                    </m:f>
                  </m:oMath>
                </a14:m>
                <a:endParaRPr lang="en-US" sz="2400" dirty="0">
                  <a:latin typeface="Verdana" panose="020B0604030504040204" pitchFamily="34" charset="0"/>
                  <a:ea typeface="Verdana" panose="020B0604030504040204" pitchFamily="34" charset="0"/>
                  <a:cs typeface="Verdana" panose="020B0604030504040204" pitchFamily="34" charset="0"/>
                  <a:sym typeface="Verdana"/>
                </a:endParaRPr>
              </a:p>
              <a:p>
                <a:pPr marL="466725" indent="-466725">
                  <a:buFont typeface="+mj-lt"/>
                  <a:buAutoNum type="alphaLcPeriod" startAt="3"/>
                </a:pPr>
                <a:endParaRPr lang="en-US" sz="2400" dirty="0">
                  <a:latin typeface="Verdana"/>
                  <a:ea typeface="Verdana"/>
                  <a:cs typeface="Verdana"/>
                  <a:sym typeface="Verdana"/>
                </a:endParaRPr>
              </a:p>
              <a:p>
                <a:pPr marL="466725" indent="-466725">
                  <a:buFont typeface="+mj-lt"/>
                  <a:buAutoNum type="alphaLcPeriod" startAt="3"/>
                </a:pPr>
                <a:endParaRPr lang="en-US" sz="2400" dirty="0">
                  <a:latin typeface="Verdana"/>
                  <a:ea typeface="Verdana"/>
                  <a:cs typeface="Verdana"/>
                  <a:sym typeface="Verdana"/>
                </a:endParaRPr>
              </a:p>
              <a:p>
                <a:pPr marL="466725" indent="-466725">
                  <a:buFont typeface="+mj-lt"/>
                  <a:buAutoNum type="alphaLcPeriod" startAt="3"/>
                </a:pPr>
                <a:endParaRPr lang="en-US" sz="2400" dirty="0">
                  <a:latin typeface="Verdana"/>
                  <a:ea typeface="Verdana"/>
                  <a:cs typeface="Verdana"/>
                  <a:sym typeface="Verdana"/>
                </a:endParaRPr>
              </a:p>
              <a:p>
                <a:pPr marL="922338" indent="-455613">
                  <a:buFont typeface="+mj-lt"/>
                  <a:buAutoNum type="alphaLcPeriod" startAt="5"/>
                </a:pPr>
                <a:r>
                  <a:rPr lang="en-US" sz="2400" dirty="0">
                    <a:latin typeface="Verdana" panose="020B0604030504040204" pitchFamily="34" charset="0"/>
                    <a:ea typeface="Verdana" panose="020B0604030504040204" pitchFamily="34" charset="0"/>
                    <a:cs typeface="Verdana" panose="020B0604030504040204" pitchFamily="34" charset="0"/>
                    <a:sym typeface="Verdana"/>
                  </a:rPr>
                  <a:t> </a:t>
                </a:r>
                <a14:m>
                  <m:oMath xmlns:m="http://schemas.openxmlformats.org/officeDocument/2006/math">
                    <m:r>
                      <a:rPr lang="en-US" sz="2400" i="1">
                        <a:latin typeface="Cambria Math" panose="02040503050406030204" pitchFamily="18" charset="0"/>
                        <a:ea typeface="Verdana"/>
                        <a:cs typeface="Verdana"/>
                        <a:sym typeface="Verdana"/>
                      </a:rPr>
                      <m:t>−125</m:t>
                    </m:r>
                    <m:r>
                      <a:rPr lang="en-US" sz="2400" i="1">
                        <a:latin typeface="Cambria Math" panose="02040503050406030204" pitchFamily="18" charset="0"/>
                        <a:ea typeface="Cambria Math" panose="02040503050406030204" pitchFamily="18" charset="0"/>
                        <a:cs typeface="Verdana"/>
                        <a:sym typeface="Verdana"/>
                      </a:rPr>
                      <m:t>÷(−5)</m:t>
                    </m:r>
                  </m:oMath>
                </a14:m>
                <a:r>
                  <a:rPr lang="en-US" sz="2400" dirty="0">
                    <a:latin typeface="Verdana" panose="020B0604030504040204" pitchFamily="34" charset="0"/>
                    <a:ea typeface="Verdana" panose="020B0604030504040204" pitchFamily="34" charset="0"/>
                    <a:cs typeface="Verdana" panose="020B0604030504040204" pitchFamily="34" charset="0"/>
                    <a:sym typeface="Verdana"/>
                  </a:rPr>
                  <a:t>                  f.   </a:t>
                </a:r>
                <a14:m>
                  <m:oMath xmlns:m="http://schemas.openxmlformats.org/officeDocument/2006/math">
                    <m:r>
                      <a:rPr lang="en-US" sz="2400" i="1">
                        <a:latin typeface="Cambria Math" panose="02040503050406030204" pitchFamily="18" charset="0"/>
                        <a:ea typeface="Verdana"/>
                        <a:cs typeface="Verdana"/>
                        <a:sym typeface="Verdana"/>
                      </a:rPr>
                      <m:t>(−21)(−16)</m:t>
                    </m:r>
                  </m:oMath>
                </a14:m>
                <a:endParaRPr lang="en-US" sz="2400" dirty="0">
                  <a:latin typeface="Verdana" panose="020B0604030504040204" pitchFamily="34" charset="0"/>
                  <a:ea typeface="Verdana" panose="020B0604030504040204" pitchFamily="34" charset="0"/>
                  <a:cs typeface="Verdana" panose="020B0604030504040204" pitchFamily="34" charset="0"/>
                  <a:sym typeface="Verdana"/>
                </a:endParaRPr>
              </a:p>
            </p:txBody>
          </p:sp>
        </mc:Choice>
        <mc:Fallback xmlns="">
          <p:sp>
            <p:nvSpPr>
              <p:cNvPr id="350" name="Google Shape;350;p22"/>
              <p:cNvSpPr txBox="1">
                <a:spLocks noRot="1" noChangeAspect="1" noMove="1" noResize="1" noEditPoints="1" noAdjustHandles="1" noChangeArrowheads="1" noChangeShapeType="1" noTextEdit="1"/>
              </p:cNvSpPr>
              <p:nvPr/>
            </p:nvSpPr>
            <p:spPr>
              <a:xfrm>
                <a:off x="536448" y="1386025"/>
                <a:ext cx="8327136" cy="4310242"/>
              </a:xfrm>
              <a:prstGeom prst="rect">
                <a:avLst/>
              </a:prstGeom>
              <a:blipFill>
                <a:blip r:embed="rId5"/>
                <a:stretch>
                  <a:fillRect l="-1220" t="-880" b="-2346"/>
                </a:stretch>
              </a:blipFill>
              <a:ln>
                <a:noFill/>
              </a:ln>
            </p:spPr>
            <p:txBody>
              <a:bodyPr/>
              <a:lstStyle/>
              <a:p>
                <a:r>
                  <a:rPr lang="en-US">
                    <a:noFill/>
                  </a:rPr>
                  <a:t> </a:t>
                </a:r>
              </a:p>
            </p:txBody>
          </p:sp>
        </mc:Fallback>
      </mc:AlternateContent>
      <p:sp>
        <p:nvSpPr>
          <p:cNvPr id="8" name="Google Shape;125;g104476d1465_1_17"/>
          <p:cNvSpPr txBox="1"/>
          <p:nvPr/>
        </p:nvSpPr>
        <p:spPr>
          <a:xfrm>
            <a:off x="8715287"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289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53513"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30"/>
          <p:cNvSpPr/>
          <p:nvPr/>
        </p:nvSpPr>
        <p:spPr>
          <a:xfrm>
            <a:off x="0" y="-8226"/>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27" name="Google Shape;427;p30"/>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428" name="Google Shape;428;p30"/>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5287"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290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3513"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31"/>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437" name="Google Shape;437;p31"/>
          <p:cNvSpPr txBox="1"/>
          <p:nvPr/>
        </p:nvSpPr>
        <p:spPr>
          <a:xfrm>
            <a:off x="1455056" y="137435"/>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dirty="0">
                <a:solidFill>
                  <a:srgbClr val="E24E5F"/>
                </a:solidFill>
                <a:latin typeface="Verdana"/>
                <a:ea typeface="Verdana"/>
                <a:cs typeface="Verdana"/>
                <a:sym typeface="Verdana"/>
              </a:rPr>
              <a:t>6.12.5 Your Turn!</a:t>
            </a:r>
            <a:endParaRPr dirty="0"/>
          </a:p>
        </p:txBody>
      </p:sp>
      <p:pic>
        <p:nvPicPr>
          <p:cNvPr id="438" name="Google Shape;438;p31"/>
          <p:cNvPicPr preferRelativeResize="0"/>
          <p:nvPr/>
        </p:nvPicPr>
        <p:blipFill rotWithShape="1">
          <a:blip r:embed="rId3">
            <a:alphaModFix/>
          </a:blip>
          <a:srcRect/>
          <a:stretch/>
        </p:blipFill>
        <p:spPr>
          <a:xfrm>
            <a:off x="707756" y="137435"/>
            <a:ext cx="747300" cy="747300"/>
          </a:xfrm>
          <a:prstGeom prst="rect">
            <a:avLst/>
          </a:prstGeom>
          <a:noFill/>
          <a:ln>
            <a:noFill/>
          </a:ln>
        </p:spPr>
      </p:pic>
      <mc:AlternateContent xmlns:mc="http://schemas.openxmlformats.org/markup-compatibility/2006" xmlns:a14="http://schemas.microsoft.com/office/drawing/2010/main">
        <mc:Choice Requires="a14">
          <p:sp>
            <p:nvSpPr>
              <p:cNvPr id="440" name="Google Shape;440;p31"/>
              <p:cNvSpPr txBox="1"/>
              <p:nvPr/>
            </p:nvSpPr>
            <p:spPr>
              <a:xfrm>
                <a:off x="2060448" y="1386026"/>
                <a:ext cx="8327136" cy="3823057"/>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dirty="0">
                    <a:latin typeface="Verdana"/>
                    <a:ea typeface="Verdana"/>
                    <a:cs typeface="Verdana"/>
                    <a:sym typeface="Verdana"/>
                  </a:rPr>
                  <a:t>Find each product or quotient.</a:t>
                </a:r>
              </a:p>
              <a:p>
                <a:pPr marL="457200" indent="-457200">
                  <a:buFont typeface="+mj-lt"/>
                  <a:buAutoNum type="arabicPeriod"/>
                </a:pPr>
                <a:endParaRPr lang="en-US" sz="2400" dirty="0">
                  <a:latin typeface="Verdana"/>
                  <a:ea typeface="Verdana"/>
                  <a:cs typeface="Verdana"/>
                  <a:sym typeface="Verdana"/>
                </a:endParaRPr>
              </a:p>
              <a:p>
                <a:pPr marL="922338"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sym typeface="Verdana"/>
                  </a:rPr>
                  <a:t> </a:t>
                </a:r>
                <a14:m>
                  <m:oMath xmlns:m="http://schemas.openxmlformats.org/officeDocument/2006/math">
                    <m:r>
                      <a:rPr lang="en-US" sz="2400" i="1">
                        <a:latin typeface="Cambria Math" panose="02040503050406030204" pitchFamily="18" charset="0"/>
                        <a:ea typeface="Verdana"/>
                        <a:cs typeface="Verdana"/>
                        <a:sym typeface="Verdana"/>
                      </a:rPr>
                      <m:t>−17 </m:t>
                    </m:r>
                    <m:r>
                      <a:rPr lang="en-US" sz="2400" i="1">
                        <a:latin typeface="Cambria Math" panose="02040503050406030204" pitchFamily="18" charset="0"/>
                        <a:ea typeface="Cambria Math" panose="02040503050406030204" pitchFamily="18" charset="0"/>
                        <a:cs typeface="Verdana"/>
                        <a:sym typeface="Verdana"/>
                      </a:rPr>
                      <m:t>× 29</m:t>
                    </m:r>
                  </m:oMath>
                </a14:m>
                <a:r>
                  <a:rPr lang="en-US" sz="2400" dirty="0">
                    <a:latin typeface="Verdana" panose="020B0604030504040204" pitchFamily="34" charset="0"/>
                    <a:ea typeface="Verdana" panose="020B0604030504040204" pitchFamily="34" charset="0"/>
                    <a:cs typeface="Verdana" panose="020B0604030504040204" pitchFamily="34" charset="0"/>
                    <a:sym typeface="Verdana"/>
                  </a:rPr>
                  <a:t>                       b.   </a:t>
                </a:r>
                <a14:m>
                  <m:oMath xmlns:m="http://schemas.openxmlformats.org/officeDocument/2006/math">
                    <m:r>
                      <a:rPr lang="en-US" sz="2400" i="1">
                        <a:latin typeface="Cambria Math" panose="02040503050406030204" pitchFamily="18" charset="0"/>
                        <a:ea typeface="Verdana"/>
                        <a:cs typeface="Verdana"/>
                        <a:sym typeface="Verdana"/>
                      </a:rPr>
                      <m:t>41</m:t>
                    </m:r>
                    <m:r>
                      <a:rPr lang="en-US" sz="2400" i="1">
                        <a:latin typeface="Cambria Math" panose="02040503050406030204" pitchFamily="18" charset="0"/>
                      </a:rPr>
                      <m:t>∙(−19)</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dirty="0"/>
              </a:p>
              <a:p>
                <a:pPr marL="457200" indent="-457200">
                  <a:buFont typeface="+mj-lt"/>
                  <a:buAutoNum type="alphaLcPeriod"/>
                </a:pPr>
                <a:endParaRPr lang="en-US" dirty="0"/>
              </a:p>
              <a:p>
                <a:pPr marL="457200" indent="-457200">
                  <a:buFont typeface="+mj-lt"/>
                  <a:buAutoNum type="alphaLcPeriod"/>
                </a:pPr>
                <a:endParaRPr lang="en-US" dirty="0"/>
              </a:p>
              <a:p>
                <a:pPr marL="457200" indent="-457200">
                  <a:buFont typeface="+mj-lt"/>
                  <a:buAutoNum type="alphaLcPeriod"/>
                </a:pPr>
                <a:endParaRPr lang="en-US" dirty="0"/>
              </a:p>
              <a:p>
                <a:pPr marL="457200" indent="-457200">
                  <a:buFont typeface="+mj-lt"/>
                  <a:buAutoNum type="alphaLcPeriod"/>
                </a:pPr>
                <a:endParaRPr lang="en-US" dirty="0"/>
              </a:p>
              <a:p>
                <a:pPr marL="457200" indent="-457200">
                  <a:buFont typeface="+mj-lt"/>
                  <a:buAutoNum type="alphaLcPeriod"/>
                </a:pPr>
                <a:endParaRPr lang="en-US" dirty="0"/>
              </a:p>
              <a:p>
                <a:pPr marL="457200" indent="-457200">
                  <a:buFont typeface="+mj-lt"/>
                  <a:buAutoNum type="alphaLcPeriod"/>
                </a:pPr>
                <a:endParaRPr lang="en-US" dirty="0"/>
              </a:p>
              <a:p>
                <a:pPr marL="457200" indent="-457200">
                  <a:buFont typeface="+mj-lt"/>
                  <a:buAutoNum type="alphaLcPeriod"/>
                </a:pPr>
                <a:endParaRPr lang="en-US" dirty="0"/>
              </a:p>
              <a:p>
                <a:pPr marL="922338" indent="-455613">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latin typeface="Cambria Math" panose="02040503050406030204" pitchFamily="18" charset="0"/>
                        <a:ea typeface="Verdana" panose="020B0604030504040204" pitchFamily="34" charset="0"/>
                        <a:cs typeface="Verdana" panose="020B0604030504040204" pitchFamily="34" charset="0"/>
                      </a:rPr>
                      <m:t>−184</m:t>
                    </m:r>
                    <m:r>
                      <a:rPr lang="en-US" sz="2400" i="1">
                        <a:latin typeface="Cambria Math" panose="02040503050406030204" pitchFamily="18" charset="0"/>
                        <a:ea typeface="Cambria Math" panose="02040503050406030204" pitchFamily="18" charset="0"/>
                        <a:cs typeface="Verdana" panose="020B0604030504040204" pitchFamily="34" charset="0"/>
                      </a:rPr>
                      <m:t>÷23</m:t>
                    </m:r>
                  </m:oMath>
                </a14:m>
                <a:r>
                  <a:rPr lang="en-US" sz="2400" dirty="0">
                    <a:latin typeface="Verdana" panose="020B0604030504040204" pitchFamily="34" charset="0"/>
                    <a:ea typeface="Verdana" panose="020B0604030504040204" pitchFamily="34" charset="0"/>
                    <a:cs typeface="Verdana" panose="020B0604030504040204" pitchFamily="34" charset="0"/>
                  </a:rPr>
                  <a:t>                    d.   </a:t>
                </a:r>
                <a14:m>
                  <m:oMath xmlns:m="http://schemas.openxmlformats.org/officeDocument/2006/math">
                    <m:f>
                      <m:fPr>
                        <m:ctrlPr>
                          <a:rPr lang="en-US" sz="2400" i="1">
                            <a:latin typeface="Cambria Math" charset="0"/>
                            <a:ea typeface="Verdana" panose="020B0604030504040204" pitchFamily="34" charset="0"/>
                            <a:cs typeface="Verdana" panose="020B0604030504040204" pitchFamily="34" charset="0"/>
                          </a:rPr>
                        </m:ctrlPr>
                      </m:fPr>
                      <m:num>
                        <m:r>
                          <a:rPr lang="en-US" sz="2400" i="1">
                            <a:latin typeface="Cambria Math" panose="02040503050406030204" pitchFamily="18" charset="0"/>
                            <a:ea typeface="Verdana" panose="020B0604030504040204" pitchFamily="34" charset="0"/>
                            <a:cs typeface="Verdana" panose="020B0604030504040204" pitchFamily="34" charset="0"/>
                          </a:rPr>
                          <m:t>−175</m:t>
                        </m:r>
                      </m:num>
                      <m:den>
                        <m:r>
                          <a:rPr lang="en-US" sz="2400" i="1">
                            <a:latin typeface="Cambria Math" panose="02040503050406030204" pitchFamily="18" charset="0"/>
                            <a:ea typeface="Verdana" panose="020B0604030504040204" pitchFamily="34" charset="0"/>
                            <a:cs typeface="Verdana" panose="020B0604030504040204" pitchFamily="34" charset="0"/>
                          </a:rPr>
                          <m:t>−5</m:t>
                        </m:r>
                      </m:den>
                    </m:f>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a:ea typeface="Verdana"/>
                  <a:cs typeface="Verdana"/>
                  <a:sym typeface="Verdana"/>
                </a:endParaRPr>
              </a:p>
            </p:txBody>
          </p:sp>
        </mc:Choice>
        <mc:Fallback xmlns="">
          <p:sp>
            <p:nvSpPr>
              <p:cNvPr id="440" name="Google Shape;440;p31"/>
              <p:cNvSpPr txBox="1">
                <a:spLocks noRot="1" noChangeAspect="1" noMove="1" noResize="1" noEditPoints="1" noAdjustHandles="1" noChangeArrowheads="1" noChangeShapeType="1" noTextEdit="1"/>
              </p:cNvSpPr>
              <p:nvPr/>
            </p:nvSpPr>
            <p:spPr>
              <a:xfrm>
                <a:off x="536448" y="1386025"/>
                <a:ext cx="8327136" cy="3823057"/>
              </a:xfrm>
              <a:prstGeom prst="rect">
                <a:avLst/>
              </a:prstGeom>
              <a:blipFill>
                <a:blip r:embed="rId5"/>
                <a:stretch>
                  <a:fillRect l="-1220" t="-990"/>
                </a:stretch>
              </a:blipFill>
              <a:ln>
                <a:noFill/>
              </a:ln>
            </p:spPr>
            <p:txBody>
              <a:bodyPr/>
              <a:lstStyle/>
              <a:p>
                <a:r>
                  <a:rPr lang="en-US">
                    <a:noFill/>
                  </a:rPr>
                  <a:t> </a:t>
                </a:r>
              </a:p>
            </p:txBody>
          </p:sp>
        </mc:Fallback>
      </mc:AlternateContent>
      <p:sp>
        <p:nvSpPr>
          <p:cNvPr id="8" name="Google Shape;125;g104476d1465_1_17"/>
          <p:cNvSpPr txBox="1"/>
          <p:nvPr/>
        </p:nvSpPr>
        <p:spPr>
          <a:xfrm>
            <a:off x="8715287"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290</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53513"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32"/>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449" name="Google Shape;449;p32"/>
              <p:cNvSpPr txBox="1"/>
              <p:nvPr/>
            </p:nvSpPr>
            <p:spPr>
              <a:xfrm>
                <a:off x="2007765" y="520394"/>
                <a:ext cx="8327136" cy="3785611"/>
              </a:xfrm>
              <a:prstGeom prst="rect">
                <a:avLst/>
              </a:prstGeom>
              <a:noFill/>
              <a:ln>
                <a:noFill/>
              </a:ln>
            </p:spPr>
            <p:txBody>
              <a:bodyPr spcFirstLastPara="1" wrap="square" lIns="91425" tIns="45700" rIns="91425" bIns="45700" anchor="t" anchorCtr="0">
                <a:spAutoFit/>
              </a:bodyPr>
              <a:lstStyle/>
              <a:p>
                <a:pPr marL="922338" indent="-455613">
                  <a:buFont typeface="+mj-lt"/>
                  <a:buAutoNum type="alphaLcPeriod" startAt="5"/>
                </a:pPr>
                <a:r>
                  <a:rPr lang="en-US" sz="2400" dirty="0">
                    <a:latin typeface="Verdana" panose="020B0604030504040204" pitchFamily="34" charset="0"/>
                    <a:ea typeface="Verdana" panose="020B0604030504040204" pitchFamily="34" charset="0"/>
                    <a:cs typeface="Verdana" panose="020B0604030504040204" pitchFamily="34" charset="0"/>
                    <a:sym typeface="Verdana"/>
                  </a:rPr>
                  <a:t> </a:t>
                </a:r>
                <a14:m>
                  <m:oMath xmlns:m="http://schemas.openxmlformats.org/officeDocument/2006/math">
                    <m:r>
                      <a:rPr lang="en-US" sz="2400" i="1" dirty="0">
                        <a:latin typeface="Cambria Math" panose="02040503050406030204" pitchFamily="18" charset="0"/>
                        <a:ea typeface="Verdana"/>
                        <a:cs typeface="Verdana"/>
                        <a:sym typeface="Verdana"/>
                      </a:rPr>
                      <m:t>96</m:t>
                    </m:r>
                    <m:r>
                      <a:rPr lang="en-US" sz="2400" i="1" dirty="0">
                        <a:latin typeface="Cambria Math" panose="02040503050406030204" pitchFamily="18" charset="0"/>
                        <a:ea typeface="Cambria Math" panose="02040503050406030204" pitchFamily="18" charset="0"/>
                        <a:cs typeface="Verdana"/>
                        <a:sym typeface="Verdana"/>
                      </a:rPr>
                      <m:t>÷</m:t>
                    </m:r>
                    <m:d>
                      <m:dPr>
                        <m:ctrlPr>
                          <a:rPr lang="en-US" sz="2400" i="1" dirty="0">
                            <a:latin typeface="Cambria Math" charset="0"/>
                            <a:ea typeface="Cambria Math" panose="02040503050406030204" pitchFamily="18" charset="0"/>
                            <a:cs typeface="Verdana"/>
                            <a:sym typeface="Verdana"/>
                          </a:rPr>
                        </m:ctrlPr>
                      </m:dPr>
                      <m:e>
                        <m:r>
                          <a:rPr lang="en-US" sz="2400" i="1" dirty="0">
                            <a:latin typeface="Cambria Math" panose="02040503050406030204" pitchFamily="18" charset="0"/>
                            <a:ea typeface="Cambria Math" panose="02040503050406030204" pitchFamily="18" charset="0"/>
                            <a:cs typeface="Verdana"/>
                            <a:sym typeface="Verdana"/>
                          </a:rPr>
                          <m:t>−6</m:t>
                        </m:r>
                      </m:e>
                    </m:d>
                  </m:oMath>
                </a14:m>
                <a:r>
                  <a:rPr lang="en-US" sz="2400" dirty="0">
                    <a:latin typeface="Verdana" panose="020B0604030504040204" pitchFamily="34" charset="0"/>
                    <a:ea typeface="Verdana" panose="020B0604030504040204" pitchFamily="34" charset="0"/>
                    <a:cs typeface="Verdana" panose="020B0604030504040204" pitchFamily="34" charset="0"/>
                  </a:rPr>
                  <a:t>                     f. </a:t>
                </a:r>
                <a14:m>
                  <m:oMath xmlns:m="http://schemas.openxmlformats.org/officeDocument/2006/math">
                    <m:d>
                      <m:dPr>
                        <m:ctrlPr>
                          <a:rPr lang="en-US" sz="2400" i="1">
                            <a:latin typeface="Cambria Math" charset="0"/>
                            <a:ea typeface="Verdana" panose="020B0604030504040204" pitchFamily="34" charset="0"/>
                            <a:cs typeface="Verdana" panose="020B0604030504040204" pitchFamily="34" charset="0"/>
                          </a:rPr>
                        </m:ctrlPr>
                      </m:dPr>
                      <m:e>
                        <m:r>
                          <a:rPr lang="en-US" sz="2400" i="1">
                            <a:latin typeface="Cambria Math" panose="02040503050406030204" pitchFamily="18" charset="0"/>
                            <a:ea typeface="Verdana" panose="020B0604030504040204" pitchFamily="34" charset="0"/>
                            <a:cs typeface="Verdana" panose="020B0604030504040204" pitchFamily="34" charset="0"/>
                          </a:rPr>
                          <m:t>−51</m:t>
                        </m:r>
                      </m:e>
                    </m:d>
                    <m:r>
                      <a:rPr lang="en-US" sz="2400" i="1">
                        <a:latin typeface="Cambria Math" panose="02040503050406030204" pitchFamily="18" charset="0"/>
                        <a:ea typeface="Verdana" panose="020B0604030504040204" pitchFamily="34" charset="0"/>
                        <a:cs typeface="Verdana" panose="020B0604030504040204" pitchFamily="34" charset="0"/>
                      </a:rPr>
                      <m:t> </m:t>
                    </m:r>
                    <m:r>
                      <a:rPr lang="en-US" sz="2400" i="1">
                        <a:latin typeface="Cambria Math" panose="02040503050406030204" pitchFamily="18" charset="0"/>
                        <a:ea typeface="Cambria Math" panose="02040503050406030204" pitchFamily="18" charset="0"/>
                        <a:cs typeface="Verdana" panose="020B0604030504040204" pitchFamily="34" charset="0"/>
                      </a:rPr>
                      <m:t>× </m:t>
                    </m:r>
                    <m:d>
                      <m:dPr>
                        <m:ctrlPr>
                          <a:rPr lang="en-US" sz="2400" i="1">
                            <a:latin typeface="Cambria Math" charset="0"/>
                            <a:ea typeface="Cambria Math" panose="02040503050406030204" pitchFamily="18" charset="0"/>
                            <a:cs typeface="Verdana" panose="020B0604030504040204" pitchFamily="34" charset="0"/>
                          </a:rPr>
                        </m:ctrlPr>
                      </m:dPr>
                      <m:e>
                        <m:r>
                          <a:rPr lang="en-US" sz="2400" i="1">
                            <a:latin typeface="Cambria Math" panose="02040503050406030204" pitchFamily="18" charset="0"/>
                            <a:ea typeface="Cambria Math" panose="02040503050406030204" pitchFamily="18" charset="0"/>
                            <a:cs typeface="Verdana" panose="020B0604030504040204" pitchFamily="34" charset="0"/>
                          </a:rPr>
                          <m:t>−31</m:t>
                        </m:r>
                      </m:e>
                    </m:d>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7"/>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latin typeface="Cambria Math" panose="02040503050406030204" pitchFamily="18" charset="0"/>
                        <a:ea typeface="Verdana" panose="020B0604030504040204" pitchFamily="34" charset="0"/>
                        <a:cs typeface="Verdana" panose="020B0604030504040204" pitchFamily="34" charset="0"/>
                      </a:rPr>
                      <m:t>−256</m:t>
                    </m:r>
                    <m:r>
                      <a:rPr lang="en-US" sz="2400" i="1">
                        <a:latin typeface="Cambria Math" panose="02040503050406030204" pitchFamily="18" charset="0"/>
                        <a:ea typeface="Cambria Math" panose="02040503050406030204" pitchFamily="18" charset="0"/>
                        <a:cs typeface="Verdana" panose="020B0604030504040204" pitchFamily="34" charset="0"/>
                      </a:rPr>
                      <m:t>÷</m:t>
                    </m:r>
                    <m:d>
                      <m:dPr>
                        <m:ctrlPr>
                          <a:rPr lang="en-US" sz="2400" i="1">
                            <a:latin typeface="Cambria Math" charset="0"/>
                            <a:ea typeface="Cambria Math" panose="02040503050406030204" pitchFamily="18" charset="0"/>
                            <a:cs typeface="Verdana" panose="020B0604030504040204" pitchFamily="34" charset="0"/>
                          </a:rPr>
                        </m:ctrlPr>
                      </m:dPr>
                      <m:e>
                        <m:r>
                          <a:rPr lang="en-US" sz="2400" i="1">
                            <a:latin typeface="Cambria Math" panose="02040503050406030204" pitchFamily="18" charset="0"/>
                            <a:ea typeface="Cambria Math" panose="02040503050406030204" pitchFamily="18" charset="0"/>
                            <a:cs typeface="Verdana" panose="020B0604030504040204" pitchFamily="34" charset="0"/>
                          </a:rPr>
                          <m:t>−16</m:t>
                        </m:r>
                      </m:e>
                    </m:d>
                  </m:oMath>
                </a14:m>
                <a:r>
                  <a:rPr lang="en-US" sz="2400" dirty="0">
                    <a:latin typeface="Verdana" panose="020B0604030504040204" pitchFamily="34" charset="0"/>
                    <a:ea typeface="Verdana" panose="020B0604030504040204" pitchFamily="34" charset="0"/>
                    <a:cs typeface="Verdana" panose="020B0604030504040204" pitchFamily="34" charset="0"/>
                  </a:rPr>
                  <a:t>               h. </a:t>
                </a:r>
                <a14:m>
                  <m:oMath xmlns:m="http://schemas.openxmlformats.org/officeDocument/2006/math">
                    <m:d>
                      <m:dPr>
                        <m:ctrlPr>
                          <a:rPr lang="en-US" sz="2400" i="1">
                            <a:latin typeface="Cambria Math" charset="0"/>
                            <a:ea typeface="Verdana" panose="020B0604030504040204" pitchFamily="34" charset="0"/>
                            <a:cs typeface="Verdana" panose="020B0604030504040204" pitchFamily="34" charset="0"/>
                          </a:rPr>
                        </m:ctrlPr>
                      </m:dPr>
                      <m:e>
                        <m:r>
                          <a:rPr lang="en-US" sz="2400" i="1">
                            <a:latin typeface="Cambria Math" panose="02040503050406030204" pitchFamily="18" charset="0"/>
                            <a:ea typeface="Verdana" panose="020B0604030504040204" pitchFamily="34" charset="0"/>
                            <a:cs typeface="Verdana" panose="020B0604030504040204" pitchFamily="34" charset="0"/>
                          </a:rPr>
                          <m:t>−17</m:t>
                        </m:r>
                      </m:e>
                    </m:d>
                    <m:r>
                      <a:rPr lang="en-US" sz="2400" i="1">
                        <a:latin typeface="Cambria Math" panose="02040503050406030204" pitchFamily="18" charset="0"/>
                        <a:ea typeface="Verdana" panose="020B0604030504040204" pitchFamily="34" charset="0"/>
                        <a:cs typeface="Verdana" panose="020B0604030504040204" pitchFamily="34" charset="0"/>
                      </a:rPr>
                      <m:t>∙704∙(−1)</m:t>
                    </m:r>
                  </m:oMath>
                </a14:m>
                <a:r>
                  <a:rPr lang="en-US" sz="2400" dirty="0">
                    <a:latin typeface="Verdana" panose="020B0604030504040204" pitchFamily="34" charset="0"/>
                    <a:ea typeface="Verdana" panose="020B0604030504040204" pitchFamily="34" charset="0"/>
                    <a:cs typeface="Verdana" panose="020B0604030504040204" pitchFamily="34" charset="0"/>
                  </a:rPr>
                  <a:t>   </a:t>
                </a:r>
                <a:endParaRPr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449" name="Google Shape;449;p32"/>
              <p:cNvSpPr txBox="1">
                <a:spLocks noRot="1" noChangeAspect="1" noMove="1" noResize="1" noEditPoints="1" noAdjustHandles="1" noChangeArrowheads="1" noChangeShapeType="1" noTextEdit="1"/>
              </p:cNvSpPr>
              <p:nvPr/>
            </p:nvSpPr>
            <p:spPr>
              <a:xfrm>
                <a:off x="483765" y="520393"/>
                <a:ext cx="8327136" cy="3785611"/>
              </a:xfrm>
              <a:prstGeom prst="rect">
                <a:avLst/>
              </a:prstGeom>
              <a:blipFill>
                <a:blip r:embed="rId4"/>
                <a:stretch>
                  <a:fillRect t="-1338" b="-3010"/>
                </a:stretch>
              </a:blipFill>
              <a:ln>
                <a:noFill/>
              </a:ln>
            </p:spPr>
            <p:txBody>
              <a:bodyPr/>
              <a:lstStyle/>
              <a:p>
                <a:r>
                  <a:rPr lang="en-US">
                    <a:noFill/>
                  </a:rPr>
                  <a:t> </a:t>
                </a:r>
              </a:p>
            </p:txBody>
          </p:sp>
        </mc:Fallback>
      </mc:AlternateContent>
      <p:sp>
        <p:nvSpPr>
          <p:cNvPr id="6" name="Google Shape;125;g104476d1465_1_17"/>
          <p:cNvSpPr txBox="1"/>
          <p:nvPr/>
        </p:nvSpPr>
        <p:spPr>
          <a:xfrm>
            <a:off x="8715287"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290</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53513"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8226"/>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5287"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290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53513"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34"/>
          <p:cNvSpPr/>
          <p:nvPr/>
        </p:nvSpPr>
        <p:spPr>
          <a:xfrm>
            <a:off x="0" y="-8226"/>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468" name="Google Shape;468;p34"/>
          <p:cNvSpPr txBox="1"/>
          <p:nvPr/>
        </p:nvSpPr>
        <p:spPr>
          <a:xfrm>
            <a:off x="1496131" y="2474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6.12.6 Wrap-Up: Ticket Out the Door</a:t>
            </a:r>
            <a:endParaRPr dirty="0"/>
          </a:p>
        </p:txBody>
      </p:sp>
      <p:pic>
        <p:nvPicPr>
          <p:cNvPr id="469" name="Google Shape;469;p34"/>
          <p:cNvPicPr preferRelativeResize="0"/>
          <p:nvPr/>
        </p:nvPicPr>
        <p:blipFill rotWithShape="1">
          <a:blip r:embed="rId3">
            <a:alphaModFix/>
          </a:blip>
          <a:srcRect/>
          <a:stretch/>
        </p:blipFill>
        <p:spPr>
          <a:xfrm>
            <a:off x="666681" y="167642"/>
            <a:ext cx="747300" cy="747300"/>
          </a:xfrm>
          <a:prstGeom prst="rect">
            <a:avLst/>
          </a:prstGeom>
          <a:noFill/>
          <a:ln>
            <a:noFill/>
          </a:ln>
          <a:effectLst>
            <a:outerShdw blurRad="50800" dist="38100" dir="2700000" algn="tl" rotWithShape="0">
              <a:srgbClr val="000000">
                <a:alpha val="40000"/>
              </a:srgbClr>
            </a:outerShdw>
          </a:effectLst>
        </p:spPr>
      </p:pic>
      <p:sp>
        <p:nvSpPr>
          <p:cNvPr id="470" name="Google Shape;470;p34"/>
          <p:cNvSpPr txBox="1"/>
          <p:nvPr/>
        </p:nvSpPr>
        <p:spPr>
          <a:xfrm>
            <a:off x="1413981" y="1386025"/>
            <a:ext cx="9620070" cy="830956"/>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dirty="0">
                <a:latin typeface="Verdana"/>
                <a:ea typeface="Verdana"/>
                <a:cs typeface="Verdana"/>
                <a:sym typeface="Verdana"/>
              </a:rPr>
              <a:t>Complete the table by writing a value in each blank that completes each related equation.</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BE99B480-D0C7-1F49-A591-6D7323F889CD}"/>
                  </a:ext>
                </a:extLst>
              </p:cNvPr>
              <p:cNvGraphicFramePr>
                <a:graphicFrameLocks noGrp="1"/>
              </p:cNvGraphicFramePr>
              <p:nvPr>
                <p:extLst>
                  <p:ext uri="{D42A27DB-BD31-4B8C-83A1-F6EECF244321}">
                    <p14:modId xmlns:p14="http://schemas.microsoft.com/office/powerpoint/2010/main" val="667573776"/>
                  </p:ext>
                </p:extLst>
              </p:nvPr>
            </p:nvGraphicFramePr>
            <p:xfrm>
              <a:off x="2695574" y="2417540"/>
              <a:ext cx="7058026" cy="3587496"/>
            </p:xfrm>
            <a:graphic>
              <a:graphicData uri="http://schemas.openxmlformats.org/drawingml/2006/table">
                <a:tbl>
                  <a:tblPr firstRow="1" firstCol="1" bandRow="1">
                    <a:tableStyleId>{5C22544A-7EE6-4342-B048-85BDC9FD1C3A}</a:tableStyleId>
                  </a:tblPr>
                  <a:tblGrid>
                    <a:gridCol w="2756482">
                      <a:extLst>
                        <a:ext uri="{9D8B030D-6E8A-4147-A177-3AD203B41FA5}">
                          <a16:colId xmlns:a16="http://schemas.microsoft.com/office/drawing/2014/main" xmlns="" val="210141086"/>
                        </a:ext>
                      </a:extLst>
                    </a:gridCol>
                    <a:gridCol w="1499631">
                      <a:extLst>
                        <a:ext uri="{9D8B030D-6E8A-4147-A177-3AD203B41FA5}">
                          <a16:colId xmlns:a16="http://schemas.microsoft.com/office/drawing/2014/main" xmlns="" val="3663059907"/>
                        </a:ext>
                      </a:extLst>
                    </a:gridCol>
                    <a:gridCol w="2801913">
                      <a:extLst>
                        <a:ext uri="{9D8B030D-6E8A-4147-A177-3AD203B41FA5}">
                          <a16:colId xmlns:a16="http://schemas.microsoft.com/office/drawing/2014/main" xmlns="" val="59651987"/>
                        </a:ext>
                      </a:extLst>
                    </a:gridCol>
                  </a:tblGrid>
                  <a:tr h="0">
                    <a:tc>
                      <a:txBody>
                        <a:bodyPr/>
                        <a:lstStyle/>
                        <a:p>
                          <a:pPr marL="0" marR="0" algn="ctr">
                            <a:lnSpc>
                              <a:spcPct val="107000"/>
                            </a:lnSpc>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Multiplication Equation</a:t>
                          </a:r>
                          <a:endParaRPr lang="en-US" sz="20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...related to…</a:t>
                          </a:r>
                          <a:endParaRPr lang="en-US" sz="20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Division Equation</a:t>
                          </a:r>
                          <a:endParaRPr lang="en-US" sz="20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570520763"/>
                      </a:ext>
                    </a:extLst>
                  </a:tr>
                  <a:tr h="0">
                    <a:tc>
                      <a:txBody>
                        <a:bodyPr/>
                        <a:lstStyle/>
                        <a:p>
                          <a:pPr marL="0" marR="0" algn="ctr">
                            <a:lnSpc>
                              <a:spcPct val="107000"/>
                            </a:lnSpc>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b="0" i="1" dirty="0" smtClean="0">
                                    <a:solidFill>
                                      <a:schemeClr val="tx1"/>
                                    </a:solidFill>
                                    <a:effectLst/>
                                    <a:latin typeface="Cambria Math" panose="02040503050406030204" pitchFamily="18" charset="0"/>
                                  </a:rPr>
                                  <m:t>(−12)</m:t>
                                </m:r>
                                <m:r>
                                  <a:rPr lang="en-US" sz="2000" b="0" i="1" dirty="0" smtClean="0">
                                    <a:solidFill>
                                      <a:schemeClr val="tx1"/>
                                    </a:solidFill>
                                    <a:effectLst/>
                                    <a:latin typeface="Cambria Math" panose="02040503050406030204" pitchFamily="18" charset="0"/>
                                    <a:ea typeface="Verdana" panose="020B0604030504040204" pitchFamily="34" charset="0"/>
                                    <a:cs typeface="Verdana" panose="020B0604030504040204" pitchFamily="34" charset="0"/>
                                  </a:rPr>
                                  <m:t>(_____) </m:t>
                                </m:r>
                                <m:r>
                                  <a:rPr lang="en-US" sz="2000" b="0" i="1" dirty="0" smtClean="0">
                                    <a:solidFill>
                                      <a:schemeClr val="tx1"/>
                                    </a:solidFill>
                                    <a:effectLst/>
                                    <a:latin typeface="Cambria Math" panose="02040503050406030204" pitchFamily="18" charset="0"/>
                                  </a:rPr>
                                  <m:t>=</m:t>
                                </m:r>
                                <m:r>
                                  <a:rPr lang="en-US" sz="2000" b="0" i="1" dirty="0" smtClean="0">
                                    <a:solidFill>
                                      <a:schemeClr val="tx1"/>
                                    </a:solidFill>
                                    <a:effectLst/>
                                    <a:latin typeface="Cambria Math" panose="02040503050406030204" pitchFamily="18" charset="0"/>
                                    <a:ea typeface="Verdana" panose="020B0604030504040204" pitchFamily="34" charset="0"/>
                                    <a:cs typeface="Verdana" panose="020B0604030504040204" pitchFamily="34" charset="0"/>
                                  </a:rPr>
                                  <m:t> </m:t>
                                </m:r>
                                <m:r>
                                  <a:rPr lang="en-US" sz="2000" b="0" i="1" dirty="0">
                                    <a:solidFill>
                                      <a:schemeClr val="tx1"/>
                                    </a:solidFill>
                                    <a:effectLst/>
                                    <a:latin typeface="Cambria Math" panose="02040503050406030204" pitchFamily="18" charset="0"/>
                                    <a:ea typeface="Verdana" panose="020B0604030504040204" pitchFamily="34" charset="0"/>
                                    <a:cs typeface="Verdana" panose="020B0604030504040204" pitchFamily="34" charset="0"/>
                                  </a:rPr>
                                  <m:t>504</m:t>
                                </m:r>
                              </m:oMath>
                            </m:oMathPara>
                          </a14:m>
                          <a:endPar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endParaRPr lang="en-US" sz="20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endParaRPr lang="en-US" sz="2000" i="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dirty="0" smtClean="0">
                                  <a:solidFill>
                                    <a:schemeClr val="tx1"/>
                                  </a:solidFill>
                                  <a:effectLst/>
                                  <a:latin typeface="Cambria Math" panose="02040503050406030204" pitchFamily="18" charset="0"/>
                                </a:rPr>
                                <m:t>504÷</m:t>
                              </m:r>
                              <m:r>
                                <a:rPr lang="en-US" sz="2000" i="1" dirty="0" smtClean="0">
                                  <a:solidFill>
                                    <a:schemeClr val="tx1"/>
                                  </a:solidFill>
                                  <a:effectLst/>
                                  <a:latin typeface="Cambria Math" panose="02040503050406030204" pitchFamily="18" charset="0"/>
                                  <a:ea typeface="Verdana" panose="020B0604030504040204" pitchFamily="34" charset="0"/>
                                  <a:cs typeface="Verdana" panose="020B0604030504040204" pitchFamily="34" charset="0"/>
                                </a:rPr>
                                <m:t>_______ </m:t>
                              </m:r>
                              <m:r>
                                <a:rPr lang="en-US" sz="2000" i="1" dirty="0" smtClean="0">
                                  <a:solidFill>
                                    <a:schemeClr val="tx1"/>
                                  </a:solidFill>
                                  <a:effectLst/>
                                  <a:latin typeface="Cambria Math" panose="02040503050406030204" pitchFamily="18" charset="0"/>
                                </a:rPr>
                                <m:t>=−12</m:t>
                              </m:r>
                            </m:oMath>
                          </a14:m>
                          <a:endParaRPr lang="en-US" sz="20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97427113"/>
                      </a:ext>
                    </a:extLst>
                  </a:tr>
                  <a:tr h="0">
                    <a:tc>
                      <a:txBody>
                        <a:bodyPr/>
                        <a:lstStyle/>
                        <a:p>
                          <a:pPr marL="0" marR="0" algn="ctr">
                            <a:lnSpc>
                              <a:spcPct val="107000"/>
                            </a:lnSpc>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solidFill>
                                      <a:schemeClr val="tx1"/>
                                    </a:solidFill>
                                    <a:effectLst/>
                                    <a:latin typeface="Cambria Math" panose="02040503050406030204" pitchFamily="18" charset="0"/>
                                    <a:ea typeface="Verdana" panose="020B0604030504040204" pitchFamily="34" charset="0"/>
                                    <a:cs typeface="Verdana" panose="020B0604030504040204" pitchFamily="34" charset="0"/>
                                  </a:rPr>
                                  <m:t>__</m:t>
                                </m:r>
                                <m:r>
                                  <a:rPr lang="en-US" sz="2000" b="1" i="1" dirty="0" smtClean="0">
                                    <a:solidFill>
                                      <a:schemeClr val="tx1"/>
                                    </a:solidFill>
                                    <a:effectLst/>
                                    <a:latin typeface="Cambria Math" panose="02040503050406030204" pitchFamily="18" charset="0"/>
                                    <a:ea typeface="Verdana" panose="020B0604030504040204" pitchFamily="34" charset="0"/>
                                    <a:cs typeface="Verdana" panose="020B0604030504040204" pitchFamily="34" charset="0"/>
                                  </a:rPr>
                                  <m:t>__</m:t>
                                </m:r>
                                <m:r>
                                  <a:rPr lang="en-US" sz="2000" i="1" dirty="0" smtClean="0">
                                    <a:solidFill>
                                      <a:schemeClr val="tx1"/>
                                    </a:solidFill>
                                    <a:effectLst/>
                                    <a:latin typeface="Cambria Math" panose="02040503050406030204" pitchFamily="18" charset="0"/>
                                    <a:ea typeface="Verdana" panose="020B0604030504040204" pitchFamily="34" charset="0"/>
                                    <a:cs typeface="Verdana" panose="020B0604030504040204" pitchFamily="34" charset="0"/>
                                  </a:rPr>
                                  <m:t>__</m:t>
                                </m:r>
                                <m:r>
                                  <a:rPr lang="en-US" sz="2000">
                                    <a:solidFill>
                                      <a:schemeClr val="tx1"/>
                                    </a:solidFill>
                                    <a:effectLst/>
                                    <a:latin typeface="Cambria Math" panose="02040503050406030204" pitchFamily="18" charset="0"/>
                                  </a:rPr>
                                  <m:t>×18= −126</m:t>
                                </m:r>
                              </m:oMath>
                            </m:oMathPara>
                          </a14:m>
                          <a:endPar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endParaRPr lang="en-US" sz="20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endParaRPr lang="en-US" sz="2000" i="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solidFill>
                                      <a:schemeClr val="tx1"/>
                                    </a:solidFill>
                                    <a:effectLst/>
                                    <a:latin typeface="Cambria Math" panose="02040503050406030204" pitchFamily="18" charset="0"/>
                                  </a:rPr>
                                  <m:t>−126÷18=</m:t>
                                </m:r>
                                <m:r>
                                  <a:rPr lang="en-US" sz="2000" i="1" dirty="0" smtClean="0">
                                    <a:solidFill>
                                      <a:schemeClr val="tx1"/>
                                    </a:solidFill>
                                    <a:effectLst/>
                                    <a:latin typeface="Cambria Math" panose="02040503050406030204" pitchFamily="18" charset="0"/>
                                    <a:ea typeface="Verdana" panose="020B0604030504040204" pitchFamily="34" charset="0"/>
                                    <a:cs typeface="Verdana" panose="020B0604030504040204" pitchFamily="34" charset="0"/>
                                  </a:rPr>
                                  <m:t> </m:t>
                                </m:r>
                                <m:r>
                                  <a:rPr lang="en-US" sz="2000" i="1" dirty="0">
                                    <a:solidFill>
                                      <a:schemeClr val="tx1"/>
                                    </a:solidFill>
                                    <a:effectLst/>
                                    <a:latin typeface="Cambria Math" panose="02040503050406030204" pitchFamily="18" charset="0"/>
                                    <a:ea typeface="Verdana" panose="020B0604030504040204" pitchFamily="34" charset="0"/>
                                    <a:cs typeface="Verdana" panose="020B0604030504040204" pitchFamily="34" charset="0"/>
                                  </a:rPr>
                                  <m:t>__</m:t>
                                </m:r>
                                <m:r>
                                  <a:rPr lang="en-US" sz="2000" b="0" i="1" dirty="0" smtClean="0">
                                    <a:solidFill>
                                      <a:schemeClr val="tx1"/>
                                    </a:solidFill>
                                    <a:effectLst/>
                                    <a:latin typeface="Cambria Math" panose="02040503050406030204" pitchFamily="18" charset="0"/>
                                    <a:ea typeface="Verdana" panose="020B0604030504040204" pitchFamily="34" charset="0"/>
                                    <a:cs typeface="Verdana" panose="020B0604030504040204" pitchFamily="34" charset="0"/>
                                  </a:rPr>
                                  <m:t>_</m:t>
                                </m:r>
                                <m:r>
                                  <a:rPr lang="en-US" sz="2000" i="1" dirty="0">
                                    <a:solidFill>
                                      <a:schemeClr val="tx1"/>
                                    </a:solidFill>
                                    <a:effectLst/>
                                    <a:latin typeface="Cambria Math" panose="02040503050406030204" pitchFamily="18" charset="0"/>
                                    <a:ea typeface="Verdana" panose="020B0604030504040204" pitchFamily="34" charset="0"/>
                                    <a:cs typeface="Verdana" panose="020B0604030504040204" pitchFamily="34" charset="0"/>
                                  </a:rPr>
                                  <m:t>__</m:t>
                                </m:r>
                              </m:oMath>
                            </m:oMathPara>
                          </a14:m>
                          <a:endParaRPr lang="en-US" sz="20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251118248"/>
                      </a:ext>
                    </a:extLst>
                  </a:tr>
                  <a:tr h="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solidFill>
                                      <a:schemeClr val="tx1"/>
                                    </a:solidFill>
                                    <a:effectLst/>
                                    <a:latin typeface="Cambria Math" panose="02040503050406030204" pitchFamily="18" charset="0"/>
                                  </a:rPr>
                                  <m:t>−</m:t>
                                </m:r>
                                <m:r>
                                  <a:rPr lang="en-US" sz="2000" b="0" i="1" dirty="0" smtClean="0">
                                    <a:solidFill>
                                      <a:schemeClr val="tx1"/>
                                    </a:solidFill>
                                    <a:effectLst/>
                                    <a:latin typeface="Cambria Math" panose="02040503050406030204" pitchFamily="18" charset="0"/>
                                  </a:rPr>
                                  <m:t>50∙ </m:t>
                                </m:r>
                                <m:r>
                                  <a:rPr lang="en-US" sz="2000" b="0" i="1" dirty="0" smtClean="0">
                                    <a:solidFill>
                                      <a:schemeClr val="tx1"/>
                                    </a:solidFill>
                                    <a:effectLst/>
                                    <a:latin typeface="Cambria Math" panose="02040503050406030204" pitchFamily="18" charset="0"/>
                                    <a:ea typeface="Verdana" panose="020B0604030504040204" pitchFamily="34" charset="0"/>
                                    <a:cs typeface="Verdana" panose="020B0604030504040204" pitchFamily="34" charset="0"/>
                                  </a:rPr>
                                  <m:t>_____</m:t>
                                </m:r>
                                <m:r>
                                  <a:rPr lang="en-US" sz="2000" b="0" i="1" dirty="0" smtClean="0">
                                    <a:solidFill>
                                      <a:schemeClr val="tx1"/>
                                    </a:solidFill>
                                    <a:effectLst/>
                                    <a:latin typeface="Cambria Math" panose="02040503050406030204" pitchFamily="18" charset="0"/>
                                  </a:rPr>
                                  <m:t> = −</m:t>
                                </m:r>
                                <m:r>
                                  <a:rPr lang="en-US" sz="2000" b="0" i="1" dirty="0" smtClean="0">
                                    <a:solidFill>
                                      <a:schemeClr val="tx1"/>
                                    </a:solidFill>
                                    <a:effectLst/>
                                    <a:latin typeface="Cambria Math" panose="02040503050406030204" pitchFamily="18" charset="0"/>
                                    <a:ea typeface="Verdana" panose="020B0604030504040204" pitchFamily="34" charset="0"/>
                                    <a:cs typeface="Verdana" panose="020B0604030504040204" pitchFamily="34" charset="0"/>
                                  </a:rPr>
                                  <m:t>650</m:t>
                                </m:r>
                              </m:oMath>
                            </m:oMathPara>
                          </a14:m>
                          <a:endParaRPr lang="en-US" sz="2000" b="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endParaRPr lang="en-US" sz="2000" i="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solidFill>
                                      <a:schemeClr val="tx1"/>
                                    </a:solidFill>
                                    <a:effectLst/>
                                    <a:latin typeface="Cambria Math" panose="02040503050406030204" pitchFamily="18" charset="0"/>
                                  </a:rPr>
                                  <m:t>−</m:t>
                                </m:r>
                                <m:r>
                                  <a:rPr lang="en-US" sz="2000" i="1" dirty="0" smtClean="0">
                                    <a:solidFill>
                                      <a:schemeClr val="tx1"/>
                                    </a:solidFill>
                                    <a:effectLst/>
                                    <a:latin typeface="Cambria Math" panose="02040503050406030204" pitchFamily="18" charset="0"/>
                                    <a:ea typeface="Verdana" panose="020B0604030504040204" pitchFamily="34" charset="0"/>
                                    <a:cs typeface="Verdana" panose="020B0604030504040204" pitchFamily="34" charset="0"/>
                                  </a:rPr>
                                  <m:t>650 </m:t>
                                </m:r>
                                <m:r>
                                  <a:rPr lang="en-US" sz="2000" i="1" dirty="0" smtClean="0">
                                    <a:solidFill>
                                      <a:schemeClr val="tx1"/>
                                    </a:solidFill>
                                    <a:effectLst/>
                                    <a:latin typeface="Cambria Math" panose="02040503050406030204" pitchFamily="18" charset="0"/>
                                  </a:rPr>
                                  <m:t>÷ </m:t>
                                </m:r>
                                <m:r>
                                  <a:rPr lang="en-US" sz="2000" i="1" dirty="0" smtClean="0">
                                    <a:solidFill>
                                      <a:schemeClr val="tx1"/>
                                    </a:solidFill>
                                    <a:effectLst/>
                                    <a:latin typeface="Cambria Math" panose="02040503050406030204" pitchFamily="18" charset="0"/>
                                    <a:ea typeface="Verdana" panose="020B0604030504040204" pitchFamily="34" charset="0"/>
                                    <a:cs typeface="Verdana" panose="020B0604030504040204" pitchFamily="34" charset="0"/>
                                  </a:rPr>
                                  <m:t>__</m:t>
                                </m:r>
                                <m:r>
                                  <a:rPr lang="en-US" sz="2000" b="0" i="1" dirty="0" smtClean="0">
                                    <a:solidFill>
                                      <a:schemeClr val="tx1"/>
                                    </a:solidFill>
                                    <a:effectLst/>
                                    <a:latin typeface="Cambria Math" panose="02040503050406030204" pitchFamily="18" charset="0"/>
                                    <a:ea typeface="Verdana" panose="020B0604030504040204" pitchFamily="34" charset="0"/>
                                    <a:cs typeface="Verdana" panose="020B0604030504040204" pitchFamily="34" charset="0"/>
                                  </a:rPr>
                                  <m:t>_</m:t>
                                </m:r>
                                <m:r>
                                  <a:rPr lang="en-US" sz="2000" i="1" dirty="0" smtClean="0">
                                    <a:solidFill>
                                      <a:schemeClr val="tx1"/>
                                    </a:solidFill>
                                    <a:effectLst/>
                                    <a:latin typeface="Cambria Math" panose="02040503050406030204" pitchFamily="18" charset="0"/>
                                    <a:ea typeface="Verdana" panose="020B0604030504040204" pitchFamily="34" charset="0"/>
                                    <a:cs typeface="Verdana" panose="020B0604030504040204" pitchFamily="34" charset="0"/>
                                  </a:rPr>
                                  <m:t>____ </m:t>
                                </m:r>
                                <m:r>
                                  <a:rPr lang="en-US" sz="2000" i="1" dirty="0" smtClean="0">
                                    <a:solidFill>
                                      <a:schemeClr val="tx1"/>
                                    </a:solidFill>
                                    <a:effectLst/>
                                    <a:latin typeface="Cambria Math" panose="02040503050406030204" pitchFamily="18" charset="0"/>
                                  </a:rPr>
                                  <m:t>=</m:t>
                                </m:r>
                                <m:r>
                                  <a:rPr lang="en-US" sz="2000" i="1" dirty="0" smtClean="0">
                                    <a:solidFill>
                                      <a:schemeClr val="tx1"/>
                                    </a:solidFill>
                                    <a:effectLst/>
                                    <a:latin typeface="Cambria Math" panose="02040503050406030204" pitchFamily="18" charset="0"/>
                                    <a:ea typeface="Verdana" panose="020B0604030504040204" pitchFamily="34" charset="0"/>
                                    <a:cs typeface="Verdana" panose="020B0604030504040204" pitchFamily="34" charset="0"/>
                                  </a:rPr>
                                  <m:t> </m:t>
                                </m:r>
                                <m:r>
                                  <a:rPr lang="en-US" sz="2000" i="1" dirty="0" smtClean="0">
                                    <a:solidFill>
                                      <a:schemeClr val="tx1"/>
                                    </a:solidFill>
                                    <a:effectLst/>
                                    <a:latin typeface="Cambria Math" panose="02040503050406030204" pitchFamily="18" charset="0"/>
                                  </a:rPr>
                                  <m:t>−50</m:t>
                                </m:r>
                              </m:oMath>
                            </m:oMathPara>
                          </a14:m>
                          <a:endPar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endParaRPr lang="en-US" sz="20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94270186"/>
                      </a:ext>
                    </a:extLst>
                  </a:tr>
                </a:tbl>
              </a:graphicData>
            </a:graphic>
          </p:graphicFrame>
        </mc:Choice>
        <mc:Fallback xmlns="">
          <p:graphicFrame>
            <p:nvGraphicFramePr>
              <p:cNvPr id="2" name="Table 1">
                <a:extLst>
                  <a:ext uri="{FF2B5EF4-FFF2-40B4-BE49-F238E27FC236}">
                    <a16:creationId xmlns:a16="http://schemas.microsoft.com/office/drawing/2014/main" id="{BE99B480-D0C7-1F49-A591-6D7323F889CD}"/>
                  </a:ext>
                </a:extLst>
              </p:cNvPr>
              <p:cNvGraphicFramePr>
                <a:graphicFrameLocks noGrp="1"/>
              </p:cNvGraphicFramePr>
              <p:nvPr>
                <p:extLst>
                  <p:ext uri="{D42A27DB-BD31-4B8C-83A1-F6EECF244321}">
                    <p14:modId xmlns:p14="http://schemas.microsoft.com/office/powerpoint/2010/main" val="667573776"/>
                  </p:ext>
                </p:extLst>
              </p:nvPr>
            </p:nvGraphicFramePr>
            <p:xfrm>
              <a:off x="1171574" y="2417540"/>
              <a:ext cx="7058026" cy="3471928"/>
            </p:xfrm>
            <a:graphic>
              <a:graphicData uri="http://schemas.openxmlformats.org/drawingml/2006/table">
                <a:tbl>
                  <a:tblPr firstRow="1" firstCol="1" bandRow="1">
                    <a:tableStyleId>{5C22544A-7EE6-4342-B048-85BDC9FD1C3A}</a:tableStyleId>
                  </a:tblPr>
                  <a:tblGrid>
                    <a:gridCol w="2756482">
                      <a:extLst>
                        <a:ext uri="{9D8B030D-6E8A-4147-A177-3AD203B41FA5}">
                          <a16:colId xmlns:a16="http://schemas.microsoft.com/office/drawing/2014/main" val="210141086"/>
                        </a:ext>
                      </a:extLst>
                    </a:gridCol>
                    <a:gridCol w="1499631">
                      <a:extLst>
                        <a:ext uri="{9D8B030D-6E8A-4147-A177-3AD203B41FA5}">
                          <a16:colId xmlns:a16="http://schemas.microsoft.com/office/drawing/2014/main" val="3663059907"/>
                        </a:ext>
                      </a:extLst>
                    </a:gridCol>
                    <a:gridCol w="2801913">
                      <a:extLst>
                        <a:ext uri="{9D8B030D-6E8A-4147-A177-3AD203B41FA5}">
                          <a16:colId xmlns:a16="http://schemas.microsoft.com/office/drawing/2014/main" val="59651987"/>
                        </a:ext>
                      </a:extLst>
                    </a:gridCol>
                  </a:tblGrid>
                  <a:tr h="623380">
                    <a:tc>
                      <a:txBody>
                        <a:bodyPr/>
                        <a:lstStyle/>
                        <a:p>
                          <a:pPr marL="0" marR="0" algn="ctr">
                            <a:lnSpc>
                              <a:spcPct val="107000"/>
                            </a:lnSpc>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Multiplication Equation</a:t>
                          </a:r>
                          <a:endParaRPr lang="en-US" sz="20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...related to…</a:t>
                          </a:r>
                          <a:endParaRPr lang="en-US" sz="20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Division Equation</a:t>
                          </a:r>
                          <a:endParaRPr lang="en-US" sz="2000" i="1"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570520763"/>
                      </a:ext>
                    </a:extLst>
                  </a:tr>
                  <a:tr h="949516">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61" t="-76000" r="-157143" b="-202667"/>
                          </a:stretch>
                        </a:blipFill>
                      </a:tcPr>
                    </a:tc>
                    <a:tc>
                      <a:txBody>
                        <a:bodyPr/>
                        <a:lstStyle/>
                        <a:p>
                          <a:pPr marL="0" marR="0" algn="ctr">
                            <a:lnSpc>
                              <a:spcPct val="107000"/>
                            </a:lnSpc>
                            <a:spcBef>
                              <a:spcPts val="0"/>
                            </a:spcBef>
                            <a:spcAft>
                              <a:spcPts val="0"/>
                            </a:spcAft>
                          </a:pPr>
                          <a:endParaRPr lang="en-US" sz="2000" i="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52036" t="-76000" r="-905" b="-202667"/>
                          </a:stretch>
                        </a:blipFill>
                      </a:tcPr>
                    </a:tc>
                    <a:extLst>
                      <a:ext uri="{0D108BD9-81ED-4DB2-BD59-A6C34878D82A}">
                        <a16:rowId xmlns:a16="http://schemas.microsoft.com/office/drawing/2014/main" val="197427113"/>
                      </a:ext>
                    </a:extLst>
                  </a:tr>
                  <a:tr h="949516">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61" t="-176000" r="-157143" b="-102667"/>
                          </a:stretch>
                        </a:blipFill>
                      </a:tcPr>
                    </a:tc>
                    <a:tc>
                      <a:txBody>
                        <a:bodyPr/>
                        <a:lstStyle/>
                        <a:p>
                          <a:pPr marL="0" marR="0" algn="ctr">
                            <a:lnSpc>
                              <a:spcPct val="107000"/>
                            </a:lnSpc>
                            <a:spcBef>
                              <a:spcPts val="0"/>
                            </a:spcBef>
                            <a:spcAft>
                              <a:spcPts val="0"/>
                            </a:spcAft>
                          </a:pPr>
                          <a:endParaRPr lang="en-US" sz="2000" i="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52036" t="-176000" r="-905" b="-102667"/>
                          </a:stretch>
                        </a:blipFill>
                      </a:tcPr>
                    </a:tc>
                    <a:extLst>
                      <a:ext uri="{0D108BD9-81ED-4DB2-BD59-A6C34878D82A}">
                        <a16:rowId xmlns:a16="http://schemas.microsoft.com/office/drawing/2014/main" val="4251118248"/>
                      </a:ext>
                    </a:extLst>
                  </a:tr>
                  <a:tr h="949516">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61" t="-276000" r="-157143" b="-2667"/>
                          </a:stretch>
                        </a:blipFill>
                      </a:tcPr>
                    </a:tc>
                    <a:tc>
                      <a:txBody>
                        <a:bodyPr/>
                        <a:lstStyle/>
                        <a:p>
                          <a:pPr marL="0" marR="0" algn="ctr">
                            <a:lnSpc>
                              <a:spcPct val="107000"/>
                            </a:lnSpc>
                            <a:spcBef>
                              <a:spcPts val="0"/>
                            </a:spcBef>
                            <a:spcAft>
                              <a:spcPts val="0"/>
                            </a:spcAft>
                          </a:pPr>
                          <a:endParaRPr lang="en-US" sz="2000" i="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52036" t="-276000" r="-905" b="-2667"/>
                          </a:stretch>
                        </a:blipFill>
                      </a:tcPr>
                    </a:tc>
                    <a:extLst>
                      <a:ext uri="{0D108BD9-81ED-4DB2-BD59-A6C34878D82A}">
                        <a16:rowId xmlns:a16="http://schemas.microsoft.com/office/drawing/2014/main" val="294270186"/>
                      </a:ext>
                    </a:extLst>
                  </a:tr>
                </a:tbl>
              </a:graphicData>
            </a:graphic>
          </p:graphicFrame>
        </mc:Fallback>
      </mc:AlternateContent>
      <p:cxnSp>
        <p:nvCxnSpPr>
          <p:cNvPr id="9" name="Straight Arrow Connector 8">
            <a:extLst>
              <a:ext uri="{FF2B5EF4-FFF2-40B4-BE49-F238E27FC236}">
                <a16:creationId xmlns:a16="http://schemas.microsoft.com/office/drawing/2014/main" xmlns="" id="{08D64E10-2E33-3D4C-9C78-46B0EB0704BD}"/>
              </a:ext>
            </a:extLst>
          </p:cNvPr>
          <p:cNvCxnSpPr/>
          <p:nvPr/>
        </p:nvCxnSpPr>
        <p:spPr>
          <a:xfrm>
            <a:off x="5792561" y="4442053"/>
            <a:ext cx="781050" cy="0"/>
          </a:xfrm>
          <a:prstGeom prst="straightConnector1">
            <a:avLst/>
          </a:prstGeom>
          <a:ln w="57150">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xmlns="" id="{B8C9CB47-5A8C-ED4F-8534-E494895BEA07}"/>
              </a:ext>
            </a:extLst>
          </p:cNvPr>
          <p:cNvCxnSpPr/>
          <p:nvPr/>
        </p:nvCxnSpPr>
        <p:spPr>
          <a:xfrm>
            <a:off x="5792561" y="5387522"/>
            <a:ext cx="781050" cy="0"/>
          </a:xfrm>
          <a:prstGeom prst="straightConnector1">
            <a:avLst/>
          </a:prstGeom>
          <a:ln w="57150">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xmlns="" id="{6095C48C-1D3B-BC4D-92B3-A3B073B43FAA}"/>
              </a:ext>
            </a:extLst>
          </p:cNvPr>
          <p:cNvCxnSpPr/>
          <p:nvPr/>
        </p:nvCxnSpPr>
        <p:spPr>
          <a:xfrm>
            <a:off x="5792561" y="3448731"/>
            <a:ext cx="781050" cy="0"/>
          </a:xfrm>
          <a:prstGeom prst="straightConnector1">
            <a:avLst/>
          </a:prstGeom>
          <a:ln w="57150">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Google Shape;125;g104476d1465_1_17"/>
          <p:cNvSpPr txBox="1"/>
          <p:nvPr/>
        </p:nvSpPr>
        <p:spPr>
          <a:xfrm>
            <a:off x="8715287"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290</a:t>
            </a:r>
            <a:endParaRPr i="1" dirty="0">
              <a:latin typeface="Calibri"/>
              <a:ea typeface="Calibri"/>
              <a:cs typeface="Calibri"/>
              <a:sym typeface="Calibri"/>
            </a:endParaRPr>
          </a:p>
        </p:txBody>
      </p:sp>
      <p:pic>
        <p:nvPicPr>
          <p:cNvPr id="13"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53513"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TotalTime>
  <Words>872</Words>
  <Application>Microsoft Macintosh PowerPoint</Application>
  <PresentationFormat>Widescreen</PresentationFormat>
  <Paragraphs>165</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 Black</vt:lpstr>
      <vt:lpstr>Calibri</vt:lpstr>
      <vt:lpstr>Cambria Math</vt:lpstr>
      <vt:lpstr>Verdana</vt:lpstr>
      <vt:lpstr>Arial</vt:lpstr>
      <vt:lpstr>1_Office Theme</vt:lpstr>
      <vt:lpstr>6th Grade Accelerated  Unit 6, Lesson 12  Multiplying and Dividing Integers With Procedural Fluency  Volume 1, pg. 287 </vt:lpstr>
      <vt:lpstr>Benchmark</vt:lpstr>
      <vt:lpstr>PowerPoint Presentation</vt:lpstr>
      <vt:lpstr>PowerPoint Presentation</vt:lpstr>
      <vt:lpstr>Warm-Up</vt:lpstr>
      <vt:lpstr>PowerPoint Presentation</vt:lpstr>
      <vt:lpstr>PowerPoint Presentation</vt:lpstr>
      <vt:lpstr>PowerPoint Presentation</vt:lpstr>
      <vt:lpstr>Collaboration</vt:lpstr>
      <vt:lpstr>PowerPoint Presentation</vt:lpstr>
      <vt:lpstr>PowerPoint Presentation</vt:lpstr>
      <vt:lpstr>Activity</vt:lpstr>
      <vt:lpstr>PowerPoint Presentation</vt:lpstr>
      <vt:lpstr>PowerPoint Presentation</vt:lpstr>
      <vt:lpstr>Guided Practice</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  Unit 6, Lesson #  Lesson Name  Volume x, pg. #  </dc:title>
  <dc:creator>Karen McKenzie</dc:creator>
  <cp:lastModifiedBy>jslater9816@gmail.com</cp:lastModifiedBy>
  <cp:revision>6</cp:revision>
  <dcterms:created xsi:type="dcterms:W3CDTF">2015-03-17T18:51:18Z</dcterms:created>
  <dcterms:modified xsi:type="dcterms:W3CDTF">2022-07-29T02:28:05Z</dcterms:modified>
</cp:coreProperties>
</file>