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hthg8b6+7yC+ChuB+Hcidt7sNu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746F372F-C62B-4AD9-8570-24E31C3B94DE}">
  <a:tblStyle styleId="{746F372F-C62B-4AD9-8570-24E31C3B94D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95"/>
  </p:normalViewPr>
  <p:slideViewPr>
    <p:cSldViewPr snapToGrid="0">
      <p:cViewPr>
        <p:scale>
          <a:sx n="117" d="100"/>
          <a:sy n="117" d="100"/>
        </p:scale>
        <p:origin x="-234"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4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530621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157083e469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g1157083e469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g1157083e469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157083e469_0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1157083e469_0_1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g1157083e469_0_1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1157083e469_0_1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g1157083e469_0_1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g1157083e469_0_1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27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10.png"/><Relationship Id="rId4" Type="http://schemas.openxmlformats.org/officeDocument/2006/relationships/image" Target="../media/image24.png"/><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4" name="Google Shape;114;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6</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Accelerated Math</a:t>
            </a:r>
            <a:endParaRPr sz="3800" b="1">
              <a:solidFill>
                <a:srgbClr val="417DBF"/>
              </a:solidFill>
              <a:latin typeface="Verdana"/>
              <a:ea typeface="Verdana"/>
              <a:cs typeface="Verdana"/>
              <a:sym typeface="Verdana"/>
            </a:endParaRPr>
          </a:p>
          <a:p>
            <a:pPr algn="ctr">
              <a:lnSpc>
                <a:spcPct val="100000"/>
              </a:lnSpc>
            </a:pP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Unit 6, Lesson 7</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
            </a:r>
            <a:br>
              <a:rPr lang="en-US" sz="3800" b="1">
                <a:solidFill>
                  <a:srgbClr val="417DBF"/>
                </a:solidFill>
                <a:latin typeface="Verdana"/>
                <a:ea typeface="Verdana"/>
                <a:cs typeface="Verdana"/>
                <a:sym typeface="Verdana"/>
              </a:rPr>
            </a:br>
            <a:r>
              <a:rPr lang="en-US" sz="3800" b="1">
                <a:solidFill>
                  <a:srgbClr val="417DBF"/>
                </a:solidFill>
                <a:latin typeface="Verdana"/>
                <a:ea typeface="Verdana"/>
                <a:cs typeface="Verdana"/>
                <a:sym typeface="Verdana"/>
              </a:rPr>
              <a:t>Subtracting Integers Using Number Lines</a:t>
            </a:r>
            <a:endParaRPr sz="3800" b="1">
              <a:solidFill>
                <a:srgbClr val="417DBF"/>
              </a:solidFill>
              <a:latin typeface="Verdana"/>
              <a:ea typeface="Verdana"/>
              <a:cs typeface="Verdana"/>
              <a:sym typeface="Verdana"/>
            </a:endParaRPr>
          </a:p>
          <a:p>
            <a:pPr algn="ctr">
              <a:lnSpc>
                <a:spcPct val="100000"/>
              </a:lnSpc>
              <a:buClr>
                <a:srgbClr val="000000"/>
              </a:buClr>
            </a:pPr>
            <a:r>
              <a:rPr lang="en-US" sz="3800" b="1">
                <a:solidFill>
                  <a:srgbClr val="417DBF"/>
                </a:solidFill>
                <a:latin typeface="Verdana"/>
                <a:ea typeface="Verdana"/>
                <a:cs typeface="Verdana"/>
                <a:sym typeface="Verdana"/>
              </a:rPr>
              <a:t/>
            </a: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1, pg. 264</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5" name="Google Shape;115;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0503" y="1692057"/>
            <a:ext cx="2973100" cy="3465785"/>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60950" y="-34774"/>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37450" y="201001"/>
            <a:ext cx="747300" cy="747300"/>
          </a:xfrm>
          <a:prstGeom prst="rect">
            <a:avLst/>
          </a:prstGeom>
          <a:noFill/>
          <a:ln>
            <a:noFill/>
          </a:ln>
          <a:effectLst>
            <a:outerShdw blurRad="57150" dist="19050" dir="5400000" algn="bl" rotWithShape="0">
              <a:srgbClr val="000000">
                <a:alpha val="49411"/>
              </a:srgbClr>
            </a:outerShdw>
          </a:effectLst>
        </p:spPr>
      </p:pic>
      <p:sp>
        <p:nvSpPr>
          <p:cNvPr id="125"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
        <p:nvSpPr>
          <p:cNvPr id="127" name="Google Shape;127;g104476d1465_1_17"/>
          <p:cNvSpPr txBox="1"/>
          <p:nvPr/>
        </p:nvSpPr>
        <p:spPr>
          <a:xfrm>
            <a:off x="1384750" y="1600200"/>
            <a:ext cx="94225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000" dirty="0">
                <a:solidFill>
                  <a:schemeClr val="dk1"/>
                </a:solidFill>
                <a:latin typeface="Verdana"/>
                <a:ea typeface="Verdana"/>
                <a:cs typeface="Verdana"/>
                <a:sym typeface="Verdana"/>
              </a:rPr>
              <a:t>MA.6.NSO.4.1 </a:t>
            </a:r>
            <a:endParaRPr sz="30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000" dirty="0">
                <a:solidFill>
                  <a:schemeClr val="dk1"/>
                </a:solidFill>
                <a:latin typeface="Verdana"/>
                <a:ea typeface="Verdana"/>
                <a:cs typeface="Verdana"/>
                <a:sym typeface="Verdana"/>
              </a:rPr>
              <a:t>Apply and extend previous understandings of operations with whole numbers to add and subtract integers with procedural fluency.</a:t>
            </a:r>
            <a:endParaRPr sz="16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764450" y="334200"/>
            <a:ext cx="747300" cy="747300"/>
          </a:xfrm>
          <a:prstGeom prst="rect">
            <a:avLst/>
          </a:prstGeom>
          <a:noFill/>
          <a:ln>
            <a:noFill/>
          </a:ln>
          <a:effectLst>
            <a:outerShdw blurRad="57150" dist="19050" dir="5400000" algn="bl" rotWithShape="0">
              <a:srgbClr val="000000">
                <a:alpha val="49411"/>
              </a:srgbClr>
            </a:outerShdw>
          </a:effectLst>
        </p:spPr>
      </p:pic>
      <p:sp>
        <p:nvSpPr>
          <p:cNvPr id="136" name="Google Shape;136;p1"/>
          <p:cNvSpPr txBox="1"/>
          <p:nvPr/>
        </p:nvSpPr>
        <p:spPr>
          <a:xfrm>
            <a:off x="1589100" y="915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511750" y="1596390"/>
            <a:ext cx="9756260" cy="4205700"/>
          </a:xfrm>
          <a:prstGeom prst="rect">
            <a:avLst/>
          </a:prstGeom>
          <a:noFill/>
          <a:ln>
            <a:noFill/>
          </a:ln>
        </p:spPr>
        <p:txBody>
          <a:bodyPr spcFirstLastPara="1" wrap="square" lIns="91425" tIns="45700" rIns="91425" bIns="45700" anchor="t" anchorCtr="0">
            <a:noAutofit/>
          </a:bodyPr>
          <a:lstStyle/>
          <a:p>
            <a:pPr marL="457200">
              <a:buSzPts val="1800"/>
            </a:pPr>
            <a:endParaRPr sz="2500">
              <a:solidFill>
                <a:schemeClr val="dk1"/>
              </a:solidFill>
              <a:latin typeface="Verdana"/>
              <a:ea typeface="Verdana"/>
              <a:cs typeface="Verdana"/>
              <a:sym typeface="Verdana"/>
            </a:endParaRPr>
          </a:p>
          <a:p>
            <a:pPr>
              <a:buSzPts val="1800"/>
            </a:pPr>
            <a:r>
              <a:rPr lang="en-US" sz="2500" dirty="0">
                <a:solidFill>
                  <a:schemeClr val="dk1"/>
                </a:solidFill>
                <a:latin typeface="Verdana"/>
                <a:ea typeface="Verdana"/>
                <a:cs typeface="Verdana"/>
                <a:sym typeface="Verdana"/>
              </a:rPr>
              <a:t>MA.K12.MTR.5.1 Use patterns and structure to help understand and connect mathematical concepts.</a:t>
            </a:r>
            <a:endParaRPr sz="2100" dirty="0"/>
          </a:p>
          <a:p>
            <a:pPr>
              <a:buSzPts val="1800"/>
            </a:pPr>
            <a:endParaRPr sz="2500" dirty="0">
              <a:solidFill>
                <a:schemeClr val="dk1"/>
              </a:solidFill>
              <a:latin typeface="Verdana"/>
              <a:ea typeface="Verdana"/>
              <a:cs typeface="Verdana"/>
              <a:sym typeface="Verdana"/>
            </a:endParaRPr>
          </a:p>
          <a:p>
            <a:pPr>
              <a:buSzPts val="1800"/>
            </a:pPr>
            <a:r>
              <a:rPr lang="en-US" sz="2500" dirty="0">
                <a:solidFill>
                  <a:schemeClr val="dk1"/>
                </a:solidFill>
                <a:latin typeface="Verdana"/>
                <a:ea typeface="Verdana"/>
                <a:cs typeface="Verdana"/>
                <a:sym typeface="Verdana"/>
              </a:rPr>
              <a:t>MA.K12.MTR.6.1 Assess the reasonableness of solutions.</a:t>
            </a:r>
            <a:endParaRPr sz="2100" dirty="0"/>
          </a:p>
          <a:p>
            <a:pPr>
              <a:buSzPts val="1800"/>
            </a:pPr>
            <a:endParaRPr sz="1800" dirty="0">
              <a:solidFill>
                <a:schemeClr val="dk1"/>
              </a:solidFill>
              <a:latin typeface="Verdana"/>
              <a:ea typeface="Verdana"/>
              <a:cs typeface="Verdana"/>
              <a:sym typeface="Verdana"/>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501169" y="-8101"/>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a:t>
            </a:r>
            <a:r>
              <a:rPr lang="en-US" sz="4700" b="1" smtClean="0">
                <a:solidFill>
                  <a:srgbClr val="52BDA6"/>
                </a:solidFill>
                <a:latin typeface="Verdana"/>
                <a:ea typeface="Verdana"/>
                <a:cs typeface="Verdana"/>
                <a:sym typeface="Verdana"/>
              </a:rPr>
              <a:t>Targets</a:t>
            </a:r>
            <a:endParaRPr dirty="0"/>
          </a:p>
        </p:txBody>
      </p:sp>
      <p:pic>
        <p:nvPicPr>
          <p:cNvPr id="147" name="Google Shape;147;p2"/>
          <p:cNvPicPr preferRelativeResize="0"/>
          <p:nvPr/>
        </p:nvPicPr>
        <p:blipFill rotWithShape="1">
          <a:blip r:embed="rId3">
            <a:alphaModFix/>
          </a:blip>
          <a:srcRect/>
          <a:stretch/>
        </p:blipFill>
        <p:spPr>
          <a:xfrm>
            <a:off x="719007" y="281099"/>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612900" y="1600200"/>
            <a:ext cx="8966200" cy="4205700"/>
          </a:xfrm>
          <a:prstGeom prst="rect">
            <a:avLst/>
          </a:prstGeom>
          <a:noFill/>
          <a:ln>
            <a:noFill/>
          </a:ln>
        </p:spPr>
        <p:txBody>
          <a:bodyPr spcFirstLastPara="1" wrap="square" lIns="91425" tIns="45700" rIns="91425" bIns="45700" anchor="t" anchorCtr="0">
            <a:noAutofit/>
          </a:bodyPr>
          <a:lstStyle/>
          <a:p>
            <a:pPr marL="457200" indent="-406400">
              <a:buClr>
                <a:srgbClr val="434343"/>
              </a:buClr>
              <a:buSzPts val="2800"/>
              <a:buFont typeface="Verdana"/>
              <a:buChar char="❏"/>
            </a:pPr>
            <a:r>
              <a:rPr lang="en-US" sz="2800" dirty="0">
                <a:solidFill>
                  <a:schemeClr val="dk1"/>
                </a:solidFill>
                <a:latin typeface="Verdana"/>
                <a:ea typeface="Verdana"/>
                <a:cs typeface="Verdana"/>
                <a:sym typeface="Verdana"/>
              </a:rPr>
              <a:t>I can subtract integers using a number line.</a:t>
            </a:r>
            <a:endParaRPr sz="700" dirty="0"/>
          </a:p>
          <a:p>
            <a:pPr marL="457200" indent="-406400">
              <a:buClr>
                <a:srgbClr val="434343"/>
              </a:buClr>
              <a:buSzPts val="2800"/>
              <a:buFont typeface="Verdana"/>
              <a:buChar char="❏"/>
            </a:pPr>
            <a:r>
              <a:rPr lang="en-US" sz="2800" dirty="0">
                <a:solidFill>
                  <a:schemeClr val="dk1"/>
                </a:solidFill>
                <a:latin typeface="Verdana"/>
                <a:ea typeface="Verdana"/>
                <a:cs typeface="Verdana"/>
                <a:sym typeface="Verdana"/>
              </a:rPr>
              <a:t>I can use number lines to understand how the rules for adding integers are related to the rules for subtracting integers.</a:t>
            </a:r>
            <a:endParaRPr sz="700" dirty="0"/>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1, pg.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453288"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6.7.1 Warm-Up: Bell Work</a:t>
            </a:r>
            <a:endParaRPr/>
          </a:p>
        </p:txBody>
      </p:sp>
      <p:pic>
        <p:nvPicPr>
          <p:cNvPr id="168" name="Google Shape;168;p4"/>
          <p:cNvPicPr preferRelativeResize="0"/>
          <p:nvPr/>
        </p:nvPicPr>
        <p:blipFill rotWithShape="1">
          <a:blip r:embed="rId3">
            <a:alphaModFix/>
          </a:blip>
          <a:srcRect/>
          <a:stretch/>
        </p:blipFill>
        <p:spPr>
          <a:xfrm>
            <a:off x="705988" y="289200"/>
            <a:ext cx="747300" cy="747300"/>
          </a:xfrm>
          <a:prstGeom prst="rect">
            <a:avLst/>
          </a:prstGeom>
          <a:noFill/>
          <a:ln>
            <a:noFill/>
          </a:ln>
          <a:effectLst>
            <a:outerShdw blurRad="50800" dist="38100" dir="2700000" algn="tl" rotWithShape="0">
              <a:srgbClr val="000000">
                <a:alpha val="40000"/>
              </a:srgbClr>
            </a:outerShdw>
          </a:effectLst>
        </p:spPr>
      </p:pic>
      <p:sp>
        <p:nvSpPr>
          <p:cNvPr id="170" name="Google Shape;170;p4"/>
          <p:cNvSpPr txBox="1"/>
          <p:nvPr/>
        </p:nvSpPr>
        <p:spPr>
          <a:xfrm>
            <a:off x="1453288" y="1386025"/>
            <a:ext cx="9541420" cy="831000"/>
          </a:xfrm>
          <a:prstGeom prst="rect">
            <a:avLst/>
          </a:prstGeom>
          <a:noFill/>
          <a:ln>
            <a:noFill/>
          </a:ln>
        </p:spPr>
        <p:txBody>
          <a:bodyPr spcFirstLastPara="1" wrap="square" lIns="91425" tIns="45700" rIns="91425" bIns="45700" anchor="t" anchorCtr="0">
            <a:spAutoFit/>
          </a:bodyPr>
          <a:lstStyle/>
          <a:p>
            <a:pPr marL="457200" indent="-381000">
              <a:buSzPts val="2400"/>
              <a:buFont typeface="Verdana"/>
              <a:buAutoNum type="arabicPeriod"/>
            </a:pPr>
            <a:r>
              <a:rPr lang="en-US" sz="2400">
                <a:latin typeface="Verdana"/>
                <a:ea typeface="Verdana"/>
                <a:cs typeface="Verdana"/>
                <a:sym typeface="Verdana"/>
              </a:rPr>
              <a:t>Draw integer chips that represent the expression below and evaluate.</a:t>
            </a:r>
            <a:endParaRPr/>
          </a:p>
        </p:txBody>
      </p:sp>
      <p:sp>
        <p:nvSpPr>
          <p:cNvPr id="171" name="Google Shape;171;p4"/>
          <p:cNvSpPr txBox="1"/>
          <p:nvPr/>
        </p:nvSpPr>
        <p:spPr>
          <a:xfrm>
            <a:off x="5129100" y="2394450"/>
            <a:ext cx="1933800" cy="554100"/>
          </a:xfrm>
          <a:prstGeom prst="rect">
            <a:avLst/>
          </a:prstGeom>
          <a:noFill/>
          <a:ln>
            <a:noFill/>
          </a:ln>
        </p:spPr>
        <p:txBody>
          <a:bodyPr spcFirstLastPara="1" wrap="square" lIns="91425" tIns="91425" rIns="91425" bIns="91425" anchor="t" anchorCtr="0">
            <a:spAutoFit/>
          </a:bodyPr>
          <a:lstStyle/>
          <a:p>
            <a:r>
              <a:rPr lang="en-US" sz="2400">
                <a:latin typeface="Verdana"/>
                <a:ea typeface="Verdana"/>
                <a:cs typeface="Verdana"/>
                <a:sym typeface="Verdana"/>
              </a:rPr>
              <a:t>7 − (−3)</a:t>
            </a:r>
            <a:endParaRPr sz="2400">
              <a:latin typeface="Verdana"/>
              <a:ea typeface="Verdana"/>
              <a:cs typeface="Verdana"/>
              <a:sym typeface="Verdana"/>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79" name="Google Shape;179;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180" name="Google Shape;180;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9"/>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189" name="Google Shape;189;p19"/>
          <p:cNvSpPr txBox="1"/>
          <p:nvPr/>
        </p:nvSpPr>
        <p:spPr>
          <a:xfrm>
            <a:off x="1266242" y="3309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900" b="1">
                <a:solidFill>
                  <a:srgbClr val="54B5D1"/>
                </a:solidFill>
                <a:latin typeface="Verdana"/>
                <a:ea typeface="Verdana"/>
                <a:cs typeface="Verdana"/>
                <a:sym typeface="Verdana"/>
              </a:rPr>
              <a:t>6.7.2 Guided Instruction: Subtracting Integers Using a Number Line </a:t>
            </a:r>
            <a:endParaRPr sz="700"/>
          </a:p>
        </p:txBody>
      </p:sp>
      <p:pic>
        <p:nvPicPr>
          <p:cNvPr id="190" name="Google Shape;190;p19"/>
          <p:cNvPicPr preferRelativeResize="0"/>
          <p:nvPr/>
        </p:nvPicPr>
        <p:blipFill rotWithShape="1">
          <a:blip r:embed="rId3">
            <a:alphaModFix/>
          </a:blip>
          <a:srcRect/>
          <a:stretch/>
        </p:blipFill>
        <p:spPr>
          <a:xfrm>
            <a:off x="518942" y="240361"/>
            <a:ext cx="747300" cy="747300"/>
          </a:xfrm>
          <a:prstGeom prst="rect">
            <a:avLst/>
          </a:prstGeom>
          <a:noFill/>
          <a:ln>
            <a:noFill/>
          </a:ln>
          <a:effectLst>
            <a:outerShdw blurRad="50800" dist="38100" dir="2700000" algn="tl" rotWithShape="0">
              <a:srgbClr val="000000">
                <a:alpha val="40000"/>
              </a:srgbClr>
            </a:outerShdw>
          </a:effectLst>
        </p:spPr>
      </p:pic>
      <p:sp>
        <p:nvSpPr>
          <p:cNvPr id="192" name="Google Shape;192;p19"/>
          <p:cNvSpPr txBox="1"/>
          <p:nvPr/>
        </p:nvSpPr>
        <p:spPr>
          <a:xfrm>
            <a:off x="1435100" y="1386025"/>
            <a:ext cx="9577796" cy="677100"/>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a:pPr>
            <a:r>
              <a:rPr lang="en-US" sz="1900" dirty="0">
                <a:latin typeface="Verdana"/>
                <a:ea typeface="Verdana"/>
                <a:cs typeface="Verdana"/>
                <a:sym typeface="Verdana"/>
              </a:rPr>
              <a:t>The temperature in degrees Fahrenheit (℉) of a city in Alaska was 4− ℉. After sunset, the temperature dropped 6℉. </a:t>
            </a:r>
            <a:endParaRPr sz="900" dirty="0"/>
          </a:p>
        </p:txBody>
      </p:sp>
      <p:grpSp>
        <p:nvGrpSpPr>
          <p:cNvPr id="2" name="Group 1">
            <a:extLst>
              <a:ext uri="{FF2B5EF4-FFF2-40B4-BE49-F238E27FC236}">
                <a16:creationId xmlns="" xmlns:a16="http://schemas.microsoft.com/office/drawing/2014/main" id="{38359DEC-ED8C-40C2-A5F9-FC9C8E7311BF}"/>
              </a:ext>
            </a:extLst>
          </p:cNvPr>
          <p:cNvGrpSpPr/>
          <p:nvPr/>
        </p:nvGrpSpPr>
        <p:grpSpPr>
          <a:xfrm>
            <a:off x="2006601" y="2363048"/>
            <a:ext cx="7190820" cy="3525300"/>
            <a:chOff x="485000" y="2132475"/>
            <a:chExt cx="7364100" cy="3525300"/>
          </a:xfrm>
        </p:grpSpPr>
        <p:sp>
          <p:nvSpPr>
            <p:cNvPr id="193" name="Google Shape;193;p19"/>
            <p:cNvSpPr txBox="1"/>
            <p:nvPr/>
          </p:nvSpPr>
          <p:spPr>
            <a:xfrm>
              <a:off x="485000" y="2132475"/>
              <a:ext cx="7364100" cy="769500"/>
            </a:xfrm>
            <a:prstGeom prst="rect">
              <a:avLst/>
            </a:prstGeom>
            <a:noFill/>
            <a:ln>
              <a:noFill/>
            </a:ln>
          </p:spPr>
          <p:txBody>
            <a:bodyPr spcFirstLastPara="1" wrap="square" lIns="91425" tIns="91425" rIns="91425" bIns="91425" anchor="t" anchorCtr="0">
              <a:spAutoFit/>
            </a:bodyPr>
            <a:lstStyle/>
            <a:p>
              <a:pPr marL="457200" indent="-457200">
                <a:buSzPct val="100000"/>
                <a:buFont typeface="+mj-lt"/>
                <a:buAutoNum type="alphaLcPeriod"/>
              </a:pPr>
              <a:r>
                <a:rPr lang="en-US" sz="1900" dirty="0">
                  <a:latin typeface="Verdana"/>
                  <a:ea typeface="Verdana"/>
                  <a:cs typeface="Verdana"/>
                  <a:sym typeface="Verdana"/>
                </a:rPr>
                <a:t>Represent the change in temperature on the number line.</a:t>
              </a:r>
              <a:endParaRPr sz="1900" dirty="0">
                <a:latin typeface="Verdana"/>
                <a:ea typeface="Verdana"/>
                <a:cs typeface="Verdana"/>
                <a:sym typeface="Verdana"/>
              </a:endParaRPr>
            </a:p>
          </p:txBody>
        </p:sp>
        <p:sp>
          <p:nvSpPr>
            <p:cNvPr id="194" name="Google Shape;194;p19"/>
            <p:cNvSpPr txBox="1"/>
            <p:nvPr/>
          </p:nvSpPr>
          <p:spPr>
            <a:xfrm>
              <a:off x="485000" y="2914064"/>
              <a:ext cx="7261200" cy="1061799"/>
            </a:xfrm>
            <a:prstGeom prst="rect">
              <a:avLst/>
            </a:prstGeom>
            <a:noFill/>
            <a:ln>
              <a:noFill/>
            </a:ln>
          </p:spPr>
          <p:txBody>
            <a:bodyPr spcFirstLastPara="1" wrap="square" lIns="91425" tIns="91425" rIns="91425" bIns="91425" anchor="t" anchorCtr="0">
              <a:spAutoFit/>
            </a:bodyPr>
            <a:lstStyle/>
            <a:p>
              <a:pPr marL="457200" indent="-457200">
                <a:buSzPct val="100000"/>
                <a:buFont typeface="+mj-lt"/>
                <a:buAutoNum type="alphaLcPeriod" startAt="2"/>
              </a:pPr>
              <a:r>
                <a:rPr lang="en-US" sz="1900" dirty="0">
                  <a:latin typeface="Verdana"/>
                  <a:ea typeface="Verdana"/>
                  <a:cs typeface="Verdana"/>
                  <a:sym typeface="Verdana"/>
                </a:rPr>
                <a:t>Write the subtraction number sentence that is represented from the context and on the number line. </a:t>
              </a:r>
              <a:endParaRPr sz="1900" dirty="0">
                <a:latin typeface="Verdana"/>
                <a:ea typeface="Verdana"/>
                <a:cs typeface="Verdana"/>
                <a:sym typeface="Verdana"/>
              </a:endParaRPr>
            </a:p>
          </p:txBody>
        </p:sp>
        <p:sp>
          <p:nvSpPr>
            <p:cNvPr id="195" name="Google Shape;195;p19"/>
            <p:cNvSpPr txBox="1"/>
            <p:nvPr/>
          </p:nvSpPr>
          <p:spPr>
            <a:xfrm>
              <a:off x="485000" y="3975863"/>
              <a:ext cx="6650100" cy="769500"/>
            </a:xfrm>
            <a:prstGeom prst="rect">
              <a:avLst/>
            </a:prstGeom>
            <a:noFill/>
            <a:ln>
              <a:noFill/>
            </a:ln>
          </p:spPr>
          <p:txBody>
            <a:bodyPr spcFirstLastPara="1" wrap="square" lIns="91425" tIns="91425" rIns="91425" bIns="91425" anchor="t" anchorCtr="0">
              <a:spAutoFit/>
            </a:bodyPr>
            <a:lstStyle/>
            <a:p>
              <a:pPr marL="457200" indent="-457200">
                <a:buSzPct val="100000"/>
                <a:buFont typeface="+mj-lt"/>
                <a:buAutoNum type="alphaLcPeriod" startAt="3"/>
              </a:pPr>
              <a:r>
                <a:rPr lang="en-US" sz="1900" dirty="0">
                  <a:latin typeface="Verdana"/>
                  <a:ea typeface="Verdana"/>
                  <a:cs typeface="Verdana"/>
                  <a:sym typeface="Verdana"/>
                </a:rPr>
                <a:t>After the decrease in temperature, what was the temperature?</a:t>
              </a:r>
              <a:endParaRPr sz="1900" dirty="0">
                <a:latin typeface="Verdana"/>
                <a:ea typeface="Verdana"/>
                <a:cs typeface="Verdana"/>
                <a:sym typeface="Verdana"/>
              </a:endParaRPr>
            </a:p>
          </p:txBody>
        </p:sp>
        <p:sp>
          <p:nvSpPr>
            <p:cNvPr id="196" name="Google Shape;196;p19"/>
            <p:cNvSpPr txBox="1"/>
            <p:nvPr/>
          </p:nvSpPr>
          <p:spPr>
            <a:xfrm>
              <a:off x="485000" y="4888275"/>
              <a:ext cx="6650100" cy="769500"/>
            </a:xfrm>
            <a:prstGeom prst="rect">
              <a:avLst/>
            </a:prstGeom>
            <a:noFill/>
            <a:ln>
              <a:noFill/>
            </a:ln>
          </p:spPr>
          <p:txBody>
            <a:bodyPr spcFirstLastPara="1" wrap="square" lIns="91425" tIns="91425" rIns="91425" bIns="91425" anchor="t" anchorCtr="0">
              <a:spAutoFit/>
            </a:bodyPr>
            <a:lstStyle/>
            <a:p>
              <a:pPr marL="457200" indent="-457200">
                <a:buSzPct val="100000"/>
                <a:buFont typeface="+mj-lt"/>
                <a:buAutoNum type="alphaLcPeriod" startAt="4"/>
              </a:pPr>
              <a:r>
                <a:rPr lang="en-US" sz="1900" dirty="0">
                  <a:latin typeface="Verdana"/>
                  <a:ea typeface="Verdana"/>
                  <a:cs typeface="Verdana"/>
                  <a:sym typeface="Verdana"/>
                </a:rPr>
                <a:t>Represent the temperature change using integer chips to verify the solution.</a:t>
              </a:r>
              <a:endParaRPr sz="1900" dirty="0">
                <a:latin typeface="Verdana"/>
                <a:ea typeface="Verdana"/>
                <a:cs typeface="Verdana"/>
                <a:sym typeface="Verdana"/>
              </a:endParaRPr>
            </a:p>
          </p:txBody>
        </p:sp>
      </p:grpSp>
      <p:pic>
        <p:nvPicPr>
          <p:cNvPr id="197" name="Google Shape;197;p1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9285542" y="1757161"/>
            <a:ext cx="563850" cy="4663952"/>
          </a:xfrm>
          <a:prstGeom prst="rect">
            <a:avLst/>
          </a:prstGeom>
          <a:noFill/>
          <a:ln>
            <a:noFill/>
          </a:ln>
        </p:spPr>
      </p:pic>
      <p:sp>
        <p:nvSpPr>
          <p:cNvPr id="14"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265</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0"/>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06" name="Google Shape;206;p20"/>
          <p:cNvSpPr txBox="1"/>
          <p:nvPr/>
        </p:nvSpPr>
        <p:spPr>
          <a:xfrm>
            <a:off x="1816100" y="520393"/>
            <a:ext cx="8518765" cy="677100"/>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startAt="2"/>
            </a:pPr>
            <a:r>
              <a:rPr lang="en-US" sz="1900" dirty="0">
                <a:latin typeface="Verdana"/>
                <a:ea typeface="Verdana"/>
                <a:cs typeface="Verdana"/>
                <a:sym typeface="Verdana"/>
              </a:rPr>
              <a:t>Complete the statements to explain how to represent subtraction on a horizontal number line.</a:t>
            </a:r>
            <a:endParaRPr sz="900" dirty="0"/>
          </a:p>
        </p:txBody>
      </p:sp>
      <p:sp>
        <p:nvSpPr>
          <p:cNvPr id="207" name="Google Shape;207;p20"/>
          <p:cNvSpPr txBox="1"/>
          <p:nvPr/>
        </p:nvSpPr>
        <p:spPr>
          <a:xfrm>
            <a:off x="2307900" y="1373396"/>
            <a:ext cx="7576200" cy="461700"/>
          </a:xfrm>
          <a:prstGeom prst="rect">
            <a:avLst/>
          </a:prstGeom>
          <a:noFill/>
          <a:ln>
            <a:noFill/>
          </a:ln>
        </p:spPr>
        <p:txBody>
          <a:bodyPr spcFirstLastPara="1" wrap="square" lIns="91425" tIns="91425" rIns="91425" bIns="91425" anchor="t" anchorCtr="0">
            <a:spAutoFit/>
          </a:bodyPr>
          <a:lstStyle/>
          <a:p>
            <a:r>
              <a:rPr lang="en-US" sz="1800" dirty="0">
                <a:latin typeface="Verdana"/>
                <a:ea typeface="Verdana"/>
                <a:cs typeface="Verdana"/>
                <a:sym typeface="Verdana"/>
              </a:rPr>
              <a:t>a. To find the difference of −9 − (−30), start by plotting</a:t>
            </a:r>
            <a:endParaRPr sz="1800" dirty="0">
              <a:latin typeface="Verdana"/>
              <a:ea typeface="Verdana"/>
              <a:cs typeface="Verdana"/>
              <a:sym typeface="Verdana"/>
            </a:endParaRPr>
          </a:p>
        </p:txBody>
      </p:sp>
      <p:sp>
        <p:nvSpPr>
          <p:cNvPr id="208" name="Google Shape;208;p20"/>
          <p:cNvSpPr txBox="1"/>
          <p:nvPr/>
        </p:nvSpPr>
        <p:spPr>
          <a:xfrm>
            <a:off x="3527500" y="1774596"/>
            <a:ext cx="3000000" cy="461700"/>
          </a:xfrm>
          <a:prstGeom prst="rect">
            <a:avLst/>
          </a:prstGeom>
          <a:noFill/>
          <a:ln>
            <a:noFill/>
          </a:ln>
        </p:spPr>
        <p:txBody>
          <a:bodyPr spcFirstLastPara="1" wrap="square" lIns="91425" tIns="91425" rIns="91425" bIns="91425" anchor="t" anchorCtr="0">
            <a:spAutoFit/>
          </a:bodyPr>
          <a:lstStyle/>
          <a:p>
            <a:r>
              <a:rPr lang="en-US" sz="1800">
                <a:latin typeface="Verdana"/>
                <a:ea typeface="Verdana"/>
                <a:cs typeface="Verdana"/>
                <a:sym typeface="Verdana"/>
              </a:rPr>
              <a:t>on the number line first. </a:t>
            </a:r>
            <a:endParaRPr sz="1800">
              <a:latin typeface="Verdana"/>
              <a:ea typeface="Verdana"/>
              <a:cs typeface="Verdana"/>
              <a:sym typeface="Verdana"/>
            </a:endParaRPr>
          </a:p>
        </p:txBody>
      </p:sp>
      <p:sp>
        <p:nvSpPr>
          <p:cNvPr id="209" name="Google Shape;209;p20"/>
          <p:cNvSpPr txBox="1"/>
          <p:nvPr/>
        </p:nvSpPr>
        <p:spPr>
          <a:xfrm>
            <a:off x="2307900" y="2942581"/>
            <a:ext cx="6921300" cy="461700"/>
          </a:xfrm>
          <a:prstGeom prst="rect">
            <a:avLst/>
          </a:prstGeom>
          <a:noFill/>
          <a:ln>
            <a:noFill/>
          </a:ln>
        </p:spPr>
        <p:txBody>
          <a:bodyPr spcFirstLastPara="1" wrap="square" lIns="91425" tIns="91425" rIns="91425" bIns="91425" anchor="t" anchorCtr="0">
            <a:spAutoFit/>
          </a:bodyPr>
          <a:lstStyle/>
          <a:p>
            <a:r>
              <a:rPr lang="en-US" sz="1800">
                <a:latin typeface="Verdana"/>
                <a:ea typeface="Verdana"/>
                <a:cs typeface="Verdana"/>
                <a:sym typeface="Verdana"/>
              </a:rPr>
              <a:t>b. The subtraction sign indicates moving to</a:t>
            </a:r>
            <a:r>
              <a:rPr lang="en-US" sz="1300"/>
              <a:t> </a:t>
            </a:r>
            <a:r>
              <a:rPr lang="en-US" sz="1800">
                <a:latin typeface="Verdana"/>
                <a:ea typeface="Verdana"/>
                <a:cs typeface="Verdana"/>
                <a:sym typeface="Verdana"/>
              </a:rPr>
              <a:t>the</a:t>
            </a:r>
            <a:r>
              <a:rPr lang="en-US" sz="1300"/>
              <a:t> </a:t>
            </a:r>
            <a:endParaRPr sz="1300"/>
          </a:p>
        </p:txBody>
      </p:sp>
      <p:sp>
        <p:nvSpPr>
          <p:cNvPr id="210" name="Google Shape;210;p20"/>
          <p:cNvSpPr txBox="1"/>
          <p:nvPr/>
        </p:nvSpPr>
        <p:spPr>
          <a:xfrm>
            <a:off x="3726475" y="3493644"/>
            <a:ext cx="5773800" cy="461700"/>
          </a:xfrm>
          <a:prstGeom prst="rect">
            <a:avLst/>
          </a:prstGeom>
          <a:noFill/>
          <a:ln>
            <a:noFill/>
          </a:ln>
        </p:spPr>
        <p:txBody>
          <a:bodyPr spcFirstLastPara="1" wrap="square" lIns="91425" tIns="91425" rIns="91425" bIns="91425" anchor="t" anchorCtr="0">
            <a:spAutoFit/>
          </a:bodyPr>
          <a:lstStyle/>
          <a:p>
            <a:r>
              <a:rPr lang="en-US" sz="1800">
                <a:latin typeface="Verdana"/>
                <a:ea typeface="Verdana"/>
                <a:cs typeface="Verdana"/>
                <a:sym typeface="Verdana"/>
              </a:rPr>
              <a:t>on the number line, but it is followed by </a:t>
            </a:r>
            <a:endParaRPr sz="1300"/>
          </a:p>
        </p:txBody>
      </p:sp>
      <p:sp>
        <p:nvSpPr>
          <p:cNvPr id="211" name="Google Shape;211;p20"/>
          <p:cNvSpPr txBox="1"/>
          <p:nvPr/>
        </p:nvSpPr>
        <p:spPr>
          <a:xfrm>
            <a:off x="2711650" y="4044706"/>
            <a:ext cx="6997800" cy="461700"/>
          </a:xfrm>
          <a:prstGeom prst="rect">
            <a:avLst/>
          </a:prstGeom>
          <a:noFill/>
          <a:ln>
            <a:noFill/>
          </a:ln>
        </p:spPr>
        <p:txBody>
          <a:bodyPr spcFirstLastPara="1" wrap="square" lIns="91425" tIns="91425" rIns="91425" bIns="91425" anchor="t" anchorCtr="0">
            <a:spAutoFit/>
          </a:bodyPr>
          <a:lstStyle/>
          <a:p>
            <a:r>
              <a:rPr lang="en-US" sz="1800">
                <a:latin typeface="Verdana"/>
                <a:ea typeface="Verdana"/>
                <a:cs typeface="Verdana"/>
                <a:sym typeface="Verdana"/>
              </a:rPr>
              <a:t>a negative sign with 30, which requires moving in </a:t>
            </a:r>
            <a:endParaRPr sz="1300"/>
          </a:p>
        </p:txBody>
      </p:sp>
      <p:sp>
        <p:nvSpPr>
          <p:cNvPr id="212" name="Google Shape;212;p20"/>
          <p:cNvSpPr txBox="1"/>
          <p:nvPr/>
        </p:nvSpPr>
        <p:spPr>
          <a:xfrm>
            <a:off x="2711650" y="4472431"/>
            <a:ext cx="3000000" cy="461700"/>
          </a:xfrm>
          <a:prstGeom prst="rect">
            <a:avLst/>
          </a:prstGeom>
          <a:noFill/>
          <a:ln>
            <a:noFill/>
          </a:ln>
        </p:spPr>
        <p:txBody>
          <a:bodyPr spcFirstLastPara="1" wrap="square" lIns="91425" tIns="91425" rIns="91425" bIns="91425" anchor="t" anchorCtr="0">
            <a:spAutoFit/>
          </a:bodyPr>
          <a:lstStyle/>
          <a:p>
            <a:r>
              <a:rPr lang="en-US" sz="1800">
                <a:latin typeface="Verdana"/>
                <a:ea typeface="Verdana"/>
                <a:cs typeface="Verdana"/>
                <a:sym typeface="Verdana"/>
              </a:rPr>
              <a:t>the opposite direction.</a:t>
            </a:r>
            <a:endParaRPr sz="1300"/>
          </a:p>
        </p:txBody>
      </p:sp>
      <p:sp>
        <p:nvSpPr>
          <p:cNvPr id="213" name="Google Shape;213;p20"/>
          <p:cNvSpPr txBox="1"/>
          <p:nvPr/>
        </p:nvSpPr>
        <p:spPr>
          <a:xfrm>
            <a:off x="2307900" y="5017646"/>
            <a:ext cx="6559800" cy="461700"/>
          </a:xfrm>
          <a:prstGeom prst="rect">
            <a:avLst/>
          </a:prstGeom>
          <a:noFill/>
          <a:ln>
            <a:noFill/>
          </a:ln>
        </p:spPr>
        <p:txBody>
          <a:bodyPr spcFirstLastPara="1" wrap="square" lIns="91425" tIns="91425" rIns="91425" bIns="91425" anchor="t" anchorCtr="0">
            <a:spAutoFit/>
          </a:bodyPr>
          <a:lstStyle/>
          <a:p>
            <a:r>
              <a:rPr lang="en-US" sz="1800" dirty="0">
                <a:latin typeface="Verdana"/>
                <a:ea typeface="Verdana"/>
                <a:cs typeface="Verdana"/>
                <a:sym typeface="Verdana"/>
              </a:rPr>
              <a:t>c. Therefore, the answer will be found by moving</a:t>
            </a:r>
            <a:endParaRPr sz="1300" dirty="0"/>
          </a:p>
        </p:txBody>
      </p:sp>
      <p:sp>
        <p:nvSpPr>
          <p:cNvPr id="214" name="Google Shape;214;p20"/>
          <p:cNvSpPr txBox="1"/>
          <p:nvPr/>
        </p:nvSpPr>
        <p:spPr>
          <a:xfrm>
            <a:off x="3594950" y="5548634"/>
            <a:ext cx="1626300" cy="461700"/>
          </a:xfrm>
          <a:prstGeom prst="rect">
            <a:avLst/>
          </a:prstGeom>
          <a:noFill/>
          <a:ln>
            <a:noFill/>
          </a:ln>
        </p:spPr>
        <p:txBody>
          <a:bodyPr spcFirstLastPara="1" wrap="square" lIns="91425" tIns="91425" rIns="91425" bIns="91425" anchor="t" anchorCtr="0">
            <a:spAutoFit/>
          </a:bodyPr>
          <a:lstStyle/>
          <a:p>
            <a:r>
              <a:rPr lang="en-US" sz="1800">
                <a:latin typeface="Verdana"/>
                <a:ea typeface="Verdana"/>
                <a:cs typeface="Verdana"/>
                <a:sym typeface="Verdana"/>
              </a:rPr>
              <a:t>units to the</a:t>
            </a:r>
            <a:endParaRPr sz="1300"/>
          </a:p>
        </p:txBody>
      </p:sp>
      <p:sp>
        <p:nvSpPr>
          <p:cNvPr id="215" name="Google Shape;215;p20"/>
          <p:cNvSpPr txBox="1"/>
          <p:nvPr/>
        </p:nvSpPr>
        <p:spPr>
          <a:xfrm>
            <a:off x="6229200" y="5548646"/>
            <a:ext cx="3213900" cy="461700"/>
          </a:xfrm>
          <a:prstGeom prst="rect">
            <a:avLst/>
          </a:prstGeom>
          <a:noFill/>
          <a:ln>
            <a:noFill/>
          </a:ln>
        </p:spPr>
        <p:txBody>
          <a:bodyPr spcFirstLastPara="1" wrap="square" lIns="91425" tIns="91425" rIns="91425" bIns="91425" anchor="t" anchorCtr="0">
            <a:spAutoFit/>
          </a:bodyPr>
          <a:lstStyle/>
          <a:p>
            <a:r>
              <a:rPr lang="en-US" sz="1800">
                <a:latin typeface="Verdana"/>
                <a:ea typeface="Verdana"/>
                <a:cs typeface="Verdana"/>
                <a:sym typeface="Verdana"/>
              </a:rPr>
              <a:t>of −9 on the number line.</a:t>
            </a:r>
            <a:endParaRPr sz="1300"/>
          </a:p>
        </p:txBody>
      </p:sp>
      <p:pic>
        <p:nvPicPr>
          <p:cNvPr id="216" name="Google Shape;216;p2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711649" y="1760593"/>
            <a:ext cx="729175" cy="1112700"/>
          </a:xfrm>
          <a:prstGeom prst="rect">
            <a:avLst/>
          </a:prstGeom>
          <a:noFill/>
          <a:ln>
            <a:noFill/>
          </a:ln>
        </p:spPr>
      </p:pic>
      <p:pic>
        <p:nvPicPr>
          <p:cNvPr id="217" name="Google Shape;217;p20"/>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2655263" y="3397268"/>
            <a:ext cx="939680" cy="657275"/>
          </a:xfrm>
          <a:prstGeom prst="rect">
            <a:avLst/>
          </a:prstGeom>
          <a:noFill/>
          <a:ln>
            <a:noFill/>
          </a:ln>
        </p:spPr>
      </p:pic>
      <p:pic>
        <p:nvPicPr>
          <p:cNvPr id="218" name="Google Shape;218;p20"/>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2711644" y="5358338"/>
            <a:ext cx="826900" cy="842262"/>
          </a:xfrm>
          <a:prstGeom prst="rect">
            <a:avLst/>
          </a:prstGeom>
          <a:noFill/>
          <a:ln>
            <a:noFill/>
          </a:ln>
        </p:spPr>
      </p:pic>
      <p:pic>
        <p:nvPicPr>
          <p:cNvPr id="219" name="Google Shape;219;p20"/>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5221238" y="5450858"/>
            <a:ext cx="939680" cy="657275"/>
          </a:xfrm>
          <a:prstGeom prst="rect">
            <a:avLst/>
          </a:prstGeom>
          <a:noFill/>
          <a:ln>
            <a:noFill/>
          </a:ln>
        </p:spPr>
      </p:pic>
      <p:sp>
        <p:nvSpPr>
          <p:cNvPr id="1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266</a:t>
            </a:r>
            <a:endParaRPr i="1" dirty="0">
              <a:latin typeface="Calibri"/>
              <a:ea typeface="Calibri"/>
              <a:cs typeface="Calibri"/>
              <a:sym typeface="Calibri"/>
            </a:endParaRPr>
          </a:p>
        </p:txBody>
      </p:sp>
      <p:pic>
        <p:nvPicPr>
          <p:cNvPr id="2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1157083e469_0_68"/>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228" name="Google Shape;228;g1157083e469_0_68"/>
          <p:cNvSpPr txBox="1"/>
          <p:nvPr/>
        </p:nvSpPr>
        <p:spPr>
          <a:xfrm>
            <a:off x="1282700" y="520393"/>
            <a:ext cx="9777230" cy="400200"/>
          </a:xfrm>
          <a:prstGeom prst="rect">
            <a:avLst/>
          </a:prstGeom>
          <a:noFill/>
          <a:ln>
            <a:noFill/>
          </a:ln>
        </p:spPr>
        <p:txBody>
          <a:bodyPr spcFirstLastPara="1" wrap="square" lIns="91425" tIns="45700" rIns="91425" bIns="45700" anchor="t" anchorCtr="0">
            <a:spAutoFit/>
          </a:bodyPr>
          <a:lstStyle/>
          <a:p>
            <a:pPr>
              <a:buSzPts val="2400"/>
            </a:pPr>
            <a:r>
              <a:rPr lang="en-US" sz="2000">
                <a:latin typeface="Verdana"/>
                <a:ea typeface="Verdana"/>
                <a:cs typeface="Verdana"/>
                <a:sym typeface="Verdana"/>
              </a:rPr>
              <a:t>3. Show the subtraction on the number line below. </a:t>
            </a:r>
            <a:endParaRPr sz="1000"/>
          </a:p>
        </p:txBody>
      </p:sp>
      <p:sp>
        <p:nvSpPr>
          <p:cNvPr id="229" name="Google Shape;229;g1157083e469_0_68"/>
          <p:cNvSpPr txBox="1"/>
          <p:nvPr/>
        </p:nvSpPr>
        <p:spPr>
          <a:xfrm>
            <a:off x="2307900" y="2823518"/>
            <a:ext cx="7576200" cy="461700"/>
          </a:xfrm>
          <a:prstGeom prst="rect">
            <a:avLst/>
          </a:prstGeom>
          <a:noFill/>
          <a:ln>
            <a:noFill/>
          </a:ln>
        </p:spPr>
        <p:txBody>
          <a:bodyPr spcFirstLastPara="1" wrap="square" lIns="91425" tIns="91425" rIns="91425" bIns="91425" anchor="t" anchorCtr="0">
            <a:spAutoFit/>
          </a:bodyPr>
          <a:lstStyle/>
          <a:p>
            <a:r>
              <a:rPr lang="en-US" sz="1800" dirty="0">
                <a:latin typeface="Verdana"/>
                <a:ea typeface="Verdana"/>
                <a:cs typeface="Verdana"/>
                <a:sym typeface="Verdana"/>
              </a:rPr>
              <a:t>The difference of −9 − (−30) is ______</a:t>
            </a:r>
            <a:endParaRPr sz="1800" dirty="0">
              <a:latin typeface="Verdana"/>
              <a:ea typeface="Verdana"/>
              <a:cs typeface="Verdana"/>
              <a:sym typeface="Verdana"/>
            </a:endParaRPr>
          </a:p>
        </p:txBody>
      </p:sp>
      <p:pic>
        <p:nvPicPr>
          <p:cNvPr id="230" name="Google Shape;230;g1157083e469_0_6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007765" y="1585668"/>
            <a:ext cx="8327102" cy="604456"/>
          </a:xfrm>
          <a:prstGeom prst="rect">
            <a:avLst/>
          </a:prstGeom>
          <a:noFill/>
          <a:ln>
            <a:noFill/>
          </a:ln>
        </p:spPr>
      </p:pic>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6"/>
          <p:cNvSpPr/>
          <p:nvPr/>
        </p:nvSpPr>
        <p:spPr>
          <a:xfrm>
            <a:off x="0" y="-8101"/>
            <a:ext cx="2731200" cy="6866100"/>
          </a:xfrm>
          <a:prstGeom prst="rect">
            <a:avLst/>
          </a:prstGeom>
          <a:solidFill>
            <a:srgbClr val="276C46"/>
          </a:solidFill>
          <a:ln w="9525" cap="flat" cmpd="sng">
            <a:no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38" name="Google Shape;238;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240" name="Google Shape;240;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7"/>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48" name="Google Shape;248;p7"/>
          <p:cNvSpPr txBox="1"/>
          <p:nvPr/>
        </p:nvSpPr>
        <p:spPr>
          <a:xfrm>
            <a:off x="1452034"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a:solidFill>
                  <a:srgbClr val="33BEA6"/>
                </a:solidFill>
                <a:latin typeface="Verdana"/>
                <a:ea typeface="Verdana"/>
                <a:cs typeface="Verdana"/>
                <a:sym typeface="Verdana"/>
              </a:rPr>
              <a:t>6.7.3 Collaboration: Relating Integer Addition and Subtraction </a:t>
            </a:r>
            <a:endParaRPr sz="1000"/>
          </a:p>
        </p:txBody>
      </p:sp>
      <p:pic>
        <p:nvPicPr>
          <p:cNvPr id="250" name="Google Shape;250;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2226" y="348271"/>
            <a:ext cx="749808" cy="749808"/>
          </a:xfrm>
          <a:prstGeom prst="rect">
            <a:avLst/>
          </a:prstGeom>
          <a:noFill/>
          <a:ln>
            <a:noFill/>
          </a:ln>
          <a:effectLst>
            <a:outerShdw blurRad="50800" dist="38100" dir="2700000" algn="tl" rotWithShape="0">
              <a:srgbClr val="000000">
                <a:alpha val="40000"/>
              </a:srgbClr>
            </a:outerShdw>
          </a:effectLst>
        </p:spPr>
      </p:pic>
      <p:sp>
        <p:nvSpPr>
          <p:cNvPr id="251" name="Google Shape;251;p7"/>
          <p:cNvSpPr txBox="1"/>
          <p:nvPr/>
        </p:nvSpPr>
        <p:spPr>
          <a:xfrm>
            <a:off x="1452034" y="1386025"/>
            <a:ext cx="9543928" cy="585000"/>
          </a:xfrm>
          <a:prstGeom prst="rect">
            <a:avLst/>
          </a:prstGeom>
          <a:noFill/>
          <a:ln>
            <a:noFill/>
          </a:ln>
        </p:spPr>
        <p:txBody>
          <a:bodyPr spcFirstLastPara="1" wrap="square" lIns="91425" tIns="45700" rIns="91425" bIns="45700" anchor="t" anchorCtr="0">
            <a:spAutoFit/>
          </a:bodyPr>
          <a:lstStyle/>
          <a:p>
            <a:pPr>
              <a:buSzPts val="2400"/>
            </a:pPr>
            <a:r>
              <a:rPr lang="en-US" sz="1600">
                <a:latin typeface="Verdana"/>
                <a:ea typeface="Verdana"/>
                <a:cs typeface="Verdana"/>
                <a:sym typeface="Verdana"/>
              </a:rPr>
              <a:t>Three contexts are given below. </a:t>
            </a:r>
            <a:r>
              <a:rPr lang="en-US" sz="1600" dirty="0">
                <a:latin typeface="Verdana"/>
                <a:ea typeface="Verdana"/>
                <a:cs typeface="Verdana"/>
                <a:sym typeface="Verdana"/>
              </a:rPr>
              <a:t>Choose one context to work on with your partner. Circle your choice.</a:t>
            </a:r>
            <a:endParaRPr sz="600" dirty="0"/>
          </a:p>
        </p:txBody>
      </p:sp>
      <p:graphicFrame>
        <p:nvGraphicFramePr>
          <p:cNvPr id="252" name="Google Shape;252;p7"/>
          <p:cNvGraphicFramePr/>
          <p:nvPr/>
        </p:nvGraphicFramePr>
        <p:xfrm>
          <a:off x="2894389" y="2100389"/>
          <a:ext cx="6403225" cy="3110475"/>
        </p:xfrm>
        <a:graphic>
          <a:graphicData uri="http://schemas.openxmlformats.org/drawingml/2006/table">
            <a:tbl>
              <a:tblPr>
                <a:noFill/>
                <a:tableStyleId>{746F372F-C62B-4AD9-8570-24E31C3B94DE}</a:tableStyleId>
              </a:tblPr>
              <a:tblGrid>
                <a:gridCol w="1144700">
                  <a:extLst>
                    <a:ext uri="{9D8B030D-6E8A-4147-A177-3AD203B41FA5}">
                      <a16:colId xmlns="" xmlns:a16="http://schemas.microsoft.com/office/drawing/2014/main" val="20000"/>
                    </a:ext>
                  </a:extLst>
                </a:gridCol>
                <a:gridCol w="5258525">
                  <a:extLst>
                    <a:ext uri="{9D8B030D-6E8A-4147-A177-3AD203B41FA5}">
                      <a16:colId xmlns="" xmlns:a16="http://schemas.microsoft.com/office/drawing/2014/main" val="20001"/>
                    </a:ext>
                  </a:extLst>
                </a:gridCol>
              </a:tblGrid>
              <a:tr h="1036825">
                <a:tc>
                  <a:txBody>
                    <a:bodyPr/>
                    <a:lstStyle/>
                    <a:p>
                      <a:pPr marL="0" lvl="0" indent="0" algn="ctr" rtl="0">
                        <a:spcBef>
                          <a:spcPts val="0"/>
                        </a:spcBef>
                        <a:spcAft>
                          <a:spcPts val="0"/>
                        </a:spcAft>
                        <a:buNone/>
                      </a:pPr>
                      <a:r>
                        <a:rPr lang="en-US" sz="1700" b="1">
                          <a:latin typeface="Verdana"/>
                          <a:ea typeface="Verdana"/>
                          <a:cs typeface="Verdana"/>
                          <a:sym typeface="Verdana"/>
                        </a:rPr>
                        <a:t>Context A</a:t>
                      </a:r>
                      <a:endParaRPr sz="17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l" rtl="0">
                        <a:spcBef>
                          <a:spcPts val="0"/>
                        </a:spcBef>
                        <a:spcAft>
                          <a:spcPts val="0"/>
                        </a:spcAft>
                        <a:buNone/>
                      </a:pPr>
                      <a:r>
                        <a:rPr lang="en-US" sz="1200">
                          <a:latin typeface="Verdana"/>
                          <a:ea typeface="Verdana"/>
                          <a:cs typeface="Verdana"/>
                          <a:sym typeface="Verdana"/>
                        </a:rPr>
                        <a:t>Tamara didn’t realize she had a balance of $19 in her bank account when she used her bank card to purchase a $50 purse. When the purchase is processed by the bank, what will be her new account balance?</a:t>
                      </a:r>
                      <a:endParaRPr sz="1200">
                        <a:latin typeface="Verdana"/>
                        <a:ea typeface="Verdana"/>
                        <a:cs typeface="Verdana"/>
                        <a:sym typeface="Verdana"/>
                      </a:endParaRPr>
                    </a:p>
                  </a:txBody>
                  <a:tcPr marL="91425" marR="91425" marT="91425" marB="91425"/>
                </a:tc>
                <a:extLst>
                  <a:ext uri="{0D108BD9-81ED-4DB2-BD59-A6C34878D82A}">
                    <a16:rowId xmlns="" xmlns:a16="http://schemas.microsoft.com/office/drawing/2014/main" val="10000"/>
                  </a:ext>
                </a:extLst>
              </a:tr>
              <a:tr h="1036825">
                <a:tc>
                  <a:txBody>
                    <a:bodyPr/>
                    <a:lstStyle/>
                    <a:p>
                      <a:pPr marL="0" lvl="0" indent="0" algn="ctr" rtl="0">
                        <a:spcBef>
                          <a:spcPts val="0"/>
                        </a:spcBef>
                        <a:spcAft>
                          <a:spcPts val="0"/>
                        </a:spcAft>
                        <a:buNone/>
                      </a:pPr>
                      <a:r>
                        <a:rPr lang="en-US" sz="1700" b="1">
                          <a:latin typeface="Verdana"/>
                          <a:ea typeface="Verdana"/>
                          <a:cs typeface="Verdana"/>
                          <a:sym typeface="Verdana"/>
                        </a:rPr>
                        <a:t>Context B</a:t>
                      </a:r>
                      <a:endParaRPr sz="1200">
                        <a:latin typeface="Verdana"/>
                        <a:ea typeface="Verdana"/>
                        <a:cs typeface="Verdana"/>
                        <a:sym typeface="Verdana"/>
                      </a:endParaRPr>
                    </a:p>
                  </a:txBody>
                  <a:tcPr marL="91425" marR="91425" marT="91425" marB="91425" anchor="ctr">
                    <a:solidFill>
                      <a:srgbClr val="CCCCCC"/>
                    </a:solidFill>
                  </a:tcPr>
                </a:tc>
                <a:tc>
                  <a:txBody>
                    <a:bodyPr/>
                    <a:lstStyle/>
                    <a:p>
                      <a:pPr marL="0" lvl="0" indent="0" algn="l" rtl="0">
                        <a:spcBef>
                          <a:spcPts val="0"/>
                        </a:spcBef>
                        <a:spcAft>
                          <a:spcPts val="0"/>
                        </a:spcAft>
                        <a:buNone/>
                      </a:pPr>
                      <a:r>
                        <a:rPr lang="en-US" sz="1200">
                          <a:latin typeface="Verdana"/>
                          <a:ea typeface="Verdana"/>
                          <a:cs typeface="Verdana"/>
                          <a:sym typeface="Verdana"/>
                        </a:rPr>
                        <a:t>The elevation of the top floor of a parking garage in Death Valley, California, is 282 feet (ft) below sea level. A car that leaves the parking garage from the top floor loses 72 ft in elevation before reaching the street. What is the elevation of the street?</a:t>
                      </a:r>
                      <a:endParaRPr sz="1200">
                        <a:latin typeface="Verdana"/>
                        <a:ea typeface="Verdana"/>
                        <a:cs typeface="Verdana"/>
                        <a:sym typeface="Verdana"/>
                      </a:endParaRPr>
                    </a:p>
                  </a:txBody>
                  <a:tcPr marL="91425" marR="91425" marT="91425" marB="91425"/>
                </a:tc>
                <a:extLst>
                  <a:ext uri="{0D108BD9-81ED-4DB2-BD59-A6C34878D82A}">
                    <a16:rowId xmlns="" xmlns:a16="http://schemas.microsoft.com/office/drawing/2014/main" val="10001"/>
                  </a:ext>
                </a:extLst>
              </a:tr>
              <a:tr h="1036825">
                <a:tc>
                  <a:txBody>
                    <a:bodyPr/>
                    <a:lstStyle/>
                    <a:p>
                      <a:pPr marL="0" lvl="0" indent="0" algn="ctr" rtl="0">
                        <a:spcBef>
                          <a:spcPts val="0"/>
                        </a:spcBef>
                        <a:spcAft>
                          <a:spcPts val="0"/>
                        </a:spcAft>
                        <a:buNone/>
                      </a:pPr>
                      <a:r>
                        <a:rPr lang="en-US" sz="1700" b="1">
                          <a:latin typeface="Verdana"/>
                          <a:ea typeface="Verdana"/>
                          <a:cs typeface="Verdana"/>
                          <a:sym typeface="Verdana"/>
                        </a:rPr>
                        <a:t>Context C</a:t>
                      </a:r>
                      <a:endParaRPr sz="17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l" rtl="0">
                        <a:spcBef>
                          <a:spcPts val="0"/>
                        </a:spcBef>
                        <a:spcAft>
                          <a:spcPts val="0"/>
                        </a:spcAft>
                        <a:buNone/>
                      </a:pPr>
                      <a:r>
                        <a:rPr lang="en-US" sz="1200">
                          <a:latin typeface="Verdana"/>
                          <a:ea typeface="Verdana"/>
                          <a:cs typeface="Verdana"/>
                          <a:sym typeface="Verdana"/>
                        </a:rPr>
                        <a:t>Ginny mows lawns for her summer job. Before she started mowing, she spent $32 on gas for the lawn mower. Then, she spent another $17 on other supplies she bought at the hardware store. What were Ginny’s total expenses? </a:t>
                      </a:r>
                      <a:endParaRPr sz="1200">
                        <a:latin typeface="Verdana"/>
                        <a:ea typeface="Verdana"/>
                        <a:cs typeface="Verdana"/>
                        <a:sym typeface="Verdana"/>
                      </a:endParaRPr>
                    </a:p>
                  </a:txBody>
                  <a:tcPr marL="91425" marR="91425" marT="91425" marB="91425"/>
                </a:tc>
                <a:extLst>
                  <a:ext uri="{0D108BD9-81ED-4DB2-BD59-A6C34878D82A}">
                    <a16:rowId xmlns="" xmlns:a16="http://schemas.microsoft.com/office/drawing/2014/main" val="10002"/>
                  </a:ext>
                </a:extLst>
              </a:tr>
            </a:tbl>
          </a:graphicData>
        </a:graphic>
      </p:graphicFrame>
      <p:sp>
        <p:nvSpPr>
          <p:cNvPr id="253" name="Google Shape;253;p7"/>
          <p:cNvSpPr txBox="1"/>
          <p:nvPr/>
        </p:nvSpPr>
        <p:spPr>
          <a:xfrm>
            <a:off x="1452034" y="5249425"/>
            <a:ext cx="8851808" cy="1169700"/>
          </a:xfrm>
          <a:prstGeom prst="rect">
            <a:avLst/>
          </a:prstGeom>
          <a:noFill/>
          <a:ln>
            <a:noFill/>
          </a:ln>
        </p:spPr>
        <p:txBody>
          <a:bodyPr spcFirstLastPara="1" wrap="square" lIns="91425" tIns="91425" rIns="91425" bIns="91425" anchor="t" anchorCtr="0">
            <a:spAutoFit/>
          </a:bodyPr>
          <a:lstStyle/>
          <a:p>
            <a:r>
              <a:rPr lang="en-US" sz="1600">
                <a:latin typeface="Verdana"/>
                <a:ea typeface="Verdana"/>
                <a:cs typeface="Verdana"/>
                <a:sym typeface="Verdana"/>
              </a:rPr>
              <a:t>For the context selected, represent the mathematics in the context in each of the following ways. </a:t>
            </a:r>
            <a:endParaRPr sz="1600">
              <a:latin typeface="Verdana"/>
              <a:ea typeface="Verdana"/>
              <a:cs typeface="Verdana"/>
              <a:sym typeface="Verdana"/>
            </a:endParaRPr>
          </a:p>
          <a:p>
            <a:endParaRPr sz="1600" dirty="0">
              <a:latin typeface="Verdana"/>
              <a:ea typeface="Verdana"/>
              <a:cs typeface="Verdana"/>
              <a:sym typeface="Verdana"/>
            </a:endParaRPr>
          </a:p>
          <a:p>
            <a:r>
              <a:rPr lang="en-US" sz="1600" dirty="0">
                <a:latin typeface="Verdana"/>
                <a:ea typeface="Verdana"/>
                <a:cs typeface="Verdana"/>
                <a:sym typeface="Verdana"/>
              </a:rPr>
              <a:t>1. Draw a number line to represent the given context.</a:t>
            </a:r>
            <a:endParaRPr dirty="0"/>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8"/>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262" name="Google Shape;262;p8"/>
          <p:cNvSpPr txBox="1"/>
          <p:nvPr/>
        </p:nvSpPr>
        <p:spPr>
          <a:xfrm>
            <a:off x="1391468" y="321618"/>
            <a:ext cx="9559694" cy="923400"/>
          </a:xfrm>
          <a:prstGeom prst="rect">
            <a:avLst/>
          </a:prstGeom>
          <a:noFill/>
          <a:ln>
            <a:noFill/>
          </a:ln>
        </p:spPr>
        <p:txBody>
          <a:bodyPr spcFirstLastPara="1" wrap="square" lIns="91425" tIns="45700" rIns="91425" bIns="45700" anchor="t" anchorCtr="0">
            <a:spAutoFit/>
          </a:bodyPr>
          <a:lstStyle/>
          <a:p>
            <a:pPr marL="342900" indent="-342900">
              <a:buSzPct val="100000"/>
              <a:buFont typeface="+mj-lt"/>
              <a:buAutoNum type="arabicPeriod" startAt="2"/>
            </a:pPr>
            <a:r>
              <a:rPr lang="en-US" sz="1800" dirty="0">
                <a:latin typeface="Verdana"/>
                <a:ea typeface="Verdana"/>
                <a:cs typeface="Verdana"/>
                <a:sym typeface="Verdana"/>
              </a:rPr>
              <a:t>Write two equations that can be used to find the solution to the question in the context. One equation should use subtraction and the other should use addition.</a:t>
            </a:r>
            <a:endParaRPr sz="800" dirty="0"/>
          </a:p>
        </p:txBody>
      </p:sp>
      <p:sp>
        <p:nvSpPr>
          <p:cNvPr id="263" name="Google Shape;263;p8"/>
          <p:cNvSpPr txBox="1"/>
          <p:nvPr/>
        </p:nvSpPr>
        <p:spPr>
          <a:xfrm>
            <a:off x="1391478" y="1382450"/>
            <a:ext cx="9559694" cy="738900"/>
          </a:xfrm>
          <a:prstGeom prst="rect">
            <a:avLst/>
          </a:prstGeom>
          <a:noFill/>
          <a:ln>
            <a:noFill/>
          </a:ln>
        </p:spPr>
        <p:txBody>
          <a:bodyPr spcFirstLastPara="1" wrap="square" lIns="91425" tIns="91425" rIns="91425" bIns="91425" anchor="t" anchorCtr="0">
            <a:spAutoFit/>
          </a:bodyPr>
          <a:lstStyle/>
          <a:p>
            <a:pPr marL="342900" indent="-342900">
              <a:buFont typeface="+mj-lt"/>
              <a:buAutoNum type="arabicPeriod" startAt="3"/>
            </a:pPr>
            <a:r>
              <a:rPr lang="en-US" sz="1800" dirty="0">
                <a:latin typeface="Verdana"/>
                <a:ea typeface="Verdana"/>
                <a:cs typeface="Verdana"/>
                <a:sym typeface="Verdana"/>
              </a:rPr>
              <a:t>Create a group of four by joining with another pair of students. Verify your work by exchanging with the other pair of students</a:t>
            </a:r>
            <a:endParaRPr sz="1300" dirty="0"/>
          </a:p>
        </p:txBody>
      </p:sp>
      <p:sp>
        <p:nvSpPr>
          <p:cNvPr id="264" name="Google Shape;264;p8"/>
          <p:cNvSpPr txBox="1"/>
          <p:nvPr/>
        </p:nvSpPr>
        <p:spPr>
          <a:xfrm>
            <a:off x="1417323" y="2258776"/>
            <a:ext cx="9158804" cy="461635"/>
          </a:xfrm>
          <a:prstGeom prst="rect">
            <a:avLst/>
          </a:prstGeom>
          <a:noFill/>
          <a:ln>
            <a:noFill/>
          </a:ln>
        </p:spPr>
        <p:txBody>
          <a:bodyPr spcFirstLastPara="1" wrap="square" lIns="91425" tIns="91425" rIns="91425" bIns="91425" anchor="t" anchorCtr="0">
            <a:spAutoFit/>
          </a:bodyPr>
          <a:lstStyle/>
          <a:p>
            <a:pPr marL="342900" indent="-342900">
              <a:buFont typeface="+mj-lt"/>
              <a:buAutoNum type="arabicPeriod" startAt="4"/>
            </a:pPr>
            <a:r>
              <a:rPr lang="en-US" sz="1800" dirty="0">
                <a:latin typeface="Verdana"/>
                <a:ea typeface="Verdana"/>
                <a:cs typeface="Verdana"/>
                <a:sym typeface="Verdana"/>
              </a:rPr>
              <a:t>Continue working with the group of four to complete the table.</a:t>
            </a:r>
            <a:endParaRPr sz="1300" dirty="0"/>
          </a:p>
        </p:txBody>
      </p:sp>
      <p:graphicFrame>
        <p:nvGraphicFramePr>
          <p:cNvPr id="265" name="Google Shape;265;p8"/>
          <p:cNvGraphicFramePr/>
          <p:nvPr>
            <p:extLst>
              <p:ext uri="{D42A27DB-BD31-4B8C-83A1-F6EECF244321}">
                <p14:modId xmlns:p14="http://schemas.microsoft.com/office/powerpoint/2010/main" val="523750988"/>
              </p:ext>
            </p:extLst>
          </p:nvPr>
        </p:nvGraphicFramePr>
        <p:xfrm>
          <a:off x="2551815" y="2893431"/>
          <a:ext cx="7239000" cy="3391225"/>
        </p:xfrm>
        <a:graphic>
          <a:graphicData uri="http://schemas.openxmlformats.org/drawingml/2006/table">
            <a:tbl>
              <a:tblPr>
                <a:noFill/>
                <a:tableStyleId>{746F372F-C62B-4AD9-8570-24E31C3B94DE}</a:tableStyleId>
              </a:tblPr>
              <a:tblGrid>
                <a:gridCol w="1798600">
                  <a:extLst>
                    <a:ext uri="{9D8B030D-6E8A-4147-A177-3AD203B41FA5}">
                      <a16:colId xmlns="" xmlns:a16="http://schemas.microsoft.com/office/drawing/2014/main" val="20000"/>
                    </a:ext>
                  </a:extLst>
                </a:gridCol>
                <a:gridCol w="1907000">
                  <a:extLst>
                    <a:ext uri="{9D8B030D-6E8A-4147-A177-3AD203B41FA5}">
                      <a16:colId xmlns="" xmlns:a16="http://schemas.microsoft.com/office/drawing/2014/main" val="20001"/>
                    </a:ext>
                  </a:extLst>
                </a:gridCol>
                <a:gridCol w="3533400">
                  <a:extLst>
                    <a:ext uri="{9D8B030D-6E8A-4147-A177-3AD203B41FA5}">
                      <a16:colId xmlns="" xmlns:a16="http://schemas.microsoft.com/office/drawing/2014/main" val="20002"/>
                    </a:ext>
                  </a:extLst>
                </a:gridCol>
              </a:tblGrid>
              <a:tr h="821000">
                <a:tc>
                  <a:txBody>
                    <a:bodyPr/>
                    <a:lstStyle/>
                    <a:p>
                      <a:pPr marL="0" lvl="0" indent="0" algn="ctr" rtl="0">
                        <a:spcBef>
                          <a:spcPts val="0"/>
                        </a:spcBef>
                        <a:spcAft>
                          <a:spcPts val="0"/>
                        </a:spcAft>
                        <a:buNone/>
                      </a:pPr>
                      <a:r>
                        <a:rPr lang="en-US" sz="1100" b="1">
                          <a:latin typeface="Verdana"/>
                          <a:ea typeface="Verdana"/>
                          <a:cs typeface="Verdana"/>
                          <a:sym typeface="Verdana"/>
                        </a:rPr>
                        <a:t>Example Subtraction Problem</a:t>
                      </a:r>
                      <a:endParaRPr sz="11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r>
                        <a:rPr lang="en-US" sz="1100" b="1">
                          <a:latin typeface="Verdana"/>
                          <a:ea typeface="Verdana"/>
                          <a:cs typeface="Verdana"/>
                          <a:sym typeface="Verdana"/>
                        </a:rPr>
                        <a:t>Example Rewritten as an Addition Problem</a:t>
                      </a:r>
                      <a:endParaRPr sz="11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r>
                        <a:rPr lang="en-US" sz="1100" b="1">
                          <a:latin typeface="Verdana"/>
                          <a:ea typeface="Verdana"/>
                          <a:cs typeface="Verdana"/>
                          <a:sym typeface="Verdana"/>
                        </a:rPr>
                        <a:t>Number Lines: Show the subtraction on the top number line and the addition on the bottom number line.</a:t>
                      </a:r>
                      <a:endParaRPr sz="1100" b="1">
                        <a:latin typeface="Verdana"/>
                        <a:ea typeface="Verdana"/>
                        <a:cs typeface="Verdana"/>
                        <a:sym typeface="Verdana"/>
                      </a:endParaRPr>
                    </a:p>
                  </a:txBody>
                  <a:tcPr marL="91425" marR="91425" marT="91425" marB="91425" anchor="ctr">
                    <a:solidFill>
                      <a:srgbClr val="CCCCCC"/>
                    </a:solidFill>
                  </a:tcPr>
                </a:tc>
                <a:extLst>
                  <a:ext uri="{0D108BD9-81ED-4DB2-BD59-A6C34878D82A}">
                    <a16:rowId xmlns="" xmlns:a16="http://schemas.microsoft.com/office/drawing/2014/main" val="10000"/>
                  </a:ext>
                </a:extLst>
              </a:tr>
              <a:tr h="1212150">
                <a:tc>
                  <a:txBody>
                    <a:bodyPr/>
                    <a:lstStyle/>
                    <a:p>
                      <a:pPr marL="0" lvl="0" indent="0" algn="ctr" rtl="0">
                        <a:spcBef>
                          <a:spcPts val="0"/>
                        </a:spcBef>
                        <a:spcAft>
                          <a:spcPts val="0"/>
                        </a:spcAft>
                        <a:buNone/>
                      </a:pPr>
                      <a:r>
                        <a:rPr lang="en-US">
                          <a:latin typeface="Verdana"/>
                          <a:ea typeface="Verdana"/>
                          <a:cs typeface="Verdana"/>
                          <a:sym typeface="Verdana"/>
                        </a:rPr>
                        <a:t>10 − 7 = 3 </a:t>
                      </a: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US">
                          <a:latin typeface="Verdana"/>
                          <a:ea typeface="Verdana"/>
                          <a:cs typeface="Verdana"/>
                          <a:sym typeface="Verdana"/>
                        </a:rPr>
                        <a:t>10 + (-7) = 3</a:t>
                      </a: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1"/>
                  </a:ext>
                </a:extLst>
              </a:tr>
              <a:tr h="1358075">
                <a:tc>
                  <a:txBody>
                    <a:bodyPr/>
                    <a:lstStyle/>
                    <a:p>
                      <a:pPr marL="0" lvl="0" indent="0" algn="ctr" rtl="0">
                        <a:spcBef>
                          <a:spcPts val="0"/>
                        </a:spcBef>
                        <a:spcAft>
                          <a:spcPts val="0"/>
                        </a:spcAft>
                        <a:buNone/>
                      </a:pPr>
                      <a:r>
                        <a:rPr lang="en-US">
                          <a:latin typeface="Verdana"/>
                          <a:ea typeface="Verdana"/>
                          <a:cs typeface="Verdana"/>
                          <a:sym typeface="Verdana"/>
                        </a:rPr>
                        <a:t>7 − 10 = -3</a:t>
                      </a: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 xmlns:a16="http://schemas.microsoft.com/office/drawing/2014/main" val="10002"/>
                  </a:ext>
                </a:extLst>
              </a:tr>
            </a:tbl>
          </a:graphicData>
        </a:graphic>
      </p:graphicFrame>
      <p:pic>
        <p:nvPicPr>
          <p:cNvPr id="266" name="Google Shape;266;p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586088" y="5270004"/>
            <a:ext cx="2757100" cy="809900"/>
          </a:xfrm>
          <a:prstGeom prst="rect">
            <a:avLst/>
          </a:prstGeom>
          <a:noFill/>
          <a:ln>
            <a:noFill/>
          </a:ln>
        </p:spPr>
      </p:pic>
      <p:pic>
        <p:nvPicPr>
          <p:cNvPr id="267" name="Google Shape;267;p8"/>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586088" y="3879242"/>
            <a:ext cx="2757100" cy="809900"/>
          </a:xfrm>
          <a:prstGeom prst="rect">
            <a:avLst/>
          </a:prstGeom>
          <a:noFill/>
          <a:ln>
            <a:noFill/>
          </a:ln>
        </p:spPr>
      </p:pic>
      <p:sp>
        <p:nvSpPr>
          <p:cNvPr id="11"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267</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1157083e469_0_12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276" name="Google Shape;276;g1157083e469_0_124"/>
          <p:cNvSpPr txBox="1"/>
          <p:nvPr/>
        </p:nvSpPr>
        <p:spPr>
          <a:xfrm>
            <a:off x="2007765" y="321618"/>
            <a:ext cx="8327100" cy="215400"/>
          </a:xfrm>
          <a:prstGeom prst="rect">
            <a:avLst/>
          </a:prstGeom>
          <a:noFill/>
          <a:ln>
            <a:noFill/>
          </a:ln>
        </p:spPr>
        <p:txBody>
          <a:bodyPr spcFirstLastPara="1" wrap="square" lIns="91425" tIns="45700" rIns="91425" bIns="45700" anchor="t" anchorCtr="0">
            <a:spAutoFit/>
          </a:bodyPr>
          <a:lstStyle/>
          <a:p>
            <a:pPr>
              <a:buSzPts val="2400"/>
            </a:pPr>
            <a:endParaRPr sz="800"/>
          </a:p>
        </p:txBody>
      </p:sp>
      <p:graphicFrame>
        <p:nvGraphicFramePr>
          <p:cNvPr id="277" name="Google Shape;277;g1157083e469_0_124"/>
          <p:cNvGraphicFramePr/>
          <p:nvPr>
            <p:extLst>
              <p:ext uri="{D42A27DB-BD31-4B8C-83A1-F6EECF244321}">
                <p14:modId xmlns:p14="http://schemas.microsoft.com/office/powerpoint/2010/main" val="4268376963"/>
              </p:ext>
            </p:extLst>
          </p:nvPr>
        </p:nvGraphicFramePr>
        <p:xfrm>
          <a:off x="3114314" y="158375"/>
          <a:ext cx="6114025" cy="5950350"/>
        </p:xfrm>
        <a:graphic>
          <a:graphicData uri="http://schemas.openxmlformats.org/drawingml/2006/table">
            <a:tbl>
              <a:tblPr>
                <a:noFill/>
                <a:tableStyleId>{746F372F-C62B-4AD9-8570-24E31C3B94DE}</a:tableStyleId>
              </a:tblPr>
              <a:tblGrid>
                <a:gridCol w="1381487">
                  <a:extLst>
                    <a:ext uri="{9D8B030D-6E8A-4147-A177-3AD203B41FA5}">
                      <a16:colId xmlns="" xmlns:a16="http://schemas.microsoft.com/office/drawing/2014/main" val="20000"/>
                    </a:ext>
                  </a:extLst>
                </a:gridCol>
                <a:gridCol w="1528338">
                  <a:extLst>
                    <a:ext uri="{9D8B030D-6E8A-4147-A177-3AD203B41FA5}">
                      <a16:colId xmlns="" xmlns:a16="http://schemas.microsoft.com/office/drawing/2014/main" val="20001"/>
                    </a:ext>
                  </a:extLst>
                </a:gridCol>
                <a:gridCol w="3204200">
                  <a:extLst>
                    <a:ext uri="{9D8B030D-6E8A-4147-A177-3AD203B41FA5}">
                      <a16:colId xmlns="" xmlns:a16="http://schemas.microsoft.com/office/drawing/2014/main" val="20002"/>
                    </a:ext>
                  </a:extLst>
                </a:gridCol>
              </a:tblGrid>
              <a:tr h="1072350">
                <a:tc>
                  <a:txBody>
                    <a:bodyPr/>
                    <a:lstStyle/>
                    <a:p>
                      <a:pPr marL="0" lvl="0" indent="0" algn="ctr" rtl="0">
                        <a:spcBef>
                          <a:spcPts val="0"/>
                        </a:spcBef>
                        <a:spcAft>
                          <a:spcPts val="0"/>
                        </a:spcAft>
                        <a:buNone/>
                      </a:pPr>
                      <a:r>
                        <a:rPr lang="en-US" sz="1100" b="1">
                          <a:latin typeface="Verdana"/>
                          <a:ea typeface="Verdana"/>
                          <a:cs typeface="Verdana"/>
                          <a:sym typeface="Verdana"/>
                        </a:rPr>
                        <a:t>Example Subtraction Problem</a:t>
                      </a:r>
                      <a:endParaRPr sz="11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r>
                        <a:rPr lang="en-US" sz="1100" b="1">
                          <a:latin typeface="Verdana"/>
                          <a:ea typeface="Verdana"/>
                          <a:cs typeface="Verdana"/>
                          <a:sym typeface="Verdana"/>
                        </a:rPr>
                        <a:t>Example Rewritten as an Addition Problem</a:t>
                      </a:r>
                      <a:endParaRPr sz="11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r>
                        <a:rPr lang="en-US" sz="1100" b="1">
                          <a:latin typeface="Verdana"/>
                          <a:ea typeface="Verdana"/>
                          <a:cs typeface="Verdana"/>
                          <a:sym typeface="Verdana"/>
                        </a:rPr>
                        <a:t>Number Lines: Show the subtraction on the top number line and the addition on the bottom number line.</a:t>
                      </a:r>
                      <a:endParaRPr sz="1100" b="1">
                        <a:latin typeface="Verdana"/>
                        <a:ea typeface="Verdana"/>
                        <a:cs typeface="Verdana"/>
                        <a:sym typeface="Verdana"/>
                      </a:endParaRPr>
                    </a:p>
                  </a:txBody>
                  <a:tcPr marL="91425" marR="91425" marT="91425" marB="91425" anchor="ctr">
                    <a:solidFill>
                      <a:srgbClr val="CCCCCC"/>
                    </a:solidFill>
                  </a:tcPr>
                </a:tc>
                <a:extLst>
                  <a:ext uri="{0D108BD9-81ED-4DB2-BD59-A6C34878D82A}">
                    <a16:rowId xmlns="" xmlns:a16="http://schemas.microsoft.com/office/drawing/2014/main" val="10000"/>
                  </a:ext>
                </a:extLst>
              </a:tr>
              <a:tr h="1212675">
                <a:tc>
                  <a:txBody>
                    <a:bodyPr/>
                    <a:lstStyle/>
                    <a:p>
                      <a:pPr marL="0" lvl="0" indent="0" algn="ctr" rtl="0">
                        <a:spcBef>
                          <a:spcPts val="0"/>
                        </a:spcBef>
                        <a:spcAft>
                          <a:spcPts val="0"/>
                        </a:spcAft>
                        <a:buNone/>
                      </a:pPr>
                      <a:r>
                        <a:rPr lang="en-US" dirty="0">
                          <a:latin typeface="Verdana"/>
                          <a:ea typeface="Verdana"/>
                          <a:cs typeface="Verdana"/>
                          <a:sym typeface="Verdana"/>
                        </a:rPr>
                        <a:t>8 − </a:t>
                      </a:r>
                      <a:r>
                        <a:rPr lang="en-US" baseline="30000" dirty="0">
                          <a:latin typeface="Verdana"/>
                          <a:ea typeface="Verdana"/>
                          <a:cs typeface="Verdana"/>
                          <a:sym typeface="Verdana"/>
                        </a:rPr>
                        <a:t>-</a:t>
                      </a:r>
                      <a:r>
                        <a:rPr lang="en-US" dirty="0">
                          <a:latin typeface="Verdana"/>
                          <a:ea typeface="Verdana"/>
                          <a:cs typeface="Verdana"/>
                          <a:sym typeface="Verdana"/>
                        </a:rPr>
                        <a:t>3− = 11 </a:t>
                      </a:r>
                      <a:endParaRPr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1"/>
                  </a:ext>
                </a:extLst>
              </a:tr>
              <a:tr h="1256125">
                <a:tc>
                  <a:txBody>
                    <a:bodyPr/>
                    <a:lstStyle/>
                    <a:p>
                      <a:pPr marL="0" lvl="0" indent="0" algn="ctr" rtl="0">
                        <a:spcBef>
                          <a:spcPts val="0"/>
                        </a:spcBef>
                        <a:spcAft>
                          <a:spcPts val="0"/>
                        </a:spcAft>
                        <a:buNone/>
                      </a:pPr>
                      <a:r>
                        <a:rPr lang="en-US" baseline="30000" dirty="0">
                          <a:latin typeface="Verdana"/>
                          <a:ea typeface="Verdana"/>
                          <a:cs typeface="Verdana"/>
                          <a:sym typeface="Verdana"/>
                        </a:rPr>
                        <a:t>-</a:t>
                      </a:r>
                      <a:r>
                        <a:rPr lang="en-US" baseline="0" dirty="0">
                          <a:latin typeface="Verdana"/>
                          <a:ea typeface="Verdana"/>
                          <a:cs typeface="Verdana"/>
                          <a:sym typeface="Verdana"/>
                        </a:rPr>
                        <a:t>5 </a:t>
                      </a:r>
                      <a:r>
                        <a:rPr lang="en-US" dirty="0">
                          <a:latin typeface="Verdana"/>
                          <a:ea typeface="Verdana"/>
                          <a:cs typeface="Verdana"/>
                          <a:sym typeface="Verdana"/>
                        </a:rPr>
                        <a:t>− 3 = </a:t>
                      </a:r>
                      <a:r>
                        <a:rPr lang="en-US" baseline="30000" dirty="0">
                          <a:latin typeface="Verdana"/>
                          <a:ea typeface="Verdana"/>
                          <a:cs typeface="Verdana"/>
                          <a:sym typeface="Verdana"/>
                        </a:rPr>
                        <a:t>-</a:t>
                      </a:r>
                      <a:r>
                        <a:rPr lang="en-US" dirty="0">
                          <a:latin typeface="Verdana"/>
                          <a:ea typeface="Verdana"/>
                          <a:cs typeface="Verdana"/>
                          <a:sym typeface="Verdana"/>
                        </a:rPr>
                        <a:t>8</a:t>
                      </a:r>
                      <a:endParaRPr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2"/>
                  </a:ext>
                </a:extLst>
              </a:tr>
              <a:tr h="1221425">
                <a:tc>
                  <a:txBody>
                    <a:bodyPr/>
                    <a:lstStyle/>
                    <a:p>
                      <a:pPr marL="0" lvl="0" indent="0" algn="ctr" rtl="0">
                        <a:spcBef>
                          <a:spcPts val="0"/>
                        </a:spcBef>
                        <a:spcAft>
                          <a:spcPts val="0"/>
                        </a:spcAft>
                        <a:buNone/>
                      </a:pPr>
                      <a:r>
                        <a:rPr lang="en-US" dirty="0">
                          <a:latin typeface="Verdana"/>
                          <a:ea typeface="Verdana"/>
                          <a:cs typeface="Verdana"/>
                          <a:sym typeface="Verdana"/>
                        </a:rPr>
                        <a:t> </a:t>
                      </a:r>
                      <a:r>
                        <a:rPr lang="en-US" baseline="30000" dirty="0">
                          <a:latin typeface="Verdana"/>
                          <a:ea typeface="Verdana"/>
                          <a:cs typeface="Verdana"/>
                          <a:sym typeface="Verdana"/>
                        </a:rPr>
                        <a:t>-</a:t>
                      </a:r>
                      <a:r>
                        <a:rPr lang="en-US" baseline="0" dirty="0">
                          <a:latin typeface="Verdana"/>
                          <a:ea typeface="Verdana"/>
                          <a:cs typeface="Verdana"/>
                          <a:sym typeface="Verdana"/>
                        </a:rPr>
                        <a:t>7 </a:t>
                      </a:r>
                      <a:r>
                        <a:rPr lang="en-US" dirty="0">
                          <a:latin typeface="Verdana"/>
                          <a:ea typeface="Verdana"/>
                          <a:cs typeface="Verdana"/>
                          <a:sym typeface="Verdana"/>
                        </a:rPr>
                        <a:t>− </a:t>
                      </a:r>
                      <a:r>
                        <a:rPr lang="en-US" baseline="30000" dirty="0">
                          <a:latin typeface="Verdana"/>
                          <a:ea typeface="Verdana"/>
                          <a:cs typeface="Verdana"/>
                          <a:sym typeface="Verdana"/>
                        </a:rPr>
                        <a:t>-</a:t>
                      </a:r>
                      <a:r>
                        <a:rPr lang="en-US" dirty="0">
                          <a:latin typeface="Verdana"/>
                          <a:ea typeface="Verdana"/>
                          <a:cs typeface="Verdana"/>
                          <a:sym typeface="Verdana"/>
                        </a:rPr>
                        <a:t>15 = 8</a:t>
                      </a:r>
                      <a:endParaRPr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dirty="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3"/>
                  </a:ext>
                </a:extLst>
              </a:tr>
              <a:tr h="1187775">
                <a:tc>
                  <a:txBody>
                    <a:bodyPr/>
                    <a:lstStyle/>
                    <a:p>
                      <a:pPr marL="0" lvl="0" indent="0" algn="ctr" rtl="0">
                        <a:spcBef>
                          <a:spcPts val="0"/>
                        </a:spcBef>
                        <a:spcAft>
                          <a:spcPts val="0"/>
                        </a:spcAft>
                        <a:buNone/>
                      </a:pPr>
                      <a:r>
                        <a:rPr lang="en-US" baseline="30000" dirty="0">
                          <a:latin typeface="Verdana"/>
                          <a:ea typeface="Verdana"/>
                          <a:cs typeface="Verdana"/>
                          <a:sym typeface="Verdana"/>
                        </a:rPr>
                        <a:t>-</a:t>
                      </a:r>
                      <a:r>
                        <a:rPr lang="en-US" baseline="0" dirty="0">
                          <a:latin typeface="Verdana"/>
                          <a:ea typeface="Verdana"/>
                          <a:cs typeface="Verdana"/>
                          <a:sym typeface="Verdana"/>
                        </a:rPr>
                        <a:t>9 </a:t>
                      </a:r>
                      <a:r>
                        <a:rPr lang="en-US" dirty="0">
                          <a:latin typeface="Verdana"/>
                          <a:ea typeface="Verdana"/>
                          <a:cs typeface="Verdana"/>
                          <a:sym typeface="Verdana"/>
                        </a:rPr>
                        <a:t>− </a:t>
                      </a:r>
                      <a:r>
                        <a:rPr lang="en-US" baseline="30000" dirty="0">
                          <a:latin typeface="Verdana"/>
                          <a:ea typeface="Verdana"/>
                          <a:cs typeface="Verdana"/>
                          <a:sym typeface="Verdana"/>
                        </a:rPr>
                        <a:t>-</a:t>
                      </a:r>
                      <a:r>
                        <a:rPr lang="en-US" dirty="0">
                          <a:latin typeface="Verdana"/>
                          <a:ea typeface="Verdana"/>
                          <a:cs typeface="Verdana"/>
                          <a:sym typeface="Verdana"/>
                        </a:rPr>
                        <a:t>7 = </a:t>
                      </a:r>
                      <a:r>
                        <a:rPr lang="en-US" baseline="30000" dirty="0">
                          <a:latin typeface="Verdana"/>
                          <a:ea typeface="Verdana"/>
                          <a:cs typeface="Verdana"/>
                          <a:sym typeface="Verdana"/>
                        </a:rPr>
                        <a:t>-</a:t>
                      </a:r>
                      <a:r>
                        <a:rPr lang="en-US" dirty="0">
                          <a:latin typeface="Verdana"/>
                          <a:ea typeface="Verdana"/>
                          <a:cs typeface="Verdana"/>
                          <a:sym typeface="Verdana"/>
                        </a:rPr>
                        <a:t>2</a:t>
                      </a:r>
                      <a:endParaRPr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dirty="0">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 xmlns:a16="http://schemas.microsoft.com/office/drawing/2014/main" val="10004"/>
                  </a:ext>
                </a:extLst>
              </a:tr>
            </a:tbl>
          </a:graphicData>
        </a:graphic>
      </p:graphicFrame>
      <p:pic>
        <p:nvPicPr>
          <p:cNvPr id="278" name="Google Shape;278;g1157083e469_0_12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294775" y="1490918"/>
            <a:ext cx="2634000" cy="773758"/>
          </a:xfrm>
          <a:prstGeom prst="rect">
            <a:avLst/>
          </a:prstGeom>
          <a:noFill/>
          <a:ln>
            <a:noFill/>
          </a:ln>
        </p:spPr>
      </p:pic>
      <p:pic>
        <p:nvPicPr>
          <p:cNvPr id="279" name="Google Shape;279;g1157083e469_0_12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294775" y="2746668"/>
            <a:ext cx="2634000" cy="773758"/>
          </a:xfrm>
          <a:prstGeom prst="rect">
            <a:avLst/>
          </a:prstGeom>
          <a:noFill/>
          <a:ln>
            <a:noFill/>
          </a:ln>
        </p:spPr>
      </p:pic>
      <p:pic>
        <p:nvPicPr>
          <p:cNvPr id="280" name="Google Shape;280;g1157083e469_0_12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294775" y="3911043"/>
            <a:ext cx="2634000" cy="773758"/>
          </a:xfrm>
          <a:prstGeom prst="rect">
            <a:avLst/>
          </a:prstGeom>
          <a:noFill/>
          <a:ln>
            <a:noFill/>
          </a:ln>
        </p:spPr>
      </p:pic>
      <p:pic>
        <p:nvPicPr>
          <p:cNvPr id="281" name="Google Shape;281;g1157083e469_0_124"/>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294775" y="5184355"/>
            <a:ext cx="2634000" cy="773758"/>
          </a:xfrm>
          <a:prstGeom prst="rect">
            <a:avLst/>
          </a:prstGeom>
          <a:noFill/>
          <a:ln>
            <a:noFill/>
          </a:ln>
        </p:spPr>
      </p:pic>
      <p:sp>
        <p:nvSpPr>
          <p:cNvPr id="11"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267</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g1157083e469_0_160"/>
          <p:cNvSpPr/>
          <p:nvPr/>
        </p:nvSpPr>
        <p:spPr>
          <a:xfrm>
            <a:off x="-12324" y="-9553"/>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0"/>
              </a:srgbClr>
            </a:outerShdw>
          </a:effectLst>
        </p:spPr>
        <p:txBody>
          <a:bodyPr spcFirstLastPara="1" wrap="square" lIns="91425" tIns="91425" rIns="91425" bIns="91425" anchor="ctr" anchorCtr="0">
            <a:noAutofit/>
          </a:bodyPr>
          <a:lstStyle/>
          <a:p>
            <a:pPr>
              <a:buSzPts val="1400"/>
            </a:pPr>
            <a:endParaRPr/>
          </a:p>
        </p:txBody>
      </p:sp>
      <p:sp>
        <p:nvSpPr>
          <p:cNvPr id="290" name="Google Shape;290;g1157083e469_0_160"/>
          <p:cNvSpPr txBox="1"/>
          <p:nvPr/>
        </p:nvSpPr>
        <p:spPr>
          <a:xfrm>
            <a:off x="728870" y="149341"/>
            <a:ext cx="10884890" cy="1200288"/>
          </a:xfrm>
          <a:prstGeom prst="rect">
            <a:avLst/>
          </a:prstGeom>
          <a:noFill/>
          <a:ln>
            <a:noFill/>
          </a:ln>
        </p:spPr>
        <p:txBody>
          <a:bodyPr spcFirstLastPara="1" wrap="square" lIns="91425" tIns="45700" rIns="91425" bIns="45700" anchor="t" anchorCtr="0">
            <a:spAutoFit/>
          </a:bodyPr>
          <a:lstStyle/>
          <a:p>
            <a:pPr>
              <a:buSzPts val="2400"/>
            </a:pPr>
            <a:r>
              <a:rPr lang="en-US" sz="1800" dirty="0">
                <a:latin typeface="Verdana"/>
                <a:ea typeface="Verdana"/>
                <a:cs typeface="Verdana"/>
                <a:sym typeface="Verdana"/>
              </a:rPr>
              <a:t>When subtracting integers, problems can be rewritten as an addition problem using the additive inverse of the second integer. </a:t>
            </a:r>
            <a:endParaRPr sz="1800" dirty="0">
              <a:latin typeface="Verdana"/>
              <a:ea typeface="Verdana"/>
              <a:cs typeface="Verdana"/>
              <a:sym typeface="Verdana"/>
            </a:endParaRPr>
          </a:p>
          <a:p>
            <a:pPr>
              <a:buSzPts val="2400"/>
            </a:pPr>
            <a:endParaRPr sz="1800" dirty="0">
              <a:latin typeface="Verdana"/>
              <a:ea typeface="Verdana"/>
              <a:cs typeface="Verdana"/>
              <a:sym typeface="Verdana"/>
            </a:endParaRPr>
          </a:p>
          <a:p>
            <a:pPr marL="342900" indent="-342900">
              <a:buSzPct val="100000"/>
              <a:buFont typeface="+mj-lt"/>
              <a:buAutoNum type="arabicPeriod" startAt="5"/>
            </a:pPr>
            <a:r>
              <a:rPr lang="en-US" sz="1800" dirty="0">
                <a:latin typeface="Verdana"/>
                <a:ea typeface="Verdana"/>
                <a:cs typeface="Verdana"/>
                <a:sym typeface="Verdana"/>
              </a:rPr>
              <a:t>Describe one advantage of changing a subtraction problem to an addition problem.</a:t>
            </a:r>
            <a:endParaRPr sz="700" dirty="0"/>
          </a:p>
        </p:txBody>
      </p:sp>
      <p:sp>
        <p:nvSpPr>
          <p:cNvPr id="291" name="Google Shape;291;g1157083e469_0_160"/>
          <p:cNvSpPr txBox="1"/>
          <p:nvPr/>
        </p:nvSpPr>
        <p:spPr>
          <a:xfrm>
            <a:off x="728880" y="1449348"/>
            <a:ext cx="10884890" cy="1292631"/>
          </a:xfrm>
          <a:prstGeom prst="rect">
            <a:avLst/>
          </a:prstGeom>
          <a:noFill/>
          <a:ln>
            <a:noFill/>
          </a:ln>
        </p:spPr>
        <p:txBody>
          <a:bodyPr spcFirstLastPara="1" wrap="square" lIns="91425" tIns="91425" rIns="91425" bIns="91425" anchor="t" anchorCtr="0">
            <a:spAutoFit/>
          </a:bodyPr>
          <a:lstStyle/>
          <a:p>
            <a:pPr marL="342900" indent="-342900">
              <a:buFont typeface="+mj-lt"/>
              <a:buAutoNum type="arabicPeriod" startAt="6"/>
            </a:pPr>
            <a:r>
              <a:rPr lang="en-US" sz="1800" dirty="0">
                <a:latin typeface="Verdana"/>
                <a:ea typeface="Verdana"/>
                <a:cs typeface="Verdana"/>
                <a:sym typeface="Verdana"/>
              </a:rPr>
              <a:t>Complete the table by rewriting the second integer in the subtraction model as its additive inverse and indicating the sign of the value of either expression. The first row has been completed. Once your group is done, split back into pairs and check your table with a different pair of students. </a:t>
            </a:r>
            <a:endParaRPr sz="1100" dirty="0"/>
          </a:p>
        </p:txBody>
      </p:sp>
      <p:graphicFrame>
        <p:nvGraphicFramePr>
          <p:cNvPr id="292" name="Google Shape;292;g1157083e469_0_160"/>
          <p:cNvGraphicFramePr/>
          <p:nvPr>
            <p:extLst>
              <p:ext uri="{D42A27DB-BD31-4B8C-83A1-F6EECF244321}">
                <p14:modId xmlns:p14="http://schemas.microsoft.com/office/powerpoint/2010/main" val="1482944132"/>
              </p:ext>
            </p:extLst>
          </p:nvPr>
        </p:nvGraphicFramePr>
        <p:xfrm>
          <a:off x="4638714" y="2729826"/>
          <a:ext cx="2676025" cy="3867605"/>
        </p:xfrm>
        <a:graphic>
          <a:graphicData uri="http://schemas.openxmlformats.org/drawingml/2006/table">
            <a:tbl>
              <a:tblPr>
                <a:noFill/>
                <a:tableStyleId>{746F372F-C62B-4AD9-8570-24E31C3B94DE}</a:tableStyleId>
              </a:tblPr>
              <a:tblGrid>
                <a:gridCol w="942475">
                  <a:extLst>
                    <a:ext uri="{9D8B030D-6E8A-4147-A177-3AD203B41FA5}">
                      <a16:colId xmlns="" xmlns:a16="http://schemas.microsoft.com/office/drawing/2014/main" val="20000"/>
                    </a:ext>
                  </a:extLst>
                </a:gridCol>
                <a:gridCol w="970825">
                  <a:extLst>
                    <a:ext uri="{9D8B030D-6E8A-4147-A177-3AD203B41FA5}">
                      <a16:colId xmlns="" xmlns:a16="http://schemas.microsoft.com/office/drawing/2014/main" val="20001"/>
                    </a:ext>
                  </a:extLst>
                </a:gridCol>
                <a:gridCol w="762725">
                  <a:extLst>
                    <a:ext uri="{9D8B030D-6E8A-4147-A177-3AD203B41FA5}">
                      <a16:colId xmlns="" xmlns:a16="http://schemas.microsoft.com/office/drawing/2014/main" val="20002"/>
                    </a:ext>
                  </a:extLst>
                </a:gridCol>
              </a:tblGrid>
              <a:tr h="413600">
                <a:tc>
                  <a:txBody>
                    <a:bodyPr/>
                    <a:lstStyle/>
                    <a:p>
                      <a:pPr marL="0" lvl="0" indent="0" algn="ctr" rtl="0">
                        <a:spcBef>
                          <a:spcPts val="0"/>
                        </a:spcBef>
                        <a:spcAft>
                          <a:spcPts val="0"/>
                        </a:spcAft>
                        <a:buNone/>
                      </a:pPr>
                      <a:r>
                        <a:rPr lang="en-US" sz="900" b="1">
                          <a:latin typeface="Verdana"/>
                          <a:ea typeface="Verdana"/>
                          <a:cs typeface="Verdana"/>
                          <a:sym typeface="Verdana"/>
                        </a:rPr>
                        <a:t>Visual Model of Subtraction</a:t>
                      </a:r>
                      <a:endParaRPr sz="9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r>
                        <a:rPr lang="en-US" sz="900" b="1">
                          <a:latin typeface="Verdana"/>
                          <a:ea typeface="Verdana"/>
                          <a:cs typeface="Verdana"/>
                          <a:sym typeface="Verdana"/>
                        </a:rPr>
                        <a:t>Visual Model of Addition</a:t>
                      </a:r>
                      <a:endParaRPr sz="900" b="1">
                        <a:latin typeface="Verdana"/>
                        <a:ea typeface="Verdana"/>
                        <a:cs typeface="Verdana"/>
                        <a:sym typeface="Verdana"/>
                      </a:endParaRPr>
                    </a:p>
                  </a:txBody>
                  <a:tcPr marL="91425" marR="91425" marT="91425" marB="91425" anchor="ctr">
                    <a:solidFill>
                      <a:srgbClr val="CCCCCC"/>
                    </a:solidFill>
                  </a:tcPr>
                </a:tc>
                <a:tc>
                  <a:txBody>
                    <a:bodyPr/>
                    <a:lstStyle/>
                    <a:p>
                      <a:pPr marL="0" lvl="0" indent="0" algn="ctr" rtl="0">
                        <a:spcBef>
                          <a:spcPts val="0"/>
                        </a:spcBef>
                        <a:spcAft>
                          <a:spcPts val="0"/>
                        </a:spcAft>
                        <a:buNone/>
                      </a:pPr>
                      <a:r>
                        <a:rPr lang="en-US" sz="900" b="1">
                          <a:latin typeface="Verdana"/>
                          <a:ea typeface="Verdana"/>
                          <a:cs typeface="Verdana"/>
                          <a:sym typeface="Verdana"/>
                        </a:rPr>
                        <a:t>Sign of the Answer</a:t>
                      </a:r>
                      <a:endParaRPr sz="900" b="1">
                        <a:latin typeface="Verdana"/>
                        <a:ea typeface="Verdana"/>
                        <a:cs typeface="Verdana"/>
                        <a:sym typeface="Verdana"/>
                      </a:endParaRPr>
                    </a:p>
                  </a:txBody>
                  <a:tcPr marL="91425" marR="91425" marT="91425" marB="91425" anchor="ctr">
                    <a:solidFill>
                      <a:srgbClr val="CCCCCC"/>
                    </a:solidFill>
                  </a:tcPr>
                </a:tc>
                <a:extLst>
                  <a:ext uri="{0D108BD9-81ED-4DB2-BD59-A6C34878D82A}">
                    <a16:rowId xmlns="" xmlns:a16="http://schemas.microsoft.com/office/drawing/2014/main" val="10000"/>
                  </a:ext>
                </a:extLst>
              </a:tr>
              <a:tr h="574525">
                <a:tc>
                  <a:txBody>
                    <a:bodyPr/>
                    <a:lstStyle/>
                    <a:p>
                      <a:pPr marL="0" lvl="0" indent="0" algn="l" rtl="0">
                        <a:spcBef>
                          <a:spcPts val="0"/>
                        </a:spcBef>
                        <a:spcAft>
                          <a:spcPts val="0"/>
                        </a:spcAft>
                        <a:buNone/>
                      </a:pPr>
                      <a:endParaRPr/>
                    </a:p>
                  </a:txBody>
                  <a:tcPr marL="91425" marR="91425" marT="91425" marB="91425" anchor="ctr"/>
                </a:tc>
                <a:tc>
                  <a:txBody>
                    <a:bodyPr/>
                    <a:lstStyle/>
                    <a:p>
                      <a:pPr marL="0" lvl="0" indent="0" algn="l"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US" sz="1600">
                          <a:latin typeface="Verdana"/>
                          <a:ea typeface="Verdana"/>
                          <a:cs typeface="Verdana"/>
                          <a:sym typeface="Verdana"/>
                        </a:rPr>
                        <a:t>+</a:t>
                      </a:r>
                      <a:endParaRPr sz="1600">
                        <a:latin typeface="Verdana"/>
                        <a:ea typeface="Verdana"/>
                        <a:cs typeface="Verdana"/>
                        <a:sym typeface="Verdana"/>
                      </a:endParaRPr>
                    </a:p>
                  </a:txBody>
                  <a:tcPr marL="91425" marR="91425" marT="91425" marB="91425" anchor="ctr"/>
                </a:tc>
                <a:extLst>
                  <a:ext uri="{0D108BD9-81ED-4DB2-BD59-A6C34878D82A}">
                    <a16:rowId xmlns="" xmlns:a16="http://schemas.microsoft.com/office/drawing/2014/main" val="10001"/>
                  </a:ext>
                </a:extLst>
              </a:tr>
              <a:tr h="539750">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2"/>
                  </a:ext>
                </a:extLst>
              </a:tr>
              <a:tr h="539750">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3"/>
                  </a:ext>
                </a:extLst>
              </a:tr>
              <a:tr h="539750">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4"/>
                  </a:ext>
                </a:extLst>
              </a:tr>
              <a:tr h="539750">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 xmlns:a16="http://schemas.microsoft.com/office/drawing/2014/main" val="10005"/>
                  </a:ext>
                </a:extLst>
              </a:tr>
              <a:tr h="539750">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endParaRPr>
                        <a:latin typeface="Verdana"/>
                        <a:ea typeface="Verdana"/>
                        <a:cs typeface="Verdana"/>
                        <a:sym typeface="Verdana"/>
                      </a:endParaRPr>
                    </a:p>
                  </a:txBody>
                  <a:tcPr marL="91425" marR="91425" marT="91425" marB="91425" anchor="ctr"/>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 xmlns:a16="http://schemas.microsoft.com/office/drawing/2014/main" val="10006"/>
                  </a:ext>
                </a:extLst>
              </a:tr>
            </a:tbl>
          </a:graphicData>
        </a:graphic>
      </p:graphicFrame>
      <p:pic>
        <p:nvPicPr>
          <p:cNvPr id="293" name="Google Shape;293;g1157083e469_0_16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747150" y="3987600"/>
            <a:ext cx="770703" cy="400200"/>
          </a:xfrm>
          <a:prstGeom prst="rect">
            <a:avLst/>
          </a:prstGeom>
          <a:noFill/>
          <a:ln>
            <a:noFill/>
          </a:ln>
        </p:spPr>
      </p:pic>
      <p:pic>
        <p:nvPicPr>
          <p:cNvPr id="294" name="Google Shape;294;g1157083e469_0_160"/>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4747150" y="3429003"/>
            <a:ext cx="770700" cy="389197"/>
          </a:xfrm>
          <a:prstGeom prst="rect">
            <a:avLst/>
          </a:prstGeom>
          <a:noFill/>
          <a:ln>
            <a:noFill/>
          </a:ln>
        </p:spPr>
      </p:pic>
      <p:pic>
        <p:nvPicPr>
          <p:cNvPr id="295" name="Google Shape;295;g1157083e469_0_160"/>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5652051" y="3423497"/>
            <a:ext cx="887911" cy="400200"/>
          </a:xfrm>
          <a:prstGeom prst="rect">
            <a:avLst/>
          </a:prstGeom>
          <a:noFill/>
          <a:ln>
            <a:noFill/>
          </a:ln>
        </p:spPr>
      </p:pic>
      <p:pic>
        <p:nvPicPr>
          <p:cNvPr id="296" name="Google Shape;296;g1157083e469_0_160"/>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4688550" y="4557197"/>
            <a:ext cx="887900" cy="375778"/>
          </a:xfrm>
          <a:prstGeom prst="rect">
            <a:avLst/>
          </a:prstGeom>
          <a:noFill/>
          <a:ln>
            <a:noFill/>
          </a:ln>
        </p:spPr>
      </p:pic>
      <p:pic>
        <p:nvPicPr>
          <p:cNvPr id="297" name="Google Shape;297;g1157083e469_0_160"/>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4688551" y="5102369"/>
            <a:ext cx="887899" cy="353556"/>
          </a:xfrm>
          <a:prstGeom prst="rect">
            <a:avLst/>
          </a:prstGeom>
          <a:noFill/>
          <a:ln>
            <a:noFill/>
          </a:ln>
        </p:spPr>
      </p:pic>
      <p:pic>
        <p:nvPicPr>
          <p:cNvPr id="298" name="Google Shape;298;g1157083e469_0_160"/>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4747151" y="5580156"/>
            <a:ext cx="770699" cy="410794"/>
          </a:xfrm>
          <a:prstGeom prst="rect">
            <a:avLst/>
          </a:prstGeom>
          <a:noFill/>
          <a:ln>
            <a:noFill/>
          </a:ln>
        </p:spPr>
      </p:pic>
      <p:pic>
        <p:nvPicPr>
          <p:cNvPr id="299" name="Google Shape;299;g1157083e469_0_160"/>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4688551" y="6115175"/>
            <a:ext cx="770699" cy="412788"/>
          </a:xfrm>
          <a:prstGeom prst="rect">
            <a:avLst/>
          </a:prstGeom>
          <a:noFill/>
          <a:ln>
            <a:noFill/>
          </a:ln>
        </p:spPr>
      </p:pic>
      <p:sp>
        <p:nvSpPr>
          <p:cNvPr id="15"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268</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0"/>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08" name="Google Shape;30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1"/>
          <p:cNvSpPr/>
          <p:nvPr/>
        </p:nvSpPr>
        <p:spPr>
          <a:xfrm>
            <a:off x="0" y="-8101"/>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17" name="Google Shape;317;p31"/>
          <p:cNvSpPr txBox="1"/>
          <p:nvPr/>
        </p:nvSpPr>
        <p:spPr>
          <a:xfrm>
            <a:off x="1453288" y="140313"/>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a:solidFill>
                  <a:srgbClr val="E24E5F"/>
                </a:solidFill>
                <a:latin typeface="Verdana"/>
                <a:ea typeface="Verdana"/>
                <a:cs typeface="Verdana"/>
                <a:sym typeface="Verdana"/>
              </a:rPr>
              <a:t>6.7.4 Your Turn!</a:t>
            </a:r>
            <a:endParaRPr/>
          </a:p>
        </p:txBody>
      </p:sp>
      <p:pic>
        <p:nvPicPr>
          <p:cNvPr id="318" name="Google Shape;318;p31"/>
          <p:cNvPicPr preferRelativeResize="0"/>
          <p:nvPr/>
        </p:nvPicPr>
        <p:blipFill rotWithShape="1">
          <a:blip r:embed="rId3">
            <a:alphaModFix/>
          </a:blip>
          <a:srcRect/>
          <a:stretch/>
        </p:blipFill>
        <p:spPr>
          <a:xfrm>
            <a:off x="705988" y="140313"/>
            <a:ext cx="747300" cy="747300"/>
          </a:xfrm>
          <a:prstGeom prst="rect">
            <a:avLst/>
          </a:prstGeom>
          <a:noFill/>
          <a:ln>
            <a:noFill/>
          </a:ln>
        </p:spPr>
      </p:pic>
      <p:sp>
        <p:nvSpPr>
          <p:cNvPr id="320" name="Google Shape;320;p31"/>
          <p:cNvSpPr txBox="1"/>
          <p:nvPr/>
        </p:nvSpPr>
        <p:spPr>
          <a:xfrm>
            <a:off x="1453288" y="1250475"/>
            <a:ext cx="8806260" cy="708000"/>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1. Represent each subtraction statement on a number line and find the value of the expression.</a:t>
            </a:r>
            <a:endParaRPr sz="1000" dirty="0"/>
          </a:p>
        </p:txBody>
      </p:sp>
      <p:sp>
        <p:nvSpPr>
          <p:cNvPr id="321" name="Google Shape;321;p31"/>
          <p:cNvSpPr txBox="1"/>
          <p:nvPr/>
        </p:nvSpPr>
        <p:spPr>
          <a:xfrm>
            <a:off x="2398225" y="2186374"/>
            <a:ext cx="3000000" cy="492600"/>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a. −19 − 11 = _____</a:t>
            </a:r>
            <a:endParaRPr sz="2000" dirty="0">
              <a:latin typeface="Verdana"/>
              <a:ea typeface="Verdana"/>
              <a:cs typeface="Verdana"/>
              <a:sym typeface="Verdana"/>
            </a:endParaRPr>
          </a:p>
        </p:txBody>
      </p:sp>
      <p:sp>
        <p:nvSpPr>
          <p:cNvPr id="322" name="Google Shape;322;p31"/>
          <p:cNvSpPr txBox="1"/>
          <p:nvPr/>
        </p:nvSpPr>
        <p:spPr>
          <a:xfrm>
            <a:off x="2398225" y="3575434"/>
            <a:ext cx="4517700" cy="492600"/>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b. 12 − (−28) = ____</a:t>
            </a:r>
            <a:endParaRPr dirty="0"/>
          </a:p>
        </p:txBody>
      </p:sp>
      <p:sp>
        <p:nvSpPr>
          <p:cNvPr id="323" name="Google Shape;323;p31"/>
          <p:cNvSpPr txBox="1"/>
          <p:nvPr/>
        </p:nvSpPr>
        <p:spPr>
          <a:xfrm>
            <a:off x="2398225" y="5083878"/>
            <a:ext cx="3777000" cy="492600"/>
          </a:xfrm>
          <a:prstGeom prst="rect">
            <a:avLst/>
          </a:prstGeom>
          <a:noFill/>
          <a:ln>
            <a:noFill/>
          </a:ln>
        </p:spPr>
        <p:txBody>
          <a:bodyPr spcFirstLastPara="1" wrap="square" lIns="91425" tIns="91425" rIns="91425" bIns="91425" anchor="t" anchorCtr="0">
            <a:spAutoFit/>
          </a:bodyPr>
          <a:lstStyle/>
          <a:p>
            <a:r>
              <a:rPr lang="en-US" sz="2000" dirty="0">
                <a:latin typeface="Verdana"/>
                <a:ea typeface="Verdana"/>
                <a:cs typeface="Verdana"/>
                <a:sym typeface="Verdana"/>
              </a:rPr>
              <a:t>c. (−14) − (−15) = _____</a:t>
            </a:r>
            <a:endParaRPr dirty="0"/>
          </a:p>
        </p:txBody>
      </p:sp>
      <p:sp>
        <p:nvSpPr>
          <p:cNvPr id="14"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268</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pic>
        <p:nvPicPr>
          <p:cNvPr id="16" name="Picture 15"/>
          <p:cNvPicPr/>
          <p:nvPr/>
        </p:nvPicPr>
        <p:blipFill>
          <a:blip r:embed="rId5"/>
          <a:stretch>
            <a:fillRect/>
          </a:stretch>
        </p:blipFill>
        <p:spPr>
          <a:xfrm>
            <a:off x="2787998" y="2678974"/>
            <a:ext cx="6949440" cy="604520"/>
          </a:xfrm>
          <a:prstGeom prst="rect">
            <a:avLst/>
          </a:prstGeom>
        </p:spPr>
      </p:pic>
      <p:pic>
        <p:nvPicPr>
          <p:cNvPr id="17" name="Picture 16"/>
          <p:cNvPicPr/>
          <p:nvPr/>
        </p:nvPicPr>
        <p:blipFill>
          <a:blip r:embed="rId5"/>
          <a:stretch>
            <a:fillRect/>
          </a:stretch>
        </p:blipFill>
        <p:spPr>
          <a:xfrm>
            <a:off x="2776402" y="4068034"/>
            <a:ext cx="6949440" cy="604520"/>
          </a:xfrm>
          <a:prstGeom prst="rect">
            <a:avLst/>
          </a:prstGeom>
        </p:spPr>
      </p:pic>
      <p:pic>
        <p:nvPicPr>
          <p:cNvPr id="18" name="Picture 17"/>
          <p:cNvPicPr/>
          <p:nvPr/>
        </p:nvPicPr>
        <p:blipFill>
          <a:blip r:embed="rId5"/>
          <a:stretch>
            <a:fillRect/>
          </a:stretch>
        </p:blipFill>
        <p:spPr>
          <a:xfrm>
            <a:off x="2776402" y="5576478"/>
            <a:ext cx="6949440" cy="604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3"/>
          <p:cNvSpPr/>
          <p:nvPr/>
        </p:nvSpPr>
        <p:spPr>
          <a:xfrm>
            <a:off x="0" y="-8101"/>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5" name="Google Shape;335;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36" name="Google Shape;336;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4"/>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buSzPts val="1400"/>
            </a:pPr>
            <a:endParaRPr/>
          </a:p>
        </p:txBody>
      </p:sp>
      <p:sp>
        <p:nvSpPr>
          <p:cNvPr id="345" name="Google Shape;345;p34"/>
          <p:cNvSpPr txBox="1"/>
          <p:nvPr/>
        </p:nvSpPr>
        <p:spPr>
          <a:xfrm>
            <a:off x="1359729" y="-66509"/>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a:solidFill>
                  <a:srgbClr val="3F2A67"/>
                </a:solidFill>
                <a:latin typeface="Verdana"/>
                <a:ea typeface="Verdana"/>
                <a:cs typeface="Verdana"/>
                <a:sym typeface="Verdana"/>
              </a:rPr>
              <a:t>6.7.5 Wrap-Up: Reflection</a:t>
            </a:r>
            <a:endParaRPr/>
          </a:p>
        </p:txBody>
      </p:sp>
      <p:pic>
        <p:nvPicPr>
          <p:cNvPr id="346" name="Google Shape;346;p34"/>
          <p:cNvPicPr preferRelativeResize="0"/>
          <p:nvPr/>
        </p:nvPicPr>
        <p:blipFill rotWithShape="1">
          <a:blip r:embed="rId3">
            <a:alphaModFix/>
          </a:blip>
          <a:srcRect/>
          <a:stretch/>
        </p:blipFill>
        <p:spPr>
          <a:xfrm>
            <a:off x="605538" y="182319"/>
            <a:ext cx="747300" cy="747300"/>
          </a:xfrm>
          <a:prstGeom prst="rect">
            <a:avLst/>
          </a:prstGeom>
          <a:noFill/>
          <a:ln>
            <a:noFill/>
          </a:ln>
          <a:effectLst>
            <a:outerShdw blurRad="50800" dist="38100" dir="2700000" algn="tl" rotWithShape="0">
              <a:srgbClr val="000000">
                <a:alpha val="40000"/>
              </a:srgbClr>
            </a:outerShdw>
          </a:effectLst>
        </p:spPr>
      </p:pic>
      <p:sp>
        <p:nvSpPr>
          <p:cNvPr id="347" name="Google Shape;347;p34"/>
          <p:cNvSpPr txBox="1"/>
          <p:nvPr/>
        </p:nvSpPr>
        <p:spPr>
          <a:xfrm>
            <a:off x="2060448" y="1386025"/>
            <a:ext cx="8327100" cy="708000"/>
          </a:xfrm>
          <a:prstGeom prst="rect">
            <a:avLst/>
          </a:prstGeom>
          <a:noFill/>
          <a:ln>
            <a:noFill/>
          </a:ln>
        </p:spPr>
        <p:txBody>
          <a:bodyPr spcFirstLastPara="1" wrap="square" lIns="91425" tIns="45700" rIns="91425" bIns="45700" anchor="t" anchorCtr="0">
            <a:spAutoFit/>
          </a:bodyPr>
          <a:lstStyle/>
          <a:p>
            <a:pPr>
              <a:buSzPts val="2400"/>
            </a:pPr>
            <a:r>
              <a:rPr lang="en-US" sz="2000" dirty="0">
                <a:latin typeface="Verdana"/>
                <a:ea typeface="Verdana"/>
                <a:cs typeface="Verdana"/>
                <a:sym typeface="Verdana"/>
              </a:rPr>
              <a:t>Draw an X on each line to indicate where your current learning is related to each target.</a:t>
            </a:r>
            <a:endParaRPr sz="1000" dirty="0"/>
          </a:p>
        </p:txBody>
      </p:sp>
      <p:sp>
        <p:nvSpPr>
          <p:cNvPr id="348" name="Google Shape;348;p34"/>
          <p:cNvSpPr txBox="1"/>
          <p:nvPr/>
        </p:nvSpPr>
        <p:spPr>
          <a:xfrm>
            <a:off x="2060448" y="2182188"/>
            <a:ext cx="7374300" cy="492600"/>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a:pPr>
            <a:r>
              <a:rPr lang="en-US" sz="2000" dirty="0">
                <a:solidFill>
                  <a:schemeClr val="dk1"/>
                </a:solidFill>
                <a:latin typeface="Verdana"/>
                <a:ea typeface="Verdana"/>
                <a:cs typeface="Verdana"/>
                <a:sym typeface="Verdana"/>
              </a:rPr>
              <a:t>I can subtract integers using a number line.</a:t>
            </a:r>
            <a:endParaRPr dirty="0"/>
          </a:p>
        </p:txBody>
      </p:sp>
      <p:pic>
        <p:nvPicPr>
          <p:cNvPr id="349" name="Google Shape;349;p34"/>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2117638" y="3267699"/>
            <a:ext cx="8212724" cy="314250"/>
          </a:xfrm>
          <a:prstGeom prst="rect">
            <a:avLst/>
          </a:prstGeom>
          <a:noFill/>
          <a:ln>
            <a:noFill/>
          </a:ln>
        </p:spPr>
      </p:pic>
      <p:sp>
        <p:nvSpPr>
          <p:cNvPr id="350" name="Google Shape;350;p34"/>
          <p:cNvSpPr txBox="1"/>
          <p:nvPr/>
        </p:nvSpPr>
        <p:spPr>
          <a:xfrm>
            <a:off x="2237800" y="2872425"/>
            <a:ext cx="2024100" cy="523200"/>
          </a:xfrm>
          <a:prstGeom prst="rect">
            <a:avLst/>
          </a:prstGeom>
          <a:noFill/>
          <a:ln>
            <a:noFill/>
          </a:ln>
        </p:spPr>
        <p:txBody>
          <a:bodyPr spcFirstLastPara="1" wrap="square" lIns="91425" tIns="91425" rIns="91425" bIns="91425" anchor="t" anchorCtr="0">
            <a:spAutoFit/>
          </a:bodyPr>
          <a:lstStyle/>
          <a:p>
            <a:r>
              <a:rPr lang="en-US" sz="1100">
                <a:solidFill>
                  <a:schemeClr val="dk1"/>
                </a:solidFill>
                <a:latin typeface="Verdana"/>
                <a:ea typeface="Verdana"/>
                <a:cs typeface="Verdana"/>
                <a:sym typeface="Verdana"/>
              </a:rPr>
              <a:t>I need help.</a:t>
            </a:r>
            <a:endParaRPr sz="1100">
              <a:solidFill>
                <a:schemeClr val="dk1"/>
              </a:solidFill>
              <a:latin typeface="Verdana"/>
              <a:ea typeface="Verdana"/>
              <a:cs typeface="Verdana"/>
              <a:sym typeface="Verdana"/>
            </a:endParaRPr>
          </a:p>
          <a:p>
            <a:r>
              <a:rPr lang="en-US" sz="1100">
                <a:solidFill>
                  <a:schemeClr val="dk1"/>
                </a:solidFill>
                <a:latin typeface="Verdana"/>
                <a:ea typeface="Verdana"/>
                <a:cs typeface="Verdana"/>
                <a:sym typeface="Verdana"/>
              </a:rPr>
              <a:t>I can’t get started.</a:t>
            </a:r>
            <a:endParaRPr sz="500"/>
          </a:p>
        </p:txBody>
      </p:sp>
      <p:sp>
        <p:nvSpPr>
          <p:cNvPr id="351" name="Google Shape;351;p34"/>
          <p:cNvSpPr txBox="1"/>
          <p:nvPr/>
        </p:nvSpPr>
        <p:spPr>
          <a:xfrm>
            <a:off x="5083950" y="5184325"/>
            <a:ext cx="2024100" cy="554100"/>
          </a:xfrm>
          <a:prstGeom prst="rect">
            <a:avLst/>
          </a:prstGeom>
          <a:noFill/>
          <a:ln>
            <a:noFill/>
          </a:ln>
        </p:spPr>
        <p:txBody>
          <a:bodyPr spcFirstLastPara="1" wrap="square" lIns="91425" tIns="91425" rIns="91425" bIns="91425" anchor="t" anchorCtr="0">
            <a:spAutoFit/>
          </a:bodyPr>
          <a:lstStyle/>
          <a:p>
            <a:r>
              <a:rPr lang="en-US" sz="1200">
                <a:solidFill>
                  <a:schemeClr val="dk1"/>
                </a:solidFill>
                <a:latin typeface="Verdana"/>
                <a:ea typeface="Verdana"/>
                <a:cs typeface="Verdana"/>
                <a:sym typeface="Verdana"/>
              </a:rPr>
              <a:t>I’m getting there, but I need more practice.</a:t>
            </a:r>
            <a:endParaRPr sz="600"/>
          </a:p>
        </p:txBody>
      </p:sp>
      <p:sp>
        <p:nvSpPr>
          <p:cNvPr id="352" name="Google Shape;352;p34"/>
          <p:cNvSpPr txBox="1"/>
          <p:nvPr/>
        </p:nvSpPr>
        <p:spPr>
          <a:xfrm>
            <a:off x="8414675" y="2844150"/>
            <a:ext cx="2024100" cy="554100"/>
          </a:xfrm>
          <a:prstGeom prst="rect">
            <a:avLst/>
          </a:prstGeom>
          <a:noFill/>
          <a:ln>
            <a:noFill/>
          </a:ln>
        </p:spPr>
        <p:txBody>
          <a:bodyPr spcFirstLastPara="1" wrap="square" lIns="91425" tIns="91425" rIns="91425" bIns="91425" anchor="t" anchorCtr="0">
            <a:spAutoFit/>
          </a:bodyPr>
          <a:lstStyle/>
          <a:p>
            <a:r>
              <a:rPr lang="en-US" sz="1200">
                <a:solidFill>
                  <a:schemeClr val="dk1"/>
                </a:solidFill>
                <a:latin typeface="Verdana"/>
                <a:ea typeface="Verdana"/>
                <a:cs typeface="Verdana"/>
                <a:sym typeface="Verdana"/>
              </a:rPr>
              <a:t>I understand this,</a:t>
            </a:r>
            <a:endParaRPr sz="1200">
              <a:solidFill>
                <a:schemeClr val="dk1"/>
              </a:solidFill>
              <a:latin typeface="Verdana"/>
              <a:ea typeface="Verdana"/>
              <a:cs typeface="Verdana"/>
              <a:sym typeface="Verdana"/>
            </a:endParaRPr>
          </a:p>
          <a:p>
            <a:r>
              <a:rPr lang="en-US" sz="1200">
                <a:solidFill>
                  <a:schemeClr val="dk1"/>
                </a:solidFill>
                <a:latin typeface="Verdana"/>
                <a:ea typeface="Verdana"/>
                <a:cs typeface="Verdana"/>
                <a:sym typeface="Verdana"/>
              </a:rPr>
              <a:t>and I feel confident.</a:t>
            </a:r>
            <a:endParaRPr sz="600"/>
          </a:p>
        </p:txBody>
      </p:sp>
      <p:sp>
        <p:nvSpPr>
          <p:cNvPr id="353" name="Google Shape;353;p34"/>
          <p:cNvSpPr txBox="1"/>
          <p:nvPr/>
        </p:nvSpPr>
        <p:spPr>
          <a:xfrm>
            <a:off x="2060448" y="3916362"/>
            <a:ext cx="7695000" cy="1108200"/>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startAt="2"/>
            </a:pPr>
            <a:r>
              <a:rPr lang="en-US" sz="2000" dirty="0">
                <a:solidFill>
                  <a:schemeClr val="dk1"/>
                </a:solidFill>
                <a:latin typeface="Verdana"/>
                <a:ea typeface="Verdana"/>
                <a:cs typeface="Verdana"/>
                <a:sym typeface="Verdana"/>
              </a:rPr>
              <a:t>I can use number lines to understand how the rules for adding integers are related to the rules for subtracting integers.</a:t>
            </a:r>
            <a:endParaRPr dirty="0"/>
          </a:p>
        </p:txBody>
      </p:sp>
      <p:pic>
        <p:nvPicPr>
          <p:cNvPr id="354" name="Google Shape;354;p34"/>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2117638" y="5679349"/>
            <a:ext cx="8212724" cy="314250"/>
          </a:xfrm>
          <a:prstGeom prst="rect">
            <a:avLst/>
          </a:prstGeom>
          <a:noFill/>
          <a:ln>
            <a:noFill/>
          </a:ln>
        </p:spPr>
      </p:pic>
      <p:sp>
        <p:nvSpPr>
          <p:cNvPr id="355" name="Google Shape;355;p34"/>
          <p:cNvSpPr txBox="1"/>
          <p:nvPr/>
        </p:nvSpPr>
        <p:spPr>
          <a:xfrm>
            <a:off x="2237800" y="5256600"/>
            <a:ext cx="2024100" cy="523200"/>
          </a:xfrm>
          <a:prstGeom prst="rect">
            <a:avLst/>
          </a:prstGeom>
          <a:noFill/>
          <a:ln>
            <a:noFill/>
          </a:ln>
        </p:spPr>
        <p:txBody>
          <a:bodyPr spcFirstLastPara="1" wrap="square" lIns="91425" tIns="91425" rIns="91425" bIns="91425" anchor="t" anchorCtr="0">
            <a:spAutoFit/>
          </a:bodyPr>
          <a:lstStyle/>
          <a:p>
            <a:r>
              <a:rPr lang="en-US" sz="1100">
                <a:solidFill>
                  <a:schemeClr val="dk1"/>
                </a:solidFill>
                <a:latin typeface="Verdana"/>
                <a:ea typeface="Verdana"/>
                <a:cs typeface="Verdana"/>
                <a:sym typeface="Verdana"/>
              </a:rPr>
              <a:t>I need help.</a:t>
            </a:r>
            <a:endParaRPr sz="1100">
              <a:solidFill>
                <a:schemeClr val="dk1"/>
              </a:solidFill>
              <a:latin typeface="Verdana"/>
              <a:ea typeface="Verdana"/>
              <a:cs typeface="Verdana"/>
              <a:sym typeface="Verdana"/>
            </a:endParaRPr>
          </a:p>
          <a:p>
            <a:r>
              <a:rPr lang="en-US" sz="1100">
                <a:solidFill>
                  <a:schemeClr val="dk1"/>
                </a:solidFill>
                <a:latin typeface="Verdana"/>
                <a:ea typeface="Verdana"/>
                <a:cs typeface="Verdana"/>
                <a:sym typeface="Verdana"/>
              </a:rPr>
              <a:t>I can’t get started.</a:t>
            </a:r>
            <a:endParaRPr sz="500"/>
          </a:p>
        </p:txBody>
      </p:sp>
      <p:sp>
        <p:nvSpPr>
          <p:cNvPr id="356" name="Google Shape;356;p34"/>
          <p:cNvSpPr txBox="1"/>
          <p:nvPr/>
        </p:nvSpPr>
        <p:spPr>
          <a:xfrm>
            <a:off x="5211950" y="2844138"/>
            <a:ext cx="2024100" cy="554100"/>
          </a:xfrm>
          <a:prstGeom prst="rect">
            <a:avLst/>
          </a:prstGeom>
          <a:noFill/>
          <a:ln>
            <a:noFill/>
          </a:ln>
        </p:spPr>
        <p:txBody>
          <a:bodyPr spcFirstLastPara="1" wrap="square" lIns="91425" tIns="91425" rIns="91425" bIns="91425" anchor="t" anchorCtr="0">
            <a:spAutoFit/>
          </a:bodyPr>
          <a:lstStyle/>
          <a:p>
            <a:r>
              <a:rPr lang="en-US" sz="1200">
                <a:solidFill>
                  <a:schemeClr val="dk1"/>
                </a:solidFill>
                <a:latin typeface="Verdana"/>
                <a:ea typeface="Verdana"/>
                <a:cs typeface="Verdana"/>
                <a:sym typeface="Verdana"/>
              </a:rPr>
              <a:t>I’m getting there, but I need more practice.</a:t>
            </a:r>
            <a:endParaRPr sz="600"/>
          </a:p>
        </p:txBody>
      </p:sp>
      <p:sp>
        <p:nvSpPr>
          <p:cNvPr id="357" name="Google Shape;357;p34"/>
          <p:cNvSpPr txBox="1"/>
          <p:nvPr/>
        </p:nvSpPr>
        <p:spPr>
          <a:xfrm>
            <a:off x="8414675" y="5184325"/>
            <a:ext cx="2024100" cy="554100"/>
          </a:xfrm>
          <a:prstGeom prst="rect">
            <a:avLst/>
          </a:prstGeom>
          <a:noFill/>
          <a:ln>
            <a:noFill/>
          </a:ln>
        </p:spPr>
        <p:txBody>
          <a:bodyPr spcFirstLastPara="1" wrap="square" lIns="91425" tIns="91425" rIns="91425" bIns="91425" anchor="t" anchorCtr="0">
            <a:spAutoFit/>
          </a:bodyPr>
          <a:lstStyle/>
          <a:p>
            <a:r>
              <a:rPr lang="en-US" sz="1200">
                <a:solidFill>
                  <a:schemeClr val="dk1"/>
                </a:solidFill>
                <a:latin typeface="Verdana"/>
                <a:ea typeface="Verdana"/>
                <a:cs typeface="Verdana"/>
                <a:sym typeface="Verdana"/>
              </a:rPr>
              <a:t>I understand this,</a:t>
            </a:r>
            <a:endParaRPr sz="1200">
              <a:solidFill>
                <a:schemeClr val="dk1"/>
              </a:solidFill>
              <a:latin typeface="Verdana"/>
              <a:ea typeface="Verdana"/>
              <a:cs typeface="Verdana"/>
              <a:sym typeface="Verdana"/>
            </a:endParaRPr>
          </a:p>
          <a:p>
            <a:r>
              <a:rPr lang="en-US" sz="1200">
                <a:solidFill>
                  <a:schemeClr val="dk1"/>
                </a:solidFill>
                <a:latin typeface="Verdana"/>
                <a:ea typeface="Verdana"/>
                <a:cs typeface="Verdana"/>
                <a:sym typeface="Verdana"/>
              </a:rPr>
              <a:t>and I feel confident.</a:t>
            </a:r>
            <a:endParaRPr sz="600"/>
          </a:p>
        </p:txBody>
      </p:sp>
      <p:sp>
        <p:nvSpPr>
          <p:cNvPr id="2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269</a:t>
            </a:r>
            <a:endParaRPr i="1" dirty="0">
              <a:latin typeface="Calibri"/>
              <a:ea typeface="Calibri"/>
              <a:cs typeface="Calibri"/>
              <a:sym typeface="Calibri"/>
            </a:endParaRPr>
          </a:p>
        </p:txBody>
      </p:sp>
      <p:pic>
        <p:nvPicPr>
          <p:cNvPr id="2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699185-C337-40D4-A991-C9F799E7B0C0}">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A623433A-D8D5-45DA-9E33-A48FE826B033}">
  <ds:schemaRefs>
    <ds:schemaRef ds:uri="http://schemas.microsoft.com/sharepoint/v3/contenttype/forms"/>
  </ds:schemaRefs>
</ds:datastoreItem>
</file>

<file path=customXml/itemProps3.xml><?xml version="1.0" encoding="utf-8"?>
<ds:datastoreItem xmlns:ds="http://schemas.openxmlformats.org/officeDocument/2006/customXml" ds:itemID="{FEBD637C-6496-4319-A54E-6DDC9188D4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53</TotalTime>
  <Words>1093</Words>
  <Application>Microsoft Office PowerPoint</Application>
  <PresentationFormat>Custom</PresentationFormat>
  <Paragraphs>131</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1_Office Theme</vt:lpstr>
      <vt:lpstr>6th Grade Accelerated Math  Unit 6, Lesson 7  Subtracting Integers Using Number Lines  Volume 1, pg. 264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6, Lesson 7  Subtracting Integers Using Number Lines  Volume 1, pg. 264  </dc:title>
  <dc:creator>Karen McKenzie</dc:creator>
  <cp:lastModifiedBy>Sensei</cp:lastModifiedBy>
  <cp:revision>7</cp:revision>
  <dcterms:created xsi:type="dcterms:W3CDTF">2015-03-17T18:51:18Z</dcterms:created>
  <dcterms:modified xsi:type="dcterms:W3CDTF">2023-07-06T08:46:18Z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