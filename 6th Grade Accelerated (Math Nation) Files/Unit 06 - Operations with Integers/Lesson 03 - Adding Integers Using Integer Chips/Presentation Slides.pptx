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Og6bCqEo6NegFuTfzNt5/XrYK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varScale="1">
        <p:scale>
          <a:sx n="79" d="100"/>
          <a:sy n="79" d="100"/>
        </p:scale>
        <p:origin x="82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 name="Google Shape;396;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6, Lesson 3</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Adding Integers Using Integer Chips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242</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5" name="Google Shape;115;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700157"/>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626050" y="1238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802550" y="359600"/>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242</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549850" y="1600200"/>
            <a:ext cx="9498326"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MA.6.NSO.4.1</a:t>
            </a:r>
            <a:endParaRPr sz="35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latin typeface="Verdana"/>
                <a:ea typeface="Verdana"/>
                <a:cs typeface="Verdana"/>
                <a:sym typeface="Verdana"/>
              </a:rPr>
              <a:t>Apply and extend previous understandings of operations with whole numbers to add and subtract integers with procedural fluency.</a:t>
            </a:r>
            <a:endParaRPr sz="21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35" name="Google Shape;135;p2"/>
          <p:cNvSpPr txBox="1"/>
          <p:nvPr/>
        </p:nvSpPr>
        <p:spPr>
          <a:xfrm>
            <a:off x="1501169"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Targets</a:t>
            </a:r>
            <a:endParaRPr/>
          </a:p>
        </p:txBody>
      </p:sp>
      <p:pic>
        <p:nvPicPr>
          <p:cNvPr id="136" name="Google Shape;136;p2"/>
          <p:cNvPicPr preferRelativeResize="0"/>
          <p:nvPr/>
        </p:nvPicPr>
        <p:blipFill rotWithShape="1">
          <a:blip r:embed="rId3">
            <a:alphaModFix/>
          </a:blip>
          <a:srcRect/>
          <a:stretch/>
        </p:blipFill>
        <p:spPr>
          <a:xfrm>
            <a:off x="719007" y="289200"/>
            <a:ext cx="747300" cy="747300"/>
          </a:xfrm>
          <a:prstGeom prst="rect">
            <a:avLst/>
          </a:prstGeom>
          <a:noFill/>
          <a:ln>
            <a:noFill/>
          </a:ln>
          <a:effectLst>
            <a:outerShdw blurRad="50800" dist="38100" dir="2700000" algn="tl" rotWithShape="0">
              <a:srgbClr val="000000">
                <a:alpha val="40000"/>
              </a:srgbClr>
            </a:outerShdw>
          </a:effectLst>
        </p:spPr>
      </p:pic>
      <p:sp>
        <p:nvSpPr>
          <p:cNvPr id="137" name="Google Shape;137;p2"/>
          <p:cNvSpPr txBox="1"/>
          <p:nvPr/>
        </p:nvSpPr>
        <p:spPr>
          <a:xfrm>
            <a:off x="1600200" y="1962775"/>
            <a:ext cx="964795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a:solidFill>
                  <a:schemeClr val="dk1"/>
                </a:solidFill>
                <a:latin typeface="Verdana"/>
                <a:ea typeface="Verdana"/>
                <a:cs typeface="Verdana"/>
                <a:sym typeface="Verdana"/>
              </a:rPr>
              <a:t>I can express integer addition using integer chips.</a:t>
            </a:r>
            <a:endParaRPr/>
          </a:p>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add integers using integer chips.</a:t>
            </a:r>
            <a:endParaRPr dirty="0"/>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242</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46" name="Google Shape;146;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47" name="Google Shape;147;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56" name="Google Shape;156;p4"/>
          <p:cNvSpPr txBox="1"/>
          <p:nvPr/>
        </p:nvSpPr>
        <p:spPr>
          <a:xfrm>
            <a:off x="1360219"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6.3.1 Warm-Up: Below Sea Level </a:t>
            </a:r>
            <a:endParaRPr/>
          </a:p>
        </p:txBody>
      </p:sp>
      <p:pic>
        <p:nvPicPr>
          <p:cNvPr id="157" name="Google Shape;157;p4"/>
          <p:cNvPicPr preferRelativeResize="0"/>
          <p:nvPr/>
        </p:nvPicPr>
        <p:blipFill rotWithShape="1">
          <a:blip r:embed="rId3">
            <a:alphaModFix/>
          </a:blip>
          <a:srcRect/>
          <a:stretch/>
        </p:blipFill>
        <p:spPr>
          <a:xfrm>
            <a:off x="612919" y="197486"/>
            <a:ext cx="747300" cy="747300"/>
          </a:xfrm>
          <a:prstGeom prst="rect">
            <a:avLst/>
          </a:prstGeom>
          <a:noFill/>
          <a:ln>
            <a:noFill/>
          </a:ln>
          <a:effectLst>
            <a:outerShdw blurRad="50800" dist="38100" dir="2700000" algn="tl" rotWithShape="0">
              <a:srgbClr val="000000">
                <a:alpha val="40000"/>
              </a:srgbClr>
            </a:outerShdw>
          </a:effectLst>
        </p:spPr>
      </p:pic>
      <p:sp>
        <p:nvSpPr>
          <p:cNvPr id="158" name="Google Shape;158;p4"/>
          <p:cNvSpPr txBox="1"/>
          <p:nvPr/>
        </p:nvSpPr>
        <p:spPr>
          <a:xfrm>
            <a:off x="1360219" y="1386026"/>
            <a:ext cx="9727558" cy="1938952"/>
          </a:xfrm>
          <a:prstGeom prst="rect">
            <a:avLst/>
          </a:prstGeom>
          <a:noFill/>
          <a:ln>
            <a:noFill/>
          </a:ln>
        </p:spPr>
        <p:txBody>
          <a:bodyPr spcFirstLastPara="1" wrap="square" lIns="91425" tIns="45700" rIns="91425" bIns="45700" anchor="t" anchorCtr="0">
            <a:spAutoFit/>
          </a:bodyPr>
          <a:lstStyle/>
          <a:p>
            <a:pPr>
              <a:buSzPts val="2000"/>
            </a:pPr>
            <a:r>
              <a:rPr lang="en-US" sz="2000" dirty="0">
                <a:latin typeface="Verdana"/>
                <a:ea typeface="Verdana"/>
                <a:cs typeface="Verdana"/>
                <a:sym typeface="Verdana"/>
              </a:rPr>
              <a:t>Dr. Ernest Everett Just was a pioneering African American biologist who conducted research at Woods Hole Marine Biological Laboratory in Massachusetts. He published two books and more than 70 scientific papers, most of which focused on the cell. Today, marine biologists use submarines to study marine life. A submarine explorer begins at sea level and descends at a rate of 150 feet per minute. </a:t>
            </a:r>
            <a:endParaRPr dirty="0"/>
          </a:p>
        </p:txBody>
      </p:sp>
      <p:pic>
        <p:nvPicPr>
          <p:cNvPr id="159" name="Google Shape;159;p4"/>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452419" y="3602987"/>
            <a:ext cx="2063835" cy="3054789"/>
          </a:xfrm>
          <a:prstGeom prst="rect">
            <a:avLst/>
          </a:prstGeom>
          <a:noFill/>
          <a:ln>
            <a:noFill/>
          </a:ln>
        </p:spPr>
      </p:pic>
      <p:sp>
        <p:nvSpPr>
          <p:cNvPr id="2" name="TextBox 1">
            <a:extLst>
              <a:ext uri="{FF2B5EF4-FFF2-40B4-BE49-F238E27FC236}">
                <a16:creationId xmlns:a16="http://schemas.microsoft.com/office/drawing/2014/main" id="{C609D66B-B2D8-4841-8D89-FDB49B4AE424}"/>
              </a:ext>
            </a:extLst>
          </p:cNvPr>
          <p:cNvSpPr txBox="1"/>
          <p:nvPr/>
        </p:nvSpPr>
        <p:spPr>
          <a:xfrm>
            <a:off x="4908224" y="3632755"/>
            <a:ext cx="5223329" cy="1015663"/>
          </a:xfrm>
          <a:prstGeom prst="rect">
            <a:avLst/>
          </a:prstGeom>
          <a:noFill/>
        </p:spPr>
        <p:txBody>
          <a:bodyPr wrap="square" rtlCol="0">
            <a:spAutoFit/>
          </a:bodyPr>
          <a:lstStyle/>
          <a:p>
            <a:pPr marL="342900" indent="-342900">
              <a:buFont typeface="+mj-lt"/>
              <a:buAutoNum type="arabicPeriod"/>
            </a:pPr>
            <a:r>
              <a:rPr lang="en-US" sz="2000" dirty="0">
                <a:latin typeface="Verdana"/>
                <a:ea typeface="Verdana"/>
                <a:cs typeface="Verdana"/>
                <a:sym typeface="Verdana"/>
              </a:rPr>
              <a:t>Sketch a picture that shows how far below sea level the submarine will be in 3 minutes.</a:t>
            </a:r>
            <a:endParaRPr lang="en-US" sz="2000" dirty="0"/>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68" name="Google Shape;168;p5"/>
          <p:cNvSpPr txBox="1"/>
          <p:nvPr/>
        </p:nvSpPr>
        <p:spPr>
          <a:xfrm>
            <a:off x="1244600" y="520393"/>
            <a:ext cx="9853466" cy="2308284"/>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startAt="2"/>
            </a:pPr>
            <a:r>
              <a:rPr lang="en-US" sz="2400" dirty="0">
                <a:latin typeface="Verdana"/>
                <a:ea typeface="Verdana"/>
                <a:cs typeface="Verdana"/>
                <a:sym typeface="Verdana"/>
              </a:rPr>
              <a:t>Add a bird that is flying 1,000 feet above sea level to your picture.</a:t>
            </a:r>
            <a:endParaRPr dirty="0"/>
          </a:p>
          <a:p>
            <a:pPr marL="457200" indent="-457200">
              <a:buSzPts val="2400"/>
              <a:buFont typeface="+mj-lt"/>
              <a:buAutoNum type="arabicPeriod" startAt="2"/>
            </a:pPr>
            <a:endParaRPr sz="2400" dirty="0">
              <a:latin typeface="Verdana"/>
              <a:ea typeface="Verdana"/>
              <a:cs typeface="Verdana"/>
              <a:sym typeface="Verdana"/>
            </a:endParaRPr>
          </a:p>
          <a:p>
            <a:pPr marL="457200" indent="-457200">
              <a:buSzPts val="2400"/>
              <a:buFont typeface="+mj-lt"/>
              <a:buAutoNum type="arabicPeriod" startAt="2"/>
            </a:pPr>
            <a:r>
              <a:rPr lang="en-US" sz="2400" dirty="0">
                <a:latin typeface="Verdana"/>
                <a:ea typeface="Verdana"/>
                <a:cs typeface="Verdana"/>
                <a:sym typeface="Verdana"/>
              </a:rPr>
              <a:t>What number represents sea level?</a:t>
            </a:r>
            <a:endParaRPr dirty="0"/>
          </a:p>
          <a:p>
            <a:pPr marL="457200" indent="-457200">
              <a:buSzPts val="2400"/>
              <a:buFont typeface="+mj-lt"/>
              <a:buAutoNum type="arabicPeriod" startAt="2"/>
            </a:pPr>
            <a:endParaRPr sz="2400" dirty="0">
              <a:latin typeface="Verdana"/>
              <a:ea typeface="Verdana"/>
              <a:cs typeface="Verdana"/>
              <a:sym typeface="Verdana"/>
            </a:endParaRPr>
          </a:p>
          <a:p>
            <a:pPr marL="457200" indent="-457200">
              <a:buSzPts val="2400"/>
              <a:buFont typeface="+mj-lt"/>
              <a:buAutoNum type="arabicPeriod" startAt="2"/>
            </a:pPr>
            <a:r>
              <a:rPr lang="en-US" sz="2400" dirty="0">
                <a:latin typeface="Verdana"/>
                <a:ea typeface="Verdana"/>
                <a:cs typeface="Verdana"/>
                <a:sym typeface="Verdana"/>
              </a:rPr>
              <a:t>Complete the statement.</a:t>
            </a:r>
            <a:endParaRPr dirty="0"/>
          </a:p>
        </p:txBody>
      </p:sp>
      <p:pic>
        <p:nvPicPr>
          <p:cNvPr id="169" name="Google Shape;169;p5"/>
          <p:cNvPicPr preferRelativeResize="0"/>
          <p:nvPr/>
        </p:nvPicPr>
        <p:blipFill rotWithShape="1">
          <a:blip r:embed="rId3">
            <a:alphaModFix/>
          </a:blip>
          <a:srcRect/>
          <a:stretch/>
        </p:blipFill>
        <p:spPr>
          <a:xfrm>
            <a:off x="2300911" y="2948747"/>
            <a:ext cx="7590178" cy="1691787"/>
          </a:xfrm>
          <a:prstGeom prst="rect">
            <a:avLst/>
          </a:prstGeom>
          <a:noFill/>
          <a:ln>
            <a:noFill/>
          </a:ln>
        </p:spPr>
      </p:pic>
      <p:pic>
        <p:nvPicPr>
          <p:cNvPr id="170" name="Google Shape;170;p5"/>
          <p:cNvPicPr preferRelativeResize="0"/>
          <p:nvPr/>
        </p:nvPicPr>
        <p:blipFill rotWithShape="1">
          <a:blip r:embed="rId4">
            <a:alphaModFix/>
          </a:blip>
          <a:srcRect/>
          <a:stretch/>
        </p:blipFill>
        <p:spPr>
          <a:xfrm>
            <a:off x="4591666" y="4622658"/>
            <a:ext cx="3805083" cy="484330"/>
          </a:xfrm>
          <a:prstGeom prst="rect">
            <a:avLst/>
          </a:prstGeom>
          <a:noFill/>
          <a:ln>
            <a:noFill/>
          </a:ln>
        </p:spPr>
      </p:pic>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9" name="Google Shape;179;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180" name="Google Shape;180;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9"/>
          <p:cNvSpPr/>
          <p:nvPr/>
        </p:nvSpPr>
        <p:spPr>
          <a:xfrm>
            <a:off x="0" y="-24002"/>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89" name="Google Shape;189;p19"/>
          <p:cNvSpPr txBox="1"/>
          <p:nvPr/>
        </p:nvSpPr>
        <p:spPr>
          <a:xfrm>
            <a:off x="1308668" y="56184"/>
            <a:ext cx="10603931"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6.3.2 Guided Instruction: Zero Pairs</a:t>
            </a:r>
            <a:endParaRPr/>
          </a:p>
        </p:txBody>
      </p:sp>
      <p:pic>
        <p:nvPicPr>
          <p:cNvPr id="190" name="Google Shape;190;p19"/>
          <p:cNvPicPr preferRelativeResize="0"/>
          <p:nvPr/>
        </p:nvPicPr>
        <p:blipFill rotWithShape="1">
          <a:blip r:embed="rId3">
            <a:alphaModFix/>
          </a:blip>
          <a:srcRect/>
          <a:stretch/>
        </p:blipFill>
        <p:spPr>
          <a:xfrm>
            <a:off x="561369" y="263448"/>
            <a:ext cx="747300" cy="747300"/>
          </a:xfrm>
          <a:prstGeom prst="rect">
            <a:avLst/>
          </a:prstGeom>
          <a:noFill/>
          <a:ln>
            <a:noFill/>
          </a:ln>
          <a:effectLst>
            <a:outerShdw blurRad="50800" dist="38100" dir="2700000" algn="tl" rotWithShape="0">
              <a:srgbClr val="000000">
                <a:alpha val="40000"/>
              </a:srgbClr>
            </a:outerShdw>
          </a:effectLst>
        </p:spPr>
      </p:pic>
      <p:sp>
        <p:nvSpPr>
          <p:cNvPr id="191" name="Google Shape;191;p19"/>
          <p:cNvSpPr txBox="1"/>
          <p:nvPr/>
        </p:nvSpPr>
        <p:spPr>
          <a:xfrm>
            <a:off x="1460500" y="1184877"/>
            <a:ext cx="10087864" cy="769401"/>
          </a:xfrm>
          <a:prstGeom prst="rect">
            <a:avLst/>
          </a:prstGeom>
          <a:noFill/>
          <a:ln>
            <a:noFill/>
          </a:ln>
        </p:spPr>
        <p:txBody>
          <a:bodyPr spcFirstLastPara="1" wrap="square" lIns="91425" tIns="45700" rIns="91425" bIns="45700" anchor="t" anchorCtr="0">
            <a:spAutoFit/>
          </a:bodyPr>
          <a:lstStyle/>
          <a:p>
            <a:pPr>
              <a:buSzPts val="2200"/>
            </a:pPr>
            <a:r>
              <a:rPr lang="en-US" sz="2200">
                <a:latin typeface="Verdana"/>
                <a:ea typeface="Verdana"/>
                <a:cs typeface="Verdana"/>
                <a:sym typeface="Verdana"/>
              </a:rPr>
              <a:t>Positive and negative values are often useful in the contexts of money, banking, and accounting.</a:t>
            </a:r>
            <a:endParaRPr sz="2200">
              <a:latin typeface="Verdana"/>
              <a:ea typeface="Verdana"/>
              <a:cs typeface="Verdana"/>
              <a:sym typeface="Verdana"/>
            </a:endParaRPr>
          </a:p>
        </p:txBody>
      </p:sp>
      <p:pic>
        <p:nvPicPr>
          <p:cNvPr id="193" name="Google Shape;193;p19" descr="Graphical user interface, text, application, chat or text messag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002695" y="1954277"/>
            <a:ext cx="7737987" cy="3571836"/>
          </a:xfrm>
          <a:prstGeom prst="rect">
            <a:avLst/>
          </a:prstGeom>
          <a:noFill/>
          <a:ln>
            <a:noFill/>
          </a:ln>
        </p:spPr>
      </p:pic>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8"/>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02" name="Google Shape;202;p8"/>
          <p:cNvSpPr txBox="1"/>
          <p:nvPr/>
        </p:nvSpPr>
        <p:spPr>
          <a:xfrm>
            <a:off x="2007765" y="520394"/>
            <a:ext cx="8327136" cy="3862555"/>
          </a:xfrm>
          <a:prstGeom prst="rect">
            <a:avLst/>
          </a:prstGeom>
          <a:noFill/>
          <a:ln>
            <a:noFill/>
          </a:ln>
        </p:spPr>
        <p:txBody>
          <a:bodyPr spcFirstLastPara="1" wrap="square" lIns="91425" tIns="45700" rIns="91425" bIns="45700" anchor="t" anchorCtr="0">
            <a:spAutoFit/>
          </a:bodyPr>
          <a:lstStyle/>
          <a:p>
            <a:pPr>
              <a:buSzPts val="2200"/>
            </a:pPr>
            <a:r>
              <a:rPr lang="en-US" sz="2200">
                <a:latin typeface="Verdana"/>
                <a:ea typeface="Verdana"/>
                <a:cs typeface="Verdana"/>
                <a:sym typeface="Verdana"/>
              </a:rPr>
              <a:t>Money can be used to learn how to add integers. </a:t>
            </a:r>
            <a:endParaRPr/>
          </a:p>
          <a:p>
            <a:pPr>
              <a:buSzPts val="2200"/>
            </a:pPr>
            <a:endParaRPr sz="2200" dirty="0">
              <a:latin typeface="Verdana"/>
              <a:ea typeface="Verdana"/>
              <a:cs typeface="Verdana"/>
              <a:sym typeface="Verdana"/>
            </a:endParaRPr>
          </a:p>
          <a:p>
            <a:pPr>
              <a:buSzPts val="2200"/>
            </a:pPr>
            <a:r>
              <a:rPr lang="en-US" sz="2200" dirty="0">
                <a:latin typeface="Verdana"/>
                <a:ea typeface="Verdana"/>
                <a:cs typeface="Verdana"/>
                <a:sym typeface="Verdana"/>
              </a:rPr>
              <a:t>	● A value of +1 means that you 	________________ $1. </a:t>
            </a:r>
            <a:endParaRPr dirty="0"/>
          </a:p>
          <a:p>
            <a:pPr>
              <a:buSzPts val="2200"/>
            </a:pPr>
            <a:endParaRPr sz="2200" dirty="0">
              <a:latin typeface="Verdana"/>
              <a:ea typeface="Verdana"/>
              <a:cs typeface="Verdana"/>
              <a:sym typeface="Verdana"/>
            </a:endParaRPr>
          </a:p>
          <a:p>
            <a:pPr>
              <a:buSzPts val="2200"/>
            </a:pPr>
            <a:r>
              <a:rPr lang="en-US" sz="2200" dirty="0">
                <a:latin typeface="Verdana"/>
                <a:ea typeface="Verdana"/>
                <a:cs typeface="Verdana"/>
                <a:sym typeface="Verdana"/>
              </a:rPr>
              <a:t>	● A value of (−1) means that you    	_______________ $1 or __________ $1. </a:t>
            </a:r>
            <a:endParaRPr dirty="0"/>
          </a:p>
          <a:p>
            <a:pPr>
              <a:buSzPts val="2500"/>
            </a:pPr>
            <a:endParaRPr sz="2500" dirty="0">
              <a:latin typeface="Verdana"/>
              <a:ea typeface="Verdana"/>
              <a:cs typeface="Verdana"/>
              <a:sym typeface="Verdana"/>
            </a:endParaRPr>
          </a:p>
          <a:p>
            <a:pPr>
              <a:buSzPts val="2200"/>
            </a:pPr>
            <a:r>
              <a:rPr lang="en-US" sz="2200" dirty="0">
                <a:latin typeface="Verdana"/>
                <a:ea typeface="Verdana"/>
                <a:cs typeface="Verdana"/>
                <a:sym typeface="Verdana"/>
              </a:rPr>
              <a:t>The table below shows a positive integer chip, which represents earning $1, and a negative integer chip, which represents spending $1. </a:t>
            </a:r>
            <a:endParaRPr sz="2200" dirty="0">
              <a:latin typeface="Verdana"/>
              <a:ea typeface="Verdana"/>
              <a:cs typeface="Verdana"/>
              <a:sym typeface="Verdana"/>
            </a:endParaRPr>
          </a:p>
        </p:txBody>
      </p:sp>
      <p:pic>
        <p:nvPicPr>
          <p:cNvPr id="203" name="Google Shape;203;p8" descr="Table&#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348299" y="4486062"/>
            <a:ext cx="5646068" cy="1714662"/>
          </a:xfrm>
          <a:prstGeom prst="rect">
            <a:avLst/>
          </a:prstGeom>
          <a:noFill/>
          <a:ln>
            <a:noFill/>
          </a:ln>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12" name="Google Shape;212;p3"/>
          <p:cNvSpPr txBox="1"/>
          <p:nvPr/>
        </p:nvSpPr>
        <p:spPr>
          <a:xfrm>
            <a:off x="2007765" y="751756"/>
            <a:ext cx="8327136" cy="5878492"/>
          </a:xfrm>
          <a:prstGeom prst="rect">
            <a:avLst/>
          </a:prstGeom>
          <a:blipFill rotWithShape="1">
            <a:blip r:embed="rId3">
              <a:alphaModFix/>
            </a:blip>
            <a:stretch>
              <a:fillRect l="-1170" t="-723"/>
            </a:stretch>
          </a:blipFill>
          <a:ln>
            <a:noFill/>
          </a:ln>
        </p:spPr>
        <p:txBody>
          <a:bodyPr spcFirstLastPara="1" wrap="square" lIns="91425" tIns="45700" rIns="91425" bIns="45700" anchor="t" anchorCtr="0">
            <a:noAutofit/>
          </a:bodyPr>
          <a:lstStyle/>
          <a:p>
            <a:r>
              <a:rPr lang="en-US"/>
              <a:t> </a:t>
            </a:r>
            <a:endParaRPr/>
          </a:p>
        </p:txBody>
      </p:sp>
      <p:sp>
        <p:nvSpPr>
          <p:cNvPr id="213" name="Google Shape;213;p3"/>
          <p:cNvSpPr/>
          <p:nvPr/>
        </p:nvSpPr>
        <p:spPr>
          <a:xfrm>
            <a:off x="2126346" y="1946788"/>
            <a:ext cx="7490685" cy="1555403"/>
          </a:xfrm>
          <a:prstGeom prst="roundRect">
            <a:avLst>
              <a:gd name="adj" fmla="val 16667"/>
            </a:avLst>
          </a:prstGeom>
          <a:solidFill>
            <a:srgbClr val="C4E0B2"/>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a:r>
              <a:rPr lang="en-US" sz="2600" b="1">
                <a:solidFill>
                  <a:srgbClr val="548135"/>
                </a:solidFill>
                <a:latin typeface="Verdana"/>
                <a:ea typeface="Verdana"/>
                <a:cs typeface="Verdana"/>
                <a:sym typeface="Verdana"/>
              </a:rPr>
              <a:t>            Integers</a:t>
            </a:r>
            <a:r>
              <a:rPr lang="en-US" sz="2600">
                <a:solidFill>
                  <a:srgbClr val="548135"/>
                </a:solidFill>
                <a:latin typeface="Verdana"/>
                <a:ea typeface="Verdana"/>
                <a:cs typeface="Verdana"/>
                <a:sym typeface="Verdana"/>
              </a:rPr>
              <a:t> are whole numbers and their opposites</a:t>
            </a:r>
            <a:r>
              <a:rPr lang="en-US">
                <a:solidFill>
                  <a:schemeClr val="lt1"/>
                </a:solidFill>
              </a:rPr>
              <a:t>.</a:t>
            </a:r>
            <a:endParaRPr/>
          </a:p>
        </p:txBody>
      </p:sp>
      <p:pic>
        <p:nvPicPr>
          <p:cNvPr id="214" name="Google Shape;214;p3"/>
          <p:cNvPicPr preferRelativeResize="0"/>
          <p:nvPr/>
        </p:nvPicPr>
        <p:blipFill rotWithShape="1">
          <a:blip r:embed="rId4">
            <a:alphaModFix/>
          </a:blip>
          <a:srcRect/>
          <a:stretch/>
        </p:blipFill>
        <p:spPr>
          <a:xfrm>
            <a:off x="2574970" y="2314913"/>
            <a:ext cx="819150" cy="819150"/>
          </a:xfrm>
          <a:prstGeom prst="rect">
            <a:avLst/>
          </a:prstGeom>
          <a:noFill/>
          <a:ln>
            <a:noFill/>
          </a:ln>
        </p:spPr>
      </p:pic>
      <p:pic>
        <p:nvPicPr>
          <p:cNvPr id="215" name="Google Shape;215;p3"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399484" y="5830998"/>
            <a:ext cx="735394" cy="369602"/>
          </a:xfrm>
          <a:prstGeom prst="rect">
            <a:avLst/>
          </a:prstGeom>
          <a:noFill/>
          <a:ln>
            <a:noFill/>
          </a:ln>
        </p:spPr>
      </p:pic>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243</a:t>
            </a:r>
            <a:endParaRPr i="1">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p:nvPr/>
        </p:nvSpPr>
        <p:spPr>
          <a:xfrm>
            <a:off x="-20016"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24" name="Google Shape;224;p36"/>
          <p:cNvSpPr txBox="1"/>
          <p:nvPr/>
        </p:nvSpPr>
        <p:spPr>
          <a:xfrm>
            <a:off x="1794627" y="751757"/>
            <a:ext cx="7874801" cy="6186269"/>
          </a:xfrm>
          <a:prstGeom prst="rect">
            <a:avLst/>
          </a:prstGeom>
          <a:noFill/>
          <a:ln>
            <a:noFill/>
          </a:ln>
        </p:spPr>
        <p:txBody>
          <a:bodyPr spcFirstLastPara="1" wrap="square" lIns="91425" tIns="45700" rIns="91425" bIns="45700" anchor="t" anchorCtr="0">
            <a:spAutoFit/>
          </a:bodyPr>
          <a:lstStyle/>
          <a:p>
            <a:pPr marL="457200" indent="-457200">
              <a:buSzPts val="2200"/>
              <a:buFont typeface="Arial"/>
              <a:buAutoNum type="arabicPeriod"/>
            </a:pPr>
            <a:r>
              <a:rPr lang="en-US" sz="2200" dirty="0">
                <a:latin typeface="Verdana"/>
                <a:ea typeface="Verdana"/>
                <a:cs typeface="Verdana"/>
                <a:sym typeface="Verdana"/>
              </a:rPr>
              <a:t>Complete the table. In the last column, sketch the integer chips that represent the phrase and the integer. Place a + sign in a circle to represent     and place a — sign in a circle to represent      .</a:t>
            </a:r>
            <a:endParaRPr dirty="0"/>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457200" indent="-457200">
              <a:buSzPts val="2200"/>
              <a:buFont typeface="Arial"/>
              <a:buAutoNum type="arabicPeriod"/>
            </a:pPr>
            <a:r>
              <a:rPr lang="en-US" sz="2200" dirty="0">
                <a:latin typeface="Verdana"/>
                <a:ea typeface="Verdana"/>
                <a:cs typeface="Verdana"/>
                <a:sym typeface="Verdana"/>
              </a:rPr>
              <a:t>Complete the table by sketching integer chips for each phrase.</a:t>
            </a:r>
            <a:endParaRPr dirty="0"/>
          </a:p>
          <a:p>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p:txBody>
      </p:sp>
      <p:pic>
        <p:nvPicPr>
          <p:cNvPr id="225" name="Google Shape;225;p36" descr="A yellow circle with a black symbol&#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848431" y="1460778"/>
            <a:ext cx="357832" cy="379852"/>
          </a:xfrm>
          <a:prstGeom prst="rect">
            <a:avLst/>
          </a:prstGeom>
          <a:noFill/>
          <a:ln>
            <a:noFill/>
          </a:ln>
        </p:spPr>
      </p:pic>
      <p:pic>
        <p:nvPicPr>
          <p:cNvPr id="226" name="Google Shape;226;p36" descr="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349727" y="1840631"/>
            <a:ext cx="343427" cy="379851"/>
          </a:xfrm>
          <a:prstGeom prst="rect">
            <a:avLst/>
          </a:prstGeom>
          <a:noFill/>
          <a:ln>
            <a:noFill/>
          </a:ln>
        </p:spPr>
      </p:pic>
      <p:pic>
        <p:nvPicPr>
          <p:cNvPr id="227" name="Google Shape;227;p36" descr="Table&#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501680" y="2240831"/>
            <a:ext cx="7025077" cy="1929319"/>
          </a:xfrm>
          <a:prstGeom prst="rect">
            <a:avLst/>
          </a:prstGeom>
          <a:noFill/>
          <a:ln>
            <a:noFill/>
          </a:ln>
        </p:spPr>
      </p:pic>
      <p:pic>
        <p:nvPicPr>
          <p:cNvPr id="228" name="Google Shape;228;p36" descr="Table&#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522573" y="5248059"/>
            <a:ext cx="7146854" cy="1209616"/>
          </a:xfrm>
          <a:prstGeom prst="rect">
            <a:avLst/>
          </a:prstGeom>
          <a:noFill/>
          <a:ln>
            <a:noFill/>
          </a:ln>
        </p:spPr>
      </p:pic>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244</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36" name="Google Shape;236;p37"/>
          <p:cNvSpPr txBox="1"/>
          <p:nvPr/>
        </p:nvSpPr>
        <p:spPr>
          <a:xfrm>
            <a:off x="1079500" y="201150"/>
            <a:ext cx="10033000" cy="6863377"/>
          </a:xfrm>
          <a:prstGeom prst="rect">
            <a:avLst/>
          </a:prstGeom>
          <a:noFill/>
          <a:ln>
            <a:noFill/>
          </a:ln>
        </p:spPr>
        <p:txBody>
          <a:bodyPr spcFirstLastPara="1" wrap="square" lIns="91425" tIns="45700" rIns="91425" bIns="45700" anchor="t" anchorCtr="0">
            <a:spAutoFit/>
          </a:bodyPr>
          <a:lstStyle/>
          <a:p>
            <a:pPr marL="350838" indent="-350838"/>
            <a:r>
              <a:rPr lang="en-US" sz="2200" dirty="0">
                <a:latin typeface="Verdana"/>
                <a:ea typeface="Verdana"/>
                <a:cs typeface="Verdana"/>
                <a:sym typeface="Verdana"/>
              </a:rPr>
              <a:t>3. Joleen earned $4, then spent $4. How much money does she have left?</a:t>
            </a:r>
            <a:endParaRPr dirty="0"/>
          </a:p>
          <a:p>
            <a:endParaRPr lang="en-US" sz="2200" dirty="0">
              <a:latin typeface="Verdana"/>
              <a:ea typeface="Verdana"/>
              <a:cs typeface="Verdana"/>
              <a:sym typeface="Verdana"/>
            </a:endParaRPr>
          </a:p>
          <a:p>
            <a:endParaRPr lang="en-US" sz="2200" dirty="0">
              <a:latin typeface="Verdana"/>
              <a:ea typeface="Verdana"/>
              <a:cs typeface="Verdana"/>
              <a:sym typeface="Verdana"/>
            </a:endParaRPr>
          </a:p>
          <a:p>
            <a:r>
              <a:rPr lang="en-US" sz="2200" dirty="0">
                <a:latin typeface="Verdana"/>
                <a:ea typeface="Verdana"/>
                <a:cs typeface="Verdana"/>
                <a:sym typeface="Verdana"/>
              </a:rPr>
              <a:t>The last column in the table and problem above both represent a </a:t>
            </a:r>
            <a:r>
              <a:rPr lang="en-US" sz="2200" b="1" dirty="0">
                <a:latin typeface="Verdana"/>
                <a:ea typeface="Verdana"/>
                <a:cs typeface="Verdana"/>
                <a:sym typeface="Verdana"/>
              </a:rPr>
              <a:t>zero pair. </a:t>
            </a:r>
            <a:endParaRPr dirty="0"/>
          </a:p>
          <a:p>
            <a:endParaRPr sz="2200" b="1" dirty="0">
              <a:latin typeface="Verdana"/>
              <a:ea typeface="Verdana"/>
              <a:cs typeface="Verdana"/>
              <a:sym typeface="Verdana"/>
            </a:endParaRPr>
          </a:p>
          <a:p>
            <a:endParaRPr sz="2200" b="1" dirty="0">
              <a:latin typeface="Verdana"/>
              <a:ea typeface="Verdana"/>
              <a:cs typeface="Verdana"/>
              <a:sym typeface="Verdana"/>
            </a:endParaRPr>
          </a:p>
          <a:p>
            <a:endParaRPr sz="2200" b="1" dirty="0">
              <a:latin typeface="Verdana"/>
              <a:ea typeface="Verdana"/>
              <a:cs typeface="Verdana"/>
              <a:sym typeface="Verdana"/>
            </a:endParaRPr>
          </a:p>
          <a:p>
            <a:endParaRPr lang="en-US" sz="2200" b="1" dirty="0">
              <a:latin typeface="Verdana"/>
              <a:ea typeface="Verdana"/>
              <a:cs typeface="Verdana"/>
              <a:sym typeface="Verdana"/>
            </a:endParaRPr>
          </a:p>
          <a:p>
            <a:endParaRPr sz="2200" b="1" dirty="0">
              <a:latin typeface="Verdana"/>
              <a:ea typeface="Verdana"/>
              <a:cs typeface="Verdana"/>
              <a:sym typeface="Verdana"/>
            </a:endParaRPr>
          </a:p>
          <a:p>
            <a:pPr marL="401638" indent="-401638"/>
            <a:r>
              <a:rPr lang="en-US" sz="2200" dirty="0">
                <a:latin typeface="Verdana"/>
                <a:ea typeface="Verdana"/>
                <a:cs typeface="Verdana"/>
                <a:sym typeface="Verdana"/>
              </a:rPr>
              <a:t>4. Complete the table by drawing the negative integer chips that create a zero pair. In the sum column, draw all of the chips from both columns.</a:t>
            </a:r>
            <a:endParaRPr sz="2200" b="1" dirty="0">
              <a:latin typeface="Verdana"/>
              <a:ea typeface="Verdana"/>
              <a:cs typeface="Verdana"/>
              <a:sym typeface="Verdana"/>
            </a:endParaRPr>
          </a:p>
          <a:p>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p:txBody>
      </p:sp>
      <p:sp>
        <p:nvSpPr>
          <p:cNvPr id="237" name="Google Shape;237;p37"/>
          <p:cNvSpPr/>
          <p:nvPr/>
        </p:nvSpPr>
        <p:spPr>
          <a:xfrm>
            <a:off x="2057654" y="2372773"/>
            <a:ext cx="8076692" cy="1052052"/>
          </a:xfrm>
          <a:prstGeom prst="roundRect">
            <a:avLst>
              <a:gd name="adj" fmla="val 16667"/>
            </a:avLst>
          </a:prstGeom>
          <a:solidFill>
            <a:srgbClr val="C4E0B2"/>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a:r>
              <a:rPr lang="en-US" sz="2400" dirty="0">
                <a:solidFill>
                  <a:srgbClr val="548135"/>
                </a:solidFill>
                <a:latin typeface="Verdana"/>
                <a:ea typeface="Verdana"/>
                <a:cs typeface="Verdana"/>
                <a:sym typeface="Verdana"/>
              </a:rPr>
              <a:t>A </a:t>
            </a:r>
            <a:r>
              <a:rPr lang="en-US" sz="2400" b="1" dirty="0">
                <a:solidFill>
                  <a:srgbClr val="548135"/>
                </a:solidFill>
                <a:latin typeface="Verdana"/>
                <a:ea typeface="Verdana"/>
                <a:cs typeface="Verdana"/>
                <a:sym typeface="Verdana"/>
              </a:rPr>
              <a:t>zero pair </a:t>
            </a:r>
            <a:r>
              <a:rPr lang="en-US" sz="2400" dirty="0">
                <a:solidFill>
                  <a:srgbClr val="548135"/>
                </a:solidFill>
                <a:latin typeface="Verdana"/>
                <a:ea typeface="Verdana"/>
                <a:cs typeface="Verdana"/>
                <a:sym typeface="Verdana"/>
              </a:rPr>
              <a:t>is a pair of numbers whose sum is zero.</a:t>
            </a:r>
            <a:endParaRPr sz="2400" dirty="0"/>
          </a:p>
        </p:txBody>
      </p:sp>
      <p:pic>
        <p:nvPicPr>
          <p:cNvPr id="238" name="Google Shape;238;p37" descr="Text&#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325329" y="4954140"/>
            <a:ext cx="7541342" cy="1433279"/>
          </a:xfrm>
          <a:prstGeom prst="rect">
            <a:avLst/>
          </a:prstGeom>
          <a:noFill/>
          <a:ln>
            <a:noFill/>
          </a:ln>
        </p:spPr>
      </p:pic>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244</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8"/>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47" name="Google Shape;247;p38"/>
          <p:cNvSpPr txBox="1"/>
          <p:nvPr/>
        </p:nvSpPr>
        <p:spPr>
          <a:xfrm>
            <a:off x="1932432" y="201149"/>
            <a:ext cx="8327136" cy="6217046"/>
          </a:xfrm>
          <a:prstGeom prst="rect">
            <a:avLst/>
          </a:prstGeom>
          <a:noFill/>
          <a:ln>
            <a:noFill/>
          </a:ln>
        </p:spPr>
        <p:txBody>
          <a:bodyPr spcFirstLastPara="1" wrap="square" lIns="91425" tIns="45700" rIns="91425" bIns="45700" anchor="t" anchorCtr="0">
            <a:spAutoFit/>
          </a:bodyPr>
          <a:lstStyle/>
          <a:p>
            <a:r>
              <a:rPr lang="en-US" sz="2200" dirty="0">
                <a:latin typeface="Verdana"/>
                <a:ea typeface="Verdana"/>
                <a:cs typeface="Verdana"/>
                <a:sym typeface="Verdana"/>
              </a:rPr>
              <a:t>Each zero pair can be represented by an equation. The box shows two mathematical equations that represent the zero pair of      and      .</a:t>
            </a:r>
            <a:endParaRPr dirty="0"/>
          </a:p>
          <a:p>
            <a:endParaRPr sz="2200" dirty="0">
              <a:latin typeface="Verdana"/>
              <a:ea typeface="Verdana"/>
              <a:cs typeface="Verdana"/>
              <a:sym typeface="Verdana"/>
            </a:endParaRPr>
          </a:p>
          <a:p>
            <a:endParaRPr sz="2200" dirty="0">
              <a:latin typeface="Verdana"/>
              <a:ea typeface="Verdana"/>
              <a:cs typeface="Verdana"/>
              <a:sym typeface="Verdana"/>
            </a:endParaRPr>
          </a:p>
          <a:p>
            <a:endParaRPr sz="2200" dirty="0">
              <a:latin typeface="Verdana"/>
              <a:ea typeface="Verdana"/>
              <a:cs typeface="Verdana"/>
              <a:sym typeface="Verdana"/>
            </a:endParaRPr>
          </a:p>
          <a:p>
            <a:endParaRPr sz="2100" dirty="0">
              <a:latin typeface="Verdana"/>
              <a:ea typeface="Verdana"/>
              <a:cs typeface="Verdana"/>
              <a:sym typeface="Verdana"/>
            </a:endParaRPr>
          </a:p>
          <a:p>
            <a:pPr marL="457200" indent="-457200">
              <a:buFont typeface="+mj-lt"/>
              <a:buAutoNum type="arabicPeriod" startAt="5"/>
            </a:pPr>
            <a:r>
              <a:rPr lang="en-US" sz="2100" dirty="0">
                <a:latin typeface="Verdana"/>
                <a:ea typeface="Verdana"/>
                <a:cs typeface="Verdana"/>
                <a:sym typeface="Verdana"/>
              </a:rPr>
              <a:t>Write an equation that represents the sum column in the previous table.</a:t>
            </a:r>
          </a:p>
          <a:p>
            <a:pPr marL="457200" indent="-457200">
              <a:buFont typeface="+mj-lt"/>
              <a:buAutoNum type="arabicPeriod" startAt="5"/>
            </a:pPr>
            <a:endParaRPr dirty="0"/>
          </a:p>
          <a:p>
            <a:pPr marL="457200" indent="-457200">
              <a:buFont typeface="+mj-lt"/>
              <a:buAutoNum type="arabicPeriod" startAt="5"/>
            </a:pPr>
            <a:r>
              <a:rPr lang="en-US" sz="2100" dirty="0">
                <a:latin typeface="Verdana"/>
                <a:ea typeface="Verdana"/>
                <a:cs typeface="Verdana"/>
                <a:sym typeface="Verdana"/>
              </a:rPr>
              <a:t>Complete the table by drawing the positive integer chips that create a zero pair. In the sum column, draw all of the chips from both columns.</a:t>
            </a:r>
            <a:endParaRPr dirty="0"/>
          </a:p>
          <a:p>
            <a:pPr marL="457200" indent="-457200">
              <a:buFont typeface="+mj-lt"/>
              <a:buAutoNum type="arabicPeriod" startAt="5"/>
            </a:pPr>
            <a:endParaRPr sz="2100" dirty="0">
              <a:latin typeface="Verdana"/>
              <a:ea typeface="Verdana"/>
              <a:cs typeface="Verdana"/>
              <a:sym typeface="Verdana"/>
            </a:endParaRPr>
          </a:p>
          <a:p>
            <a:pPr marL="457200" indent="-457200">
              <a:buFont typeface="+mj-lt"/>
              <a:buAutoNum type="arabicPeriod" startAt="5"/>
            </a:pPr>
            <a:endParaRPr sz="2100" dirty="0">
              <a:latin typeface="Verdana"/>
              <a:ea typeface="Verdana"/>
              <a:cs typeface="Verdana"/>
              <a:sym typeface="Verdana"/>
            </a:endParaRPr>
          </a:p>
          <a:p>
            <a:pPr marL="457200" indent="-457200">
              <a:buFont typeface="+mj-lt"/>
              <a:buAutoNum type="arabicPeriod" startAt="5"/>
            </a:pPr>
            <a:endParaRPr sz="2100" dirty="0">
              <a:latin typeface="Verdana"/>
              <a:ea typeface="Verdana"/>
              <a:cs typeface="Verdana"/>
              <a:sym typeface="Verdana"/>
            </a:endParaRPr>
          </a:p>
          <a:p>
            <a:pPr marL="457200" indent="-457200">
              <a:buFont typeface="+mj-lt"/>
              <a:buAutoNum type="arabicPeriod" startAt="5"/>
            </a:pPr>
            <a:endParaRPr sz="2100" dirty="0">
              <a:latin typeface="Verdana"/>
              <a:ea typeface="Verdana"/>
              <a:cs typeface="Verdana"/>
              <a:sym typeface="Verdana"/>
            </a:endParaRPr>
          </a:p>
          <a:p>
            <a:pPr marL="457200" indent="-457200">
              <a:buFont typeface="+mj-lt"/>
              <a:buAutoNum type="arabicPeriod" startAt="5"/>
            </a:pPr>
            <a:r>
              <a:rPr lang="en-US" sz="2100" dirty="0">
                <a:latin typeface="Verdana"/>
                <a:ea typeface="Verdana"/>
                <a:cs typeface="Verdana"/>
                <a:sym typeface="Verdana"/>
              </a:rPr>
              <a:t>Write an equation that represents the sum column in the previous table.</a:t>
            </a:r>
            <a:endParaRPr sz="2100" dirty="0">
              <a:latin typeface="Verdana"/>
              <a:ea typeface="Verdana"/>
              <a:cs typeface="Verdana"/>
              <a:sym typeface="Verdana"/>
            </a:endParaRPr>
          </a:p>
        </p:txBody>
      </p:sp>
      <p:pic>
        <p:nvPicPr>
          <p:cNvPr id="248" name="Google Shape;248;p38" descr="A yellow circle with a black symbol&#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322623" y="952012"/>
            <a:ext cx="359904" cy="357092"/>
          </a:xfrm>
          <a:prstGeom prst="rect">
            <a:avLst/>
          </a:prstGeom>
          <a:noFill/>
          <a:ln>
            <a:noFill/>
          </a:ln>
        </p:spPr>
      </p:pic>
      <p:pic>
        <p:nvPicPr>
          <p:cNvPr id="249" name="Google Shape;249;p38" descr="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406827" y="937400"/>
            <a:ext cx="359904" cy="371704"/>
          </a:xfrm>
          <a:prstGeom prst="rect">
            <a:avLst/>
          </a:prstGeom>
          <a:noFill/>
          <a:ln>
            <a:noFill/>
          </a:ln>
        </p:spPr>
      </p:pic>
      <p:sp>
        <p:nvSpPr>
          <p:cNvPr id="250" name="Google Shape;250;p38"/>
          <p:cNvSpPr/>
          <p:nvPr/>
        </p:nvSpPr>
        <p:spPr>
          <a:xfrm>
            <a:off x="2120682" y="1348584"/>
            <a:ext cx="7502013" cy="1209578"/>
          </a:xfrm>
          <a:prstGeom prst="roundRect">
            <a:avLst>
              <a:gd name="adj" fmla="val 16667"/>
            </a:avLst>
          </a:prstGeom>
          <a:blipFill rotWithShape="1">
            <a:blip r:embed="rId5" cstate="screen">
              <a:alphaModFix/>
              <a:extLst>
                <a:ext uri="{28A0092B-C50C-407E-A947-70E740481C1C}">
                  <a14:useLocalDpi xmlns:a14="http://schemas.microsoft.com/office/drawing/2010/main"/>
                </a:ext>
              </a:extLst>
            </a:blip>
            <a:stretch>
              <a:fillRect/>
            </a:stretch>
          </a:blip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r>
              <a:rPr lang="en-US"/>
              <a:t> </a:t>
            </a:r>
            <a:endParaRPr/>
          </a:p>
        </p:txBody>
      </p:sp>
      <p:pic>
        <p:nvPicPr>
          <p:cNvPr id="251" name="Google Shape;251;p38"/>
          <p:cNvPicPr preferRelativeResize="0"/>
          <p:nvPr/>
        </p:nvPicPr>
        <p:blipFill rotWithShape="1">
          <a:blip r:embed="rId6">
            <a:alphaModFix/>
          </a:blip>
          <a:srcRect/>
          <a:stretch/>
        </p:blipFill>
        <p:spPr>
          <a:xfrm>
            <a:off x="2251113" y="1694193"/>
            <a:ext cx="636387" cy="636387"/>
          </a:xfrm>
          <a:prstGeom prst="rect">
            <a:avLst/>
          </a:prstGeom>
          <a:noFill/>
          <a:ln>
            <a:noFill/>
          </a:ln>
        </p:spPr>
      </p:pic>
      <p:pic>
        <p:nvPicPr>
          <p:cNvPr id="252" name="Google Shape;252;p38" descr="A picture containing bubble chart&#10;&#10;Description automatically generate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3037379" y="4511005"/>
            <a:ext cx="6117243" cy="1222376"/>
          </a:xfrm>
          <a:prstGeom prst="rect">
            <a:avLst/>
          </a:prstGeom>
          <a:noFill/>
          <a:ln>
            <a:noFill/>
          </a:ln>
        </p:spPr>
      </p:pic>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244</a:t>
            </a:r>
            <a:endParaRPr i="1">
              <a:latin typeface="Calibri"/>
              <a:ea typeface="Calibri"/>
              <a:cs typeface="Calibri"/>
              <a:sym typeface="Calibri"/>
            </a:endParaRPr>
          </a:p>
        </p:txBody>
      </p:sp>
      <p:pic>
        <p:nvPicPr>
          <p:cNvPr id="12"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61" name="Google Shape;261;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62" name="Google Shape;262;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0"/>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71" name="Google Shape;271;p10"/>
          <p:cNvSpPr txBox="1"/>
          <p:nvPr/>
        </p:nvSpPr>
        <p:spPr>
          <a:xfrm>
            <a:off x="1452833" y="5910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6.3.3 Exploration: Adding Integers with the Same Sign</a:t>
            </a:r>
            <a:endParaRPr/>
          </a:p>
        </p:txBody>
      </p:sp>
      <p:pic>
        <p:nvPicPr>
          <p:cNvPr id="272" name="Google Shape;272;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535" y="307226"/>
            <a:ext cx="752254" cy="752254"/>
          </a:xfrm>
          <a:prstGeom prst="rect">
            <a:avLst/>
          </a:prstGeom>
          <a:noFill/>
          <a:ln>
            <a:noFill/>
          </a:ln>
          <a:effectLst>
            <a:outerShdw blurRad="50800" dist="38100" dir="2700000" algn="tl" rotWithShape="0">
              <a:srgbClr val="000000">
                <a:alpha val="40000"/>
              </a:srgbClr>
            </a:outerShdw>
          </a:effectLst>
        </p:spPr>
      </p:pic>
      <p:sp>
        <p:nvSpPr>
          <p:cNvPr id="273" name="Google Shape;273;p10"/>
          <p:cNvSpPr txBox="1"/>
          <p:nvPr/>
        </p:nvSpPr>
        <p:spPr>
          <a:xfrm>
            <a:off x="1448789" y="1386026"/>
            <a:ext cx="9550454" cy="430847"/>
          </a:xfrm>
          <a:prstGeom prst="rect">
            <a:avLst/>
          </a:prstGeom>
          <a:noFill/>
          <a:ln>
            <a:noFill/>
          </a:ln>
        </p:spPr>
        <p:txBody>
          <a:bodyPr spcFirstLastPara="1" wrap="square" lIns="91425" tIns="45700" rIns="91425" bIns="45700" anchor="t" anchorCtr="0">
            <a:spAutoFit/>
          </a:bodyPr>
          <a:lstStyle/>
          <a:p>
            <a:pPr>
              <a:buSzPts val="2200"/>
            </a:pPr>
            <a:r>
              <a:rPr lang="en-US" sz="2200" dirty="0">
                <a:latin typeface="Verdana"/>
                <a:ea typeface="Verdana"/>
                <a:cs typeface="Verdana"/>
                <a:sym typeface="Verdana"/>
              </a:rPr>
              <a:t>1. Work with your partner to complete the table.</a:t>
            </a:r>
            <a:endParaRPr sz="2200" dirty="0">
              <a:latin typeface="Verdana"/>
              <a:ea typeface="Verdana"/>
              <a:cs typeface="Verdana"/>
              <a:sym typeface="Verdana"/>
            </a:endParaRPr>
          </a:p>
        </p:txBody>
      </p:sp>
      <p:pic>
        <p:nvPicPr>
          <p:cNvPr id="274" name="Google Shape;274;p10" descr="Table&#10;&#10;Description automatically generated"/>
          <p:cNvPicPr preferRelativeResize="0"/>
          <p:nvPr/>
        </p:nvPicPr>
        <p:blipFill rotWithShape="1">
          <a:blip r:embed="rId4">
            <a:alphaModFix/>
          </a:blip>
          <a:srcRect/>
          <a:stretch/>
        </p:blipFill>
        <p:spPr>
          <a:xfrm>
            <a:off x="3004704" y="1896519"/>
            <a:ext cx="5372381" cy="4910988"/>
          </a:xfrm>
          <a:prstGeom prst="rect">
            <a:avLst/>
          </a:prstGeom>
          <a:noFill/>
          <a:ln>
            <a:noFill/>
          </a:ln>
        </p:spPr>
      </p:pic>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1"/>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84" name="Google Shape;284;p11"/>
          <p:cNvSpPr txBox="1"/>
          <p:nvPr/>
        </p:nvSpPr>
        <p:spPr>
          <a:xfrm>
            <a:off x="965200" y="442344"/>
            <a:ext cx="10412266" cy="2585283"/>
          </a:xfrm>
          <a:prstGeom prst="rect">
            <a:avLst/>
          </a:prstGeom>
          <a:noFill/>
          <a:ln>
            <a:noFill/>
          </a:ln>
        </p:spPr>
        <p:txBody>
          <a:bodyPr spcFirstLastPara="1" wrap="square" lIns="91425" tIns="45700" rIns="91425" bIns="45700" anchor="t" anchorCtr="0">
            <a:spAutoFit/>
          </a:bodyPr>
          <a:lstStyle/>
          <a:p>
            <a:pPr marL="465138" indent="-465138">
              <a:buSzPts val="2700"/>
            </a:pPr>
            <a:r>
              <a:rPr lang="en-US" sz="2700" dirty="0">
                <a:latin typeface="Verdana"/>
                <a:ea typeface="Verdana"/>
                <a:cs typeface="Verdana"/>
                <a:sym typeface="Verdana"/>
              </a:rPr>
              <a:t>2. With your partner, discuss the patterns you notice about the signs of the sums when adding integers with the same sign.</a:t>
            </a:r>
            <a:endParaRPr dirty="0"/>
          </a:p>
          <a:p>
            <a:pPr marL="465138" indent="-465138">
              <a:buSzPts val="2700"/>
            </a:pPr>
            <a:endParaRPr sz="2700" dirty="0">
              <a:latin typeface="Verdana"/>
              <a:ea typeface="Verdana"/>
              <a:cs typeface="Verdana"/>
              <a:sym typeface="Verdana"/>
            </a:endParaRPr>
          </a:p>
          <a:p>
            <a:pPr marL="465138" indent="-465138">
              <a:buSzPts val="2700"/>
            </a:pPr>
            <a:r>
              <a:rPr lang="en-US" sz="2700" dirty="0">
                <a:latin typeface="Verdana"/>
                <a:ea typeface="Verdana"/>
                <a:cs typeface="Verdana"/>
                <a:sym typeface="Verdana"/>
              </a:rPr>
              <a:t>3. Were any zero pairs created when adding integers with the same sign? Explain.</a:t>
            </a:r>
            <a:endParaRPr sz="2700" dirty="0">
              <a:latin typeface="Verdana"/>
              <a:ea typeface="Verdana"/>
              <a:cs typeface="Verdana"/>
              <a:sym typeface="Verdana"/>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7"/>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92" name="Google Shape;292;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294" name="Google Shape;294;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02" name="Google Shape;302;p39"/>
          <p:cNvSpPr txBox="1"/>
          <p:nvPr/>
        </p:nvSpPr>
        <p:spPr>
          <a:xfrm>
            <a:off x="1547834"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a:solidFill>
                  <a:srgbClr val="54B5D1"/>
                </a:solidFill>
                <a:latin typeface="Verdana"/>
                <a:ea typeface="Verdana"/>
                <a:cs typeface="Verdana"/>
                <a:sym typeface="Verdana"/>
              </a:rPr>
              <a:t>6.3.4 Bring it Together: Adding Integers with the Same Sign</a:t>
            </a:r>
            <a:endParaRPr sz="3200"/>
          </a:p>
        </p:txBody>
      </p:sp>
      <p:sp>
        <p:nvSpPr>
          <p:cNvPr id="304" name="Google Shape;304;p39"/>
          <p:cNvSpPr txBox="1"/>
          <p:nvPr/>
        </p:nvSpPr>
        <p:spPr>
          <a:xfrm>
            <a:off x="1134734" y="1386026"/>
            <a:ext cx="10178564" cy="3816389"/>
          </a:xfrm>
          <a:prstGeom prst="rect">
            <a:avLst/>
          </a:prstGeom>
          <a:noFill/>
          <a:ln>
            <a:noFill/>
          </a:ln>
        </p:spPr>
        <p:txBody>
          <a:bodyPr spcFirstLastPara="1" wrap="square" lIns="91425" tIns="45700" rIns="91425" bIns="45700" anchor="t" anchorCtr="0">
            <a:spAutoFit/>
          </a:bodyPr>
          <a:lstStyle/>
          <a:p>
            <a:pPr marL="457200" indent="-457200">
              <a:buSzPts val="2200"/>
              <a:buFont typeface="Arial"/>
              <a:buAutoNum type="arabicPeriod"/>
            </a:pPr>
            <a:r>
              <a:rPr lang="en-US" sz="2200" dirty="0">
                <a:latin typeface="Verdana"/>
                <a:ea typeface="Verdana"/>
                <a:cs typeface="Verdana"/>
                <a:sym typeface="Verdana"/>
              </a:rPr>
              <a:t>Complete the visual model of the rule of adding two positive integers by drawing the integer chip that represents the </a:t>
            </a:r>
            <a:r>
              <a:rPr lang="en-US" sz="2200" b="1" dirty="0">
                <a:latin typeface="Verdana"/>
                <a:ea typeface="Verdana"/>
                <a:cs typeface="Verdana"/>
                <a:sym typeface="Verdana"/>
              </a:rPr>
              <a:t>sign</a:t>
            </a:r>
            <a:r>
              <a:rPr lang="en-US" sz="2200" dirty="0">
                <a:latin typeface="Verdana"/>
                <a:ea typeface="Verdana"/>
                <a:cs typeface="Verdana"/>
                <a:sym typeface="Verdana"/>
              </a:rPr>
              <a:t> of the sum.</a:t>
            </a:r>
            <a:endParaRPr dirty="0"/>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457200" indent="-457200">
              <a:buSzPts val="2200"/>
              <a:buFont typeface="Arial"/>
              <a:buAutoNum type="arabicPeriod"/>
            </a:pPr>
            <a:r>
              <a:rPr lang="en-US" sz="2200" dirty="0">
                <a:latin typeface="Verdana"/>
                <a:ea typeface="Verdana"/>
                <a:cs typeface="Verdana"/>
                <a:sym typeface="Verdana"/>
              </a:rPr>
              <a:t>Complete the visual model of the rule of adding two negative integers by drawing the integer chip that represent the </a:t>
            </a:r>
            <a:r>
              <a:rPr lang="en-US" sz="2200" b="1" dirty="0">
                <a:latin typeface="Verdana"/>
                <a:ea typeface="Verdana"/>
                <a:cs typeface="Verdana"/>
                <a:sym typeface="Verdana"/>
              </a:rPr>
              <a:t>sign</a:t>
            </a:r>
            <a:r>
              <a:rPr lang="en-US" sz="2200" dirty="0">
                <a:latin typeface="Verdana"/>
                <a:ea typeface="Verdana"/>
                <a:cs typeface="Verdana"/>
                <a:sym typeface="Verdana"/>
              </a:rPr>
              <a:t> of the sum.</a:t>
            </a:r>
            <a:endParaRPr sz="2200" dirty="0">
              <a:latin typeface="Verdana"/>
              <a:ea typeface="Verdana"/>
              <a:cs typeface="Verdana"/>
              <a:sym typeface="Verdana"/>
            </a:endParaRPr>
          </a:p>
        </p:txBody>
      </p:sp>
      <p:pic>
        <p:nvPicPr>
          <p:cNvPr id="305" name="Google Shape;305;p39" descr="A picture containing diagram&#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746090" y="2586392"/>
            <a:ext cx="4060724" cy="1501292"/>
          </a:xfrm>
          <a:prstGeom prst="rect">
            <a:avLst/>
          </a:prstGeom>
          <a:noFill/>
          <a:ln>
            <a:noFill/>
          </a:ln>
        </p:spPr>
      </p:pic>
      <p:pic>
        <p:nvPicPr>
          <p:cNvPr id="306" name="Google Shape;306;p39" descr="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011344" y="5221219"/>
            <a:ext cx="3874346" cy="1436556"/>
          </a:xfrm>
          <a:prstGeom prst="rect">
            <a:avLst/>
          </a:prstGeom>
          <a:noFill/>
          <a:ln>
            <a:noFill/>
          </a:ln>
        </p:spPr>
      </p:pic>
      <p:pic>
        <p:nvPicPr>
          <p:cNvPr id="307" name="Google Shape;307;p39" descr="Icon&#10;&#10;Description automatically generated"/>
          <p:cNvPicPr preferRelativeResize="0"/>
          <p:nvPr/>
        </p:nvPicPr>
        <p:blipFill rotWithShape="1">
          <a:blip r:embed="rId5">
            <a:alphaModFix/>
          </a:blip>
          <a:srcRect/>
          <a:stretch/>
        </p:blipFill>
        <p:spPr>
          <a:xfrm>
            <a:off x="636300" y="276635"/>
            <a:ext cx="911534" cy="924290"/>
          </a:xfrm>
          <a:prstGeom prst="rect">
            <a:avLst/>
          </a:prstGeom>
          <a:noFill/>
          <a:ln>
            <a:noFill/>
          </a:ln>
          <a:effectLst>
            <a:outerShdw blurRad="50800" dist="38100" dir="2700000" algn="tl" rotWithShape="0">
              <a:srgbClr val="000000">
                <a:alpha val="40000"/>
              </a:srgbClr>
            </a:outerShdw>
          </a:effectLst>
        </p:spPr>
      </p:pic>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0"/>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15" name="Google Shape;315;p40"/>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316" name="Google Shape;316;p40"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1"/>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25" name="Google Shape;325;p41"/>
          <p:cNvSpPr txBox="1"/>
          <p:nvPr/>
        </p:nvSpPr>
        <p:spPr>
          <a:xfrm>
            <a:off x="1351450" y="72234"/>
            <a:ext cx="103579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a:solidFill>
                  <a:srgbClr val="33BEA6"/>
                </a:solidFill>
                <a:latin typeface="Verdana"/>
                <a:ea typeface="Verdana"/>
                <a:cs typeface="Verdana"/>
                <a:sym typeface="Verdana"/>
              </a:rPr>
              <a:t>6.3.5 Exploration: Using Zero Pairs to Add Integers with Opposite Signs </a:t>
            </a:r>
            <a:endParaRPr sz="3200"/>
          </a:p>
        </p:txBody>
      </p:sp>
      <p:pic>
        <p:nvPicPr>
          <p:cNvPr id="326" name="Google Shape;326;p41"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95152" y="320359"/>
            <a:ext cx="752254" cy="752254"/>
          </a:xfrm>
          <a:prstGeom prst="rect">
            <a:avLst/>
          </a:prstGeom>
          <a:noFill/>
          <a:ln>
            <a:noFill/>
          </a:ln>
          <a:effectLst>
            <a:outerShdw blurRad="50800" dist="38100" dir="2700000" algn="tl" rotWithShape="0">
              <a:srgbClr val="000000">
                <a:alpha val="40000"/>
              </a:srgbClr>
            </a:outerShdw>
          </a:effectLst>
        </p:spPr>
      </p:pic>
      <p:sp>
        <p:nvSpPr>
          <p:cNvPr id="327" name="Google Shape;327;p41"/>
          <p:cNvSpPr txBox="1"/>
          <p:nvPr/>
        </p:nvSpPr>
        <p:spPr>
          <a:xfrm>
            <a:off x="1347406" y="1646059"/>
            <a:ext cx="8327136" cy="1785064"/>
          </a:xfrm>
          <a:prstGeom prst="rect">
            <a:avLst/>
          </a:prstGeom>
          <a:noFill/>
          <a:ln>
            <a:noFill/>
          </a:ln>
        </p:spPr>
        <p:txBody>
          <a:bodyPr spcFirstLastPara="1" wrap="square" lIns="91425" tIns="45700" rIns="91425" bIns="45700" anchor="t" anchorCtr="0">
            <a:spAutoFit/>
          </a:bodyPr>
          <a:lstStyle/>
          <a:p>
            <a:pPr>
              <a:buSzPts val="2200"/>
            </a:pPr>
            <a:r>
              <a:rPr lang="en-US" sz="2200" dirty="0">
                <a:latin typeface="Verdana"/>
                <a:ea typeface="Verdana"/>
                <a:cs typeface="Verdana"/>
                <a:sym typeface="Verdana"/>
              </a:rPr>
              <a:t>It is possible to add a positive number and a negative number. To find the answer using integer chips, combine a      and     to create a zero pair. Make as many zero pairs as possible. Then, determine the number of chips that are left over.</a:t>
            </a:r>
            <a:endParaRPr dirty="0"/>
          </a:p>
        </p:txBody>
      </p:sp>
      <p:pic>
        <p:nvPicPr>
          <p:cNvPr id="328" name="Google Shape;328;p41" descr="A picture containing text, clip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709215" y="2320681"/>
            <a:ext cx="441999" cy="457240"/>
          </a:xfrm>
          <a:prstGeom prst="rect">
            <a:avLst/>
          </a:prstGeom>
          <a:noFill/>
          <a:ln>
            <a:noFill/>
          </a:ln>
        </p:spPr>
      </p:pic>
      <p:pic>
        <p:nvPicPr>
          <p:cNvPr id="329" name="Google Shape;329;p41" descr="Shape&#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731613" y="2320681"/>
            <a:ext cx="403282" cy="403282"/>
          </a:xfrm>
          <a:prstGeom prst="rect">
            <a:avLst/>
          </a:prstGeom>
          <a:noFill/>
          <a:ln>
            <a:noFill/>
          </a:ln>
        </p:spPr>
      </p:pic>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2"/>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38" name="Google Shape;338;p42"/>
          <p:cNvSpPr txBox="1"/>
          <p:nvPr/>
        </p:nvSpPr>
        <p:spPr>
          <a:xfrm>
            <a:off x="914401" y="383459"/>
            <a:ext cx="9350478" cy="6186309"/>
          </a:xfrm>
          <a:prstGeom prst="rect">
            <a:avLst/>
          </a:prstGeom>
          <a:noFill/>
          <a:ln>
            <a:noFill/>
          </a:ln>
        </p:spPr>
        <p:txBody>
          <a:bodyPr spcFirstLastPara="1" wrap="square" lIns="91425" tIns="45700" rIns="91425" bIns="45700" anchor="t" anchorCtr="0">
            <a:spAutoFit/>
          </a:bodyPr>
          <a:lstStyle/>
          <a:p>
            <a:pPr marL="514350" indent="-514350">
              <a:buSzPts val="2200"/>
              <a:buFont typeface="Arial"/>
              <a:buAutoNum type="arabicPeriod"/>
            </a:pPr>
            <a:r>
              <a:rPr lang="en-US" sz="2200" dirty="0">
                <a:latin typeface="Verdana"/>
                <a:ea typeface="Verdana"/>
                <a:cs typeface="Verdana"/>
                <a:sym typeface="Verdana"/>
              </a:rPr>
              <a:t>Complete the table to show how the sum 5+ (4 ) can be represented using integer chips.</a:t>
            </a:r>
            <a:endParaRPr dirty="0"/>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596900" indent="-457200">
              <a:buSzPts val="2200"/>
              <a:buFont typeface="+mj-lt"/>
              <a:buAutoNum type="arabicPeriod"/>
            </a:pPr>
            <a:endParaRPr sz="2200" dirty="0">
              <a:latin typeface="Verdana"/>
              <a:ea typeface="Verdana"/>
              <a:cs typeface="Verdana"/>
              <a:sym typeface="Verdana"/>
            </a:endParaRPr>
          </a:p>
          <a:p>
            <a:pPr marL="457200" indent="-457200">
              <a:buFont typeface="+mj-lt"/>
              <a:buAutoNum type="arabicPeriod"/>
            </a:pPr>
            <a:r>
              <a:rPr lang="en-US" sz="2200" dirty="0">
                <a:latin typeface="Verdana" panose="020B0604030504040204" pitchFamily="34" charset="0"/>
                <a:ea typeface="Verdana" panose="020B0604030504040204" pitchFamily="34" charset="0"/>
              </a:rPr>
              <a:t>What do you notice about the remaining integer chips and the sign of the sum? </a:t>
            </a:r>
            <a:endParaRPr sz="2200" dirty="0">
              <a:latin typeface="Verdana" panose="020B0604030504040204" pitchFamily="34" charset="0"/>
              <a:ea typeface="Verdana" panose="020B0604030504040204" pitchFamily="34" charset="0"/>
              <a:cs typeface="Verdana"/>
              <a:sym typeface="Verdana"/>
            </a:endParaRPr>
          </a:p>
        </p:txBody>
      </p:sp>
      <p:pic>
        <p:nvPicPr>
          <p:cNvPr id="339" name="Google Shape;339;p42" descr="Table&#10;&#10;Description automatically generated"/>
          <p:cNvPicPr preferRelativeResize="0"/>
          <p:nvPr/>
        </p:nvPicPr>
        <p:blipFill rotWithShape="1">
          <a:blip r:embed="rId3">
            <a:alphaModFix/>
          </a:blip>
          <a:srcRect/>
          <a:stretch/>
        </p:blipFill>
        <p:spPr>
          <a:xfrm>
            <a:off x="2926768" y="1176256"/>
            <a:ext cx="5889840" cy="4497138"/>
          </a:xfrm>
          <a:prstGeom prst="rect">
            <a:avLst/>
          </a:prstGeom>
          <a:noFill/>
          <a:ln>
            <a:noFill/>
          </a:ln>
        </p:spPr>
      </p:pic>
      <p:pic>
        <p:nvPicPr>
          <p:cNvPr id="340" name="Google Shape;340;p42"/>
          <p:cNvPicPr preferRelativeResize="0"/>
          <p:nvPr/>
        </p:nvPicPr>
        <p:blipFill rotWithShape="1">
          <a:blip r:embed="rId4">
            <a:alphaModFix/>
          </a:blip>
          <a:srcRect/>
          <a:stretch/>
        </p:blipFill>
        <p:spPr>
          <a:xfrm>
            <a:off x="8873117" y="465077"/>
            <a:ext cx="646232" cy="384081"/>
          </a:xfrm>
          <a:prstGeom prst="rect">
            <a:avLst/>
          </a:prstGeom>
          <a:noFill/>
          <a:ln>
            <a:noFill/>
          </a:ln>
        </p:spPr>
      </p:pic>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1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50" name="Google Shape;350;p14"/>
          <p:cNvSpPr txBox="1"/>
          <p:nvPr/>
        </p:nvSpPr>
        <p:spPr>
          <a:xfrm>
            <a:off x="1066800" y="-88490"/>
            <a:ext cx="9820930" cy="6863377"/>
          </a:xfrm>
          <a:prstGeom prst="rect">
            <a:avLst/>
          </a:prstGeom>
          <a:noFill/>
          <a:ln>
            <a:noFill/>
          </a:ln>
        </p:spPr>
        <p:txBody>
          <a:bodyPr spcFirstLastPara="1" wrap="square" lIns="91425" tIns="45700" rIns="91425" bIns="45700" anchor="t" anchorCtr="0">
            <a:spAutoFit/>
          </a:bodyPr>
          <a:lstStyle/>
          <a:p>
            <a:pPr>
              <a:buSzPts val="2200"/>
            </a:pPr>
            <a:endParaRPr sz="2200" dirty="0">
              <a:latin typeface="Verdana"/>
              <a:ea typeface="Verdana"/>
              <a:cs typeface="Verdana"/>
              <a:sym typeface="Verdana"/>
            </a:endParaRPr>
          </a:p>
          <a:p>
            <a:pPr marL="457200" indent="-457200">
              <a:buSzPts val="2200"/>
              <a:buFont typeface="+mj-lt"/>
              <a:buAutoNum type="arabicPeriod" startAt="3"/>
            </a:pPr>
            <a:r>
              <a:rPr lang="en-US" sz="2200" dirty="0">
                <a:latin typeface="Verdana"/>
                <a:ea typeface="Verdana"/>
                <a:cs typeface="Verdana"/>
                <a:sym typeface="Verdana"/>
              </a:rPr>
              <a:t>Complete the table independently to show how the sum 4 + (−7) can be represented using integer chips. Check your work with your partner.</a:t>
            </a:r>
            <a:endParaRPr dirty="0"/>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SzPts val="2200"/>
              <a:buFont typeface="+mj-lt"/>
              <a:buAutoNum type="arabicPeriod" startAt="3"/>
            </a:pPr>
            <a:endParaRPr sz="2200" dirty="0">
              <a:latin typeface="Verdana"/>
              <a:ea typeface="Verdana"/>
              <a:cs typeface="Verdana"/>
              <a:sym typeface="Verdana"/>
            </a:endParaRPr>
          </a:p>
          <a:p>
            <a:pPr marL="457200" indent="-457200">
              <a:buFont typeface="+mj-lt"/>
              <a:buAutoNum type="arabicPeriod" startAt="3"/>
            </a:pPr>
            <a:r>
              <a:rPr lang="en-US" sz="2200" dirty="0">
                <a:latin typeface="Verdana"/>
                <a:ea typeface="Verdana"/>
                <a:cs typeface="Verdana"/>
                <a:sym typeface="Verdana"/>
              </a:rPr>
              <a:t>What do you notice about the remaining integer chips and the sign of the sum?</a:t>
            </a:r>
            <a:endParaRPr dirty="0"/>
          </a:p>
          <a:p>
            <a:pPr>
              <a:buSzPts val="2200"/>
            </a:pPr>
            <a:endParaRPr sz="2200" dirty="0">
              <a:latin typeface="Verdana"/>
              <a:ea typeface="Verdana"/>
              <a:cs typeface="Verdana"/>
              <a:sym typeface="Verdana"/>
            </a:endParaRPr>
          </a:p>
        </p:txBody>
      </p:sp>
      <p:pic>
        <p:nvPicPr>
          <p:cNvPr id="351" name="Google Shape;351;p14" descr="Table&#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605549" y="1378495"/>
            <a:ext cx="5594554" cy="4092661"/>
          </a:xfrm>
          <a:prstGeom prst="rect">
            <a:avLst/>
          </a:prstGeom>
          <a:noFill/>
          <a:ln>
            <a:noFill/>
          </a:ln>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3"/>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59" name="Google Shape;359;p43"/>
          <p:cNvSpPr txBox="1"/>
          <p:nvPr/>
        </p:nvSpPr>
        <p:spPr>
          <a:xfrm>
            <a:off x="1168401" y="165825"/>
            <a:ext cx="10252352" cy="769401"/>
          </a:xfrm>
          <a:prstGeom prst="rect">
            <a:avLst/>
          </a:prstGeom>
          <a:noFill/>
          <a:ln>
            <a:noFill/>
          </a:ln>
        </p:spPr>
        <p:txBody>
          <a:bodyPr spcFirstLastPara="1" wrap="square" lIns="91425" tIns="45700" rIns="91425" bIns="45700" anchor="t" anchorCtr="0">
            <a:spAutoFit/>
          </a:bodyPr>
          <a:lstStyle/>
          <a:p>
            <a:pPr>
              <a:buSzPts val="2200"/>
            </a:pPr>
            <a:r>
              <a:rPr lang="en-US" sz="2200" dirty="0">
                <a:latin typeface="Verdana"/>
                <a:ea typeface="Verdana"/>
                <a:cs typeface="Verdana"/>
                <a:sym typeface="Verdana"/>
              </a:rPr>
              <a:t>5. Work with your partner to complete the table. </a:t>
            </a:r>
            <a:endParaRPr dirty="0"/>
          </a:p>
          <a:p>
            <a:pPr marL="350838">
              <a:buSzPts val="2200"/>
            </a:pPr>
            <a:r>
              <a:rPr lang="en-US" sz="2200" dirty="0">
                <a:latin typeface="Verdana"/>
                <a:ea typeface="Verdana"/>
                <a:cs typeface="Verdana"/>
                <a:sym typeface="Verdana"/>
              </a:rPr>
              <a:t>The first row is completed.</a:t>
            </a:r>
            <a:endParaRPr sz="2200" dirty="0">
              <a:latin typeface="Verdana"/>
              <a:ea typeface="Verdana"/>
              <a:cs typeface="Verdana"/>
              <a:sym typeface="Verdana"/>
            </a:endParaRPr>
          </a:p>
        </p:txBody>
      </p:sp>
      <p:pic>
        <p:nvPicPr>
          <p:cNvPr id="360" name="Google Shape;360;p43" descr="A picture containing chart&#10;&#10;Description automatically generated"/>
          <p:cNvPicPr preferRelativeResize="0"/>
          <p:nvPr/>
        </p:nvPicPr>
        <p:blipFill rotWithShape="1">
          <a:blip r:embed="rId3">
            <a:alphaModFix/>
          </a:blip>
          <a:srcRect/>
          <a:stretch/>
        </p:blipFill>
        <p:spPr>
          <a:xfrm>
            <a:off x="3540421" y="984470"/>
            <a:ext cx="4903768" cy="5707706"/>
          </a:xfrm>
          <a:prstGeom prst="rect">
            <a:avLst/>
          </a:prstGeom>
          <a:noFill/>
          <a:ln>
            <a:noFill/>
          </a:ln>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70" name="Google Shape;370;p44"/>
          <p:cNvSpPr txBox="1"/>
          <p:nvPr/>
        </p:nvSpPr>
        <p:spPr>
          <a:xfrm>
            <a:off x="1104901" y="165824"/>
            <a:ext cx="10379352" cy="6247824"/>
          </a:xfrm>
          <a:prstGeom prst="rect">
            <a:avLst/>
          </a:prstGeom>
          <a:noFill/>
          <a:ln>
            <a:noFill/>
          </a:ln>
        </p:spPr>
        <p:txBody>
          <a:bodyPr spcFirstLastPara="1" wrap="square" lIns="91425" tIns="45700" rIns="91425" bIns="45700" anchor="t" anchorCtr="0">
            <a:spAutoFit/>
          </a:bodyPr>
          <a:lstStyle/>
          <a:p>
            <a:pPr marL="457200" indent="-457200">
              <a:buSzPts val="2000"/>
              <a:buFont typeface="+mj-lt"/>
              <a:buAutoNum type="arabicPeriod" startAt="6"/>
            </a:pPr>
            <a:r>
              <a:rPr lang="en-US" sz="2000" dirty="0">
                <a:latin typeface="Verdana"/>
                <a:ea typeface="Verdana"/>
                <a:cs typeface="Verdana"/>
                <a:sym typeface="Verdana"/>
              </a:rPr>
              <a:t>Complete the table below independently. Check your work with your partner. </a:t>
            </a:r>
            <a:endParaRPr dirty="0"/>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200"/>
              <a:buFont typeface="+mj-lt"/>
              <a:buAutoNum type="arabicPeriod" startAt="6"/>
            </a:pPr>
            <a:endParaRPr sz="2200" dirty="0">
              <a:latin typeface="Verdana"/>
              <a:ea typeface="Verdana"/>
              <a:cs typeface="Verdana"/>
              <a:sym typeface="Verdana"/>
            </a:endParaRPr>
          </a:p>
          <a:p>
            <a:pPr marL="457200" indent="-457200">
              <a:buSzPts val="2000"/>
              <a:buFont typeface="+mj-lt"/>
              <a:buAutoNum type="arabicPeriod" startAt="6"/>
            </a:pPr>
            <a:r>
              <a:rPr lang="en-US" sz="2000" dirty="0">
                <a:latin typeface="Verdana"/>
                <a:ea typeface="Verdana"/>
                <a:cs typeface="Verdana"/>
                <a:sym typeface="Verdana"/>
              </a:rPr>
              <a:t>What do you notice about expressions where the sum is a positive number? </a:t>
            </a:r>
          </a:p>
          <a:p>
            <a:pPr marL="457200" indent="-457200">
              <a:buSzPts val="2000"/>
              <a:buFont typeface="+mj-lt"/>
              <a:buAutoNum type="arabicPeriod" startAt="6"/>
            </a:pPr>
            <a:endParaRPr dirty="0"/>
          </a:p>
          <a:p>
            <a:pPr marL="457200" indent="-457200">
              <a:buSzPts val="2000"/>
              <a:buFont typeface="+mj-lt"/>
              <a:buAutoNum type="arabicPeriod" startAt="6"/>
            </a:pPr>
            <a:r>
              <a:rPr lang="en-US" sz="2000" dirty="0">
                <a:latin typeface="Verdana"/>
                <a:ea typeface="Verdana"/>
                <a:cs typeface="Verdana"/>
                <a:sym typeface="Verdana"/>
              </a:rPr>
              <a:t>What do you notice about expressions where the sum is a negative number?</a:t>
            </a:r>
            <a:endParaRPr sz="2000" dirty="0">
              <a:latin typeface="Verdana"/>
              <a:ea typeface="Verdana"/>
              <a:cs typeface="Verdana"/>
              <a:sym typeface="Verdana"/>
            </a:endParaRPr>
          </a:p>
        </p:txBody>
      </p:sp>
      <p:pic>
        <p:nvPicPr>
          <p:cNvPr id="371" name="Google Shape;371;p44" descr="Table&#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866732" y="825584"/>
            <a:ext cx="6458537" cy="4266484"/>
          </a:xfrm>
          <a:prstGeom prst="rect">
            <a:avLst/>
          </a:prstGeom>
          <a:noFill/>
          <a:ln>
            <a:noFill/>
          </a:ln>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247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5"/>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79" name="Google Shape;379;p45"/>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81" name="Google Shape;381;p45"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6"/>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89" name="Google Shape;389;p46"/>
          <p:cNvSpPr txBox="1"/>
          <p:nvPr/>
        </p:nvSpPr>
        <p:spPr>
          <a:xfrm>
            <a:off x="1522434" y="7134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a:solidFill>
                  <a:srgbClr val="54B5D1"/>
                </a:solidFill>
                <a:latin typeface="Verdana"/>
                <a:ea typeface="Verdana"/>
                <a:cs typeface="Verdana"/>
                <a:sym typeface="Verdana"/>
              </a:rPr>
              <a:t>6.3.6 Bring it Together: Adding Integers with Opposite Signs</a:t>
            </a:r>
            <a:endParaRPr sz="3200"/>
          </a:p>
        </p:txBody>
      </p:sp>
      <p:sp>
        <p:nvSpPr>
          <p:cNvPr id="391" name="Google Shape;391;p46"/>
          <p:cNvSpPr txBox="1"/>
          <p:nvPr/>
        </p:nvSpPr>
        <p:spPr>
          <a:xfrm>
            <a:off x="1422400" y="1633374"/>
            <a:ext cx="9774670" cy="2831504"/>
          </a:xfrm>
          <a:prstGeom prst="rect">
            <a:avLst/>
          </a:prstGeom>
          <a:noFill/>
          <a:ln>
            <a:noFill/>
          </a:ln>
        </p:spPr>
        <p:txBody>
          <a:bodyPr spcFirstLastPara="1" wrap="square" lIns="91425" tIns="45700" rIns="91425" bIns="45700" anchor="t" anchorCtr="0">
            <a:spAutoFit/>
          </a:bodyPr>
          <a:lstStyle/>
          <a:p>
            <a:r>
              <a:rPr lang="en-US" sz="2800" dirty="0">
                <a:latin typeface="Verdana"/>
                <a:ea typeface="Verdana"/>
                <a:cs typeface="Verdana"/>
                <a:sym typeface="Verdana"/>
              </a:rPr>
              <a:t>The table below shows visual models of rules for adding integers with opposite signs. In each visual model, the larger circle symbolizes the integer represented by the most integer chips. </a:t>
            </a:r>
            <a:endParaRPr sz="2800" dirty="0"/>
          </a:p>
          <a:p>
            <a:r>
              <a:rPr lang="en-US" sz="2200" dirty="0">
                <a:latin typeface="Verdana"/>
                <a:ea typeface="Verdana"/>
                <a:cs typeface="Verdana"/>
                <a:sym typeface="Verdana"/>
              </a:rPr>
              <a:t>	</a:t>
            </a:r>
            <a:endParaRPr dirty="0"/>
          </a:p>
          <a:p>
            <a:endParaRPr sz="2200" dirty="0">
              <a:latin typeface="Verdana"/>
              <a:ea typeface="Verdana"/>
              <a:cs typeface="Verdana"/>
              <a:sym typeface="Verdana"/>
            </a:endParaRPr>
          </a:p>
          <a:p>
            <a:r>
              <a:rPr lang="en-US" sz="2200" dirty="0">
                <a:latin typeface="Verdana"/>
                <a:ea typeface="Verdana"/>
                <a:cs typeface="Verdana"/>
                <a:sym typeface="Verdana"/>
              </a:rPr>
              <a:t>	</a:t>
            </a:r>
            <a:endParaRPr sz="2200" dirty="0">
              <a:latin typeface="Verdana"/>
              <a:ea typeface="Verdana"/>
              <a:cs typeface="Verdana"/>
              <a:sym typeface="Verdana"/>
            </a:endParaRPr>
          </a:p>
        </p:txBody>
      </p:sp>
      <p:pic>
        <p:nvPicPr>
          <p:cNvPr id="392" name="Google Shape;392;p46" descr="Icon&#10;&#10;Description automatically generated"/>
          <p:cNvPicPr preferRelativeResize="0"/>
          <p:nvPr/>
        </p:nvPicPr>
        <p:blipFill rotWithShape="1">
          <a:blip r:embed="rId3">
            <a:alphaModFix/>
          </a:blip>
          <a:srcRect/>
          <a:stretch/>
        </p:blipFill>
        <p:spPr>
          <a:xfrm>
            <a:off x="610900" y="287649"/>
            <a:ext cx="911534" cy="92429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401" name="Google Shape;401;p47"/>
          <p:cNvSpPr txBox="1"/>
          <p:nvPr/>
        </p:nvSpPr>
        <p:spPr>
          <a:xfrm>
            <a:off x="1270000" y="5821392"/>
            <a:ext cx="9233705" cy="707846"/>
          </a:xfrm>
          <a:prstGeom prst="rect">
            <a:avLst/>
          </a:prstGeom>
          <a:noFill/>
          <a:ln>
            <a:noFill/>
          </a:ln>
        </p:spPr>
        <p:txBody>
          <a:bodyPr spcFirstLastPara="1" wrap="square" lIns="91425" tIns="45700" rIns="91425" bIns="45700" anchor="t" anchorCtr="0">
            <a:spAutoFit/>
          </a:bodyPr>
          <a:lstStyle/>
          <a:p>
            <a:pPr marL="350838" indent="-350838">
              <a:buSzPts val="2200"/>
            </a:pPr>
            <a:r>
              <a:rPr lang="en-US" sz="2000" dirty="0">
                <a:latin typeface="Verdana"/>
                <a:ea typeface="Verdana"/>
                <a:cs typeface="Verdana"/>
                <a:sym typeface="Verdana"/>
              </a:rPr>
              <a:t>2. Give two observations about the rules for adding integers with opposite signs. </a:t>
            </a:r>
            <a:endParaRPr sz="2000" dirty="0">
              <a:latin typeface="Verdana"/>
              <a:ea typeface="Verdana"/>
              <a:cs typeface="Verdana"/>
              <a:sym typeface="Verdana"/>
            </a:endParaRPr>
          </a:p>
        </p:txBody>
      </p:sp>
      <p:pic>
        <p:nvPicPr>
          <p:cNvPr id="402" name="Google Shape;402;p47"/>
          <p:cNvPicPr preferRelativeResize="0"/>
          <p:nvPr/>
        </p:nvPicPr>
        <p:blipFill rotWithShape="1">
          <a:blip r:embed="rId3">
            <a:alphaModFix/>
          </a:blip>
          <a:srcRect/>
          <a:stretch/>
        </p:blipFill>
        <p:spPr>
          <a:xfrm>
            <a:off x="2621158" y="711001"/>
            <a:ext cx="6567949" cy="5019296"/>
          </a:xfrm>
          <a:prstGeom prst="rect">
            <a:avLst/>
          </a:prstGeom>
          <a:noFill/>
          <a:ln>
            <a:noFill/>
          </a:ln>
        </p:spPr>
      </p:pic>
      <p:sp>
        <p:nvSpPr>
          <p:cNvPr id="8" name="TextBox 7">
            <a:extLst>
              <a:ext uri="{FF2B5EF4-FFF2-40B4-BE49-F238E27FC236}">
                <a16:creationId xmlns:a16="http://schemas.microsoft.com/office/drawing/2014/main" id="{9660A0DF-6ECD-4196-B3FC-790E7BF200FF}"/>
              </a:ext>
            </a:extLst>
          </p:cNvPr>
          <p:cNvSpPr txBox="1"/>
          <p:nvPr/>
        </p:nvSpPr>
        <p:spPr>
          <a:xfrm>
            <a:off x="1270000" y="176815"/>
            <a:ext cx="9501695" cy="400110"/>
          </a:xfrm>
          <a:prstGeom prst="rect">
            <a:avLst/>
          </a:prstGeom>
          <a:noFill/>
        </p:spPr>
        <p:txBody>
          <a:bodyPr wrap="square">
            <a:spAutoFit/>
          </a:bodyPr>
          <a:lstStyle/>
          <a:p>
            <a:r>
              <a:rPr lang="en-US" sz="2000" dirty="0">
                <a:latin typeface="Verdana"/>
                <a:ea typeface="Verdana"/>
                <a:cs typeface="Verdana"/>
                <a:sym typeface="Verdana"/>
              </a:rPr>
              <a:t>1. Write an example of the rule. The first row has been completed</a:t>
            </a:r>
            <a:r>
              <a:rPr lang="en-US" dirty="0">
                <a:latin typeface="Verdana"/>
                <a:ea typeface="Verdana"/>
                <a:cs typeface="Verdana"/>
                <a:sym typeface="Verdana"/>
              </a:rPr>
              <a:t>.</a:t>
            </a:r>
            <a:endParaRPr lang="en-US" dirty="0"/>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3"/>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11" name="Google Shape;411;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12" name="Google Shape;412;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4"/>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421" name="Google Shape;421;p34"/>
          <p:cNvSpPr txBox="1"/>
          <p:nvPr/>
        </p:nvSpPr>
        <p:spPr>
          <a:xfrm>
            <a:off x="1494362" y="22184"/>
            <a:ext cx="9630837"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6.3.7 Wrap-Up: Ticket Out the Door</a:t>
            </a:r>
            <a:endParaRPr/>
          </a:p>
        </p:txBody>
      </p:sp>
      <p:pic>
        <p:nvPicPr>
          <p:cNvPr id="422" name="Google Shape;422;p34"/>
          <p:cNvPicPr preferRelativeResize="0"/>
          <p:nvPr/>
        </p:nvPicPr>
        <p:blipFill rotWithShape="1">
          <a:blip r:embed="rId3">
            <a:alphaModFix/>
          </a:blip>
          <a:srcRect/>
          <a:stretch/>
        </p:blipFill>
        <p:spPr>
          <a:xfrm>
            <a:off x="664913" y="279380"/>
            <a:ext cx="747300" cy="747300"/>
          </a:xfrm>
          <a:prstGeom prst="rect">
            <a:avLst/>
          </a:prstGeom>
          <a:noFill/>
          <a:ln>
            <a:noFill/>
          </a:ln>
          <a:effectLst>
            <a:outerShdw blurRad="50800" dist="38100" dir="2700000" algn="tl" rotWithShape="0">
              <a:srgbClr val="000000">
                <a:alpha val="40000"/>
              </a:srgbClr>
            </a:outerShdw>
          </a:effectLst>
        </p:spPr>
      </p:pic>
      <p:sp>
        <p:nvSpPr>
          <p:cNvPr id="423" name="Google Shape;423;p34"/>
          <p:cNvSpPr txBox="1"/>
          <p:nvPr/>
        </p:nvSpPr>
        <p:spPr>
          <a:xfrm>
            <a:off x="1673020" y="1347884"/>
            <a:ext cx="8327136" cy="2462172"/>
          </a:xfrm>
          <a:prstGeom prst="rect">
            <a:avLst/>
          </a:prstGeom>
          <a:noFill/>
          <a:ln>
            <a:noFill/>
          </a:ln>
        </p:spPr>
        <p:txBody>
          <a:bodyPr spcFirstLastPara="1" wrap="square" lIns="91425" tIns="45700" rIns="91425" bIns="45700" anchor="t" anchorCtr="0">
            <a:spAutoFit/>
          </a:bodyPr>
          <a:lstStyle/>
          <a:p>
            <a:pPr marL="457200" indent="-457200">
              <a:buSzPts val="2200"/>
              <a:buFont typeface="Arial"/>
              <a:buAutoNum type="arabicPeriod"/>
            </a:pPr>
            <a:r>
              <a:rPr lang="en-US" sz="2200" dirty="0">
                <a:latin typeface="Verdana"/>
                <a:ea typeface="Verdana"/>
                <a:cs typeface="Verdana"/>
                <a:sym typeface="Verdana"/>
              </a:rPr>
              <a:t>Simone created the sketch below to represent the expression 4 + (−3).</a:t>
            </a:r>
            <a:endParaRPr dirty="0"/>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p:txBody>
      </p:sp>
      <p:pic>
        <p:nvPicPr>
          <p:cNvPr id="424" name="Google Shape;424;p34" descr="A picture containing text, clipart&#10;&#10;Description automatically generated"/>
          <p:cNvPicPr preferRelativeResize="0"/>
          <p:nvPr/>
        </p:nvPicPr>
        <p:blipFill rotWithShape="1">
          <a:blip r:embed="rId4">
            <a:alphaModFix/>
          </a:blip>
          <a:srcRect/>
          <a:stretch/>
        </p:blipFill>
        <p:spPr>
          <a:xfrm>
            <a:off x="2494036" y="2064079"/>
            <a:ext cx="3342552" cy="2010126"/>
          </a:xfrm>
          <a:prstGeom prst="rect">
            <a:avLst/>
          </a:prstGeom>
          <a:noFill/>
          <a:ln>
            <a:noFill/>
          </a:ln>
        </p:spPr>
      </p:pic>
      <p:sp>
        <p:nvSpPr>
          <p:cNvPr id="2" name="TextBox 1">
            <a:extLst>
              <a:ext uri="{FF2B5EF4-FFF2-40B4-BE49-F238E27FC236}">
                <a16:creationId xmlns:a16="http://schemas.microsoft.com/office/drawing/2014/main" id="{C0C9612E-DB4F-4398-8D74-56C55AA230C5}"/>
              </a:ext>
            </a:extLst>
          </p:cNvPr>
          <p:cNvSpPr txBox="1"/>
          <p:nvPr/>
        </p:nvSpPr>
        <p:spPr>
          <a:xfrm>
            <a:off x="2195978" y="4139817"/>
            <a:ext cx="7598004" cy="984885"/>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a:sym typeface="Verdana"/>
              </a:rPr>
              <a:t>Her sketch is incorrect. Explain why and create a new sketch to find the sum. </a:t>
            </a:r>
            <a:endParaRPr lang="en-US" sz="2200" dirty="0">
              <a:latin typeface="Verdana" panose="020B0604030504040204" pitchFamily="34" charset="0"/>
              <a:ea typeface="Verdana" panose="020B0604030504040204" pitchFamily="34" charset="0"/>
            </a:endParaRPr>
          </a:p>
          <a:p>
            <a:endParaRPr lang="en-US" dirty="0"/>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5"/>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433" name="Google Shape;433;p35"/>
          <p:cNvSpPr txBox="1"/>
          <p:nvPr/>
        </p:nvSpPr>
        <p:spPr>
          <a:xfrm>
            <a:off x="1320800" y="520394"/>
            <a:ext cx="9701066" cy="461665"/>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rPr>
              <a:t>2. Complete the table for the expression below. </a:t>
            </a:r>
            <a:endParaRPr sz="1800" dirty="0">
              <a:latin typeface="Verdana" panose="020B0604030504040204" pitchFamily="34" charset="0"/>
              <a:ea typeface="Verdana" panose="020B0604030504040204" pitchFamily="34" charset="0"/>
              <a:cs typeface="Verdana"/>
              <a:sym typeface="Verdana"/>
            </a:endParaRPr>
          </a:p>
        </p:txBody>
      </p:sp>
      <p:pic>
        <p:nvPicPr>
          <p:cNvPr id="434" name="Google Shape;434;p35" descr="Table&#10;&#10;Description automatically generated with low confidence"/>
          <p:cNvPicPr preferRelativeResize="0"/>
          <p:nvPr/>
        </p:nvPicPr>
        <p:blipFill rotWithShape="1">
          <a:blip r:embed="rId3">
            <a:alphaModFix/>
          </a:blip>
          <a:srcRect/>
          <a:stretch/>
        </p:blipFill>
        <p:spPr>
          <a:xfrm>
            <a:off x="1876008" y="1361317"/>
            <a:ext cx="8176969" cy="4976291"/>
          </a:xfrm>
          <a:prstGeom prst="rect">
            <a:avLst/>
          </a:prstGeom>
          <a:noFill/>
          <a:ln>
            <a:noFill/>
          </a:ln>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1174</Words>
  <Application>Microsoft Office PowerPoint</Application>
  <PresentationFormat>Widescreen</PresentationFormat>
  <Paragraphs>213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Arial Black</vt:lpstr>
      <vt:lpstr>Calibri</vt:lpstr>
      <vt:lpstr>Verdana</vt:lpstr>
      <vt:lpstr>1_Office Theme</vt:lpstr>
      <vt:lpstr>6th Grade Accelerated Math  Unit 6, Lesson 3  Adding Integers Using Integer Chips  Volume 1, pg. 242  </vt:lpstr>
      <vt:lpstr>Benchmark</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Bring It Together</vt:lpstr>
      <vt:lpstr>PowerPoint Presentation</vt:lpstr>
      <vt:lpstr>Exploration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6, Lesson 3  Adding Integers Using Integer Chips  Volume 1, pg. 242  </dc:title>
  <dc:creator>Karen McKenzie</dc:creator>
  <cp:lastModifiedBy>Cassie O'Connor</cp:lastModifiedBy>
  <cp:revision>3</cp:revision>
  <dcterms:created xsi:type="dcterms:W3CDTF">2015-03-17T18:51:18Z</dcterms:created>
  <dcterms:modified xsi:type="dcterms:W3CDTF">2022-06-29T19:02:08Z</dcterms:modified>
</cp:coreProperties>
</file>