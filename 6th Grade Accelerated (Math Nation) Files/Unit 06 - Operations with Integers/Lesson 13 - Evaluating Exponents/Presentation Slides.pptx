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93" r:id="rId10"/>
    <p:sldId id="268" r:id="rId11"/>
    <p:sldId id="284" r:id="rId12"/>
    <p:sldId id="285" r:id="rId13"/>
    <p:sldId id="294" r:id="rId14"/>
    <p:sldId id="286" r:id="rId15"/>
    <p:sldId id="295" r:id="rId16"/>
    <p:sldId id="287" r:id="rId17"/>
    <p:sldId id="288" r:id="rId18"/>
    <p:sldId id="289" r:id="rId19"/>
    <p:sldId id="290" r:id="rId20"/>
    <p:sldId id="291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jZxNjFsmWQJkaYOY2NZ4Ppk4dk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35"/>
    <p:restoredTop sz="94667"/>
  </p:normalViewPr>
  <p:slideViewPr>
    <p:cSldViewPr snapToGrid="0">
      <p:cViewPr varScale="1">
        <p:scale>
          <a:sx n="79" d="100"/>
          <a:sy n="79" d="100"/>
        </p:scale>
        <p:origin x="89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5227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3856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0992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49596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3" name="Google Shape;403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3" name="Google Shape;413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4" name="Google Shape;414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09234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3" name="Google Shape;413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4" name="Google Shape;414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3" name="Google Shape;413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4" name="Google Shape;414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61423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3" name="Google Shape;433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4" name="Google Shape;44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3" name="Google Shape;453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3" name="Google Shape;463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14" name="Google Shape;114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13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Evaluating Exponents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291</a:t>
            </a:r>
            <a:endParaRPr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115" name="Google Shape;115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6" name="Google Shape;116;g104476d1465_0_0" descr="Logo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0503" y="1700157"/>
            <a:ext cx="2973100" cy="34657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25912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77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69213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36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1981200" y="1600200"/>
            <a:ext cx="8229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5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MA.6.NSO.3.3</a:t>
            </a:r>
            <a:endParaRPr sz="35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Evaluate positive rational numbers and integers with natural number exponents.</a:t>
            </a:r>
            <a:endParaRPr sz="21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4" name="Google Shape;13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626" y="24263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6" name="Google Shape;136;p1"/>
          <p:cNvSpPr txBox="1"/>
          <p:nvPr/>
        </p:nvSpPr>
        <p:spPr>
          <a:xfrm>
            <a:off x="1643276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8" name="Google Shape;138;p1"/>
          <p:cNvSpPr txBox="1"/>
          <p:nvPr/>
        </p:nvSpPr>
        <p:spPr>
          <a:xfrm>
            <a:off x="1805651" y="1596390"/>
            <a:ext cx="840514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sz="2400" dirty="0"/>
          </a:p>
          <a:p>
            <a:pPr marL="457200"/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sz="2400" dirty="0"/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9213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36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1491363" y="32729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  <a:endParaRPr dirty="0"/>
          </a:p>
        </p:txBody>
      </p:sp>
      <p:pic>
        <p:nvPicPr>
          <p:cNvPr id="147" name="Google Shape;14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201" y="3219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9" name="Google Shape;149;p2"/>
          <p:cNvSpPr txBox="1"/>
          <p:nvPr/>
        </p:nvSpPr>
        <p:spPr>
          <a:xfrm>
            <a:off x="1180618" y="1600200"/>
            <a:ext cx="98307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evaluate integers with natural number exponents. 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evaluate a positive rational number raised to a power.</a:t>
            </a:r>
            <a:endParaRPr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9213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36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9213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36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1443482" y="-73162"/>
            <a:ext cx="91936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6.13.1 Warm-Up: Consider the YET</a:t>
            </a:r>
            <a:endParaRPr dirty="0"/>
          </a:p>
        </p:txBody>
      </p:sp>
      <p:pic>
        <p:nvPicPr>
          <p:cNvPr id="168" name="Google Shape;16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182" y="16817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0" name="Google Shape;170;p4"/>
          <p:cNvSpPr txBox="1"/>
          <p:nvPr/>
        </p:nvSpPr>
        <p:spPr>
          <a:xfrm>
            <a:off x="1030147" y="1386026"/>
            <a:ext cx="10387738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Consider the belief that “you can get better at whatever you want to get better at.” Explain whether you agree or disagree.</a:t>
            </a: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Consider the quote, “I’ve never heard of someone who took up running and didn’t get faster the more they did it.” That person just may not have been a fast runner … YET.</a:t>
            </a: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Complete the statement to describe something you want to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get better at. 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  ___________________________________________    _______________________________________...YET!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9213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36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17" name="Google Shape;217;p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9" name="Google Shape;219;p9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0950" y="2814305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9213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36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4793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/>
          <p:nvPr/>
        </p:nvSpPr>
        <p:spPr>
          <a:xfrm>
            <a:off x="-37514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27" name="Google Shape;227;p10"/>
          <p:cNvSpPr txBox="1"/>
          <p:nvPr/>
        </p:nvSpPr>
        <p:spPr>
          <a:xfrm>
            <a:off x="1424270" y="3648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6.13.2 Exploration: Building on the Understanding of Exponents</a:t>
            </a:r>
            <a:endParaRPr sz="3400" dirty="0"/>
          </a:p>
        </p:txBody>
      </p:sp>
      <p:pic>
        <p:nvPicPr>
          <p:cNvPr id="229" name="Google Shape;229;p10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7972" y="284614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30" name="Google Shape;230;p10"/>
          <p:cNvSpPr txBox="1"/>
          <p:nvPr/>
        </p:nvSpPr>
        <p:spPr>
          <a:xfrm>
            <a:off x="1420226" y="1386026"/>
            <a:ext cx="9607580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Recall the vocabulary of exponential expressions. 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Think of a number that will result in a value of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16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when it is raised to a power less than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6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the base and its exponent.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" name="Picture 2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B887F2A6-4508-F644-994D-C58D95E5E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2282" y="1795751"/>
            <a:ext cx="5427436" cy="1484864"/>
          </a:xfrm>
          <a:prstGeom prst="rect">
            <a:avLst/>
          </a:prstGeom>
        </p:spPr>
      </p:pic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0183E3B3-B7E9-8043-94AC-F50ED39F32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0885" y="4988732"/>
            <a:ext cx="1727200" cy="1333500"/>
          </a:xfrm>
          <a:prstGeom prst="rect">
            <a:avLst/>
          </a:prstGeom>
        </p:spPr>
      </p:pic>
      <p:sp>
        <p:nvSpPr>
          <p:cNvPr id="10" name="Google Shape;125;g104476d1465_1_17"/>
          <p:cNvSpPr txBox="1"/>
          <p:nvPr/>
        </p:nvSpPr>
        <p:spPr>
          <a:xfrm>
            <a:off x="869213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36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6481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39" name="Google Shape;239;p11"/>
          <p:cNvSpPr txBox="1"/>
          <p:nvPr/>
        </p:nvSpPr>
        <p:spPr>
          <a:xfrm>
            <a:off x="1064871" y="520393"/>
            <a:ext cx="10212924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your expression with your partner and check for accuracy. 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your partner found a different base and exponent that meets the description, write it below. If your partner wrote the same base and exponent as you, work together to find a second exponential expression that also works.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" name="Picture 2" descr="A picture containing text, antenna&#10;&#10;Description automatically generated">
            <a:extLst>
              <a:ext uri="{FF2B5EF4-FFF2-40B4-BE49-F238E27FC236}">
                <a16:creationId xmlns:a16="http://schemas.microsoft.com/office/drawing/2014/main" id="{0ED517D6-6EF6-3D4D-9FD7-7FD09D42F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325" y="3475327"/>
            <a:ext cx="1911350" cy="1879757"/>
          </a:xfrm>
          <a:prstGeom prst="rect">
            <a:avLst/>
          </a:prstGeom>
        </p:spPr>
      </p:pic>
      <p:sp>
        <p:nvSpPr>
          <p:cNvPr id="7" name="Google Shape;125;g104476d1465_1_17"/>
          <p:cNvSpPr txBox="1"/>
          <p:nvPr/>
        </p:nvSpPr>
        <p:spPr>
          <a:xfrm>
            <a:off x="869213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36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6330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39" name="Google Shape;239;p11"/>
          <p:cNvSpPr txBox="1"/>
          <p:nvPr/>
        </p:nvSpPr>
        <p:spPr>
          <a:xfrm>
            <a:off x="1273215" y="520394"/>
            <a:ext cx="9796236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choose one of the exponential expressions used and rewrite it making the base negative.</a:t>
            </a:r>
          </a:p>
          <a:p>
            <a:pPr marL="457200" indent="-457200">
              <a:buFont typeface="+mj-lt"/>
              <a:buAutoNum type="arabicPeriod" startAt="5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whether the negative base changes the value of the expression. </a:t>
            </a:r>
          </a:p>
          <a:p>
            <a:pPr marL="457200" indent="-457200">
              <a:buFont typeface="+mj-lt"/>
              <a:buAutoNum type="arabicPeriod" startAt="5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how you could change the exponent to result in a negative answer. Write a brief summary of your discussion below.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" name="Picture 2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6BE2B0C0-059E-9443-9C9A-BDEB03703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938" y="1235528"/>
            <a:ext cx="2095500" cy="990600"/>
          </a:xfrm>
          <a:prstGeom prst="rect">
            <a:avLst/>
          </a:prstGeom>
        </p:spPr>
      </p:pic>
      <p:sp>
        <p:nvSpPr>
          <p:cNvPr id="7" name="Google Shape;125;g104476d1465_1_17"/>
          <p:cNvSpPr txBox="1"/>
          <p:nvPr/>
        </p:nvSpPr>
        <p:spPr>
          <a:xfrm>
            <a:off x="869213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36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0443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7"/>
          <p:cNvSpPr/>
          <p:nvPr/>
        </p:nvSpPr>
        <p:spPr>
          <a:xfrm>
            <a:off x="0" y="5551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97" name="Google Shape;397;p27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99" name="Google Shape;399;p2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5255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9213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36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8"/>
          <p:cNvSpPr/>
          <p:nvPr/>
        </p:nvSpPr>
        <p:spPr>
          <a:xfrm>
            <a:off x="0" y="-12827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07" name="Google Shape;407;p28"/>
          <p:cNvSpPr txBox="1"/>
          <p:nvPr/>
        </p:nvSpPr>
        <p:spPr>
          <a:xfrm>
            <a:off x="1443185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6.13.3 Bring It Together: Building on the Understanding of Exponents</a:t>
            </a:r>
            <a:endParaRPr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" name="Google Shape;409;p28"/>
              <p:cNvSpPr txBox="1"/>
              <p:nvPr/>
            </p:nvSpPr>
            <p:spPr>
              <a:xfrm>
                <a:off x="1441271" y="1386026"/>
                <a:ext cx="9565490" cy="31700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evaluating exponents with a negative base, the same rules of multiplication with integers apply. 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the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(−4)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base is ____ and the exponent is ____, resulting in the repeated multiplication sentence of ____________.  </a:t>
                </a: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Why do the results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(−4)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result in a positive number?</a:t>
                </a:r>
                <a:endParaRPr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09" name="Google Shape;409;p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271" y="1386026"/>
                <a:ext cx="9565490" cy="3170058"/>
              </a:xfrm>
              <a:prstGeom prst="rect">
                <a:avLst/>
              </a:prstGeom>
              <a:blipFill rotWithShape="0">
                <a:blip r:embed="rId3"/>
                <a:stretch>
                  <a:fillRect l="-701" t="-962" b="-153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0" name="Google Shape;410;p28" descr="Ico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1463" y="300555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" name="Google Shape;125;g104476d1465_1_17"/>
          <p:cNvSpPr txBox="1"/>
          <p:nvPr/>
        </p:nvSpPr>
        <p:spPr>
          <a:xfrm>
            <a:off x="869213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36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Google Shape;419;p29"/>
              <p:cNvSpPr txBox="1"/>
              <p:nvPr/>
            </p:nvSpPr>
            <p:spPr>
              <a:xfrm>
                <a:off x="1273215" y="520393"/>
                <a:ext cx="9796236" cy="28622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6075" lvl="0" indent="-346075">
                  <a:lnSpc>
                    <a:spcPct val="15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3. In the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(−4)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base is ____ and the exponent is ____, resulting in the repeated multiplication sentence of _______________. 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4. Why do the results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(−4)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result in a negative number?</a:t>
                </a:r>
                <a:endParaRPr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19" name="Google Shape;419;p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215" y="520393"/>
                <a:ext cx="9796236" cy="2862282"/>
              </a:xfrm>
              <a:prstGeom prst="rect">
                <a:avLst/>
              </a:prstGeom>
              <a:blipFill rotWithShape="0">
                <a:blip r:embed="rId3"/>
                <a:stretch>
                  <a:fillRect l="-685" b="-170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25;g104476d1465_1_17"/>
          <p:cNvSpPr txBox="1"/>
          <p:nvPr/>
        </p:nvSpPr>
        <p:spPr>
          <a:xfrm>
            <a:off x="869213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36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8587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9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19" name="Google Shape;419;p29"/>
          <p:cNvSpPr txBox="1"/>
          <p:nvPr/>
        </p:nvSpPr>
        <p:spPr>
          <a:xfrm>
            <a:off x="1122744" y="520393"/>
            <a:ext cx="1009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5. For each expression, determine whether its value is positive or negative.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D625000C-4EED-7446-AB20-B70C4D2A8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800" y="1507671"/>
            <a:ext cx="5740400" cy="3124200"/>
          </a:xfrm>
          <a:prstGeom prst="rect">
            <a:avLst/>
          </a:prstGeom>
        </p:spPr>
      </p:pic>
      <p:sp>
        <p:nvSpPr>
          <p:cNvPr id="7" name="Google Shape;125;g104476d1465_1_17"/>
          <p:cNvSpPr txBox="1"/>
          <p:nvPr/>
        </p:nvSpPr>
        <p:spPr>
          <a:xfrm>
            <a:off x="869213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36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9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" name="Picture 2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8C24BAD9-7CC3-B947-837B-C40D00F19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802" y="600942"/>
            <a:ext cx="7897948" cy="3484389"/>
          </a:xfrm>
          <a:prstGeom prst="rect">
            <a:avLst/>
          </a:prstGeom>
        </p:spPr>
      </p:pic>
      <p:sp>
        <p:nvSpPr>
          <p:cNvPr id="6" name="Google Shape;125;g104476d1465_1_17"/>
          <p:cNvSpPr txBox="1"/>
          <p:nvPr/>
        </p:nvSpPr>
        <p:spPr>
          <a:xfrm>
            <a:off x="869213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36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3501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27" name="Google Shape;427;p30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28" name="Google Shape;42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9213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36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37" name="Google Shape;437;p31"/>
          <p:cNvSpPr txBox="1"/>
          <p:nvPr/>
        </p:nvSpPr>
        <p:spPr>
          <a:xfrm>
            <a:off x="1464019" y="178690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6.13.4 Your Turn!</a:t>
            </a:r>
            <a:endParaRPr dirty="0"/>
          </a:p>
        </p:txBody>
      </p:sp>
      <p:pic>
        <p:nvPicPr>
          <p:cNvPr id="438" name="Google Shape;438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5644" y="178690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0" name="Google Shape;440;p31"/>
              <p:cNvSpPr txBox="1"/>
              <p:nvPr/>
            </p:nvSpPr>
            <p:spPr>
              <a:xfrm>
                <a:off x="2060448" y="1386026"/>
                <a:ext cx="8327136" cy="36101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Evaluate each expression. </a:t>
                </a:r>
              </a:p>
              <a:p>
                <a:pPr marL="457200" indent="-457200">
                  <a:buAutoNum type="arabicPeriod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2338" indent="-427038">
                  <a:buAutoNum type="alphaL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(−3)</m:t>
                        </m:r>
                      </m:e>
                      <m:sup>
                        <m:r>
                          <a:rPr 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4</m:t>
                        </m:r>
                      </m:sup>
                    </m:sSup>
                    <m:r>
                      <a:rPr lang="en-US" sz="2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	  	 b.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(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en-US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erdana" panose="020B0604030504040204" pitchFamily="34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US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erdana" panose="020B0604030504040204" pitchFamily="34" charset="0"/>
                              </a:rPr>
                              <m:t>17</m:t>
                            </m:r>
                          </m:den>
                        </m:f>
                        <m: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)</m:t>
                        </m:r>
                      </m:e>
                      <m:sup>
                        <m: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		  c.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(−1)</m:t>
                        </m:r>
                      </m:e>
                      <m:sup>
                        <m:r>
                          <a:rPr lang="en-US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rPr>
                          <m:t>5</m:t>
                        </m:r>
                      </m:sup>
                    </m:sSup>
                    <m:r>
                      <a:rPr lang="en-US" sz="2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each repeated multiplication sentence as an exponential expression. Then, find the value of the expression.</a:t>
                </a:r>
              </a:p>
              <a:p>
                <a:pPr lvl="0"/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marL="519113" lvl="0"/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a. (−12)(−12)(−12)             		       b. 3.4 × 3.4</a:t>
                </a:r>
                <a:endParaRPr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40" name="Google Shape;440;p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448" y="1386026"/>
                <a:ext cx="8327136" cy="3610179"/>
              </a:xfrm>
              <a:prstGeom prst="rect">
                <a:avLst/>
              </a:prstGeom>
              <a:blipFill rotWithShape="0">
                <a:blip r:embed="rId4"/>
                <a:stretch>
                  <a:fillRect l="-805" t="-1012" b="-18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125;g104476d1465_1_17"/>
          <p:cNvSpPr txBox="1"/>
          <p:nvPr/>
        </p:nvSpPr>
        <p:spPr>
          <a:xfrm>
            <a:off x="869213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36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49" name="Google Shape;449;p32"/>
          <p:cNvSpPr txBox="1"/>
          <p:nvPr/>
        </p:nvSpPr>
        <p:spPr>
          <a:xfrm>
            <a:off x="1238491" y="520393"/>
            <a:ext cx="9865684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3225" lvl="0" indent="-403225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 Determine if each equation in the table is true or false. Show your work to support your answer.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24D77277-CB00-4548-9267-7BF586E2E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600" y="1446893"/>
            <a:ext cx="6654800" cy="3594100"/>
          </a:xfrm>
          <a:prstGeom prst="rect">
            <a:avLst/>
          </a:prstGeom>
        </p:spPr>
      </p:pic>
      <p:sp>
        <p:nvSpPr>
          <p:cNvPr id="7" name="Google Shape;125;g104476d1465_1_17"/>
          <p:cNvSpPr txBox="1"/>
          <p:nvPr/>
        </p:nvSpPr>
        <p:spPr>
          <a:xfrm>
            <a:off x="869213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36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3"/>
          <p:cNvSpPr/>
          <p:nvPr/>
        </p:nvSpPr>
        <p:spPr>
          <a:xfrm>
            <a:off x="0" y="-267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58" name="Google Shape;458;p3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59" name="Google Shape;45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9213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36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4"/>
          <p:cNvSpPr/>
          <p:nvPr/>
        </p:nvSpPr>
        <p:spPr>
          <a:xfrm>
            <a:off x="-16004" y="-8226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68" name="Google Shape;468;p34"/>
          <p:cNvSpPr txBox="1"/>
          <p:nvPr/>
        </p:nvSpPr>
        <p:spPr>
          <a:xfrm>
            <a:off x="1259337" y="-11729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6.13.5 Wrap-Up: Reflection</a:t>
            </a:r>
            <a:endParaRPr dirty="0"/>
          </a:p>
        </p:txBody>
      </p:sp>
      <p:pic>
        <p:nvPicPr>
          <p:cNvPr id="469" name="Google Shape;46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887" y="13575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70" name="Google Shape;470;p34"/>
          <p:cNvSpPr txBox="1"/>
          <p:nvPr/>
        </p:nvSpPr>
        <p:spPr>
          <a:xfrm>
            <a:off x="1259337" y="1386025"/>
            <a:ext cx="992935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6075" lvl="0" indent="-3349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In this unit, you have learned multiple concepts about operations with integers. Rate yourself on the following skills based on your level of understanding.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765B3556-15A6-3F4E-8255-D2BFDB6A9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3720" y="2427291"/>
            <a:ext cx="4855936" cy="4230484"/>
          </a:xfrm>
          <a:prstGeom prst="rect">
            <a:avLst/>
          </a:prstGeom>
        </p:spPr>
      </p:pic>
      <p:sp>
        <p:nvSpPr>
          <p:cNvPr id="9" name="Google Shape;125;g104476d1465_1_17"/>
          <p:cNvSpPr txBox="1"/>
          <p:nvPr/>
        </p:nvSpPr>
        <p:spPr>
          <a:xfrm>
            <a:off x="869213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36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727</Words>
  <Application>Microsoft Office PowerPoint</Application>
  <PresentationFormat>Widescreen</PresentationFormat>
  <Paragraphs>122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Black</vt:lpstr>
      <vt:lpstr>Calibri</vt:lpstr>
      <vt:lpstr>Cambria Math</vt:lpstr>
      <vt:lpstr>Verdana</vt:lpstr>
      <vt:lpstr>1_Office Theme</vt:lpstr>
      <vt:lpstr>6th Grade Accelerated Math  Unit 6, Lesson 13  Evaluating Exponents  Volume 1, pg. 291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6th Grade Accelerated Math  Unit 6, Lesson 13  Evaluating Exponents  Volume 1, pg. 291  </dc:title>
  <dc:creator>Karen McKenzie</dc:creator>
  <cp:lastModifiedBy>Cassie O'Connor</cp:lastModifiedBy>
  <cp:revision>5</cp:revision>
  <dcterms:created xsi:type="dcterms:W3CDTF">2015-03-17T18:51:18Z</dcterms:created>
  <dcterms:modified xsi:type="dcterms:W3CDTF">2022-06-29T19:18:56Z</dcterms:modified>
</cp:coreProperties>
</file>