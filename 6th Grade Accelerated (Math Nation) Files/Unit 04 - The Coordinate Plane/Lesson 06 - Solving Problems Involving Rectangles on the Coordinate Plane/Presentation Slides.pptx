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embeddedFontLst>
    <p:embeddedFont>
      <p:font typeface="Arial Black" panose="020B0A04020102020204" pitchFamily="34" charset="0"/>
      <p:regular r:id="rId24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 Math" panose="02040503050406030204" pitchFamily="18" charset="0"/>
      <p:regular r:id="rId30"/>
    </p:embeddedFont>
    <p:embeddedFont>
      <p:font typeface="Century Gothic" panose="020B0502020202020204" pitchFamily="34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9" roundtripDataSignature="AMtx7mjziJXkK5OqXhHf/bOUwpiKe4Za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168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customschemas.google.com/relationships/presentationmetadata" Target="meta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1" name="Google Shape;111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1" name="Google Shape;131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1" name="Google Shape;141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2" name="Google Shape;142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1" name="Google Shape;15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2" name="Google Shape;152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3" name="Google Shape;16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4" name="Google Shape;17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6" name="Google Shape;18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5" name="Google Shape;195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6" name="Google Shape;196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5" name="Google Shape;20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6" name="Google Shape;20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17" name="Google Shape;217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8" name="Google Shape;218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7" name="Google Shape;22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8" name="Google Shape;228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8" name="Google Shape;23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9" name="Google Shape;249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0" name="Google Shape;250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0" name="Google Shape;260;p1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9" name="Google Shape;269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0" name="Google Shape;270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82" name="Google Shape;282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83" name="Google Shape;283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2" name="Google Shape;29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3" name="Google Shape;293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4" name="Google Shape;304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5" name="Google Shape;305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4" name="Google Shape;314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4" name="Google Shape;324;p1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5" name="Google Shape;325;p1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4" name="Google Shape;24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51" name="Google Shape;51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66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6</a:t>
            </a:r>
            <a:r>
              <a:rPr lang="en-US" sz="3800" b="1" i="0" u="none" strike="noStrike" cap="none" baseline="3000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Accelerated Math</a:t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sz="3800" b="1" i="0" u="none" strike="noStrike" cap="non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6</a:t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0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Involving Rectangles on the Coordinate Plane</a:t>
            </a: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i="0" u="none" strike="noStrike" cap="none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165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Calibri"/>
              <a:buNone/>
            </a:pPr>
            <a:endParaRPr sz="3400" b="1" i="0" u="none" strike="noStrike" cap="none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ctr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endParaRPr sz="3100" b="0" i="0" u="none" strike="noStrike" cap="none">
              <a:solidFill>
                <a:srgbClr val="417D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4" name="Google Shape;114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5" name="Google Shape;115;g104476d1465_0_0"/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g104476d1465_0_0" descr="A blue sign with white text&#10;&#10;Description automatically generated with medium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11640" y="1526626"/>
            <a:ext cx="3270825" cy="3812847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526949" y="63051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400"/>
              <a:buNone/>
            </a:pPr>
            <a:r>
              <a:rPr lang="en-US" sz="47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24" name="Google Shape;124;g104476d1465_1_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03449" y="29882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pic>
        <p:nvPicPr>
          <p:cNvPr id="125" name="Google Shape;125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26" name="Google Shape;126;g104476d1465_1_17"/>
          <p:cNvSpPr txBox="1"/>
          <p:nvPr/>
        </p:nvSpPr>
        <p:spPr>
          <a:xfrm>
            <a:off x="1450749" y="1462225"/>
            <a:ext cx="9290502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62500" lnSpcReduction="20000"/>
          </a:bodyPr>
          <a:lstStyle/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8139"/>
              <a:buFont typeface="Arial"/>
              <a:buNone/>
            </a:pPr>
            <a:r>
              <a:rPr lang="en-US" sz="4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MA.6.GR.1.2 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Find distances between ordered pairs, limited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to the same 𝑥-coordinate or the same 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𝑦-coordinate, represented on the coordinate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	plane.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8139"/>
              <a:buFont typeface="Arial"/>
              <a:buNone/>
            </a:pPr>
            <a:endParaRPr sz="43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78139"/>
              <a:buFont typeface="Arial"/>
              <a:buNone/>
            </a:pPr>
            <a:r>
              <a:rPr lang="en-US" sz="43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MA.6.GR.1.3 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Solve mathematical and real-world problems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	by plotting points on a coordinate plane,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	including finding the perimeter or area of a  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r>
              <a:rPr lang="en-US" sz="3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   rectangle. </a:t>
            </a:r>
            <a:endParaRPr/>
          </a:p>
          <a:p>
            <a:pPr marL="457200" marR="0" lvl="0" indent="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ct val="88421"/>
              <a:buFont typeface="Arial"/>
              <a:buNone/>
            </a:pPr>
            <a:endParaRPr sz="3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g104476d1465_1_17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165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"/>
          <p:cNvSpPr txBox="1"/>
          <p:nvPr/>
        </p:nvSpPr>
        <p:spPr>
          <a:xfrm>
            <a:off x="1469731" y="41959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i="0" u="none" strike="noStrike" cap="none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  <a:endParaRPr/>
          </a:p>
        </p:txBody>
      </p:sp>
      <p:pic>
        <p:nvPicPr>
          <p:cNvPr id="135" name="Google Shape;13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87569" y="33115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36" name="Google Shape;136;p1"/>
          <p:cNvSpPr txBox="1"/>
          <p:nvPr/>
        </p:nvSpPr>
        <p:spPr>
          <a:xfrm>
            <a:off x="1469731" y="1705700"/>
            <a:ext cx="96342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find distances between ordered pairs. </a:t>
            </a:r>
            <a:endParaRPr/>
          </a:p>
          <a:p>
            <a:pPr marL="4572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find the area of a rectangle on a coordinate plane. </a:t>
            </a:r>
            <a:endParaRPr/>
          </a:p>
          <a:p>
            <a:pPr marL="457200" marR="0" lvl="0" indent="-450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3500"/>
              <a:buFont typeface="Verdana"/>
              <a:buChar char="❏"/>
            </a:pPr>
            <a:r>
              <a:rPr lang="en-US" sz="28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 can find the fourth vertex of a rectangle on a coordinate plane.</a:t>
            </a:r>
            <a:endParaRPr sz="2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7" name="Google Shape;137;p1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38" name="Google Shape;138;p1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165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5" name="Google Shape;145;g104476d1465_1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6" name="Google Shape;146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g104476d1465_1_3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8" name="Google Shape;148;g104476d1465_1_39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1421850" y="17075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4.6.1 Warm-Up: True Statement</a:t>
            </a:r>
            <a:endParaRPr/>
          </a:p>
        </p:txBody>
      </p:sp>
      <p:pic>
        <p:nvPicPr>
          <p:cNvPr id="156" name="Google Shape;156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550" y="30791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57" name="Google Shape;157;p2"/>
          <p:cNvSpPr txBox="1"/>
          <p:nvPr/>
        </p:nvSpPr>
        <p:spPr>
          <a:xfrm>
            <a:off x="1304144" y="1710490"/>
            <a:ext cx="9583712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005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1. Place a digit in each blue box to make the statement true. Use only digits 1 to 9, at most one time each.</a:t>
            </a:r>
            <a:endParaRPr/>
          </a:p>
        </p:txBody>
      </p:sp>
      <p:pic>
        <p:nvPicPr>
          <p:cNvPr id="158" name="Google Shape;158;p2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21434" y="3347638"/>
            <a:ext cx="7527316" cy="1356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0" name="Google Shape;160;p2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4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68" name="Google Shape;168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69" name="Google Shape;169;p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70" name="Google Shape;170;p4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5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5"/>
          <p:cNvSpPr txBox="1"/>
          <p:nvPr/>
        </p:nvSpPr>
        <p:spPr>
          <a:xfrm>
            <a:off x="1420596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4.6.2 Collaboration: Area of Rectangles </a:t>
            </a:r>
            <a:endParaRPr dirty="0"/>
          </a:p>
        </p:txBody>
      </p:sp>
      <p:pic>
        <p:nvPicPr>
          <p:cNvPr id="178" name="Google Shape;178;p5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0788" y="34827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79" name="Google Shape;179;p5"/>
          <p:cNvSpPr txBox="1"/>
          <p:nvPr/>
        </p:nvSpPr>
        <p:spPr>
          <a:xfrm>
            <a:off x="1420596" y="1386025"/>
            <a:ext cx="9606900" cy="14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Work with your partner to explain how to find the area of a rectangle. </a:t>
            </a:r>
            <a:endParaRPr dirty="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AutoNum type="arabicPeriod"/>
            </a:pPr>
            <a:r>
              <a:rPr lang="en-US" sz="22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 rectangle with coordinate  (3, 0),  (3, −5), (−4, 0),  and (−4, −5) is shown. The scale of the grid is in centimeters (cm).</a:t>
            </a:r>
            <a:endParaRPr dirty="0"/>
          </a:p>
        </p:txBody>
      </p:sp>
      <p:pic>
        <p:nvPicPr>
          <p:cNvPr id="180" name="Google Shape;180;p5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54442" y="3309937"/>
            <a:ext cx="4739148" cy="3347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5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82" name="Google Shape;182;p5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"/>
          <p:cNvSpPr/>
          <p:nvPr/>
        </p:nvSpPr>
        <p:spPr>
          <a:xfrm>
            <a:off x="0" y="10952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6"/>
          <p:cNvSpPr txBox="1"/>
          <p:nvPr/>
        </p:nvSpPr>
        <p:spPr>
          <a:xfrm>
            <a:off x="1289154" y="3640202"/>
            <a:ext cx="9764358" cy="2677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Work with your partner to answer the following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questions.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a. Determine the length and the width of the rectangle. </a:t>
            </a: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12700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Include units.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b. What is the area of the rectangle? Include units.</a:t>
            </a:r>
            <a:endParaRPr dirty="0"/>
          </a:p>
        </p:txBody>
      </p:sp>
      <p:pic>
        <p:nvPicPr>
          <p:cNvPr id="190" name="Google Shape;190;p6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801759" y="170811"/>
            <a:ext cx="4739148" cy="33478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6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92" name="Google Shape;192;p6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166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7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00" name="Google Shape;200;p7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01" name="Google Shape;201;p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02" name="Google Shape;202;p7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8"/>
          <p:cNvSpPr/>
          <p:nvPr/>
        </p:nvSpPr>
        <p:spPr>
          <a:xfrm>
            <a:off x="-17195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8"/>
          <p:cNvSpPr txBox="1"/>
          <p:nvPr/>
        </p:nvSpPr>
        <p:spPr>
          <a:xfrm>
            <a:off x="1468624" y="-44609"/>
            <a:ext cx="941838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i="0" u="none" strike="noStrike" cap="non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4.6.3 Guided Practice: Finding the Area of Rectangles on the Coordinate Plane</a:t>
            </a:r>
            <a:endParaRPr/>
          </a:p>
        </p:txBody>
      </p:sp>
      <p:pic>
        <p:nvPicPr>
          <p:cNvPr id="210" name="Google Shape;210;p8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6098" y="240141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11" name="Google Shape;211;p8"/>
          <p:cNvSpPr txBox="1"/>
          <p:nvPr/>
        </p:nvSpPr>
        <p:spPr>
          <a:xfrm>
            <a:off x="1169233" y="1386025"/>
            <a:ext cx="9218351" cy="30469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AutoNum type="arabicPeriod"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Henry wants to install new carpet in his living room. A drawing of his living room, with measurements in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feet, is shown.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What is the area of</a:t>
            </a:r>
            <a:endParaRPr/>
          </a:p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the living room?</a:t>
            </a:r>
            <a:endParaRPr/>
          </a:p>
        </p:txBody>
      </p:sp>
      <p:pic>
        <p:nvPicPr>
          <p:cNvPr id="212" name="Google Shape;212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96732" y="2412484"/>
            <a:ext cx="4719830" cy="40410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8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14" name="Google Shape;214;p8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9"/>
          <p:cNvSpPr txBox="1"/>
          <p:nvPr/>
        </p:nvSpPr>
        <p:spPr>
          <a:xfrm>
            <a:off x="2083179" y="322429"/>
            <a:ext cx="8327136" cy="56323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A rectangle is shown.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What is the area of the rectangle?</a:t>
            </a:r>
            <a:endParaRPr/>
          </a:p>
        </p:txBody>
      </p:sp>
      <p:pic>
        <p:nvPicPr>
          <p:cNvPr id="222" name="Google Shape;22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273144" y="855585"/>
            <a:ext cx="5947207" cy="44756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24" name="Google Shape;224;p9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0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0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32" name="Google Shape;232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3114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33" name="Google Shape;233;p10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34" name="Google Shape;234;p10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1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11"/>
          <p:cNvSpPr txBox="1"/>
          <p:nvPr/>
        </p:nvSpPr>
        <p:spPr>
          <a:xfrm>
            <a:off x="1540062" y="60326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4.6.4 Collaboration: Finding the Fourth Vertex</a:t>
            </a:r>
            <a:endParaRPr/>
          </a:p>
        </p:txBody>
      </p:sp>
      <p:pic>
        <p:nvPicPr>
          <p:cNvPr id="242" name="Google Shape;242;p11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90254" y="348272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243" name="Google Shape;243;p11"/>
          <p:cNvSpPr txBox="1"/>
          <p:nvPr/>
        </p:nvSpPr>
        <p:spPr>
          <a:xfrm>
            <a:off x="1540062" y="1386026"/>
            <a:ext cx="9367908" cy="50167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With your partner, list every attribute you know about rectangles.</a:t>
            </a:r>
            <a:endParaRPr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 With your partner, find another pair of partners. Share what you wrote about rectangles. Add any new attributes the other group found that you didn’t.</a:t>
            </a:r>
            <a:endParaRPr sz="20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44" name="Google Shape;244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15305" y="2021080"/>
            <a:ext cx="6561389" cy="3261643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1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46" name="Google Shape;246;p11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"/>
          <p:cNvSpPr/>
          <p:nvPr/>
        </p:nvSpPr>
        <p:spPr>
          <a:xfrm>
            <a:off x="0" y="1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12"/>
          <p:cNvSpPr txBox="1"/>
          <p:nvPr/>
        </p:nvSpPr>
        <p:spPr>
          <a:xfrm>
            <a:off x="1563926" y="179883"/>
            <a:ext cx="9823174" cy="58477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3. On the coordinate grid, draw a rectangle whose sides lie on the gridlines. Label the ordered pair of each vertex.</a:t>
            </a:r>
            <a:endParaRPr/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2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4. Discuss with your partner how to determine where to place the vertices of your rectangle. Write a summary of your discussion.</a:t>
            </a:r>
            <a:endParaRPr/>
          </a:p>
          <a:p>
            <a:pPr marL="412750" marR="0" lvl="0" indent="-412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5. Based on the rectangle drawn in the previous questions, add any attributes about rectangles to your list.</a:t>
            </a:r>
            <a:endParaRPr/>
          </a:p>
        </p:txBody>
      </p:sp>
      <p:pic>
        <p:nvPicPr>
          <p:cNvPr id="254" name="Google Shape;254;p12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233992" y="1054542"/>
            <a:ext cx="3724016" cy="3464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2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56" name="Google Shape;256;p12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3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96969"/>
              <a:buNone/>
            </a:pPr>
            <a:r>
              <a:rPr lang="en-US" sz="5500" b="1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64" name="Google Shape;264;p13" descr="Icon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2723" y="2852923"/>
            <a:ext cx="1152144" cy="1152144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65" name="Google Shape;265;p13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66" name="Google Shape;266;p13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4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4"/>
          <p:cNvSpPr txBox="1"/>
          <p:nvPr/>
        </p:nvSpPr>
        <p:spPr>
          <a:xfrm>
            <a:off x="1569408" y="1010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i="0" u="none" strike="noStrike" cap="none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4.6.5 Guided Practice: Finding the Fourth Vertex </a:t>
            </a:r>
            <a:endParaRPr/>
          </a:p>
        </p:txBody>
      </p:sp>
      <p:pic>
        <p:nvPicPr>
          <p:cNvPr id="274" name="Google Shape;274;p14" descr="Icon&#10;&#10;Description automatically generated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90750" y="138915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75" name="Google Shape;275;p14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70042" y="1181267"/>
            <a:ext cx="5512168" cy="3091917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14"/>
          <p:cNvSpPr txBox="1"/>
          <p:nvPr/>
        </p:nvSpPr>
        <p:spPr>
          <a:xfrm>
            <a:off x="7616650" y="1181266"/>
            <a:ext cx="2885366" cy="4093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Using the coordinate plane, find the fourth vertex of the following rectangles.</a:t>
            </a:r>
            <a:endParaRPr dirty="0"/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 What is the area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of Rectangle A, in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    square units?</a:t>
            </a:r>
            <a:endParaRPr sz="20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77" name="Google Shape;277;p14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023069" y="4330449"/>
            <a:ext cx="4905282" cy="2398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14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79" name="Google Shape;279;p14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5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5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7" name="Google Shape;28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288" name="Google Shape;288;p15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289" name="Google Shape;289;p15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6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6"/>
          <p:cNvSpPr txBox="1"/>
          <p:nvPr/>
        </p:nvSpPr>
        <p:spPr>
          <a:xfrm>
            <a:off x="1421850" y="146920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i="0" u="none" strike="noStrike" cap="none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4.6.6 Your Turn!</a:t>
            </a:r>
            <a:endParaRPr/>
          </a:p>
        </p:txBody>
      </p:sp>
      <p:pic>
        <p:nvPicPr>
          <p:cNvPr id="297" name="Google Shape;297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74550" y="146920"/>
            <a:ext cx="747300" cy="7473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8" name="Google Shape;298;p16"/>
              <p:cNvSpPr txBox="1"/>
              <p:nvPr/>
            </p:nvSpPr>
            <p:spPr>
              <a:xfrm>
                <a:off x="1932432" y="982902"/>
                <a:ext cx="8327136" cy="567074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lvl="0" indent="-457200">
                  <a:buSzPts val="2200"/>
                  <a:buFont typeface="Arial"/>
                  <a:buAutoNum type="arabicPeriod"/>
                </a:pPr>
                <a:r>
                  <a:rPr lang="en-US" sz="2200" b="0" i="0" u="none" strike="noStrike" cap="none" dirty="0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Three vertices of a rectangle are at points 𝐴 </a:t>
                </a:r>
                <a14:m>
                  <m:oMath xmlns:m="http://schemas.openxmlformats.org/officeDocument/2006/math">
                    <m:r>
                      <a:rPr lang="en-US" sz="2200" b="0" i="0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(</m:t>
                    </m:r>
                    <m:r>
                      <a:rPr lang="en-US" sz="22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−4</m:t>
                    </m:r>
                    <m:f>
                      <m:fPr>
                        <m:ctrlPr>
                          <a:rPr lang="en-US" sz="2200" b="0" i="1" u="none" strike="noStrike" cap="non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</m:ctrlPr>
                      </m:fPr>
                      <m:num>
                        <m:r>
                          <a:rPr lang="en-US" sz="2200" b="0" i="1" u="none" strike="noStrike" cap="non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  <m:t>3</m:t>
                        </m:r>
                      </m:num>
                      <m:den>
                        <m:r>
                          <a:rPr lang="en-US" sz="2200" b="0" i="1" u="none" strike="noStrike" cap="none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  <m:t>5</m:t>
                        </m:r>
                      </m:den>
                    </m:f>
                    <m:r>
                      <a:rPr lang="en-US" sz="2200" b="0" i="1" u="none" strike="noStrike" cap="none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Verdana"/>
                        <a:sym typeface="Verdana"/>
                      </a:rPr>
                      <m:t>,3)</m:t>
                    </m:r>
                  </m:oMath>
                </a14:m>
                <a:r>
                  <a:rPr lang="en-US" sz="2200" b="0" i="0" u="none" strike="noStrike" cap="none" dirty="0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, 𝐵 </a:t>
                </a:r>
                <a14:m>
                  <m:oMath xmlns:m="http://schemas.openxmlformats.org/officeDocument/2006/math">
                    <m:r>
                      <a:rPr lang="en-US" sz="220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(</m:t>
                    </m:r>
                    <m:r>
                      <a:rPr lang="en-US" sz="2200" i="1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  <a:ea typeface="Verdana"/>
                        <a:cs typeface="Verdana"/>
                        <a:sym typeface="Verdana"/>
                      </a:rPr>
                      <m:t>3</m:t>
                    </m:r>
                    <m:f>
                      <m:fPr>
                        <m:ctrlPr>
                          <a:rPr lang="en-US" sz="2200" i="1"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</m:ctrlPr>
                      </m:fPr>
                      <m:num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  <m:t>9</m:t>
                        </m:r>
                      </m:num>
                      <m:den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  <m:t>10</m:t>
                        </m:r>
                      </m:den>
                    </m:f>
                    <m:r>
                      <a:rPr lang="en-US" sz="2200" i="1">
                        <a:latin typeface="Cambria Math" panose="02040503050406030204" pitchFamily="18" charset="0"/>
                        <a:ea typeface="Verdana"/>
                        <a:sym typeface="Verdana"/>
                      </a:rPr>
                      <m:t>,3)</m:t>
                    </m:r>
                  </m:oMath>
                </a14:m>
                <a:r>
                  <a:rPr lang="en-US" sz="2200" dirty="0">
                    <a:latin typeface="Verdana"/>
                    <a:ea typeface="Verdana"/>
                    <a:cs typeface="Verdana"/>
                    <a:sym typeface="Verdana"/>
                  </a:rPr>
                  <a:t>, and 𝐶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Verdana"/>
                            <a:cs typeface="Verdana"/>
                            <a:sym typeface="Verdana"/>
                          </a:rPr>
                          <m:t>3</m:t>
                        </m:r>
                        <m:f>
                          <m:fPr>
                            <m:ctrlPr>
                              <a:rPr lang="en-US" sz="2200" i="1">
                                <a:latin typeface="Cambria Math" panose="02040503050406030204" pitchFamily="18" charset="0"/>
                                <a:ea typeface="Verdana"/>
                                <a:sym typeface="Verdana"/>
                              </a:rPr>
                            </m:ctrlPr>
                          </m:fPr>
                          <m:num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Verdana"/>
                                <a:sym typeface="Verdana"/>
                              </a:rPr>
                              <m:t>9</m:t>
                            </m:r>
                          </m:num>
                          <m:den>
                            <m:r>
                              <a:rPr lang="en-US" sz="2200" b="0" i="1" smtClean="0">
                                <a:latin typeface="Cambria Math" panose="02040503050406030204" pitchFamily="18" charset="0"/>
                                <a:ea typeface="Verdana"/>
                                <a:sym typeface="Verdana"/>
                              </a:rPr>
                              <m:t>10</m:t>
                            </m:r>
                          </m:den>
                        </m:f>
                        <m:r>
                          <a:rPr lang="en-US" sz="2200" i="1"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  <a:ea typeface="Verdana"/>
                            <a:sym typeface="Verdana"/>
                          </a:rPr>
                          <m:t>−4</m:t>
                        </m:r>
                      </m:e>
                    </m:d>
                    <m:r>
                      <a:rPr lang="en-US" sz="2200" b="0" i="0" smtClean="0">
                        <a:latin typeface="Cambria Math" panose="02040503050406030204" pitchFamily="18" charset="0"/>
                        <a:ea typeface="Verdana"/>
                        <a:sym typeface="Verdana"/>
                      </a:rPr>
                      <m:t>.</m:t>
                    </m:r>
                  </m:oMath>
                </a14:m>
                <a:r>
                  <a:rPr lang="en-US" sz="2200" dirty="0">
                    <a:latin typeface="Verdana"/>
                    <a:ea typeface="Verdana"/>
                    <a:cs typeface="Verdana"/>
                    <a:sym typeface="Verdana"/>
                  </a:rPr>
                  <a:t> Each gridline represents 1 centimeter.</a:t>
                </a:r>
                <a:endParaRPr lang="en-US" dirty="0"/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457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2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457200" marR="0" lvl="0" indent="-33020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000"/>
                  <a:buFont typeface="Arial"/>
                  <a:buNone/>
                </a:pPr>
                <a:endParaRPr lang="en-US" sz="20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4400" marR="0" lvl="0" indent="-5016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a. What are the coordinates of the fourth vertex? </a:t>
                </a:r>
                <a:endParaRPr lang="en-US" dirty="0"/>
              </a:p>
              <a:p>
                <a:pPr marL="914400" marR="0" lvl="0" indent="-5016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lang="en-US" sz="20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  <a:p>
                <a:pPr marL="914400" marR="0" lvl="0" indent="-50165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b="0" i="0" u="none" strike="noStrike" cap="none" dirty="0">
                    <a:solidFill>
                      <a:srgbClr val="000000"/>
                    </a:solidFill>
                    <a:latin typeface="Verdana"/>
                    <a:ea typeface="Verdana"/>
                    <a:cs typeface="Verdana"/>
                    <a:sym typeface="Verdana"/>
                  </a:rPr>
                  <a:t>b. What is the area of the rectangle?</a:t>
                </a:r>
                <a:endParaRPr sz="2000" b="0" i="0" u="none" strike="noStrike" cap="none" dirty="0">
                  <a:solidFill>
                    <a:srgbClr val="000000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mc:Choice>
        <mc:Fallback xmlns="">
          <p:sp>
            <p:nvSpPr>
              <p:cNvPr id="298" name="Google Shape;298;p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2432" y="982902"/>
                <a:ext cx="8327136" cy="5670743"/>
              </a:xfrm>
              <a:prstGeom prst="rect">
                <a:avLst/>
              </a:prstGeom>
              <a:blipFill>
                <a:blip r:embed="rId4"/>
                <a:stretch>
                  <a:fillRect l="-1025" r="-1464" b="-150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9" name="Google Shape;29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68232" y="2404469"/>
            <a:ext cx="4740504" cy="3180018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16"/>
          <p:cNvPicPr preferRelativeResize="0"/>
          <p:nvPr/>
        </p:nvPicPr>
        <p:blipFill rotWithShape="1"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01" name="Google Shape;301;p16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17"/>
          <p:cNvSpPr txBox="1"/>
          <p:nvPr/>
        </p:nvSpPr>
        <p:spPr>
          <a:xfrm>
            <a:off x="1932432" y="388642"/>
            <a:ext cx="8327100" cy="489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12750" marR="0" lvl="0" indent="-39846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2. Jada needs to cut out a piece of fabric in the shape of a rectangle. She laid out the fabric on a cutting board, whose scale is represented in feet (ft). Jada placed two edges of the fabric at points 𝐴 and 𝐵. She wants the length of the fabric to be as long as the distance from point 𝐵 to point 𝐶. 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257550" marR="0" lvl="0" indent="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a. Determine the 		  coordinates of</a:t>
            </a:r>
            <a:r>
              <a:rPr lang="en-US" sz="2400" dirty="0">
                <a:latin typeface="Verdana"/>
                <a:ea typeface="Verdana"/>
                <a:cs typeface="Verdana"/>
                <a:sym typeface="Verdana"/>
              </a:rPr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fourth corner of</a:t>
            </a:r>
            <a:r>
              <a:rPr lang="en-US" dirty="0"/>
              <a:t> </a:t>
            </a: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the fabric.</a:t>
            </a:r>
            <a:endParaRPr dirty="0"/>
          </a:p>
          <a:p>
            <a:pPr marL="3257550" marR="0" lvl="0" indent="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 dirty="0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257550" marR="0" lvl="0" indent="19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b. Find the area of the 			piece of fabric.</a:t>
            </a:r>
            <a:endParaRPr dirty="0"/>
          </a:p>
        </p:txBody>
      </p:sp>
      <p:pic>
        <p:nvPicPr>
          <p:cNvPr id="309" name="Google Shape;309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9745" y="2708309"/>
            <a:ext cx="3330230" cy="374936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11" name="Google Shape;311;p17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18"/>
          <p:cNvSpPr/>
          <p:nvPr/>
        </p:nvSpPr>
        <p:spPr>
          <a:xfrm>
            <a:off x="0" y="-8226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8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</a:pPr>
            <a:r>
              <a:rPr lang="en-US" sz="5500" b="1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19" name="Google Shape;319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320" name="Google Shape;320;p18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21" name="Google Shape;321;p18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9"/>
          <p:cNvSpPr txBox="1"/>
          <p:nvPr/>
        </p:nvSpPr>
        <p:spPr>
          <a:xfrm>
            <a:off x="1462925" y="-64422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i="0" u="none" strike="noStrike" cap="none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4.6.7 Wrap-Up: Reflection</a:t>
            </a:r>
            <a:endParaRPr sz="3600" b="1" i="0" u="none" strike="noStrike" cap="none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29" name="Google Shape;329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475" y="19839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330" name="Google Shape;330;p19"/>
          <p:cNvSpPr txBox="1"/>
          <p:nvPr/>
        </p:nvSpPr>
        <p:spPr>
          <a:xfrm>
            <a:off x="1462925" y="1628984"/>
            <a:ext cx="9266150" cy="3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AutoNum type="arabicPeriod"/>
            </a:pPr>
            <a:r>
              <a:rPr lang="en-US" sz="2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Complete the following statements.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a. Today I am still unsure about …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6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i="0" u="none" strike="noStrike" cap="none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	b. To fill this gap, I intend to …</a:t>
            </a:r>
            <a:endParaRPr/>
          </a:p>
        </p:txBody>
      </p:sp>
      <p:pic>
        <p:nvPicPr>
          <p:cNvPr id="331" name="Google Shape;331;p19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8710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332" name="Google Shape;332;p19"/>
          <p:cNvSpPr txBox="1"/>
          <p:nvPr/>
        </p:nvSpPr>
        <p:spPr>
          <a:xfrm>
            <a:off x="864887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1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sz="1400" b="0" i="1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845</Words>
  <Application>Microsoft Office PowerPoint</Application>
  <PresentationFormat>Widescreen</PresentationFormat>
  <Paragraphs>167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Cambria Math</vt:lpstr>
      <vt:lpstr>Calibri</vt:lpstr>
      <vt:lpstr>Arial Black</vt:lpstr>
      <vt:lpstr>Verdana</vt:lpstr>
      <vt:lpstr>Century Gothic</vt:lpstr>
      <vt:lpstr>1_Office Theme</vt:lpstr>
      <vt:lpstr>6th Grade Accelerated Math  Unit 4, Lesson 6  Solving Problems Involving Rectangles on the Coordinate Plane  Volume 1, pg. 165  </vt:lpstr>
      <vt:lpstr>Benchmarks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Collaboration</vt:lpstr>
      <vt:lpstr>PowerPoint Presentation</vt:lpstr>
      <vt:lpstr>PowerPoint Presentation</vt:lpstr>
      <vt:lpstr>Guided Practice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6th Grade Accelerated Math  Unit 4, Lesson 6  Solving Problems Involving Rectangles on the Coordinate Plane  Volume 1, pg. 165  </dc:title>
  <dc:creator>Karen McKenzie</dc:creator>
  <cp:lastModifiedBy>Cassie O'Connor</cp:lastModifiedBy>
  <cp:revision>3</cp:revision>
  <dcterms:created xsi:type="dcterms:W3CDTF">2015-03-17T18:51:18Z</dcterms:created>
  <dcterms:modified xsi:type="dcterms:W3CDTF">2022-07-29T01:18:30Z</dcterms:modified>
</cp:coreProperties>
</file>