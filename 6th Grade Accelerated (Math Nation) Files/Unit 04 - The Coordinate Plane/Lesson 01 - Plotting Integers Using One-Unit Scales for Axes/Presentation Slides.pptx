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98" r:id="rId4"/>
    <p:sldId id="258" r:id="rId5"/>
    <p:sldId id="259" r:id="rId6"/>
    <p:sldId id="260" r:id="rId7"/>
    <p:sldId id="261" r:id="rId8"/>
    <p:sldId id="265" r:id="rId9"/>
    <p:sldId id="266" r:id="rId10"/>
    <p:sldId id="264" r:id="rId11"/>
    <p:sldId id="292" r:id="rId12"/>
    <p:sldId id="293" r:id="rId13"/>
    <p:sldId id="294" r:id="rId14"/>
    <p:sldId id="295" r:id="rId15"/>
    <p:sldId id="283" r:id="rId16"/>
    <p:sldId id="284" r:id="rId17"/>
    <p:sldId id="285" r:id="rId18"/>
    <p:sldId id="296" r:id="rId19"/>
    <p:sldId id="274" r:id="rId20"/>
    <p:sldId id="275" r:id="rId21"/>
    <p:sldId id="273" r:id="rId22"/>
    <p:sldId id="297" r:id="rId23"/>
    <p:sldId id="277" r:id="rId24"/>
    <p:sldId id="278" r:id="rId25"/>
    <p:sldId id="270" r:id="rId26"/>
    <p:sldId id="289" r:id="rId27"/>
    <p:sldId id="290" r:id="rId28"/>
    <p:sldId id="291"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gq051y+kUmiDcSOeFpl+icn7O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767"/>
  </p:normalViewPr>
  <p:slideViewPr>
    <p:cSldViewPr snapToGrid="0">
      <p:cViewPr varScale="1">
        <p:scale>
          <a:sx n="59" d="100"/>
          <a:sy n="59" d="100"/>
        </p:scale>
        <p:origin x="168"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516163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3826647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825116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3890491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4052680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34000141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4" name="Google Shape;464;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6th Grade Accelerated Math</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Plotting Integers Using One-Unit Scales for Axes</a:t>
            </a:r>
            <a:br>
              <a:rPr lang="en-US" sz="3800" b="1" dirty="0">
                <a:solidFill>
                  <a:srgbClr val="417DBF"/>
                </a:solidFill>
                <a:latin typeface="Verdana"/>
                <a:ea typeface="Verdana"/>
                <a:cs typeface="Verdana"/>
                <a:sym typeface="Verdana"/>
              </a:rPr>
            </a:br>
            <a:br>
              <a:rPr lang="en-US" sz="3800" b="1" dirty="0">
                <a:solidFill>
                  <a:srgbClr val="417DBF"/>
                </a:solidFill>
                <a:highlight>
                  <a:srgbClr val="FFFF00"/>
                </a:highlight>
                <a:latin typeface="Verdana"/>
                <a:ea typeface="Verdana"/>
                <a:cs typeface="Verdana"/>
                <a:sym typeface="Verdana"/>
              </a:rPr>
            </a:br>
            <a:r>
              <a:rPr lang="en-US" sz="2800" b="1" dirty="0">
                <a:solidFill>
                  <a:srgbClr val="417DBF"/>
                </a:solidFill>
                <a:latin typeface="Verdana"/>
                <a:ea typeface="Verdana"/>
                <a:cs typeface="Verdana"/>
                <a:sym typeface="Verdana"/>
              </a:rPr>
              <a:t>Volume 1, pg. 131</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185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73650" y="84701"/>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50150" y="320476"/>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473650" y="1600200"/>
            <a:ext cx="92447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500" dirty="0">
                <a:solidFill>
                  <a:schemeClr val="dk1"/>
                </a:solidFill>
                <a:latin typeface="Verdana"/>
                <a:ea typeface="Verdana"/>
                <a:cs typeface="Verdana"/>
                <a:sym typeface="Verdana"/>
              </a:rPr>
              <a:t>MA.6.GR.1.1 </a:t>
            </a:r>
            <a:endParaRPr sz="35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500" dirty="0">
                <a:solidFill>
                  <a:schemeClr val="dk1"/>
                </a:solidFill>
                <a:latin typeface="Verdana"/>
                <a:ea typeface="Verdana"/>
                <a:cs typeface="Verdana"/>
                <a:sym typeface="Verdana"/>
              </a:rPr>
              <a:t>Extend previous understanding of the coordinate plane to plot rational number ordered pairs in all four quadrants and on both axes. Identify the 𝑥- or 𝑦-axis as the line of reflection when two ordered pairs have an opposite 𝑥- and 𝑦-coordinate.</a:t>
            </a:r>
            <a:endParaRPr sz="21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DFB5-28D1-421B-A484-860AA64AD56E}"/>
              </a:ext>
            </a:extLst>
          </p:cNvPr>
          <p:cNvSpPr>
            <a:spLocks noGrp="1"/>
          </p:cNvSpPr>
          <p:nvPr>
            <p:ph type="ctrTitle"/>
          </p:nvPr>
        </p:nvSpPr>
        <p:spPr>
          <a:xfrm>
            <a:off x="1538300" y="1463752"/>
            <a:ext cx="8460126" cy="5065487"/>
          </a:xfrm>
        </p:spPr>
        <p:txBody>
          <a:bodyPr>
            <a:noAutofit/>
          </a:bodyPr>
          <a:lstStyle/>
          <a:p>
            <a:pPr algn="l"/>
            <a:r>
              <a:rPr lang="en-US" sz="2800" dirty="0">
                <a:solidFill>
                  <a:srgbClr val="2A2B2D"/>
                </a:solidFill>
                <a:latin typeface="Verdana" panose="020B0604030504040204" pitchFamily="34" charset="0"/>
                <a:ea typeface="Verdana" panose="020B0604030504040204" pitchFamily="34" charset="0"/>
              </a:rPr>
              <a:t>MA.K12.MTR.1.1 Actively participate in effortful learning both individually and collectively.</a:t>
            </a:r>
            <a:br>
              <a:rPr lang="en-US" sz="2800" dirty="0">
                <a:solidFill>
                  <a:srgbClr val="2A2B2D"/>
                </a:solidFill>
                <a:latin typeface="Verdana" panose="020B0604030504040204" pitchFamily="34" charset="0"/>
                <a:ea typeface="Verdana" panose="020B0604030504040204" pitchFamily="34" charset="0"/>
              </a:rPr>
            </a:br>
            <a:br>
              <a:rPr lang="en-US" sz="2800" dirty="0">
                <a:solidFill>
                  <a:srgbClr val="2A2B2D"/>
                </a:solidFill>
                <a:latin typeface="Verdana" panose="020B0604030504040204" pitchFamily="34" charset="0"/>
                <a:ea typeface="Verdana" panose="020B0604030504040204" pitchFamily="34" charset="0"/>
              </a:rPr>
            </a:br>
            <a:r>
              <a:rPr lang="en-US" sz="2800" dirty="0">
                <a:solidFill>
                  <a:srgbClr val="2A2B2D"/>
                </a:solidFill>
                <a:latin typeface="Verdana" panose="020B0604030504040204" pitchFamily="34" charset="0"/>
                <a:ea typeface="Verdana" panose="020B0604030504040204" pitchFamily="34" charset="0"/>
              </a:rPr>
              <a:t>MA.K12.MTR.4.1 Engage in discussions that reflect on the mathematical thinking of self and others.</a:t>
            </a:r>
            <a:br>
              <a:rPr lang="en-US" sz="2800" dirty="0">
                <a:solidFill>
                  <a:srgbClr val="2A2B2D"/>
                </a:solidFill>
                <a:latin typeface="Verdana" panose="020B0604030504040204" pitchFamily="34" charset="0"/>
                <a:ea typeface="Verdana" panose="020B0604030504040204" pitchFamily="34" charset="0"/>
              </a:rPr>
            </a:br>
            <a:br>
              <a:rPr lang="en-US" sz="2800" dirty="0">
                <a:solidFill>
                  <a:srgbClr val="2A2B2D"/>
                </a:solidFill>
                <a:latin typeface="Verdana" panose="020B0604030504040204" pitchFamily="34" charset="0"/>
                <a:ea typeface="Verdana" panose="020B0604030504040204" pitchFamily="34" charset="0"/>
              </a:rPr>
            </a:br>
            <a:r>
              <a:rPr lang="en-US" sz="2800" dirty="0">
                <a:solidFill>
                  <a:srgbClr val="2A2B2D"/>
                </a:solidFill>
                <a:latin typeface="Verdana" panose="020B0604030504040204" pitchFamily="34" charset="0"/>
                <a:ea typeface="Verdana" panose="020B0604030504040204" pitchFamily="34" charset="0"/>
              </a:rPr>
              <a:t>MA.K12.MTR.5.1 Use patterns and structure to help understand and connect mathematical concepts.</a:t>
            </a:r>
            <a:br>
              <a:rPr lang="en-US" sz="2800" dirty="0">
                <a:solidFill>
                  <a:srgbClr val="2A2B2D"/>
                </a:solidFill>
                <a:latin typeface="Verdana" panose="020B0604030504040204" pitchFamily="34" charset="0"/>
                <a:ea typeface="Verdana" panose="020B0604030504040204" pitchFamily="34" charset="0"/>
              </a:rPr>
            </a:br>
            <a:endParaRPr lang="en-US" sz="2800" dirty="0">
              <a:latin typeface="Verdana" panose="020B0604030504040204" pitchFamily="34" charset="0"/>
              <a:ea typeface="Verdana" panose="020B0604030504040204" pitchFamily="34" charset="0"/>
            </a:endParaRPr>
          </a:p>
        </p:txBody>
      </p:sp>
      <p:sp>
        <p:nvSpPr>
          <p:cNvPr id="4" name="Google Shape;122;g104476d1465_1_17">
            <a:extLst>
              <a:ext uri="{FF2B5EF4-FFF2-40B4-BE49-F238E27FC236}">
                <a16:creationId xmlns:a16="http://schemas.microsoft.com/office/drawing/2014/main" id="{09354F5F-0E96-471B-AB76-A021045CEC33}"/>
              </a:ext>
            </a:extLst>
          </p:cNvPr>
          <p:cNvSpPr/>
          <p:nvPr/>
        </p:nvSpPr>
        <p:spPr>
          <a:xfrm>
            <a:off x="55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Google Shape;281;g104476d1465_1_17">
            <a:extLst>
              <a:ext uri="{FF2B5EF4-FFF2-40B4-BE49-F238E27FC236}">
                <a16:creationId xmlns:a16="http://schemas.microsoft.com/office/drawing/2014/main" id="{72C397AB-F18C-47A9-85BB-323ABE5C8BF2}"/>
              </a:ext>
            </a:extLst>
          </p:cNvPr>
          <p:cNvPicPr preferRelativeResize="0"/>
          <p:nvPr/>
        </p:nvPicPr>
        <p:blipFill>
          <a:blip r:embed="rId2">
            <a:alphaModFix/>
          </a:blip>
          <a:stretch>
            <a:fillRect/>
          </a:stretch>
        </p:blipFill>
        <p:spPr>
          <a:xfrm>
            <a:off x="713650" y="242633"/>
            <a:ext cx="747300" cy="747300"/>
          </a:xfrm>
          <a:prstGeom prst="rect">
            <a:avLst/>
          </a:prstGeom>
          <a:noFill/>
          <a:ln>
            <a:noFill/>
          </a:ln>
          <a:effectLst>
            <a:outerShdw blurRad="57150" dist="19050" dir="5400000" algn="bl" rotWithShape="0">
              <a:srgbClr val="000000">
                <a:alpha val="50000"/>
              </a:srgbClr>
            </a:outerShdw>
          </a:effectLst>
        </p:spPr>
      </p:pic>
      <p:sp>
        <p:nvSpPr>
          <p:cNvPr id="9" name="Google Shape;295;g103996e1364_0_10">
            <a:extLst>
              <a:ext uri="{FF2B5EF4-FFF2-40B4-BE49-F238E27FC236}">
                <a16:creationId xmlns:a16="http://schemas.microsoft.com/office/drawing/2014/main" id="{E00448A9-B74D-4DD3-84DE-9EA734F77168}"/>
              </a:ext>
            </a:extLst>
          </p:cNvPr>
          <p:cNvSpPr txBox="1">
            <a:spLocks/>
          </p:cNvSpPr>
          <p:nvPr/>
        </p:nvSpPr>
        <p:spPr>
          <a:xfrm>
            <a:off x="1538300"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672058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35" name="Google Shape;135;p2"/>
          <p:cNvSpPr txBox="1"/>
          <p:nvPr/>
        </p:nvSpPr>
        <p:spPr>
          <a:xfrm>
            <a:off x="1488469" y="-7445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36" name="Google Shape;136;p2"/>
          <p:cNvPicPr preferRelativeResize="0"/>
          <p:nvPr/>
        </p:nvPicPr>
        <p:blipFill rotWithShape="1">
          <a:blip r:embed="rId3">
            <a:alphaModFix/>
          </a:blip>
          <a:srcRect/>
          <a:stretch/>
        </p:blipFill>
        <p:spPr>
          <a:xfrm>
            <a:off x="706307" y="214750"/>
            <a:ext cx="747300" cy="747300"/>
          </a:xfrm>
          <a:prstGeom prst="rect">
            <a:avLst/>
          </a:prstGeom>
          <a:noFill/>
          <a:ln>
            <a:noFill/>
          </a:ln>
          <a:effectLst>
            <a:outerShdw blurRad="50800" dist="38100" dir="2700000" algn="tl" rotWithShape="0">
              <a:srgbClr val="000000">
                <a:alpha val="40000"/>
              </a:srgbClr>
            </a:outerShdw>
          </a:effectLst>
        </p:spPr>
      </p:pic>
      <p:sp>
        <p:nvSpPr>
          <p:cNvPr id="138" name="Google Shape;138;p2"/>
          <p:cNvSpPr txBox="1"/>
          <p:nvPr/>
        </p:nvSpPr>
        <p:spPr>
          <a:xfrm>
            <a:off x="1612900" y="1531025"/>
            <a:ext cx="883015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plot with integers using one-unit scales for axes.</a:t>
            </a:r>
            <a:endParaRPr dirty="0"/>
          </a:p>
        </p:txBody>
      </p:sp>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104476d1465_1_39"/>
          <p:cNvSpPr/>
          <p:nvPr/>
        </p:nvSpPr>
        <p:spPr>
          <a:xfrm>
            <a:off x="0" y="-8101"/>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46" name="Google Shape;146;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47" name="Google Shape;147;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4"/>
          <p:cNvSpPr/>
          <p:nvPr/>
        </p:nvSpPr>
        <p:spPr>
          <a:xfrm>
            <a:off x="-6962"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56" name="Google Shape;156;p4"/>
          <p:cNvSpPr txBox="1"/>
          <p:nvPr/>
        </p:nvSpPr>
        <p:spPr>
          <a:xfrm>
            <a:off x="1376850" y="60326"/>
            <a:ext cx="83271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4.1.1 Warm-Up: Guess the Number </a:t>
            </a:r>
            <a:endParaRPr/>
          </a:p>
        </p:txBody>
      </p:sp>
      <p:pic>
        <p:nvPicPr>
          <p:cNvPr id="157" name="Google Shape;157;p4"/>
          <p:cNvPicPr preferRelativeResize="0"/>
          <p:nvPr/>
        </p:nvPicPr>
        <p:blipFill rotWithShape="1">
          <a:blip r:embed="rId3">
            <a:alphaModFix/>
          </a:blip>
          <a:srcRect/>
          <a:stretch/>
        </p:blipFill>
        <p:spPr>
          <a:xfrm>
            <a:off x="629550" y="197486"/>
            <a:ext cx="747300" cy="747300"/>
          </a:xfrm>
          <a:prstGeom prst="rect">
            <a:avLst/>
          </a:prstGeom>
          <a:noFill/>
          <a:ln>
            <a:noFill/>
          </a:ln>
          <a:effectLst>
            <a:outerShdw blurRad="50800" dist="38100" dir="2700000" algn="tl" rotWithShape="0">
              <a:srgbClr val="000000">
                <a:alpha val="40000"/>
              </a:srgbClr>
            </a:outerShdw>
          </a:effectLst>
        </p:spPr>
      </p:pic>
      <p:sp>
        <p:nvSpPr>
          <p:cNvPr id="159" name="Google Shape;159;p4"/>
          <p:cNvSpPr txBox="1"/>
          <p:nvPr/>
        </p:nvSpPr>
        <p:spPr>
          <a:xfrm>
            <a:off x="1376850" y="1386026"/>
            <a:ext cx="9694300" cy="4708941"/>
          </a:xfrm>
          <a:prstGeom prst="rect">
            <a:avLst/>
          </a:prstGeom>
          <a:noFill/>
          <a:ln>
            <a:noFill/>
          </a:ln>
        </p:spPr>
        <p:txBody>
          <a:bodyPr spcFirstLastPara="1" wrap="square" lIns="91425" tIns="45700" rIns="91425" bIns="45700" anchor="t" anchorCtr="0">
            <a:spAutoFit/>
          </a:bodyPr>
          <a:lstStyle/>
          <a:p>
            <a:r>
              <a:rPr lang="en-US" sz="2500" dirty="0">
                <a:latin typeface="Verdana"/>
                <a:ea typeface="Verdana"/>
                <a:cs typeface="Verdana"/>
                <a:sym typeface="Verdana"/>
              </a:rPr>
              <a:t> An image of ¼ cup of candy corn is shown. </a:t>
            </a:r>
            <a:endParaRPr sz="2500" dirty="0">
              <a:latin typeface="Verdana"/>
              <a:ea typeface="Verdana"/>
              <a:cs typeface="Verdana"/>
              <a:sym typeface="Verdana"/>
            </a:endParaRPr>
          </a:p>
          <a:p>
            <a:endParaRPr sz="2500" dirty="0">
              <a:latin typeface="Verdana"/>
              <a:ea typeface="Verdana"/>
              <a:cs typeface="Verdana"/>
              <a:sym typeface="Verdana"/>
            </a:endParaRPr>
          </a:p>
          <a:p>
            <a:endParaRPr sz="2500" dirty="0">
              <a:latin typeface="Verdana"/>
              <a:ea typeface="Verdana"/>
              <a:cs typeface="Verdana"/>
              <a:sym typeface="Verdana"/>
            </a:endParaRPr>
          </a:p>
          <a:p>
            <a:endParaRPr sz="2500" dirty="0">
              <a:latin typeface="Verdana"/>
              <a:ea typeface="Verdana"/>
              <a:cs typeface="Verdana"/>
              <a:sym typeface="Verdana"/>
            </a:endParaRPr>
          </a:p>
          <a:p>
            <a:endParaRPr sz="2500" dirty="0">
              <a:latin typeface="Verdana"/>
              <a:ea typeface="Verdana"/>
              <a:cs typeface="Verdana"/>
              <a:sym typeface="Verdana"/>
            </a:endParaRPr>
          </a:p>
          <a:p>
            <a:endParaRPr sz="2500" dirty="0">
              <a:latin typeface="Verdana"/>
              <a:ea typeface="Verdana"/>
              <a:cs typeface="Verdana"/>
              <a:sym typeface="Verdana"/>
            </a:endParaRPr>
          </a:p>
          <a:p>
            <a:endParaRPr sz="2500" dirty="0">
              <a:latin typeface="Verdana"/>
              <a:ea typeface="Verdana"/>
              <a:cs typeface="Verdana"/>
              <a:sym typeface="Verdana"/>
            </a:endParaRPr>
          </a:p>
          <a:p>
            <a:r>
              <a:rPr lang="en-US" sz="2500" dirty="0">
                <a:latin typeface="Verdana"/>
                <a:ea typeface="Verdana"/>
                <a:cs typeface="Verdana"/>
                <a:sym typeface="Verdana"/>
              </a:rPr>
              <a:t> </a:t>
            </a:r>
          </a:p>
          <a:p>
            <a:endParaRPr lang="en-US" sz="2500" dirty="0">
              <a:latin typeface="Verdana"/>
              <a:ea typeface="Verdana"/>
              <a:cs typeface="Verdana"/>
              <a:sym typeface="Verdana"/>
            </a:endParaRPr>
          </a:p>
          <a:p>
            <a:r>
              <a:rPr lang="en-US" sz="2500" dirty="0">
                <a:latin typeface="Verdana"/>
                <a:ea typeface="Verdana"/>
                <a:cs typeface="Verdana"/>
                <a:sym typeface="Verdana"/>
              </a:rPr>
              <a:t>1. Estimate the number of pieces of candy corn that are in the measuring cup. </a:t>
            </a:r>
            <a:endParaRPr sz="2500" dirty="0">
              <a:latin typeface="Verdana"/>
              <a:ea typeface="Verdana"/>
              <a:cs typeface="Verdana"/>
              <a:sym typeface="Verdana"/>
            </a:endParaRPr>
          </a:p>
          <a:p>
            <a:endParaRPr sz="2500" dirty="0">
              <a:latin typeface="Verdana"/>
              <a:ea typeface="Verdana"/>
              <a:cs typeface="Verdana"/>
              <a:sym typeface="Verdana"/>
            </a:endParaRPr>
          </a:p>
        </p:txBody>
      </p:sp>
      <p:pic>
        <p:nvPicPr>
          <p:cNvPr id="160" name="Google Shape;160;p4"/>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4587262" y="2030354"/>
            <a:ext cx="3273476" cy="2402400"/>
          </a:xfrm>
          <a:prstGeom prst="rect">
            <a:avLst/>
          </a:prstGeom>
          <a:noFill/>
          <a:ln>
            <a:noFill/>
          </a:ln>
        </p:spPr>
      </p:pic>
      <p:sp>
        <p:nvSpPr>
          <p:cNvPr id="10"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pic>
        <p:nvPicPr>
          <p:cNvPr id="3" name="Picture 2">
            <a:extLst>
              <a:ext uri="{FF2B5EF4-FFF2-40B4-BE49-F238E27FC236}">
                <a16:creationId xmlns:a16="http://schemas.microsoft.com/office/drawing/2014/main" id="{3CD8E532-DC22-DB31-7699-6B7236666CCE}"/>
              </a:ext>
            </a:extLst>
          </p:cNvPr>
          <p:cNvPicPr>
            <a:picLocks noChangeAspect="1"/>
          </p:cNvPicPr>
          <p:nvPr/>
        </p:nvPicPr>
        <p:blipFill>
          <a:blip r:embed="rId6"/>
          <a:stretch>
            <a:fillRect/>
          </a:stretch>
        </p:blipFill>
        <p:spPr>
          <a:xfrm>
            <a:off x="8826089" y="396078"/>
            <a:ext cx="2245061" cy="21805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5"/>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9" name="Google Shape;169;p5"/>
          <p:cNvSpPr txBox="1"/>
          <p:nvPr/>
        </p:nvSpPr>
        <p:spPr>
          <a:xfrm>
            <a:off x="1473200" y="599052"/>
            <a:ext cx="10062464" cy="5478382"/>
          </a:xfrm>
          <a:prstGeom prst="rect">
            <a:avLst/>
          </a:prstGeom>
          <a:noFill/>
          <a:ln>
            <a:noFill/>
          </a:ln>
        </p:spPr>
        <p:txBody>
          <a:bodyPr spcFirstLastPara="1" wrap="square" lIns="91425" tIns="45700" rIns="91425" bIns="45700" anchor="t" anchorCtr="0">
            <a:spAutoFit/>
          </a:bodyPr>
          <a:lstStyle/>
          <a:p>
            <a:pPr marL="401638" indent="-401638">
              <a:defRPr/>
            </a:pPr>
            <a:r>
              <a:rPr lang="en-US" sz="2500" dirty="0">
                <a:latin typeface="Verdana"/>
                <a:ea typeface="Verdana"/>
                <a:cs typeface="Verdana"/>
                <a:sym typeface="Verdana"/>
              </a:rPr>
              <a:t>2. Ask two classmates the value they estimated. Record their value and write your summary of their reason. You are the only person who should write in the first two columns of the table. Have the person initial next to your summary stating that your summary is correct.</a:t>
            </a:r>
          </a:p>
          <a:p>
            <a:pPr>
              <a:defRPr/>
            </a:pPr>
            <a:endParaRPr lang="en-US" sz="2500" dirty="0">
              <a:latin typeface="Verdana"/>
              <a:ea typeface="Verdana"/>
              <a:cs typeface="Verdana"/>
              <a:sym typeface="Verdana"/>
            </a:endParaRPr>
          </a:p>
          <a:p>
            <a:pPr>
              <a:defRPr/>
            </a:pPr>
            <a:endParaRPr lang="en-US" sz="2500" dirty="0">
              <a:latin typeface="Verdana"/>
              <a:ea typeface="Verdana"/>
              <a:cs typeface="Verdana"/>
              <a:sym typeface="Verdana"/>
            </a:endParaRPr>
          </a:p>
          <a:p>
            <a:pPr>
              <a:defRPr/>
            </a:pPr>
            <a:endParaRPr lang="en-US" sz="2500" dirty="0">
              <a:latin typeface="Verdana"/>
              <a:ea typeface="Verdana"/>
              <a:cs typeface="Verdana"/>
              <a:sym typeface="Verdana"/>
            </a:endParaRPr>
          </a:p>
          <a:p>
            <a:pPr>
              <a:defRPr/>
            </a:pPr>
            <a:endParaRPr lang="en-US" sz="2500" dirty="0">
              <a:latin typeface="Verdana"/>
              <a:ea typeface="Verdana"/>
              <a:cs typeface="Verdana"/>
              <a:sym typeface="Verdana"/>
            </a:endParaRPr>
          </a:p>
          <a:p>
            <a:pPr>
              <a:defRPr/>
            </a:pPr>
            <a:endParaRPr lang="en-US" sz="2500" dirty="0">
              <a:latin typeface="Verdana"/>
              <a:ea typeface="Verdana"/>
              <a:cs typeface="Verdana"/>
              <a:sym typeface="Verdana"/>
            </a:endParaRPr>
          </a:p>
          <a:p>
            <a:pPr>
              <a:defRPr/>
            </a:pPr>
            <a:endParaRPr lang="en-US" sz="2500" dirty="0">
              <a:latin typeface="Verdana"/>
              <a:ea typeface="Verdana"/>
              <a:cs typeface="Verdana"/>
              <a:sym typeface="Verdana"/>
            </a:endParaRPr>
          </a:p>
          <a:p>
            <a:pPr>
              <a:defRPr/>
            </a:pPr>
            <a:endParaRPr lang="en-US" sz="2500" dirty="0">
              <a:latin typeface="Verdana"/>
              <a:ea typeface="Verdana"/>
              <a:cs typeface="Verdana"/>
              <a:sym typeface="Verdana"/>
            </a:endParaRPr>
          </a:p>
          <a:p>
            <a:pPr>
              <a:defRPr/>
            </a:pPr>
            <a:endParaRPr lang="en-US" sz="2500" dirty="0">
              <a:latin typeface="Verdana"/>
              <a:ea typeface="Verdana"/>
              <a:cs typeface="Verdana"/>
              <a:sym typeface="Verdana"/>
            </a:endParaRPr>
          </a:p>
          <a:p>
            <a:pPr>
              <a:defRPr/>
            </a:pPr>
            <a:r>
              <a:rPr lang="en-US" sz="2500" dirty="0">
                <a:latin typeface="Verdana"/>
                <a:ea typeface="Verdana"/>
                <a:cs typeface="Verdana"/>
                <a:sym typeface="Verdana"/>
              </a:rPr>
              <a:t> 3. How close was your estimate to the actual number?</a:t>
            </a:r>
          </a:p>
        </p:txBody>
      </p:sp>
      <p:pic>
        <p:nvPicPr>
          <p:cNvPr id="3" name="Picture 2" descr="Text&#10;&#10;Description automatically generated with low confidence">
            <a:extLst>
              <a:ext uri="{FF2B5EF4-FFF2-40B4-BE49-F238E27FC236}">
                <a16:creationId xmlns:a16="http://schemas.microsoft.com/office/drawing/2014/main" id="{973A9306-9CBE-4DC6-9765-B32EE2BF593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48116" y="2999669"/>
            <a:ext cx="6695768" cy="2315203"/>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9"/>
          <p:cNvSpPr/>
          <p:nvPr/>
        </p:nvSpPr>
        <p:spPr>
          <a:xfrm>
            <a:off x="0" y="-405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07" name="Google Shape;20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09" name="Google Shape;20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0"/>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17" name="Google Shape;217;p10"/>
          <p:cNvSpPr txBox="1"/>
          <p:nvPr/>
        </p:nvSpPr>
        <p:spPr>
          <a:xfrm>
            <a:off x="1403627"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4.1.2 Exploration: The Coordinate Plane</a:t>
            </a:r>
            <a:endParaRPr dirty="0"/>
          </a:p>
        </p:txBody>
      </p:sp>
      <p:pic>
        <p:nvPicPr>
          <p:cNvPr id="219" name="Google Shape;219;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7329" y="308450"/>
            <a:ext cx="752254" cy="752254"/>
          </a:xfrm>
          <a:prstGeom prst="rect">
            <a:avLst/>
          </a:prstGeom>
          <a:noFill/>
          <a:ln>
            <a:noFill/>
          </a:ln>
          <a:effectLst>
            <a:outerShdw blurRad="50800" dist="38100" dir="2700000" algn="tl" rotWithShape="0">
              <a:srgbClr val="000000">
                <a:alpha val="40000"/>
              </a:srgbClr>
            </a:outerShdw>
          </a:effectLst>
        </p:spPr>
      </p:pic>
      <p:sp>
        <p:nvSpPr>
          <p:cNvPr id="220" name="Google Shape;220;p10"/>
          <p:cNvSpPr txBox="1"/>
          <p:nvPr/>
        </p:nvSpPr>
        <p:spPr>
          <a:xfrm>
            <a:off x="1399583" y="1386025"/>
            <a:ext cx="9648866" cy="5170606"/>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200" dirty="0">
                <a:solidFill>
                  <a:schemeClr val="tx1"/>
                </a:solidFill>
                <a:latin typeface="Verdana" panose="020B0604030504040204" pitchFamily="34" charset="0"/>
                <a:ea typeface="Verdana" panose="020B0604030504040204" pitchFamily="34" charset="0"/>
              </a:rPr>
              <a:t>This graph shows a point that is plotted on a coordinate plane.</a:t>
            </a: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pPr marL="457200" indent="-457200">
              <a:buAutoNum type="arabicPeriod"/>
            </a:pPr>
            <a:endParaRPr lang="en-US" sz="2200" dirty="0">
              <a:solidFill>
                <a:schemeClr val="tx1"/>
              </a:solidFill>
              <a:latin typeface="Verdana" panose="020B0604030504040204" pitchFamily="34" charset="0"/>
              <a:ea typeface="Verdana" panose="020B0604030504040204" pitchFamily="34" charset="0"/>
            </a:endParaRPr>
          </a:p>
          <a:p>
            <a:r>
              <a:rPr lang="en-US" sz="2200" dirty="0">
                <a:solidFill>
                  <a:schemeClr val="tx1"/>
                </a:solidFill>
                <a:latin typeface="Verdana" panose="020B0604030504040204" pitchFamily="34" charset="0"/>
                <a:ea typeface="Verdana" panose="020B0604030504040204" pitchFamily="34" charset="0"/>
              </a:rPr>
              <a:t>The two numbers are called the coordinates. The two</a:t>
            </a:r>
          </a:p>
          <a:p>
            <a:r>
              <a:rPr lang="en-US" sz="2200" dirty="0">
                <a:solidFill>
                  <a:schemeClr val="tx1"/>
                </a:solidFill>
                <a:latin typeface="Verdana" panose="020B0604030504040204" pitchFamily="34" charset="0"/>
                <a:ea typeface="Verdana" panose="020B0604030504040204" pitchFamily="34" charset="0"/>
              </a:rPr>
              <a:t>numbers are also known as an ordered pair, (𝑥,𝑦).</a:t>
            </a:r>
            <a:endParaRPr sz="2200" dirty="0">
              <a:solidFill>
                <a:schemeClr val="tx1"/>
              </a:solidFill>
              <a:latin typeface="Verdana" panose="020B0604030504040204" pitchFamily="34" charset="0"/>
              <a:ea typeface="Verdana" panose="020B0604030504040204" pitchFamily="34" charset="0"/>
            </a:endParaRPr>
          </a:p>
        </p:txBody>
      </p:sp>
      <p:pic>
        <p:nvPicPr>
          <p:cNvPr id="3" name="Picture 2" descr="Chart, scatter chart&#10;&#10;Description automatically generated">
            <a:extLst>
              <a:ext uri="{FF2B5EF4-FFF2-40B4-BE49-F238E27FC236}">
                <a16:creationId xmlns:a16="http://schemas.microsoft.com/office/drawing/2014/main" id="{18B59A8A-72BE-49CC-A01A-EE0A704F4CD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97456" y="2163244"/>
            <a:ext cx="4148465" cy="3525030"/>
          </a:xfrm>
          <a:prstGeom prst="rect">
            <a:avLst/>
          </a:prstGeom>
        </p:spPr>
      </p:pic>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132</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9" name="Google Shape;199;p8"/>
          <p:cNvSpPr txBox="1"/>
          <p:nvPr/>
        </p:nvSpPr>
        <p:spPr>
          <a:xfrm>
            <a:off x="889000" y="189082"/>
            <a:ext cx="10138388" cy="5863103"/>
          </a:xfrm>
          <a:prstGeom prst="rect">
            <a:avLst/>
          </a:prstGeom>
          <a:noFill/>
          <a:ln>
            <a:noFill/>
          </a:ln>
        </p:spPr>
        <p:txBody>
          <a:bodyPr spcFirstLastPara="1" wrap="square" lIns="91425" tIns="45700" rIns="91425" bIns="45700" anchor="t" anchorCtr="0">
            <a:spAutoFit/>
          </a:bodyPr>
          <a:lstStyle/>
          <a:p>
            <a:pPr marL="457200" indent="-457200">
              <a:buAutoNum type="alphaLcPeriod"/>
            </a:pPr>
            <a:r>
              <a:rPr lang="en-US" sz="2200" dirty="0">
                <a:solidFill>
                  <a:schemeClr val="tx1"/>
                </a:solidFill>
                <a:latin typeface="Verdana" panose="020B0604030504040204" pitchFamily="34" charset="0"/>
                <a:ea typeface="Verdana" panose="020B0604030504040204" pitchFamily="34" charset="0"/>
              </a:rPr>
              <a:t>Discuss with your partner which coordinate will change if the point is dragged from left to right.</a:t>
            </a:r>
          </a:p>
          <a:p>
            <a:pPr marL="457200" indent="-457200">
              <a:buAutoNum type="alphaLcPeriod"/>
            </a:pPr>
            <a:r>
              <a:rPr lang="en-US" sz="2200" dirty="0">
                <a:solidFill>
                  <a:schemeClr val="tx1"/>
                </a:solidFill>
                <a:latin typeface="Verdana" panose="020B0604030504040204" pitchFamily="34" charset="0"/>
                <a:ea typeface="Verdana" panose="020B0604030504040204" pitchFamily="34" charset="0"/>
              </a:rPr>
              <a:t>Discuss with your partner which coordinate will change if the point is dragged up or down.</a:t>
            </a:r>
          </a:p>
          <a:p>
            <a:pPr marL="465138" indent="-465138">
              <a:buAutoNum type="alphaLcPeriod"/>
            </a:pPr>
            <a:r>
              <a:rPr lang="en-US" sz="2200" dirty="0">
                <a:solidFill>
                  <a:schemeClr val="tx1"/>
                </a:solidFill>
                <a:latin typeface="Verdana" panose="020B0604030504040204" pitchFamily="34" charset="0"/>
                <a:ea typeface="Verdana" panose="020B0604030504040204" pitchFamily="34" charset="0"/>
              </a:rPr>
              <a:t>If the point (4,3) could be dragged around on the</a:t>
            </a:r>
          </a:p>
          <a:p>
            <a:pPr marL="465138"/>
            <a:r>
              <a:rPr lang="en-US" sz="2200" dirty="0">
                <a:solidFill>
                  <a:schemeClr val="tx1"/>
                </a:solidFill>
                <a:latin typeface="Verdana" panose="020B0604030504040204" pitchFamily="34" charset="0"/>
                <a:ea typeface="Verdana" panose="020B0604030504040204" pitchFamily="34" charset="0"/>
              </a:rPr>
              <a:t>coordinate grid, what changes would you expect to</a:t>
            </a:r>
          </a:p>
          <a:p>
            <a:pPr marL="465138"/>
            <a:r>
              <a:rPr lang="en-US" sz="2200" dirty="0">
                <a:solidFill>
                  <a:schemeClr val="tx1"/>
                </a:solidFill>
                <a:latin typeface="Verdana" panose="020B0604030504040204" pitchFamily="34" charset="0"/>
                <a:ea typeface="Verdana" panose="020B0604030504040204" pitchFamily="34" charset="0"/>
              </a:rPr>
              <a:t>see in the ordered pair? Select all that apply.</a:t>
            </a:r>
          </a:p>
          <a:p>
            <a:r>
              <a:rPr lang="en-US" sz="2100" dirty="0">
                <a:solidFill>
                  <a:schemeClr val="tx1"/>
                </a:solidFill>
                <a:latin typeface="Verdana" panose="020B0604030504040204" pitchFamily="34" charset="0"/>
                <a:ea typeface="Verdana" panose="020B0604030504040204" pitchFamily="34" charset="0"/>
              </a:rPr>
              <a:t>	</a:t>
            </a:r>
            <a:r>
              <a:rPr lang="en-US" sz="2000" dirty="0">
                <a:solidFill>
                  <a:schemeClr val="tx1"/>
                </a:solidFill>
                <a:latin typeface="Verdana" panose="020B0604030504040204" pitchFamily="34" charset="0"/>
                <a:ea typeface="Verdana" panose="020B0604030504040204" pitchFamily="34" charset="0"/>
              </a:rPr>
              <a:t> The 𝑥-coordinate becomes smaller when the</a:t>
            </a:r>
          </a:p>
          <a:p>
            <a:r>
              <a:rPr lang="en-US" sz="2000" dirty="0">
                <a:solidFill>
                  <a:schemeClr val="tx1"/>
                </a:solidFill>
                <a:latin typeface="Verdana" panose="020B0604030504040204" pitchFamily="34" charset="0"/>
                <a:ea typeface="Verdana" panose="020B0604030504040204" pitchFamily="34" charset="0"/>
              </a:rPr>
              <a:t>	point is moved to the left.</a:t>
            </a:r>
          </a:p>
          <a:p>
            <a:r>
              <a:rPr lang="en-US" sz="2000" dirty="0">
                <a:solidFill>
                  <a:schemeClr val="tx1"/>
                </a:solidFill>
                <a:latin typeface="Verdana" panose="020B0604030504040204" pitchFamily="34" charset="0"/>
                <a:ea typeface="Verdana" panose="020B0604030504040204" pitchFamily="34" charset="0"/>
              </a:rPr>
              <a:t>	 The 𝑥-coordinate becomes larger when the</a:t>
            </a:r>
          </a:p>
          <a:p>
            <a:r>
              <a:rPr lang="en-US" sz="2000" dirty="0">
                <a:solidFill>
                  <a:schemeClr val="tx1"/>
                </a:solidFill>
                <a:latin typeface="Verdana" panose="020B0604030504040204" pitchFamily="34" charset="0"/>
                <a:ea typeface="Verdana" panose="020B0604030504040204" pitchFamily="34" charset="0"/>
              </a:rPr>
              <a:t>	point is moved to the left.</a:t>
            </a:r>
          </a:p>
          <a:p>
            <a:r>
              <a:rPr lang="en-US" sz="2000" dirty="0">
                <a:solidFill>
                  <a:schemeClr val="tx1"/>
                </a:solidFill>
                <a:latin typeface="Verdana" panose="020B0604030504040204" pitchFamily="34" charset="0"/>
                <a:ea typeface="Verdana" panose="020B0604030504040204" pitchFamily="34" charset="0"/>
              </a:rPr>
              <a:t>	 The 𝑥-coordinate stays the same when the point</a:t>
            </a:r>
          </a:p>
          <a:p>
            <a:r>
              <a:rPr lang="en-US" sz="2000" dirty="0">
                <a:solidFill>
                  <a:schemeClr val="tx1"/>
                </a:solidFill>
                <a:latin typeface="Verdana" panose="020B0604030504040204" pitchFamily="34" charset="0"/>
                <a:ea typeface="Verdana" panose="020B0604030504040204" pitchFamily="34" charset="0"/>
              </a:rPr>
              <a:t>	is moved to the left.</a:t>
            </a:r>
          </a:p>
          <a:p>
            <a:r>
              <a:rPr lang="en-US" sz="2000" dirty="0">
                <a:solidFill>
                  <a:schemeClr val="tx1"/>
                </a:solidFill>
                <a:latin typeface="Verdana" panose="020B0604030504040204" pitchFamily="34" charset="0"/>
                <a:ea typeface="Verdana" panose="020B0604030504040204" pitchFamily="34" charset="0"/>
              </a:rPr>
              <a:t>	 The 𝑦-coordinate becomes smaller when the</a:t>
            </a:r>
          </a:p>
          <a:p>
            <a:r>
              <a:rPr lang="en-US" sz="2000" dirty="0">
                <a:solidFill>
                  <a:schemeClr val="tx1"/>
                </a:solidFill>
                <a:latin typeface="Verdana" panose="020B0604030504040204" pitchFamily="34" charset="0"/>
                <a:ea typeface="Verdana" panose="020B0604030504040204" pitchFamily="34" charset="0"/>
              </a:rPr>
              <a:t>	point is moved up.</a:t>
            </a:r>
          </a:p>
          <a:p>
            <a:r>
              <a:rPr lang="en-US" sz="2000" dirty="0">
                <a:solidFill>
                  <a:schemeClr val="tx1"/>
                </a:solidFill>
                <a:latin typeface="Verdana" panose="020B0604030504040204" pitchFamily="34" charset="0"/>
                <a:ea typeface="Verdana" panose="020B0604030504040204" pitchFamily="34" charset="0"/>
              </a:rPr>
              <a:t>	 The 𝑦-coordinate becomes smaller when the</a:t>
            </a:r>
          </a:p>
          <a:p>
            <a:r>
              <a:rPr lang="en-US" sz="2000" dirty="0">
                <a:solidFill>
                  <a:schemeClr val="tx1"/>
                </a:solidFill>
                <a:latin typeface="Verdana" panose="020B0604030504040204" pitchFamily="34" charset="0"/>
                <a:ea typeface="Verdana" panose="020B0604030504040204" pitchFamily="34" charset="0"/>
              </a:rPr>
              <a:t>	point is moved down.</a:t>
            </a:r>
          </a:p>
          <a:p>
            <a:r>
              <a:rPr lang="en-US" sz="2000" dirty="0">
                <a:solidFill>
                  <a:schemeClr val="tx1"/>
                </a:solidFill>
                <a:latin typeface="Verdana" panose="020B0604030504040204" pitchFamily="34" charset="0"/>
                <a:ea typeface="Verdana" panose="020B0604030504040204" pitchFamily="34" charset="0"/>
              </a:rPr>
              <a:t>	 The 𝑦-coordinate stays the same when the point is moved up.</a:t>
            </a:r>
            <a:endParaRPr sz="2000" dirty="0">
              <a:solidFill>
                <a:schemeClr val="tx1"/>
              </a:solidFill>
              <a:latin typeface="Verdana" panose="020B0604030504040204" pitchFamily="34" charset="0"/>
              <a:ea typeface="Verdana" panose="020B0604030504040204" pitchFamily="34" charset="0"/>
            </a:endParaRPr>
          </a:p>
        </p:txBody>
      </p:sp>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9" name="Google Shape;199;p8"/>
          <p:cNvSpPr txBox="1"/>
          <p:nvPr/>
        </p:nvSpPr>
        <p:spPr>
          <a:xfrm>
            <a:off x="2007765" y="410665"/>
            <a:ext cx="8327136" cy="6109324"/>
          </a:xfrm>
          <a:prstGeom prst="rect">
            <a:avLst/>
          </a:prstGeom>
          <a:noFill/>
          <a:ln>
            <a:noFill/>
          </a:ln>
        </p:spPr>
        <p:txBody>
          <a:bodyPr spcFirstLastPara="1" wrap="square" lIns="91425" tIns="45700" rIns="91425" bIns="45700" anchor="t" anchorCtr="0">
            <a:spAutoFit/>
          </a:bodyPr>
          <a:lstStyle/>
          <a:p>
            <a:r>
              <a:rPr lang="en-US" sz="2100" dirty="0">
                <a:solidFill>
                  <a:schemeClr val="tx1"/>
                </a:solidFill>
                <a:latin typeface="Verdana" panose="020B0604030504040204" pitchFamily="34" charset="0"/>
                <a:ea typeface="Verdana" panose="020B0604030504040204" pitchFamily="34" charset="0"/>
              </a:rPr>
              <a:t>2</a:t>
            </a:r>
            <a:r>
              <a:rPr lang="en-US" sz="2300" dirty="0">
                <a:solidFill>
                  <a:schemeClr val="tx1"/>
                </a:solidFill>
                <a:latin typeface="Verdana" panose="020B0604030504040204" pitchFamily="34" charset="0"/>
                <a:ea typeface="Verdana" panose="020B0604030504040204" pitchFamily="34" charset="0"/>
              </a:rPr>
              <a:t>. Four points are plotted on the coordinate grid.</a:t>
            </a: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endParaRPr lang="en-US" sz="2300" dirty="0">
              <a:solidFill>
                <a:schemeClr val="tx1"/>
              </a:solidFill>
              <a:latin typeface="Verdana" panose="020B0604030504040204" pitchFamily="34" charset="0"/>
              <a:ea typeface="Verdana" panose="020B0604030504040204" pitchFamily="34" charset="0"/>
            </a:endParaRPr>
          </a:p>
          <a:p>
            <a:pPr marL="457200" indent="-457200">
              <a:buAutoNum type="alphaLcPeriod"/>
            </a:pPr>
            <a:r>
              <a:rPr lang="en-US" sz="2300" dirty="0">
                <a:solidFill>
                  <a:schemeClr val="tx1"/>
                </a:solidFill>
                <a:latin typeface="Verdana" panose="020B0604030504040204" pitchFamily="34" charset="0"/>
                <a:ea typeface="Verdana" panose="020B0604030504040204" pitchFamily="34" charset="0"/>
              </a:rPr>
              <a:t>What do you notice about all four points?</a:t>
            </a:r>
          </a:p>
          <a:p>
            <a:pPr marL="457200" indent="-457200">
              <a:buAutoNum type="alphaLcPeriod"/>
            </a:pPr>
            <a:r>
              <a:rPr lang="en-US" sz="2300" dirty="0">
                <a:solidFill>
                  <a:schemeClr val="tx1"/>
                </a:solidFill>
                <a:latin typeface="Verdana" panose="020B0604030504040204" pitchFamily="34" charset="0"/>
                <a:ea typeface="Verdana" panose="020B0604030504040204" pitchFamily="34" charset="0"/>
              </a:rPr>
              <a:t>What is the same about the points?</a:t>
            </a:r>
          </a:p>
          <a:p>
            <a:pPr marL="457200" indent="-457200">
              <a:buAutoNum type="alphaLcPeriod"/>
            </a:pPr>
            <a:r>
              <a:rPr lang="en-US" sz="2300" dirty="0">
                <a:solidFill>
                  <a:schemeClr val="tx1"/>
                </a:solidFill>
                <a:latin typeface="Verdana" panose="020B0604030504040204" pitchFamily="34" charset="0"/>
                <a:ea typeface="Verdana" panose="020B0604030504040204" pitchFamily="34" charset="0"/>
              </a:rPr>
              <a:t>What is different about the points?</a:t>
            </a:r>
          </a:p>
          <a:p>
            <a:pPr marL="457200" indent="-457200">
              <a:buAutoNum type="alphaLcPeriod"/>
            </a:pPr>
            <a:r>
              <a:rPr lang="en-US" sz="2300" dirty="0">
                <a:solidFill>
                  <a:schemeClr val="tx1"/>
                </a:solidFill>
                <a:latin typeface="Verdana" panose="020B0604030504040204" pitchFamily="34" charset="0"/>
                <a:ea typeface="Verdana" panose="020B0604030504040204" pitchFamily="34" charset="0"/>
              </a:rPr>
              <a:t>Discuss with your partner what is true about all the</a:t>
            </a:r>
          </a:p>
          <a:p>
            <a:pPr indent="465138"/>
            <a:r>
              <a:rPr lang="en-US" sz="2300" dirty="0">
                <a:solidFill>
                  <a:schemeClr val="tx1"/>
                </a:solidFill>
                <a:latin typeface="Verdana" panose="020B0604030504040204" pitchFamily="34" charset="0"/>
                <a:ea typeface="Verdana" panose="020B0604030504040204" pitchFamily="34" charset="0"/>
              </a:rPr>
              <a:t>points on the 𝑥-axis.</a:t>
            </a:r>
            <a:endParaRPr sz="2300" dirty="0">
              <a:solidFill>
                <a:schemeClr val="tx1"/>
              </a:solidFill>
              <a:latin typeface="Verdana" panose="020B0604030504040204" pitchFamily="34" charset="0"/>
              <a:ea typeface="Verdana" panose="020B0604030504040204" pitchFamily="34" charset="0"/>
            </a:endParaRPr>
          </a:p>
        </p:txBody>
      </p:sp>
      <p:pic>
        <p:nvPicPr>
          <p:cNvPr id="3" name="Picture 2" descr="Chart, scatter chart&#10;&#10;Description automatically generated">
            <a:extLst>
              <a:ext uri="{FF2B5EF4-FFF2-40B4-BE49-F238E27FC236}">
                <a16:creationId xmlns:a16="http://schemas.microsoft.com/office/drawing/2014/main" id="{37D45CB7-8DF5-4E63-B842-512286847350}"/>
              </a:ext>
            </a:extLst>
          </p:cNvPr>
          <p:cNvPicPr>
            <a:picLocks noChangeAspect="1"/>
          </p:cNvPicPr>
          <p:nvPr/>
        </p:nvPicPr>
        <p:blipFill>
          <a:blip r:embed="rId3"/>
          <a:stretch>
            <a:fillRect/>
          </a:stretch>
        </p:blipFill>
        <p:spPr>
          <a:xfrm>
            <a:off x="4020544" y="1006641"/>
            <a:ext cx="4613396" cy="3535862"/>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46301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9" name="Google Shape;199;p8"/>
          <p:cNvSpPr txBox="1"/>
          <p:nvPr/>
        </p:nvSpPr>
        <p:spPr>
          <a:xfrm>
            <a:off x="1371600" y="410666"/>
            <a:ext cx="9599466" cy="5893881"/>
          </a:xfrm>
          <a:prstGeom prst="rect">
            <a:avLst/>
          </a:prstGeom>
          <a:noFill/>
          <a:ln>
            <a:noFill/>
          </a:ln>
        </p:spPr>
        <p:txBody>
          <a:bodyPr spcFirstLastPara="1" wrap="square" lIns="91425" tIns="45700" rIns="91425" bIns="45700" anchor="t" anchorCtr="0">
            <a:spAutoFit/>
          </a:bodyPr>
          <a:lstStyle/>
          <a:p>
            <a:r>
              <a:rPr lang="en-US" sz="2500" dirty="0">
                <a:solidFill>
                  <a:schemeClr val="tx1"/>
                </a:solidFill>
                <a:latin typeface="Verdana" panose="020B0604030504040204" pitchFamily="34" charset="0"/>
                <a:ea typeface="Verdana" panose="020B0604030504040204" pitchFamily="34" charset="0"/>
              </a:rPr>
              <a:t>3. Four points are plotted on the coordinate grid.</a:t>
            </a: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pPr marL="465138">
              <a:buAutoNum type="alphaLcPeriod"/>
            </a:pPr>
            <a:r>
              <a:rPr lang="en-US" sz="2300" dirty="0">
                <a:solidFill>
                  <a:schemeClr val="tx1"/>
                </a:solidFill>
                <a:latin typeface="Verdana" panose="020B0604030504040204" pitchFamily="34" charset="0"/>
                <a:ea typeface="Verdana" panose="020B0604030504040204" pitchFamily="34" charset="0"/>
              </a:rPr>
              <a:t> What is the same about the points?</a:t>
            </a:r>
          </a:p>
          <a:p>
            <a:pPr marL="465138"/>
            <a:endParaRPr lang="en-US" sz="2300" dirty="0">
              <a:solidFill>
                <a:schemeClr val="tx1"/>
              </a:solidFill>
              <a:latin typeface="Verdana" panose="020B0604030504040204" pitchFamily="34" charset="0"/>
              <a:ea typeface="Verdana" panose="020B0604030504040204" pitchFamily="34" charset="0"/>
            </a:endParaRPr>
          </a:p>
          <a:p>
            <a:pPr marL="465138"/>
            <a:endParaRPr lang="en-US" sz="2300" dirty="0">
              <a:solidFill>
                <a:schemeClr val="tx1"/>
              </a:solidFill>
              <a:latin typeface="Verdana" panose="020B0604030504040204" pitchFamily="34" charset="0"/>
              <a:ea typeface="Verdana" panose="020B0604030504040204" pitchFamily="34" charset="0"/>
            </a:endParaRPr>
          </a:p>
          <a:p>
            <a:pPr marL="465138"/>
            <a:r>
              <a:rPr lang="en-US" sz="2300" dirty="0">
                <a:solidFill>
                  <a:schemeClr val="tx1"/>
                </a:solidFill>
                <a:latin typeface="Verdana" panose="020B0604030504040204" pitchFamily="34" charset="0"/>
                <a:ea typeface="Verdana" panose="020B0604030504040204" pitchFamily="34" charset="0"/>
              </a:rPr>
              <a:t>b. What is different about the points?</a:t>
            </a:r>
            <a:endParaRPr sz="2300" dirty="0">
              <a:solidFill>
                <a:schemeClr val="tx1"/>
              </a:solidFill>
              <a:latin typeface="Verdana" panose="020B0604030504040204" pitchFamily="34" charset="0"/>
              <a:ea typeface="Verdana" panose="020B0604030504040204" pitchFamily="34" charset="0"/>
            </a:endParaRPr>
          </a:p>
        </p:txBody>
      </p:sp>
      <p:pic>
        <p:nvPicPr>
          <p:cNvPr id="3" name="Picture 2" descr="Chart&#10;&#10;Description automatically generated">
            <a:extLst>
              <a:ext uri="{FF2B5EF4-FFF2-40B4-BE49-F238E27FC236}">
                <a16:creationId xmlns:a16="http://schemas.microsoft.com/office/drawing/2014/main" id="{EE627094-D646-456D-9790-EA66FA63847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38515" y="1007017"/>
            <a:ext cx="4466347" cy="3499825"/>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531104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9" name="Google Shape;199;p8"/>
          <p:cNvSpPr txBox="1"/>
          <p:nvPr/>
        </p:nvSpPr>
        <p:spPr>
          <a:xfrm>
            <a:off x="1295400" y="410665"/>
            <a:ext cx="9751866" cy="3785611"/>
          </a:xfrm>
          <a:prstGeom prst="rect">
            <a:avLst/>
          </a:prstGeom>
          <a:noFill/>
          <a:ln>
            <a:noFill/>
          </a:ln>
        </p:spPr>
        <p:txBody>
          <a:bodyPr spcFirstLastPara="1" wrap="square" lIns="91425" tIns="45700" rIns="91425" bIns="45700" anchor="t" anchorCtr="0">
            <a:spAutoFit/>
          </a:bodyPr>
          <a:lstStyle/>
          <a:p>
            <a:pPr marL="350838" indent="-350838"/>
            <a:r>
              <a:rPr lang="en-US" sz="2000" dirty="0">
                <a:solidFill>
                  <a:schemeClr val="tx1"/>
                </a:solidFill>
                <a:latin typeface="Verdana" panose="020B0604030504040204" pitchFamily="34" charset="0"/>
                <a:ea typeface="Verdana" panose="020B0604030504040204" pitchFamily="34" charset="0"/>
              </a:rPr>
              <a:t>4. Twelve points are plotted on the coordinate grid. The grid shows the labels Quadrant I, Quadrant II, Quadrant III, and Quadrant IV.</a:t>
            </a: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a:p>
            <a:endParaRPr lang="en-US" sz="2000" dirty="0">
              <a:solidFill>
                <a:schemeClr val="tx1"/>
              </a:solidFill>
              <a:latin typeface="Verdana" panose="020B0604030504040204" pitchFamily="34" charset="0"/>
              <a:ea typeface="Verdana" panose="020B0604030504040204" pitchFamily="34" charset="0"/>
            </a:endParaRPr>
          </a:p>
        </p:txBody>
      </p:sp>
      <p:pic>
        <p:nvPicPr>
          <p:cNvPr id="4" name="Picture 3" descr="A picture containing chart&#10;&#10;Description automatically generated">
            <a:extLst>
              <a:ext uri="{FF2B5EF4-FFF2-40B4-BE49-F238E27FC236}">
                <a16:creationId xmlns:a16="http://schemas.microsoft.com/office/drawing/2014/main" id="{F82E8C10-FB20-430D-A7D7-59386C348353}"/>
              </a:ext>
            </a:extLst>
          </p:cNvPr>
          <p:cNvPicPr>
            <a:picLocks noChangeAspect="1"/>
          </p:cNvPicPr>
          <p:nvPr/>
        </p:nvPicPr>
        <p:blipFill>
          <a:blip r:embed="rId3"/>
          <a:stretch>
            <a:fillRect/>
          </a:stretch>
        </p:blipFill>
        <p:spPr>
          <a:xfrm>
            <a:off x="2649998" y="1505562"/>
            <a:ext cx="6892004" cy="5023676"/>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408924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8"/>
          <p:cNvSpPr/>
          <p:nvPr/>
        </p:nvSpPr>
        <p:spPr>
          <a:xfrm>
            <a:off x="0" y="-1203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9" name="Google Shape;199;p8"/>
          <p:cNvSpPr txBox="1"/>
          <p:nvPr/>
        </p:nvSpPr>
        <p:spPr>
          <a:xfrm>
            <a:off x="1397000" y="410666"/>
            <a:ext cx="9548666" cy="1246455"/>
          </a:xfrm>
          <a:prstGeom prst="rect">
            <a:avLst/>
          </a:prstGeom>
          <a:noFill/>
          <a:ln>
            <a:noFill/>
          </a:ln>
        </p:spPr>
        <p:txBody>
          <a:bodyPr spcFirstLastPara="1" wrap="square" lIns="91425" tIns="45700" rIns="91425" bIns="45700" anchor="t" anchorCtr="0">
            <a:spAutoFit/>
          </a:bodyPr>
          <a:lstStyle/>
          <a:p>
            <a:r>
              <a:rPr lang="en-US" sz="2500" dirty="0">
                <a:solidFill>
                  <a:schemeClr val="tx1"/>
                </a:solidFill>
                <a:latin typeface="Verdana" panose="020B0604030504040204" pitchFamily="34" charset="0"/>
                <a:ea typeface="Verdana" panose="020B0604030504040204" pitchFamily="34" charset="0"/>
              </a:rPr>
              <a:t>Work with your partner to summarize the characteristics of the points in each quadrant. Write your summary in the table.</a:t>
            </a:r>
          </a:p>
        </p:txBody>
      </p:sp>
      <p:pic>
        <p:nvPicPr>
          <p:cNvPr id="6" name="Picture 5" descr="Table&#10;&#10;Description automatically generated">
            <a:extLst>
              <a:ext uri="{FF2B5EF4-FFF2-40B4-BE49-F238E27FC236}">
                <a16:creationId xmlns:a16="http://schemas.microsoft.com/office/drawing/2014/main" id="{1CB54BC3-D9AC-4324-8463-91CFEAB55EAF}"/>
              </a:ext>
            </a:extLst>
          </p:cNvPr>
          <p:cNvPicPr>
            <a:picLocks noChangeAspect="1"/>
          </p:cNvPicPr>
          <p:nvPr/>
        </p:nvPicPr>
        <p:blipFill>
          <a:blip r:embed="rId3"/>
          <a:stretch>
            <a:fillRect/>
          </a:stretch>
        </p:blipFill>
        <p:spPr>
          <a:xfrm>
            <a:off x="2042908" y="1901065"/>
            <a:ext cx="8106184" cy="4312667"/>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98140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7"/>
          <p:cNvSpPr/>
          <p:nvPr/>
        </p:nvSpPr>
        <p:spPr>
          <a:xfrm>
            <a:off x="0" y="-8101"/>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87" name="Google Shape;387;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389" name="Google Shape;389;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8"/>
          <p:cNvSpPr/>
          <p:nvPr/>
        </p:nvSpPr>
        <p:spPr>
          <a:xfrm>
            <a:off x="0" y="-12827"/>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97" name="Google Shape;397;p28"/>
          <p:cNvSpPr txBox="1"/>
          <p:nvPr/>
        </p:nvSpPr>
        <p:spPr>
          <a:xfrm>
            <a:off x="1393643"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000" b="1" dirty="0">
                <a:solidFill>
                  <a:srgbClr val="54B5D1"/>
                </a:solidFill>
                <a:latin typeface="Verdana"/>
                <a:ea typeface="Verdana"/>
                <a:cs typeface="Verdana"/>
                <a:sym typeface="Verdana"/>
              </a:rPr>
              <a:t>4.1.3 Bring It Together: Plotting Ordered Pairs </a:t>
            </a:r>
            <a:endParaRPr sz="4000" dirty="0"/>
          </a:p>
        </p:txBody>
      </p:sp>
      <p:sp>
        <p:nvSpPr>
          <p:cNvPr id="399" name="Google Shape;399;p28"/>
          <p:cNvSpPr txBox="1"/>
          <p:nvPr/>
        </p:nvSpPr>
        <p:spPr>
          <a:xfrm>
            <a:off x="1391729" y="1325700"/>
            <a:ext cx="9829742" cy="477013"/>
          </a:xfrm>
          <a:prstGeom prst="rect">
            <a:avLst/>
          </a:prstGeom>
          <a:noFill/>
          <a:ln>
            <a:noFill/>
          </a:ln>
        </p:spPr>
        <p:txBody>
          <a:bodyPr spcFirstLastPara="1" wrap="square" lIns="91425" tIns="45700" rIns="91425" bIns="45700" anchor="t" anchorCtr="0">
            <a:spAutoFit/>
          </a:bodyPr>
          <a:lstStyle/>
          <a:p>
            <a:r>
              <a:rPr lang="en-US" sz="2500" dirty="0">
                <a:latin typeface="Verdana" panose="020B0604030504040204" pitchFamily="34" charset="0"/>
                <a:ea typeface="Verdana" panose="020B0604030504040204" pitchFamily="34" charset="0"/>
              </a:rPr>
              <a:t>1. Points 𝐷, 𝑃, 𝑅, and 𝑊 are plotted on the coordinate grid.</a:t>
            </a:r>
            <a:endParaRPr lang="en-US" dirty="0"/>
          </a:p>
        </p:txBody>
      </p:sp>
      <p:pic>
        <p:nvPicPr>
          <p:cNvPr id="400" name="Google Shape;400;p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1921" y="227204"/>
            <a:ext cx="749808" cy="749808"/>
          </a:xfrm>
          <a:prstGeom prst="rect">
            <a:avLst/>
          </a:prstGeom>
          <a:noFill/>
          <a:ln>
            <a:noFill/>
          </a:ln>
          <a:effectLst>
            <a:outerShdw blurRad="50800" dist="38100" dir="2700000" algn="tl" rotWithShape="0">
              <a:srgbClr val="000000">
                <a:alpha val="40000"/>
              </a:srgbClr>
            </a:outerShdw>
          </a:effectLst>
        </p:spPr>
      </p:pic>
      <p:pic>
        <p:nvPicPr>
          <p:cNvPr id="3" name="Picture 2" descr="Chart, scatter chart&#10;&#10;Description automatically generated">
            <a:extLst>
              <a:ext uri="{FF2B5EF4-FFF2-40B4-BE49-F238E27FC236}">
                <a16:creationId xmlns:a16="http://schemas.microsoft.com/office/drawing/2014/main" id="{7E5F9385-2C4E-4100-88C1-8EA45F47D815}"/>
              </a:ext>
            </a:extLst>
          </p:cNvPr>
          <p:cNvPicPr>
            <a:picLocks noChangeAspect="1"/>
          </p:cNvPicPr>
          <p:nvPr/>
        </p:nvPicPr>
        <p:blipFill>
          <a:blip r:embed="rId4"/>
          <a:stretch>
            <a:fillRect/>
          </a:stretch>
        </p:blipFill>
        <p:spPr>
          <a:xfrm>
            <a:off x="3133775" y="2243290"/>
            <a:ext cx="5557942" cy="4261089"/>
          </a:xfrm>
          <a:prstGeom prst="rect">
            <a:avLst/>
          </a:prstGeom>
        </p:spPr>
      </p:pic>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134</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9"/>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09" name="Google Shape;409;p29"/>
          <p:cNvSpPr txBox="1"/>
          <p:nvPr/>
        </p:nvSpPr>
        <p:spPr>
          <a:xfrm>
            <a:off x="1932432" y="435050"/>
            <a:ext cx="8327136" cy="477013"/>
          </a:xfrm>
          <a:prstGeom prst="rect">
            <a:avLst/>
          </a:prstGeom>
          <a:noFill/>
          <a:ln>
            <a:noFill/>
          </a:ln>
        </p:spPr>
        <p:txBody>
          <a:bodyPr spcFirstLastPara="1" wrap="square" lIns="91425" tIns="45700" rIns="91425" bIns="45700" anchor="t" anchorCtr="0">
            <a:spAutoFit/>
          </a:bodyPr>
          <a:lstStyle/>
          <a:p>
            <a:r>
              <a:rPr lang="en-US" sz="2500" dirty="0">
                <a:latin typeface="Verdana" panose="020B0604030504040204" pitchFamily="34" charset="0"/>
                <a:ea typeface="Verdana" panose="020B0604030504040204" pitchFamily="34" charset="0"/>
              </a:rPr>
              <a:t>Select all of the descriptions of each point.</a:t>
            </a:r>
            <a:endParaRPr sz="2500" dirty="0">
              <a:latin typeface="Verdana" panose="020B0604030504040204" pitchFamily="34" charset="0"/>
              <a:ea typeface="Verdana" panose="020B0604030504040204" pitchFamily="34" charset="0"/>
            </a:endParaRPr>
          </a:p>
        </p:txBody>
      </p:sp>
      <p:pic>
        <p:nvPicPr>
          <p:cNvPr id="3" name="Picture 2" descr="A picture containing text, newspaper, receipt&#10;&#10;Description automatically generated">
            <a:extLst>
              <a:ext uri="{FF2B5EF4-FFF2-40B4-BE49-F238E27FC236}">
                <a16:creationId xmlns:a16="http://schemas.microsoft.com/office/drawing/2014/main" id="{F87A8BAA-1ADE-4A03-A2F2-ACD8E380E9E9}"/>
              </a:ext>
            </a:extLst>
          </p:cNvPr>
          <p:cNvPicPr>
            <a:picLocks noChangeAspect="1"/>
          </p:cNvPicPr>
          <p:nvPr/>
        </p:nvPicPr>
        <p:blipFill>
          <a:blip r:embed="rId3"/>
          <a:stretch>
            <a:fillRect/>
          </a:stretch>
        </p:blipFill>
        <p:spPr>
          <a:xfrm>
            <a:off x="2773742" y="1160644"/>
            <a:ext cx="6844821" cy="4791375"/>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9"/>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09" name="Google Shape;409;p29"/>
          <p:cNvSpPr txBox="1"/>
          <p:nvPr/>
        </p:nvSpPr>
        <p:spPr>
          <a:xfrm>
            <a:off x="1168400" y="216311"/>
            <a:ext cx="10247742" cy="861734"/>
          </a:xfrm>
          <a:prstGeom prst="rect">
            <a:avLst/>
          </a:prstGeom>
          <a:noFill/>
          <a:ln>
            <a:noFill/>
          </a:ln>
        </p:spPr>
        <p:txBody>
          <a:bodyPr spcFirstLastPara="1" wrap="square" lIns="91425" tIns="45700" rIns="91425" bIns="45700" anchor="t" anchorCtr="0">
            <a:spAutoFit/>
          </a:bodyPr>
          <a:lstStyle/>
          <a:p>
            <a:pPr marL="465138" indent="-465138"/>
            <a:r>
              <a:rPr lang="en-US" sz="2500" dirty="0">
                <a:latin typeface="Verdana" panose="020B0604030504040204" pitchFamily="34" charset="0"/>
                <a:ea typeface="Verdana" panose="020B0604030504040204" pitchFamily="34" charset="0"/>
              </a:rPr>
              <a:t>2. Use the coordinate grid to plot and label points that have the characteristics described in the table. </a:t>
            </a:r>
            <a:endParaRPr sz="2500" dirty="0">
              <a:latin typeface="Verdana" panose="020B0604030504040204" pitchFamily="34" charset="0"/>
              <a:ea typeface="Verdana" panose="020B0604030504040204" pitchFamily="34" charset="0"/>
            </a:endParaRPr>
          </a:p>
        </p:txBody>
      </p:sp>
      <p:pic>
        <p:nvPicPr>
          <p:cNvPr id="4" name="Picture 3" descr="Chart, line chart&#10;&#10;Description automatically generated">
            <a:extLst>
              <a:ext uri="{FF2B5EF4-FFF2-40B4-BE49-F238E27FC236}">
                <a16:creationId xmlns:a16="http://schemas.microsoft.com/office/drawing/2014/main" id="{CDA94B2A-EC6F-4AD4-98BB-9130957B6EF2}"/>
              </a:ext>
            </a:extLst>
          </p:cNvPr>
          <p:cNvPicPr>
            <a:picLocks noChangeAspect="1"/>
          </p:cNvPicPr>
          <p:nvPr/>
        </p:nvPicPr>
        <p:blipFill>
          <a:blip r:embed="rId3"/>
          <a:stretch>
            <a:fillRect/>
          </a:stretch>
        </p:blipFill>
        <p:spPr>
          <a:xfrm>
            <a:off x="3582475" y="1021747"/>
            <a:ext cx="4747679" cy="3439898"/>
          </a:xfrm>
          <a:prstGeom prst="rect">
            <a:avLst/>
          </a:prstGeom>
        </p:spPr>
      </p:pic>
      <p:pic>
        <p:nvPicPr>
          <p:cNvPr id="6" name="Picture 5" descr="Table&#10;&#10;Description automatically generated">
            <a:extLst>
              <a:ext uri="{FF2B5EF4-FFF2-40B4-BE49-F238E27FC236}">
                <a16:creationId xmlns:a16="http://schemas.microsoft.com/office/drawing/2014/main" id="{D6279B53-7875-492C-9BE0-D42DE65539A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804935" y="4530662"/>
            <a:ext cx="4525219" cy="2251728"/>
          </a:xfrm>
          <a:prstGeom prst="rect">
            <a:avLst/>
          </a:prstGeom>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198502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8"/>
          <p:cNvSpPr/>
          <p:nvPr/>
        </p:nvSpPr>
        <p:spPr>
          <a:xfrm>
            <a:off x="0" y="-8101"/>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97" name="Google Shape;29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298" name="Google Shape;29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9"/>
          <p:cNvSpPr/>
          <p:nvPr/>
        </p:nvSpPr>
        <p:spPr>
          <a:xfrm>
            <a:off x="4877"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07" name="Google Shape;307;p19"/>
          <p:cNvSpPr txBox="1"/>
          <p:nvPr/>
        </p:nvSpPr>
        <p:spPr>
          <a:xfrm>
            <a:off x="1351450" y="-76755"/>
            <a:ext cx="102436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4.1.4 Guided Instruction: Reflections</a:t>
            </a:r>
            <a:endParaRPr dirty="0"/>
          </a:p>
        </p:txBody>
      </p:sp>
      <p:pic>
        <p:nvPicPr>
          <p:cNvPr id="308" name="Google Shape;308;p19"/>
          <p:cNvPicPr preferRelativeResize="0"/>
          <p:nvPr/>
        </p:nvPicPr>
        <p:blipFill rotWithShape="1">
          <a:blip r:embed="rId3">
            <a:alphaModFix/>
          </a:blip>
          <a:srcRect/>
          <a:stretch/>
        </p:blipFill>
        <p:spPr>
          <a:xfrm>
            <a:off x="604150" y="130509"/>
            <a:ext cx="747300" cy="747300"/>
          </a:xfrm>
          <a:prstGeom prst="rect">
            <a:avLst/>
          </a:prstGeom>
          <a:noFill/>
          <a:ln>
            <a:noFill/>
          </a:ln>
          <a:effectLst>
            <a:outerShdw blurRad="50800" dist="38100" dir="2700000" algn="tl" rotWithShape="0">
              <a:srgbClr val="000000">
                <a:alpha val="40000"/>
              </a:srgbClr>
            </a:outerShdw>
          </a:effectLst>
        </p:spPr>
      </p:pic>
      <p:sp>
        <p:nvSpPr>
          <p:cNvPr id="310" name="Google Shape;310;p19"/>
          <p:cNvSpPr txBox="1"/>
          <p:nvPr/>
        </p:nvSpPr>
        <p:spPr>
          <a:xfrm>
            <a:off x="1861448" y="1160207"/>
            <a:ext cx="8526136" cy="2754560"/>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100" dirty="0">
                <a:solidFill>
                  <a:schemeClr val="tx1"/>
                </a:solidFill>
                <a:latin typeface="Verdana" panose="020B0604030504040204" pitchFamily="34" charset="0"/>
                <a:ea typeface="Verdana" panose="020B0604030504040204" pitchFamily="34" charset="0"/>
              </a:rPr>
              <a:t>Use the points in the table for the following</a:t>
            </a:r>
            <a:r>
              <a:rPr lang="en-US" dirty="0"/>
              <a: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endParaRPr lang="en-US" dirty="0">
              <a:ea typeface="Verdana" panose="020B0604030504040204" pitchFamily="34" charset="0"/>
            </a:endParaRPr>
          </a:p>
          <a:p>
            <a:pPr marL="803275" indent="-338138"/>
            <a:r>
              <a:rPr lang="en-US" sz="2000" dirty="0">
                <a:latin typeface="Verdana" panose="020B0604030504040204" pitchFamily="34" charset="0"/>
                <a:ea typeface="Verdana" panose="020B0604030504040204" pitchFamily="34" charset="0"/>
              </a:rPr>
              <a:t>a. Plot the ordered pairs from the table on the coordinate grid below. Label using the given letter.</a:t>
            </a:r>
            <a:endParaRPr dirty="0"/>
          </a:p>
        </p:txBody>
      </p:sp>
      <p:pic>
        <p:nvPicPr>
          <p:cNvPr id="3" name="Picture 2" descr="Text&#10;&#10;Description automatically generated with low confidence">
            <a:extLst>
              <a:ext uri="{FF2B5EF4-FFF2-40B4-BE49-F238E27FC236}">
                <a16:creationId xmlns:a16="http://schemas.microsoft.com/office/drawing/2014/main" id="{6D5C98C6-F287-40D7-AE55-FFFB9481CD48}"/>
              </a:ext>
            </a:extLst>
          </p:cNvPr>
          <p:cNvPicPr>
            <a:picLocks noChangeAspect="1"/>
          </p:cNvPicPr>
          <p:nvPr/>
        </p:nvPicPr>
        <p:blipFill>
          <a:blip r:embed="rId4"/>
          <a:stretch>
            <a:fillRect/>
          </a:stretch>
        </p:blipFill>
        <p:spPr>
          <a:xfrm>
            <a:off x="1772550" y="1531343"/>
            <a:ext cx="8558002" cy="1729890"/>
          </a:xfrm>
          <a:prstGeom prst="rect">
            <a:avLst/>
          </a:prstGeom>
        </p:spPr>
      </p:pic>
      <p:pic>
        <p:nvPicPr>
          <p:cNvPr id="5" name="Picture 4" descr="Chart, line chart&#10;&#10;Description automatically generated">
            <a:extLst>
              <a:ext uri="{FF2B5EF4-FFF2-40B4-BE49-F238E27FC236}">
                <a16:creationId xmlns:a16="http://schemas.microsoft.com/office/drawing/2014/main" id="{5A9FCA0A-8B0D-4FBC-B455-C159877B2EF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006662" y="3863180"/>
            <a:ext cx="3927971" cy="2860387"/>
          </a:xfrm>
          <a:prstGeom prst="rect">
            <a:avLst/>
          </a:prstGeom>
        </p:spPr>
      </p:pic>
      <p:sp>
        <p:nvSpPr>
          <p:cNvPr id="10"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89" name="Google Shape;289;p17"/>
          <p:cNvSpPr txBox="1"/>
          <p:nvPr/>
        </p:nvSpPr>
        <p:spPr>
          <a:xfrm>
            <a:off x="1066800" y="349706"/>
            <a:ext cx="10464800" cy="3631723"/>
          </a:xfrm>
          <a:prstGeom prst="rect">
            <a:avLst/>
          </a:prstGeom>
          <a:noFill/>
          <a:ln>
            <a:noFill/>
          </a:ln>
        </p:spPr>
        <p:txBody>
          <a:bodyPr spcFirstLastPara="1" wrap="square" lIns="91425" tIns="45700" rIns="91425" bIns="45700" anchor="t" anchorCtr="0">
            <a:spAutoFit/>
          </a:bodyPr>
          <a:lstStyle/>
          <a:p>
            <a:pPr marL="401638" indent="-401638"/>
            <a:endParaRPr lang="en-US" sz="2400" dirty="0">
              <a:latin typeface="Verdana"/>
              <a:ea typeface="Verdana"/>
              <a:cs typeface="Verdana"/>
              <a:sym typeface="Verdana"/>
            </a:endParaRPr>
          </a:p>
          <a:p>
            <a:pPr marL="401638" indent="-401638"/>
            <a:endParaRPr lang="en-US" sz="2400" dirty="0">
              <a:latin typeface="Verdana"/>
              <a:ea typeface="Verdana"/>
              <a:cs typeface="Verdana"/>
              <a:sym typeface="Verdana"/>
            </a:endParaRPr>
          </a:p>
          <a:p>
            <a:pPr marL="401638" indent="-401638"/>
            <a:r>
              <a:rPr lang="en-US" sz="2400" dirty="0">
                <a:latin typeface="Verdana"/>
                <a:ea typeface="Verdana"/>
                <a:cs typeface="Verdana"/>
                <a:sym typeface="Verdana"/>
              </a:rPr>
              <a:t>b. Select the pair of points that have the same 𝑥-coordinate.</a:t>
            </a:r>
          </a:p>
          <a:p>
            <a:pPr marL="401638" indent="-401638"/>
            <a:endParaRPr lang="en-US" sz="2400" dirty="0">
              <a:latin typeface="Verdana"/>
              <a:ea typeface="Verdana"/>
              <a:sym typeface="Verdana"/>
            </a:endParaRPr>
          </a:p>
          <a:p>
            <a:pPr marL="401638" indent="-401638"/>
            <a:endParaRPr lang="en-US" sz="2400" dirty="0">
              <a:latin typeface="Verdana"/>
              <a:ea typeface="Verdana"/>
              <a:sym typeface="Verdana"/>
            </a:endParaRPr>
          </a:p>
          <a:p>
            <a:pPr marL="401638" indent="-401638"/>
            <a:endParaRPr lang="en-US" sz="2400" dirty="0">
              <a:latin typeface="Verdana"/>
              <a:ea typeface="Verdana"/>
              <a:sym typeface="Verdana"/>
            </a:endParaRPr>
          </a:p>
          <a:p>
            <a:pPr marL="401638" indent="-401638"/>
            <a:endParaRPr lang="en-US" sz="2400" dirty="0">
              <a:latin typeface="Verdana"/>
              <a:ea typeface="Verdana"/>
              <a:sym typeface="Verdana"/>
            </a:endParaRPr>
          </a:p>
          <a:p>
            <a:pPr marL="401638" indent="-401638"/>
            <a:endParaRPr lang="en-US" sz="2400" dirty="0">
              <a:latin typeface="Verdana"/>
              <a:ea typeface="Verdana"/>
              <a:sym typeface="Verdana"/>
            </a:endParaRPr>
          </a:p>
          <a:p>
            <a:pPr marL="401638" indent="-401638"/>
            <a:r>
              <a:rPr lang="en-US" sz="2400" dirty="0">
                <a:latin typeface="Verdana"/>
                <a:ea typeface="Verdana"/>
                <a:sym typeface="Verdana"/>
              </a:rPr>
              <a:t>c. Select the pair of points that have a 𝑦-coordinate of −1.</a:t>
            </a:r>
          </a:p>
          <a:p>
            <a:pPr marL="401638" indent="-401638"/>
            <a:endParaRPr dirty="0"/>
          </a:p>
        </p:txBody>
      </p:sp>
      <p:pic>
        <p:nvPicPr>
          <p:cNvPr id="3" name="Picture 2">
            <a:extLst>
              <a:ext uri="{FF2B5EF4-FFF2-40B4-BE49-F238E27FC236}">
                <a16:creationId xmlns:a16="http://schemas.microsoft.com/office/drawing/2014/main" id="{C4BCAC29-7FCC-4B99-B7B3-805A10D1C12F}"/>
              </a:ext>
            </a:extLst>
          </p:cNvPr>
          <p:cNvPicPr>
            <a:picLocks noChangeAspect="1"/>
          </p:cNvPicPr>
          <p:nvPr/>
        </p:nvPicPr>
        <p:blipFill>
          <a:blip r:embed="rId3"/>
          <a:stretch>
            <a:fillRect/>
          </a:stretch>
        </p:blipFill>
        <p:spPr>
          <a:xfrm>
            <a:off x="1914946" y="2183034"/>
            <a:ext cx="8344623" cy="952583"/>
          </a:xfrm>
          <a:prstGeom prst="rect">
            <a:avLst/>
          </a:prstGeom>
        </p:spPr>
      </p:pic>
      <p:pic>
        <p:nvPicPr>
          <p:cNvPr id="5" name="Picture 4">
            <a:extLst>
              <a:ext uri="{FF2B5EF4-FFF2-40B4-BE49-F238E27FC236}">
                <a16:creationId xmlns:a16="http://schemas.microsoft.com/office/drawing/2014/main" id="{94AD06B4-D360-4733-AC76-C2FD2E5D6134}"/>
              </a:ext>
            </a:extLst>
          </p:cNvPr>
          <p:cNvPicPr>
            <a:picLocks noChangeAspect="1"/>
          </p:cNvPicPr>
          <p:nvPr/>
        </p:nvPicPr>
        <p:blipFill>
          <a:blip r:embed="rId3"/>
          <a:stretch>
            <a:fillRect/>
          </a:stretch>
        </p:blipFill>
        <p:spPr>
          <a:xfrm>
            <a:off x="1923689" y="4461001"/>
            <a:ext cx="8344623" cy="952583"/>
          </a:xfrm>
          <a:prstGeom prst="rect">
            <a:avLst/>
          </a:prstGeom>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89" name="Google Shape;289;p17"/>
          <p:cNvSpPr txBox="1"/>
          <p:nvPr/>
        </p:nvSpPr>
        <p:spPr>
          <a:xfrm>
            <a:off x="1117600" y="96748"/>
            <a:ext cx="10003834" cy="6432490"/>
          </a:xfrm>
          <a:prstGeom prst="rect">
            <a:avLst/>
          </a:prstGeom>
          <a:noFill/>
          <a:ln>
            <a:noFill/>
          </a:ln>
        </p:spPr>
        <p:txBody>
          <a:bodyPr spcFirstLastPara="1" wrap="square" lIns="91425" tIns="45700" rIns="91425" bIns="45700" anchor="t" anchorCtr="0">
            <a:spAutoFit/>
          </a:bodyPr>
          <a:lstStyle/>
          <a:p>
            <a:pPr marL="350838" indent="-350838"/>
            <a:r>
              <a:rPr lang="en-US" sz="2100" dirty="0">
                <a:latin typeface="Verdana" panose="020B0604030504040204" pitchFamily="34" charset="0"/>
                <a:ea typeface="Verdana" panose="020B0604030504040204" pitchFamily="34" charset="0"/>
              </a:rPr>
              <a:t>2. A coordinate grid with points 𝐷, 𝐵, 𝐾, 𝑇, 𝑉, and 𝑊 is shown. The 𝑥-axis is green and the 𝑦-axis is orange.</a:t>
            </a: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endParaRPr lang="en-US" sz="2100" dirty="0">
              <a:latin typeface="Verdana" panose="020B0604030504040204" pitchFamily="34" charset="0"/>
              <a:ea typeface="Verdana" panose="020B0604030504040204" pitchFamily="34" charset="0"/>
            </a:endParaRPr>
          </a:p>
          <a:p>
            <a:pPr marL="917575" indent="-339725"/>
            <a:r>
              <a:rPr lang="en-US" sz="2000" dirty="0">
                <a:latin typeface="Verdana" panose="020B0604030504040204" pitchFamily="34" charset="0"/>
                <a:ea typeface="Verdana" panose="020B0604030504040204" pitchFamily="34" charset="0"/>
              </a:rPr>
              <a:t>a. Write the ordered pair of the reflection of Point V when the graph is folded across the 𝑥-axis.</a:t>
            </a:r>
          </a:p>
          <a:p>
            <a:pPr marL="917575" indent="-339725"/>
            <a:r>
              <a:rPr lang="en-US" sz="2000" dirty="0">
                <a:latin typeface="Verdana" panose="020B0604030504040204" pitchFamily="34" charset="0"/>
                <a:ea typeface="Verdana" panose="020B0604030504040204" pitchFamily="34" charset="0"/>
              </a:rPr>
              <a:t>b. Write the ordered pair of the reflection of Point K when the graph is folded across the 𝑦-axis.</a:t>
            </a:r>
          </a:p>
          <a:p>
            <a:pPr marL="917575" indent="-339725"/>
            <a:r>
              <a:rPr lang="en-US" sz="2000" dirty="0">
                <a:latin typeface="Verdana" panose="020B0604030504040204" pitchFamily="34" charset="0"/>
                <a:ea typeface="Verdana" panose="020B0604030504040204" pitchFamily="34" charset="0"/>
              </a:rPr>
              <a:t>c. Write the ordered pair of the reflection of Point D when the graph is folded across the 𝑦-axis.</a:t>
            </a:r>
          </a:p>
          <a:p>
            <a:pPr marL="917575" indent="-339725"/>
            <a:r>
              <a:rPr lang="en-US" sz="2000" dirty="0">
                <a:latin typeface="Verdana" panose="020B0604030504040204" pitchFamily="34" charset="0"/>
                <a:ea typeface="Verdana" panose="020B0604030504040204" pitchFamily="34" charset="0"/>
              </a:rPr>
              <a:t>d. Write the ordered pair of the reflection of Point B when the graph is folded across the 𝑥-axis.</a:t>
            </a:r>
          </a:p>
        </p:txBody>
      </p:sp>
      <p:pic>
        <p:nvPicPr>
          <p:cNvPr id="4" name="Picture 3" descr="Chart, scatter chart&#10;&#10;Description automatically generated">
            <a:extLst>
              <a:ext uri="{FF2B5EF4-FFF2-40B4-BE49-F238E27FC236}">
                <a16:creationId xmlns:a16="http://schemas.microsoft.com/office/drawing/2014/main" id="{AC3280F6-07A9-4289-9F99-C5D0985EBE3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11794" y="828183"/>
            <a:ext cx="5053780" cy="3070717"/>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36676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1"/>
          <p:cNvSpPr/>
          <p:nvPr/>
        </p:nvSpPr>
        <p:spPr>
          <a:xfrm>
            <a:off x="0" y="-8101"/>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27" name="Google Shape;32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29" name="Google Shape;32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2"/>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37" name="Google Shape;337;p22"/>
          <p:cNvSpPr txBox="1"/>
          <p:nvPr/>
        </p:nvSpPr>
        <p:spPr>
          <a:xfrm>
            <a:off x="1389550" y="12881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4.1.5 Guided Practice: Reflections</a:t>
            </a:r>
            <a:endParaRPr dirty="0"/>
          </a:p>
        </p:txBody>
      </p:sp>
      <p:pic>
        <p:nvPicPr>
          <p:cNvPr id="339" name="Google Shape;339;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39742" y="294841"/>
            <a:ext cx="749808" cy="749808"/>
          </a:xfrm>
          <a:prstGeom prst="rect">
            <a:avLst/>
          </a:prstGeom>
          <a:noFill/>
          <a:ln>
            <a:noFill/>
          </a:ln>
          <a:effectLst>
            <a:outerShdw blurRad="50800" dist="38100" dir="2700000" algn="tl" rotWithShape="0">
              <a:srgbClr val="000000">
                <a:alpha val="40000"/>
              </a:srgbClr>
            </a:outerShdw>
          </a:effectLst>
        </p:spPr>
      </p:pic>
      <p:sp>
        <p:nvSpPr>
          <p:cNvPr id="340" name="Google Shape;340;p22"/>
          <p:cNvSpPr txBox="1"/>
          <p:nvPr/>
        </p:nvSpPr>
        <p:spPr>
          <a:xfrm>
            <a:off x="1285324" y="1454515"/>
            <a:ext cx="9963468" cy="5093662"/>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500" dirty="0">
                <a:solidFill>
                  <a:schemeClr val="tx1"/>
                </a:solidFill>
                <a:latin typeface="Verdana" panose="020B0604030504040204" pitchFamily="34" charset="0"/>
                <a:ea typeface="Verdana" panose="020B0604030504040204" pitchFamily="34" charset="0"/>
              </a:rPr>
              <a:t>Point 𝑉 is plotted on the coordinate grid.</a:t>
            </a: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pPr marL="342900" indent="-342900">
              <a:buAutoNum type="arabicPeriod"/>
            </a:pPr>
            <a:endParaRPr lang="en-US" sz="2500" dirty="0">
              <a:solidFill>
                <a:schemeClr val="tx1"/>
              </a:solidFill>
              <a:latin typeface="Verdana" panose="020B0604030504040204" pitchFamily="34" charset="0"/>
              <a:ea typeface="Verdana" panose="020B0604030504040204" pitchFamily="34" charset="0"/>
            </a:endParaRPr>
          </a:p>
          <a:p>
            <a:r>
              <a:rPr lang="en-US" sz="2500" dirty="0">
                <a:solidFill>
                  <a:schemeClr val="tx1"/>
                </a:solidFill>
                <a:latin typeface="Verdana" panose="020B0604030504040204" pitchFamily="34" charset="0"/>
                <a:ea typeface="Verdana" panose="020B0604030504040204" pitchFamily="34" charset="0"/>
              </a:rPr>
              <a:t>What are the coordinates of the reflection of 𝑉 across the 𝑦-axis?</a:t>
            </a:r>
          </a:p>
        </p:txBody>
      </p:sp>
      <p:pic>
        <p:nvPicPr>
          <p:cNvPr id="3" name="Picture 2" descr="Chart, line chart&#10;&#10;Description automatically generated">
            <a:extLst>
              <a:ext uri="{FF2B5EF4-FFF2-40B4-BE49-F238E27FC236}">
                <a16:creationId xmlns:a16="http://schemas.microsoft.com/office/drawing/2014/main" id="{208C2898-63A8-439B-AC36-7789E97FFE2A}"/>
              </a:ext>
            </a:extLst>
          </p:cNvPr>
          <p:cNvPicPr>
            <a:picLocks noChangeAspect="1"/>
          </p:cNvPicPr>
          <p:nvPr/>
        </p:nvPicPr>
        <p:blipFill>
          <a:blip r:embed="rId4"/>
          <a:stretch>
            <a:fillRect/>
          </a:stretch>
        </p:blipFill>
        <p:spPr>
          <a:xfrm>
            <a:off x="3506672" y="2027488"/>
            <a:ext cx="4936297" cy="3585444"/>
          </a:xfrm>
          <a:prstGeom prst="rect">
            <a:avLst/>
          </a:prstGeom>
        </p:spPr>
      </p:pic>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4"/>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59" name="Google Shape;259;p14"/>
          <p:cNvSpPr txBox="1"/>
          <p:nvPr/>
        </p:nvSpPr>
        <p:spPr>
          <a:xfrm>
            <a:off x="1079500" y="337513"/>
            <a:ext cx="10033000" cy="5478382"/>
          </a:xfrm>
          <a:prstGeom prst="rect">
            <a:avLst/>
          </a:prstGeom>
          <a:noFill/>
          <a:ln>
            <a:noFill/>
          </a:ln>
        </p:spPr>
        <p:txBody>
          <a:bodyPr spcFirstLastPara="1" wrap="square" lIns="91425" tIns="45700" rIns="91425" bIns="45700" anchor="t" anchorCtr="0">
            <a:spAutoFit/>
          </a:bodyPr>
          <a:lstStyle/>
          <a:p>
            <a:r>
              <a:rPr lang="en-US" sz="2500" dirty="0">
                <a:solidFill>
                  <a:schemeClr val="tx1"/>
                </a:solidFill>
                <a:latin typeface="Verdana" panose="020B0604030504040204" pitchFamily="34" charset="0"/>
                <a:ea typeface="Verdana" panose="020B0604030504040204" pitchFamily="34" charset="0"/>
              </a:rPr>
              <a:t>2. Point 𝐻 is plotted on the coordinate grid.</a:t>
            </a: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r>
              <a:rPr lang="en-US" sz="2500" dirty="0">
                <a:solidFill>
                  <a:schemeClr val="tx1"/>
                </a:solidFill>
                <a:latin typeface="Verdana" panose="020B0604030504040204" pitchFamily="34" charset="0"/>
                <a:ea typeface="Verdana" panose="020B0604030504040204" pitchFamily="34" charset="0"/>
              </a:rPr>
              <a:t>What are the coordinates of the reflection of 𝐻 across the 𝑥-axis?</a:t>
            </a:r>
            <a:endParaRPr sz="2500" dirty="0">
              <a:solidFill>
                <a:schemeClr val="tx1"/>
              </a:solidFill>
              <a:latin typeface="Verdana" panose="020B0604030504040204" pitchFamily="34" charset="0"/>
              <a:ea typeface="Verdana" panose="020B0604030504040204" pitchFamily="34" charset="0"/>
            </a:endParaRPr>
          </a:p>
        </p:txBody>
      </p:sp>
      <p:pic>
        <p:nvPicPr>
          <p:cNvPr id="3" name="Picture 2" descr="Chart, line chart, scatter chart&#10;&#10;Description automatically generated">
            <a:extLst>
              <a:ext uri="{FF2B5EF4-FFF2-40B4-BE49-F238E27FC236}">
                <a16:creationId xmlns:a16="http://schemas.microsoft.com/office/drawing/2014/main" id="{90460E0F-A61E-4414-85EA-047FC227FD5F}"/>
              </a:ext>
            </a:extLst>
          </p:cNvPr>
          <p:cNvPicPr>
            <a:picLocks noChangeAspect="1"/>
          </p:cNvPicPr>
          <p:nvPr/>
        </p:nvPicPr>
        <p:blipFill>
          <a:blip r:embed="rId3"/>
          <a:stretch>
            <a:fillRect/>
          </a:stretch>
        </p:blipFill>
        <p:spPr>
          <a:xfrm>
            <a:off x="3311955" y="814526"/>
            <a:ext cx="5291272" cy="4178280"/>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3"/>
          <p:cNvSpPr/>
          <p:nvPr/>
        </p:nvSpPr>
        <p:spPr>
          <a:xfrm>
            <a:off x="0" y="-8101"/>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48" name="Google Shape;44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49" name="Google Shape;44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4"/>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58" name="Google Shape;458;p34"/>
          <p:cNvSpPr txBox="1"/>
          <p:nvPr/>
        </p:nvSpPr>
        <p:spPr>
          <a:xfrm>
            <a:off x="1481663"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4.1.6 Wrap-Up: Ticket Out the Door </a:t>
            </a:r>
            <a:endParaRPr dirty="0"/>
          </a:p>
        </p:txBody>
      </p:sp>
      <p:pic>
        <p:nvPicPr>
          <p:cNvPr id="459" name="Google Shape;459;p34"/>
          <p:cNvPicPr preferRelativeResize="0"/>
          <p:nvPr/>
        </p:nvPicPr>
        <p:blipFill rotWithShape="1">
          <a:blip r:embed="rId3">
            <a:alphaModFix/>
          </a:blip>
          <a:srcRect/>
          <a:stretch/>
        </p:blipFill>
        <p:spPr>
          <a:xfrm>
            <a:off x="652213" y="203222"/>
            <a:ext cx="747300" cy="747300"/>
          </a:xfrm>
          <a:prstGeom prst="rect">
            <a:avLst/>
          </a:prstGeom>
          <a:noFill/>
          <a:ln>
            <a:noFill/>
          </a:ln>
          <a:effectLst>
            <a:outerShdw blurRad="50800" dist="38100" dir="2700000" algn="tl" rotWithShape="0">
              <a:srgbClr val="000000">
                <a:alpha val="40000"/>
              </a:srgbClr>
            </a:outerShdw>
          </a:effectLst>
        </p:spPr>
      </p:pic>
      <p:sp>
        <p:nvSpPr>
          <p:cNvPr id="460" name="Google Shape;460;p34"/>
          <p:cNvSpPr txBox="1"/>
          <p:nvPr/>
        </p:nvSpPr>
        <p:spPr>
          <a:xfrm>
            <a:off x="1130300" y="1386026"/>
            <a:ext cx="10187432" cy="4708941"/>
          </a:xfrm>
          <a:prstGeom prst="rect">
            <a:avLst/>
          </a:prstGeom>
          <a:noFill/>
          <a:ln>
            <a:noFill/>
          </a:ln>
        </p:spPr>
        <p:txBody>
          <a:bodyPr spcFirstLastPara="1" wrap="square" lIns="91425" tIns="45700" rIns="91425" bIns="45700" anchor="t" anchorCtr="0">
            <a:spAutoFit/>
          </a:bodyPr>
          <a:lstStyle/>
          <a:p>
            <a:r>
              <a:rPr lang="en-US" sz="2500" dirty="0">
                <a:solidFill>
                  <a:schemeClr val="tx1"/>
                </a:solidFill>
                <a:latin typeface="Verdana" panose="020B0604030504040204" pitchFamily="34" charset="0"/>
                <a:ea typeface="Verdana" panose="020B0604030504040204" pitchFamily="34" charset="0"/>
              </a:rPr>
              <a:t>What are the coordinates of the reflection of 𝐻 across the 𝑥-axis?</a:t>
            </a: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endParaRPr lang="en-US" sz="2500" dirty="0">
              <a:solidFill>
                <a:schemeClr val="tx1"/>
              </a:solidFill>
              <a:latin typeface="Verdana" panose="020B0604030504040204" pitchFamily="34" charset="0"/>
              <a:ea typeface="Verdana" panose="020B0604030504040204" pitchFamily="34" charset="0"/>
            </a:endParaRPr>
          </a:p>
          <a:p>
            <a:r>
              <a:rPr lang="en-US" sz="2500" dirty="0">
                <a:solidFill>
                  <a:schemeClr val="tx1"/>
                </a:solidFill>
                <a:latin typeface="Verdana" panose="020B0604030504040204" pitchFamily="34" charset="0"/>
                <a:ea typeface="Verdana" panose="020B0604030504040204" pitchFamily="34" charset="0"/>
              </a:rPr>
              <a:t>1. Write the ordered pair that will hit the bullseye. </a:t>
            </a:r>
            <a:endParaRPr sz="2500" dirty="0">
              <a:solidFill>
                <a:schemeClr val="tx1"/>
              </a:solidFill>
              <a:latin typeface="Verdana" panose="020B0604030504040204" pitchFamily="34" charset="0"/>
              <a:ea typeface="Verdana" panose="020B0604030504040204" pitchFamily="34" charset="0"/>
            </a:endParaRPr>
          </a:p>
        </p:txBody>
      </p:sp>
      <p:pic>
        <p:nvPicPr>
          <p:cNvPr id="3" name="Picture 2" descr="Diagram, schematic&#10;&#10;Description automatically generated">
            <a:extLst>
              <a:ext uri="{FF2B5EF4-FFF2-40B4-BE49-F238E27FC236}">
                <a16:creationId xmlns:a16="http://schemas.microsoft.com/office/drawing/2014/main" id="{80A80E6E-EB7A-4CD3-958C-91A3592FE9E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295965" y="1896486"/>
            <a:ext cx="4428138" cy="3443034"/>
          </a:xfrm>
          <a:prstGeom prst="rect">
            <a:avLst/>
          </a:prstGeom>
        </p:spPr>
      </p:pic>
      <p:sp>
        <p:nvSpPr>
          <p:cNvPr id="9"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137</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5"/>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69" name="Google Shape;469;p35"/>
          <p:cNvSpPr txBox="1"/>
          <p:nvPr/>
        </p:nvSpPr>
        <p:spPr>
          <a:xfrm>
            <a:off x="901700" y="422857"/>
            <a:ext cx="10388600" cy="1508065"/>
          </a:xfrm>
          <a:prstGeom prst="rect">
            <a:avLst/>
          </a:prstGeom>
          <a:noFill/>
          <a:ln>
            <a:noFill/>
          </a:ln>
        </p:spPr>
        <p:txBody>
          <a:bodyPr spcFirstLastPara="1" wrap="square" lIns="91425" tIns="45700" rIns="91425" bIns="45700" anchor="t" anchorCtr="0">
            <a:spAutoFit/>
          </a:bodyPr>
          <a:lstStyle/>
          <a:p>
            <a:pPr marL="401638" indent="-401638"/>
            <a:r>
              <a:rPr lang="en-US" sz="2300" dirty="0">
                <a:latin typeface="Verdana" panose="020B0604030504040204" pitchFamily="34" charset="0"/>
                <a:ea typeface="Verdana" panose="020B0604030504040204" pitchFamily="34" charset="0"/>
              </a:rPr>
              <a:t>2. A player throws two darts. The first dart hits the ordered pair (−2, −1). The second dart hits the point that is the reflection of (−2, −1) over the 𝑥𝑥-axis. Complete the table that describes the location of the second dart.</a:t>
            </a:r>
            <a:endParaRPr sz="2300" dirty="0">
              <a:latin typeface="Verdana" panose="020B0604030504040204" pitchFamily="34" charset="0"/>
              <a:ea typeface="Verdana" panose="020B0604030504040204" pitchFamily="34" charset="0"/>
            </a:endParaRPr>
          </a:p>
        </p:txBody>
      </p:sp>
      <p:pic>
        <p:nvPicPr>
          <p:cNvPr id="3" name="Picture 2" descr="Table&#10;&#10;Description automatically generated">
            <a:extLst>
              <a:ext uri="{FF2B5EF4-FFF2-40B4-BE49-F238E27FC236}">
                <a16:creationId xmlns:a16="http://schemas.microsoft.com/office/drawing/2014/main" id="{41B6F629-37AC-484A-B028-E9964AEB0B14}"/>
              </a:ext>
            </a:extLst>
          </p:cNvPr>
          <p:cNvPicPr>
            <a:picLocks noChangeAspect="1"/>
          </p:cNvPicPr>
          <p:nvPr/>
        </p:nvPicPr>
        <p:blipFill>
          <a:blip r:embed="rId3"/>
          <a:stretch>
            <a:fillRect/>
          </a:stretch>
        </p:blipFill>
        <p:spPr>
          <a:xfrm>
            <a:off x="2110721" y="2782529"/>
            <a:ext cx="8406581" cy="2428568"/>
          </a:xfrm>
          <a:prstGeom prst="rect">
            <a:avLst/>
          </a:prstGeom>
        </p:spPr>
      </p:pic>
      <p:sp>
        <p:nvSpPr>
          <p:cNvPr id="7" name="Google Shape;125;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1208</Words>
  <Application>Microsoft Office PowerPoint</Application>
  <PresentationFormat>Widescreen</PresentationFormat>
  <Paragraphs>244</Paragraphs>
  <Slides>28</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Century Gothic</vt:lpstr>
      <vt:lpstr>Verdana</vt:lpstr>
      <vt:lpstr>1_Office Theme</vt:lpstr>
      <vt:lpstr>6th Grade Accelerated Math  Unit 4, Lesson 1  Plotting Integers Using One-Unit Scales for Axes  Volume 1, pg. 131  </vt:lpstr>
      <vt:lpstr>Benchmark</vt:lpstr>
      <vt:lpstr>MA.K12.MTR.1.1 Actively participate in effortful learning both individually and collectively.  MA.K12.MTR.4.1 Engage in discussions that reflect on the mathematical thinking of self and others.  MA.K12.MTR.5.1 Use patterns and structure to help understand and connect mathematical concepts. </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Guided Instruction</vt:lpstr>
      <vt:lpstr>PowerPoint Presentation</vt:lpstr>
      <vt:lpstr>PowerPoint Presentation</vt:lpstr>
      <vt:lpstr>PowerPoint Presentation</vt:lpstr>
      <vt:lpstr>Guided Practice</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4, Lesson 1  Plotting Integers Using One-Unit Scales for Axes  Volume 1, pg. 131  </dc:title>
  <dc:creator>Karen McKenzie</dc:creator>
  <cp:lastModifiedBy>Cassie O'Connor</cp:lastModifiedBy>
  <cp:revision>5</cp:revision>
  <dcterms:created xsi:type="dcterms:W3CDTF">2015-03-17T18:51:18Z</dcterms:created>
  <dcterms:modified xsi:type="dcterms:W3CDTF">2022-07-28T02:35:28Z</dcterms:modified>
</cp:coreProperties>
</file>