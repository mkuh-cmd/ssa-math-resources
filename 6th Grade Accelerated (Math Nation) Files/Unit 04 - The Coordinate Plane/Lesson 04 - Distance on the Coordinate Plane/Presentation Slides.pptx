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16" r:id="rId10"/>
    <p:sldId id="289" r:id="rId11"/>
    <p:sldId id="290" r:id="rId12"/>
    <p:sldId id="334" r:id="rId13"/>
    <p:sldId id="333" r:id="rId14"/>
    <p:sldId id="335" r:id="rId15"/>
    <p:sldId id="336" r:id="rId16"/>
    <p:sldId id="338" r:id="rId17"/>
    <p:sldId id="339" r:id="rId18"/>
    <p:sldId id="340" r:id="rId19"/>
    <p:sldId id="341" r:id="rId20"/>
    <p:sldId id="342" r:id="rId21"/>
    <p:sldId id="323" r:id="rId22"/>
    <p:sldId id="324" r:id="rId23"/>
    <p:sldId id="325" r:id="rId24"/>
    <p:sldId id="344" r:id="rId25"/>
    <p:sldId id="343" r:id="rId26"/>
    <p:sldId id="302" r:id="rId27"/>
    <p:sldId id="303" r:id="rId28"/>
    <p:sldId id="309" r:id="rId29"/>
    <p:sldId id="345" r:id="rId30"/>
    <p:sldId id="347" r:id="rId31"/>
    <p:sldId id="348" r:id="rId32"/>
    <p:sldId id="306" r:id="rId33"/>
    <p:sldId id="307" r:id="rId3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1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95"/>
    <p:restoredTop sz="94694"/>
  </p:normalViewPr>
  <p:slideViewPr>
    <p:cSldViewPr snapToGrid="0">
      <p:cViewPr varScale="1">
        <p:scale>
          <a:sx n="117" d="100"/>
          <a:sy n="117" d="100"/>
        </p:scale>
        <p:origin x="88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61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31850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04564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720655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5891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81930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1860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432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0785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98969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09917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555632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75342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25157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12480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35.png"/><Relationship Id="rId4" Type="http://schemas.openxmlformats.org/officeDocument/2006/relationships/image" Target="../media/image3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3800" b="1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4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</a:rPr>
              <a:t>Distance on the Coordinate Plane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151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185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21238" y="2038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7738" y="23781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7009" y="1600200"/>
                <a:ext cx="9037982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19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238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>
                  <a:buSzPts val="1100"/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MA.6.GR.1.2</a:t>
                </a:r>
              </a:p>
              <a:p>
                <a:pPr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  <a:latin typeface="Verdana"/>
                    <a:ea typeface="Verdana"/>
                    <a:cs typeface="Verdana"/>
                  </a:rPr>
                  <a:t>Find distances between ordered pairs, limited to the same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𝑥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Verdana"/>
                    <a:ea typeface="Verdana"/>
                    <a:cs typeface="Verdana"/>
                  </a:rPr>
                  <a:t>-coordinate or the same </a:t>
                </a:r>
                <a14:m>
                  <m:oMath xmlns:m="http://schemas.openxmlformats.org/officeDocument/2006/math">
                    <m:r>
                      <a:rPr 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</a:rPr>
                      <m:t>𝑦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Verdana"/>
                    <a:ea typeface="Verdana"/>
                    <a:cs typeface="Verdana"/>
                  </a:rPr>
                  <a:t>-coordinate, represented on the coordinate plane. </a:t>
                </a:r>
                <a:endParaRPr lang="en-US" sz="2400" dirty="0">
                  <a:solidFill>
                    <a:schemeClr val="tx1"/>
                  </a:solidFill>
                  <a:latin typeface="Verdana"/>
                  <a:ea typeface="Verdana"/>
                  <a:cs typeface="Verdana"/>
                  <a:sym typeface="Century Gothic"/>
                </a:endParaRPr>
              </a:p>
            </p:txBody>
          </p:sp>
        </mc:Choice>
        <mc:Fallback xmlns="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27A9F9F-07B8-ED47-B967-E5507C67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009" y="1600200"/>
                <a:ext cx="9037982" cy="4205700"/>
              </a:xfrm>
              <a:prstGeom prst="rect">
                <a:avLst/>
              </a:prstGeom>
              <a:blipFill rotWithShape="0">
                <a:blip r:embed="rId5"/>
                <a:stretch>
                  <a:fillRect l="-10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693" y="24263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64343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563757" y="1596390"/>
            <a:ext cx="965224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476112" y="-8803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3950" y="28039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476112" y="1600200"/>
            <a:ext cx="923977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449263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the distance between two ordered pairs. 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34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5698" y="79714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4.4.1 Warm-Up: </a:t>
            </a: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</a:rPr>
              <a:t>A Point on the Number Line </a:t>
            </a:r>
            <a:endParaRPr lang="en-US" sz="36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398" y="21687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1435698" y="1386026"/>
                <a:ext cx="95766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all numbers that could be the location of point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698" y="1386026"/>
                <a:ext cx="9576636" cy="1200329"/>
              </a:xfrm>
              <a:prstGeom prst="rect">
                <a:avLst/>
              </a:prstGeom>
              <a:blipFill rotWithShape="0">
                <a:blip r:embed="rId4"/>
                <a:stretch>
                  <a:fillRect l="-1019" t="-4569" r="-1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5CF675C-0DEE-2649-BC94-AAB7C45F36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3743710"/>
                  </p:ext>
                </p:extLst>
              </p:nvPr>
            </p:nvGraphicFramePr>
            <p:xfrm>
              <a:off x="3200826" y="2940669"/>
              <a:ext cx="2600326" cy="243649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300163">
                      <a:extLst>
                        <a:ext uri="{9D8B030D-6E8A-4147-A177-3AD203B41FA5}">
                          <a16:colId xmlns:a16="http://schemas.microsoft.com/office/drawing/2014/main" val="1523044344"/>
                        </a:ext>
                      </a:extLst>
                    </a:gridCol>
                    <a:gridCol w="1300163">
                      <a:extLst>
                        <a:ext uri="{9D8B030D-6E8A-4147-A177-3AD203B41FA5}">
                          <a16:colId xmlns:a16="http://schemas.microsoft.com/office/drawing/2014/main" val="1465946203"/>
                        </a:ext>
                      </a:extLst>
                    </a:gridCol>
                  </a:tblGrid>
                  <a:tr h="8121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3.5</m:t>
                                </m:r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66962765"/>
                      </a:ext>
                    </a:extLst>
                  </a:tr>
                  <a:tr h="8121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−3.5</m:t>
                                </m:r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205164512"/>
                      </a:ext>
                    </a:extLst>
                  </a:tr>
                  <a:tr h="81216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20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>
                                    <a:effectLst/>
                                    <a:latin typeface="Cambria Math" panose="02040503050406030204" pitchFamily="18" charset="0"/>
                                  </a:rPr>
                                  <m:t>−4</m:t>
                                </m:r>
                                <m:f>
                                  <m:fPr>
                                    <m:ctrlP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7104021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5CF675C-0DEE-2649-BC94-AAB7C45F36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43743710"/>
                  </p:ext>
                </p:extLst>
              </p:nvPr>
            </p:nvGraphicFramePr>
            <p:xfrm>
              <a:off x="1676826" y="2940668"/>
              <a:ext cx="2600326" cy="243649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1300163">
                      <a:extLst>
                        <a:ext uri="{9D8B030D-6E8A-4147-A177-3AD203B41FA5}">
                          <a16:colId xmlns:a16="http://schemas.microsoft.com/office/drawing/2014/main" val="1523044344"/>
                        </a:ext>
                      </a:extLst>
                    </a:gridCol>
                    <a:gridCol w="1300163">
                      <a:extLst>
                        <a:ext uri="{9D8B030D-6E8A-4147-A177-3AD203B41FA5}">
                          <a16:colId xmlns:a16="http://schemas.microsoft.com/office/drawing/2014/main" val="1465946203"/>
                        </a:ext>
                      </a:extLst>
                    </a:gridCol>
                  </a:tblGrid>
                  <a:tr h="8121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r="-99029" b="-20156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980" b="-201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6962765"/>
                      </a:ext>
                    </a:extLst>
                  </a:tr>
                  <a:tr h="8121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98462" r="-99029" b="-984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980" t="-98462" b="-9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5164512"/>
                      </a:ext>
                    </a:extLst>
                  </a:tr>
                  <a:tr h="8121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201563" r="-990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00980" t="-20156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1040216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D7C5112A-00B5-B344-A3BE-B3C858081FBC}"/>
              </a:ext>
            </a:extLst>
          </p:cNvPr>
          <p:cNvGrpSpPr/>
          <p:nvPr/>
        </p:nvGrpSpPr>
        <p:grpSpPr>
          <a:xfrm>
            <a:off x="7558768" y="2372820"/>
            <a:ext cx="1428750" cy="3827780"/>
            <a:chOff x="5938974" y="2588709"/>
            <a:chExt cx="1428750" cy="382778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139D4E7-4508-F74F-A303-71EB6A0D66CC}"/>
                </a:ext>
              </a:extLst>
            </p:cNvPr>
            <p:cNvGrpSpPr/>
            <p:nvPr/>
          </p:nvGrpSpPr>
          <p:grpSpPr>
            <a:xfrm>
              <a:off x="5938974" y="2588709"/>
              <a:ext cx="1428750" cy="3827780"/>
              <a:chOff x="4631625" y="1866110"/>
              <a:chExt cx="1428750" cy="382778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E4E8B5E-4584-4843-8B33-556ED76908BC}"/>
                  </a:ext>
                </a:extLst>
              </p:cNvPr>
              <p:cNvGrpSpPr/>
              <p:nvPr/>
            </p:nvGrpSpPr>
            <p:grpSpPr>
              <a:xfrm>
                <a:off x="4631625" y="1866110"/>
                <a:ext cx="1428750" cy="3827780"/>
                <a:chOff x="0" y="0"/>
                <a:chExt cx="1428750" cy="3827780"/>
              </a:xfrm>
            </p:grpSpPr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B3C8C35C-B603-6141-913C-7772CAFC989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428750" cy="38277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</a:p>
              </p:txBody>
            </p:sp>
            <p:pic>
              <p:nvPicPr>
                <p:cNvPr id="16" name="Shape 9">
                  <a:extLst>
                    <a:ext uri="{FF2B5EF4-FFF2-40B4-BE49-F238E27FC236}">
                      <a16:creationId xmlns:a16="http://schemas.microsoft.com/office/drawing/2014/main" id="{054CB35C-3BC9-EC45-B689-6FFFD7BA9981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 cstate="screen">
                  <a:alphaModFix/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 l="34416" r="28264"/>
                <a:stretch/>
              </p:blipFill>
              <p:spPr>
                <a:xfrm>
                  <a:off x="0" y="0"/>
                  <a:ext cx="1428750" cy="38277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A5B204BF-BD4D-D14E-B505-F08D3B4E0DD7}"/>
                    </a:ext>
                  </a:extLst>
                </p:cNvPr>
                <p:cNvSpPr/>
                <p:nvPr/>
              </p:nvSpPr>
              <p:spPr>
                <a:xfrm>
                  <a:off x="749300" y="3111500"/>
                  <a:ext cx="142875" cy="123825"/>
                </a:xfrm>
                <a:prstGeom prst="ellipse">
                  <a:avLst/>
                </a:prstGeom>
                <a:solidFill>
                  <a:schemeClr val="dk1"/>
                </a:solidFill>
                <a:ln w="9525" cap="flat" cmpd="sng">
                  <a:solidFill>
                    <a:srgbClr val="4A7DBA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</a:p>
              </p:txBody>
            </p:sp>
          </p:grpSp>
        </p:grpSp>
        <p:sp>
          <p:nvSpPr>
            <p:cNvPr id="4" name="Text Box 43">
              <a:extLst>
                <a:ext uri="{FF2B5EF4-FFF2-40B4-BE49-F238E27FC236}">
                  <a16:creationId xmlns:a16="http://schemas.microsoft.com/office/drawing/2014/main" id="{38703AF4-F856-C749-9BF0-B242EC38AA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2175" y="5593052"/>
              <a:ext cx="406400" cy="3381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buClrTx/>
              </a:pPr>
              <a:r>
                <a:rPr lang="en-US" altLang="en-US" sz="1800" i="1" dirty="0">
                  <a:solidFill>
                    <a:schemeClr val="tx1"/>
                  </a:solidFill>
                  <a:latin typeface="Cambria Math" panose="02040503050406030204" pitchFamily="18" charset="0"/>
                  <a:ea typeface="MS Mincho" panose="02020609040205080304" pitchFamily="49" charset="-128"/>
                  <a:cs typeface="Cambria" panose="02040503050406030204" pitchFamily="18" charset="0"/>
                </a:rPr>
                <a:t>F</a:t>
              </a:r>
              <a:endParaRPr lang="en-US" altLang="en-US" sz="1800" dirty="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9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504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25225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4.4.2 Collaboration: Who is Correct?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75417" y="348272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1646211" y="1386026"/>
            <a:ext cx="9155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locations of three islands in the ocean are given using ordered pairs.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1" name="image21.png" descr="A picture containing holding, orange, woman, phone&#10;&#10;Description automatically generated">
            <a:extLst>
              <a:ext uri="{FF2B5EF4-FFF2-40B4-BE49-F238E27FC236}">
                <a16:creationId xmlns:a16="http://schemas.microsoft.com/office/drawing/2014/main" id="{3A49D399-5A5F-AD44-9E40-CE5DCE1F11F9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250441" y="2544048"/>
            <a:ext cx="3691118" cy="3698861"/>
          </a:xfrm>
          <a:prstGeom prst="rect">
            <a:avLst/>
          </a:prstGeom>
          <a:ln/>
        </p:spPr>
      </p:pic>
      <p:sp>
        <p:nvSpPr>
          <p:cNvPr id="13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1232452" y="410666"/>
            <a:ext cx="98777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Three students described the distance between each island.</a:t>
            </a:r>
            <a:endParaRPr lang="en-US" altLang="en-US" sz="24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0ED5802-1831-0E47-99F0-8FDA458D58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7822641"/>
                  </p:ext>
                </p:extLst>
              </p:nvPr>
            </p:nvGraphicFramePr>
            <p:xfrm>
              <a:off x="2364044" y="1566723"/>
              <a:ext cx="7614578" cy="371620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175594">
                      <a:extLst>
                        <a:ext uri="{9D8B030D-6E8A-4147-A177-3AD203B41FA5}">
                          <a16:colId xmlns:a16="http://schemas.microsoft.com/office/drawing/2014/main" val="1511351646"/>
                        </a:ext>
                      </a:extLst>
                    </a:gridCol>
                    <a:gridCol w="543898">
                      <a:extLst>
                        <a:ext uri="{9D8B030D-6E8A-4147-A177-3AD203B41FA5}">
                          <a16:colId xmlns:a16="http://schemas.microsoft.com/office/drawing/2014/main" val="926691125"/>
                        </a:ext>
                      </a:extLst>
                    </a:gridCol>
                    <a:gridCol w="2175594">
                      <a:extLst>
                        <a:ext uri="{9D8B030D-6E8A-4147-A177-3AD203B41FA5}">
                          <a16:colId xmlns:a16="http://schemas.microsoft.com/office/drawing/2014/main" val="3228882469"/>
                        </a:ext>
                      </a:extLst>
                    </a:gridCol>
                    <a:gridCol w="543898">
                      <a:extLst>
                        <a:ext uri="{9D8B030D-6E8A-4147-A177-3AD203B41FA5}">
                          <a16:colId xmlns:a16="http://schemas.microsoft.com/office/drawing/2014/main" val="2745407111"/>
                        </a:ext>
                      </a:extLst>
                    </a:gridCol>
                    <a:gridCol w="2175594">
                      <a:extLst>
                        <a:ext uri="{9D8B030D-6E8A-4147-A177-3AD203B41FA5}">
                          <a16:colId xmlns:a16="http://schemas.microsoft.com/office/drawing/2014/main" val="2331325074"/>
                        </a:ext>
                      </a:extLst>
                    </a:gridCol>
                  </a:tblGrid>
                  <a:tr h="371620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Braxton says 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less than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point B.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Justine disagrees with him and says 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to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greater than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Rainey says 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</a:t>
                          </a: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equal to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distance from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to point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8964655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00ED5802-1831-0E47-99F0-8FDA458D586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7822641"/>
                  </p:ext>
                </p:extLst>
              </p:nvPr>
            </p:nvGraphicFramePr>
            <p:xfrm>
              <a:off x="840044" y="1566723"/>
              <a:ext cx="7614578" cy="3716204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2175594">
                      <a:extLst>
                        <a:ext uri="{9D8B030D-6E8A-4147-A177-3AD203B41FA5}">
                          <a16:colId xmlns:a16="http://schemas.microsoft.com/office/drawing/2014/main" val="1511351646"/>
                        </a:ext>
                      </a:extLst>
                    </a:gridCol>
                    <a:gridCol w="543898">
                      <a:extLst>
                        <a:ext uri="{9D8B030D-6E8A-4147-A177-3AD203B41FA5}">
                          <a16:colId xmlns:a16="http://schemas.microsoft.com/office/drawing/2014/main" val="926691125"/>
                        </a:ext>
                      </a:extLst>
                    </a:gridCol>
                    <a:gridCol w="2175594">
                      <a:extLst>
                        <a:ext uri="{9D8B030D-6E8A-4147-A177-3AD203B41FA5}">
                          <a16:colId xmlns:a16="http://schemas.microsoft.com/office/drawing/2014/main" val="3228882469"/>
                        </a:ext>
                      </a:extLst>
                    </a:gridCol>
                    <a:gridCol w="543898">
                      <a:extLst>
                        <a:ext uri="{9D8B030D-6E8A-4147-A177-3AD203B41FA5}">
                          <a16:colId xmlns:a16="http://schemas.microsoft.com/office/drawing/2014/main" val="2745407111"/>
                        </a:ext>
                      </a:extLst>
                    </a:gridCol>
                    <a:gridCol w="2175594">
                      <a:extLst>
                        <a:ext uri="{9D8B030D-6E8A-4147-A177-3AD203B41FA5}">
                          <a16:colId xmlns:a16="http://schemas.microsoft.com/office/drawing/2014/main" val="2331325074"/>
                        </a:ext>
                      </a:extLst>
                    </a:gridCol>
                  </a:tblGrid>
                  <a:tr h="371620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85" t="-2048" r="-250877" b="-3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25000" t="-2048" r="-124419" b="-3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51462" t="-2048" b="-3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964655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577A7A9E-ED83-4BDF-A8D8-53B27CDC8DEA}"/>
              </a:ext>
            </a:extLst>
          </p:cNvPr>
          <p:cNvSpPr txBox="1"/>
          <p:nvPr/>
        </p:nvSpPr>
        <p:spPr>
          <a:xfrm>
            <a:off x="1232452" y="5039303"/>
            <a:ext cx="10362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who you think is correct. Write a summary of your discussion.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152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428231" y="-3230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4.4.3 Guided Instruction: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Distance on the Coordinate Plane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0931" y="17496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1311965" y="1386026"/>
                <a:ext cx="982410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coordinates of two small islands are labeled points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graph.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965" y="1386026"/>
                <a:ext cx="9824102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931" t="-656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26.png" descr="Chart, scatter chart&#10;&#10;Description automatically generated">
            <a:extLst>
              <a:ext uri="{FF2B5EF4-FFF2-40B4-BE49-F238E27FC236}">
                <a16:creationId xmlns:a16="http://schemas.microsoft.com/office/drawing/2014/main" id="{B744909C-AA28-CB4C-BB1F-ACFC6A9AA2E9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89164" y="2308483"/>
            <a:ext cx="4057730" cy="4057730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4FEE42-0EB8-4AA9-AC51-2F5680E57C9B}"/>
                  </a:ext>
                </a:extLst>
              </p:cNvPr>
              <p:cNvSpPr txBox="1"/>
              <p:nvPr/>
            </p:nvSpPr>
            <p:spPr>
              <a:xfrm>
                <a:off x="6529500" y="2363326"/>
                <a:ext cx="397255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Counting the grid lines, how far apart are the islands?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coordinates of points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(____, ____)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/>
                <a14:m>
                  <m:oMath xmlns:m="http://schemas.openxmlformats.org/officeDocument/2006/math">
                    <m:r>
                      <a:rPr lang="en-US" sz="200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(____, ____)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54FEE42-0EB8-4AA9-AC51-2F5680E57C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500" y="2363326"/>
                <a:ext cx="3972556" cy="4154984"/>
              </a:xfrm>
              <a:prstGeom prst="rect">
                <a:avLst/>
              </a:prstGeom>
              <a:blipFill>
                <a:blip r:embed="rId7"/>
                <a:stretch>
                  <a:fillRect t="-1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126435" y="288745"/>
                <a:ext cx="993913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-coordinates of the two points are the same.</a:t>
                </a:r>
              </a:p>
              <a:p>
                <a:pPr marL="914400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location of the two points relative to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435" y="288745"/>
                <a:ext cx="9939130" cy="3416320"/>
              </a:xfrm>
              <a:prstGeom prst="rect">
                <a:avLst/>
              </a:prstGeom>
              <a:blipFill rotWithShape="0">
                <a:blip r:embed="rId3"/>
                <a:stretch>
                  <a:fillRect t="-1604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03279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36AD0D-962B-694E-88DD-57C60A18BD42}"/>
              </a:ext>
            </a:extLst>
          </p:cNvPr>
          <p:cNvGrpSpPr/>
          <p:nvPr/>
        </p:nvGrpSpPr>
        <p:grpSpPr>
          <a:xfrm>
            <a:off x="2842260" y="2464525"/>
            <a:ext cx="6629400" cy="1404122"/>
            <a:chOff x="2031300" y="2902099"/>
            <a:chExt cx="6629400" cy="140494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2AD504C-9EC9-EE4B-B1E0-6D6FD35DA18D}"/>
                </a:ext>
              </a:extLst>
            </p:cNvPr>
            <p:cNvGrpSpPr/>
            <p:nvPr/>
          </p:nvGrpSpPr>
          <p:grpSpPr>
            <a:xfrm>
              <a:off x="2031300" y="2902099"/>
              <a:ext cx="6629400" cy="1404940"/>
              <a:chOff x="2031300" y="2901967"/>
              <a:chExt cx="6629400" cy="1405135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B55D4D6-2D18-014D-86DC-3B300002A081}"/>
                  </a:ext>
                </a:extLst>
              </p:cNvPr>
              <p:cNvSpPr/>
              <p:nvPr/>
            </p:nvSpPr>
            <p:spPr>
              <a:xfrm>
                <a:off x="2031300" y="3252877"/>
                <a:ext cx="6629400" cy="1054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r>
                  <a:rPr lang="en-US" sz="1200">
                    <a:latin typeface="Cambria" panose="02040503050406030204" pitchFamily="18" charset="0"/>
                    <a:ea typeface="MS Mincho" panose="02020609040205080304" pitchFamily="49" charset="-128"/>
                    <a:cs typeface="Cambria" panose="02040503050406030204" pitchFamily="18" charset="0"/>
                  </a:rPr>
                  <a:t> </a:t>
                </a: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6A7859B8-E6AB-CA48-BF37-10E601A05609}"/>
                  </a:ext>
                </a:extLst>
              </p:cNvPr>
              <p:cNvGrpSpPr/>
              <p:nvPr/>
            </p:nvGrpSpPr>
            <p:grpSpPr>
              <a:xfrm>
                <a:off x="2031300" y="2901967"/>
                <a:ext cx="6629400" cy="1405135"/>
                <a:chOff x="2031300" y="2901967"/>
                <a:chExt cx="6629400" cy="1405135"/>
              </a:xfrm>
            </p:grpSpPr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B7E43373-70A8-1344-860F-684B6DD752DE}"/>
                    </a:ext>
                  </a:extLst>
                </p:cNvPr>
                <p:cNvSpPr/>
                <p:nvPr/>
              </p:nvSpPr>
              <p:spPr>
                <a:xfrm>
                  <a:off x="2031300" y="3252877"/>
                  <a:ext cx="6629400" cy="10542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latin typeface="Cambria" panose="02040503050406030204" pitchFamily="18" charset="0"/>
                      <a:ea typeface="MS Mincho" panose="02020609040205080304" pitchFamily="49" charset="-128"/>
                      <a:cs typeface="Cambria" panose="02040503050406030204" pitchFamily="18" charset="0"/>
                    </a:rPr>
                    <a:t> </a:t>
                  </a:r>
                </a:p>
              </p:txBody>
            </p: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072A34F6-F2FF-5E42-8CBA-28BC79A0C4B1}"/>
                    </a:ext>
                  </a:extLst>
                </p:cNvPr>
                <p:cNvGrpSpPr/>
                <p:nvPr/>
              </p:nvGrpSpPr>
              <p:grpSpPr>
                <a:xfrm>
                  <a:off x="2031300" y="2901967"/>
                  <a:ext cx="6629400" cy="1405133"/>
                  <a:chOff x="2031300" y="2917642"/>
                  <a:chExt cx="6629400" cy="1380046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E550C05B-D0C6-6742-86A7-D5FCE89731DB}"/>
                      </a:ext>
                    </a:extLst>
                  </p:cNvPr>
                  <p:cNvSpPr/>
                  <p:nvPr/>
                </p:nvSpPr>
                <p:spPr>
                  <a:xfrm>
                    <a:off x="2031300" y="3262288"/>
                    <a:ext cx="6629400" cy="1035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>
                      <a:spcAft>
                        <a:spcPts val="1000"/>
                      </a:spcAft>
                    </a:pPr>
                    <a:r>
                      <a:rPr lang="en-US" sz="1200">
                        <a:latin typeface="Cambria" panose="02040503050406030204" pitchFamily="18" charset="0"/>
                        <a:ea typeface="MS Mincho" panose="02020609040205080304" pitchFamily="49" charset="-128"/>
                        <a:cs typeface="Cambria" panose="02040503050406030204" pitchFamily="18" charset="0"/>
                      </a:rPr>
                      <a:t> </a:t>
                    </a:r>
                  </a:p>
                </p:txBody>
              </p:sp>
              <p:grpSp>
                <p:nvGrpSpPr>
                  <p:cNvPr id="14" name="Group 13">
                    <a:extLst>
                      <a:ext uri="{FF2B5EF4-FFF2-40B4-BE49-F238E27FC236}">
                        <a16:creationId xmlns:a16="http://schemas.microsoft.com/office/drawing/2014/main" id="{1D4EBBBA-6A00-7148-9319-D7A2CB8EF345}"/>
                      </a:ext>
                    </a:extLst>
                  </p:cNvPr>
                  <p:cNvGrpSpPr/>
                  <p:nvPr/>
                </p:nvGrpSpPr>
                <p:grpSpPr>
                  <a:xfrm>
                    <a:off x="2031300" y="2917642"/>
                    <a:ext cx="6629400" cy="1380046"/>
                    <a:chOff x="2031300" y="3028954"/>
                    <a:chExt cx="6629400" cy="1380046"/>
                  </a:xfrm>
                </p:grpSpPr>
                <p:sp>
                  <p:nvSpPr>
                    <p:cNvPr id="15" name="Rectangle 14">
                      <a:extLst>
                        <a:ext uri="{FF2B5EF4-FFF2-40B4-BE49-F238E27FC236}">
                          <a16:creationId xmlns:a16="http://schemas.microsoft.com/office/drawing/2014/main" id="{103BB648-52D9-8144-B6D1-20F8A23E0E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031300" y="3373600"/>
                      <a:ext cx="6629400" cy="10354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>
                        <a:spcAft>
                          <a:spcPts val="1000"/>
                        </a:spcAft>
                      </a:pPr>
                      <a:r>
                        <a:rPr lang="en-US" sz="1200">
                          <a:latin typeface="Cambria" panose="02040503050406030204" pitchFamily="18" charset="0"/>
                          <a:ea typeface="MS Mincho" panose="02020609040205080304" pitchFamily="49" charset="-128"/>
                          <a:cs typeface="Cambria" panose="02040503050406030204" pitchFamily="18" charset="0"/>
                        </a:rPr>
                        <a:t> </a:t>
                      </a:r>
                    </a:p>
                  </p:txBody>
                </p:sp>
                <p:grpSp>
                  <p:nvGrpSpPr>
                    <p:cNvPr id="16" name="Group 15">
                      <a:extLst>
                        <a:ext uri="{FF2B5EF4-FFF2-40B4-BE49-F238E27FC236}">
                          <a16:creationId xmlns:a16="http://schemas.microsoft.com/office/drawing/2014/main" id="{E101CEBE-1E8E-7645-8A5A-D873E5A9CA6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031300" y="3028954"/>
                      <a:ext cx="6629400" cy="1295680"/>
                      <a:chOff x="2031300" y="3028954"/>
                      <a:chExt cx="6629400" cy="1295680"/>
                    </a:xfrm>
                  </p:grpSpPr>
                  <p:sp>
                    <p:nvSpPr>
                      <p:cNvPr id="17" name="Rectangle 16">
                        <a:extLst>
                          <a:ext uri="{FF2B5EF4-FFF2-40B4-BE49-F238E27FC236}">
                            <a16:creationId xmlns:a16="http://schemas.microsoft.com/office/drawing/2014/main" id="{F1A75C75-D0E2-604D-B47C-3D48B91E121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031300" y="3373600"/>
                        <a:ext cx="662940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spcFirstLastPara="1" wrap="square" lIns="91425" tIns="91425" rIns="91425" bIns="91425" anchor="ctr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1200"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rPr>
                          <a:t> </a:t>
                        </a:r>
                      </a:p>
                    </p:txBody>
                  </p:sp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50AE95F3-9CC6-C846-9A6E-94C90D75127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031300" y="3028954"/>
                        <a:ext cx="6629400" cy="1295680"/>
                        <a:chOff x="0" y="-344646"/>
                        <a:chExt cx="6629400" cy="1295680"/>
                      </a:xfrm>
                    </p:grpSpPr>
                    <p:sp>
                      <p:nvSpPr>
                        <p:cNvPr id="19" name="Rectangle 18">
                          <a:extLst>
                            <a:ext uri="{FF2B5EF4-FFF2-40B4-BE49-F238E27FC236}">
                              <a16:creationId xmlns:a16="http://schemas.microsoft.com/office/drawing/2014/main" id="{F570B84C-5433-0F4E-BEF1-99296BD014C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0"/>
                          <a:ext cx="6629400" cy="812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  <p:txBody>
                        <a:bodyPr spcFirstLastPara="1" wrap="square" lIns="91425" tIns="91425" rIns="91425" bIns="91425" anchor="ctr" anchorCtr="0">
                          <a:noAutofit/>
                        </a:bodyPr>
                        <a:lstStyle/>
                        <a:p>
                          <a:pPr>
                            <a:spcAft>
                              <a:spcPts val="1000"/>
                            </a:spcAft>
                          </a:pPr>
                          <a:r>
                            <a:rPr lang="en-US" sz="1200">
                              <a:latin typeface="Cambria" panose="02040503050406030204" pitchFamily="18" charset="0"/>
                              <a:ea typeface="MS Mincho" panose="02020609040205080304" pitchFamily="49" charset="-128"/>
                              <a:cs typeface="Cambria" panose="02040503050406030204" pitchFamily="18" charset="0"/>
                            </a:rPr>
                            <a:t> </a:t>
                          </a:r>
                        </a:p>
                      </p:txBody>
                    </p:sp>
                    <p:sp>
                      <p:nvSpPr>
                        <p:cNvPr id="20" name="Rounded Rectangle 19">
                          <a:extLst>
                            <a:ext uri="{FF2B5EF4-FFF2-40B4-BE49-F238E27FC236}">
                              <a16:creationId xmlns:a16="http://schemas.microsoft.com/office/drawing/2014/main" id="{983EFCA0-8EF0-2042-8F06-007B6CEAF23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0" y="-344646"/>
                          <a:ext cx="6629400" cy="1295680"/>
                        </a:xfrm>
                        <a:prstGeom prst="roundRect">
                          <a:avLst>
                            <a:gd name="adj" fmla="val 16667"/>
                          </a:avLst>
                        </a:prstGeom>
                        <a:solidFill>
                          <a:srgbClr val="E2EED5"/>
                        </a:solidFill>
                        <a:ln>
                          <a:noFill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txBody>
                        <a:bodyPr spcFirstLastPara="1" wrap="square" lIns="91425" tIns="45700" rIns="91425" bIns="45700" anchor="ctr" anchorCtr="0">
                          <a:noAutofit/>
                        </a:bodyPr>
                        <a:lstStyle/>
                        <a:p>
                          <a:pPr marL="685800" algn="just"/>
                          <a:r>
                            <a:rPr lang="en-US" sz="2400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The distance a number is from zero (0) on a number line is called the </a:t>
                          </a:r>
                          <a:r>
                            <a:rPr lang="en-US" sz="2400" b="1" i="1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absolute value</a:t>
                          </a:r>
                          <a:r>
                            <a:rPr lang="en-US" sz="2400" dirty="0">
                              <a:solidFill>
                                <a:srgbClr val="6C993D"/>
                              </a:solidFill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  <a:endParaRPr lang="en-US" sz="2400" dirty="0">
                            <a:latin typeface="Cambria" panose="02040503050406030204" pitchFamily="18" charset="0"/>
                            <a:ea typeface="MS Mincho" panose="02020609040205080304" pitchFamily="49" charset="-128"/>
                            <a:cs typeface="Cambria" panose="02040503050406030204" pitchFamily="18" charset="0"/>
                          </a:endParaRPr>
                        </a:p>
                      </p:txBody>
                    </p:sp>
                    <p:pic>
                      <p:nvPicPr>
                        <p:cNvPr id="21" name="Shape 29" descr="Icon&#10;&#10;Description automatically generated">
                          <a:extLst>
                            <a:ext uri="{FF2B5EF4-FFF2-40B4-BE49-F238E27FC236}">
                              <a16:creationId xmlns:a16="http://schemas.microsoft.com/office/drawing/2014/main" id="{EFCFDE02-7D91-C147-BCAB-A0BA295DFB2F}"/>
                            </a:ext>
                          </a:extLst>
                        </p:cNvPr>
                        <p:cNvPicPr preferRelativeResize="0"/>
                        <p:nvPr/>
                      </p:nvPicPr>
                      <p:blipFill rotWithShape="1">
                        <a:blip r:embed="rId3" cstate="screen">
                          <a:alphaModFix/>
                          <a:extLst>
                            <a:ext uri="{28A0092B-C50C-407E-A947-70E740481C1C}">
                              <a14:useLocalDpi xmlns:a14="http://schemas.microsoft.com/office/drawing/2010/main"/>
                            </a:ext>
                          </a:extLst>
                        </a:blip>
                        <a:srcRect/>
                        <a:stretch/>
                      </p:blipFill>
                      <p:spPr>
                        <a:xfrm>
                          <a:off x="121128" y="-236556"/>
                          <a:ext cx="539750" cy="5397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>
                          <a:outerShdw blurRad="50800" dist="381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</p:pic>
                  </p:grpSp>
                </p:grpSp>
              </p:grpSp>
            </p:grpSp>
          </p:grpSp>
        </p:grpSp>
      </p:grpSp>
      <p:sp>
        <p:nvSpPr>
          <p:cNvPr id="23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0471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258957" y="288746"/>
                <a:ext cx="967408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5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What is the absolute value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-coordinate of each point?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The absolute value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-coordinate of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is ____.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The absolute value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-coordinate of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 is ____.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6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</a:rPr>
                  <a:t>Write a mathematical sentence using absolute value that can be used to determine how far apart the two islands are.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957" y="288746"/>
                <a:ext cx="9674086" cy="4154984"/>
              </a:xfrm>
              <a:prstGeom prst="rect">
                <a:avLst/>
              </a:prstGeom>
              <a:blipFill rotWithShape="0">
                <a:blip r:embed="rId3"/>
                <a:stretch>
                  <a:fillRect l="-1009" t="-1320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40400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932432" y="288746"/>
                <a:ext cx="83271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Below is another coordinate plane with two different islands located at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32" y="288745"/>
                <a:ext cx="8327136" cy="830997"/>
              </a:xfrm>
              <a:prstGeom prst="rect">
                <a:avLst/>
              </a:prstGeom>
              <a:blipFill>
                <a:blip r:embed="rId4"/>
                <a:stretch>
                  <a:fillRect l="-1220" t="-5970" b="-134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33.png" descr="Chart, scatter chart&#10;&#10;Description automatically generated">
            <a:extLst>
              <a:ext uri="{FF2B5EF4-FFF2-40B4-BE49-F238E27FC236}">
                <a16:creationId xmlns:a16="http://schemas.microsoft.com/office/drawing/2014/main" id="{054DBF7B-072D-E148-A9D5-4575CA4F88BC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98173" y="1511760"/>
            <a:ext cx="4408805" cy="4688840"/>
          </a:xfrm>
          <a:prstGeom prst="rect">
            <a:avLst/>
          </a:prstGeom>
          <a:ln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86EC20-7DC1-4254-8B63-544954F32DFB}"/>
              </a:ext>
            </a:extLst>
          </p:cNvPr>
          <p:cNvSpPr txBox="1"/>
          <p:nvPr/>
        </p:nvSpPr>
        <p:spPr>
          <a:xfrm>
            <a:off x="6675265" y="1741994"/>
            <a:ext cx="340942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is the location of these two islands different from the first two you worked with?</a:t>
            </a:r>
          </a:p>
          <a:p>
            <a:pPr marL="914400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49263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Counting the grid lines, how far apart are the islands?</a:t>
            </a: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79283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126435" y="288745"/>
                <a:ext cx="993913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coordinates of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492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1373188" indent="-449263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(____,____)</a:t>
                </a:r>
              </a:p>
              <a:p>
                <a:pPr marL="1373188" indent="-4492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1373188" indent="-449263"/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: (____,____)</a:t>
                </a:r>
              </a:p>
              <a:p>
                <a:pPr marL="914400" indent="-449263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why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-coordinates of the two points are the same.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435" y="288745"/>
                <a:ext cx="9939130" cy="3416320"/>
              </a:xfrm>
              <a:prstGeom prst="rect">
                <a:avLst/>
              </a:prstGeom>
              <a:blipFill rotWithShape="0">
                <a:blip r:embed="rId3"/>
                <a:stretch>
                  <a:fillRect t="-1604"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600765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298713" y="288746"/>
                <a:ext cx="9594574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5"/>
                  <a:tabLst>
                    <a:tab pos="396875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location of the two points relative to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</a:t>
                </a:r>
              </a:p>
              <a:p>
                <a:pPr marL="914400" indent="-449263">
                  <a:tabLst>
                    <a:tab pos="396875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tabLst>
                    <a:tab pos="396875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tabLst>
                    <a:tab pos="396875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tabLst>
                    <a:tab pos="396875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tabLst>
                    <a:tab pos="396875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6"/>
                  <a:tabLst>
                    <a:tab pos="396875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absolute value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-coordinate of each point?</a:t>
                </a:r>
              </a:p>
              <a:p>
                <a:pPr marL="914400" indent="-449263">
                  <a:tabLst>
                    <a:tab pos="396875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1373188" indent="-449263">
                  <a:tabLst>
                    <a:tab pos="396875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absolute value of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______.</a:t>
                </a:r>
              </a:p>
              <a:p>
                <a:pPr marL="1373188" indent="-449263">
                  <a:tabLst>
                    <a:tab pos="396875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1373188" indent="-449263">
                  <a:tabLst>
                    <a:tab pos="396875" algn="l"/>
                  </a:tabLst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absolute value of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8713" y="288746"/>
                <a:ext cx="9594574" cy="4893647"/>
              </a:xfrm>
              <a:prstGeom prst="rect">
                <a:avLst/>
              </a:prstGeom>
              <a:blipFill rotWithShape="0">
                <a:blip r:embed="rId3"/>
                <a:stretch>
                  <a:fillRect t="-996" r="-635" b="-1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67692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1192696" y="288746"/>
            <a:ext cx="9806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 startAt="7"/>
              <a:tabLst>
                <a:tab pos="396875" algn="l"/>
              </a:tabLs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mathematical sentence using absolute value that can be used to determine how far apart the two islands are.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9350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6712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932432" y="288746"/>
                <a:ext cx="8327136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statements.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When finding the horizontal distance between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 points that lie on the same line, if the points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on opposite sides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-axis,                    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absolute value of the unlike coordinates. If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points are on the same side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-axis, 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then                 the absolute values of the </a:t>
                </a:r>
              </a:p>
              <a:p>
                <a:pPr marL="45720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unlike coordinates.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432" y="288745"/>
                <a:ext cx="8327136" cy="5632311"/>
              </a:xfrm>
              <a:prstGeom prst="rect">
                <a:avLst/>
              </a:prstGeom>
              <a:blipFill>
                <a:blip r:embed="rId4"/>
                <a:stretch>
                  <a:fillRect l="-1220" t="-899" b="-15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BEEB269-A391-E645-9277-2F0C3D23ABA7}"/>
              </a:ext>
            </a:extLst>
          </p:cNvPr>
          <p:cNvSpPr/>
          <p:nvPr/>
        </p:nvSpPr>
        <p:spPr>
          <a:xfrm>
            <a:off x="7970065" y="2281393"/>
            <a:ext cx="1670324" cy="787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</a:t>
            </a:r>
            <a:endParaRPr lang="en-US" sz="20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indent="-342900"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subtract </a:t>
            </a:r>
            <a:endParaRPr lang="en-US" sz="20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7061FD-DD6D-F24A-BF17-49CA1A9F0383}"/>
              </a:ext>
            </a:extLst>
          </p:cNvPr>
          <p:cNvSpPr/>
          <p:nvPr/>
        </p:nvSpPr>
        <p:spPr>
          <a:xfrm>
            <a:off x="3258728" y="4538750"/>
            <a:ext cx="1670324" cy="787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</a:t>
            </a:r>
            <a:endParaRPr lang="en-US" sz="20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indent="-342900"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subtract </a:t>
            </a:r>
            <a:endParaRPr lang="en-US" sz="20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14611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1932432" y="288745"/>
                <a:ext cx="8327136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/>
                <a:r>
                  <a:rPr lang="en-US" sz="2400" dirty="0"/>
                  <a:t>When finding the vertical distance between two points </a:t>
                </a:r>
              </a:p>
              <a:p>
                <a:pPr marL="457200"/>
                <a:r>
                  <a:rPr lang="en-US" sz="2400" dirty="0"/>
                  <a:t> </a:t>
                </a:r>
              </a:p>
              <a:p>
                <a:pPr marL="457200"/>
                <a:r>
                  <a:rPr lang="en-US" sz="2400" dirty="0"/>
                  <a:t>that lie on the same line, if the points are on the</a:t>
                </a:r>
              </a:p>
              <a:p>
                <a:pPr marL="457200"/>
                <a:r>
                  <a:rPr lang="en-US" sz="2400" dirty="0"/>
                  <a:t> </a:t>
                </a:r>
              </a:p>
              <a:p>
                <a:pPr marL="457200"/>
                <a:r>
                  <a:rPr lang="en-US" sz="2400" dirty="0"/>
                  <a:t>opposite sides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-axis,                       the absolute </a:t>
                </a:r>
              </a:p>
              <a:p>
                <a:pPr marL="457200"/>
                <a:r>
                  <a:rPr lang="en-US" sz="2400" dirty="0"/>
                  <a:t> </a:t>
                </a:r>
              </a:p>
              <a:p>
                <a:pPr marL="457200"/>
                <a:r>
                  <a:rPr lang="en-US" sz="2400" dirty="0"/>
                  <a:t>value of the unlike coordinates. If the points are on the </a:t>
                </a:r>
              </a:p>
              <a:p>
                <a:pPr marL="457200"/>
                <a:r>
                  <a:rPr lang="en-US" sz="2400" dirty="0"/>
                  <a:t> </a:t>
                </a:r>
              </a:p>
              <a:p>
                <a:pPr marL="457200"/>
                <a:r>
                  <a:rPr lang="en-US" sz="2400" dirty="0"/>
                  <a:t>same side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-axis, then                      the absolute </a:t>
                </a:r>
              </a:p>
              <a:p>
                <a:pPr marL="457200"/>
                <a:r>
                  <a:rPr lang="en-US" sz="2400" dirty="0"/>
                  <a:t> </a:t>
                </a:r>
              </a:p>
              <a:p>
                <a:pPr marL="457200"/>
                <a:r>
                  <a:rPr lang="en-US" sz="2400" dirty="0"/>
                  <a:t>value of the unlike coordinates.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432" y="288745"/>
                <a:ext cx="8327136" cy="4154984"/>
              </a:xfrm>
              <a:prstGeom prst="rect">
                <a:avLst/>
              </a:prstGeom>
              <a:blipFill rotWithShape="0">
                <a:blip r:embed="rId3"/>
                <a:stretch>
                  <a:fillRect t="-1026" b="-24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570D7BA-2277-1546-8486-B59C33FC597A}"/>
              </a:ext>
            </a:extLst>
          </p:cNvPr>
          <p:cNvSpPr/>
          <p:nvPr/>
        </p:nvSpPr>
        <p:spPr>
          <a:xfrm>
            <a:off x="6393813" y="1578837"/>
            <a:ext cx="1670324" cy="787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</a:t>
            </a:r>
            <a:endParaRPr lang="en-US" sz="20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indent="-342900"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subtract </a:t>
            </a:r>
            <a:endParaRPr lang="en-US" sz="20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E67F25A-7D9E-7042-AC31-D109C6C5C30F}"/>
              </a:ext>
            </a:extLst>
          </p:cNvPr>
          <p:cNvSpPr/>
          <p:nvPr/>
        </p:nvSpPr>
        <p:spPr>
          <a:xfrm>
            <a:off x="6479588" y="3031125"/>
            <a:ext cx="1670324" cy="787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</a:t>
            </a:r>
            <a:endParaRPr lang="en-US" sz="20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342900" indent="-342900">
              <a:buSzPts val="1800"/>
              <a:buFont typeface="Courier New" panose="02070309020205020404" pitchFamily="49" charset="0"/>
              <a:buChar char="o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subtract </a:t>
            </a:r>
            <a:endParaRPr lang="en-US" sz="2000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05799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300650" y="-810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4.4.4 Guided Practice: </a:t>
            </a: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</a:rPr>
              <a:t>Distances Between Rational Numbers</a:t>
            </a:r>
            <a:endParaRPr lang="en-US" sz="32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0842" y="15792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1444487" y="1386025"/>
                <a:ext cx="9559058" cy="1383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points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𝐸</m:t>
                    </m:r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−5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, 4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</a:t>
                </a:r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(7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, 4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coordinate plane.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4487" y="1386025"/>
                <a:ext cx="9559058" cy="1383712"/>
              </a:xfrm>
              <a:prstGeom prst="rect">
                <a:avLst/>
              </a:prstGeom>
              <a:blipFill rotWithShape="0">
                <a:blip r:embed="rId4"/>
                <a:stretch>
                  <a:fillRect l="-1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28.png" descr="Chart, line chart&#10;&#10;Description automatically generated">
            <a:extLst>
              <a:ext uri="{FF2B5EF4-FFF2-40B4-BE49-F238E27FC236}">
                <a16:creationId xmlns:a16="http://schemas.microsoft.com/office/drawing/2014/main" id="{E349C689-4780-C44E-95AA-4311FF29C02B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01201" y="2605928"/>
            <a:ext cx="4045630" cy="3758482"/>
          </a:xfrm>
          <a:prstGeom prst="rect">
            <a:avLst/>
          </a:prstGeom>
          <a:ln/>
        </p:spPr>
      </p:pic>
      <p:sp>
        <p:nvSpPr>
          <p:cNvPr id="12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1179443" y="386281"/>
                <a:ext cx="9080125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location of these points relative to the origin and the quadrants they lie in.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distance between point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443" y="386281"/>
                <a:ext cx="9080125" cy="3046988"/>
              </a:xfrm>
              <a:prstGeom prst="rect">
                <a:avLst/>
              </a:prstGeom>
              <a:blipFill rotWithShape="0">
                <a:blip r:embed="rId3"/>
                <a:stretch>
                  <a:fillRect t="-1600" r="-1141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155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1932432" y="386282"/>
                <a:ext cx="83271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the points </a:t>
                </a:r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−4, −3.25)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</a:t>
                </a:r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(−4, −0.5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coordinate plane.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432" y="386282"/>
                <a:ext cx="8327136" cy="830997"/>
              </a:xfrm>
              <a:prstGeom prst="rect">
                <a:avLst/>
              </a:prstGeom>
              <a:blipFill>
                <a:blip r:embed="rId3"/>
                <a:stretch>
                  <a:fillRect l="-1098" t="-656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24.png" descr="Chart, line chart&#10;&#10;Description automatically generated">
            <a:extLst>
              <a:ext uri="{FF2B5EF4-FFF2-40B4-BE49-F238E27FC236}">
                <a16:creationId xmlns:a16="http://schemas.microsoft.com/office/drawing/2014/main" id="{59190923-E9F0-CB47-B3B4-55548976F9BD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779203" y="1579391"/>
            <a:ext cx="4633595" cy="4516173"/>
          </a:xfrm>
          <a:prstGeom prst="rect">
            <a:avLst/>
          </a:prstGeom>
          <a:ln/>
        </p:spPr>
      </p:pic>
      <p:sp>
        <p:nvSpPr>
          <p:cNvPr id="8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9236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1007165" y="386281"/>
                <a:ext cx="1017767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Describe the location of these points relative to the origin and the quadrants they lie in.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distance between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165" y="386281"/>
                <a:ext cx="10177670" cy="3046988"/>
              </a:xfrm>
              <a:prstGeom prst="rect">
                <a:avLst/>
              </a:prstGeom>
              <a:blipFill rotWithShape="0">
                <a:blip r:embed="rId3"/>
                <a:stretch>
                  <a:fillRect t="-1600" b="-3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19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428231" y="170502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4.4.5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0931" y="170502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1272209" y="1386026"/>
                <a:ext cx="990361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distance from point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𝐵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209" y="1386026"/>
                <a:ext cx="9903614" cy="461665"/>
              </a:xfrm>
              <a:prstGeom prst="rect">
                <a:avLst/>
              </a:prstGeom>
              <a:blipFill rotWithShape="0">
                <a:blip r:embed="rId4"/>
                <a:stretch>
                  <a:fillRect l="-985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image32.png" descr="Chart, scatter chart&#10;&#10;Description automatically generated">
            <a:extLst>
              <a:ext uri="{FF2B5EF4-FFF2-40B4-BE49-F238E27FC236}">
                <a16:creationId xmlns:a16="http://schemas.microsoft.com/office/drawing/2014/main" id="{629579E2-A3B9-4D46-AE7C-CE6700D81677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05386" y="2036840"/>
            <a:ext cx="4237260" cy="4237260"/>
          </a:xfrm>
          <a:prstGeom prst="rect">
            <a:avLst/>
          </a:prstGeom>
          <a:ln/>
        </p:spPr>
      </p:pic>
      <p:sp>
        <p:nvSpPr>
          <p:cNvPr id="11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1060174" y="398474"/>
                <a:ext cx="1007165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which island is closest to island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Show your work.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174" y="398474"/>
                <a:ext cx="10071652" cy="830997"/>
              </a:xfrm>
              <a:prstGeom prst="rect">
                <a:avLst/>
              </a:prstGeom>
              <a:blipFill rotWithShape="0">
                <a:blip r:embed="rId3"/>
                <a:stretch>
                  <a:fillRect l="-969" t="-6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36.png">
            <a:extLst>
              <a:ext uri="{FF2B5EF4-FFF2-40B4-BE49-F238E27FC236}">
                <a16:creationId xmlns:a16="http://schemas.microsoft.com/office/drawing/2014/main" id="{E451E8F6-4EF4-684D-B6FC-E72770D90119}"/>
              </a:ext>
            </a:extLst>
          </p:cNvPr>
          <p:cNvPicPr/>
          <p:nvPr/>
        </p:nvPicPr>
        <p:blipFill>
          <a:blip r:embed="rId4"/>
          <a:srcRect/>
          <a:stretch/>
        </p:blipFill>
        <p:spPr>
          <a:xfrm>
            <a:off x="3717120" y="1515276"/>
            <a:ext cx="4757759" cy="4768850"/>
          </a:xfrm>
          <a:prstGeom prst="rect">
            <a:avLst/>
          </a:prstGeom>
          <a:ln/>
        </p:spPr>
      </p:pic>
      <p:sp>
        <p:nvSpPr>
          <p:cNvPr id="8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1311965" y="426753"/>
                <a:ext cx="956807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Five points are shown. Points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𝐴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 on the same vertical line. Points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𝐵</m:t>
                    </m:r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, </m:t>
                    </m:r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𝐶</m:t>
                    </m:r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 on a different vertical line. Points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𝐷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 on the same horizontal line.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1965" y="426753"/>
                <a:ext cx="9568070" cy="1938992"/>
              </a:xfrm>
              <a:prstGeom prst="rect">
                <a:avLst/>
              </a:prstGeom>
              <a:blipFill rotWithShape="0">
                <a:blip r:embed="rId3"/>
                <a:stretch>
                  <a:fillRect l="-955" t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23.png" descr="Chart, scatter chart&#10;&#10;Description automatically generated">
            <a:extLst>
              <a:ext uri="{FF2B5EF4-FFF2-40B4-BE49-F238E27FC236}">
                <a16:creationId xmlns:a16="http://schemas.microsoft.com/office/drawing/2014/main" id="{48F5FD4A-72AB-1B44-BB20-2FA1D80CC5DF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82919" y="2030584"/>
            <a:ext cx="4239312" cy="4053225"/>
          </a:xfrm>
          <a:prstGeom prst="rect">
            <a:avLst/>
          </a:prstGeom>
          <a:ln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5494A6D-6D9B-470A-B64C-5A5C9F9EE1B9}"/>
              </a:ext>
            </a:extLst>
          </p:cNvPr>
          <p:cNvSpPr txBox="1"/>
          <p:nvPr/>
        </p:nvSpPr>
        <p:spPr>
          <a:xfrm>
            <a:off x="6454564" y="1885532"/>
            <a:ext cx="40470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49263">
              <a:buFont typeface="+mj-lt"/>
              <a:buAutoNum type="alphaLcPeriod"/>
              <a:tabLst>
                <a:tab pos="396875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by filling in each missing coordinate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</a:t>
            </a: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F3B506A6-5A65-40DD-A7C5-34AF26C50A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6076708"/>
                  </p:ext>
                </p:extLst>
              </p:nvPr>
            </p:nvGraphicFramePr>
            <p:xfrm>
              <a:off x="7072719" y="3295544"/>
              <a:ext cx="3286805" cy="278826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918209">
                      <a:extLst>
                        <a:ext uri="{9D8B030D-6E8A-4147-A177-3AD203B41FA5}">
                          <a16:colId xmlns:a16="http://schemas.microsoft.com/office/drawing/2014/main" val="3110512403"/>
                        </a:ext>
                      </a:extLst>
                    </a:gridCol>
                    <a:gridCol w="2368596">
                      <a:extLst>
                        <a:ext uri="{9D8B030D-6E8A-4147-A177-3AD203B41FA5}">
                          <a16:colId xmlns:a16="http://schemas.microsoft.com/office/drawing/2014/main" val="3225094664"/>
                        </a:ext>
                      </a:extLst>
                    </a:gridCol>
                  </a:tblGrid>
                  <a:tr h="557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𝑨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(−1.5, _____ 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10836357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𝑩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(____, 2)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68960002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𝑪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(3.5 , _____ 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13955588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(3.5 , _____)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02318347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(_____ , −4.5)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544054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F3B506A6-5A65-40DD-A7C5-34AF26C50AD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46076708"/>
                  </p:ext>
                </p:extLst>
              </p:nvPr>
            </p:nvGraphicFramePr>
            <p:xfrm>
              <a:off x="5548718" y="3295543"/>
              <a:ext cx="3286805" cy="2788265"/>
            </p:xfrm>
            <a:graphic>
              <a:graphicData uri="http://schemas.openxmlformats.org/drawingml/2006/table">
                <a:tbl>
                  <a:tblPr bandRow="1">
                    <a:tableStyleId>{A91F0D33-8C57-4600-99A7-42BC86742BE1}</a:tableStyleId>
                  </a:tblPr>
                  <a:tblGrid>
                    <a:gridCol w="918209">
                      <a:extLst>
                        <a:ext uri="{9D8B030D-6E8A-4147-A177-3AD203B41FA5}">
                          <a16:colId xmlns:a16="http://schemas.microsoft.com/office/drawing/2014/main" val="3110512403"/>
                        </a:ext>
                      </a:extLst>
                    </a:gridCol>
                    <a:gridCol w="2368596">
                      <a:extLst>
                        <a:ext uri="{9D8B030D-6E8A-4147-A177-3AD203B41FA5}">
                          <a16:colId xmlns:a16="http://schemas.microsoft.com/office/drawing/2014/main" val="3225094664"/>
                        </a:ext>
                      </a:extLst>
                    </a:gridCol>
                  </a:tblGrid>
                  <a:tr h="55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62" t="-1087" r="-258940" b="-4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075" t="-1087" r="-514" b="-4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10836357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62" t="-102198" r="-258940" b="-3054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075" t="-102198" r="-514" b="-3054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8960002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62" t="-200000" r="-258940" b="-2021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075" t="-200000" r="-514" b="-2021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3955588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62" t="-303297" r="-258940" b="-10439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075" t="-303297" r="-514" b="-1043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2318347"/>
                      </a:ext>
                    </a:extLst>
                  </a:tr>
                  <a:tr h="5576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62" t="-398913" r="-258940" b="-326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9075" t="-398913" r="-514" b="-3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440542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04617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1126435" y="398474"/>
                <a:ext cx="9939130" cy="4154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points </a:t>
                </a:r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 units.</a:t>
                </a:r>
              </a:p>
              <a:p>
                <a:pPr marL="914400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points </a:t>
                </a:r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 units.</a:t>
                </a:r>
              </a:p>
              <a:p>
                <a:pPr marL="914400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points </a:t>
                </a:r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_______ units.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6435" y="398474"/>
                <a:ext cx="9939130" cy="4154984"/>
              </a:xfrm>
              <a:prstGeom prst="rect">
                <a:avLst/>
              </a:prstGeom>
              <a:blipFill rotWithShape="0">
                <a:blip r:embed="rId3"/>
                <a:stretch>
                  <a:fillRect t="-1173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015736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1219200" y="398474"/>
            <a:ext cx="975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coordinate plane below to determine distances between the following points. </a:t>
            </a:r>
          </a:p>
        </p:txBody>
      </p:sp>
      <p:pic>
        <p:nvPicPr>
          <p:cNvPr id="7" name="image35.png" descr="A picture containing shoji, text, crossword puzzle&#10;&#10;Description automatically generated">
            <a:extLst>
              <a:ext uri="{FF2B5EF4-FFF2-40B4-BE49-F238E27FC236}">
                <a16:creationId xmlns:a16="http://schemas.microsoft.com/office/drawing/2014/main" id="{C4601414-FE0C-6D4D-98C6-754CA2BE0519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28513" y="1722907"/>
            <a:ext cx="4522470" cy="4522470"/>
          </a:xfrm>
          <a:prstGeom prst="rect">
            <a:avLst/>
          </a:prstGeom>
          <a:ln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B3F9B3-3055-4050-9202-21E46B6A029F}"/>
                  </a:ext>
                </a:extLst>
              </p:cNvPr>
              <p:cNvSpPr txBox="1"/>
              <p:nvPr/>
            </p:nvSpPr>
            <p:spPr>
              <a:xfrm>
                <a:off x="6650984" y="1489083"/>
                <a:ext cx="3513119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points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 units.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distance between points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H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_____ units.</a:t>
                </a: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Which points are the same distance from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(2, 1)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B3F9B3-3055-4050-9202-21E46B6A0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6983" y="1489082"/>
                <a:ext cx="3513119" cy="4708981"/>
              </a:xfrm>
              <a:prstGeom prst="rect">
                <a:avLst/>
              </a:prstGeom>
              <a:blipFill>
                <a:blip r:embed="rId5"/>
                <a:stretch>
                  <a:fillRect t="-776" r="-1910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851899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608087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4.4.6 Wrap-Up: Cool Down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2885" y="27619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440185" y="1386025"/>
            <a:ext cx="95676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Your friend is absent today and will need the notes from class. Write a quick note to help them learn how to find the distance between two points on a coordinate plane. 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661637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158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99863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1343</TotalTime>
  <Words>1334</Words>
  <Application>Microsoft Macintosh PowerPoint</Application>
  <PresentationFormat>Widescreen</PresentationFormat>
  <Paragraphs>249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Arial</vt:lpstr>
      <vt:lpstr>Arial Black</vt:lpstr>
      <vt:lpstr>Calibri</vt:lpstr>
      <vt:lpstr>Cambria</vt:lpstr>
      <vt:lpstr>Cambria Math</vt:lpstr>
      <vt:lpstr>Century Gothic</vt:lpstr>
      <vt:lpstr>Courier New</vt:lpstr>
      <vt:lpstr>Verdana</vt:lpstr>
      <vt:lpstr>Wingdings</vt:lpstr>
      <vt:lpstr>1_Office Theme</vt:lpstr>
      <vt:lpstr>6th Grade Accelerated Math  Unit 4, Lesson 4  Distance on the Coordinate Plane  Volume 1, pg. 151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Mary Freeman</cp:lastModifiedBy>
  <cp:revision>24</cp:revision>
  <dcterms:created xsi:type="dcterms:W3CDTF">2015-03-17T18:51:18Z</dcterms:created>
  <dcterms:modified xsi:type="dcterms:W3CDTF">2023-01-26T02:40:08Z</dcterms:modified>
</cp:coreProperties>
</file>