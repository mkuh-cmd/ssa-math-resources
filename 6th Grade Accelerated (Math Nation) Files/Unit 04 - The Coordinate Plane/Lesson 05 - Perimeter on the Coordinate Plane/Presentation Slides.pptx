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85" r:id="rId4"/>
    <p:sldId id="286" r:id="rId5"/>
    <p:sldId id="261" r:id="rId6"/>
    <p:sldId id="287" r:id="rId7"/>
    <p:sldId id="288" r:id="rId8"/>
    <p:sldId id="289" r:id="rId9"/>
    <p:sldId id="290" r:id="rId10"/>
    <p:sldId id="308" r:id="rId11"/>
    <p:sldId id="332" r:id="rId12"/>
    <p:sldId id="333" r:id="rId13"/>
    <p:sldId id="334" r:id="rId14"/>
    <p:sldId id="335" r:id="rId15"/>
    <p:sldId id="320" r:id="rId16"/>
    <p:sldId id="321" r:id="rId17"/>
    <p:sldId id="322" r:id="rId18"/>
    <p:sldId id="336" r:id="rId19"/>
    <p:sldId id="314" r:id="rId20"/>
    <p:sldId id="315" r:id="rId21"/>
    <p:sldId id="316" r:id="rId22"/>
    <p:sldId id="337" r:id="rId23"/>
    <p:sldId id="338" r:id="rId24"/>
    <p:sldId id="339" r:id="rId25"/>
    <p:sldId id="340" r:id="rId26"/>
    <p:sldId id="302" r:id="rId27"/>
    <p:sldId id="303" r:id="rId28"/>
    <p:sldId id="309" r:id="rId29"/>
    <p:sldId id="341" r:id="rId30"/>
    <p:sldId id="342" r:id="rId31"/>
    <p:sldId id="306" r:id="rId32"/>
    <p:sldId id="307" r:id="rId33"/>
    <p:sldId id="310"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9"/>
    <p:restoredTop sz="94549"/>
  </p:normalViewPr>
  <p:slideViewPr>
    <p:cSldViewPr snapToGrid="0">
      <p:cViewPr varScale="1">
        <p:scale>
          <a:sx n="79" d="100"/>
          <a:sy n="79" d="100"/>
        </p:scale>
        <p:origin x="66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63"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6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64"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09535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44414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946601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10760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75090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34967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081540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947642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12189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540458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244435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4016388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tiff"/><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tiff"/></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tiff"/><Relationship Id="rId4" Type="http://schemas.openxmlformats.org/officeDocument/2006/relationships/image" Target="../media/image25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1.tiff"/><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2.tiff"/><Relationship Id="rId7"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10.png"/><Relationship Id="rId5" Type="http://schemas.openxmlformats.org/officeDocument/2006/relationships/image" Target="../media/image300.png"/><Relationship Id="rId9"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4,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Perimeter on the Coordinate Plane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a:t>
            </a:r>
            <a:r>
              <a:rPr lang="en-US" sz="2800" b="1" dirty="0">
                <a:solidFill>
                  <a:srgbClr val="417DBF"/>
                </a:solidFill>
                <a:latin typeface="Verdana"/>
                <a:ea typeface="Verdana"/>
                <a:cs typeface="Verdana"/>
                <a:sym typeface="Verdana"/>
              </a:rPr>
              <a:t>pg. 159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70832"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20827" y="27373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70832" y="1600200"/>
                <a:ext cx="863996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2400" dirty="0">
                    <a:latin typeface="Verdana" panose="020B0604030504040204" pitchFamily="34" charset="0"/>
                    <a:ea typeface="Verdana" panose="020B0604030504040204" pitchFamily="34" charset="0"/>
                    <a:cs typeface="Verdana" panose="020B0604030504040204" pitchFamily="34" charset="0"/>
                  </a:rPr>
                  <a:t>6.GR.1.2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Find distances between ordered pairs, limited to the same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-coordinate or the same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-coordinate, represented on the coordinate plane.</a:t>
                </a: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2400" dirty="0">
                    <a:latin typeface="Verdana" panose="020B0604030504040204" pitchFamily="34" charset="0"/>
                    <a:ea typeface="Verdana" panose="020B0604030504040204" pitchFamily="34" charset="0"/>
                    <a:cs typeface="Verdana" panose="020B0604030504040204" pitchFamily="34" charset="0"/>
                  </a:rPr>
                  <a:t>6.GR.1.3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by plotting points on a coordinate plane, including finding the perimeter or area of a rectangle.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mc:Choice>
        <mc:Fallback xmlns="">
          <p:sp>
            <p:nvSpPr>
              <p:cNvPr id="8" name="Google Shape;280;g104476d1465_1_17">
                <a:extLst>
                  <a:ext uri="{FF2B5EF4-FFF2-40B4-BE49-F238E27FC236}">
                    <a16:creationId xmlns:a16="http://schemas.microsoft.com/office/drawing/2014/main" xmlns:a14="http://schemas.microsoft.com/office/drawing/2010/main" xmlns="" id="{527A9F9F-07B8-ED47-B967-E5507C67DBC5}"/>
                  </a:ext>
                </a:extLst>
              </p:cNvPr>
              <p:cNvSpPr txBox="1">
                <a:spLocks noRot="1" noChangeAspect="1" noMove="1" noResize="1" noEditPoints="1" noAdjustHandles="1" noChangeArrowheads="1" noChangeShapeType="1" noTextEdit="1"/>
              </p:cNvSpPr>
              <p:nvPr/>
            </p:nvSpPr>
            <p:spPr>
              <a:xfrm>
                <a:off x="1570832" y="1600200"/>
                <a:ext cx="8639968" cy="4205700"/>
              </a:xfrm>
              <a:prstGeom prst="rect">
                <a:avLst/>
              </a:prstGeom>
              <a:blipFill rotWithShape="0">
                <a:blip r:embed="rId5"/>
                <a:stretch>
                  <a:fillRect l="-1129"/>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47332" y="24263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71982"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96278" y="1596390"/>
            <a:ext cx="938720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109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3799" y="30456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61099" y="1600200"/>
            <a:ext cx="874970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find distances between ordered pairs. </a:t>
            </a: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find the dimensions of a rectangle on a coordinate plane.</a:t>
            </a: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find the perimeter of a rectangle on a coordinate plane.</a:t>
            </a:r>
          </a:p>
        </p:txBody>
      </p:sp>
      <p:sp>
        <p:nvSpPr>
          <p:cNvPr id="9"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 name="TextBox 1">
            <a:extLst>
              <a:ext uri="{FF2B5EF4-FFF2-40B4-BE49-F238E27FC236}">
                <a16:creationId xmlns:a16="http://schemas.microsoft.com/office/drawing/2014/main" id="{E1D7562E-134F-D14B-AF1A-DF40E11EF758}"/>
              </a:ext>
            </a:extLst>
          </p:cNvPr>
          <p:cNvSpPr txBox="1"/>
          <p:nvPr/>
        </p:nvSpPr>
        <p:spPr>
          <a:xfrm>
            <a:off x="2060448" y="1386026"/>
            <a:ext cx="8327136"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each statement to describe your understanding.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how to plot rational number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ordered pairs in all four quadrants.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how to find the perimeter and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area of rectangles.</a:t>
            </a:r>
          </a:p>
        </p:txBody>
      </p:sp>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0649" y="14506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4.5.1 Warm-Up: Self-Assessment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3349" y="270320"/>
            <a:ext cx="747300" cy="747300"/>
          </a:xfrm>
          <a:prstGeom prst="rect">
            <a:avLst/>
          </a:prstGeom>
          <a:noFill/>
          <a:ln>
            <a:noFill/>
          </a:ln>
          <a:effectLst>
            <a:outerShdw blurRad="50800" dist="38100" dir="2700000" algn="tl" rotWithShape="0">
              <a:prstClr val="black">
                <a:alpha val="40000"/>
              </a:prstClr>
            </a:outerShdw>
          </a:effectLst>
        </p:spPr>
      </p:pic>
      <p:sp>
        <p:nvSpPr>
          <p:cNvPr id="9" name="Rounded Rectangle 8">
            <a:extLst>
              <a:ext uri="{FF2B5EF4-FFF2-40B4-BE49-F238E27FC236}">
                <a16:creationId xmlns:a16="http://schemas.microsoft.com/office/drawing/2014/main" id="{8C798AC4-498D-594D-ACAC-BEAAF1516E7A}"/>
              </a:ext>
            </a:extLst>
          </p:cNvPr>
          <p:cNvSpPr/>
          <p:nvPr/>
        </p:nvSpPr>
        <p:spPr>
          <a:xfrm>
            <a:off x="2146200" y="2588384"/>
            <a:ext cx="3157321" cy="8388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2" name="Rounded Rectangle 11">
            <a:extLst>
              <a:ext uri="{FF2B5EF4-FFF2-40B4-BE49-F238E27FC236}">
                <a16:creationId xmlns:a16="http://schemas.microsoft.com/office/drawing/2014/main" id="{5E03538F-CF8D-7547-BC0C-1F9919FE5133}"/>
              </a:ext>
            </a:extLst>
          </p:cNvPr>
          <p:cNvSpPr/>
          <p:nvPr/>
        </p:nvSpPr>
        <p:spPr>
          <a:xfrm>
            <a:off x="2146200" y="4398987"/>
            <a:ext cx="3157321" cy="8388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			     how to find the vertical or</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horizontal distance between two ordered pairs that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are located in the same or different quadrants.</a:t>
            </a:r>
          </a:p>
        </p:txBody>
      </p:sp>
      <p:sp>
        <p:nvSpPr>
          <p:cNvPr id="6" name="Rounded Rectangle 5">
            <a:extLst>
              <a:ext uri="{FF2B5EF4-FFF2-40B4-BE49-F238E27FC236}">
                <a16:creationId xmlns:a16="http://schemas.microsoft.com/office/drawing/2014/main" id="{74448998-444D-814F-954D-DA991E9F756D}"/>
              </a:ext>
            </a:extLst>
          </p:cNvPr>
          <p:cNvSpPr/>
          <p:nvPr/>
        </p:nvSpPr>
        <p:spPr>
          <a:xfrm>
            <a:off x="2103561" y="361578"/>
            <a:ext cx="3157321" cy="8388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159</a:t>
            </a: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160</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0893" y="-35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4.5.2 Guided Instruction: </a:t>
            </a:r>
            <a:r>
              <a:rPr lang="en-US" sz="2800" b="1" dirty="0">
                <a:solidFill>
                  <a:srgbClr val="54B5D1"/>
                </a:solidFill>
                <a:latin typeface="Verdana"/>
                <a:ea typeface="Verdana"/>
                <a:cs typeface="Verdana"/>
              </a:rPr>
              <a:t>Dimensions and Perimeters of Rectangles</a:t>
            </a:r>
            <a:endParaRPr lang="en-US" sz="28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13593" y="17169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260893" y="1386026"/>
                <a:ext cx="9926246"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rectangle has vertices at the points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𝐴</m:t>
                    </m:r>
                    <m:r>
                      <a:rPr lang="en-US" sz="240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−4, −5),  </m:t>
                    </m:r>
                    <m:r>
                      <a:rPr lang="en-US" sz="2400">
                        <a:latin typeface="Cambria Math" panose="02040503050406030204" pitchFamily="18" charset="0"/>
                        <a:ea typeface="Verdana" panose="020B0604030504040204" pitchFamily="34" charset="0"/>
                        <a:cs typeface="Verdana" panose="020B0604030504040204" pitchFamily="34" charset="0"/>
                      </a:rPr>
                      <m:t>𝐵</m:t>
                    </m:r>
                    <m:r>
                      <a:rPr lang="en-US" sz="2400">
                        <a:latin typeface="Cambria Math" panose="02040503050406030204" pitchFamily="18" charset="0"/>
                        <a:ea typeface="Verdana" panose="020B0604030504040204" pitchFamily="34" charset="0"/>
                        <a:cs typeface="Verdana" panose="020B0604030504040204" pitchFamily="34" charset="0"/>
                      </a:rPr>
                      <m:t> (−4, 3),  </m:t>
                    </m:r>
                    <m:r>
                      <a:rPr lang="en-US" sz="2400">
                        <a:latin typeface="Cambria Math" panose="02040503050406030204" pitchFamily="18" charset="0"/>
                        <a:ea typeface="Verdana" panose="020B0604030504040204" pitchFamily="34" charset="0"/>
                        <a:cs typeface="Verdana" panose="020B0604030504040204" pitchFamily="34" charset="0"/>
                      </a:rPr>
                      <m:t>𝐶</m:t>
                    </m:r>
                    <m:r>
                      <a:rPr lang="en-US" sz="2400">
                        <a:latin typeface="Cambria Math" panose="02040503050406030204" pitchFamily="18" charset="0"/>
                        <a:ea typeface="Verdana" panose="020B0604030504040204" pitchFamily="34" charset="0"/>
                        <a:cs typeface="Verdana" panose="020B0604030504040204" pitchFamily="34" charset="0"/>
                      </a:rPr>
                      <m:t> (3, 3)</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𝐷</m:t>
                    </m:r>
                    <m:r>
                      <a:rPr lang="en-US" sz="2400">
                        <a:latin typeface="Cambria Math" panose="02040503050406030204" pitchFamily="18" charset="0"/>
                        <a:ea typeface="Verdana" panose="020B0604030504040204" pitchFamily="34" charset="0"/>
                        <a:cs typeface="Verdana" panose="020B0604030504040204" pitchFamily="34" charset="0"/>
                      </a:rPr>
                      <m:t> (3, −5)</m:t>
                    </m:r>
                  </m:oMath>
                </a14:m>
                <a:r>
                  <a:rPr lang="en-US" sz="2400" dirty="0">
                    <a:latin typeface="Verdana" panose="020B0604030504040204" pitchFamily="34" charset="0"/>
                    <a:ea typeface="Verdana" panose="020B0604030504040204" pitchFamily="34" charset="0"/>
                    <a:cs typeface="Verdana" panose="020B0604030504040204" pitchFamily="34" charset="0"/>
                  </a:rPr>
                  <a:t> as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260893" y="1386026"/>
                <a:ext cx="9926246" cy="1200329"/>
              </a:xfrm>
              <a:prstGeom prst="rect">
                <a:avLst/>
              </a:prstGeom>
              <a:blipFill rotWithShape="0">
                <a:blip r:embed="rId4"/>
                <a:stretch>
                  <a:fillRect l="-983" t="-38579" b="-20305"/>
                </a:stretch>
              </a:blipFill>
            </p:spPr>
            <p:txBody>
              <a:bodyPr/>
              <a:lstStyle/>
              <a:p>
                <a:r>
                  <a:rPr lang="en-US">
                    <a:noFill/>
                  </a:rPr>
                  <a:t> </a:t>
                </a:r>
              </a:p>
            </p:txBody>
          </p:sp>
        </mc:Fallback>
      </mc:AlternateContent>
      <p:pic>
        <p:nvPicPr>
          <p:cNvPr id="8" name="Picture 7" descr="Chart&#10;&#10;Description automatically generated">
            <a:extLst>
              <a:ext uri="{FF2B5EF4-FFF2-40B4-BE49-F238E27FC236}">
                <a16:creationId xmlns:a16="http://schemas.microsoft.com/office/drawing/2014/main" id="{66C3E58D-AD71-564E-9B09-FCE1F28B69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06926" y="2519931"/>
            <a:ext cx="4213542" cy="3503433"/>
          </a:xfrm>
          <a:prstGeom prst="rect">
            <a:avLst/>
          </a:prstGeom>
        </p:spPr>
      </p:pic>
      <p:sp>
        <p:nvSpPr>
          <p:cNvPr id="11"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160</a:t>
            </a: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126435" y="288745"/>
                <a:ext cx="9939130" cy="4154984"/>
              </a:xfrm>
              <a:prstGeom prst="rect">
                <a:avLst/>
              </a:prstGeom>
              <a:noFill/>
            </p:spPr>
            <p:txBody>
              <a:bodyPr wrap="square" rtlCol="0">
                <a:spAutoFit/>
              </a:bodyPr>
              <a:lstStyle/>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distance between points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𝐷</m:t>
                    </m:r>
                  </m:oMath>
                </a14:m>
                <a:r>
                  <a:rPr lang="en-US" sz="2400" dirty="0">
                    <a:latin typeface="Verdana" panose="020B0604030504040204" pitchFamily="34" charset="0"/>
                    <a:ea typeface="Verdana" panose="020B0604030504040204" pitchFamily="34" charset="0"/>
                    <a:cs typeface="Verdana" panose="020B0604030504040204" pitchFamily="34" charset="0"/>
                  </a:rPr>
                  <a:t> is the length of the rectangle. The length of the rectangle is _________ units.</a:t>
                </a: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other two points on the rectangle are the same distance apart as points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𝐷</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126435" y="288745"/>
                <a:ext cx="9939130" cy="4154984"/>
              </a:xfrm>
              <a:prstGeom prst="rect">
                <a:avLst/>
              </a:prstGeom>
              <a:blipFill rotWithShape="0">
                <a:blip r:embed="rId3"/>
                <a:stretch>
                  <a:fillRect t="-1320" r="-798"/>
                </a:stretch>
              </a:blipFill>
            </p:spPr>
            <p:txBody>
              <a:bodyPr/>
              <a:lstStyle/>
              <a:p>
                <a:r>
                  <a:rPr lang="en-US">
                    <a:noFill/>
                  </a:rPr>
                  <a:t> </a:t>
                </a:r>
              </a:p>
            </p:txBody>
          </p:sp>
        </mc:Fallback>
      </mc:AlternateContent>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160</a:t>
            </a: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272209" y="288745"/>
            <a:ext cx="9647582" cy="3046988"/>
          </a:xfrm>
          <a:prstGeom prst="rect">
            <a:avLst/>
          </a:prstGeom>
          <a:noFill/>
        </p:spPr>
        <p:txBody>
          <a:bodyPr wrap="square" rtlCol="0">
            <a:spAutoFit/>
          </a:bodyPr>
          <a:lstStyle/>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Between which two points is the line segment that represents the width of the rectangle?</a:t>
            </a: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Find the width of the rectangle.</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160</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23579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695"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311965" y="288745"/>
                <a:ext cx="9568070"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Sonja’s family installed a new pool. Sonja’s dad wants to put up a fence, shown as a blue rectangle, around the pool for safety. The scale of the grid is represented in meters (m). He needs to know how much fencing he will need.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rectangle that represents the fence has vertices at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−1</m:t>
                        </m:r>
                      </m:e>
                    </m:d>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(5, −1)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311965" y="288745"/>
                <a:ext cx="9568070" cy="5940088"/>
              </a:xfrm>
              <a:prstGeom prst="rect">
                <a:avLst/>
              </a:prstGeom>
              <a:blipFill rotWithShape="0">
                <a:blip r:embed="rId3"/>
                <a:stretch>
                  <a:fillRect l="-701" t="-615" r="-1401" b="-7692"/>
                </a:stretch>
              </a:blipFill>
            </p:spPr>
            <p:txBody>
              <a:bodyPr/>
              <a:lstStyle/>
              <a:p>
                <a:r>
                  <a:rPr lang="en-US">
                    <a:noFill/>
                  </a:rPr>
                  <a:t> </a:t>
                </a:r>
              </a:p>
            </p:txBody>
          </p:sp>
        </mc:Fallback>
      </mc:AlternateContent>
      <p:pic>
        <p:nvPicPr>
          <p:cNvPr id="6" name="Picture 5" descr="Chart, scatter chart&#10;&#10;Description automatically generated">
            <a:extLst>
              <a:ext uri="{FF2B5EF4-FFF2-40B4-BE49-F238E27FC236}">
                <a16:creationId xmlns:a16="http://schemas.microsoft.com/office/drawing/2014/main" id="{E27DDFB5-EE21-6640-92E0-9439F025B26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33969" y="1868203"/>
            <a:ext cx="4924062" cy="3465298"/>
          </a:xfrm>
          <a:prstGeom prst="rect">
            <a:avLst/>
          </a:prstGeom>
        </p:spPr>
      </p:pic>
      <p:sp>
        <p:nvSpPr>
          <p:cNvPr id="8"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161</a:t>
            </a: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60822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205948" y="288746"/>
                <a:ext cx="9780104" cy="5262979"/>
              </a:xfrm>
              <a:prstGeom prst="rect">
                <a:avLst/>
              </a:prstGeom>
              <a:noFill/>
            </p:spPr>
            <p:txBody>
              <a:bodyPr wrap="square" rtlCol="0">
                <a:spAutoFit/>
              </a:bodyPr>
              <a:lstStyle/>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points </a:t>
                </a:r>
                <a14:m>
                  <m:oMath xmlns:m="http://schemas.openxmlformats.org/officeDocument/2006/math">
                    <m:r>
                      <a:rPr lang="en-US" sz="2400" i="1">
                        <a:latin typeface="Cambria Math" panose="02040503050406030204" pitchFamily="18" charset="0"/>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𝐷</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points </a:t>
                </a:r>
                <a14:m>
                  <m:oMath xmlns:m="http://schemas.openxmlformats.org/officeDocument/2006/math">
                    <m:r>
                      <a:rPr lang="en-US" sz="2400" i="1">
                        <a:latin typeface="Cambria Math" panose="02040503050406030204" pitchFamily="18" charset="0"/>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𝐵</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205948" y="288746"/>
                <a:ext cx="9780104" cy="5262979"/>
              </a:xfrm>
              <a:prstGeom prst="rect">
                <a:avLst/>
              </a:prstGeom>
              <a:blipFill rotWithShape="0">
                <a:blip r:embed="rId3"/>
                <a:stretch>
                  <a:fillRect t="-926"/>
                </a:stretch>
              </a:blipFill>
            </p:spPr>
            <p:txBody>
              <a:bodyPr/>
              <a:lstStyle/>
              <a:p>
                <a:r>
                  <a:rPr lang="en-US">
                    <a:noFill/>
                  </a:rPr>
                  <a:t> </a:t>
                </a:r>
              </a:p>
            </p:txBody>
          </p:sp>
        </mc:Fallback>
      </mc:AlternateContent>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161</a:t>
            </a: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05096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351722" y="288745"/>
            <a:ext cx="9488556" cy="3046988"/>
          </a:xfrm>
          <a:prstGeom prst="rect">
            <a:avLst/>
          </a:prstGeom>
          <a:noFill/>
        </p:spPr>
        <p:txBody>
          <a:bodyPr wrap="square" rtlCol="0">
            <a:spAutoFit/>
          </a:bodyPr>
          <a:lstStyle/>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Explain how to calculate the perimeter of the fence.</a:t>
            </a: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perimeter of the fence in meters? </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161</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25992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9395"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4.5.3 Try It: </a:t>
            </a:r>
            <a:r>
              <a:rPr lang="en-US" sz="3600" b="1" dirty="0">
                <a:solidFill>
                  <a:srgbClr val="33BEA6"/>
                </a:solidFill>
                <a:latin typeface="Verdana"/>
                <a:ea typeface="Verdana"/>
                <a:cs typeface="Verdana"/>
              </a:rPr>
              <a:t>Perimeter on the Coordinate Plane</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958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29395" y="1386025"/>
                <a:ext cx="9589242"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Sonja’s father plans to put another fence around the yard. The black rectangle on the coordinate grid in the previous component represents the second fence. The scale of the grid is represented in meters (m). The black rectangle has vertices at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𝐸</m:t>
                    </m:r>
                    <m:r>
                      <a:rPr lang="en-US" sz="2400">
                        <a:latin typeface="Cambria Math" panose="02040503050406030204" pitchFamily="18" charset="0"/>
                        <a:ea typeface="Verdana" panose="020B0604030504040204" pitchFamily="34" charset="0"/>
                        <a:cs typeface="Verdana" panose="020B0604030504040204" pitchFamily="34" charset="0"/>
                      </a:rPr>
                      <m:t> </m:t>
                    </m:r>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n-US" sz="2400">
                            <a:latin typeface="Cambria Math" panose="02040503050406030204" pitchFamily="18" charset="0"/>
                            <a:ea typeface="Verdana" panose="020B0604030504040204" pitchFamily="34" charset="0"/>
                            <a:cs typeface="Verdana" panose="020B0604030504040204" pitchFamily="34" charset="0"/>
                          </a:rPr>
                          <m:t>−6.8, −5.7</m:t>
                        </m:r>
                      </m:e>
                    </m:d>
                    <m:r>
                      <a:rPr lang="en-US" sz="2400">
                        <a:latin typeface="Cambria Math" panose="02040503050406030204" pitchFamily="18" charset="0"/>
                        <a:ea typeface="Verdana" panose="020B0604030504040204" pitchFamily="34" charset="0"/>
                        <a:cs typeface="Verdana" panose="020B0604030504040204" pitchFamily="34" charset="0"/>
                      </a:rPr>
                      <m:t>,  </m:t>
                    </m:r>
                    <m:r>
                      <a:rPr lang="en-US" sz="2400">
                        <a:latin typeface="Cambria Math" panose="02040503050406030204" pitchFamily="18" charset="0"/>
                        <a:ea typeface="Verdana" panose="020B0604030504040204" pitchFamily="34" charset="0"/>
                        <a:cs typeface="Verdana" panose="020B0604030504040204" pitchFamily="34" charset="0"/>
                      </a:rPr>
                      <m:t>𝐹</m:t>
                    </m:r>
                    <m:r>
                      <a:rPr lang="en-US" sz="2400">
                        <a:latin typeface="Cambria Math" panose="02040503050406030204" pitchFamily="18" charset="0"/>
                        <a:ea typeface="Verdana" panose="020B0604030504040204" pitchFamily="34" charset="0"/>
                        <a:cs typeface="Verdana" panose="020B0604030504040204" pitchFamily="34" charset="0"/>
                      </a:rPr>
                      <m:t> </m:t>
                    </m:r>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n-US" sz="2400">
                            <a:latin typeface="Cambria Math" panose="02040503050406030204" pitchFamily="18" charset="0"/>
                            <a:ea typeface="Verdana" panose="020B0604030504040204" pitchFamily="34" charset="0"/>
                            <a:cs typeface="Verdana" panose="020B0604030504040204" pitchFamily="34" charset="0"/>
                          </a:rPr>
                          <m:t>−6.8, 5.2</m:t>
                        </m:r>
                      </m:e>
                    </m:d>
                    <m:r>
                      <a:rPr lang="en-US" sz="2400">
                        <a:latin typeface="Cambria Math" panose="02040503050406030204" pitchFamily="18" charset="0"/>
                        <a:ea typeface="Verdana" panose="020B0604030504040204" pitchFamily="34" charset="0"/>
                        <a:cs typeface="Verdana" panose="020B0604030504040204" pitchFamily="34" charset="0"/>
                      </a:rPr>
                      <m:t>,  </m:t>
                    </m:r>
                    <m:r>
                      <a:rPr lang="en-US" sz="2400">
                        <a:latin typeface="Cambria Math" panose="02040503050406030204" pitchFamily="18" charset="0"/>
                        <a:ea typeface="Verdana" panose="020B0604030504040204" pitchFamily="34" charset="0"/>
                        <a:cs typeface="Verdana" panose="020B0604030504040204" pitchFamily="34" charset="0"/>
                      </a:rPr>
                      <m:t>𝐺</m:t>
                    </m:r>
                    <m:r>
                      <a:rPr lang="en-US" sz="2400">
                        <a:latin typeface="Cambria Math" panose="02040503050406030204" pitchFamily="18" charset="0"/>
                        <a:ea typeface="Verdana" panose="020B0604030504040204" pitchFamily="34" charset="0"/>
                        <a:cs typeface="Verdana" panose="020B0604030504040204" pitchFamily="34" charset="0"/>
                      </a:rPr>
                      <m:t> </m:t>
                    </m:r>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n-US" sz="2400">
                            <a:latin typeface="Cambria Math" panose="02040503050406030204" pitchFamily="18" charset="0"/>
                            <a:ea typeface="Verdana" panose="020B0604030504040204" pitchFamily="34" charset="0"/>
                            <a:cs typeface="Verdana" panose="020B0604030504040204" pitchFamily="34" charset="0"/>
                          </a:rPr>
                          <m:t>9.2, 5.2</m:t>
                        </m:r>
                      </m:e>
                    </m:d>
                    <m:r>
                      <a:rPr lang="en-US" sz="240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𝐻</m:t>
                    </m:r>
                    <m:r>
                      <a:rPr lang="en-US" sz="2400">
                        <a:latin typeface="Cambria Math" panose="02040503050406030204" pitchFamily="18" charset="0"/>
                        <a:ea typeface="Verdana" panose="020B0604030504040204" pitchFamily="34" charset="0"/>
                        <a:cs typeface="Verdana" panose="020B0604030504040204" pitchFamily="34" charset="0"/>
                      </a:rPr>
                      <m:t> (9.2, −5.7)</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29395" y="1386025"/>
                <a:ext cx="9589242" cy="2308324"/>
              </a:xfrm>
              <a:prstGeom prst="rect">
                <a:avLst/>
              </a:prstGeom>
              <a:blipFill rotWithShape="0">
                <a:blip r:embed="rId4"/>
                <a:stretch>
                  <a:fillRect l="-953" t="-2111" b="-25858"/>
                </a:stretch>
              </a:blipFill>
            </p:spPr>
            <p:txBody>
              <a:bodyPr/>
              <a:lstStyle/>
              <a:p>
                <a:r>
                  <a:rPr lang="en-US">
                    <a:noFill/>
                  </a:rPr>
                  <a:t> </a:t>
                </a:r>
              </a:p>
            </p:txBody>
          </p:sp>
        </mc:Fallback>
      </mc:AlternateContent>
      <p:sp>
        <p:nvSpPr>
          <p:cNvPr id="12"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162</a:t>
            </a:r>
            <a:endParaRPr lang="en-US"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126435" y="349705"/>
                <a:ext cx="9939130" cy="3785652"/>
              </a:xfrm>
              <a:prstGeom prst="rect">
                <a:avLst/>
              </a:prstGeom>
              <a:noFill/>
            </p:spPr>
            <p:txBody>
              <a:bodyPr wrap="square" rtlCol="0">
                <a:spAutoFit/>
              </a:bodyPr>
              <a:lstStyle/>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𝐸</m:t>
                    </m:r>
                  </m:oMath>
                </a14:m>
                <a:r>
                  <a:rPr lang="en-US" sz="2400" dirty="0">
                    <a:latin typeface="Verdana" panose="020B0604030504040204" pitchFamily="34" charset="0"/>
                    <a:ea typeface="Verdana" panose="020B0604030504040204" pitchFamily="34" charset="0"/>
                    <a:cs typeface="Verdana" panose="020B0604030504040204" pitchFamily="34" charset="0"/>
                  </a:rPr>
                  <a:t> to point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𝐻</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of line segment that connects point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𝐸</m:t>
                    </m:r>
                  </m:oMath>
                </a14:m>
                <a:r>
                  <a:rPr lang="en-US" sz="2400" dirty="0">
                    <a:latin typeface="Verdana" panose="020B0604030504040204" pitchFamily="34" charset="0"/>
                    <a:ea typeface="Verdana" panose="020B0604030504040204" pitchFamily="34" charset="0"/>
                    <a:cs typeface="Verdana" panose="020B0604030504040204" pitchFamily="34" charset="0"/>
                  </a:rPr>
                  <a:t> to point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𝐹</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126435" y="349705"/>
                <a:ext cx="9939130" cy="3785652"/>
              </a:xfrm>
              <a:prstGeom prst="rect">
                <a:avLst/>
              </a:prstGeom>
              <a:blipFill rotWithShape="0">
                <a:blip r:embed="rId3"/>
                <a:stretch>
                  <a:fillRect t="-1288" b="-2576"/>
                </a:stretch>
              </a:blipFill>
            </p:spPr>
            <p:txBody>
              <a:bodyPr/>
              <a:lstStyle/>
              <a:p>
                <a:r>
                  <a:rPr lang="en-US">
                    <a:noFill/>
                  </a:rPr>
                  <a:t> </a:t>
                </a:r>
              </a:p>
            </p:txBody>
          </p:sp>
        </mc:Fallback>
      </mc:AlternateContent>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162</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378226" y="349706"/>
            <a:ext cx="9435548" cy="830997"/>
          </a:xfrm>
          <a:prstGeom prst="rect">
            <a:avLst/>
          </a:prstGeom>
          <a:noFill/>
        </p:spPr>
        <p:txBody>
          <a:bodyPr wrap="square" rtlCol="0">
            <a:spAutoFit/>
          </a:bodyPr>
          <a:lstStyle/>
          <a:p>
            <a:pPr marL="914400"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Determine the perimeter of the fence around the yard. </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162</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92841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162</a:t>
            </a:r>
            <a:endParaRPr lang="en-US"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9394" y="60325"/>
            <a:ext cx="97156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4.5.4 Collaboration: Fix the Mistake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958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29393" y="1386025"/>
                <a:ext cx="9589246"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Vera and Conor are working on their homework together to find the perimeter of the rectangle, shown on the coordinate plane. The width of the rectangle is the segment between point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29393" y="1386025"/>
                <a:ext cx="9589246" cy="1323439"/>
              </a:xfrm>
              <a:prstGeom prst="rect">
                <a:avLst/>
              </a:prstGeom>
              <a:blipFill rotWithShape="0">
                <a:blip r:embed="rId4"/>
                <a:stretch>
                  <a:fillRect l="-699" t="-2765" r="-953"/>
                </a:stretch>
              </a:blipFill>
            </p:spPr>
            <p:txBody>
              <a:bodyPr/>
              <a:lstStyle/>
              <a:p>
                <a:r>
                  <a:rPr lang="en-US">
                    <a:noFill/>
                  </a:rPr>
                  <a:t> </a:t>
                </a:r>
              </a:p>
            </p:txBody>
          </p:sp>
        </mc:Fallback>
      </mc:AlternateContent>
      <p:pic>
        <p:nvPicPr>
          <p:cNvPr id="11" name="Picture 10" descr="A picture containing chart&#10;&#10;Description automatically generated">
            <a:extLst>
              <a:ext uri="{FF2B5EF4-FFF2-40B4-BE49-F238E27FC236}">
                <a16:creationId xmlns:a16="http://schemas.microsoft.com/office/drawing/2014/main" id="{8F07A1B4-EDA6-5144-BE97-5898B57CE24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875315" y="2775048"/>
            <a:ext cx="4441371" cy="3350501"/>
          </a:xfrm>
          <a:prstGeom prst="rect">
            <a:avLst/>
          </a:prstGeom>
        </p:spPr>
      </p:pic>
      <p:sp>
        <p:nvSpPr>
          <p:cNvPr id="13"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162</a:t>
            </a:r>
            <a:endParaRPr lang="en-US"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245704" y="410666"/>
            <a:ext cx="9851258" cy="1015663"/>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Conor counts the units between the numbers, while Vera determines the dimensions by subtracting. Each student’s work and answers are shown.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53175D3-7CC7-B341-8866-DB950C3CADB3}"/>
                  </a:ext>
                </a:extLst>
              </p:cNvPr>
              <p:cNvGraphicFramePr>
                <a:graphicFrameLocks noGrp="1"/>
              </p:cNvGraphicFramePr>
              <p:nvPr>
                <p:extLst>
                  <p:ext uri="{D42A27DB-BD31-4B8C-83A1-F6EECF244321}">
                    <p14:modId xmlns:p14="http://schemas.microsoft.com/office/powerpoint/2010/main" val="1658740274"/>
                  </p:ext>
                </p:extLst>
              </p:nvPr>
            </p:nvGraphicFramePr>
            <p:xfrm>
              <a:off x="2970644" y="1627166"/>
              <a:ext cx="6401379" cy="4600843"/>
            </p:xfrm>
            <a:graphic>
              <a:graphicData uri="http://schemas.openxmlformats.org/drawingml/2006/table">
                <a:tbl>
                  <a:tblPr firstRow="1" firstCol="1" bandRow="1">
                    <a:tableStyleId>{A91F0D33-8C57-4600-99A7-42BC86742BE1}</a:tableStyleId>
                  </a:tblPr>
                  <a:tblGrid>
                    <a:gridCol w="3259369">
                      <a:extLst>
                        <a:ext uri="{9D8B030D-6E8A-4147-A177-3AD203B41FA5}">
                          <a16:colId xmlns:a16="http://schemas.microsoft.com/office/drawing/2014/main" val="2935592872"/>
                        </a:ext>
                      </a:extLst>
                    </a:gridCol>
                    <a:gridCol w="3142010">
                      <a:extLst>
                        <a:ext uri="{9D8B030D-6E8A-4147-A177-3AD203B41FA5}">
                          <a16:colId xmlns:a16="http://schemas.microsoft.com/office/drawing/2014/main" val="3262427055"/>
                        </a:ext>
                      </a:extLst>
                    </a:gridCol>
                  </a:tblGrid>
                  <a:tr h="25605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Vera’s Thinking</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Conor’s Thinking</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11546434"/>
                      </a:ext>
                    </a:extLst>
                  </a:tr>
                  <a:tr h="3241766">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Vera finds the dimension of the width by subtracting the </a:t>
                          </a:r>
                          <a14:m>
                            <m:oMath xmlns:m="http://schemas.openxmlformats.org/officeDocument/2006/math">
                              <m:r>
                                <a:rPr lang="en-US" sz="1800">
                                  <a:effectLst/>
                                  <a:latin typeface="Cambria Math" panose="02040503050406030204" pitchFamily="18" charset="0"/>
                                </a:rPr>
                                <m:t>𝑦</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-coordinates.</a:t>
                          </a:r>
                        </a:p>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5</m:t>
                              </m:r>
                              <m:f>
                                <m:fPr>
                                  <m:ctrlPr>
                                    <a:rPr lang="en-US"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4</m:t>
                                  </m:r>
                                </m:den>
                              </m:f>
                              <m:r>
                                <a:rPr lang="en-US" sz="1800">
                                  <a:effectLst/>
                                  <a:latin typeface="Cambria Math" panose="02040503050406030204" pitchFamily="18" charset="0"/>
                                </a:rPr>
                                <m:t> −1</m:t>
                              </m:r>
                              <m:f>
                                <m:fPr>
                                  <m:ctrlPr>
                                    <a:rPr lang="en-US"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3</m:t>
                                  </m:r>
                                </m:den>
                              </m:f>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 </m:t>
                              </m:r>
                              <m:f>
                                <m:fPr>
                                  <m:ctrlPr>
                                    <a:rPr lang="en-US" sz="1800" i="1">
                                      <a:effectLst/>
                                      <a:latin typeface="Cambria Math" panose="02040503050406030204" pitchFamily="18" charset="0"/>
                                    </a:rPr>
                                  </m:ctrlPr>
                                </m:fPr>
                                <m:num>
                                  <m:r>
                                    <a:rPr lang="en-US" sz="1800">
                                      <a:effectLst/>
                                      <a:latin typeface="Cambria Math" panose="02040503050406030204" pitchFamily="18" charset="0"/>
                                    </a:rPr>
                                    <m:t>21</m:t>
                                  </m:r>
                                </m:num>
                                <m:den>
                                  <m:r>
                                    <a:rPr lang="en-US" sz="1800">
                                      <a:effectLst/>
                                      <a:latin typeface="Cambria Math" panose="02040503050406030204" pitchFamily="18" charset="0"/>
                                    </a:rPr>
                                    <m:t>4</m:t>
                                  </m:r>
                                </m:den>
                              </m:f>
                              <m:r>
                                <a:rPr lang="en-US" sz="1800">
                                  <a:effectLst/>
                                  <a:latin typeface="Cambria Math" panose="02040503050406030204" pitchFamily="18" charset="0"/>
                                </a:rPr>
                                <m:t> − </m:t>
                              </m:r>
                              <m:f>
                                <m:fPr>
                                  <m:ctrlPr>
                                    <a:rPr lang="en-US" sz="1800" i="1">
                                      <a:effectLst/>
                                      <a:latin typeface="Cambria Math" panose="02040503050406030204" pitchFamily="18" charset="0"/>
                                    </a:rPr>
                                  </m:ctrlPr>
                                </m:fPr>
                                <m:num>
                                  <m:r>
                                    <a:rPr lang="en-US" sz="1800">
                                      <a:effectLst/>
                                      <a:latin typeface="Cambria Math" panose="02040503050406030204" pitchFamily="18" charset="0"/>
                                    </a:rPr>
                                    <m:t>4</m:t>
                                  </m:r>
                                </m:num>
                                <m:den>
                                  <m:r>
                                    <a:rPr lang="en-US" sz="1800">
                                      <a:effectLst/>
                                      <a:latin typeface="Cambria Math" panose="02040503050406030204" pitchFamily="18" charset="0"/>
                                    </a:rPr>
                                    <m:t>3</m:t>
                                  </m:r>
                                </m:den>
                              </m:f>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1800" i="1">
                                      <a:effectLst/>
                                      <a:latin typeface="Cambria Math" panose="02040503050406030204" pitchFamily="18" charset="0"/>
                                    </a:rPr>
                                  </m:ctrlPr>
                                </m:fPr>
                                <m:num>
                                  <m:r>
                                    <a:rPr lang="en-US" sz="1800">
                                      <a:effectLst/>
                                      <a:latin typeface="Cambria Math" panose="02040503050406030204" pitchFamily="18" charset="0"/>
                                    </a:rPr>
                                    <m:t>63</m:t>
                                  </m:r>
                                </m:num>
                                <m:den>
                                  <m:r>
                                    <a:rPr lang="en-US" sz="1800">
                                      <a:effectLst/>
                                      <a:latin typeface="Cambria Math" panose="02040503050406030204" pitchFamily="18" charset="0"/>
                                    </a:rPr>
                                    <m:t>12</m:t>
                                  </m:r>
                                </m:den>
                              </m:f>
                              <m:r>
                                <a:rPr lang="en-US" sz="1800">
                                  <a:effectLst/>
                                  <a:latin typeface="Cambria Math" panose="02040503050406030204" pitchFamily="18" charset="0"/>
                                </a:rPr>
                                <m:t> − </m:t>
                              </m:r>
                              <m:f>
                                <m:fPr>
                                  <m:ctrlPr>
                                    <a:rPr lang="en-US" sz="1800" i="1">
                                      <a:effectLst/>
                                      <a:latin typeface="Cambria Math" panose="02040503050406030204" pitchFamily="18" charset="0"/>
                                    </a:rPr>
                                  </m:ctrlPr>
                                </m:fPr>
                                <m:num>
                                  <m:r>
                                    <a:rPr lang="en-US" sz="1800">
                                      <a:effectLst/>
                                      <a:latin typeface="Cambria Math" panose="02040503050406030204" pitchFamily="18" charset="0"/>
                                    </a:rPr>
                                    <m:t>16</m:t>
                                  </m:r>
                                </m:num>
                                <m:den>
                                  <m:r>
                                    <a:rPr lang="en-US" sz="1800">
                                      <a:effectLst/>
                                      <a:latin typeface="Cambria Math" panose="02040503050406030204" pitchFamily="18" charset="0"/>
                                    </a:rPr>
                                    <m:t>12</m:t>
                                  </m:r>
                                </m:den>
                              </m:f>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 </m:t>
                              </m:r>
                              <m:f>
                                <m:fPr>
                                  <m:ctrlPr>
                                    <a:rPr lang="en-US" sz="1800" i="1">
                                      <a:effectLst/>
                                      <a:latin typeface="Cambria Math" panose="02040503050406030204" pitchFamily="18" charset="0"/>
                                    </a:rPr>
                                  </m:ctrlPr>
                                </m:fPr>
                                <m:num>
                                  <m:r>
                                    <a:rPr lang="en-US" sz="1800">
                                      <a:effectLst/>
                                      <a:latin typeface="Cambria Math" panose="02040503050406030204" pitchFamily="18" charset="0"/>
                                    </a:rPr>
                                    <m:t>47</m:t>
                                  </m:r>
                                </m:num>
                                <m:den>
                                  <m:r>
                                    <a:rPr lang="en-US" sz="1800">
                                      <a:effectLst/>
                                      <a:latin typeface="Cambria Math" panose="02040503050406030204" pitchFamily="18" charset="0"/>
                                    </a:rPr>
                                    <m:t>12</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Conor notices there is </a:t>
                          </a: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full unit between point </a:t>
                          </a:r>
                          <a14:m>
                            <m:oMath xmlns:m="http://schemas.openxmlformats.org/officeDocument/2006/math">
                              <m:r>
                                <a:rPr lang="en-US" sz="1800">
                                  <a:effectLst/>
                                  <a:latin typeface="Cambria Math" panose="02040503050406030204" pitchFamily="18" charset="0"/>
                                </a:rPr>
                                <m:t>𝐴</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1800">
                                  <a:effectLst/>
                                  <a:latin typeface="Cambria Math" panose="02040503050406030204" pitchFamily="18" charset="0"/>
                                </a:rPr>
                                <m:t>𝐵</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and two pieces that look like they would combine to make another whole unit.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221528"/>
                      </a:ext>
                    </a:extLst>
                  </a:tr>
                  <a:tr h="853517">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Vera says the width of the rectangle is </a:t>
                          </a:r>
                          <a14:m>
                            <m:oMath xmlns:m="http://schemas.openxmlformats.org/officeDocument/2006/math">
                              <m:r>
                                <a:rPr lang="en-US" sz="1800">
                                  <a:effectLst/>
                                  <a:latin typeface="Cambria Math" panose="02040503050406030204" pitchFamily="18" charset="0"/>
                                </a:rPr>
                                <m:t>3</m:t>
                              </m:r>
                              <m:f>
                                <m:fPr>
                                  <m:ctrlPr>
                                    <a:rPr lang="en-US" sz="1800" i="1">
                                      <a:effectLst/>
                                      <a:latin typeface="Cambria Math" panose="02040503050406030204" pitchFamily="18" charset="0"/>
                                    </a:rPr>
                                  </m:ctrlPr>
                                </m:fPr>
                                <m:num>
                                  <m:r>
                                    <a:rPr lang="en-US" sz="1800">
                                      <a:effectLst/>
                                      <a:latin typeface="Cambria Math" panose="02040503050406030204" pitchFamily="18" charset="0"/>
                                    </a:rPr>
                                    <m:t>11</m:t>
                                  </m:r>
                                </m:num>
                                <m:den>
                                  <m:r>
                                    <a:rPr lang="en-US" sz="1800">
                                      <a:effectLst/>
                                      <a:latin typeface="Cambria Math" panose="02040503050406030204" pitchFamily="18" charset="0"/>
                                    </a:rPr>
                                    <m:t>12</m:t>
                                  </m:r>
                                </m:den>
                              </m:f>
                            </m:oMath>
                          </a14:m>
                          <a:r>
                            <a:rPr lang="en-US" sz="1800">
                              <a:effectLst/>
                              <a:latin typeface="Verdana" panose="020B0604030504040204" pitchFamily="34" charset="0"/>
                              <a:ea typeface="Verdana" panose="020B0604030504040204" pitchFamily="34" charset="0"/>
                              <a:cs typeface="Verdana" panose="020B0604030504040204" pitchFamily="34" charset="0"/>
                            </a:rPr>
                            <a:t> units.</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Conor says the width of the rectangle is </a:t>
                          </a:r>
                          <a14:m>
                            <m:oMath xmlns:m="http://schemas.openxmlformats.org/officeDocument/2006/math">
                              <m:r>
                                <a:rPr lang="en-US" sz="1800">
                                  <a:effectLst/>
                                  <a:latin typeface="Cambria Math" panose="02040503050406030204" pitchFamily="18" charset="0"/>
                                </a:rPr>
                                <m:t>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units.</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7347211"/>
                      </a:ext>
                    </a:extLst>
                  </a:tr>
                </a:tbl>
              </a:graphicData>
            </a:graphic>
          </p:graphicFrame>
        </mc:Choice>
        <mc:Fallback xmlns="">
          <p:graphicFrame>
            <p:nvGraphicFramePr>
              <p:cNvPr id="2" name="Table 1">
                <a:extLst>
                  <a:ext uri="{FF2B5EF4-FFF2-40B4-BE49-F238E27FC236}">
                    <a16:creationId xmlns:a16="http://schemas.microsoft.com/office/drawing/2014/main" id="{353175D3-7CC7-B341-8866-DB950C3CADB3}"/>
                  </a:ext>
                </a:extLst>
              </p:cNvPr>
              <p:cNvGraphicFramePr>
                <a:graphicFrameLocks noGrp="1"/>
              </p:cNvGraphicFramePr>
              <p:nvPr>
                <p:extLst>
                  <p:ext uri="{D42A27DB-BD31-4B8C-83A1-F6EECF244321}">
                    <p14:modId xmlns:p14="http://schemas.microsoft.com/office/powerpoint/2010/main" val="1658740274"/>
                  </p:ext>
                </p:extLst>
              </p:nvPr>
            </p:nvGraphicFramePr>
            <p:xfrm>
              <a:off x="1446643" y="1627165"/>
              <a:ext cx="6401379" cy="4629672"/>
            </p:xfrm>
            <a:graphic>
              <a:graphicData uri="http://schemas.openxmlformats.org/drawingml/2006/table">
                <a:tbl>
                  <a:tblPr firstRow="1" firstCol="1" bandRow="1">
                    <a:tableStyleId>{A91F0D33-8C57-4600-99A7-42BC86742BE1}</a:tableStyleId>
                  </a:tblPr>
                  <a:tblGrid>
                    <a:gridCol w="3259369">
                      <a:extLst>
                        <a:ext uri="{9D8B030D-6E8A-4147-A177-3AD203B41FA5}">
                          <a16:colId xmlns:a16="http://schemas.microsoft.com/office/drawing/2014/main" val="2935592872"/>
                        </a:ext>
                      </a:extLst>
                    </a:gridCol>
                    <a:gridCol w="3142010">
                      <a:extLst>
                        <a:ext uri="{9D8B030D-6E8A-4147-A177-3AD203B41FA5}">
                          <a16:colId xmlns:a16="http://schemas.microsoft.com/office/drawing/2014/main" val="3262427055"/>
                        </a:ext>
                      </a:extLst>
                    </a:gridCol>
                  </a:tblGrid>
                  <a:tr h="27432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Vera’s Thinking</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Conor’s Thinking</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11546434"/>
                      </a:ext>
                    </a:extLst>
                  </a:tr>
                  <a:tr h="3501835">
                    <a:tc>
                      <a:txBody>
                        <a:bodyPr/>
                        <a:lstStyle/>
                        <a:p>
                          <a:endParaRPr lang="en-US"/>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145" r="-97276" b="-24638"/>
                          </a:stretch>
                        </a:blipFill>
                      </a:tcPr>
                    </a:tc>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3629" t="-10145" r="-806" b="-24638"/>
                          </a:stretch>
                        </a:blipFill>
                      </a:tcPr>
                    </a:tc>
                    <a:extLst>
                      <a:ext uri="{0D108BD9-81ED-4DB2-BD59-A6C34878D82A}">
                        <a16:rowId xmlns:a16="http://schemas.microsoft.com/office/drawing/2014/main" val="392221528"/>
                      </a:ext>
                    </a:extLst>
                  </a:tr>
                  <a:tr h="853517">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453731" r="-97276" b="-1493"/>
                          </a:stretch>
                        </a:blipFill>
                      </a:tcPr>
                    </a:tc>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3629" t="-453731" r="-806" b="-1493"/>
                          </a:stretch>
                        </a:blipFill>
                      </a:tcPr>
                    </a:tc>
                    <a:extLst>
                      <a:ext uri="{0D108BD9-81ED-4DB2-BD59-A6C34878D82A}">
                        <a16:rowId xmlns:a16="http://schemas.microsoft.com/office/drawing/2014/main" val="2597347211"/>
                      </a:ext>
                    </a:extLst>
                  </a:tr>
                </a:tbl>
              </a:graphicData>
            </a:graphic>
          </p:graphicFrame>
        </mc:Fallback>
      </mc:AlternateContent>
      <p:sp>
        <p:nvSpPr>
          <p:cNvPr id="8"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205948" y="410666"/>
            <a:ext cx="9930770" cy="830997"/>
          </a:xfrm>
          <a:prstGeom prst="rect">
            <a:avLst/>
          </a:prstGeom>
          <a:noFill/>
        </p:spPr>
        <p:txBody>
          <a:bodyPr wrap="square" rtlCol="0">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Discuss each student’s work with your partner. Explain any errors that either student made. </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163</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94150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484243" y="410665"/>
                <a:ext cx="9374180"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length of the rectangle is the segment between point </a:t>
                </a:r>
                <a14:m>
                  <m:oMath xmlns:m="http://schemas.openxmlformats.org/officeDocument/2006/math">
                    <m:r>
                      <a:rPr lang="en-US" sz="2000" i="1">
                        <a:latin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000" i="1">
                        <a:latin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484243" y="410665"/>
                <a:ext cx="9374180" cy="707886"/>
              </a:xfrm>
              <a:prstGeom prst="rect">
                <a:avLst/>
              </a:prstGeom>
              <a:blipFill rotWithShape="0">
                <a:blip r:embed="rId3"/>
                <a:stretch>
                  <a:fillRect l="-715" t="-5172"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CFD60D4-8B73-1C42-B9CF-AF0D4473F29A}"/>
                  </a:ext>
                </a:extLst>
              </p:cNvPr>
              <p:cNvGraphicFramePr>
                <a:graphicFrameLocks noGrp="1"/>
              </p:cNvGraphicFramePr>
              <p:nvPr>
                <p:extLst>
                  <p:ext uri="{D42A27DB-BD31-4B8C-83A1-F6EECF244321}">
                    <p14:modId xmlns:p14="http://schemas.microsoft.com/office/powerpoint/2010/main" val="3234335547"/>
                  </p:ext>
                </p:extLst>
              </p:nvPr>
            </p:nvGraphicFramePr>
            <p:xfrm>
              <a:off x="2007766" y="1375954"/>
              <a:ext cx="8045211" cy="4748772"/>
            </p:xfrm>
            <a:graphic>
              <a:graphicData uri="http://schemas.openxmlformats.org/drawingml/2006/table">
                <a:tbl>
                  <a:tblPr firstRow="1" firstCol="1" bandRow="1">
                    <a:tableStyleId>{A91F0D33-8C57-4600-99A7-42BC86742BE1}</a:tableStyleId>
                  </a:tblPr>
                  <a:tblGrid>
                    <a:gridCol w="4051995">
                      <a:extLst>
                        <a:ext uri="{9D8B030D-6E8A-4147-A177-3AD203B41FA5}">
                          <a16:colId xmlns:a16="http://schemas.microsoft.com/office/drawing/2014/main" val="2420837079"/>
                        </a:ext>
                      </a:extLst>
                    </a:gridCol>
                    <a:gridCol w="3993216">
                      <a:extLst>
                        <a:ext uri="{9D8B030D-6E8A-4147-A177-3AD203B41FA5}">
                          <a16:colId xmlns:a16="http://schemas.microsoft.com/office/drawing/2014/main" val="1936136676"/>
                        </a:ext>
                      </a:extLst>
                    </a:gridCol>
                  </a:tblGrid>
                  <a:tr h="34630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finds the dimensions of the length by subtracting the </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-coordinates.</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9</m:t>
                              </m:r>
                              <m:f>
                                <m:fPr>
                                  <m:ctrlPr>
                                    <a:rPr lang="en-US" sz="2000" i="1">
                                      <a:effectLst/>
                                      <a:latin typeface="Cambria Math" panose="02040503050406030204" pitchFamily="18" charset="0"/>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9</m:t>
                                  </m:r>
                                </m:den>
                              </m:f>
                              <m:r>
                                <a:rPr lang="en-US" sz="2000">
                                  <a:effectLst/>
                                  <a:latin typeface="Cambria Math" panose="02040503050406030204" pitchFamily="18" charset="0"/>
                                </a:rPr>
                                <m:t> − </m:t>
                              </m:r>
                              <m:f>
                                <m:fPr>
                                  <m:ctrlPr>
                                    <a:rPr lang="en-US"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83</m:t>
                                  </m:r>
                                </m:num>
                                <m:den>
                                  <m:r>
                                    <a:rPr lang="en-US" sz="2000">
                                      <a:effectLst/>
                                      <a:latin typeface="Cambria Math" panose="02040503050406030204" pitchFamily="18" charset="0"/>
                                    </a:rPr>
                                    <m:t>9</m:t>
                                  </m:r>
                                </m:den>
                              </m:f>
                              <m:r>
                                <a:rPr lang="en-US" sz="2000">
                                  <a:effectLst/>
                                  <a:latin typeface="Cambria Math" panose="02040503050406030204" pitchFamily="18" charset="0"/>
                                </a:rPr>
                                <m:t> − </m:t>
                              </m:r>
                              <m:f>
                                <m:fPr>
                                  <m:ctrlPr>
                                    <a:rPr lang="en-US"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9</m:t>
                                  </m:r>
                                </m:den>
                              </m:f>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80</m:t>
                                  </m:r>
                                </m:num>
                                <m:den>
                                  <m:r>
                                    <a:rPr lang="en-US" sz="2000">
                                      <a:effectLst/>
                                      <a:latin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counts the units between the numbers again. He counts </a:t>
                          </a:r>
                          <a14:m>
                            <m:oMath xmlns:m="http://schemas.openxmlformats.org/officeDocument/2006/math">
                              <m:r>
                                <a:rPr lang="en-US" sz="2000">
                                  <a:effectLst/>
                                  <a:latin typeface="Cambria Math" panose="02040503050406030204" pitchFamily="18" charset="0"/>
                                </a:rPr>
                                <m:t>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 between </a:t>
                          </a:r>
                          <a14:m>
                            <m:oMath xmlns:m="http://schemas.openxmlformats.org/officeDocument/2006/math">
                              <m:r>
                                <a:rPr lang="en-US" sz="2000">
                                  <a:effectLst/>
                                  <a:latin typeface="Cambria Math" panose="02040503050406030204" pitchFamily="18" charset="0"/>
                                </a:rPr>
                                <m:t>𝐴</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𝐷</m:t>
                              </m:r>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but then realizes each space on the grid represents </a:t>
                          </a:r>
                          <a14:m>
                            <m:oMath xmlns:m="http://schemas.openxmlformats.org/officeDocument/2006/math">
                              <m:r>
                                <a:rPr lang="en-US" sz="2000">
                                  <a:effectLst/>
                                  <a:latin typeface="Cambria Math" panose="02040503050406030204" pitchFamily="18" charset="0"/>
                                </a:rPr>
                                <m:t>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 so he doubles this to </a:t>
                          </a:r>
                          <a14:m>
                            <m:oMath xmlns:m="http://schemas.openxmlformats.org/officeDocument/2006/math">
                              <m:r>
                                <a:rPr lang="en-US" sz="2000">
                                  <a:effectLst/>
                                  <a:latin typeface="Cambria Math" panose="02040503050406030204" pitchFamily="18" charset="0"/>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He then determines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of a unit plus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of another unit equals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He adds this to the </a:t>
                          </a:r>
                          <a14:m>
                            <m:oMath xmlns:m="http://schemas.openxmlformats.org/officeDocument/2006/math">
                              <m:r>
                                <a:rPr lang="en-US" sz="2000">
                                  <a:effectLst/>
                                  <a:latin typeface="Cambria Math" panose="02040503050406030204" pitchFamily="18" charset="0"/>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0943344"/>
                      </a:ext>
                    </a:extLst>
                  </a:tr>
                  <a:tr h="1285732">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finds the length of the rectangle to be </a:t>
                          </a:r>
                          <a14:m>
                            <m:oMath xmlns:m="http://schemas.openxmlformats.org/officeDocument/2006/math">
                              <m:r>
                                <a:rPr lang="en-US" sz="2000">
                                  <a:effectLst/>
                                  <a:latin typeface="Cambria Math" panose="02040503050406030204" pitchFamily="18" charset="0"/>
                                </a:rPr>
                                <m:t>8</m:t>
                              </m:r>
                              <m:f>
                                <m:fPr>
                                  <m:ctrlPr>
                                    <a:rPr lang="en-US" sz="2000" i="1">
                                      <a:effectLst/>
                                      <a:latin typeface="Cambria Math" panose="02040503050406030204" pitchFamily="18" charset="0"/>
                                    </a:rPr>
                                  </m:ctrlPr>
                                </m:fPr>
                                <m:num>
                                  <m:r>
                                    <a:rPr lang="en-US" sz="2000">
                                      <a:effectLst/>
                                      <a:latin typeface="Cambria Math" panose="02040503050406030204" pitchFamily="18" charset="0"/>
                                    </a:rPr>
                                    <m:t>8</m:t>
                                  </m:r>
                                </m:num>
                                <m:den>
                                  <m:r>
                                    <a:rPr lang="en-US" sz="2000">
                                      <a:effectLst/>
                                      <a:latin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finds the length of the rectangle to be </a:t>
                          </a:r>
                          <a14:m>
                            <m:oMath xmlns:m="http://schemas.openxmlformats.org/officeDocument/2006/math">
                              <m:r>
                                <a:rPr lang="en-US" sz="2000">
                                  <a:effectLst/>
                                  <a:latin typeface="Cambria Math" panose="02040503050406030204" pitchFamily="18" charset="0"/>
                                </a:rPr>
                                <m:t>8</m:t>
                              </m:r>
                              <m:f>
                                <m:fPr>
                                  <m:ctrlPr>
                                    <a:rPr lang="en-US" sz="2000" i="1">
                                      <a:effectLst/>
                                      <a:latin typeface="Cambria Math" panose="02040503050406030204" pitchFamily="18"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992214"/>
                      </a:ext>
                    </a:extLst>
                  </a:tr>
                </a:tbl>
              </a:graphicData>
            </a:graphic>
          </p:graphicFrame>
        </mc:Choice>
        <mc:Fallback xmlns="">
          <p:graphicFrame>
            <p:nvGraphicFramePr>
              <p:cNvPr id="2" name="Table 1">
                <a:extLst>
                  <a:ext uri="{FF2B5EF4-FFF2-40B4-BE49-F238E27FC236}">
                    <a16:creationId xmlns:a16="http://schemas.microsoft.com/office/drawing/2014/main" id="{9CFD60D4-8B73-1C42-B9CF-AF0D4473F29A}"/>
                  </a:ext>
                </a:extLst>
              </p:cNvPr>
              <p:cNvGraphicFramePr>
                <a:graphicFrameLocks noGrp="1"/>
              </p:cNvGraphicFramePr>
              <p:nvPr>
                <p:extLst>
                  <p:ext uri="{D42A27DB-BD31-4B8C-83A1-F6EECF244321}">
                    <p14:modId xmlns:p14="http://schemas.microsoft.com/office/powerpoint/2010/main" val="3234335547"/>
                  </p:ext>
                </p:extLst>
              </p:nvPr>
            </p:nvGraphicFramePr>
            <p:xfrm>
              <a:off x="483765" y="1375954"/>
              <a:ext cx="8045211" cy="4748772"/>
            </p:xfrm>
            <a:graphic>
              <a:graphicData uri="http://schemas.openxmlformats.org/drawingml/2006/table">
                <a:tbl>
                  <a:tblPr firstRow="1" firstCol="1" bandRow="1">
                    <a:tableStyleId>{A91F0D33-8C57-4600-99A7-42BC86742BE1}</a:tableStyleId>
                  </a:tblPr>
                  <a:tblGrid>
                    <a:gridCol w="4051995">
                      <a:extLst>
                        <a:ext uri="{9D8B030D-6E8A-4147-A177-3AD203B41FA5}">
                          <a16:colId xmlns:a16="http://schemas.microsoft.com/office/drawing/2014/main" val="2420837079"/>
                        </a:ext>
                      </a:extLst>
                    </a:gridCol>
                    <a:gridCol w="3993216">
                      <a:extLst>
                        <a:ext uri="{9D8B030D-6E8A-4147-A177-3AD203B41FA5}">
                          <a16:colId xmlns:a16="http://schemas.microsoft.com/office/drawing/2014/main" val="1936136676"/>
                        </a:ext>
                      </a:extLst>
                    </a:gridCol>
                  </a:tblGrid>
                  <a:tr h="3463040">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313" t="-2198" r="-99060" b="-37729"/>
                          </a:stretch>
                        </a:blipFill>
                      </a:tcPr>
                    </a:tc>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1587" t="-2198" r="-317" b="-37729"/>
                          </a:stretch>
                        </a:blipFill>
                      </a:tcPr>
                    </a:tc>
                    <a:extLst>
                      <a:ext uri="{0D108BD9-81ED-4DB2-BD59-A6C34878D82A}">
                        <a16:rowId xmlns:a16="http://schemas.microsoft.com/office/drawing/2014/main" val="1220943344"/>
                      </a:ext>
                    </a:extLst>
                  </a:tr>
                  <a:tr h="1285732">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13" t="-273529" r="-99060" b="-980"/>
                          </a:stretch>
                        </a:blipFill>
                      </a:tcPr>
                    </a:tc>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587" t="-273529" r="-317" b="-980"/>
                          </a:stretch>
                        </a:blipFill>
                      </a:tcPr>
                    </a:tc>
                    <a:extLst>
                      <a:ext uri="{0D108BD9-81ED-4DB2-BD59-A6C34878D82A}">
                        <a16:rowId xmlns:a16="http://schemas.microsoft.com/office/drawing/2014/main" val="2696992214"/>
                      </a:ext>
                    </a:extLst>
                  </a:tr>
                </a:tbl>
              </a:graphicData>
            </a:graphic>
          </p:graphicFrame>
        </mc:Fallback>
      </mc:AlternateContent>
      <p:sp>
        <p:nvSpPr>
          <p:cNvPr id="8"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163</a:t>
            </a:r>
            <a:endParaRPr lang="en-US"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32738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404730" y="410666"/>
            <a:ext cx="9533206" cy="830997"/>
          </a:xfrm>
          <a:prstGeom prst="rect">
            <a:avLst/>
          </a:prstGeom>
          <a:noFill/>
        </p:spPr>
        <p:txBody>
          <a:bodyPr wrap="square" rtlCol="0">
            <a:spAutoFit/>
          </a:bodyPr>
          <a:lstStyle/>
          <a:p>
            <a:pPr marL="461963"/>
            <a:r>
              <a:rPr lang="en-US" sz="2400" dirty="0">
                <a:latin typeface="Verdana" panose="020B0604030504040204" pitchFamily="34" charset="0"/>
                <a:ea typeface="Verdana" panose="020B0604030504040204" pitchFamily="34" charset="0"/>
                <a:cs typeface="Verdana" panose="020B0604030504040204" pitchFamily="34" charset="0"/>
              </a:rPr>
              <a:t>Discuss each student’s work with your partner. Explain any errors that either student made.</a:t>
            </a:r>
          </a:p>
        </p:txBody>
      </p:sp>
      <p:sp>
        <p:nvSpPr>
          <p:cNvPr id="6"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163</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1450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205948" y="410665"/>
            <a:ext cx="9930770" cy="120032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After collaborating with each other and understanding their mistakes, Vera and Conor each correctly find the perimeter of the rectangle. What perimeter did they find?</a:t>
            </a:r>
          </a:p>
        </p:txBody>
      </p:sp>
      <p:sp>
        <p:nvSpPr>
          <p:cNvPr id="6"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163</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75915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0649" y="17815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4.5.5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3349" y="178158"/>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430649" y="1386026"/>
                <a:ext cx="9586734"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vertices of a rectangle are at points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𝐴</m:t>
                    </m:r>
                    <m:r>
                      <a:rPr lang="en-US" sz="2400">
                        <a:latin typeface="Cambria Math" panose="02040503050406030204" pitchFamily="18" charset="0"/>
                        <a:ea typeface="Verdana" panose="020B0604030504040204" pitchFamily="34" charset="0"/>
                        <a:cs typeface="Verdana" panose="020B0604030504040204" pitchFamily="34" charset="0"/>
                      </a:rPr>
                      <m:t> (−5, 3)</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𝐵</m:t>
                    </m:r>
                    <m:r>
                      <a:rPr lang="en-US" sz="2400">
                        <a:latin typeface="Cambria Math" panose="02040503050406030204" pitchFamily="18" charset="0"/>
                        <a:ea typeface="Verdana" panose="020B0604030504040204" pitchFamily="34" charset="0"/>
                        <a:cs typeface="Verdana" panose="020B0604030504040204" pitchFamily="34" charset="0"/>
                      </a:rPr>
                      <m:t> (3, 3)</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𝐶</m:t>
                    </m:r>
                    <m:r>
                      <a:rPr lang="en-US" sz="2400">
                        <a:latin typeface="Cambria Math" panose="02040503050406030204" pitchFamily="18" charset="0"/>
                        <a:ea typeface="Verdana" panose="020B0604030504040204" pitchFamily="34" charset="0"/>
                        <a:cs typeface="Verdana" panose="020B0604030504040204" pitchFamily="34" charset="0"/>
                      </a:rPr>
                      <m:t> (3, −4)</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𝐷</m:t>
                    </m:r>
                    <m:r>
                      <a:rPr lang="en-US" sz="2400">
                        <a:latin typeface="Cambria Math" panose="02040503050406030204" pitchFamily="18" charset="0"/>
                        <a:ea typeface="Verdana" panose="020B0604030504040204" pitchFamily="34" charset="0"/>
                        <a:cs typeface="Verdana" panose="020B0604030504040204" pitchFamily="34" charset="0"/>
                      </a:rPr>
                      <m:t> (−5, −4)</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430649" y="1386026"/>
                <a:ext cx="9586734" cy="830997"/>
              </a:xfrm>
              <a:prstGeom prst="rect">
                <a:avLst/>
              </a:prstGeom>
              <a:blipFill rotWithShape="0">
                <a:blip r:embed="rId4"/>
                <a:stretch>
                  <a:fillRect l="-1018" t="-55474" r="-64" b="-72993"/>
                </a:stretch>
              </a:blipFill>
            </p:spPr>
            <p:txBody>
              <a:bodyPr/>
              <a:lstStyle/>
              <a:p>
                <a:r>
                  <a:rPr lang="en-US">
                    <a:noFill/>
                  </a:rPr>
                  <a:t> </a:t>
                </a:r>
              </a:p>
            </p:txBody>
          </p:sp>
        </mc:Fallback>
      </mc:AlternateContent>
      <p:pic>
        <p:nvPicPr>
          <p:cNvPr id="8" name="Picture 7" descr="Chart&#10;&#10;Description automatically generated">
            <a:extLst>
              <a:ext uri="{FF2B5EF4-FFF2-40B4-BE49-F238E27FC236}">
                <a16:creationId xmlns:a16="http://schemas.microsoft.com/office/drawing/2014/main" id="{911BD21B-F221-134F-AE84-F5F0B7BFC8A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75759" y="2576389"/>
            <a:ext cx="3696514" cy="3567250"/>
          </a:xfrm>
          <a:prstGeom prst="rect">
            <a:avLst/>
          </a:prstGeom>
        </p:spPr>
      </p:pic>
      <p:sp>
        <p:nvSpPr>
          <p:cNvPr id="11"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164</a:t>
            </a:r>
            <a:endParaRPr lang="en-US"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1046922" y="398473"/>
            <a:ext cx="10098156" cy="3416320"/>
          </a:xfrm>
          <a:prstGeom prst="rect">
            <a:avLst/>
          </a:prstGeom>
          <a:noFill/>
        </p:spPr>
        <p:txBody>
          <a:bodyPr wrap="square" rtlCol="0">
            <a:spAutoFit/>
          </a:bodyPr>
          <a:lstStyle/>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in units, of the rectangle?</a:t>
            </a: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width, in units, of the rectangle?</a:t>
            </a: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perimeter, in units, of the rectangle?</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164</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516"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1457739" y="398474"/>
            <a:ext cx="9276522"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Titus wants to put a border around the outside of his garden.</a:t>
            </a:r>
          </a:p>
        </p:txBody>
      </p:sp>
      <p:grpSp>
        <p:nvGrpSpPr>
          <p:cNvPr id="6" name="Group 5">
            <a:extLst>
              <a:ext uri="{FF2B5EF4-FFF2-40B4-BE49-F238E27FC236}">
                <a16:creationId xmlns:a16="http://schemas.microsoft.com/office/drawing/2014/main" id="{DA33CCF8-F353-874B-83AD-55F9CE190EEC}"/>
              </a:ext>
            </a:extLst>
          </p:cNvPr>
          <p:cNvGrpSpPr/>
          <p:nvPr/>
        </p:nvGrpSpPr>
        <p:grpSpPr>
          <a:xfrm>
            <a:off x="2942852" y="1728185"/>
            <a:ext cx="6306297" cy="4491651"/>
            <a:chOff x="0" y="0"/>
            <a:chExt cx="6946900" cy="4947920"/>
          </a:xfrm>
        </p:grpSpPr>
        <p:pic>
          <p:nvPicPr>
            <p:cNvPr id="7" name="Picture 6" descr="Chart, line chart&#10;&#10;Description automatically generated">
              <a:extLst>
                <a:ext uri="{FF2B5EF4-FFF2-40B4-BE49-F238E27FC236}">
                  <a16:creationId xmlns:a16="http://schemas.microsoft.com/office/drawing/2014/main" id="{2D21AC08-133F-CE42-9BD4-0A537B238A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6946900" cy="4947920"/>
            </a:xfrm>
            <a:prstGeom prst="rect">
              <a:avLst/>
            </a:prstGeom>
          </p:spPr>
        </p:pic>
        <mc:AlternateContent xmlns:mc="http://schemas.openxmlformats.org/markup-compatibility/2006" xmlns:a14="http://schemas.microsoft.com/office/drawing/2010/main">
          <mc:Choice Requires="a14">
            <p:sp>
              <p:nvSpPr>
                <p:cNvPr id="8" name="Text Box 7">
                  <a:extLst>
                    <a:ext uri="{FF2B5EF4-FFF2-40B4-BE49-F238E27FC236}">
                      <a16:creationId xmlns:a16="http://schemas.microsoft.com/office/drawing/2014/main" id="{BC362CCA-DBBD-B44C-A102-5E1EAE0AC9F9}"/>
                    </a:ext>
                  </a:extLst>
                </p:cNvPr>
                <p:cNvSpPr txBox="1"/>
                <p:nvPr/>
              </p:nvSpPr>
              <p:spPr>
                <a:xfrm>
                  <a:off x="406400" y="6858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𝐵</m:t>
                        </m:r>
                        <m:r>
                          <a:rPr lang="en-US" sz="1800" i="1">
                            <a:latin typeface="Cambria Math" panose="02040503050406030204" pitchFamily="18" charset="0"/>
                            <a:ea typeface="Times New Roman" panose="02020603050405020304" pitchFamily="18" charset="0"/>
                          </a:rPr>
                          <m:t>(−7</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 4</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1</m:t>
                            </m:r>
                          </m:num>
                          <m:den>
                            <m:r>
                              <a:rPr lang="en-US" sz="1800" i="1">
                                <a:latin typeface="Cambria Math" panose="02040503050406030204" pitchFamily="18" charset="0"/>
                                <a:ea typeface="Times New Roman" panose="02020603050405020304" pitchFamily="18" charset="0"/>
                              </a:rPr>
                              <m:t>3</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8" name="Text Box 7">
                  <a:extLst>
                    <a:ext uri="{FF2B5EF4-FFF2-40B4-BE49-F238E27FC236}">
                      <a16:creationId xmlns:a16="http://schemas.microsoft.com/office/drawing/2014/main" id="{BC362CCA-DBBD-B44C-A102-5E1EAE0AC9F9}"/>
                    </a:ext>
                  </a:extLst>
                </p:cNvPr>
                <p:cNvSpPr txBox="1">
                  <a:spLocks noRot="1" noChangeAspect="1" noMove="1" noResize="1" noEditPoints="1" noAdjustHandles="1" noChangeArrowheads="1" noChangeShapeType="1" noTextEdit="1"/>
                </p:cNvSpPr>
                <p:nvPr/>
              </p:nvSpPr>
              <p:spPr>
                <a:xfrm>
                  <a:off x="406400" y="685800"/>
                  <a:ext cx="1562100" cy="685800"/>
                </a:xfrm>
                <a:prstGeom prst="rect">
                  <a:avLst/>
                </a:prstGeom>
                <a:blipFill>
                  <a:blip r:embed="rId5"/>
                  <a:stretch>
                    <a:fillRect r="-885" b="-400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8">
                  <a:extLst>
                    <a:ext uri="{FF2B5EF4-FFF2-40B4-BE49-F238E27FC236}">
                      <a16:creationId xmlns:a16="http://schemas.microsoft.com/office/drawing/2014/main" id="{C3457905-0079-6E44-B0E7-02D3FFD168B1}"/>
                    </a:ext>
                  </a:extLst>
                </p:cNvPr>
                <p:cNvSpPr txBox="1"/>
                <p:nvPr/>
              </p:nvSpPr>
              <p:spPr>
                <a:xfrm>
                  <a:off x="419100" y="36449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𝐴</m:t>
                        </m:r>
                        <m:r>
                          <a:rPr lang="en-US" sz="1800" i="1">
                            <a:latin typeface="Cambria Math" panose="02040503050406030204" pitchFamily="18" charset="0"/>
                            <a:ea typeface="Times New Roman" panose="02020603050405020304" pitchFamily="18" charset="0"/>
                          </a:rPr>
                          <m:t>(−7</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 −2</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9" name="Text Box 8">
                  <a:extLst>
                    <a:ext uri="{FF2B5EF4-FFF2-40B4-BE49-F238E27FC236}">
                      <a16:creationId xmlns:a16="http://schemas.microsoft.com/office/drawing/2014/main" id="{C3457905-0079-6E44-B0E7-02D3FFD168B1}"/>
                    </a:ext>
                  </a:extLst>
                </p:cNvPr>
                <p:cNvSpPr txBox="1">
                  <a:spLocks noRot="1" noChangeAspect="1" noMove="1" noResize="1" noEditPoints="1" noAdjustHandles="1" noChangeArrowheads="1" noChangeShapeType="1" noTextEdit="1"/>
                </p:cNvSpPr>
                <p:nvPr/>
              </p:nvSpPr>
              <p:spPr>
                <a:xfrm>
                  <a:off x="419100" y="3644900"/>
                  <a:ext cx="1562100" cy="685800"/>
                </a:xfrm>
                <a:prstGeom prst="rect">
                  <a:avLst/>
                </a:prstGeom>
                <a:blipFill>
                  <a:blip r:embed="rId6"/>
                  <a:stretch>
                    <a:fillRect r="-11504" b="-400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9">
                  <a:extLst>
                    <a:ext uri="{FF2B5EF4-FFF2-40B4-BE49-F238E27FC236}">
                      <a16:creationId xmlns:a16="http://schemas.microsoft.com/office/drawing/2014/main" id="{596DE4E0-0267-2C45-8F67-5B3A9FC7B89A}"/>
                    </a:ext>
                  </a:extLst>
                </p:cNvPr>
                <p:cNvSpPr txBox="1"/>
                <p:nvPr/>
              </p:nvSpPr>
              <p:spPr>
                <a:xfrm>
                  <a:off x="4991100" y="36195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𝐷</m:t>
                        </m:r>
                        <m:r>
                          <a:rPr lang="en-US" sz="1800" i="1">
                            <a:latin typeface="Cambria Math" panose="02040503050406030204" pitchFamily="18" charset="0"/>
                            <a:ea typeface="Times New Roman" panose="02020603050405020304" pitchFamily="18" charset="0"/>
                          </a:rPr>
                          <m:t>(7</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3</m:t>
                            </m:r>
                          </m:num>
                          <m:den>
                            <m:r>
                              <a:rPr lang="en-US" sz="1800" i="1">
                                <a:latin typeface="Cambria Math" panose="02040503050406030204" pitchFamily="18" charset="0"/>
                                <a:ea typeface="Times New Roman" panose="02020603050405020304" pitchFamily="18" charset="0"/>
                              </a:rPr>
                              <m:t>4</m:t>
                            </m:r>
                          </m:den>
                        </m:f>
                        <m:r>
                          <a:rPr lang="en-US" sz="1800" i="1">
                            <a:latin typeface="Cambria Math" panose="02040503050406030204" pitchFamily="18" charset="0"/>
                            <a:ea typeface="Times New Roman" panose="02020603050405020304" pitchFamily="18" charset="0"/>
                          </a:rPr>
                          <m:t>, −2</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10" name="Text Box 9">
                  <a:extLst>
                    <a:ext uri="{FF2B5EF4-FFF2-40B4-BE49-F238E27FC236}">
                      <a16:creationId xmlns:a16="http://schemas.microsoft.com/office/drawing/2014/main" id="{596DE4E0-0267-2C45-8F67-5B3A9FC7B89A}"/>
                    </a:ext>
                  </a:extLst>
                </p:cNvPr>
                <p:cNvSpPr txBox="1">
                  <a:spLocks noRot="1" noChangeAspect="1" noMove="1" noResize="1" noEditPoints="1" noAdjustHandles="1" noChangeArrowheads="1" noChangeShapeType="1" noTextEdit="1"/>
                </p:cNvSpPr>
                <p:nvPr/>
              </p:nvSpPr>
              <p:spPr>
                <a:xfrm>
                  <a:off x="4991100" y="3619500"/>
                  <a:ext cx="1562100" cy="685800"/>
                </a:xfrm>
                <a:prstGeom prst="rect">
                  <a:avLst/>
                </a:prstGeom>
                <a:blipFill>
                  <a:blip r:embed="rId7"/>
                  <a:stretch>
                    <a:fillRect r="-885" b="-196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10">
                  <a:extLst>
                    <a:ext uri="{FF2B5EF4-FFF2-40B4-BE49-F238E27FC236}">
                      <a16:creationId xmlns:a16="http://schemas.microsoft.com/office/drawing/2014/main" id="{31ED0560-A402-3D42-9B0B-8E532D0E9DAA}"/>
                    </a:ext>
                  </a:extLst>
                </p:cNvPr>
                <p:cNvSpPr txBox="1"/>
                <p:nvPr/>
              </p:nvSpPr>
              <p:spPr>
                <a:xfrm>
                  <a:off x="5194300" y="7112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𝐶</m:t>
                        </m:r>
                        <m:r>
                          <a:rPr lang="en-US" sz="1800" i="1">
                            <a:latin typeface="Cambria Math" panose="02040503050406030204" pitchFamily="18" charset="0"/>
                            <a:ea typeface="Times New Roman" panose="02020603050405020304" pitchFamily="18" charset="0"/>
                          </a:rPr>
                          <m:t>(7</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3</m:t>
                            </m:r>
                          </m:num>
                          <m:den>
                            <m:r>
                              <a:rPr lang="en-US" sz="1800" i="1">
                                <a:latin typeface="Cambria Math" panose="02040503050406030204" pitchFamily="18" charset="0"/>
                                <a:ea typeface="Times New Roman" panose="02020603050405020304" pitchFamily="18" charset="0"/>
                              </a:rPr>
                              <m:t>4</m:t>
                            </m:r>
                          </m:den>
                        </m:f>
                        <m:r>
                          <a:rPr lang="en-US" sz="1800" i="1">
                            <a:latin typeface="Cambria Math" panose="02040503050406030204" pitchFamily="18" charset="0"/>
                            <a:ea typeface="Times New Roman" panose="02020603050405020304" pitchFamily="18" charset="0"/>
                          </a:rPr>
                          <m:t>, 4</m:t>
                        </m:r>
                        <m:f>
                          <m:fPr>
                            <m:ctrlPr>
                              <a:rPr lang="en-US" sz="1800" i="1">
                                <a:latin typeface="Cambria Math" panose="02040503050406030204" pitchFamily="18" charset="0"/>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1</m:t>
                            </m:r>
                          </m:num>
                          <m:den>
                            <m:r>
                              <a:rPr lang="en-US" sz="1800" i="1">
                                <a:latin typeface="Cambria Math" panose="02040503050406030204" pitchFamily="18" charset="0"/>
                                <a:ea typeface="Times New Roman" panose="02020603050405020304" pitchFamily="18" charset="0"/>
                              </a:rPr>
                              <m:t>3</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11" name="Text Box 10">
                  <a:extLst>
                    <a:ext uri="{FF2B5EF4-FFF2-40B4-BE49-F238E27FC236}">
                      <a16:creationId xmlns:a16="http://schemas.microsoft.com/office/drawing/2014/main" id="{31ED0560-A402-3D42-9B0B-8E532D0E9DAA}"/>
                    </a:ext>
                  </a:extLst>
                </p:cNvPr>
                <p:cNvSpPr txBox="1">
                  <a:spLocks noRot="1" noChangeAspect="1" noMove="1" noResize="1" noEditPoints="1" noAdjustHandles="1" noChangeArrowheads="1" noChangeShapeType="1" noTextEdit="1"/>
                </p:cNvSpPr>
                <p:nvPr/>
              </p:nvSpPr>
              <p:spPr>
                <a:xfrm>
                  <a:off x="5194300" y="711200"/>
                  <a:ext cx="1562100" cy="685800"/>
                </a:xfrm>
                <a:prstGeom prst="rect">
                  <a:avLst/>
                </a:prstGeom>
                <a:blipFill>
                  <a:blip r:embed="rId8"/>
                  <a:stretch>
                    <a:fillRect/>
                  </a:stretch>
                </a:blipFill>
                <a:ln w="6350">
                  <a:noFill/>
                </a:ln>
              </p:spPr>
              <p:txBody>
                <a:bodyPr/>
                <a:lstStyle/>
                <a:p>
                  <a:r>
                    <a:rPr lang="en-US">
                      <a:noFill/>
                    </a:rPr>
                    <a:t> </a:t>
                  </a:r>
                </a:p>
              </p:txBody>
            </p:sp>
          </mc:Fallback>
        </mc:AlternateContent>
      </p:grpSp>
      <p:sp>
        <p:nvSpPr>
          <p:cNvPr id="12"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164</a:t>
            </a:r>
            <a:endParaRPr lang="en-US" i="1" dirty="0">
              <a:latin typeface="Calibri"/>
              <a:ea typeface="Calibri"/>
              <a:cs typeface="Calibri"/>
              <a:sym typeface="Calibri"/>
            </a:endParaRPr>
          </a:p>
        </p:txBody>
      </p:sp>
      <p:pic>
        <p:nvPicPr>
          <p:cNvPr id="14"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81235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08C67FCF-92C3-654A-BF40-5BDF7A4F9271}"/>
              </a:ext>
            </a:extLst>
          </p:cNvPr>
          <p:cNvSpPr txBox="1"/>
          <p:nvPr/>
        </p:nvSpPr>
        <p:spPr>
          <a:xfrm>
            <a:off x="1205948" y="398474"/>
            <a:ext cx="9780104" cy="1200329"/>
          </a:xfrm>
          <a:prstGeom prst="rect">
            <a:avLst/>
          </a:prstGeom>
          <a:noFill/>
        </p:spPr>
        <p:txBody>
          <a:bodyPr wrap="square" rtlCol="0">
            <a:spAutoFit/>
          </a:bodyPr>
          <a:lstStyle/>
          <a:p>
            <a:pPr marL="460375"/>
            <a:r>
              <a:rPr lang="en-US" sz="2400" dirty="0">
                <a:latin typeface="Verdana" panose="020B0604030504040204" pitchFamily="34" charset="0"/>
                <a:ea typeface="Verdana" panose="020B0604030504040204" pitchFamily="34" charset="0"/>
                <a:cs typeface="Verdana" panose="020B0604030504040204" pitchFamily="34" charset="0"/>
              </a:rPr>
              <a:t>If the scale of the grid is in feet (ft), how many feet of border will he need to buy to completely fence in the garden?</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164</a:t>
            </a:r>
            <a:endParaRPr lang="en-US"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62325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165</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3673" y="-164100"/>
            <a:ext cx="95900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4.5.6 Wrap-Up: </a:t>
            </a:r>
            <a:r>
              <a:rPr lang="en-US" sz="3600" b="1" dirty="0">
                <a:solidFill>
                  <a:srgbClr val="3F2A67"/>
                </a:solidFill>
                <a:latin typeface="Verdana"/>
                <a:ea typeface="Verdana"/>
                <a:cs typeface="Verdana"/>
              </a:rPr>
              <a:t>Ticket Out the Door</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04224" y="12510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33673" y="1386026"/>
            <a:ext cx="958068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rectangle is shown on the coordinate plane.</a:t>
            </a:r>
          </a:p>
        </p:txBody>
      </p:sp>
      <p:pic>
        <p:nvPicPr>
          <p:cNvPr id="11" name="Picture 10" descr="Chart, line chart&#10;&#10;Description automatically generated">
            <a:extLst>
              <a:ext uri="{FF2B5EF4-FFF2-40B4-BE49-F238E27FC236}">
                <a16:creationId xmlns:a16="http://schemas.microsoft.com/office/drawing/2014/main" id="{D9150DBB-3D6B-5C43-BE69-5A1944BE224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33187" y="2072117"/>
            <a:ext cx="5725626" cy="4286947"/>
          </a:xfrm>
          <a:prstGeom prst="rect">
            <a:avLst/>
          </a:prstGeom>
        </p:spPr>
      </p:pic>
      <p:sp>
        <p:nvSpPr>
          <p:cNvPr id="10"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165</a:t>
            </a: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1351722" y="422857"/>
            <a:ext cx="9488556" cy="3416320"/>
          </a:xfrm>
          <a:prstGeom prst="rect">
            <a:avLst/>
          </a:prstGeom>
          <a:noFill/>
        </p:spPr>
        <p:txBody>
          <a:bodyPr wrap="square" rtlCol="0">
            <a:spAutoFit/>
          </a:bodyPr>
          <a:lstStyle/>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length, in units, of the rectangle?</a:t>
            </a: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width, in units, of the rectangle?</a:t>
            </a: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perimeter, in units, of the rectangle?</a:t>
            </a:r>
          </a:p>
        </p:txBody>
      </p:sp>
      <p:sp>
        <p:nvSpPr>
          <p:cNvPr id="7" name="Google Shape;282;g104476d1465_1_17"/>
          <p:cNvSpPr txBox="1"/>
          <p:nvPr/>
        </p:nvSpPr>
        <p:spPr>
          <a:xfrm>
            <a:off x="8666472"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165</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69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1313</TotalTime>
  <Words>1416</Words>
  <Application>Microsoft Office PowerPoint</Application>
  <PresentationFormat>Widescreen</PresentationFormat>
  <Paragraphs>236</Paragraphs>
  <Slides>33</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Arial Black</vt:lpstr>
      <vt:lpstr>Calibri</vt:lpstr>
      <vt:lpstr>Cambria Math</vt:lpstr>
      <vt:lpstr>Century Gothic</vt:lpstr>
      <vt:lpstr>Courier New</vt:lpstr>
      <vt:lpstr>Times New Roman</vt:lpstr>
      <vt:lpstr>Verdana</vt:lpstr>
      <vt:lpstr>Wingdings</vt:lpstr>
      <vt:lpstr>1_Office Theme</vt:lpstr>
      <vt:lpstr>6th Grade Accelerated  Unit 4, Lesson 5  Perimeter on the Coordinate Plane  Volume 1, pg. 159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24</cp:revision>
  <dcterms:created xsi:type="dcterms:W3CDTF">2015-03-17T18:51:18Z</dcterms:created>
  <dcterms:modified xsi:type="dcterms:W3CDTF">2022-06-29T05:24:38Z</dcterms:modified>
</cp:coreProperties>
</file>