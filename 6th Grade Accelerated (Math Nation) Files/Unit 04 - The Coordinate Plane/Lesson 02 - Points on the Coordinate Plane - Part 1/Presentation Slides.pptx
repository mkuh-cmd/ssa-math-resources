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6"/>
  </p:notesMasterIdLst>
  <p:sldIdLst>
    <p:sldId id="256" r:id="rId2"/>
    <p:sldId id="257" r:id="rId3"/>
    <p:sldId id="285" r:id="rId4"/>
    <p:sldId id="286" r:id="rId5"/>
    <p:sldId id="261" r:id="rId6"/>
    <p:sldId id="287" r:id="rId7"/>
    <p:sldId id="326" r:id="rId8"/>
    <p:sldId id="327" r:id="rId9"/>
    <p:sldId id="328" r:id="rId10"/>
    <p:sldId id="289" r:id="rId11"/>
    <p:sldId id="290" r:id="rId12"/>
    <p:sldId id="308" r:id="rId13"/>
    <p:sldId id="335" r:id="rId14"/>
    <p:sldId id="336" r:id="rId15"/>
    <p:sldId id="337" r:id="rId16"/>
    <p:sldId id="338" r:id="rId17"/>
    <p:sldId id="314" r:id="rId18"/>
    <p:sldId id="315" r:id="rId19"/>
    <p:sldId id="316" r:id="rId20"/>
    <p:sldId id="339" r:id="rId21"/>
    <p:sldId id="341" r:id="rId22"/>
    <p:sldId id="342" r:id="rId23"/>
    <p:sldId id="332" r:id="rId24"/>
    <p:sldId id="333" r:id="rId25"/>
    <p:sldId id="334" r:id="rId26"/>
    <p:sldId id="343" r:id="rId27"/>
    <p:sldId id="344" r:id="rId28"/>
    <p:sldId id="345" r:id="rId29"/>
    <p:sldId id="320" r:id="rId30"/>
    <p:sldId id="321" r:id="rId31"/>
    <p:sldId id="322" r:id="rId32"/>
    <p:sldId id="306" r:id="rId33"/>
    <p:sldId id="307" r:id="rId34"/>
    <p:sldId id="310"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03" autoAdjust="0"/>
    <p:restoredTop sz="94695"/>
  </p:normalViewPr>
  <p:slideViewPr>
    <p:cSldViewPr snapToGrid="0">
      <p:cViewPr varScale="1">
        <p:scale>
          <a:sx n="79" d="100"/>
          <a:sy n="79" d="100"/>
        </p:scale>
        <p:origin x="1037"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8403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270617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250350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9917465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9602600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6171388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804744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164157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8902336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22426842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9495194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5881088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4804549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1755701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6966544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extLst>
      <p:ext uri="{BB962C8B-B14F-4D97-AF65-F5344CB8AC3E}">
        <p14:creationId xmlns:p14="http://schemas.microsoft.com/office/powerpoint/2010/main" val="13484926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70.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7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9.png"/><Relationship Id="rId4" Type="http://schemas.openxmlformats.org/officeDocument/2006/relationships/image" Target="../media/image28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6.png"/><Relationship Id="rId4" Type="http://schemas.openxmlformats.org/officeDocument/2006/relationships/image" Target="../media/image35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7.tiff"/><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Points on the Coordinate Plane – 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138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35550" y="1111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12050" y="3469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35550" y="1600200"/>
                <a:ext cx="9320900" cy="4205700"/>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MA.6.GR.1.1</a:t>
                </a:r>
              </a:p>
              <a:p>
                <a:pPr indent="0">
                  <a:buNone/>
                </a:pPr>
                <a:r>
                  <a:rPr lang="en-US" sz="3500" dirty="0">
                    <a:solidFill>
                      <a:schemeClr val="tx1"/>
                    </a:solidFill>
                    <a:latin typeface="Verdana" panose="020B0604030504040204" pitchFamily="34" charset="0"/>
                    <a:ea typeface="Verdana" panose="020B0604030504040204" pitchFamily="34" charset="0"/>
                    <a:cs typeface="Verdana"/>
                    <a:sym typeface="Verdana"/>
                  </a:rPr>
                  <a:t>Extend </a:t>
                </a:r>
                <a:r>
                  <a:rPr lang="en-US" sz="3500" dirty="0">
                    <a:solidFill>
                      <a:srgbClr val="000000"/>
                    </a:solidFill>
                    <a:latin typeface="Verdana" panose="020B0604030504040204" pitchFamily="34" charset="0"/>
                    <a:ea typeface="Verdana" panose="020B0604030504040204" pitchFamily="34" charset="0"/>
                    <a:cs typeface="Verdana" panose="020B0604030504040204" pitchFamily="34" charset="0"/>
                  </a:rPr>
                  <a:t>previous understanding of the coordinate plane to plot rational number ordered pairs in all four quadrants and on both axes. Identify the </a:t>
                </a:r>
                <a14:m>
                  <m:oMath xmlns:m="http://schemas.openxmlformats.org/officeDocument/2006/math">
                    <m:r>
                      <a:rPr lang="en-US" sz="3500" i="1">
                        <a:solidFill>
                          <a:srgbClr val="000000"/>
                        </a:solidFill>
                        <a:latin typeface="Cambria Math" panose="02040503050406030204" pitchFamily="18" charset="0"/>
                        <a:ea typeface="Cambria Math" panose="02040503050406030204" pitchFamily="18" charset="0"/>
                        <a:cs typeface="Cambria Math" panose="02040503050406030204" pitchFamily="18" charset="0"/>
                      </a:rPr>
                      <m:t>𝑥</m:t>
                    </m:r>
                  </m:oMath>
                </a14:m>
                <a:r>
                  <a:rPr lang="en-US" sz="3500" dirty="0">
                    <a:solidFill>
                      <a:srgbClr val="000000"/>
                    </a:solidFill>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3500" i="1">
                        <a:solidFill>
                          <a:srgbClr val="000000"/>
                        </a:solidFill>
                        <a:latin typeface="Cambria Math" panose="02040503050406030204" pitchFamily="18" charset="0"/>
                        <a:ea typeface="Cambria Math" panose="02040503050406030204" pitchFamily="18" charset="0"/>
                        <a:cs typeface="Cambria Math" panose="02040503050406030204" pitchFamily="18" charset="0"/>
                      </a:rPr>
                      <m:t>𝑦</m:t>
                    </m:r>
                  </m:oMath>
                </a14:m>
                <a:r>
                  <a:rPr lang="en-US" sz="3500" dirty="0">
                    <a:solidFill>
                      <a:srgbClr val="000000"/>
                    </a:solidFill>
                    <a:latin typeface="Verdana" panose="020B0604030504040204" pitchFamily="34" charset="0"/>
                    <a:ea typeface="Verdana" panose="020B0604030504040204" pitchFamily="34" charset="0"/>
                    <a:cs typeface="Verdana" panose="020B0604030504040204" pitchFamily="34" charset="0"/>
                  </a:rPr>
                  <a:t>-axis as the line of reflection when two ordered pairs have an opposite </a:t>
                </a:r>
                <a14:m>
                  <m:oMath xmlns:m="http://schemas.openxmlformats.org/officeDocument/2006/math">
                    <m:r>
                      <a:rPr lang="en-US" sz="3500" i="1">
                        <a:solidFill>
                          <a:srgbClr val="000000"/>
                        </a:solidFill>
                        <a:latin typeface="Cambria Math" panose="02040503050406030204" pitchFamily="18" charset="0"/>
                        <a:ea typeface="Cambria Math" panose="02040503050406030204" pitchFamily="18" charset="0"/>
                        <a:cs typeface="Cambria Math" panose="02040503050406030204" pitchFamily="18" charset="0"/>
                      </a:rPr>
                      <m:t>𝑥</m:t>
                    </m:r>
                  </m:oMath>
                </a14:m>
                <a:r>
                  <a:rPr lang="en-US" sz="3500" dirty="0">
                    <a:solidFill>
                      <a:srgbClr val="000000"/>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3500" i="1">
                        <a:solidFill>
                          <a:srgbClr val="000000"/>
                        </a:solidFill>
                        <a:latin typeface="Cambria Math" panose="02040503050406030204" pitchFamily="18" charset="0"/>
                        <a:ea typeface="Cambria Math" panose="02040503050406030204" pitchFamily="18" charset="0"/>
                        <a:cs typeface="Cambria Math" panose="02040503050406030204" pitchFamily="18" charset="0"/>
                      </a:rPr>
                      <m:t>𝑦</m:t>
                    </m:r>
                  </m:oMath>
                </a14:m>
                <a:r>
                  <a:rPr lang="en-US" sz="3500" dirty="0">
                    <a:solidFill>
                      <a:srgbClr val="000000"/>
                    </a:solidFill>
                    <a:latin typeface="Verdana" panose="020B0604030504040204" pitchFamily="34" charset="0"/>
                    <a:ea typeface="Verdana" panose="020B0604030504040204" pitchFamily="34" charset="0"/>
                    <a:cs typeface="Verdana" panose="020B0604030504040204" pitchFamily="34" charset="0"/>
                  </a:rPr>
                  <a:t>- coordinate.</a:t>
                </a:r>
                <a:r>
                  <a:rPr lang="en-US" sz="3500" dirty="0">
                    <a:latin typeface="Verdana" panose="020B0604030504040204" pitchFamily="34" charset="0"/>
                    <a:ea typeface="Verdana" panose="020B0604030504040204" pitchFamily="34" charset="0"/>
                    <a:cs typeface="Verdana" panose="020B0604030504040204" pitchFamily="34" charset="0"/>
                  </a:rPr>
                  <a:t>	</a:t>
                </a:r>
                <a:endParaRPr lang="en-US" sz="3500" i="1" dirty="0">
                  <a:latin typeface="Verdana" panose="020B0604030504040204" pitchFamily="34" charset="0"/>
                  <a:ea typeface="Verdana" panose="020B0604030504040204" pitchFamily="34" charset="0"/>
                  <a:cs typeface="Cambria Math" panose="02040503050406030204" pitchFamily="18" charset="0"/>
                </a:endParaRPr>
              </a:p>
              <a:p>
                <a:pPr indent="0">
                  <a:buNone/>
                </a:pPr>
                <a:endParaRPr lang="en-US" dirty="0">
                  <a:solidFill>
                    <a:schemeClr val="tx1"/>
                  </a:solidFill>
                  <a:latin typeface="Century Gothic"/>
                  <a:ea typeface="Century Gothic"/>
                  <a:cs typeface="Century Gothic"/>
                  <a:sym typeface="Century Gothic"/>
                </a:endParaRPr>
              </a:p>
            </p:txBody>
          </p:sp>
        </mc:Choice>
        <mc:Fallback xmlns="">
          <p:sp>
            <p:nvSpPr>
              <p:cNvPr id="8" name="Google Shape;280;g104476d1465_1_17">
                <a:extLst>
                  <a:ext uri="{FF2B5EF4-FFF2-40B4-BE49-F238E27FC236}">
                    <a16:creationId xmlns:a16="http://schemas.microsoft.com/office/drawing/2014/main" xmlns:a14="http://schemas.microsoft.com/office/drawing/2010/main" xmlns="" id="{527A9F9F-07B8-ED47-B967-E5507C67DBC5}"/>
                  </a:ext>
                </a:extLst>
              </p:cNvPr>
              <p:cNvSpPr txBox="1">
                <a:spLocks noRot="1" noChangeAspect="1" noMove="1" noResize="1" noEditPoints="1" noAdjustHandles="1" noChangeArrowheads="1" noChangeShapeType="1" noTextEdit="1"/>
              </p:cNvSpPr>
              <p:nvPr/>
            </p:nvSpPr>
            <p:spPr>
              <a:xfrm>
                <a:off x="1435550" y="1600200"/>
                <a:ext cx="9320900" cy="4205700"/>
              </a:xfrm>
              <a:prstGeom prst="rect">
                <a:avLst/>
              </a:prstGeom>
              <a:blipFill rotWithShape="0">
                <a:blip r:embed="rId5"/>
                <a:stretch>
                  <a:fillRect l="-1895" t="-2467" r="-654" b="-3628"/>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71100" y="3469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95750" y="1042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95750" y="1596390"/>
            <a:ext cx="87150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138</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99475" y="-88074"/>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17313" y="201126"/>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399475" y="1600200"/>
            <a:ext cx="881132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300" dirty="0">
                <a:latin typeface="Verdana" panose="020B0604030504040204" pitchFamily="34" charset="0"/>
                <a:ea typeface="Verdana" panose="020B0604030504040204" pitchFamily="34" charset="0"/>
              </a:rPr>
              <a:t>I can plot integers using different scales.</a:t>
            </a:r>
          </a:p>
          <a:p>
            <a:pPr marL="457200" indent="-450850">
              <a:buClr>
                <a:srgbClr val="434343"/>
              </a:buClr>
              <a:buSzPts val="3500"/>
              <a:buFont typeface="Verdana"/>
              <a:buChar char="❏"/>
            </a:pPr>
            <a:endParaRPr lang="en-US" sz="3300" dirty="0">
              <a:latin typeface="Verdana" panose="020B0604030504040204" pitchFamily="34" charset="0"/>
              <a:ea typeface="Verdana" panose="020B0604030504040204" pitchFamily="34" charset="0"/>
            </a:endParaRPr>
          </a:p>
          <a:p>
            <a:pPr marL="457200" indent="-450850">
              <a:buClr>
                <a:srgbClr val="434343"/>
              </a:buClr>
              <a:buSzPts val="3500"/>
              <a:buFont typeface="Verdana"/>
              <a:buChar char="❏"/>
            </a:pPr>
            <a:r>
              <a:rPr lang="en-US" sz="3300" dirty="0">
                <a:latin typeface="Verdana" panose="020B0604030504040204" pitchFamily="34" charset="0"/>
                <a:ea typeface="Verdana" panose="020B0604030504040204" pitchFamily="34" charset="0"/>
              </a:rPr>
              <a:t>I can plot rational numbers in the form of decimal and fractional ordered pairs.</a:t>
            </a:r>
          </a:p>
          <a:p>
            <a:pPr marL="457200" indent="-450850">
              <a:buClr>
                <a:srgbClr val="434343"/>
              </a:buClr>
              <a:buSzPts val="3500"/>
              <a:buFont typeface="Verdana"/>
              <a:buChar char="❏"/>
            </a:pPr>
            <a:endParaRPr lang="en-US" sz="3300" i="1" dirty="0">
              <a:latin typeface="Verdana" panose="020B0604030504040204" pitchFamily="34" charset="0"/>
              <a:ea typeface="Verdana" panose="020B0604030504040204" pitchFamily="34" charset="0"/>
            </a:endParaRPr>
          </a:p>
          <a:p>
            <a:pPr marL="457200" indent="-450850">
              <a:buClr>
                <a:srgbClr val="434343"/>
              </a:buClr>
              <a:buSzPts val="3500"/>
              <a:buFont typeface="Verdana"/>
              <a:buChar char="❏"/>
            </a:pPr>
            <a:r>
              <a:rPr lang="en-US" sz="3300" dirty="0">
                <a:latin typeface="Verdana" panose="020B0604030504040204" pitchFamily="34" charset="0"/>
                <a:ea typeface="Verdana" panose="020B0604030504040204" pitchFamily="34" charset="0"/>
              </a:rPr>
              <a:t>I can select an appropriate scale given a set of ordered pairs.</a:t>
            </a:r>
            <a:endParaRPr lang="en-US" sz="3500" i="1" dirty="0">
              <a:latin typeface="Verdana" panose="020B0604030504040204" pitchFamily="34" charset="0"/>
              <a:ea typeface="Verdana" panose="020B0604030504040204" pitchFamily="34" charset="0"/>
            </a:endParaRPr>
          </a:p>
        </p:txBody>
      </p:sp>
      <p:sp>
        <p:nvSpPr>
          <p:cNvPr id="8"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9638"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4.2.1 Warm-Up: Interior Designer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12338"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459638" y="1386025"/>
            <a:ext cx="8927946" cy="4159280"/>
          </a:xfrm>
          <a:prstGeom prst="rect">
            <a:avLst/>
          </a:prstGeom>
          <a:noFill/>
        </p:spPr>
        <p:txBody>
          <a:bodyPr wrap="square" rtlCol="0">
            <a:spAutoFit/>
          </a:bodyPr>
          <a:lstStyle/>
          <a:p>
            <a:pPr>
              <a:lnSpc>
                <a:spcPct val="107000"/>
              </a:lnSpc>
            </a:pPr>
            <a:r>
              <a:rPr lang="en-US" sz="1900" dirty="0">
                <a:latin typeface="Verdana" panose="020B0604030504040204" pitchFamily="34" charset="0"/>
                <a:ea typeface="Verdana" panose="020B0604030504040204" pitchFamily="34" charset="0"/>
                <a:cs typeface="Verdana" panose="020B0604030504040204" pitchFamily="34" charset="0"/>
              </a:rPr>
              <a:t>After getting a degree in graphic design, Soledad </a:t>
            </a:r>
            <a:r>
              <a:rPr lang="en-US" sz="1900" dirty="0" err="1">
                <a:latin typeface="Verdana" panose="020B0604030504040204" pitchFamily="34" charset="0"/>
                <a:ea typeface="Verdana" panose="020B0604030504040204" pitchFamily="34" charset="0"/>
                <a:cs typeface="Verdana" panose="020B0604030504040204" pitchFamily="34" charset="0"/>
              </a:rPr>
              <a:t>Alzaga</a:t>
            </a:r>
            <a:r>
              <a:rPr lang="en-US" sz="1900" dirty="0">
                <a:latin typeface="Verdana" panose="020B0604030504040204" pitchFamily="34" charset="0"/>
                <a:ea typeface="Verdana" panose="020B0604030504040204" pitchFamily="34" charset="0"/>
                <a:cs typeface="Verdana" panose="020B0604030504040204" pitchFamily="34" charset="0"/>
              </a:rPr>
              <a:t> built her career and company as an interior designer. Interior designers make interior spaces functional, safe, and beautiful by determining space requirements and selecting decorative items such as colors, lighting, and materials. Beyond being creative and having good taste, Soledad says to own a successful interior design business, it is necessary to have the ability to work and communicate with others, be organized, have business knowledge, and to have math and measurement skills.</a:t>
            </a:r>
          </a:p>
          <a:p>
            <a:pPr>
              <a:lnSpc>
                <a:spcPct val="107000"/>
              </a:lnSpc>
            </a:pPr>
            <a:endParaRPr lang="en-US" sz="1900"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r>
              <a:rPr lang="en-US" sz="1900" dirty="0">
                <a:latin typeface="Verdana" panose="020B0604030504040204" pitchFamily="34" charset="0"/>
                <a:ea typeface="Verdana" panose="020B0604030504040204" pitchFamily="34" charset="0"/>
                <a:cs typeface="Verdana" panose="020B0604030504040204" pitchFamily="34" charset="0"/>
              </a:rPr>
              <a:t>What is something that interests you that you would like to spend your career doing?</a:t>
            </a:r>
          </a:p>
          <a:p>
            <a:pPr marL="342900" indent="-342900">
              <a:lnSpc>
                <a:spcPct val="107000"/>
              </a:lnSpc>
              <a:buFont typeface="+mj-lt"/>
              <a:buAutoNum type="arabicPeriod"/>
            </a:pPr>
            <a:endParaRPr lang="en-US" sz="19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r>
              <a:rPr lang="en-US" sz="1900" dirty="0">
                <a:latin typeface="Verdana" panose="020B0604030504040204" pitchFamily="34" charset="0"/>
                <a:ea typeface="Verdana" panose="020B0604030504040204" pitchFamily="34" charset="0"/>
                <a:cs typeface="Verdana" panose="020B0604030504040204" pitchFamily="34" charset="0"/>
              </a:rPr>
              <a:t>What skills do you think are needed to be successful in that career?</a:t>
            </a:r>
            <a:endParaRPr lang="en-US" sz="1900" i="1" dirty="0">
              <a:latin typeface="Verdana" panose="020B0604030504040204" pitchFamily="34" charset="0"/>
              <a:ea typeface="Verdana" panose="020B0604030504040204" pitchFamily="34" charset="0"/>
              <a:cs typeface="Cambria Math" panose="02040503050406030204" pitchFamily="18" charset="0"/>
            </a:endParaRPr>
          </a:p>
        </p:txBody>
      </p:sp>
      <p:sp>
        <p:nvSpPr>
          <p:cNvPr id="9"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pic>
        <p:nvPicPr>
          <p:cNvPr id="11266" name="Picture 2" descr="Icon&#10;&#10;Description automatically generated">
            <a:extLst>
              <a:ext uri="{FF2B5EF4-FFF2-40B4-BE49-F238E27FC236}">
                <a16:creationId xmlns:a16="http://schemas.microsoft.com/office/drawing/2014/main" id="{8E68AE2B-31C4-664C-9668-81B7C1673C9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492434"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62107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78294" y="6089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4.2.2 Refresher: Key Terms with the Coordinate Plane</a:t>
            </a:r>
          </a:p>
        </p:txBody>
      </p:sp>
      <p:pic>
        <p:nvPicPr>
          <p:cNvPr id="9" name="Picture 2" descr="Icon&#10;&#10;Description automatically generated">
            <a:extLst>
              <a:ext uri="{FF2B5EF4-FFF2-40B4-BE49-F238E27FC236}">
                <a16:creationId xmlns:a16="http://schemas.microsoft.com/office/drawing/2014/main" id="{522B94A7-8145-AF4C-A130-4689EF537FB7}"/>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8665" y="27568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DC51FF2-AD43-3B4B-B9DE-330920D33388}"/>
              </a:ext>
            </a:extLst>
          </p:cNvPr>
          <p:cNvSpPr txBox="1"/>
          <p:nvPr/>
        </p:nvSpPr>
        <p:spPr>
          <a:xfrm>
            <a:off x="1651000" y="1386026"/>
            <a:ext cx="8736584" cy="138499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Helvetica Neue"/>
              </a:rPr>
              <a:t>Several key terms related to the coordinate plane were used throughout Lesson 1. Below, you can find definitions for each of these key terms.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grpSp>
        <p:nvGrpSpPr>
          <p:cNvPr id="8" name="Group 7">
            <a:extLst>
              <a:ext uri="{FF2B5EF4-FFF2-40B4-BE49-F238E27FC236}">
                <a16:creationId xmlns:a16="http://schemas.microsoft.com/office/drawing/2014/main" id="{F5E52773-F8E4-4EC2-8D70-7C3741A81AC5}"/>
              </a:ext>
            </a:extLst>
          </p:cNvPr>
          <p:cNvGrpSpPr/>
          <p:nvPr/>
        </p:nvGrpSpPr>
        <p:grpSpPr>
          <a:xfrm>
            <a:off x="2105125" y="2611274"/>
            <a:ext cx="7239000" cy="2951415"/>
            <a:chOff x="1818475" y="3005162"/>
            <a:chExt cx="7239000" cy="2953046"/>
          </a:xfrm>
        </p:grpSpPr>
        <p:grpSp>
          <p:nvGrpSpPr>
            <p:cNvPr id="11" name="Group 10">
              <a:extLst>
                <a:ext uri="{FF2B5EF4-FFF2-40B4-BE49-F238E27FC236}">
                  <a16:creationId xmlns:a16="http://schemas.microsoft.com/office/drawing/2014/main" id="{B859D4AA-593F-4AB6-A859-033255233BBF}"/>
                </a:ext>
              </a:extLst>
            </p:cNvPr>
            <p:cNvGrpSpPr/>
            <p:nvPr/>
          </p:nvGrpSpPr>
          <p:grpSpPr>
            <a:xfrm>
              <a:off x="1818475" y="3005162"/>
              <a:ext cx="7239000" cy="2953046"/>
              <a:chOff x="1818475" y="3005162"/>
              <a:chExt cx="7239000" cy="2953046"/>
            </a:xfrm>
          </p:grpSpPr>
          <p:sp>
            <p:nvSpPr>
              <p:cNvPr id="13" name="Rectangle 12">
                <a:extLst>
                  <a:ext uri="{FF2B5EF4-FFF2-40B4-BE49-F238E27FC236}">
                    <a16:creationId xmlns:a16="http://schemas.microsoft.com/office/drawing/2014/main" id="{EF819DA5-1AB0-46D2-A59D-BA0219A30E3F}"/>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14" name="Group 13">
                <a:extLst>
                  <a:ext uri="{FF2B5EF4-FFF2-40B4-BE49-F238E27FC236}">
                    <a16:creationId xmlns:a16="http://schemas.microsoft.com/office/drawing/2014/main" id="{13CA7522-8C56-4A65-93B2-5858C3C20A80}"/>
                  </a:ext>
                </a:extLst>
              </p:cNvPr>
              <p:cNvGrpSpPr/>
              <p:nvPr/>
            </p:nvGrpSpPr>
            <p:grpSpPr>
              <a:xfrm>
                <a:off x="1818475" y="3005162"/>
                <a:ext cx="7239000" cy="2953046"/>
                <a:chOff x="-212825" y="-368438"/>
                <a:chExt cx="7239000" cy="2953046"/>
              </a:xfrm>
            </p:grpSpPr>
            <p:sp>
              <p:nvSpPr>
                <p:cNvPr id="15" name="Rectangle 14">
                  <a:extLst>
                    <a:ext uri="{FF2B5EF4-FFF2-40B4-BE49-F238E27FC236}">
                      <a16:creationId xmlns:a16="http://schemas.microsoft.com/office/drawing/2014/main" id="{3C556F54-AD5D-4720-9E36-82CA65EA5D73}"/>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mc:AlternateContent xmlns:mc="http://schemas.openxmlformats.org/markup-compatibility/2006" xmlns:a14="http://schemas.microsoft.com/office/drawing/2010/main">
              <mc:Choice Requires="a14">
                <p:sp>
                  <p:nvSpPr>
                    <p:cNvPr id="16" name="Rounded Rectangle 26">
                      <a:extLst>
                        <a:ext uri="{FF2B5EF4-FFF2-40B4-BE49-F238E27FC236}">
                          <a16:creationId xmlns:a16="http://schemas.microsoft.com/office/drawing/2014/main" id="{82FFFA8B-B5F7-4225-8110-C1F71DC9C2B1}"/>
                        </a:ext>
                      </a:extLst>
                    </p:cNvPr>
                    <p:cNvSpPr/>
                    <p:nvPr/>
                  </p:nvSpPr>
                  <p:spPr>
                    <a:xfrm>
                      <a:off x="-212825" y="-368438"/>
                      <a:ext cx="7239000" cy="295304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pPr>
                      <a:endPar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coordinate plane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plane determined by two perpendicular number lines, called axes. The axes intersect at the origin. Each point in the coordinate plane is represented by a pair of coordinates that represent the direction and distance from each axis. The origin is represented by the coordinate pair,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(0, 0)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685800">
                        <a:lnSpc>
                          <a:spcPct val="107000"/>
                        </a:lnSpc>
                        <a:spcAft>
                          <a:spcPts val="800"/>
                        </a:spcAft>
                      </a:pPr>
                      <a:r>
                        <a:rPr lang="en-US" sz="2000" i="1" dirty="0">
                          <a:latin typeface="Verdana" panose="020B0604030504040204" pitchFamily="34" charset="0"/>
                          <a:ea typeface="Verdana" panose="020B0604030504040204" pitchFamily="34" charset="0"/>
                          <a:cs typeface="Cambria Math" panose="02040503050406030204" pitchFamily="18" charset="0"/>
                        </a:rPr>
                        <a:t> </a:t>
                      </a:r>
                    </a:p>
                  </p:txBody>
                </p:sp>
              </mc:Choice>
              <mc:Fallback xmlns="">
                <p:sp>
                  <p:nvSpPr>
                    <p:cNvPr id="16" name="Rounded Rectangle 26">
                      <a:extLst>
                        <a:ext uri="{FF2B5EF4-FFF2-40B4-BE49-F238E27FC236}">
                          <a16:creationId xmlns:a16="http://schemas.microsoft.com/office/drawing/2014/main" id="{82FFFA8B-B5F7-4225-8110-C1F71DC9C2B1}"/>
                        </a:ext>
                      </a:extLst>
                    </p:cNvPr>
                    <p:cNvSpPr>
                      <a:spLocks noRot="1" noChangeAspect="1" noMove="1" noResize="1" noEditPoints="1" noAdjustHandles="1" noChangeArrowheads="1" noChangeShapeType="1" noTextEdit="1"/>
                    </p:cNvSpPr>
                    <p:nvPr/>
                  </p:nvSpPr>
                  <p:spPr>
                    <a:xfrm>
                      <a:off x="-212825" y="-368438"/>
                      <a:ext cx="7239000" cy="2953046"/>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7" name="Shape 7" descr="Icon&#10;&#10;Description automatically generated">
                  <a:extLst>
                    <a:ext uri="{FF2B5EF4-FFF2-40B4-BE49-F238E27FC236}">
                      <a16:creationId xmlns:a16="http://schemas.microsoft.com/office/drawing/2014/main" id="{9BD1CEC8-A861-416B-8908-EFDC358663D1}"/>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0" y="-223032"/>
                  <a:ext cx="539750" cy="539750"/>
                </a:xfrm>
                <a:prstGeom prst="rect">
                  <a:avLst/>
                </a:prstGeom>
                <a:noFill/>
                <a:ln>
                  <a:noFill/>
                </a:ln>
                <a:effectLst>
                  <a:outerShdw blurRad="50800" dist="38100" dir="2700000" algn="tl" rotWithShape="0">
                    <a:prstClr val="black">
                      <a:alpha val="40000"/>
                    </a:prstClr>
                  </a:outerShdw>
                </a:effectLst>
              </p:spPr>
            </p:pic>
          </p:grpSp>
        </p:grpSp>
      </p:grpSp>
      <p:sp>
        <p:nvSpPr>
          <p:cNvPr id="18"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139</a:t>
            </a:r>
            <a:endParaRPr i="1" dirty="0">
              <a:latin typeface="Calibri"/>
              <a:ea typeface="Calibri"/>
              <a:cs typeface="Calibri"/>
              <a:sym typeface="Calibri"/>
            </a:endParaRPr>
          </a:p>
        </p:txBody>
      </p:sp>
      <p:pic>
        <p:nvPicPr>
          <p:cNvPr id="19"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6402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 name="Group 5">
            <a:extLst>
              <a:ext uri="{FF2B5EF4-FFF2-40B4-BE49-F238E27FC236}">
                <a16:creationId xmlns:a16="http://schemas.microsoft.com/office/drawing/2014/main" id="{06B248DF-95D9-428D-81CA-DDA8736FB1EC}"/>
              </a:ext>
            </a:extLst>
          </p:cNvPr>
          <p:cNvGrpSpPr/>
          <p:nvPr/>
        </p:nvGrpSpPr>
        <p:grpSpPr>
          <a:xfrm>
            <a:off x="2002350" y="250307"/>
            <a:ext cx="7497250" cy="1157975"/>
            <a:chOff x="0" y="-75337"/>
            <a:chExt cx="7497250" cy="1158550"/>
          </a:xfrm>
        </p:grpSpPr>
        <p:sp>
          <p:nvSpPr>
            <p:cNvPr id="7" name="Rounded Rectangle 35">
              <a:extLst>
                <a:ext uri="{FF2B5EF4-FFF2-40B4-BE49-F238E27FC236}">
                  <a16:creationId xmlns:a16="http://schemas.microsoft.com/office/drawing/2014/main" id="{7F60D09E-1909-4777-814F-979A1CD2DA64}"/>
                </a:ext>
              </a:extLst>
            </p:cNvPr>
            <p:cNvSpPr/>
            <p:nvPr/>
          </p:nvSpPr>
          <p:spPr>
            <a:xfrm>
              <a:off x="0" y="-75337"/>
              <a:ext cx="7497250" cy="1158550"/>
            </a:xfrm>
            <a:prstGeom prst="roundRect">
              <a:avLst>
                <a:gd name="adj" fmla="val 16667"/>
              </a:avLst>
            </a:prstGeom>
            <a:solidFill>
              <a:srgbClr val="E2EED5"/>
            </a:solidFill>
            <a:ln>
              <a:noFill/>
            </a:ln>
          </p:spPr>
          <p:txBody>
            <a:bodyPr spcFirstLastPara="1" wrap="square" lIns="91425" tIns="45700" rIns="91425" bIns="45700" anchor="ctr" anchorCtr="0">
              <a:noAutofit/>
            </a:bodyPr>
            <a:lstStyle/>
            <a:p>
              <a:pPr marL="742950">
                <a:lnSpc>
                  <a:spcPct val="107000"/>
                </a:lnSpc>
                <a:spcAft>
                  <a:spcPts val="800"/>
                </a:spcAft>
              </a:pPr>
              <a:endPar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spcAft>
                  <a:spcPts val="8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axes</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of a graph are the horizontal and vertical number lines used in a coordinate plane system.</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685800">
                <a:lnSpc>
                  <a:spcPct val="107000"/>
                </a:lnSpc>
                <a:spcAft>
                  <a:spcPts val="800"/>
                </a:spcAft>
              </a:pPr>
              <a:r>
                <a:rPr lang="en-US" sz="1600" i="1" dirty="0">
                  <a:latin typeface="Cambria Math" panose="02040503050406030204" pitchFamily="18" charset="0"/>
                  <a:ea typeface="Cambria Math" panose="02040503050406030204" pitchFamily="18" charset="0"/>
                  <a:cs typeface="Cambria Math" panose="02040503050406030204" pitchFamily="18" charset="0"/>
                </a:rPr>
                <a:t> </a:t>
              </a:r>
            </a:p>
          </p:txBody>
        </p:sp>
        <p:pic>
          <p:nvPicPr>
            <p:cNvPr id="8" name="Shape 7" descr="Icon&#10;&#10;Description automatically generated">
              <a:extLst>
                <a:ext uri="{FF2B5EF4-FFF2-40B4-BE49-F238E27FC236}">
                  <a16:creationId xmlns:a16="http://schemas.microsoft.com/office/drawing/2014/main" id="{688F442E-F4FC-469F-8053-FD7859610465}"/>
                </a:ext>
              </a:extLst>
            </p:cNvPr>
            <p:cNvPicPr/>
            <p:nvPr/>
          </p:nvPicPr>
          <p:blipFill rotWithShape="1">
            <a:blip r:embed="rId3" cstate="screen">
              <a:alphaModFix/>
              <a:extLst>
                <a:ext uri="{28A0092B-C50C-407E-A947-70E740481C1C}">
                  <a14:useLocalDpi xmlns:a14="http://schemas.microsoft.com/office/drawing/2010/main"/>
                </a:ext>
              </a:extLst>
            </a:blip>
            <a:srcRect/>
            <a:stretch/>
          </p:blipFill>
          <p:spPr>
            <a:xfrm>
              <a:off x="168813" y="98474"/>
              <a:ext cx="539750" cy="539115"/>
            </a:xfrm>
            <a:prstGeom prst="rect">
              <a:avLst/>
            </a:prstGeom>
            <a:noFill/>
            <a:ln>
              <a:noFill/>
            </a:ln>
          </p:spPr>
        </p:pic>
      </p:grpSp>
      <p:grpSp>
        <p:nvGrpSpPr>
          <p:cNvPr id="9" name="Group 8">
            <a:extLst>
              <a:ext uri="{FF2B5EF4-FFF2-40B4-BE49-F238E27FC236}">
                <a16:creationId xmlns:a16="http://schemas.microsoft.com/office/drawing/2014/main" id="{3AFB320F-167C-4D71-8BDA-E47B3A55844D}"/>
              </a:ext>
            </a:extLst>
          </p:cNvPr>
          <p:cNvGrpSpPr/>
          <p:nvPr/>
        </p:nvGrpSpPr>
        <p:grpSpPr>
          <a:xfrm>
            <a:off x="2002349" y="1599607"/>
            <a:ext cx="7497250" cy="1387577"/>
            <a:chOff x="-1" y="-37581"/>
            <a:chExt cx="7497250" cy="1388079"/>
          </a:xfrm>
        </p:grpSpPr>
        <p:sp>
          <p:nvSpPr>
            <p:cNvPr id="10" name="Rounded Rectangle 29">
              <a:extLst>
                <a:ext uri="{FF2B5EF4-FFF2-40B4-BE49-F238E27FC236}">
                  <a16:creationId xmlns:a16="http://schemas.microsoft.com/office/drawing/2014/main" id="{387FDDD8-8084-4869-B191-CFB417D88D93}"/>
                </a:ext>
              </a:extLst>
            </p:cNvPr>
            <p:cNvSpPr/>
            <p:nvPr/>
          </p:nvSpPr>
          <p:spPr>
            <a:xfrm>
              <a:off x="-1" y="-37581"/>
              <a:ext cx="7497250" cy="1388079"/>
            </a:xfrm>
            <a:prstGeom prst="roundRect">
              <a:avLst>
                <a:gd name="adj" fmla="val 16667"/>
              </a:avLst>
            </a:prstGeom>
            <a:solidFill>
              <a:srgbClr val="E2EED5"/>
            </a:solidFill>
            <a:ln>
              <a:noFill/>
            </a:ln>
          </p:spPr>
          <p:txBody>
            <a:bodyPr spcFirstLastPara="1" wrap="square" lIns="91425" tIns="45700" rIns="91425" bIns="45700" anchor="ctr" anchorCtr="0">
              <a:noAutofit/>
            </a:bodyPr>
            <a:lstStyle/>
            <a:p>
              <a:pPr marL="742950">
                <a:lnSpc>
                  <a:spcPct val="107000"/>
                </a:lnSpc>
              </a:pPr>
              <a:endPar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coordinate</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a number used to locate a point on a number line. A coordinate is one of the numbers in an ordered pair that locates a point on a coordinate plane.</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685800">
                <a:lnSpc>
                  <a:spcPct val="107000"/>
                </a:lnSpc>
                <a:spcAft>
                  <a:spcPts val="800"/>
                </a:spcAft>
              </a:pPr>
              <a:r>
                <a:rPr lang="en-US" sz="1600" i="1" dirty="0">
                  <a:latin typeface="Cambria Math" panose="02040503050406030204" pitchFamily="18" charset="0"/>
                  <a:ea typeface="Cambria Math" panose="02040503050406030204" pitchFamily="18" charset="0"/>
                  <a:cs typeface="Cambria Math" panose="02040503050406030204" pitchFamily="18" charset="0"/>
                </a:rPr>
                <a:t> </a:t>
              </a:r>
            </a:p>
          </p:txBody>
        </p:sp>
        <p:pic>
          <p:nvPicPr>
            <p:cNvPr id="11" name="Shape 7" descr="Icon&#10;&#10;Description automatically generated">
              <a:extLst>
                <a:ext uri="{FF2B5EF4-FFF2-40B4-BE49-F238E27FC236}">
                  <a16:creationId xmlns:a16="http://schemas.microsoft.com/office/drawing/2014/main" id="{0FF333E0-7168-4FC5-AA21-414EE562ACF0}"/>
                </a:ext>
              </a:extLst>
            </p:cNvPr>
            <p:cNvPicPr/>
            <p:nvPr/>
          </p:nvPicPr>
          <p:blipFill rotWithShape="1">
            <a:blip r:embed="rId3" cstate="screen">
              <a:alphaModFix/>
              <a:extLst>
                <a:ext uri="{28A0092B-C50C-407E-A947-70E740481C1C}">
                  <a14:useLocalDpi xmlns:a14="http://schemas.microsoft.com/office/drawing/2010/main"/>
                </a:ext>
              </a:extLst>
            </a:blip>
            <a:srcRect/>
            <a:stretch/>
          </p:blipFill>
          <p:spPr>
            <a:xfrm>
              <a:off x="129501" y="176361"/>
              <a:ext cx="539750" cy="539115"/>
            </a:xfrm>
            <a:prstGeom prst="rect">
              <a:avLst/>
            </a:prstGeom>
            <a:noFill/>
            <a:ln>
              <a:noFill/>
            </a:ln>
          </p:spPr>
        </p:pic>
      </p:grpSp>
      <p:grpSp>
        <p:nvGrpSpPr>
          <p:cNvPr id="13" name="Group 12">
            <a:extLst>
              <a:ext uri="{FF2B5EF4-FFF2-40B4-BE49-F238E27FC236}">
                <a16:creationId xmlns:a16="http://schemas.microsoft.com/office/drawing/2014/main" id="{032DDF65-CAB6-4741-B989-CA2B322761B1}"/>
              </a:ext>
            </a:extLst>
          </p:cNvPr>
          <p:cNvGrpSpPr/>
          <p:nvPr/>
        </p:nvGrpSpPr>
        <p:grpSpPr>
          <a:xfrm>
            <a:off x="2002349" y="3206582"/>
            <a:ext cx="7497249" cy="1387577"/>
            <a:chOff x="-368301" y="-3391931"/>
            <a:chExt cx="7497249" cy="1388079"/>
          </a:xfrm>
        </p:grpSpPr>
        <mc:AlternateContent xmlns:mc="http://schemas.openxmlformats.org/markup-compatibility/2006" xmlns:a14="http://schemas.microsoft.com/office/drawing/2010/main">
          <mc:Choice Requires="a14">
            <p:sp>
              <p:nvSpPr>
                <p:cNvPr id="14" name="Rounded Rectangle 32">
                  <a:extLst>
                    <a:ext uri="{FF2B5EF4-FFF2-40B4-BE49-F238E27FC236}">
                      <a16:creationId xmlns:a16="http://schemas.microsoft.com/office/drawing/2014/main" id="{A590ECEB-B822-411E-921C-A0E675F5618F}"/>
                    </a:ext>
                  </a:extLst>
                </p:cNvPr>
                <p:cNvSpPr/>
                <p:nvPr/>
              </p:nvSpPr>
              <p:spPr>
                <a:xfrm>
                  <a:off x="-368301" y="-3391931"/>
                  <a:ext cx="7497249" cy="1388079"/>
                </a:xfrm>
                <a:prstGeom prst="roundRect">
                  <a:avLst>
                    <a:gd name="adj" fmla="val 16667"/>
                  </a:avLst>
                </a:prstGeom>
                <a:solidFill>
                  <a:srgbClr val="E2EED5"/>
                </a:solidFill>
                <a:ln>
                  <a:noFill/>
                </a:ln>
              </p:spPr>
              <p:txBody>
                <a:bodyPr spcFirstLastPara="1" wrap="square" lIns="91425" tIns="45700" rIns="91425" bIns="45700" anchor="ctr" anchorCtr="0">
                  <a:noAutofit/>
                </a:bodyPr>
                <a:lstStyle/>
                <a:p>
                  <a:pPr marL="742950">
                    <a:lnSpc>
                      <a:spcPct val="107000"/>
                    </a:lnSpc>
                    <a:spcAft>
                      <a:spcPts val="800"/>
                    </a:spcAft>
                  </a:pPr>
                  <a:endPar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spcAft>
                      <a:spcPts val="8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origin</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the point of intersection of the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𝑥</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𝑦</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-axes in a rectangular coordinate system, where the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𝑥</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-coordinate and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𝑦</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-coordinate are both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0</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685800">
                    <a:lnSpc>
                      <a:spcPct val="107000"/>
                    </a:lnSpc>
                    <a:spcAft>
                      <a:spcPts val="800"/>
                    </a:spcAft>
                  </a:pPr>
                  <a:r>
                    <a:rPr lang="en-US" sz="1600" i="1" dirty="0">
                      <a:latin typeface="Cambria Math" panose="02040503050406030204" pitchFamily="18" charset="0"/>
                      <a:ea typeface="Cambria Math" panose="02040503050406030204" pitchFamily="18" charset="0"/>
                      <a:cs typeface="Cambria Math" panose="02040503050406030204" pitchFamily="18" charset="0"/>
                    </a:rPr>
                    <a:t> </a:t>
                  </a:r>
                </a:p>
              </p:txBody>
            </p:sp>
          </mc:Choice>
          <mc:Fallback xmlns="">
            <p:sp>
              <p:nvSpPr>
                <p:cNvPr id="14" name="Rounded Rectangle 32">
                  <a:extLst>
                    <a:ext uri="{FF2B5EF4-FFF2-40B4-BE49-F238E27FC236}">
                      <a16:creationId xmlns:a16="http://schemas.microsoft.com/office/drawing/2014/main" id="{A590ECEB-B822-411E-921C-A0E675F5618F}"/>
                    </a:ext>
                  </a:extLst>
                </p:cNvPr>
                <p:cNvSpPr>
                  <a:spLocks noRot="1" noChangeAspect="1" noMove="1" noResize="1" noEditPoints="1" noAdjustHandles="1" noChangeArrowheads="1" noChangeShapeType="1" noTextEdit="1"/>
                </p:cNvSpPr>
                <p:nvPr/>
              </p:nvSpPr>
              <p:spPr>
                <a:xfrm>
                  <a:off x="-368301" y="-3391931"/>
                  <a:ext cx="7497249" cy="1388079"/>
                </a:xfrm>
                <a:prstGeom prst="roundRect">
                  <a:avLst>
                    <a:gd name="adj" fmla="val 16667"/>
                  </a:avLst>
                </a:prstGeom>
                <a:blipFill>
                  <a:blip r:embed="rId5"/>
                  <a:stretch>
                    <a:fillRect t="-4386" r="-407" b="-4825"/>
                  </a:stretch>
                </a:blipFill>
                <a:ln>
                  <a:noFill/>
                </a:ln>
              </p:spPr>
              <p:txBody>
                <a:bodyPr/>
                <a:lstStyle/>
                <a:p>
                  <a:r>
                    <a:rPr lang="en-US">
                      <a:noFill/>
                    </a:rPr>
                    <a:t> </a:t>
                  </a:r>
                </a:p>
              </p:txBody>
            </p:sp>
          </mc:Fallback>
        </mc:AlternateContent>
        <p:pic>
          <p:nvPicPr>
            <p:cNvPr id="15" name="Shape 7" descr="Icon&#10;&#10;Description automatically generated">
              <a:extLst>
                <a:ext uri="{FF2B5EF4-FFF2-40B4-BE49-F238E27FC236}">
                  <a16:creationId xmlns:a16="http://schemas.microsoft.com/office/drawing/2014/main" id="{EB29C13E-6769-4FAE-BA8C-32A51F834788}"/>
                </a:ext>
              </a:extLst>
            </p:cNvPr>
            <p:cNvPicPr/>
            <p:nvPr/>
          </p:nvPicPr>
          <p:blipFill rotWithShape="1">
            <a:blip r:embed="rId3" cstate="screen">
              <a:alphaModFix/>
              <a:extLst>
                <a:ext uri="{28A0092B-C50C-407E-A947-70E740481C1C}">
                  <a14:useLocalDpi xmlns:a14="http://schemas.microsoft.com/office/drawing/2010/main"/>
                </a:ext>
              </a:extLst>
            </a:blip>
            <a:srcRect/>
            <a:stretch/>
          </p:blipFill>
          <p:spPr>
            <a:xfrm>
              <a:off x="-199487" y="-3254858"/>
              <a:ext cx="539750" cy="539115"/>
            </a:xfrm>
            <a:prstGeom prst="rect">
              <a:avLst/>
            </a:prstGeom>
            <a:noFill/>
            <a:ln>
              <a:noFill/>
            </a:ln>
          </p:spPr>
        </p:pic>
      </p:grpSp>
      <p:grpSp>
        <p:nvGrpSpPr>
          <p:cNvPr id="16" name="Group 15">
            <a:extLst>
              <a:ext uri="{FF2B5EF4-FFF2-40B4-BE49-F238E27FC236}">
                <a16:creationId xmlns:a16="http://schemas.microsoft.com/office/drawing/2014/main" id="{83AAA45B-E4E6-471D-8AC5-54C66495C81A}"/>
              </a:ext>
            </a:extLst>
          </p:cNvPr>
          <p:cNvGrpSpPr/>
          <p:nvPr/>
        </p:nvGrpSpPr>
        <p:grpSpPr>
          <a:xfrm>
            <a:off x="2002349" y="4834407"/>
            <a:ext cx="7497248" cy="911635"/>
            <a:chOff x="-618373" y="-152213"/>
            <a:chExt cx="7497248" cy="911869"/>
          </a:xfrm>
        </p:grpSpPr>
        <p:sp>
          <p:nvSpPr>
            <p:cNvPr id="17" name="Rounded Rectangle 38">
              <a:extLst>
                <a:ext uri="{FF2B5EF4-FFF2-40B4-BE49-F238E27FC236}">
                  <a16:creationId xmlns:a16="http://schemas.microsoft.com/office/drawing/2014/main" id="{4F7E83FD-42D4-471B-BBCF-B27754DF16AC}"/>
                </a:ext>
              </a:extLst>
            </p:cNvPr>
            <p:cNvSpPr/>
            <p:nvPr/>
          </p:nvSpPr>
          <p:spPr>
            <a:xfrm>
              <a:off x="-618373" y="-152213"/>
              <a:ext cx="7497248" cy="911869"/>
            </a:xfrm>
            <a:prstGeom prst="roundRect">
              <a:avLst>
                <a:gd name="adj" fmla="val 16667"/>
              </a:avLst>
            </a:prstGeom>
            <a:solidFill>
              <a:srgbClr val="E2EED5"/>
            </a:solidFill>
            <a:ln>
              <a:noFill/>
            </a:ln>
          </p:spPr>
          <p:txBody>
            <a:bodyPr spcFirstLastPara="1" wrap="square" lIns="91425" tIns="45700" rIns="91425" bIns="45700" anchor="ctr" anchorCtr="0">
              <a:noAutofit/>
            </a:bodyPr>
            <a:lstStyle/>
            <a:p>
              <a:pPr marL="742950">
                <a:lnSpc>
                  <a:spcPct val="107000"/>
                </a:lnSpc>
                <a:spcAft>
                  <a:spcPts val="800"/>
                </a:spcAft>
              </a:pPr>
              <a:endPar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spcAft>
                  <a:spcPts val="8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quadrant</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is any of the four regions separated by the axes in a coordinate plane.</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685800">
                <a:lnSpc>
                  <a:spcPct val="107000"/>
                </a:lnSpc>
                <a:spcAft>
                  <a:spcPts val="800"/>
                </a:spcAft>
              </a:pPr>
              <a:r>
                <a:rPr lang="en-US" sz="1600" i="1" dirty="0">
                  <a:latin typeface="Cambria Math" panose="02040503050406030204" pitchFamily="18" charset="0"/>
                  <a:ea typeface="Cambria Math" panose="02040503050406030204" pitchFamily="18" charset="0"/>
                  <a:cs typeface="Cambria Math" panose="02040503050406030204" pitchFamily="18" charset="0"/>
                </a:rPr>
                <a:t> </a:t>
              </a:r>
            </a:p>
          </p:txBody>
        </p:sp>
        <p:pic>
          <p:nvPicPr>
            <p:cNvPr id="18" name="Shape 7" descr="Icon&#10;&#10;Description automatically generated">
              <a:extLst>
                <a:ext uri="{FF2B5EF4-FFF2-40B4-BE49-F238E27FC236}">
                  <a16:creationId xmlns:a16="http://schemas.microsoft.com/office/drawing/2014/main" id="{01BC3BC7-59CC-4BDE-AB26-B621EB8A1436}"/>
                </a:ext>
              </a:extLst>
            </p:cNvPr>
            <p:cNvPicPr/>
            <p:nvPr/>
          </p:nvPicPr>
          <p:blipFill rotWithShape="1">
            <a:blip r:embed="rId5" cstate="screen">
              <a:alphaModFix/>
              <a:extLst>
                <a:ext uri="{28A0092B-C50C-407E-A947-70E740481C1C}">
                  <a14:useLocalDpi xmlns:a14="http://schemas.microsoft.com/office/drawing/2010/main"/>
                </a:ext>
              </a:extLst>
            </a:blip>
            <a:srcRect/>
            <a:stretch/>
          </p:blipFill>
          <p:spPr>
            <a:xfrm>
              <a:off x="-458811" y="-31084"/>
              <a:ext cx="539750" cy="538480"/>
            </a:xfrm>
            <a:prstGeom prst="rect">
              <a:avLst/>
            </a:prstGeom>
            <a:noFill/>
            <a:ln>
              <a:noFill/>
            </a:ln>
          </p:spPr>
        </p:pic>
      </p:grpSp>
      <p:sp>
        <p:nvSpPr>
          <p:cNvPr id="19"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139</a:t>
            </a:r>
            <a:endParaRPr i="1" dirty="0">
              <a:latin typeface="Calibri"/>
              <a:ea typeface="Calibri"/>
              <a:cs typeface="Calibri"/>
              <a:sym typeface="Calibri"/>
            </a:endParaRPr>
          </a:p>
        </p:txBody>
      </p:sp>
      <p:pic>
        <p:nvPicPr>
          <p:cNvPr id="2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52717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139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26050" y="1529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50" b="1" dirty="0">
                <a:solidFill>
                  <a:srgbClr val="54B5D1"/>
                </a:solidFill>
                <a:latin typeface="Verdana"/>
                <a:ea typeface="Verdana"/>
                <a:cs typeface="Verdana"/>
                <a:sym typeface="Verdana"/>
              </a:rPr>
              <a:t>4.2.3 Guided Instruction: Plotting Points with a Fractional Scale</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78750" y="222556"/>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473200" y="1386026"/>
            <a:ext cx="8914384" cy="3001719"/>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Four points are shown.</a:t>
            </a: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Based on the denominators of each fraction, what scale should be used for the grid?</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CCF6D58-F043-45FC-A33A-6312CC9DE977}"/>
                  </a:ext>
                </a:extLst>
              </p:cNvPr>
              <p:cNvGraphicFramePr>
                <a:graphicFrameLocks noGrp="1"/>
              </p:cNvGraphicFramePr>
              <p:nvPr>
                <p:extLst>
                  <p:ext uri="{D42A27DB-BD31-4B8C-83A1-F6EECF244321}">
                    <p14:modId xmlns:p14="http://schemas.microsoft.com/office/powerpoint/2010/main" val="3598609071"/>
                  </p:ext>
                </p:extLst>
              </p:nvPr>
            </p:nvGraphicFramePr>
            <p:xfrm>
              <a:off x="2429934" y="2019670"/>
              <a:ext cx="7298266" cy="1112997"/>
            </p:xfrm>
            <a:graphic>
              <a:graphicData uri="http://schemas.openxmlformats.org/drawingml/2006/table">
                <a:tbl>
                  <a:tblPr bandRow="1">
                    <a:tableStyleId>{A91F0D33-8C57-4600-99A7-42BC86742BE1}</a:tableStyleId>
                  </a:tblPr>
                  <a:tblGrid>
                    <a:gridCol w="1805757">
                      <a:extLst>
                        <a:ext uri="{9D8B030D-6E8A-4147-A177-3AD203B41FA5}">
                          <a16:colId xmlns:a16="http://schemas.microsoft.com/office/drawing/2014/main" val="4218071974"/>
                        </a:ext>
                      </a:extLst>
                    </a:gridCol>
                    <a:gridCol w="1848750">
                      <a:extLst>
                        <a:ext uri="{9D8B030D-6E8A-4147-A177-3AD203B41FA5}">
                          <a16:colId xmlns:a16="http://schemas.microsoft.com/office/drawing/2014/main" val="2255513983"/>
                        </a:ext>
                      </a:extLst>
                    </a:gridCol>
                    <a:gridCol w="1848751">
                      <a:extLst>
                        <a:ext uri="{9D8B030D-6E8A-4147-A177-3AD203B41FA5}">
                          <a16:colId xmlns:a16="http://schemas.microsoft.com/office/drawing/2014/main" val="1052245044"/>
                        </a:ext>
                      </a:extLst>
                    </a:gridCol>
                    <a:gridCol w="1795008">
                      <a:extLst>
                        <a:ext uri="{9D8B030D-6E8A-4147-A177-3AD203B41FA5}">
                          <a16:colId xmlns:a16="http://schemas.microsoft.com/office/drawing/2014/main" val="4008937356"/>
                        </a:ext>
                      </a:extLst>
                    </a:gridCol>
                  </a:tblGrid>
                  <a:tr h="1112997">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𝐿</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e>
                              </m:d>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𝐻</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5</m:t>
                                      </m:r>
                                    </m:den>
                                  </m:f>
                                </m:e>
                              </m:d>
                            </m:oMath>
                          </a14:m>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𝑆</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e>
                              </m:d>
                            </m:oMath>
                          </a14:m>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𝑅</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5</m:t>
                                      </m:r>
                                    </m:den>
                                  </m:f>
                                </m:e>
                              </m:d>
                            </m:oMath>
                          </a14:m>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4694618"/>
                      </a:ext>
                    </a:extLst>
                  </a:tr>
                </a:tbl>
              </a:graphicData>
            </a:graphic>
          </p:graphicFrame>
        </mc:Choice>
        <mc:Fallback xmlns="">
          <p:graphicFrame>
            <p:nvGraphicFramePr>
              <p:cNvPr id="2" name="Table 1">
                <a:extLst>
                  <a:ext uri="{FF2B5EF4-FFF2-40B4-BE49-F238E27FC236}">
                    <a16:creationId xmlns:a16="http://schemas.microsoft.com/office/drawing/2014/main" id="{BCCF6D58-F043-45FC-A33A-6312CC9DE977}"/>
                  </a:ext>
                </a:extLst>
              </p:cNvPr>
              <p:cNvGraphicFramePr>
                <a:graphicFrameLocks noGrp="1"/>
              </p:cNvGraphicFramePr>
              <p:nvPr>
                <p:extLst>
                  <p:ext uri="{D42A27DB-BD31-4B8C-83A1-F6EECF244321}">
                    <p14:modId xmlns:p14="http://schemas.microsoft.com/office/powerpoint/2010/main" val="3598609071"/>
                  </p:ext>
                </p:extLst>
              </p:nvPr>
            </p:nvGraphicFramePr>
            <p:xfrm>
              <a:off x="905934" y="2019669"/>
              <a:ext cx="7298266" cy="1112997"/>
            </p:xfrm>
            <a:graphic>
              <a:graphicData uri="http://schemas.openxmlformats.org/drawingml/2006/table">
                <a:tbl>
                  <a:tblPr bandRow="1">
                    <a:tableStyleId>{A91F0D33-8C57-4600-99A7-42BC86742BE1}</a:tableStyleId>
                  </a:tblPr>
                  <a:tblGrid>
                    <a:gridCol w="1805757">
                      <a:extLst>
                        <a:ext uri="{9D8B030D-6E8A-4147-A177-3AD203B41FA5}">
                          <a16:colId xmlns:a16="http://schemas.microsoft.com/office/drawing/2014/main" val="4218071974"/>
                        </a:ext>
                      </a:extLst>
                    </a:gridCol>
                    <a:gridCol w="1848750">
                      <a:extLst>
                        <a:ext uri="{9D8B030D-6E8A-4147-A177-3AD203B41FA5}">
                          <a16:colId xmlns:a16="http://schemas.microsoft.com/office/drawing/2014/main" val="2255513983"/>
                        </a:ext>
                      </a:extLst>
                    </a:gridCol>
                    <a:gridCol w="1848751">
                      <a:extLst>
                        <a:ext uri="{9D8B030D-6E8A-4147-A177-3AD203B41FA5}">
                          <a16:colId xmlns:a16="http://schemas.microsoft.com/office/drawing/2014/main" val="1052245044"/>
                        </a:ext>
                      </a:extLst>
                    </a:gridCol>
                    <a:gridCol w="1795008">
                      <a:extLst>
                        <a:ext uri="{9D8B030D-6E8A-4147-A177-3AD203B41FA5}">
                          <a16:colId xmlns:a16="http://schemas.microsoft.com/office/drawing/2014/main" val="4008937356"/>
                        </a:ext>
                      </a:extLst>
                    </a:gridCol>
                  </a:tblGrid>
                  <a:tr h="1112997">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38" t="-546" r="-305405" b="-109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7697" t="-546" r="-197368" b="-109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98350" t="-546" r="-98020" b="-109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06441" t="-546" r="-678" b="-1093"/>
                          </a:stretch>
                        </a:blipFill>
                      </a:tcPr>
                    </a:tc>
                    <a:extLst>
                      <a:ext uri="{0D108BD9-81ED-4DB2-BD59-A6C34878D82A}">
                        <a16:rowId xmlns:a16="http://schemas.microsoft.com/office/drawing/2014/main" val="4104694618"/>
                      </a:ext>
                    </a:extLst>
                  </a:tr>
                </a:tbl>
              </a:graphicData>
            </a:graphic>
          </p:graphicFrame>
        </mc:Fallback>
      </mc:AlternateContent>
      <p:sp>
        <p:nvSpPr>
          <p:cNvPr id="10"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139</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1333500" y="288746"/>
            <a:ext cx="9525000" cy="2068259"/>
          </a:xfrm>
          <a:prstGeom prst="rect">
            <a:avLst/>
          </a:prstGeom>
          <a:noFill/>
        </p:spPr>
        <p:txBody>
          <a:bodyPr wrap="square" rtlCol="0">
            <a:spAutoFit/>
          </a:bodyPr>
          <a:lstStyle/>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Find and label the points with the given letters on the coordinate plane.</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6" name="image10.png" descr="Chart, scatter chart&#10;&#10;Description automatically generated">
            <a:extLst>
              <a:ext uri="{FF2B5EF4-FFF2-40B4-BE49-F238E27FC236}">
                <a16:creationId xmlns:a16="http://schemas.microsoft.com/office/drawing/2014/main" id="{DF890242-268B-4FD7-8F5C-AD545BAB9ED9}"/>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2668246" y="2399794"/>
            <a:ext cx="3668658" cy="3238628"/>
          </a:xfrm>
          <a:prstGeom prst="rect">
            <a:avLst/>
          </a:prstGeom>
          <a:ln/>
        </p:spPr>
      </p:pic>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86A8ACA1-3FC8-4D98-B024-9AE16AE03990}"/>
                  </a:ext>
                </a:extLst>
              </p:cNvPr>
              <p:cNvGraphicFramePr>
                <a:graphicFrameLocks noGrp="1"/>
              </p:cNvGraphicFramePr>
              <p:nvPr>
                <p:extLst>
                  <p:ext uri="{D42A27DB-BD31-4B8C-83A1-F6EECF244321}">
                    <p14:modId xmlns:p14="http://schemas.microsoft.com/office/powerpoint/2010/main" val="1406450327"/>
                  </p:ext>
                </p:extLst>
              </p:nvPr>
            </p:nvGraphicFramePr>
            <p:xfrm>
              <a:off x="2222555" y="288746"/>
              <a:ext cx="7298266" cy="1112997"/>
            </p:xfrm>
            <a:graphic>
              <a:graphicData uri="http://schemas.openxmlformats.org/drawingml/2006/table">
                <a:tbl>
                  <a:tblPr bandRow="1">
                    <a:tableStyleId>{A91F0D33-8C57-4600-99A7-42BC86742BE1}</a:tableStyleId>
                  </a:tblPr>
                  <a:tblGrid>
                    <a:gridCol w="1805757">
                      <a:extLst>
                        <a:ext uri="{9D8B030D-6E8A-4147-A177-3AD203B41FA5}">
                          <a16:colId xmlns:a16="http://schemas.microsoft.com/office/drawing/2014/main" val="4218071974"/>
                        </a:ext>
                      </a:extLst>
                    </a:gridCol>
                    <a:gridCol w="1848750">
                      <a:extLst>
                        <a:ext uri="{9D8B030D-6E8A-4147-A177-3AD203B41FA5}">
                          <a16:colId xmlns:a16="http://schemas.microsoft.com/office/drawing/2014/main" val="2255513983"/>
                        </a:ext>
                      </a:extLst>
                    </a:gridCol>
                    <a:gridCol w="1848751">
                      <a:extLst>
                        <a:ext uri="{9D8B030D-6E8A-4147-A177-3AD203B41FA5}">
                          <a16:colId xmlns:a16="http://schemas.microsoft.com/office/drawing/2014/main" val="1052245044"/>
                        </a:ext>
                      </a:extLst>
                    </a:gridCol>
                    <a:gridCol w="1795008">
                      <a:extLst>
                        <a:ext uri="{9D8B030D-6E8A-4147-A177-3AD203B41FA5}">
                          <a16:colId xmlns:a16="http://schemas.microsoft.com/office/drawing/2014/main" val="4008937356"/>
                        </a:ext>
                      </a:extLst>
                    </a:gridCol>
                  </a:tblGrid>
                  <a:tr h="1112997">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𝐿</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e>
                              </m:d>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𝐻</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5</m:t>
                                      </m:r>
                                    </m:den>
                                  </m:f>
                                </m:e>
                              </m:d>
                            </m:oMath>
                          </a14:m>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𝑆</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5</m:t>
                                      </m:r>
                                    </m:den>
                                  </m:f>
                                </m:e>
                              </m:d>
                            </m:oMath>
                          </a14:m>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𝑅</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5</m:t>
                                      </m:r>
                                    </m:den>
                                  </m:f>
                                </m:e>
                              </m:d>
                            </m:oMath>
                          </a14:m>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4694618"/>
                      </a:ext>
                    </a:extLst>
                  </a:tr>
                </a:tbl>
              </a:graphicData>
            </a:graphic>
          </p:graphicFrame>
        </mc:Choice>
        <mc:Fallback xmlns="">
          <p:graphicFrame>
            <p:nvGraphicFramePr>
              <p:cNvPr id="7" name="Table 6">
                <a:extLst>
                  <a:ext uri="{FF2B5EF4-FFF2-40B4-BE49-F238E27FC236}">
                    <a16:creationId xmlns:a16="http://schemas.microsoft.com/office/drawing/2014/main" id="{86A8ACA1-3FC8-4D98-B024-9AE16AE03990}"/>
                  </a:ext>
                </a:extLst>
              </p:cNvPr>
              <p:cNvGraphicFramePr>
                <a:graphicFrameLocks noGrp="1"/>
              </p:cNvGraphicFramePr>
              <p:nvPr>
                <p:extLst>
                  <p:ext uri="{D42A27DB-BD31-4B8C-83A1-F6EECF244321}">
                    <p14:modId xmlns:p14="http://schemas.microsoft.com/office/powerpoint/2010/main" val="1406450327"/>
                  </p:ext>
                </p:extLst>
              </p:nvPr>
            </p:nvGraphicFramePr>
            <p:xfrm>
              <a:off x="698555" y="288745"/>
              <a:ext cx="7298266" cy="1112997"/>
            </p:xfrm>
            <a:graphic>
              <a:graphicData uri="http://schemas.openxmlformats.org/drawingml/2006/table">
                <a:tbl>
                  <a:tblPr bandRow="1">
                    <a:tableStyleId>{A91F0D33-8C57-4600-99A7-42BC86742BE1}</a:tableStyleId>
                  </a:tblPr>
                  <a:tblGrid>
                    <a:gridCol w="1805757">
                      <a:extLst>
                        <a:ext uri="{9D8B030D-6E8A-4147-A177-3AD203B41FA5}">
                          <a16:colId xmlns:a16="http://schemas.microsoft.com/office/drawing/2014/main" val="4218071974"/>
                        </a:ext>
                      </a:extLst>
                    </a:gridCol>
                    <a:gridCol w="1848750">
                      <a:extLst>
                        <a:ext uri="{9D8B030D-6E8A-4147-A177-3AD203B41FA5}">
                          <a16:colId xmlns:a16="http://schemas.microsoft.com/office/drawing/2014/main" val="2255513983"/>
                        </a:ext>
                      </a:extLst>
                    </a:gridCol>
                    <a:gridCol w="1848751">
                      <a:extLst>
                        <a:ext uri="{9D8B030D-6E8A-4147-A177-3AD203B41FA5}">
                          <a16:colId xmlns:a16="http://schemas.microsoft.com/office/drawing/2014/main" val="1052245044"/>
                        </a:ext>
                      </a:extLst>
                    </a:gridCol>
                    <a:gridCol w="1795008">
                      <a:extLst>
                        <a:ext uri="{9D8B030D-6E8A-4147-A177-3AD203B41FA5}">
                          <a16:colId xmlns:a16="http://schemas.microsoft.com/office/drawing/2014/main" val="4008937356"/>
                        </a:ext>
                      </a:extLst>
                    </a:gridCol>
                  </a:tblGrid>
                  <a:tr h="1112997">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38" t="-546" r="-305405" b="-1639"/>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7697" t="-546" r="-197368" b="-1639"/>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98350" t="-546" r="-98020" b="-1639"/>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306441" t="-546" r="-678" b="-1639"/>
                          </a:stretch>
                        </a:blipFill>
                      </a:tcPr>
                    </a:tc>
                    <a:extLst>
                      <a:ext uri="{0D108BD9-81ED-4DB2-BD59-A6C34878D82A}">
                        <a16:rowId xmlns:a16="http://schemas.microsoft.com/office/drawing/2014/main" val="4104694618"/>
                      </a:ext>
                    </a:extLst>
                  </a:tr>
                </a:tbl>
              </a:graphicData>
            </a:graphic>
          </p:graphicFrame>
        </mc:Fallback>
      </mc:AlternateContent>
      <p:sp>
        <p:nvSpPr>
          <p:cNvPr id="8"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139</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1168400" y="305678"/>
            <a:ext cx="9855200" cy="3331040"/>
          </a:xfrm>
          <a:prstGeom prst="rect">
            <a:avLst/>
          </a:prstGeom>
          <a:noFill/>
        </p:spPr>
        <p:txBody>
          <a:bodyPr wrap="square" rtlCol="0">
            <a:spAutoFit/>
          </a:bodyPr>
          <a:lstStyle/>
          <a:p>
            <a:pPr marL="457200" indent="-457200">
              <a:lnSpc>
                <a:spcPct val="107000"/>
              </a:lnSpc>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Another set of four points is shown.</a:t>
            </a: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List the denominators of each fraction.</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4E47FD86-A941-45E1-B6CD-73CD4C8579C3}"/>
                  </a:ext>
                </a:extLst>
              </p:cNvPr>
              <p:cNvGraphicFramePr>
                <a:graphicFrameLocks noGrp="1"/>
              </p:cNvGraphicFramePr>
              <p:nvPr>
                <p:extLst>
                  <p:ext uri="{D42A27DB-BD31-4B8C-83A1-F6EECF244321}">
                    <p14:modId xmlns:p14="http://schemas.microsoft.com/office/powerpoint/2010/main" val="520157117"/>
                  </p:ext>
                </p:extLst>
              </p:nvPr>
            </p:nvGraphicFramePr>
            <p:xfrm>
              <a:off x="2357558" y="968852"/>
              <a:ext cx="6363108" cy="1224015"/>
            </p:xfrm>
            <a:graphic>
              <a:graphicData uri="http://schemas.openxmlformats.org/drawingml/2006/table">
                <a:tbl>
                  <a:tblPr bandRow="1">
                    <a:tableStyleId>{A91F0D33-8C57-4600-99A7-42BC86742BE1}</a:tableStyleId>
                  </a:tblPr>
                  <a:tblGrid>
                    <a:gridCol w="1590432">
                      <a:extLst>
                        <a:ext uri="{9D8B030D-6E8A-4147-A177-3AD203B41FA5}">
                          <a16:colId xmlns:a16="http://schemas.microsoft.com/office/drawing/2014/main" val="2821618921"/>
                        </a:ext>
                      </a:extLst>
                    </a:gridCol>
                    <a:gridCol w="1590432">
                      <a:extLst>
                        <a:ext uri="{9D8B030D-6E8A-4147-A177-3AD203B41FA5}">
                          <a16:colId xmlns:a16="http://schemas.microsoft.com/office/drawing/2014/main" val="1454892450"/>
                        </a:ext>
                      </a:extLst>
                    </a:gridCol>
                    <a:gridCol w="1591122">
                      <a:extLst>
                        <a:ext uri="{9D8B030D-6E8A-4147-A177-3AD203B41FA5}">
                          <a16:colId xmlns:a16="http://schemas.microsoft.com/office/drawing/2014/main" val="1070843959"/>
                        </a:ext>
                      </a:extLst>
                    </a:gridCol>
                    <a:gridCol w="1591122">
                      <a:extLst>
                        <a:ext uri="{9D8B030D-6E8A-4147-A177-3AD203B41FA5}">
                          <a16:colId xmlns:a16="http://schemas.microsoft.com/office/drawing/2014/main" val="1390902683"/>
                        </a:ext>
                      </a:extLst>
                    </a:gridCol>
                  </a:tblGrid>
                  <a:tr h="1224015">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𝑀</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6</m:t>
                                      </m:r>
                                    </m:den>
                                  </m:f>
                                </m:e>
                              </m:d>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𝐿</m:t>
                              </m:r>
                            </m:oMath>
                          </a14:m>
                          <a:r>
                            <a:rPr lang="en-US" sz="2000" dirty="0">
                              <a:effectLst/>
                              <a:latin typeface="Verdana" panose="020B0604030504040204" pitchFamily="34" charset="0"/>
                              <a:ea typeface="Verdana" panose="020B0604030504040204" pitchFamily="34" charset="0"/>
                            </a:rPr>
                            <a:t> </a:t>
                          </a: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3</m:t>
                                      </m:r>
                                    </m:den>
                                  </m:f>
                                </m:e>
                              </m:d>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𝐶</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5</m:t>
                                      </m:r>
                                    </m:num>
                                    <m:den>
                                      <m:r>
                                        <a:rPr lang="en-US" sz="2000">
                                          <a:effectLst/>
                                          <a:latin typeface="Cambria Math" panose="02040503050406030204" pitchFamily="18" charset="0"/>
                                          <a:ea typeface="Cambria Math" panose="02040503050406030204" pitchFamily="18" charset="0"/>
                                        </a:rPr>
                                        <m:t>6</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e>
                              </m:d>
                            </m:oMath>
                          </a14:m>
                          <a:r>
                            <a:rPr lang="en-US" sz="2000"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𝐴</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6</m:t>
                                      </m:r>
                                    </m:den>
                                  </m:f>
                                  <m:r>
                                    <a:rPr lang="en-US" sz="2000">
                                      <a:effectLst/>
                                      <a:latin typeface="Cambria Math" panose="02040503050406030204" pitchFamily="18" charset="0"/>
                                      <a:ea typeface="Cambria Math" panose="02040503050406030204" pitchFamily="18" charset="0"/>
                                    </a:rPr>
                                    <m:t>, 1</m:t>
                                  </m:r>
                                </m:e>
                              </m:d>
                            </m:oMath>
                          </a14:m>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4792690"/>
                      </a:ext>
                    </a:extLst>
                  </a:tr>
                </a:tbl>
              </a:graphicData>
            </a:graphic>
          </p:graphicFrame>
        </mc:Choice>
        <mc:Fallback xmlns="">
          <p:graphicFrame>
            <p:nvGraphicFramePr>
              <p:cNvPr id="2" name="Table 1">
                <a:extLst>
                  <a:ext uri="{FF2B5EF4-FFF2-40B4-BE49-F238E27FC236}">
                    <a16:creationId xmlns:a16="http://schemas.microsoft.com/office/drawing/2014/main" id="{4E47FD86-A941-45E1-B6CD-73CD4C8579C3}"/>
                  </a:ext>
                </a:extLst>
              </p:cNvPr>
              <p:cNvGraphicFramePr>
                <a:graphicFrameLocks noGrp="1"/>
              </p:cNvGraphicFramePr>
              <p:nvPr>
                <p:extLst>
                  <p:ext uri="{D42A27DB-BD31-4B8C-83A1-F6EECF244321}">
                    <p14:modId xmlns:p14="http://schemas.microsoft.com/office/powerpoint/2010/main" val="520157117"/>
                  </p:ext>
                </p:extLst>
              </p:nvPr>
            </p:nvGraphicFramePr>
            <p:xfrm>
              <a:off x="833558" y="968851"/>
              <a:ext cx="6363108" cy="1224015"/>
            </p:xfrm>
            <a:graphic>
              <a:graphicData uri="http://schemas.openxmlformats.org/drawingml/2006/table">
                <a:tbl>
                  <a:tblPr bandRow="1">
                    <a:tableStyleId>{A91F0D33-8C57-4600-99A7-42BC86742BE1}</a:tableStyleId>
                  </a:tblPr>
                  <a:tblGrid>
                    <a:gridCol w="1590432">
                      <a:extLst>
                        <a:ext uri="{9D8B030D-6E8A-4147-A177-3AD203B41FA5}">
                          <a16:colId xmlns:a16="http://schemas.microsoft.com/office/drawing/2014/main" val="2821618921"/>
                        </a:ext>
                      </a:extLst>
                    </a:gridCol>
                    <a:gridCol w="1590432">
                      <a:extLst>
                        <a:ext uri="{9D8B030D-6E8A-4147-A177-3AD203B41FA5}">
                          <a16:colId xmlns:a16="http://schemas.microsoft.com/office/drawing/2014/main" val="1454892450"/>
                        </a:ext>
                      </a:extLst>
                    </a:gridCol>
                    <a:gridCol w="1591122">
                      <a:extLst>
                        <a:ext uri="{9D8B030D-6E8A-4147-A177-3AD203B41FA5}">
                          <a16:colId xmlns:a16="http://schemas.microsoft.com/office/drawing/2014/main" val="1070843959"/>
                        </a:ext>
                      </a:extLst>
                    </a:gridCol>
                    <a:gridCol w="1591122">
                      <a:extLst>
                        <a:ext uri="{9D8B030D-6E8A-4147-A177-3AD203B41FA5}">
                          <a16:colId xmlns:a16="http://schemas.microsoft.com/office/drawing/2014/main" val="1390902683"/>
                        </a:ext>
                      </a:extLst>
                    </a:gridCol>
                  </a:tblGrid>
                  <a:tr h="122401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83" t="-495" r="-301149" b="-99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83" t="-495" r="-201149" b="-99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9618" t="-495" r="-100382" b="-99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766" t="-495" r="-766" b="-990"/>
                          </a:stretch>
                        </a:blipFill>
                      </a:tcPr>
                    </a:tc>
                    <a:extLst>
                      <a:ext uri="{0D108BD9-81ED-4DB2-BD59-A6C34878D82A}">
                        <a16:rowId xmlns:a16="http://schemas.microsoft.com/office/drawing/2014/main" val="2184792690"/>
                      </a:ext>
                    </a:extLst>
                  </a:tr>
                </a:tbl>
              </a:graphicData>
            </a:graphic>
          </p:graphicFrame>
        </mc:Fallback>
      </mc:AlternateContent>
      <p:sp>
        <p:nvSpPr>
          <p:cNvPr id="7"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140</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03074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838200" y="305678"/>
            <a:ext cx="10515600" cy="3023264"/>
          </a:xfrm>
          <a:prstGeom prst="rect">
            <a:avLst/>
          </a:prstGeom>
          <a:noFill/>
        </p:spPr>
        <p:txBody>
          <a:bodyPr wrap="square" rtlCol="0">
            <a:spAutoFit/>
          </a:bodyPr>
          <a:lstStyle/>
          <a:p>
            <a:pPr marL="914400" indent="-457200">
              <a:lnSpc>
                <a:spcPct val="107000"/>
              </a:lnSpc>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Zoe says she does not want to label her axes by halves because she will only be able to approximate the location of the thirds. She also says she does not want to label by thirds because there is no easy way to approximate the location of the halves. Christopher says she should label her axes by sixths.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Explain the benefit of using Christopher’s plan.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6"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140</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02256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1092200" y="305679"/>
            <a:ext cx="10007600" cy="1376659"/>
          </a:xfrm>
          <a:prstGeom prst="rect">
            <a:avLst/>
          </a:prstGeom>
          <a:noFill/>
        </p:spPr>
        <p:txBody>
          <a:bodyPr wrap="square" rtlCol="0">
            <a:spAutoFit/>
          </a:bodyPr>
          <a:lstStyle/>
          <a:p>
            <a:pPr marL="914400" indent="-457200">
              <a:lnSpc>
                <a:spcPct val="107000"/>
              </a:lnSpc>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Draw and label coordinate axes with the scale you chose and plot the points.</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6" name="image5.png" descr="A picture containing table&#10;&#10;Description automatically generated">
            <a:extLst>
              <a:ext uri="{FF2B5EF4-FFF2-40B4-BE49-F238E27FC236}">
                <a16:creationId xmlns:a16="http://schemas.microsoft.com/office/drawing/2014/main" id="{17F90719-C6E0-436B-A205-D8EC5EC703B1}"/>
              </a:ext>
            </a:extLst>
          </p:cNvPr>
          <p:cNvPicPr/>
          <p:nvPr/>
        </p:nvPicPr>
        <p:blipFill rotWithShape="1">
          <a:blip r:embed="rId3"/>
          <a:srcRect t="3394"/>
          <a:stretch/>
        </p:blipFill>
        <p:spPr>
          <a:xfrm>
            <a:off x="2693640" y="1151080"/>
            <a:ext cx="6238240" cy="4547490"/>
          </a:xfrm>
          <a:prstGeom prst="rect">
            <a:avLst/>
          </a:prstGeom>
          <a:ln/>
        </p:spPr>
      </p:pic>
      <p:sp>
        <p:nvSpPr>
          <p:cNvPr id="7"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140</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25063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7" name="Group 6">
            <a:extLst>
              <a:ext uri="{FF2B5EF4-FFF2-40B4-BE49-F238E27FC236}">
                <a16:creationId xmlns:a16="http://schemas.microsoft.com/office/drawing/2014/main" id="{06A7BD9D-EC94-4B18-88A3-9BC884F9368A}"/>
              </a:ext>
            </a:extLst>
          </p:cNvPr>
          <p:cNvGrpSpPr/>
          <p:nvPr/>
        </p:nvGrpSpPr>
        <p:grpSpPr>
          <a:xfrm>
            <a:off x="2023533" y="304800"/>
            <a:ext cx="7243234" cy="1807105"/>
            <a:chOff x="1417466" y="2654966"/>
            <a:chExt cx="7243234" cy="2034952"/>
          </a:xfrm>
        </p:grpSpPr>
        <p:grpSp>
          <p:nvGrpSpPr>
            <p:cNvPr id="8" name="Group 7">
              <a:extLst>
                <a:ext uri="{FF2B5EF4-FFF2-40B4-BE49-F238E27FC236}">
                  <a16:creationId xmlns:a16="http://schemas.microsoft.com/office/drawing/2014/main" id="{5EF9C9F3-AA5B-4AAB-907C-9E3AD339316E}"/>
                </a:ext>
              </a:extLst>
            </p:cNvPr>
            <p:cNvGrpSpPr/>
            <p:nvPr/>
          </p:nvGrpSpPr>
          <p:grpSpPr>
            <a:xfrm>
              <a:off x="1417466" y="2654966"/>
              <a:ext cx="7243234" cy="2034952"/>
              <a:chOff x="1417466" y="3060619"/>
              <a:chExt cx="7243234" cy="2034952"/>
            </a:xfrm>
          </p:grpSpPr>
          <p:sp>
            <p:nvSpPr>
              <p:cNvPr id="9" name="Rectangle 8">
                <a:extLst>
                  <a:ext uri="{FF2B5EF4-FFF2-40B4-BE49-F238E27FC236}">
                    <a16:creationId xmlns:a16="http://schemas.microsoft.com/office/drawing/2014/main" id="{89A52E02-6054-43E7-BBC1-FB180EC8BA8D}"/>
                  </a:ext>
                </a:extLst>
              </p:cNvPr>
              <p:cNvSpPr/>
              <p:nvPr/>
            </p:nvSpPr>
            <p:spPr>
              <a:xfrm>
                <a:off x="2031300" y="3275735"/>
                <a:ext cx="6629400" cy="1819825"/>
              </a:xfrm>
              <a:prstGeom prst="rect">
                <a:avLst/>
              </a:prstGeom>
              <a:noFill/>
              <a:ln>
                <a:noFill/>
              </a:ln>
            </p:spPr>
            <p:txBody>
              <a:bodyPr spcFirstLastPara="1" wrap="square" lIns="91425" tIns="91425" rIns="91425" bIns="91425" anchor="ctr" anchorCtr="0">
                <a:noAutofit/>
              </a:bodyPr>
              <a:lstStyle/>
              <a:p>
                <a:pPr>
                  <a:lnSpc>
                    <a:spcPct val="107000"/>
                  </a:lnSpc>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10" name="Group 9">
                <a:extLst>
                  <a:ext uri="{FF2B5EF4-FFF2-40B4-BE49-F238E27FC236}">
                    <a16:creationId xmlns:a16="http://schemas.microsoft.com/office/drawing/2014/main" id="{EB96FDDA-A16B-436C-829E-656027391F41}"/>
                  </a:ext>
                </a:extLst>
              </p:cNvPr>
              <p:cNvGrpSpPr/>
              <p:nvPr/>
            </p:nvGrpSpPr>
            <p:grpSpPr>
              <a:xfrm>
                <a:off x="1417466" y="3060619"/>
                <a:ext cx="7243234" cy="2034952"/>
                <a:chOff x="1417466" y="3060619"/>
                <a:chExt cx="7243234" cy="2034952"/>
              </a:xfrm>
            </p:grpSpPr>
            <p:sp>
              <p:nvSpPr>
                <p:cNvPr id="11" name="Rectangle 10">
                  <a:extLst>
                    <a:ext uri="{FF2B5EF4-FFF2-40B4-BE49-F238E27FC236}">
                      <a16:creationId xmlns:a16="http://schemas.microsoft.com/office/drawing/2014/main" id="{742B0B0F-04FC-41E5-9E3E-6937F57EE1E1}"/>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13" name="Group 12">
                  <a:extLst>
                    <a:ext uri="{FF2B5EF4-FFF2-40B4-BE49-F238E27FC236}">
                      <a16:creationId xmlns:a16="http://schemas.microsoft.com/office/drawing/2014/main" id="{03CBD73C-086F-45E1-925F-D054F24C2AEF}"/>
                    </a:ext>
                  </a:extLst>
                </p:cNvPr>
                <p:cNvGrpSpPr/>
                <p:nvPr/>
              </p:nvGrpSpPr>
              <p:grpSpPr>
                <a:xfrm>
                  <a:off x="1417466" y="3060619"/>
                  <a:ext cx="7243234" cy="2034952"/>
                  <a:chOff x="1417466" y="3060619"/>
                  <a:chExt cx="7243234" cy="2034952"/>
                </a:xfrm>
              </p:grpSpPr>
              <p:sp>
                <p:nvSpPr>
                  <p:cNvPr id="14" name="Rectangle 13">
                    <a:extLst>
                      <a:ext uri="{FF2B5EF4-FFF2-40B4-BE49-F238E27FC236}">
                        <a16:creationId xmlns:a16="http://schemas.microsoft.com/office/drawing/2014/main" id="{9108F90D-9F1F-40A2-B0BA-C99E1FD5EE10}"/>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15" name="Group 14">
                    <a:extLst>
                      <a:ext uri="{FF2B5EF4-FFF2-40B4-BE49-F238E27FC236}">
                        <a16:creationId xmlns:a16="http://schemas.microsoft.com/office/drawing/2014/main" id="{BE0058B4-72FD-4237-98B0-DC7652B8CEF4}"/>
                      </a:ext>
                    </a:extLst>
                  </p:cNvPr>
                  <p:cNvGrpSpPr/>
                  <p:nvPr/>
                </p:nvGrpSpPr>
                <p:grpSpPr>
                  <a:xfrm>
                    <a:off x="1417466" y="3060619"/>
                    <a:ext cx="7243234" cy="2034952"/>
                    <a:chOff x="-613834" y="-215116"/>
                    <a:chExt cx="7243234" cy="2034952"/>
                  </a:xfrm>
                </p:grpSpPr>
                <p:sp>
                  <p:nvSpPr>
                    <p:cNvPr id="16" name="Rectangle 15">
                      <a:extLst>
                        <a:ext uri="{FF2B5EF4-FFF2-40B4-BE49-F238E27FC236}">
                          <a16:creationId xmlns:a16="http://schemas.microsoft.com/office/drawing/2014/main" id="{76536986-2418-449D-B601-66725069EB37}"/>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p:grpSp>
                  <p:nvGrpSpPr>
                    <p:cNvPr id="17" name="Group 16">
                      <a:extLst>
                        <a:ext uri="{FF2B5EF4-FFF2-40B4-BE49-F238E27FC236}">
                          <a16:creationId xmlns:a16="http://schemas.microsoft.com/office/drawing/2014/main" id="{D84585A5-C02C-45BF-8858-D091030C202D}"/>
                        </a:ext>
                      </a:extLst>
                    </p:cNvPr>
                    <p:cNvGrpSpPr/>
                    <p:nvPr/>
                  </p:nvGrpSpPr>
                  <p:grpSpPr>
                    <a:xfrm>
                      <a:off x="-613834" y="-215116"/>
                      <a:ext cx="7243234" cy="2034952"/>
                      <a:chOff x="-613834" y="-215116"/>
                      <a:chExt cx="7243234" cy="2034952"/>
                    </a:xfrm>
                  </p:grpSpPr>
                  <p:sp>
                    <p:nvSpPr>
                      <p:cNvPr id="19" name="Rectangle 18">
                        <a:extLst>
                          <a:ext uri="{FF2B5EF4-FFF2-40B4-BE49-F238E27FC236}">
                            <a16:creationId xmlns:a16="http://schemas.microsoft.com/office/drawing/2014/main" id="{D76C786F-5DBE-4573-8465-1D8B0E773FC0}"/>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p:sp>
                    <p:nvSpPr>
                      <p:cNvPr id="20" name="Rectangle 19">
                        <a:extLst>
                          <a:ext uri="{FF2B5EF4-FFF2-40B4-BE49-F238E27FC236}">
                            <a16:creationId xmlns:a16="http://schemas.microsoft.com/office/drawing/2014/main" id="{2BF4BB1C-01C3-4512-AE70-88CBB25E65EE}"/>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600" i="1">
                            <a:latin typeface="Cambria Math" panose="02040503050406030204" pitchFamily="18" charset="0"/>
                            <a:ea typeface="Cambria Math" panose="02040503050406030204" pitchFamily="18" charset="0"/>
                            <a:cs typeface="Cambria Math" panose="02040503050406030204" pitchFamily="18" charset="0"/>
                          </a:rPr>
                          <a:t> </a:t>
                        </a:r>
                      </a:p>
                    </p:txBody>
                  </p:sp>
                  <p:sp>
                    <p:nvSpPr>
                      <p:cNvPr id="21" name="Rounded Rectangle 45">
                        <a:extLst>
                          <a:ext uri="{FF2B5EF4-FFF2-40B4-BE49-F238E27FC236}">
                            <a16:creationId xmlns:a16="http://schemas.microsoft.com/office/drawing/2014/main" id="{7017FCE1-7F09-42F4-AD72-36D2C57F3E60}"/>
                          </a:ext>
                        </a:extLst>
                      </p:cNvPr>
                      <p:cNvSpPr/>
                      <p:nvPr/>
                    </p:nvSpPr>
                    <p:spPr>
                      <a:xfrm>
                        <a:off x="-613834" y="-215116"/>
                        <a:ext cx="7243233" cy="2034952"/>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lnSpc>
                            <a:spcPct val="107000"/>
                          </a:lnSpc>
                        </a:pPr>
                        <a:endPar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685800">
                          <a:lnSpc>
                            <a:spcPct val="107000"/>
                          </a:lnSpc>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When deciding on a scale for plotting ordered pairs with rational values, consider the least common multiple (LCM) of each of the denominators to determine the proper increments.</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685800" indent="2914650" algn="just">
                          <a:lnSpc>
                            <a:spcPct val="107000"/>
                          </a:lnSpc>
                          <a:spcAft>
                            <a:spcPts val="800"/>
                          </a:spcAft>
                        </a:pPr>
                        <a:r>
                          <a:rPr lang="en-US" sz="1600" i="1" dirty="0">
                            <a:latin typeface="Cambria Math" panose="02040503050406030204" pitchFamily="18" charset="0"/>
                            <a:ea typeface="Cambria Math" panose="02040503050406030204" pitchFamily="18" charset="0"/>
                            <a:cs typeface="Cambria Math" panose="02040503050406030204" pitchFamily="18" charset="0"/>
                          </a:rPr>
                          <a:t> </a:t>
                        </a:r>
                      </a:p>
                    </p:txBody>
                  </p:sp>
                </p:grpSp>
                <p:pic>
                  <p:nvPicPr>
                    <p:cNvPr id="18" name="Shape 15" descr="Icon&#10;&#10;Description automatically generated">
                      <a:extLst>
                        <a:ext uri="{FF2B5EF4-FFF2-40B4-BE49-F238E27FC236}">
                          <a16:creationId xmlns:a16="http://schemas.microsoft.com/office/drawing/2014/main" id="{B3E2AA43-0F3C-4BB7-A138-3E174F98F6CC}"/>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7219" y="-11"/>
                      <a:ext cx="539750" cy="539750"/>
                    </a:xfrm>
                    <a:prstGeom prst="rect">
                      <a:avLst/>
                    </a:prstGeom>
                    <a:noFill/>
                    <a:ln>
                      <a:noFill/>
                    </a:ln>
                    <a:effectLst>
                      <a:outerShdw blurRad="50800" dist="38100" dir="2700000" algn="tl" rotWithShape="0">
                        <a:prstClr val="black">
                          <a:alpha val="40000"/>
                        </a:prstClr>
                      </a:outerShdw>
                    </a:effectLst>
                  </p:spPr>
                </p:pic>
              </p:grpSp>
            </p:grpSp>
          </p:grpSp>
        </p:grpSp>
      </p:grpSp>
      <p:sp>
        <p:nvSpPr>
          <p:cNvPr id="22"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140</a:t>
            </a:r>
            <a:endParaRPr i="1" dirty="0">
              <a:latin typeface="Calibri"/>
              <a:ea typeface="Calibri"/>
              <a:cs typeface="Calibri"/>
              <a:sym typeface="Calibri"/>
            </a:endParaRPr>
          </a:p>
        </p:txBody>
      </p:sp>
      <p:pic>
        <p:nvPicPr>
          <p:cNvPr id="2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55569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8384" y="-411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4.2.4 Collaboration: Plotting Points with a Decimal Scale</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8576" y="28382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028700" y="1386026"/>
            <a:ext cx="10390632" cy="5007205"/>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coordinate plane is shown.</a:t>
            </a: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Working with your partner, describe the scale that is being used for each axis.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11" name="image6.png" descr="Chart, scatter chart&#10;&#10;Description automatically generated">
            <a:extLst>
              <a:ext uri="{FF2B5EF4-FFF2-40B4-BE49-F238E27FC236}">
                <a16:creationId xmlns:a16="http://schemas.microsoft.com/office/drawing/2014/main" id="{73ACC74D-63C4-458D-B327-20FA087D9C3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2674437" y="1875899"/>
            <a:ext cx="4096479" cy="3596076"/>
          </a:xfrm>
          <a:prstGeom prst="rect">
            <a:avLst/>
          </a:prstGeom>
          <a:ln/>
        </p:spPr>
      </p:pic>
      <p:sp>
        <p:nvSpPr>
          <p:cNvPr id="12"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141</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016000" y="410665"/>
            <a:ext cx="10310666" cy="4015010"/>
          </a:xfrm>
          <a:prstGeom prst="rect">
            <a:avLst/>
          </a:prstGeom>
          <a:noFill/>
        </p:spPr>
        <p:txBody>
          <a:bodyPr wrap="square" rtlCol="0">
            <a:spAutoFit/>
          </a:bodyPr>
          <a:lstStyle/>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Locate each point on the coordinate plane and label it with the appropriate letter.</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p:pic>
        <p:nvPicPr>
          <p:cNvPr id="6" name="image6.png" descr="Chart, scatter chart&#10;&#10;Description automatically generated">
            <a:extLst>
              <a:ext uri="{FF2B5EF4-FFF2-40B4-BE49-F238E27FC236}">
                <a16:creationId xmlns:a16="http://schemas.microsoft.com/office/drawing/2014/main" id="{0D92DFBA-2278-4999-AB76-87C72BB6AA68}"/>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2990122" y="83685"/>
            <a:ext cx="3835222" cy="3475945"/>
          </a:xfrm>
          <a:prstGeom prst="rect">
            <a:avLst/>
          </a:prstGeom>
          <a:ln/>
        </p:spPr>
      </p:pic>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99DF558-7733-4F2C-9D4A-DFF45DF8D6F7}"/>
                  </a:ext>
                </a:extLst>
              </p:cNvPr>
              <p:cNvGraphicFramePr>
                <a:graphicFrameLocks noGrp="1"/>
              </p:cNvGraphicFramePr>
              <p:nvPr>
                <p:extLst>
                  <p:ext uri="{D42A27DB-BD31-4B8C-83A1-F6EECF244321}">
                    <p14:modId xmlns:p14="http://schemas.microsoft.com/office/powerpoint/2010/main" val="3338258456"/>
                  </p:ext>
                </p:extLst>
              </p:nvPr>
            </p:nvGraphicFramePr>
            <p:xfrm>
              <a:off x="2534599" y="4524299"/>
              <a:ext cx="5792972" cy="1933376"/>
            </p:xfrm>
            <a:graphic>
              <a:graphicData uri="http://schemas.openxmlformats.org/drawingml/2006/table">
                <a:tbl>
                  <a:tblPr bandRow="1">
                    <a:tableStyleId>{A91F0D33-8C57-4600-99A7-42BC86742BE1}</a:tableStyleId>
                  </a:tblPr>
                  <a:tblGrid>
                    <a:gridCol w="1447906">
                      <a:extLst>
                        <a:ext uri="{9D8B030D-6E8A-4147-A177-3AD203B41FA5}">
                          <a16:colId xmlns:a16="http://schemas.microsoft.com/office/drawing/2014/main" val="962764650"/>
                        </a:ext>
                      </a:extLst>
                    </a:gridCol>
                    <a:gridCol w="1448580">
                      <a:extLst>
                        <a:ext uri="{9D8B030D-6E8A-4147-A177-3AD203B41FA5}">
                          <a16:colId xmlns:a16="http://schemas.microsoft.com/office/drawing/2014/main" val="3154153835"/>
                        </a:ext>
                      </a:extLst>
                    </a:gridCol>
                    <a:gridCol w="1447906">
                      <a:extLst>
                        <a:ext uri="{9D8B030D-6E8A-4147-A177-3AD203B41FA5}">
                          <a16:colId xmlns:a16="http://schemas.microsoft.com/office/drawing/2014/main" val="242101196"/>
                        </a:ext>
                      </a:extLst>
                    </a:gridCol>
                    <a:gridCol w="1448580">
                      <a:extLst>
                        <a:ext uri="{9D8B030D-6E8A-4147-A177-3AD203B41FA5}">
                          <a16:colId xmlns:a16="http://schemas.microsoft.com/office/drawing/2014/main" val="2375513893"/>
                        </a:ext>
                      </a:extLst>
                    </a:gridCol>
                  </a:tblGrid>
                  <a:tr h="966688">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𝐺</m:t>
                              </m:r>
                            </m:oMath>
                          </a14:m>
                          <a:r>
                            <a:rPr lang="en-US" sz="2000" dirty="0">
                              <a:effectLst/>
                              <a:latin typeface="Verdana" panose="020B0604030504040204" pitchFamily="34" charset="0"/>
                              <a:ea typeface="Verdana" panose="020B0604030504040204" pitchFamily="34" charset="0"/>
                            </a:rPr>
                            <a:t> </a:t>
                          </a: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4.2, 2.5</m:t>
                                  </m:r>
                                </m:e>
                              </m:d>
                            </m:oMath>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𝐵</m:t>
                              </m:r>
                            </m:oMath>
                          </a14:m>
                          <a:r>
                            <a:rPr lang="en-US" sz="2000" dirty="0">
                              <a:effectLst/>
                              <a:latin typeface="Verdana" panose="020B0604030504040204" pitchFamily="34" charset="0"/>
                              <a:ea typeface="Verdana" panose="020B0604030504040204" pitchFamily="34" charset="0"/>
                            </a:rPr>
                            <a:t> </a:t>
                          </a: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−1.9, 4.4</m:t>
                                  </m:r>
                                </m:e>
                              </m:d>
                            </m:oMath>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𝐹</m:t>
                              </m:r>
                            </m:oMath>
                          </a14:m>
                          <a:r>
                            <a:rPr lang="en-US" sz="2000" dirty="0">
                              <a:effectLst/>
                              <a:latin typeface="Verdana" panose="020B0604030504040204" pitchFamily="34" charset="0"/>
                              <a:ea typeface="Verdana" panose="020B0604030504040204" pitchFamily="34" charset="0"/>
                            </a:rPr>
                            <a:t> </a:t>
                          </a: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0, −0.6</m:t>
                                  </m:r>
                                </m:e>
                              </m:d>
                            </m:oMath>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𝑊</m:t>
                              </m:r>
                            </m:oMath>
                          </a14:m>
                          <a:r>
                            <a:rPr lang="en-US" sz="2000" dirty="0">
                              <a:effectLst/>
                              <a:latin typeface="Verdana" panose="020B0604030504040204" pitchFamily="34" charset="0"/>
                              <a:ea typeface="Verdana" panose="020B0604030504040204" pitchFamily="34" charset="0"/>
                            </a:rPr>
                            <a:t> </a:t>
                          </a: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−3.5, −0.2</m:t>
                                  </m:r>
                                </m:e>
                              </m:d>
                            </m:oMath>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6168788"/>
                      </a:ext>
                    </a:extLst>
                  </a:tr>
                  <a:tr h="966688">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𝐸</m:t>
                              </m:r>
                            </m:oMath>
                          </a14:m>
                          <a:r>
                            <a:rPr lang="en-US" sz="2000" dirty="0">
                              <a:effectLst/>
                              <a:latin typeface="Verdana" panose="020B0604030504040204" pitchFamily="34" charset="0"/>
                              <a:ea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(−0.6, 0)</m:t>
                              </m:r>
                            </m:oMath>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𝐴</m:t>
                              </m:r>
                            </m:oMath>
                          </a14:m>
                          <a:r>
                            <a:rPr lang="en-US" sz="2000" dirty="0">
                              <a:effectLst/>
                              <a:latin typeface="Verdana" panose="020B0604030504040204" pitchFamily="34" charset="0"/>
                              <a:ea typeface="Verdana" panose="020B0604030504040204" pitchFamily="34" charset="0"/>
                            </a:rPr>
                            <a:t> </a:t>
                          </a: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2.5, 4.2</m:t>
                                  </m:r>
                                </m:e>
                              </m:d>
                            </m:oMath>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𝑀</m:t>
                              </m:r>
                            </m:oMath>
                          </a14:m>
                          <a:r>
                            <a:rPr lang="en-US" sz="2000" dirty="0">
                              <a:effectLst/>
                              <a:latin typeface="Verdana" panose="020B0604030504040204" pitchFamily="34" charset="0"/>
                              <a:ea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(2.5, −4.2)</m:t>
                              </m:r>
                            </m:oMath>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510049546"/>
                      </a:ext>
                    </a:extLst>
                  </a:tr>
                </a:tbl>
              </a:graphicData>
            </a:graphic>
          </p:graphicFrame>
        </mc:Choice>
        <mc:Fallback xmlns="">
          <p:graphicFrame>
            <p:nvGraphicFramePr>
              <p:cNvPr id="2" name="Table 1">
                <a:extLst>
                  <a:ext uri="{FF2B5EF4-FFF2-40B4-BE49-F238E27FC236}">
                    <a16:creationId xmlns:a16="http://schemas.microsoft.com/office/drawing/2014/main" id="{F99DF558-7733-4F2C-9D4A-DFF45DF8D6F7}"/>
                  </a:ext>
                </a:extLst>
              </p:cNvPr>
              <p:cNvGraphicFramePr>
                <a:graphicFrameLocks noGrp="1"/>
              </p:cNvGraphicFramePr>
              <p:nvPr>
                <p:extLst>
                  <p:ext uri="{D42A27DB-BD31-4B8C-83A1-F6EECF244321}">
                    <p14:modId xmlns:p14="http://schemas.microsoft.com/office/powerpoint/2010/main" val="3338258456"/>
                  </p:ext>
                </p:extLst>
              </p:nvPr>
            </p:nvGraphicFramePr>
            <p:xfrm>
              <a:off x="1010599" y="4524299"/>
              <a:ext cx="5792972" cy="1933376"/>
            </p:xfrm>
            <a:graphic>
              <a:graphicData uri="http://schemas.openxmlformats.org/drawingml/2006/table">
                <a:tbl>
                  <a:tblPr bandRow="1">
                    <a:tableStyleId>{A91F0D33-8C57-4600-99A7-42BC86742BE1}</a:tableStyleId>
                  </a:tblPr>
                  <a:tblGrid>
                    <a:gridCol w="1447906">
                      <a:extLst>
                        <a:ext uri="{9D8B030D-6E8A-4147-A177-3AD203B41FA5}">
                          <a16:colId xmlns:a16="http://schemas.microsoft.com/office/drawing/2014/main" val="962764650"/>
                        </a:ext>
                      </a:extLst>
                    </a:gridCol>
                    <a:gridCol w="1448580">
                      <a:extLst>
                        <a:ext uri="{9D8B030D-6E8A-4147-A177-3AD203B41FA5}">
                          <a16:colId xmlns:a16="http://schemas.microsoft.com/office/drawing/2014/main" val="3154153835"/>
                        </a:ext>
                      </a:extLst>
                    </a:gridCol>
                    <a:gridCol w="1447906">
                      <a:extLst>
                        <a:ext uri="{9D8B030D-6E8A-4147-A177-3AD203B41FA5}">
                          <a16:colId xmlns:a16="http://schemas.microsoft.com/office/drawing/2014/main" val="242101196"/>
                        </a:ext>
                      </a:extLst>
                    </a:gridCol>
                    <a:gridCol w="1448580">
                      <a:extLst>
                        <a:ext uri="{9D8B030D-6E8A-4147-A177-3AD203B41FA5}">
                          <a16:colId xmlns:a16="http://schemas.microsoft.com/office/drawing/2014/main" val="2375513893"/>
                        </a:ext>
                      </a:extLst>
                    </a:gridCol>
                  </a:tblGrid>
                  <a:tr h="96668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20" t="-629" r="-300840" b="-10125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420" t="-629" r="-200840" b="-10125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20" t="-629" r="-100840" b="-101258"/>
                          </a:stretch>
                        </a:blipFill>
                      </a:tcPr>
                    </a:tc>
                    <a:tc rowSpan="2">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0420" t="-314" r="-840" b="-629"/>
                          </a:stretch>
                        </a:blipFill>
                      </a:tcPr>
                    </a:tc>
                    <a:extLst>
                      <a:ext uri="{0D108BD9-81ED-4DB2-BD59-A6C34878D82A}">
                        <a16:rowId xmlns:a16="http://schemas.microsoft.com/office/drawing/2014/main" val="3846168788"/>
                      </a:ext>
                    </a:extLst>
                  </a:tr>
                  <a:tr h="96668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20" t="-100629" r="-300840" b="-125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420" t="-100629" r="-200840" b="-125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420" t="-100629" r="-100840" b="-1258"/>
                          </a:stretch>
                        </a:blipFill>
                      </a:tcPr>
                    </a:tc>
                    <a:tc vMerge="1">
                      <a:txBody>
                        <a:bodyPr/>
                        <a:lstStyle/>
                        <a:p>
                          <a:endParaRPr lang="en-US"/>
                        </a:p>
                      </a:txBody>
                      <a:tcPr/>
                    </a:tc>
                    <a:extLst>
                      <a:ext uri="{0D108BD9-81ED-4DB2-BD59-A6C34878D82A}">
                        <a16:rowId xmlns:a16="http://schemas.microsoft.com/office/drawing/2014/main" val="1510049546"/>
                      </a:ext>
                    </a:extLst>
                  </a:tr>
                </a:tbl>
              </a:graphicData>
            </a:graphic>
          </p:graphicFrame>
        </mc:Fallback>
      </mc:AlternateContent>
      <p:sp>
        <p:nvSpPr>
          <p:cNvPr id="8"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141</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016000" y="410665"/>
            <a:ext cx="10310666" cy="1047338"/>
          </a:xfrm>
          <a:prstGeom prst="rect">
            <a:avLst/>
          </a:prstGeom>
          <a:noFill/>
        </p:spPr>
        <p:txBody>
          <a:bodyPr wrap="square" rtlCol="0">
            <a:spAutoFit/>
          </a:bodyPr>
          <a:lstStyle/>
          <a:p>
            <a:pPr marL="457200" indent="-457200">
              <a:lnSpc>
                <a:spcPct val="107000"/>
              </a:lnSpc>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Working with your partner, plot and label the points using the given letters on the grid.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8F7AF723-6024-4EDC-9504-D6A9CFC8AAC2}"/>
                  </a:ext>
                </a:extLst>
              </p:cNvPr>
              <p:cNvGraphicFramePr>
                <a:graphicFrameLocks noGrp="1"/>
              </p:cNvGraphicFramePr>
              <p:nvPr>
                <p:extLst>
                  <p:ext uri="{D42A27DB-BD31-4B8C-83A1-F6EECF244321}">
                    <p14:modId xmlns:p14="http://schemas.microsoft.com/office/powerpoint/2010/main" val="407884239"/>
                  </p:ext>
                </p:extLst>
              </p:nvPr>
            </p:nvGraphicFramePr>
            <p:xfrm>
              <a:off x="2253343" y="1189971"/>
              <a:ext cx="6487884" cy="1238123"/>
            </p:xfrm>
            <a:graphic>
              <a:graphicData uri="http://schemas.openxmlformats.org/drawingml/2006/table">
                <a:tbl>
                  <a:tblPr bandRow="1">
                    <a:tableStyleId>{A91F0D33-8C57-4600-99A7-42BC86742BE1}</a:tableStyleId>
                  </a:tblPr>
                  <a:tblGrid>
                    <a:gridCol w="1621593">
                      <a:extLst>
                        <a:ext uri="{9D8B030D-6E8A-4147-A177-3AD203B41FA5}">
                          <a16:colId xmlns:a16="http://schemas.microsoft.com/office/drawing/2014/main" val="962764650"/>
                        </a:ext>
                      </a:extLst>
                    </a:gridCol>
                    <a:gridCol w="1622349">
                      <a:extLst>
                        <a:ext uri="{9D8B030D-6E8A-4147-A177-3AD203B41FA5}">
                          <a16:colId xmlns:a16="http://schemas.microsoft.com/office/drawing/2014/main" val="3154153835"/>
                        </a:ext>
                      </a:extLst>
                    </a:gridCol>
                    <a:gridCol w="1621593">
                      <a:extLst>
                        <a:ext uri="{9D8B030D-6E8A-4147-A177-3AD203B41FA5}">
                          <a16:colId xmlns:a16="http://schemas.microsoft.com/office/drawing/2014/main" val="242101196"/>
                        </a:ext>
                      </a:extLst>
                    </a:gridCol>
                    <a:gridCol w="1622349">
                      <a:extLst>
                        <a:ext uri="{9D8B030D-6E8A-4147-A177-3AD203B41FA5}">
                          <a16:colId xmlns:a16="http://schemas.microsoft.com/office/drawing/2014/main" val="2375513893"/>
                        </a:ext>
                      </a:extLst>
                    </a:gridCol>
                  </a:tblGrid>
                  <a:tr h="557691">
                    <a:tc>
                      <a:txBody>
                        <a:bodyPr/>
                        <a:lstStyle/>
                        <a:p>
                          <a:pPr algn="ctr"/>
                          <a:r>
                            <a:rPr lang="en-US" sz="20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Point </a:t>
                          </a:r>
                          <a14:m>
                            <m:oMath xmlns:m="http://schemas.openxmlformats.org/officeDocument/2006/math">
                              <m:r>
                                <a:rPr lang="en-US" sz="2000" b="0" i="1" u="none" strike="noStrike" cap="none">
                                  <a:solidFill>
                                    <a:srgbClr val="000000"/>
                                  </a:solidFill>
                                  <a:effectLst/>
                                  <a:latin typeface="Cambria Math" panose="02040503050406030204" pitchFamily="18" charset="0"/>
                                  <a:ea typeface="Arial"/>
                                  <a:cs typeface="Arial"/>
                                  <a:sym typeface="Arial"/>
                                </a:rPr>
                                <m:t>𝐿</m:t>
                              </m:r>
                            </m:oMath>
                          </a14:m>
                          <a:endParaRPr lang="en-US" sz="2000" b="0" i="1" u="none" strike="noStrike" cap="none" dirty="0">
                            <a:solidFill>
                              <a:srgbClr val="000000"/>
                            </a:solidFill>
                            <a:effectLst/>
                            <a:latin typeface="Verdana" panose="020B0604030504040204" pitchFamily="34" charset="0"/>
                            <a:ea typeface="Verdana" panose="020B0604030504040204" pitchFamily="34" charset="0"/>
                            <a:cs typeface="Arial"/>
                            <a:sym typeface="Arial"/>
                          </a:endParaRPr>
                        </a:p>
                        <a:p>
                          <a:pPr algn="ctr"/>
                          <a14:m>
                            <m:oMathPara xmlns:m="http://schemas.openxmlformats.org/officeDocument/2006/math">
                              <m:oMathParaPr>
                                <m:jc m:val="centerGroup"/>
                              </m:oMathParaPr>
                              <m:oMath xmlns:m="http://schemas.openxmlformats.org/officeDocument/2006/math">
                                <m:r>
                                  <a:rPr lang="en-US" sz="2000" b="0" i="0" u="none" strike="noStrike" cap="none">
                                    <a:solidFill>
                                      <a:srgbClr val="000000"/>
                                    </a:solidFill>
                                    <a:effectLst/>
                                    <a:latin typeface="Cambria Math" panose="02040503050406030204" pitchFamily="18" charset="0"/>
                                    <a:ea typeface="Cambria Math" panose="02040503050406030204" pitchFamily="18" charset="0"/>
                                    <a:cs typeface="Arial"/>
                                    <a:sym typeface="Arial"/>
                                  </a:rPr>
                                  <m:t>(1.5, 2)</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i="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𝐵</m:t>
                              </m:r>
                            </m:oMath>
                          </a14:m>
                          <a:r>
                            <a:rPr lang="en-US" sz="2000" i="0" dirty="0">
                              <a:effectLst/>
                              <a:latin typeface="Verdana" panose="020B0604030504040204" pitchFamily="34" charset="0"/>
                              <a:ea typeface="Verdana" panose="020B0604030504040204" pitchFamily="34" charset="0"/>
                              <a:cs typeface="Cambria Math" panose="02040503050406030204" pitchFamily="18" charset="0"/>
                            </a:rPr>
                            <a:t> </a:t>
                          </a:r>
                          <a:endParaRPr lang="en-US" sz="2000" b="0" i="1" u="none" strike="noStrike" cap="none" dirty="0">
                            <a:solidFill>
                              <a:srgbClr val="000000"/>
                            </a:solidFill>
                            <a:effectLst/>
                            <a:latin typeface="Verdana" panose="020B0604030504040204" pitchFamily="34" charset="0"/>
                            <a:ea typeface="Verdana" panose="020B0604030504040204" pitchFamily="34" charset="0"/>
                            <a:cs typeface="Arial"/>
                            <a:sym typeface="Arial"/>
                          </a:endParaRPr>
                        </a:p>
                        <a:p>
                          <a:pPr algn="ctr"/>
                          <a14:m>
                            <m:oMathPara xmlns:m="http://schemas.openxmlformats.org/officeDocument/2006/math">
                              <m:oMathParaPr>
                                <m:jc m:val="centerGroup"/>
                              </m:oMathParaPr>
                              <m:oMath xmlns:m="http://schemas.openxmlformats.org/officeDocument/2006/math">
                                <m:r>
                                  <a:rPr lang="en-US" sz="2000" b="0" i="1" u="none" strike="noStrike" cap="none" smtClean="0">
                                    <a:solidFill>
                                      <a:srgbClr val="000000"/>
                                    </a:solidFill>
                                    <a:effectLst/>
                                    <a:latin typeface="Cambria Math" panose="02040503050406030204" pitchFamily="18" charset="0"/>
                                    <a:ea typeface="Arial"/>
                                    <a:cs typeface="Arial"/>
                                    <a:sym typeface="Arial"/>
                                  </a:rPr>
                                  <m:t>(3.9, </m:t>
                                </m:r>
                                <m:r>
                                  <a:rPr lang="en-US" sz="2000" b="0" i="0" u="none" strike="noStrike" cap="none" smtClean="0">
                                    <a:solidFill>
                                      <a:srgbClr val="000000"/>
                                    </a:solidFill>
                                    <a:effectLst/>
                                    <a:latin typeface="Cambria Math" panose="02040503050406030204" pitchFamily="18" charset="0"/>
                                    <a:ea typeface="Arial"/>
                                    <a:cs typeface="Arial"/>
                                    <a:sym typeface="Arial"/>
                                  </a:rPr>
                                  <m:t>−4.5)</m:t>
                                </m:r>
                              </m:oMath>
                            </m:oMathPara>
                          </a14:m>
                          <a:endParaRPr lang="en-US" sz="2000" dirty="0">
                            <a:latin typeface="Verdana" panose="020B0604030504040204" pitchFamily="34" charset="0"/>
                            <a:ea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i="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𝐺</m:t>
                              </m:r>
                            </m:oMath>
                          </a14:m>
                          <a:r>
                            <a:rPr lang="en-US" sz="2000" i="0" dirty="0">
                              <a:effectLst/>
                              <a:latin typeface="Verdana" panose="020B0604030504040204" pitchFamily="34" charset="0"/>
                              <a:ea typeface="Verdana" panose="020B0604030504040204" pitchFamily="34" charset="0"/>
                              <a:cs typeface="Cambria Math" panose="02040503050406030204" pitchFamily="18" charset="0"/>
                            </a:rPr>
                            <a:t> </a:t>
                          </a:r>
                        </a:p>
                        <a:p>
                          <a:pPr algn="ctr"/>
                          <a:r>
                            <a:rPr lang="en-US" sz="2000" i="0" dirty="0">
                              <a:effectLst/>
                              <a:latin typeface="Cambria Math" panose="02040503050406030204" pitchFamily="18" charset="0"/>
                              <a:ea typeface="Cambria Math" panose="02040503050406030204" pitchFamily="18" charset="0"/>
                            </a:rPr>
                            <a:t>(</a:t>
                          </a:r>
                          <a14:m>
                            <m:oMath xmlns:m="http://schemas.openxmlformats.org/officeDocument/2006/math">
                              <m:r>
                                <a:rPr lang="en-US" sz="2000" b="0" i="0" u="none" strike="noStrike" cap="none" smtClean="0">
                                  <a:solidFill>
                                    <a:srgbClr val="000000"/>
                                  </a:solidFill>
                                  <a:effectLst/>
                                  <a:latin typeface="Cambria Math" panose="02040503050406030204" pitchFamily="18" charset="0"/>
                                  <a:ea typeface="Cambria Math" panose="02040503050406030204" pitchFamily="18" charset="0"/>
                                  <a:cs typeface="Arial"/>
                                  <a:sym typeface="Arial"/>
                                </a:rPr>
                                <m:t>−5.5,</m:t>
                              </m:r>
                            </m:oMath>
                          </a14:m>
                          <a:r>
                            <a:rPr lang="en-US" sz="2000" b="0" u="none" strike="noStrike" cap="none" dirty="0">
                              <a:solidFill>
                                <a:srgbClr val="000000"/>
                              </a:solidFill>
                              <a:effectLst/>
                              <a:latin typeface="Cambria Math" panose="02040503050406030204" pitchFamily="18" charset="0"/>
                              <a:ea typeface="Cambria Math" panose="02040503050406030204" pitchFamily="18" charset="0"/>
                              <a:cs typeface="Arial"/>
                              <a:sym typeface="Arial"/>
                            </a:rPr>
                            <a:t> </a:t>
                          </a:r>
                          <a14:m>
                            <m:oMath xmlns:m="http://schemas.openxmlformats.org/officeDocument/2006/math">
                              <m:r>
                                <a:rPr lang="en-US" sz="2000" b="0" i="0" u="none" strike="noStrike" cap="none" smtClean="0">
                                  <a:solidFill>
                                    <a:srgbClr val="000000"/>
                                  </a:solidFill>
                                  <a:effectLst/>
                                  <a:latin typeface="Cambria Math" panose="02040503050406030204" pitchFamily="18" charset="0"/>
                                  <a:ea typeface="Cambria Math" panose="02040503050406030204" pitchFamily="18" charset="0"/>
                                  <a:cs typeface="Arial"/>
                                  <a:sym typeface="Arial"/>
                                </a:rPr>
                                <m:t>−2.1)</m:t>
                              </m:r>
                            </m:oMath>
                          </a14:m>
                          <a:endParaRPr lang="en-US" sz="2000" dirty="0">
                            <a:latin typeface="Cambria Math" panose="02040503050406030204" pitchFamily="18" charset="0"/>
                            <a:ea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Point </a:t>
                          </a:r>
                          <a14:m>
                            <m:oMath xmlns:m="http://schemas.openxmlformats.org/officeDocument/2006/math">
                              <m:r>
                                <a:rPr lang="en-US" sz="2000" b="0" i="1" u="none" strike="noStrike" cap="none">
                                  <a:solidFill>
                                    <a:srgbClr val="000000"/>
                                  </a:solidFill>
                                  <a:effectLst/>
                                  <a:latin typeface="Cambria Math" panose="02040503050406030204" pitchFamily="18" charset="0"/>
                                  <a:ea typeface="Arial"/>
                                  <a:cs typeface="Arial"/>
                                  <a:sym typeface="Arial"/>
                                </a:rPr>
                                <m:t>𝐷</m:t>
                              </m:r>
                            </m:oMath>
                          </a14:m>
                          <a:endParaRPr lang="en-US" sz="2000" b="0" i="1" u="none" strike="noStrike" cap="none" dirty="0">
                            <a:solidFill>
                              <a:srgbClr val="000000"/>
                            </a:solidFill>
                            <a:effectLst/>
                            <a:latin typeface="Verdana" panose="020B0604030504040204" pitchFamily="34" charset="0"/>
                            <a:ea typeface="Verdana" panose="020B0604030504040204" pitchFamily="34" charset="0"/>
                            <a:cs typeface="Arial"/>
                            <a:sym typeface="Arial"/>
                          </a:endParaRPr>
                        </a:p>
                        <a:p>
                          <a:pPr algn="ctr"/>
                          <a14:m>
                            <m:oMathPara xmlns:m="http://schemas.openxmlformats.org/officeDocument/2006/math">
                              <m:oMathParaPr>
                                <m:jc m:val="centerGroup"/>
                              </m:oMathParaPr>
                              <m:oMath xmlns:m="http://schemas.openxmlformats.org/officeDocument/2006/math">
                                <m:r>
                                  <a:rPr lang="en-US" sz="2000" b="0" i="0" u="none" strike="noStrike" cap="none">
                                    <a:solidFill>
                                      <a:srgbClr val="000000"/>
                                    </a:solidFill>
                                    <a:effectLst/>
                                    <a:latin typeface="Cambria Math" panose="02040503050406030204" pitchFamily="18" charset="0"/>
                                    <a:ea typeface="Cambria Math" panose="02040503050406030204" pitchFamily="18" charset="0"/>
                                    <a:cs typeface="Arial"/>
                                    <a:sym typeface="Arial"/>
                                  </a:rPr>
                                  <m:t>(0, 0.7)</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6168788"/>
                      </a:ext>
                    </a:extLst>
                  </a:tr>
                  <a:tr h="575003">
                    <a:tc>
                      <a:txBody>
                        <a:bodyPr/>
                        <a:lstStyle/>
                        <a:p>
                          <a:pPr marL="0" marR="0" algn="ctr">
                            <a:lnSpc>
                              <a:spcPct val="107000"/>
                            </a:lnSpc>
                            <a:spcBef>
                              <a:spcPts val="0"/>
                            </a:spcBef>
                            <a:spcAft>
                              <a:spcPts val="0"/>
                            </a:spcAft>
                          </a:pPr>
                          <a:r>
                            <a:rPr lang="en-US" sz="20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Point </a:t>
                          </a:r>
                          <a14:m>
                            <m:oMath xmlns:m="http://schemas.openxmlformats.org/officeDocument/2006/math">
                              <m:r>
                                <a:rPr lang="en-US" sz="2000" b="0" i="1" u="none" strike="noStrike" cap="none">
                                  <a:solidFill>
                                    <a:srgbClr val="000000"/>
                                  </a:solidFill>
                                  <a:effectLst/>
                                  <a:latin typeface="Cambria Math" panose="02040503050406030204" pitchFamily="18" charset="0"/>
                                  <a:ea typeface="Arial"/>
                                  <a:cs typeface="Arial"/>
                                  <a:sym typeface="Arial"/>
                                </a:rPr>
                                <m:t>𝐾</m:t>
                              </m:r>
                            </m:oMath>
                          </a14:m>
                          <a:r>
                            <a:rPr lang="en-US" sz="20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 </a:t>
                          </a:r>
                          <a14:m>
                            <m:oMath xmlns:m="http://schemas.openxmlformats.org/officeDocument/2006/math">
                              <m:r>
                                <a:rPr lang="en-US" sz="2000" b="0" i="0" u="none" strike="noStrike" cap="none">
                                  <a:solidFill>
                                    <a:srgbClr val="000000"/>
                                  </a:solidFill>
                                  <a:effectLst/>
                                  <a:latin typeface="Cambria Math" panose="02040503050406030204" pitchFamily="18" charset="0"/>
                                  <a:ea typeface="Cambria Math" panose="02040503050406030204" pitchFamily="18" charset="0"/>
                                  <a:cs typeface="Arial"/>
                                  <a:sym typeface="Arial"/>
                                </a:rPr>
                                <m:t>(</m:t>
                              </m:r>
                              <m:r>
                                <a:rPr lang="en-US" sz="2000" b="0" i="1" u="none" strike="noStrike" cap="none">
                                  <a:solidFill>
                                    <a:srgbClr val="000000"/>
                                  </a:solidFill>
                                  <a:effectLst/>
                                  <a:latin typeface="Cambria Math" panose="02040503050406030204" pitchFamily="18" charset="0"/>
                                  <a:ea typeface="Cambria Math" panose="02040503050406030204" pitchFamily="18" charset="0"/>
                                  <a:cs typeface="Arial"/>
                                  <a:sym typeface="Arial"/>
                                </a:rPr>
                                <m:t>−</m:t>
                              </m:r>
                              <m:r>
                                <a:rPr lang="en-US" sz="2000" b="0" i="0" u="none" strike="noStrike" cap="none">
                                  <a:solidFill>
                                    <a:srgbClr val="000000"/>
                                  </a:solidFill>
                                  <a:effectLst/>
                                  <a:latin typeface="Cambria Math" panose="02040503050406030204" pitchFamily="18" charset="0"/>
                                  <a:ea typeface="Cambria Math" panose="02040503050406030204" pitchFamily="18" charset="0"/>
                                  <a:cs typeface="Arial"/>
                                  <a:sym typeface="Arial"/>
                                </a:rPr>
                                <m:t>2.8, 5.7)</m:t>
                              </m:r>
                            </m:oMath>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Point </a:t>
                          </a:r>
                          <a14:m>
                            <m:oMath xmlns:m="http://schemas.openxmlformats.org/officeDocument/2006/math">
                              <m:r>
                                <a:rPr lang="en-US" sz="2000" b="0" i="1" u="none" strike="noStrike" cap="none">
                                  <a:solidFill>
                                    <a:srgbClr val="000000"/>
                                  </a:solidFill>
                                  <a:effectLst/>
                                  <a:latin typeface="Cambria Math" panose="02040503050406030204" pitchFamily="18" charset="0"/>
                                  <a:ea typeface="Arial"/>
                                  <a:cs typeface="Arial"/>
                                  <a:sym typeface="Arial"/>
                                </a:rPr>
                                <m:t>𝑆</m:t>
                              </m:r>
                            </m:oMath>
                          </a14:m>
                          <a:r>
                            <a:rPr lang="en-US" sz="20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 </a:t>
                          </a:r>
                          <a14:m>
                            <m:oMath xmlns:m="http://schemas.openxmlformats.org/officeDocument/2006/math">
                              <m:r>
                                <a:rPr lang="en-US" sz="2000" b="0" i="0" u="none" strike="noStrike" cap="none">
                                  <a:solidFill>
                                    <a:srgbClr val="000000"/>
                                  </a:solidFill>
                                  <a:effectLst/>
                                  <a:latin typeface="Cambria Math" panose="02040503050406030204" pitchFamily="18" charset="0"/>
                                  <a:ea typeface="Cambria Math" panose="02040503050406030204" pitchFamily="18" charset="0"/>
                                  <a:cs typeface="Arial"/>
                                  <a:sym typeface="Arial"/>
                                </a:rPr>
                                <m:t>(</m:t>
                              </m:r>
                              <m:r>
                                <a:rPr lang="en-US" sz="2000" b="0" i="1" u="none" strike="noStrike" cap="none">
                                  <a:solidFill>
                                    <a:srgbClr val="000000"/>
                                  </a:solidFill>
                                  <a:effectLst/>
                                  <a:latin typeface="Cambria Math" panose="02040503050406030204" pitchFamily="18" charset="0"/>
                                  <a:ea typeface="Cambria Math" panose="02040503050406030204" pitchFamily="18" charset="0"/>
                                  <a:cs typeface="Arial"/>
                                  <a:sym typeface="Arial"/>
                                </a:rPr>
                                <m:t>−</m:t>
                              </m:r>
                              <m:r>
                                <a:rPr lang="en-US" sz="2000" b="0" i="0" u="none" strike="noStrike" cap="none">
                                  <a:solidFill>
                                    <a:srgbClr val="000000"/>
                                  </a:solidFill>
                                  <a:effectLst/>
                                  <a:latin typeface="Cambria Math" panose="02040503050406030204" pitchFamily="18" charset="0"/>
                                  <a:ea typeface="Cambria Math" panose="02040503050406030204" pitchFamily="18" charset="0"/>
                                  <a:cs typeface="Arial"/>
                                  <a:sym typeface="Arial"/>
                                </a:rPr>
                                <m:t>0.8, 0)</m:t>
                              </m:r>
                            </m:oMath>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Point </a:t>
                          </a:r>
                          <a14:m>
                            <m:oMath xmlns:m="http://schemas.openxmlformats.org/officeDocument/2006/math">
                              <m:r>
                                <a:rPr lang="en-US" sz="2000" b="0" i="1" u="none" strike="noStrike" cap="none">
                                  <a:solidFill>
                                    <a:srgbClr val="000000"/>
                                  </a:solidFill>
                                  <a:effectLst/>
                                  <a:latin typeface="Cambria Math" panose="02040503050406030204" pitchFamily="18" charset="0"/>
                                  <a:ea typeface="Arial"/>
                                  <a:cs typeface="Arial"/>
                                  <a:sym typeface="Arial"/>
                                </a:rPr>
                                <m:t>𝑁</m:t>
                              </m:r>
                            </m:oMath>
                          </a14:m>
                          <a:r>
                            <a:rPr lang="en-US" sz="20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 </a:t>
                          </a:r>
                          <a:endParaRPr lang="en-US" sz="2000" b="0" i="1" u="none" strike="noStrike" cap="none" dirty="0">
                            <a:solidFill>
                              <a:srgbClr val="000000"/>
                            </a:solidFill>
                            <a:effectLst/>
                            <a:latin typeface="Verdana" panose="020B0604030504040204" pitchFamily="34" charset="0"/>
                            <a:ea typeface="Verdana" panose="020B0604030504040204" pitchFamily="34" charset="0"/>
                            <a:cs typeface="Arial"/>
                            <a:sym typeface="Arial"/>
                          </a:endParaRPr>
                        </a:p>
                        <a:p>
                          <a:pPr algn="ctr"/>
                          <a14:m>
                            <m:oMathPara xmlns:m="http://schemas.openxmlformats.org/officeDocument/2006/math">
                              <m:oMathParaPr>
                                <m:jc m:val="centerGroup"/>
                              </m:oMathParaPr>
                              <m:oMath xmlns:m="http://schemas.openxmlformats.org/officeDocument/2006/math">
                                <m:r>
                                  <a:rPr lang="en-US" sz="2000" b="0" i="0" u="none" strike="noStrike" cap="none">
                                    <a:solidFill>
                                      <a:srgbClr val="000000"/>
                                    </a:solidFill>
                                    <a:effectLst/>
                                    <a:latin typeface="Cambria Math" panose="02040503050406030204" pitchFamily="18" charset="0"/>
                                    <a:ea typeface="Cambria Math" panose="02040503050406030204" pitchFamily="18" charset="0"/>
                                    <a:cs typeface="Arial"/>
                                    <a:sym typeface="Arial"/>
                                  </a:rPr>
                                  <m:t>(</m:t>
                                </m:r>
                                <m:r>
                                  <a:rPr lang="en-US" sz="2000" b="0" i="1" u="none" strike="noStrike" cap="none">
                                    <a:solidFill>
                                      <a:srgbClr val="000000"/>
                                    </a:solidFill>
                                    <a:effectLst/>
                                    <a:latin typeface="Cambria Math" panose="02040503050406030204" pitchFamily="18" charset="0"/>
                                    <a:ea typeface="Cambria Math" panose="02040503050406030204" pitchFamily="18" charset="0"/>
                                    <a:cs typeface="Arial"/>
                                    <a:sym typeface="Arial"/>
                                  </a:rPr>
                                  <m:t>−</m:t>
                                </m:r>
                                <m:r>
                                  <a:rPr lang="en-US" sz="2000" b="0" i="0" u="none" strike="noStrike" cap="none">
                                    <a:solidFill>
                                      <a:srgbClr val="000000"/>
                                    </a:solidFill>
                                    <a:effectLst/>
                                    <a:latin typeface="Cambria Math" panose="02040503050406030204" pitchFamily="18" charset="0"/>
                                    <a:ea typeface="Cambria Math" panose="02040503050406030204" pitchFamily="18" charset="0"/>
                                    <a:cs typeface="Arial"/>
                                    <a:sym typeface="Arial"/>
                                  </a:rPr>
                                  <m:t>1, </m:t>
                                </m:r>
                                <m:r>
                                  <a:rPr lang="en-US" sz="2000" b="0" i="1" u="none" strike="noStrike" cap="none">
                                    <a:solidFill>
                                      <a:srgbClr val="000000"/>
                                    </a:solidFill>
                                    <a:effectLst/>
                                    <a:latin typeface="Cambria Math" panose="02040503050406030204" pitchFamily="18" charset="0"/>
                                    <a:ea typeface="Cambria Math" panose="02040503050406030204" pitchFamily="18" charset="0"/>
                                    <a:cs typeface="Arial"/>
                                    <a:sym typeface="Arial"/>
                                  </a:rPr>
                                  <m:t>−</m:t>
                                </m:r>
                                <m:r>
                                  <a:rPr lang="en-US" sz="2000" b="0" i="0" u="none" strike="noStrike" cap="none">
                                    <a:solidFill>
                                      <a:srgbClr val="000000"/>
                                    </a:solidFill>
                                    <a:effectLst/>
                                    <a:latin typeface="Cambria Math" panose="02040503050406030204" pitchFamily="18" charset="0"/>
                                    <a:ea typeface="Cambria Math" panose="02040503050406030204" pitchFamily="18" charset="0"/>
                                    <a:cs typeface="Arial"/>
                                    <a:sym typeface="Arial"/>
                                  </a:rPr>
                                  <m:t>3.4)</m:t>
                                </m:r>
                              </m:oMath>
                            </m:oMathPara>
                          </a14:m>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i="0" dirty="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𝐻</m:t>
                              </m:r>
                            </m:oMath>
                          </a14:m>
                          <a:r>
                            <a:rPr lang="en-US" sz="2000" i="0" dirty="0">
                              <a:effectLst/>
                              <a:latin typeface="Verdana" panose="020B0604030504040204" pitchFamily="34" charset="0"/>
                              <a:ea typeface="Verdana" panose="020B0604030504040204" pitchFamily="34" charset="0"/>
                              <a:cs typeface="Cambria Math" panose="02040503050406030204" pitchFamily="18" charset="0"/>
                            </a:rPr>
                            <a:t> </a:t>
                          </a:r>
                        </a:p>
                        <a:p>
                          <a:pPr algn="ctr"/>
                          <a:r>
                            <a:rPr lang="en-US" sz="2000" i="0" dirty="0">
                              <a:effectLst/>
                              <a:latin typeface="Cambria Math" panose="02040503050406030204" pitchFamily="18" charset="0"/>
                              <a:ea typeface="Cambria Math" panose="02040503050406030204" pitchFamily="18" charset="0"/>
                            </a:rPr>
                            <a:t>(</a:t>
                          </a:r>
                          <a14:m>
                            <m:oMath xmlns:m="http://schemas.openxmlformats.org/officeDocument/2006/math">
                              <m:r>
                                <a:rPr lang="en-US" sz="2000" b="0" i="0" u="none" strike="noStrike" cap="none" smtClean="0">
                                  <a:solidFill>
                                    <a:srgbClr val="000000"/>
                                  </a:solidFill>
                                  <a:effectLst/>
                                  <a:latin typeface="Cambria Math" panose="02040503050406030204" pitchFamily="18" charset="0"/>
                                  <a:ea typeface="Cambria Math" panose="02040503050406030204" pitchFamily="18" charset="0"/>
                                  <a:cs typeface="Arial"/>
                                  <a:sym typeface="Arial"/>
                                </a:rPr>
                                <m:t>−3.9,4.5</m:t>
                              </m:r>
                            </m:oMath>
                          </a14:m>
                          <a:r>
                            <a:rPr lang="en-US" sz="2000" dirty="0">
                              <a:latin typeface="Cambria Math" panose="02040503050406030204" pitchFamily="18" charset="0"/>
                              <a:ea typeface="Cambria Math" panose="020405030504060302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0049546"/>
                      </a:ext>
                    </a:extLst>
                  </a:tr>
                </a:tbl>
              </a:graphicData>
            </a:graphic>
          </p:graphicFrame>
        </mc:Choice>
        <mc:Fallback xmlns="">
          <p:graphicFrame>
            <p:nvGraphicFramePr>
              <p:cNvPr id="9" name="Table 8">
                <a:extLst>
                  <a:ext uri="{FF2B5EF4-FFF2-40B4-BE49-F238E27FC236}">
                    <a16:creationId xmlns:a16="http://schemas.microsoft.com/office/drawing/2014/main" id="{8F7AF723-6024-4EDC-9504-D6A9CFC8AAC2}"/>
                  </a:ext>
                </a:extLst>
              </p:cNvPr>
              <p:cNvGraphicFramePr>
                <a:graphicFrameLocks noGrp="1"/>
              </p:cNvGraphicFramePr>
              <p:nvPr>
                <p:extLst>
                  <p:ext uri="{D42A27DB-BD31-4B8C-83A1-F6EECF244321}">
                    <p14:modId xmlns:p14="http://schemas.microsoft.com/office/powerpoint/2010/main" val="407884239"/>
                  </p:ext>
                </p:extLst>
              </p:nvPr>
            </p:nvGraphicFramePr>
            <p:xfrm>
              <a:off x="729343" y="1189971"/>
              <a:ext cx="6487884" cy="1238123"/>
            </p:xfrm>
            <a:graphic>
              <a:graphicData uri="http://schemas.openxmlformats.org/drawingml/2006/table">
                <a:tbl>
                  <a:tblPr bandRow="1">
                    <a:tableStyleId>{A91F0D33-8C57-4600-99A7-42BC86742BE1}</a:tableStyleId>
                  </a:tblPr>
                  <a:tblGrid>
                    <a:gridCol w="1621593">
                      <a:extLst>
                        <a:ext uri="{9D8B030D-6E8A-4147-A177-3AD203B41FA5}">
                          <a16:colId xmlns:a16="http://schemas.microsoft.com/office/drawing/2014/main" val="962764650"/>
                        </a:ext>
                      </a:extLst>
                    </a:gridCol>
                    <a:gridCol w="1622349">
                      <a:extLst>
                        <a:ext uri="{9D8B030D-6E8A-4147-A177-3AD203B41FA5}">
                          <a16:colId xmlns:a16="http://schemas.microsoft.com/office/drawing/2014/main" val="3154153835"/>
                        </a:ext>
                      </a:extLst>
                    </a:gridCol>
                    <a:gridCol w="1621593">
                      <a:extLst>
                        <a:ext uri="{9D8B030D-6E8A-4147-A177-3AD203B41FA5}">
                          <a16:colId xmlns:a16="http://schemas.microsoft.com/office/drawing/2014/main" val="242101196"/>
                        </a:ext>
                      </a:extLst>
                    </a:gridCol>
                    <a:gridCol w="1622349">
                      <a:extLst>
                        <a:ext uri="{9D8B030D-6E8A-4147-A177-3AD203B41FA5}">
                          <a16:colId xmlns:a16="http://schemas.microsoft.com/office/drawing/2014/main" val="2375513893"/>
                        </a:ext>
                      </a:extLst>
                    </a:gridCol>
                  </a:tblGrid>
                  <a:tr h="6096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6" t="-13000" r="-301504" b="-127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13000" r="-200375" b="-127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752" t="-13000" r="-101128" b="-127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752" t="-13000" r="-1128" b="-127000"/>
                          </a:stretch>
                        </a:blipFill>
                      </a:tcPr>
                    </a:tc>
                    <a:extLst>
                      <a:ext uri="{0D108BD9-81ED-4DB2-BD59-A6C34878D82A}">
                        <a16:rowId xmlns:a16="http://schemas.microsoft.com/office/drawing/2014/main" val="3846168788"/>
                      </a:ext>
                    </a:extLst>
                  </a:tr>
                  <a:tr h="62852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76" t="-108654" r="-301504" b="-2211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108654" r="-200375" b="-2211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752" t="-108654" r="-101128" b="-2211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752" t="-108654" r="-1128" b="-22115"/>
                          </a:stretch>
                        </a:blipFill>
                      </a:tcPr>
                    </a:tc>
                    <a:extLst>
                      <a:ext uri="{0D108BD9-81ED-4DB2-BD59-A6C34878D82A}">
                        <a16:rowId xmlns:a16="http://schemas.microsoft.com/office/drawing/2014/main" val="1510049546"/>
                      </a:ext>
                    </a:extLst>
                  </a:tr>
                </a:tbl>
              </a:graphicData>
            </a:graphic>
          </p:graphicFrame>
        </mc:Fallback>
      </mc:AlternateContent>
      <p:pic>
        <p:nvPicPr>
          <p:cNvPr id="10" name="image13.png" descr="Chart, line chart, scatter chart&#10;&#10;Description automatically generated">
            <a:extLst>
              <a:ext uri="{FF2B5EF4-FFF2-40B4-BE49-F238E27FC236}">
                <a16:creationId xmlns:a16="http://schemas.microsoft.com/office/drawing/2014/main" id="{96E811C1-256F-4D07-8A3C-AA62F04C4DAE}"/>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2394367" y="2590802"/>
            <a:ext cx="4365662" cy="4106533"/>
          </a:xfrm>
          <a:prstGeom prst="rect">
            <a:avLst/>
          </a:prstGeom>
          <a:ln/>
        </p:spPr>
      </p:pic>
      <p:sp>
        <p:nvSpPr>
          <p:cNvPr id="8" name="TextBox 7">
            <a:extLst>
              <a:ext uri="{FF2B5EF4-FFF2-40B4-BE49-F238E27FC236}">
                <a16:creationId xmlns:a16="http://schemas.microsoft.com/office/drawing/2014/main" id="{8FF86202-DC85-4B79-A7BB-E914C86187F8}"/>
              </a:ext>
            </a:extLst>
          </p:cNvPr>
          <p:cNvSpPr txBox="1"/>
          <p:nvPr/>
        </p:nvSpPr>
        <p:spPr>
          <a:xfrm>
            <a:off x="6985150" y="2787873"/>
            <a:ext cx="3293201" cy="3659463"/>
          </a:xfrm>
          <a:prstGeom prst="rect">
            <a:avLst/>
          </a:prstGeom>
          <a:noFill/>
        </p:spPr>
        <p:txBody>
          <a:bodyPr wrap="square" rtlCol="0">
            <a:spAutoFit/>
          </a:bodyPr>
          <a:lstStyle/>
          <a:p>
            <a:pPr marL="914400" indent="-457200">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Which points were easy to plot?</a:t>
            </a:r>
          </a:p>
          <a:p>
            <a:pPr marL="914400" indent="-4572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Which points were more difficult to plot?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1"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141</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57501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143000" y="410666"/>
            <a:ext cx="10056666" cy="2068259"/>
          </a:xfrm>
          <a:prstGeom prst="rect">
            <a:avLst/>
          </a:prstGeom>
          <a:noFill/>
        </p:spPr>
        <p:txBody>
          <a:bodyPr wrap="square" rtlCol="0">
            <a:spAutoFit/>
          </a:bodyPr>
          <a:lstStyle/>
          <a:p>
            <a:pPr marL="457200" indent="-457200">
              <a:lnSpc>
                <a:spcPct val="107000"/>
              </a:lnSpc>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On your own, answer the following question:</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6858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When plotting ordered pairs with decimal values, how is it best to determine the scale to use when setting up the axes on a grid?</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6858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p:graphicFrame>
        <p:nvGraphicFramePr>
          <p:cNvPr id="2" name="Table 1">
            <a:extLst>
              <a:ext uri="{FF2B5EF4-FFF2-40B4-BE49-F238E27FC236}">
                <a16:creationId xmlns:a16="http://schemas.microsoft.com/office/drawing/2014/main" id="{08B8F7C0-6241-46FB-BC91-D3F11FBCC964}"/>
              </a:ext>
            </a:extLst>
          </p:cNvPr>
          <p:cNvGraphicFramePr>
            <a:graphicFrameLocks noGrp="1"/>
          </p:cNvGraphicFramePr>
          <p:nvPr>
            <p:extLst>
              <p:ext uri="{D42A27DB-BD31-4B8C-83A1-F6EECF244321}">
                <p14:modId xmlns:p14="http://schemas.microsoft.com/office/powerpoint/2010/main" val="933943832"/>
              </p:ext>
            </p:extLst>
          </p:nvPr>
        </p:nvGraphicFramePr>
        <p:xfrm>
          <a:off x="2567664" y="2253343"/>
          <a:ext cx="5923193" cy="4275895"/>
        </p:xfrm>
        <a:graphic>
          <a:graphicData uri="http://schemas.openxmlformats.org/drawingml/2006/table">
            <a:tbl>
              <a:tblPr bandRow="1">
                <a:tableStyleId>{A91F0D33-8C57-4600-99A7-42BC86742BE1}</a:tableStyleId>
              </a:tblPr>
              <a:tblGrid>
                <a:gridCol w="5923193">
                  <a:extLst>
                    <a:ext uri="{9D8B030D-6E8A-4147-A177-3AD203B41FA5}">
                      <a16:colId xmlns:a16="http://schemas.microsoft.com/office/drawing/2014/main" val="2614071784"/>
                    </a:ext>
                  </a:extLst>
                </a:gridCol>
              </a:tblGrid>
              <a:tr h="477842">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My Reasoning</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43042949"/>
                  </a:ext>
                </a:extLst>
              </a:tr>
              <a:tr h="3798053">
                <a:tc>
                  <a:txBody>
                    <a:bodyPr/>
                    <a:lstStyle/>
                    <a:p>
                      <a:pPr marL="0" marR="0">
                        <a:lnSpc>
                          <a:spcPct val="107000"/>
                        </a:lnSpc>
                        <a:spcBef>
                          <a:spcPts val="0"/>
                        </a:spcBef>
                        <a:spcAft>
                          <a:spcPts val="0"/>
                        </a:spcAft>
                      </a:pPr>
                      <a:r>
                        <a:rPr lang="en-US" sz="1800" dirty="0">
                          <a:effectLst/>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1871803"/>
                  </a:ext>
                </a:extLst>
              </a:tr>
            </a:tbl>
          </a:graphicData>
        </a:graphic>
      </p:graphicFrame>
      <p:sp>
        <p:nvSpPr>
          <p:cNvPr id="7"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142</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82666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206500" y="410665"/>
            <a:ext cx="9929666" cy="1738938"/>
          </a:xfrm>
          <a:prstGeom prst="rect">
            <a:avLst/>
          </a:prstGeom>
          <a:noFill/>
        </p:spPr>
        <p:txBody>
          <a:bodyPr wrap="square" rtlCol="0">
            <a:spAutoFit/>
          </a:bodyPr>
          <a:lstStyle/>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Share your reasoning with your partner and ask for feedback on any parts that were unclear or missing. Make any necessary edits to your reasoning.</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6858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p:sp>
        <p:nvSpPr>
          <p:cNvPr id="6"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142</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41028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00646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8384"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4.2.5 Collaboration: Choosing the Right Scale</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857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458384" y="1386025"/>
            <a:ext cx="9531264" cy="1738938"/>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When representing data, the scale of the grid is important to effectively and accurately communicate information.</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table shows the total Florida tourism industry employees, in thousands, for years since 2002.  </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p:graphicFrame>
        <p:nvGraphicFramePr>
          <p:cNvPr id="2" name="Table 1">
            <a:extLst>
              <a:ext uri="{FF2B5EF4-FFF2-40B4-BE49-F238E27FC236}">
                <a16:creationId xmlns:a16="http://schemas.microsoft.com/office/drawing/2014/main" id="{3223DC40-83C9-4DA6-A242-27CC6A40AA61}"/>
              </a:ext>
            </a:extLst>
          </p:cNvPr>
          <p:cNvGraphicFramePr>
            <a:graphicFrameLocks noGrp="1"/>
          </p:cNvGraphicFramePr>
          <p:nvPr>
            <p:extLst>
              <p:ext uri="{D42A27DB-BD31-4B8C-83A1-F6EECF244321}">
                <p14:modId xmlns:p14="http://schemas.microsoft.com/office/powerpoint/2010/main" val="1438228218"/>
              </p:ext>
            </p:extLst>
          </p:nvPr>
        </p:nvGraphicFramePr>
        <p:xfrm>
          <a:off x="2519851" y="3171582"/>
          <a:ext cx="5905693" cy="3357657"/>
        </p:xfrm>
        <a:graphic>
          <a:graphicData uri="http://schemas.openxmlformats.org/drawingml/2006/table">
            <a:tbl>
              <a:tblPr bandRow="1">
                <a:tableStyleId>{A91F0D33-8C57-4600-99A7-42BC86742BE1}</a:tableStyleId>
              </a:tblPr>
              <a:tblGrid>
                <a:gridCol w="1962448">
                  <a:extLst>
                    <a:ext uri="{9D8B030D-6E8A-4147-A177-3AD203B41FA5}">
                      <a16:colId xmlns:a16="http://schemas.microsoft.com/office/drawing/2014/main" val="3283627060"/>
                    </a:ext>
                  </a:extLst>
                </a:gridCol>
                <a:gridCol w="3943245">
                  <a:extLst>
                    <a:ext uri="{9D8B030D-6E8A-4147-A177-3AD203B41FA5}">
                      <a16:colId xmlns:a16="http://schemas.microsoft.com/office/drawing/2014/main" val="1229021590"/>
                    </a:ext>
                  </a:extLst>
                </a:gridCol>
              </a:tblGrid>
              <a:tr h="142758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Years Since 2002</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Total Tourism Industry Employees                   </a:t>
                      </a:r>
                    </a:p>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(in thousands)</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09253564"/>
                  </a:ext>
                </a:extLst>
              </a:tr>
              <a:tr h="482518">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1</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889.9</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5451129"/>
                  </a:ext>
                </a:extLst>
              </a:tr>
              <a:tr h="482518">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4</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909.7</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6556133"/>
                  </a:ext>
                </a:extLst>
              </a:tr>
              <a:tr h="482518">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5</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916.3</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0005966"/>
                  </a:ext>
                </a:extLst>
              </a:tr>
              <a:tr h="482518">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7</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929.5</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2561118"/>
                  </a:ext>
                </a:extLst>
              </a:tr>
            </a:tbl>
          </a:graphicData>
        </a:graphic>
      </p:graphicFrame>
      <p:sp>
        <p:nvSpPr>
          <p:cNvPr id="11"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142</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59726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1003300" y="410666"/>
            <a:ext cx="9331601" cy="5700791"/>
          </a:xfrm>
          <a:prstGeom prst="rect">
            <a:avLst/>
          </a:prstGeom>
          <a:noFill/>
        </p:spPr>
        <p:txBody>
          <a:bodyPr wrap="square" rtlCol="0">
            <a:spAutoFit/>
          </a:bodyPr>
          <a:lstStyle/>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To plot the data, Andrea drew the coordinate grid shown.</a:t>
            </a: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Discuss with your partner why Andrea’s coordinate grid would not effectively nor accurately communicate the information about Florida tourism industry employees.</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4" name="Picture 3">
            <a:extLst>
              <a:ext uri="{FF2B5EF4-FFF2-40B4-BE49-F238E27FC236}">
                <a16:creationId xmlns:a16="http://schemas.microsoft.com/office/drawing/2014/main" id="{598B724A-E637-4CE1-B0A0-2402005A942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85622" y="976723"/>
            <a:ext cx="4321100" cy="3638821"/>
          </a:xfrm>
          <a:prstGeom prst="rect">
            <a:avLst/>
          </a:prstGeom>
        </p:spPr>
      </p:pic>
      <p:sp>
        <p:nvSpPr>
          <p:cNvPr id="7"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142</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41401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1041400" y="410666"/>
                <a:ext cx="9293501" cy="1376659"/>
              </a:xfrm>
              <a:prstGeom prst="rect">
                <a:avLst/>
              </a:prstGeom>
              <a:noFill/>
            </p:spPr>
            <p:txBody>
              <a:bodyPr wrap="square" rtlCol="0">
                <a:spAutoFit/>
              </a:bodyPr>
              <a:lstStyle/>
              <a:p>
                <a:pPr marL="457200" indent="-457200">
                  <a:lnSpc>
                    <a:spcPct val="107000"/>
                  </a:lnSpc>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data shown in the table are average autumn temperatures, in degrees Celsius </a:t>
                </a:r>
                <a14:m>
                  <m:oMath xmlns:m="http://schemas.openxmlformats.org/officeDocument/2006/math">
                    <m:d>
                      <m:dPr>
                        <m:ctrlPr>
                          <a:rPr lang="en-US" sz="2000" i="1">
                            <a:latin typeface="Cambria Math" panose="02040503050406030204" pitchFamily="18" charset="0"/>
                            <a:ea typeface="Cambria Math" panose="02040503050406030204" pitchFamily="18" charset="0"/>
                            <a:cs typeface="Cambria Math" panose="02040503050406030204" pitchFamily="18" charset="0"/>
                          </a:rPr>
                        </m:ctrlPr>
                      </m:dPr>
                      <m:e>
                        <m:r>
                          <a:rPr lang="en-US" sz="2000" i="1">
                            <a:latin typeface="Cambria Math" panose="02040503050406030204" pitchFamily="18" charset="0"/>
                            <a:ea typeface="Cambria Math" panose="02040503050406030204" pitchFamily="18" charset="0"/>
                            <a:cs typeface="Cambria Math" panose="02040503050406030204" pitchFamily="18" charset="0"/>
                          </a:rPr>
                          <m:t>℃</m:t>
                        </m:r>
                      </m:e>
                    </m:d>
                    <m:r>
                      <a:rPr lang="en-US" sz="2000" i="1">
                        <a:latin typeface="Cambria Math" panose="02040503050406030204" pitchFamily="18" charset="0"/>
                        <a:ea typeface="Cambria Math" panose="02040503050406030204" pitchFamily="18" charset="0"/>
                        <a:cs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in </a:t>
                </a:r>
                <a:r>
                  <a:rPr lang="en-US" sz="2000" dirty="0" err="1">
                    <a:latin typeface="Verdana" panose="020B0604030504040204" pitchFamily="34" charset="0"/>
                    <a:ea typeface="Verdana" panose="020B0604030504040204" pitchFamily="34" charset="0"/>
                    <a:cs typeface="Verdana" panose="020B0604030504040204" pitchFamily="34" charset="0"/>
                  </a:rPr>
                  <a:t>Carmathen</a:t>
                </a:r>
                <a:r>
                  <a:rPr lang="en-US" sz="2000" dirty="0">
                    <a:latin typeface="Verdana" panose="020B0604030504040204" pitchFamily="34" charset="0"/>
                    <a:ea typeface="Verdana" panose="020B0604030504040204" pitchFamily="34" charset="0"/>
                    <a:cs typeface="Verdana" panose="020B0604030504040204" pitchFamily="34" charset="0"/>
                  </a:rPr>
                  <a:t>, Wales.</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1041400" y="410666"/>
                <a:ext cx="9293501" cy="1376659"/>
              </a:xfrm>
              <a:prstGeom prst="rect">
                <a:avLst/>
              </a:prstGeom>
              <a:blipFill rotWithShape="0">
                <a:blip r:embed="rId3"/>
                <a:stretch>
                  <a:fillRect l="-722" t="-30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13E0D3D-4D3C-4816-9080-67ACCEF30882}"/>
                  </a:ext>
                </a:extLst>
              </p:cNvPr>
              <p:cNvGraphicFramePr>
                <a:graphicFrameLocks noGrp="1"/>
              </p:cNvGraphicFramePr>
              <p:nvPr>
                <p:extLst>
                  <p:ext uri="{D42A27DB-BD31-4B8C-83A1-F6EECF244321}">
                    <p14:modId xmlns:p14="http://schemas.microsoft.com/office/powerpoint/2010/main" val="3551569103"/>
                  </p:ext>
                </p:extLst>
              </p:nvPr>
            </p:nvGraphicFramePr>
            <p:xfrm>
              <a:off x="2890589" y="1238401"/>
              <a:ext cx="3951041" cy="5100081"/>
            </p:xfrm>
            <a:graphic>
              <a:graphicData uri="http://schemas.openxmlformats.org/drawingml/2006/table">
                <a:tbl>
                  <a:tblPr bandRow="1">
                    <a:tableStyleId>{A91F0D33-8C57-4600-99A7-42BC86742BE1}</a:tableStyleId>
                  </a:tblPr>
                  <a:tblGrid>
                    <a:gridCol w="1823730">
                      <a:extLst>
                        <a:ext uri="{9D8B030D-6E8A-4147-A177-3AD203B41FA5}">
                          <a16:colId xmlns:a16="http://schemas.microsoft.com/office/drawing/2014/main" val="2065175091"/>
                        </a:ext>
                      </a:extLst>
                    </a:gridCol>
                    <a:gridCol w="2127311">
                      <a:extLst>
                        <a:ext uri="{9D8B030D-6E8A-4147-A177-3AD203B41FA5}">
                          <a16:colId xmlns:a16="http://schemas.microsoft.com/office/drawing/2014/main" val="817397292"/>
                        </a:ext>
                      </a:extLst>
                    </a:gridCol>
                  </a:tblGrid>
                  <a:tr h="1324194">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Time After Noon (hours)</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Temperature </a:t>
                          </a:r>
                          <a14:m>
                            <m:oMath xmlns:m="http://schemas.openxmlformats.org/officeDocument/2006/math">
                              <m:r>
                                <a:rPr lang="en-US" sz="2000" b="1" smtClean="0">
                                  <a:effectLst/>
                                  <a:latin typeface="Cambria Math" panose="02040503050406030204" pitchFamily="18" charset="0"/>
                                </a:rPr>
                                <m:t>(℃)</m:t>
                              </m:r>
                            </m:oMath>
                          </a14:m>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55304606"/>
                      </a:ext>
                    </a:extLst>
                  </a:tr>
                  <a:tr h="419543">
                    <a:tc>
                      <a:txBody>
                        <a:bodyPr/>
                        <a:lstStyle/>
                        <a:p>
                          <a:pPr marL="0" marR="0" algn="ctr">
                            <a:lnSpc>
                              <a:spcPct val="107000"/>
                            </a:lnSpc>
                            <a:spcBef>
                              <a:spcPts val="0"/>
                            </a:spcBef>
                            <a:spcAft>
                              <a:spcPts val="0"/>
                            </a:spcAft>
                          </a:pPr>
                          <a:r>
                            <a:rPr lang="en-US" sz="2000" b="0" dirty="0">
                              <a:effectLst/>
                              <a:latin typeface="Cambria Math" panose="02040503050406030204" pitchFamily="18" charset="0"/>
                              <a:ea typeface="Cambria Math" panose="02040503050406030204" pitchFamily="18" charset="0"/>
                            </a:rPr>
                            <a:t>0</a:t>
                          </a:r>
                          <a:endParaRPr lang="en-US" sz="2000" b="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0"/>
                            </a:spcAft>
                          </a:pPr>
                          <a:r>
                            <a:rPr lang="en-US" sz="2000" b="0" dirty="0">
                              <a:effectLst/>
                              <a:latin typeface="Cambria Math" panose="02040503050406030204" pitchFamily="18" charset="0"/>
                              <a:ea typeface="Cambria Math" panose="02040503050406030204" pitchFamily="18" charset="0"/>
                            </a:rPr>
                            <a:t>5</a:t>
                          </a:r>
                          <a:endParaRPr lang="en-US" sz="2000" b="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1882482"/>
                      </a:ext>
                    </a:extLst>
                  </a:tr>
                  <a:tr h="419543">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1</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4</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6988574"/>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2</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3</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498786"/>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3</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2</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391858"/>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4</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1</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0076904"/>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5</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-2</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9827007"/>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6</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-3</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1144189"/>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7</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-4</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0904749"/>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8</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-4</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3767755"/>
                      </a:ext>
                    </a:extLst>
                  </a:tr>
                </a:tbl>
              </a:graphicData>
            </a:graphic>
          </p:graphicFrame>
        </mc:Choice>
        <mc:Fallback xmlns="">
          <p:graphicFrame>
            <p:nvGraphicFramePr>
              <p:cNvPr id="3" name="Table 2">
                <a:extLst>
                  <a:ext uri="{FF2B5EF4-FFF2-40B4-BE49-F238E27FC236}">
                    <a16:creationId xmlns:a16="http://schemas.microsoft.com/office/drawing/2014/main" id="{713E0D3D-4D3C-4816-9080-67ACCEF30882}"/>
                  </a:ext>
                </a:extLst>
              </p:cNvPr>
              <p:cNvGraphicFramePr>
                <a:graphicFrameLocks noGrp="1"/>
              </p:cNvGraphicFramePr>
              <p:nvPr>
                <p:extLst>
                  <p:ext uri="{D42A27DB-BD31-4B8C-83A1-F6EECF244321}">
                    <p14:modId xmlns:p14="http://schemas.microsoft.com/office/powerpoint/2010/main" val="3551569103"/>
                  </p:ext>
                </p:extLst>
              </p:nvPr>
            </p:nvGraphicFramePr>
            <p:xfrm>
              <a:off x="1366588" y="1238400"/>
              <a:ext cx="3951041" cy="5100081"/>
            </p:xfrm>
            <a:graphic>
              <a:graphicData uri="http://schemas.openxmlformats.org/drawingml/2006/table">
                <a:tbl>
                  <a:tblPr bandRow="1">
                    <a:tableStyleId>{A91F0D33-8C57-4600-99A7-42BC86742BE1}</a:tableStyleId>
                  </a:tblPr>
                  <a:tblGrid>
                    <a:gridCol w="1823730">
                      <a:extLst>
                        <a:ext uri="{9D8B030D-6E8A-4147-A177-3AD203B41FA5}">
                          <a16:colId xmlns:a16="http://schemas.microsoft.com/office/drawing/2014/main" val="2065175091"/>
                        </a:ext>
                      </a:extLst>
                    </a:gridCol>
                    <a:gridCol w="2127311">
                      <a:extLst>
                        <a:ext uri="{9D8B030D-6E8A-4147-A177-3AD203B41FA5}">
                          <a16:colId xmlns:a16="http://schemas.microsoft.com/office/drawing/2014/main" val="817397292"/>
                        </a:ext>
                      </a:extLst>
                    </a:gridCol>
                  </a:tblGrid>
                  <a:tr h="1324194">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Time After Noon (hours)</a:t>
                          </a:r>
                          <a:endParaRPr lang="en-US" sz="2000" b="1"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6246" t="-461" r="-573" b="-292627"/>
                          </a:stretch>
                        </a:blipFill>
                      </a:tcPr>
                    </a:tc>
                    <a:extLst>
                      <a:ext uri="{0D108BD9-81ED-4DB2-BD59-A6C34878D82A}">
                        <a16:rowId xmlns:a16="http://schemas.microsoft.com/office/drawing/2014/main" val="955304606"/>
                      </a:ext>
                    </a:extLst>
                  </a:tr>
                  <a:tr h="419543">
                    <a:tc>
                      <a:txBody>
                        <a:bodyPr/>
                        <a:lstStyle/>
                        <a:p>
                          <a:pPr marL="0" marR="0" algn="ctr">
                            <a:lnSpc>
                              <a:spcPct val="107000"/>
                            </a:lnSpc>
                            <a:spcBef>
                              <a:spcPts val="0"/>
                            </a:spcBef>
                            <a:spcAft>
                              <a:spcPts val="0"/>
                            </a:spcAft>
                          </a:pPr>
                          <a:r>
                            <a:rPr lang="en-US" sz="2000" b="0" dirty="0">
                              <a:effectLst/>
                              <a:latin typeface="Cambria Math" panose="02040503050406030204" pitchFamily="18" charset="0"/>
                              <a:ea typeface="Cambria Math" panose="02040503050406030204" pitchFamily="18" charset="0"/>
                            </a:rPr>
                            <a:t>0</a:t>
                          </a:r>
                          <a:endParaRPr lang="en-US" sz="2000" b="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0"/>
                            </a:spcAft>
                          </a:pPr>
                          <a:r>
                            <a:rPr lang="en-US" sz="2000" b="0" dirty="0">
                              <a:effectLst/>
                              <a:latin typeface="Cambria Math" panose="02040503050406030204" pitchFamily="18" charset="0"/>
                              <a:ea typeface="Cambria Math" panose="02040503050406030204" pitchFamily="18" charset="0"/>
                            </a:rPr>
                            <a:t>5</a:t>
                          </a:r>
                          <a:endParaRPr lang="en-US" sz="2000" b="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1882482"/>
                      </a:ext>
                    </a:extLst>
                  </a:tr>
                  <a:tr h="419543">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1</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4</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6988574"/>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2</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3</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498786"/>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3</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2</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3391858"/>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4</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1</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0076904"/>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5</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-2</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9827007"/>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6</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-3</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1144189"/>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7</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-4</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0904749"/>
                      </a:ext>
                    </a:extLst>
                  </a:tr>
                  <a:tr h="419543">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rPr>
                            <a:t>8</a:t>
                          </a:r>
                          <a:endParaRPr lang="en-US" sz="20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rPr>
                            <a:t>-4</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3767755"/>
                      </a:ext>
                    </a:extLst>
                  </a:tr>
                </a:tbl>
              </a:graphicData>
            </a:graphic>
          </p:graphicFrame>
        </mc:Fallback>
      </mc:AlternateContent>
      <p:sp>
        <p:nvSpPr>
          <p:cNvPr id="7"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143</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60049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2007765" y="410666"/>
            <a:ext cx="8327136" cy="69647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rPr>
              <a:t>Three coordinate grids are shown, each using different scales.</a:t>
            </a:r>
            <a:endParaRPr lang="en-US" sz="2000" i="1" dirty="0">
              <a:latin typeface="Verdana" panose="020B0604030504040204" pitchFamily="34" charset="0"/>
              <a:ea typeface="Verdana" panose="020B0604030504040204" pitchFamily="34" charset="0"/>
            </a:endParaRPr>
          </a:p>
          <a:p>
            <a:pPr marL="457200">
              <a:lnSpc>
                <a:spcPct val="107000"/>
              </a:lnSpc>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9" name="Picture 8">
            <a:extLst>
              <a:ext uri="{FF2B5EF4-FFF2-40B4-BE49-F238E27FC236}">
                <a16:creationId xmlns:a16="http://schemas.microsoft.com/office/drawing/2014/main" id="{433612A9-98E4-482B-87DD-60F1C6782D3F}"/>
              </a:ext>
            </a:extLst>
          </p:cNvPr>
          <p:cNvPicPr>
            <a:picLocks noChangeAspect="1"/>
          </p:cNvPicPr>
          <p:nvPr/>
        </p:nvPicPr>
        <p:blipFill>
          <a:blip r:embed="rId3"/>
          <a:stretch>
            <a:fillRect/>
          </a:stretch>
        </p:blipFill>
        <p:spPr>
          <a:xfrm>
            <a:off x="2007765" y="849086"/>
            <a:ext cx="7319784" cy="5680152"/>
          </a:xfrm>
          <a:prstGeom prst="rect">
            <a:avLst/>
          </a:prstGeom>
        </p:spPr>
      </p:pic>
      <p:sp>
        <p:nvSpPr>
          <p:cNvPr id="7"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143</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64088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787400" y="410665"/>
            <a:ext cx="9547501" cy="3956724"/>
          </a:xfrm>
          <a:prstGeom prst="rect">
            <a:avLst/>
          </a:prstGeom>
          <a:noFill/>
        </p:spPr>
        <p:txBody>
          <a:bodyPr wrap="square" rtlCol="0">
            <a:spAutoFit/>
          </a:bodyPr>
          <a:lstStyle/>
          <a:p>
            <a:pPr marL="914400" indent="-457200">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which coordinate grid most accurately represents the data.</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why the other two coordinate grids may not be as accurate.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6"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143</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89937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6415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350" b="1" dirty="0">
                <a:solidFill>
                  <a:srgbClr val="33BEA6"/>
                </a:solidFill>
                <a:latin typeface="Verdana"/>
                <a:ea typeface="Verdana"/>
                <a:cs typeface="Verdana"/>
                <a:sym typeface="Verdana"/>
              </a:rPr>
              <a:t>4.2.6 Try It: Plotting Points with Fractional and Decimal Scales</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14342"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473200" y="1386025"/>
                <a:ext cx="8914384" cy="750975"/>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For the points </a:t>
                </a:r>
                <a14:m>
                  <m:oMath xmlns:m="http://schemas.openxmlformats.org/officeDocument/2006/math">
                    <m:d>
                      <m:dPr>
                        <m:ctrlPr>
                          <a:rPr lang="en-US" sz="2000" i="1">
                            <a:latin typeface="Cambria Math" panose="02040503050406030204" pitchFamily="18" charset="0"/>
                            <a:ea typeface="Cambria Math" panose="02040503050406030204" pitchFamily="18" charset="0"/>
                            <a:cs typeface="Cambria Math" panose="02040503050406030204" pitchFamily="18" charset="0"/>
                          </a:rPr>
                        </m:ctrlPr>
                      </m:dPr>
                      <m:e>
                        <m:r>
                          <a:rPr lang="en-US" sz="2000" i="1">
                            <a:latin typeface="Cambria Math" panose="02040503050406030204" pitchFamily="18" charset="0"/>
                            <a:ea typeface="Cambria Math" panose="02040503050406030204" pitchFamily="18" charset="0"/>
                            <a:cs typeface="Cambria Math" panose="02040503050406030204" pitchFamily="18" charset="0"/>
                          </a:rPr>
                          <m:t>1.75, −2.5</m:t>
                        </m:r>
                      </m:e>
                    </m:d>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(−2.25, 1.5)</m:t>
                    </m:r>
                  </m:oMath>
                </a14:m>
                <a:r>
                  <a:rPr lang="en-US" sz="2000" dirty="0">
                    <a:latin typeface="Verdana" panose="020B0604030504040204" pitchFamily="34" charset="0"/>
                    <a:ea typeface="Verdana" panose="020B0604030504040204" pitchFamily="34" charset="0"/>
                    <a:cs typeface="Verdana" panose="020B0604030504040204" pitchFamily="34" charset="0"/>
                  </a:rPr>
                  <a:t>, draw and label coordinate axes with an appropriate scale, and plot the points.</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1473200" y="1386025"/>
                <a:ext cx="8914384" cy="750975"/>
              </a:xfrm>
              <a:prstGeom prst="rect">
                <a:avLst/>
              </a:prstGeom>
              <a:blipFill rotWithShape="0">
                <a:blip r:embed="rId4"/>
                <a:stretch>
                  <a:fillRect l="-752" t="-5645" b="-9677"/>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6E7579AF-F69D-4C74-A8B3-135B5D997496}"/>
              </a:ext>
            </a:extLst>
          </p:cNvPr>
          <p:cNvPicPr>
            <a:picLocks noChangeAspect="1"/>
          </p:cNvPicPr>
          <p:nvPr/>
        </p:nvPicPr>
        <p:blipFill rotWithShape="1">
          <a:blip r:embed="rId5"/>
          <a:srcRect t="4001"/>
          <a:stretch/>
        </p:blipFill>
        <p:spPr>
          <a:xfrm>
            <a:off x="2603713" y="2437147"/>
            <a:ext cx="5983664" cy="4339154"/>
          </a:xfrm>
          <a:prstGeom prst="rect">
            <a:avLst/>
          </a:prstGeom>
        </p:spPr>
      </p:pic>
      <p:sp>
        <p:nvSpPr>
          <p:cNvPr id="12"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144</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22347CCE-34A7-8044-BA67-B5895157AE55}"/>
              </a:ext>
            </a:extLst>
          </p:cNvPr>
          <p:cNvSpPr txBox="1"/>
          <p:nvPr/>
        </p:nvSpPr>
        <p:spPr>
          <a:xfrm>
            <a:off x="1181100" y="349706"/>
            <a:ext cx="9078468" cy="750975"/>
          </a:xfrm>
          <a:prstGeom prst="rect">
            <a:avLst/>
          </a:prstGeom>
          <a:noFill/>
        </p:spPr>
        <p:txBody>
          <a:bodyPr wrap="square" rtlCol="0">
            <a:spAutoFit/>
          </a:bodyPr>
          <a:lstStyle/>
          <a:p>
            <a:pPr marL="457200" indent="-457200">
              <a:lnSpc>
                <a:spcPct val="107000"/>
              </a:lnSpc>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Draw and label coordinate axes with an appropriate scale. Then, plot and label the points.</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E117932-15F3-4919-BC69-EDF9D4B7285D}"/>
                  </a:ext>
                </a:extLst>
              </p:cNvPr>
              <p:cNvGraphicFramePr>
                <a:graphicFrameLocks noGrp="1"/>
              </p:cNvGraphicFramePr>
              <p:nvPr>
                <p:extLst>
                  <p:ext uri="{D42A27DB-BD31-4B8C-83A1-F6EECF244321}">
                    <p14:modId xmlns:p14="http://schemas.microsoft.com/office/powerpoint/2010/main" val="319299442"/>
                  </p:ext>
                </p:extLst>
              </p:nvPr>
            </p:nvGraphicFramePr>
            <p:xfrm>
              <a:off x="2513694" y="1219202"/>
              <a:ext cx="6260192" cy="1208313"/>
            </p:xfrm>
            <a:graphic>
              <a:graphicData uri="http://schemas.openxmlformats.org/drawingml/2006/table">
                <a:tbl>
                  <a:tblPr bandRow="1">
                    <a:tableStyleId>{A91F0D33-8C57-4600-99A7-42BC86742BE1}</a:tableStyleId>
                  </a:tblPr>
                  <a:tblGrid>
                    <a:gridCol w="1564709">
                      <a:extLst>
                        <a:ext uri="{9D8B030D-6E8A-4147-A177-3AD203B41FA5}">
                          <a16:colId xmlns:a16="http://schemas.microsoft.com/office/drawing/2014/main" val="578456109"/>
                        </a:ext>
                      </a:extLst>
                    </a:gridCol>
                    <a:gridCol w="1564709">
                      <a:extLst>
                        <a:ext uri="{9D8B030D-6E8A-4147-A177-3AD203B41FA5}">
                          <a16:colId xmlns:a16="http://schemas.microsoft.com/office/drawing/2014/main" val="1927568322"/>
                        </a:ext>
                      </a:extLst>
                    </a:gridCol>
                    <a:gridCol w="1565387">
                      <a:extLst>
                        <a:ext uri="{9D8B030D-6E8A-4147-A177-3AD203B41FA5}">
                          <a16:colId xmlns:a16="http://schemas.microsoft.com/office/drawing/2014/main" val="142771397"/>
                        </a:ext>
                      </a:extLst>
                    </a:gridCol>
                    <a:gridCol w="1565387">
                      <a:extLst>
                        <a:ext uri="{9D8B030D-6E8A-4147-A177-3AD203B41FA5}">
                          <a16:colId xmlns:a16="http://schemas.microsoft.com/office/drawing/2014/main" val="3836674700"/>
                        </a:ext>
                      </a:extLst>
                    </a:gridCol>
                  </a:tblGrid>
                  <a:tr h="1208313">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𝑊</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4</m:t>
                                      </m:r>
                                    </m:den>
                                  </m:f>
                                </m:e>
                              </m:d>
                            </m:oMath>
                          </a14:m>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𝐷</m:t>
                              </m:r>
                            </m:oMath>
                          </a14:m>
                          <a:r>
                            <a:rPr lang="en-US" sz="2000" dirty="0">
                              <a:effectLst/>
                              <a:latin typeface="Verdana" panose="020B0604030504040204" pitchFamily="34" charset="0"/>
                              <a:ea typeface="Verdana" panose="020B0604030504040204" pitchFamily="34" charset="0"/>
                            </a:rPr>
                            <a:t> </a:t>
                          </a: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3</m:t>
                                      </m:r>
                                    </m:den>
                                  </m:f>
                                </m:e>
                              </m:d>
                            </m:oMath>
                          </a14:m>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𝑃</m:t>
                              </m:r>
                            </m:oMath>
                          </a14:m>
                          <a:r>
                            <a:rPr lang="en-US" sz="2000" dirty="0">
                              <a:effectLst/>
                              <a:latin typeface="Verdana" panose="020B0604030504040204" pitchFamily="34" charset="0"/>
                              <a:ea typeface="Verdana" panose="020B0604030504040204" pitchFamily="34" charset="0"/>
                            </a:rPr>
                            <a:t> </a:t>
                          </a: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5</m:t>
                                      </m:r>
                                    </m:num>
                                    <m:den>
                                      <m:r>
                                        <a:rPr lang="en-US" sz="2000">
                                          <a:effectLst/>
                                          <a:latin typeface="Cambria Math" panose="02040503050406030204" pitchFamily="18" charset="0"/>
                                          <a:ea typeface="Cambria Math" panose="02040503050406030204" pitchFamily="18" charset="0"/>
                                        </a:rPr>
                                        <m:t>3</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e>
                              </m:d>
                            </m:oMath>
                          </a14:m>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Point </a:t>
                          </a:r>
                          <a14:m>
                            <m:oMath xmlns:m="http://schemas.openxmlformats.org/officeDocument/2006/math">
                              <m:r>
                                <a:rPr lang="en-US" sz="2000">
                                  <a:effectLst/>
                                  <a:latin typeface="Cambria Math" panose="02040503050406030204" pitchFamily="18" charset="0"/>
                                </a:rPr>
                                <m:t>𝑇</m:t>
                              </m:r>
                            </m:oMath>
                          </a14:m>
                          <a:endParaRPr lang="en-US" sz="2000" dirty="0">
                            <a:effectLst/>
                            <a:latin typeface="Verdana" panose="020B0604030504040204" pitchFamily="34" charset="0"/>
                            <a:ea typeface="Verdana" panose="020B0604030504040204" pitchFamily="34" charset="0"/>
                          </a:endParaRPr>
                        </a:p>
                        <a:p>
                          <a:pPr marL="0" marR="0" algn="ctr">
                            <a:lnSpc>
                              <a:spcPct val="107000"/>
                            </a:lnSpc>
                            <a:spcBef>
                              <a:spcPts val="0"/>
                            </a:spcBef>
                            <a:spcAft>
                              <a:spcPts val="0"/>
                            </a:spcAft>
                          </a:pPr>
                          <a14:m>
                            <m:oMath xmlns:m="http://schemas.openxmlformats.org/officeDocument/2006/math">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6</m:t>
                                      </m:r>
                                    </m:den>
                                  </m:f>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7</m:t>
                                      </m:r>
                                    </m:num>
                                    <m:den>
                                      <m:r>
                                        <a:rPr lang="en-US" sz="2000">
                                          <a:effectLst/>
                                          <a:latin typeface="Cambria Math" panose="02040503050406030204" pitchFamily="18" charset="0"/>
                                          <a:ea typeface="Cambria Math" panose="02040503050406030204" pitchFamily="18" charset="0"/>
                                        </a:rPr>
                                        <m:t>4</m:t>
                                      </m:r>
                                    </m:den>
                                  </m:f>
                                </m:e>
                              </m:d>
                            </m:oMath>
                          </a14:m>
                          <a:r>
                            <a:rPr lang="en-US" sz="2000" dirty="0">
                              <a:effectLst/>
                              <a:latin typeface="Verdana" panose="020B0604030504040204" pitchFamily="34" charset="0"/>
                              <a:ea typeface="Verdana" panose="020B0604030504040204" pitchFamily="34" charset="0"/>
                            </a:rPr>
                            <a:t> </a:t>
                          </a:r>
                          <a:endParaRPr lang="en-US" sz="2000" i="1" dirty="0">
                            <a:effectLst/>
                            <a:latin typeface="Verdana" panose="020B0604030504040204" pitchFamily="34" charset="0"/>
                            <a:ea typeface="Verdana" panose="020B0604030504040204" pitchFamily="34" charset="0"/>
                            <a:cs typeface="Cambria Math"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9709559"/>
                      </a:ext>
                    </a:extLst>
                  </a:tr>
                </a:tbl>
              </a:graphicData>
            </a:graphic>
          </p:graphicFrame>
        </mc:Choice>
        <mc:Fallback xmlns="">
          <p:graphicFrame>
            <p:nvGraphicFramePr>
              <p:cNvPr id="2" name="Table 1">
                <a:extLst>
                  <a:ext uri="{FF2B5EF4-FFF2-40B4-BE49-F238E27FC236}">
                    <a16:creationId xmlns:a16="http://schemas.microsoft.com/office/drawing/2014/main" id="{2E117932-15F3-4919-BC69-EDF9D4B7285D}"/>
                  </a:ext>
                </a:extLst>
              </p:cNvPr>
              <p:cNvGraphicFramePr>
                <a:graphicFrameLocks noGrp="1"/>
              </p:cNvGraphicFramePr>
              <p:nvPr>
                <p:extLst>
                  <p:ext uri="{D42A27DB-BD31-4B8C-83A1-F6EECF244321}">
                    <p14:modId xmlns:p14="http://schemas.microsoft.com/office/powerpoint/2010/main" val="319299442"/>
                  </p:ext>
                </p:extLst>
              </p:nvPr>
            </p:nvGraphicFramePr>
            <p:xfrm>
              <a:off x="989694" y="1219201"/>
              <a:ext cx="6260192" cy="1208313"/>
            </p:xfrm>
            <a:graphic>
              <a:graphicData uri="http://schemas.openxmlformats.org/drawingml/2006/table">
                <a:tbl>
                  <a:tblPr bandRow="1">
                    <a:tableStyleId>{A91F0D33-8C57-4600-99A7-42BC86742BE1}</a:tableStyleId>
                  </a:tblPr>
                  <a:tblGrid>
                    <a:gridCol w="1564709">
                      <a:extLst>
                        <a:ext uri="{9D8B030D-6E8A-4147-A177-3AD203B41FA5}">
                          <a16:colId xmlns:a16="http://schemas.microsoft.com/office/drawing/2014/main" val="578456109"/>
                        </a:ext>
                      </a:extLst>
                    </a:gridCol>
                    <a:gridCol w="1564709">
                      <a:extLst>
                        <a:ext uri="{9D8B030D-6E8A-4147-A177-3AD203B41FA5}">
                          <a16:colId xmlns:a16="http://schemas.microsoft.com/office/drawing/2014/main" val="1927568322"/>
                        </a:ext>
                      </a:extLst>
                    </a:gridCol>
                    <a:gridCol w="1565387">
                      <a:extLst>
                        <a:ext uri="{9D8B030D-6E8A-4147-A177-3AD203B41FA5}">
                          <a16:colId xmlns:a16="http://schemas.microsoft.com/office/drawing/2014/main" val="142771397"/>
                        </a:ext>
                      </a:extLst>
                    </a:gridCol>
                    <a:gridCol w="1565387">
                      <a:extLst>
                        <a:ext uri="{9D8B030D-6E8A-4147-A177-3AD203B41FA5}">
                          <a16:colId xmlns:a16="http://schemas.microsoft.com/office/drawing/2014/main" val="3836674700"/>
                        </a:ext>
                      </a:extLst>
                    </a:gridCol>
                  </a:tblGrid>
                  <a:tr h="120831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89" t="-1005" r="-300778" b="-100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89" t="-1005" r="-200778" b="-100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389" t="-1005" r="-100778" b="-100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389" t="-1005" r="-778" b="-1005"/>
                          </a:stretch>
                        </a:blipFill>
                      </a:tcPr>
                    </a:tc>
                    <a:extLst>
                      <a:ext uri="{0D108BD9-81ED-4DB2-BD59-A6C34878D82A}">
                        <a16:rowId xmlns:a16="http://schemas.microsoft.com/office/drawing/2014/main" val="2679709559"/>
                      </a:ext>
                    </a:extLst>
                  </a:tr>
                </a:tbl>
              </a:graphicData>
            </a:graphic>
          </p:graphicFrame>
        </mc:Fallback>
      </mc:AlternateContent>
      <p:pic>
        <p:nvPicPr>
          <p:cNvPr id="7" name="Picture 6" descr="Chart&#10;&#10;Description automatically generated with medium confidence">
            <a:extLst>
              <a:ext uri="{FF2B5EF4-FFF2-40B4-BE49-F238E27FC236}">
                <a16:creationId xmlns:a16="http://schemas.microsoft.com/office/drawing/2014/main" id="{317F65F4-E780-45A3-BE3A-642733F7529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76105" y="2677887"/>
            <a:ext cx="4909621" cy="4035403"/>
          </a:xfrm>
          <a:prstGeom prst="rect">
            <a:avLst/>
          </a:prstGeom>
        </p:spPr>
      </p:pic>
      <p:sp>
        <p:nvSpPr>
          <p:cNvPr id="8"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144</a:t>
            </a:r>
            <a:endParaRPr i="1" dirty="0">
              <a:latin typeface="Calibri"/>
              <a:ea typeface="Calibri"/>
              <a:cs typeface="Calibri"/>
              <a:sym typeface="Calibri"/>
            </a:endParaRP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614666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2557"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32000" y="1341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4.2.7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84700" y="289612"/>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332000" y="1386025"/>
            <a:ext cx="9055584" cy="1047338"/>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Shade the arrow up to the statement that best describes your current level of understanding.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graphicFrame>
        <p:nvGraphicFramePr>
          <p:cNvPr id="2" name="Table 1">
            <a:extLst>
              <a:ext uri="{FF2B5EF4-FFF2-40B4-BE49-F238E27FC236}">
                <a16:creationId xmlns:a16="http://schemas.microsoft.com/office/drawing/2014/main" id="{5FE37DDB-8844-492A-81B8-3F4EF59541FB}"/>
              </a:ext>
            </a:extLst>
          </p:cNvPr>
          <p:cNvGraphicFramePr>
            <a:graphicFrameLocks noGrp="1"/>
          </p:cNvGraphicFramePr>
          <p:nvPr>
            <p:extLst>
              <p:ext uri="{D42A27DB-BD31-4B8C-83A1-F6EECF244321}">
                <p14:modId xmlns:p14="http://schemas.microsoft.com/office/powerpoint/2010/main" val="2098915367"/>
              </p:ext>
            </p:extLst>
          </p:nvPr>
        </p:nvGraphicFramePr>
        <p:xfrm>
          <a:off x="2990921" y="2137396"/>
          <a:ext cx="6031482" cy="4416687"/>
        </p:xfrm>
        <a:graphic>
          <a:graphicData uri="http://schemas.openxmlformats.org/drawingml/2006/table">
            <a:tbl>
              <a:tblPr bandRow="1">
                <a:tableStyleId>{A91F0D33-8C57-4600-99A7-42BC86742BE1}</a:tableStyleId>
              </a:tblPr>
              <a:tblGrid>
                <a:gridCol w="721913">
                  <a:extLst>
                    <a:ext uri="{9D8B030D-6E8A-4147-A177-3AD203B41FA5}">
                      <a16:colId xmlns:a16="http://schemas.microsoft.com/office/drawing/2014/main" val="226125739"/>
                    </a:ext>
                  </a:extLst>
                </a:gridCol>
                <a:gridCol w="5309569">
                  <a:extLst>
                    <a:ext uri="{9D8B030D-6E8A-4147-A177-3AD203B41FA5}">
                      <a16:colId xmlns:a16="http://schemas.microsoft.com/office/drawing/2014/main" val="3227883963"/>
                    </a:ext>
                  </a:extLst>
                </a:gridCol>
              </a:tblGrid>
              <a:tr h="952847">
                <a:tc rowSpan="4">
                  <a:txBody>
                    <a:bodyPr/>
                    <a:lstStyle/>
                    <a:p>
                      <a:pPr marL="0" marR="0">
                        <a:lnSpc>
                          <a:spcPct val="107000"/>
                        </a:lnSpc>
                        <a:spcBef>
                          <a:spcPts val="0"/>
                        </a:spcBef>
                        <a:spcAft>
                          <a:spcPts val="0"/>
                        </a:spcAft>
                      </a:pPr>
                      <a:endParaRPr lang="en-US" sz="2000" dirty="0">
                        <a:effectLst/>
                      </a:endParaRPr>
                    </a:p>
                    <a:p>
                      <a:pPr marL="0" marR="0">
                        <a:lnSpc>
                          <a:spcPct val="107000"/>
                        </a:lnSpc>
                        <a:spcBef>
                          <a:spcPts val="0"/>
                        </a:spcBef>
                        <a:spcAft>
                          <a:spcPts val="0"/>
                        </a:spcAft>
                      </a:pPr>
                      <a:r>
                        <a:rPr lang="en-US" sz="2000" dirty="0">
                          <a:effectLst/>
                        </a:rPr>
                        <a:t> </a:t>
                      </a:r>
                      <a:endParaRPr lang="en-US" sz="20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52457" marR="52457" marT="26229" marB="26229">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rPr>
                        <a:t>I’m so confident, I could explain plotting ordered pairs made up of fractions and/or decimals to someone else!</a:t>
                      </a:r>
                    </a:p>
                    <a:p>
                      <a:pPr marL="0" marR="0">
                        <a:lnSpc>
                          <a:spcPct val="107000"/>
                        </a:lnSpc>
                        <a:spcBef>
                          <a:spcPts val="0"/>
                        </a:spcBef>
                        <a:spcAft>
                          <a:spcPts val="0"/>
                        </a:spcAft>
                      </a:pP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52457" marR="52457" marT="26229" marB="26229">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543084204"/>
                  </a:ext>
                </a:extLst>
              </a:tr>
              <a:tr h="952848">
                <a:tc vMerge="1">
                  <a:txBody>
                    <a:bodyPr/>
                    <a:lstStyle/>
                    <a:p>
                      <a:endParaRPr lang="en-US"/>
                    </a:p>
                  </a:txBody>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rPr>
                        <a:t>I can get to the right answer, but I don’t understand it well enough to explain it yet.</a:t>
                      </a:r>
                    </a:p>
                    <a:p>
                      <a:pPr marL="0" marR="0">
                        <a:lnSpc>
                          <a:spcPct val="107000"/>
                        </a:lnSpc>
                        <a:spcBef>
                          <a:spcPts val="0"/>
                        </a:spcBef>
                        <a:spcAft>
                          <a:spcPts val="0"/>
                        </a:spcAft>
                      </a:pP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52457" marR="52457" marT="26229" marB="26229">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497966090"/>
                  </a:ext>
                </a:extLst>
              </a:tr>
              <a:tr h="1102673">
                <a:tc vMerge="1">
                  <a:txBody>
                    <a:bodyPr/>
                    <a:lstStyle/>
                    <a:p>
                      <a:endParaRPr lang="en-US"/>
                    </a:p>
                  </a:txBody>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rPr>
                        <a:t>I understand some of this, but I don’t understand all of it yet. I checked the boxes I think I do not understand.</a:t>
                      </a:r>
                    </a:p>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rPr>
                        <a:t> </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52457" marR="52457" marT="26229" marB="26229">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946932578"/>
                  </a:ext>
                </a:extLst>
              </a:tr>
              <a:tr h="1062889">
                <a:tc vMerge="1">
                  <a:txBody>
                    <a:bodyPr/>
                    <a:lstStyle/>
                    <a:p>
                      <a:endParaRPr lang="en-US"/>
                    </a:p>
                  </a:txBody>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rPr>
                        <a:t>I tried hard and I listened, but I am finding this challenging. I checked the boxes I think I do not understand.</a:t>
                      </a:r>
                      <a:endParaRPr lang="en-US" sz="1800" i="1" dirty="0">
                        <a:effectLst/>
                        <a:latin typeface="Verdana" panose="020B0604030504040204" pitchFamily="34" charset="0"/>
                        <a:ea typeface="Verdana" panose="020B0604030504040204" pitchFamily="34" charset="0"/>
                        <a:cs typeface="Cambria Math" panose="02040503050406030204" pitchFamily="18" charset="0"/>
                      </a:endParaRPr>
                    </a:p>
                  </a:txBody>
                  <a:tcPr marL="52457" marR="52457" marT="26229" marB="26229"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814469042"/>
                  </a:ext>
                </a:extLst>
              </a:tr>
            </a:tbl>
          </a:graphicData>
        </a:graphic>
      </p:graphicFrame>
      <p:sp>
        <p:nvSpPr>
          <p:cNvPr id="10" name="Up Arrow 311">
            <a:extLst>
              <a:ext uri="{FF2B5EF4-FFF2-40B4-BE49-F238E27FC236}">
                <a16:creationId xmlns:a16="http://schemas.microsoft.com/office/drawing/2014/main" id="{DA91CB0E-DAB4-405B-B5BA-44DD60BDECE5}"/>
              </a:ext>
            </a:extLst>
          </p:cNvPr>
          <p:cNvSpPr/>
          <p:nvPr/>
        </p:nvSpPr>
        <p:spPr>
          <a:xfrm>
            <a:off x="2620873" y="2257222"/>
            <a:ext cx="822520" cy="4272017"/>
          </a:xfrm>
          <a:prstGeom prst="upArrow">
            <a:avLst>
              <a:gd name="adj1" fmla="val 50000"/>
              <a:gd name="adj2" fmla="val 50000"/>
            </a:avLst>
          </a:prstGeom>
          <a:noFill/>
          <a:ln w="571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i="1" dirty="0">
                <a:latin typeface="Cambria Math" panose="02040503050406030204" pitchFamily="18" charset="0"/>
                <a:ea typeface="Cambria Math" panose="02040503050406030204" pitchFamily="18" charset="0"/>
                <a:cs typeface="Cambria Math" panose="02040503050406030204" pitchFamily="18" charset="0"/>
              </a:rPr>
              <a:t> </a:t>
            </a:r>
          </a:p>
        </p:txBody>
      </p:sp>
      <p:sp>
        <p:nvSpPr>
          <p:cNvPr id="11"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145</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4CE9D117-FAE6-F74F-940B-9CD1479755BE}"/>
              </a:ext>
            </a:extLst>
          </p:cNvPr>
          <p:cNvSpPr txBox="1"/>
          <p:nvPr/>
        </p:nvSpPr>
        <p:spPr>
          <a:xfrm>
            <a:off x="901700" y="422857"/>
            <a:ext cx="9357868" cy="2701958"/>
          </a:xfrm>
          <a:prstGeom prst="rect">
            <a:avLst/>
          </a:prstGeom>
          <a:noFill/>
        </p:spPr>
        <p:txBody>
          <a:bodyPr wrap="square" rtlCol="0">
            <a:spAutoFit/>
          </a:bodyPr>
          <a:lstStyle/>
          <a:p>
            <a:pPr marL="457200" indent="-457200">
              <a:lnSpc>
                <a:spcPct val="107000"/>
              </a:lnSpc>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Check the skills that you currently understand.</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Wingdings" panose="05000000000000000000" pitchFamily="2" charset="2"/>
              <a:buChar char=""/>
            </a:pPr>
            <a:r>
              <a:rPr lang="en-US" sz="2000" dirty="0">
                <a:latin typeface="Verdana" panose="020B0604030504040204" pitchFamily="34" charset="0"/>
                <a:ea typeface="Verdana" panose="020B0604030504040204" pitchFamily="34" charset="0"/>
                <a:cs typeface="Verdana" panose="020B0604030504040204" pitchFamily="34" charset="0"/>
              </a:rPr>
              <a:t>Determining the correct scale</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Wingdings" panose="05000000000000000000" pitchFamily="2" charset="2"/>
              <a:buChar char=""/>
            </a:pPr>
            <a:r>
              <a:rPr lang="en-US" sz="2000" dirty="0">
                <a:latin typeface="Verdana" panose="020B0604030504040204" pitchFamily="34" charset="0"/>
                <a:ea typeface="Verdana" panose="020B0604030504040204" pitchFamily="34" charset="0"/>
                <a:cs typeface="Verdana" panose="020B0604030504040204" pitchFamily="34" charset="0"/>
              </a:rPr>
              <a:t>Identifying the LCM of the denominators for coordinates that include fractions</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Wingdings" panose="05000000000000000000" pitchFamily="2" charset="2"/>
              <a:buChar char=""/>
            </a:pPr>
            <a:r>
              <a:rPr lang="en-US" sz="2000" dirty="0">
                <a:latin typeface="Verdana" panose="020B0604030504040204" pitchFamily="34" charset="0"/>
                <a:ea typeface="Verdana" panose="020B0604030504040204" pitchFamily="34" charset="0"/>
                <a:cs typeface="Verdana" panose="020B0604030504040204" pitchFamily="34" charset="0"/>
              </a:rPr>
              <a:t>Plotting ordered pairs that contain fractions</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Wingdings" panose="05000000000000000000" pitchFamily="2" charset="2"/>
              <a:buChar char=""/>
            </a:pPr>
            <a:r>
              <a:rPr lang="en-US" sz="2000" dirty="0">
                <a:latin typeface="Verdana" panose="020B0604030504040204" pitchFamily="34" charset="0"/>
                <a:ea typeface="Verdana" panose="020B0604030504040204" pitchFamily="34" charset="0"/>
                <a:cs typeface="Verdana" panose="020B0604030504040204" pitchFamily="34" charset="0"/>
              </a:rPr>
              <a:t>Plotting ordered pairs that contain decimals</a:t>
            </a:r>
            <a:endParaRPr lang="en-US" sz="2000" i="1"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Cambria Math" panose="02040503050406030204" pitchFamily="18" charset="0"/>
            </a:endParaRPr>
          </a:p>
        </p:txBody>
      </p:sp>
      <p:sp>
        <p:nvSpPr>
          <p:cNvPr id="6" name="Google Shape;282;g104476d1465_1_17"/>
          <p:cNvSpPr txBox="1"/>
          <p:nvPr/>
        </p:nvSpPr>
        <p:spPr>
          <a:xfrm>
            <a:off x="87244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145</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26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3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1331</TotalTime>
  <Words>1670</Words>
  <Application>Microsoft Office PowerPoint</Application>
  <PresentationFormat>Widescreen</PresentationFormat>
  <Paragraphs>339</Paragraphs>
  <Slides>34</Slides>
  <Notes>34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Arial Black</vt:lpstr>
      <vt:lpstr>Calibri</vt:lpstr>
      <vt:lpstr>Cambria Math</vt:lpstr>
      <vt:lpstr>Century Gothic</vt:lpstr>
      <vt:lpstr>Verdana</vt:lpstr>
      <vt:lpstr>Wingdings</vt:lpstr>
      <vt:lpstr>1_Office Theme</vt:lpstr>
      <vt:lpstr>6th Grade Accelerated Math  Unit 4, Lesson 2  Points on the Coordinate Plane – Part 1  Volume 1, pg. 138  </vt:lpstr>
      <vt:lpstr>Benchmark</vt:lpstr>
      <vt:lpstr>PowerPoint Presentation</vt:lpstr>
      <vt:lpstr>PowerPoint Presentation</vt:lpstr>
      <vt:lpstr>Warm-Up</vt:lpstr>
      <vt:lpstr>PowerPoint Presentation</vt:lpstr>
      <vt:lpstr>Refresher</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19</cp:revision>
  <dcterms:created xsi:type="dcterms:W3CDTF">2015-03-17T18:51:18Z</dcterms:created>
  <dcterms:modified xsi:type="dcterms:W3CDTF">2022-06-29T05:21:30Z</dcterms:modified>
</cp:coreProperties>
</file>