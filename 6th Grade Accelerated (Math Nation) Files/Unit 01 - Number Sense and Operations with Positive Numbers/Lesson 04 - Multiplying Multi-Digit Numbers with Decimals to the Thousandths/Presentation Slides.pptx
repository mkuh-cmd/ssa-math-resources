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hlSdpPJIXehZ5d/4zhiAK+i1wD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8563"/>
    <p:restoredTop sz="94663"/>
  </p:normalViewPr>
  <p:slideViewPr>
    <p:cSldViewPr snapToGrid="0">
      <p:cViewPr varScale="1">
        <p:scale>
          <a:sx n="79" d="100"/>
          <a:sy n="79" d="100"/>
        </p:scale>
        <p:origin x="1426"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 Id="rId5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1e50cb373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111e50cb373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g111e50cb373_0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111e50cb373_0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g111e50cb373_0_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5" name="Google Shape;185;g111e50cb373_0_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111e50cb373_0_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g111e50cb373_0_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9" name="Google Shape;199;g111e50cb373_0_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11e50cb373_0_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g111e50cb373_0_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9" name="Google Shape;209;g111e50cb373_0_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111e50cb373_1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7" name="Google Shape;217;g111e50cb373_1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8" name="Google Shape;218;g111e50cb373_1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111e50cb373_1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8" name="Google Shape;228;g111e50cb373_1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9" name="Google Shape;229;g111e50cb373_1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111e50cb373_1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g111e50cb373_1_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g111e50cb373_1_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111e50cb373_1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g111e50cb373_1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g111e50cb373_1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111e50cb373_1_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9" name="Google Shape;259;g111e50cb373_1_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0" name="Google Shape;260;g111e50cb373_1_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111e50cb373_1_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9" name="Google Shape;269;g111e50cb373_1_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0" name="Google Shape;270;g111e50cb373_1_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111e50cb373_1_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g111e50cb373_1_6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0" name="Google Shape;280;g111e50cb373_1_6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111e50cb373_1_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111e50cb373_1_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0" name="Google Shape;290;g111e50cb373_1_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111e50cb373_1_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g111e50cb373_1_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0" name="Google Shape;300;g111e50cb373_1_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111e50cb373_1_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8" name="Google Shape;308;g111e50cb373_1_1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9" name="Google Shape;309;g111e50cb373_1_1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111e50cb373_1_1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g111e50cb373_1_1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9" name="Google Shape;319;g111e50cb373_1_1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111e50cb373_1_1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0" name="Google Shape;330;g111e50cb373_1_1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1" name="Google Shape;331;g111e50cb373_1_1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111e50cb373_1_1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0" name="Google Shape;340;g111e50cb373_1_1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1" name="Google Shape;341;g111e50cb373_1_16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111e50cb373_1_1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9" name="Google Shape;349;g111e50cb373_1_1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0" name="Google Shape;350;g111e50cb373_1_1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111e50cb373_1_1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g111e50cb373_1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0" name="Google Shape;360;g111e50cb373_1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111e50cb373_1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0" name="Google Shape;370;g111e50cb373_1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1" name="Google Shape;371;g111e50cb373_1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111e50cb373_1_2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0" name="Google Shape;380;g111e50cb373_1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1" name="Google Shape;381;g111e50cb373_1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111e50cb373_1_2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1" name="Google Shape;391;g111e50cb373_1_2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2" name="Google Shape;392;g111e50cb373_1_2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111e50cb373_1_2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1" name="Google Shape;401;g111e50cb373_1_2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2" name="Google Shape;402;g111e50cb373_1_2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698425" y="2054275"/>
            <a:ext cx="4969500" cy="3194400"/>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800" b="1">
                <a:solidFill>
                  <a:srgbClr val="417DBF"/>
                </a:solidFill>
                <a:latin typeface="Verdana"/>
                <a:ea typeface="Verdana"/>
                <a:cs typeface="Verdana"/>
                <a:sym typeface="Verdana"/>
              </a:rPr>
              <a:t>6th Grade Accelerated Math</a:t>
            </a:r>
            <a:br>
              <a:rPr lang="en-US" sz="3800" b="1">
                <a:solidFill>
                  <a:srgbClr val="417DBF"/>
                </a:solidFill>
                <a:latin typeface="Verdana"/>
                <a:ea typeface="Verdana"/>
                <a:cs typeface="Verdana"/>
                <a:sym typeface="Verdana"/>
              </a:rPr>
            </a:br>
            <a:endParaRPr sz="3800" b="1">
              <a:solidFill>
                <a:srgbClr val="417DBF"/>
              </a:solidFill>
              <a:latin typeface="Verdana"/>
              <a:ea typeface="Verdana"/>
              <a:cs typeface="Verdana"/>
              <a:sym typeface="Verdana"/>
            </a:endParaRPr>
          </a:p>
          <a:p>
            <a:pPr algn="ctr">
              <a:lnSpc>
                <a:spcPct val="100000"/>
              </a:lnSpc>
              <a:buClr>
                <a:srgbClr val="000000"/>
              </a:buClr>
            </a:pPr>
            <a:r>
              <a:rPr lang="en-US" sz="3800" b="1">
                <a:solidFill>
                  <a:srgbClr val="417DBF"/>
                </a:solidFill>
                <a:latin typeface="Verdana"/>
                <a:ea typeface="Verdana"/>
                <a:cs typeface="Verdana"/>
                <a:sym typeface="Verdana"/>
              </a:rPr>
              <a:t>Unit 1, Lesson 4</a:t>
            </a:r>
            <a:br>
              <a:rPr lang="en-US" sz="3800" b="1">
                <a:solidFill>
                  <a:srgbClr val="417DBF"/>
                </a:solidFill>
                <a:latin typeface="Verdana"/>
                <a:ea typeface="Verdana"/>
                <a:cs typeface="Verdana"/>
                <a:sym typeface="Verdana"/>
              </a:rPr>
            </a:br>
            <a:br>
              <a:rPr lang="en-US" sz="3800" b="1">
                <a:solidFill>
                  <a:srgbClr val="417DBF"/>
                </a:solidFill>
                <a:latin typeface="Verdana"/>
                <a:ea typeface="Verdana"/>
                <a:cs typeface="Verdana"/>
                <a:sym typeface="Verdana"/>
              </a:rPr>
            </a:br>
            <a:r>
              <a:rPr lang="en-US" b="1">
                <a:solidFill>
                  <a:srgbClr val="417DBF"/>
                </a:solidFill>
                <a:latin typeface="Verdana"/>
                <a:ea typeface="Verdana"/>
                <a:cs typeface="Verdana"/>
                <a:sym typeface="Verdana"/>
              </a:rPr>
              <a:t>Multiplying Multi-Digit Numbers with Decimals to the Thousandths</a:t>
            </a:r>
            <a:br>
              <a:rPr lang="en-US" sz="3800" b="1">
                <a:solidFill>
                  <a:srgbClr val="417DBF"/>
                </a:solidFill>
                <a:latin typeface="Verdana"/>
                <a:ea typeface="Verdana"/>
                <a:cs typeface="Verdana"/>
                <a:sym typeface="Verdana"/>
              </a:rPr>
            </a:br>
            <a:br>
              <a:rPr lang="en-US" sz="3800" b="1">
                <a:solidFill>
                  <a:srgbClr val="417DBF"/>
                </a:solidFill>
                <a:latin typeface="Verdana"/>
                <a:ea typeface="Verdana"/>
                <a:cs typeface="Verdana"/>
                <a:sym typeface="Verdana"/>
              </a:rPr>
            </a:br>
            <a:r>
              <a:rPr lang="en-US" sz="2800" b="1">
                <a:solidFill>
                  <a:srgbClr val="417DBF"/>
                </a:solidFill>
                <a:latin typeface="Verdana"/>
                <a:ea typeface="Verdana"/>
                <a:cs typeface="Verdana"/>
                <a:sym typeface="Verdana"/>
              </a:rPr>
              <a:t>Volume 1, pg. 20</a:t>
            </a:r>
            <a:endParaRPr/>
          </a:p>
          <a:p>
            <a:pPr algn="ctr">
              <a:lnSpc>
                <a:spcPct val="100000"/>
              </a:lnSpc>
              <a:buClr>
                <a:srgbClr val="000000"/>
              </a:buClr>
            </a:pPr>
            <a:endParaRPr sz="3400" b="1">
              <a:solidFill>
                <a:srgbClr val="417DBF"/>
              </a:solidFill>
              <a:latin typeface="Verdana"/>
              <a:ea typeface="Verdana"/>
              <a:cs typeface="Verdana"/>
              <a:sym typeface="Verdana"/>
            </a:endParaRPr>
          </a:p>
          <a:p>
            <a:pPr algn="ctr">
              <a:lnSpc>
                <a:spcPct val="75000"/>
              </a:lnSpc>
            </a:pPr>
            <a:endParaRPr sz="310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0"/>
            <a:ext cx="4094106"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11640" y="1526626"/>
            <a:ext cx="3270825" cy="3812847"/>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321250" y="98563"/>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a:solidFill>
                  <a:srgbClr val="54B5D1"/>
                </a:solidFill>
                <a:latin typeface="Verdana"/>
                <a:ea typeface="Verdana"/>
                <a:cs typeface="Verdana"/>
                <a:sym typeface="Verdana"/>
              </a:rPr>
              <a:t>Benchmark</a:t>
            </a:r>
            <a:endParaRPr sz="3700" b="1">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497750" y="334338"/>
            <a:ext cx="747300" cy="747300"/>
          </a:xfrm>
          <a:prstGeom prst="rect">
            <a:avLst/>
          </a:prstGeom>
          <a:noFill/>
          <a:ln>
            <a:noFill/>
          </a:ln>
          <a:effectLst>
            <a:outerShdw blurRad="57150" dist="19050" dir="5400000" algn="bl" rotWithShape="0">
              <a:srgbClr val="000000">
                <a:alpha val="49411"/>
              </a:srgbClr>
            </a:outerShdw>
          </a:effectLst>
        </p:spPr>
      </p:pic>
      <p:sp>
        <p:nvSpPr>
          <p:cNvPr id="125"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20</a:t>
            </a:r>
            <a:endParaRPr i="1">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
        <p:nvSpPr>
          <p:cNvPr id="127" name="Google Shape;127;g104476d1465_1_17"/>
          <p:cNvSpPr txBox="1"/>
          <p:nvPr/>
        </p:nvSpPr>
        <p:spPr>
          <a:xfrm>
            <a:off x="1321250" y="1600200"/>
            <a:ext cx="8889550"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3500">
                <a:solidFill>
                  <a:schemeClr val="dk1"/>
                </a:solidFill>
                <a:latin typeface="Verdana"/>
                <a:ea typeface="Verdana"/>
                <a:cs typeface="Verdana"/>
                <a:sym typeface="Verdana"/>
              </a:rPr>
              <a:t>MA.6.NSO.2.1</a:t>
            </a:r>
            <a:endParaRPr sz="3500">
              <a:solidFill>
                <a:schemeClr val="dk1"/>
              </a:solidFill>
              <a:latin typeface="Verdana"/>
              <a:ea typeface="Verdana"/>
              <a:cs typeface="Verdana"/>
              <a:sym typeface="Verdana"/>
            </a:endParaRPr>
          </a:p>
          <a:p>
            <a:pPr marL="457200">
              <a:lnSpc>
                <a:spcPct val="90000"/>
              </a:lnSpc>
              <a:spcBef>
                <a:spcPts val="750"/>
              </a:spcBef>
              <a:buClr>
                <a:schemeClr val="dk1"/>
              </a:buClr>
              <a:buSzPts val="2100"/>
            </a:pPr>
            <a:r>
              <a:rPr lang="en-US" sz="3500" dirty="0">
                <a:solidFill>
                  <a:schemeClr val="dk1"/>
                </a:solidFill>
                <a:latin typeface="Verdana"/>
                <a:ea typeface="Verdana"/>
                <a:cs typeface="Verdana"/>
                <a:sym typeface="Verdana"/>
              </a:rPr>
              <a:t>Multiply and divide positive multi-digit numbers with decimals to the thousandths, including using a standard algorithm with procedural fluency.</a:t>
            </a:r>
            <a:endParaRPr sz="2100" dirty="0">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1"/>
          <p:cNvPicPr preferRelativeResize="0"/>
          <p:nvPr/>
        </p:nvPicPr>
        <p:blipFill rotWithShape="1">
          <a:blip r:embed="rId3">
            <a:alphaModFix/>
          </a:blip>
          <a:srcRect/>
          <a:stretch/>
        </p:blipFill>
        <p:spPr>
          <a:xfrm>
            <a:off x="664750" y="385000"/>
            <a:ext cx="747300" cy="747300"/>
          </a:xfrm>
          <a:prstGeom prst="rect">
            <a:avLst/>
          </a:prstGeom>
          <a:noFill/>
          <a:ln>
            <a:noFill/>
          </a:ln>
          <a:effectLst>
            <a:outerShdw blurRad="57150" dist="19050" dir="5400000" algn="bl" rotWithShape="0">
              <a:srgbClr val="000000">
                <a:alpha val="49411"/>
              </a:srgbClr>
            </a:outerShdw>
          </a:effectLst>
        </p:spPr>
      </p:pic>
      <p:sp>
        <p:nvSpPr>
          <p:cNvPr id="135" name="Google Shape;135;p1"/>
          <p:cNvSpPr txBox="1"/>
          <p:nvPr/>
        </p:nvSpPr>
        <p:spPr>
          <a:xfrm>
            <a:off x="1489400" y="142367"/>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7" name="Google Shape;137;p1"/>
          <p:cNvSpPr txBox="1"/>
          <p:nvPr/>
        </p:nvSpPr>
        <p:spPr>
          <a:xfrm>
            <a:off x="1489400" y="1596400"/>
            <a:ext cx="8721575" cy="4205700"/>
          </a:xfrm>
          <a:prstGeom prst="rect">
            <a:avLst/>
          </a:prstGeom>
          <a:noFill/>
          <a:ln>
            <a:noFill/>
          </a:ln>
        </p:spPr>
        <p:txBody>
          <a:bodyPr spcFirstLastPara="1" wrap="square" lIns="91425" tIns="45700" rIns="91425" bIns="45700" anchor="t" anchorCtr="0">
            <a:noAutofit/>
          </a:bodyPr>
          <a:lstStyle/>
          <a:p>
            <a:pPr marL="457200">
              <a:buSzPts val="1800"/>
            </a:pPr>
            <a:endParaRPr sz="1800">
              <a:solidFill>
                <a:schemeClr val="dk1"/>
              </a:solidFill>
              <a:latin typeface="Verdana"/>
              <a:ea typeface="Verdana"/>
              <a:cs typeface="Verdana"/>
              <a:sym typeface="Verdana"/>
            </a:endParaRPr>
          </a:p>
          <a:p>
            <a:pPr>
              <a:buSzPts val="1800"/>
            </a:pPr>
            <a:r>
              <a:rPr lang="en-US" sz="2400" dirty="0">
                <a:solidFill>
                  <a:schemeClr val="dk1"/>
                </a:solidFill>
                <a:latin typeface="Verdana"/>
                <a:ea typeface="Verdana"/>
                <a:cs typeface="Verdana"/>
                <a:sym typeface="Verdana"/>
              </a:rPr>
              <a:t>MA.K12.MTR.2.1 Demonstrate understanding by representing problems in multiple ways.</a:t>
            </a:r>
            <a:endParaRPr sz="2400" dirty="0">
              <a:latin typeface="Verdana"/>
              <a:ea typeface="Verdana"/>
              <a:cs typeface="Verdana"/>
              <a:sym typeface="Verdana"/>
            </a:endParaRPr>
          </a:p>
          <a:p>
            <a:pPr marL="457200">
              <a:buSzPts val="1800"/>
            </a:pPr>
            <a:endParaRPr sz="2400" dirty="0">
              <a:solidFill>
                <a:schemeClr val="dk1"/>
              </a:solidFill>
              <a:latin typeface="Verdana"/>
              <a:ea typeface="Verdana"/>
              <a:cs typeface="Verdana"/>
              <a:sym typeface="Verdana"/>
            </a:endParaRPr>
          </a:p>
          <a:p>
            <a:pPr>
              <a:buSzPts val="1800"/>
            </a:pPr>
            <a:r>
              <a:rPr lang="en-US" sz="2400" dirty="0">
                <a:solidFill>
                  <a:schemeClr val="dk1"/>
                </a:solidFill>
                <a:latin typeface="Verdana"/>
                <a:ea typeface="Verdana"/>
                <a:cs typeface="Verdana"/>
                <a:sym typeface="Verdana"/>
              </a:rPr>
              <a:t>MA.K12.MTR.3.1 Complete tasks with mathematical fluency.</a:t>
            </a:r>
            <a:endParaRPr sz="2400" dirty="0">
              <a:latin typeface="Verdana"/>
              <a:ea typeface="Verdana"/>
              <a:cs typeface="Verdana"/>
              <a:sym typeface="Verdana"/>
            </a:endParaRPr>
          </a:p>
          <a:p>
            <a:pPr marL="457200">
              <a:buSzPts val="1800"/>
            </a:pPr>
            <a:endParaRPr sz="1800" dirty="0">
              <a:solidFill>
                <a:schemeClr val="dk1"/>
              </a:solidFill>
              <a:latin typeface="Verdana"/>
              <a:ea typeface="Verdana"/>
              <a:cs typeface="Verdana"/>
              <a:sym typeface="Verdana"/>
            </a:endParaRPr>
          </a:p>
          <a:p>
            <a:pPr>
              <a:buSzPts val="1800"/>
            </a:pPr>
            <a:endParaRPr sz="1800" dirty="0">
              <a:solidFill>
                <a:schemeClr val="dk1"/>
              </a:solidFill>
              <a:latin typeface="Verdana"/>
              <a:ea typeface="Verdana"/>
              <a:cs typeface="Verdana"/>
              <a:sym typeface="Verdana"/>
            </a:endParaRPr>
          </a:p>
        </p:txBody>
      </p:sp>
      <p:sp>
        <p:nvSpPr>
          <p:cNvPr id="138" name="Google Shape;138;p1"/>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20</a:t>
            </a:r>
            <a:endParaRPr i="1">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5" name="Google Shape;145;p2"/>
          <p:cNvSpPr txBox="1"/>
          <p:nvPr/>
        </p:nvSpPr>
        <p:spPr>
          <a:xfrm>
            <a:off x="1374075" y="0"/>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a:solidFill>
                  <a:srgbClr val="52BDA6"/>
                </a:solidFill>
                <a:latin typeface="Verdana"/>
                <a:ea typeface="Verdana"/>
                <a:cs typeface="Verdana"/>
                <a:sym typeface="Verdana"/>
              </a:rPr>
              <a:t>Learning Target</a:t>
            </a:r>
            <a:endParaRPr/>
          </a:p>
        </p:txBody>
      </p:sp>
      <p:pic>
        <p:nvPicPr>
          <p:cNvPr id="146" name="Google Shape;146;p2"/>
          <p:cNvPicPr preferRelativeResize="0"/>
          <p:nvPr/>
        </p:nvPicPr>
        <p:blipFill rotWithShape="1">
          <a:blip r:embed="rId3">
            <a:alphaModFix/>
          </a:blip>
          <a:srcRect/>
          <a:stretch/>
        </p:blipFill>
        <p:spPr>
          <a:xfrm>
            <a:off x="591913" y="289200"/>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1374075" y="1600200"/>
            <a:ext cx="8836725" cy="4205700"/>
          </a:xfrm>
          <a:prstGeom prst="rect">
            <a:avLst/>
          </a:prstGeom>
          <a:noFill/>
          <a:ln>
            <a:noFill/>
          </a:ln>
        </p:spPr>
        <p:txBody>
          <a:bodyPr spcFirstLastPara="1" wrap="square" lIns="91425" tIns="45700" rIns="91425" bIns="45700" anchor="t" anchorCtr="0">
            <a:noAutofit/>
          </a:bodyPr>
          <a:lstStyle/>
          <a:p>
            <a:pPr marL="457200" indent="-450850">
              <a:buClr>
                <a:srgbClr val="434343"/>
              </a:buClr>
              <a:buSzPts val="3500"/>
              <a:buFont typeface="Verdana"/>
              <a:buChar char="❏"/>
            </a:pPr>
            <a:r>
              <a:rPr lang="en-US" sz="3500">
                <a:solidFill>
                  <a:schemeClr val="dk1"/>
                </a:solidFill>
                <a:latin typeface="Verdana"/>
                <a:ea typeface="Verdana"/>
                <a:cs typeface="Verdana"/>
                <a:sym typeface="Verdana"/>
              </a:rPr>
              <a:t>I can fluently multiply multi-digit numbers with decimals to the thousandths.</a:t>
            </a:r>
            <a:endParaRPr/>
          </a:p>
          <a:p>
            <a:pPr marL="457200"/>
            <a:endParaRPr dirty="0"/>
          </a:p>
        </p:txBody>
      </p:sp>
      <p:sp>
        <p:nvSpPr>
          <p:cNvPr id="149" name="Google Shape;149;p2"/>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20</a:t>
            </a:r>
            <a:endParaRPr i="1">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7"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20</a:t>
            </a:r>
            <a:endParaRPr i="1">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6" name="Google Shape;166;p4"/>
          <p:cNvSpPr txBox="1"/>
          <p:nvPr/>
        </p:nvSpPr>
        <p:spPr>
          <a:xfrm>
            <a:off x="1351450" y="60325"/>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3F2A67"/>
                </a:solidFill>
                <a:latin typeface="Verdana"/>
                <a:ea typeface="Verdana"/>
                <a:cs typeface="Verdana"/>
                <a:sym typeface="Verdana"/>
              </a:rPr>
              <a:t>1.4.1 Warm-Up: Decimal Products</a:t>
            </a:r>
            <a:endParaRPr/>
          </a:p>
        </p:txBody>
      </p:sp>
      <p:pic>
        <p:nvPicPr>
          <p:cNvPr id="167" name="Google Shape;167;p4"/>
          <p:cNvPicPr preferRelativeResize="0"/>
          <p:nvPr/>
        </p:nvPicPr>
        <p:blipFill rotWithShape="1">
          <a:blip r:embed="rId3">
            <a:alphaModFix/>
          </a:blip>
          <a:srcRect/>
          <a:stretch/>
        </p:blipFill>
        <p:spPr>
          <a:xfrm>
            <a:off x="604150" y="197485"/>
            <a:ext cx="747300" cy="747300"/>
          </a:xfrm>
          <a:prstGeom prst="rect">
            <a:avLst/>
          </a:prstGeom>
          <a:noFill/>
          <a:ln>
            <a:noFill/>
          </a:ln>
          <a:effectLst>
            <a:outerShdw blurRad="50800" dist="38100" dir="2700000" algn="tl" rotWithShape="0">
              <a:srgbClr val="000000">
                <a:alpha val="40000"/>
              </a:srgbClr>
            </a:outerShdw>
          </a:effectLst>
        </p:spPr>
      </p:pic>
      <p:sp>
        <p:nvSpPr>
          <p:cNvPr id="169" name="Google Shape;169;p4"/>
          <p:cNvSpPr txBox="1"/>
          <p:nvPr/>
        </p:nvSpPr>
        <p:spPr>
          <a:xfrm>
            <a:off x="1351450" y="1386025"/>
            <a:ext cx="9036098" cy="1200600"/>
          </a:xfrm>
          <a:prstGeom prst="rect">
            <a:avLst/>
          </a:prstGeom>
          <a:noFill/>
          <a:ln>
            <a:noFill/>
          </a:ln>
        </p:spPr>
        <p:txBody>
          <a:bodyPr spcFirstLastPara="1" wrap="square" lIns="91425" tIns="45700" rIns="91425" bIns="45700" anchor="t" anchorCtr="0">
            <a:spAutoFit/>
          </a:bodyPr>
          <a:lstStyle/>
          <a:p>
            <a:pPr marL="465138" indent="-465138">
              <a:buSzPts val="2400"/>
            </a:pPr>
            <a:r>
              <a:rPr lang="en-US" sz="2400" dirty="0">
                <a:latin typeface="Verdana"/>
                <a:ea typeface="Verdana"/>
                <a:cs typeface="Verdana"/>
                <a:sym typeface="Verdana"/>
              </a:rPr>
              <a:t>1. Place a digit in each blue box so that the product is as close to </a:t>
            </a:r>
            <a:r>
              <a:rPr lang="en-US" sz="2400" dirty="0">
                <a:latin typeface="Cambria Math"/>
                <a:ea typeface="Cambria Math"/>
                <a:cs typeface="Cambria Math"/>
                <a:sym typeface="Cambria Math"/>
              </a:rPr>
              <a:t>50</a:t>
            </a:r>
            <a:r>
              <a:rPr lang="en-US" sz="2400" dirty="0">
                <a:latin typeface="Verdana"/>
                <a:ea typeface="Verdana"/>
                <a:cs typeface="Verdana"/>
                <a:sym typeface="Verdana"/>
              </a:rPr>
              <a:t> as possible. Use only digits </a:t>
            </a:r>
            <a:r>
              <a:rPr lang="en-US" sz="2400" dirty="0">
                <a:latin typeface="Cambria Math"/>
                <a:ea typeface="Cambria Math"/>
                <a:cs typeface="Cambria Math"/>
                <a:sym typeface="Cambria Math"/>
              </a:rPr>
              <a:t>1</a:t>
            </a:r>
            <a:r>
              <a:rPr lang="en-US" sz="2400" dirty="0">
                <a:latin typeface="Verdana"/>
                <a:ea typeface="Verdana"/>
                <a:cs typeface="Verdana"/>
                <a:sym typeface="Verdana"/>
              </a:rPr>
              <a:t> to </a:t>
            </a:r>
            <a:r>
              <a:rPr lang="en-US" sz="2400" dirty="0">
                <a:latin typeface="Cambria Math"/>
                <a:ea typeface="Cambria Math"/>
                <a:cs typeface="Cambria Math"/>
                <a:sym typeface="Cambria Math"/>
              </a:rPr>
              <a:t>9</a:t>
            </a:r>
            <a:r>
              <a:rPr lang="en-US" sz="2400" dirty="0">
                <a:latin typeface="Verdana"/>
                <a:ea typeface="Verdana"/>
                <a:cs typeface="Verdana"/>
                <a:sym typeface="Verdana"/>
              </a:rPr>
              <a:t>, at most one time each.</a:t>
            </a:r>
            <a:endParaRPr dirty="0"/>
          </a:p>
        </p:txBody>
      </p:sp>
      <p:sp>
        <p:nvSpPr>
          <p:cNvPr id="170" name="Google Shape;170;p4"/>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pic>
        <p:nvPicPr>
          <p:cNvPr id="171" name="Google Shape;171;p4"/>
          <p:cNvPicPr preferRelativeResize="0"/>
          <p:nvPr/>
        </p:nvPicPr>
        <p:blipFill>
          <a:blip r:embed="rId4">
            <a:alphaModFix/>
          </a:blip>
          <a:stretch>
            <a:fillRect/>
          </a:stretch>
        </p:blipFill>
        <p:spPr>
          <a:xfrm>
            <a:off x="2135526" y="3133400"/>
            <a:ext cx="6978275" cy="1576900"/>
          </a:xfrm>
          <a:prstGeom prst="rect">
            <a:avLst/>
          </a:prstGeom>
          <a:noFill/>
          <a:ln>
            <a:noFill/>
          </a:ln>
        </p:spPr>
      </p:pic>
      <p:sp>
        <p:nvSpPr>
          <p:cNvPr id="9"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20</a:t>
            </a:r>
            <a:endParaRPr i="1">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g111e50cb373_0_7"/>
          <p:cNvSpPr/>
          <p:nvPr/>
        </p:nvSpPr>
        <p:spPr>
          <a:xfrm>
            <a:off x="0" y="-8226"/>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79" name="Google Shape;179;g111e50cb373_0_7"/>
          <p:cNvSpPr txBox="1">
            <a:spLocks noGrp="1"/>
          </p:cNvSpPr>
          <p:nvPr>
            <p:ph type="title" idx="4294967295"/>
          </p:nvPr>
        </p:nvSpPr>
        <p:spPr>
          <a:xfrm>
            <a:off x="5518563" y="2766145"/>
            <a:ext cx="44808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54B5D1"/>
                </a:solidFill>
                <a:latin typeface="Verdana"/>
                <a:ea typeface="Verdana"/>
                <a:cs typeface="Verdana"/>
                <a:sym typeface="Verdana"/>
              </a:rPr>
              <a:t>Refresher</a:t>
            </a:r>
            <a:endParaRPr sz="5100" b="1">
              <a:solidFill>
                <a:srgbClr val="54B5D1"/>
              </a:solidFill>
              <a:latin typeface="Verdana"/>
              <a:ea typeface="Verdana"/>
              <a:cs typeface="Verdana"/>
              <a:sym typeface="Verdana"/>
            </a:endParaRPr>
          </a:p>
        </p:txBody>
      </p:sp>
      <p:pic>
        <p:nvPicPr>
          <p:cNvPr id="181" name="Google Shape;181;g111e50cb373_0_7" descr="Icon&#10;&#10;Description automatically generated"/>
          <p:cNvPicPr preferRelativeResize="0"/>
          <p:nvPr/>
        </p:nvPicPr>
        <p:blipFill rotWithShape="1">
          <a:blip r:embed="rId3">
            <a:alphaModFix/>
          </a:blip>
          <a:srcRect/>
          <a:stretch/>
        </p:blipFill>
        <p:spPr>
          <a:xfrm>
            <a:off x="4492434" y="279196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21</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8" name="Google Shape;188;g111e50cb373_0_16"/>
          <p:cNvSpPr txBox="1"/>
          <p:nvPr/>
        </p:nvSpPr>
        <p:spPr>
          <a:xfrm>
            <a:off x="1338750" y="-2742"/>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54B5D1"/>
                </a:solidFill>
                <a:latin typeface="Verdana"/>
                <a:ea typeface="Verdana"/>
                <a:cs typeface="Verdana"/>
                <a:sym typeface="Verdana"/>
              </a:rPr>
              <a:t>1.4.2 Refresher:  Reasoning with Powers of Ten</a:t>
            </a:r>
            <a:endParaRPr dirty="0"/>
          </a:p>
        </p:txBody>
      </p:sp>
      <p:pic>
        <p:nvPicPr>
          <p:cNvPr id="189" name="Google Shape;189;g111e50cb373_0_16"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49121" y="212052"/>
            <a:ext cx="749808" cy="749808"/>
          </a:xfrm>
          <a:prstGeom prst="rect">
            <a:avLst/>
          </a:prstGeom>
          <a:noFill/>
          <a:ln>
            <a:noFill/>
          </a:ln>
          <a:effectLst>
            <a:outerShdw blurRad="50800" dist="38100" dir="2700000" algn="tl" rotWithShape="0">
              <a:srgbClr val="000000">
                <a:alpha val="40000"/>
              </a:srgbClr>
            </a:outerShdw>
          </a:effectLst>
        </p:spPr>
      </p:pic>
      <p:sp>
        <p:nvSpPr>
          <p:cNvPr id="190" name="Google Shape;190;g111e50cb373_0_16"/>
          <p:cNvSpPr txBox="1"/>
          <p:nvPr/>
        </p:nvSpPr>
        <p:spPr>
          <a:xfrm>
            <a:off x="1338750" y="1403788"/>
            <a:ext cx="8996151" cy="400200"/>
          </a:xfrm>
          <a:prstGeom prst="rect">
            <a:avLst/>
          </a:prstGeom>
          <a:noFill/>
          <a:ln>
            <a:noFill/>
          </a:ln>
        </p:spPr>
        <p:txBody>
          <a:bodyPr spcFirstLastPara="1" wrap="square" lIns="91425" tIns="45700" rIns="91425" bIns="45700" anchor="t" anchorCtr="0">
            <a:spAutoFit/>
          </a:bodyPr>
          <a:lstStyle/>
          <a:p>
            <a:pPr>
              <a:buSzPts val="2400"/>
            </a:pPr>
            <a:r>
              <a:rPr lang="en-US" sz="2000">
                <a:latin typeface="Verdana"/>
                <a:ea typeface="Verdana"/>
                <a:cs typeface="Verdana"/>
                <a:sym typeface="Verdana"/>
              </a:rPr>
              <a:t>Several expressions are shown.</a:t>
            </a:r>
            <a:endParaRPr sz="1000"/>
          </a:p>
        </p:txBody>
      </p:sp>
      <p:sp>
        <p:nvSpPr>
          <p:cNvPr id="191" name="Google Shape;191;g111e50cb373_0_16"/>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0"/>
              </a:srgbClr>
            </a:outerShdw>
          </a:effectLst>
        </p:spPr>
        <p:txBody>
          <a:bodyPr spcFirstLastPara="1" wrap="square" lIns="91425" tIns="91425" rIns="91425" bIns="91425" anchor="ctr" anchorCtr="0">
            <a:noAutofit/>
          </a:bodyPr>
          <a:lstStyle/>
          <a:p>
            <a:pPr>
              <a:buSzPts val="1400"/>
            </a:pPr>
            <a:endParaRPr/>
          </a:p>
        </p:txBody>
      </p:sp>
      <p:pic>
        <p:nvPicPr>
          <p:cNvPr id="192" name="Google Shape;192;g111e50cb373_0_16"/>
          <p:cNvPicPr preferRelativeResize="0"/>
          <p:nvPr/>
        </p:nvPicPr>
        <p:blipFill>
          <a:blip r:embed="rId4">
            <a:alphaModFix/>
          </a:blip>
          <a:stretch>
            <a:fillRect/>
          </a:stretch>
        </p:blipFill>
        <p:spPr>
          <a:xfrm>
            <a:off x="2627362" y="1884818"/>
            <a:ext cx="6730688" cy="1259632"/>
          </a:xfrm>
          <a:prstGeom prst="rect">
            <a:avLst/>
          </a:prstGeom>
          <a:noFill/>
          <a:ln>
            <a:noFill/>
          </a:ln>
        </p:spPr>
      </p:pic>
      <p:sp>
        <p:nvSpPr>
          <p:cNvPr id="193" name="Google Shape;193;g111e50cb373_0_16"/>
          <p:cNvSpPr txBox="1"/>
          <p:nvPr/>
        </p:nvSpPr>
        <p:spPr>
          <a:xfrm>
            <a:off x="1338750" y="3182400"/>
            <a:ext cx="9048800" cy="800400"/>
          </a:xfrm>
          <a:prstGeom prst="rect">
            <a:avLst/>
          </a:prstGeom>
          <a:noFill/>
          <a:ln>
            <a:noFill/>
          </a:ln>
        </p:spPr>
        <p:txBody>
          <a:bodyPr spcFirstLastPara="1" wrap="square" lIns="91425" tIns="91425" rIns="91425" bIns="91425" anchor="t" anchorCtr="0">
            <a:spAutoFit/>
          </a:bodyPr>
          <a:lstStyle/>
          <a:p>
            <a:pPr marL="350838" indent="-350838"/>
            <a:r>
              <a:rPr lang="en-US" sz="2000" dirty="0">
                <a:latin typeface="Verdana"/>
                <a:ea typeface="Verdana"/>
                <a:cs typeface="Verdana"/>
                <a:sym typeface="Verdana"/>
              </a:rPr>
              <a:t>1. Work with your partner to complete the table by writing the expressions that match each value indicated.</a:t>
            </a:r>
            <a:endParaRPr sz="2000" dirty="0">
              <a:latin typeface="Verdana"/>
              <a:ea typeface="Verdana"/>
              <a:cs typeface="Verdana"/>
              <a:sym typeface="Verdana"/>
            </a:endParaRPr>
          </a:p>
        </p:txBody>
      </p:sp>
      <p:pic>
        <p:nvPicPr>
          <p:cNvPr id="194" name="Google Shape;194;g111e50cb373_0_16"/>
          <p:cNvPicPr preferRelativeResize="0"/>
          <p:nvPr/>
        </p:nvPicPr>
        <p:blipFill>
          <a:blip r:embed="rId5">
            <a:alphaModFix/>
          </a:blip>
          <a:stretch>
            <a:fillRect/>
          </a:stretch>
        </p:blipFill>
        <p:spPr>
          <a:xfrm>
            <a:off x="2456689" y="4020750"/>
            <a:ext cx="7604515" cy="2179850"/>
          </a:xfrm>
          <a:prstGeom prst="rect">
            <a:avLst/>
          </a:prstGeom>
          <a:noFill/>
          <a:ln>
            <a:noFill/>
          </a:ln>
        </p:spPr>
      </p:pic>
      <p:sp>
        <p:nvSpPr>
          <p:cNvPr id="11"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21</a:t>
            </a:r>
            <a:endParaRPr i="1" dirty="0">
              <a:latin typeface="Calibri"/>
              <a:ea typeface="Calibri"/>
              <a:cs typeface="Calibri"/>
              <a:sym typeface="Calibri"/>
            </a:endParaRPr>
          </a:p>
        </p:txBody>
      </p:sp>
      <p:pic>
        <p:nvPicPr>
          <p:cNvPr id="12"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2" name="Google Shape;202;g111e50cb373_0_36"/>
          <p:cNvSpPr txBox="1"/>
          <p:nvPr/>
        </p:nvSpPr>
        <p:spPr>
          <a:xfrm>
            <a:off x="952500" y="288745"/>
            <a:ext cx="9307032" cy="5017800"/>
          </a:xfrm>
          <a:prstGeom prst="rect">
            <a:avLst/>
          </a:prstGeom>
          <a:noFill/>
          <a:ln>
            <a:noFill/>
          </a:ln>
        </p:spPr>
        <p:txBody>
          <a:bodyPr spcFirstLastPara="1" wrap="square" lIns="91425" tIns="45700" rIns="91425" bIns="45700" anchor="t" anchorCtr="0">
            <a:spAutoFit/>
          </a:bodyPr>
          <a:lstStyle/>
          <a:p>
            <a:pPr marL="350838" indent="-350838">
              <a:buSzPts val="2400"/>
            </a:pPr>
            <a:r>
              <a:rPr lang="en-US" sz="2000" dirty="0">
                <a:latin typeface="Verdana"/>
                <a:ea typeface="Verdana"/>
                <a:cs typeface="Verdana"/>
                <a:sym typeface="Verdana"/>
              </a:rPr>
              <a:t>2. When working together through the problem, Cheryl and Miranda had a disagreement. </a:t>
            </a: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a:buSzPts val="2400"/>
            </a:pPr>
            <a:endParaRPr sz="2000" dirty="0">
              <a:latin typeface="Verdana"/>
              <a:ea typeface="Verdana"/>
              <a:cs typeface="Verdana"/>
              <a:sym typeface="Verdana"/>
            </a:endParaRPr>
          </a:p>
          <a:p>
            <a:pPr marL="465138">
              <a:buSzPts val="2400"/>
            </a:pPr>
            <a:r>
              <a:rPr lang="en-US" sz="2000" dirty="0">
                <a:latin typeface="Verdana"/>
                <a:ea typeface="Verdana"/>
                <a:cs typeface="Verdana"/>
                <a:sym typeface="Verdana"/>
              </a:rPr>
              <a:t>a. Which student do you agree with? </a:t>
            </a:r>
            <a:endParaRPr sz="2000" dirty="0">
              <a:latin typeface="Verdana"/>
              <a:ea typeface="Verdana"/>
              <a:cs typeface="Verdana"/>
              <a:sym typeface="Verdana"/>
            </a:endParaRPr>
          </a:p>
          <a:p>
            <a:pPr marL="465138">
              <a:buSzPts val="2400"/>
            </a:pPr>
            <a:endParaRPr sz="2000" dirty="0">
              <a:latin typeface="Verdana"/>
              <a:ea typeface="Verdana"/>
              <a:cs typeface="Verdana"/>
              <a:sym typeface="Verdana"/>
            </a:endParaRPr>
          </a:p>
          <a:p>
            <a:pPr marL="465138">
              <a:buSzPts val="2400"/>
            </a:pPr>
            <a:endParaRPr sz="2000" dirty="0">
              <a:latin typeface="Verdana"/>
              <a:ea typeface="Verdana"/>
              <a:cs typeface="Verdana"/>
              <a:sym typeface="Verdana"/>
            </a:endParaRPr>
          </a:p>
          <a:p>
            <a:pPr marL="465138">
              <a:buSzPts val="2400"/>
            </a:pPr>
            <a:endParaRPr sz="2000" dirty="0">
              <a:latin typeface="Verdana"/>
              <a:ea typeface="Verdana"/>
              <a:cs typeface="Verdana"/>
              <a:sym typeface="Verdana"/>
            </a:endParaRPr>
          </a:p>
          <a:p>
            <a:pPr marL="465138">
              <a:buSzPts val="2400"/>
            </a:pPr>
            <a:endParaRPr sz="2000" dirty="0">
              <a:latin typeface="Verdana"/>
              <a:ea typeface="Verdana"/>
              <a:cs typeface="Verdana"/>
              <a:sym typeface="Verdana"/>
            </a:endParaRPr>
          </a:p>
          <a:p>
            <a:pPr marL="465138">
              <a:buSzPts val="2400"/>
            </a:pPr>
            <a:r>
              <a:rPr lang="en-US" sz="2000" dirty="0">
                <a:latin typeface="Verdana"/>
                <a:ea typeface="Verdana"/>
                <a:cs typeface="Verdana"/>
                <a:sym typeface="Verdana"/>
              </a:rPr>
              <a:t>b. Explain why you agree. </a:t>
            </a:r>
            <a:endParaRPr sz="2000" dirty="0">
              <a:latin typeface="Verdana"/>
              <a:ea typeface="Verdana"/>
              <a:cs typeface="Verdana"/>
              <a:sym typeface="Verdana"/>
            </a:endParaRPr>
          </a:p>
        </p:txBody>
      </p:sp>
      <p:sp>
        <p:nvSpPr>
          <p:cNvPr id="203" name="Google Shape;203;g111e50cb373_0_36"/>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0"/>
              </a:srgbClr>
            </a:outerShdw>
          </a:effectLst>
        </p:spPr>
        <p:txBody>
          <a:bodyPr spcFirstLastPara="1" wrap="square" lIns="91425" tIns="91425" rIns="91425" bIns="91425" anchor="ctr" anchorCtr="0">
            <a:noAutofit/>
          </a:bodyPr>
          <a:lstStyle/>
          <a:p>
            <a:pPr>
              <a:buSzPts val="1400"/>
            </a:pPr>
            <a:endParaRPr/>
          </a:p>
        </p:txBody>
      </p:sp>
      <p:pic>
        <p:nvPicPr>
          <p:cNvPr id="204" name="Google Shape;204;g111e50cb373_0_36"/>
          <p:cNvPicPr preferRelativeResize="0"/>
          <p:nvPr/>
        </p:nvPicPr>
        <p:blipFill>
          <a:blip r:embed="rId3">
            <a:alphaModFix/>
          </a:blip>
          <a:stretch>
            <a:fillRect/>
          </a:stretch>
        </p:blipFill>
        <p:spPr>
          <a:xfrm>
            <a:off x="1932451" y="1454082"/>
            <a:ext cx="7873030" cy="1435033"/>
          </a:xfrm>
          <a:prstGeom prst="rect">
            <a:avLst/>
          </a:prstGeom>
          <a:noFill/>
          <a:ln>
            <a:noFill/>
          </a:ln>
        </p:spPr>
      </p:pic>
      <p:sp>
        <p:nvSpPr>
          <p:cNvPr id="7"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21</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2" name="Google Shape;212;g111e50cb373_0_47"/>
              <p:cNvSpPr txBox="1"/>
              <p:nvPr/>
            </p:nvSpPr>
            <p:spPr>
              <a:xfrm>
                <a:off x="914400" y="410666"/>
                <a:ext cx="9420465" cy="4485418"/>
              </a:xfrm>
              <a:prstGeom prst="rect">
                <a:avLst/>
              </a:prstGeom>
              <a:noFill/>
              <a:ln>
                <a:noFill/>
              </a:ln>
            </p:spPr>
            <p:txBody>
              <a:bodyPr spcFirstLastPara="1" wrap="square" lIns="91425" tIns="45700" rIns="91425" bIns="45700" anchor="t" anchorCtr="0">
                <a:spAutoFit/>
              </a:bodyPr>
              <a:lstStyle/>
              <a:p>
                <a:pPr lvl="0">
                  <a:buSzPts val="2400"/>
                </a:pPr>
                <a:r>
                  <a:rPr lang="en-US" sz="2500" dirty="0">
                    <a:latin typeface="Verdana"/>
                    <a:ea typeface="Verdana"/>
                    <a:cs typeface="Verdana"/>
                    <a:sym typeface="Verdana"/>
                  </a:rPr>
                  <a:t>Recall that fractions like </a:t>
                </a:r>
                <a14:m>
                  <m:oMath xmlns:m="http://schemas.openxmlformats.org/officeDocument/2006/math">
                    <m:f>
                      <m:fPr>
                        <m:ctrlPr>
                          <a:rPr lang="ar-AE" sz="2500" i="1" dirty="0">
                            <a:latin typeface="Cambria Math" panose="02040503050406030204" pitchFamily="18" charset="0"/>
                            <a:ea typeface="Cambria Math"/>
                            <a:sym typeface="Cambria Math"/>
                          </a:rPr>
                        </m:ctrlPr>
                      </m:fPr>
                      <m:num>
                        <m:r>
                          <a:rPr lang="ar-AE" sz="2500" i="1" dirty="0">
                            <a:latin typeface="Cambria Math" panose="02040503050406030204" pitchFamily="18" charset="0"/>
                            <a:ea typeface="Cambria Math"/>
                            <a:sym typeface="Cambria Math"/>
                          </a:rPr>
                          <m:t>1</m:t>
                        </m:r>
                      </m:num>
                      <m:den>
                        <m:r>
                          <a:rPr lang="en-US" sz="2500" i="1" dirty="0">
                            <a:latin typeface="Cambria Math" panose="02040503050406030204" pitchFamily="18" charset="0"/>
                            <a:ea typeface="Cambria Math"/>
                            <a:sym typeface="Cambria Math"/>
                          </a:rPr>
                          <m:t>10</m:t>
                        </m:r>
                      </m:den>
                    </m:f>
                    <m:r>
                      <a:rPr lang="en-US" sz="2500" i="1" dirty="0">
                        <a:latin typeface="Cambria Math" panose="02040503050406030204" pitchFamily="18" charset="0"/>
                        <a:ea typeface="Cambria Math"/>
                        <a:sym typeface="Cambria Math"/>
                      </a:rPr>
                      <m:t>, </m:t>
                    </m:r>
                    <m:f>
                      <m:fPr>
                        <m:ctrlPr>
                          <a:rPr lang="en-US" sz="2500" i="1" dirty="0">
                            <a:latin typeface="Cambria Math" panose="02040503050406030204" pitchFamily="18" charset="0"/>
                            <a:ea typeface="Cambria Math"/>
                            <a:sym typeface="Cambria Math"/>
                          </a:rPr>
                        </m:ctrlPr>
                      </m:fPr>
                      <m:num>
                        <m:r>
                          <a:rPr lang="en-US" sz="2500" i="1" dirty="0">
                            <a:latin typeface="Cambria Math" panose="02040503050406030204" pitchFamily="18" charset="0"/>
                            <a:ea typeface="Cambria Math"/>
                            <a:sym typeface="Cambria Math"/>
                          </a:rPr>
                          <m:t>1</m:t>
                        </m:r>
                      </m:num>
                      <m:den>
                        <m:r>
                          <a:rPr lang="en-US" sz="2500" i="1" dirty="0">
                            <a:latin typeface="Cambria Math" panose="02040503050406030204" pitchFamily="18" charset="0"/>
                            <a:ea typeface="Cambria Math"/>
                            <a:sym typeface="Cambria Math"/>
                          </a:rPr>
                          <m:t>100</m:t>
                        </m:r>
                      </m:den>
                    </m:f>
                    <m:r>
                      <a:rPr lang="en-US" sz="2500" i="1" dirty="0">
                        <a:latin typeface="Cambria Math" panose="02040503050406030204" pitchFamily="18" charset="0"/>
                        <a:ea typeface="Cambria Math"/>
                        <a:sym typeface="Cambria Math"/>
                      </a:rPr>
                      <m:t>,</m:t>
                    </m:r>
                    <m:r>
                      <a:rPr lang="ar-AE" sz="2500" i="1" dirty="0">
                        <a:latin typeface="Cambria Math" panose="02040503050406030204" pitchFamily="18" charset="0"/>
                        <a:ea typeface="Cambria Math"/>
                        <a:cs typeface="Cambria Math"/>
                        <a:sym typeface="Cambria Math"/>
                      </a:rPr>
                      <m:t> </m:t>
                    </m:r>
                  </m:oMath>
                </a14:m>
                <a:r>
                  <a:rPr lang="en-US" sz="2500" dirty="0">
                    <a:latin typeface="Verdana"/>
                    <a:ea typeface="Verdana"/>
                    <a:cs typeface="Verdana"/>
                    <a:sym typeface="Verdana"/>
                  </a:rPr>
                  <a:t>and </a:t>
                </a:r>
                <a14:m>
                  <m:oMath xmlns:m="http://schemas.openxmlformats.org/officeDocument/2006/math">
                    <m:f>
                      <m:fPr>
                        <m:ctrlPr>
                          <a:rPr lang="en-US" sz="2500" i="1" dirty="0">
                            <a:latin typeface="Cambria Math" panose="02040503050406030204" pitchFamily="18" charset="0"/>
                            <a:ea typeface="Cambria Math"/>
                            <a:sym typeface="Cambria Math"/>
                          </a:rPr>
                        </m:ctrlPr>
                      </m:fPr>
                      <m:num>
                        <m:r>
                          <a:rPr lang="en-US" sz="2500" i="1" dirty="0">
                            <a:latin typeface="Cambria Math" panose="02040503050406030204" pitchFamily="18" charset="0"/>
                            <a:ea typeface="Cambria Math"/>
                            <a:sym typeface="Cambria Math"/>
                          </a:rPr>
                          <m:t>1</m:t>
                        </m:r>
                      </m:num>
                      <m:den>
                        <m:r>
                          <a:rPr lang="en-US" sz="2500" i="1" dirty="0">
                            <a:latin typeface="Cambria Math" panose="02040503050406030204" pitchFamily="18" charset="0"/>
                            <a:ea typeface="Cambria Math"/>
                            <a:sym typeface="Cambria Math"/>
                          </a:rPr>
                          <m:t>1000</m:t>
                        </m:r>
                      </m:den>
                    </m:f>
                  </m:oMath>
                </a14:m>
                <a:r>
                  <a:rPr lang="en-US" sz="2500" dirty="0">
                    <a:latin typeface="Verdana"/>
                    <a:ea typeface="Verdana"/>
                    <a:cs typeface="Verdana"/>
                    <a:sym typeface="Verdana"/>
                  </a:rPr>
                  <a:t> can be used to find the location of the decimal point in terms of place value when multiplying decimals. </a:t>
                </a:r>
              </a:p>
              <a:p>
                <a:pPr>
                  <a:buSzPts val="2400"/>
                </a:pPr>
                <a:endParaRPr lang="en-US" sz="2500" dirty="0">
                  <a:latin typeface="Verdana"/>
                  <a:ea typeface="Verdana"/>
                  <a:cs typeface="Verdana"/>
                  <a:sym typeface="Verdana"/>
                </a:endParaRPr>
              </a:p>
              <a:p>
                <a:pPr>
                  <a:buSzPts val="2400"/>
                </a:pPr>
                <a:r>
                  <a:rPr lang="en-US" sz="2500" dirty="0">
                    <a:latin typeface="Verdana"/>
                    <a:ea typeface="Verdana"/>
                    <a:cs typeface="Verdana"/>
                    <a:sym typeface="Verdana"/>
                  </a:rPr>
                  <a:t>For example, </a:t>
                </a:r>
                <a:r>
                  <a:rPr lang="en-US" sz="2500" dirty="0">
                    <a:latin typeface="Cambria Math"/>
                    <a:ea typeface="Cambria Math"/>
                    <a:cs typeface="Cambria Math"/>
                    <a:sym typeface="Cambria Math"/>
                  </a:rPr>
                  <a:t>24 × 0.02</a:t>
                </a:r>
                <a:r>
                  <a:rPr lang="en-US" sz="2500" dirty="0">
                    <a:latin typeface="Verdana"/>
                    <a:ea typeface="Verdana"/>
                    <a:cs typeface="Verdana"/>
                    <a:sym typeface="Verdana"/>
                  </a:rPr>
                  <a:t> can be thought of as </a:t>
                </a:r>
                <a:r>
                  <a:rPr lang="en-US" sz="2500" dirty="0">
                    <a:latin typeface="Cambria Math"/>
                    <a:ea typeface="Cambria Math"/>
                    <a:cs typeface="Cambria Math"/>
                    <a:sym typeface="Cambria Math"/>
                  </a:rPr>
                  <a:t>24 × </a:t>
                </a:r>
                <a14:m>
                  <m:oMath xmlns:m="http://schemas.openxmlformats.org/officeDocument/2006/math">
                    <m:f>
                      <m:fPr>
                        <m:ctrlPr>
                          <a:rPr lang="en-US" sz="2500" i="1">
                            <a:latin typeface="Cambria Math" panose="02040503050406030204" pitchFamily="18" charset="0"/>
                            <a:ea typeface="Cambria Math"/>
                            <a:sym typeface="Cambria Math"/>
                          </a:rPr>
                        </m:ctrlPr>
                      </m:fPr>
                      <m:num>
                        <m:r>
                          <a:rPr lang="en-US" sz="2500" i="1">
                            <a:latin typeface="Cambria Math" panose="02040503050406030204" pitchFamily="18" charset="0"/>
                            <a:ea typeface="Cambria Math"/>
                            <a:sym typeface="Cambria Math"/>
                          </a:rPr>
                          <m:t>2</m:t>
                        </m:r>
                      </m:num>
                      <m:den>
                        <m:r>
                          <a:rPr lang="en-US" sz="2500" i="1">
                            <a:latin typeface="Cambria Math" panose="02040503050406030204" pitchFamily="18" charset="0"/>
                            <a:ea typeface="Cambria Math"/>
                            <a:sym typeface="Cambria Math"/>
                          </a:rPr>
                          <m:t>100</m:t>
                        </m:r>
                      </m:den>
                    </m:f>
                  </m:oMath>
                </a14:m>
                <a:r>
                  <a:rPr lang="en-US" sz="2500" dirty="0">
                    <a:latin typeface="Verdana"/>
                    <a:ea typeface="Verdana"/>
                    <a:cs typeface="Verdana"/>
                    <a:sym typeface="Verdana"/>
                  </a:rPr>
                  <a:t> or </a:t>
                </a:r>
                <a:r>
                  <a:rPr lang="en-US" sz="2500" dirty="0">
                    <a:latin typeface="Cambria Math"/>
                    <a:ea typeface="Cambria Math"/>
                    <a:cs typeface="Cambria Math"/>
                    <a:sym typeface="Cambria Math"/>
                  </a:rPr>
                  <a:t>24 × 2 × </a:t>
                </a:r>
                <a14:m>
                  <m:oMath xmlns:m="http://schemas.openxmlformats.org/officeDocument/2006/math">
                    <m:f>
                      <m:fPr>
                        <m:ctrlPr>
                          <a:rPr lang="en-US" sz="2500" i="1">
                            <a:latin typeface="Cambria Math" panose="02040503050406030204" pitchFamily="18" charset="0"/>
                            <a:ea typeface="Cambria Math"/>
                            <a:sym typeface="Cambria Math"/>
                          </a:rPr>
                        </m:ctrlPr>
                      </m:fPr>
                      <m:num>
                        <m:r>
                          <a:rPr lang="en-US" sz="2500" i="1">
                            <a:latin typeface="Cambria Math" panose="02040503050406030204" pitchFamily="18" charset="0"/>
                            <a:ea typeface="Cambria Math"/>
                            <a:sym typeface="Cambria Math"/>
                          </a:rPr>
                          <m:t>1</m:t>
                        </m:r>
                      </m:num>
                      <m:den>
                        <m:r>
                          <a:rPr lang="en-US" sz="2500" i="1">
                            <a:latin typeface="Cambria Math" panose="02040503050406030204" pitchFamily="18" charset="0"/>
                            <a:ea typeface="Cambria Math"/>
                            <a:sym typeface="Cambria Math"/>
                          </a:rPr>
                          <m:t>100</m:t>
                        </m:r>
                      </m:den>
                    </m:f>
                  </m:oMath>
                </a14:m>
                <a:r>
                  <a:rPr lang="en-US" sz="2500" dirty="0">
                    <a:latin typeface="Verdana"/>
                    <a:ea typeface="Verdana"/>
                    <a:cs typeface="Verdana"/>
                    <a:sym typeface="Verdana"/>
                  </a:rPr>
                  <a:t>. This is equal to </a:t>
                </a:r>
                <a14:m>
                  <m:oMath xmlns:m="http://schemas.openxmlformats.org/officeDocument/2006/math">
                    <m:f>
                      <m:fPr>
                        <m:ctrlPr>
                          <a:rPr lang="en-US" sz="2500" i="1" dirty="0">
                            <a:latin typeface="Cambria Math" panose="02040503050406030204" pitchFamily="18" charset="0"/>
                            <a:ea typeface="Cambria Math"/>
                            <a:sym typeface="Cambria Math"/>
                          </a:rPr>
                        </m:ctrlPr>
                      </m:fPr>
                      <m:num>
                        <m:r>
                          <a:rPr lang="en-US" sz="2500" i="1" dirty="0">
                            <a:latin typeface="Cambria Math" panose="02040503050406030204" pitchFamily="18" charset="0"/>
                            <a:ea typeface="Cambria Math"/>
                            <a:sym typeface="Cambria Math"/>
                          </a:rPr>
                          <m:t>48</m:t>
                        </m:r>
                      </m:num>
                      <m:den>
                        <m:r>
                          <a:rPr lang="en-US" sz="2500" i="1" dirty="0">
                            <a:latin typeface="Cambria Math" panose="02040503050406030204" pitchFamily="18" charset="0"/>
                            <a:ea typeface="Cambria Math"/>
                            <a:sym typeface="Cambria Math"/>
                          </a:rPr>
                          <m:t>100</m:t>
                        </m:r>
                      </m:den>
                    </m:f>
                  </m:oMath>
                </a14:m>
                <a:r>
                  <a:rPr lang="en-US" sz="2500" dirty="0">
                    <a:latin typeface="Verdana"/>
                    <a:ea typeface="Verdana"/>
                    <a:cs typeface="Verdana"/>
                    <a:sym typeface="Verdana"/>
                  </a:rPr>
                  <a:t> which is read, “</a:t>
                </a:r>
                <a:r>
                  <a:rPr lang="en-US" sz="2500" dirty="0">
                    <a:latin typeface="Cambria Math"/>
                    <a:ea typeface="Cambria Math"/>
                    <a:cs typeface="Cambria Math"/>
                    <a:sym typeface="Cambria Math"/>
                  </a:rPr>
                  <a:t>48 hundredths</a:t>
                </a:r>
                <a:r>
                  <a:rPr lang="en-US" sz="2500" dirty="0">
                    <a:latin typeface="Verdana"/>
                    <a:ea typeface="Verdana"/>
                    <a:cs typeface="Verdana"/>
                    <a:sym typeface="Verdana"/>
                  </a:rPr>
                  <a:t>” and written as </a:t>
                </a:r>
                <a:r>
                  <a:rPr lang="en-US" sz="2500" dirty="0">
                    <a:latin typeface="Cambria Math"/>
                    <a:ea typeface="Cambria Math"/>
                    <a:cs typeface="Cambria Math"/>
                    <a:sym typeface="Cambria Math"/>
                  </a:rPr>
                  <a:t>0.48</a:t>
                </a:r>
                <a:r>
                  <a:rPr lang="en-US" sz="2500" dirty="0">
                    <a:latin typeface="Verdana"/>
                    <a:ea typeface="Verdana"/>
                    <a:cs typeface="Verdana"/>
                    <a:sym typeface="Verdana"/>
                  </a:rPr>
                  <a:t> in decimal form with the </a:t>
                </a:r>
                <a:r>
                  <a:rPr lang="en-US" sz="2500" dirty="0">
                    <a:latin typeface="Cambria Math"/>
                    <a:ea typeface="Cambria Math"/>
                    <a:cs typeface="Cambria Math"/>
                    <a:sym typeface="Cambria Math"/>
                  </a:rPr>
                  <a:t>8</a:t>
                </a:r>
                <a:r>
                  <a:rPr lang="en-US" sz="2500" dirty="0">
                    <a:latin typeface="Verdana"/>
                    <a:ea typeface="Verdana"/>
                    <a:cs typeface="Verdana"/>
                    <a:sym typeface="Verdana"/>
                  </a:rPr>
                  <a:t> in the hundredths place. </a:t>
                </a:r>
              </a:p>
              <a:p>
                <a:pPr algn="ctr">
                  <a:buSzPts val="2400"/>
                </a:pPr>
                <a:endParaRPr lang="en-US" sz="2700" dirty="0">
                  <a:latin typeface="Cambria Math"/>
                  <a:ea typeface="Cambria Math"/>
                  <a:cs typeface="Cambria Math"/>
                  <a:sym typeface="Cambria Math"/>
                </a:endParaRPr>
              </a:p>
              <a:p>
                <a:pPr algn="ctr">
                  <a:buSzPts val="2400"/>
                </a:pPr>
                <a:r>
                  <a:rPr lang="en-US" sz="2700" dirty="0">
                    <a:latin typeface="Cambria Math"/>
                    <a:ea typeface="Cambria Math"/>
                    <a:cs typeface="Cambria Math"/>
                    <a:sym typeface="Cambria Math"/>
                  </a:rPr>
                  <a:t>24 × 0.02 = 0.48 </a:t>
                </a:r>
                <a:endParaRPr sz="1700" dirty="0">
                  <a:latin typeface="Cambria Math"/>
                  <a:ea typeface="Cambria Math"/>
                  <a:cs typeface="Cambria Math"/>
                  <a:sym typeface="Cambria Math"/>
                </a:endParaRPr>
              </a:p>
            </p:txBody>
          </p:sp>
        </mc:Choice>
        <mc:Fallback xmlns="">
          <p:sp>
            <p:nvSpPr>
              <p:cNvPr id="212" name="Google Shape;212;g111e50cb373_0_47"/>
              <p:cNvSpPr txBox="1">
                <a:spLocks noRot="1" noChangeAspect="1" noMove="1" noResize="1" noEditPoints="1" noAdjustHandles="1" noChangeArrowheads="1" noChangeShapeType="1" noTextEdit="1"/>
              </p:cNvSpPr>
              <p:nvPr/>
            </p:nvSpPr>
            <p:spPr>
              <a:xfrm>
                <a:off x="914400" y="410666"/>
                <a:ext cx="9420465" cy="4485418"/>
              </a:xfrm>
              <a:prstGeom prst="rect">
                <a:avLst/>
              </a:prstGeom>
              <a:blipFill rotWithShape="0">
                <a:blip r:embed="rId3"/>
                <a:stretch>
                  <a:fillRect l="-1100" r="-1230" b="-2582"/>
                </a:stretch>
              </a:blipFill>
              <a:ln>
                <a:noFill/>
              </a:ln>
            </p:spPr>
            <p:txBody>
              <a:bodyPr/>
              <a:lstStyle/>
              <a:p>
                <a:r>
                  <a:rPr lang="en-US">
                    <a:noFill/>
                  </a:rPr>
                  <a:t> </a:t>
                </a:r>
              </a:p>
            </p:txBody>
          </p:sp>
        </mc:Fallback>
      </mc:AlternateContent>
      <p:sp>
        <p:nvSpPr>
          <p:cNvPr id="213" name="Google Shape;213;g111e50cb373_0_47"/>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0"/>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21</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1" name="Google Shape;221;g111e50cb373_1_6"/>
          <p:cNvSpPr txBox="1"/>
          <p:nvPr/>
        </p:nvSpPr>
        <p:spPr>
          <a:xfrm>
            <a:off x="952500" y="410665"/>
            <a:ext cx="9382365" cy="1285200"/>
          </a:xfrm>
          <a:prstGeom prst="rect">
            <a:avLst/>
          </a:prstGeom>
          <a:noFill/>
          <a:ln>
            <a:noFill/>
          </a:ln>
        </p:spPr>
        <p:txBody>
          <a:bodyPr spcFirstLastPara="1" wrap="square" lIns="91425" tIns="45700" rIns="91425" bIns="45700" anchor="t" anchorCtr="0">
            <a:spAutoFit/>
          </a:bodyPr>
          <a:lstStyle/>
          <a:p>
            <a:pPr marL="350838" indent="-350838">
              <a:lnSpc>
                <a:spcPct val="115000"/>
              </a:lnSpc>
              <a:buClr>
                <a:schemeClr val="dk1"/>
              </a:buClr>
              <a:buSzPts val="1100"/>
            </a:pPr>
            <a:r>
              <a:rPr lang="en-US" sz="2000" dirty="0">
                <a:solidFill>
                  <a:schemeClr val="dk1"/>
                </a:solidFill>
                <a:latin typeface="Verdana"/>
                <a:ea typeface="Verdana"/>
                <a:cs typeface="Verdana"/>
                <a:sym typeface="Verdana"/>
              </a:rPr>
              <a:t>3. With your partner, complete the equations and statements below to show how similar thinking can be used to find the products of decimals.</a:t>
            </a:r>
            <a:endParaRPr sz="2000" dirty="0">
              <a:solidFill>
                <a:schemeClr val="dk1"/>
              </a:solidFill>
              <a:latin typeface="Verdana"/>
              <a:ea typeface="Verdana"/>
              <a:cs typeface="Verdana"/>
              <a:sym typeface="Verdana"/>
            </a:endParaRPr>
          </a:p>
          <a:p>
            <a:pPr>
              <a:buSzPts val="2400"/>
            </a:pPr>
            <a:endParaRPr sz="850" dirty="0">
              <a:solidFill>
                <a:schemeClr val="dk1"/>
              </a:solidFill>
              <a:latin typeface="Helvetica"/>
              <a:ea typeface="Helvetica"/>
              <a:cs typeface="Helvetica"/>
              <a:sym typeface="Helvetica"/>
            </a:endParaRPr>
          </a:p>
        </p:txBody>
      </p:sp>
      <p:sp>
        <p:nvSpPr>
          <p:cNvPr id="222" name="Google Shape;222;g111e50cb373_1_6"/>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0"/>
              </a:srgbClr>
            </a:outerShdw>
          </a:effectLst>
        </p:spPr>
        <p:txBody>
          <a:bodyPr spcFirstLastPara="1" wrap="square" lIns="91425" tIns="91425" rIns="91425" bIns="91425" anchor="ctr" anchorCtr="0">
            <a:noAutofit/>
          </a:bodyPr>
          <a:lstStyle/>
          <a:p>
            <a:pPr>
              <a:buSzPts val="1400"/>
            </a:pPr>
            <a:endParaRPr/>
          </a:p>
        </p:txBody>
      </p:sp>
      <p:pic>
        <p:nvPicPr>
          <p:cNvPr id="223" name="Google Shape;223;g111e50cb373_1_6"/>
          <p:cNvPicPr preferRelativeResize="0"/>
          <p:nvPr/>
        </p:nvPicPr>
        <p:blipFill>
          <a:blip r:embed="rId3">
            <a:alphaModFix/>
          </a:blip>
          <a:stretch>
            <a:fillRect/>
          </a:stretch>
        </p:blipFill>
        <p:spPr>
          <a:xfrm>
            <a:off x="1933699" y="1695874"/>
            <a:ext cx="7463219" cy="1903359"/>
          </a:xfrm>
          <a:prstGeom prst="rect">
            <a:avLst/>
          </a:prstGeom>
          <a:noFill/>
          <a:ln>
            <a:noFill/>
          </a:ln>
        </p:spPr>
      </p:pic>
      <p:pic>
        <p:nvPicPr>
          <p:cNvPr id="224" name="Google Shape;224;g111e50cb373_1_6"/>
          <p:cNvPicPr preferRelativeResize="0"/>
          <p:nvPr/>
        </p:nvPicPr>
        <p:blipFill>
          <a:blip r:embed="rId4">
            <a:alphaModFix/>
          </a:blip>
          <a:stretch>
            <a:fillRect/>
          </a:stretch>
        </p:blipFill>
        <p:spPr>
          <a:xfrm>
            <a:off x="2285125" y="3714749"/>
            <a:ext cx="6605955" cy="2267761"/>
          </a:xfrm>
          <a:prstGeom prst="rect">
            <a:avLst/>
          </a:prstGeom>
          <a:noFill/>
          <a:ln>
            <a:noFill/>
          </a:ln>
        </p:spPr>
      </p:pic>
      <p:sp>
        <p:nvSpPr>
          <p:cNvPr id="8"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21</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g111e50cb373_1_18"/>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33" name="Google Shape;233;g111e50cb373_1_18"/>
          <p:cNvSpPr txBox="1">
            <a:spLocks noGrp="1"/>
          </p:cNvSpPr>
          <p:nvPr>
            <p:ph type="title" idx="4294967295"/>
          </p:nvPr>
        </p:nvSpPr>
        <p:spPr>
          <a:xfrm>
            <a:off x="5664867" y="2766145"/>
            <a:ext cx="448080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Instruction</a:t>
            </a:r>
            <a:endParaRPr sz="5100" b="1">
              <a:solidFill>
                <a:srgbClr val="54B5D1"/>
              </a:solidFill>
              <a:latin typeface="Verdana"/>
              <a:ea typeface="Verdana"/>
              <a:cs typeface="Verdana"/>
              <a:sym typeface="Verdana"/>
            </a:endParaRPr>
          </a:p>
        </p:txBody>
      </p:sp>
      <p:pic>
        <p:nvPicPr>
          <p:cNvPr id="234" name="Google Shape;234;g111e50cb373_1_18"/>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2" name="Google Shape;242;g111e50cb373_1_27"/>
          <p:cNvSpPr txBox="1"/>
          <p:nvPr/>
        </p:nvSpPr>
        <p:spPr>
          <a:xfrm>
            <a:off x="1110150" y="51851"/>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300" b="1">
                <a:solidFill>
                  <a:srgbClr val="54B5D1"/>
                </a:solidFill>
                <a:latin typeface="Verdana"/>
                <a:ea typeface="Verdana"/>
                <a:cs typeface="Verdana"/>
                <a:sym typeface="Verdana"/>
              </a:rPr>
              <a:t>1.4.3 Guided Instruction: Multiplying Decimals to the Thousandths</a:t>
            </a:r>
            <a:endParaRPr sz="1100"/>
          </a:p>
        </p:txBody>
      </p:sp>
      <p:pic>
        <p:nvPicPr>
          <p:cNvPr id="243" name="Google Shape;243;g111e50cb373_1_27"/>
          <p:cNvPicPr preferRelativeResize="0"/>
          <p:nvPr/>
        </p:nvPicPr>
        <p:blipFill rotWithShape="1">
          <a:blip r:embed="rId3">
            <a:alphaModFix/>
          </a:blip>
          <a:srcRect/>
          <a:stretch/>
        </p:blipFill>
        <p:spPr>
          <a:xfrm>
            <a:off x="362850" y="341051"/>
            <a:ext cx="747300" cy="747300"/>
          </a:xfrm>
          <a:prstGeom prst="rect">
            <a:avLst/>
          </a:prstGeom>
          <a:noFill/>
          <a:ln>
            <a:noFill/>
          </a:ln>
          <a:effectLst>
            <a:outerShdw blurRad="50800" dist="38100" dir="2700000" algn="tl" rotWithShape="0">
              <a:srgbClr val="000000">
                <a:alpha val="40000"/>
              </a:srgbClr>
            </a:outerShdw>
          </a:effectLst>
        </p:spPr>
      </p:pic>
      <p:sp>
        <p:nvSpPr>
          <p:cNvPr id="244" name="Google Shape;244;g111e50cb373_1_27"/>
          <p:cNvSpPr txBox="1"/>
          <p:nvPr/>
        </p:nvSpPr>
        <p:spPr>
          <a:xfrm>
            <a:off x="1219200" y="1686272"/>
            <a:ext cx="10126550" cy="2231340"/>
          </a:xfrm>
          <a:prstGeom prst="rect">
            <a:avLst/>
          </a:prstGeom>
          <a:noFill/>
          <a:ln>
            <a:noFill/>
          </a:ln>
        </p:spPr>
        <p:txBody>
          <a:bodyPr spcFirstLastPara="1" wrap="square" lIns="91425" tIns="45700" rIns="91425" bIns="45700" anchor="t" anchorCtr="0">
            <a:spAutoFit/>
          </a:bodyPr>
          <a:lstStyle/>
          <a:p>
            <a:pPr>
              <a:lnSpc>
                <a:spcPct val="115000"/>
              </a:lnSpc>
              <a:buClr>
                <a:schemeClr val="dk1"/>
              </a:buClr>
              <a:buSzPts val="1100"/>
            </a:pPr>
            <a:r>
              <a:rPr lang="en-US" sz="2000" dirty="0">
                <a:solidFill>
                  <a:schemeClr val="dk1"/>
                </a:solidFill>
                <a:latin typeface="Verdana"/>
                <a:ea typeface="Verdana"/>
                <a:cs typeface="Verdana"/>
                <a:sym typeface="Verdana"/>
              </a:rPr>
              <a:t>Different strategies can be used to find the product of decimals to the thousandths.</a:t>
            </a:r>
            <a:endParaRPr sz="2000" dirty="0">
              <a:solidFill>
                <a:schemeClr val="dk1"/>
              </a:solidFill>
              <a:latin typeface="Verdana"/>
              <a:ea typeface="Verdana"/>
              <a:cs typeface="Verdana"/>
              <a:sym typeface="Verdana"/>
            </a:endParaRPr>
          </a:p>
          <a:p>
            <a:pPr>
              <a:lnSpc>
                <a:spcPct val="115000"/>
              </a:lnSpc>
              <a:buClr>
                <a:schemeClr val="dk1"/>
              </a:buClr>
              <a:buSzPts val="1100"/>
            </a:pPr>
            <a:endParaRPr sz="2000" dirty="0">
              <a:solidFill>
                <a:schemeClr val="dk1"/>
              </a:solidFill>
              <a:latin typeface="Verdana"/>
              <a:ea typeface="Verdana"/>
              <a:cs typeface="Verdana"/>
              <a:sym typeface="Verdana"/>
            </a:endParaRPr>
          </a:p>
          <a:p>
            <a:pPr marL="350838" indent="-350838">
              <a:lnSpc>
                <a:spcPct val="115000"/>
              </a:lnSpc>
              <a:buClr>
                <a:schemeClr val="dk1"/>
              </a:buClr>
              <a:buSzPts val="1100"/>
            </a:pPr>
            <a:r>
              <a:rPr lang="en-US" sz="2000" dirty="0">
                <a:solidFill>
                  <a:schemeClr val="dk1"/>
                </a:solidFill>
                <a:latin typeface="Verdana"/>
                <a:ea typeface="Verdana"/>
                <a:cs typeface="Verdana"/>
                <a:sym typeface="Verdana"/>
              </a:rPr>
              <a:t>1. Byanca prefers using an area model to find the product of decimals. Below is an area model that Byanca drew to represent </a:t>
            </a:r>
            <a:r>
              <a:rPr lang="en-US" sz="2000" dirty="0">
                <a:solidFill>
                  <a:schemeClr val="dk1"/>
                </a:solidFill>
                <a:latin typeface="Cambria Math"/>
                <a:ea typeface="Cambria Math"/>
                <a:cs typeface="Cambria Math"/>
                <a:sym typeface="Cambria Math"/>
              </a:rPr>
              <a:t>(12.4) ∙ (21.3)</a:t>
            </a:r>
            <a:r>
              <a:rPr lang="en-US" sz="2000" dirty="0">
                <a:solidFill>
                  <a:schemeClr val="dk1"/>
                </a:solidFill>
                <a:latin typeface="Verdana"/>
                <a:ea typeface="Verdana"/>
                <a:cs typeface="Verdana"/>
                <a:sym typeface="Verdana"/>
              </a:rPr>
              <a:t>.</a:t>
            </a:r>
            <a:endParaRPr sz="2000" dirty="0">
              <a:solidFill>
                <a:schemeClr val="dk1"/>
              </a:solidFill>
              <a:latin typeface="Verdana"/>
              <a:ea typeface="Verdana"/>
              <a:cs typeface="Verdana"/>
              <a:sym typeface="Verdana"/>
            </a:endParaRPr>
          </a:p>
          <a:p>
            <a:pPr>
              <a:buSzPts val="2400"/>
            </a:pPr>
            <a:endParaRPr sz="2400" dirty="0">
              <a:latin typeface="Verdana"/>
              <a:ea typeface="Verdana"/>
              <a:cs typeface="Verdana"/>
              <a:sym typeface="Verdana"/>
            </a:endParaRPr>
          </a:p>
        </p:txBody>
      </p:sp>
      <p:sp>
        <p:nvSpPr>
          <p:cNvPr id="245" name="Google Shape;245;g111e50cb373_1_27"/>
          <p:cNvSpPr/>
          <p:nvPr/>
        </p:nvSpPr>
        <p:spPr>
          <a:xfrm>
            <a:off x="-30338"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0"/>
              </a:srgbClr>
            </a:outerShdw>
          </a:effectLst>
        </p:spPr>
        <p:txBody>
          <a:bodyPr spcFirstLastPara="1" wrap="square" lIns="91425" tIns="91425" rIns="91425" bIns="91425" anchor="ctr" anchorCtr="0">
            <a:noAutofit/>
          </a:bodyPr>
          <a:lstStyle/>
          <a:p>
            <a:pPr>
              <a:buSzPts val="1400"/>
            </a:pPr>
            <a:endParaRPr/>
          </a:p>
        </p:txBody>
      </p:sp>
      <p:pic>
        <p:nvPicPr>
          <p:cNvPr id="246" name="Google Shape;246;g111e50cb373_1_27"/>
          <p:cNvPicPr preferRelativeResize="0"/>
          <p:nvPr/>
        </p:nvPicPr>
        <p:blipFill>
          <a:blip r:embed="rId4">
            <a:alphaModFix/>
          </a:blip>
          <a:stretch>
            <a:fillRect/>
          </a:stretch>
        </p:blipFill>
        <p:spPr>
          <a:xfrm>
            <a:off x="4353150" y="3574443"/>
            <a:ext cx="3554700" cy="3226400"/>
          </a:xfrm>
          <a:prstGeom prst="rect">
            <a:avLst/>
          </a:prstGeom>
          <a:noFill/>
          <a:ln>
            <a:noFill/>
          </a:ln>
        </p:spPr>
      </p:pic>
      <p:sp>
        <p:nvSpPr>
          <p:cNvPr id="9"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22</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4" name="Google Shape;254;g111e50cb373_1_37"/>
          <p:cNvSpPr txBox="1"/>
          <p:nvPr/>
        </p:nvSpPr>
        <p:spPr>
          <a:xfrm>
            <a:off x="2007801" y="3544826"/>
            <a:ext cx="8327100" cy="3313174"/>
          </a:xfrm>
          <a:prstGeom prst="rect">
            <a:avLst/>
          </a:prstGeom>
          <a:noFill/>
          <a:ln>
            <a:noFill/>
          </a:ln>
        </p:spPr>
        <p:txBody>
          <a:bodyPr spcFirstLastPara="1" wrap="square" lIns="91425" tIns="45700" rIns="91425" bIns="45700" anchor="t" anchorCtr="0">
            <a:spAutoFit/>
          </a:bodyPr>
          <a:lstStyle/>
          <a:p>
            <a:pPr marL="457200" indent="-355600">
              <a:lnSpc>
                <a:spcPct val="115000"/>
              </a:lnSpc>
              <a:buClr>
                <a:schemeClr val="dk1"/>
              </a:buClr>
              <a:buSzPts val="2000"/>
              <a:buFont typeface="Verdana"/>
              <a:buAutoNum type="alphaLcPeriod"/>
            </a:pPr>
            <a:r>
              <a:rPr lang="en-US" sz="2000" dirty="0">
                <a:solidFill>
                  <a:schemeClr val="dk1"/>
                </a:solidFill>
                <a:latin typeface="Verdana" panose="020B0604030504040204" pitchFamily="34" charset="0"/>
                <a:ea typeface="Verdana" panose="020B0604030504040204" pitchFamily="34" charset="0"/>
                <a:cs typeface="Verdana"/>
                <a:sym typeface="Verdana"/>
              </a:rPr>
              <a:t>Find the region that represents </a:t>
            </a:r>
            <a:r>
              <a:rPr lang="en-US" sz="2000" dirty="0">
                <a:solidFill>
                  <a:schemeClr val="dk1"/>
                </a:solidFill>
                <a:latin typeface="Verdana" panose="020B0604030504040204" pitchFamily="34" charset="0"/>
                <a:ea typeface="Verdana" panose="020B0604030504040204" pitchFamily="34" charset="0"/>
                <a:cs typeface="Cambria Math"/>
                <a:sym typeface="Cambria Math"/>
              </a:rPr>
              <a:t>(0.4) ∙ (0.3)</a:t>
            </a:r>
            <a:r>
              <a:rPr lang="en-US" sz="2000" dirty="0">
                <a:solidFill>
                  <a:schemeClr val="dk1"/>
                </a:solidFill>
                <a:latin typeface="Verdana" panose="020B0604030504040204" pitchFamily="34" charset="0"/>
                <a:ea typeface="Verdana" panose="020B0604030504040204" pitchFamily="34" charset="0"/>
                <a:cs typeface="Verdana"/>
                <a:sym typeface="Verdana"/>
              </a:rPr>
              <a:t>. Shade that region in the diagram and label it with its area of </a:t>
            </a:r>
            <a:r>
              <a:rPr lang="en-US" sz="2000" dirty="0">
                <a:solidFill>
                  <a:schemeClr val="dk1"/>
                </a:solidFill>
                <a:latin typeface="Verdana" panose="020B0604030504040204" pitchFamily="34" charset="0"/>
                <a:ea typeface="Verdana" panose="020B0604030504040204" pitchFamily="34" charset="0"/>
                <a:cs typeface="Cambria Math"/>
                <a:sym typeface="Cambria Math"/>
              </a:rPr>
              <a:t>0.12.</a:t>
            </a:r>
          </a:p>
          <a:p>
            <a:pPr marL="457200" indent="-355600">
              <a:lnSpc>
                <a:spcPct val="115000"/>
              </a:lnSpc>
              <a:buClr>
                <a:schemeClr val="dk1"/>
              </a:buClr>
              <a:buSzPts val="2000"/>
              <a:buFont typeface="Verdana"/>
              <a:buAutoNum type="alphaLcPeriod"/>
            </a:pPr>
            <a:endParaRPr lang="en-US" sz="2000" dirty="0">
              <a:solidFill>
                <a:schemeClr val="dk1"/>
              </a:solidFill>
              <a:latin typeface="Verdana" panose="020B0604030504040204" pitchFamily="34" charset="0"/>
              <a:ea typeface="Verdana" panose="020B0604030504040204" pitchFamily="34" charset="0"/>
              <a:cs typeface="Cambria Math"/>
              <a:sym typeface="Cambria Math"/>
            </a:endParaRPr>
          </a:p>
          <a:p>
            <a:pPr marL="457200" indent="-355600">
              <a:lnSpc>
                <a:spcPct val="115000"/>
              </a:lnSpc>
              <a:buClr>
                <a:schemeClr val="dk1"/>
              </a:buClr>
              <a:buSzPts val="2000"/>
              <a:buFont typeface="Verdana"/>
              <a:buAutoNum type="alphaLcPeriod"/>
            </a:pPr>
            <a:r>
              <a:rPr lang="en-US" sz="2000" dirty="0">
                <a:solidFill>
                  <a:schemeClr val="dk1"/>
                </a:solidFill>
                <a:latin typeface="Verdana" panose="020B0604030504040204" pitchFamily="34" charset="0"/>
                <a:ea typeface="Verdana" panose="020B0604030504040204" pitchFamily="34" charset="0"/>
                <a:cs typeface="Verdana"/>
                <a:sym typeface="Verdana"/>
              </a:rPr>
              <a:t>Label the other regions of the model with their respective areas.</a:t>
            </a:r>
          </a:p>
          <a:p>
            <a:pPr marL="457200" indent="-355600">
              <a:lnSpc>
                <a:spcPct val="115000"/>
              </a:lnSpc>
              <a:buClr>
                <a:schemeClr val="dk1"/>
              </a:buClr>
              <a:buSzPts val="2000"/>
              <a:buFont typeface="Verdana"/>
              <a:buAutoNum type="alphaLcPeriod"/>
            </a:pPr>
            <a:endParaRPr lang="en-US" sz="2000" dirty="0">
              <a:solidFill>
                <a:schemeClr val="dk1"/>
              </a:solidFill>
              <a:latin typeface="Verdana" panose="020B0604030504040204" pitchFamily="34" charset="0"/>
              <a:ea typeface="Verdana" panose="020B0604030504040204" pitchFamily="34" charset="0"/>
              <a:cs typeface="Cambria Math"/>
              <a:sym typeface="Cambria Math"/>
            </a:endParaRPr>
          </a:p>
          <a:p>
            <a:pPr marL="457200" indent="-355600">
              <a:lnSpc>
                <a:spcPct val="115000"/>
              </a:lnSpc>
              <a:buClr>
                <a:schemeClr val="dk1"/>
              </a:buClr>
              <a:buSzPts val="2000"/>
              <a:buFont typeface="Verdana"/>
              <a:buAutoNum type="alphaLcPeriod"/>
            </a:pPr>
            <a:r>
              <a:rPr lang="en-US" sz="2000" dirty="0">
                <a:solidFill>
                  <a:schemeClr val="dk1"/>
                </a:solidFill>
                <a:latin typeface="Verdana" panose="020B0604030504040204" pitchFamily="34" charset="0"/>
                <a:ea typeface="Verdana" panose="020B0604030504040204" pitchFamily="34" charset="0"/>
                <a:cs typeface="Verdana"/>
                <a:sym typeface="Verdana"/>
              </a:rPr>
              <a:t>Find the value of </a:t>
            </a:r>
            <a:r>
              <a:rPr lang="en-US" sz="2000" dirty="0">
                <a:solidFill>
                  <a:schemeClr val="dk1"/>
                </a:solidFill>
                <a:latin typeface="Verdana" panose="020B0604030504040204" pitchFamily="34" charset="0"/>
                <a:ea typeface="Verdana" panose="020B0604030504040204" pitchFamily="34" charset="0"/>
                <a:cs typeface="Cambria Math"/>
                <a:sym typeface="Cambria Math"/>
              </a:rPr>
              <a:t>(12.4) ∙ (21.3)</a:t>
            </a:r>
            <a:r>
              <a:rPr lang="en-US" sz="2000" dirty="0">
                <a:solidFill>
                  <a:schemeClr val="dk1"/>
                </a:solidFill>
                <a:latin typeface="Verdana" panose="020B0604030504040204" pitchFamily="34" charset="0"/>
                <a:ea typeface="Verdana" panose="020B0604030504040204" pitchFamily="34" charset="0"/>
                <a:cs typeface="Verdana"/>
                <a:sym typeface="Verdana"/>
              </a:rPr>
              <a:t> using the labeled area model. Show your work.</a:t>
            </a:r>
          </a:p>
          <a:p>
            <a:pPr marL="101600">
              <a:lnSpc>
                <a:spcPct val="115000"/>
              </a:lnSpc>
              <a:buClr>
                <a:schemeClr val="dk1"/>
              </a:buClr>
              <a:buSzPts val="2000"/>
            </a:pPr>
            <a:endParaRPr lang="en-US" sz="2200" dirty="0">
              <a:solidFill>
                <a:schemeClr val="dk1"/>
              </a:solidFill>
              <a:latin typeface="Cambria Math"/>
              <a:ea typeface="Cambria Math"/>
              <a:cs typeface="Cambria Math"/>
              <a:sym typeface="Cambria Math"/>
            </a:endParaRPr>
          </a:p>
        </p:txBody>
      </p:sp>
      <p:sp>
        <p:nvSpPr>
          <p:cNvPr id="255" name="Google Shape;255;g111e50cb373_1_37"/>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0"/>
              </a:srgbClr>
            </a:outerShdw>
          </a:effectLst>
        </p:spPr>
        <p:txBody>
          <a:bodyPr spcFirstLastPara="1" wrap="square" lIns="91425" tIns="91425" rIns="91425" bIns="91425" anchor="ctr" anchorCtr="0">
            <a:noAutofit/>
          </a:bodyPr>
          <a:lstStyle/>
          <a:p>
            <a:pPr>
              <a:buSzPts val="1400"/>
            </a:pPr>
            <a:endParaRPr/>
          </a:p>
        </p:txBody>
      </p:sp>
      <p:pic>
        <p:nvPicPr>
          <p:cNvPr id="6" name="Google Shape;246;g111e50cb373_1_27">
            <a:extLst>
              <a:ext uri="{FF2B5EF4-FFF2-40B4-BE49-F238E27FC236}">
                <a16:creationId xmlns:a16="http://schemas.microsoft.com/office/drawing/2014/main" id="{104DEB6D-72E8-4C3A-8010-9891369A9546}"/>
              </a:ext>
            </a:extLst>
          </p:cNvPr>
          <p:cNvPicPr preferRelativeResize="0"/>
          <p:nvPr/>
        </p:nvPicPr>
        <p:blipFill>
          <a:blip r:embed="rId3">
            <a:alphaModFix/>
          </a:blip>
          <a:stretch>
            <a:fillRect/>
          </a:stretch>
        </p:blipFill>
        <p:spPr>
          <a:xfrm>
            <a:off x="4318650" y="198425"/>
            <a:ext cx="3554700" cy="3226400"/>
          </a:xfrm>
          <a:prstGeom prst="rect">
            <a:avLst/>
          </a:prstGeom>
          <a:noFill/>
          <a:ln>
            <a:noFill/>
          </a:ln>
        </p:spPr>
      </p:pic>
      <p:sp>
        <p:nvSpPr>
          <p:cNvPr id="7"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3" name="Google Shape;263;g111e50cb373_1_49"/>
          <p:cNvSpPr txBox="1"/>
          <p:nvPr/>
        </p:nvSpPr>
        <p:spPr>
          <a:xfrm>
            <a:off x="1244600" y="410665"/>
            <a:ext cx="9853430" cy="1204905"/>
          </a:xfrm>
          <a:prstGeom prst="rect">
            <a:avLst/>
          </a:prstGeom>
          <a:noFill/>
          <a:ln>
            <a:noFill/>
          </a:ln>
        </p:spPr>
        <p:txBody>
          <a:bodyPr spcFirstLastPara="1" wrap="square" lIns="91425" tIns="45700" rIns="91425" bIns="45700" anchor="t" anchorCtr="0">
            <a:spAutoFit/>
          </a:bodyPr>
          <a:lstStyle/>
          <a:p>
            <a:pPr marL="350838" indent="-350838">
              <a:lnSpc>
                <a:spcPct val="115000"/>
              </a:lnSpc>
              <a:buClr>
                <a:schemeClr val="dk1"/>
              </a:buClr>
              <a:buSzPts val="1100"/>
            </a:pPr>
            <a:r>
              <a:rPr lang="en-US" sz="2000" dirty="0">
                <a:solidFill>
                  <a:schemeClr val="dk1"/>
                </a:solidFill>
                <a:latin typeface="Verdana"/>
                <a:ea typeface="Verdana"/>
                <a:cs typeface="Verdana"/>
                <a:sym typeface="Verdana"/>
              </a:rPr>
              <a:t>2. Sergio prefers to use partial products to find the value of </a:t>
            </a:r>
            <a:r>
              <a:rPr lang="en-US" sz="2200" dirty="0">
                <a:solidFill>
                  <a:schemeClr val="dk1"/>
                </a:solidFill>
                <a:latin typeface="Cambria Math"/>
                <a:ea typeface="Cambria Math"/>
                <a:cs typeface="Cambria Math"/>
                <a:sym typeface="Cambria Math"/>
              </a:rPr>
              <a:t>(12.4) ∙ (21.3)</a:t>
            </a:r>
            <a:r>
              <a:rPr lang="en-US" sz="2000" dirty="0">
                <a:solidFill>
                  <a:schemeClr val="dk1"/>
                </a:solidFill>
                <a:latin typeface="Verdana"/>
                <a:ea typeface="Verdana"/>
                <a:cs typeface="Verdana"/>
                <a:sym typeface="Verdana"/>
              </a:rPr>
              <a:t>, while Alicia prefers using the standard algorithm. Their work is shown.</a:t>
            </a:r>
            <a:endParaRPr sz="2000" dirty="0">
              <a:solidFill>
                <a:schemeClr val="dk1"/>
              </a:solidFill>
              <a:latin typeface="Verdana"/>
              <a:ea typeface="Verdana"/>
              <a:cs typeface="Verdana"/>
              <a:sym typeface="Verdana"/>
            </a:endParaRPr>
          </a:p>
          <a:p>
            <a:pPr marL="350838" indent="-350838">
              <a:buSzPts val="2400"/>
            </a:pPr>
            <a:endParaRPr sz="2400" dirty="0">
              <a:latin typeface="Verdana"/>
              <a:ea typeface="Verdana"/>
              <a:cs typeface="Verdana"/>
              <a:sym typeface="Verdana"/>
            </a:endParaRPr>
          </a:p>
        </p:txBody>
      </p:sp>
      <p:sp>
        <p:nvSpPr>
          <p:cNvPr id="264" name="Google Shape;264;g111e50cb373_1_49"/>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0"/>
              </a:srgbClr>
            </a:outerShdw>
          </a:effectLst>
        </p:spPr>
        <p:txBody>
          <a:bodyPr spcFirstLastPara="1" wrap="square" lIns="91425" tIns="91425" rIns="91425" bIns="91425" anchor="ctr" anchorCtr="0">
            <a:noAutofit/>
          </a:bodyPr>
          <a:lstStyle/>
          <a:p>
            <a:pPr>
              <a:buSzPts val="1400"/>
            </a:pPr>
            <a:endParaRPr/>
          </a:p>
        </p:txBody>
      </p:sp>
      <p:pic>
        <p:nvPicPr>
          <p:cNvPr id="265" name="Google Shape;265;g111e50cb373_1_49"/>
          <p:cNvPicPr preferRelativeResize="0"/>
          <p:nvPr/>
        </p:nvPicPr>
        <p:blipFill>
          <a:blip r:embed="rId3">
            <a:alphaModFix/>
          </a:blip>
          <a:stretch>
            <a:fillRect/>
          </a:stretch>
        </p:blipFill>
        <p:spPr>
          <a:xfrm>
            <a:off x="2747025" y="1769278"/>
            <a:ext cx="6697950" cy="4036250"/>
          </a:xfrm>
          <a:prstGeom prst="rect">
            <a:avLst/>
          </a:prstGeom>
          <a:noFill/>
          <a:ln>
            <a:noFill/>
          </a:ln>
        </p:spPr>
      </p:pic>
      <p:sp>
        <p:nvSpPr>
          <p:cNvPr id="7"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3" name="Google Shape;273;g111e50cb373_1_57"/>
          <p:cNvSpPr txBox="1"/>
          <p:nvPr/>
        </p:nvSpPr>
        <p:spPr>
          <a:xfrm>
            <a:off x="1092200" y="410665"/>
            <a:ext cx="10158230" cy="2232000"/>
          </a:xfrm>
          <a:prstGeom prst="rect">
            <a:avLst/>
          </a:prstGeom>
          <a:noFill/>
          <a:ln>
            <a:noFill/>
          </a:ln>
        </p:spPr>
        <p:txBody>
          <a:bodyPr spcFirstLastPara="1" wrap="square" lIns="91425" tIns="45700" rIns="91425" bIns="45700" anchor="t" anchorCtr="0">
            <a:spAutoFit/>
          </a:bodyPr>
          <a:lstStyle/>
          <a:p>
            <a:pPr>
              <a:lnSpc>
                <a:spcPct val="115000"/>
              </a:lnSpc>
              <a:buClr>
                <a:schemeClr val="dk1"/>
              </a:buClr>
              <a:buSzPts val="1100"/>
            </a:pPr>
            <a:r>
              <a:rPr lang="en-US" sz="2000" dirty="0">
                <a:solidFill>
                  <a:schemeClr val="dk1"/>
                </a:solidFill>
                <a:latin typeface="Verdana"/>
                <a:ea typeface="Verdana"/>
                <a:cs typeface="Verdana"/>
                <a:sym typeface="Verdana"/>
              </a:rPr>
              <a:t>Discuss each method with your partner while answering</a:t>
            </a:r>
            <a:endParaRPr sz="2000" dirty="0">
              <a:solidFill>
                <a:schemeClr val="dk1"/>
              </a:solidFill>
              <a:latin typeface="Verdana"/>
              <a:ea typeface="Verdana"/>
              <a:cs typeface="Verdana"/>
              <a:sym typeface="Verdana"/>
            </a:endParaRPr>
          </a:p>
          <a:p>
            <a:pPr>
              <a:lnSpc>
                <a:spcPct val="115000"/>
              </a:lnSpc>
              <a:buClr>
                <a:schemeClr val="dk1"/>
              </a:buClr>
              <a:buSzPts val="1100"/>
            </a:pPr>
            <a:r>
              <a:rPr lang="en-US" sz="2000" dirty="0">
                <a:solidFill>
                  <a:schemeClr val="dk1"/>
                </a:solidFill>
                <a:latin typeface="Verdana"/>
                <a:ea typeface="Verdana"/>
                <a:cs typeface="Verdana"/>
                <a:sym typeface="Verdana"/>
              </a:rPr>
              <a:t>the following questions.</a:t>
            </a:r>
            <a:endParaRPr sz="2000" dirty="0">
              <a:solidFill>
                <a:schemeClr val="dk1"/>
              </a:solidFill>
              <a:latin typeface="Verdana"/>
              <a:ea typeface="Verdana"/>
              <a:cs typeface="Verdana"/>
              <a:sym typeface="Verdana"/>
            </a:endParaRPr>
          </a:p>
          <a:p>
            <a:pPr>
              <a:lnSpc>
                <a:spcPct val="115000"/>
              </a:lnSpc>
              <a:buClr>
                <a:schemeClr val="dk1"/>
              </a:buClr>
              <a:buSzPts val="1100"/>
            </a:pPr>
            <a:endParaRPr sz="2000" dirty="0">
              <a:solidFill>
                <a:schemeClr val="dk1"/>
              </a:solidFill>
              <a:latin typeface="Verdana"/>
              <a:ea typeface="Verdana"/>
              <a:cs typeface="Verdana"/>
              <a:sym typeface="Verdana"/>
            </a:endParaRPr>
          </a:p>
          <a:p>
            <a:pPr marL="457200" indent="-355600">
              <a:lnSpc>
                <a:spcPct val="115000"/>
              </a:lnSpc>
              <a:buClr>
                <a:schemeClr val="dk1"/>
              </a:buClr>
              <a:buSzPts val="2000"/>
              <a:buFont typeface="Verdana"/>
              <a:buAutoNum type="alphaLcPeriod"/>
            </a:pPr>
            <a:r>
              <a:rPr lang="en-US" sz="2000" dirty="0">
                <a:solidFill>
                  <a:schemeClr val="dk1"/>
                </a:solidFill>
                <a:latin typeface="Verdana"/>
                <a:ea typeface="Verdana"/>
                <a:cs typeface="Verdana"/>
                <a:sym typeface="Verdana"/>
              </a:rPr>
              <a:t>In Sergio’s work, which parts of the factors were multiplied to get each partial product indicated in the table below?</a:t>
            </a:r>
            <a:endParaRPr sz="2000" dirty="0">
              <a:solidFill>
                <a:schemeClr val="dk1"/>
              </a:solidFill>
              <a:latin typeface="Verdana"/>
              <a:ea typeface="Verdana"/>
              <a:cs typeface="Verdana"/>
              <a:sym typeface="Verdana"/>
            </a:endParaRPr>
          </a:p>
          <a:p>
            <a:pPr>
              <a:buSzPts val="2400"/>
            </a:pPr>
            <a:endParaRPr sz="2400" dirty="0">
              <a:latin typeface="Verdana"/>
              <a:ea typeface="Verdana"/>
              <a:cs typeface="Verdana"/>
              <a:sym typeface="Verdana"/>
            </a:endParaRPr>
          </a:p>
        </p:txBody>
      </p:sp>
      <p:sp>
        <p:nvSpPr>
          <p:cNvPr id="274" name="Google Shape;274;g111e50cb373_1_57"/>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0"/>
              </a:srgbClr>
            </a:outerShdw>
          </a:effectLst>
        </p:spPr>
        <p:txBody>
          <a:bodyPr spcFirstLastPara="1" wrap="square" lIns="91425" tIns="91425" rIns="91425" bIns="91425" anchor="ctr" anchorCtr="0">
            <a:noAutofit/>
          </a:bodyPr>
          <a:lstStyle/>
          <a:p>
            <a:pPr>
              <a:buSzPts val="1400"/>
            </a:pPr>
            <a:endParaRPr/>
          </a:p>
        </p:txBody>
      </p:sp>
      <p:pic>
        <p:nvPicPr>
          <p:cNvPr id="275" name="Google Shape;275;g111e50cb373_1_57"/>
          <p:cNvPicPr preferRelativeResize="0"/>
          <p:nvPr/>
        </p:nvPicPr>
        <p:blipFill>
          <a:blip r:embed="rId3">
            <a:alphaModFix/>
          </a:blip>
          <a:stretch>
            <a:fillRect/>
          </a:stretch>
        </p:blipFill>
        <p:spPr>
          <a:xfrm>
            <a:off x="2573051" y="2642683"/>
            <a:ext cx="7028149" cy="1977956"/>
          </a:xfrm>
          <a:prstGeom prst="rect">
            <a:avLst/>
          </a:prstGeom>
          <a:noFill/>
          <a:ln>
            <a:noFill/>
          </a:ln>
        </p:spPr>
      </p:pic>
      <p:sp>
        <p:nvSpPr>
          <p:cNvPr id="7"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3" name="Google Shape;283;g111e50cb373_1_69"/>
          <p:cNvSpPr txBox="1"/>
          <p:nvPr/>
        </p:nvSpPr>
        <p:spPr>
          <a:xfrm>
            <a:off x="1231900" y="569415"/>
            <a:ext cx="9102965" cy="1660800"/>
          </a:xfrm>
          <a:prstGeom prst="rect">
            <a:avLst/>
          </a:prstGeom>
          <a:noFill/>
          <a:ln>
            <a:noFill/>
          </a:ln>
        </p:spPr>
        <p:txBody>
          <a:bodyPr spcFirstLastPara="1" wrap="square" lIns="91425" tIns="45700" rIns="91425" bIns="45700" anchor="t" anchorCtr="0">
            <a:spAutoFit/>
          </a:bodyPr>
          <a:lstStyle/>
          <a:p>
            <a:pPr marL="350838" indent="-350838">
              <a:lnSpc>
                <a:spcPct val="115000"/>
              </a:lnSpc>
              <a:buClr>
                <a:schemeClr val="dk1"/>
              </a:buClr>
              <a:buSzPts val="1100"/>
            </a:pPr>
            <a:r>
              <a:rPr lang="en-US" sz="2200" dirty="0">
                <a:solidFill>
                  <a:schemeClr val="dk1"/>
                </a:solidFill>
                <a:latin typeface="Verdana"/>
                <a:ea typeface="Verdana"/>
                <a:cs typeface="Verdana"/>
                <a:sym typeface="Verdana"/>
              </a:rPr>
              <a:t>b. To which parts of the</a:t>
            </a:r>
            <a:endParaRPr sz="2200" dirty="0">
              <a:solidFill>
                <a:schemeClr val="dk1"/>
              </a:solidFill>
              <a:latin typeface="Verdana"/>
              <a:ea typeface="Verdana"/>
              <a:cs typeface="Verdana"/>
              <a:sym typeface="Verdana"/>
            </a:endParaRPr>
          </a:p>
          <a:p>
            <a:pPr marL="350838" indent="-350838">
              <a:lnSpc>
                <a:spcPct val="115000"/>
              </a:lnSpc>
              <a:buClr>
                <a:schemeClr val="dk1"/>
              </a:buClr>
              <a:buSzPts val="1100"/>
            </a:pPr>
            <a:r>
              <a:rPr lang="en-US" sz="2200" dirty="0">
                <a:solidFill>
                  <a:schemeClr val="dk1"/>
                </a:solidFill>
                <a:latin typeface="Verdana"/>
                <a:ea typeface="Verdana"/>
                <a:cs typeface="Verdana"/>
                <a:sym typeface="Verdana"/>
              </a:rPr>
              <a:t>    area model do these</a:t>
            </a:r>
            <a:endParaRPr sz="2200" dirty="0">
              <a:solidFill>
                <a:schemeClr val="dk1"/>
              </a:solidFill>
              <a:latin typeface="Verdana"/>
              <a:ea typeface="Verdana"/>
              <a:cs typeface="Verdana"/>
              <a:sym typeface="Verdana"/>
            </a:endParaRPr>
          </a:p>
          <a:p>
            <a:pPr marL="350838" indent="-350838">
              <a:lnSpc>
                <a:spcPct val="115000"/>
              </a:lnSpc>
              <a:buClr>
                <a:schemeClr val="dk1"/>
              </a:buClr>
              <a:buSzPts val="1100"/>
            </a:pPr>
            <a:r>
              <a:rPr lang="en-US" sz="2200" dirty="0">
                <a:solidFill>
                  <a:schemeClr val="dk1"/>
                </a:solidFill>
                <a:latin typeface="Verdana"/>
                <a:ea typeface="Verdana"/>
                <a:cs typeface="Verdana"/>
                <a:sym typeface="Verdana"/>
              </a:rPr>
              <a:t>    partial products relate?</a:t>
            </a:r>
            <a:endParaRPr sz="2200" dirty="0">
              <a:solidFill>
                <a:schemeClr val="dk1"/>
              </a:solidFill>
              <a:latin typeface="Verdana"/>
              <a:ea typeface="Verdana"/>
              <a:cs typeface="Verdana"/>
              <a:sym typeface="Verdana"/>
            </a:endParaRPr>
          </a:p>
          <a:p>
            <a:pPr>
              <a:buSzPts val="2400"/>
            </a:pPr>
            <a:endParaRPr sz="2600" dirty="0">
              <a:latin typeface="Verdana"/>
              <a:ea typeface="Verdana"/>
              <a:cs typeface="Verdana"/>
              <a:sym typeface="Verdana"/>
            </a:endParaRPr>
          </a:p>
        </p:txBody>
      </p:sp>
      <p:sp>
        <p:nvSpPr>
          <p:cNvPr id="284" name="Google Shape;284;g111e50cb373_1_69"/>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0"/>
              </a:srgbClr>
            </a:outerShdw>
          </a:effectLst>
        </p:spPr>
        <p:txBody>
          <a:bodyPr spcFirstLastPara="1" wrap="square" lIns="91425" tIns="91425" rIns="91425" bIns="91425" anchor="ctr" anchorCtr="0">
            <a:noAutofit/>
          </a:bodyPr>
          <a:lstStyle/>
          <a:p>
            <a:pPr>
              <a:buSzPts val="1400"/>
            </a:pPr>
            <a:endParaRPr/>
          </a:p>
        </p:txBody>
      </p:sp>
      <p:pic>
        <p:nvPicPr>
          <p:cNvPr id="285" name="Google Shape;285;g111e50cb373_1_69"/>
          <p:cNvPicPr preferRelativeResize="0"/>
          <p:nvPr/>
        </p:nvPicPr>
        <p:blipFill>
          <a:blip r:embed="rId3">
            <a:alphaModFix/>
          </a:blip>
          <a:stretch>
            <a:fillRect/>
          </a:stretch>
        </p:blipFill>
        <p:spPr>
          <a:xfrm>
            <a:off x="5975826" y="569433"/>
            <a:ext cx="4179125" cy="4007850"/>
          </a:xfrm>
          <a:prstGeom prst="rect">
            <a:avLst/>
          </a:prstGeom>
          <a:noFill/>
          <a:ln>
            <a:noFill/>
          </a:ln>
        </p:spPr>
      </p:pic>
      <p:sp>
        <p:nvSpPr>
          <p:cNvPr id="7"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23</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3" name="Google Shape;293;g111e50cb373_1_79"/>
          <p:cNvSpPr txBox="1"/>
          <p:nvPr/>
        </p:nvSpPr>
        <p:spPr>
          <a:xfrm>
            <a:off x="2007765" y="410665"/>
            <a:ext cx="8327100" cy="5064000"/>
          </a:xfrm>
          <a:prstGeom prst="rect">
            <a:avLst/>
          </a:prstGeom>
          <a:noFill/>
          <a:ln>
            <a:noFill/>
          </a:ln>
        </p:spPr>
        <p:txBody>
          <a:bodyPr spcFirstLastPara="1" wrap="square" lIns="91425" tIns="45700" rIns="91425" bIns="45700" anchor="t" anchorCtr="0">
            <a:spAutoFit/>
          </a:bodyPr>
          <a:lstStyle/>
          <a:p>
            <a:pPr marL="288925" indent="-288925">
              <a:lnSpc>
                <a:spcPct val="115000"/>
              </a:lnSpc>
              <a:buClr>
                <a:schemeClr val="dk1"/>
              </a:buClr>
              <a:buSzPts val="1100"/>
            </a:pPr>
            <a:r>
              <a:rPr lang="en-US" sz="2000" dirty="0">
                <a:solidFill>
                  <a:schemeClr val="dk1"/>
                </a:solidFill>
                <a:latin typeface="Verdana"/>
                <a:ea typeface="Verdana"/>
                <a:cs typeface="Verdana"/>
                <a:sym typeface="Verdana"/>
              </a:rPr>
              <a:t>c. Where do the values of 3.72, 12.4, and 248 come from in Alicia’s work that shows the standard algorithm?</a:t>
            </a:r>
            <a:endParaRPr sz="2000" dirty="0">
              <a:solidFill>
                <a:schemeClr val="dk1"/>
              </a:solidFill>
              <a:latin typeface="Verdana"/>
              <a:ea typeface="Verdana"/>
              <a:cs typeface="Verdana"/>
              <a:sym typeface="Verdana"/>
            </a:endParaRPr>
          </a:p>
          <a:p>
            <a:pPr>
              <a:lnSpc>
                <a:spcPct val="115000"/>
              </a:lnSpc>
              <a:buClr>
                <a:schemeClr val="dk1"/>
              </a:buClr>
              <a:buSzPts val="1100"/>
            </a:pPr>
            <a:endParaRPr sz="2000" dirty="0">
              <a:solidFill>
                <a:schemeClr val="dk1"/>
              </a:solidFill>
              <a:latin typeface="Verdana"/>
              <a:ea typeface="Verdana"/>
              <a:cs typeface="Verdana"/>
              <a:sym typeface="Verdana"/>
            </a:endParaRPr>
          </a:p>
          <a:p>
            <a:pPr>
              <a:lnSpc>
                <a:spcPct val="115000"/>
              </a:lnSpc>
              <a:buClr>
                <a:schemeClr val="dk1"/>
              </a:buClr>
              <a:buSzPts val="1100"/>
            </a:pPr>
            <a:r>
              <a:rPr lang="en-US" sz="2000" dirty="0">
                <a:solidFill>
                  <a:schemeClr val="dk1"/>
                </a:solidFill>
                <a:latin typeface="Verdana"/>
                <a:ea typeface="Verdana"/>
                <a:cs typeface="Verdana"/>
                <a:sym typeface="Verdana"/>
              </a:rPr>
              <a:t>• ____ is the product that results from multiplying</a:t>
            </a:r>
            <a:endParaRPr sz="2000" dirty="0">
              <a:solidFill>
                <a:schemeClr val="dk1"/>
              </a:solidFill>
              <a:latin typeface="Verdana"/>
              <a:ea typeface="Verdana"/>
              <a:cs typeface="Verdana"/>
              <a:sym typeface="Verdana"/>
            </a:endParaRPr>
          </a:p>
          <a:p>
            <a:pPr>
              <a:lnSpc>
                <a:spcPct val="115000"/>
              </a:lnSpc>
              <a:buClr>
                <a:schemeClr val="dk1"/>
              </a:buClr>
              <a:buSzPts val="1100"/>
            </a:pPr>
            <a:r>
              <a:rPr lang="en-US" sz="2000" dirty="0">
                <a:solidFill>
                  <a:schemeClr val="dk1"/>
                </a:solidFill>
                <a:latin typeface="Verdana"/>
                <a:ea typeface="Verdana"/>
                <a:cs typeface="Verdana"/>
                <a:sym typeface="Verdana"/>
              </a:rPr>
              <a:t>by each part of 12.4.</a:t>
            </a:r>
            <a:endParaRPr sz="2000" dirty="0">
              <a:solidFill>
                <a:schemeClr val="dk1"/>
              </a:solidFill>
              <a:latin typeface="Verdana"/>
              <a:ea typeface="Verdana"/>
              <a:cs typeface="Verdana"/>
              <a:sym typeface="Verdana"/>
            </a:endParaRPr>
          </a:p>
          <a:p>
            <a:pPr>
              <a:lnSpc>
                <a:spcPct val="115000"/>
              </a:lnSpc>
              <a:buClr>
                <a:schemeClr val="dk1"/>
              </a:buClr>
              <a:buSzPts val="1100"/>
            </a:pPr>
            <a:endParaRPr sz="2000" dirty="0">
              <a:solidFill>
                <a:schemeClr val="dk1"/>
              </a:solidFill>
              <a:latin typeface="Verdana"/>
              <a:ea typeface="Verdana"/>
              <a:cs typeface="Verdana"/>
              <a:sym typeface="Verdana"/>
            </a:endParaRPr>
          </a:p>
          <a:p>
            <a:pPr>
              <a:lnSpc>
                <a:spcPct val="115000"/>
              </a:lnSpc>
              <a:buClr>
                <a:schemeClr val="dk1"/>
              </a:buClr>
              <a:buSzPts val="1100"/>
            </a:pPr>
            <a:endParaRPr sz="2000" dirty="0">
              <a:solidFill>
                <a:schemeClr val="dk1"/>
              </a:solidFill>
              <a:latin typeface="Verdana"/>
              <a:ea typeface="Verdana"/>
              <a:cs typeface="Verdana"/>
              <a:sym typeface="Verdana"/>
            </a:endParaRPr>
          </a:p>
          <a:p>
            <a:pPr>
              <a:lnSpc>
                <a:spcPct val="115000"/>
              </a:lnSpc>
              <a:buClr>
                <a:schemeClr val="dk1"/>
              </a:buClr>
              <a:buSzPts val="1100"/>
            </a:pPr>
            <a:r>
              <a:rPr lang="en-US" sz="2000" dirty="0">
                <a:solidFill>
                  <a:schemeClr val="dk1"/>
                </a:solidFill>
                <a:latin typeface="Verdana"/>
                <a:ea typeface="Verdana"/>
                <a:cs typeface="Verdana"/>
                <a:sym typeface="Verdana"/>
              </a:rPr>
              <a:t>• ____ is the product that results from multiplying</a:t>
            </a:r>
            <a:endParaRPr sz="2000" dirty="0">
              <a:solidFill>
                <a:schemeClr val="dk1"/>
              </a:solidFill>
              <a:latin typeface="Verdana"/>
              <a:ea typeface="Verdana"/>
              <a:cs typeface="Verdana"/>
              <a:sym typeface="Verdana"/>
            </a:endParaRPr>
          </a:p>
          <a:p>
            <a:pPr>
              <a:lnSpc>
                <a:spcPct val="115000"/>
              </a:lnSpc>
              <a:buClr>
                <a:schemeClr val="dk1"/>
              </a:buClr>
              <a:buSzPts val="1100"/>
            </a:pPr>
            <a:r>
              <a:rPr lang="en-US" sz="2000" dirty="0">
                <a:solidFill>
                  <a:schemeClr val="dk1"/>
                </a:solidFill>
                <a:latin typeface="Verdana"/>
                <a:ea typeface="Verdana"/>
                <a:cs typeface="Verdana"/>
                <a:sym typeface="Verdana"/>
              </a:rPr>
              <a:t>by each part of 12.4.</a:t>
            </a:r>
            <a:endParaRPr sz="2000" dirty="0">
              <a:solidFill>
                <a:schemeClr val="dk1"/>
              </a:solidFill>
              <a:latin typeface="Verdana"/>
              <a:ea typeface="Verdana"/>
              <a:cs typeface="Verdana"/>
              <a:sym typeface="Verdana"/>
            </a:endParaRPr>
          </a:p>
          <a:p>
            <a:pPr>
              <a:lnSpc>
                <a:spcPct val="115000"/>
              </a:lnSpc>
              <a:buClr>
                <a:schemeClr val="dk1"/>
              </a:buClr>
              <a:buSzPts val="1100"/>
            </a:pPr>
            <a:endParaRPr sz="2000" dirty="0">
              <a:solidFill>
                <a:schemeClr val="dk1"/>
              </a:solidFill>
              <a:latin typeface="Verdana"/>
              <a:ea typeface="Verdana"/>
              <a:cs typeface="Verdana"/>
              <a:sym typeface="Verdana"/>
            </a:endParaRPr>
          </a:p>
          <a:p>
            <a:pPr>
              <a:lnSpc>
                <a:spcPct val="115000"/>
              </a:lnSpc>
              <a:buClr>
                <a:schemeClr val="dk1"/>
              </a:buClr>
              <a:buSzPts val="1100"/>
            </a:pPr>
            <a:endParaRPr sz="2000" dirty="0">
              <a:solidFill>
                <a:schemeClr val="dk1"/>
              </a:solidFill>
              <a:latin typeface="Verdana"/>
              <a:ea typeface="Verdana"/>
              <a:cs typeface="Verdana"/>
              <a:sym typeface="Verdana"/>
            </a:endParaRPr>
          </a:p>
          <a:p>
            <a:pPr>
              <a:lnSpc>
                <a:spcPct val="115000"/>
              </a:lnSpc>
              <a:buClr>
                <a:schemeClr val="dk1"/>
              </a:buClr>
              <a:buSzPts val="1100"/>
            </a:pPr>
            <a:r>
              <a:rPr lang="en-US" sz="2000" dirty="0">
                <a:solidFill>
                  <a:schemeClr val="dk1"/>
                </a:solidFill>
                <a:latin typeface="Verdana"/>
                <a:ea typeface="Verdana"/>
                <a:cs typeface="Verdana"/>
                <a:sym typeface="Verdana"/>
              </a:rPr>
              <a:t>• ____ is the product that results from multiplying</a:t>
            </a:r>
            <a:endParaRPr sz="2000" dirty="0">
              <a:solidFill>
                <a:schemeClr val="dk1"/>
              </a:solidFill>
              <a:latin typeface="Verdana"/>
              <a:ea typeface="Verdana"/>
              <a:cs typeface="Verdana"/>
              <a:sym typeface="Verdana"/>
            </a:endParaRPr>
          </a:p>
          <a:p>
            <a:pPr>
              <a:lnSpc>
                <a:spcPct val="115000"/>
              </a:lnSpc>
              <a:buClr>
                <a:schemeClr val="dk1"/>
              </a:buClr>
              <a:buSzPts val="1100"/>
            </a:pPr>
            <a:r>
              <a:rPr lang="en-US" sz="2000" dirty="0">
                <a:solidFill>
                  <a:schemeClr val="dk1"/>
                </a:solidFill>
                <a:latin typeface="Verdana"/>
                <a:ea typeface="Verdana"/>
                <a:cs typeface="Verdana"/>
                <a:sym typeface="Verdana"/>
              </a:rPr>
              <a:t>by each part of 12.4.</a:t>
            </a:r>
            <a:endParaRPr sz="2000" dirty="0">
              <a:solidFill>
                <a:schemeClr val="dk1"/>
              </a:solidFill>
              <a:latin typeface="Verdana"/>
              <a:ea typeface="Verdana"/>
              <a:cs typeface="Verdana"/>
              <a:sym typeface="Verdana"/>
            </a:endParaRPr>
          </a:p>
          <a:p>
            <a:pPr>
              <a:buSzPts val="2400"/>
            </a:pPr>
            <a:endParaRPr sz="2400" dirty="0">
              <a:latin typeface="Verdana"/>
              <a:ea typeface="Verdana"/>
              <a:cs typeface="Verdana"/>
              <a:sym typeface="Verdana"/>
            </a:endParaRPr>
          </a:p>
        </p:txBody>
      </p:sp>
      <p:sp>
        <p:nvSpPr>
          <p:cNvPr id="294" name="Google Shape;294;g111e50cb373_1_79"/>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0"/>
              </a:srgbClr>
            </a:outerShdw>
          </a:effectLst>
        </p:spPr>
        <p:txBody>
          <a:bodyPr spcFirstLastPara="1" wrap="square" lIns="91425" tIns="91425" rIns="91425" bIns="91425" anchor="ctr" anchorCtr="0">
            <a:noAutofit/>
          </a:bodyPr>
          <a:lstStyle/>
          <a:p>
            <a:pPr>
              <a:buSzPts val="1400"/>
            </a:pPr>
            <a:endParaRPr/>
          </a:p>
        </p:txBody>
      </p:sp>
      <p:pic>
        <p:nvPicPr>
          <p:cNvPr id="295" name="Google Shape;295;g111e50cb373_1_79"/>
          <p:cNvPicPr preferRelativeResize="0"/>
          <p:nvPr/>
        </p:nvPicPr>
        <p:blipFill>
          <a:blip r:embed="rId3">
            <a:alphaModFix/>
          </a:blip>
          <a:stretch>
            <a:fillRect/>
          </a:stretch>
        </p:blipFill>
        <p:spPr>
          <a:xfrm>
            <a:off x="8833383" y="1248826"/>
            <a:ext cx="1115375" cy="3985675"/>
          </a:xfrm>
          <a:prstGeom prst="rect">
            <a:avLst/>
          </a:prstGeom>
          <a:noFill/>
          <a:ln>
            <a:noFill/>
          </a:ln>
        </p:spPr>
      </p:pic>
      <p:sp>
        <p:nvSpPr>
          <p:cNvPr id="7"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23</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3" name="Google Shape;303;g111e50cb373_1_92"/>
          <p:cNvSpPr txBox="1"/>
          <p:nvPr/>
        </p:nvSpPr>
        <p:spPr>
          <a:xfrm>
            <a:off x="965200" y="410665"/>
            <a:ext cx="10412230" cy="4179000"/>
          </a:xfrm>
          <a:prstGeom prst="rect">
            <a:avLst/>
          </a:prstGeom>
          <a:noFill/>
          <a:ln>
            <a:noFill/>
          </a:ln>
        </p:spPr>
        <p:txBody>
          <a:bodyPr spcFirstLastPara="1" wrap="square" lIns="91425" tIns="45700" rIns="91425" bIns="45700" anchor="t" anchorCtr="0">
            <a:spAutoFit/>
          </a:bodyPr>
          <a:lstStyle/>
          <a:p>
            <a:pPr marL="350838" indent="-350838">
              <a:lnSpc>
                <a:spcPct val="115000"/>
              </a:lnSpc>
              <a:buClr>
                <a:schemeClr val="dk1"/>
              </a:buClr>
              <a:buSzPts val="1100"/>
            </a:pPr>
            <a:r>
              <a:rPr lang="en-US" sz="2100" dirty="0">
                <a:solidFill>
                  <a:schemeClr val="dk1"/>
                </a:solidFill>
                <a:latin typeface="Verdana"/>
                <a:ea typeface="Verdana"/>
                <a:cs typeface="Verdana"/>
                <a:sym typeface="Verdana"/>
              </a:rPr>
              <a:t>d. Draw lines to indicate connections between the partial products found in each of Sergio and Alicia’s methods.</a:t>
            </a:r>
            <a:endParaRPr sz="2100" dirty="0">
              <a:solidFill>
                <a:schemeClr val="dk1"/>
              </a:solidFill>
              <a:latin typeface="Verdana"/>
              <a:ea typeface="Verdana"/>
              <a:cs typeface="Verdana"/>
              <a:sym typeface="Verdana"/>
            </a:endParaRPr>
          </a:p>
          <a:p>
            <a:pPr marL="350838" indent="-350838">
              <a:lnSpc>
                <a:spcPct val="115000"/>
              </a:lnSpc>
              <a:buClr>
                <a:schemeClr val="dk1"/>
              </a:buClr>
              <a:buSzPts val="1100"/>
            </a:pPr>
            <a:endParaRPr sz="2100" dirty="0">
              <a:solidFill>
                <a:schemeClr val="dk1"/>
              </a:solidFill>
              <a:latin typeface="Verdana"/>
              <a:ea typeface="Verdana"/>
              <a:cs typeface="Verdana"/>
              <a:sym typeface="Verdana"/>
            </a:endParaRPr>
          </a:p>
          <a:p>
            <a:pPr marL="350838" indent="-350838">
              <a:lnSpc>
                <a:spcPct val="115000"/>
              </a:lnSpc>
              <a:buClr>
                <a:schemeClr val="dk1"/>
              </a:buClr>
              <a:buSzPts val="1100"/>
            </a:pPr>
            <a:endParaRPr sz="2100" dirty="0">
              <a:solidFill>
                <a:schemeClr val="dk1"/>
              </a:solidFill>
              <a:latin typeface="Verdana"/>
              <a:ea typeface="Verdana"/>
              <a:cs typeface="Verdana"/>
              <a:sym typeface="Verdana"/>
            </a:endParaRPr>
          </a:p>
          <a:p>
            <a:pPr marL="350838" indent="-350838">
              <a:lnSpc>
                <a:spcPct val="115000"/>
              </a:lnSpc>
              <a:buClr>
                <a:schemeClr val="dk1"/>
              </a:buClr>
              <a:buSzPts val="1100"/>
            </a:pPr>
            <a:endParaRPr sz="2100" dirty="0">
              <a:solidFill>
                <a:schemeClr val="dk1"/>
              </a:solidFill>
              <a:latin typeface="Verdana"/>
              <a:ea typeface="Verdana"/>
              <a:cs typeface="Verdana"/>
              <a:sym typeface="Verdana"/>
            </a:endParaRPr>
          </a:p>
          <a:p>
            <a:pPr marL="350838" indent="-350838">
              <a:lnSpc>
                <a:spcPct val="115000"/>
              </a:lnSpc>
              <a:buClr>
                <a:schemeClr val="dk1"/>
              </a:buClr>
              <a:buSzPts val="1100"/>
            </a:pPr>
            <a:endParaRPr sz="2100" dirty="0">
              <a:solidFill>
                <a:schemeClr val="dk1"/>
              </a:solidFill>
              <a:latin typeface="Verdana"/>
              <a:ea typeface="Verdana"/>
              <a:cs typeface="Verdana"/>
              <a:sym typeface="Verdana"/>
            </a:endParaRPr>
          </a:p>
          <a:p>
            <a:pPr marL="350838" indent="-350838">
              <a:lnSpc>
                <a:spcPct val="115000"/>
              </a:lnSpc>
              <a:buClr>
                <a:schemeClr val="dk1"/>
              </a:buClr>
              <a:buSzPts val="1100"/>
            </a:pPr>
            <a:endParaRPr sz="2100" dirty="0">
              <a:solidFill>
                <a:schemeClr val="dk1"/>
              </a:solidFill>
              <a:latin typeface="Verdana"/>
              <a:ea typeface="Verdana"/>
              <a:cs typeface="Verdana"/>
              <a:sym typeface="Verdana"/>
            </a:endParaRPr>
          </a:p>
          <a:p>
            <a:pPr marL="350838" indent="-350838">
              <a:lnSpc>
                <a:spcPct val="115000"/>
              </a:lnSpc>
              <a:buClr>
                <a:schemeClr val="dk1"/>
              </a:buClr>
              <a:buSzPts val="1100"/>
            </a:pPr>
            <a:endParaRPr sz="2100" dirty="0">
              <a:solidFill>
                <a:schemeClr val="dk1"/>
              </a:solidFill>
              <a:latin typeface="Verdana"/>
              <a:ea typeface="Verdana"/>
              <a:cs typeface="Verdana"/>
              <a:sym typeface="Verdana"/>
            </a:endParaRPr>
          </a:p>
          <a:p>
            <a:pPr marL="350838" indent="-350838">
              <a:lnSpc>
                <a:spcPct val="115000"/>
              </a:lnSpc>
              <a:buClr>
                <a:schemeClr val="dk1"/>
              </a:buClr>
              <a:buSzPts val="1100"/>
            </a:pPr>
            <a:r>
              <a:rPr lang="en-US" sz="2100" dirty="0">
                <a:solidFill>
                  <a:schemeClr val="dk1"/>
                </a:solidFill>
                <a:latin typeface="Verdana"/>
                <a:ea typeface="Verdana"/>
                <a:cs typeface="Verdana"/>
                <a:sym typeface="Verdana"/>
              </a:rPr>
              <a:t>e. In each method, why are the numbers between the horizontal lines aligned vertically?</a:t>
            </a:r>
            <a:endParaRPr sz="2100" dirty="0">
              <a:solidFill>
                <a:schemeClr val="dk1"/>
              </a:solidFill>
              <a:latin typeface="Verdana"/>
              <a:ea typeface="Verdana"/>
              <a:cs typeface="Verdana"/>
              <a:sym typeface="Verdana"/>
            </a:endParaRPr>
          </a:p>
          <a:p>
            <a:pPr marL="350838" indent="-350838">
              <a:buSzPts val="2400"/>
            </a:pPr>
            <a:endParaRPr sz="2400" dirty="0">
              <a:latin typeface="Verdana"/>
              <a:ea typeface="Verdana"/>
              <a:cs typeface="Verdana"/>
              <a:sym typeface="Verdana"/>
            </a:endParaRPr>
          </a:p>
        </p:txBody>
      </p:sp>
      <p:sp>
        <p:nvSpPr>
          <p:cNvPr id="304" name="Google Shape;304;g111e50cb373_1_92"/>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0"/>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23</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g111e50cb373_1_101"/>
          <p:cNvSpPr/>
          <p:nvPr/>
        </p:nvSpPr>
        <p:spPr>
          <a:xfrm>
            <a:off x="0" y="-8226"/>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13" name="Google Shape;313;g111e50cb373_1_101"/>
          <p:cNvSpPr txBox="1">
            <a:spLocks noGrp="1"/>
          </p:cNvSpPr>
          <p:nvPr>
            <p:ph type="title" idx="4294967295"/>
          </p:nvPr>
        </p:nvSpPr>
        <p:spPr>
          <a:xfrm>
            <a:off x="5225955" y="2766145"/>
            <a:ext cx="448080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Practice</a:t>
            </a:r>
            <a:endParaRPr sz="5100" b="1">
              <a:solidFill>
                <a:srgbClr val="54B5D1"/>
              </a:solidFill>
              <a:latin typeface="Verdana"/>
              <a:ea typeface="Verdana"/>
              <a:cs typeface="Verdana"/>
              <a:sym typeface="Verdana"/>
            </a:endParaRPr>
          </a:p>
        </p:txBody>
      </p:sp>
      <p:pic>
        <p:nvPicPr>
          <p:cNvPr id="314" name="Google Shape;314;g111e50cb373_1_101" descr="Icon&#10;&#10;Description automatically generated"/>
          <p:cNvPicPr preferRelativeResize="0"/>
          <p:nvPr/>
        </p:nvPicPr>
        <p:blipFill rotWithShape="1">
          <a:blip r:embed="rId3">
            <a:alphaModFix/>
          </a:blip>
          <a:srcRect/>
          <a:stretch/>
        </p:blipFill>
        <p:spPr>
          <a:xfrm>
            <a:off x="4512723"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23</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2" name="Google Shape;322;g111e50cb373_1_110"/>
          <p:cNvSpPr txBox="1"/>
          <p:nvPr/>
        </p:nvSpPr>
        <p:spPr>
          <a:xfrm>
            <a:off x="1262550" y="93443"/>
            <a:ext cx="8148300" cy="13332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400" b="1">
                <a:solidFill>
                  <a:srgbClr val="54B5D1"/>
                </a:solidFill>
                <a:latin typeface="Verdana"/>
                <a:ea typeface="Verdana"/>
                <a:cs typeface="Verdana"/>
                <a:sym typeface="Verdana"/>
              </a:rPr>
              <a:t>1.4.4 Guided Practice: Multiplying Decimals to the Thousandths</a:t>
            </a:r>
            <a:endParaRPr sz="1200"/>
          </a:p>
        </p:txBody>
      </p:sp>
      <p:pic>
        <p:nvPicPr>
          <p:cNvPr id="323" name="Google Shape;323;g111e50cb373_1_110"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12742" y="309033"/>
            <a:ext cx="749808" cy="749808"/>
          </a:xfrm>
          <a:prstGeom prst="rect">
            <a:avLst/>
          </a:prstGeom>
          <a:noFill/>
          <a:ln>
            <a:noFill/>
          </a:ln>
          <a:effectLst>
            <a:outerShdw blurRad="50800" dist="38100" dir="2700000" algn="tl" rotWithShape="0">
              <a:srgbClr val="000000">
                <a:alpha val="40000"/>
              </a:srgbClr>
            </a:outerShdw>
          </a:effectLst>
        </p:spPr>
      </p:pic>
      <p:sp>
        <p:nvSpPr>
          <p:cNvPr id="324" name="Google Shape;324;g111e50cb373_1_110"/>
          <p:cNvSpPr txBox="1"/>
          <p:nvPr/>
        </p:nvSpPr>
        <p:spPr>
          <a:xfrm>
            <a:off x="1358900" y="1682350"/>
            <a:ext cx="9007498" cy="815700"/>
          </a:xfrm>
          <a:prstGeom prst="rect">
            <a:avLst/>
          </a:prstGeom>
          <a:noFill/>
          <a:ln>
            <a:noFill/>
          </a:ln>
        </p:spPr>
        <p:txBody>
          <a:bodyPr spcFirstLastPara="1" wrap="square" lIns="91425" tIns="45700" rIns="91425" bIns="45700" anchor="t" anchorCtr="0">
            <a:spAutoFit/>
          </a:bodyPr>
          <a:lstStyle/>
          <a:p>
            <a:pPr>
              <a:lnSpc>
                <a:spcPct val="115000"/>
              </a:lnSpc>
              <a:buClr>
                <a:schemeClr val="dk1"/>
              </a:buClr>
              <a:buSzPts val="1100"/>
            </a:pPr>
            <a:r>
              <a:rPr lang="en-US" sz="2000">
                <a:solidFill>
                  <a:schemeClr val="dk1"/>
                </a:solidFill>
                <a:latin typeface="Verdana"/>
                <a:ea typeface="Verdana"/>
                <a:cs typeface="Verdana"/>
                <a:sym typeface="Verdana"/>
              </a:rPr>
              <a:t>1. </a:t>
            </a:r>
            <a:r>
              <a:rPr lang="en-US" sz="2000" dirty="0">
                <a:solidFill>
                  <a:schemeClr val="dk1"/>
                </a:solidFill>
                <a:latin typeface="Verdana"/>
                <a:ea typeface="Verdana"/>
                <a:cs typeface="Verdana"/>
                <a:sym typeface="Verdana"/>
              </a:rPr>
              <a:t>Find the product </a:t>
            </a:r>
            <a:r>
              <a:rPr lang="en-US" sz="2000" dirty="0">
                <a:solidFill>
                  <a:schemeClr val="dk1"/>
                </a:solidFill>
                <a:latin typeface="Cambria Math"/>
                <a:ea typeface="Cambria Math"/>
                <a:cs typeface="Cambria Math"/>
                <a:sym typeface="Cambria Math"/>
              </a:rPr>
              <a:t>(32.5)(6.02)</a:t>
            </a:r>
            <a:r>
              <a:rPr lang="en-US" sz="2000" dirty="0">
                <a:solidFill>
                  <a:schemeClr val="dk1"/>
                </a:solidFill>
                <a:latin typeface="Verdana"/>
                <a:ea typeface="Verdana"/>
                <a:cs typeface="Verdana"/>
                <a:sym typeface="Verdana"/>
              </a:rPr>
              <a:t> using the area model below.</a:t>
            </a:r>
            <a:endParaRPr sz="2000" dirty="0">
              <a:solidFill>
                <a:schemeClr val="dk1"/>
              </a:solidFill>
              <a:latin typeface="Verdana"/>
              <a:ea typeface="Verdana"/>
              <a:cs typeface="Verdana"/>
              <a:sym typeface="Verdana"/>
            </a:endParaRPr>
          </a:p>
          <a:p>
            <a:pPr>
              <a:buSzPts val="2400"/>
            </a:pPr>
            <a:endParaRPr sz="2400" dirty="0">
              <a:latin typeface="Verdana"/>
              <a:ea typeface="Verdana"/>
              <a:cs typeface="Verdana"/>
              <a:sym typeface="Verdana"/>
            </a:endParaRPr>
          </a:p>
        </p:txBody>
      </p:sp>
      <p:sp>
        <p:nvSpPr>
          <p:cNvPr id="325" name="Google Shape;325;g111e50cb373_1_110"/>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0"/>
              </a:srgbClr>
            </a:outerShdw>
          </a:effectLst>
        </p:spPr>
        <p:txBody>
          <a:bodyPr spcFirstLastPara="1" wrap="square" lIns="91425" tIns="91425" rIns="91425" bIns="91425" anchor="ctr" anchorCtr="0">
            <a:noAutofit/>
          </a:bodyPr>
          <a:lstStyle/>
          <a:p>
            <a:pPr>
              <a:buSzPts val="1400"/>
            </a:pPr>
            <a:endParaRPr/>
          </a:p>
        </p:txBody>
      </p:sp>
      <p:pic>
        <p:nvPicPr>
          <p:cNvPr id="326" name="Google Shape;326;g111e50cb373_1_110"/>
          <p:cNvPicPr preferRelativeResize="0"/>
          <p:nvPr/>
        </p:nvPicPr>
        <p:blipFill>
          <a:blip r:embed="rId4">
            <a:alphaModFix/>
          </a:blip>
          <a:stretch>
            <a:fillRect/>
          </a:stretch>
        </p:blipFill>
        <p:spPr>
          <a:xfrm>
            <a:off x="2985801" y="2345976"/>
            <a:ext cx="5907825" cy="3779725"/>
          </a:xfrm>
          <a:prstGeom prst="rect">
            <a:avLst/>
          </a:prstGeom>
          <a:noFill/>
          <a:ln>
            <a:noFill/>
          </a:ln>
        </p:spPr>
      </p:pic>
      <p:sp>
        <p:nvSpPr>
          <p:cNvPr id="9"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23</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4" name="Google Shape;334;g111e50cb373_1_120"/>
          <p:cNvSpPr txBox="1"/>
          <p:nvPr/>
        </p:nvSpPr>
        <p:spPr>
          <a:xfrm>
            <a:off x="787400" y="386281"/>
            <a:ext cx="10662576" cy="1877397"/>
          </a:xfrm>
          <a:prstGeom prst="rect">
            <a:avLst/>
          </a:prstGeom>
          <a:noFill/>
          <a:ln>
            <a:noFill/>
          </a:ln>
        </p:spPr>
        <p:txBody>
          <a:bodyPr spcFirstLastPara="1" wrap="square" lIns="91425" tIns="45700" rIns="91425" bIns="45700" anchor="t" anchorCtr="0">
            <a:spAutoFit/>
          </a:bodyPr>
          <a:lstStyle/>
          <a:p>
            <a:pPr marL="350838" indent="-350838">
              <a:lnSpc>
                <a:spcPct val="115000"/>
              </a:lnSpc>
              <a:buClr>
                <a:schemeClr val="dk1"/>
              </a:buClr>
              <a:buSzPts val="1100"/>
            </a:pPr>
            <a:r>
              <a:rPr lang="en-US" sz="2000" dirty="0">
                <a:solidFill>
                  <a:schemeClr val="dk1"/>
                </a:solidFill>
                <a:latin typeface="Verdana"/>
                <a:ea typeface="Verdana"/>
                <a:cs typeface="Verdana"/>
                <a:sym typeface="Verdana"/>
              </a:rPr>
              <a:t>2. With your partner, determine who will be Partner A and Partner B.</a:t>
            </a:r>
            <a:endParaRPr sz="2000" dirty="0">
              <a:solidFill>
                <a:schemeClr val="dk1"/>
              </a:solidFill>
              <a:latin typeface="Verdana"/>
              <a:ea typeface="Verdana"/>
              <a:cs typeface="Verdana"/>
              <a:sym typeface="Verdana"/>
            </a:endParaRPr>
          </a:p>
          <a:p>
            <a:pPr>
              <a:lnSpc>
                <a:spcPct val="115000"/>
              </a:lnSpc>
              <a:buClr>
                <a:schemeClr val="dk1"/>
              </a:buClr>
              <a:buSzPts val="1100"/>
            </a:pPr>
            <a:endParaRPr sz="2000" dirty="0">
              <a:solidFill>
                <a:schemeClr val="dk1"/>
              </a:solidFill>
              <a:latin typeface="Verdana"/>
              <a:ea typeface="Verdana"/>
              <a:cs typeface="Verdana"/>
              <a:sym typeface="Verdana"/>
            </a:endParaRPr>
          </a:p>
          <a:p>
            <a:pPr marL="803275" indent="-338138">
              <a:lnSpc>
                <a:spcPct val="115000"/>
              </a:lnSpc>
              <a:buClr>
                <a:schemeClr val="dk1"/>
              </a:buClr>
              <a:buSzPts val="1100"/>
            </a:pPr>
            <a:r>
              <a:rPr lang="en-US" sz="2000" dirty="0">
                <a:solidFill>
                  <a:schemeClr val="dk1"/>
                </a:solidFill>
                <a:latin typeface="Verdana"/>
                <a:ea typeface="Verdana"/>
                <a:cs typeface="Verdana"/>
                <a:sym typeface="Verdana"/>
              </a:rPr>
              <a:t>a. Find the product of </a:t>
            </a:r>
            <a:r>
              <a:rPr lang="en-US" sz="2000" dirty="0">
                <a:solidFill>
                  <a:schemeClr val="dk1"/>
                </a:solidFill>
                <a:latin typeface="Cambria Math"/>
                <a:ea typeface="Cambria Math"/>
                <a:cs typeface="Cambria Math"/>
                <a:sym typeface="Cambria Math"/>
              </a:rPr>
              <a:t>3.621 x 9.7</a:t>
            </a:r>
            <a:r>
              <a:rPr lang="en-US" sz="2000" dirty="0">
                <a:solidFill>
                  <a:schemeClr val="dk1"/>
                </a:solidFill>
                <a:latin typeface="Verdana"/>
                <a:ea typeface="Verdana"/>
                <a:cs typeface="Verdana"/>
                <a:sym typeface="Verdana"/>
              </a:rPr>
              <a:t> using the method indicated. Show your work in the space provided.</a:t>
            </a:r>
            <a:endParaRPr sz="2000" dirty="0">
              <a:solidFill>
                <a:schemeClr val="dk1"/>
              </a:solidFill>
              <a:latin typeface="Verdana"/>
              <a:ea typeface="Verdana"/>
              <a:cs typeface="Verdana"/>
              <a:sym typeface="Verdana"/>
            </a:endParaRPr>
          </a:p>
          <a:p>
            <a:pPr>
              <a:buSzPts val="2400"/>
            </a:pPr>
            <a:endParaRPr sz="2400" dirty="0">
              <a:latin typeface="Verdana"/>
              <a:ea typeface="Verdana"/>
              <a:cs typeface="Verdana"/>
              <a:sym typeface="Verdana"/>
            </a:endParaRPr>
          </a:p>
        </p:txBody>
      </p:sp>
      <p:sp>
        <p:nvSpPr>
          <p:cNvPr id="335" name="Google Shape;335;g111e50cb373_1_120"/>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0"/>
              </a:srgbClr>
            </a:outerShdw>
          </a:effectLst>
        </p:spPr>
        <p:txBody>
          <a:bodyPr spcFirstLastPara="1" wrap="square" lIns="91425" tIns="91425" rIns="91425" bIns="91425" anchor="ctr" anchorCtr="0">
            <a:noAutofit/>
          </a:bodyPr>
          <a:lstStyle/>
          <a:p>
            <a:pPr>
              <a:buSzPts val="1400"/>
            </a:pPr>
            <a:endParaRPr/>
          </a:p>
        </p:txBody>
      </p:sp>
      <p:pic>
        <p:nvPicPr>
          <p:cNvPr id="336" name="Google Shape;336;g111e50cb373_1_120"/>
          <p:cNvPicPr preferRelativeResize="0"/>
          <p:nvPr/>
        </p:nvPicPr>
        <p:blipFill>
          <a:blip r:embed="rId3">
            <a:alphaModFix/>
          </a:blip>
          <a:stretch>
            <a:fillRect/>
          </a:stretch>
        </p:blipFill>
        <p:spPr>
          <a:xfrm>
            <a:off x="2947063" y="2072101"/>
            <a:ext cx="6343250" cy="4320075"/>
          </a:xfrm>
          <a:prstGeom prst="rect">
            <a:avLst/>
          </a:prstGeom>
          <a:noFill/>
          <a:ln>
            <a:noFill/>
          </a:ln>
        </p:spPr>
      </p:pic>
      <p:sp>
        <p:nvSpPr>
          <p:cNvPr id="7"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23</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4" name="Google Shape;344;g111e50cb373_1_168"/>
          <p:cNvSpPr txBox="1"/>
          <p:nvPr/>
        </p:nvSpPr>
        <p:spPr>
          <a:xfrm>
            <a:off x="1028700" y="410665"/>
            <a:ext cx="10285230" cy="4708941"/>
          </a:xfrm>
          <a:prstGeom prst="rect">
            <a:avLst/>
          </a:prstGeom>
          <a:noFill/>
          <a:ln>
            <a:noFill/>
          </a:ln>
        </p:spPr>
        <p:txBody>
          <a:bodyPr spcFirstLastPara="1" wrap="square" lIns="91425" tIns="45700" rIns="91425" bIns="45700" anchor="t" anchorCtr="0">
            <a:spAutoFit/>
          </a:bodyPr>
          <a:lstStyle/>
          <a:p>
            <a:pPr marL="350838" indent="-350838">
              <a:lnSpc>
                <a:spcPct val="115000"/>
              </a:lnSpc>
              <a:buClr>
                <a:schemeClr val="dk1"/>
              </a:buClr>
              <a:buSzPts val="1100"/>
            </a:pPr>
            <a:r>
              <a:rPr lang="en-US" sz="2000" dirty="0">
                <a:solidFill>
                  <a:schemeClr val="dk1"/>
                </a:solidFill>
                <a:latin typeface="Verdana"/>
                <a:ea typeface="Verdana"/>
                <a:cs typeface="Verdana"/>
                <a:sym typeface="Verdana"/>
              </a:rPr>
              <a:t>b. Compare your work with your partner to verify that you both found the same product. Discuss any errors and make corrections as needed. Once you have come to an agreement, write your partner’s work in your workbook in the space provided.</a:t>
            </a:r>
            <a:endParaRPr sz="2000" dirty="0">
              <a:solidFill>
                <a:schemeClr val="dk1"/>
              </a:solidFill>
              <a:latin typeface="Verdana"/>
              <a:ea typeface="Verdana"/>
              <a:cs typeface="Verdana"/>
              <a:sym typeface="Verdana"/>
            </a:endParaRPr>
          </a:p>
          <a:p>
            <a:pPr marL="350838" indent="-350838">
              <a:lnSpc>
                <a:spcPct val="115000"/>
              </a:lnSpc>
              <a:buClr>
                <a:schemeClr val="dk1"/>
              </a:buClr>
              <a:buSzPts val="1100"/>
            </a:pPr>
            <a:endParaRPr sz="2000" dirty="0">
              <a:solidFill>
                <a:schemeClr val="dk1"/>
              </a:solidFill>
              <a:latin typeface="Verdana"/>
              <a:ea typeface="Verdana"/>
              <a:cs typeface="Verdana"/>
              <a:sym typeface="Verdana"/>
            </a:endParaRPr>
          </a:p>
          <a:p>
            <a:pPr marL="350838" indent="-350838">
              <a:lnSpc>
                <a:spcPct val="115000"/>
              </a:lnSpc>
              <a:buClr>
                <a:schemeClr val="dk1"/>
              </a:buClr>
              <a:buSzPts val="1100"/>
            </a:pPr>
            <a:endParaRPr sz="2000" dirty="0">
              <a:solidFill>
                <a:schemeClr val="dk1"/>
              </a:solidFill>
              <a:latin typeface="Verdana"/>
              <a:ea typeface="Verdana"/>
              <a:cs typeface="Verdana"/>
              <a:sym typeface="Verdana"/>
            </a:endParaRPr>
          </a:p>
          <a:p>
            <a:pPr marL="350838" indent="-350838">
              <a:lnSpc>
                <a:spcPct val="115000"/>
              </a:lnSpc>
              <a:buClr>
                <a:schemeClr val="dk1"/>
              </a:buClr>
              <a:buSzPts val="1100"/>
            </a:pPr>
            <a:r>
              <a:rPr lang="en-US" sz="2000" dirty="0">
                <a:solidFill>
                  <a:schemeClr val="dk1"/>
                </a:solidFill>
                <a:latin typeface="Verdana"/>
                <a:ea typeface="Verdana"/>
                <a:cs typeface="Verdana"/>
                <a:sym typeface="Verdana"/>
              </a:rPr>
              <a:t>c. Discuss with your partner the strengths and weaknesses of using each method.</a:t>
            </a:r>
            <a:endParaRPr sz="2000" dirty="0">
              <a:solidFill>
                <a:schemeClr val="dk1"/>
              </a:solidFill>
              <a:latin typeface="Verdana"/>
              <a:ea typeface="Verdana"/>
              <a:cs typeface="Verdana"/>
              <a:sym typeface="Verdana"/>
            </a:endParaRPr>
          </a:p>
          <a:p>
            <a:pPr marL="350838" indent="-350838">
              <a:lnSpc>
                <a:spcPct val="115000"/>
              </a:lnSpc>
              <a:buClr>
                <a:schemeClr val="dk1"/>
              </a:buClr>
              <a:buSzPts val="1100"/>
            </a:pPr>
            <a:endParaRPr sz="2000" dirty="0">
              <a:solidFill>
                <a:schemeClr val="dk1"/>
              </a:solidFill>
              <a:latin typeface="Verdana"/>
              <a:ea typeface="Verdana"/>
              <a:cs typeface="Verdana"/>
              <a:sym typeface="Verdana"/>
            </a:endParaRPr>
          </a:p>
          <a:p>
            <a:pPr marL="350838" indent="-350838">
              <a:lnSpc>
                <a:spcPct val="115000"/>
              </a:lnSpc>
              <a:buClr>
                <a:schemeClr val="dk1"/>
              </a:buClr>
              <a:buSzPts val="1100"/>
            </a:pPr>
            <a:endParaRPr sz="2000" dirty="0">
              <a:solidFill>
                <a:schemeClr val="dk1"/>
              </a:solidFill>
              <a:latin typeface="Verdana"/>
              <a:ea typeface="Verdana"/>
              <a:cs typeface="Verdana"/>
              <a:sym typeface="Verdana"/>
            </a:endParaRPr>
          </a:p>
          <a:p>
            <a:pPr marL="350838" indent="-350838">
              <a:lnSpc>
                <a:spcPct val="115000"/>
              </a:lnSpc>
              <a:buClr>
                <a:schemeClr val="dk1"/>
              </a:buClr>
              <a:buSzPts val="1100"/>
            </a:pPr>
            <a:endParaRPr sz="2000" dirty="0">
              <a:solidFill>
                <a:schemeClr val="dk1"/>
              </a:solidFill>
              <a:latin typeface="Verdana"/>
              <a:ea typeface="Verdana"/>
              <a:cs typeface="Verdana"/>
              <a:sym typeface="Verdana"/>
            </a:endParaRPr>
          </a:p>
          <a:p>
            <a:pPr marL="350838" indent="-350838">
              <a:lnSpc>
                <a:spcPct val="115000"/>
              </a:lnSpc>
              <a:buClr>
                <a:schemeClr val="dk1"/>
              </a:buClr>
              <a:buSzPts val="1100"/>
            </a:pPr>
            <a:r>
              <a:rPr lang="en-US" sz="2000" dirty="0">
                <a:solidFill>
                  <a:schemeClr val="dk1"/>
                </a:solidFill>
                <a:latin typeface="Verdana"/>
                <a:ea typeface="Verdana"/>
                <a:cs typeface="Verdana"/>
                <a:sym typeface="Verdana"/>
              </a:rPr>
              <a:t>d. Which method do you prefer for multiplying decimals to the thousandths?</a:t>
            </a:r>
            <a:endParaRPr sz="2000" dirty="0">
              <a:solidFill>
                <a:schemeClr val="dk1"/>
              </a:solidFill>
              <a:latin typeface="Verdana"/>
              <a:ea typeface="Verdana"/>
              <a:cs typeface="Verdana"/>
              <a:sym typeface="Verdana"/>
            </a:endParaRPr>
          </a:p>
          <a:p>
            <a:pPr marL="350838" indent="-350838">
              <a:buSzPts val="2400"/>
            </a:pPr>
            <a:endParaRPr sz="2400" dirty="0">
              <a:latin typeface="Verdana"/>
              <a:ea typeface="Verdana"/>
              <a:cs typeface="Verdana"/>
              <a:sym typeface="Verdana"/>
            </a:endParaRPr>
          </a:p>
        </p:txBody>
      </p:sp>
      <p:sp>
        <p:nvSpPr>
          <p:cNvPr id="345" name="Google Shape;345;g111e50cb373_1_168"/>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0"/>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24</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g111e50cb373_1_176"/>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54" name="Google Shape;354;g111e50cb373_1_176"/>
          <p:cNvSpPr txBox="1">
            <a:spLocks noGrp="1"/>
          </p:cNvSpPr>
          <p:nvPr>
            <p:ph type="title" idx="4294967295"/>
          </p:nvPr>
        </p:nvSpPr>
        <p:spPr>
          <a:xfrm>
            <a:off x="5116285" y="2766150"/>
            <a:ext cx="43968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3BEA6"/>
                </a:solidFill>
                <a:latin typeface="Verdana"/>
                <a:ea typeface="Verdana"/>
                <a:cs typeface="Verdana"/>
                <a:sym typeface="Verdana"/>
              </a:rPr>
              <a:t>Try It</a:t>
            </a:r>
            <a:endParaRPr sz="5100" b="1">
              <a:solidFill>
                <a:srgbClr val="33BEA6"/>
              </a:solidFill>
              <a:latin typeface="Verdana"/>
              <a:ea typeface="Verdana"/>
              <a:cs typeface="Verdana"/>
              <a:sym typeface="Verdana"/>
            </a:endParaRPr>
          </a:p>
        </p:txBody>
      </p:sp>
      <p:pic>
        <p:nvPicPr>
          <p:cNvPr id="355" name="Google Shape;355;g111e50cb373_1_176"/>
          <p:cNvPicPr preferRelativeResize="0"/>
          <p:nvPr/>
        </p:nvPicPr>
        <p:blipFill rotWithShape="1">
          <a:blip r:embed="rId3">
            <a:alphaModFix/>
          </a:blip>
          <a:srcRect/>
          <a:stretch/>
        </p:blipFill>
        <p:spPr>
          <a:xfrm>
            <a:off x="4813171" y="2852928"/>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24</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3" name="Google Shape;363;g111e50cb373_1_185"/>
          <p:cNvSpPr txBox="1"/>
          <p:nvPr/>
        </p:nvSpPr>
        <p:spPr>
          <a:xfrm>
            <a:off x="1351450" y="60325"/>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33BEA6"/>
                </a:solidFill>
                <a:latin typeface="Verdana"/>
                <a:ea typeface="Verdana"/>
                <a:cs typeface="Verdana"/>
                <a:sym typeface="Verdana"/>
              </a:rPr>
              <a:t>1.4.5 Try It: Multiplying Decimals to the Thousandths </a:t>
            </a:r>
            <a:endParaRPr/>
          </a:p>
        </p:txBody>
      </p:sp>
      <p:pic>
        <p:nvPicPr>
          <p:cNvPr id="364" name="Google Shape;364;g111e50cb373_1_18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01642" y="348271"/>
            <a:ext cx="749808" cy="749808"/>
          </a:xfrm>
          <a:prstGeom prst="rect">
            <a:avLst/>
          </a:prstGeom>
          <a:noFill/>
          <a:ln>
            <a:noFill/>
          </a:ln>
          <a:effectLst>
            <a:outerShdw blurRad="50800" dist="38100" dir="2700000" algn="tl" rotWithShape="0">
              <a:srgbClr val="000000">
                <a:alpha val="40000"/>
              </a:srgbClr>
            </a:outerShdw>
          </a:effectLst>
        </p:spPr>
      </p:pic>
      <p:sp>
        <p:nvSpPr>
          <p:cNvPr id="365" name="Google Shape;365;g111e50cb373_1_185"/>
          <p:cNvSpPr txBox="1"/>
          <p:nvPr/>
        </p:nvSpPr>
        <p:spPr>
          <a:xfrm>
            <a:off x="973008" y="1386025"/>
            <a:ext cx="10245980" cy="5045187"/>
          </a:xfrm>
          <a:prstGeom prst="rect">
            <a:avLst/>
          </a:prstGeom>
          <a:noFill/>
          <a:ln>
            <a:noFill/>
          </a:ln>
        </p:spPr>
        <p:txBody>
          <a:bodyPr spcFirstLastPara="1" wrap="square" lIns="91425" tIns="45700" rIns="91425" bIns="45700" anchor="t" anchorCtr="0">
            <a:spAutoFit/>
          </a:bodyPr>
          <a:lstStyle/>
          <a:p>
            <a:pPr>
              <a:lnSpc>
                <a:spcPct val="115000"/>
              </a:lnSpc>
              <a:buClr>
                <a:schemeClr val="dk1"/>
              </a:buClr>
              <a:buSzPts val="1100"/>
            </a:pPr>
            <a:r>
              <a:rPr lang="en-US" sz="2000" dirty="0">
                <a:solidFill>
                  <a:schemeClr val="dk1"/>
                </a:solidFill>
                <a:latin typeface="Verdana"/>
                <a:ea typeface="Verdana"/>
                <a:cs typeface="Verdana"/>
                <a:sym typeface="Verdana"/>
              </a:rPr>
              <a:t>1. Find each product using your preferred method. Show your work.</a:t>
            </a:r>
            <a:endParaRPr sz="2000" dirty="0">
              <a:solidFill>
                <a:schemeClr val="dk1"/>
              </a:solidFill>
              <a:latin typeface="Verdana"/>
              <a:ea typeface="Verdana"/>
              <a:cs typeface="Verdana"/>
              <a:sym typeface="Verdana"/>
            </a:endParaRPr>
          </a:p>
          <a:p>
            <a:pPr>
              <a:lnSpc>
                <a:spcPct val="115000"/>
              </a:lnSpc>
              <a:buClr>
                <a:schemeClr val="dk1"/>
              </a:buClr>
              <a:buSzPts val="1100"/>
            </a:pPr>
            <a:endParaRPr sz="2000" dirty="0">
              <a:solidFill>
                <a:schemeClr val="dk1"/>
              </a:solidFill>
              <a:latin typeface="Verdana"/>
              <a:ea typeface="Verdana"/>
              <a:cs typeface="Verdana"/>
              <a:sym typeface="Verdana"/>
            </a:endParaRPr>
          </a:p>
          <a:p>
            <a:pPr marL="465138">
              <a:lnSpc>
                <a:spcPct val="115000"/>
              </a:lnSpc>
              <a:buClr>
                <a:schemeClr val="dk1"/>
              </a:buClr>
              <a:buSzPts val="1100"/>
            </a:pPr>
            <a:r>
              <a:rPr lang="en-US" sz="2000" dirty="0">
                <a:solidFill>
                  <a:schemeClr val="dk1"/>
                </a:solidFill>
                <a:latin typeface="Verdana"/>
                <a:ea typeface="Verdana"/>
                <a:cs typeface="Verdana"/>
                <a:sym typeface="Verdana"/>
              </a:rPr>
              <a:t>a. </a:t>
            </a:r>
            <a:r>
              <a:rPr lang="en-US" sz="2200" dirty="0">
                <a:solidFill>
                  <a:schemeClr val="dk1"/>
                </a:solidFill>
                <a:latin typeface="Cambria Math"/>
                <a:ea typeface="Cambria Math"/>
                <a:cs typeface="Cambria Math"/>
                <a:sym typeface="Cambria Math"/>
              </a:rPr>
              <a:t>25.36 ∙ 14.8</a:t>
            </a:r>
          </a:p>
          <a:p>
            <a:pPr marL="465138">
              <a:lnSpc>
                <a:spcPct val="115000"/>
              </a:lnSpc>
              <a:buClr>
                <a:schemeClr val="dk1"/>
              </a:buClr>
              <a:buSzPts val="1100"/>
            </a:pPr>
            <a:endParaRPr sz="2200" dirty="0">
              <a:solidFill>
                <a:schemeClr val="dk1"/>
              </a:solidFill>
              <a:latin typeface="Cambria Math"/>
              <a:ea typeface="Cambria Math"/>
              <a:cs typeface="Cambria Math"/>
              <a:sym typeface="Cambria Math"/>
            </a:endParaRPr>
          </a:p>
          <a:p>
            <a:pPr marL="465138">
              <a:lnSpc>
                <a:spcPct val="115000"/>
              </a:lnSpc>
              <a:buClr>
                <a:schemeClr val="dk1"/>
              </a:buClr>
              <a:buSzPts val="1100"/>
            </a:pPr>
            <a:endParaRPr sz="2200" dirty="0">
              <a:solidFill>
                <a:schemeClr val="dk1"/>
              </a:solidFill>
              <a:latin typeface="Cambria Math"/>
              <a:ea typeface="Cambria Math"/>
              <a:cs typeface="Cambria Math"/>
              <a:sym typeface="Cambria Math"/>
            </a:endParaRPr>
          </a:p>
          <a:p>
            <a:pPr marL="465138">
              <a:lnSpc>
                <a:spcPct val="115000"/>
              </a:lnSpc>
              <a:buClr>
                <a:schemeClr val="dk1"/>
              </a:buClr>
              <a:buSzPts val="1100"/>
            </a:pPr>
            <a:endParaRPr sz="2200" dirty="0">
              <a:solidFill>
                <a:schemeClr val="dk1"/>
              </a:solidFill>
              <a:latin typeface="Cambria Math"/>
              <a:ea typeface="Cambria Math"/>
              <a:cs typeface="Cambria Math"/>
              <a:sym typeface="Cambria Math"/>
            </a:endParaRPr>
          </a:p>
          <a:p>
            <a:pPr marL="465138">
              <a:lnSpc>
                <a:spcPct val="115000"/>
              </a:lnSpc>
              <a:buClr>
                <a:schemeClr val="dk1"/>
              </a:buClr>
              <a:buSzPts val="1100"/>
            </a:pPr>
            <a:endParaRPr sz="2200" dirty="0">
              <a:solidFill>
                <a:schemeClr val="dk1"/>
              </a:solidFill>
              <a:latin typeface="Cambria Math"/>
              <a:ea typeface="Cambria Math"/>
              <a:cs typeface="Cambria Math"/>
              <a:sym typeface="Cambria Math"/>
            </a:endParaRPr>
          </a:p>
          <a:p>
            <a:pPr marL="465138">
              <a:lnSpc>
                <a:spcPct val="115000"/>
              </a:lnSpc>
              <a:buClr>
                <a:schemeClr val="dk1"/>
              </a:buClr>
              <a:buSzPts val="1100"/>
            </a:pPr>
            <a:r>
              <a:rPr lang="en-US" sz="2000" dirty="0">
                <a:solidFill>
                  <a:schemeClr val="dk1"/>
                </a:solidFill>
                <a:latin typeface="Verdana"/>
                <a:ea typeface="Verdana"/>
                <a:cs typeface="Verdana"/>
                <a:sym typeface="Verdana"/>
              </a:rPr>
              <a:t>b.</a:t>
            </a:r>
            <a:r>
              <a:rPr lang="en-US" sz="2200" dirty="0">
                <a:solidFill>
                  <a:schemeClr val="dk1"/>
                </a:solidFill>
                <a:latin typeface="Cambria Math"/>
                <a:ea typeface="Cambria Math"/>
                <a:cs typeface="Cambria Math"/>
                <a:sym typeface="Cambria Math"/>
              </a:rPr>
              <a:t> 19.008 x 3.2</a:t>
            </a:r>
            <a:endParaRPr sz="2200" dirty="0">
              <a:solidFill>
                <a:schemeClr val="dk1"/>
              </a:solidFill>
              <a:latin typeface="Cambria Math"/>
              <a:ea typeface="Cambria Math"/>
              <a:cs typeface="Cambria Math"/>
              <a:sym typeface="Cambria Math"/>
            </a:endParaRPr>
          </a:p>
          <a:p>
            <a:pPr marL="465138">
              <a:lnSpc>
                <a:spcPct val="115000"/>
              </a:lnSpc>
              <a:buClr>
                <a:schemeClr val="dk1"/>
              </a:buClr>
              <a:buSzPts val="1100"/>
            </a:pPr>
            <a:endParaRPr sz="2200" dirty="0">
              <a:solidFill>
                <a:schemeClr val="dk1"/>
              </a:solidFill>
              <a:latin typeface="Cambria Math"/>
              <a:ea typeface="Cambria Math"/>
              <a:cs typeface="Cambria Math"/>
              <a:sym typeface="Cambria Math"/>
            </a:endParaRPr>
          </a:p>
          <a:p>
            <a:pPr marL="465138">
              <a:lnSpc>
                <a:spcPct val="115000"/>
              </a:lnSpc>
              <a:buClr>
                <a:schemeClr val="dk1"/>
              </a:buClr>
              <a:buSzPts val="1100"/>
            </a:pPr>
            <a:endParaRPr sz="2200" dirty="0">
              <a:solidFill>
                <a:schemeClr val="dk1"/>
              </a:solidFill>
              <a:latin typeface="Cambria Math"/>
              <a:ea typeface="Cambria Math"/>
              <a:cs typeface="Cambria Math"/>
              <a:sym typeface="Cambria Math"/>
            </a:endParaRPr>
          </a:p>
          <a:p>
            <a:pPr marL="465138">
              <a:lnSpc>
                <a:spcPct val="115000"/>
              </a:lnSpc>
              <a:buClr>
                <a:schemeClr val="dk1"/>
              </a:buClr>
              <a:buSzPts val="1100"/>
            </a:pPr>
            <a:endParaRPr sz="2200" dirty="0">
              <a:solidFill>
                <a:schemeClr val="dk1"/>
              </a:solidFill>
              <a:latin typeface="Cambria Math"/>
              <a:ea typeface="Cambria Math"/>
              <a:cs typeface="Cambria Math"/>
              <a:sym typeface="Cambria Math"/>
            </a:endParaRPr>
          </a:p>
          <a:p>
            <a:pPr marL="465138">
              <a:lnSpc>
                <a:spcPct val="115000"/>
              </a:lnSpc>
              <a:buClr>
                <a:schemeClr val="dk1"/>
              </a:buClr>
              <a:buSzPts val="1100"/>
            </a:pPr>
            <a:r>
              <a:rPr lang="en-US" sz="2000" dirty="0">
                <a:solidFill>
                  <a:schemeClr val="dk1"/>
                </a:solidFill>
                <a:latin typeface="Verdana"/>
                <a:ea typeface="Verdana"/>
                <a:cs typeface="Verdana"/>
                <a:sym typeface="Verdana"/>
              </a:rPr>
              <a:t>c. </a:t>
            </a:r>
            <a:r>
              <a:rPr lang="en-US" sz="2100" dirty="0">
                <a:solidFill>
                  <a:schemeClr val="dk1"/>
                </a:solidFill>
                <a:latin typeface="Cambria Math"/>
                <a:ea typeface="Cambria Math"/>
                <a:cs typeface="Cambria Math"/>
                <a:sym typeface="Cambria Math"/>
              </a:rPr>
              <a:t>(36.3)(0.74)</a:t>
            </a:r>
            <a:endParaRPr sz="2100" dirty="0">
              <a:solidFill>
                <a:schemeClr val="dk1"/>
              </a:solidFill>
              <a:latin typeface="Cambria Math"/>
              <a:ea typeface="Cambria Math"/>
              <a:cs typeface="Cambria Math"/>
              <a:sym typeface="Cambria Math"/>
            </a:endParaRPr>
          </a:p>
          <a:p>
            <a:pPr>
              <a:buSzPts val="2400"/>
            </a:pPr>
            <a:endParaRPr sz="2400" dirty="0">
              <a:latin typeface="Verdana"/>
              <a:ea typeface="Verdana"/>
              <a:cs typeface="Verdana"/>
              <a:sym typeface="Verdana"/>
            </a:endParaRPr>
          </a:p>
        </p:txBody>
      </p:sp>
      <p:sp>
        <p:nvSpPr>
          <p:cNvPr id="366" name="Google Shape;366;g111e50cb373_1_185"/>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0"/>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24</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g111e50cb373_1_204"/>
          <p:cNvSpPr/>
          <p:nvPr/>
        </p:nvSpPr>
        <p:spPr>
          <a:xfrm>
            <a:off x="0" y="-4055"/>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75" name="Google Shape;375;g111e50cb373_1_204"/>
          <p:cNvSpPr txBox="1">
            <a:spLocks noGrp="1"/>
          </p:cNvSpPr>
          <p:nvPr>
            <p:ph type="title" idx="4294967295"/>
          </p:nvPr>
        </p:nvSpPr>
        <p:spPr>
          <a:xfrm>
            <a:off x="5664867" y="2766145"/>
            <a:ext cx="44808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E24E5F"/>
                </a:solidFill>
                <a:latin typeface="Verdana"/>
                <a:ea typeface="Verdana"/>
                <a:cs typeface="Verdana"/>
                <a:sym typeface="Verdana"/>
              </a:rPr>
              <a:t>Your Turn</a:t>
            </a:r>
            <a:endParaRPr sz="5100" b="1">
              <a:solidFill>
                <a:srgbClr val="E24E5F"/>
              </a:solidFill>
              <a:latin typeface="Verdana"/>
              <a:ea typeface="Verdana"/>
              <a:cs typeface="Verdana"/>
              <a:sym typeface="Verdana"/>
            </a:endParaRPr>
          </a:p>
        </p:txBody>
      </p:sp>
      <p:pic>
        <p:nvPicPr>
          <p:cNvPr id="376" name="Google Shape;376;g111e50cb373_1_204"/>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25</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4" name="Google Shape;384;g111e50cb373_1_213"/>
          <p:cNvSpPr txBox="1"/>
          <p:nvPr/>
        </p:nvSpPr>
        <p:spPr>
          <a:xfrm>
            <a:off x="1224450" y="161925"/>
            <a:ext cx="8019300" cy="7473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300" b="1">
                <a:solidFill>
                  <a:srgbClr val="E24E5F"/>
                </a:solidFill>
                <a:latin typeface="Verdana"/>
                <a:ea typeface="Verdana"/>
                <a:cs typeface="Verdana"/>
                <a:sym typeface="Verdana"/>
              </a:rPr>
              <a:t>1.4.6 Your Turn!</a:t>
            </a:r>
            <a:endParaRPr/>
          </a:p>
        </p:txBody>
      </p:sp>
      <p:pic>
        <p:nvPicPr>
          <p:cNvPr id="385" name="Google Shape;385;g111e50cb373_1_213"/>
          <p:cNvPicPr preferRelativeResize="0"/>
          <p:nvPr/>
        </p:nvPicPr>
        <p:blipFill rotWithShape="1">
          <a:blip r:embed="rId3">
            <a:alphaModFix/>
          </a:blip>
          <a:srcRect/>
          <a:stretch/>
        </p:blipFill>
        <p:spPr>
          <a:xfrm>
            <a:off x="477150" y="161925"/>
            <a:ext cx="747300" cy="747300"/>
          </a:xfrm>
          <a:prstGeom prst="rect">
            <a:avLst/>
          </a:prstGeom>
          <a:noFill/>
          <a:ln>
            <a:noFill/>
          </a:ln>
        </p:spPr>
      </p:pic>
      <p:sp>
        <p:nvSpPr>
          <p:cNvPr id="386" name="Google Shape;386;g111e50cb373_1_213"/>
          <p:cNvSpPr txBox="1"/>
          <p:nvPr/>
        </p:nvSpPr>
        <p:spPr>
          <a:xfrm>
            <a:off x="1224450" y="1386025"/>
            <a:ext cx="9163098" cy="5098278"/>
          </a:xfrm>
          <a:prstGeom prst="rect">
            <a:avLst/>
          </a:prstGeom>
          <a:noFill/>
          <a:ln>
            <a:noFill/>
          </a:ln>
        </p:spPr>
        <p:txBody>
          <a:bodyPr spcFirstLastPara="1" wrap="square" lIns="91425" tIns="45700" rIns="91425" bIns="45700" anchor="t" anchorCtr="0">
            <a:spAutoFit/>
          </a:bodyPr>
          <a:lstStyle/>
          <a:p>
            <a:pPr>
              <a:lnSpc>
                <a:spcPct val="115000"/>
              </a:lnSpc>
              <a:buClr>
                <a:schemeClr val="dk1"/>
              </a:buClr>
              <a:buSzPts val="1100"/>
            </a:pPr>
            <a:r>
              <a:rPr lang="en-US" sz="2000" dirty="0">
                <a:solidFill>
                  <a:schemeClr val="dk1"/>
                </a:solidFill>
                <a:latin typeface="Verdana"/>
                <a:ea typeface="Verdana"/>
                <a:cs typeface="Verdana"/>
                <a:sym typeface="Verdana"/>
              </a:rPr>
              <a:t>1. Find each product.</a:t>
            </a:r>
            <a:endParaRPr sz="2000" dirty="0">
              <a:solidFill>
                <a:schemeClr val="dk1"/>
              </a:solidFill>
              <a:latin typeface="Verdana"/>
              <a:ea typeface="Verdana"/>
              <a:cs typeface="Verdana"/>
              <a:sym typeface="Verdana"/>
            </a:endParaRPr>
          </a:p>
          <a:p>
            <a:pPr>
              <a:lnSpc>
                <a:spcPct val="115000"/>
              </a:lnSpc>
              <a:buClr>
                <a:schemeClr val="dk1"/>
              </a:buClr>
              <a:buSzPts val="1100"/>
            </a:pPr>
            <a:endParaRPr sz="2200" dirty="0">
              <a:solidFill>
                <a:schemeClr val="dk1"/>
              </a:solidFill>
              <a:latin typeface="Cambria Math"/>
              <a:ea typeface="Cambria Math"/>
              <a:cs typeface="Cambria Math"/>
              <a:sym typeface="Cambria Math"/>
            </a:endParaRPr>
          </a:p>
          <a:p>
            <a:pPr marL="465138">
              <a:lnSpc>
                <a:spcPct val="115000"/>
              </a:lnSpc>
              <a:buClr>
                <a:schemeClr val="dk1"/>
              </a:buClr>
              <a:buSzPct val="100000"/>
            </a:pPr>
            <a:r>
              <a:rPr lang="en-US" sz="2000" dirty="0">
                <a:solidFill>
                  <a:schemeClr val="dk1"/>
                </a:solidFill>
                <a:latin typeface="Verdana" panose="020B0604030504040204" pitchFamily="34" charset="0"/>
                <a:ea typeface="Verdana" panose="020B0604030504040204" pitchFamily="34" charset="0"/>
                <a:cs typeface="Cambria Math"/>
                <a:sym typeface="Cambria Math"/>
              </a:rPr>
              <a:t>a.</a:t>
            </a:r>
            <a:r>
              <a:rPr lang="en-US" sz="2000" dirty="0">
                <a:solidFill>
                  <a:schemeClr val="dk1"/>
                </a:solidFill>
                <a:latin typeface="Cambria Math"/>
                <a:ea typeface="Cambria Math"/>
                <a:cs typeface="Cambria Math"/>
                <a:sym typeface="Cambria Math"/>
              </a:rPr>
              <a:t>  105.46 x 3.8</a:t>
            </a:r>
          </a:p>
          <a:p>
            <a:pPr marL="465138">
              <a:lnSpc>
                <a:spcPct val="115000"/>
              </a:lnSpc>
              <a:buClr>
                <a:schemeClr val="dk1"/>
              </a:buClr>
              <a:buSzPct val="100000"/>
              <a:buFont typeface="+mj-lt"/>
              <a:buAutoNum type="alphaLcPeriod"/>
            </a:pPr>
            <a:endParaRPr lang="en-US" sz="2200" dirty="0">
              <a:solidFill>
                <a:schemeClr val="dk1"/>
              </a:solidFill>
              <a:latin typeface="Cambria Math"/>
              <a:ea typeface="Cambria Math"/>
              <a:cs typeface="Cambria Math"/>
              <a:sym typeface="Cambria Math"/>
            </a:endParaRPr>
          </a:p>
          <a:p>
            <a:pPr marL="465138">
              <a:lnSpc>
                <a:spcPct val="115000"/>
              </a:lnSpc>
              <a:buClr>
                <a:schemeClr val="dk1"/>
              </a:buClr>
              <a:buSzPct val="100000"/>
              <a:buFont typeface="+mj-lt"/>
              <a:buAutoNum type="alphaLcPeriod"/>
            </a:pPr>
            <a:endParaRPr lang="en-US" sz="2200" dirty="0">
              <a:solidFill>
                <a:schemeClr val="dk1"/>
              </a:solidFill>
              <a:latin typeface="Cambria Math"/>
              <a:ea typeface="Cambria Math"/>
              <a:cs typeface="Cambria Math"/>
              <a:sym typeface="Cambria Math"/>
            </a:endParaRPr>
          </a:p>
          <a:p>
            <a:pPr marL="465138">
              <a:lnSpc>
                <a:spcPct val="115000"/>
              </a:lnSpc>
              <a:buClr>
                <a:schemeClr val="dk1"/>
              </a:buClr>
              <a:buSzPct val="100000"/>
            </a:pPr>
            <a:r>
              <a:rPr lang="en-US" sz="2000" dirty="0">
                <a:solidFill>
                  <a:schemeClr val="dk1"/>
                </a:solidFill>
                <a:latin typeface="Verdana" panose="020B0604030504040204" pitchFamily="34" charset="0"/>
                <a:ea typeface="Verdana" panose="020B0604030504040204" pitchFamily="34" charset="0"/>
                <a:cs typeface="Cambria Math"/>
                <a:sym typeface="Cambria Math"/>
              </a:rPr>
              <a:t>b. </a:t>
            </a:r>
            <a:r>
              <a:rPr lang="en-US" sz="2000" dirty="0">
                <a:solidFill>
                  <a:schemeClr val="dk1"/>
                </a:solidFill>
                <a:latin typeface="Cambria Math"/>
                <a:ea typeface="Cambria Math"/>
                <a:cs typeface="Cambria Math"/>
                <a:sym typeface="Cambria Math"/>
              </a:rPr>
              <a:t> 8.7 ∙ 0.475</a:t>
            </a:r>
          </a:p>
          <a:p>
            <a:pPr marL="465138">
              <a:lnSpc>
                <a:spcPct val="115000"/>
              </a:lnSpc>
              <a:buClr>
                <a:schemeClr val="dk1"/>
              </a:buClr>
              <a:buSzPct val="100000"/>
              <a:buFont typeface="+mj-lt"/>
              <a:buAutoNum type="alphaLcPeriod"/>
            </a:pPr>
            <a:endParaRPr lang="en-US" sz="2200" dirty="0">
              <a:solidFill>
                <a:schemeClr val="dk1"/>
              </a:solidFill>
              <a:latin typeface="Cambria Math"/>
              <a:ea typeface="Cambria Math"/>
              <a:cs typeface="Cambria Math"/>
              <a:sym typeface="Cambria Math"/>
            </a:endParaRPr>
          </a:p>
          <a:p>
            <a:pPr marL="465138">
              <a:lnSpc>
                <a:spcPct val="115000"/>
              </a:lnSpc>
              <a:buClr>
                <a:schemeClr val="dk1"/>
              </a:buClr>
              <a:buSzPct val="100000"/>
              <a:buFont typeface="+mj-lt"/>
              <a:buAutoNum type="alphaLcPeriod"/>
            </a:pPr>
            <a:endParaRPr lang="en-US" sz="2200" dirty="0">
              <a:solidFill>
                <a:schemeClr val="dk1"/>
              </a:solidFill>
              <a:latin typeface="Cambria Math"/>
              <a:ea typeface="Cambria Math"/>
              <a:cs typeface="Cambria Math"/>
              <a:sym typeface="Cambria Math"/>
            </a:endParaRPr>
          </a:p>
          <a:p>
            <a:pPr marL="465138">
              <a:lnSpc>
                <a:spcPct val="115000"/>
              </a:lnSpc>
              <a:buClr>
                <a:schemeClr val="dk1"/>
              </a:buClr>
              <a:buSzPct val="100000"/>
            </a:pPr>
            <a:r>
              <a:rPr lang="en-US" sz="2000" dirty="0">
                <a:solidFill>
                  <a:schemeClr val="dk1"/>
                </a:solidFill>
                <a:latin typeface="Verdana" panose="020B0604030504040204" pitchFamily="34" charset="0"/>
                <a:ea typeface="Verdana" panose="020B0604030504040204" pitchFamily="34" charset="0"/>
                <a:cs typeface="Cambria Math"/>
                <a:sym typeface="Cambria Math"/>
              </a:rPr>
              <a:t>c. </a:t>
            </a:r>
            <a:r>
              <a:rPr lang="en-US" sz="2000" dirty="0">
                <a:solidFill>
                  <a:schemeClr val="dk1"/>
                </a:solidFill>
                <a:latin typeface="Cambria Math"/>
                <a:ea typeface="Cambria Math"/>
                <a:cs typeface="Cambria Math"/>
                <a:sym typeface="Cambria Math"/>
              </a:rPr>
              <a:t> (7.7)(102.65)</a:t>
            </a:r>
          </a:p>
          <a:p>
            <a:pPr marL="465138">
              <a:lnSpc>
                <a:spcPct val="115000"/>
              </a:lnSpc>
              <a:buClr>
                <a:schemeClr val="dk1"/>
              </a:buClr>
              <a:buSzPct val="100000"/>
              <a:buFont typeface="+mj-lt"/>
              <a:buAutoNum type="alphaLcPeriod"/>
            </a:pPr>
            <a:endParaRPr lang="en-US" sz="2200" dirty="0">
              <a:solidFill>
                <a:schemeClr val="dk1"/>
              </a:solidFill>
              <a:latin typeface="Cambria Math"/>
              <a:ea typeface="Cambria Math"/>
              <a:cs typeface="Cambria Math"/>
              <a:sym typeface="Cambria Math"/>
            </a:endParaRPr>
          </a:p>
          <a:p>
            <a:pPr marL="465138">
              <a:lnSpc>
                <a:spcPct val="115000"/>
              </a:lnSpc>
              <a:buClr>
                <a:schemeClr val="dk1"/>
              </a:buClr>
              <a:buSzPct val="100000"/>
              <a:buFont typeface="+mj-lt"/>
              <a:buAutoNum type="alphaLcPeriod"/>
            </a:pPr>
            <a:endParaRPr lang="en-US" sz="2200" dirty="0">
              <a:solidFill>
                <a:schemeClr val="dk1"/>
              </a:solidFill>
              <a:latin typeface="Cambria Math"/>
              <a:ea typeface="Cambria Math"/>
              <a:cs typeface="Cambria Math"/>
              <a:sym typeface="Cambria Math"/>
            </a:endParaRPr>
          </a:p>
          <a:p>
            <a:pPr marL="465138">
              <a:lnSpc>
                <a:spcPct val="115000"/>
              </a:lnSpc>
              <a:buClr>
                <a:schemeClr val="dk1"/>
              </a:buClr>
              <a:buSzPct val="100000"/>
            </a:pPr>
            <a:r>
              <a:rPr lang="en-US" sz="2000" dirty="0">
                <a:solidFill>
                  <a:schemeClr val="dk1"/>
                </a:solidFill>
                <a:latin typeface="Verdana" panose="020B0604030504040204" pitchFamily="34" charset="0"/>
                <a:ea typeface="Verdana" panose="020B0604030504040204" pitchFamily="34" charset="0"/>
                <a:cs typeface="Cambria Math"/>
                <a:sym typeface="Cambria Math"/>
              </a:rPr>
              <a:t>d. </a:t>
            </a:r>
            <a:r>
              <a:rPr lang="en-US" sz="2000" dirty="0">
                <a:solidFill>
                  <a:schemeClr val="dk1"/>
                </a:solidFill>
                <a:latin typeface="Cambria Math"/>
                <a:ea typeface="Cambria Math"/>
                <a:cs typeface="Cambria Math"/>
                <a:sym typeface="Cambria Math"/>
              </a:rPr>
              <a:t> 1.561 x 12.8</a:t>
            </a:r>
          </a:p>
          <a:p>
            <a:pPr marL="465138">
              <a:buSzPts val="2400"/>
            </a:pPr>
            <a:endParaRPr sz="2400" dirty="0">
              <a:latin typeface="Verdana"/>
              <a:ea typeface="Verdana"/>
              <a:cs typeface="Verdana"/>
              <a:sym typeface="Verdana"/>
            </a:endParaRPr>
          </a:p>
        </p:txBody>
      </p:sp>
      <p:sp>
        <p:nvSpPr>
          <p:cNvPr id="387" name="Google Shape;387;g111e50cb373_1_213"/>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0"/>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25</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g111e50cb373_1_231"/>
          <p:cNvSpPr/>
          <p:nvPr/>
        </p:nvSpPr>
        <p:spPr>
          <a:xfrm>
            <a:off x="0" y="-8226"/>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96" name="Google Shape;396;g111e50cb373_1_231"/>
          <p:cNvSpPr txBox="1">
            <a:spLocks noGrp="1"/>
          </p:cNvSpPr>
          <p:nvPr>
            <p:ph type="title" idx="4294967295"/>
          </p:nvPr>
        </p:nvSpPr>
        <p:spPr>
          <a:xfrm>
            <a:off x="5250339" y="2779100"/>
            <a:ext cx="44808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397" name="Google Shape;397;g111e50cb373_1_231"/>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25</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5" name="Google Shape;405;g111e50cb373_1_240"/>
          <p:cNvSpPr txBox="1"/>
          <p:nvPr/>
        </p:nvSpPr>
        <p:spPr>
          <a:xfrm>
            <a:off x="1395500" y="0"/>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3F2A67"/>
                </a:solidFill>
                <a:latin typeface="Verdana"/>
                <a:ea typeface="Verdana"/>
                <a:cs typeface="Verdana"/>
                <a:sym typeface="Verdana"/>
              </a:rPr>
              <a:t>1.4.7 Wrap-Up: Ticket out the Door</a:t>
            </a:r>
            <a:endParaRPr/>
          </a:p>
        </p:txBody>
      </p:sp>
      <p:pic>
        <p:nvPicPr>
          <p:cNvPr id="406" name="Google Shape;406;g111e50cb373_1_240"/>
          <p:cNvPicPr preferRelativeResize="0"/>
          <p:nvPr/>
        </p:nvPicPr>
        <p:blipFill rotWithShape="1">
          <a:blip r:embed="rId3">
            <a:alphaModFix/>
          </a:blip>
          <a:srcRect/>
          <a:stretch/>
        </p:blipFill>
        <p:spPr>
          <a:xfrm>
            <a:off x="566050" y="142896"/>
            <a:ext cx="747300" cy="747300"/>
          </a:xfrm>
          <a:prstGeom prst="rect">
            <a:avLst/>
          </a:prstGeom>
          <a:noFill/>
          <a:ln>
            <a:noFill/>
          </a:ln>
          <a:effectLst>
            <a:outerShdw blurRad="50800" dist="38100" dir="2700000" algn="tl" rotWithShape="0">
              <a:srgbClr val="000000">
                <a:alpha val="40000"/>
              </a:srgbClr>
            </a:outerShdw>
          </a:effectLst>
        </p:spPr>
      </p:pic>
      <p:sp>
        <p:nvSpPr>
          <p:cNvPr id="407" name="Google Shape;407;g111e50cb373_1_240"/>
          <p:cNvSpPr txBox="1"/>
          <p:nvPr/>
        </p:nvSpPr>
        <p:spPr>
          <a:xfrm>
            <a:off x="1501648" y="1325700"/>
            <a:ext cx="8327100" cy="3895800"/>
          </a:xfrm>
          <a:prstGeom prst="rect">
            <a:avLst/>
          </a:prstGeom>
          <a:noFill/>
          <a:ln>
            <a:noFill/>
          </a:ln>
        </p:spPr>
        <p:txBody>
          <a:bodyPr spcFirstLastPara="1" wrap="square" lIns="91425" tIns="45700" rIns="91425" bIns="45700" anchor="t" anchorCtr="0">
            <a:spAutoFit/>
          </a:bodyPr>
          <a:lstStyle/>
          <a:p>
            <a:pPr>
              <a:lnSpc>
                <a:spcPct val="115000"/>
              </a:lnSpc>
              <a:buClr>
                <a:schemeClr val="dk1"/>
              </a:buClr>
              <a:buSzPts val="1100"/>
            </a:pPr>
            <a:r>
              <a:rPr lang="en-US" sz="2000" dirty="0">
                <a:solidFill>
                  <a:schemeClr val="dk1"/>
                </a:solidFill>
                <a:latin typeface="Verdana"/>
                <a:ea typeface="Verdana"/>
                <a:cs typeface="Verdana"/>
                <a:sym typeface="Verdana"/>
              </a:rPr>
              <a:t>1. Find each product.</a:t>
            </a:r>
            <a:endParaRPr sz="2000" dirty="0">
              <a:solidFill>
                <a:schemeClr val="dk1"/>
              </a:solidFill>
              <a:latin typeface="Verdana"/>
              <a:ea typeface="Verdana"/>
              <a:cs typeface="Verdana"/>
              <a:sym typeface="Verdana"/>
            </a:endParaRPr>
          </a:p>
          <a:p>
            <a:pPr>
              <a:lnSpc>
                <a:spcPct val="115000"/>
              </a:lnSpc>
              <a:buClr>
                <a:schemeClr val="dk1"/>
              </a:buClr>
              <a:buSzPts val="1100"/>
            </a:pPr>
            <a:endParaRPr sz="2000" dirty="0">
              <a:solidFill>
                <a:schemeClr val="dk1"/>
              </a:solidFill>
              <a:latin typeface="Verdana"/>
              <a:ea typeface="Verdana"/>
              <a:cs typeface="Verdana"/>
              <a:sym typeface="Verdana"/>
            </a:endParaRPr>
          </a:p>
          <a:p>
            <a:pPr marL="465138">
              <a:lnSpc>
                <a:spcPct val="115000"/>
              </a:lnSpc>
              <a:buClr>
                <a:schemeClr val="dk1"/>
              </a:buClr>
              <a:buSzPts val="1100"/>
            </a:pPr>
            <a:r>
              <a:rPr lang="en-US" sz="2000" dirty="0">
                <a:solidFill>
                  <a:schemeClr val="dk1"/>
                </a:solidFill>
                <a:latin typeface="Verdana" panose="020B0604030504040204" pitchFamily="34" charset="0"/>
                <a:ea typeface="Verdana" panose="020B0604030504040204" pitchFamily="34" charset="0"/>
                <a:cs typeface="Cambria Math"/>
                <a:sym typeface="Cambria Math"/>
              </a:rPr>
              <a:t>a.</a:t>
            </a:r>
            <a:r>
              <a:rPr lang="en-US" sz="2000" dirty="0">
                <a:solidFill>
                  <a:schemeClr val="dk1"/>
                </a:solidFill>
                <a:latin typeface="Cambria Math"/>
                <a:ea typeface="Cambria Math"/>
                <a:cs typeface="Cambria Math"/>
                <a:sym typeface="Cambria Math"/>
              </a:rPr>
              <a:t> (6.36)(12.27)</a:t>
            </a:r>
            <a:endParaRPr sz="2000" dirty="0">
              <a:solidFill>
                <a:schemeClr val="dk1"/>
              </a:solidFill>
              <a:latin typeface="Cambria Math"/>
              <a:ea typeface="Cambria Math"/>
              <a:cs typeface="Cambria Math"/>
              <a:sym typeface="Cambria Math"/>
            </a:endParaRPr>
          </a:p>
          <a:p>
            <a:pPr marL="465138">
              <a:lnSpc>
                <a:spcPct val="115000"/>
              </a:lnSpc>
              <a:buClr>
                <a:schemeClr val="dk1"/>
              </a:buClr>
              <a:buSzPts val="1100"/>
            </a:pPr>
            <a:endParaRPr sz="2200" dirty="0">
              <a:solidFill>
                <a:schemeClr val="dk1"/>
              </a:solidFill>
              <a:latin typeface="Cambria Math"/>
              <a:ea typeface="Cambria Math"/>
              <a:cs typeface="Cambria Math"/>
              <a:sym typeface="Cambria Math"/>
            </a:endParaRPr>
          </a:p>
          <a:p>
            <a:pPr marL="465138">
              <a:lnSpc>
                <a:spcPct val="115000"/>
              </a:lnSpc>
              <a:buClr>
                <a:schemeClr val="dk1"/>
              </a:buClr>
              <a:buSzPts val="1100"/>
            </a:pPr>
            <a:endParaRPr sz="2200" dirty="0">
              <a:solidFill>
                <a:schemeClr val="dk1"/>
              </a:solidFill>
              <a:latin typeface="Cambria Math"/>
              <a:ea typeface="Cambria Math"/>
              <a:cs typeface="Cambria Math"/>
              <a:sym typeface="Cambria Math"/>
            </a:endParaRPr>
          </a:p>
          <a:p>
            <a:pPr marL="465138">
              <a:lnSpc>
                <a:spcPct val="115000"/>
              </a:lnSpc>
              <a:buClr>
                <a:schemeClr val="dk1"/>
              </a:buClr>
              <a:buSzPts val="1100"/>
            </a:pPr>
            <a:endParaRPr sz="2200" dirty="0">
              <a:solidFill>
                <a:schemeClr val="dk1"/>
              </a:solidFill>
              <a:latin typeface="Cambria Math"/>
              <a:ea typeface="Cambria Math"/>
              <a:cs typeface="Cambria Math"/>
              <a:sym typeface="Cambria Math"/>
            </a:endParaRPr>
          </a:p>
          <a:p>
            <a:pPr marL="465138">
              <a:lnSpc>
                <a:spcPct val="115000"/>
              </a:lnSpc>
              <a:buClr>
                <a:schemeClr val="dk1"/>
              </a:buClr>
              <a:buSzPts val="1100"/>
            </a:pPr>
            <a:endParaRPr sz="2200" dirty="0">
              <a:solidFill>
                <a:schemeClr val="dk1"/>
              </a:solidFill>
              <a:latin typeface="Cambria Math"/>
              <a:ea typeface="Cambria Math"/>
              <a:cs typeface="Cambria Math"/>
              <a:sym typeface="Cambria Math"/>
            </a:endParaRPr>
          </a:p>
          <a:p>
            <a:pPr marL="465138">
              <a:lnSpc>
                <a:spcPct val="115000"/>
              </a:lnSpc>
              <a:buClr>
                <a:schemeClr val="dk1"/>
              </a:buClr>
              <a:buSzPts val="1100"/>
            </a:pPr>
            <a:endParaRPr sz="2200" dirty="0">
              <a:solidFill>
                <a:schemeClr val="dk1"/>
              </a:solidFill>
              <a:latin typeface="Cambria Math"/>
              <a:ea typeface="Cambria Math"/>
              <a:cs typeface="Cambria Math"/>
              <a:sym typeface="Cambria Math"/>
            </a:endParaRPr>
          </a:p>
          <a:p>
            <a:pPr marL="465138">
              <a:lnSpc>
                <a:spcPct val="115000"/>
              </a:lnSpc>
              <a:buClr>
                <a:schemeClr val="dk1"/>
              </a:buClr>
              <a:buSzPts val="1100"/>
            </a:pPr>
            <a:r>
              <a:rPr lang="en-US" sz="2000" dirty="0">
                <a:solidFill>
                  <a:schemeClr val="dk1"/>
                </a:solidFill>
                <a:latin typeface="Verdana" panose="020B0604030504040204" pitchFamily="34" charset="0"/>
                <a:ea typeface="Verdana" panose="020B0604030504040204" pitchFamily="34" charset="0"/>
                <a:cs typeface="Cambria Math"/>
                <a:sym typeface="Cambria Math"/>
              </a:rPr>
              <a:t>b.</a:t>
            </a:r>
            <a:r>
              <a:rPr lang="en-US" sz="2000" dirty="0">
                <a:solidFill>
                  <a:schemeClr val="dk1"/>
                </a:solidFill>
                <a:latin typeface="Cambria Math"/>
                <a:ea typeface="Cambria Math"/>
                <a:cs typeface="Cambria Math"/>
                <a:sym typeface="Cambria Math"/>
              </a:rPr>
              <a:t> 8.12 ∙ 29.4</a:t>
            </a:r>
            <a:endParaRPr sz="2000" dirty="0">
              <a:solidFill>
                <a:schemeClr val="dk1"/>
              </a:solidFill>
              <a:latin typeface="Cambria Math"/>
              <a:ea typeface="Cambria Math"/>
              <a:cs typeface="Cambria Math"/>
              <a:sym typeface="Cambria Math"/>
            </a:endParaRPr>
          </a:p>
          <a:p>
            <a:pPr>
              <a:buSzPts val="2400"/>
            </a:pPr>
            <a:endParaRPr sz="2400" dirty="0">
              <a:latin typeface="Verdana"/>
              <a:ea typeface="Verdana"/>
              <a:cs typeface="Verdana"/>
              <a:sym typeface="Verdana"/>
            </a:endParaRPr>
          </a:p>
        </p:txBody>
      </p:sp>
      <p:sp>
        <p:nvSpPr>
          <p:cNvPr id="408" name="Google Shape;408;g111e50cb373_1_240"/>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410"/>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7117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25</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599"/>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TotalTime>
  <Words>1070</Words>
  <Application>Microsoft Office PowerPoint</Application>
  <PresentationFormat>Widescreen</PresentationFormat>
  <Paragraphs>187</Paragraphs>
  <Slides>29</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Arial Black</vt:lpstr>
      <vt:lpstr>Calibri</vt:lpstr>
      <vt:lpstr>Cambria Math</vt:lpstr>
      <vt:lpstr>Century Gothic</vt:lpstr>
      <vt:lpstr>Helvetica</vt:lpstr>
      <vt:lpstr>Verdana</vt:lpstr>
      <vt:lpstr>1_Office Theme</vt:lpstr>
      <vt:lpstr>6th Grade Accelerated Math  Unit 1, Lesson 4  Multiplying Multi-Digit Numbers with Decimals to the Thousandths  Volume 1, pg. 20  </vt:lpstr>
      <vt:lpstr>Benchmark</vt:lpstr>
      <vt:lpstr>PowerPoint Presentation</vt:lpstr>
      <vt:lpstr>PowerPoint Presentation</vt:lpstr>
      <vt:lpstr>Warm-Up</vt:lpstr>
      <vt:lpstr>PowerPoint Presentation</vt:lpstr>
      <vt:lpstr>Refresher</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Try It</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6th Grade Accelerated Math  Unit 1, Lesson 4  Multiplying Multi-Digit Numbers with Decimals to the Thousandths  Volume 1, pg. 20  </dc:title>
  <dc:creator>Karen McKenzie</dc:creator>
  <cp:lastModifiedBy>Cassie O'Connor</cp:lastModifiedBy>
  <cp:revision>7</cp:revision>
  <dcterms:created xsi:type="dcterms:W3CDTF">2015-03-17T18:51:18Z</dcterms:created>
  <dcterms:modified xsi:type="dcterms:W3CDTF">2022-06-29T04:32:21Z</dcterms:modified>
</cp:coreProperties>
</file>