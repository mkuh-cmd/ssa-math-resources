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74" r:id="rId8"/>
    <p:sldId id="275" r:id="rId9"/>
    <p:sldId id="276" r:id="rId10"/>
    <p:sldId id="277" r:id="rId11"/>
    <p:sldId id="293" r:id="rId12"/>
    <p:sldId id="278" r:id="rId13"/>
    <p:sldId id="296" r:id="rId14"/>
    <p:sldId id="280" r:id="rId15"/>
    <p:sldId id="279" r:id="rId16"/>
    <p:sldId id="294" r:id="rId17"/>
    <p:sldId id="295" r:id="rId18"/>
    <p:sldId id="297" r:id="rId19"/>
    <p:sldId id="298" r:id="rId20"/>
    <p:sldId id="262" r:id="rId21"/>
    <p:sldId id="263" r:id="rId22"/>
    <p:sldId id="264" r:id="rId23"/>
    <p:sldId id="287" r:id="rId24"/>
    <p:sldId id="288" r:id="rId25"/>
    <p:sldId id="289" r:id="rId26"/>
    <p:sldId id="290" r:id="rId27"/>
    <p:sldId id="291"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OUGvFbR4FBglWCVqDp22ntkrZ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18"/>
    <p:restoredTop sz="94767"/>
  </p:normalViewPr>
  <p:slideViewPr>
    <p:cSldViewPr snapToGrid="0">
      <p:cViewPr varScale="1">
        <p:scale>
          <a:sx n="58" d="100"/>
          <a:sy n="58" d="100"/>
        </p:scale>
        <p:origin x="78"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11ed8cbce7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g111ed8cbce7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g111ed8cbce7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11ed8cbce7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g111ed8cbce7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g111ed8cbce7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2844503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110790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38947494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58" name="Google Shape;358;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17763694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39589515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extLst>
      <p:ext uri="{BB962C8B-B14F-4D97-AF65-F5344CB8AC3E}">
        <p14:creationId xmlns:p14="http://schemas.microsoft.com/office/powerpoint/2010/main" val="18391392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6" name="Google Shape;426;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7" name="Google Shape;427;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6" name="Google Shape;436;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7" name="Google Shape;437;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8" name="Google Shape;448;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7" name="Google Shape;457;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7" name="Google Shape;467;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40.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10.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6.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10.png"/><Relationship Id="rId10" Type="http://schemas.openxmlformats.org/officeDocument/2006/relationships/image" Target="../media/image36.png"/><Relationship Id="rId4" Type="http://schemas.openxmlformats.org/officeDocument/2006/relationships/image" Target="../media/image310.png"/><Relationship Id="rId9"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9"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29386" y="3805518"/>
            <a:ext cx="4831038" cy="457200"/>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6</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Accelerated Math</a:t>
            </a:r>
            <a:br>
              <a:rPr lang="en-US" sz="3200" b="1" dirty="0">
                <a:solidFill>
                  <a:srgbClr val="417DBF"/>
                </a:solidFill>
                <a:latin typeface="Verdana"/>
                <a:ea typeface="Verdana"/>
                <a:cs typeface="Verdana"/>
                <a:sym typeface="Verdana"/>
              </a:rPr>
            </a:br>
            <a:endParaRPr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1, Lesson 3</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Rewriting Expressions Using the Distributive Property</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2000" b="1" dirty="0">
                <a:solidFill>
                  <a:srgbClr val="417DBF"/>
                </a:solidFill>
                <a:latin typeface="Verdana"/>
                <a:ea typeface="Verdana"/>
                <a:cs typeface="Verdana"/>
                <a:sym typeface="Verdana"/>
              </a:rPr>
              <a:t>Volume 1, pg. 14</a:t>
            </a:r>
            <a:endParaRPr sz="2800"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115" name="Google Shape;115;g104476d1465_0_0"/>
          <p:cNvSpPr/>
          <p:nvPr/>
        </p:nvSpPr>
        <p:spPr>
          <a:xfrm>
            <a:off x="0" y="-810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185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88591" y="12307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65091" y="358852"/>
            <a:ext cx="747300" cy="747300"/>
          </a:xfrm>
          <a:prstGeom prst="rect">
            <a:avLst/>
          </a:prstGeom>
          <a:noFill/>
          <a:ln>
            <a:noFill/>
          </a:ln>
          <a:effectLst>
            <a:outerShdw blurRad="57150" dist="19050" dir="5400000" algn="bl" rotWithShape="0">
              <a:srgbClr val="000000">
                <a:alpha val="49411"/>
              </a:srgbClr>
            </a:outerShdw>
          </a:effectLst>
        </p:spPr>
      </p:pic>
      <p:sp>
        <p:nvSpPr>
          <p:cNvPr id="125"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14</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
        <p:nvSpPr>
          <p:cNvPr id="127" name="Google Shape;127;g104476d1465_1_17"/>
          <p:cNvSpPr txBox="1"/>
          <p:nvPr/>
        </p:nvSpPr>
        <p:spPr>
          <a:xfrm>
            <a:off x="1412391" y="1600200"/>
            <a:ext cx="8798409"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500" dirty="0">
                <a:solidFill>
                  <a:schemeClr val="dk1"/>
                </a:solidFill>
                <a:latin typeface="Verdana"/>
                <a:ea typeface="Verdana"/>
                <a:cs typeface="Verdana"/>
                <a:sym typeface="Verdana"/>
              </a:rPr>
              <a:t>MA.6.NSO.3.2</a:t>
            </a:r>
            <a:endParaRPr sz="35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500" dirty="0">
                <a:solidFill>
                  <a:schemeClr val="dk1"/>
                </a:solidFill>
                <a:latin typeface="Verdana"/>
                <a:ea typeface="Verdana"/>
                <a:cs typeface="Verdana"/>
                <a:sym typeface="Verdana"/>
              </a:rPr>
              <a:t>Rewrite the sum of two composite whole numbers having a common factor, as a common factor multiplied by the sum of two whole numbers.</a:t>
            </a:r>
            <a:endParaRPr sz="21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40404" y="425213"/>
            <a:ext cx="747300" cy="747300"/>
          </a:xfrm>
          <a:prstGeom prst="rect">
            <a:avLst/>
          </a:prstGeom>
          <a:noFill/>
          <a:ln>
            <a:noFill/>
          </a:ln>
          <a:effectLst>
            <a:outerShdw blurRad="57150" dist="19050" dir="5400000" algn="bl" rotWithShape="0">
              <a:srgbClr val="000000">
                <a:alpha val="49411"/>
              </a:srgbClr>
            </a:outerShdw>
          </a:effectLst>
        </p:spPr>
      </p:pic>
      <p:sp>
        <p:nvSpPr>
          <p:cNvPr id="135" name="Google Shape;135;p1"/>
          <p:cNvSpPr txBox="1"/>
          <p:nvPr/>
        </p:nvSpPr>
        <p:spPr>
          <a:xfrm>
            <a:off x="1569028" y="136013"/>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569028" y="1725133"/>
            <a:ext cx="8483948" cy="4205700"/>
          </a:xfrm>
          <a:prstGeom prst="rect">
            <a:avLst/>
          </a:prstGeom>
          <a:noFill/>
          <a:ln>
            <a:noFill/>
          </a:ln>
        </p:spPr>
        <p:txBody>
          <a:bodyPr spcFirstLastPara="1" wrap="square" lIns="91425" tIns="45700" rIns="91425" bIns="45700" anchor="t" anchorCtr="0">
            <a:noAutofit/>
          </a:bodyPr>
          <a:lstStyle/>
          <a:p>
            <a:pPr>
              <a:buSzPts val="1800"/>
            </a:pPr>
            <a:r>
              <a:rPr lang="en-US" sz="2000" dirty="0">
                <a:solidFill>
                  <a:schemeClr val="dk1"/>
                </a:solidFill>
                <a:latin typeface="Verdana"/>
                <a:ea typeface="Verdana"/>
                <a:cs typeface="Verdana"/>
                <a:sym typeface="Verdana"/>
              </a:rPr>
              <a:t>MA.K12.MTR.1.1 Actively participate in effortful learning both individually and collectively.</a:t>
            </a:r>
            <a:endParaRPr sz="2000" dirty="0"/>
          </a:p>
          <a:p>
            <a:pPr marL="457200">
              <a:buSzPts val="1800"/>
            </a:pPr>
            <a:endParaRPr sz="2000" dirty="0">
              <a:solidFill>
                <a:schemeClr val="dk1"/>
              </a:solidFill>
              <a:latin typeface="Verdana"/>
              <a:ea typeface="Verdana"/>
              <a:cs typeface="Verdana"/>
              <a:sym typeface="Verdana"/>
            </a:endParaRPr>
          </a:p>
          <a:p>
            <a:pPr>
              <a:buSzPts val="1800"/>
            </a:pPr>
            <a:r>
              <a:rPr lang="en-US" sz="2000" dirty="0">
                <a:solidFill>
                  <a:schemeClr val="dk1"/>
                </a:solidFill>
                <a:latin typeface="Verdana"/>
                <a:ea typeface="Verdana"/>
                <a:cs typeface="Verdana"/>
                <a:sym typeface="Verdana"/>
              </a:rPr>
              <a:t>MA.K12.MTR.2.1 Demonstrate understanding by representing problems in multiple ways.</a:t>
            </a:r>
            <a:endParaRPr sz="2000" dirty="0"/>
          </a:p>
          <a:p>
            <a:pPr marL="457200">
              <a:buSzPts val="1800"/>
            </a:pPr>
            <a:endParaRPr sz="2000" dirty="0">
              <a:solidFill>
                <a:schemeClr val="dk1"/>
              </a:solidFill>
              <a:latin typeface="Verdana"/>
              <a:ea typeface="Verdana"/>
              <a:cs typeface="Verdana"/>
              <a:sym typeface="Verdana"/>
            </a:endParaRPr>
          </a:p>
          <a:p>
            <a:pPr>
              <a:buSzPts val="1800"/>
            </a:pPr>
            <a:r>
              <a:rPr lang="en-US" sz="2000" dirty="0">
                <a:solidFill>
                  <a:schemeClr val="dk1"/>
                </a:solidFill>
                <a:latin typeface="Verdana"/>
                <a:ea typeface="Verdana"/>
                <a:cs typeface="Verdana"/>
                <a:sym typeface="Verdana"/>
              </a:rPr>
              <a:t>MA.K12.MTR.4.1 Engage in discussions that reflect on the mathematical thinking of self and others.</a:t>
            </a:r>
            <a:endParaRPr sz="2000" dirty="0"/>
          </a:p>
          <a:p>
            <a:pPr marL="457200">
              <a:buSzPts val="1800"/>
            </a:pPr>
            <a:endParaRPr sz="2000" dirty="0">
              <a:solidFill>
                <a:schemeClr val="dk1"/>
              </a:solidFill>
              <a:latin typeface="Verdana"/>
              <a:ea typeface="Verdana"/>
              <a:cs typeface="Verdana"/>
              <a:sym typeface="Verdana"/>
            </a:endParaRPr>
          </a:p>
          <a:p>
            <a:pPr>
              <a:buSzPts val="1800"/>
            </a:pPr>
            <a:r>
              <a:rPr lang="en-US" sz="2000" dirty="0">
                <a:solidFill>
                  <a:schemeClr val="dk1"/>
                </a:solidFill>
                <a:latin typeface="Verdana"/>
                <a:ea typeface="Verdana"/>
                <a:cs typeface="Verdana"/>
                <a:sym typeface="Verdana"/>
              </a:rPr>
              <a:t>MA.K12.MTR.5.1 Use patterns and structure to help understand and connect mathematical concepts.</a:t>
            </a:r>
            <a:endParaRPr sz="2000" dirty="0"/>
          </a:p>
        </p:txBody>
      </p:sp>
      <p:sp>
        <p:nvSpPr>
          <p:cNvPr id="138" name="Google Shape;138;p1"/>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343446" y="-20549"/>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561284" y="268651"/>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343446" y="1600200"/>
            <a:ext cx="8867354"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a:solidFill>
                  <a:schemeClr val="dk1"/>
                </a:solidFill>
                <a:latin typeface="Verdana"/>
                <a:ea typeface="Verdana"/>
                <a:cs typeface="Verdana"/>
                <a:sym typeface="Verdana"/>
              </a:rPr>
              <a:t>I can use the distributive property to generate equivalent numeric expressions.</a:t>
            </a:r>
            <a:endParaRPr sz="3500">
              <a:solidFill>
                <a:schemeClr val="dk1"/>
              </a:solidFill>
              <a:latin typeface="Verdana"/>
              <a:ea typeface="Verdana"/>
              <a:cs typeface="Verdana"/>
              <a:sym typeface="Verdana"/>
            </a:endParaRPr>
          </a:p>
          <a:p>
            <a:endParaRPr sz="3500" dirty="0">
              <a:solidFill>
                <a:schemeClr val="dk1"/>
              </a:solidFill>
              <a:latin typeface="Verdana"/>
              <a:ea typeface="Verdana"/>
              <a:cs typeface="Verdana"/>
              <a:sym typeface="Verdana"/>
            </a:endParaRPr>
          </a:p>
          <a:p>
            <a:pPr marL="457200" indent="-450850">
              <a:buClr>
                <a:srgbClr val="434343"/>
              </a:buClr>
              <a:buSzPts val="3500"/>
              <a:buFont typeface="Verdana"/>
              <a:buChar char="❏"/>
            </a:pPr>
            <a:r>
              <a:rPr lang="en-US" sz="3500" dirty="0">
                <a:solidFill>
                  <a:schemeClr val="dk1"/>
                </a:solidFill>
                <a:latin typeface="Verdana"/>
                <a:ea typeface="Verdana"/>
                <a:cs typeface="Verdana"/>
                <a:sym typeface="Verdana"/>
              </a:rPr>
              <a:t>I can rewrite the sum of two composite numbers with a common factor using the distributive property.</a:t>
            </a:r>
            <a:endParaRPr dirty="0"/>
          </a:p>
        </p:txBody>
      </p:sp>
      <p:sp>
        <p:nvSpPr>
          <p:cNvPr id="149" name="Google Shape;149;p2"/>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316387" y="60325"/>
            <a:ext cx="8148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500" b="1">
                <a:solidFill>
                  <a:srgbClr val="3F2A67"/>
                </a:solidFill>
                <a:latin typeface="Verdana"/>
                <a:ea typeface="Verdana"/>
                <a:cs typeface="Verdana"/>
                <a:sym typeface="Verdana"/>
              </a:rPr>
              <a:t>1.3.1 Warm-Up: Secret Number</a:t>
            </a:r>
            <a:endParaRPr sz="1300"/>
          </a:p>
        </p:txBody>
      </p:sp>
      <p:pic>
        <p:nvPicPr>
          <p:cNvPr id="167" name="Google Shape;167;p4"/>
          <p:cNvPicPr preferRelativeResize="0"/>
          <p:nvPr/>
        </p:nvPicPr>
        <p:blipFill rotWithShape="1">
          <a:blip r:embed="rId3">
            <a:alphaModFix/>
          </a:blip>
          <a:srcRect/>
          <a:stretch/>
        </p:blipFill>
        <p:spPr>
          <a:xfrm>
            <a:off x="569087" y="292000"/>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411941" y="1386025"/>
            <a:ext cx="8975607" cy="5017800"/>
          </a:xfrm>
          <a:prstGeom prst="rect">
            <a:avLst/>
          </a:prstGeom>
          <a:noFill/>
          <a:ln>
            <a:noFill/>
          </a:ln>
        </p:spPr>
        <p:txBody>
          <a:bodyPr spcFirstLastPara="1" wrap="square" lIns="91425" tIns="45700" rIns="91425" bIns="45700" anchor="t" anchorCtr="0">
            <a:spAutoFit/>
          </a:bodyPr>
          <a:lstStyle/>
          <a:p>
            <a:pPr>
              <a:buSzPts val="2400"/>
            </a:pPr>
            <a:r>
              <a:rPr lang="en-US" sz="2000">
                <a:latin typeface="Verdana"/>
                <a:ea typeface="Verdana"/>
                <a:cs typeface="Verdana"/>
                <a:sym typeface="Verdana"/>
              </a:rPr>
              <a:t>Juanita has a secret number. </a:t>
            </a:r>
            <a:r>
              <a:rPr lang="en-US" sz="2000" dirty="0">
                <a:latin typeface="Verdana"/>
                <a:ea typeface="Verdana"/>
                <a:cs typeface="Verdana"/>
                <a:sym typeface="Verdana"/>
              </a:rPr>
              <a:t>Read her clues and answer the questions that follow. </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b="1" dirty="0">
                <a:latin typeface="Verdana"/>
                <a:ea typeface="Verdana"/>
                <a:cs typeface="Verdana"/>
                <a:sym typeface="Verdana"/>
              </a:rPr>
              <a:t>Clue 1</a:t>
            </a:r>
            <a:r>
              <a:rPr lang="en-US" sz="2000" dirty="0">
                <a:latin typeface="Verdana"/>
                <a:ea typeface="Verdana"/>
                <a:cs typeface="Verdana"/>
                <a:sym typeface="Verdana"/>
              </a:rPr>
              <a:t>: My secret number is a factor of 60. </a:t>
            </a:r>
            <a:endParaRPr sz="2000" dirty="0">
              <a:latin typeface="Verdana"/>
              <a:ea typeface="Verdana"/>
              <a:cs typeface="Verdana"/>
              <a:sym typeface="Verdana"/>
            </a:endParaRPr>
          </a:p>
          <a:p>
            <a:pPr>
              <a:buSzPts val="2400"/>
            </a:pPr>
            <a:r>
              <a:rPr lang="en-US" sz="2000" dirty="0">
                <a:latin typeface="Verdana"/>
                <a:ea typeface="Verdana"/>
                <a:cs typeface="Verdana"/>
                <a:sym typeface="Verdana"/>
              </a:rPr>
              <a:t>1. What is the smallest value Juanita’s number could be? </a:t>
            </a:r>
            <a:endParaRPr sz="2000" dirty="0">
              <a:latin typeface="Verdana"/>
              <a:ea typeface="Verdana"/>
              <a:cs typeface="Verdana"/>
              <a:sym typeface="Verdana"/>
            </a:endParaRPr>
          </a:p>
          <a:p>
            <a:pPr>
              <a:buSzPts val="2400"/>
            </a:pPr>
            <a:r>
              <a:rPr lang="en-US" sz="2000" dirty="0">
                <a:latin typeface="Verdana"/>
                <a:ea typeface="Verdana"/>
                <a:cs typeface="Verdana"/>
                <a:sym typeface="Verdana"/>
              </a:rPr>
              <a:t>2. What is the largest value Juanita’s number could be? </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b="1" dirty="0">
                <a:latin typeface="Verdana"/>
                <a:ea typeface="Verdana"/>
                <a:cs typeface="Verdana"/>
                <a:sym typeface="Verdana"/>
              </a:rPr>
              <a:t>Clue 2</a:t>
            </a:r>
            <a:r>
              <a:rPr lang="en-US" sz="2000" dirty="0">
                <a:latin typeface="Verdana"/>
                <a:ea typeface="Verdana"/>
                <a:cs typeface="Verdana"/>
                <a:sym typeface="Verdana"/>
              </a:rPr>
              <a:t>: My number is prime. </a:t>
            </a:r>
            <a:endParaRPr sz="2000" dirty="0">
              <a:latin typeface="Verdana"/>
              <a:ea typeface="Verdana"/>
              <a:cs typeface="Verdana"/>
              <a:sym typeface="Verdana"/>
            </a:endParaRPr>
          </a:p>
          <a:p>
            <a:pPr>
              <a:buSzPts val="2400"/>
            </a:pPr>
            <a:r>
              <a:rPr lang="en-US" sz="2000" dirty="0">
                <a:latin typeface="Verdana"/>
                <a:ea typeface="Verdana"/>
                <a:cs typeface="Verdana"/>
                <a:sym typeface="Verdana"/>
              </a:rPr>
              <a:t>3. What values are possible for Juanita’s number at this point? </a:t>
            </a:r>
            <a:endParaRPr sz="2000" dirty="0">
              <a:latin typeface="Verdana"/>
              <a:ea typeface="Verdana"/>
              <a:cs typeface="Verdana"/>
              <a:sym typeface="Verdana"/>
            </a:endParaRPr>
          </a:p>
          <a:p>
            <a:pPr>
              <a:buSzPts val="2400"/>
            </a:pPr>
            <a:endParaRPr sz="2000" b="1" dirty="0">
              <a:latin typeface="Verdana"/>
              <a:ea typeface="Verdana"/>
              <a:cs typeface="Verdana"/>
              <a:sym typeface="Verdana"/>
            </a:endParaRPr>
          </a:p>
          <a:p>
            <a:pPr>
              <a:buSzPts val="2400"/>
            </a:pPr>
            <a:r>
              <a:rPr lang="en-US" sz="2000" b="1" dirty="0">
                <a:latin typeface="Verdana"/>
                <a:ea typeface="Verdana"/>
                <a:cs typeface="Verdana"/>
                <a:sym typeface="Verdana"/>
              </a:rPr>
              <a:t>Clue 3</a:t>
            </a:r>
            <a:r>
              <a:rPr lang="en-US" sz="2000" dirty="0">
                <a:latin typeface="Verdana"/>
                <a:ea typeface="Verdana"/>
                <a:cs typeface="Verdana"/>
                <a:sym typeface="Verdana"/>
              </a:rPr>
              <a:t>: 15 is a multiple of my secret number. </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b="1" dirty="0">
                <a:latin typeface="Verdana"/>
                <a:ea typeface="Verdana"/>
                <a:cs typeface="Verdana"/>
                <a:sym typeface="Verdana"/>
              </a:rPr>
              <a:t>Clue 4</a:t>
            </a:r>
            <a:r>
              <a:rPr lang="en-US" sz="2000" dirty="0">
                <a:latin typeface="Verdana"/>
                <a:ea typeface="Verdana"/>
                <a:cs typeface="Verdana"/>
                <a:sym typeface="Verdana"/>
              </a:rPr>
              <a:t>: My secret number is a factor of 20. </a:t>
            </a:r>
            <a:endParaRPr sz="2000" dirty="0">
              <a:latin typeface="Verdana"/>
              <a:ea typeface="Verdana"/>
              <a:cs typeface="Verdana"/>
              <a:sym typeface="Verdana"/>
            </a:endParaRPr>
          </a:p>
          <a:p>
            <a:pPr>
              <a:buSzPts val="2400"/>
            </a:pPr>
            <a:r>
              <a:rPr lang="en-US" sz="2000" dirty="0">
                <a:latin typeface="Verdana"/>
                <a:ea typeface="Verdana"/>
                <a:cs typeface="Verdana"/>
                <a:sym typeface="Verdana"/>
              </a:rPr>
              <a:t>4. What is Juanita’s secret number? </a:t>
            </a:r>
            <a:endParaRPr sz="2000" dirty="0">
              <a:latin typeface="Verdana"/>
              <a:ea typeface="Verdana"/>
              <a:cs typeface="Verdana"/>
              <a:sym typeface="Verdana"/>
            </a:endParaRPr>
          </a:p>
          <a:p>
            <a:pPr>
              <a:buSzPts val="2400"/>
            </a:pPr>
            <a:r>
              <a:rPr lang="en-US" sz="2000" dirty="0">
                <a:latin typeface="Verdana"/>
                <a:ea typeface="Verdana"/>
                <a:cs typeface="Verdana"/>
                <a:sym typeface="Verdana"/>
              </a:rPr>
              <a:t>5. Could you have determined her secret number only using the first three clues? Explain.</a:t>
            </a:r>
            <a:endParaRPr sz="2000" dirty="0"/>
          </a:p>
        </p:txBody>
      </p:sp>
      <p:sp>
        <p:nvSpPr>
          <p:cNvPr id="170" name="Google Shape;170;p4"/>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8"/>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98" name="Google Shape;298;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299" name="Google Shape;299;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7" name="Google Shape;307;p19"/>
          <p:cNvSpPr txBox="1"/>
          <p:nvPr/>
        </p:nvSpPr>
        <p:spPr>
          <a:xfrm>
            <a:off x="1255826"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54B5D1"/>
                </a:solidFill>
                <a:latin typeface="Verdana"/>
                <a:ea typeface="Verdana"/>
                <a:cs typeface="Verdana"/>
                <a:sym typeface="Verdana"/>
              </a:rPr>
              <a:t>1.3.2 Guided Instruction: The Distributive Property</a:t>
            </a:r>
            <a:endParaRPr/>
          </a:p>
        </p:txBody>
      </p:sp>
      <p:pic>
        <p:nvPicPr>
          <p:cNvPr id="308" name="Google Shape;308;p19"/>
          <p:cNvPicPr preferRelativeResize="0"/>
          <p:nvPr/>
        </p:nvPicPr>
        <p:blipFill rotWithShape="1">
          <a:blip r:embed="rId3">
            <a:alphaModFix/>
          </a:blip>
          <a:srcRect/>
          <a:stretch/>
        </p:blipFill>
        <p:spPr>
          <a:xfrm>
            <a:off x="508526" y="121289"/>
            <a:ext cx="747300" cy="747300"/>
          </a:xfrm>
          <a:prstGeom prst="rect">
            <a:avLst/>
          </a:prstGeom>
          <a:noFill/>
          <a:ln>
            <a:noFill/>
          </a:ln>
          <a:effectLst>
            <a:outerShdw blurRad="50800" dist="38100" dir="2700000" algn="tl" rotWithShape="0">
              <a:srgbClr val="000000">
                <a:alpha val="40000"/>
              </a:srgbClr>
            </a:outerShdw>
          </a:effectLst>
        </p:spPr>
      </p:pic>
      <p:sp>
        <p:nvSpPr>
          <p:cNvPr id="310" name="Google Shape;310;p19"/>
          <p:cNvSpPr txBox="1"/>
          <p:nvPr/>
        </p:nvSpPr>
        <p:spPr>
          <a:xfrm>
            <a:off x="1932448" y="4218600"/>
            <a:ext cx="8327100" cy="1015622"/>
          </a:xfrm>
          <a:prstGeom prst="rect">
            <a:avLst/>
          </a:prstGeom>
          <a:noFill/>
          <a:ln>
            <a:noFill/>
          </a:ln>
        </p:spPr>
        <p:txBody>
          <a:bodyPr spcFirstLastPara="1" wrap="square" lIns="91425" tIns="45700" rIns="91425" bIns="45700" anchor="t" anchorCtr="0">
            <a:spAutoFit/>
          </a:bodyPr>
          <a:lstStyle/>
          <a:p>
            <a:pPr>
              <a:buSzPts val="2400"/>
            </a:pPr>
            <a:r>
              <a:rPr lang="en-US" sz="2000" dirty="0">
                <a:latin typeface="Verdana"/>
                <a:ea typeface="Verdana"/>
                <a:cs typeface="Verdana"/>
                <a:sym typeface="Verdana"/>
              </a:rPr>
              <a:t>The product 7 × 23 can be rewritten using the distributive property by decomposing 23 into two parts and multiplying 7 by both parts. </a:t>
            </a:r>
            <a:endParaRPr sz="2000" dirty="0"/>
          </a:p>
        </p:txBody>
      </p:sp>
      <p:sp>
        <p:nvSpPr>
          <p:cNvPr id="311" name="Google Shape;311;p19"/>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312" name="Google Shape;312;p19"/>
          <p:cNvPicPr preferRelativeResize="0"/>
          <p:nvPr/>
        </p:nvPicPr>
        <p:blipFill>
          <a:blip r:embed="rId4">
            <a:alphaModFix/>
          </a:blip>
          <a:stretch>
            <a:fillRect/>
          </a:stretch>
        </p:blipFill>
        <p:spPr>
          <a:xfrm>
            <a:off x="2354095" y="1538000"/>
            <a:ext cx="7418322" cy="2468300"/>
          </a:xfrm>
          <a:prstGeom prst="rect">
            <a:avLst/>
          </a:prstGeom>
          <a:noFill/>
          <a:ln>
            <a:noFill/>
          </a:ln>
        </p:spPr>
      </p:pic>
      <p:sp>
        <p:nvSpPr>
          <p:cNvPr id="2" name="Rectangle 1">
            <a:extLst>
              <a:ext uri="{FF2B5EF4-FFF2-40B4-BE49-F238E27FC236}">
                <a16:creationId xmlns:a16="http://schemas.microsoft.com/office/drawing/2014/main" id="{C91CEA94-80E0-BF4C-9242-871CF9562E2E}"/>
              </a:ext>
            </a:extLst>
          </p:cNvPr>
          <p:cNvSpPr/>
          <p:nvPr/>
        </p:nvSpPr>
        <p:spPr>
          <a:xfrm>
            <a:off x="4060022" y="5446522"/>
            <a:ext cx="4071949" cy="707886"/>
          </a:xfrm>
          <a:prstGeom prst="rect">
            <a:avLst/>
          </a:prstGeom>
        </p:spPr>
        <p:txBody>
          <a:bodyPr wrap="none">
            <a:spAutoFit/>
          </a:bodyPr>
          <a:lstStyle/>
          <a:p>
            <a:pPr algn="ctr"/>
            <a:r>
              <a:rPr lang="en-US" sz="2000" dirty="0">
                <a:latin typeface="Verdana" panose="020B0604030504040204" pitchFamily="34" charset="0"/>
                <a:ea typeface="Verdana" panose="020B0604030504040204" pitchFamily="34" charset="0"/>
                <a:cs typeface="Verdana" panose="020B0604030504040204" pitchFamily="34" charset="0"/>
              </a:rPr>
              <a:t>7 × 23 = 7(20 + 3) </a:t>
            </a:r>
          </a:p>
          <a:p>
            <a:pPr algn="ctr"/>
            <a:r>
              <a:rPr lang="en-US" sz="2000" dirty="0">
                <a:latin typeface="Verdana" panose="020B0604030504040204" pitchFamily="34" charset="0"/>
                <a:ea typeface="Verdana" panose="020B0604030504040204" pitchFamily="34" charset="0"/>
                <a:cs typeface="Verdana" panose="020B0604030504040204" pitchFamily="34" charset="0"/>
              </a:rPr>
              <a:t>7(20 + 3) = (7 ∙ 20) + (7 ∙ 3)</a:t>
            </a:r>
          </a:p>
        </p:txBody>
      </p:sp>
      <p:sp>
        <p:nvSpPr>
          <p:cNvPr id="10"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20" name="Google Shape;320;p20"/>
          <p:cNvSpPr txBox="1"/>
          <p:nvPr/>
        </p:nvSpPr>
        <p:spPr>
          <a:xfrm>
            <a:off x="1062318" y="2524275"/>
            <a:ext cx="9316932" cy="4002000"/>
          </a:xfrm>
          <a:prstGeom prst="rect">
            <a:avLst/>
          </a:prstGeom>
          <a:noFill/>
          <a:ln>
            <a:noFill/>
          </a:ln>
        </p:spPr>
        <p:txBody>
          <a:bodyPr spcFirstLastPara="1" wrap="square" lIns="91425" tIns="45700" rIns="91425" bIns="45700" anchor="t" anchorCtr="0">
            <a:spAutoFit/>
          </a:bodyPr>
          <a:lstStyle/>
          <a:p>
            <a:pPr>
              <a:lnSpc>
                <a:spcPct val="115000"/>
              </a:lnSpc>
              <a:buClr>
                <a:schemeClr val="dk1"/>
              </a:buClr>
              <a:buSzPts val="1100"/>
            </a:pPr>
            <a:r>
              <a:rPr lang="en-US" sz="2000" dirty="0">
                <a:solidFill>
                  <a:schemeClr val="dk1"/>
                </a:solidFill>
                <a:latin typeface="Verdana"/>
                <a:ea typeface="Verdana"/>
                <a:cs typeface="Verdana"/>
                <a:sym typeface="Verdana"/>
              </a:rPr>
              <a:t>2. Which of the expressions is the easiest to evaluate</a:t>
            </a:r>
            <a:endParaRPr sz="2000" dirty="0">
              <a:solidFill>
                <a:schemeClr val="dk1"/>
              </a:solidFill>
              <a:latin typeface="Verdana"/>
              <a:ea typeface="Verdana"/>
              <a:cs typeface="Verdana"/>
              <a:sym typeface="Verdana"/>
            </a:endParaRPr>
          </a:p>
          <a:p>
            <a:pPr>
              <a:lnSpc>
                <a:spcPct val="115000"/>
              </a:lnSpc>
              <a:buClr>
                <a:schemeClr val="dk1"/>
              </a:buClr>
              <a:buSzPts val="1100"/>
            </a:pPr>
            <a:r>
              <a:rPr lang="en-US" sz="2000" dirty="0">
                <a:solidFill>
                  <a:schemeClr val="dk1"/>
                </a:solidFill>
                <a:latin typeface="Verdana"/>
                <a:ea typeface="Verdana"/>
                <a:cs typeface="Verdana"/>
                <a:sym typeface="Verdana"/>
              </a:rPr>
              <a:t>using mental math?</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lnSpc>
                <a:spcPct val="115000"/>
              </a:lnSpc>
              <a:buClr>
                <a:schemeClr val="dk1"/>
              </a:buClr>
              <a:buSzPts val="1100"/>
            </a:pPr>
            <a:r>
              <a:rPr lang="en-US" sz="2000" dirty="0">
                <a:solidFill>
                  <a:schemeClr val="dk1"/>
                </a:solidFill>
                <a:latin typeface="Verdana"/>
                <a:ea typeface="Verdana"/>
                <a:cs typeface="Verdana"/>
                <a:sym typeface="Verdana"/>
              </a:rPr>
              <a:t>The distributive property can also be used to rewrite the sum of two numbers that share a common factor.</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buSzPts val="2400"/>
            </a:pPr>
            <a:endParaRPr sz="2400" dirty="0">
              <a:latin typeface="Verdana"/>
              <a:ea typeface="Verdana"/>
              <a:cs typeface="Verdana"/>
              <a:sym typeface="Verdana"/>
            </a:endParaRPr>
          </a:p>
        </p:txBody>
      </p:sp>
      <p:sp>
        <p:nvSpPr>
          <p:cNvPr id="321" name="Google Shape;321;p20"/>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22" name="Google Shape;322;p20"/>
          <p:cNvSpPr txBox="1"/>
          <p:nvPr/>
        </p:nvSpPr>
        <p:spPr>
          <a:xfrm>
            <a:off x="1062318" y="306975"/>
            <a:ext cx="9197232" cy="800400"/>
          </a:xfrm>
          <a:prstGeom prst="rect">
            <a:avLst/>
          </a:prstGeom>
          <a:noFill/>
          <a:ln>
            <a:noFill/>
          </a:ln>
        </p:spPr>
        <p:txBody>
          <a:bodyPr spcFirstLastPara="1" wrap="square" lIns="91425" tIns="91425" rIns="91425" bIns="91425" anchor="t" anchorCtr="0">
            <a:spAutoFit/>
          </a:bodyPr>
          <a:lstStyle/>
          <a:p>
            <a:r>
              <a:rPr lang="en-US" sz="2000">
                <a:latin typeface="Verdana"/>
                <a:ea typeface="Verdana"/>
                <a:cs typeface="Verdana"/>
                <a:sym typeface="Verdana"/>
              </a:rPr>
              <a:t>1. </a:t>
            </a:r>
            <a:r>
              <a:rPr lang="en-US" sz="2000" dirty="0">
                <a:latin typeface="Verdana"/>
                <a:ea typeface="Verdana"/>
                <a:cs typeface="Verdana"/>
                <a:sym typeface="Verdana"/>
              </a:rPr>
              <a:t>What are two other ways that 7 × 23 could be rewritten using the distributive property?</a:t>
            </a:r>
            <a:endParaRPr sz="2000" dirty="0">
              <a:latin typeface="Verdana"/>
              <a:ea typeface="Verdana"/>
              <a:cs typeface="Verdana"/>
              <a:sym typeface="Verdana"/>
            </a:endParaRPr>
          </a:p>
        </p:txBody>
      </p:sp>
      <p:sp>
        <p:nvSpPr>
          <p:cNvPr id="323" name="Google Shape;323;p20"/>
          <p:cNvSpPr txBox="1"/>
          <p:nvPr/>
        </p:nvSpPr>
        <p:spPr>
          <a:xfrm>
            <a:off x="3971550" y="1251276"/>
            <a:ext cx="4248900" cy="538579"/>
          </a:xfrm>
          <a:prstGeom prst="rect">
            <a:avLst/>
          </a:prstGeom>
          <a:noFill/>
          <a:ln>
            <a:noFill/>
          </a:ln>
        </p:spPr>
        <p:txBody>
          <a:bodyPr spcFirstLastPara="1" wrap="square" lIns="91425" tIns="91425" rIns="91425" bIns="91425" anchor="t" anchorCtr="0">
            <a:spAutoFit/>
          </a:bodyPr>
          <a:lstStyle/>
          <a:p>
            <a:pPr>
              <a:lnSpc>
                <a:spcPct val="115000"/>
              </a:lnSpc>
            </a:pPr>
            <a:r>
              <a:rPr lang="en-US" sz="2000" dirty="0">
                <a:solidFill>
                  <a:schemeClr val="dk1"/>
                </a:solidFill>
                <a:latin typeface="Verdana"/>
                <a:ea typeface="Verdana"/>
                <a:cs typeface="Verdana"/>
                <a:sym typeface="Verdana"/>
              </a:rPr>
              <a:t>7 X 23 = ____ ( ____ + ____ )</a:t>
            </a:r>
            <a:endParaRPr sz="2000" dirty="0">
              <a:solidFill>
                <a:schemeClr val="dk1"/>
              </a:solidFill>
              <a:latin typeface="Verdana"/>
              <a:ea typeface="Verdana"/>
              <a:cs typeface="Verdana"/>
              <a:sym typeface="Verdana"/>
            </a:endParaRPr>
          </a:p>
        </p:txBody>
      </p:sp>
      <p:sp>
        <p:nvSpPr>
          <p:cNvPr id="324" name="Google Shape;324;p20"/>
          <p:cNvSpPr txBox="1"/>
          <p:nvPr/>
        </p:nvSpPr>
        <p:spPr>
          <a:xfrm>
            <a:off x="4122850" y="1887776"/>
            <a:ext cx="4359000" cy="538579"/>
          </a:xfrm>
          <a:prstGeom prst="rect">
            <a:avLst/>
          </a:prstGeom>
          <a:noFill/>
          <a:ln>
            <a:noFill/>
          </a:ln>
        </p:spPr>
        <p:txBody>
          <a:bodyPr spcFirstLastPara="1" wrap="square" lIns="91425" tIns="91425" rIns="91425" bIns="91425" anchor="t" anchorCtr="0">
            <a:spAutoFit/>
          </a:bodyPr>
          <a:lstStyle/>
          <a:p>
            <a:pPr>
              <a:lnSpc>
                <a:spcPct val="115000"/>
              </a:lnSpc>
            </a:pPr>
            <a:r>
              <a:rPr lang="en-US" sz="2000">
                <a:solidFill>
                  <a:schemeClr val="dk1"/>
                </a:solidFill>
                <a:latin typeface="Verdana"/>
                <a:ea typeface="Verdana"/>
                <a:cs typeface="Verdana"/>
                <a:sym typeface="Verdana"/>
              </a:rPr>
              <a:t>7(23) = ____ ( ____ + ____ )</a:t>
            </a:r>
            <a:endParaRPr sz="2000">
              <a:solidFill>
                <a:schemeClr val="dk1"/>
              </a:solidFill>
              <a:latin typeface="Verdana"/>
              <a:ea typeface="Verdana"/>
              <a:cs typeface="Verdana"/>
              <a:sym typeface="Verdana"/>
            </a:endParaRPr>
          </a:p>
        </p:txBody>
      </p:sp>
      <p:sp>
        <p:nvSpPr>
          <p:cNvPr id="9"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2" name="Google Shape;332;g111ed8cbce7_0_31"/>
          <p:cNvSpPr txBox="1"/>
          <p:nvPr/>
        </p:nvSpPr>
        <p:spPr>
          <a:xfrm>
            <a:off x="968188" y="420451"/>
            <a:ext cx="9351212" cy="1877397"/>
          </a:xfrm>
          <a:prstGeom prst="rect">
            <a:avLst/>
          </a:prstGeom>
          <a:noFill/>
          <a:ln>
            <a:noFill/>
          </a:ln>
        </p:spPr>
        <p:txBody>
          <a:bodyPr spcFirstLastPara="1" wrap="square" lIns="91425" tIns="45700" rIns="91425" bIns="45700" anchor="t" anchorCtr="0">
            <a:spAutoFit/>
          </a:bodyPr>
          <a:lstStyle/>
          <a:p>
            <a:pPr>
              <a:lnSpc>
                <a:spcPct val="115000"/>
              </a:lnSpc>
              <a:buClr>
                <a:schemeClr val="dk1"/>
              </a:buClr>
              <a:buSzPts val="1100"/>
            </a:pPr>
            <a:r>
              <a:rPr lang="en-US" sz="2000" dirty="0">
                <a:solidFill>
                  <a:schemeClr val="dk1"/>
                </a:solidFill>
                <a:latin typeface="Verdana"/>
                <a:ea typeface="Verdana"/>
                <a:cs typeface="Verdana"/>
                <a:sym typeface="Verdana"/>
              </a:rPr>
              <a:t>3. Elease rewrote the sum 27 + 18 as 3(9 + 6). Are these two expressions equivalent?</a:t>
            </a:r>
            <a:endParaRPr sz="2000" dirty="0">
              <a:solidFill>
                <a:schemeClr val="dk1"/>
              </a:solidFill>
              <a:latin typeface="Verdana"/>
              <a:ea typeface="Verdana"/>
              <a:cs typeface="Verdana"/>
              <a:sym typeface="Verdana"/>
            </a:endParaRPr>
          </a:p>
          <a:p>
            <a:pPr>
              <a:lnSpc>
                <a:spcPct val="115000"/>
              </a:lnSpc>
              <a:buClr>
                <a:schemeClr val="dk1"/>
              </a:buClr>
              <a:buSzPts val="1100"/>
            </a:pPr>
            <a:endParaRPr lang="en-US" sz="2000" dirty="0">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buSzPts val="2400"/>
            </a:pPr>
            <a:endParaRPr sz="2400" dirty="0">
              <a:latin typeface="Verdana"/>
              <a:ea typeface="Verdana"/>
              <a:cs typeface="Verdana"/>
              <a:sym typeface="Verdana"/>
            </a:endParaRPr>
          </a:p>
        </p:txBody>
      </p:sp>
      <p:sp>
        <p:nvSpPr>
          <p:cNvPr id="333" name="Google Shape;333;g111ed8cbce7_0_31"/>
          <p:cNvSpPr/>
          <p:nvPr/>
        </p:nvSpPr>
        <p:spPr>
          <a:xfrm>
            <a:off x="-1539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4" name="Rectangle 4">
            <a:extLst>
              <a:ext uri="{FF2B5EF4-FFF2-40B4-BE49-F238E27FC236}">
                <a16:creationId xmlns:a16="http://schemas.microsoft.com/office/drawing/2014/main" id="{4FBB9B80-EEC7-CA45-A846-76A36B0D8FD2}"/>
              </a:ext>
            </a:extLst>
          </p:cNvPr>
          <p:cNvSpPr>
            <a:spLocks noChangeArrowheads="1"/>
          </p:cNvSpPr>
          <p:nvPr/>
        </p:nvSpPr>
        <p:spPr bwMode="auto">
          <a:xfrm>
            <a:off x="1524001" y="3033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Rounded Rectangle 261">
            <a:extLst>
              <a:ext uri="{FF2B5EF4-FFF2-40B4-BE49-F238E27FC236}">
                <a16:creationId xmlns:a16="http://schemas.microsoft.com/office/drawing/2014/main" id="{B434905D-1655-9E4D-A846-1F554C5639FC}"/>
              </a:ext>
            </a:extLst>
          </p:cNvPr>
          <p:cNvSpPr>
            <a:spLocks noChangeArrowheads="1"/>
          </p:cNvSpPr>
          <p:nvPr/>
        </p:nvSpPr>
        <p:spPr bwMode="auto">
          <a:xfrm>
            <a:off x="2754369" y="2673870"/>
            <a:ext cx="2495550" cy="796925"/>
          </a:xfrm>
          <a:prstGeom prst="roundRect">
            <a:avLst>
              <a:gd name="adj" fmla="val 16667"/>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vert="horz" wrap="square" lIns="91425" tIns="45698" rIns="91425" bIns="45698" numCol="1" anchor="ctr" anchorCtr="0" compatLnSpc="1">
            <a:prstTxWarp prst="textNoShape">
              <a:avLst/>
            </a:prstTxWarp>
          </a:bodyPr>
          <a:lstStyle/>
          <a:p>
            <a:pPr eaLnBrk="0" fontAlgn="base" hangingPunct="0">
              <a:spcBef>
                <a:spcPct val="0"/>
              </a:spcBef>
              <a:spcAft>
                <a:spcPct val="0"/>
              </a:spcAft>
              <a:buClrTx/>
            </a:pPr>
            <a:r>
              <a:rPr lang="en-US" altLang="en-US" sz="2000" dirty="0">
                <a:latin typeface="Verdana" panose="020B0604030504040204" pitchFamily="34" charset="0"/>
                <a:ea typeface="Verdana" panose="020B0604030504040204" pitchFamily="34" charset="0"/>
                <a:cs typeface="Verdana" panose="020B0604030504040204" pitchFamily="34" charset="0"/>
              </a:rPr>
              <a:t>the same value.</a:t>
            </a:r>
            <a:endPar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eaLnBrk="0" fontAlgn="base" hangingPunct="0">
              <a:spcBef>
                <a:spcPct val="0"/>
              </a:spcBef>
              <a:spcAft>
                <a:spcPct val="0"/>
              </a:spcAft>
              <a:buClrTx/>
            </a:pPr>
            <a:r>
              <a:rPr lang="en-US" altLang="en-US" sz="2000" dirty="0">
                <a:latin typeface="Verdana" panose="020B0604030504040204" pitchFamily="34" charset="0"/>
                <a:ea typeface="Verdana" panose="020B0604030504040204" pitchFamily="34" charset="0"/>
                <a:cs typeface="Verdana" panose="020B0604030504040204" pitchFamily="34" charset="0"/>
              </a:rPr>
              <a:t>different values.</a:t>
            </a:r>
            <a:endPar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2" name="Rounded Rectangle 258">
            <a:extLst>
              <a:ext uri="{FF2B5EF4-FFF2-40B4-BE49-F238E27FC236}">
                <a16:creationId xmlns:a16="http://schemas.microsoft.com/office/drawing/2014/main" id="{0AD49095-B8FA-254F-83BA-F0B4DC650ED7}"/>
              </a:ext>
            </a:extLst>
          </p:cNvPr>
          <p:cNvSpPr>
            <a:spLocks noChangeArrowheads="1"/>
          </p:cNvSpPr>
          <p:nvPr/>
        </p:nvSpPr>
        <p:spPr bwMode="auto">
          <a:xfrm>
            <a:off x="5686471" y="1280519"/>
            <a:ext cx="1422400" cy="822811"/>
          </a:xfrm>
          <a:prstGeom prst="roundRect">
            <a:avLst>
              <a:gd name="adj" fmla="val 16667"/>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vert="horz" wrap="square" lIns="91425" tIns="45698" rIns="91425" bIns="45698" numCol="1" anchor="ctr" anchorCtr="0" compatLnSpc="1">
            <a:prstTxWarp prst="textNoShape">
              <a:avLst/>
            </a:prstTxWarp>
          </a:bodyPr>
          <a:lstStyle/>
          <a:p>
            <a:pPr eaLnBrk="0" fontAlgn="base" hangingPunct="0">
              <a:spcBef>
                <a:spcPct val="0"/>
              </a:spcBef>
              <a:spcAft>
                <a:spcPct val="0"/>
              </a:spcAft>
              <a:buClrTx/>
            </a:pPr>
            <a:r>
              <a:rPr lang="en-US" altLang="en-US" sz="2000" dirty="0">
                <a:latin typeface="Verdana" panose="020B0604030504040204" pitchFamily="34" charset="0"/>
                <a:ea typeface="Verdana" panose="020B0604030504040204" pitchFamily="34" charset="0"/>
                <a:cs typeface="Verdana" panose="020B0604030504040204" pitchFamily="34" charset="0"/>
              </a:rPr>
              <a:t>are</a:t>
            </a:r>
            <a:endPar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eaLnBrk="0" fontAlgn="base" hangingPunct="0">
              <a:spcBef>
                <a:spcPct val="0"/>
              </a:spcBef>
              <a:spcAft>
                <a:spcPct val="0"/>
              </a:spcAft>
              <a:buClrTx/>
            </a:pPr>
            <a:r>
              <a:rPr lang="en-US" altLang="en-US" sz="2000" dirty="0">
                <a:latin typeface="Verdana" panose="020B0604030504040204" pitchFamily="34" charset="0"/>
                <a:ea typeface="Verdana" panose="020B0604030504040204" pitchFamily="34" charset="0"/>
                <a:cs typeface="Verdana" panose="020B0604030504040204" pitchFamily="34" charset="0"/>
              </a:rPr>
              <a:t>are not</a:t>
            </a:r>
            <a:endPar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Rectangle 14">
            <a:extLst>
              <a:ext uri="{FF2B5EF4-FFF2-40B4-BE49-F238E27FC236}">
                <a16:creationId xmlns:a16="http://schemas.microsoft.com/office/drawing/2014/main" id="{4C6C8132-916C-EB40-9C16-6E42E98062D8}"/>
              </a:ext>
            </a:extLst>
          </p:cNvPr>
          <p:cNvSpPr>
            <a:spLocks noChangeArrowheads="1"/>
          </p:cNvSpPr>
          <p:nvPr/>
        </p:nvSpPr>
        <p:spPr bwMode="auto">
          <a:xfrm>
            <a:off x="2172160" y="1704860"/>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6">
            <a:extLst>
              <a:ext uri="{FF2B5EF4-FFF2-40B4-BE49-F238E27FC236}">
                <a16:creationId xmlns:a16="http://schemas.microsoft.com/office/drawing/2014/main" id="{AB2E1684-46B4-3F4B-9B12-B4203E88C657}"/>
              </a:ext>
            </a:extLst>
          </p:cNvPr>
          <p:cNvSpPr>
            <a:spLocks noChangeArrowheads="1"/>
          </p:cNvSpPr>
          <p:nvPr/>
        </p:nvSpPr>
        <p:spPr bwMode="auto">
          <a:xfrm rot="10800000" flipV="1">
            <a:off x="2235110" y="1087594"/>
            <a:ext cx="7713641"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457200" indent="-457200">
              <a:buClrTx/>
              <a:buFont typeface="+mj-lt"/>
              <a:buAutoNum type="alphaLcPeriod"/>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ClrTx/>
              <a:buFont typeface="+mj-lt"/>
              <a:buAutoNum type="alphaLcPeriod"/>
            </a:pPr>
            <a:r>
              <a:rPr lang="en-US" alt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27 + 18 and 3(9 + 6)                   equivalent </a:t>
            </a:r>
          </a:p>
          <a:p>
            <a:pPr marL="457200" indent="-457200">
              <a:buClrTx/>
              <a:buFont typeface="+mj-lt"/>
              <a:buAutoNum type="alphaLcPeriod"/>
            </a:pP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a:buClrTx/>
            </a:pPr>
            <a:r>
              <a:rPr lang="en-US" alt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expressions because when evaluated they have</a:t>
            </a:r>
          </a:p>
          <a:p>
            <a:pPr>
              <a:buClrTx/>
            </a:pPr>
            <a:r>
              <a:rPr lang="en-US" alt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 </a:t>
            </a:r>
            <a:endParaRPr lang="en-US" altLang="en-US" sz="2000" dirty="0">
              <a:latin typeface="Verdana" panose="020B0604030504040204" pitchFamily="34" charset="0"/>
              <a:ea typeface="Verdana" panose="020B0604030504040204" pitchFamily="34" charset="0"/>
              <a:cs typeface="Verdana" panose="020B0604030504040204" pitchFamily="34" charset="0"/>
            </a:endParaRPr>
          </a:p>
          <a:p>
            <a:pPr>
              <a:buClrTx/>
            </a:pPr>
            <a:endParaRPr lang="en-US" altLang="en-US" sz="1800" dirty="0"/>
          </a:p>
        </p:txBody>
      </p:sp>
      <p:sp>
        <p:nvSpPr>
          <p:cNvPr id="15" name="Rectangle 18">
            <a:extLst>
              <a:ext uri="{FF2B5EF4-FFF2-40B4-BE49-F238E27FC236}">
                <a16:creationId xmlns:a16="http://schemas.microsoft.com/office/drawing/2014/main" id="{4F6EA085-6E89-AC40-9551-82B86FAB0406}"/>
              </a:ext>
            </a:extLst>
          </p:cNvPr>
          <p:cNvSpPr>
            <a:spLocks noChangeArrowheads="1"/>
          </p:cNvSpPr>
          <p:nvPr/>
        </p:nvSpPr>
        <p:spPr bwMode="auto">
          <a:xfrm>
            <a:off x="2172160" y="1933461"/>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168D428C-3595-EE49-91A2-A3E1F66AAD4C}"/>
                  </a:ext>
                </a:extLst>
              </p:cNvPr>
              <p:cNvSpPr/>
              <p:nvPr/>
            </p:nvSpPr>
            <p:spPr>
              <a:xfrm>
                <a:off x="2235110" y="3978733"/>
                <a:ext cx="7713640" cy="1409617"/>
              </a:xfrm>
              <a:prstGeom prst="rect">
                <a:avLst/>
              </a:prstGeom>
            </p:spPr>
            <p:txBody>
              <a:bodyPr wrap="square">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b.   What common factor of 27</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18 did Elease use to rewrite the expression?</a:t>
                </a:r>
              </a:p>
              <a:p>
                <a:pPr lvl="0">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6" name="Rectangle 15">
                <a:extLst>
                  <a:ext uri="{FF2B5EF4-FFF2-40B4-BE49-F238E27FC236}">
                    <a16:creationId xmlns:a16="http://schemas.microsoft.com/office/drawing/2014/main" id="{168D428C-3595-EE49-91A2-A3E1F66AAD4C}"/>
                  </a:ext>
                </a:extLst>
              </p:cNvPr>
              <p:cNvSpPr>
                <a:spLocks noRot="1" noChangeAspect="1" noMove="1" noResize="1" noEditPoints="1" noAdjustHandles="1" noChangeArrowheads="1" noChangeShapeType="1" noTextEdit="1"/>
              </p:cNvSpPr>
              <p:nvPr/>
            </p:nvSpPr>
            <p:spPr>
              <a:xfrm>
                <a:off x="711110" y="3978732"/>
                <a:ext cx="7713640" cy="1380443"/>
              </a:xfrm>
              <a:prstGeom prst="rect">
                <a:avLst/>
              </a:prstGeom>
              <a:blipFill>
                <a:blip r:embed="rId4"/>
                <a:stretch>
                  <a:fillRect l="-987" t="-3670"/>
                </a:stretch>
              </a:blipFill>
            </p:spPr>
            <p:txBody>
              <a:bodyPr/>
              <a:lstStyle/>
              <a:p>
                <a:r>
                  <a:rPr lang="en-US">
                    <a:noFill/>
                  </a:rPr>
                  <a:t> </a:t>
                </a:r>
              </a:p>
            </p:txBody>
          </p:sp>
        </mc:Fallback>
      </mc:AlternateContent>
      <p:sp>
        <p:nvSpPr>
          <p:cNvPr id="17"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1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3" name="Google Shape;333;g111ed8cbce7_0_31"/>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4" name="Rectangle 4">
            <a:extLst>
              <a:ext uri="{FF2B5EF4-FFF2-40B4-BE49-F238E27FC236}">
                <a16:creationId xmlns:a16="http://schemas.microsoft.com/office/drawing/2014/main" id="{4FBB9B80-EEC7-CA45-A846-76A36B0D8FD2}"/>
              </a:ext>
            </a:extLst>
          </p:cNvPr>
          <p:cNvSpPr>
            <a:spLocks noChangeArrowheads="1"/>
          </p:cNvSpPr>
          <p:nvPr/>
        </p:nvSpPr>
        <p:spPr bwMode="auto">
          <a:xfrm>
            <a:off x="1524001" y="3033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14">
            <a:extLst>
              <a:ext uri="{FF2B5EF4-FFF2-40B4-BE49-F238E27FC236}">
                <a16:creationId xmlns:a16="http://schemas.microsoft.com/office/drawing/2014/main" id="{4C6C8132-916C-EB40-9C16-6E42E98062D8}"/>
              </a:ext>
            </a:extLst>
          </p:cNvPr>
          <p:cNvSpPr>
            <a:spLocks noChangeArrowheads="1"/>
          </p:cNvSpPr>
          <p:nvPr/>
        </p:nvSpPr>
        <p:spPr bwMode="auto">
          <a:xfrm>
            <a:off x="2172160" y="1704860"/>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a:extLst>
              <a:ext uri="{FF2B5EF4-FFF2-40B4-BE49-F238E27FC236}">
                <a16:creationId xmlns:a16="http://schemas.microsoft.com/office/drawing/2014/main" id="{38955A1F-1871-3E40-83CF-036EE2ACD0E8}"/>
              </a:ext>
            </a:extLst>
          </p:cNvPr>
          <p:cNvSpPr/>
          <p:nvPr/>
        </p:nvSpPr>
        <p:spPr>
          <a:xfrm>
            <a:off x="1277471" y="697151"/>
            <a:ext cx="9637058" cy="750975"/>
          </a:xfrm>
          <a:prstGeom prst="rect">
            <a:avLst/>
          </a:prstGeom>
        </p:spPr>
        <p:txBody>
          <a:bodyPr wrap="square">
            <a:spAutoFit/>
          </a:bodyPr>
          <a:lstStyle/>
          <a:p>
            <a:pPr marL="457200" indent="-457200">
              <a:lnSpc>
                <a:spcPct val="107000"/>
              </a:lnSpc>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Rewrite the expression 27 + 18 using a different common factor of 27   </a:t>
            </a: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and 18. Use the area model to support your thinking. </a:t>
            </a: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6A53663B-7B86-AC4F-8117-43A9D6064662}"/>
                  </a:ext>
                </a:extLst>
              </p:cNvPr>
              <p:cNvGraphicFramePr>
                <a:graphicFrameLocks noGrp="1"/>
              </p:cNvGraphicFramePr>
              <p:nvPr>
                <p:extLst>
                  <p:ext uri="{D42A27DB-BD31-4B8C-83A1-F6EECF244321}">
                    <p14:modId xmlns:p14="http://schemas.microsoft.com/office/powerpoint/2010/main" val="2189600894"/>
                  </p:ext>
                </p:extLst>
              </p:nvPr>
            </p:nvGraphicFramePr>
            <p:xfrm>
              <a:off x="4572078" y="2090459"/>
              <a:ext cx="3047844" cy="1048250"/>
            </p:xfrm>
            <a:graphic>
              <a:graphicData uri="http://schemas.openxmlformats.org/drawingml/2006/table">
                <a:tbl>
                  <a:tblPr bandRow="1">
                    <a:tableStyleId>{5C22544A-7EE6-4342-B048-85BDC9FD1C3A}</a:tableStyleId>
                  </a:tblPr>
                  <a:tblGrid>
                    <a:gridCol w="689714">
                      <a:extLst>
                        <a:ext uri="{9D8B030D-6E8A-4147-A177-3AD203B41FA5}">
                          <a16:colId xmlns:a16="http://schemas.microsoft.com/office/drawing/2014/main" val="2356857258"/>
                        </a:ext>
                      </a:extLst>
                    </a:gridCol>
                    <a:gridCol w="1179065">
                      <a:extLst>
                        <a:ext uri="{9D8B030D-6E8A-4147-A177-3AD203B41FA5}">
                          <a16:colId xmlns:a16="http://schemas.microsoft.com/office/drawing/2014/main" val="2695815696"/>
                        </a:ext>
                      </a:extLst>
                    </a:gridCol>
                    <a:gridCol w="1179065">
                      <a:extLst>
                        <a:ext uri="{9D8B030D-6E8A-4147-A177-3AD203B41FA5}">
                          <a16:colId xmlns:a16="http://schemas.microsoft.com/office/drawing/2014/main" val="903946150"/>
                        </a:ext>
                      </a:extLst>
                    </a:gridCol>
                  </a:tblGrid>
                  <a:tr h="353118">
                    <a:tc>
                      <a:txBody>
                        <a:bodyPr/>
                        <a:lstStyle/>
                        <a:p>
                          <a:pPr marL="0" marR="0" algn="ctr">
                            <a:lnSpc>
                              <a:spcPct val="107000"/>
                            </a:lnSpc>
                            <a:spcBef>
                              <a:spcPts val="0"/>
                            </a:spcBef>
                            <a:spcAft>
                              <a:spcPts val="0"/>
                            </a:spcAft>
                          </a:pPr>
                          <a:r>
                            <a:rPr lang="en-US" sz="2000">
                              <a:effectLst/>
                            </a:rPr>
                            <a:t> </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rPr>
                                <m:t>____</m:t>
                              </m:r>
                            </m:oMath>
                          </a14:m>
                          <a:r>
                            <a:rPr lang="en-US" sz="2000" dirty="0">
                              <a:effectLst/>
                            </a:rPr>
                            <a:t>    </a:t>
                          </a:r>
                          <a14:m>
                            <m:oMath xmlns:m="http://schemas.openxmlformats.org/officeDocument/2006/math">
                              <m:r>
                                <a:rPr lang="en-US" sz="2000">
                                  <a:effectLst/>
                                  <a:latin typeface="Cambria Math" panose="02040503050406030204" pitchFamily="18" charset="0"/>
                                </a:rPr>
                                <m:t>+</m:t>
                              </m:r>
                            </m:oMath>
                          </a14:m>
                          <a:r>
                            <a:rPr lang="en-US" sz="2000" dirty="0">
                              <a:effectLst/>
                            </a:rPr>
                            <a:t>    </a:t>
                          </a:r>
                          <a14:m>
                            <m:oMath xmlns:m="http://schemas.openxmlformats.org/officeDocument/2006/math">
                              <m:r>
                                <a:rPr lang="en-US" sz="2000">
                                  <a:effectLst/>
                                  <a:latin typeface="Cambria Math" panose="02040503050406030204" pitchFamily="18" charset="0"/>
                                </a:rPr>
                                <m:t>____</m:t>
                              </m:r>
                            </m:oMath>
                          </a14:m>
                          <a:endParaRPr lang="en-US" sz="1200" dirty="0">
                            <a:effectLst/>
                            <a:latin typeface="Calibri" panose="020F0502020204030204" pitchFamily="34" charset="0"/>
                            <a:ea typeface="Calibri" panose="020F0502020204030204" pitchFamily="34"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788449266"/>
                      </a:ext>
                    </a:extLst>
                  </a:tr>
                  <a:tr h="695132">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____</m:t>
                                </m:r>
                              </m:oMath>
                            </m:oMathPara>
                          </a14:m>
                          <a:endParaRPr lang="en-US" sz="1200" dirty="0">
                            <a:effectLst/>
                            <a:latin typeface="Calibri" panose="020F0502020204030204" pitchFamily="34" charset="0"/>
                            <a:ea typeface="Calibri" panose="020F0502020204030204" pitchFamily="34"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27</m:t>
                                </m:r>
                              </m:oMath>
                            </m:oMathPara>
                          </a14:m>
                          <a:endParaRPr lang="en-US" sz="12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12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886320"/>
                      </a:ext>
                    </a:extLst>
                  </a:tr>
                </a:tbl>
              </a:graphicData>
            </a:graphic>
          </p:graphicFrame>
        </mc:Choice>
        <mc:Fallback xmlns="">
          <p:graphicFrame>
            <p:nvGraphicFramePr>
              <p:cNvPr id="10" name="Table 9">
                <a:extLst>
                  <a:ext uri="{FF2B5EF4-FFF2-40B4-BE49-F238E27FC236}">
                    <a16:creationId xmlns:a16="http://schemas.microsoft.com/office/drawing/2014/main" id="{6A53663B-7B86-AC4F-8117-43A9D6064662}"/>
                  </a:ext>
                </a:extLst>
              </p:cNvPr>
              <p:cNvGraphicFramePr>
                <a:graphicFrameLocks noGrp="1"/>
              </p:cNvGraphicFramePr>
              <p:nvPr>
                <p:extLst>
                  <p:ext uri="{D42A27DB-BD31-4B8C-83A1-F6EECF244321}">
                    <p14:modId xmlns:p14="http://schemas.microsoft.com/office/powerpoint/2010/main" val="2189600894"/>
                  </p:ext>
                </p:extLst>
              </p:nvPr>
            </p:nvGraphicFramePr>
            <p:xfrm>
              <a:off x="4572078" y="2090459"/>
              <a:ext cx="3047844" cy="1048250"/>
            </p:xfrm>
            <a:graphic>
              <a:graphicData uri="http://schemas.openxmlformats.org/drawingml/2006/table">
                <a:tbl>
                  <a:tblPr bandRow="1">
                    <a:tableStyleId>{5C22544A-7EE6-4342-B048-85BDC9FD1C3A}</a:tableStyleId>
                  </a:tblPr>
                  <a:tblGrid>
                    <a:gridCol w="689714">
                      <a:extLst>
                        <a:ext uri="{9D8B030D-6E8A-4147-A177-3AD203B41FA5}">
                          <a16:colId xmlns:a16="http://schemas.microsoft.com/office/drawing/2014/main" val="2356857258"/>
                        </a:ext>
                      </a:extLst>
                    </a:gridCol>
                    <a:gridCol w="1179065">
                      <a:extLst>
                        <a:ext uri="{9D8B030D-6E8A-4147-A177-3AD203B41FA5}">
                          <a16:colId xmlns:a16="http://schemas.microsoft.com/office/drawing/2014/main" val="2695815696"/>
                        </a:ext>
                      </a:extLst>
                    </a:gridCol>
                    <a:gridCol w="1179065">
                      <a:extLst>
                        <a:ext uri="{9D8B030D-6E8A-4147-A177-3AD203B41FA5}">
                          <a16:colId xmlns:a16="http://schemas.microsoft.com/office/drawing/2014/main" val="903946150"/>
                        </a:ext>
                      </a:extLst>
                    </a:gridCol>
                  </a:tblGrid>
                  <a:tr h="353118">
                    <a:tc>
                      <a:txBody>
                        <a:bodyPr/>
                        <a:lstStyle/>
                        <a:p>
                          <a:pPr marL="0" marR="0" algn="ctr">
                            <a:lnSpc>
                              <a:spcPct val="107000"/>
                            </a:lnSpc>
                            <a:spcBef>
                              <a:spcPts val="0"/>
                            </a:spcBef>
                            <a:spcAft>
                              <a:spcPts val="0"/>
                            </a:spcAft>
                          </a:pPr>
                          <a:r>
                            <a:rPr lang="en-US" sz="2000">
                              <a:effectLst/>
                            </a:rPr>
                            <a:t> </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endParaRPr lang="en-US"/>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199" r="-775" b="-201724"/>
                          </a:stretch>
                        </a:blipFill>
                      </a:tcPr>
                    </a:tc>
                    <a:tc hMerge="1">
                      <a:txBody>
                        <a:bodyPr/>
                        <a:lstStyle/>
                        <a:p>
                          <a:endParaRPr lang="en-US"/>
                        </a:p>
                      </a:txBody>
                      <a:tcPr/>
                    </a:tc>
                    <a:extLst>
                      <a:ext uri="{0D108BD9-81ED-4DB2-BD59-A6C34878D82A}">
                        <a16:rowId xmlns:a16="http://schemas.microsoft.com/office/drawing/2014/main" val="3788449266"/>
                      </a:ext>
                    </a:extLst>
                  </a:tr>
                  <a:tr h="695132">
                    <a:tc>
                      <a:txBody>
                        <a:bodyPr/>
                        <a:lstStyle/>
                        <a:p>
                          <a:endParaRPr lang="en-US"/>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t="-50435" r="-345133" b="-1739"/>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8247" t="-50435" r="-101031" b="-1739"/>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9067" t="-50435" r="-1554" b="-1739"/>
                          </a:stretch>
                        </a:blipFill>
                      </a:tcPr>
                    </a:tc>
                    <a:extLst>
                      <a:ext uri="{0D108BD9-81ED-4DB2-BD59-A6C34878D82A}">
                        <a16:rowId xmlns:a16="http://schemas.microsoft.com/office/drawing/2014/main" val="342886320"/>
                      </a:ext>
                    </a:extLst>
                  </a:tr>
                </a:tbl>
              </a:graphicData>
            </a:graphic>
          </p:graphicFrame>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B562191A-E5CA-EC46-808B-791B4101862C}"/>
                  </a:ext>
                </a:extLst>
              </p:cNvPr>
              <p:cNvSpPr/>
              <p:nvPr/>
            </p:nvSpPr>
            <p:spPr>
              <a:xfrm>
                <a:off x="4105624" y="4162625"/>
                <a:ext cx="4526127"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27 + 18 = </m:t>
                      </m:r>
                      <m:r>
                        <m:rPr>
                          <m:lit/>
                        </m:rPr>
                        <a:rPr lang="en-US" sz="2000">
                          <a:latin typeface="Cambria Math" panose="02040503050406030204" pitchFamily="18" charset="0"/>
                        </a:rPr>
                        <m:t>____</m:t>
                      </m:r>
                      <m:d>
                        <m:dPr>
                          <m:ctrlPr>
                            <a:rPr lang="en-US" sz="2000" i="1">
                              <a:latin typeface="Cambria Math" panose="02040503050406030204" pitchFamily="18" charset="0"/>
                            </a:rPr>
                          </m:ctrlPr>
                        </m:dPr>
                        <m:e>
                          <m:r>
                            <a:rPr lang="en-US" sz="2000">
                              <a:latin typeface="Cambria Math" panose="02040503050406030204" pitchFamily="18" charset="0"/>
                            </a:rPr>
                            <m:t> </m:t>
                          </m:r>
                          <m:r>
                            <m:rPr>
                              <m:lit/>
                            </m:rPr>
                            <a:rPr lang="en-US" sz="2000">
                              <a:latin typeface="Cambria Math" panose="02040503050406030204" pitchFamily="18" charset="0"/>
                            </a:rPr>
                            <m:t>____</m:t>
                          </m:r>
                          <m:r>
                            <a:rPr lang="en-US" sz="2000">
                              <a:latin typeface="Cambria Math" panose="02040503050406030204" pitchFamily="18" charset="0"/>
                            </a:rPr>
                            <m:t> + </m:t>
                          </m:r>
                          <m:r>
                            <m:rPr>
                              <m:lit/>
                            </m:rPr>
                            <a:rPr lang="en-US" sz="2000">
                              <a:latin typeface="Cambria Math" panose="02040503050406030204" pitchFamily="18" charset="0"/>
                            </a:rPr>
                            <m:t>____</m:t>
                          </m:r>
                          <m:r>
                            <a:rPr lang="en-US" sz="2000">
                              <a:latin typeface="Cambria Math" panose="02040503050406030204" pitchFamily="18" charset="0"/>
                            </a:rPr>
                            <m:t> </m:t>
                          </m:r>
                        </m:e>
                      </m:d>
                    </m:oMath>
                  </m:oMathPara>
                </a14:m>
                <a:endParaRPr lang="en-US" sz="2000" dirty="0"/>
              </a:p>
            </p:txBody>
          </p:sp>
        </mc:Choice>
        <mc:Fallback xmlns="">
          <p:sp>
            <p:nvSpPr>
              <p:cNvPr id="18" name="Rectangle 17">
                <a:extLst>
                  <a:ext uri="{FF2B5EF4-FFF2-40B4-BE49-F238E27FC236}">
                    <a16:creationId xmlns:a16="http://schemas.microsoft.com/office/drawing/2014/main" id="{B562191A-E5CA-EC46-808B-791B4101862C}"/>
                  </a:ext>
                </a:extLst>
              </p:cNvPr>
              <p:cNvSpPr>
                <a:spLocks noRot="1" noChangeAspect="1" noMove="1" noResize="1" noEditPoints="1" noAdjustHandles="1" noChangeArrowheads="1" noChangeShapeType="1" noTextEdit="1"/>
              </p:cNvSpPr>
              <p:nvPr/>
            </p:nvSpPr>
            <p:spPr>
              <a:xfrm>
                <a:off x="2581623" y="4162625"/>
                <a:ext cx="4526127" cy="400110"/>
              </a:xfrm>
              <a:prstGeom prst="rect">
                <a:avLst/>
              </a:prstGeom>
              <a:blipFill>
                <a:blip r:embed="rId5"/>
                <a:stretch>
                  <a:fillRect b="-18182"/>
                </a:stretch>
              </a:blipFill>
            </p:spPr>
            <p:txBody>
              <a:bodyPr/>
              <a:lstStyle/>
              <a:p>
                <a:r>
                  <a:rPr lang="en-US">
                    <a:noFill/>
                  </a:rPr>
                  <a:t> </a:t>
                </a:r>
              </a:p>
            </p:txBody>
          </p:sp>
        </mc:Fallback>
      </mc:AlternateContent>
      <p:sp>
        <p:nvSpPr>
          <p:cNvPr id="11"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extLst>
      <p:ext uri="{BB962C8B-B14F-4D97-AF65-F5344CB8AC3E}">
        <p14:creationId xmlns:p14="http://schemas.microsoft.com/office/powerpoint/2010/main" val="2099987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1"/>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41" name="Google Shape;341;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43" name="Google Shape;343;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0" name="Google Shape;350;p22"/>
          <p:cNvSpPr txBox="1"/>
          <p:nvPr/>
        </p:nvSpPr>
        <p:spPr>
          <a:xfrm>
            <a:off x="1415250" y="19149"/>
            <a:ext cx="814815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1.3.3 Guided Practice: Rewriting Expressions</a:t>
            </a:r>
            <a:endParaRPr dirty="0"/>
          </a:p>
        </p:txBody>
      </p:sp>
      <p:pic>
        <p:nvPicPr>
          <p:cNvPr id="352" name="Google Shape;352;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65442" y="185175"/>
            <a:ext cx="749808" cy="749808"/>
          </a:xfrm>
          <a:prstGeom prst="rect">
            <a:avLst/>
          </a:prstGeom>
          <a:noFill/>
          <a:ln>
            <a:noFill/>
          </a:ln>
          <a:effectLst>
            <a:outerShdw blurRad="50800" dist="38100" dir="2700000" algn="tl" rotWithShape="0">
              <a:srgbClr val="000000">
                <a:alpha val="40000"/>
              </a:srgbClr>
            </a:outerShdw>
          </a:effectLst>
        </p:spPr>
      </p:pic>
      <p:sp>
        <p:nvSpPr>
          <p:cNvPr id="353" name="Google Shape;353;p22"/>
          <p:cNvSpPr txBox="1"/>
          <p:nvPr/>
        </p:nvSpPr>
        <p:spPr>
          <a:xfrm>
            <a:off x="1546412" y="1454515"/>
            <a:ext cx="8788489" cy="1277810"/>
          </a:xfrm>
          <a:prstGeom prst="rect">
            <a:avLst/>
          </a:prstGeom>
          <a:noFill/>
          <a:ln>
            <a:noFill/>
          </a:ln>
        </p:spPr>
        <p:txBody>
          <a:bodyPr spcFirstLastPara="1" wrap="square" lIns="91425" tIns="45700" rIns="91425" bIns="45700" anchor="t" anchorCtr="0">
            <a:spAutoFit/>
          </a:bodyPr>
          <a:lstStyle/>
          <a:p>
            <a:pPr marL="342900" indent="-342900">
              <a:lnSpc>
                <a:spcPct val="107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 by rewriting each multiplication expression using the distributive property, modeling with area, and finding the product. </a:t>
            </a:r>
            <a:endParaRPr lang="en-US" dirty="0">
              <a:latin typeface="Calibri" panose="020F0502020204030204" pitchFamily="34" charset="0"/>
              <a:ea typeface="Calibri" panose="020F0502020204030204" pitchFamily="34" charset="0"/>
            </a:endParaRPr>
          </a:p>
        </p:txBody>
      </p:sp>
      <p:sp>
        <p:nvSpPr>
          <p:cNvPr id="354" name="Google Shape;354;p22"/>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18" name="Picture 17">
            <a:extLst>
              <a:ext uri="{FF2B5EF4-FFF2-40B4-BE49-F238E27FC236}">
                <a16:creationId xmlns:a16="http://schemas.microsoft.com/office/drawing/2014/main" id="{103781DA-E889-F941-99E0-C3B95F0AB52B}"/>
              </a:ext>
            </a:extLst>
          </p:cNvPr>
          <p:cNvPicPr>
            <a:picLocks noChangeAspect="1"/>
          </p:cNvPicPr>
          <p:nvPr/>
        </p:nvPicPr>
        <p:blipFill>
          <a:blip r:embed="rId4"/>
          <a:stretch>
            <a:fillRect/>
          </a:stretch>
        </p:blipFill>
        <p:spPr>
          <a:xfrm>
            <a:off x="2792046" y="2732325"/>
            <a:ext cx="6297219" cy="3691256"/>
          </a:xfrm>
          <a:prstGeom prst="rect">
            <a:avLst/>
          </a:prstGeom>
        </p:spPr>
      </p:pic>
      <p:sp>
        <p:nvSpPr>
          <p:cNvPr id="9"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extLst>
      <p:ext uri="{BB962C8B-B14F-4D97-AF65-F5344CB8AC3E}">
        <p14:creationId xmlns:p14="http://schemas.microsoft.com/office/powerpoint/2010/main" val="1933129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2" name="Google Shape;362;p23"/>
          <p:cNvSpPr txBox="1"/>
          <p:nvPr/>
        </p:nvSpPr>
        <p:spPr>
          <a:xfrm>
            <a:off x="833718" y="386281"/>
            <a:ext cx="9425850" cy="1277810"/>
          </a:xfrm>
          <a:prstGeom prst="rect">
            <a:avLst/>
          </a:prstGeom>
          <a:noFill/>
          <a:ln>
            <a:noFill/>
          </a:ln>
        </p:spPr>
        <p:txBody>
          <a:bodyPr spcFirstLastPara="1" wrap="square" lIns="91425" tIns="45700" rIns="91425" bIns="45700" anchor="t" anchorCtr="0">
            <a:spAutoFit/>
          </a:bodyPr>
          <a:lstStyle/>
          <a:p>
            <a:pPr lvl="0">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2.  Complete the table by rewriting each addition expression using the distributive property, modeling with area, and finding the sum. </a:t>
            </a:r>
            <a:endParaRPr lang="en-US" dirty="0">
              <a:latin typeface="Calibri" panose="020F0502020204030204" pitchFamily="34" charset="0"/>
              <a:ea typeface="Calibri" panose="020F0502020204030204" pitchFamily="34" charset="0"/>
            </a:endParaRPr>
          </a:p>
        </p:txBody>
      </p:sp>
      <p:sp>
        <p:nvSpPr>
          <p:cNvPr id="363" name="Google Shape;363;p23"/>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4" name="Picture 3">
            <a:extLst>
              <a:ext uri="{FF2B5EF4-FFF2-40B4-BE49-F238E27FC236}">
                <a16:creationId xmlns:a16="http://schemas.microsoft.com/office/drawing/2014/main" id="{279551DF-4257-B342-A4D8-999173D71397}"/>
              </a:ext>
            </a:extLst>
          </p:cNvPr>
          <p:cNvPicPr>
            <a:picLocks noChangeAspect="1"/>
          </p:cNvPicPr>
          <p:nvPr/>
        </p:nvPicPr>
        <p:blipFill>
          <a:blip r:embed="rId3"/>
          <a:stretch>
            <a:fillRect/>
          </a:stretch>
        </p:blipFill>
        <p:spPr>
          <a:xfrm>
            <a:off x="2316203" y="2002046"/>
            <a:ext cx="7096052" cy="3244577"/>
          </a:xfrm>
          <a:prstGeom prst="rect">
            <a:avLst/>
          </a:prstGeom>
        </p:spPr>
      </p:pic>
      <p:sp>
        <p:nvSpPr>
          <p:cNvPr id="7"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0" name="Google Shape;350;p22"/>
          <p:cNvSpPr txBox="1"/>
          <p:nvPr/>
        </p:nvSpPr>
        <p:spPr>
          <a:xfrm>
            <a:off x="1349047" y="-10512"/>
            <a:ext cx="8236285"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54B5D1"/>
                </a:solidFill>
                <a:latin typeface="Verdana"/>
                <a:ea typeface="Verdana"/>
                <a:cs typeface="Verdana"/>
                <a:sym typeface="Verdana"/>
              </a:rPr>
              <a:t>1.3.4 Guided Practice: Rewriting Sums Using Distributive Property </a:t>
            </a:r>
            <a:endParaRPr sz="1200" dirty="0"/>
          </a:p>
        </p:txBody>
      </p:sp>
      <p:pic>
        <p:nvPicPr>
          <p:cNvPr id="352" name="Google Shape;352;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99238" y="185538"/>
            <a:ext cx="749808" cy="749808"/>
          </a:xfrm>
          <a:prstGeom prst="rect">
            <a:avLst/>
          </a:prstGeom>
          <a:noFill/>
          <a:ln>
            <a:noFill/>
          </a:ln>
          <a:effectLst>
            <a:outerShdw blurRad="50800" dist="38100" dir="2700000" algn="tl" rotWithShape="0">
              <a:srgbClr val="000000">
                <a:alpha val="40000"/>
              </a:srgbClr>
            </a:outerShdw>
          </a:effectLst>
        </p:spPr>
      </p:pic>
      <p:sp>
        <p:nvSpPr>
          <p:cNvPr id="354" name="Google Shape;354;p22"/>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grpSp>
        <p:nvGrpSpPr>
          <p:cNvPr id="30" name="Group 29">
            <a:extLst>
              <a:ext uri="{FF2B5EF4-FFF2-40B4-BE49-F238E27FC236}">
                <a16:creationId xmlns:a16="http://schemas.microsoft.com/office/drawing/2014/main" id="{8EA9FC5E-6E2C-AD41-8F94-A260674418C0}"/>
              </a:ext>
            </a:extLst>
          </p:cNvPr>
          <p:cNvGrpSpPr/>
          <p:nvPr/>
        </p:nvGrpSpPr>
        <p:grpSpPr>
          <a:xfrm>
            <a:off x="2677129" y="2627238"/>
            <a:ext cx="6928233" cy="1468187"/>
            <a:chOff x="2031300" y="3150976"/>
            <a:chExt cx="6629400" cy="1146712"/>
          </a:xfrm>
          <a:effectLst>
            <a:outerShdw blurRad="50800" dist="38100" dir="2700000" algn="tl" rotWithShape="0">
              <a:prstClr val="black">
                <a:alpha val="40000"/>
              </a:prstClr>
            </a:outerShdw>
          </a:effectLst>
        </p:grpSpPr>
        <p:grpSp>
          <p:nvGrpSpPr>
            <p:cNvPr id="31" name="Group 30">
              <a:extLst>
                <a:ext uri="{FF2B5EF4-FFF2-40B4-BE49-F238E27FC236}">
                  <a16:creationId xmlns:a16="http://schemas.microsoft.com/office/drawing/2014/main" id="{126E82B4-14B5-5247-8B03-9B6471190901}"/>
                </a:ext>
              </a:extLst>
            </p:cNvPr>
            <p:cNvGrpSpPr/>
            <p:nvPr/>
          </p:nvGrpSpPr>
          <p:grpSpPr>
            <a:xfrm>
              <a:off x="2031300" y="3150976"/>
              <a:ext cx="6629400" cy="1146712"/>
              <a:chOff x="2031300" y="3262288"/>
              <a:chExt cx="6629400" cy="1146712"/>
            </a:xfrm>
          </p:grpSpPr>
          <p:sp>
            <p:nvSpPr>
              <p:cNvPr id="32" name="Rectangle 31">
                <a:extLst>
                  <a:ext uri="{FF2B5EF4-FFF2-40B4-BE49-F238E27FC236}">
                    <a16:creationId xmlns:a16="http://schemas.microsoft.com/office/drawing/2014/main" id="{2EF01D03-7E88-4C4F-9D01-E8778EA22C90}"/>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lnSpc>
                    <a:spcPct val="107000"/>
                  </a:lnSpc>
                </a:pPr>
                <a:r>
                  <a:rPr lang="en-US" sz="1100">
                    <a:latin typeface="Calibri" panose="020F0502020204030204" pitchFamily="34" charset="0"/>
                    <a:ea typeface="Calibri" panose="020F0502020204030204" pitchFamily="34" charset="0"/>
                  </a:rPr>
                  <a:t> </a:t>
                </a:r>
              </a:p>
            </p:txBody>
          </p:sp>
          <p:grpSp>
            <p:nvGrpSpPr>
              <p:cNvPr id="33" name="Group 32">
                <a:extLst>
                  <a:ext uri="{FF2B5EF4-FFF2-40B4-BE49-F238E27FC236}">
                    <a16:creationId xmlns:a16="http://schemas.microsoft.com/office/drawing/2014/main" id="{BDA47492-BCF6-BD44-B2AD-EC61855D1423}"/>
                  </a:ext>
                </a:extLst>
              </p:cNvPr>
              <p:cNvGrpSpPr/>
              <p:nvPr/>
            </p:nvGrpSpPr>
            <p:grpSpPr>
              <a:xfrm>
                <a:off x="2031300" y="3262288"/>
                <a:ext cx="6629400" cy="1035424"/>
                <a:chOff x="2031300" y="3262288"/>
                <a:chExt cx="6629400" cy="1035424"/>
              </a:xfrm>
            </p:grpSpPr>
            <p:sp>
              <p:nvSpPr>
                <p:cNvPr id="34" name="Rectangle 33">
                  <a:extLst>
                    <a:ext uri="{FF2B5EF4-FFF2-40B4-BE49-F238E27FC236}">
                      <a16:creationId xmlns:a16="http://schemas.microsoft.com/office/drawing/2014/main" id="{6E215CA2-38E0-6749-8810-5EE7566E9D57}"/>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100">
                      <a:latin typeface="Calibri" panose="020F0502020204030204" pitchFamily="34" charset="0"/>
                      <a:ea typeface="Calibri" panose="020F0502020204030204" pitchFamily="34" charset="0"/>
                    </a:rPr>
                    <a:t> </a:t>
                  </a:r>
                </a:p>
              </p:txBody>
            </p:sp>
            <p:grpSp>
              <p:nvGrpSpPr>
                <p:cNvPr id="35" name="Group 34">
                  <a:extLst>
                    <a:ext uri="{FF2B5EF4-FFF2-40B4-BE49-F238E27FC236}">
                      <a16:creationId xmlns:a16="http://schemas.microsoft.com/office/drawing/2014/main" id="{33037CCB-E214-9048-8680-9A1AFE2D126F}"/>
                    </a:ext>
                  </a:extLst>
                </p:cNvPr>
                <p:cNvGrpSpPr/>
                <p:nvPr/>
              </p:nvGrpSpPr>
              <p:grpSpPr>
                <a:xfrm>
                  <a:off x="2031300" y="3262288"/>
                  <a:ext cx="6629400" cy="1035424"/>
                  <a:chOff x="0" y="-111312"/>
                  <a:chExt cx="6629400" cy="1035424"/>
                </a:xfrm>
              </p:grpSpPr>
              <p:sp>
                <p:nvSpPr>
                  <p:cNvPr id="36" name="Rectangle 35">
                    <a:extLst>
                      <a:ext uri="{FF2B5EF4-FFF2-40B4-BE49-F238E27FC236}">
                        <a16:creationId xmlns:a16="http://schemas.microsoft.com/office/drawing/2014/main" id="{D118E2E3-68E3-7541-921B-2CE287D0CB6B}"/>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100">
                        <a:latin typeface="Calibri" panose="020F0502020204030204" pitchFamily="34" charset="0"/>
                        <a:ea typeface="Calibri" panose="020F0502020204030204" pitchFamily="34" charset="0"/>
                      </a:rPr>
                      <a:t> </a:t>
                    </a:r>
                  </a:p>
                </p:txBody>
              </p:sp>
              <p:sp>
                <p:nvSpPr>
                  <p:cNvPr id="37" name="Rounded Rectangle 36">
                    <a:extLst>
                      <a:ext uri="{FF2B5EF4-FFF2-40B4-BE49-F238E27FC236}">
                        <a16:creationId xmlns:a16="http://schemas.microsoft.com/office/drawing/2014/main" id="{B47CA926-ED2F-E545-AD93-9DE0E868759B}"/>
                      </a:ext>
                    </a:extLst>
                  </p:cNvPr>
                  <p:cNvSpPr/>
                  <p:nvPr/>
                </p:nvSpPr>
                <p:spPr>
                  <a:xfrm>
                    <a:off x="0" y="-111312"/>
                    <a:ext cx="6629400" cy="1035424"/>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marL="742950" indent="742950">
                      <a:lnSpc>
                        <a:spcPct val="107000"/>
                      </a:lnSpc>
                      <a:spcAft>
                        <a:spcPts val="800"/>
                      </a:spcAft>
                    </a:pPr>
                    <a:endPar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747713">
                      <a:lnSpc>
                        <a:spcPct val="107000"/>
                      </a:lnSpc>
                      <a:spcAft>
                        <a:spcPts val="800"/>
                      </a:spcAft>
                    </a:pP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composite number</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is a whole number greater than  that has at least one whole-number factor other than one and itself.</a:t>
                    </a:r>
                    <a:endParaRPr lang="en-US" sz="1100" dirty="0">
                      <a:latin typeface="Calibri" panose="020F0502020204030204" pitchFamily="34" charset="0"/>
                      <a:ea typeface="Calibri" panose="020F0502020204030204" pitchFamily="34" charset="0"/>
                    </a:endParaRPr>
                  </a:p>
                  <a:p>
                    <a:pPr marL="685800" indent="685800">
                      <a:lnSpc>
                        <a:spcPct val="107000"/>
                      </a:lnSpc>
                      <a:spcAft>
                        <a:spcPts val="800"/>
                      </a:spcAft>
                    </a:pPr>
                    <a:r>
                      <a:rPr lang="en-US" sz="1100" dirty="0">
                        <a:latin typeface="Calibri" panose="020F0502020204030204" pitchFamily="34" charset="0"/>
                        <a:ea typeface="Calibri" panose="020F0502020204030204" pitchFamily="34" charset="0"/>
                      </a:rPr>
                      <a:t> </a:t>
                    </a:r>
                  </a:p>
                </p:txBody>
              </p:sp>
              <p:pic>
                <p:nvPicPr>
                  <p:cNvPr id="38" name="Shape 9" descr="Icon&#10;&#10;Description automatically generated">
                    <a:extLst>
                      <a:ext uri="{FF2B5EF4-FFF2-40B4-BE49-F238E27FC236}">
                        <a16:creationId xmlns:a16="http://schemas.microsoft.com/office/drawing/2014/main" id="{EB9FFE02-2889-AF4F-87D1-60802401340F}"/>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6285" y="11740"/>
                    <a:ext cx="539750" cy="464540"/>
                  </a:xfrm>
                  <a:prstGeom prst="rect">
                    <a:avLst/>
                  </a:prstGeom>
                  <a:noFill/>
                  <a:ln>
                    <a:noFill/>
                  </a:ln>
                </p:spPr>
              </p:pic>
            </p:grpSp>
          </p:grpSp>
        </p:grpSp>
      </p:grpSp>
      <p:sp>
        <p:nvSpPr>
          <p:cNvPr id="20" name="Rectangle 19">
            <a:extLst>
              <a:ext uri="{FF2B5EF4-FFF2-40B4-BE49-F238E27FC236}">
                <a16:creationId xmlns:a16="http://schemas.microsoft.com/office/drawing/2014/main" id="{CB35D947-54A1-E34F-9F1D-941EB3483D8B}"/>
              </a:ext>
            </a:extLst>
          </p:cNvPr>
          <p:cNvSpPr/>
          <p:nvPr/>
        </p:nvSpPr>
        <p:spPr>
          <a:xfrm>
            <a:off x="1349046" y="1454515"/>
            <a:ext cx="8599704" cy="750975"/>
          </a:xfrm>
          <a:prstGeom prst="rect">
            <a:avLst/>
          </a:prstGeom>
        </p:spPr>
        <p:txBody>
          <a:bodyPr wrap="square">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Sums of </a:t>
            </a:r>
            <a:r>
              <a:rPr lang="en-US" sz="2000" b="1" i="1" dirty="0">
                <a:latin typeface="Verdana" panose="020B0604030504040204" pitchFamily="34" charset="0"/>
                <a:ea typeface="Verdana" panose="020B0604030504040204" pitchFamily="34" charset="0"/>
                <a:cs typeface="Verdana" panose="020B0604030504040204" pitchFamily="34" charset="0"/>
              </a:rPr>
              <a:t>composite whole numbers</a:t>
            </a:r>
            <a:r>
              <a:rPr lang="en-US" sz="2000" dirty="0">
                <a:latin typeface="Verdana" panose="020B0604030504040204" pitchFamily="34" charset="0"/>
                <a:ea typeface="Verdana" panose="020B0604030504040204" pitchFamily="34" charset="0"/>
                <a:cs typeface="Verdana" panose="020B0604030504040204" pitchFamily="34" charset="0"/>
              </a:rPr>
              <a:t> can be rewritten using the distributive property and a common factor of the numbers.</a:t>
            </a:r>
            <a:endParaRPr lang="en-US" sz="1200" dirty="0">
              <a:latin typeface="Calibri" panose="020F0502020204030204" pitchFamily="34" charset="0"/>
              <a:ea typeface="Calibri" panose="020F0502020204030204" pitchFamily="34" charset="0"/>
            </a:endParaRP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4FEB254E-19DA-E542-9B45-53AAB87A0060}"/>
                  </a:ext>
                </a:extLst>
              </p:cNvPr>
              <p:cNvSpPr/>
              <p:nvPr/>
            </p:nvSpPr>
            <p:spPr>
              <a:xfrm>
                <a:off x="1349046" y="4105733"/>
                <a:ext cx="8410910" cy="652166"/>
              </a:xfrm>
              <a:prstGeom prst="rect">
                <a:avLst/>
              </a:prstGeom>
            </p:spPr>
            <p:txBody>
              <a:bodyPr wrap="square">
                <a:spAutoFit/>
              </a:bodyPr>
              <a:lstStyle/>
              <a:p>
                <a:pPr>
                  <a:lnSpc>
                    <a:spcPct val="107000"/>
                  </a:lnSpc>
                </a:pPr>
                <a:r>
                  <a:rPr lang="en-US" dirty="0">
                    <a:latin typeface="Verdana" panose="020B0604030504040204" pitchFamily="34" charset="0"/>
                    <a:ea typeface="Verdana" panose="020B0604030504040204" pitchFamily="34" charset="0"/>
                    <a:cs typeface="Verdana" panose="020B0604030504040204" pitchFamily="34" charset="0"/>
                  </a:rPr>
                  <a:t> </a:t>
                </a:r>
                <a:endParaRPr lang="en-US" sz="1000" dirty="0">
                  <a:latin typeface="Calibri" panose="020F0502020204030204" pitchFamily="34" charset="0"/>
                  <a:ea typeface="Calibri" panose="020F0502020204030204" pitchFamily="34"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are the common factors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16</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24</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21" name="Rectangle 20">
                <a:extLst>
                  <a:ext uri="{FF2B5EF4-FFF2-40B4-BE49-F238E27FC236}">
                    <a16:creationId xmlns:a16="http://schemas.microsoft.com/office/drawing/2014/main" xmlns:a14="http://schemas.microsoft.com/office/drawing/2010/main" xmlns="" id="{4FEB254E-19DA-E542-9B45-53AAB87A0060}"/>
                  </a:ext>
                </a:extLst>
              </p:cNvPr>
              <p:cNvSpPr>
                <a:spLocks noRot="1" noChangeAspect="1" noMove="1" noResize="1" noEditPoints="1" noAdjustHandles="1" noChangeArrowheads="1" noChangeShapeType="1" noTextEdit="1"/>
              </p:cNvSpPr>
              <p:nvPr/>
            </p:nvSpPr>
            <p:spPr>
              <a:xfrm>
                <a:off x="1349046" y="4105733"/>
                <a:ext cx="8410910" cy="652166"/>
              </a:xfrm>
              <a:prstGeom prst="rect">
                <a:avLst/>
              </a:prstGeom>
              <a:blipFill rotWithShape="0">
                <a:blip r:embed="rId5"/>
                <a:stretch>
                  <a:fillRect l="-797" b="-13208"/>
                </a:stretch>
              </a:blipFill>
            </p:spPr>
            <p:txBody>
              <a:bodyPr/>
              <a:lstStyle/>
              <a:p>
                <a:r>
                  <a:rPr lang="en-US">
                    <a:noFill/>
                  </a:rPr>
                  <a:t> </a:t>
                </a:r>
              </a:p>
            </p:txBody>
          </p:sp>
        </mc:Fallback>
      </mc:AlternateContent>
      <p:sp>
        <p:nvSpPr>
          <p:cNvPr id="19"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17</a:t>
            </a:r>
            <a:endParaRPr i="1" dirty="0">
              <a:latin typeface="Calibri"/>
              <a:ea typeface="Calibri"/>
              <a:cs typeface="Calibri"/>
              <a:sym typeface="Calibri"/>
            </a:endParaRPr>
          </a:p>
        </p:txBody>
      </p:sp>
      <p:pic>
        <p:nvPicPr>
          <p:cNvPr id="23"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pic>
        <p:nvPicPr>
          <p:cNvPr id="3" name="Picture 2">
            <a:extLst>
              <a:ext uri="{FF2B5EF4-FFF2-40B4-BE49-F238E27FC236}">
                <a16:creationId xmlns:a16="http://schemas.microsoft.com/office/drawing/2014/main" id="{25EDC7E0-5313-70FA-5865-A3082588D2F2}"/>
              </a:ext>
            </a:extLst>
          </p:cNvPr>
          <p:cNvPicPr>
            <a:picLocks noChangeAspect="1"/>
          </p:cNvPicPr>
          <p:nvPr/>
        </p:nvPicPr>
        <p:blipFill>
          <a:blip r:embed="rId7"/>
          <a:stretch>
            <a:fillRect/>
          </a:stretch>
        </p:blipFill>
        <p:spPr>
          <a:xfrm>
            <a:off x="2432044" y="4757899"/>
            <a:ext cx="6994589" cy="19710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2" name="Google Shape;362;p23"/>
              <p:cNvSpPr txBox="1"/>
              <p:nvPr/>
            </p:nvSpPr>
            <p:spPr>
              <a:xfrm>
                <a:off x="1048871" y="286622"/>
                <a:ext cx="9210697" cy="1277745"/>
              </a:xfrm>
              <a:prstGeom prst="rect">
                <a:avLst/>
              </a:prstGeom>
              <a:noFill/>
              <a:ln>
                <a:noFill/>
              </a:ln>
            </p:spPr>
            <p:txBody>
              <a:bodyPr spcFirstLastPara="1" wrap="square" lIns="91425" tIns="45700" rIns="91425" bIns="45700" anchor="t" anchorCtr="0">
                <a:spAutoFit/>
              </a:bodyPr>
              <a:lstStyle/>
              <a:p>
                <a:pPr marL="346075" lvl="0" indent="-333375">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2. Isaiah rewrote the sum </a:t>
                </a: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16 + 24</m:t>
                    </m:r>
                  </m:oMath>
                </a14:m>
                <a:r>
                  <a:rPr lang="en-US" sz="1800" dirty="0">
                    <a:latin typeface="Verdana" panose="020B0604030504040204" pitchFamily="34" charset="0"/>
                    <a:ea typeface="Verdana" panose="020B0604030504040204" pitchFamily="34" charset="0"/>
                    <a:cs typeface="Verdana" panose="020B0604030504040204" pitchFamily="34" charset="0"/>
                  </a:rPr>
                  <a:t> using the distributive property. Each step in his thinking is shown. Complete the descriptions of Isaiah’s process by examining his thinking and work. Use the words in the bank below to complete each description.</a:t>
                </a:r>
                <a:endParaRPr lang="en-US" sz="1100" dirty="0">
                  <a:latin typeface="Calibri" panose="020F0502020204030204" pitchFamily="34" charset="0"/>
                  <a:ea typeface="Calibri" panose="020F0502020204030204" pitchFamily="34" charset="0"/>
                </a:endParaRPr>
              </a:p>
            </p:txBody>
          </p:sp>
        </mc:Choice>
        <mc:Fallback xmlns="">
          <p:sp>
            <p:nvSpPr>
              <p:cNvPr id="362" name="Google Shape;362;p23"/>
              <p:cNvSpPr txBox="1">
                <a:spLocks noRot="1" noChangeAspect="1" noMove="1" noResize="1" noEditPoints="1" noAdjustHandles="1" noChangeArrowheads="1" noChangeShapeType="1" noTextEdit="1"/>
              </p:cNvSpPr>
              <p:nvPr/>
            </p:nvSpPr>
            <p:spPr>
              <a:xfrm>
                <a:off x="1048871" y="286622"/>
                <a:ext cx="9210697" cy="1277745"/>
              </a:xfrm>
              <a:prstGeom prst="rect">
                <a:avLst/>
              </a:prstGeom>
              <a:blipFill rotWithShape="0">
                <a:blip r:embed="rId3"/>
                <a:stretch>
                  <a:fillRect l="-397" t="-27619" b="-4762"/>
                </a:stretch>
              </a:blipFill>
              <a:ln>
                <a:noFill/>
              </a:ln>
            </p:spPr>
            <p:txBody>
              <a:bodyPr/>
              <a:lstStyle/>
              <a:p>
                <a:r>
                  <a:rPr lang="en-US">
                    <a:noFill/>
                  </a:rPr>
                  <a:t> </a:t>
                </a:r>
              </a:p>
            </p:txBody>
          </p:sp>
        </mc:Fallback>
      </mc:AlternateContent>
      <p:sp>
        <p:nvSpPr>
          <p:cNvPr id="363" name="Google Shape;363;p23"/>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6" name="Rounded Rectangle 5">
            <a:extLst>
              <a:ext uri="{FF2B5EF4-FFF2-40B4-BE49-F238E27FC236}">
                <a16:creationId xmlns:a16="http://schemas.microsoft.com/office/drawing/2014/main" id="{C5B2A95E-5520-2247-B83D-EC4268473676}"/>
              </a:ext>
            </a:extLst>
          </p:cNvPr>
          <p:cNvSpPr/>
          <p:nvPr/>
        </p:nvSpPr>
        <p:spPr>
          <a:xfrm>
            <a:off x="2702559" y="1681893"/>
            <a:ext cx="6786880" cy="44196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lnSpc>
                <a:spcPct val="107000"/>
              </a:lnSpc>
              <a:spcAft>
                <a:spcPts val="800"/>
              </a:spcAft>
            </a:pPr>
            <a:r>
              <a:rPr lang="en-US" sz="1800" dirty="0">
                <a:latin typeface="Verdana" panose="020B0604030504040204" pitchFamily="34" charset="0"/>
                <a:ea typeface="Verdana" panose="020B0604030504040204" pitchFamily="34" charset="0"/>
                <a:cs typeface="Verdana" panose="020B0604030504040204" pitchFamily="34" charset="0"/>
              </a:rPr>
              <a:t>distributive       equivalent       factor       multiplication</a:t>
            </a:r>
            <a:endParaRPr lang="en-US" sz="1100" dirty="0">
              <a:latin typeface="Calibri" panose="020F0502020204030204" pitchFamily="34" charset="0"/>
              <a:ea typeface="Calibri" panose="020F0502020204030204" pitchFamily="34" charset="0"/>
            </a:endParaRPr>
          </a:p>
        </p:txBody>
      </p:sp>
      <p:pic>
        <p:nvPicPr>
          <p:cNvPr id="3" name="Picture 2">
            <a:extLst>
              <a:ext uri="{FF2B5EF4-FFF2-40B4-BE49-F238E27FC236}">
                <a16:creationId xmlns:a16="http://schemas.microsoft.com/office/drawing/2014/main" id="{E468C45E-F51E-7740-9430-AD91D911BCEA}"/>
              </a:ext>
            </a:extLst>
          </p:cNvPr>
          <p:cNvPicPr>
            <a:picLocks noChangeAspect="1"/>
          </p:cNvPicPr>
          <p:nvPr/>
        </p:nvPicPr>
        <p:blipFill>
          <a:blip r:embed="rId4"/>
          <a:stretch>
            <a:fillRect/>
          </a:stretch>
        </p:blipFill>
        <p:spPr>
          <a:xfrm>
            <a:off x="3315424" y="2282693"/>
            <a:ext cx="5561152" cy="4288686"/>
          </a:xfrm>
          <a:prstGeom prst="rect">
            <a:avLst/>
          </a:prstGeom>
        </p:spPr>
      </p:pic>
      <p:sp>
        <p:nvSpPr>
          <p:cNvPr id="8"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extLst>
      <p:ext uri="{BB962C8B-B14F-4D97-AF65-F5344CB8AC3E}">
        <p14:creationId xmlns:p14="http://schemas.microsoft.com/office/powerpoint/2010/main" val="1096100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2" name="Google Shape;362;p23"/>
              <p:cNvSpPr txBox="1"/>
              <p:nvPr/>
            </p:nvSpPr>
            <p:spPr>
              <a:xfrm>
                <a:off x="1062317" y="275423"/>
                <a:ext cx="10338715" cy="3722389"/>
              </a:xfrm>
              <a:prstGeom prst="rect">
                <a:avLst/>
              </a:prstGeom>
              <a:noFill/>
              <a:ln>
                <a:noFill/>
              </a:ln>
            </p:spPr>
            <p:txBody>
              <a:bodyPr spcFirstLastPara="1" wrap="square" lIns="91425" tIns="45700" rIns="91425" bIns="45700" anchor="t" anchorCtr="0">
                <a:spAutoFit/>
              </a:bodyPr>
              <a:lstStyle/>
              <a:p>
                <a:pPr marL="457200">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dirty="0">
                  <a:latin typeface="Calibri" panose="020F0502020204030204" pitchFamily="34" charset="0"/>
                  <a:ea typeface="Calibri" panose="020F0502020204030204" pitchFamily="34" charset="0"/>
                </a:endParaRPr>
              </a:p>
              <a:p>
                <a:pPr marL="346075" lvl="0" indent="-333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3. Rewrite the sum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16 + 24</m:t>
                    </m:r>
                  </m:oMath>
                </a14:m>
                <a:r>
                  <a:rPr lang="en-US" sz="2000" dirty="0">
                    <a:latin typeface="Verdana" panose="020B0604030504040204" pitchFamily="34" charset="0"/>
                    <a:ea typeface="Verdana" panose="020B0604030504040204" pitchFamily="34" charset="0"/>
                    <a:cs typeface="Verdana" panose="020B0604030504040204" pitchFamily="34" charset="0"/>
                  </a:rPr>
                  <a:t> using the distributive property in two additional ways.</a:t>
                </a:r>
                <a:endParaRPr lang="en-US" sz="2000" dirty="0">
                  <a:latin typeface="Calibri" panose="020F0502020204030204" pitchFamily="34" charset="0"/>
                  <a:ea typeface="Calibri" panose="020F0502020204030204" pitchFamily="34"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Calibri" panose="020F0502020204030204" pitchFamily="34" charset="0"/>
                  <a:ea typeface="Calibri" panose="020F050202020403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Calibri" panose="020F0502020204030204" pitchFamily="34" charset="0"/>
                  <a:ea typeface="Calibri" panose="020F0502020204030204" pitchFamily="34"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16 + 24 = ____ ( ____+____ )</m:t>
                      </m:r>
                    </m:oMath>
                  </m:oMathPara>
                </a14:m>
                <a:endParaRPr lang="en-US" sz="2000" dirty="0">
                  <a:latin typeface="Calibri" panose="020F0502020204030204" pitchFamily="34" charset="0"/>
                  <a:ea typeface="Calibri" panose="020F0502020204030204" pitchFamily="34" charset="0"/>
                </a:endParaRPr>
              </a:p>
              <a:p>
                <a:pPr algn="just">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Calibri" panose="020F0502020204030204" pitchFamily="34" charset="0"/>
                  <a:ea typeface="Calibri" panose="020F0502020204030204" pitchFamily="34" charset="0"/>
                </a:endParaRPr>
              </a:p>
              <a:p>
                <a:pPr algn="just">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Calibri" panose="020F0502020204030204" pitchFamily="34" charset="0"/>
                  <a:ea typeface="Calibri" panose="020F0502020204030204" pitchFamily="34" charset="0"/>
                </a:endParaRPr>
              </a:p>
              <a:p>
                <a:pPr algn="just">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Calibri" panose="020F0502020204030204" pitchFamily="34" charset="0"/>
                  <a:ea typeface="Calibri" panose="020F0502020204030204" pitchFamily="34"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16 + 24 = ____ ( ____+____ )</m:t>
                      </m:r>
                    </m:oMath>
                  </m:oMathPara>
                </a14:m>
                <a:endParaRPr lang="en-US" sz="2000" dirty="0">
                  <a:latin typeface="Calibri" panose="020F0502020204030204" pitchFamily="34" charset="0"/>
                  <a:ea typeface="Calibri" panose="020F0502020204030204" pitchFamily="34" charset="0"/>
                </a:endParaRPr>
              </a:p>
            </p:txBody>
          </p:sp>
        </mc:Choice>
        <mc:Fallback xmlns="">
          <p:sp>
            <p:nvSpPr>
              <p:cNvPr id="362" name="Google Shape;362;p23"/>
              <p:cNvSpPr txBox="1">
                <a:spLocks noRot="1" noChangeAspect="1" noMove="1" noResize="1" noEditPoints="1" noAdjustHandles="1" noChangeArrowheads="1" noChangeShapeType="1" noTextEdit="1"/>
              </p:cNvSpPr>
              <p:nvPr/>
            </p:nvSpPr>
            <p:spPr>
              <a:xfrm>
                <a:off x="1062317" y="275423"/>
                <a:ext cx="10338715" cy="3722389"/>
              </a:xfrm>
              <a:prstGeom prst="rect">
                <a:avLst/>
              </a:prstGeom>
              <a:blipFill rotWithShape="0">
                <a:blip r:embed="rId3"/>
                <a:stretch>
                  <a:fillRect l="-472"/>
                </a:stretch>
              </a:blipFill>
              <a:ln>
                <a:noFill/>
              </a:ln>
            </p:spPr>
            <p:txBody>
              <a:bodyPr/>
              <a:lstStyle/>
              <a:p>
                <a:r>
                  <a:rPr lang="en-US">
                    <a:noFill/>
                  </a:rPr>
                  <a:t> </a:t>
                </a:r>
              </a:p>
            </p:txBody>
          </p:sp>
        </mc:Fallback>
      </mc:AlternateContent>
      <p:sp>
        <p:nvSpPr>
          <p:cNvPr id="363" name="Google Shape;363;p23"/>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17</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extLst>
      <p:ext uri="{BB962C8B-B14F-4D97-AF65-F5344CB8AC3E}">
        <p14:creationId xmlns:p14="http://schemas.microsoft.com/office/powerpoint/2010/main" val="1601750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2" name="Google Shape;362;p23"/>
              <p:cNvSpPr txBox="1"/>
              <p:nvPr/>
            </p:nvSpPr>
            <p:spPr>
              <a:xfrm>
                <a:off x="968188" y="386281"/>
                <a:ext cx="10206318" cy="750934"/>
              </a:xfrm>
              <a:prstGeom prst="rect">
                <a:avLst/>
              </a:prstGeom>
              <a:noFill/>
              <a:ln>
                <a:noFill/>
              </a:ln>
            </p:spPr>
            <p:txBody>
              <a:bodyPr spcFirstLastPara="1" wrap="square" lIns="91425" tIns="45700" rIns="91425" bIns="45700" anchor="t" anchorCtr="0">
                <a:spAutoFit/>
              </a:bodyPr>
              <a:lstStyle/>
              <a:p>
                <a:pPr marL="346075" lvl="0" indent="-3460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4. Two students made errors rewriting the sum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54 + 36</m:t>
                    </m:r>
                  </m:oMath>
                </a14:m>
                <a:r>
                  <a:rPr lang="en-US" sz="2000" dirty="0">
                    <a:latin typeface="Verdana" panose="020B0604030504040204" pitchFamily="34" charset="0"/>
                    <a:ea typeface="Verdana" panose="020B0604030504040204" pitchFamily="34" charset="0"/>
                    <a:cs typeface="Verdana" panose="020B0604030504040204" pitchFamily="34" charset="0"/>
                  </a:rPr>
                  <a:t> using the distributive property. Each student’s expression is shown.</a:t>
                </a:r>
                <a:endParaRPr lang="en-US" sz="2000" dirty="0">
                  <a:latin typeface="Calibri" panose="020F0502020204030204" pitchFamily="34" charset="0"/>
                  <a:ea typeface="Calibri" panose="020F0502020204030204" pitchFamily="34" charset="0"/>
                </a:endParaRPr>
              </a:p>
            </p:txBody>
          </p:sp>
        </mc:Choice>
        <mc:Fallback xmlns="">
          <p:sp>
            <p:nvSpPr>
              <p:cNvPr id="362" name="Google Shape;362;p23"/>
              <p:cNvSpPr txBox="1">
                <a:spLocks noRot="1" noChangeAspect="1" noMove="1" noResize="1" noEditPoints="1" noAdjustHandles="1" noChangeArrowheads="1" noChangeShapeType="1" noTextEdit="1"/>
              </p:cNvSpPr>
              <p:nvPr/>
            </p:nvSpPr>
            <p:spPr>
              <a:xfrm>
                <a:off x="968188" y="386281"/>
                <a:ext cx="10206318" cy="750934"/>
              </a:xfrm>
              <a:prstGeom prst="rect">
                <a:avLst/>
              </a:prstGeom>
              <a:blipFill rotWithShape="0">
                <a:blip r:embed="rId3"/>
                <a:stretch>
                  <a:fillRect l="-657" t="-51613" r="-299" b="-20161"/>
                </a:stretch>
              </a:blipFill>
              <a:ln>
                <a:noFill/>
              </a:ln>
            </p:spPr>
            <p:txBody>
              <a:bodyPr/>
              <a:lstStyle/>
              <a:p>
                <a:r>
                  <a:rPr lang="en-US">
                    <a:noFill/>
                  </a:rPr>
                  <a:t> </a:t>
                </a:r>
              </a:p>
            </p:txBody>
          </p:sp>
        </mc:Fallback>
      </mc:AlternateContent>
      <p:sp>
        <p:nvSpPr>
          <p:cNvPr id="363" name="Google Shape;363;p23"/>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0F779A2-3A78-CF4D-AD9E-7E109EBADEEA}"/>
                  </a:ext>
                </a:extLst>
              </p:cNvPr>
              <p:cNvSpPr/>
              <p:nvPr/>
            </p:nvSpPr>
            <p:spPr>
              <a:xfrm>
                <a:off x="1425388" y="2805189"/>
                <a:ext cx="8627588" cy="3356112"/>
              </a:xfrm>
              <a:prstGeom prst="rect">
                <a:avLst/>
              </a:prstGeom>
            </p:spPr>
            <p:txBody>
              <a:bodyPr wrap="square">
                <a:spAutoFit/>
              </a:bodyPr>
              <a:lstStyle/>
              <a:p>
                <a:pPr lvl="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Work with your partner to answer the following questions.</a:t>
                </a:r>
              </a:p>
              <a:p>
                <a:pPr lvl="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p>
              <a:p>
                <a:pPr marL="342900" indent="-342900">
                  <a:lnSpc>
                    <a:spcPct val="107000"/>
                  </a:lnSpc>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What error did </a:t>
                </a:r>
                <a:r>
                  <a:rPr lang="en-US" sz="1800" dirty="0" err="1">
                    <a:latin typeface="Verdana" panose="020B0604030504040204" pitchFamily="34" charset="0"/>
                    <a:ea typeface="Verdana" panose="020B0604030504040204" pitchFamily="34" charset="0"/>
                    <a:cs typeface="Verdana" panose="020B0604030504040204" pitchFamily="34" charset="0"/>
                  </a:rPr>
                  <a:t>Naveah</a:t>
                </a:r>
                <a:r>
                  <a:rPr lang="en-US" sz="1800" dirty="0">
                    <a:latin typeface="Verdana" panose="020B0604030504040204" pitchFamily="34" charset="0"/>
                    <a:ea typeface="Verdana" panose="020B0604030504040204" pitchFamily="34" charset="0"/>
                    <a:cs typeface="Verdana" panose="020B0604030504040204" pitchFamily="34" charset="0"/>
                  </a:rPr>
                  <a:t> make?</a:t>
                </a:r>
              </a:p>
              <a:p>
                <a:pPr marL="342900" indent="-342900">
                  <a:lnSpc>
                    <a:spcPct val="107000"/>
                  </a:lnSpc>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What error did Gavin make? </a:t>
                </a:r>
              </a:p>
              <a:p>
                <a:pPr marL="342900" indent="-342900">
                  <a:lnSpc>
                    <a:spcPct val="107000"/>
                  </a:lnSpc>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Generate two different equivalent expressions for the sum </a:t>
                </a: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54 + 36</m:t>
                    </m:r>
                  </m:oMath>
                </a14:m>
                <a:r>
                  <a:rPr lang="en-US" sz="1800" dirty="0">
                    <a:latin typeface="Verdana" panose="020B0604030504040204" pitchFamily="34" charset="0"/>
                    <a:ea typeface="Verdana" panose="020B0604030504040204" pitchFamily="34" charset="0"/>
                    <a:cs typeface="Verdana" panose="020B0604030504040204" pitchFamily="34" charset="0"/>
                  </a:rPr>
                  <a:t> by rewriting it using the distributive property.</a:t>
                </a:r>
              </a:p>
              <a:p>
                <a:pPr marL="342900" indent="-3429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 name="Rectangle 3">
                <a:extLst>
                  <a:ext uri="{FF2B5EF4-FFF2-40B4-BE49-F238E27FC236}">
                    <a16:creationId xmlns:a16="http://schemas.microsoft.com/office/drawing/2014/main" xmlns:a14="http://schemas.microsoft.com/office/drawing/2010/main" xmlns="" id="{40F779A2-3A78-CF4D-AD9E-7E109EBADEEA}"/>
                  </a:ext>
                </a:extLst>
              </p:cNvPr>
              <p:cNvSpPr>
                <a:spLocks noRot="1" noChangeAspect="1" noMove="1" noResize="1" noEditPoints="1" noAdjustHandles="1" noChangeArrowheads="1" noChangeShapeType="1" noTextEdit="1"/>
              </p:cNvSpPr>
              <p:nvPr/>
            </p:nvSpPr>
            <p:spPr>
              <a:xfrm>
                <a:off x="1425388" y="2805189"/>
                <a:ext cx="8627588" cy="3356112"/>
              </a:xfrm>
              <a:prstGeom prst="rect">
                <a:avLst/>
              </a:prstGeom>
              <a:blipFill rotWithShape="0">
                <a:blip r:embed="rId6"/>
                <a:stretch>
                  <a:fillRect l="-636" t="-1089" r="-919"/>
                </a:stretch>
              </a:blipFill>
            </p:spPr>
            <p:txBody>
              <a:bodyPr/>
              <a:lstStyle/>
              <a:p>
                <a:r>
                  <a:rPr lang="en-US">
                    <a:noFill/>
                  </a:rPr>
                  <a:t> </a:t>
                </a:r>
              </a:p>
            </p:txBody>
          </p:sp>
        </mc:Fallback>
      </mc:AlternateContent>
      <p:sp>
        <p:nvSpPr>
          <p:cNvPr id="8"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pic>
        <p:nvPicPr>
          <p:cNvPr id="5" name="Picture 4">
            <a:extLst>
              <a:ext uri="{FF2B5EF4-FFF2-40B4-BE49-F238E27FC236}">
                <a16:creationId xmlns:a16="http://schemas.microsoft.com/office/drawing/2014/main" id="{4CCAAE8C-27C1-D339-9003-28BD76D47CB6}"/>
              </a:ext>
            </a:extLst>
          </p:cNvPr>
          <p:cNvPicPr>
            <a:picLocks noChangeAspect="1"/>
          </p:cNvPicPr>
          <p:nvPr/>
        </p:nvPicPr>
        <p:blipFill>
          <a:blip r:embed="rId8"/>
          <a:stretch>
            <a:fillRect/>
          </a:stretch>
        </p:blipFill>
        <p:spPr>
          <a:xfrm>
            <a:off x="2393182" y="1046662"/>
            <a:ext cx="5896380" cy="1549150"/>
          </a:xfrm>
          <a:prstGeom prst="rect">
            <a:avLst/>
          </a:prstGeom>
        </p:spPr>
      </p:pic>
    </p:spTree>
    <p:extLst>
      <p:ext uri="{BB962C8B-B14F-4D97-AF65-F5344CB8AC3E}">
        <p14:creationId xmlns:p14="http://schemas.microsoft.com/office/powerpoint/2010/main" val="4135729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2" name="Google Shape;362;p23"/>
              <p:cNvSpPr txBox="1"/>
              <p:nvPr/>
            </p:nvSpPr>
            <p:spPr>
              <a:xfrm>
                <a:off x="1156447" y="485434"/>
                <a:ext cx="9879106" cy="750934"/>
              </a:xfrm>
              <a:prstGeom prst="rect">
                <a:avLst/>
              </a:prstGeom>
              <a:noFill/>
              <a:ln>
                <a:noFill/>
              </a:ln>
            </p:spPr>
            <p:txBody>
              <a:bodyPr spcFirstLastPara="1" wrap="square" lIns="91425" tIns="45700" rIns="91425" bIns="45700" anchor="t" anchorCtr="0">
                <a:spAutoFit/>
              </a:bodyPr>
              <a:lstStyle/>
              <a:p>
                <a:pPr marL="346075" indent="-3460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5. Rewrite an equivalent expression for the sum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40 + 64</m:t>
                    </m:r>
                  </m:oMath>
                </a14:m>
                <a:r>
                  <a:rPr lang="en-US" sz="2000" dirty="0">
                    <a:latin typeface="Verdana" panose="020B0604030504040204" pitchFamily="34" charset="0"/>
                    <a:ea typeface="Verdana" panose="020B0604030504040204" pitchFamily="34" charset="0"/>
                    <a:cs typeface="Verdana" panose="020B0604030504040204" pitchFamily="34" charset="0"/>
                  </a:rPr>
                  <a:t> using the distributive property with the </a:t>
                </a:r>
                <a:r>
                  <a:rPr lang="en-US" sz="2000" b="1" dirty="0">
                    <a:latin typeface="Verdana" panose="020B0604030504040204" pitchFamily="34" charset="0"/>
                    <a:ea typeface="Verdana" panose="020B0604030504040204" pitchFamily="34" charset="0"/>
                    <a:cs typeface="Verdana" panose="020B0604030504040204" pitchFamily="34" charset="0"/>
                  </a:rPr>
                  <a:t>greatest common factor</a:t>
                </a:r>
                <a:r>
                  <a:rPr lang="en-US" sz="2000" dirty="0">
                    <a:latin typeface="Verdana" panose="020B0604030504040204" pitchFamily="34" charset="0"/>
                    <a:ea typeface="Verdana" panose="020B0604030504040204" pitchFamily="34" charset="0"/>
                    <a:cs typeface="Verdana" panose="020B0604030504040204" pitchFamily="34" charset="0"/>
                  </a:rPr>
                  <a:t> (GCF).</a:t>
                </a:r>
              </a:p>
            </p:txBody>
          </p:sp>
        </mc:Choice>
        <mc:Fallback xmlns="">
          <p:sp>
            <p:nvSpPr>
              <p:cNvPr id="362" name="Google Shape;362;p23"/>
              <p:cNvSpPr txBox="1">
                <a:spLocks noRot="1" noChangeAspect="1" noMove="1" noResize="1" noEditPoints="1" noAdjustHandles="1" noChangeArrowheads="1" noChangeShapeType="1" noTextEdit="1"/>
              </p:cNvSpPr>
              <p:nvPr/>
            </p:nvSpPr>
            <p:spPr>
              <a:xfrm>
                <a:off x="1156447" y="485434"/>
                <a:ext cx="9879106" cy="750934"/>
              </a:xfrm>
              <a:prstGeom prst="rect">
                <a:avLst/>
              </a:prstGeom>
              <a:blipFill rotWithShape="0">
                <a:blip r:embed="rId3"/>
                <a:stretch>
                  <a:fillRect l="-679" t="-52846" b="-20325"/>
                </a:stretch>
              </a:blipFill>
              <a:ln>
                <a:noFill/>
              </a:ln>
            </p:spPr>
            <p:txBody>
              <a:bodyPr/>
              <a:lstStyle/>
              <a:p>
                <a:r>
                  <a:rPr lang="en-US">
                    <a:noFill/>
                  </a:rPr>
                  <a:t> </a:t>
                </a:r>
              </a:p>
            </p:txBody>
          </p:sp>
        </mc:Fallback>
      </mc:AlternateContent>
      <p:sp>
        <p:nvSpPr>
          <p:cNvPr id="363" name="Google Shape;363;p23"/>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18</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extLst>
      <p:ext uri="{BB962C8B-B14F-4D97-AF65-F5344CB8AC3E}">
        <p14:creationId xmlns:p14="http://schemas.microsoft.com/office/powerpoint/2010/main" val="64721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6"/>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78" name="Google Shape;178;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0" name="Google Shape;180;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7"/>
          <p:cNvSpPr txBox="1"/>
          <p:nvPr/>
        </p:nvSpPr>
        <p:spPr>
          <a:xfrm>
            <a:off x="1300208" y="45822"/>
            <a:ext cx="814815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1.3.5 Collaboration: Missing Values</a:t>
            </a:r>
            <a:endParaRPr dirty="0"/>
          </a:p>
        </p:txBody>
      </p:sp>
      <p:pic>
        <p:nvPicPr>
          <p:cNvPr id="189" name="Google Shape;18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50400" y="333768"/>
            <a:ext cx="749808" cy="749808"/>
          </a:xfrm>
          <a:prstGeom prst="rect">
            <a:avLst/>
          </a:prstGeom>
          <a:noFill/>
          <a:ln>
            <a:noFill/>
          </a:ln>
          <a:effectLst>
            <a:outerShdw blurRad="50800" dist="38100" dir="2700000" algn="tl" rotWithShape="0">
              <a:srgbClr val="000000">
                <a:alpha val="40000"/>
              </a:srgbClr>
            </a:outerShdw>
          </a:effectLst>
        </p:spPr>
      </p:pic>
      <p:sp>
        <p:nvSpPr>
          <p:cNvPr id="190" name="Google Shape;190;p7"/>
          <p:cNvSpPr txBox="1"/>
          <p:nvPr/>
        </p:nvSpPr>
        <p:spPr>
          <a:xfrm>
            <a:off x="1300208" y="1386025"/>
            <a:ext cx="9087376" cy="707846"/>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Work with your partner to determine the missing values that make each equation true.</a:t>
            </a:r>
          </a:p>
        </p:txBody>
      </p:sp>
      <p:sp>
        <p:nvSpPr>
          <p:cNvPr id="191" name="Google Shape;191;p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F3E8B7A8-0D31-E448-8F34-AB1D992BB4A1}"/>
                  </a:ext>
                </a:extLst>
              </p:cNvPr>
              <p:cNvSpPr/>
              <p:nvPr/>
            </p:nvSpPr>
            <p:spPr>
              <a:xfrm>
                <a:off x="2872060" y="2575067"/>
                <a:ext cx="287052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1800">
                          <a:latin typeface="Cambria Math" panose="02040503050406030204" pitchFamily="18" charset="0"/>
                          <a:ea typeface="Cambria Math" panose="02040503050406030204" pitchFamily="18" charset="0"/>
                        </a:rPr>
                        <m:t>a</m:t>
                      </m:r>
                      <m:r>
                        <a:rPr lang="en-US" sz="1800">
                          <a:latin typeface="Cambria Math" panose="02040503050406030204" pitchFamily="18" charset="0"/>
                          <a:ea typeface="Cambria Math" panose="02040503050406030204" pitchFamily="18" charset="0"/>
                        </a:rPr>
                        <m:t>.   40+16=4</m:t>
                      </m:r>
                      <m:d>
                        <m:dPr>
                          <m:ctrlPr>
                            <a:rPr lang="en-US" sz="1800" i="1">
                              <a:latin typeface="Cambria Math" panose="02040503050406030204" pitchFamily="18" charset="0"/>
                              <a:ea typeface="Cambria Math" panose="02040503050406030204" pitchFamily="18" charset="0"/>
                            </a:rPr>
                          </m:ctrlPr>
                        </m:dPr>
                        <m:e>
                          <m:r>
                            <a:rPr lang="en-US" sz="1800">
                              <a:latin typeface="Cambria Math" panose="02040503050406030204" pitchFamily="18" charset="0"/>
                              <a:ea typeface="Cambria Math" panose="02040503050406030204" pitchFamily="18" charset="0"/>
                            </a:rPr>
                            <m:t>10+</m:t>
                          </m:r>
                          <m:r>
                            <m:rPr>
                              <m:lit/>
                            </m:rPr>
                            <a:rPr lang="en-US" sz="1800">
                              <a:latin typeface="Cambria Math" panose="02040503050406030204" pitchFamily="18" charset="0"/>
                              <a:ea typeface="Cambria Math" panose="02040503050406030204" pitchFamily="18" charset="0"/>
                            </a:rPr>
                            <m:t>____</m:t>
                          </m:r>
                          <m:r>
                            <a:rPr lang="en-US" sz="1800">
                              <a:latin typeface="Cambria Math" panose="02040503050406030204" pitchFamily="18" charset="0"/>
                              <a:ea typeface="Cambria Math" panose="02040503050406030204" pitchFamily="18" charset="0"/>
                            </a:rPr>
                            <m:t> </m:t>
                          </m:r>
                        </m:e>
                      </m:d>
                    </m:oMath>
                  </m:oMathPara>
                </a14:m>
                <a:endParaRPr lang="en-US" sz="1800" dirty="0">
                  <a:latin typeface="Cambria Math" panose="02040503050406030204" pitchFamily="18" charset="0"/>
                  <a:ea typeface="Cambria Math" panose="02040503050406030204" pitchFamily="18" charset="0"/>
                </a:endParaRPr>
              </a:p>
            </p:txBody>
          </p:sp>
        </mc:Choice>
        <mc:Fallback xmlns="">
          <p:sp>
            <p:nvSpPr>
              <p:cNvPr id="3" name="Rectangle 2">
                <a:extLst>
                  <a:ext uri="{FF2B5EF4-FFF2-40B4-BE49-F238E27FC236}">
                    <a16:creationId xmlns:a16="http://schemas.microsoft.com/office/drawing/2014/main" xmlns:a14="http://schemas.microsoft.com/office/drawing/2010/main" xmlns="" id="{F3E8B7A8-0D31-E448-8F34-AB1D992BB4A1}"/>
                  </a:ext>
                </a:extLst>
              </p:cNvPr>
              <p:cNvSpPr>
                <a:spLocks noRot="1" noChangeAspect="1" noMove="1" noResize="1" noEditPoints="1" noAdjustHandles="1" noChangeArrowheads="1" noChangeShapeType="1" noTextEdit="1"/>
              </p:cNvSpPr>
              <p:nvPr/>
            </p:nvSpPr>
            <p:spPr>
              <a:xfrm>
                <a:off x="2872060" y="2575067"/>
                <a:ext cx="2870529" cy="369332"/>
              </a:xfrm>
              <a:prstGeom prst="rect">
                <a:avLst/>
              </a:prstGeom>
              <a:blipFill rotWithShape="0">
                <a:blip r:embed="rId4"/>
                <a:stretch>
                  <a:fillRect t="-93443" b="-1229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91670F1-79B4-804D-B3D8-A29DADE350A6}"/>
                  </a:ext>
                </a:extLst>
              </p:cNvPr>
              <p:cNvSpPr txBox="1"/>
              <p:nvPr/>
            </p:nvSpPr>
            <p:spPr>
              <a:xfrm>
                <a:off x="6593925" y="2575067"/>
                <a:ext cx="2898550" cy="369332"/>
              </a:xfrm>
              <a:prstGeom prst="rect">
                <a:avLst/>
              </a:prstGeom>
              <a:noFill/>
            </p:spPr>
            <p:txBody>
              <a:bodyPr wrap="none" rtlCol="0">
                <a:spAutoFit/>
              </a:bodyPr>
              <a:lstStyle/>
              <a:p>
                <a:r>
                  <a:rPr lang="en-US" sz="1800" dirty="0">
                    <a:latin typeface="Cambria Math" panose="02040503050406030204" pitchFamily="18" charset="0"/>
                    <a:ea typeface="Cambria Math" panose="02040503050406030204" pitchFamily="18" charset="0"/>
                  </a:rPr>
                  <a:t>b.  </a:t>
                </a:r>
                <a14:m>
                  <m:oMath xmlns:m="http://schemas.openxmlformats.org/officeDocument/2006/math">
                    <m:r>
                      <a:rPr lang="en-US" sz="1800" i="1">
                        <a:latin typeface="Cambria Math" panose="02040503050406030204" pitchFamily="18" charset="0"/>
                        <a:ea typeface="Cambria Math" panose="02040503050406030204" pitchFamily="18" charset="0"/>
                      </a:rPr>
                      <m:t>15+80=5( ____+ 16)</m:t>
                    </m:r>
                  </m:oMath>
                </a14:m>
                <a:r>
                  <a:rPr lang="en-US" sz="1800" dirty="0">
                    <a:latin typeface="Cambria Math" panose="02040503050406030204" pitchFamily="18" charset="0"/>
                    <a:ea typeface="Cambria Math" panose="02040503050406030204" pitchFamily="18" charset="0"/>
                  </a:rPr>
                  <a:t> </a:t>
                </a:r>
              </a:p>
            </p:txBody>
          </p:sp>
        </mc:Choice>
        <mc:Fallback xmlns="">
          <p:sp>
            <p:nvSpPr>
              <p:cNvPr id="4" name="TextBox 3">
                <a:extLst>
                  <a:ext uri="{FF2B5EF4-FFF2-40B4-BE49-F238E27FC236}">
                    <a16:creationId xmlns:a16="http://schemas.microsoft.com/office/drawing/2014/main" id="{891670F1-79B4-804D-B3D8-A29DADE350A6}"/>
                  </a:ext>
                </a:extLst>
              </p:cNvPr>
              <p:cNvSpPr txBox="1">
                <a:spLocks noRot="1" noChangeAspect="1" noMove="1" noResize="1" noEditPoints="1" noAdjustHandles="1" noChangeArrowheads="1" noChangeShapeType="1" noTextEdit="1"/>
              </p:cNvSpPr>
              <p:nvPr/>
            </p:nvSpPr>
            <p:spPr>
              <a:xfrm>
                <a:off x="5069925" y="2575067"/>
                <a:ext cx="2898550" cy="369332"/>
              </a:xfrm>
              <a:prstGeom prst="rect">
                <a:avLst/>
              </a:prstGeom>
              <a:blipFill>
                <a:blip r:embed="rId6"/>
                <a:stretch>
                  <a:fillRect l="-1747"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9F5833C-D27E-D34B-8437-E22A526C6D60}"/>
                  </a:ext>
                </a:extLst>
              </p:cNvPr>
              <p:cNvSpPr/>
              <p:nvPr/>
            </p:nvSpPr>
            <p:spPr>
              <a:xfrm>
                <a:off x="2872060" y="3588375"/>
                <a:ext cx="2974725" cy="369332"/>
              </a:xfrm>
              <a:prstGeom prst="rect">
                <a:avLst/>
              </a:prstGeom>
            </p:spPr>
            <p:txBody>
              <a:bodyPr wrap="none">
                <a:spAutoFit/>
              </a:bodyPr>
              <a:lstStyle/>
              <a:p>
                <a:r>
                  <a:rPr lang="en-US" sz="1800" dirty="0">
                    <a:latin typeface="Cambria Math" panose="02040503050406030204" pitchFamily="18" charset="0"/>
                    <a:ea typeface="Cambria Math" panose="02040503050406030204" pitchFamily="18" charset="0"/>
                  </a:rPr>
                  <a:t>c. </a:t>
                </a:r>
                <a14:m>
                  <m:oMath xmlns:m="http://schemas.openxmlformats.org/officeDocument/2006/math">
                    <m:r>
                      <a:rPr lang="en-US" sz="1800">
                        <a:latin typeface="Cambria Math" panose="02040503050406030204" pitchFamily="18" charset="0"/>
                        <a:ea typeface="Cambria Math" panose="02040503050406030204" pitchFamily="18" charset="0"/>
                      </a:rPr>
                      <m:t>108+198=</m:t>
                    </m:r>
                    <m:r>
                      <m:rPr>
                        <m:lit/>
                      </m:rPr>
                      <a:rPr lang="en-US" sz="1800">
                        <a:latin typeface="Cambria Math" panose="02040503050406030204" pitchFamily="18" charset="0"/>
                        <a:ea typeface="Cambria Math" panose="02040503050406030204" pitchFamily="18" charset="0"/>
                      </a:rPr>
                      <m:t>____</m:t>
                    </m:r>
                    <m:r>
                      <a:rPr lang="en-US" sz="1800">
                        <a:latin typeface="Cambria Math" panose="02040503050406030204" pitchFamily="18" charset="0"/>
                        <a:ea typeface="Cambria Math" panose="02040503050406030204" pitchFamily="18" charset="0"/>
                      </a:rPr>
                      <m:t> </m:t>
                    </m:r>
                    <m:d>
                      <m:dPr>
                        <m:ctrlPr>
                          <a:rPr lang="en-US" sz="1800" i="1">
                            <a:latin typeface="Cambria Math" panose="02040503050406030204" pitchFamily="18" charset="0"/>
                            <a:ea typeface="Cambria Math" panose="02040503050406030204" pitchFamily="18" charset="0"/>
                          </a:rPr>
                        </m:ctrlPr>
                      </m:dPr>
                      <m:e>
                        <m:r>
                          <a:rPr lang="en-US" sz="1800">
                            <a:latin typeface="Cambria Math" panose="02040503050406030204" pitchFamily="18" charset="0"/>
                            <a:ea typeface="Cambria Math" panose="02040503050406030204" pitchFamily="18" charset="0"/>
                          </a:rPr>
                          <m:t>6+11</m:t>
                        </m:r>
                      </m:e>
                    </m:d>
                  </m:oMath>
                </a14:m>
                <a:endParaRPr lang="en-US" sz="1800" dirty="0">
                  <a:latin typeface="Cambria Math" panose="02040503050406030204" pitchFamily="18" charset="0"/>
                  <a:ea typeface="Cambria Math" panose="02040503050406030204" pitchFamily="18" charset="0"/>
                </a:endParaRPr>
              </a:p>
            </p:txBody>
          </p:sp>
        </mc:Choice>
        <mc:Fallback xmlns="">
          <p:sp>
            <p:nvSpPr>
              <p:cNvPr id="5" name="Rectangle 4">
                <a:extLst>
                  <a:ext uri="{FF2B5EF4-FFF2-40B4-BE49-F238E27FC236}">
                    <a16:creationId xmlns:a16="http://schemas.microsoft.com/office/drawing/2014/main" id="{E9F5833C-D27E-D34B-8437-E22A526C6D60}"/>
                  </a:ext>
                </a:extLst>
              </p:cNvPr>
              <p:cNvSpPr>
                <a:spLocks noRot="1" noChangeAspect="1" noMove="1" noResize="1" noEditPoints="1" noAdjustHandles="1" noChangeArrowheads="1" noChangeShapeType="1" noTextEdit="1"/>
              </p:cNvSpPr>
              <p:nvPr/>
            </p:nvSpPr>
            <p:spPr>
              <a:xfrm>
                <a:off x="1348059" y="3588375"/>
                <a:ext cx="2974725" cy="369332"/>
              </a:xfrm>
              <a:prstGeom prst="rect">
                <a:avLst/>
              </a:prstGeom>
              <a:blipFill>
                <a:blip r:embed="rId7"/>
                <a:stretch>
                  <a:fillRect l="-1702"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DB4F354-439D-754A-AC03-15429A8EA0C4}"/>
                  </a:ext>
                </a:extLst>
              </p:cNvPr>
              <p:cNvSpPr/>
              <p:nvPr/>
            </p:nvSpPr>
            <p:spPr>
              <a:xfrm>
                <a:off x="6593926" y="3588375"/>
                <a:ext cx="29186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1800">
                          <a:latin typeface="Cambria Math" panose="02040503050406030204" pitchFamily="18" charset="0"/>
                          <a:ea typeface="Cambria Math" panose="02040503050406030204" pitchFamily="18" charset="0"/>
                        </a:rPr>
                        <m:t>d</m:t>
                      </m:r>
                      <m:r>
                        <a:rPr lang="en-US" sz="1800">
                          <a:latin typeface="Cambria Math" panose="02040503050406030204" pitchFamily="18" charset="0"/>
                          <a:ea typeface="Cambria Math" panose="02040503050406030204" pitchFamily="18" charset="0"/>
                        </a:rPr>
                        <m:t>. 28+63=7</m:t>
                      </m:r>
                      <m:d>
                        <m:dPr>
                          <m:ctrlPr>
                            <a:rPr lang="en-US" sz="1800" i="1">
                              <a:latin typeface="Cambria Math" panose="02040503050406030204" pitchFamily="18" charset="0"/>
                              <a:ea typeface="Cambria Math" panose="02040503050406030204" pitchFamily="18" charset="0"/>
                            </a:rPr>
                          </m:ctrlPr>
                        </m:dPr>
                        <m:e>
                          <m:r>
                            <a:rPr lang="en-US" sz="1800">
                              <a:latin typeface="Cambria Math" panose="02040503050406030204" pitchFamily="18" charset="0"/>
                              <a:ea typeface="Cambria Math" panose="02040503050406030204" pitchFamily="18" charset="0"/>
                            </a:rPr>
                            <m:t> </m:t>
                          </m:r>
                          <m:r>
                            <m:rPr>
                              <m:lit/>
                            </m:rPr>
                            <a:rPr lang="en-US" sz="1800">
                              <a:latin typeface="Cambria Math" panose="02040503050406030204" pitchFamily="18" charset="0"/>
                              <a:ea typeface="Cambria Math" panose="02040503050406030204" pitchFamily="18" charset="0"/>
                            </a:rPr>
                            <m:t>____</m:t>
                          </m:r>
                          <m:r>
                            <a:rPr lang="en-US" sz="1800">
                              <a:latin typeface="Cambria Math" panose="02040503050406030204" pitchFamily="18" charset="0"/>
                              <a:ea typeface="Cambria Math" panose="02040503050406030204" pitchFamily="18" charset="0"/>
                            </a:rPr>
                            <m:t>+</m:t>
                          </m:r>
                          <m:r>
                            <m:rPr>
                              <m:lit/>
                            </m:rPr>
                            <a:rPr lang="en-US" sz="1800">
                              <a:latin typeface="Cambria Math" panose="02040503050406030204" pitchFamily="18" charset="0"/>
                              <a:ea typeface="Cambria Math" panose="02040503050406030204" pitchFamily="18" charset="0"/>
                            </a:rPr>
                            <m:t>____</m:t>
                          </m:r>
                          <m:r>
                            <a:rPr lang="en-US" sz="1800">
                              <a:latin typeface="Cambria Math" panose="02040503050406030204" pitchFamily="18" charset="0"/>
                              <a:ea typeface="Cambria Math" panose="02040503050406030204" pitchFamily="18" charset="0"/>
                            </a:rPr>
                            <m:t> </m:t>
                          </m:r>
                        </m:e>
                      </m:d>
                    </m:oMath>
                  </m:oMathPara>
                </a14:m>
                <a:endParaRPr lang="en-US" sz="1800" dirty="0">
                  <a:latin typeface="Cambria Math" panose="02040503050406030204" pitchFamily="18" charset="0"/>
                  <a:ea typeface="Cambria Math" panose="02040503050406030204" pitchFamily="18" charset="0"/>
                </a:endParaRPr>
              </a:p>
            </p:txBody>
          </p:sp>
        </mc:Choice>
        <mc:Fallback xmlns="">
          <p:sp>
            <p:nvSpPr>
              <p:cNvPr id="7" name="Rectangle 6">
                <a:extLst>
                  <a:ext uri="{FF2B5EF4-FFF2-40B4-BE49-F238E27FC236}">
                    <a16:creationId xmlns:a16="http://schemas.microsoft.com/office/drawing/2014/main" id="{3DB4F354-439D-754A-AC03-15429A8EA0C4}"/>
                  </a:ext>
                </a:extLst>
              </p:cNvPr>
              <p:cNvSpPr>
                <a:spLocks noRot="1" noChangeAspect="1" noMove="1" noResize="1" noEditPoints="1" noAdjustHandles="1" noChangeArrowheads="1" noChangeShapeType="1" noTextEdit="1"/>
              </p:cNvSpPr>
              <p:nvPr/>
            </p:nvSpPr>
            <p:spPr>
              <a:xfrm>
                <a:off x="5069925" y="3588375"/>
                <a:ext cx="2918619" cy="369332"/>
              </a:xfrm>
              <a:prstGeom prst="rect">
                <a:avLst/>
              </a:prstGeom>
              <a:blipFill>
                <a:blip r:embed="rId8"/>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C6CDC7F6-7DC4-AE4F-AED0-721BEA3D6CFB}"/>
                  </a:ext>
                </a:extLst>
              </p:cNvPr>
              <p:cNvSpPr/>
              <p:nvPr/>
            </p:nvSpPr>
            <p:spPr>
              <a:xfrm>
                <a:off x="2872059" y="4601682"/>
                <a:ext cx="29538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1800">
                          <a:latin typeface="Cambria Math" panose="02040503050406030204" pitchFamily="18" charset="0"/>
                          <a:ea typeface="Cambria Math" panose="02040503050406030204" pitchFamily="18" charset="0"/>
                        </a:rPr>
                        <m:t>e</m:t>
                      </m:r>
                      <m:r>
                        <a:rPr lang="en-US" sz="1800">
                          <a:latin typeface="Cambria Math" panose="02040503050406030204" pitchFamily="18" charset="0"/>
                          <a:ea typeface="Cambria Math" panose="02040503050406030204" pitchFamily="18" charset="0"/>
                        </a:rPr>
                        <m:t>.  45+18=</m:t>
                      </m:r>
                      <m:r>
                        <m:rPr>
                          <m:lit/>
                        </m:rPr>
                        <a:rPr lang="en-US" sz="1800">
                          <a:latin typeface="Cambria Math" panose="02040503050406030204" pitchFamily="18" charset="0"/>
                          <a:ea typeface="Cambria Math" panose="02040503050406030204" pitchFamily="18" charset="0"/>
                        </a:rPr>
                        <m:t>____</m:t>
                      </m:r>
                      <m:r>
                        <a:rPr lang="en-US" sz="1800">
                          <a:latin typeface="Cambria Math" panose="02040503050406030204" pitchFamily="18" charset="0"/>
                          <a:ea typeface="Cambria Math" panose="02040503050406030204" pitchFamily="18" charset="0"/>
                        </a:rPr>
                        <m:t> </m:t>
                      </m:r>
                      <m:d>
                        <m:dPr>
                          <m:ctrlPr>
                            <a:rPr lang="en-US" sz="1800" i="1">
                              <a:latin typeface="Cambria Math" panose="02040503050406030204" pitchFamily="18" charset="0"/>
                              <a:ea typeface="Cambria Math" panose="02040503050406030204" pitchFamily="18" charset="0"/>
                            </a:rPr>
                          </m:ctrlPr>
                        </m:dPr>
                        <m:e>
                          <m:r>
                            <a:rPr lang="en-US" sz="1800">
                              <a:latin typeface="Cambria Math" panose="02040503050406030204" pitchFamily="18" charset="0"/>
                              <a:ea typeface="Cambria Math" panose="02040503050406030204" pitchFamily="18" charset="0"/>
                            </a:rPr>
                            <m:t> </m:t>
                          </m:r>
                          <m:r>
                            <m:rPr>
                              <m:lit/>
                            </m:rPr>
                            <a:rPr lang="en-US" sz="1800">
                              <a:latin typeface="Cambria Math" panose="02040503050406030204" pitchFamily="18" charset="0"/>
                              <a:ea typeface="Cambria Math" panose="02040503050406030204" pitchFamily="18" charset="0"/>
                            </a:rPr>
                            <m:t>____</m:t>
                          </m:r>
                          <m:r>
                            <a:rPr lang="en-US" sz="1800">
                              <a:latin typeface="Cambria Math" panose="02040503050406030204" pitchFamily="18" charset="0"/>
                              <a:ea typeface="Cambria Math" panose="02040503050406030204" pitchFamily="18" charset="0"/>
                            </a:rPr>
                            <m:t>+6</m:t>
                          </m:r>
                        </m:e>
                      </m:d>
                    </m:oMath>
                  </m:oMathPara>
                </a14:m>
                <a:endParaRPr lang="en-US" sz="1800" dirty="0">
                  <a:latin typeface="Cambria Math" panose="02040503050406030204" pitchFamily="18" charset="0"/>
                  <a:ea typeface="Cambria Math" panose="02040503050406030204" pitchFamily="18" charset="0"/>
                </a:endParaRPr>
              </a:p>
            </p:txBody>
          </p:sp>
        </mc:Choice>
        <mc:Fallback xmlns="">
          <p:sp>
            <p:nvSpPr>
              <p:cNvPr id="9" name="Rectangle 8">
                <a:extLst>
                  <a:ext uri="{FF2B5EF4-FFF2-40B4-BE49-F238E27FC236}">
                    <a16:creationId xmlns:a16="http://schemas.microsoft.com/office/drawing/2014/main" id="{C6CDC7F6-7DC4-AE4F-AED0-721BEA3D6CFB}"/>
                  </a:ext>
                </a:extLst>
              </p:cNvPr>
              <p:cNvSpPr>
                <a:spLocks noRot="1" noChangeAspect="1" noMove="1" noResize="1" noEditPoints="1" noAdjustHandles="1" noChangeArrowheads="1" noChangeShapeType="1" noTextEdit="1"/>
              </p:cNvSpPr>
              <p:nvPr/>
            </p:nvSpPr>
            <p:spPr>
              <a:xfrm>
                <a:off x="1348059" y="4601682"/>
                <a:ext cx="2953886" cy="369332"/>
              </a:xfrm>
              <a:prstGeom prst="rect">
                <a:avLst/>
              </a:prstGeom>
              <a:blipFill>
                <a:blip r:embed="rId9"/>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C228E0B3-C36C-394C-896D-4F2CEE6E00F1}"/>
                  </a:ext>
                </a:extLst>
              </p:cNvPr>
              <p:cNvSpPr/>
              <p:nvPr/>
            </p:nvSpPr>
            <p:spPr>
              <a:xfrm>
                <a:off x="6593683" y="4601682"/>
                <a:ext cx="272625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1800">
                          <a:latin typeface="Cambria Math" panose="02040503050406030204" pitchFamily="18" charset="0"/>
                          <a:ea typeface="Cambria Math" panose="02040503050406030204" pitchFamily="18" charset="0"/>
                        </a:rPr>
                        <m:t>f</m:t>
                      </m:r>
                      <m:r>
                        <a:rPr lang="en-US" sz="1800">
                          <a:latin typeface="Cambria Math" panose="02040503050406030204" pitchFamily="18" charset="0"/>
                          <a:ea typeface="Cambria Math" panose="02040503050406030204" pitchFamily="18" charset="0"/>
                        </a:rPr>
                        <m:t>. 135+27=9</m:t>
                      </m:r>
                      <m:d>
                        <m:dPr>
                          <m:ctrlPr>
                            <a:rPr lang="en-US" sz="1800" i="1">
                              <a:latin typeface="Cambria Math" panose="02040503050406030204" pitchFamily="18" charset="0"/>
                              <a:ea typeface="Cambria Math" panose="02040503050406030204" pitchFamily="18" charset="0"/>
                            </a:rPr>
                          </m:ctrlPr>
                        </m:dPr>
                        <m:e>
                          <m:r>
                            <a:rPr lang="en-US" sz="1800">
                              <a:latin typeface="Cambria Math" panose="02040503050406030204" pitchFamily="18" charset="0"/>
                              <a:ea typeface="Cambria Math" panose="02040503050406030204" pitchFamily="18" charset="0"/>
                            </a:rPr>
                            <m:t> </m:t>
                          </m:r>
                          <m:r>
                            <m:rPr>
                              <m:lit/>
                            </m:rPr>
                            <a:rPr lang="en-US" sz="1800">
                              <a:latin typeface="Cambria Math" panose="02040503050406030204" pitchFamily="18" charset="0"/>
                              <a:ea typeface="Cambria Math" panose="02040503050406030204" pitchFamily="18" charset="0"/>
                            </a:rPr>
                            <m:t>____</m:t>
                          </m:r>
                          <m:r>
                            <a:rPr lang="en-US" sz="1800">
                              <a:latin typeface="Cambria Math" panose="02040503050406030204" pitchFamily="18" charset="0"/>
                              <a:ea typeface="Cambria Math" panose="02040503050406030204" pitchFamily="18" charset="0"/>
                            </a:rPr>
                            <m:t>+3</m:t>
                          </m:r>
                        </m:e>
                      </m:d>
                    </m:oMath>
                  </m:oMathPara>
                </a14:m>
                <a:endParaRPr lang="en-US" sz="1800" dirty="0">
                  <a:latin typeface="Cambria Math" panose="02040503050406030204" pitchFamily="18" charset="0"/>
                  <a:ea typeface="Cambria Math" panose="02040503050406030204" pitchFamily="18" charset="0"/>
                </a:endParaRPr>
              </a:p>
            </p:txBody>
          </p:sp>
        </mc:Choice>
        <mc:Fallback xmlns="">
          <p:sp>
            <p:nvSpPr>
              <p:cNvPr id="10" name="Rectangle 9">
                <a:extLst>
                  <a:ext uri="{FF2B5EF4-FFF2-40B4-BE49-F238E27FC236}">
                    <a16:creationId xmlns:a16="http://schemas.microsoft.com/office/drawing/2014/main" id="{C228E0B3-C36C-394C-896D-4F2CEE6E00F1}"/>
                  </a:ext>
                </a:extLst>
              </p:cNvPr>
              <p:cNvSpPr>
                <a:spLocks noRot="1" noChangeAspect="1" noMove="1" noResize="1" noEditPoints="1" noAdjustHandles="1" noChangeArrowheads="1" noChangeShapeType="1" noTextEdit="1"/>
              </p:cNvSpPr>
              <p:nvPr/>
            </p:nvSpPr>
            <p:spPr>
              <a:xfrm>
                <a:off x="5069682" y="4601682"/>
                <a:ext cx="2726259" cy="369332"/>
              </a:xfrm>
              <a:prstGeom prst="rect">
                <a:avLst/>
              </a:prstGeom>
              <a:blipFill>
                <a:blip r:embed="rId10"/>
                <a:stretch>
                  <a:fillRect b="-13333"/>
                </a:stretch>
              </a:blipFill>
            </p:spPr>
            <p:txBody>
              <a:bodyPr/>
              <a:lstStyle/>
              <a:p>
                <a:r>
                  <a:rPr lang="en-US">
                    <a:noFill/>
                  </a:rPr>
                  <a:t> </a:t>
                </a:r>
              </a:p>
            </p:txBody>
          </p:sp>
        </mc:Fallback>
      </mc:AlternateContent>
      <p:sp>
        <p:nvSpPr>
          <p:cNvPr id="14"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18</a:t>
            </a:r>
            <a:endParaRPr i="1" dirty="0">
              <a:latin typeface="Calibri"/>
              <a:ea typeface="Calibri"/>
              <a:cs typeface="Calibri"/>
              <a:sym typeface="Calibri"/>
            </a:endParaRPr>
          </a:p>
        </p:txBody>
      </p:sp>
      <p:pic>
        <p:nvPicPr>
          <p:cNvPr id="15" name="Google Shape;126;g104476d1465_1_17"/>
          <p:cNvPicPr preferRelativeResize="0"/>
          <p:nvPr/>
        </p:nvPicPr>
        <p:blipFill rotWithShape="1">
          <a:blip r:embed="rId11"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9" name="Google Shape;199;p8"/>
          <p:cNvSpPr txBox="1"/>
          <p:nvPr/>
        </p:nvSpPr>
        <p:spPr>
          <a:xfrm>
            <a:off x="1183341" y="454733"/>
            <a:ext cx="9151560" cy="3056181"/>
          </a:xfrm>
          <a:prstGeom prst="rect">
            <a:avLst/>
          </a:prstGeom>
          <a:noFill/>
          <a:ln>
            <a:noFill/>
          </a:ln>
        </p:spPr>
        <p:txBody>
          <a:bodyPr spcFirstLastPara="1" wrap="square" lIns="91425" tIns="45700" rIns="91425" bIns="45700" anchor="t" anchorCtr="0">
            <a:spAutoFit/>
          </a:bodyPr>
          <a:lstStyle/>
          <a:p>
            <a:pPr marL="346075" lvl="0" indent="-3460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2. Choose one of the equations from the table and explain how you determined the missing value(s).</a:t>
            </a:r>
            <a:endParaRPr lang="en-US" sz="2000" dirty="0">
              <a:latin typeface="Calibri" panose="020F0502020204030204" pitchFamily="34" charset="0"/>
              <a:ea typeface="Calibri" panose="020F0502020204030204" pitchFamily="34" charset="0"/>
            </a:endParaRPr>
          </a:p>
          <a:p>
            <a:pPr marL="2286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Calibri" panose="020F0502020204030204" pitchFamily="34" charset="0"/>
              <a:ea typeface="Calibri" panose="020F0502020204030204" pitchFamily="34"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To find the missing value in equation _________, I ____________________________________________</a:t>
            </a:r>
            <a:endParaRPr lang="en-US" sz="2000" dirty="0">
              <a:latin typeface="Calibri" panose="020F0502020204030204" pitchFamily="34" charset="0"/>
              <a:ea typeface="Calibri" panose="020F0502020204030204" pitchFamily="34"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Calibri" panose="020F0502020204030204" pitchFamily="34" charset="0"/>
              <a:ea typeface="Calibri" panose="020F0502020204030204" pitchFamily="34"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____________________________________________.</a:t>
            </a:r>
          </a:p>
          <a:p>
            <a:pPr marL="457200">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200" name="Google Shape;200;p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 name="Rectangle 1">
            <a:extLst>
              <a:ext uri="{FF2B5EF4-FFF2-40B4-BE49-F238E27FC236}">
                <a16:creationId xmlns:a16="http://schemas.microsoft.com/office/drawing/2014/main" id="{1CAC78F3-7F8A-F14B-B374-883881D2DC4E}"/>
              </a:ext>
            </a:extLst>
          </p:cNvPr>
          <p:cNvSpPr/>
          <p:nvPr/>
        </p:nvSpPr>
        <p:spPr>
          <a:xfrm>
            <a:off x="1183341" y="3424826"/>
            <a:ext cx="9151560" cy="750975"/>
          </a:xfrm>
          <a:prstGeom prst="rect">
            <a:avLst/>
          </a:prstGeom>
        </p:spPr>
        <p:txBody>
          <a:bodyPr wrap="square">
            <a:spAutoFit/>
          </a:bodyPr>
          <a:lstStyle/>
          <a:p>
            <a:pPr marL="346075" lvl="0" indent="-3460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3. Have your partner read your explanation and offer suggestions on how to improve it. </a:t>
            </a:r>
            <a:endParaRPr lang="en-US" sz="2000" dirty="0">
              <a:latin typeface="Calibri" panose="020F0502020204030204" pitchFamily="34" charset="0"/>
              <a:ea typeface="Calibri" panose="020F0502020204030204" pitchFamily="34" charset="0"/>
            </a:endParaRPr>
          </a:p>
        </p:txBody>
      </p:sp>
      <p:sp>
        <p:nvSpPr>
          <p:cNvPr id="7"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30"/>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31" name="Google Shape;431;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32" name="Google Shape;432;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40" name="Google Shape;440;p31"/>
          <p:cNvSpPr txBox="1"/>
          <p:nvPr/>
        </p:nvSpPr>
        <p:spPr>
          <a:xfrm>
            <a:off x="1215486" y="82201"/>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1.3.6 Your Turn!</a:t>
            </a:r>
            <a:endParaRPr dirty="0"/>
          </a:p>
        </p:txBody>
      </p:sp>
      <p:pic>
        <p:nvPicPr>
          <p:cNvPr id="441" name="Google Shape;441;p31"/>
          <p:cNvPicPr preferRelativeResize="0"/>
          <p:nvPr/>
        </p:nvPicPr>
        <p:blipFill rotWithShape="1">
          <a:blip r:embed="rId3">
            <a:alphaModFix/>
          </a:blip>
          <a:srcRect/>
          <a:stretch/>
        </p:blipFill>
        <p:spPr>
          <a:xfrm>
            <a:off x="468186" y="82201"/>
            <a:ext cx="747300" cy="747300"/>
          </a:xfrm>
          <a:prstGeom prst="rect">
            <a:avLst/>
          </a:prstGeom>
          <a:noFill/>
          <a:ln>
            <a:noFill/>
          </a:ln>
        </p:spPr>
      </p:pic>
      <p:sp>
        <p:nvSpPr>
          <p:cNvPr id="443" name="Google Shape;443;p31"/>
          <p:cNvSpPr txBox="1"/>
          <p:nvPr/>
        </p:nvSpPr>
        <p:spPr>
          <a:xfrm>
            <a:off x="1215486" y="1386025"/>
            <a:ext cx="9172098" cy="750934"/>
          </a:xfrm>
          <a:prstGeom prst="rect">
            <a:avLst/>
          </a:prstGeom>
          <a:noFill/>
          <a:ln>
            <a:noFill/>
          </a:ln>
        </p:spPr>
        <p:txBody>
          <a:bodyPr spcFirstLastPara="1" wrap="square" lIns="91425" tIns="45700" rIns="91425" bIns="45700" anchor="t" anchorCtr="0">
            <a:spAutoFit/>
          </a:bodyPr>
          <a:lstStyle/>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Rewrite an equivalent expression for each sum using the distributive property with a common factor.</a:t>
            </a:r>
            <a:endParaRPr lang="en-US" sz="1200" dirty="0">
              <a:latin typeface="Calibri" panose="020F0502020204030204" pitchFamily="34" charset="0"/>
              <a:ea typeface="Calibri" panose="020F0502020204030204" pitchFamily="34" charset="0"/>
            </a:endParaRPr>
          </a:p>
        </p:txBody>
      </p:sp>
      <p:sp>
        <p:nvSpPr>
          <p:cNvPr id="444" name="Google Shape;444;p31"/>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7A8010B-CDDF-FF4F-A520-CA0FD1F51B96}"/>
                  </a:ext>
                </a:extLst>
              </p:cNvPr>
              <p:cNvSpPr/>
              <p:nvPr/>
            </p:nvSpPr>
            <p:spPr>
              <a:xfrm>
                <a:off x="3592705" y="2815498"/>
                <a:ext cx="146514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000">
                          <a:latin typeface="Cambria Math" panose="02040503050406030204" pitchFamily="18" charset="0"/>
                        </a:rPr>
                        <m:t>a</m:t>
                      </m:r>
                      <m:r>
                        <a:rPr lang="en-US" sz="2000">
                          <a:latin typeface="Cambria Math" panose="02040503050406030204" pitchFamily="18" charset="0"/>
                        </a:rPr>
                        <m:t>. 51 + 21</m:t>
                      </m:r>
                    </m:oMath>
                  </m:oMathPara>
                </a14:m>
                <a:endParaRPr lang="en-US" sz="2000" dirty="0"/>
              </a:p>
            </p:txBody>
          </p:sp>
        </mc:Choice>
        <mc:Fallback xmlns="">
          <p:sp>
            <p:nvSpPr>
              <p:cNvPr id="2" name="Rectangle 1">
                <a:extLst>
                  <a:ext uri="{FF2B5EF4-FFF2-40B4-BE49-F238E27FC236}">
                    <a16:creationId xmlns:a16="http://schemas.microsoft.com/office/drawing/2014/main" id="{87A8010B-CDDF-FF4F-A520-CA0FD1F51B96}"/>
                  </a:ext>
                </a:extLst>
              </p:cNvPr>
              <p:cNvSpPr>
                <a:spLocks noRot="1" noChangeAspect="1" noMove="1" noResize="1" noEditPoints="1" noAdjustHandles="1" noChangeArrowheads="1" noChangeShapeType="1" noTextEdit="1"/>
              </p:cNvSpPr>
              <p:nvPr/>
            </p:nvSpPr>
            <p:spPr>
              <a:xfrm>
                <a:off x="2068704" y="2815498"/>
                <a:ext cx="1465145" cy="400110"/>
              </a:xfrm>
              <a:prstGeom prst="rect">
                <a:avLst/>
              </a:prstGeom>
              <a:blipFill>
                <a:blip r:embed="rId5"/>
                <a:stretch>
                  <a:fillRect b="-218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FEE73D79-3F79-D84F-A7C8-CC3C30DAC4F4}"/>
                  </a:ext>
                </a:extLst>
              </p:cNvPr>
              <p:cNvSpPr/>
              <p:nvPr/>
            </p:nvSpPr>
            <p:spPr>
              <a:xfrm>
                <a:off x="6529500" y="2818910"/>
                <a:ext cx="162384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000">
                          <a:latin typeface="Cambria Math" panose="02040503050406030204" pitchFamily="18" charset="0"/>
                        </a:rPr>
                        <m:t>b</m:t>
                      </m:r>
                      <m:r>
                        <a:rPr lang="en-US" sz="2000">
                          <a:latin typeface="Cambria Math" panose="02040503050406030204" pitchFamily="18" charset="0"/>
                        </a:rPr>
                        <m:t>. 124 + 20</m:t>
                      </m:r>
                    </m:oMath>
                  </m:oMathPara>
                </a14:m>
                <a:endParaRPr lang="en-US" sz="2000" dirty="0"/>
              </a:p>
            </p:txBody>
          </p:sp>
        </mc:Choice>
        <mc:Fallback xmlns="">
          <p:sp>
            <p:nvSpPr>
              <p:cNvPr id="3" name="Rectangle 2">
                <a:extLst>
                  <a:ext uri="{FF2B5EF4-FFF2-40B4-BE49-F238E27FC236}">
                    <a16:creationId xmlns:a16="http://schemas.microsoft.com/office/drawing/2014/main" id="{FEE73D79-3F79-D84F-A7C8-CC3C30DAC4F4}"/>
                  </a:ext>
                </a:extLst>
              </p:cNvPr>
              <p:cNvSpPr>
                <a:spLocks noRot="1" noChangeAspect="1" noMove="1" noResize="1" noEditPoints="1" noAdjustHandles="1" noChangeArrowheads="1" noChangeShapeType="1" noTextEdit="1"/>
              </p:cNvSpPr>
              <p:nvPr/>
            </p:nvSpPr>
            <p:spPr>
              <a:xfrm>
                <a:off x="5005500" y="2818910"/>
                <a:ext cx="1623842" cy="400110"/>
              </a:xfrm>
              <a:prstGeom prst="rect">
                <a:avLst/>
              </a:prstGeom>
              <a:blipFill>
                <a:blip r:embed="rId6"/>
                <a:stretch>
                  <a:fillRect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9FEEC97-0543-7841-AA40-D8C071D399A6}"/>
                  </a:ext>
                </a:extLst>
              </p:cNvPr>
              <p:cNvSpPr/>
              <p:nvPr/>
            </p:nvSpPr>
            <p:spPr>
              <a:xfrm>
                <a:off x="3592704" y="4519432"/>
                <a:ext cx="1443216" cy="400110"/>
              </a:xfrm>
              <a:prstGeom prst="rect">
                <a:avLst/>
              </a:prstGeom>
            </p:spPr>
            <p:txBody>
              <a:bodyPr wrap="none">
                <a:spAutoFit/>
              </a:bodyPr>
              <a:lstStyle/>
              <a:p>
                <a:r>
                  <a:rPr lang="en-US" sz="2000" dirty="0"/>
                  <a:t>c. </a:t>
                </a:r>
                <a14:m>
                  <m:oMath xmlns:m="http://schemas.openxmlformats.org/officeDocument/2006/math">
                    <m:r>
                      <a:rPr lang="en-US" sz="2000">
                        <a:latin typeface="Cambria Math" panose="02040503050406030204" pitchFamily="18" charset="0"/>
                      </a:rPr>
                      <m:t>72 + 24</m:t>
                    </m:r>
                  </m:oMath>
                </a14:m>
                <a:endParaRPr lang="en-US" sz="2000" dirty="0"/>
              </a:p>
            </p:txBody>
          </p:sp>
        </mc:Choice>
        <mc:Fallback xmlns="">
          <p:sp>
            <p:nvSpPr>
              <p:cNvPr id="4" name="Rectangle 3">
                <a:extLst>
                  <a:ext uri="{FF2B5EF4-FFF2-40B4-BE49-F238E27FC236}">
                    <a16:creationId xmlns:a16="http://schemas.microsoft.com/office/drawing/2014/main" id="{D9FEEC97-0543-7841-AA40-D8C071D399A6}"/>
                  </a:ext>
                </a:extLst>
              </p:cNvPr>
              <p:cNvSpPr>
                <a:spLocks noRot="1" noChangeAspect="1" noMove="1" noResize="1" noEditPoints="1" noAdjustHandles="1" noChangeArrowheads="1" noChangeShapeType="1" noTextEdit="1"/>
              </p:cNvSpPr>
              <p:nvPr/>
            </p:nvSpPr>
            <p:spPr>
              <a:xfrm>
                <a:off x="2068704" y="4519432"/>
                <a:ext cx="1443216" cy="400110"/>
              </a:xfrm>
              <a:prstGeom prst="rect">
                <a:avLst/>
              </a:prstGeom>
              <a:blipFill>
                <a:blip r:embed="rId7"/>
                <a:stretch>
                  <a:fillRect l="-4348" t="-6061" b="-24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FD10ADE-EA2F-2D42-8C42-9CD466DED424}"/>
                  </a:ext>
                </a:extLst>
              </p:cNvPr>
              <p:cNvSpPr/>
              <p:nvPr/>
            </p:nvSpPr>
            <p:spPr>
              <a:xfrm>
                <a:off x="6519631" y="4519432"/>
                <a:ext cx="148277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000">
                          <a:latin typeface="Cambria Math" panose="02040503050406030204" pitchFamily="18" charset="0"/>
                        </a:rPr>
                        <m:t>d</m:t>
                      </m:r>
                      <m:r>
                        <a:rPr lang="en-US" sz="2000">
                          <a:latin typeface="Cambria Math" panose="02040503050406030204" pitchFamily="18" charset="0"/>
                        </a:rPr>
                        <m:t>. 39 + 65</m:t>
                      </m:r>
                    </m:oMath>
                  </m:oMathPara>
                </a14:m>
                <a:endParaRPr lang="en-US" sz="2000" dirty="0"/>
              </a:p>
            </p:txBody>
          </p:sp>
        </mc:Choice>
        <mc:Fallback xmlns="">
          <p:sp>
            <p:nvSpPr>
              <p:cNvPr id="5" name="Rectangle 4">
                <a:extLst>
                  <a:ext uri="{FF2B5EF4-FFF2-40B4-BE49-F238E27FC236}">
                    <a16:creationId xmlns:a16="http://schemas.microsoft.com/office/drawing/2014/main" id="{9FD10ADE-EA2F-2D42-8C42-9CD466DED424}"/>
                  </a:ext>
                </a:extLst>
              </p:cNvPr>
              <p:cNvSpPr>
                <a:spLocks noRot="1" noChangeAspect="1" noMove="1" noResize="1" noEditPoints="1" noAdjustHandles="1" noChangeArrowheads="1" noChangeShapeType="1" noTextEdit="1"/>
              </p:cNvSpPr>
              <p:nvPr/>
            </p:nvSpPr>
            <p:spPr>
              <a:xfrm>
                <a:off x="4995631" y="4519432"/>
                <a:ext cx="1482778" cy="400110"/>
              </a:xfrm>
              <a:prstGeom prst="rect">
                <a:avLst/>
              </a:prstGeom>
              <a:blipFill>
                <a:blip r:embed="rId8"/>
                <a:stretch>
                  <a:fillRect b="-18182"/>
                </a:stretch>
              </a:blipFill>
            </p:spPr>
            <p:txBody>
              <a:bodyPr/>
              <a:lstStyle/>
              <a:p>
                <a:r>
                  <a:rPr lang="en-US">
                    <a:noFill/>
                  </a:rPr>
                  <a:t> </a:t>
                </a:r>
              </a:p>
            </p:txBody>
          </p:sp>
        </mc:Fallback>
      </mc:AlternateContent>
      <p:sp>
        <p:nvSpPr>
          <p:cNvPr id="12"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19</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2" name="Google Shape;452;p32"/>
              <p:cNvSpPr txBox="1"/>
              <p:nvPr/>
            </p:nvSpPr>
            <p:spPr>
              <a:xfrm>
                <a:off x="1048871" y="398474"/>
                <a:ext cx="9210697" cy="750934"/>
              </a:xfrm>
              <a:prstGeom prst="rect">
                <a:avLst/>
              </a:prstGeom>
              <a:noFill/>
              <a:ln>
                <a:noFill/>
              </a:ln>
            </p:spPr>
            <p:txBody>
              <a:bodyPr spcFirstLastPara="1" wrap="square" lIns="91425" tIns="45700" rIns="91425" bIns="45700" anchor="t" anchorCtr="0">
                <a:spAutoFit/>
              </a:bodyPr>
              <a:lstStyle/>
              <a:p>
                <a:pPr marL="346075" lvl="0" indent="-3460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2. Rewrite an equivalent expression for the sum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68 + 34</m:t>
                    </m:r>
                  </m:oMath>
                </a14:m>
                <a:r>
                  <a:rPr lang="en-US" sz="2000" dirty="0">
                    <a:latin typeface="Verdana" panose="020B0604030504040204" pitchFamily="34" charset="0"/>
                    <a:ea typeface="Verdana" panose="020B0604030504040204" pitchFamily="34" charset="0"/>
                    <a:cs typeface="Verdana" panose="020B0604030504040204" pitchFamily="34" charset="0"/>
                  </a:rPr>
                  <a:t> using the distributive property with the </a:t>
                </a:r>
                <a:r>
                  <a:rPr lang="en-US" sz="2000" b="1" dirty="0">
                    <a:latin typeface="Verdana" panose="020B0604030504040204" pitchFamily="34" charset="0"/>
                    <a:ea typeface="Verdana" panose="020B0604030504040204" pitchFamily="34" charset="0"/>
                    <a:cs typeface="Verdana" panose="020B0604030504040204" pitchFamily="34" charset="0"/>
                  </a:rPr>
                  <a:t>greatest common factor</a:t>
                </a:r>
                <a:r>
                  <a:rPr lang="en-US" sz="2000" dirty="0">
                    <a:latin typeface="Verdana" panose="020B0604030504040204" pitchFamily="34" charset="0"/>
                    <a:ea typeface="Verdana" panose="020B0604030504040204" pitchFamily="34" charset="0"/>
                    <a:cs typeface="Verdana" panose="020B0604030504040204" pitchFamily="34" charset="0"/>
                  </a:rPr>
                  <a:t> (GCF).</a:t>
                </a:r>
                <a:endParaRPr lang="en-US" sz="1200" dirty="0">
                  <a:latin typeface="Calibri" panose="020F0502020204030204" pitchFamily="34" charset="0"/>
                  <a:ea typeface="Calibri" panose="020F0502020204030204" pitchFamily="34" charset="0"/>
                </a:endParaRPr>
              </a:p>
            </p:txBody>
          </p:sp>
        </mc:Choice>
        <mc:Fallback xmlns="">
          <p:sp>
            <p:nvSpPr>
              <p:cNvPr id="452" name="Google Shape;452;p32"/>
              <p:cNvSpPr txBox="1">
                <a:spLocks noRot="1" noChangeAspect="1" noMove="1" noResize="1" noEditPoints="1" noAdjustHandles="1" noChangeArrowheads="1" noChangeShapeType="1" noTextEdit="1"/>
              </p:cNvSpPr>
              <p:nvPr/>
            </p:nvSpPr>
            <p:spPr>
              <a:xfrm>
                <a:off x="1048871" y="398474"/>
                <a:ext cx="9210697" cy="750934"/>
              </a:xfrm>
              <a:prstGeom prst="rect">
                <a:avLst/>
              </a:prstGeom>
              <a:blipFill rotWithShape="0">
                <a:blip r:embed="rId3"/>
                <a:stretch>
                  <a:fillRect l="-662" t="-51613" b="-20161"/>
                </a:stretch>
              </a:blipFill>
              <a:ln>
                <a:noFill/>
              </a:ln>
            </p:spPr>
            <p:txBody>
              <a:bodyPr/>
              <a:lstStyle/>
              <a:p>
                <a:r>
                  <a:rPr lang="en-US">
                    <a:noFill/>
                  </a:rPr>
                  <a:t> </a:t>
                </a:r>
              </a:p>
            </p:txBody>
          </p:sp>
        </mc:Fallback>
      </mc:AlternateContent>
      <p:sp>
        <p:nvSpPr>
          <p:cNvPr id="453" name="Google Shape;453;p32"/>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19</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33"/>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62" name="Google Shape;462;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63" name="Google Shape;463;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71" name="Google Shape;471;p34"/>
          <p:cNvSpPr txBox="1"/>
          <p:nvPr/>
        </p:nvSpPr>
        <p:spPr>
          <a:xfrm>
            <a:off x="1378318" y="-37272"/>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1.3.7 Wrap-Up: Ticket Out the Door</a:t>
            </a:r>
            <a:endParaRPr dirty="0"/>
          </a:p>
        </p:txBody>
      </p:sp>
      <p:pic>
        <p:nvPicPr>
          <p:cNvPr id="472" name="Google Shape;472;p34"/>
          <p:cNvPicPr preferRelativeResize="0"/>
          <p:nvPr/>
        </p:nvPicPr>
        <p:blipFill rotWithShape="1">
          <a:blip r:embed="rId3">
            <a:alphaModFix/>
          </a:blip>
          <a:srcRect/>
          <a:stretch/>
        </p:blipFill>
        <p:spPr>
          <a:xfrm>
            <a:off x="548868" y="224758"/>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473" name="Google Shape;473;p34"/>
              <p:cNvSpPr txBox="1"/>
              <p:nvPr/>
            </p:nvSpPr>
            <p:spPr>
              <a:xfrm>
                <a:off x="1378318" y="1441109"/>
                <a:ext cx="8956583" cy="3385502"/>
              </a:xfrm>
              <a:prstGeom prst="rect">
                <a:avLst/>
              </a:prstGeom>
              <a:noFill/>
              <a:ln>
                <a:noFill/>
              </a:ln>
            </p:spPr>
            <p:txBody>
              <a:bodyPr spcFirstLastPara="1" wrap="square" lIns="91425" tIns="45700" rIns="91425" bIns="45700" anchor="t" anchorCtr="0">
                <a:spAutoFit/>
              </a:bodyPr>
              <a:lstStyle/>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Rewrite an equivalent expression for the sum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75 + 30</m:t>
                    </m:r>
                  </m:oMath>
                </a14:m>
                <a:r>
                  <a:rPr lang="en-US" sz="2000" dirty="0">
                    <a:latin typeface="Verdana" panose="020B0604030504040204" pitchFamily="34" charset="0"/>
                    <a:ea typeface="Verdana" panose="020B0604030504040204" pitchFamily="34" charset="0"/>
                    <a:cs typeface="Verdana" panose="020B0604030504040204" pitchFamily="34" charset="0"/>
                  </a:rPr>
                  <a:t> in two different ways using the distributive property and a common factor.</a:t>
                </a: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equation with the missing values that make the equation true.</a:t>
                </a: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73" name="Google Shape;473;p34"/>
              <p:cNvSpPr txBox="1">
                <a:spLocks noRot="1" noChangeAspect="1" noMove="1" noResize="1" noEditPoints="1" noAdjustHandles="1" noChangeArrowheads="1" noChangeShapeType="1" noTextEdit="1"/>
              </p:cNvSpPr>
              <p:nvPr/>
            </p:nvSpPr>
            <p:spPr>
              <a:xfrm>
                <a:off x="1378318" y="1441109"/>
                <a:ext cx="8956583" cy="3385502"/>
              </a:xfrm>
              <a:prstGeom prst="rect">
                <a:avLst/>
              </a:prstGeom>
              <a:blipFill rotWithShape="0">
                <a:blip r:embed="rId4"/>
                <a:stretch>
                  <a:fillRect l="-749" t="-11511"/>
                </a:stretch>
              </a:blipFill>
              <a:ln>
                <a:noFill/>
              </a:ln>
            </p:spPr>
            <p:txBody>
              <a:bodyPr/>
              <a:lstStyle/>
              <a:p>
                <a:r>
                  <a:rPr lang="en-US">
                    <a:noFill/>
                  </a:rPr>
                  <a:t> </a:t>
                </a:r>
              </a:p>
            </p:txBody>
          </p:sp>
        </mc:Fallback>
      </mc:AlternateContent>
      <p:sp>
        <p:nvSpPr>
          <p:cNvPr id="474" name="Google Shape;474;p34"/>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4C690F53-1BAB-504D-93E6-D37ECF56CB86}"/>
                  </a:ext>
                </a:extLst>
              </p:cNvPr>
              <p:cNvSpPr/>
              <p:nvPr/>
            </p:nvSpPr>
            <p:spPr>
              <a:xfrm>
                <a:off x="4672429" y="4913440"/>
                <a:ext cx="299780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49+35=</m:t>
                      </m:r>
                      <m:r>
                        <m:rPr>
                          <m:lit/>
                        </m:rPr>
                        <a:rPr lang="en-US" sz="2000">
                          <a:latin typeface="Cambria Math" panose="02040503050406030204" pitchFamily="18" charset="0"/>
                        </a:rPr>
                        <m:t>____</m:t>
                      </m:r>
                      <m:r>
                        <a:rPr lang="en-US" sz="2000">
                          <a:latin typeface="Cambria Math" panose="02040503050406030204" pitchFamily="18" charset="0"/>
                        </a:rPr>
                        <m:t> </m:t>
                      </m:r>
                      <m:d>
                        <m:dPr>
                          <m:ctrlPr>
                            <a:rPr lang="en-US" sz="2000" i="1">
                              <a:latin typeface="Cambria Math" panose="02040503050406030204" pitchFamily="18" charset="0"/>
                            </a:rPr>
                          </m:ctrlPr>
                        </m:dPr>
                        <m:e>
                          <m:r>
                            <a:rPr lang="en-US" sz="2000">
                              <a:latin typeface="Cambria Math" panose="02040503050406030204" pitchFamily="18" charset="0"/>
                            </a:rPr>
                            <m:t>7+</m:t>
                          </m:r>
                          <m:r>
                            <m:rPr>
                              <m:lit/>
                            </m:rPr>
                            <a:rPr lang="en-US" sz="2000">
                              <a:latin typeface="Cambria Math" panose="02040503050406030204" pitchFamily="18" charset="0"/>
                            </a:rPr>
                            <m:t>____</m:t>
                          </m:r>
                          <m:r>
                            <a:rPr lang="en-US" sz="2000">
                              <a:latin typeface="Cambria Math" panose="02040503050406030204" pitchFamily="18" charset="0"/>
                            </a:rPr>
                            <m:t> </m:t>
                          </m:r>
                        </m:e>
                      </m:d>
                    </m:oMath>
                  </m:oMathPara>
                </a14:m>
                <a:endParaRPr lang="en-US" sz="2000" dirty="0"/>
              </a:p>
            </p:txBody>
          </p:sp>
        </mc:Choice>
        <mc:Fallback xmlns="">
          <p:sp>
            <p:nvSpPr>
              <p:cNvPr id="2" name="Rectangle 1">
                <a:extLst>
                  <a:ext uri="{FF2B5EF4-FFF2-40B4-BE49-F238E27FC236}">
                    <a16:creationId xmlns:a16="http://schemas.microsoft.com/office/drawing/2014/main" id="{4C690F53-1BAB-504D-93E6-D37ECF56CB86}"/>
                  </a:ext>
                </a:extLst>
              </p:cNvPr>
              <p:cNvSpPr>
                <a:spLocks noRot="1" noChangeAspect="1" noMove="1" noResize="1" noEditPoints="1" noAdjustHandles="1" noChangeArrowheads="1" noChangeShapeType="1" noTextEdit="1"/>
              </p:cNvSpPr>
              <p:nvPr/>
            </p:nvSpPr>
            <p:spPr>
              <a:xfrm>
                <a:off x="3148429" y="4913440"/>
                <a:ext cx="2997808" cy="400110"/>
              </a:xfrm>
              <a:prstGeom prst="rect">
                <a:avLst/>
              </a:prstGeom>
              <a:blipFill>
                <a:blip r:embed="rId6"/>
                <a:stretch>
                  <a:fillRect b="-18182"/>
                </a:stretch>
              </a:blipFill>
            </p:spPr>
            <p:txBody>
              <a:bodyPr/>
              <a:lstStyle/>
              <a:p>
                <a:r>
                  <a:rPr lang="en-US">
                    <a:noFill/>
                  </a:rPr>
                  <a:t> </a:t>
                </a:r>
              </a:p>
            </p:txBody>
          </p:sp>
        </mc:Fallback>
      </mc:AlternateContent>
      <p:sp>
        <p:nvSpPr>
          <p:cNvPr id="9" name="Google Shape;125;g104476d1465_1_17"/>
          <p:cNvSpPr txBox="1"/>
          <p:nvPr/>
        </p:nvSpPr>
        <p:spPr>
          <a:xfrm>
            <a:off x="876703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19</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505259"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1231</Words>
  <Application>Microsoft Office PowerPoint</Application>
  <PresentationFormat>Widescreen</PresentationFormat>
  <Paragraphs>189</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Black</vt:lpstr>
      <vt:lpstr>Calibri</vt:lpstr>
      <vt:lpstr>Cambria Math</vt:lpstr>
      <vt:lpstr>Century Gothic</vt:lpstr>
      <vt:lpstr>Verdana</vt:lpstr>
      <vt:lpstr>1_Office Theme</vt:lpstr>
      <vt:lpstr>6th Grade Accelerated Math  Unit 1, Lesson 3  Rewriting Expressions Using the Distributive Property  Volume 1, pg. 14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1, Lesson 3  Rewriting Expressions Using the Distributive Property  Volume 1, pg. 14  </dc:title>
  <dc:creator>Karen McKenzie</dc:creator>
  <cp:lastModifiedBy>Cassie O'Connor</cp:lastModifiedBy>
  <cp:revision>7</cp:revision>
  <cp:lastPrinted>2022-02-08T20:27:47Z</cp:lastPrinted>
  <dcterms:created xsi:type="dcterms:W3CDTF">2015-03-17T18:51:18Z</dcterms:created>
  <dcterms:modified xsi:type="dcterms:W3CDTF">2022-07-25T02:47:40Z</dcterms:modified>
</cp:coreProperties>
</file>