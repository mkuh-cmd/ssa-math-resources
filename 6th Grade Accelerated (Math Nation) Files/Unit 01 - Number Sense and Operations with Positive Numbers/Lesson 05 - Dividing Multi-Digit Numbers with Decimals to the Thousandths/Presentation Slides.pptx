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gT2lhJCKf4h/yPhpdLYTvBc2Mr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880"/>
    <p:restoredTop sz="94663"/>
  </p:normalViewPr>
  <p:slideViewPr>
    <p:cSldViewPr snapToGrid="0">
      <p:cViewPr varScale="1">
        <p:scale>
          <a:sx n="79" d="100"/>
          <a:sy n="79" d="100"/>
        </p:scale>
        <p:origin x="142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0e16f50584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10e16f50584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g10e16f50584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br>
              <a:rPr lang="en-US" sz="3800" b="1">
                <a:solidFill>
                  <a:srgbClr val="417DBF"/>
                </a:solidFill>
                <a:latin typeface="Verdana"/>
                <a:ea typeface="Verdana"/>
                <a:cs typeface="Verdana"/>
                <a:sym typeface="Verdana"/>
              </a:rPr>
            </a:b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1, Lesson 5</a:t>
            </a:r>
            <a:br>
              <a:rPr lang="en-US" sz="3800" b="1">
                <a:solidFill>
                  <a:srgbClr val="417DBF"/>
                </a:solidFill>
                <a:latin typeface="Verdana"/>
                <a:ea typeface="Verdana"/>
                <a:cs typeface="Verdana"/>
                <a:sym typeface="Verdana"/>
              </a:rPr>
            </a:br>
            <a:br>
              <a:rPr lang="en-US" b="1" i="0" u="none" strike="noStrike" cap="none">
                <a:solidFill>
                  <a:srgbClr val="417DBF"/>
                </a:solidFill>
                <a:latin typeface="Verdana"/>
                <a:ea typeface="Verdana"/>
                <a:cs typeface="Verdana"/>
                <a:sym typeface="Verdana"/>
              </a:rPr>
            </a:br>
            <a:r>
              <a:rPr lang="en-US" b="1">
                <a:solidFill>
                  <a:srgbClr val="417DBF"/>
                </a:solidFill>
                <a:latin typeface="Verdana"/>
                <a:ea typeface="Verdana"/>
                <a:cs typeface="Verdana"/>
                <a:sym typeface="Verdana"/>
              </a:rPr>
              <a:t>Dividing Multi-Digit Numbers with Decimals to the Thousandths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26</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25912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1767750" y="372300"/>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26</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981200" y="1600200"/>
            <a:ext cx="8229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a:solidFill>
                  <a:schemeClr val="dk1"/>
                </a:solidFill>
                <a:latin typeface="Verdana"/>
                <a:ea typeface="Verdana"/>
                <a:cs typeface="Verdana"/>
                <a:sym typeface="Verdana"/>
              </a:rPr>
              <a:t>MA.6.NSO.2.1</a:t>
            </a:r>
            <a:endParaRPr sz="350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800">
                <a:solidFill>
                  <a:schemeClr val="dk1"/>
                </a:solidFill>
                <a:latin typeface="Verdana"/>
                <a:ea typeface="Verdana"/>
                <a:cs typeface="Verdana"/>
                <a:sym typeface="Verdana"/>
              </a:rPr>
              <a:t>Multiply and divide positive multi-digit numbers with decimals to the thousandths, including using a standard algorithm with procedural fluency.</a:t>
            </a:r>
            <a:endParaRPr>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64750" y="385000"/>
            <a:ext cx="747300" cy="747300"/>
          </a:xfrm>
          <a:prstGeom prst="rect">
            <a:avLst/>
          </a:prstGeom>
          <a:noFill/>
          <a:ln>
            <a:noFill/>
          </a:ln>
          <a:effectLst>
            <a:outerShdw blurRad="57150" dist="19050" dir="5400000" algn="bl" rotWithShape="0">
              <a:srgbClr val="000000">
                <a:alpha val="49411"/>
              </a:srgbClr>
            </a:outerShdw>
          </a:effectLst>
        </p:spPr>
      </p:pic>
      <p:sp>
        <p:nvSpPr>
          <p:cNvPr id="135" name="Google Shape;135;p1"/>
          <p:cNvSpPr txBox="1"/>
          <p:nvPr/>
        </p:nvSpPr>
        <p:spPr>
          <a:xfrm>
            <a:off x="1489400" y="1423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00200" y="1596390"/>
            <a:ext cx="8610660" cy="4205700"/>
          </a:xfrm>
          <a:prstGeom prst="rect">
            <a:avLst/>
          </a:prstGeom>
          <a:noFill/>
          <a:ln>
            <a:noFill/>
          </a:ln>
        </p:spPr>
        <p:txBody>
          <a:bodyPr spcFirstLastPara="1" wrap="square" lIns="91425" tIns="45700" rIns="91425" bIns="45700" anchor="t" anchorCtr="0">
            <a:noAutofit/>
          </a:bodyPr>
          <a:lstStyle/>
          <a:p>
            <a:pPr>
              <a:buSzPts val="1800"/>
            </a:pPr>
            <a:endParaRPr sz="2100" dirty="0"/>
          </a:p>
          <a:p>
            <a:pPr marL="457200">
              <a:buSzPts val="1800"/>
            </a:pPr>
            <a:endParaRPr sz="3000" dirty="0">
              <a:solidFill>
                <a:schemeClr val="dk1"/>
              </a:solidFill>
              <a:latin typeface="Verdana"/>
              <a:ea typeface="Verdana"/>
              <a:cs typeface="Verdana"/>
              <a:sym typeface="Verdana"/>
            </a:endParaRPr>
          </a:p>
          <a:p>
            <a:pPr>
              <a:buSzPts val="1800"/>
            </a:pPr>
            <a:r>
              <a:rPr lang="en-US" sz="2800" dirty="0">
                <a:solidFill>
                  <a:schemeClr val="dk1"/>
                </a:solidFill>
                <a:latin typeface="Verdana"/>
                <a:ea typeface="Verdana"/>
                <a:cs typeface="Verdana"/>
                <a:sym typeface="Verdana"/>
              </a:rPr>
              <a:t>MA.K12.MTR.3.1 Complete tasks with mathematical fluency.</a:t>
            </a:r>
            <a:endParaRPr sz="2400" dirty="0"/>
          </a:p>
          <a:p>
            <a:pPr>
              <a:buSzPts val="1800"/>
            </a:pPr>
            <a:endParaRPr sz="2400" dirty="0"/>
          </a:p>
          <a:p>
            <a:pPr marL="457200">
              <a:buSzPts val="1800"/>
            </a:pPr>
            <a:endParaRPr sz="2800" dirty="0">
              <a:solidFill>
                <a:schemeClr val="dk1"/>
              </a:solidFill>
              <a:latin typeface="Verdana"/>
              <a:ea typeface="Verdana"/>
              <a:cs typeface="Verdana"/>
              <a:sym typeface="Verdana"/>
            </a:endParaRPr>
          </a:p>
          <a:p>
            <a:pPr>
              <a:buSzPts val="1800"/>
            </a:pPr>
            <a:r>
              <a:rPr lang="en-US" sz="2800" dirty="0">
                <a:solidFill>
                  <a:schemeClr val="dk1"/>
                </a:solidFill>
                <a:latin typeface="Verdana"/>
                <a:ea typeface="Verdana"/>
                <a:cs typeface="Verdana"/>
                <a:sym typeface="Verdana"/>
              </a:rPr>
              <a:t>MA.K12.MTR.5.1 Use patterns and structure to help understand and connect mathematical concepts.</a:t>
            </a:r>
            <a:endParaRPr sz="2400" dirty="0"/>
          </a:p>
          <a:p>
            <a:pPr>
              <a:buSzPts val="1800"/>
            </a:pPr>
            <a:endParaRPr sz="1800" dirty="0">
              <a:solidFill>
                <a:schemeClr val="dk1"/>
              </a:solidFill>
              <a:latin typeface="Verdana"/>
              <a:ea typeface="Verdana"/>
              <a:cs typeface="Verdana"/>
              <a:sym typeface="Verdana"/>
            </a:endParaRPr>
          </a:p>
          <a:p>
            <a:pPr>
              <a:buSzPts val="1800"/>
            </a:pPr>
            <a:endParaRPr dirty="0"/>
          </a:p>
          <a:p>
            <a:pPr>
              <a:buSzPts val="1800"/>
            </a:pPr>
            <a:endParaRPr sz="1800" dirty="0">
              <a:solidFill>
                <a:schemeClr val="dk1"/>
              </a:solidFill>
              <a:latin typeface="Verdana"/>
              <a:ea typeface="Verdana"/>
              <a:cs typeface="Verdana"/>
              <a:sym typeface="Verdana"/>
            </a:endParaRPr>
          </a:p>
          <a:p>
            <a:pPr>
              <a:buSzPts val="1800"/>
            </a:pPr>
            <a:endParaRPr sz="1800" dirty="0">
              <a:solidFill>
                <a:schemeClr val="dk1"/>
              </a:solidFill>
              <a:latin typeface="Verdana"/>
              <a:ea typeface="Verdana"/>
              <a:cs typeface="Verdana"/>
              <a:sym typeface="Verdana"/>
            </a:endParaRPr>
          </a:p>
        </p:txBody>
      </p:sp>
      <p:sp>
        <p:nvSpPr>
          <p:cNvPr id="138" name="Google Shape;138;p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26</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01169"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6" name="Google Shape;146;p2"/>
          <p:cNvPicPr preferRelativeResize="0"/>
          <p:nvPr/>
        </p:nvPicPr>
        <p:blipFill rotWithShape="1">
          <a:blip r:embed="rId3">
            <a:alphaModFix/>
          </a:blip>
          <a:srcRect/>
          <a:stretch/>
        </p:blipFill>
        <p:spPr>
          <a:xfrm>
            <a:off x="719007"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501169" y="1600200"/>
            <a:ext cx="8709631" cy="4205700"/>
          </a:xfrm>
          <a:prstGeom prst="rect">
            <a:avLst/>
          </a:prstGeom>
          <a:noFill/>
          <a:ln>
            <a:noFill/>
          </a:ln>
        </p:spPr>
        <p:txBody>
          <a:bodyPr spcFirstLastPara="1" wrap="square" lIns="91425" tIns="45700" rIns="91425" bIns="45700" anchor="t" anchorCtr="0">
            <a:noAutofit/>
          </a:bodyPr>
          <a:lstStyle/>
          <a:p>
            <a:pPr marL="457200" indent="-431800">
              <a:buClr>
                <a:srgbClr val="434343"/>
              </a:buClr>
              <a:buSzPts val="3200"/>
              <a:buFont typeface="Verdana"/>
              <a:buChar char="❏"/>
            </a:pPr>
            <a:r>
              <a:rPr lang="en-US" sz="3200">
                <a:solidFill>
                  <a:schemeClr val="dk1"/>
                </a:solidFill>
                <a:latin typeface="Verdana"/>
                <a:ea typeface="Verdana"/>
                <a:cs typeface="Verdana"/>
                <a:sym typeface="Verdana"/>
              </a:rPr>
              <a:t>I can fluently divide multi-digit numbers with decimals to the thousandths.</a:t>
            </a:r>
            <a:endParaRPr sz="1100"/>
          </a:p>
          <a:p>
            <a:pPr marL="457200"/>
            <a:endParaRPr dirty="0"/>
          </a:p>
        </p:txBody>
      </p:sp>
      <p:sp>
        <p:nvSpPr>
          <p:cNvPr id="149" name="Google Shape;149;p2"/>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26</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26</a:t>
            </a:r>
            <a:endParaRPr i="1">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287950" y="10587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1.5.1 Warm-Up: Quotients as Decimals</a:t>
            </a:r>
            <a:endParaRPr/>
          </a:p>
        </p:txBody>
      </p:sp>
      <p:pic>
        <p:nvPicPr>
          <p:cNvPr id="167" name="Google Shape;167;p4"/>
          <p:cNvPicPr preferRelativeResize="0"/>
          <p:nvPr/>
        </p:nvPicPr>
        <p:blipFill rotWithShape="1">
          <a:blip r:embed="rId3">
            <a:alphaModFix/>
          </a:blip>
          <a:srcRect/>
          <a:stretch/>
        </p:blipFill>
        <p:spPr>
          <a:xfrm>
            <a:off x="540650" y="243031"/>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287950" y="1386025"/>
            <a:ext cx="9099598" cy="430800"/>
          </a:xfrm>
          <a:prstGeom prst="rect">
            <a:avLst/>
          </a:prstGeom>
          <a:noFill/>
          <a:ln>
            <a:noFill/>
          </a:ln>
        </p:spPr>
        <p:txBody>
          <a:bodyPr spcFirstLastPara="1" wrap="square" lIns="91425" tIns="45700" rIns="91425" bIns="45700" anchor="t" anchorCtr="0">
            <a:spAutoFit/>
          </a:bodyPr>
          <a:lstStyle/>
          <a:p>
            <a:pPr>
              <a:buSzPts val="2400"/>
            </a:pPr>
            <a:r>
              <a:rPr lang="en-US" sz="2200">
                <a:latin typeface="Verdana"/>
                <a:ea typeface="Verdana"/>
                <a:cs typeface="Verdana"/>
                <a:sym typeface="Verdana"/>
              </a:rPr>
              <a:t>The quotients of several division expressions are shown.</a:t>
            </a:r>
            <a:endParaRPr sz="2100"/>
          </a:p>
        </p:txBody>
      </p:sp>
      <p:sp>
        <p:nvSpPr>
          <p:cNvPr id="170" name="Google Shape;170;p4"/>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71" name="Google Shape;171;p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3405936" y="1816825"/>
            <a:ext cx="5380126" cy="1363300"/>
          </a:xfrm>
          <a:prstGeom prst="rect">
            <a:avLst/>
          </a:prstGeom>
          <a:noFill/>
          <a:ln>
            <a:noFill/>
          </a:ln>
        </p:spPr>
      </p:pic>
      <p:sp>
        <p:nvSpPr>
          <p:cNvPr id="172" name="Google Shape;172;p4"/>
          <p:cNvSpPr txBox="1"/>
          <p:nvPr/>
        </p:nvSpPr>
        <p:spPr>
          <a:xfrm>
            <a:off x="1287950" y="3393113"/>
            <a:ext cx="9099600" cy="800400"/>
          </a:xfrm>
          <a:prstGeom prst="rect">
            <a:avLst/>
          </a:prstGeom>
          <a:noFill/>
          <a:ln>
            <a:noFill/>
          </a:ln>
        </p:spPr>
        <p:txBody>
          <a:bodyPr spcFirstLastPara="1" wrap="square" lIns="91425" tIns="91425" rIns="91425" bIns="91425" anchor="t" anchorCtr="0">
            <a:spAutoFit/>
          </a:bodyPr>
          <a:lstStyle/>
          <a:p>
            <a:pPr marL="457200" indent="-355600">
              <a:buSzPts val="2000"/>
              <a:buFont typeface="Verdana"/>
              <a:buAutoNum type="arabicPeriod"/>
            </a:pPr>
            <a:r>
              <a:rPr lang="en-US" sz="2000">
                <a:latin typeface="Verdana"/>
                <a:ea typeface="Verdana"/>
                <a:cs typeface="Verdana"/>
                <a:sym typeface="Verdana"/>
              </a:rPr>
              <a:t>Write something you notice about the values of the quotients and something you still wonder.</a:t>
            </a:r>
            <a:endParaRPr sz="2000">
              <a:latin typeface="Verdana"/>
              <a:ea typeface="Verdana"/>
              <a:cs typeface="Verdana"/>
              <a:sym typeface="Verdana"/>
            </a:endParaRPr>
          </a:p>
        </p:txBody>
      </p:sp>
      <p:pic>
        <p:nvPicPr>
          <p:cNvPr id="173" name="Google Shape;173;p4"/>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3901863" y="4119351"/>
            <a:ext cx="4388274" cy="2514949"/>
          </a:xfrm>
          <a:prstGeom prst="rect">
            <a:avLst/>
          </a:prstGeom>
          <a:noFill/>
          <a:ln>
            <a:noFill/>
          </a:ln>
        </p:spPr>
      </p:pic>
      <p:sp>
        <p:nvSpPr>
          <p:cNvPr id="11"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26</a:t>
            </a:r>
            <a:endParaRPr i="1">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4"/>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1" name="Google Shape;181;p24"/>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54B5D1"/>
                </a:solidFill>
                <a:latin typeface="Verdana"/>
                <a:ea typeface="Verdana"/>
                <a:cs typeface="Verdana"/>
                <a:sym typeface="Verdana"/>
              </a:rPr>
              <a:t>Refresher</a:t>
            </a:r>
            <a:endParaRPr sz="5100" b="1">
              <a:solidFill>
                <a:srgbClr val="54B5D1"/>
              </a:solidFill>
              <a:latin typeface="Verdana"/>
              <a:ea typeface="Verdana"/>
              <a:cs typeface="Verdana"/>
              <a:sym typeface="Verdana"/>
            </a:endParaRPr>
          </a:p>
        </p:txBody>
      </p:sp>
      <p:pic>
        <p:nvPicPr>
          <p:cNvPr id="183" name="Google Shape;183;p24" descr="Icon&#10;&#10;Description automatically generated"/>
          <p:cNvPicPr preferRelativeResize="0"/>
          <p:nvPr/>
        </p:nvPicPr>
        <p:blipFill rotWithShape="1">
          <a:blip r:embed="rId3">
            <a:alphaModFix/>
          </a:blip>
          <a:srcRect/>
          <a:stretch/>
        </p:blipFill>
        <p:spPr>
          <a:xfrm>
            <a:off x="4492434" y="279196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25"/>
          <p:cNvSpPr txBox="1"/>
          <p:nvPr/>
        </p:nvSpPr>
        <p:spPr>
          <a:xfrm>
            <a:off x="1326050" y="21148"/>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54B5D1"/>
                </a:solidFill>
                <a:latin typeface="Verdana"/>
                <a:ea typeface="Verdana"/>
                <a:cs typeface="Verdana"/>
                <a:sym typeface="Verdana"/>
              </a:rPr>
              <a:t>1.5.2 Refresher: Long Division</a:t>
            </a:r>
            <a:endParaRPr/>
          </a:p>
        </p:txBody>
      </p:sp>
      <p:pic>
        <p:nvPicPr>
          <p:cNvPr id="192" name="Google Shape;192;p2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36421" y="235942"/>
            <a:ext cx="749808" cy="749808"/>
          </a:xfrm>
          <a:prstGeom prst="rect">
            <a:avLst/>
          </a:prstGeom>
          <a:noFill/>
          <a:ln>
            <a:noFill/>
          </a:ln>
          <a:effectLst>
            <a:outerShdw blurRad="50800" dist="38100" dir="2700000" algn="tl" rotWithShape="0">
              <a:srgbClr val="000000">
                <a:alpha val="40000"/>
              </a:srgbClr>
            </a:outerShdw>
          </a:effectLst>
        </p:spPr>
      </p:pic>
      <p:sp>
        <p:nvSpPr>
          <p:cNvPr id="193" name="Google Shape;193;p25"/>
          <p:cNvSpPr txBox="1"/>
          <p:nvPr/>
        </p:nvSpPr>
        <p:spPr>
          <a:xfrm>
            <a:off x="1326050" y="1386025"/>
            <a:ext cx="9061498" cy="1015800"/>
          </a:xfrm>
          <a:prstGeom prst="rect">
            <a:avLst/>
          </a:prstGeom>
          <a:noFill/>
          <a:ln>
            <a:noFill/>
          </a:ln>
        </p:spPr>
        <p:txBody>
          <a:bodyPr spcFirstLastPara="1" wrap="square" lIns="91425" tIns="45700" rIns="91425" bIns="45700" anchor="t" anchorCtr="0">
            <a:spAutoFit/>
          </a:bodyPr>
          <a:lstStyle/>
          <a:p>
            <a:pPr indent="457200">
              <a:buSzPts val="2400"/>
            </a:pPr>
            <a:r>
              <a:rPr lang="en-US" sz="2000" dirty="0">
                <a:latin typeface="Verdana"/>
                <a:ea typeface="Verdana"/>
                <a:cs typeface="Verdana"/>
                <a:sym typeface="Verdana"/>
              </a:rPr>
              <a:t>Jiang was dividing using long division and got stuck.</a:t>
            </a:r>
            <a:endParaRPr sz="2000" dirty="0">
              <a:latin typeface="Verdana"/>
              <a:ea typeface="Verdana"/>
              <a:cs typeface="Verdana"/>
              <a:sym typeface="Verdana"/>
            </a:endParaRPr>
          </a:p>
          <a:p>
            <a:endParaRPr sz="2000" dirty="0">
              <a:latin typeface="Verdana"/>
              <a:ea typeface="Verdana"/>
              <a:cs typeface="Verdana"/>
              <a:sym typeface="Verdana"/>
            </a:endParaRPr>
          </a:p>
          <a:p>
            <a:pPr marL="457200" indent="-355600">
              <a:buSzPts val="2000"/>
              <a:buFont typeface="Verdana"/>
              <a:buAutoNum type="arabicPeriod"/>
            </a:pPr>
            <a:r>
              <a:rPr lang="en-US" sz="2000" dirty="0">
                <a:latin typeface="Verdana"/>
                <a:ea typeface="Verdana"/>
                <a:cs typeface="Verdana"/>
                <a:sym typeface="Verdana"/>
              </a:rPr>
              <a:t>Complete the problem to show Jiang the missing steps. </a:t>
            </a:r>
            <a:endParaRPr sz="1000" dirty="0"/>
          </a:p>
        </p:txBody>
      </p:sp>
      <p:sp>
        <p:nvSpPr>
          <p:cNvPr id="194" name="Google Shape;194;p25"/>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95" name="Google Shape;195;p25"/>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4778999" y="2401825"/>
            <a:ext cx="2634000" cy="3253072"/>
          </a:xfrm>
          <a:prstGeom prst="rect">
            <a:avLst/>
          </a:prstGeom>
          <a:noFill/>
          <a:ln>
            <a:noFill/>
          </a:ln>
        </p:spPr>
      </p:pic>
      <p:sp>
        <p:nvSpPr>
          <p:cNvPr id="196" name="Google Shape;196;p25"/>
          <p:cNvSpPr txBox="1"/>
          <p:nvPr/>
        </p:nvSpPr>
        <p:spPr>
          <a:xfrm>
            <a:off x="1587500" y="5349475"/>
            <a:ext cx="8970150" cy="1108200"/>
          </a:xfrm>
          <a:prstGeom prst="rect">
            <a:avLst/>
          </a:prstGeom>
          <a:noFill/>
          <a:ln>
            <a:noFill/>
          </a:ln>
        </p:spPr>
        <p:txBody>
          <a:bodyPr spcFirstLastPara="1" wrap="square" lIns="91425" tIns="91425" rIns="91425" bIns="91425" anchor="t" anchorCtr="0">
            <a:spAutoFit/>
          </a:bodyPr>
          <a:lstStyle/>
          <a:p>
            <a:endParaRPr sz="2000" dirty="0">
              <a:solidFill>
                <a:schemeClr val="dk1"/>
              </a:solidFill>
              <a:latin typeface="Verdana"/>
              <a:ea typeface="Verdana"/>
              <a:cs typeface="Verdana"/>
              <a:sym typeface="Verdana"/>
            </a:endParaRPr>
          </a:p>
          <a:p>
            <a:pPr marL="350838" indent="-350838"/>
            <a:r>
              <a:rPr lang="en-US" sz="2000" dirty="0">
                <a:solidFill>
                  <a:schemeClr val="dk1"/>
                </a:solidFill>
                <a:latin typeface="Verdana"/>
                <a:ea typeface="Verdana"/>
                <a:cs typeface="Verdana"/>
                <a:sym typeface="Verdana"/>
              </a:rPr>
              <a:t>2. What advice about long division do you have that could help Jiang in the future? </a:t>
            </a:r>
            <a:endParaRPr sz="2000" dirty="0"/>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p:nvPr/>
        </p:nvSpPr>
        <p:spPr>
          <a:xfrm>
            <a:off x="0" y="-8101"/>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04" name="Google Shape;204;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06" name="Google Shape;206;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3" name="Google Shape;213;p10"/>
          <p:cNvSpPr txBox="1"/>
          <p:nvPr/>
        </p:nvSpPr>
        <p:spPr>
          <a:xfrm>
            <a:off x="1300650" y="6032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1.5.3 Exploration: Dividing Decimals</a:t>
            </a:r>
            <a:endParaRPr/>
          </a:p>
        </p:txBody>
      </p:sp>
      <p:pic>
        <p:nvPicPr>
          <p:cNvPr id="215" name="Google Shape;215;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44352" y="308452"/>
            <a:ext cx="752254" cy="752254"/>
          </a:xfrm>
          <a:prstGeom prst="rect">
            <a:avLst/>
          </a:prstGeom>
          <a:noFill/>
          <a:ln>
            <a:noFill/>
          </a:ln>
          <a:effectLst>
            <a:outerShdw blurRad="50800" dist="38100" dir="2700000" algn="tl" rotWithShape="0">
              <a:srgbClr val="000000">
                <a:alpha val="40000"/>
              </a:srgbClr>
            </a:outerShdw>
          </a:effectLst>
        </p:spPr>
      </p:pic>
      <p:sp>
        <p:nvSpPr>
          <p:cNvPr id="216" name="Google Shape;216;p10"/>
          <p:cNvSpPr txBox="1"/>
          <p:nvPr/>
        </p:nvSpPr>
        <p:spPr>
          <a:xfrm>
            <a:off x="1296606" y="1278248"/>
            <a:ext cx="8962944" cy="707846"/>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Giovanny and Alina used different strategies to find the quotient of 48.78 ÷ 9.</a:t>
            </a:r>
            <a:endParaRPr sz="2000" dirty="0"/>
          </a:p>
        </p:txBody>
      </p:sp>
      <p:sp>
        <p:nvSpPr>
          <p:cNvPr id="217" name="Google Shape;217;p10"/>
          <p:cNvSpPr/>
          <p:nvPr/>
        </p:nvSpPr>
        <p:spPr>
          <a:xfrm>
            <a:off x="-12487"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18" name="Google Shape;218;p10"/>
          <p:cNvSpPr txBox="1"/>
          <p:nvPr/>
        </p:nvSpPr>
        <p:spPr>
          <a:xfrm>
            <a:off x="5504755" y="1717264"/>
            <a:ext cx="1761300" cy="354000"/>
          </a:xfrm>
          <a:prstGeom prst="rect">
            <a:avLst/>
          </a:prstGeom>
          <a:noFill/>
          <a:ln>
            <a:noFill/>
          </a:ln>
        </p:spPr>
        <p:txBody>
          <a:bodyPr spcFirstLastPara="1" wrap="square" lIns="91425" tIns="91425" rIns="91425" bIns="91425" anchor="t" anchorCtr="0">
            <a:spAutoFit/>
          </a:bodyPr>
          <a:lstStyle/>
          <a:p>
            <a:r>
              <a:rPr lang="en-US" sz="1100" dirty="0">
                <a:latin typeface="Verdana"/>
                <a:ea typeface="Verdana"/>
                <a:cs typeface="Verdana"/>
                <a:sym typeface="Verdana"/>
              </a:rPr>
              <a:t>Giovanny’s Strategy</a:t>
            </a:r>
            <a:endParaRPr sz="1100" dirty="0">
              <a:latin typeface="Verdana"/>
              <a:ea typeface="Verdana"/>
              <a:cs typeface="Verdana"/>
              <a:sym typeface="Verdana"/>
            </a:endParaRPr>
          </a:p>
        </p:txBody>
      </p:sp>
      <p:sp>
        <p:nvSpPr>
          <p:cNvPr id="219" name="Google Shape;219;p10"/>
          <p:cNvSpPr txBox="1"/>
          <p:nvPr/>
        </p:nvSpPr>
        <p:spPr>
          <a:xfrm>
            <a:off x="7500445" y="1721289"/>
            <a:ext cx="1374000" cy="354000"/>
          </a:xfrm>
          <a:prstGeom prst="rect">
            <a:avLst/>
          </a:prstGeom>
          <a:noFill/>
          <a:ln>
            <a:noFill/>
          </a:ln>
        </p:spPr>
        <p:txBody>
          <a:bodyPr spcFirstLastPara="1" wrap="square" lIns="91425" tIns="91425" rIns="91425" bIns="91425" anchor="t" anchorCtr="0">
            <a:spAutoFit/>
          </a:bodyPr>
          <a:lstStyle/>
          <a:p>
            <a:r>
              <a:rPr lang="en-US" sz="1100" dirty="0">
                <a:latin typeface="Verdana"/>
                <a:ea typeface="Verdana"/>
                <a:cs typeface="Verdana"/>
                <a:sym typeface="Verdana"/>
              </a:rPr>
              <a:t>Alina’s Strategy</a:t>
            </a:r>
            <a:endParaRPr sz="1100" dirty="0">
              <a:latin typeface="Verdana"/>
              <a:ea typeface="Verdana"/>
              <a:cs typeface="Verdana"/>
              <a:sym typeface="Verdana"/>
            </a:endParaRPr>
          </a:p>
        </p:txBody>
      </p:sp>
      <p:pic>
        <p:nvPicPr>
          <p:cNvPr id="220" name="Google Shape;220;p10"/>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5624661" y="2071265"/>
            <a:ext cx="3147511" cy="1933247"/>
          </a:xfrm>
          <a:prstGeom prst="rect">
            <a:avLst/>
          </a:prstGeom>
          <a:noFill/>
          <a:ln>
            <a:noFill/>
          </a:ln>
        </p:spPr>
      </p:pic>
      <p:sp>
        <p:nvSpPr>
          <p:cNvPr id="221" name="Google Shape;221;p10"/>
          <p:cNvSpPr txBox="1"/>
          <p:nvPr/>
        </p:nvSpPr>
        <p:spPr>
          <a:xfrm>
            <a:off x="1296606" y="4004126"/>
            <a:ext cx="9741344" cy="800189"/>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Work with your partner to answer the questions about Giovanny and Alina’s strategies.</a:t>
            </a:r>
            <a:endParaRPr sz="2000" dirty="0">
              <a:latin typeface="Verdana"/>
              <a:ea typeface="Verdana"/>
              <a:cs typeface="Verdana"/>
              <a:sym typeface="Verdana"/>
            </a:endParaRPr>
          </a:p>
        </p:txBody>
      </p:sp>
      <p:sp>
        <p:nvSpPr>
          <p:cNvPr id="222" name="Google Shape;222;p10"/>
          <p:cNvSpPr txBox="1"/>
          <p:nvPr/>
        </p:nvSpPr>
        <p:spPr>
          <a:xfrm>
            <a:off x="1296606" y="4689750"/>
            <a:ext cx="9320144" cy="492412"/>
          </a:xfrm>
          <a:prstGeom prst="rect">
            <a:avLst/>
          </a:prstGeom>
          <a:noFill/>
          <a:ln>
            <a:noFill/>
          </a:ln>
        </p:spPr>
        <p:txBody>
          <a:bodyPr spcFirstLastPara="1" wrap="square" lIns="91425" tIns="91425" rIns="91425" bIns="91425" anchor="t" anchorCtr="0">
            <a:spAutoFit/>
          </a:bodyPr>
          <a:lstStyle/>
          <a:p>
            <a:pPr marL="457200" indent="-342900">
              <a:buSzPts val="1800"/>
              <a:buFont typeface="Verdana"/>
              <a:buAutoNum type="arabicPeriod"/>
            </a:pPr>
            <a:r>
              <a:rPr lang="en-US" sz="2000" dirty="0">
                <a:latin typeface="Verdana"/>
                <a:ea typeface="Verdana"/>
                <a:cs typeface="Verdana"/>
                <a:sym typeface="Verdana"/>
              </a:rPr>
              <a:t>How are the two students’ calculations alike and different?</a:t>
            </a:r>
            <a:endParaRPr sz="2000" dirty="0">
              <a:latin typeface="Verdana"/>
              <a:ea typeface="Verdana"/>
              <a:cs typeface="Verdana"/>
              <a:sym typeface="Verdana"/>
            </a:endParaRPr>
          </a:p>
        </p:txBody>
      </p:sp>
      <p:pic>
        <p:nvPicPr>
          <p:cNvPr id="223" name="Google Shape;223;p10"/>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4703500" y="5104271"/>
            <a:ext cx="3270201" cy="1718075"/>
          </a:xfrm>
          <a:prstGeom prst="rect">
            <a:avLst/>
          </a:prstGeom>
          <a:noFill/>
          <a:ln>
            <a:noFill/>
          </a:ln>
        </p:spPr>
      </p:pic>
      <p:sp>
        <p:nvSpPr>
          <p:cNvPr id="14"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27</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1" name="Google Shape;231;p11"/>
          <p:cNvSpPr txBox="1"/>
          <p:nvPr/>
        </p:nvSpPr>
        <p:spPr>
          <a:xfrm>
            <a:off x="1104900" y="374089"/>
            <a:ext cx="10132830" cy="5355272"/>
          </a:xfrm>
          <a:prstGeom prst="rect">
            <a:avLst/>
          </a:prstGeom>
          <a:noFill/>
          <a:ln>
            <a:noFill/>
          </a:ln>
        </p:spPr>
        <p:txBody>
          <a:bodyPr spcFirstLastPara="1" wrap="square" lIns="91425" tIns="45700" rIns="91425" bIns="45700" anchor="t" anchorCtr="0">
            <a:spAutoFit/>
          </a:bodyPr>
          <a:lstStyle/>
          <a:p>
            <a:pPr marL="350838" indent="-350838">
              <a:buSzPts val="2400"/>
            </a:pPr>
            <a:r>
              <a:rPr lang="en-US" sz="1900" dirty="0">
                <a:latin typeface="Verdana"/>
                <a:ea typeface="Verdana"/>
                <a:cs typeface="Verdana"/>
                <a:sym typeface="Verdana"/>
              </a:rPr>
              <a:t>2. Look at Giovanny’s calculations. Complete the statements with the appropriate place value to explain how you can tell that the 36 means “36 tenths” and the 18 means “18 hundredths” in his calculations. </a:t>
            </a:r>
            <a:endParaRPr sz="1900" dirty="0">
              <a:latin typeface="Verdana"/>
              <a:ea typeface="Verdana"/>
              <a:cs typeface="Verdana"/>
              <a:sym typeface="Verdana"/>
            </a:endParaRPr>
          </a:p>
          <a:p>
            <a:pPr>
              <a:buSzPts val="2400"/>
            </a:pPr>
            <a:endParaRPr sz="1900" dirty="0">
              <a:latin typeface="Verdana"/>
              <a:ea typeface="Verdana"/>
              <a:cs typeface="Verdana"/>
              <a:sym typeface="Verdana"/>
            </a:endParaRPr>
          </a:p>
          <a:p>
            <a:pPr marL="577850" indent="-227013">
              <a:buSzPts val="2400"/>
            </a:pPr>
            <a:r>
              <a:rPr lang="en-US" sz="1900" dirty="0">
                <a:latin typeface="Verdana"/>
                <a:ea typeface="Verdana"/>
                <a:cs typeface="Verdana"/>
                <a:sym typeface="Verdana"/>
              </a:rPr>
              <a:t>● The 3 in 36 is in the ____________ place and the 6 is in the ____________ place, so 36 in this calculation means 36 tenths. </a:t>
            </a:r>
            <a:endParaRPr sz="1900" dirty="0">
              <a:latin typeface="Verdana"/>
              <a:ea typeface="Verdana"/>
              <a:cs typeface="Verdana"/>
              <a:sym typeface="Verdana"/>
            </a:endParaRPr>
          </a:p>
          <a:p>
            <a:pPr marL="577850" indent="-227013">
              <a:buSzPts val="2400"/>
            </a:pPr>
            <a:endParaRPr sz="1900" dirty="0">
              <a:latin typeface="Verdana"/>
              <a:ea typeface="Verdana"/>
              <a:cs typeface="Verdana"/>
              <a:sym typeface="Verdana"/>
            </a:endParaRPr>
          </a:p>
          <a:p>
            <a:pPr marL="577850" indent="-227013">
              <a:buSzPts val="2400"/>
            </a:pPr>
            <a:r>
              <a:rPr lang="en-US" sz="1900" dirty="0">
                <a:latin typeface="Verdana"/>
                <a:ea typeface="Verdana"/>
                <a:cs typeface="Verdana"/>
                <a:sym typeface="Verdana"/>
              </a:rPr>
              <a:t>● The 1 in 18 is in the ____________ place, so it has the same value as 10 hundredths. The 8 is in the ____________ place. Together, they make 18 hundredths.</a:t>
            </a:r>
            <a:endParaRPr sz="1900" dirty="0">
              <a:latin typeface="Verdana"/>
              <a:ea typeface="Verdana"/>
              <a:cs typeface="Verdana"/>
              <a:sym typeface="Verdana"/>
            </a:endParaRPr>
          </a:p>
          <a:p>
            <a:pPr>
              <a:buSzPts val="2400"/>
            </a:pPr>
            <a:endParaRPr sz="1900" dirty="0">
              <a:latin typeface="Verdana"/>
              <a:ea typeface="Verdana"/>
              <a:cs typeface="Verdana"/>
              <a:sym typeface="Verdana"/>
            </a:endParaRPr>
          </a:p>
          <a:p>
            <a:pPr>
              <a:buSzPts val="2400"/>
            </a:pPr>
            <a:endParaRPr sz="1900" dirty="0">
              <a:latin typeface="Verdana"/>
              <a:ea typeface="Verdana"/>
              <a:cs typeface="Verdana"/>
              <a:sym typeface="Verdana"/>
            </a:endParaRPr>
          </a:p>
          <a:p>
            <a:pPr>
              <a:buSzPts val="2400"/>
            </a:pPr>
            <a:endParaRPr sz="1900" dirty="0">
              <a:latin typeface="Verdana"/>
              <a:ea typeface="Verdana"/>
              <a:cs typeface="Verdana"/>
              <a:sym typeface="Verdana"/>
            </a:endParaRPr>
          </a:p>
          <a:p>
            <a:pPr marL="350838" indent="-350838">
              <a:buSzPts val="2400"/>
            </a:pPr>
            <a:r>
              <a:rPr lang="en-US" sz="1900" dirty="0">
                <a:latin typeface="Verdana"/>
                <a:ea typeface="Verdana"/>
                <a:cs typeface="Verdana"/>
                <a:sym typeface="Verdana"/>
              </a:rPr>
              <a:t>3. Look at Alina’s calculations. Complete the statement to describe the values of 3600 and 1800 in her calculation.</a:t>
            </a:r>
            <a:endParaRPr sz="1900" dirty="0">
              <a:latin typeface="Verdana"/>
              <a:ea typeface="Verdana"/>
              <a:cs typeface="Verdana"/>
              <a:sym typeface="Verdana"/>
            </a:endParaRPr>
          </a:p>
          <a:p>
            <a:pPr>
              <a:buSzPts val="2400"/>
            </a:pPr>
            <a:endParaRPr sz="1900" dirty="0">
              <a:latin typeface="Verdana"/>
              <a:ea typeface="Verdana"/>
              <a:cs typeface="Verdana"/>
              <a:sym typeface="Verdana"/>
            </a:endParaRPr>
          </a:p>
          <a:p>
            <a:pPr marL="628650" indent="-339725">
              <a:buSzPts val="2400"/>
            </a:pPr>
            <a:r>
              <a:rPr lang="en-US" sz="1900" dirty="0">
                <a:latin typeface="Verdana"/>
                <a:ea typeface="Verdana"/>
                <a:cs typeface="Verdana"/>
                <a:sym typeface="Verdana"/>
              </a:rPr>
              <a:t> ● In Alina’s calculations, the 3600 represents 3600 ____________, and the 1800 represents 1800 ____________.</a:t>
            </a:r>
            <a:endParaRPr sz="1900" dirty="0">
              <a:latin typeface="Verdana"/>
              <a:ea typeface="Verdana"/>
              <a:cs typeface="Verdana"/>
              <a:sym typeface="Verdana"/>
            </a:endParaRPr>
          </a:p>
        </p:txBody>
      </p:sp>
      <p:sp>
        <p:nvSpPr>
          <p:cNvPr id="232" name="Google Shape;232;p11"/>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40" name="Google Shape;240;g10e16f50584_0_38"/>
          <p:cNvSpPr txBox="1"/>
          <p:nvPr/>
        </p:nvSpPr>
        <p:spPr>
          <a:xfrm>
            <a:off x="1219200" y="374089"/>
            <a:ext cx="9904230" cy="4893607"/>
          </a:xfrm>
          <a:prstGeom prst="rect">
            <a:avLst/>
          </a:prstGeom>
          <a:noFill/>
          <a:ln>
            <a:noFill/>
          </a:ln>
        </p:spPr>
        <p:txBody>
          <a:bodyPr spcFirstLastPara="1" wrap="square" lIns="91425" tIns="45700" rIns="91425" bIns="45700" anchor="t" anchorCtr="0">
            <a:spAutoFit/>
          </a:bodyPr>
          <a:lstStyle/>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marL="401638" indent="-401638">
              <a:buSzPts val="2400"/>
            </a:pPr>
            <a:r>
              <a:rPr lang="en-US" sz="2400" dirty="0">
                <a:latin typeface="Verdana"/>
                <a:ea typeface="Verdana"/>
                <a:cs typeface="Verdana"/>
                <a:sym typeface="Verdana"/>
              </a:rPr>
              <a:t>4. Why is the value of 48.78 ÷ 9 the same as the value of 4878 ÷ 900? </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r>
              <a:rPr lang="en-US" sz="2400" dirty="0">
                <a:latin typeface="Verdana"/>
                <a:ea typeface="Verdana"/>
                <a:cs typeface="Verdana"/>
                <a:sym typeface="Verdana"/>
              </a:rPr>
              <a:t>5. Explain why 51.84 ÷ 6.4 has the same value as 518.4 ÷ 64.</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marL="514350" indent="-514350">
              <a:buSzPts val="2400"/>
            </a:pPr>
            <a:r>
              <a:rPr lang="en-US" sz="2400" dirty="0">
                <a:latin typeface="Verdana"/>
                <a:ea typeface="Verdana"/>
                <a:cs typeface="Verdana"/>
                <a:sym typeface="Verdana"/>
              </a:rPr>
              <a:t>6. Find the value of 51.84 ÷ 6.4 using long division. Show your work.</a:t>
            </a:r>
            <a:endParaRPr dirty="0"/>
          </a:p>
        </p:txBody>
      </p:sp>
      <p:sp>
        <p:nvSpPr>
          <p:cNvPr id="241" name="Google Shape;241;g10e16f50584_0_3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7"/>
          <p:cNvSpPr/>
          <p:nvPr/>
        </p:nvSpPr>
        <p:spPr>
          <a:xfrm>
            <a:off x="0" y="-8101"/>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49" name="Google Shape;249;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251" name="Google Shape;251;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8" name="Google Shape;258;p28"/>
          <p:cNvSpPr txBox="1"/>
          <p:nvPr/>
        </p:nvSpPr>
        <p:spPr>
          <a:xfrm>
            <a:off x="1262550" y="48504"/>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54B5D1"/>
                </a:solidFill>
                <a:latin typeface="Verdana"/>
                <a:ea typeface="Verdana"/>
                <a:cs typeface="Verdana"/>
                <a:sym typeface="Verdana"/>
              </a:rPr>
              <a:t>1.5.4 Bring It Together: Dividing Decimals</a:t>
            </a:r>
            <a:endParaRPr/>
          </a:p>
        </p:txBody>
      </p:sp>
      <p:sp>
        <p:nvSpPr>
          <p:cNvPr id="260" name="Google Shape;260;p28"/>
          <p:cNvSpPr txBox="1"/>
          <p:nvPr/>
        </p:nvSpPr>
        <p:spPr>
          <a:xfrm>
            <a:off x="1262550" y="1569113"/>
            <a:ext cx="9124998" cy="707846"/>
          </a:xfrm>
          <a:prstGeom prst="rect">
            <a:avLst/>
          </a:prstGeom>
          <a:noFill/>
          <a:ln>
            <a:noFill/>
          </a:ln>
        </p:spPr>
        <p:txBody>
          <a:bodyPr spcFirstLastPara="1" wrap="square" lIns="91425" tIns="45700" rIns="91425" bIns="45700" anchor="t" anchorCtr="0">
            <a:spAutoFit/>
          </a:bodyPr>
          <a:lstStyle/>
          <a:p>
            <a:pPr marL="457200" indent="-355600">
              <a:buSzPts val="2000"/>
              <a:buFont typeface="Verdana"/>
              <a:buAutoNum type="arabicPeriod"/>
            </a:pPr>
            <a:r>
              <a:rPr lang="en-US" sz="2000">
                <a:latin typeface="Verdana"/>
                <a:ea typeface="Verdana"/>
                <a:cs typeface="Verdana"/>
                <a:sym typeface="Verdana"/>
              </a:rPr>
              <a:t>Complete the summary of the exploration of dividing decimals using the words and phrases from the bank below.</a:t>
            </a:r>
            <a:endParaRPr sz="1000"/>
          </a:p>
        </p:txBody>
      </p:sp>
      <p:sp>
        <p:nvSpPr>
          <p:cNvPr id="261" name="Google Shape;261;p28"/>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262" name="Google Shape;262;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12742" y="284997"/>
            <a:ext cx="749808" cy="749808"/>
          </a:xfrm>
          <a:prstGeom prst="rect">
            <a:avLst/>
          </a:prstGeom>
          <a:noFill/>
          <a:ln>
            <a:noFill/>
          </a:ln>
          <a:effectLst>
            <a:outerShdw blurRad="50800" dist="38100" dir="2700000" algn="tl" rotWithShape="0">
              <a:srgbClr val="000000">
                <a:alpha val="40000"/>
              </a:srgbClr>
            </a:outerShdw>
          </a:effectLst>
        </p:spPr>
      </p:pic>
      <p:sp>
        <p:nvSpPr>
          <p:cNvPr id="263" name="Google Shape;263;p28"/>
          <p:cNvSpPr txBox="1"/>
          <p:nvPr/>
        </p:nvSpPr>
        <p:spPr>
          <a:xfrm>
            <a:off x="1727200" y="4241275"/>
            <a:ext cx="8660350" cy="1723800"/>
          </a:xfrm>
          <a:prstGeom prst="rect">
            <a:avLst/>
          </a:prstGeom>
          <a:noFill/>
          <a:ln>
            <a:noFill/>
          </a:ln>
        </p:spPr>
        <p:txBody>
          <a:bodyPr spcFirstLastPara="1" wrap="square" lIns="91425" tIns="91425" rIns="91425" bIns="91425" anchor="t" anchorCtr="0">
            <a:spAutoFit/>
          </a:bodyPr>
          <a:lstStyle/>
          <a:p>
            <a:r>
              <a:rPr lang="en-US" sz="2000">
                <a:latin typeface="Verdana"/>
                <a:ea typeface="Verdana"/>
                <a:cs typeface="Verdana"/>
                <a:sym typeface="Verdana"/>
              </a:rPr>
              <a:t>One way to find a quotient of two decimals is to first _______________ each decimal by a _______________ so that both values are _______________. </a:t>
            </a:r>
            <a:r>
              <a:rPr lang="en-US" sz="2000" dirty="0">
                <a:latin typeface="Verdana"/>
                <a:ea typeface="Verdana"/>
                <a:cs typeface="Verdana"/>
                <a:sym typeface="Verdana"/>
              </a:rPr>
              <a:t>If we multiply both values by the same power of 10, this _______________ the value of the quotient.</a:t>
            </a:r>
            <a:endParaRPr sz="2000" dirty="0">
              <a:latin typeface="Verdana"/>
              <a:ea typeface="Verdana"/>
              <a:cs typeface="Verdana"/>
              <a:sym typeface="Verdana"/>
            </a:endParaRPr>
          </a:p>
        </p:txBody>
      </p:sp>
      <p:sp>
        <p:nvSpPr>
          <p:cNvPr id="264" name="Google Shape;264;p28"/>
          <p:cNvSpPr/>
          <p:nvPr/>
        </p:nvSpPr>
        <p:spPr>
          <a:xfrm>
            <a:off x="3522350" y="2841150"/>
            <a:ext cx="5602500" cy="11757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r>
              <a:rPr lang="en-US" sz="1600">
                <a:latin typeface="Verdana"/>
                <a:ea typeface="Verdana"/>
                <a:cs typeface="Verdana"/>
                <a:sym typeface="Verdana"/>
              </a:rPr>
              <a:t>				     </a:t>
            </a:r>
            <a:endParaRPr sz="1600">
              <a:latin typeface="Verdana"/>
              <a:ea typeface="Verdana"/>
              <a:cs typeface="Verdana"/>
              <a:sym typeface="Verdana"/>
            </a:endParaRPr>
          </a:p>
          <a:p>
            <a:r>
              <a:rPr lang="en-US" sz="1600">
                <a:latin typeface="Verdana"/>
                <a:ea typeface="Verdana"/>
                <a:cs typeface="Verdana"/>
                <a:sym typeface="Verdana"/>
              </a:rPr>
              <a:t>					</a:t>
            </a:r>
            <a:endParaRPr sz="1600">
              <a:latin typeface="Verdana"/>
              <a:ea typeface="Verdana"/>
              <a:cs typeface="Verdana"/>
              <a:sym typeface="Verdana"/>
            </a:endParaRPr>
          </a:p>
        </p:txBody>
      </p:sp>
      <p:sp>
        <p:nvSpPr>
          <p:cNvPr id="265" name="Google Shape;265;p28"/>
          <p:cNvSpPr txBox="1"/>
          <p:nvPr/>
        </p:nvSpPr>
        <p:spPr>
          <a:xfrm>
            <a:off x="3816688" y="3065500"/>
            <a:ext cx="2039700" cy="431100"/>
          </a:xfrm>
          <a:prstGeom prst="rect">
            <a:avLst/>
          </a:prstGeom>
          <a:noFill/>
          <a:ln>
            <a:noFill/>
          </a:ln>
        </p:spPr>
        <p:txBody>
          <a:bodyPr spcFirstLastPara="1" wrap="square" lIns="91425" tIns="91425" rIns="91425" bIns="91425" anchor="t" anchorCtr="0">
            <a:spAutoFit/>
          </a:bodyPr>
          <a:lstStyle/>
          <a:p>
            <a:r>
              <a:rPr lang="en-US" sz="1600">
                <a:solidFill>
                  <a:schemeClr val="dk1"/>
                </a:solidFill>
                <a:latin typeface="Verdana"/>
                <a:ea typeface="Verdana"/>
                <a:cs typeface="Verdana"/>
                <a:sym typeface="Verdana"/>
              </a:rPr>
              <a:t>does not change</a:t>
            </a:r>
            <a:endParaRPr/>
          </a:p>
        </p:txBody>
      </p:sp>
      <p:sp>
        <p:nvSpPr>
          <p:cNvPr id="266" name="Google Shape;266;p28"/>
          <p:cNvSpPr txBox="1"/>
          <p:nvPr/>
        </p:nvSpPr>
        <p:spPr>
          <a:xfrm>
            <a:off x="7292325" y="3065500"/>
            <a:ext cx="1313700" cy="431100"/>
          </a:xfrm>
          <a:prstGeom prst="rect">
            <a:avLst/>
          </a:prstGeom>
          <a:noFill/>
          <a:ln>
            <a:noFill/>
          </a:ln>
        </p:spPr>
        <p:txBody>
          <a:bodyPr spcFirstLastPara="1" wrap="square" lIns="91425" tIns="91425" rIns="91425" bIns="91425" anchor="t" anchorCtr="0">
            <a:spAutoFit/>
          </a:bodyPr>
          <a:lstStyle/>
          <a:p>
            <a:r>
              <a:rPr lang="en-US" sz="1600">
                <a:solidFill>
                  <a:schemeClr val="dk1"/>
                </a:solidFill>
                <a:latin typeface="Verdana"/>
                <a:ea typeface="Verdana"/>
                <a:cs typeface="Verdana"/>
                <a:sym typeface="Verdana"/>
              </a:rPr>
              <a:t>multiply </a:t>
            </a:r>
            <a:endParaRPr/>
          </a:p>
        </p:txBody>
      </p:sp>
      <p:sp>
        <p:nvSpPr>
          <p:cNvPr id="267" name="Google Shape;267;p28"/>
          <p:cNvSpPr txBox="1"/>
          <p:nvPr/>
        </p:nvSpPr>
        <p:spPr>
          <a:xfrm>
            <a:off x="6986625" y="3429000"/>
            <a:ext cx="1925100" cy="431100"/>
          </a:xfrm>
          <a:prstGeom prst="rect">
            <a:avLst/>
          </a:prstGeom>
          <a:noFill/>
          <a:ln>
            <a:noFill/>
          </a:ln>
        </p:spPr>
        <p:txBody>
          <a:bodyPr spcFirstLastPara="1" wrap="square" lIns="91425" tIns="91425" rIns="91425" bIns="91425" anchor="t" anchorCtr="0">
            <a:spAutoFit/>
          </a:bodyPr>
          <a:lstStyle/>
          <a:p>
            <a:r>
              <a:rPr lang="en-US" sz="1600">
                <a:solidFill>
                  <a:schemeClr val="dk1"/>
                </a:solidFill>
                <a:latin typeface="Verdana"/>
                <a:ea typeface="Verdana"/>
                <a:cs typeface="Verdana"/>
                <a:sym typeface="Verdana"/>
              </a:rPr>
              <a:t>whole numbers</a:t>
            </a:r>
            <a:endParaRPr/>
          </a:p>
        </p:txBody>
      </p:sp>
      <p:sp>
        <p:nvSpPr>
          <p:cNvPr id="268" name="Google Shape;268;p28"/>
          <p:cNvSpPr txBox="1"/>
          <p:nvPr/>
        </p:nvSpPr>
        <p:spPr>
          <a:xfrm>
            <a:off x="3874775" y="3428988"/>
            <a:ext cx="1408500" cy="677100"/>
          </a:xfrm>
          <a:prstGeom prst="rect">
            <a:avLst/>
          </a:prstGeom>
          <a:noFill/>
          <a:ln>
            <a:noFill/>
          </a:ln>
        </p:spPr>
        <p:txBody>
          <a:bodyPr spcFirstLastPara="1" wrap="square" lIns="91425" tIns="91425" rIns="91425" bIns="91425" anchor="t" anchorCtr="0">
            <a:spAutoFit/>
          </a:bodyPr>
          <a:lstStyle/>
          <a:p>
            <a:r>
              <a:rPr lang="en-US" sz="1600" dirty="0">
                <a:solidFill>
                  <a:schemeClr val="dk1"/>
                </a:solidFill>
                <a:latin typeface="Verdana"/>
                <a:ea typeface="Verdana"/>
                <a:cs typeface="Verdana"/>
                <a:sym typeface="Verdana"/>
              </a:rPr>
              <a:t>power of 10 	</a:t>
            </a:r>
            <a:endParaRPr dirty="0"/>
          </a:p>
        </p:txBody>
      </p:sp>
      <p:sp>
        <p:nvSpPr>
          <p:cNvPr id="14"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1"/>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6" name="Google Shape;276;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278" name="Google Shape;278;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5" name="Google Shape;285;p22"/>
          <p:cNvSpPr txBox="1"/>
          <p:nvPr/>
        </p:nvSpPr>
        <p:spPr>
          <a:xfrm>
            <a:off x="1313350"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54B5D1"/>
                </a:solidFill>
                <a:latin typeface="Verdana"/>
                <a:ea typeface="Verdana"/>
                <a:cs typeface="Verdana"/>
                <a:sym typeface="Verdana"/>
              </a:rPr>
              <a:t>1.5.5 Guided Practice: Dividing Decimals</a:t>
            </a:r>
            <a:endParaRPr/>
          </a:p>
        </p:txBody>
      </p:sp>
      <p:pic>
        <p:nvPicPr>
          <p:cNvPr id="287" name="Google Shape;287;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3542" y="254926"/>
            <a:ext cx="749808" cy="749808"/>
          </a:xfrm>
          <a:prstGeom prst="rect">
            <a:avLst/>
          </a:prstGeom>
          <a:noFill/>
          <a:ln>
            <a:noFill/>
          </a:ln>
          <a:effectLst>
            <a:outerShdw blurRad="50800" dist="38100" dir="2700000" algn="tl" rotWithShape="0">
              <a:srgbClr val="000000">
                <a:alpha val="40000"/>
              </a:srgbClr>
            </a:outerShdw>
          </a:effectLst>
        </p:spPr>
      </p:pic>
      <p:sp>
        <p:nvSpPr>
          <p:cNvPr id="288" name="Google Shape;288;p22"/>
          <p:cNvSpPr txBox="1"/>
          <p:nvPr/>
        </p:nvSpPr>
        <p:spPr>
          <a:xfrm>
            <a:off x="1313350" y="1386025"/>
            <a:ext cx="9074198" cy="3417000"/>
          </a:xfrm>
          <a:prstGeom prst="rect">
            <a:avLst/>
          </a:prstGeom>
          <a:noFill/>
          <a:ln>
            <a:noFill/>
          </a:ln>
        </p:spPr>
        <p:txBody>
          <a:bodyPr spcFirstLastPara="1" wrap="square" lIns="91425" tIns="45700" rIns="91425" bIns="45700" anchor="t" anchorCtr="0">
            <a:spAutoFit/>
          </a:bodyPr>
          <a:lstStyle/>
          <a:p>
            <a:pPr>
              <a:buSzPts val="2400"/>
            </a:pPr>
            <a:r>
              <a:rPr lang="en-US" sz="2400" dirty="0">
                <a:latin typeface="Verdana"/>
                <a:ea typeface="Verdana"/>
                <a:cs typeface="Verdana"/>
                <a:sym typeface="Verdana"/>
              </a:rPr>
              <a:t>Find each quotient using a strategy similar to Giovanny’s or Alina’s. Show your work. </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r>
              <a:rPr lang="en-US" sz="2400" dirty="0">
                <a:latin typeface="Verdana"/>
                <a:ea typeface="Verdana"/>
                <a:cs typeface="Verdana"/>
                <a:sym typeface="Verdana"/>
              </a:rPr>
              <a:t>a. 24.2 ÷ 1.1 </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r>
              <a:rPr lang="en-US" sz="2400" dirty="0">
                <a:latin typeface="Verdana"/>
                <a:ea typeface="Verdana"/>
                <a:cs typeface="Verdana"/>
                <a:sym typeface="Verdana"/>
              </a:rPr>
              <a:t>b. 17.028 ÷ 0.08</a:t>
            </a:r>
            <a:endParaRPr dirty="0"/>
          </a:p>
        </p:txBody>
      </p:sp>
      <p:sp>
        <p:nvSpPr>
          <p:cNvPr id="289" name="Google Shape;289;p2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7" name="Google Shape;297;p23"/>
          <p:cNvSpPr txBox="1"/>
          <p:nvPr/>
        </p:nvSpPr>
        <p:spPr>
          <a:xfrm>
            <a:off x="356558" y="386281"/>
            <a:ext cx="11835442" cy="5264100"/>
          </a:xfrm>
          <a:prstGeom prst="rect">
            <a:avLst/>
          </a:prstGeom>
          <a:noFill/>
          <a:ln>
            <a:noFill/>
          </a:ln>
        </p:spPr>
        <p:txBody>
          <a:bodyPr spcFirstLastPara="1" wrap="square" lIns="91425" tIns="45700" rIns="91425" bIns="45700" anchor="t" anchorCtr="0">
            <a:spAutoFit/>
          </a:bodyPr>
          <a:lstStyle/>
          <a:p>
            <a:pPr marL="401638" indent="-401638">
              <a:buSzPts val="2400"/>
            </a:pPr>
            <a:r>
              <a:rPr lang="en-US" sz="2400" dirty="0">
                <a:latin typeface="Verdana"/>
                <a:ea typeface="Verdana"/>
                <a:cs typeface="Verdana"/>
                <a:sym typeface="Verdana"/>
              </a:rPr>
              <a:t>2. Coby and Olivia each found the quotient of 10.92 ÷ 2.6. The values they each used are listed.</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marL="401638">
              <a:buSzPts val="2400"/>
            </a:pPr>
            <a:r>
              <a:rPr lang="en-US" sz="2400" dirty="0">
                <a:latin typeface="Verdana"/>
                <a:ea typeface="Verdana"/>
                <a:cs typeface="Verdana"/>
                <a:sym typeface="Verdana"/>
              </a:rPr>
              <a:t>● Coby calculated 1092 ÷ 260.</a:t>
            </a:r>
            <a:endParaRPr sz="2400" dirty="0">
              <a:latin typeface="Verdana"/>
              <a:ea typeface="Verdana"/>
              <a:cs typeface="Verdana"/>
              <a:sym typeface="Verdana"/>
            </a:endParaRPr>
          </a:p>
          <a:p>
            <a:pPr marL="401638">
              <a:buSzPts val="2400"/>
            </a:pPr>
            <a:r>
              <a:rPr lang="en-US" sz="2400" dirty="0">
                <a:latin typeface="Verdana"/>
                <a:ea typeface="Verdana"/>
                <a:cs typeface="Verdana"/>
                <a:sym typeface="Verdana"/>
              </a:rPr>
              <a:t> </a:t>
            </a:r>
            <a:endParaRPr sz="2400" dirty="0">
              <a:latin typeface="Verdana"/>
              <a:ea typeface="Verdana"/>
              <a:cs typeface="Verdana"/>
              <a:sym typeface="Verdana"/>
            </a:endParaRPr>
          </a:p>
          <a:p>
            <a:pPr marL="401638">
              <a:buSzPts val="2400"/>
            </a:pPr>
            <a:r>
              <a:rPr lang="en-US" sz="2400" dirty="0">
                <a:latin typeface="Verdana"/>
                <a:ea typeface="Verdana"/>
                <a:cs typeface="Verdana"/>
                <a:sym typeface="Verdana"/>
              </a:rPr>
              <a:t>● Olivia calculated 109.2 ÷ 26. </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marL="866775" indent="-401638">
              <a:buSzPts val="2400"/>
            </a:pPr>
            <a:r>
              <a:rPr lang="en-US" sz="2400" dirty="0">
                <a:latin typeface="Verdana"/>
                <a:ea typeface="Verdana"/>
                <a:cs typeface="Verdana"/>
                <a:sym typeface="Verdana"/>
              </a:rPr>
              <a:t>a. Will the values they used result in the same quotient as 10.92 ÷ 2.6? Explain. </a:t>
            </a:r>
            <a:endParaRPr sz="2400" dirty="0">
              <a:latin typeface="Verdana"/>
              <a:ea typeface="Verdana"/>
              <a:cs typeface="Verdana"/>
              <a:sym typeface="Verdana"/>
            </a:endParaRPr>
          </a:p>
          <a:p>
            <a:pPr marL="866775" indent="-401638">
              <a:buSzPts val="2400"/>
            </a:pPr>
            <a:endParaRPr sz="2400" dirty="0">
              <a:latin typeface="Verdana"/>
              <a:ea typeface="Verdana"/>
              <a:cs typeface="Verdana"/>
              <a:sym typeface="Verdana"/>
            </a:endParaRPr>
          </a:p>
          <a:p>
            <a:pPr marL="866775" indent="-401638">
              <a:buSzPts val="2400"/>
            </a:pPr>
            <a:endParaRPr sz="2400" dirty="0">
              <a:latin typeface="Verdana"/>
              <a:ea typeface="Verdana"/>
              <a:cs typeface="Verdana"/>
              <a:sym typeface="Verdana"/>
            </a:endParaRPr>
          </a:p>
          <a:p>
            <a:pPr marL="866775" indent="-401638">
              <a:buSzPts val="2400"/>
            </a:pPr>
            <a:endParaRPr sz="2400" dirty="0">
              <a:latin typeface="Verdana"/>
              <a:ea typeface="Verdana"/>
              <a:cs typeface="Verdana"/>
              <a:sym typeface="Verdana"/>
            </a:endParaRPr>
          </a:p>
          <a:p>
            <a:pPr marL="866775" indent="-401638">
              <a:buSzPts val="2400"/>
            </a:pPr>
            <a:r>
              <a:rPr lang="en-US" sz="2400" dirty="0">
                <a:latin typeface="Verdana"/>
                <a:ea typeface="Verdana"/>
                <a:cs typeface="Verdana"/>
                <a:sym typeface="Verdana"/>
              </a:rPr>
              <a:t>b. Find the quotient of 10.92 ÷ 2.6.</a:t>
            </a:r>
            <a:endParaRPr dirty="0"/>
          </a:p>
        </p:txBody>
      </p:sp>
      <p:sp>
        <p:nvSpPr>
          <p:cNvPr id="298" name="Google Shape;298;p23"/>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6" name="Google Shape;306;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07" name="Google Shape;307;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5" name="Google Shape;315;p31"/>
          <p:cNvSpPr txBox="1"/>
          <p:nvPr/>
        </p:nvSpPr>
        <p:spPr>
          <a:xfrm>
            <a:off x="1313450" y="175651"/>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1.5.6 Your Turn!</a:t>
            </a:r>
            <a:endParaRPr/>
          </a:p>
        </p:txBody>
      </p:sp>
      <p:pic>
        <p:nvPicPr>
          <p:cNvPr id="316" name="Google Shape;316;p31"/>
          <p:cNvPicPr preferRelativeResize="0"/>
          <p:nvPr/>
        </p:nvPicPr>
        <p:blipFill rotWithShape="1">
          <a:blip r:embed="rId3">
            <a:alphaModFix/>
          </a:blip>
          <a:srcRect/>
          <a:stretch/>
        </p:blipFill>
        <p:spPr>
          <a:xfrm>
            <a:off x="566150" y="124851"/>
            <a:ext cx="747300" cy="747300"/>
          </a:xfrm>
          <a:prstGeom prst="rect">
            <a:avLst/>
          </a:prstGeom>
          <a:noFill/>
          <a:ln>
            <a:noFill/>
          </a:ln>
        </p:spPr>
      </p:pic>
      <p:sp>
        <p:nvSpPr>
          <p:cNvPr id="318" name="Google Shape;318;p31"/>
          <p:cNvSpPr txBox="1"/>
          <p:nvPr/>
        </p:nvSpPr>
        <p:spPr>
          <a:xfrm>
            <a:off x="1313450" y="1386025"/>
            <a:ext cx="9074098" cy="461700"/>
          </a:xfrm>
          <a:prstGeom prst="rect">
            <a:avLst/>
          </a:prstGeom>
          <a:noFill/>
          <a:ln>
            <a:noFill/>
          </a:ln>
        </p:spPr>
        <p:txBody>
          <a:bodyPr spcFirstLastPara="1" wrap="square" lIns="91425" tIns="45700" rIns="91425" bIns="45700" anchor="t" anchorCtr="0">
            <a:spAutoFit/>
          </a:bodyPr>
          <a:lstStyle/>
          <a:p>
            <a:pPr>
              <a:buSzPts val="2400"/>
            </a:pPr>
            <a:r>
              <a:rPr lang="en-US" sz="2400">
                <a:latin typeface="Verdana"/>
                <a:ea typeface="Verdana"/>
                <a:cs typeface="Verdana"/>
                <a:sym typeface="Verdana"/>
              </a:rPr>
              <a:t>1. </a:t>
            </a:r>
            <a:r>
              <a:rPr lang="en-US" sz="2400" dirty="0">
                <a:latin typeface="Verdana"/>
                <a:ea typeface="Verdana"/>
                <a:cs typeface="Verdana"/>
                <a:sym typeface="Verdana"/>
              </a:rPr>
              <a:t>Find each quotient. Show your work.</a:t>
            </a:r>
            <a:endParaRPr dirty="0"/>
          </a:p>
        </p:txBody>
      </p:sp>
      <p:sp>
        <p:nvSpPr>
          <p:cNvPr id="319" name="Google Shape;319;p31"/>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20" name="Google Shape;320;p31"/>
          <p:cNvSpPr txBox="1"/>
          <p:nvPr/>
        </p:nvSpPr>
        <p:spPr>
          <a:xfrm>
            <a:off x="2060450" y="2426125"/>
            <a:ext cx="3000000" cy="507900"/>
          </a:xfrm>
          <a:prstGeom prst="rect">
            <a:avLst/>
          </a:prstGeom>
          <a:noFill/>
          <a:ln>
            <a:noFill/>
          </a:ln>
        </p:spPr>
        <p:txBody>
          <a:bodyPr spcFirstLastPara="1" wrap="square" lIns="91425" tIns="91425" rIns="91425" bIns="91425" anchor="t" anchorCtr="0">
            <a:spAutoFit/>
          </a:bodyPr>
          <a:lstStyle/>
          <a:p>
            <a:r>
              <a:rPr lang="en-US" sz="2100">
                <a:solidFill>
                  <a:schemeClr val="dk1"/>
                </a:solidFill>
                <a:latin typeface="Verdana"/>
                <a:ea typeface="Verdana"/>
                <a:cs typeface="Verdana"/>
                <a:sym typeface="Verdana"/>
              </a:rPr>
              <a:t>a. 43.396 ÷ 57.1 </a:t>
            </a:r>
            <a:endParaRPr/>
          </a:p>
        </p:txBody>
      </p:sp>
      <p:sp>
        <p:nvSpPr>
          <p:cNvPr id="321" name="Google Shape;321;p31"/>
          <p:cNvSpPr txBox="1"/>
          <p:nvPr/>
        </p:nvSpPr>
        <p:spPr>
          <a:xfrm>
            <a:off x="5679650" y="2426125"/>
            <a:ext cx="3899700" cy="507900"/>
          </a:xfrm>
          <a:prstGeom prst="rect">
            <a:avLst/>
          </a:prstGeom>
          <a:noFill/>
          <a:ln>
            <a:noFill/>
          </a:ln>
        </p:spPr>
        <p:txBody>
          <a:bodyPr spcFirstLastPara="1" wrap="square" lIns="91425" tIns="91425" rIns="91425" bIns="91425" anchor="t" anchorCtr="0">
            <a:spAutoFit/>
          </a:bodyPr>
          <a:lstStyle/>
          <a:p>
            <a:r>
              <a:rPr lang="en-US" sz="2100">
                <a:solidFill>
                  <a:schemeClr val="dk1"/>
                </a:solidFill>
                <a:latin typeface="Verdana"/>
                <a:ea typeface="Verdana"/>
                <a:cs typeface="Verdana"/>
                <a:sym typeface="Verdana"/>
              </a:rPr>
              <a:t>	b. 29.88 ÷ 0.36 </a:t>
            </a:r>
            <a:endParaRPr/>
          </a:p>
        </p:txBody>
      </p:sp>
      <p:sp>
        <p:nvSpPr>
          <p:cNvPr id="322" name="Google Shape;322;p31"/>
          <p:cNvSpPr txBox="1"/>
          <p:nvPr/>
        </p:nvSpPr>
        <p:spPr>
          <a:xfrm>
            <a:off x="2060450" y="4688713"/>
            <a:ext cx="3000000" cy="830966"/>
          </a:xfrm>
          <a:prstGeom prst="rect">
            <a:avLst/>
          </a:prstGeom>
          <a:noFill/>
          <a:ln>
            <a:noFill/>
          </a:ln>
        </p:spPr>
        <p:txBody>
          <a:bodyPr spcFirstLastPara="1" wrap="square" lIns="91425" tIns="91425" rIns="91425" bIns="91425" anchor="t" anchorCtr="0">
            <a:spAutoFit/>
          </a:bodyPr>
          <a:lstStyle/>
          <a:p>
            <a:r>
              <a:rPr lang="en-US" sz="2100">
                <a:solidFill>
                  <a:schemeClr val="dk1"/>
                </a:solidFill>
                <a:latin typeface="Verdana"/>
                <a:ea typeface="Verdana"/>
                <a:cs typeface="Verdana"/>
                <a:sym typeface="Verdana"/>
              </a:rPr>
              <a:t>c. 262.5 ÷ 5.25 		</a:t>
            </a:r>
            <a:endParaRPr/>
          </a:p>
        </p:txBody>
      </p:sp>
      <p:sp>
        <p:nvSpPr>
          <p:cNvPr id="323" name="Google Shape;323;p31"/>
          <p:cNvSpPr txBox="1"/>
          <p:nvPr/>
        </p:nvSpPr>
        <p:spPr>
          <a:xfrm>
            <a:off x="5679650" y="4688725"/>
            <a:ext cx="3653100" cy="507900"/>
          </a:xfrm>
          <a:prstGeom prst="rect">
            <a:avLst/>
          </a:prstGeom>
          <a:noFill/>
          <a:ln>
            <a:noFill/>
          </a:ln>
        </p:spPr>
        <p:txBody>
          <a:bodyPr spcFirstLastPara="1" wrap="square" lIns="91425" tIns="91425" rIns="91425" bIns="91425" anchor="t" anchorCtr="0">
            <a:spAutoFit/>
          </a:bodyPr>
          <a:lstStyle/>
          <a:p>
            <a:r>
              <a:rPr lang="en-US" sz="2100">
                <a:solidFill>
                  <a:schemeClr val="dk1"/>
                </a:solidFill>
                <a:latin typeface="Verdana"/>
                <a:ea typeface="Verdana"/>
                <a:cs typeface="Verdana"/>
                <a:sym typeface="Verdana"/>
              </a:rPr>
              <a:t>	d. 15.129 ÷ 12.3</a:t>
            </a:r>
            <a:endParaRPr/>
          </a:p>
        </p:txBody>
      </p:sp>
      <p:sp>
        <p:nvSpPr>
          <p:cNvPr id="12"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3"/>
          <p:cNvSpPr/>
          <p:nvPr/>
        </p:nvSpPr>
        <p:spPr>
          <a:xfrm>
            <a:off x="0" y="-8101"/>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2" name="Google Shape;332;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33" name="Google Shape;333;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41" name="Google Shape;341;p34"/>
          <p:cNvSpPr txBox="1"/>
          <p:nvPr/>
        </p:nvSpPr>
        <p:spPr>
          <a:xfrm>
            <a:off x="1332000" y="-98993"/>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1.5.7 Wrap-Up: Reflection</a:t>
            </a:r>
            <a:endParaRPr/>
          </a:p>
        </p:txBody>
      </p:sp>
      <p:pic>
        <p:nvPicPr>
          <p:cNvPr id="342" name="Google Shape;342;p34"/>
          <p:cNvPicPr preferRelativeResize="0"/>
          <p:nvPr/>
        </p:nvPicPr>
        <p:blipFill rotWithShape="1">
          <a:blip r:embed="rId3">
            <a:alphaModFix/>
          </a:blip>
          <a:srcRect/>
          <a:stretch/>
        </p:blipFill>
        <p:spPr>
          <a:xfrm>
            <a:off x="549850" y="161525"/>
            <a:ext cx="747300" cy="747300"/>
          </a:xfrm>
          <a:prstGeom prst="rect">
            <a:avLst/>
          </a:prstGeom>
          <a:noFill/>
          <a:ln>
            <a:noFill/>
          </a:ln>
          <a:effectLst>
            <a:outerShdw blurRad="50800" dist="38100" dir="2700000" algn="tl" rotWithShape="0">
              <a:srgbClr val="000000">
                <a:alpha val="40000"/>
              </a:srgbClr>
            </a:outerShdw>
          </a:effectLst>
        </p:spPr>
      </p:pic>
      <p:sp>
        <p:nvSpPr>
          <p:cNvPr id="343" name="Google Shape;343;p34"/>
          <p:cNvSpPr txBox="1"/>
          <p:nvPr/>
        </p:nvSpPr>
        <p:spPr>
          <a:xfrm>
            <a:off x="1297150" y="1139300"/>
            <a:ext cx="8962398" cy="1939500"/>
          </a:xfrm>
          <a:prstGeom prst="rect">
            <a:avLst/>
          </a:prstGeom>
          <a:noFill/>
          <a:ln>
            <a:noFill/>
          </a:ln>
        </p:spPr>
        <p:txBody>
          <a:bodyPr spcFirstLastPara="1" wrap="square" lIns="91425" tIns="45700" rIns="91425" bIns="45700" anchor="t" anchorCtr="0">
            <a:spAutoFit/>
          </a:bodyPr>
          <a:lstStyle/>
          <a:p>
            <a:pPr marL="401638" indent="-401638">
              <a:buSzPts val="2400"/>
            </a:pPr>
            <a:r>
              <a:rPr lang="en-US" sz="2400" dirty="0">
                <a:latin typeface="Verdana"/>
                <a:ea typeface="Verdana"/>
                <a:cs typeface="Verdana"/>
                <a:sym typeface="Verdana"/>
              </a:rPr>
              <a:t>1. Draw an X on the line to indicate where your current learning is in relation to the learning target. </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marL="401638">
              <a:buSzPts val="2400"/>
            </a:pPr>
            <a:r>
              <a:rPr lang="en-US" sz="2400" dirty="0">
                <a:latin typeface="Verdana"/>
                <a:ea typeface="Verdana"/>
                <a:cs typeface="Verdana"/>
                <a:sym typeface="Verdana"/>
              </a:rPr>
              <a:t>I can fluently divide multi-digit numbers with decimals to the thousandths. </a:t>
            </a:r>
            <a:endParaRPr dirty="0"/>
          </a:p>
        </p:txBody>
      </p:sp>
      <p:sp>
        <p:nvSpPr>
          <p:cNvPr id="344" name="Google Shape;344;p34"/>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45" name="Google Shape;345;p34"/>
          <p:cNvSpPr txBox="1"/>
          <p:nvPr/>
        </p:nvSpPr>
        <p:spPr>
          <a:xfrm>
            <a:off x="2193500" y="3309275"/>
            <a:ext cx="2044800" cy="615600"/>
          </a:xfrm>
          <a:prstGeom prst="rect">
            <a:avLst/>
          </a:prstGeom>
          <a:noFill/>
          <a:ln>
            <a:noFill/>
          </a:ln>
        </p:spPr>
        <p:txBody>
          <a:bodyPr spcFirstLastPara="1" wrap="square" lIns="91425" tIns="91425" rIns="91425" bIns="91425" anchor="t" anchorCtr="0">
            <a:spAutoFit/>
          </a:bodyPr>
          <a:lstStyle/>
          <a:p>
            <a:pPr algn="ctr"/>
            <a:r>
              <a:rPr lang="en-US">
                <a:latin typeface="Verdana"/>
                <a:ea typeface="Verdana"/>
                <a:cs typeface="Verdana"/>
                <a:sym typeface="Verdana"/>
              </a:rPr>
              <a:t>I need help. I can’t get started.</a:t>
            </a:r>
            <a:endParaRPr>
              <a:latin typeface="Verdana"/>
              <a:ea typeface="Verdana"/>
              <a:cs typeface="Verdana"/>
              <a:sym typeface="Verdana"/>
            </a:endParaRPr>
          </a:p>
        </p:txBody>
      </p:sp>
      <p:sp>
        <p:nvSpPr>
          <p:cNvPr id="346" name="Google Shape;346;p34"/>
          <p:cNvSpPr txBox="1"/>
          <p:nvPr/>
        </p:nvSpPr>
        <p:spPr>
          <a:xfrm>
            <a:off x="4925825" y="3416975"/>
            <a:ext cx="2044800" cy="400200"/>
          </a:xfrm>
          <a:prstGeom prst="rect">
            <a:avLst/>
          </a:prstGeom>
          <a:noFill/>
          <a:ln>
            <a:noFill/>
          </a:ln>
        </p:spPr>
        <p:txBody>
          <a:bodyPr spcFirstLastPara="1" wrap="square" lIns="91425" tIns="91425" rIns="91425" bIns="91425" anchor="t" anchorCtr="0">
            <a:spAutoFit/>
          </a:bodyPr>
          <a:lstStyle/>
          <a:p>
            <a:pPr algn="ctr"/>
            <a:r>
              <a:rPr lang="en-US">
                <a:latin typeface="Verdana"/>
                <a:ea typeface="Verdana"/>
                <a:cs typeface="Verdana"/>
                <a:sym typeface="Verdana"/>
              </a:rPr>
              <a:t>I’m getting there.</a:t>
            </a:r>
            <a:endParaRPr>
              <a:latin typeface="Verdana"/>
              <a:ea typeface="Verdana"/>
              <a:cs typeface="Verdana"/>
              <a:sym typeface="Verdana"/>
            </a:endParaRPr>
          </a:p>
        </p:txBody>
      </p:sp>
      <p:sp>
        <p:nvSpPr>
          <p:cNvPr id="347" name="Google Shape;347;p34"/>
          <p:cNvSpPr txBox="1"/>
          <p:nvPr/>
        </p:nvSpPr>
        <p:spPr>
          <a:xfrm>
            <a:off x="7609350" y="3309275"/>
            <a:ext cx="2044800" cy="615600"/>
          </a:xfrm>
          <a:prstGeom prst="rect">
            <a:avLst/>
          </a:prstGeom>
          <a:noFill/>
          <a:ln>
            <a:noFill/>
          </a:ln>
        </p:spPr>
        <p:txBody>
          <a:bodyPr spcFirstLastPara="1" wrap="square" lIns="91425" tIns="91425" rIns="91425" bIns="91425" anchor="t" anchorCtr="0">
            <a:spAutoFit/>
          </a:bodyPr>
          <a:lstStyle/>
          <a:p>
            <a:pPr algn="ctr"/>
            <a:r>
              <a:rPr lang="en-US">
                <a:latin typeface="Verdana"/>
                <a:ea typeface="Verdana"/>
                <a:cs typeface="Verdana"/>
                <a:sym typeface="Verdana"/>
              </a:rPr>
              <a:t>I understand and have evidence.</a:t>
            </a:r>
            <a:endParaRPr>
              <a:latin typeface="Verdana"/>
              <a:ea typeface="Verdana"/>
              <a:cs typeface="Verdana"/>
              <a:sym typeface="Verdana"/>
            </a:endParaRPr>
          </a:p>
        </p:txBody>
      </p:sp>
      <p:pic>
        <p:nvPicPr>
          <p:cNvPr id="348" name="Google Shape;348;p34"/>
          <p:cNvPicPr preferRelativeResize="0"/>
          <p:nvPr/>
        </p:nvPicPr>
        <p:blipFill>
          <a:blip r:embed="rId4">
            <a:alphaModFix/>
          </a:blip>
          <a:stretch>
            <a:fillRect/>
          </a:stretch>
        </p:blipFill>
        <p:spPr>
          <a:xfrm>
            <a:off x="2242299" y="3924875"/>
            <a:ext cx="7411851" cy="499675"/>
          </a:xfrm>
          <a:prstGeom prst="rect">
            <a:avLst/>
          </a:prstGeom>
          <a:noFill/>
          <a:ln>
            <a:noFill/>
          </a:ln>
        </p:spPr>
      </p:pic>
      <p:sp>
        <p:nvSpPr>
          <p:cNvPr id="349" name="Google Shape;349;p34"/>
          <p:cNvSpPr txBox="1"/>
          <p:nvPr/>
        </p:nvSpPr>
        <p:spPr>
          <a:xfrm>
            <a:off x="1332000" y="4785688"/>
            <a:ext cx="9117325" cy="554100"/>
          </a:xfrm>
          <a:prstGeom prst="rect">
            <a:avLst/>
          </a:prstGeom>
          <a:noFill/>
          <a:ln>
            <a:noFill/>
          </a:ln>
        </p:spPr>
        <p:txBody>
          <a:bodyPr spcFirstLastPara="1" wrap="square" lIns="91425" tIns="91425" rIns="91425" bIns="91425" anchor="t" anchorCtr="0">
            <a:spAutoFit/>
          </a:bodyPr>
          <a:lstStyle/>
          <a:p>
            <a:r>
              <a:rPr lang="en-US" sz="2400">
                <a:latin typeface="Verdana"/>
                <a:ea typeface="Verdana"/>
                <a:cs typeface="Verdana"/>
                <a:sym typeface="Verdana"/>
              </a:rPr>
              <a:t>2. </a:t>
            </a:r>
            <a:r>
              <a:rPr lang="en-US" sz="2400" dirty="0">
                <a:latin typeface="Verdana"/>
                <a:ea typeface="Verdana"/>
                <a:cs typeface="Verdana"/>
                <a:sym typeface="Verdana"/>
              </a:rPr>
              <a:t>Briefly explain why you placed the X where you did.</a:t>
            </a:r>
            <a:endParaRPr sz="2400" dirty="0">
              <a:latin typeface="Verdana"/>
              <a:ea typeface="Verdana"/>
              <a:cs typeface="Verdana"/>
              <a:sym typeface="Verdana"/>
            </a:endParaRPr>
          </a:p>
        </p:txBody>
      </p:sp>
      <p:sp>
        <p:nvSpPr>
          <p:cNvPr id="13"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30</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876</Words>
  <Application>Microsoft Office PowerPoint</Application>
  <PresentationFormat>Widescreen</PresentationFormat>
  <Paragraphs>144</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Calibri</vt:lpstr>
      <vt:lpstr>Century Gothic</vt:lpstr>
      <vt:lpstr>Verdana</vt:lpstr>
      <vt:lpstr>1_Office Theme</vt:lpstr>
      <vt:lpstr>6th Grade Accelerated Math  Unit 1, Lesson 5  Dividing Multi-Digit Numbers with Decimals to the Thousandths  Volume 1, pg. 26  </vt:lpstr>
      <vt:lpstr>Benchmark</vt:lpstr>
      <vt:lpstr>PowerPoint Presentation</vt:lpstr>
      <vt:lpstr>PowerPoint Presentation</vt:lpstr>
      <vt:lpstr>Warm-Up</vt:lpstr>
      <vt:lpstr>PowerPoint Presentation</vt:lpstr>
      <vt:lpstr>Refresher</vt:lpstr>
      <vt:lpstr>PowerPoint Presentation</vt:lpstr>
      <vt:lpstr>Exploration</vt:lpstr>
      <vt:lpstr>PowerPoint Presentation</vt:lpstr>
      <vt:lpstr>PowerPoint Presentation</vt:lpstr>
      <vt:lpstr>PowerPoint Presentation</vt:lpstr>
      <vt:lpstr>Bring It Together</vt:lpstr>
      <vt:lpstr>PowerPoint Presentation</vt:lpstr>
      <vt:lpstr>Guided Practice</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 Lesson 5  Dividing Multi-Digit Numbers with Decimals to the Thousandths  Volume 1, pg. 26  </dc:title>
  <dc:creator>Karen McKenzie</dc:creator>
  <cp:lastModifiedBy>Cassie O'Connor</cp:lastModifiedBy>
  <cp:revision>5</cp:revision>
  <dcterms:created xsi:type="dcterms:W3CDTF">2015-03-17T18:51:18Z</dcterms:created>
  <dcterms:modified xsi:type="dcterms:W3CDTF">2022-06-29T04:33:04Z</dcterms:modified>
</cp:coreProperties>
</file>