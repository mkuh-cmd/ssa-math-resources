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289" r:id="rId9"/>
    <p:sldId id="290" r:id="rId10"/>
    <p:sldId id="308" r:id="rId11"/>
    <p:sldId id="338" r:id="rId12"/>
    <p:sldId id="339" r:id="rId13"/>
    <p:sldId id="340" r:id="rId14"/>
    <p:sldId id="342" r:id="rId15"/>
    <p:sldId id="343" r:id="rId16"/>
    <p:sldId id="320" r:id="rId17"/>
    <p:sldId id="321" r:id="rId18"/>
    <p:sldId id="332" r:id="rId19"/>
    <p:sldId id="333" r:id="rId20"/>
    <p:sldId id="334" r:id="rId21"/>
    <p:sldId id="335" r:id="rId22"/>
    <p:sldId id="336" r:id="rId23"/>
    <p:sldId id="302" r:id="rId24"/>
    <p:sldId id="303" r:id="rId25"/>
    <p:sldId id="322"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624"/>
    <p:restoredTop sz="94695"/>
  </p:normalViewPr>
  <p:slideViewPr>
    <p:cSldViewPr snapToGrid="0">
      <p:cViewPr varScale="1">
        <p:scale>
          <a:sx n="51" d="100"/>
          <a:sy n="51" d="100"/>
        </p:scale>
        <p:origin x="114" y="2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52953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67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779721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74277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66465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571062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13827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764722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653414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135830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052699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39566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245444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140859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9.png"/><Relationship Id="rId4"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Finding the Greatest Common Factor</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9175"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362570" y="69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33310" y="2961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981200" y="1600200"/>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MA.6.NSO.3.1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greatest common factor and least common multiple of two whole numbers.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713550" y="23209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38200" y="-1053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2568960" y="1596390"/>
            <a:ext cx="764184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322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691067"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84960" y="1600200"/>
            <a:ext cx="862584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find the greatest common factor (GCF) in mathematical and real-world contexts.</a:t>
            </a:r>
          </a:p>
          <a:p>
            <a:pPr marL="457200" indent="-4572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rewrite fractions in simplest form using the greatest common factor (GCF) of the numerator and denominator. </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261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5348"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 Warm-Up: Where Do Math Symbols Come From?</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78048"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773298" y="2272447"/>
                <a:ext cx="8962236"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Math is full of symbols that include lines, dots, arrows, English letters, Greek letters, and more. It can look and sometimes feel like its own language, and in many ways it is!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Robert </a:t>
                </a:r>
                <a:r>
                  <a:rPr lang="en-US" sz="2400" dirty="0" err="1">
                    <a:latin typeface="Verdana" panose="020B0604030504040204" pitchFamily="34" charset="0"/>
                    <a:ea typeface="Verdana" panose="020B0604030504040204" pitchFamily="34" charset="0"/>
                    <a:cs typeface="Verdana" panose="020B0604030504040204" pitchFamily="34" charset="0"/>
                  </a:rPr>
                  <a:t>Recorde</a:t>
                </a:r>
                <a:r>
                  <a:rPr lang="en-US" sz="2400" dirty="0">
                    <a:latin typeface="Verdana" panose="020B0604030504040204" pitchFamily="34" charset="0"/>
                    <a:ea typeface="Verdana" panose="020B0604030504040204" pitchFamily="34" charset="0"/>
                    <a:cs typeface="Verdana" panose="020B0604030504040204" pitchFamily="34" charset="0"/>
                  </a:rPr>
                  <a:t> invented the equals sign,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because he was tired of writing “is equal to” over and over again.</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73298" y="2272447"/>
                <a:ext cx="8962236" cy="2677656"/>
              </a:xfrm>
              <a:prstGeom prst="rect">
                <a:avLst/>
              </a:prstGeom>
              <a:blipFill>
                <a:blip r:embed="rId4"/>
                <a:stretch>
                  <a:fillRect l="-1088" t="-1822" r="-612" b="-432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2E26B32-0C88-7847-9ECA-D11545A204F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pic>
        <p:nvPicPr>
          <p:cNvPr id="4" name="Picture 3">
            <a:extLst>
              <a:ext uri="{FF2B5EF4-FFF2-40B4-BE49-F238E27FC236}">
                <a16:creationId xmlns:a16="http://schemas.microsoft.com/office/drawing/2014/main" id="{AEAF66E8-D53C-110F-1D34-C602A0E4CE55}"/>
              </a:ext>
            </a:extLst>
          </p:cNvPr>
          <p:cNvPicPr>
            <a:picLocks noChangeAspect="1"/>
          </p:cNvPicPr>
          <p:nvPr/>
        </p:nvPicPr>
        <p:blipFill>
          <a:blip r:embed="rId6"/>
          <a:stretch>
            <a:fillRect/>
          </a:stretch>
        </p:blipFill>
        <p:spPr>
          <a:xfrm>
            <a:off x="9282211" y="239836"/>
            <a:ext cx="1975436" cy="2016307"/>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95400" y="520393"/>
            <a:ext cx="9039501" cy="409342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is a word or phrase that you use a symbol to represent instead of writing it out each time?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Why did early mathematicians decide to use symbols to express operations, phrases, and mathematical ideas?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Why are math symbols still helpful to us today?</a:t>
            </a: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5348" y="-3858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1.1.2 Guided Instruction: Greatest Common Factor</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78048" y="168683"/>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554480" y="1386025"/>
            <a:ext cx="8833104"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Marcus and Tonya are making care packages for soldiers overseas. Inside of each package, they will include popular snacks and handwritten letters. They have </a:t>
            </a:r>
            <a:r>
              <a:rPr lang="en-US" sz="2400" dirty="0">
                <a:latin typeface="Cambria Math" panose="02040503050406030204" pitchFamily="18" charset="0"/>
                <a:ea typeface="Cambria Math" panose="02040503050406030204" pitchFamily="18" charset="0"/>
                <a:cs typeface="Verdana" panose="020B0604030504040204" pitchFamily="34" charset="0"/>
              </a:rPr>
              <a:t>16</a:t>
            </a:r>
            <a:r>
              <a:rPr lang="en-US" sz="2400" dirty="0">
                <a:latin typeface="Verdana" panose="020B0604030504040204" pitchFamily="34" charset="0"/>
                <a:ea typeface="Verdana" panose="020B0604030504040204" pitchFamily="34" charset="0"/>
                <a:cs typeface="Verdana" panose="020B0604030504040204" pitchFamily="34" charset="0"/>
              </a:rPr>
              <a:t> snacks and </a:t>
            </a:r>
            <a:r>
              <a:rPr lang="en-US" sz="2400" dirty="0">
                <a:latin typeface="Cambria Math" panose="02040503050406030204" pitchFamily="18" charset="0"/>
                <a:ea typeface="Cambria Math" panose="02040503050406030204" pitchFamily="18" charset="0"/>
                <a:cs typeface="Verdana" panose="020B0604030504040204" pitchFamily="34" charset="0"/>
              </a:rPr>
              <a:t>12</a:t>
            </a:r>
            <a:r>
              <a:rPr lang="en-US" sz="2400" dirty="0">
                <a:latin typeface="Verdana" panose="020B0604030504040204" pitchFamily="34" charset="0"/>
                <a:ea typeface="Verdana" panose="020B0604030504040204" pitchFamily="34" charset="0"/>
                <a:cs typeface="Verdana" panose="020B0604030504040204" pitchFamily="34" charset="0"/>
              </a:rPr>
              <a:t> letters to put in the care packages. They want each care package to be equally sized, containing both snacks and letters, with nothing left over.</a:t>
            </a:r>
          </a:p>
        </p:txBody>
      </p:sp>
      <p:sp>
        <p:nvSpPr>
          <p:cNvPr id="8" name="Google Shape;278;g104476d1465_1_17">
            <a:extLst>
              <a:ext uri="{FF2B5EF4-FFF2-40B4-BE49-F238E27FC236}">
                <a16:creationId xmlns:a16="http://schemas.microsoft.com/office/drawing/2014/main" id="{7D185CEC-69E3-ED4E-87D7-D8AED7B32136}"/>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960120" y="288746"/>
            <a:ext cx="9299448" cy="830997"/>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tables below to show the possible combinations when making each care package.</a:t>
            </a: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73892484"/>
                  </p:ext>
                </p:extLst>
              </p:nvPr>
            </p:nvGraphicFramePr>
            <p:xfrm>
              <a:off x="1950720" y="1790665"/>
              <a:ext cx="3839982" cy="4034155"/>
            </p:xfrm>
            <a:graphic>
              <a:graphicData uri="http://schemas.openxmlformats.org/drawingml/2006/table">
                <a:tbl>
                  <a:tblPr bandRow="1">
                    <a:tableStyleId>{5940675A-B579-460E-94D1-54222C63F5DA}</a:tableStyleId>
                  </a:tblPr>
                  <a:tblGrid>
                    <a:gridCol w="1767963">
                      <a:extLst>
                        <a:ext uri="{9D8B030D-6E8A-4147-A177-3AD203B41FA5}">
                          <a16:colId xmlns:a16="http://schemas.microsoft.com/office/drawing/2014/main" val="20000"/>
                        </a:ext>
                      </a:extLst>
                    </a:gridCol>
                    <a:gridCol w="2072019">
                      <a:extLst>
                        <a:ext uri="{9D8B030D-6E8A-4147-A177-3AD203B41FA5}">
                          <a16:colId xmlns:a16="http://schemas.microsoft.com/office/drawing/2014/main" val="20001"/>
                        </a:ext>
                      </a:extLst>
                    </a:gridCol>
                  </a:tblGrid>
                  <a:tr h="679450">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Distributing Snacks Equally</a:t>
                          </a:r>
                        </a:p>
                      </a:txBody>
                      <a:tcPr marL="68580" marR="68580" marT="0" marB="0" anchor="ctr">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0"/>
                      </a:ext>
                    </a:extLst>
                  </a:tr>
                  <a:tr h="822325">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Care Packages</a:t>
                          </a:r>
                        </a:p>
                      </a:txBody>
                      <a:tcPr marL="68580" marR="68580" marT="0" marB="0" anchor="ctr">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Snacks per Package</a:t>
                          </a:r>
                        </a:p>
                      </a:txBody>
                      <a:tcPr marL="68580" marR="68580" marT="0" marB="0" anchor="ctr">
                        <a:solidFill>
                          <a:schemeClr val="bg1">
                            <a:lumMod val="75000"/>
                          </a:schemeClr>
                        </a:solidFill>
                      </a:tcPr>
                    </a:tc>
                    <a:extLst>
                      <a:ext uri="{0D108BD9-81ED-4DB2-BD59-A6C34878D82A}">
                        <a16:rowId xmlns:a16="http://schemas.microsoft.com/office/drawing/2014/main" val="10001"/>
                      </a:ext>
                    </a:extLst>
                  </a:tr>
                  <a:tr h="47307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10002"/>
                      </a:ext>
                    </a:extLst>
                  </a:tr>
                  <a:tr h="48514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10003"/>
                      </a:ext>
                    </a:extLst>
                  </a:tr>
                  <a:tr h="48514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extLst>
                      <a:ext uri="{0D108BD9-81ED-4DB2-BD59-A6C34878D82A}">
                        <a16:rowId xmlns:a16="http://schemas.microsoft.com/office/drawing/2014/main" val="10004"/>
                      </a:ext>
                    </a:extLst>
                  </a:tr>
                  <a:tr h="498475">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extLst>
                      <a:ext uri="{0D108BD9-81ED-4DB2-BD59-A6C34878D82A}">
                        <a16:rowId xmlns:a16="http://schemas.microsoft.com/office/drawing/2014/main" val="10005"/>
                      </a:ext>
                    </a:extLst>
                  </a:tr>
                  <a:tr h="498475">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73892484"/>
                  </p:ext>
                </p:extLst>
              </p:nvPr>
            </p:nvGraphicFramePr>
            <p:xfrm>
              <a:off x="1950720" y="1790665"/>
              <a:ext cx="3839982" cy="4034155"/>
            </p:xfrm>
            <a:graphic>
              <a:graphicData uri="http://schemas.openxmlformats.org/drawingml/2006/table">
                <a:tbl>
                  <a:tblPr bandRow="1">
                    <a:tableStyleId>{5940675A-B579-460E-94D1-54222C63F5DA}</a:tableStyleId>
                  </a:tblPr>
                  <a:tblGrid>
                    <a:gridCol w="1767963">
                      <a:extLst>
                        <a:ext uri="{9D8B030D-6E8A-4147-A177-3AD203B41FA5}">
                          <a16:colId xmlns:a16="http://schemas.microsoft.com/office/drawing/2014/main" xmlns:a14="http://schemas.microsoft.com/office/drawing/2010/main" xmlns="" val="20000"/>
                        </a:ext>
                      </a:extLst>
                    </a:gridCol>
                    <a:gridCol w="2072019">
                      <a:extLst>
                        <a:ext uri="{9D8B030D-6E8A-4147-A177-3AD203B41FA5}">
                          <a16:colId xmlns:a16="http://schemas.microsoft.com/office/drawing/2014/main" xmlns:a14="http://schemas.microsoft.com/office/drawing/2010/main" xmlns="" val="20001"/>
                        </a:ext>
                      </a:extLst>
                    </a:gridCol>
                  </a:tblGrid>
                  <a:tr h="679450">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Distributing Snacks Equally</a:t>
                          </a:r>
                        </a:p>
                      </a:txBody>
                      <a:tcPr marL="68580" marR="68580" marT="0" marB="0" anchor="ctr">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0"/>
                      </a:ext>
                    </a:extLst>
                  </a:tr>
                  <a:tr h="914400">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Care Packages</a:t>
                          </a:r>
                        </a:p>
                      </a:txBody>
                      <a:tcPr marL="68580" marR="68580" marT="0" marB="0" anchor="ctr">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Snacks per Package</a:t>
                          </a:r>
                        </a:p>
                      </a:txBody>
                      <a:tcPr marL="68580" marR="68580" marT="0" marB="0" anchor="ctr">
                        <a:solidFill>
                          <a:schemeClr val="bg1">
                            <a:lumMod val="75000"/>
                          </a:schemeClr>
                        </a:solidFill>
                      </a:tcPr>
                    </a:tc>
                    <a:extLst>
                      <a:ext uri="{0D108BD9-81ED-4DB2-BD59-A6C34878D82A}">
                        <a16:rowId xmlns:a16="http://schemas.microsoft.com/office/drawing/2014/main" xmlns:a14="http://schemas.microsoft.com/office/drawing/2010/main" xmlns="" val="10001"/>
                      </a:ext>
                    </a:extLst>
                  </a:tr>
                  <a:tr h="473075">
                    <a:tc>
                      <a:txBody>
                        <a:bodyPr/>
                        <a:lstStyle/>
                        <a:p>
                          <a:endParaRPr lang="en-US"/>
                        </a:p>
                      </a:txBody>
                      <a:tcPr marL="68580" marR="68580" marT="0" marB="0" anchor="ctr">
                        <a:blipFill rotWithShape="0">
                          <a:blip r:embed="rId3"/>
                          <a:stretch>
                            <a:fillRect l="-690" t="-344872" r="-118276" b="-416667"/>
                          </a:stretch>
                        </a:blipFill>
                      </a:tcPr>
                    </a:tc>
                    <a:tc>
                      <a:txBody>
                        <a:bodyPr/>
                        <a:lstStyle/>
                        <a:p>
                          <a:endParaRPr lang="en-US"/>
                        </a:p>
                      </a:txBody>
                      <a:tcPr marL="68580" marR="68580" marT="0" marB="0" anchor="ctr">
                        <a:blipFill rotWithShape="0">
                          <a:blip r:embed="rId3"/>
                          <a:stretch>
                            <a:fillRect l="-85882" t="-344872" r="-882" b="-416667"/>
                          </a:stretch>
                        </a:blipFill>
                      </a:tcPr>
                    </a:tc>
                    <a:extLst>
                      <a:ext uri="{0D108BD9-81ED-4DB2-BD59-A6C34878D82A}">
                        <a16:rowId xmlns:a16="http://schemas.microsoft.com/office/drawing/2014/main" xmlns:a14="http://schemas.microsoft.com/office/drawing/2010/main" xmlns="" val="10002"/>
                      </a:ext>
                    </a:extLst>
                  </a:tr>
                  <a:tr h="485140">
                    <a:tc>
                      <a:txBody>
                        <a:bodyPr/>
                        <a:lstStyle/>
                        <a:p>
                          <a:endParaRPr lang="en-US"/>
                        </a:p>
                      </a:txBody>
                      <a:tcPr marL="68580" marR="68580" marT="0" marB="0" anchor="ctr">
                        <a:blipFill rotWithShape="0">
                          <a:blip r:embed="rId3"/>
                          <a:stretch>
                            <a:fillRect l="-690" t="-439241" r="-118276" b="-311392"/>
                          </a:stretch>
                        </a:blipFill>
                      </a:tcPr>
                    </a:tc>
                    <a:tc>
                      <a:txBody>
                        <a:bodyPr/>
                        <a:lstStyle/>
                        <a:p>
                          <a:endParaRPr lang="en-US"/>
                        </a:p>
                      </a:txBody>
                      <a:tcPr marL="68580" marR="68580" marT="0" marB="0" anchor="ctr">
                        <a:blipFill rotWithShape="0">
                          <a:blip r:embed="rId3"/>
                          <a:stretch>
                            <a:fillRect l="-85882" t="-439241" r="-882" b="-311392"/>
                          </a:stretch>
                        </a:blipFill>
                      </a:tcPr>
                    </a:tc>
                    <a:extLst>
                      <a:ext uri="{0D108BD9-81ED-4DB2-BD59-A6C34878D82A}">
                        <a16:rowId xmlns:a16="http://schemas.microsoft.com/office/drawing/2014/main" xmlns:a14="http://schemas.microsoft.com/office/drawing/2010/main" xmlns="" val="10003"/>
                      </a:ext>
                    </a:extLst>
                  </a:tr>
                  <a:tr h="485140">
                    <a:tc>
                      <a:txBody>
                        <a:bodyPr/>
                        <a:lstStyle/>
                        <a:p>
                          <a:endParaRPr lang="en-US"/>
                        </a:p>
                      </a:txBody>
                      <a:tcPr marL="68580" marR="68580" marT="0" marB="0" anchor="ctr">
                        <a:blipFill rotWithShape="0">
                          <a:blip r:embed="rId3"/>
                          <a:stretch>
                            <a:fillRect l="-690" t="-532500" r="-118276" b="-207500"/>
                          </a:stretch>
                        </a:blipFill>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extLst>
                      <a:ext uri="{0D108BD9-81ED-4DB2-BD59-A6C34878D82A}">
                        <a16:rowId xmlns:a16="http://schemas.microsoft.com/office/drawing/2014/main" xmlns:a14="http://schemas.microsoft.com/office/drawing/2010/main" xmlns="" val="10004"/>
                      </a:ext>
                    </a:extLst>
                  </a:tr>
                  <a:tr h="498475">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extLst>
                      <a:ext uri="{0D108BD9-81ED-4DB2-BD59-A6C34878D82A}">
                        <a16:rowId xmlns:a16="http://schemas.microsoft.com/office/drawing/2014/main" xmlns:a14="http://schemas.microsoft.com/office/drawing/2010/main" xmlns="" val="10005"/>
                      </a:ext>
                    </a:extLst>
                  </a:tr>
                  <a:tr h="498475">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tc>
                    <a:tc>
                      <a:txBody>
                        <a:bodyPr/>
                        <a:lstStyle/>
                        <a:p>
                          <a:endParaRPr lang="en-US"/>
                        </a:p>
                      </a:txBody>
                      <a:tcPr marL="68580" marR="68580" marT="0" marB="0" anchor="ctr">
                        <a:blipFill rotWithShape="0">
                          <a:blip r:embed="rId3"/>
                          <a:stretch>
                            <a:fillRect l="-85882" t="-717073" r="-882" b="-2439"/>
                          </a:stretch>
                        </a:blipFill>
                      </a:tcPr>
                    </a:tc>
                    <a:extLst>
                      <a:ext uri="{0D108BD9-81ED-4DB2-BD59-A6C34878D82A}">
                        <a16:rowId xmlns:a16="http://schemas.microsoft.com/office/drawing/2014/main" xmlns:a14="http://schemas.microsoft.com/office/drawing/2010/main" xmlns="" val="1000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594750047"/>
                  </p:ext>
                </p:extLst>
              </p:nvPr>
            </p:nvGraphicFramePr>
            <p:xfrm>
              <a:off x="6224112" y="1789380"/>
              <a:ext cx="3636168" cy="4459428"/>
            </p:xfrm>
            <a:graphic>
              <a:graphicData uri="http://schemas.openxmlformats.org/drawingml/2006/table">
                <a:tbl>
                  <a:tblPr bandRow="1">
                    <a:tableStyleId>{5940675A-B579-460E-94D1-54222C63F5DA}</a:tableStyleId>
                  </a:tblPr>
                  <a:tblGrid>
                    <a:gridCol w="1800411">
                      <a:extLst>
                        <a:ext uri="{9D8B030D-6E8A-4147-A177-3AD203B41FA5}">
                          <a16:colId xmlns:a16="http://schemas.microsoft.com/office/drawing/2014/main" val="20000"/>
                        </a:ext>
                      </a:extLst>
                    </a:gridCol>
                    <a:gridCol w="1835757">
                      <a:extLst>
                        <a:ext uri="{9D8B030D-6E8A-4147-A177-3AD203B41FA5}">
                          <a16:colId xmlns:a16="http://schemas.microsoft.com/office/drawing/2014/main" val="20001"/>
                        </a:ext>
                      </a:extLst>
                    </a:gridCol>
                  </a:tblGrid>
                  <a:tr h="665704">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Distributing Letters Equally</a:t>
                          </a:r>
                        </a:p>
                      </a:txBody>
                      <a:tcPr marL="67193" marR="67193" marT="0" marB="0" anchor="ctr">
                        <a:solidFill>
                          <a:schemeClr val="bg1">
                            <a:lumMod val="75000"/>
                          </a:schemeClr>
                        </a:solidFill>
                      </a:tcPr>
                    </a:tc>
                    <a:tc hMerge="1">
                      <a:txBody>
                        <a:bodyPr/>
                        <a:lstStyle/>
                        <a:p>
                          <a:endParaRPr lang="en-US"/>
                        </a:p>
                      </a:txBody>
                      <a:tcPr/>
                    </a:tc>
                    <a:extLst>
                      <a:ext uri="{0D108BD9-81ED-4DB2-BD59-A6C34878D82A}">
                        <a16:rowId xmlns:a16="http://schemas.microsoft.com/office/drawing/2014/main" val="10000"/>
                      </a:ext>
                    </a:extLst>
                  </a:tr>
                  <a:tr h="806310">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Care Packages</a:t>
                          </a:r>
                        </a:p>
                      </a:txBody>
                      <a:tcPr marL="67193" marR="67193" marT="0" marB="0" anchor="ctr">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Letters per Package</a:t>
                          </a:r>
                        </a:p>
                      </a:txBody>
                      <a:tcPr marL="67193" marR="67193" marT="0" marB="0" anchor="ctr">
                        <a:solidFill>
                          <a:schemeClr val="bg1">
                            <a:lumMod val="75000"/>
                          </a:schemeClr>
                        </a:solidFill>
                      </a:tcPr>
                    </a:tc>
                    <a:extLst>
                      <a:ext uri="{0D108BD9-81ED-4DB2-BD59-A6C34878D82A}">
                        <a16:rowId xmlns:a16="http://schemas.microsoft.com/office/drawing/2014/main" val="10001"/>
                      </a:ext>
                    </a:extLst>
                  </a:tr>
                  <a:tr h="463504">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2"/>
                      </a:ext>
                    </a:extLst>
                  </a:tr>
                  <a:tr h="47532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3"/>
                      </a:ext>
                    </a:extLst>
                  </a:tr>
                  <a:tr h="47532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4"/>
                      </a:ext>
                    </a:extLst>
                  </a:tr>
                  <a:tr h="488390">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5"/>
                      </a:ext>
                    </a:extLst>
                  </a:tr>
                  <a:tr h="488390">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6"/>
                      </a:ext>
                    </a:extLst>
                  </a:tr>
                  <a:tr h="488390">
                    <a:tc>
                      <a:txBody>
                        <a:bodyPr/>
                        <a:lstStyle/>
                        <a:p>
                          <a:pPr marL="0" marR="0">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val="10007"/>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594750047"/>
                  </p:ext>
                </p:extLst>
              </p:nvPr>
            </p:nvGraphicFramePr>
            <p:xfrm>
              <a:off x="6224112" y="1789380"/>
              <a:ext cx="3636168" cy="4459428"/>
            </p:xfrm>
            <a:graphic>
              <a:graphicData uri="http://schemas.openxmlformats.org/drawingml/2006/table">
                <a:tbl>
                  <a:tblPr bandRow="1">
                    <a:tableStyleId>{5940675A-B579-460E-94D1-54222C63F5DA}</a:tableStyleId>
                  </a:tblPr>
                  <a:tblGrid>
                    <a:gridCol w="1800411">
                      <a:extLst>
                        <a:ext uri="{9D8B030D-6E8A-4147-A177-3AD203B41FA5}">
                          <a16:colId xmlns:a16="http://schemas.microsoft.com/office/drawing/2014/main" xmlns:a14="http://schemas.microsoft.com/office/drawing/2010/main" xmlns="" val="20000"/>
                        </a:ext>
                      </a:extLst>
                    </a:gridCol>
                    <a:gridCol w="1835757">
                      <a:extLst>
                        <a:ext uri="{9D8B030D-6E8A-4147-A177-3AD203B41FA5}">
                          <a16:colId xmlns:a16="http://schemas.microsoft.com/office/drawing/2014/main" xmlns:a14="http://schemas.microsoft.com/office/drawing/2010/main" xmlns="" val="20001"/>
                        </a:ext>
                      </a:extLst>
                    </a:gridCol>
                  </a:tblGrid>
                  <a:tr h="665704">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Distributing Letters Equally</a:t>
                          </a:r>
                        </a:p>
                      </a:txBody>
                      <a:tcPr marL="67193" marR="67193" marT="0" marB="0" anchor="ctr">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0000"/>
                      </a:ext>
                    </a:extLst>
                  </a:tr>
                  <a:tr h="914400">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Care Packages</a:t>
                          </a:r>
                        </a:p>
                      </a:txBody>
                      <a:tcPr marL="67193" marR="67193" marT="0" marB="0" anchor="ctr">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Letters per Package</a:t>
                          </a:r>
                        </a:p>
                      </a:txBody>
                      <a:tcPr marL="67193" marR="67193" marT="0" marB="0" anchor="ctr">
                        <a:solidFill>
                          <a:schemeClr val="bg1">
                            <a:lumMod val="75000"/>
                          </a:schemeClr>
                        </a:solidFill>
                      </a:tcPr>
                    </a:tc>
                    <a:extLst>
                      <a:ext uri="{0D108BD9-81ED-4DB2-BD59-A6C34878D82A}">
                        <a16:rowId xmlns:a16="http://schemas.microsoft.com/office/drawing/2014/main" xmlns:a14="http://schemas.microsoft.com/office/drawing/2010/main" xmlns="" val="10001"/>
                      </a:ext>
                    </a:extLst>
                  </a:tr>
                  <a:tr h="463504">
                    <a:tc>
                      <a:txBody>
                        <a:bodyPr/>
                        <a:lstStyle/>
                        <a:p>
                          <a:endParaRPr lang="en-US"/>
                        </a:p>
                      </a:txBody>
                      <a:tcPr marL="67193" marR="67193" marT="0" marB="0" anchor="ctr">
                        <a:blipFill rotWithShape="0">
                          <a:blip r:embed="rId4"/>
                          <a:stretch>
                            <a:fillRect l="-676" t="-352632" r="-102365" b="-525000"/>
                          </a:stretch>
                        </a:blipFill>
                      </a:tcPr>
                    </a:tc>
                    <a:tc>
                      <a:txBody>
                        <a:bodyPr/>
                        <a:lstStyle/>
                        <a:p>
                          <a:endParaRPr lang="en-US"/>
                        </a:p>
                      </a:txBody>
                      <a:tcPr marL="67193" marR="67193" marT="0" marB="0" anchor="ctr">
                        <a:blipFill rotWithShape="0">
                          <a:blip r:embed="rId4"/>
                          <a:stretch>
                            <a:fillRect l="-99003" t="-352632" r="-664" b="-525000"/>
                          </a:stretch>
                        </a:blipFill>
                      </a:tcPr>
                    </a:tc>
                    <a:extLst>
                      <a:ext uri="{0D108BD9-81ED-4DB2-BD59-A6C34878D82A}">
                        <a16:rowId xmlns:a16="http://schemas.microsoft.com/office/drawing/2014/main" xmlns:a14="http://schemas.microsoft.com/office/drawing/2010/main" xmlns="" val="10002"/>
                      </a:ext>
                    </a:extLst>
                  </a:tr>
                  <a:tr h="475325">
                    <a:tc>
                      <a:txBody>
                        <a:bodyPr/>
                        <a:lstStyle/>
                        <a:p>
                          <a:endParaRPr lang="en-US"/>
                        </a:p>
                      </a:txBody>
                      <a:tcPr marL="67193" marR="67193" marT="0" marB="0" anchor="ctr">
                        <a:blipFill rotWithShape="0">
                          <a:blip r:embed="rId4"/>
                          <a:stretch>
                            <a:fillRect l="-676" t="-441026" r="-102365" b="-411538"/>
                          </a:stretch>
                        </a:blipFill>
                      </a:tcPr>
                    </a:tc>
                    <a:tc>
                      <a:txBody>
                        <a:bodyPr/>
                        <a:lstStyle/>
                        <a:p>
                          <a:endParaRPr lang="en-US"/>
                        </a:p>
                      </a:txBody>
                      <a:tcPr marL="67193" marR="67193" marT="0" marB="0" anchor="ctr">
                        <a:blipFill rotWithShape="0">
                          <a:blip r:embed="rId4"/>
                          <a:stretch>
                            <a:fillRect l="-99003" t="-441026" r="-664" b="-411538"/>
                          </a:stretch>
                        </a:blipFill>
                      </a:tcPr>
                    </a:tc>
                    <a:extLst>
                      <a:ext uri="{0D108BD9-81ED-4DB2-BD59-A6C34878D82A}">
                        <a16:rowId xmlns:a16="http://schemas.microsoft.com/office/drawing/2014/main" xmlns:a14="http://schemas.microsoft.com/office/drawing/2010/main" xmlns="" val="10003"/>
                      </a:ext>
                    </a:extLst>
                  </a:tr>
                  <a:tr h="475325">
                    <a:tc>
                      <a:txBody>
                        <a:bodyPr/>
                        <a:lstStyle/>
                        <a:p>
                          <a:endParaRPr lang="en-US"/>
                        </a:p>
                      </a:txBody>
                      <a:tcPr marL="67193" marR="67193" marT="0" marB="0" anchor="ctr">
                        <a:blipFill rotWithShape="0">
                          <a:blip r:embed="rId4"/>
                          <a:stretch>
                            <a:fillRect l="-676" t="-541026" r="-102365" b="-311538"/>
                          </a:stretch>
                        </a:blipFill>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extLst>
                      <a:ext uri="{0D108BD9-81ED-4DB2-BD59-A6C34878D82A}">
                        <a16:rowId xmlns:a16="http://schemas.microsoft.com/office/drawing/2014/main" xmlns:a14="http://schemas.microsoft.com/office/drawing/2010/main" xmlns="" val="10004"/>
                      </a:ext>
                    </a:extLst>
                  </a:tr>
                  <a:tr h="488390">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endParaRPr lang="en-US"/>
                        </a:p>
                      </a:txBody>
                      <a:tcPr marL="67193" marR="67193" marT="0" marB="0" anchor="ctr">
                        <a:blipFill rotWithShape="0">
                          <a:blip r:embed="rId4"/>
                          <a:stretch>
                            <a:fillRect l="-99003" t="-625000" r="-664" b="-203750"/>
                          </a:stretch>
                        </a:blipFill>
                      </a:tcPr>
                    </a:tc>
                    <a:extLst>
                      <a:ext uri="{0D108BD9-81ED-4DB2-BD59-A6C34878D82A}">
                        <a16:rowId xmlns:a16="http://schemas.microsoft.com/office/drawing/2014/main" xmlns:a14="http://schemas.microsoft.com/office/drawing/2010/main" xmlns="" val="10005"/>
                      </a:ext>
                    </a:extLst>
                  </a:tr>
                  <a:tr h="488390">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endParaRPr lang="en-US"/>
                        </a:p>
                      </a:txBody>
                      <a:tcPr marL="67193" marR="67193" marT="0" marB="0" anchor="ctr">
                        <a:blipFill rotWithShape="0">
                          <a:blip r:embed="rId4"/>
                          <a:stretch>
                            <a:fillRect l="-99003" t="-716049" r="-664" b="-101235"/>
                          </a:stretch>
                        </a:blipFill>
                      </a:tcPr>
                    </a:tc>
                    <a:extLst>
                      <a:ext uri="{0D108BD9-81ED-4DB2-BD59-A6C34878D82A}">
                        <a16:rowId xmlns:a16="http://schemas.microsoft.com/office/drawing/2014/main" xmlns:a14="http://schemas.microsoft.com/office/drawing/2010/main" xmlns="" val="10006"/>
                      </a:ext>
                    </a:extLst>
                  </a:tr>
                  <a:tr h="488390">
                    <a:tc>
                      <a:txBody>
                        <a:bodyPr/>
                        <a:lstStyle/>
                        <a:p>
                          <a:pPr marL="0" marR="0">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7193" marR="67193" marT="0" marB="0" anchor="ctr"/>
                    </a:tc>
                    <a:tc>
                      <a:txBody>
                        <a:bodyPr/>
                        <a:lstStyle/>
                        <a:p>
                          <a:endParaRPr lang="en-US"/>
                        </a:p>
                      </a:txBody>
                      <a:tcPr marL="67193" marR="67193" marT="0" marB="0" anchor="ctr">
                        <a:blipFill rotWithShape="0">
                          <a:blip r:embed="rId4"/>
                          <a:stretch>
                            <a:fillRect l="-99003" t="-826250" r="-664" b="-2500"/>
                          </a:stretch>
                        </a:blipFill>
                      </a:tcPr>
                    </a:tc>
                    <a:extLst>
                      <a:ext uri="{0D108BD9-81ED-4DB2-BD59-A6C34878D82A}">
                        <a16:rowId xmlns:a16="http://schemas.microsoft.com/office/drawing/2014/main" xmlns:a14="http://schemas.microsoft.com/office/drawing/2010/main" xmlns="" val="10007"/>
                      </a:ext>
                    </a:extLst>
                  </a:tr>
                </a:tbl>
              </a:graphicData>
            </a:graphic>
          </p:graphicFrame>
        </mc:Fallback>
      </mc:AlternateContent>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4</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2347CCE-34A7-8044-BA67-B5895157AE55}"/>
              </a:ext>
            </a:extLst>
          </p:cNvPr>
          <p:cNvSpPr txBox="1"/>
          <p:nvPr/>
        </p:nvSpPr>
        <p:spPr>
          <a:xfrm>
            <a:off x="1021080" y="349706"/>
            <a:ext cx="9238488" cy="4524315"/>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greatest number of care packages that can be created using </a:t>
            </a:r>
            <a:r>
              <a:rPr lang="en-US" sz="2400" b="1" dirty="0">
                <a:latin typeface="Verdana" panose="020B0604030504040204" pitchFamily="34" charset="0"/>
                <a:ea typeface="Verdana" panose="020B0604030504040204" pitchFamily="34" charset="0"/>
                <a:cs typeface="Verdana" panose="020B0604030504040204" pitchFamily="34" charset="0"/>
              </a:rPr>
              <a:t>only</a:t>
            </a:r>
            <a:r>
              <a:rPr lang="en-US" sz="2400" dirty="0">
                <a:latin typeface="Verdana" panose="020B0604030504040204" pitchFamily="34" charset="0"/>
                <a:ea typeface="Verdana" panose="020B0604030504040204" pitchFamily="34" charset="0"/>
                <a:cs typeface="Verdana" panose="020B0604030504040204" pitchFamily="34" charset="0"/>
              </a:rPr>
              <a:t> snacks?</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greatest number of care packages that can be created using </a:t>
            </a:r>
            <a:r>
              <a:rPr lang="en-US" sz="2400" b="1" dirty="0">
                <a:latin typeface="Verdana" panose="020B0604030504040204" pitchFamily="34" charset="0"/>
                <a:ea typeface="Verdana" panose="020B0604030504040204" pitchFamily="34" charset="0"/>
                <a:cs typeface="Verdana" panose="020B0604030504040204" pitchFamily="34" charset="0"/>
              </a:rPr>
              <a:t>only</a:t>
            </a:r>
            <a:r>
              <a:rPr lang="en-US" sz="2400" dirty="0">
                <a:latin typeface="Verdana" panose="020B0604030504040204" pitchFamily="34" charset="0"/>
                <a:ea typeface="Verdana" panose="020B0604030504040204" pitchFamily="34" charset="0"/>
                <a:cs typeface="Verdana" panose="020B0604030504040204" pitchFamily="34" charset="0"/>
              </a:rPr>
              <a:t> letters?</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greatest number of care packages that can be created using </a:t>
            </a:r>
            <a:r>
              <a:rPr lang="en-US" sz="2400" b="1" dirty="0">
                <a:latin typeface="Verdana" panose="020B0604030504040204" pitchFamily="34" charset="0"/>
                <a:ea typeface="Verdana" panose="020B0604030504040204" pitchFamily="34" charset="0"/>
                <a:cs typeface="Verdana" panose="020B0604030504040204" pitchFamily="34" charset="0"/>
              </a:rPr>
              <a:t>both</a:t>
            </a:r>
            <a:r>
              <a:rPr lang="en-US" sz="2400" dirty="0">
                <a:latin typeface="Verdana" panose="020B0604030504040204" pitchFamily="34" charset="0"/>
                <a:ea typeface="Verdana" panose="020B0604030504040204" pitchFamily="34" charset="0"/>
                <a:cs typeface="Verdana" panose="020B0604030504040204" pitchFamily="34" charset="0"/>
              </a:rPr>
              <a:t> snacks and letters?</a:t>
            </a:r>
          </a:p>
        </p:txBody>
      </p:sp>
      <p:sp>
        <p:nvSpPr>
          <p:cNvPr id="6" name="Google Shape;278;g104476d1465_1_17">
            <a:extLst>
              <a:ext uri="{FF2B5EF4-FFF2-40B4-BE49-F238E27FC236}">
                <a16:creationId xmlns:a16="http://schemas.microsoft.com/office/drawing/2014/main" id="{23DDED37-A9DC-1840-BFB8-744A6C95606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4</a:t>
            </a:r>
            <a:endParaRPr i="1" dirty="0">
              <a:latin typeface="Calibri"/>
              <a:ea typeface="Calibri"/>
              <a:cs typeface="Calibri"/>
              <a:sym typeface="Calibri"/>
            </a:endParaRPr>
          </a:p>
        </p:txBody>
      </p:sp>
    </p:spTree>
    <p:extLst>
      <p:ext uri="{BB962C8B-B14F-4D97-AF65-F5344CB8AC3E}">
        <p14:creationId xmlns:p14="http://schemas.microsoft.com/office/powerpoint/2010/main" val="214449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193008" y="2486257"/>
                <a:ext cx="9357360"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For example, the </a:t>
                </a:r>
                <a:r>
                  <a:rPr lang="en-US" sz="2400" b="1" i="1" dirty="0">
                    <a:latin typeface="Verdana" panose="020B0604030504040204" pitchFamily="34" charset="0"/>
                    <a:ea typeface="Verdana" panose="020B0604030504040204" pitchFamily="34" charset="0"/>
                    <a:cs typeface="Verdana" panose="020B0604030504040204" pitchFamily="34" charset="0"/>
                  </a:rPr>
                  <a:t>factors</a:t>
                </a:r>
                <a:r>
                  <a:rPr lang="en-US" sz="24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400" i="1">
                        <a:latin typeface="Cambria Math" panose="02040503050406030204" pitchFamily="18" charset="0"/>
                        <a:ea typeface="Cambria Math" panose="02040503050406030204" pitchFamily="18" charset="0"/>
                      </a:rPr>
                      <m:t>20</m:t>
                    </m:r>
                  </m:oMath>
                </a14:m>
                <a:r>
                  <a:rPr lang="en-US" sz="2400" dirty="0">
                    <a:latin typeface="Verdana" panose="020B0604030504040204" pitchFamily="34" charset="0"/>
                    <a:ea typeface="Verdana" panose="020B0604030504040204" pitchFamily="34" charset="0"/>
                    <a:cs typeface="Verdana" panose="020B0604030504040204" pitchFamily="34" charset="0"/>
                  </a:rPr>
                  <a:t> are </a:t>
                </a:r>
                <a14:m>
                  <m:oMath xmlns:m="http://schemas.openxmlformats.org/officeDocument/2006/math">
                    <m:r>
                      <a:rPr lang="en-US" sz="2400" i="1">
                        <a:latin typeface="Cambria Math" panose="02040503050406030204" pitchFamily="18" charset="0"/>
                        <a:ea typeface="Cambria Math" panose="02040503050406030204" pitchFamily="18" charset="0"/>
                      </a:rPr>
                      <m:t>1, 2, 4, 5, 10</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400" i="1">
                        <a:latin typeface="Cambria Math" panose="02040503050406030204" pitchFamily="18" charset="0"/>
                        <a:ea typeface="Cambria Math" panose="02040503050406030204" pitchFamily="18" charset="0"/>
                      </a:rPr>
                      <m:t>20</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The numbers (or expressions) that are being multiplied are called the factors. When numbers (or expressions) are multiplied, the answer is called a product.</a:t>
                </a: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193008" y="2486257"/>
                <a:ext cx="9357360" cy="1938992"/>
              </a:xfrm>
              <a:prstGeom prst="rect">
                <a:avLst/>
              </a:prstGeom>
              <a:blipFill rotWithShape="0">
                <a:blip r:embed="rId3"/>
                <a:stretch>
                  <a:fillRect l="-1042" t="-2830" r="-1564" b="-628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p:cNvGrpSpPr/>
          <p:nvPr/>
        </p:nvGrpSpPr>
        <p:grpSpPr>
          <a:xfrm>
            <a:off x="2556988" y="301040"/>
            <a:ext cx="6629400" cy="1603586"/>
            <a:chOff x="2031300" y="2881101"/>
            <a:chExt cx="6629400" cy="1575174"/>
          </a:xfrm>
          <a:effectLst>
            <a:outerShdw blurRad="50800" dist="38100" dir="2700000" algn="tl" rotWithShape="0">
              <a:prstClr val="black">
                <a:alpha val="40000"/>
              </a:prstClr>
            </a:outerShdw>
          </a:effectLst>
        </p:grpSpPr>
        <p:grpSp>
          <p:nvGrpSpPr>
            <p:cNvPr id="8" name="Group 7"/>
            <p:cNvGrpSpPr/>
            <p:nvPr/>
          </p:nvGrpSpPr>
          <p:grpSpPr>
            <a:xfrm>
              <a:off x="2031300" y="2881101"/>
              <a:ext cx="6629400" cy="1575174"/>
              <a:chOff x="2031300" y="2992413"/>
              <a:chExt cx="6629400" cy="1575174"/>
            </a:xfrm>
          </p:grpSpPr>
          <p:sp>
            <p:nvSpPr>
              <p:cNvPr id="9" name="Rectangle 8"/>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0" name="Group 9"/>
              <p:cNvGrpSpPr/>
              <p:nvPr/>
            </p:nvGrpSpPr>
            <p:grpSpPr>
              <a:xfrm>
                <a:off x="2031300" y="2992413"/>
                <a:ext cx="6629400" cy="1575174"/>
                <a:chOff x="2031300" y="2992413"/>
                <a:chExt cx="6629400" cy="1575174"/>
              </a:xfrm>
            </p:grpSpPr>
            <p:sp>
              <p:nvSpPr>
                <p:cNvPr id="11" name="Rectangle 1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3" name="Group 12"/>
                <p:cNvGrpSpPr/>
                <p:nvPr/>
              </p:nvGrpSpPr>
              <p:grpSpPr>
                <a:xfrm>
                  <a:off x="2031300" y="2992413"/>
                  <a:ext cx="6629400" cy="1575174"/>
                  <a:chOff x="0" y="-381187"/>
                  <a:chExt cx="6629400" cy="1575174"/>
                </a:xfrm>
              </p:grpSpPr>
              <p:sp>
                <p:nvSpPr>
                  <p:cNvPr id="14" name="Rectangle 13"/>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5" name="Rounded Rectangle 14"/>
                  <p:cNvSpPr/>
                  <p:nvPr/>
                </p:nvSpPr>
                <p:spPr>
                  <a:xfrm>
                    <a:off x="0" y="-381187"/>
                    <a:ext cx="6629400" cy="1575174"/>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695325">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factor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number that divides into another number exactly and without leaving a remainder.</a:t>
                    </a:r>
                    <a:endParaRPr lang="en-US" sz="2000" dirty="0">
                      <a:latin typeface="Cambria" panose="02040503050406030204" pitchFamily="18" charset="0"/>
                      <a:ea typeface="Cambria" panose="02040503050406030204" pitchFamily="18" charset="0"/>
                      <a:cs typeface="Cambria" panose="02040503050406030204" pitchFamily="18" charset="0"/>
                    </a:endParaRPr>
                  </a:p>
                </p:txBody>
              </p:sp>
              <p:pic>
                <p:nvPicPr>
                  <p:cNvPr id="16" name="Shape 18"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74595" y="0"/>
                    <a:ext cx="539750" cy="539750"/>
                  </a:xfrm>
                  <a:prstGeom prst="rect">
                    <a:avLst/>
                  </a:prstGeom>
                  <a:noFill/>
                  <a:ln>
                    <a:noFill/>
                  </a:ln>
                  <a:effectLst>
                    <a:outerShdw blurRad="50800" dist="38100" dir="2700000" algn="tl" rotWithShape="0">
                      <a:prstClr val="black">
                        <a:alpha val="40000"/>
                      </a:prstClr>
                    </a:outerShdw>
                  </a:effectLst>
                </p:spPr>
              </p:pic>
            </p:grpSp>
          </p:grpSp>
        </p:grpSp>
      </p:grpSp>
      <p:grpSp>
        <p:nvGrpSpPr>
          <p:cNvPr id="17" name="Group 16"/>
          <p:cNvGrpSpPr/>
          <p:nvPr/>
        </p:nvGrpSpPr>
        <p:grpSpPr>
          <a:xfrm>
            <a:off x="2856633" y="5168326"/>
            <a:ext cx="6629400" cy="880110"/>
            <a:chOff x="2031300" y="3339945"/>
            <a:chExt cx="6629400" cy="880110"/>
          </a:xfrm>
          <a:effectLst>
            <a:outerShdw blurRad="50800" dist="38100" dir="2700000" algn="tl" rotWithShape="0">
              <a:prstClr val="black">
                <a:alpha val="40000"/>
              </a:prstClr>
            </a:outerShdw>
          </a:effectLst>
        </p:grpSpPr>
        <p:grpSp>
          <p:nvGrpSpPr>
            <p:cNvPr id="18" name="Group 17"/>
            <p:cNvGrpSpPr/>
            <p:nvPr/>
          </p:nvGrpSpPr>
          <p:grpSpPr>
            <a:xfrm>
              <a:off x="2031300" y="3339945"/>
              <a:ext cx="6629400" cy="880110"/>
              <a:chOff x="0" y="0"/>
              <a:chExt cx="6629400" cy="880217"/>
            </a:xfrm>
          </p:grpSpPr>
          <p:sp>
            <p:nvSpPr>
              <p:cNvPr id="19" name="Rectangle 18"/>
              <p:cNvSpPr/>
              <p:nvPr/>
            </p:nvSpPr>
            <p:spPr>
              <a:xfrm>
                <a:off x="0" y="0"/>
                <a:ext cx="6629400" cy="8802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20" name="Group 19"/>
              <p:cNvGrpSpPr/>
              <p:nvPr/>
            </p:nvGrpSpPr>
            <p:grpSpPr>
              <a:xfrm>
                <a:off x="0" y="0"/>
                <a:ext cx="6629400" cy="880217"/>
                <a:chOff x="0" y="0"/>
                <a:chExt cx="6629400" cy="880217"/>
              </a:xfrm>
            </p:grpSpPr>
            <p:sp>
              <p:nvSpPr>
                <p:cNvPr id="22" name="Rectangle 21"/>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23" name="Rectangle 22"/>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mc:AlternateContent xmlns:mc="http://schemas.openxmlformats.org/markup-compatibility/2006" xmlns:a14="http://schemas.microsoft.com/office/drawing/2010/main">
              <mc:Choice Requires="a14">
                <p:sp>
                  <p:nvSpPr>
                    <p:cNvPr id="24" name="Rounded Rectangle 23"/>
                    <p:cNvSpPr/>
                    <p:nvPr/>
                  </p:nvSpPr>
                  <p:spPr>
                    <a:xfrm>
                      <a:off x="0" y="0"/>
                      <a:ext cx="6629400" cy="880217"/>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457200" indent="685800"/>
                      <a:r>
                        <a:rPr lang="en-US" sz="1200" dirty="0">
                          <a:latin typeface="Cambria" panose="02040503050406030204" pitchFamily="18" charset="0"/>
                          <a:ea typeface="Cambria" panose="02040503050406030204" pitchFamily="18" charset="0"/>
                          <a:cs typeface="Cambria" panose="02040503050406030204" pitchFamily="18" charset="0"/>
                        </a:rPr>
                        <a:t> </a:t>
                      </a:r>
                    </a:p>
                    <a:p>
                      <a:pPr marL="457200" indent="685800"/>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factor </a:t>
                      </a:r>
                      <a14:m>
                        <m:oMath xmlns:m="http://schemas.openxmlformats.org/officeDocument/2006/math">
                          <m:r>
                            <a:rPr lang="en-US" sz="2000" b="1" i="1">
                              <a:solidFill>
                                <a:srgbClr val="00619E"/>
                              </a:solidFill>
                              <a:latin typeface="Cambria Math" panose="02040503050406030204" pitchFamily="18" charset="0"/>
                              <a:ea typeface="Cambria Math" panose="02040503050406030204" pitchFamily="18" charset="0"/>
                              <a:cs typeface="Verdana" panose="020B0604030504040204" pitchFamily="34" charset="0"/>
                            </a:rPr>
                            <m:t>×</m:t>
                          </m:r>
                        </m:oMath>
                      </a14:m>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factor </a:t>
                      </a:r>
                      <a14:m>
                        <m:oMath xmlns:m="http://schemas.openxmlformats.org/officeDocument/2006/math">
                          <m:r>
                            <a:rPr lang="en-US" sz="2000" b="1" i="1">
                              <a:solidFill>
                                <a:srgbClr val="00619E"/>
                              </a:solidFill>
                              <a:latin typeface="Cambria Math" panose="02040503050406030204" pitchFamily="18" charset="0"/>
                              <a:ea typeface="Cambria Math" panose="02040503050406030204" pitchFamily="18" charset="0"/>
                              <a:cs typeface="Verdana" panose="020B0604030504040204" pitchFamily="34" charset="0"/>
                            </a:rPr>
                            <m:t>=</m:t>
                          </m:r>
                        </m:oMath>
                      </a14:m>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product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indent="971550">
                        <a:spcAft>
                          <a:spcPts val="1000"/>
                        </a:spcAft>
                      </a:pPr>
                      <a:r>
                        <a:rPr lang="en-US" sz="1200" dirty="0">
                          <a:latin typeface="Cambria" panose="02040503050406030204" pitchFamily="18" charset="0"/>
                          <a:ea typeface="Cambria" panose="02040503050406030204" pitchFamily="18" charset="0"/>
                          <a:cs typeface="Cambria" panose="02040503050406030204" pitchFamily="18" charset="0"/>
                        </a:rPr>
                        <a:t> </a:t>
                      </a:r>
                    </a:p>
                  </p:txBody>
                </p:sp>
              </mc:Choice>
              <mc:Fallback xmlns="">
                <p:sp>
                  <p:nvSpPr>
                    <p:cNvPr id="24" name="Rounded Rectangle 23"/>
                    <p:cNvSpPr>
                      <a:spLocks noRot="1" noChangeAspect="1" noMove="1" noResize="1" noEditPoints="1" noAdjustHandles="1" noChangeArrowheads="1" noChangeShapeType="1" noTextEdit="1"/>
                    </p:cNvSpPr>
                    <p:nvPr/>
                  </p:nvSpPr>
                  <p:spPr>
                    <a:xfrm>
                      <a:off x="0" y="0"/>
                      <a:ext cx="6629400" cy="880217"/>
                    </a:xfrm>
                    <a:prstGeom prst="roundRect">
                      <a:avLst>
                        <a:gd name="adj" fmla="val 16667"/>
                      </a:avLst>
                    </a:prstGeom>
                    <a:blipFill rotWithShape="0">
                      <a:blip r:embed="rId6"/>
                      <a:stretch>
                        <a:fillRect/>
                      </a:stretch>
                    </a:blipFill>
                    <a:ln>
                      <a:noFill/>
                    </a:ln>
                  </p:spPr>
                  <p:txBody>
                    <a:bodyPr/>
                    <a:lstStyle/>
                    <a:p>
                      <a:r>
                        <a:rPr lang="en-US">
                          <a:noFill/>
                        </a:rPr>
                        <a:t> </a:t>
                      </a:r>
                    </a:p>
                  </p:txBody>
                </p:sp>
              </mc:Fallback>
            </mc:AlternateContent>
          </p:grpSp>
          <p:pic>
            <p:nvPicPr>
              <p:cNvPr id="21" name="Shape 37" descr="Icon&#10;&#10;Description automatically generate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44825" y="170225"/>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26"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27"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4</a:t>
            </a:r>
            <a:endParaRPr i="1" dirty="0">
              <a:latin typeface="Calibri"/>
              <a:ea typeface="Calibri"/>
              <a:cs typeface="Calibri"/>
              <a:sym typeface="Calibri"/>
            </a:endParaRPr>
          </a:p>
        </p:txBody>
      </p:sp>
    </p:spTree>
    <p:extLst>
      <p:ext uri="{BB962C8B-B14F-4D97-AF65-F5344CB8AC3E}">
        <p14:creationId xmlns:p14="http://schemas.microsoft.com/office/powerpoint/2010/main" val="2865100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417320" y="162394"/>
                <a:ext cx="8704442" cy="6524863"/>
              </a:xfrm>
              <a:prstGeom prst="rect">
                <a:avLst/>
              </a:prstGeom>
              <a:noFill/>
            </p:spPr>
            <p:txBody>
              <a:bodyPr wrap="square" rtlCol="0">
                <a:spAutoFit/>
              </a:bodyPr>
              <a:lstStyle/>
              <a:p>
                <a:pPr marL="914400" indent="-457200">
                  <a:buFont typeface="+mj-lt"/>
                  <a:buAutoNum type="alphaLcPeriod" startAt="5"/>
                </a:pPr>
                <a:r>
                  <a:rPr lang="en-US" sz="2200" dirty="0">
                    <a:latin typeface="Verdana" panose="020B0604030504040204" pitchFamily="34" charset="0"/>
                    <a:ea typeface="Verdana" panose="020B0604030504040204" pitchFamily="34" charset="0"/>
                    <a:cs typeface="Verdana" panose="020B0604030504040204" pitchFamily="34" charset="0"/>
                  </a:rPr>
                  <a:t>How were the factors of </a:t>
                </a:r>
                <a14:m>
                  <m:oMath xmlns:m="http://schemas.openxmlformats.org/officeDocument/2006/math">
                    <m:r>
                      <a:rPr lang="en-US" sz="2200" i="1">
                        <a:latin typeface="Cambria Math" panose="02040503050406030204" pitchFamily="18" charset="0"/>
                        <a:ea typeface="Cambria Math" panose="02040503050406030204" pitchFamily="18" charset="0"/>
                      </a:rPr>
                      <m:t>12</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 used in the previous problem?</a:t>
                </a:r>
              </a:p>
              <a:p>
                <a:pPr marL="914400" indent="-457200">
                  <a:buFont typeface="+mj-lt"/>
                  <a:buAutoNum type="alphaL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1371600" indent="-457200">
                  <a:lnSpc>
                    <a:spcPct val="200000"/>
                  </a:lnSpc>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200" i="1">
                        <a:latin typeface="Cambria Math" panose="02040503050406030204" pitchFamily="18"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 were used to determine the whole number of			that could be included, depending on the number of care packages.</a:t>
                </a:r>
              </a:p>
              <a:p>
                <a:pPr marL="1371600" indent="-457200">
                  <a:lnSpc>
                    <a:spcPct val="200000"/>
                  </a:lnSpc>
                  <a:buFont typeface="Arial" panose="020B0604020202020204" pitchFamily="34" charset="0"/>
                  <a:buChar char="•"/>
                </a:pPr>
                <a:r>
                  <a:rPr lang="en-US" sz="22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200" i="1">
                        <a:latin typeface="Cambria Math" panose="02040503050406030204" pitchFamily="18" charset="0"/>
                      </a:rPr>
                      <m:t>12</m:t>
                    </m:r>
                  </m:oMath>
                </a14:m>
                <a:r>
                  <a:rPr lang="en-US" sz="2200" dirty="0">
                    <a:latin typeface="Verdana" panose="020B0604030504040204" pitchFamily="34" charset="0"/>
                    <a:ea typeface="Verdana" panose="020B0604030504040204" pitchFamily="34" charset="0"/>
                    <a:cs typeface="Verdana" panose="020B0604030504040204" pitchFamily="34" charset="0"/>
                  </a:rPr>
                  <a:t> were used to determine the whole number of			that could be included, depending on the number of care packages.</a:t>
                </a: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417320" y="162394"/>
                <a:ext cx="8704442" cy="6524863"/>
              </a:xfrm>
              <a:prstGeom prst="rect">
                <a:avLst/>
              </a:prstGeom>
              <a:blipFill rotWithShape="0">
                <a:blip r:embed="rId3"/>
                <a:stretch>
                  <a:fillRect t="-74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68037" y="1833666"/>
            <a:ext cx="2174748" cy="965912"/>
          </a:xfrm>
          <a:prstGeom prst="rect">
            <a:avLst/>
          </a:prstGeom>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68037" y="4470850"/>
            <a:ext cx="2174748" cy="965912"/>
          </a:xfrm>
          <a:prstGeom prst="rect">
            <a:avLst/>
          </a:prstGeom>
        </p:spPr>
      </p:pic>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a:t>
            </a:r>
            <a:endParaRPr i="1" dirty="0">
              <a:latin typeface="Calibri"/>
              <a:ea typeface="Calibri"/>
              <a:cs typeface="Calibri"/>
              <a:sym typeface="Calibri"/>
            </a:endParaRPr>
          </a:p>
        </p:txBody>
      </p:sp>
    </p:spTree>
    <p:extLst>
      <p:ext uri="{BB962C8B-B14F-4D97-AF65-F5344CB8AC3E}">
        <p14:creationId xmlns:p14="http://schemas.microsoft.com/office/powerpoint/2010/main" val="278574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2347CCE-34A7-8044-BA67-B5895157AE55}"/>
              </a:ext>
            </a:extLst>
          </p:cNvPr>
          <p:cNvSpPr txBox="1"/>
          <p:nvPr/>
        </p:nvSpPr>
        <p:spPr>
          <a:xfrm>
            <a:off x="2007765" y="2220094"/>
            <a:ext cx="8327136"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An example of how to find the </a:t>
            </a:r>
            <a:r>
              <a:rPr lang="en-US" sz="2400" b="1" i="1" dirty="0">
                <a:latin typeface="Verdana" panose="020B0604030504040204" pitchFamily="34" charset="0"/>
                <a:ea typeface="Verdana" panose="020B0604030504040204" pitchFamily="34" charset="0"/>
                <a:cs typeface="Verdana" panose="020B0604030504040204" pitchFamily="34" charset="0"/>
              </a:rPr>
              <a:t>greatest common factor (GCF)</a:t>
            </a:r>
            <a:r>
              <a:rPr lang="en-US" sz="2400" dirty="0">
                <a:latin typeface="Verdana" panose="020B0604030504040204" pitchFamily="34" charset="0"/>
                <a:ea typeface="Verdana" panose="020B0604030504040204" pitchFamily="34" charset="0"/>
                <a:cs typeface="Verdana" panose="020B0604030504040204" pitchFamily="34" charset="0"/>
              </a:rPr>
              <a:t> is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23DDED37-A9DC-1840-BFB8-744A6C956060}"/>
              </a:ext>
            </a:extLst>
          </p:cNvPr>
          <p:cNvSpPr/>
          <p:nvPr/>
        </p:nvSpPr>
        <p:spPr>
          <a:xfrm>
            <a:off x="-14552"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p:cNvGrpSpPr/>
          <p:nvPr/>
        </p:nvGrpSpPr>
        <p:grpSpPr>
          <a:xfrm>
            <a:off x="2232660" y="586105"/>
            <a:ext cx="6629400" cy="1308665"/>
            <a:chOff x="2031300" y="3314254"/>
            <a:chExt cx="6629400" cy="1309482"/>
          </a:xfrm>
        </p:grpSpPr>
        <p:grpSp>
          <p:nvGrpSpPr>
            <p:cNvPr id="8" name="Group 7"/>
            <p:cNvGrpSpPr/>
            <p:nvPr/>
          </p:nvGrpSpPr>
          <p:grpSpPr>
            <a:xfrm>
              <a:off x="2031300" y="3314254"/>
              <a:ext cx="6629400" cy="1309482"/>
              <a:chOff x="2031300" y="3373599"/>
              <a:chExt cx="6629400" cy="1309482"/>
            </a:xfrm>
          </p:grpSpPr>
          <p:sp>
            <p:nvSpPr>
              <p:cNvPr id="9" name="Rectangle 8"/>
              <p:cNvSpPr/>
              <p:nvPr/>
            </p:nvSpPr>
            <p:spPr>
              <a:xfrm>
                <a:off x="2031300" y="3373600"/>
                <a:ext cx="6629400" cy="931475"/>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0" name="Group 9"/>
              <p:cNvGrpSpPr/>
              <p:nvPr/>
            </p:nvGrpSpPr>
            <p:grpSpPr>
              <a:xfrm>
                <a:off x="2031300" y="3373599"/>
                <a:ext cx="6629400" cy="1309482"/>
                <a:chOff x="2031300" y="3373599"/>
                <a:chExt cx="6629400" cy="1309482"/>
              </a:xfrm>
            </p:grpSpPr>
            <p:sp>
              <p:nvSpPr>
                <p:cNvPr id="11" name="Rectangle 1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3" name="Group 12"/>
                <p:cNvGrpSpPr/>
                <p:nvPr/>
              </p:nvGrpSpPr>
              <p:grpSpPr>
                <a:xfrm>
                  <a:off x="2031300" y="3373599"/>
                  <a:ext cx="6629400" cy="1309482"/>
                  <a:chOff x="0" y="-1"/>
                  <a:chExt cx="6629400" cy="1309482"/>
                </a:xfrm>
              </p:grpSpPr>
              <p:sp>
                <p:nvSpPr>
                  <p:cNvPr id="14" name="Rectangle 13"/>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5" name="Rounded Rectangle 14"/>
                  <p:cNvSpPr/>
                  <p:nvPr/>
                </p:nvSpPr>
                <p:spPr>
                  <a:xfrm>
                    <a:off x="0" y="-1"/>
                    <a:ext cx="6629400" cy="130948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952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greatest common factor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GCF</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largest common factor of two or more numbers.</a:t>
                    </a:r>
                    <a:endParaRPr lang="en-US" sz="2000" dirty="0">
                      <a:latin typeface="Cambria" panose="02040503050406030204" pitchFamily="18" charset="0"/>
                      <a:ea typeface="Cambria" panose="02040503050406030204" pitchFamily="18" charset="0"/>
                      <a:cs typeface="Cambria" panose="02040503050406030204" pitchFamily="18" charset="0"/>
                    </a:endParaRPr>
                  </a:p>
                </p:txBody>
              </p:sp>
              <p:pic>
                <p:nvPicPr>
                  <p:cNvPr id="16" name="Shape 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5121" y="325528"/>
                    <a:ext cx="539750" cy="539750"/>
                  </a:xfrm>
                  <a:prstGeom prst="rect">
                    <a:avLst/>
                  </a:prstGeom>
                  <a:noFill/>
                  <a:ln>
                    <a:noFill/>
                  </a:ln>
                  <a:effectLst>
                    <a:outerShdw blurRad="50800" dist="38100" dir="2700000" algn="tl" rotWithShape="0">
                      <a:prstClr val="black">
                        <a:alpha val="40000"/>
                      </a:prstClr>
                    </a:outerShdw>
                  </a:effectLst>
                </p:spPr>
              </p:pic>
            </p:grpSp>
          </p:grpSp>
        </p:grpSp>
      </p:grpSp>
      <p:pic>
        <p:nvPicPr>
          <p:cNvPr id="2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21"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a:t>
            </a:r>
            <a:endParaRPr i="1" dirty="0">
              <a:latin typeface="Calibri"/>
              <a:ea typeface="Calibri"/>
              <a:cs typeface="Calibri"/>
              <a:sym typeface="Calibri"/>
            </a:endParaRPr>
          </a:p>
        </p:txBody>
      </p:sp>
      <p:pic>
        <p:nvPicPr>
          <p:cNvPr id="3" name="Picture 2">
            <a:extLst>
              <a:ext uri="{FF2B5EF4-FFF2-40B4-BE49-F238E27FC236}">
                <a16:creationId xmlns:a16="http://schemas.microsoft.com/office/drawing/2014/main" id="{0BC05D53-208F-EB14-51F6-5FF15C65FD38}"/>
              </a:ext>
            </a:extLst>
          </p:cNvPr>
          <p:cNvPicPr>
            <a:picLocks noChangeAspect="1"/>
          </p:cNvPicPr>
          <p:nvPr/>
        </p:nvPicPr>
        <p:blipFill>
          <a:blip r:embed="rId5"/>
          <a:stretch>
            <a:fillRect/>
          </a:stretch>
        </p:blipFill>
        <p:spPr>
          <a:xfrm>
            <a:off x="2232659" y="3095776"/>
            <a:ext cx="6629401" cy="2484392"/>
          </a:xfrm>
          <a:prstGeom prst="rect">
            <a:avLst/>
          </a:prstGeom>
        </p:spPr>
      </p:pic>
    </p:spTree>
    <p:extLst>
      <p:ext uri="{BB962C8B-B14F-4D97-AF65-F5344CB8AC3E}">
        <p14:creationId xmlns:p14="http://schemas.microsoft.com/office/powerpoint/2010/main" val="3426047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932432" y="349705"/>
                <a:ext cx="8327136" cy="5232202"/>
              </a:xfrm>
              <a:prstGeom prst="rect">
                <a:avLst/>
              </a:prstGeom>
              <a:noFill/>
            </p:spPr>
            <p:txBody>
              <a:bodyPr wrap="square" rtlCol="0">
                <a:spAutoFit/>
              </a:bodyPr>
              <a:lstStyle/>
              <a:p>
                <a:pPr marL="914400" indent="-457200">
                  <a:buFont typeface="+mj-lt"/>
                  <a:buAutoNum type="alphaLcPeriod" startAt="6"/>
                </a:pPr>
                <a:r>
                  <a:rPr lang="en-US" sz="2200" dirty="0">
                    <a:latin typeface="Verdana" panose="020B0604030504040204" pitchFamily="34" charset="0"/>
                    <a:ea typeface="Verdana" panose="020B0604030504040204" pitchFamily="34" charset="0"/>
                    <a:cs typeface="Verdana" panose="020B0604030504040204" pitchFamily="34" charset="0"/>
                  </a:rPr>
                  <a:t>Complete the statement to explain what the GCF of </a:t>
                </a:r>
                <a14:m>
                  <m:oMath xmlns:m="http://schemas.openxmlformats.org/officeDocument/2006/math">
                    <m:r>
                      <a:rPr lang="en-US" sz="2200" i="1">
                        <a:latin typeface="Cambria Math" panose="02040503050406030204" pitchFamily="18"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rPr>
                      <m:t>12</m:t>
                    </m:r>
                  </m:oMath>
                </a14:m>
                <a:r>
                  <a:rPr lang="en-US" sz="2200" dirty="0">
                    <a:latin typeface="Verdana" panose="020B0604030504040204" pitchFamily="34" charset="0"/>
                    <a:ea typeface="Verdana" panose="020B0604030504040204" pitchFamily="34" charset="0"/>
                    <a:cs typeface="Verdana" panose="020B0604030504040204" pitchFamily="34" charset="0"/>
                  </a:rPr>
                  <a:t> is from the previous problem.</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a:lnSpc>
                    <a:spcPct val="200000"/>
                  </a:lnSpc>
                </a:pPr>
                <a:r>
                  <a:rPr lang="en-US" sz="2200" dirty="0">
                    <a:latin typeface="Verdana" panose="020B0604030504040204" pitchFamily="34" charset="0"/>
                    <a:ea typeface="Verdana" panose="020B0604030504040204" pitchFamily="34" charset="0"/>
                    <a:cs typeface="Verdana" panose="020B0604030504040204" pitchFamily="34" charset="0"/>
                  </a:rPr>
                  <a:t>The GCF of </a:t>
                </a:r>
                <a14:m>
                  <m:oMath xmlns:m="http://schemas.openxmlformats.org/officeDocument/2006/math">
                    <m:r>
                      <a:rPr lang="en-US" sz="2200" i="1">
                        <a:latin typeface="Cambria Math" panose="02040503050406030204" pitchFamily="18" charset="0"/>
                        <a:ea typeface="Cambria Math" panose="02040503050406030204" pitchFamily="18"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12</m:t>
                    </m:r>
                  </m:oMath>
                </a14:m>
                <a:r>
                  <a:rPr lang="en-US" sz="2200" dirty="0">
                    <a:latin typeface="Verdana" panose="020B0604030504040204" pitchFamily="34" charset="0"/>
                    <a:ea typeface="Verdana" panose="020B0604030504040204" pitchFamily="34" charset="0"/>
                    <a:cs typeface="Verdana" panose="020B0604030504040204" pitchFamily="34" charset="0"/>
                  </a:rPr>
                  <a:t> is ______, which represents the greatest number of care packages that can be created using</a:t>
                </a:r>
              </a:p>
              <a:p>
                <a:pPr marL="914400">
                  <a:lnSpc>
                    <a:spcPct val="200000"/>
                  </a:lnSpc>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200000"/>
                  </a:lnSpc>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Find the greatest common factor of </a:t>
                </a:r>
                <a14:m>
                  <m:oMath xmlns:m="http://schemas.openxmlformats.org/officeDocument/2006/math">
                    <m:r>
                      <a:rPr lang="en-US" sz="2200" i="1">
                        <a:latin typeface="Cambria Math" panose="02040503050406030204" pitchFamily="18" charset="0"/>
                        <a:ea typeface="Cambria Math" panose="02040503050406030204" pitchFamily="18" charset="0"/>
                      </a:rPr>
                      <m:t>6</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18</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a:lnSpc>
                    <a:spcPct val="200000"/>
                  </a:lnSpc>
                </a:pPr>
                <a:r>
                  <a:rPr lang="en-US" sz="22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xmlns="" id="{22347CCE-34A7-8044-BA67-B5895157AE55}"/>
                  </a:ext>
                </a:extLst>
              </p:cNvPr>
              <p:cNvSpPr txBox="1">
                <a:spLocks noRot="1" noChangeAspect="1" noMove="1" noResize="1" noEditPoints="1" noAdjustHandles="1" noChangeArrowheads="1" noChangeShapeType="1" noTextEdit="1"/>
              </p:cNvSpPr>
              <p:nvPr/>
            </p:nvSpPr>
            <p:spPr>
              <a:xfrm>
                <a:off x="408432" y="349705"/>
                <a:ext cx="8327136" cy="5232202"/>
              </a:xfrm>
              <a:prstGeom prst="rect">
                <a:avLst/>
              </a:prstGeom>
              <a:blipFill rotWithShape="0">
                <a:blip r:embed="rId4"/>
                <a:stretch>
                  <a:fillRect l="-952" t="-815" r="-14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5"/>
          <a:stretch>
            <a:fillRect/>
          </a:stretch>
        </p:blipFill>
        <p:spPr>
          <a:xfrm>
            <a:off x="5008055" y="2731007"/>
            <a:ext cx="4054118" cy="1303333"/>
          </a:xfrm>
          <a:prstGeom prst="rect">
            <a:avLst/>
          </a:prstGeom>
        </p:spPr>
      </p:pic>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73054" y="4910233"/>
            <a:ext cx="6597269" cy="1252704"/>
          </a:xfrm>
          <a:prstGeom prst="rect">
            <a:avLst/>
          </a:prstGeom>
        </p:spPr>
      </p:pic>
      <p:pic>
        <p:nvPicPr>
          <p:cNvPr id="8"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a:t>
            </a:r>
            <a:endParaRPr i="1" dirty="0">
              <a:latin typeface="Calibri"/>
              <a:ea typeface="Calibri"/>
              <a:cs typeface="Calibri"/>
              <a:sym typeface="Calibri"/>
            </a:endParaRPr>
          </a:p>
        </p:txBody>
      </p:sp>
    </p:spTree>
    <p:extLst>
      <p:ext uri="{BB962C8B-B14F-4D97-AF65-F5344CB8AC3E}">
        <p14:creationId xmlns:p14="http://schemas.microsoft.com/office/powerpoint/2010/main" val="2492062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4094"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1.1.3 Try It: Greatest Common Factor</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4286"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554480" y="1386026"/>
                <a:ext cx="8833104"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greatest common factor of each pair of numbers.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Penelope is organizing the teacher-student relay race. The teams must be divided evenly, with no participants left out. If there are </a:t>
                </a:r>
                <a14:m>
                  <m:oMath xmlns:m="http://schemas.openxmlformats.org/officeDocument/2006/math">
                    <m:r>
                      <a:rPr lang="en-US" sz="2400" i="1">
                        <a:latin typeface="Cambria Math" panose="02040503050406030204" pitchFamily="18" charset="0"/>
                      </a:rPr>
                      <m:t>56</m:t>
                    </m:r>
                  </m:oMath>
                </a14:m>
                <a:r>
                  <a:rPr lang="en-US" sz="2400" dirty="0">
                    <a:latin typeface="Verdana" panose="020B0604030504040204" pitchFamily="34" charset="0"/>
                    <a:ea typeface="Verdana" panose="020B0604030504040204" pitchFamily="34" charset="0"/>
                    <a:cs typeface="Verdana" panose="020B0604030504040204" pitchFamily="34" charset="0"/>
                  </a:rPr>
                  <a:t> students registered and </a:t>
                </a:r>
                <a14:m>
                  <m:oMath xmlns:m="http://schemas.openxmlformats.org/officeDocument/2006/math">
                    <m:r>
                      <a:rPr lang="en-US" sz="2400" i="1">
                        <a:latin typeface="Cambria Math" panose="02040503050406030204" pitchFamily="18" charset="0"/>
                      </a:rPr>
                      <m:t>21</m:t>
                    </m:r>
                  </m:oMath>
                </a14:m>
                <a:r>
                  <a:rPr lang="en-US" sz="2400" dirty="0">
                    <a:latin typeface="Verdana" panose="020B0604030504040204" pitchFamily="34" charset="0"/>
                    <a:ea typeface="Verdana" panose="020B0604030504040204" pitchFamily="34" charset="0"/>
                    <a:cs typeface="Verdana" panose="020B0604030504040204" pitchFamily="34" charset="0"/>
                  </a:rPr>
                  <a:t> teachers, what is the greatest number of teacher-student teams that will be able to participate in the relay race?</a:t>
                </a: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554480" y="1386026"/>
                <a:ext cx="8833104" cy="4893647"/>
              </a:xfrm>
              <a:prstGeom prst="rect">
                <a:avLst/>
              </a:prstGeom>
              <a:blipFill rotWithShape="0">
                <a:blip r:embed="rId4"/>
                <a:stretch>
                  <a:fillRect l="-1035" t="-996" r="-1932" b="-1868"/>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D93CCF23-305F-4542-AFD2-A48933A9E420}"/>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09682644"/>
                  </p:ext>
                </p:extLst>
              </p:nvPr>
            </p:nvGraphicFramePr>
            <p:xfrm>
              <a:off x="2936621" y="2401866"/>
              <a:ext cx="6231764" cy="1493479"/>
            </p:xfrm>
            <a:graphic>
              <a:graphicData uri="http://schemas.openxmlformats.org/drawingml/2006/table">
                <a:tbl>
                  <a:tblPr bandRow="1">
                    <a:tableStyleId>{2D5ABB26-0587-4C30-8999-92F81FD0307C}</a:tableStyleId>
                  </a:tblPr>
                  <a:tblGrid>
                    <a:gridCol w="3115882">
                      <a:extLst>
                        <a:ext uri="{9D8B030D-6E8A-4147-A177-3AD203B41FA5}">
                          <a16:colId xmlns:a16="http://schemas.microsoft.com/office/drawing/2014/main" val="20000"/>
                        </a:ext>
                      </a:extLst>
                    </a:gridCol>
                    <a:gridCol w="3115882">
                      <a:extLst>
                        <a:ext uri="{9D8B030D-6E8A-4147-A177-3AD203B41FA5}">
                          <a16:colId xmlns:a16="http://schemas.microsoft.com/office/drawing/2014/main" val="20001"/>
                        </a:ext>
                      </a:extLst>
                    </a:gridCol>
                  </a:tblGrid>
                  <a:tr h="828787">
                    <a:tc>
                      <a:txBody>
                        <a:bodyPr/>
                        <a:lstStyle/>
                        <a:p>
                          <a:pPr marL="342900" marR="91440" lvl="0" indent="-342900">
                            <a:spcBef>
                              <a:spcPts val="0"/>
                            </a:spcBef>
                            <a:spcAft>
                              <a:spcPts val="1000"/>
                            </a:spcAft>
                            <a:buFont typeface="+mj-lt"/>
                            <a:buAutoNum type="alphaLcPeriod"/>
                          </a:pPr>
                          <a:r>
                            <a:rPr lang="en-US" sz="2400" dirty="0">
                              <a:effectLst/>
                            </a:rPr>
                            <a:t> </a:t>
                          </a:r>
                          <a14:m>
                            <m:oMath xmlns:m="http://schemas.openxmlformats.org/officeDocument/2006/math">
                              <m:r>
                                <a:rPr lang="en-US" sz="2400" strike="noStrike">
                                  <a:effectLst/>
                                  <a:latin typeface="Cambria Math" panose="02040503050406030204" pitchFamily="18" charset="0"/>
                                </a:rPr>
                                <m:t>15</m:t>
                              </m:r>
                            </m:oMath>
                          </a14:m>
                          <a:r>
                            <a:rPr lang="en-US" sz="2400" dirty="0">
                              <a:effectLst/>
                            </a:rPr>
                            <a:t> and </a:t>
                          </a:r>
                          <a14:m>
                            <m:oMath xmlns:m="http://schemas.openxmlformats.org/officeDocument/2006/math">
                              <m:r>
                                <a:rPr lang="en-US" sz="2400">
                                  <a:effectLst/>
                                  <a:latin typeface="Cambria Math" panose="02040503050406030204" pitchFamily="18" charset="0"/>
                                </a:rPr>
                                <m:t>200</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342900" marR="91440" lvl="0" indent="-342900">
                            <a:spcBef>
                              <a:spcPts val="0"/>
                            </a:spcBef>
                            <a:spcAft>
                              <a:spcPts val="1000"/>
                            </a:spcAft>
                            <a:buFont typeface="+mj-lt"/>
                            <a:buAutoNum type="alphaLcPeriod" startAt="2"/>
                          </a:pPr>
                          <a:r>
                            <a:rPr lang="en-US" sz="2400" dirty="0">
                              <a:effectLst/>
                            </a:rPr>
                            <a:t> </a:t>
                          </a:r>
                          <a14:m>
                            <m:oMath xmlns:m="http://schemas.openxmlformats.org/officeDocument/2006/math">
                              <m:r>
                                <a:rPr lang="en-US" sz="2400">
                                  <a:effectLst/>
                                  <a:latin typeface="Cambria Math" panose="02040503050406030204" pitchFamily="18" charset="0"/>
                                </a:rPr>
                                <m:t>123</m:t>
                              </m:r>
                            </m:oMath>
                          </a14:m>
                          <a:r>
                            <a:rPr lang="en-US" sz="2400" dirty="0">
                              <a:effectLst/>
                            </a:rPr>
                            <a:t> and </a:t>
                          </a:r>
                          <a14:m>
                            <m:oMath xmlns:m="http://schemas.openxmlformats.org/officeDocument/2006/math">
                              <m:r>
                                <a:rPr lang="en-US" sz="2400">
                                  <a:effectLst/>
                                  <a:latin typeface="Cambria Math" panose="02040503050406030204" pitchFamily="18" charset="0"/>
                                </a:rPr>
                                <m:t>41</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r h="664692">
                    <a:tc>
                      <a:txBody>
                        <a:bodyPr/>
                        <a:lstStyle/>
                        <a:p>
                          <a:pPr marL="342900" marR="91440" lvl="0" indent="-342900">
                            <a:spcBef>
                              <a:spcPts val="0"/>
                            </a:spcBef>
                            <a:spcAft>
                              <a:spcPts val="1000"/>
                            </a:spcAft>
                            <a:buFont typeface="+mj-lt"/>
                            <a:buAutoNum type="alphaLcPeriod" startAt="3"/>
                          </a:pPr>
                          <a:r>
                            <a:rPr lang="en-US" sz="2400" dirty="0">
                              <a:effectLst/>
                            </a:rPr>
                            <a:t> </a:t>
                          </a:r>
                          <a14:m>
                            <m:oMath xmlns:m="http://schemas.openxmlformats.org/officeDocument/2006/math">
                              <m:r>
                                <a:rPr lang="en-US" sz="2400">
                                  <a:effectLst/>
                                  <a:latin typeface="Cambria Math" panose="02040503050406030204" pitchFamily="18" charset="0"/>
                                </a:rPr>
                                <m:t>54</m:t>
                              </m:r>
                            </m:oMath>
                          </a14:m>
                          <a:r>
                            <a:rPr lang="en-US" sz="2400" dirty="0">
                              <a:effectLst/>
                            </a:rPr>
                            <a:t> and </a:t>
                          </a:r>
                          <a14:m>
                            <m:oMath xmlns:m="http://schemas.openxmlformats.org/officeDocument/2006/math">
                              <m:r>
                                <a:rPr lang="en-US" sz="2400">
                                  <a:effectLst/>
                                  <a:latin typeface="Cambria Math" panose="02040503050406030204" pitchFamily="18" charset="0"/>
                                </a:rPr>
                                <m:t>36</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91440" lvl="0" indent="-457200">
                            <a:spcBef>
                              <a:spcPts val="0"/>
                            </a:spcBef>
                            <a:spcAft>
                              <a:spcPts val="1000"/>
                            </a:spcAft>
                            <a:buFont typeface="+mj-lt"/>
                            <a:buAutoNum type="alphaLcPeriod" startAt="4"/>
                          </a:pPr>
                          <a:r>
                            <a:rPr lang="en-US" sz="2400" dirty="0">
                              <a:effectLst/>
                            </a:rPr>
                            <a:t> </a:t>
                          </a:r>
                          <a14:m>
                            <m:oMath xmlns:m="http://schemas.openxmlformats.org/officeDocument/2006/math">
                              <m:r>
                                <a:rPr lang="en-US" sz="2400">
                                  <a:effectLst/>
                                  <a:latin typeface="Cambria Math" panose="02040503050406030204" pitchFamily="18" charset="0"/>
                                </a:rPr>
                                <m:t>282</m:t>
                              </m:r>
                            </m:oMath>
                          </a14:m>
                          <a:r>
                            <a:rPr lang="en-US" sz="2400" dirty="0">
                              <a:effectLst/>
                            </a:rPr>
                            <a:t> and 108</a:t>
                          </a:r>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09682644"/>
                  </p:ext>
                </p:extLst>
              </p:nvPr>
            </p:nvGraphicFramePr>
            <p:xfrm>
              <a:off x="1412621" y="2401865"/>
              <a:ext cx="6231764" cy="1493479"/>
            </p:xfrm>
            <a:graphic>
              <a:graphicData uri="http://schemas.openxmlformats.org/drawingml/2006/table">
                <a:tbl>
                  <a:tblPr bandRow="1">
                    <a:tableStyleId>{2D5ABB26-0587-4C30-8999-92F81FD0307C}</a:tableStyleId>
                  </a:tblPr>
                  <a:tblGrid>
                    <a:gridCol w="3115882"/>
                    <a:gridCol w="3115882"/>
                  </a:tblGrid>
                  <a:tr h="828787">
                    <a:tc>
                      <a:txBody>
                        <a:bodyPr/>
                        <a:lstStyle/>
                        <a:p>
                          <a:endParaRPr lang="en-US"/>
                        </a:p>
                      </a:txBody>
                      <a:tcPr marL="68580" marR="68580" marT="0" marB="0">
                        <a:blipFill rotWithShape="0">
                          <a:blip r:embed="rId6"/>
                          <a:stretch>
                            <a:fillRect t="-10294" r="-99805" b="-80147"/>
                          </a:stretch>
                        </a:blipFill>
                      </a:tcPr>
                    </a:tc>
                    <a:tc>
                      <a:txBody>
                        <a:bodyPr/>
                        <a:lstStyle/>
                        <a:p>
                          <a:endParaRPr lang="en-US"/>
                        </a:p>
                      </a:txBody>
                      <a:tcPr marL="68580" marR="68580" marT="0" marB="0">
                        <a:blipFill rotWithShape="0">
                          <a:blip r:embed="rId6"/>
                          <a:stretch>
                            <a:fillRect l="-100000" t="-10294" r="195" b="-80147"/>
                          </a:stretch>
                        </a:blipFill>
                      </a:tcPr>
                    </a:tc>
                  </a:tr>
                  <a:tr h="664692">
                    <a:tc>
                      <a:txBody>
                        <a:bodyPr/>
                        <a:lstStyle/>
                        <a:p>
                          <a:endParaRPr lang="en-US"/>
                        </a:p>
                      </a:txBody>
                      <a:tcPr marL="68580" marR="68580" marT="0" marB="0">
                        <a:blipFill rotWithShape="0">
                          <a:blip r:embed="rId6"/>
                          <a:stretch>
                            <a:fillRect t="-137615" r="-99805"/>
                          </a:stretch>
                        </a:blipFill>
                      </a:tcPr>
                    </a:tc>
                    <a:tc>
                      <a:txBody>
                        <a:bodyPr/>
                        <a:lstStyle/>
                        <a:p>
                          <a:endParaRPr lang="en-US"/>
                        </a:p>
                      </a:txBody>
                      <a:tcPr marL="68580" marR="68580" marT="0" marB="0">
                        <a:blipFill rotWithShape="0">
                          <a:blip r:embed="rId6"/>
                          <a:stretch>
                            <a:fillRect l="-100000" t="-137615" r="195"/>
                          </a:stretch>
                        </a:blipFill>
                      </a:tcPr>
                    </a:tc>
                  </a:tr>
                </a:tbl>
              </a:graphicData>
            </a:graphic>
          </p:graphicFrame>
        </mc:Fallback>
      </mc:AlternateContent>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a:t>
            </a:r>
            <a:endParaRPr i="1" dirty="0">
              <a:latin typeface="Calibri"/>
              <a:ea typeface="Calibri"/>
              <a:cs typeface="Calibri"/>
              <a:sym typeface="Calibri"/>
            </a:endParaRPr>
          </a:p>
        </p:txBody>
      </p:sp>
    </p:spTree>
    <p:extLst>
      <p:ext uri="{BB962C8B-B14F-4D97-AF65-F5344CB8AC3E}">
        <p14:creationId xmlns:p14="http://schemas.microsoft.com/office/powerpoint/2010/main" val="43438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6446" y="-3365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1.1.4 Guided Instruction: Writing Equivalent Fractions Using GCF</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79146" y="17360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569720" y="1284412"/>
                <a:ext cx="8765181" cy="4847417"/>
              </a:xfrm>
              <a:prstGeom prst="rect">
                <a:avLst/>
              </a:prstGeom>
              <a:noFill/>
            </p:spPr>
            <p:txBody>
              <a:bodyPr wrap="square" rtlCol="0">
                <a:spAutoFit/>
              </a:bodyPr>
              <a:lstStyle/>
              <a:p>
                <a:r>
                  <a:rPr lang="en-US" sz="2300" dirty="0">
                    <a:latin typeface="Verdana" panose="020B0604030504040204" pitchFamily="34" charset="0"/>
                    <a:ea typeface="Verdana" panose="020B0604030504040204" pitchFamily="34" charset="0"/>
                    <a:cs typeface="Verdana" panose="020B0604030504040204" pitchFamily="34" charset="0"/>
                  </a:rPr>
                  <a:t>The GCF can also be used to rewrite fractions. When using the GCF to write an equivalent fraction, the result is often said to be in “simplest” form.</a:t>
                </a: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300" dirty="0">
                    <a:latin typeface="Verdana" panose="020B0604030504040204" pitchFamily="34" charset="0"/>
                    <a:ea typeface="Verdana" panose="020B0604030504040204" pitchFamily="34" charset="0"/>
                    <a:cs typeface="Verdana" panose="020B0604030504040204" pitchFamily="34" charset="0"/>
                  </a:rPr>
                  <a:t>In the fraction </a:t>
                </a:r>
                <a14:m>
                  <m:oMath xmlns:m="http://schemas.openxmlformats.org/officeDocument/2006/math">
                    <m:f>
                      <m:fPr>
                        <m:ctrlPr>
                          <a:rPr lang="en-US" sz="2300" i="1">
                            <a:latin typeface="Cambria Math" panose="02040503050406030204" pitchFamily="18" charset="0"/>
                            <a:ea typeface="Cambria Math" panose="02040503050406030204" pitchFamily="18" charset="0"/>
                          </a:rPr>
                        </m:ctrlPr>
                      </m:fPr>
                      <m:num>
                        <m:r>
                          <a:rPr lang="en-US" sz="2300" i="1">
                            <a:latin typeface="Cambria Math" panose="02040503050406030204" pitchFamily="18" charset="0"/>
                            <a:ea typeface="Cambria Math" panose="02040503050406030204" pitchFamily="18" charset="0"/>
                          </a:rPr>
                          <m:t>25</m:t>
                        </m:r>
                      </m:num>
                      <m:den>
                        <m:r>
                          <a:rPr lang="en-US" sz="2300" i="1">
                            <a:latin typeface="Cambria Math" panose="02040503050406030204" pitchFamily="18" charset="0"/>
                            <a:ea typeface="Cambria Math" panose="02040503050406030204" pitchFamily="18" charset="0"/>
                          </a:rPr>
                          <m:t>90</m:t>
                        </m:r>
                      </m:den>
                    </m:f>
                  </m:oMath>
                </a14:m>
                <a:r>
                  <a:rPr lang="en-US" sz="2300" dirty="0">
                    <a:latin typeface="Verdana" panose="020B0604030504040204" pitchFamily="34" charset="0"/>
                    <a:ea typeface="Verdana" panose="020B0604030504040204" pitchFamily="34" charset="0"/>
                    <a:cs typeface="Verdana" panose="020B0604030504040204" pitchFamily="34" charset="0"/>
                  </a:rPr>
                  <a:t>, the numerator is </a:t>
                </a:r>
                <a14:m>
                  <m:oMath xmlns:m="http://schemas.openxmlformats.org/officeDocument/2006/math">
                    <m:r>
                      <a:rPr lang="en-US" sz="2300" i="1">
                        <a:latin typeface="Cambria Math" panose="02040503050406030204" pitchFamily="18" charset="0"/>
                        <a:ea typeface="Cambria Math" panose="02040503050406030204" pitchFamily="18" charset="0"/>
                      </a:rPr>
                      <m:t>25</m:t>
                    </m:r>
                  </m:oMath>
                </a14:m>
                <a:r>
                  <a:rPr lang="en-US" sz="2300" dirty="0">
                    <a:latin typeface="Verdana" panose="020B0604030504040204" pitchFamily="34" charset="0"/>
                    <a:ea typeface="Verdana" panose="020B0604030504040204" pitchFamily="34" charset="0"/>
                    <a:cs typeface="Verdana" panose="020B0604030504040204" pitchFamily="34" charset="0"/>
                  </a:rPr>
                  <a:t> and the denominator is </a:t>
                </a:r>
                <a14:m>
                  <m:oMath xmlns:m="http://schemas.openxmlformats.org/officeDocument/2006/math">
                    <m:r>
                      <a:rPr lang="en-US" sz="2300" i="1">
                        <a:latin typeface="Cambria Math" panose="02040503050406030204" pitchFamily="18" charset="0"/>
                        <a:ea typeface="Cambria Math" panose="02040503050406030204" pitchFamily="18" charset="0"/>
                      </a:rPr>
                      <m:t>90</m:t>
                    </m:r>
                  </m:oMath>
                </a14:m>
                <a:r>
                  <a:rPr lang="en-US" sz="2300" dirty="0">
                    <a:latin typeface="Verdana" panose="020B0604030504040204" pitchFamily="34" charset="0"/>
                    <a:ea typeface="Verdana" panose="020B0604030504040204" pitchFamily="34" charset="0"/>
                    <a:cs typeface="Verdana" panose="020B0604030504040204" pitchFamily="34" charset="0"/>
                  </a:rPr>
                  <a:t>.</a:t>
                </a:r>
              </a:p>
              <a:p>
                <a:r>
                  <a:rPr lang="en-US" sz="23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300" dirty="0">
                    <a:latin typeface="Verdana" panose="020B0604030504040204" pitchFamily="34" charset="0"/>
                    <a:ea typeface="Verdana" panose="020B0604030504040204" pitchFamily="34" charset="0"/>
                    <a:cs typeface="Verdana" panose="020B0604030504040204" pitchFamily="34" charset="0"/>
                  </a:rPr>
                  <a:t>What is the greatest common factor of </a:t>
                </a:r>
                <a14:m>
                  <m:oMath xmlns:m="http://schemas.openxmlformats.org/officeDocument/2006/math">
                    <m:r>
                      <a:rPr lang="en-US" sz="2300" i="1">
                        <a:latin typeface="Cambria Math" panose="02040503050406030204" pitchFamily="18" charset="0"/>
                        <a:ea typeface="Cambria Math" panose="02040503050406030204" pitchFamily="18" charset="0"/>
                      </a:rPr>
                      <m:t>25</m:t>
                    </m:r>
                  </m:oMath>
                </a14:m>
                <a:r>
                  <a:rPr lang="en-US" sz="23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300" i="1">
                        <a:latin typeface="Cambria Math" panose="02040503050406030204" pitchFamily="18" charset="0"/>
                        <a:ea typeface="Cambria Math" panose="02040503050406030204" pitchFamily="18" charset="0"/>
                      </a:rPr>
                      <m:t>90</m:t>
                    </m:r>
                  </m:oMath>
                </a14:m>
                <a:r>
                  <a:rPr lang="en-US" sz="23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569720" y="1284412"/>
                <a:ext cx="8765181" cy="4847417"/>
              </a:xfrm>
              <a:prstGeom prst="rect">
                <a:avLst/>
              </a:prstGeom>
              <a:blipFill rotWithShape="0">
                <a:blip r:embed="rId4"/>
                <a:stretch>
                  <a:fillRect l="-1044" t="-1006" r="-1949" b="-1761"/>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0" name="Group 9"/>
          <p:cNvGrpSpPr/>
          <p:nvPr/>
        </p:nvGrpSpPr>
        <p:grpSpPr>
          <a:xfrm>
            <a:off x="2519850" y="2588975"/>
            <a:ext cx="6890850" cy="1671701"/>
            <a:chOff x="1769850" y="2939835"/>
            <a:chExt cx="6890850" cy="1671980"/>
          </a:xfrm>
        </p:grpSpPr>
        <p:grpSp>
          <p:nvGrpSpPr>
            <p:cNvPr id="11" name="Group 10"/>
            <p:cNvGrpSpPr/>
            <p:nvPr/>
          </p:nvGrpSpPr>
          <p:grpSpPr>
            <a:xfrm>
              <a:off x="1769850" y="2939835"/>
              <a:ext cx="6890850" cy="1671980"/>
              <a:chOff x="-261450" y="-165049"/>
              <a:chExt cx="6890850" cy="1671980"/>
            </a:xfrm>
          </p:grpSpPr>
          <p:sp>
            <p:nvSpPr>
              <p:cNvPr id="14" name="Rectangle 13"/>
              <p:cNvSpPr/>
              <p:nvPr/>
            </p:nvSpPr>
            <p:spPr>
              <a:xfrm>
                <a:off x="0" y="-1"/>
                <a:ext cx="6629400" cy="1350225"/>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5" name="Group 14"/>
              <p:cNvGrpSpPr/>
              <p:nvPr/>
            </p:nvGrpSpPr>
            <p:grpSpPr>
              <a:xfrm>
                <a:off x="-261450" y="-165049"/>
                <a:ext cx="6890850" cy="1671980"/>
                <a:chOff x="-261450" y="-165049"/>
                <a:chExt cx="6890850" cy="1671980"/>
              </a:xfrm>
            </p:grpSpPr>
            <p:sp>
              <p:nvSpPr>
                <p:cNvPr id="17" name="Rectangle 16"/>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8" name="Rectangle 17"/>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9" name="Rounded Rectangle 18"/>
                <p:cNvSpPr/>
                <p:nvPr/>
              </p:nvSpPr>
              <p:spPr>
                <a:xfrm>
                  <a:off x="-261450" y="-165049"/>
                  <a:ext cx="6629400" cy="167198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9525">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To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simplify a fraction</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generate an equivalent fraction by dividing the numerator and denominator by 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GCF</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of the numerator and denominator.</a:t>
                  </a:r>
                  <a:endParaRPr lang="en-US" sz="2000" dirty="0">
                    <a:latin typeface="Cambria" panose="02040503050406030204" pitchFamily="18" charset="0"/>
                    <a:ea typeface="Cambria" panose="02040503050406030204" pitchFamily="18" charset="0"/>
                    <a:cs typeface="Cambria" panose="02040503050406030204" pitchFamily="18" charset="0"/>
                  </a:endParaRPr>
                </a:p>
              </p:txBody>
            </p:sp>
          </p:grpSp>
          <p:pic>
            <p:nvPicPr>
              <p:cNvPr id="16" name="Shape 9"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8425" y="55104"/>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2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22"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a:t>
            </a:r>
            <a:endParaRPr i="1" dirty="0">
              <a:latin typeface="Calibri"/>
              <a:ea typeface="Calibri"/>
              <a:cs typeface="Calibri"/>
              <a:sym typeface="Calibri"/>
            </a:endParaRPr>
          </a:p>
        </p:txBody>
      </p:sp>
    </p:spTree>
    <p:extLst>
      <p:ext uri="{BB962C8B-B14F-4D97-AF65-F5344CB8AC3E}">
        <p14:creationId xmlns:p14="http://schemas.microsoft.com/office/powerpoint/2010/main" val="1828909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6"/>
                <a:ext cx="8327136" cy="6016775"/>
              </a:xfrm>
              <a:prstGeom prst="rect">
                <a:avLst/>
              </a:prstGeom>
              <a:noFill/>
            </p:spPr>
            <p:txBody>
              <a:bodyPr wrap="square" rtlCol="0">
                <a:spAutoFit/>
              </a:bodyPr>
              <a:lstStyle/>
              <a:p>
                <a:pPr marL="457200" lvl="1" indent="-457200">
                  <a:buFont typeface="+mj-lt"/>
                  <a:buAutoNum type="alphaLcPeriod" startAt="2"/>
                </a:pPr>
                <a:r>
                  <a:rPr lang="en-US" sz="2300" dirty="0">
                    <a:latin typeface="Verdana" panose="020B0604030504040204" pitchFamily="34" charset="0"/>
                    <a:ea typeface="Verdana" panose="020B0604030504040204" pitchFamily="34" charset="0"/>
                    <a:cs typeface="Verdana" panose="020B0604030504040204" pitchFamily="34" charset="0"/>
                  </a:rPr>
                  <a:t>Divide the numerator and denominator by the GCF. What is the resulting fraction? </a:t>
                </a:r>
              </a:p>
              <a:p>
                <a:pPr marL="457200" lvl="1" indent="-457200">
                  <a:buFont typeface="+mj-lt"/>
                  <a:buAutoNum type="alphaLcPeriod" startAt="2"/>
                </a:pPr>
                <a:endParaRPr lang="en-US" sz="23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endParaRPr lang="en-US" sz="23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r>
                  <a:rPr lang="en-US" sz="2300" dirty="0">
                    <a:latin typeface="Verdana" panose="020B0604030504040204" pitchFamily="34" charset="0"/>
                    <a:ea typeface="Verdana" panose="020B0604030504040204" pitchFamily="34" charset="0"/>
                    <a:cs typeface="Verdana" panose="020B0604030504040204" pitchFamily="34" charset="0"/>
                  </a:rPr>
                  <a:t>Complete the statement to describe the relationship between the fractions.</a:t>
                </a:r>
              </a:p>
              <a:p>
                <a:pPr marL="457200" lvl="1" indent="-457200">
                  <a:buFont typeface="+mj-lt"/>
                  <a:buAutoNum type="alphaLcPeriod" startAt="2"/>
                </a:pPr>
                <a:endParaRPr lang="en-US" sz="2300" dirty="0">
                  <a:latin typeface="Verdana" panose="020B0604030504040204" pitchFamily="34" charset="0"/>
                  <a:ea typeface="Verdana" panose="020B0604030504040204" pitchFamily="34" charset="0"/>
                  <a:cs typeface="Verdana" panose="020B0604030504040204" pitchFamily="34" charset="0"/>
                </a:endParaRPr>
              </a:p>
              <a:p>
                <a:pPr marL="457200" lvl="1">
                  <a:lnSpc>
                    <a:spcPct val="200000"/>
                  </a:lnSpc>
                </a:pPr>
                <a:r>
                  <a:rPr lang="en-US" sz="2300" dirty="0">
                    <a:latin typeface="Verdana" panose="020B0604030504040204" pitchFamily="34" charset="0"/>
                    <a:ea typeface="Verdana" panose="020B0604030504040204" pitchFamily="34" charset="0"/>
                    <a:cs typeface="Verdana" panose="020B0604030504040204" pitchFamily="34" charset="0"/>
                  </a:rPr>
                  <a:t>After dividing the numerator and denominator of </a:t>
                </a:r>
                <a14:m>
                  <m:oMath xmlns:m="http://schemas.openxmlformats.org/officeDocument/2006/math">
                    <m:f>
                      <m:fPr>
                        <m:ctrlPr>
                          <a:rPr lang="en-US" sz="2300" i="1">
                            <a:latin typeface="Cambria Math" panose="02040503050406030204" pitchFamily="18" charset="0"/>
                            <a:ea typeface="Cambria Math" panose="02040503050406030204" pitchFamily="18" charset="0"/>
                          </a:rPr>
                        </m:ctrlPr>
                      </m:fPr>
                      <m:num>
                        <m:r>
                          <a:rPr lang="en-US" sz="2300" i="1">
                            <a:latin typeface="Cambria Math" panose="02040503050406030204" pitchFamily="18" charset="0"/>
                            <a:ea typeface="Cambria Math" panose="02040503050406030204" pitchFamily="18" charset="0"/>
                          </a:rPr>
                          <m:t>25</m:t>
                        </m:r>
                      </m:num>
                      <m:den>
                        <m:r>
                          <a:rPr lang="en-US" sz="2300" i="1">
                            <a:latin typeface="Cambria Math" panose="02040503050406030204" pitchFamily="18" charset="0"/>
                            <a:ea typeface="Cambria Math" panose="02040503050406030204" pitchFamily="18" charset="0"/>
                          </a:rPr>
                          <m:t>90</m:t>
                        </m:r>
                      </m:den>
                    </m:f>
                  </m:oMath>
                </a14:m>
                <a:r>
                  <a:rPr lang="en-US" sz="2300" dirty="0">
                    <a:latin typeface="Verdana" panose="020B0604030504040204" pitchFamily="34" charset="0"/>
                    <a:ea typeface="Verdana" panose="020B0604030504040204" pitchFamily="34" charset="0"/>
                    <a:cs typeface="Verdana" panose="020B0604030504040204" pitchFamily="34" charset="0"/>
                  </a:rPr>
                  <a:t> by their GCF, the resulting fraction,	     , 			equivalent to </a:t>
                </a:r>
                <a14:m>
                  <m:oMath xmlns:m="http://schemas.openxmlformats.org/officeDocument/2006/math">
                    <m:f>
                      <m:fPr>
                        <m:ctrlPr>
                          <a:rPr lang="en-US" sz="2300" i="1" dirty="0">
                            <a:latin typeface="Cambria Math" panose="02040503050406030204" pitchFamily="18" charset="0"/>
                            <a:ea typeface="Verdana" panose="020B0604030504040204" pitchFamily="34" charset="0"/>
                            <a:cs typeface="Verdana" panose="020B0604030504040204" pitchFamily="34" charset="0"/>
                          </a:rPr>
                        </m:ctrlPr>
                      </m:fPr>
                      <m:num>
                        <m:r>
                          <a:rPr lang="en-US" sz="2300" i="1" dirty="0">
                            <a:latin typeface="Cambria Math" panose="02040503050406030204" pitchFamily="18" charset="0"/>
                            <a:ea typeface="Verdana" panose="020B0604030504040204" pitchFamily="34" charset="0"/>
                            <a:cs typeface="Verdana" panose="020B0604030504040204" pitchFamily="34" charset="0"/>
                          </a:rPr>
                          <m:t>25</m:t>
                        </m:r>
                      </m:num>
                      <m:den>
                        <m:r>
                          <a:rPr lang="en-US" sz="2300" i="1" dirty="0">
                            <a:latin typeface="Cambria Math" panose="02040503050406030204" pitchFamily="18" charset="0"/>
                            <a:ea typeface="Verdana" panose="020B0604030504040204" pitchFamily="34" charset="0"/>
                            <a:cs typeface="Verdana" panose="020B0604030504040204" pitchFamily="34" charset="0"/>
                          </a:rPr>
                          <m:t>90</m:t>
                        </m:r>
                      </m:den>
                    </m:f>
                  </m:oMath>
                </a14:m>
                <a:r>
                  <a:rPr lang="en-US" sz="2300" dirty="0">
                    <a:latin typeface="Verdana" panose="020B0604030504040204" pitchFamily="34" charset="0"/>
                    <a:ea typeface="Verdana" panose="020B0604030504040204" pitchFamily="34" charset="0"/>
                    <a:cs typeface="Verdana" panose="020B0604030504040204" pitchFamily="34" charset="0"/>
                  </a:rPr>
                  <a:t> , rewritten in simplest form.</a:t>
                </a:r>
              </a:p>
            </p:txBody>
          </p:sp>
        </mc:Choice>
        <mc:Fallback xmlns="">
          <p:sp>
            <p:nvSpPr>
              <p:cNvPr id="5" name="TextBox 4">
                <a:extLst>
                  <a:ext uri="{FF2B5EF4-FFF2-40B4-BE49-F238E27FC236}">
                    <a16:creationId xmlns:a16="http://schemas.microsoft.com/office/drawing/2014/main" xmlns="" id="{8AE5E1E0-A54D-BE42-84B5-F917038ADE99}"/>
                  </a:ext>
                </a:extLst>
              </p:cNvPr>
              <p:cNvSpPr txBox="1">
                <a:spLocks noRot="1" noChangeAspect="1" noMove="1" noResize="1" noEditPoints="1" noAdjustHandles="1" noChangeArrowheads="1" noChangeShapeType="1" noTextEdit="1"/>
              </p:cNvSpPr>
              <p:nvPr/>
            </p:nvSpPr>
            <p:spPr>
              <a:xfrm>
                <a:off x="408432" y="288745"/>
                <a:ext cx="8327136" cy="6016775"/>
              </a:xfrm>
              <a:prstGeom prst="rect">
                <a:avLst/>
              </a:prstGeom>
              <a:blipFill rotWithShape="0">
                <a:blip r:embed="rId4"/>
                <a:stretch>
                  <a:fillRect l="-1025" t="-709" r="-219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a:stretch>
            <a:fillRect/>
          </a:stretch>
        </p:blipFill>
        <p:spPr>
          <a:xfrm>
            <a:off x="7764018" y="3566542"/>
            <a:ext cx="1111758" cy="1228105"/>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18018" y="4684918"/>
            <a:ext cx="1373695" cy="871418"/>
          </a:xfrm>
          <a:prstGeom prst="rect">
            <a:avLst/>
          </a:prstGeom>
        </p:spPr>
      </p:pic>
      <p:pic>
        <p:nvPicPr>
          <p:cNvPr id="9"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a:t>
            </a:r>
            <a:endParaRPr i="1" dirty="0">
              <a:latin typeface="Calibri"/>
              <a:ea typeface="Calibri"/>
              <a:cs typeface="Calibri"/>
              <a:sym typeface="Calibri"/>
            </a:endParaRPr>
          </a:p>
        </p:txBody>
      </p:sp>
    </p:spTree>
    <p:extLst>
      <p:ext uri="{BB962C8B-B14F-4D97-AF65-F5344CB8AC3E}">
        <p14:creationId xmlns:p14="http://schemas.microsoft.com/office/powerpoint/2010/main" val="1074208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a:t>
            </a:r>
            <a:endParaRPr i="1" dirty="0">
              <a:latin typeface="Calibri"/>
              <a:ea typeface="Calibri"/>
              <a:cs typeface="Calibri"/>
              <a:sym typeface="Calibri"/>
            </a:endParaRPr>
          </a:p>
        </p:txBody>
      </p:sp>
    </p:spTree>
    <p:extLst>
      <p:ext uri="{BB962C8B-B14F-4D97-AF65-F5344CB8AC3E}">
        <p14:creationId xmlns:p14="http://schemas.microsoft.com/office/powerpoint/2010/main" val="2130640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4094" y="8061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1.1.5 Try It: Writing Equivalent Fractions Using GCF</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4286" y="36856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24094" y="1386026"/>
                <a:ext cx="8963490" cy="4310283"/>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each fraction in simplest form using the GCF of the numerator and denominator.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Mikayla states that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900</m:t>
                        </m:r>
                      </m:num>
                      <m:den>
                        <m:r>
                          <a:rPr lang="en-US" sz="2400" i="1">
                            <a:latin typeface="Cambria Math" panose="02040503050406030204" pitchFamily="18" charset="0"/>
                            <a:ea typeface="Cambria Math" panose="02040503050406030204" pitchFamily="18" charset="0"/>
                          </a:rPr>
                          <m:t>1000</m:t>
                        </m:r>
                      </m:den>
                    </m:f>
                  </m:oMath>
                </a14:m>
                <a:r>
                  <a:rPr lang="en-US" sz="2400" dirty="0">
                    <a:latin typeface="Verdana" panose="020B0604030504040204" pitchFamily="34" charset="0"/>
                    <a:ea typeface="Verdana" panose="020B0604030504040204" pitchFamily="34" charset="0"/>
                    <a:cs typeface="Verdana" panose="020B0604030504040204" pitchFamily="34" charset="0"/>
                  </a:rPr>
                  <a:t> is not the same value as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9</m:t>
                        </m:r>
                      </m:num>
                      <m:den>
                        <m:r>
                          <a:rPr lang="en-US" sz="2400" i="1">
                            <a:latin typeface="Cambria Math" panose="02040503050406030204" pitchFamily="18" charset="0"/>
                            <a:ea typeface="Cambria Math" panose="02040503050406030204" pitchFamily="18" charset="0"/>
                          </a:rPr>
                          <m:t>10</m:t>
                        </m:r>
                      </m:den>
                    </m:f>
                  </m:oMath>
                </a14:m>
                <a:r>
                  <a:rPr lang="en-US" sz="2400" dirty="0">
                    <a:latin typeface="Verdana" panose="020B0604030504040204" pitchFamily="34" charset="0"/>
                    <a:ea typeface="Verdana" panose="020B0604030504040204" pitchFamily="34" charset="0"/>
                    <a:cs typeface="Verdana" panose="020B0604030504040204" pitchFamily="34" charset="0"/>
                  </a:rPr>
                  <a:t>, because they are fractions of different sizes. Is she correct? Provide an explanation to support your answer. </a:t>
                </a: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24094" y="1386026"/>
                <a:ext cx="8963490" cy="4310283"/>
              </a:xfrm>
              <a:prstGeom prst="rect">
                <a:avLst/>
              </a:prstGeom>
              <a:blipFill rotWithShape="0">
                <a:blip r:embed="rId4"/>
                <a:stretch>
                  <a:fillRect l="-1088" t="-1132" b="-2263"/>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D93CCF23-305F-4542-AFD2-A48933A9E42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404509911"/>
                  </p:ext>
                </p:extLst>
              </p:nvPr>
            </p:nvGraphicFramePr>
            <p:xfrm>
              <a:off x="2774692" y="2465503"/>
              <a:ext cx="6436932" cy="817594"/>
            </p:xfrm>
            <a:graphic>
              <a:graphicData uri="http://schemas.openxmlformats.org/drawingml/2006/table">
                <a:tbl>
                  <a:tblPr bandRow="1">
                    <a:tableStyleId>{2D5ABB26-0587-4C30-8999-92F81FD0307C}</a:tableStyleId>
                  </a:tblPr>
                  <a:tblGrid>
                    <a:gridCol w="2145447">
                      <a:extLst>
                        <a:ext uri="{9D8B030D-6E8A-4147-A177-3AD203B41FA5}">
                          <a16:colId xmlns:a16="http://schemas.microsoft.com/office/drawing/2014/main" val="20000"/>
                        </a:ext>
                      </a:extLst>
                    </a:gridCol>
                    <a:gridCol w="2145447">
                      <a:extLst>
                        <a:ext uri="{9D8B030D-6E8A-4147-A177-3AD203B41FA5}">
                          <a16:colId xmlns:a16="http://schemas.microsoft.com/office/drawing/2014/main" val="20001"/>
                        </a:ext>
                      </a:extLst>
                    </a:gridCol>
                    <a:gridCol w="2146038">
                      <a:extLst>
                        <a:ext uri="{9D8B030D-6E8A-4147-A177-3AD203B41FA5}">
                          <a16:colId xmlns:a16="http://schemas.microsoft.com/office/drawing/2014/main" val="20002"/>
                        </a:ext>
                      </a:extLst>
                    </a:gridCol>
                  </a:tblGrid>
                  <a:tr h="817594">
                    <a:tc>
                      <a:txBody>
                        <a:bodyPr/>
                        <a:lstStyle/>
                        <a:p>
                          <a:pPr marL="342900" marR="91440" lvl="0" indent="-342900">
                            <a:spcBef>
                              <a:spcPts val="0"/>
                            </a:spcBef>
                            <a:spcAft>
                              <a:spcPts val="1000"/>
                            </a:spcAft>
                            <a:buFont typeface="+mj-lt"/>
                            <a:buAutoNum type="alphaLcPeriod"/>
                          </a:pPr>
                          <a:r>
                            <a:rPr lang="en-US" sz="2400" dirty="0">
                              <a:effectLst/>
                            </a:rPr>
                            <a:t> </a:t>
                          </a: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8</m:t>
                                  </m:r>
                                </m:num>
                                <m:den>
                                  <m:r>
                                    <a:rPr lang="en-US" sz="2800">
                                      <a:effectLst/>
                                      <a:latin typeface="Cambria Math" panose="02040503050406030204" pitchFamily="18" charset="0"/>
                                    </a:rPr>
                                    <m:t>28</m:t>
                                  </m:r>
                                </m:den>
                              </m:f>
                            </m:oMath>
                          </a14:m>
                          <a:endParaRPr lang="en-US" sz="28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tc>
                    <a:tc>
                      <a:txBody>
                        <a:bodyPr/>
                        <a:lstStyle/>
                        <a:p>
                          <a:pPr marL="457200" marR="91440" lvl="0" indent="-457200">
                            <a:spcBef>
                              <a:spcPts val="0"/>
                            </a:spcBef>
                            <a:spcAft>
                              <a:spcPts val="1000"/>
                            </a:spcAft>
                            <a:buFont typeface="+mj-lt"/>
                            <a:buAutoNum type="alphaLcPeriod" startAt="2"/>
                          </a:pPr>
                          <a:r>
                            <a:rPr lang="en-US" sz="2400" dirty="0">
                              <a:effectLst/>
                            </a:rPr>
                            <a:t> </a:t>
                          </a: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45</m:t>
                                  </m:r>
                                </m:num>
                                <m:den>
                                  <m:r>
                                    <a:rPr lang="en-US" sz="2800">
                                      <a:effectLst/>
                                      <a:latin typeface="Cambria Math" panose="02040503050406030204" pitchFamily="18" charset="0"/>
                                    </a:rPr>
                                    <m:t>90</m:t>
                                  </m:r>
                                </m:den>
                              </m:f>
                            </m:oMath>
                          </a14:m>
                          <a:endParaRPr lang="en-US" sz="28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tc>
                    <a:tc>
                      <a:txBody>
                        <a:bodyPr/>
                        <a:lstStyle/>
                        <a:p>
                          <a:pPr marL="457200" marR="91440" lvl="0" indent="-457200">
                            <a:spcBef>
                              <a:spcPts val="0"/>
                            </a:spcBef>
                            <a:spcAft>
                              <a:spcPts val="1000"/>
                            </a:spcAft>
                            <a:buFont typeface="+mj-lt"/>
                            <a:buAutoNum type="alphaLcPeriod" startAt="3"/>
                          </a:pPr>
                          <a:r>
                            <a:rPr lang="en-US" sz="2400" dirty="0">
                              <a:effectLst/>
                            </a:rPr>
                            <a:t> </a:t>
                          </a: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16</m:t>
                                  </m:r>
                                </m:num>
                                <m:den>
                                  <m:r>
                                    <a:rPr lang="en-US" sz="2800">
                                      <a:effectLst/>
                                      <a:latin typeface="Cambria Math" panose="02040503050406030204" pitchFamily="18" charset="0"/>
                                    </a:rPr>
                                    <m:t>34</m:t>
                                  </m:r>
                                </m:den>
                              </m:f>
                            </m:oMath>
                          </a14:m>
                          <a:endParaRPr lang="en-US" sz="28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404509911"/>
                  </p:ext>
                </p:extLst>
              </p:nvPr>
            </p:nvGraphicFramePr>
            <p:xfrm>
              <a:off x="1250692" y="2465503"/>
              <a:ext cx="6436932" cy="817594"/>
            </p:xfrm>
            <a:graphic>
              <a:graphicData uri="http://schemas.openxmlformats.org/drawingml/2006/table">
                <a:tbl>
                  <a:tblPr bandRow="1">
                    <a:tableStyleId>{2D5ABB26-0587-4C30-8999-92F81FD0307C}</a:tableStyleId>
                  </a:tblPr>
                  <a:tblGrid>
                    <a:gridCol w="2145447"/>
                    <a:gridCol w="2145447"/>
                    <a:gridCol w="2146038"/>
                  </a:tblGrid>
                  <a:tr h="817594">
                    <a:tc>
                      <a:txBody>
                        <a:bodyPr/>
                        <a:lstStyle/>
                        <a:p>
                          <a:endParaRPr lang="en-US"/>
                        </a:p>
                      </a:txBody>
                      <a:tcPr marL="68580" marR="68580" marT="0" marB="0">
                        <a:blipFill rotWithShape="0">
                          <a:blip r:embed="rId6"/>
                          <a:stretch>
                            <a:fillRect r="-200284"/>
                          </a:stretch>
                        </a:blipFill>
                      </a:tcPr>
                    </a:tc>
                    <a:tc>
                      <a:txBody>
                        <a:bodyPr/>
                        <a:lstStyle/>
                        <a:p>
                          <a:endParaRPr lang="en-US"/>
                        </a:p>
                      </a:txBody>
                      <a:tcPr marL="68580" marR="68580" marT="0" marB="0">
                        <a:blipFill rotWithShape="0">
                          <a:blip r:embed="rId6"/>
                          <a:stretch>
                            <a:fillRect l="-99717" r="-99717"/>
                          </a:stretch>
                        </a:blipFill>
                      </a:tcPr>
                    </a:tc>
                    <a:tc>
                      <a:txBody>
                        <a:bodyPr/>
                        <a:lstStyle/>
                        <a:p>
                          <a:endParaRPr lang="en-US"/>
                        </a:p>
                      </a:txBody>
                      <a:tcPr marL="68580" marR="68580" marT="0" marB="0">
                        <a:blipFill rotWithShape="0">
                          <a:blip r:embed="rId6"/>
                          <a:stretch>
                            <a:fillRect l="-200284"/>
                          </a:stretch>
                        </a:blipFill>
                      </a:tcPr>
                    </a:tc>
                  </a:tr>
                </a:tbl>
              </a:graphicData>
            </a:graphic>
          </p:graphicFrame>
        </mc:Fallback>
      </mc:AlternateContent>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a:t>
            </a:r>
            <a:endParaRPr i="1" dirty="0">
              <a:latin typeface="Calibri"/>
              <a:ea typeface="Calibri"/>
              <a:cs typeface="Calibri"/>
              <a:sym typeface="Calibri"/>
            </a:endParaRPr>
          </a:p>
        </p:txBody>
      </p:sp>
    </p:spTree>
    <p:extLst>
      <p:ext uri="{BB962C8B-B14F-4D97-AF65-F5344CB8AC3E}">
        <p14:creationId xmlns:p14="http://schemas.microsoft.com/office/powerpoint/2010/main" val="3114744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8</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99244" y="131139"/>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51944" y="131139"/>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508760" y="1386026"/>
            <a:ext cx="8878824" cy="526297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greatest common factor (GCF) of each pair of numbers.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each fraction in simplest form using the GCF of the numerator and denominator.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a16="http://schemas.microsoft.com/office/drawing/2014/main" id="{781A9CA2-0645-4547-8E05-A9C337F9CC05}"/>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722798356"/>
                  </p:ext>
                </p:extLst>
              </p:nvPr>
            </p:nvGraphicFramePr>
            <p:xfrm>
              <a:off x="2566604" y="2808399"/>
              <a:ext cx="7269296" cy="616426"/>
            </p:xfrm>
            <a:graphic>
              <a:graphicData uri="http://schemas.openxmlformats.org/drawingml/2006/table">
                <a:tbl>
                  <a:tblPr bandRow="1">
                    <a:tableStyleId>{2D5ABB26-0587-4C30-8999-92F81FD0307C}</a:tableStyleId>
                  </a:tblPr>
                  <a:tblGrid>
                    <a:gridCol w="2422877">
                      <a:extLst>
                        <a:ext uri="{9D8B030D-6E8A-4147-A177-3AD203B41FA5}">
                          <a16:colId xmlns:a16="http://schemas.microsoft.com/office/drawing/2014/main" val="20000"/>
                        </a:ext>
                      </a:extLst>
                    </a:gridCol>
                    <a:gridCol w="2422877">
                      <a:extLst>
                        <a:ext uri="{9D8B030D-6E8A-4147-A177-3AD203B41FA5}">
                          <a16:colId xmlns:a16="http://schemas.microsoft.com/office/drawing/2014/main" val="20001"/>
                        </a:ext>
                      </a:extLst>
                    </a:gridCol>
                    <a:gridCol w="2423542">
                      <a:extLst>
                        <a:ext uri="{9D8B030D-6E8A-4147-A177-3AD203B41FA5}">
                          <a16:colId xmlns:a16="http://schemas.microsoft.com/office/drawing/2014/main" val="20002"/>
                        </a:ext>
                      </a:extLst>
                    </a:gridCol>
                  </a:tblGrid>
                  <a:tr h="616426">
                    <a:tc>
                      <a:txBody>
                        <a:bodyPr/>
                        <a:lstStyle/>
                        <a:p>
                          <a:pPr marL="342900" marR="91440" lvl="0" indent="-342900" algn="ctr">
                            <a:spcBef>
                              <a:spcPts val="0"/>
                            </a:spcBef>
                            <a:spcAft>
                              <a:spcPts val="1000"/>
                            </a:spcAft>
                            <a:buFont typeface="+mj-lt"/>
                            <a:buAutoNum type="alphaLcPeriod"/>
                          </a:pPr>
                          <a:r>
                            <a:rPr lang="en-US" sz="2400" dirty="0">
                              <a:effectLst/>
                            </a:rPr>
                            <a:t> </a:t>
                          </a:r>
                          <a14:m>
                            <m:oMath xmlns:m="http://schemas.openxmlformats.org/officeDocument/2006/math">
                              <m:r>
                                <a:rPr lang="en-US" sz="2400">
                                  <a:effectLst/>
                                  <a:latin typeface="Cambria Math" panose="02040503050406030204" pitchFamily="18" charset="0"/>
                                </a:rPr>
                                <m:t>18 </m:t>
                              </m:r>
                            </m:oMath>
                          </a14:m>
                          <a:r>
                            <a:rPr lang="en-US" sz="2400" dirty="0">
                              <a:effectLst/>
                            </a:rPr>
                            <a:t>and </a:t>
                          </a:r>
                          <a14:m>
                            <m:oMath xmlns:m="http://schemas.openxmlformats.org/officeDocument/2006/math">
                              <m:r>
                                <a:rPr lang="en-US" sz="2400">
                                  <a:effectLst/>
                                  <a:latin typeface="Cambria Math" panose="02040503050406030204" pitchFamily="18" charset="0"/>
                                </a:rPr>
                                <m:t>24</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91440" lvl="0" indent="-457200" algn="ctr">
                            <a:spcBef>
                              <a:spcPts val="0"/>
                            </a:spcBef>
                            <a:spcAft>
                              <a:spcPts val="1000"/>
                            </a:spcAft>
                            <a:buFont typeface="+mj-lt"/>
                            <a:buAutoNum type="alphaLcPeriod" startAt="2"/>
                          </a:pPr>
                          <a:r>
                            <a:rPr lang="en-US" sz="2400" dirty="0">
                              <a:effectLst/>
                            </a:rPr>
                            <a:t> </a:t>
                          </a:r>
                          <a14:m>
                            <m:oMath xmlns:m="http://schemas.openxmlformats.org/officeDocument/2006/math">
                              <m:r>
                                <a:rPr lang="en-US" sz="2400">
                                  <a:effectLst/>
                                  <a:latin typeface="Cambria Math" panose="02040503050406030204" pitchFamily="18" charset="0"/>
                                </a:rPr>
                                <m:t>45</m:t>
                              </m:r>
                            </m:oMath>
                          </a14:m>
                          <a:r>
                            <a:rPr lang="en-US" sz="2400" dirty="0">
                              <a:effectLst/>
                            </a:rPr>
                            <a:t> and </a:t>
                          </a:r>
                          <a14:m>
                            <m:oMath xmlns:m="http://schemas.openxmlformats.org/officeDocument/2006/math">
                              <m:r>
                                <a:rPr lang="en-US" sz="2400">
                                  <a:effectLst/>
                                  <a:latin typeface="Cambria Math" panose="02040503050406030204" pitchFamily="18" charset="0"/>
                                </a:rPr>
                                <m:t>60</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91440" lvl="0" indent="-457200" algn="ctr">
                            <a:spcBef>
                              <a:spcPts val="0"/>
                            </a:spcBef>
                            <a:spcAft>
                              <a:spcPts val="1000"/>
                            </a:spcAft>
                            <a:buFont typeface="+mj-lt"/>
                            <a:buAutoNum type="alphaLcPeriod" startAt="3"/>
                          </a:pPr>
                          <a:r>
                            <a:rPr lang="en-US" sz="2400" dirty="0">
                              <a:effectLst/>
                            </a:rPr>
                            <a:t> </a:t>
                          </a:r>
                          <a14:m>
                            <m:oMath xmlns:m="http://schemas.openxmlformats.org/officeDocument/2006/math">
                              <m:r>
                                <a:rPr lang="en-US" sz="2400">
                                  <a:effectLst/>
                                  <a:latin typeface="Cambria Math" panose="02040503050406030204" pitchFamily="18" charset="0"/>
                                </a:rPr>
                                <m:t>665</m:t>
                              </m:r>
                            </m:oMath>
                          </a14:m>
                          <a:r>
                            <a:rPr lang="en-US" sz="2400" dirty="0">
                              <a:effectLst/>
                            </a:rPr>
                            <a:t> and </a:t>
                          </a:r>
                          <a14:m>
                            <m:oMath xmlns:m="http://schemas.openxmlformats.org/officeDocument/2006/math">
                              <m:r>
                                <a:rPr lang="en-US" sz="2400">
                                  <a:effectLst/>
                                  <a:latin typeface="Cambria Math" panose="02040503050406030204" pitchFamily="18" charset="0"/>
                                </a:rPr>
                                <m:t>30</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722798356"/>
                  </p:ext>
                </p:extLst>
              </p:nvPr>
            </p:nvGraphicFramePr>
            <p:xfrm>
              <a:off x="1042604" y="2808399"/>
              <a:ext cx="7269296" cy="616426"/>
            </p:xfrm>
            <a:graphic>
              <a:graphicData uri="http://schemas.openxmlformats.org/drawingml/2006/table">
                <a:tbl>
                  <a:tblPr bandRow="1">
                    <a:tableStyleId>{2D5ABB26-0587-4C30-8999-92F81FD0307C}</a:tableStyleId>
                  </a:tblPr>
                  <a:tblGrid>
                    <a:gridCol w="2422877"/>
                    <a:gridCol w="2422877"/>
                    <a:gridCol w="2423542"/>
                  </a:tblGrid>
                  <a:tr h="616426">
                    <a:tc>
                      <a:txBody>
                        <a:bodyPr/>
                        <a:lstStyle/>
                        <a:p>
                          <a:endParaRPr lang="en-US"/>
                        </a:p>
                      </a:txBody>
                      <a:tcPr marL="68580" marR="68580" marT="0" marB="0">
                        <a:blipFill rotWithShape="0">
                          <a:blip r:embed="rId5"/>
                          <a:stretch>
                            <a:fillRect t="-13725" r="-199749"/>
                          </a:stretch>
                        </a:blipFill>
                      </a:tcPr>
                    </a:tc>
                    <a:tc>
                      <a:txBody>
                        <a:bodyPr/>
                        <a:lstStyle/>
                        <a:p>
                          <a:endParaRPr lang="en-US"/>
                        </a:p>
                      </a:txBody>
                      <a:tcPr marL="68580" marR="68580" marT="0" marB="0">
                        <a:blipFill rotWithShape="0">
                          <a:blip r:embed="rId5"/>
                          <a:stretch>
                            <a:fillRect l="-100252" t="-13725" r="-100252"/>
                          </a:stretch>
                        </a:blipFill>
                      </a:tcPr>
                    </a:tc>
                    <a:tc>
                      <a:txBody>
                        <a:bodyPr/>
                        <a:lstStyle/>
                        <a:p>
                          <a:endParaRPr lang="en-US"/>
                        </a:p>
                      </a:txBody>
                      <a:tcPr marL="68580" marR="68580" marT="0" marB="0">
                        <a:blipFill rotWithShape="0">
                          <a:blip r:embed="rId5"/>
                          <a:stretch>
                            <a:fillRect l="-199749" t="-13725"/>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532559364"/>
                  </p:ext>
                </p:extLst>
              </p:nvPr>
            </p:nvGraphicFramePr>
            <p:xfrm>
              <a:off x="2146200" y="5085491"/>
              <a:ext cx="7269296" cy="699707"/>
            </p:xfrm>
            <a:graphic>
              <a:graphicData uri="http://schemas.openxmlformats.org/drawingml/2006/table">
                <a:tbl>
                  <a:tblPr bandRow="1">
                    <a:tableStyleId>{2D5ABB26-0587-4C30-8999-92F81FD0307C}</a:tableStyleId>
                  </a:tblPr>
                  <a:tblGrid>
                    <a:gridCol w="2422877">
                      <a:extLst>
                        <a:ext uri="{9D8B030D-6E8A-4147-A177-3AD203B41FA5}">
                          <a16:colId xmlns:a16="http://schemas.microsoft.com/office/drawing/2014/main" val="20000"/>
                        </a:ext>
                      </a:extLst>
                    </a:gridCol>
                    <a:gridCol w="2422877">
                      <a:extLst>
                        <a:ext uri="{9D8B030D-6E8A-4147-A177-3AD203B41FA5}">
                          <a16:colId xmlns:a16="http://schemas.microsoft.com/office/drawing/2014/main" val="20001"/>
                        </a:ext>
                      </a:extLst>
                    </a:gridCol>
                    <a:gridCol w="2423542">
                      <a:extLst>
                        <a:ext uri="{9D8B030D-6E8A-4147-A177-3AD203B41FA5}">
                          <a16:colId xmlns:a16="http://schemas.microsoft.com/office/drawing/2014/main" val="20002"/>
                        </a:ext>
                      </a:extLst>
                    </a:gridCol>
                  </a:tblGrid>
                  <a:tr h="616426">
                    <a:tc>
                      <a:txBody>
                        <a:bodyPr/>
                        <a:lstStyle/>
                        <a:p>
                          <a:pPr marL="342900" marR="91440" lvl="0" indent="-342900" algn="ctr">
                            <a:spcBef>
                              <a:spcPts val="0"/>
                            </a:spcBef>
                            <a:spcAft>
                              <a:spcPts val="1000"/>
                            </a:spcAft>
                            <a:buFont typeface="+mj-lt"/>
                            <a:buAutoNum type="alphaLcPeriod"/>
                          </a:pPr>
                          <a:r>
                            <a:rPr lang="en-US" sz="2400" dirty="0">
                              <a:effectLst/>
                            </a:rPr>
                            <a:t> </a:t>
                          </a:r>
                          <a14:m>
                            <m:oMath xmlns:m="http://schemas.openxmlformats.org/officeDocument/2006/math">
                              <m:f>
                                <m:fPr>
                                  <m:ctrlPr>
                                    <a:rPr lang="en-US" sz="3200" i="1" smtClean="0">
                                      <a:effectLst/>
                                      <a:latin typeface="Cambria Math" panose="02040503050406030204" pitchFamily="18" charset="0"/>
                                    </a:rPr>
                                  </m:ctrlPr>
                                </m:fPr>
                                <m:num>
                                  <m:r>
                                    <a:rPr lang="en-US" sz="3200" b="0" i="1" smtClean="0">
                                      <a:effectLst/>
                                      <a:latin typeface="Cambria Math" panose="02040503050406030204" pitchFamily="18" charset="0"/>
                                    </a:rPr>
                                    <m:t>29</m:t>
                                  </m:r>
                                </m:num>
                                <m:den>
                                  <m:r>
                                    <a:rPr lang="en-US" sz="3200" b="0" i="1" smtClean="0">
                                      <a:effectLst/>
                                      <a:latin typeface="Cambria Math" panose="02040503050406030204" pitchFamily="18" charset="0"/>
                                    </a:rPr>
                                    <m:t>87</m:t>
                                  </m:r>
                                </m:den>
                              </m:f>
                            </m:oMath>
                          </a14:m>
                          <a:endParaRPr lang="en-US" sz="32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91440" lvl="0" indent="-457200" algn="ctr">
                            <a:spcBef>
                              <a:spcPts val="0"/>
                            </a:spcBef>
                            <a:spcAft>
                              <a:spcPts val="1000"/>
                            </a:spcAft>
                            <a:buFont typeface="+mj-lt"/>
                            <a:buAutoNum type="alphaLcPeriod" startAt="2"/>
                          </a:pPr>
                          <a:r>
                            <a:rPr lang="en-US" sz="2400" dirty="0">
                              <a:effectLst/>
                            </a:rPr>
                            <a:t> </a:t>
                          </a:r>
                          <a14:m>
                            <m:oMath xmlns:m="http://schemas.openxmlformats.org/officeDocument/2006/math">
                              <m:f>
                                <m:fPr>
                                  <m:ctrlPr>
                                    <a:rPr lang="en-US" sz="3200" i="1" smtClean="0">
                                      <a:effectLst/>
                                      <a:latin typeface="Cambria Math" panose="02040503050406030204" pitchFamily="18" charset="0"/>
                                    </a:rPr>
                                  </m:ctrlPr>
                                </m:fPr>
                                <m:num>
                                  <m:r>
                                    <a:rPr lang="en-US" sz="3200" b="0" i="1" smtClean="0">
                                      <a:effectLst/>
                                      <a:latin typeface="Cambria Math" panose="02040503050406030204" pitchFamily="18" charset="0"/>
                                    </a:rPr>
                                    <m:t>10</m:t>
                                  </m:r>
                                </m:num>
                                <m:den>
                                  <m:r>
                                    <a:rPr lang="en-US" sz="3200" b="0" i="1" smtClean="0">
                                      <a:effectLst/>
                                      <a:latin typeface="Cambria Math" panose="02040503050406030204" pitchFamily="18" charset="0"/>
                                    </a:rPr>
                                    <m:t>15</m:t>
                                  </m:r>
                                </m:den>
                              </m:f>
                            </m:oMath>
                          </a14:m>
                          <a:endParaRPr lang="en-US" sz="32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91440" lvl="0" indent="-457200" algn="ctr">
                            <a:spcBef>
                              <a:spcPts val="0"/>
                            </a:spcBef>
                            <a:spcAft>
                              <a:spcPts val="1000"/>
                            </a:spcAft>
                            <a:buFont typeface="+mj-lt"/>
                            <a:buAutoNum type="alphaLcPeriod" startAt="3"/>
                          </a:pPr>
                          <a:r>
                            <a:rPr lang="en-US" sz="2400" dirty="0">
                              <a:effectLst/>
                            </a:rPr>
                            <a:t> </a:t>
                          </a:r>
                          <a14:m>
                            <m:oMath xmlns:m="http://schemas.openxmlformats.org/officeDocument/2006/math">
                              <m:f>
                                <m:fPr>
                                  <m:ctrlPr>
                                    <a:rPr lang="en-US" sz="3200" i="1" smtClean="0">
                                      <a:effectLst/>
                                      <a:latin typeface="Cambria Math" panose="02040503050406030204" pitchFamily="18" charset="0"/>
                                    </a:rPr>
                                  </m:ctrlPr>
                                </m:fPr>
                                <m:num>
                                  <m:r>
                                    <a:rPr lang="en-US" sz="3200" b="0" i="1" smtClean="0">
                                      <a:effectLst/>
                                      <a:latin typeface="Cambria Math" panose="02040503050406030204" pitchFamily="18" charset="0"/>
                                    </a:rPr>
                                    <m:t>175</m:t>
                                  </m:r>
                                </m:num>
                                <m:den>
                                  <m:r>
                                    <a:rPr lang="en-US" sz="3200" b="0" i="1" smtClean="0">
                                      <a:effectLst/>
                                      <a:latin typeface="Cambria Math" panose="02040503050406030204" pitchFamily="18" charset="0"/>
                                    </a:rPr>
                                    <m:t>210</m:t>
                                  </m:r>
                                </m:den>
                              </m:f>
                            </m:oMath>
                          </a14:m>
                          <a:endParaRPr lang="en-US" sz="32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532559364"/>
                  </p:ext>
                </p:extLst>
              </p:nvPr>
            </p:nvGraphicFramePr>
            <p:xfrm>
              <a:off x="622200" y="5085490"/>
              <a:ext cx="7269296" cy="699707"/>
            </p:xfrm>
            <a:graphic>
              <a:graphicData uri="http://schemas.openxmlformats.org/drawingml/2006/table">
                <a:tbl>
                  <a:tblPr bandRow="1">
                    <a:tableStyleId>{2D5ABB26-0587-4C30-8999-92F81FD0307C}</a:tableStyleId>
                  </a:tblPr>
                  <a:tblGrid>
                    <a:gridCol w="2422877"/>
                    <a:gridCol w="2422877"/>
                    <a:gridCol w="2423542"/>
                  </a:tblGrid>
                  <a:tr h="699707">
                    <a:tc>
                      <a:txBody>
                        <a:bodyPr/>
                        <a:lstStyle/>
                        <a:p>
                          <a:endParaRPr lang="en-US"/>
                        </a:p>
                      </a:txBody>
                      <a:tcPr marL="68580" marR="68580" marT="0" marB="0">
                        <a:blipFill rotWithShape="0">
                          <a:blip r:embed="rId6"/>
                          <a:stretch>
                            <a:fillRect r="-199749" b="-4310"/>
                          </a:stretch>
                        </a:blipFill>
                      </a:tcPr>
                    </a:tc>
                    <a:tc>
                      <a:txBody>
                        <a:bodyPr/>
                        <a:lstStyle/>
                        <a:p>
                          <a:endParaRPr lang="en-US"/>
                        </a:p>
                      </a:txBody>
                      <a:tcPr marL="68580" marR="68580" marT="0" marB="0">
                        <a:blipFill rotWithShape="0">
                          <a:blip r:embed="rId6"/>
                          <a:stretch>
                            <a:fillRect l="-100252" r="-100252" b="-4310"/>
                          </a:stretch>
                        </a:blipFill>
                      </a:tcPr>
                    </a:tc>
                    <a:tc>
                      <a:txBody>
                        <a:bodyPr/>
                        <a:lstStyle/>
                        <a:p>
                          <a:endParaRPr lang="en-US"/>
                        </a:p>
                      </a:txBody>
                      <a:tcPr marL="68580" marR="68580" marT="0" marB="0">
                        <a:blipFill rotWithShape="0">
                          <a:blip r:embed="rId6"/>
                          <a:stretch>
                            <a:fillRect l="-199749" b="-4310"/>
                          </a:stretch>
                        </a:blipFill>
                      </a:tcPr>
                    </a:tc>
                  </a:tr>
                </a:tbl>
              </a:graphicData>
            </a:graphic>
          </p:graphicFrame>
        </mc:Fallback>
      </mc:AlternateContent>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8</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249680" y="349705"/>
                <a:ext cx="9009888"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Mrs. </a:t>
                </a:r>
                <a:r>
                  <a:rPr lang="en-US" sz="2400" dirty="0" err="1">
                    <a:latin typeface="Verdana" panose="020B0604030504040204" pitchFamily="34" charset="0"/>
                    <a:ea typeface="Verdana" panose="020B0604030504040204" pitchFamily="34" charset="0"/>
                    <a:cs typeface="Verdana" panose="020B0604030504040204" pitchFamily="34" charset="0"/>
                  </a:rPr>
                  <a:t>Chaunuan</a:t>
                </a:r>
                <a:r>
                  <a:rPr lang="en-US" sz="2400" dirty="0">
                    <a:latin typeface="Verdana" panose="020B0604030504040204" pitchFamily="34" charset="0"/>
                    <a:ea typeface="Verdana" panose="020B0604030504040204" pitchFamily="34" charset="0"/>
                    <a:cs typeface="Verdana" panose="020B0604030504040204" pitchFamily="34" charset="0"/>
                  </a:rPr>
                  <a:t> is making gift bags filled with pencils and stickers for class prizes. Mrs. </a:t>
                </a:r>
                <a:r>
                  <a:rPr lang="en-US" sz="2400" dirty="0" err="1">
                    <a:latin typeface="Verdana" panose="020B0604030504040204" pitchFamily="34" charset="0"/>
                    <a:ea typeface="Verdana" panose="020B0604030504040204" pitchFamily="34" charset="0"/>
                    <a:cs typeface="Verdana" panose="020B0604030504040204" pitchFamily="34" charset="0"/>
                  </a:rPr>
                  <a:t>Chaunuan</a:t>
                </a:r>
                <a:r>
                  <a:rPr lang="en-US" sz="2400" dirty="0">
                    <a:latin typeface="Verdana" panose="020B0604030504040204" pitchFamily="34" charset="0"/>
                    <a:ea typeface="Verdana" panose="020B0604030504040204" pitchFamily="34" charset="0"/>
                    <a:cs typeface="Verdana" panose="020B0604030504040204" pitchFamily="34" charset="0"/>
                  </a:rPr>
                  <a:t> has</a:t>
                </a:r>
                <a14:m>
                  <m:oMath xmlns:m="http://schemas.openxmlformats.org/officeDocument/2006/math">
                    <m:r>
                      <a:rPr lang="en-US" sz="2400" i="1">
                        <a:latin typeface="Cambria Math" panose="02040503050406030204" pitchFamily="18" charset="0"/>
                      </a:rPr>
                      <m:t> 24 </m:t>
                    </m:r>
                  </m:oMath>
                </a14:m>
                <a:r>
                  <a:rPr lang="en-US" sz="2400" dirty="0">
                    <a:latin typeface="Verdana" panose="020B0604030504040204" pitchFamily="34" charset="0"/>
                    <a:ea typeface="Verdana" panose="020B0604030504040204" pitchFamily="34" charset="0"/>
                    <a:cs typeface="Verdana" panose="020B0604030504040204" pitchFamily="34" charset="0"/>
                  </a:rPr>
                  <a:t>pencils and </a:t>
                </a:r>
                <a14:m>
                  <m:oMath xmlns:m="http://schemas.openxmlformats.org/officeDocument/2006/math">
                    <m:r>
                      <a:rPr lang="en-US" sz="2400" i="1">
                        <a:latin typeface="Cambria Math" panose="02040503050406030204" pitchFamily="18" charset="0"/>
                      </a:rPr>
                      <m:t>36</m:t>
                    </m:r>
                  </m:oMath>
                </a14:m>
                <a:r>
                  <a:rPr lang="en-US" sz="2400" dirty="0">
                    <a:latin typeface="Verdana" panose="020B0604030504040204" pitchFamily="34" charset="0"/>
                    <a:ea typeface="Verdana" panose="020B0604030504040204" pitchFamily="34" charset="0"/>
                    <a:cs typeface="Verdana" panose="020B0604030504040204" pitchFamily="34" charset="0"/>
                  </a:rPr>
                  <a:t> stickers to use. Each bag will have the same number of each item, with no items left over. What is the greatest number of gift bags she can make?</a:t>
                </a: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249680" y="349705"/>
                <a:ext cx="9009888" cy="2308324"/>
              </a:xfrm>
              <a:prstGeom prst="rect">
                <a:avLst/>
              </a:prstGeom>
              <a:blipFill rotWithShape="0">
                <a:blip r:embed="rId3"/>
                <a:stretch>
                  <a:fillRect l="-1015" t="-2111" b="-501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8</a:t>
            </a:r>
            <a:endParaRPr i="1" dirty="0">
              <a:latin typeface="Calibri"/>
              <a:ea typeface="Calibri"/>
              <a:cs typeface="Calibri"/>
              <a:sym typeface="Calibri"/>
            </a:endParaRPr>
          </a:p>
        </p:txBody>
      </p:sp>
    </p:spTree>
    <p:extLst>
      <p:ext uri="{BB962C8B-B14F-4D97-AF65-F5344CB8AC3E}">
        <p14:creationId xmlns:p14="http://schemas.microsoft.com/office/powerpoint/2010/main" val="2161466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8</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66423" y="-1681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36973" y="12608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584960" y="1386025"/>
                <a:ext cx="8802624" cy="432458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52</m:t>
                        </m:r>
                      </m:num>
                      <m:den>
                        <m:r>
                          <a:rPr lang="en-US" sz="2400" i="1">
                            <a:latin typeface="Cambria Math" panose="02040503050406030204" pitchFamily="18" charset="0"/>
                          </a:rPr>
                          <m:t>104</m:t>
                        </m:r>
                      </m:den>
                    </m:f>
                  </m:oMath>
                </a14:m>
                <a:r>
                  <a:rPr lang="en-US" sz="2400" dirty="0">
                    <a:latin typeface="Verdana" panose="020B0604030504040204" pitchFamily="34" charset="0"/>
                    <a:ea typeface="Verdana" panose="020B0604030504040204" pitchFamily="34" charset="0"/>
                    <a:cs typeface="Verdana" panose="020B0604030504040204" pitchFamily="34" charset="0"/>
                  </a:rPr>
                  <a:t> in simplest form.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Diego is preparing brownies and cookies for a bake sale. He has </a:t>
                </a:r>
                <a:r>
                  <a:rPr lang="en-US" sz="2400" dirty="0">
                    <a:latin typeface="Cambria Math" panose="02040503050406030204" pitchFamily="18" charset="0"/>
                    <a:ea typeface="Cambria Math" panose="02040503050406030204" pitchFamily="18" charset="0"/>
                    <a:cs typeface="Verdana" panose="020B0604030504040204" pitchFamily="34" charset="0"/>
                  </a:rPr>
                  <a:t>48</a:t>
                </a:r>
                <a:r>
                  <a:rPr lang="en-US" sz="2400" dirty="0">
                    <a:latin typeface="Verdana" panose="020B0604030504040204" pitchFamily="34" charset="0"/>
                    <a:ea typeface="Verdana" panose="020B0604030504040204" pitchFamily="34" charset="0"/>
                    <a:cs typeface="Verdana" panose="020B0604030504040204" pitchFamily="34" charset="0"/>
                  </a:rPr>
                  <a:t> brownies and </a:t>
                </a:r>
                <a:r>
                  <a:rPr lang="en-US" sz="2400" dirty="0">
                    <a:latin typeface="Cambria Math" panose="02040503050406030204" pitchFamily="18" charset="0"/>
                    <a:ea typeface="Cambria Math" panose="02040503050406030204" pitchFamily="18" charset="0"/>
                    <a:cs typeface="Verdana" panose="020B0604030504040204" pitchFamily="34" charset="0"/>
                  </a:rPr>
                  <a:t>64</a:t>
                </a:r>
                <a:r>
                  <a:rPr lang="en-US" sz="2400" dirty="0">
                    <a:latin typeface="Verdana" panose="020B0604030504040204" pitchFamily="34" charset="0"/>
                    <a:ea typeface="Verdana" panose="020B0604030504040204" pitchFamily="34" charset="0"/>
                    <a:cs typeface="Verdana" panose="020B0604030504040204" pitchFamily="34" charset="0"/>
                  </a:rPr>
                  <a:t> cookies. Diego wants to make bake sale bags. Each bag will have the same amount of each item, with no items left over. What is the greatest number of bake sale bags he can make?</a:t>
                </a: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584960" y="1386025"/>
                <a:ext cx="8802624" cy="4324582"/>
              </a:xfrm>
              <a:prstGeom prst="rect">
                <a:avLst/>
              </a:prstGeom>
              <a:blipFill rotWithShape="0">
                <a:blip r:embed="rId4"/>
                <a:stretch>
                  <a:fillRect l="-1039" r="-1593" b="-1972"/>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94096" y="6200724"/>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65587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8</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1593</TotalTime>
  <Words>1347</Words>
  <Application>Microsoft Office PowerPoint</Application>
  <PresentationFormat>Widescreen</PresentationFormat>
  <Paragraphs>223</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Calibri</vt:lpstr>
      <vt:lpstr>Cambria</vt:lpstr>
      <vt:lpstr>Cambria Math</vt:lpstr>
      <vt:lpstr>Century Gothic</vt:lpstr>
      <vt:lpstr>Verdana</vt:lpstr>
      <vt:lpstr>Wingdings</vt:lpstr>
      <vt:lpstr>1_Office Theme</vt:lpstr>
      <vt:lpstr>6th Grade Accelerated Math  Unit 1, Lesson 1  Finding the Greatest Common Factor  Volume 1, pg. 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Guided Instruction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42</cp:revision>
  <dcterms:created xsi:type="dcterms:W3CDTF">2015-03-17T18:51:18Z</dcterms:created>
  <dcterms:modified xsi:type="dcterms:W3CDTF">2022-07-25T02:14:59Z</dcterms:modified>
</cp:coreProperties>
</file>