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85" r:id="rId4"/>
    <p:sldId id="286" r:id="rId5"/>
    <p:sldId id="261" r:id="rId6"/>
    <p:sldId id="287" r:id="rId7"/>
    <p:sldId id="288" r:id="rId8"/>
    <p:sldId id="289" r:id="rId9"/>
    <p:sldId id="290" r:id="rId10"/>
    <p:sldId id="308" r:id="rId11"/>
    <p:sldId id="323" r:id="rId12"/>
    <p:sldId id="324" r:id="rId13"/>
    <p:sldId id="320" r:id="rId14"/>
    <p:sldId id="321" r:id="rId15"/>
    <p:sldId id="322" r:id="rId16"/>
    <p:sldId id="314" r:id="rId17"/>
    <p:sldId id="315" r:id="rId18"/>
    <p:sldId id="302" r:id="rId19"/>
    <p:sldId id="303" r:id="rId20"/>
    <p:sldId id="316" r:id="rId21"/>
    <p:sldId id="306" r:id="rId22"/>
    <p:sldId id="307"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E5B"/>
    <a:srgbClr val="F79647"/>
    <a:srgbClr val="FCBD1E"/>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547"/>
    <p:restoredTop sz="94712"/>
  </p:normalViewPr>
  <p:slideViewPr>
    <p:cSldViewPr snapToGrid="0">
      <p:cViewPr varScale="1">
        <p:scale>
          <a:sx n="79" d="100"/>
          <a:sy n="79" d="100"/>
        </p:scale>
        <p:origin x="274"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1233610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86024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7209313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540215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793865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0469839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246768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7.png"/><Relationship Id="rId4" Type="http://schemas.openxmlformats.org/officeDocument/2006/relationships/image" Target="../media/image260.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1.png"/><Relationship Id="rId4" Type="http://schemas.openxmlformats.org/officeDocument/2006/relationships/image" Target="../media/image300.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Finding the Least Common Multiple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9</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21238" y="171536"/>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97738" y="407311"/>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981200" y="1600200"/>
            <a:ext cx="8229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200" dirty="0">
                <a:solidFill>
                  <a:schemeClr val="tx1"/>
                </a:solidFill>
                <a:latin typeface="Verdana"/>
                <a:ea typeface="Verdana"/>
                <a:cs typeface="Verdana"/>
                <a:sym typeface="Verdana"/>
              </a:rPr>
              <a:t>MA.6.NSO.3.1</a:t>
            </a:r>
          </a:p>
          <a:p>
            <a:pPr indent="0">
              <a:buNone/>
            </a:pPr>
            <a:r>
              <a:rPr lang="en-US" sz="3200" dirty="0">
                <a:latin typeface="Verdana" panose="020B0604030504040204" pitchFamily="34" charset="0"/>
                <a:ea typeface="Verdana" panose="020B0604030504040204" pitchFamily="34" charset="0"/>
                <a:cs typeface="Verdana" panose="020B0604030504040204" pitchFamily="34" charset="0"/>
              </a:rPr>
              <a:t>Given a mathematical or real-world context, find the greatest common factor and least common multiple of two whole numbers. </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673481" y="358012"/>
            <a:ext cx="747300" cy="747300"/>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8131" y="115379"/>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98131" y="1596390"/>
            <a:ext cx="871266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78;g104476d1465_1_17">
            <a:extLst>
              <a:ext uri="{FF2B5EF4-FFF2-40B4-BE49-F238E27FC236}">
                <a16:creationId xmlns:a16="http://schemas.microsoft.com/office/drawing/2014/main" id="{077C6829-C721-C84C-B217-05FC82BD090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37563" y="1163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555401" y="40558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337563" y="1600200"/>
            <a:ext cx="8873237"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200" dirty="0">
                <a:latin typeface="Verdana" panose="020B0604030504040204" pitchFamily="34" charset="0"/>
                <a:ea typeface="Verdana" panose="020B0604030504040204" pitchFamily="34" charset="0"/>
                <a:cs typeface="Verdana" panose="020B0604030504040204" pitchFamily="34" charset="0"/>
              </a:rPr>
              <a:t>I can find the least common multiple (LCM) in mathematical and real-world contexts.</a:t>
            </a: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78;g104476d1465_1_17">
            <a:extLst>
              <a:ext uri="{FF2B5EF4-FFF2-40B4-BE49-F238E27FC236}">
                <a16:creationId xmlns:a16="http://schemas.microsoft.com/office/drawing/2014/main" id="{84D53208-BBC5-F045-A1FC-36E1745FA757}"/>
              </a:ext>
            </a:extLst>
          </p:cNvPr>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276838"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1.2.1 Warm-Up: Hourglass Timing</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529538"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276838" y="1386025"/>
            <a:ext cx="7587140" cy="2677656"/>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video shows three different hourglass sand timers. The timers are all started at the same time. As one of the times runs out, it is flipped over again to restart.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Several screenshots taken from the video are shown.</a:t>
            </a:r>
          </a:p>
        </p:txBody>
      </p:sp>
      <p:sp>
        <p:nvSpPr>
          <p:cNvPr id="9" name="Google Shape;278;g104476d1465_1_17">
            <a:extLst>
              <a:ext uri="{FF2B5EF4-FFF2-40B4-BE49-F238E27FC236}">
                <a16:creationId xmlns:a16="http://schemas.microsoft.com/office/drawing/2014/main" id="{D2E26B32-0C88-7847-9ECA-D11545A204F9}"/>
              </a:ext>
            </a:extLst>
          </p:cNvPr>
          <p:cNvSpPr/>
          <p:nvPr/>
        </p:nvSpPr>
        <p:spPr>
          <a:xfrm>
            <a:off x="-14222"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0" name="Picture 9" descr="Qr code&#10;&#10;Description automatically generated"/>
          <p:cNvPicPr/>
          <p:nvPr/>
        </p:nvPicPr>
        <p:blipFill>
          <a:blip r:embed="rId4" cstate="screen">
            <a:extLst>
              <a:ext uri="{28A0092B-C50C-407E-A947-70E740481C1C}">
                <a14:useLocalDpi xmlns:a14="http://schemas.microsoft.com/office/drawing/2010/main"/>
              </a:ext>
            </a:extLst>
          </a:blip>
          <a:srcRect/>
          <a:stretch>
            <a:fillRect/>
          </a:stretch>
        </p:blipFill>
        <p:spPr bwMode="auto">
          <a:xfrm>
            <a:off x="9022114" y="1491405"/>
            <a:ext cx="1358900" cy="1358900"/>
          </a:xfrm>
          <a:prstGeom prst="rect">
            <a:avLst/>
          </a:prstGeom>
          <a:noFill/>
          <a:ln>
            <a:noFill/>
          </a:ln>
        </p:spPr>
      </p:pic>
      <p:grpSp>
        <p:nvGrpSpPr>
          <p:cNvPr id="11" name="Group 10"/>
          <p:cNvGrpSpPr>
            <a:grpSpLocks noChangeAspect="1"/>
          </p:cNvGrpSpPr>
          <p:nvPr/>
        </p:nvGrpSpPr>
        <p:grpSpPr>
          <a:xfrm>
            <a:off x="2531295" y="4174828"/>
            <a:ext cx="1932940" cy="2171700"/>
            <a:chOff x="0" y="0"/>
            <a:chExt cx="3636010" cy="4085590"/>
          </a:xfrm>
        </p:grpSpPr>
        <p:pic>
          <p:nvPicPr>
            <p:cNvPr id="12" name="Picture 1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0" y="0"/>
              <a:ext cx="3636010" cy="4085590"/>
            </a:xfrm>
            <a:prstGeom prst="rect">
              <a:avLst/>
            </a:prstGeom>
          </p:spPr>
        </p:pic>
        <p:sp>
          <p:nvSpPr>
            <p:cNvPr id="14" name="Text Box 20"/>
            <p:cNvSpPr txBox="1"/>
            <p:nvPr/>
          </p:nvSpPr>
          <p:spPr>
            <a:xfrm>
              <a:off x="196769" y="150470"/>
              <a:ext cx="3183038" cy="106487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800">
                  <a:solidFill>
                    <a:srgbClr val="FFFFFF"/>
                  </a:solidFill>
                  <a:latin typeface="Verdana" panose="020B0604030504040204" pitchFamily="34" charset="0"/>
                  <a:ea typeface="Calibri" panose="020F0502020204030204" pitchFamily="34" charset="0"/>
                  <a:cs typeface="Calibri" panose="020F0502020204030204" pitchFamily="34" charset="0"/>
                </a:rPr>
                <a:t>00:00:19.45</a:t>
              </a:r>
              <a:endParaRPr lang="en-US" sz="1100">
                <a:latin typeface="Calibri" panose="020F0502020204030204" pitchFamily="34" charset="0"/>
                <a:ea typeface="Calibri" panose="020F0502020204030204" pitchFamily="34" charset="0"/>
                <a:cs typeface="Calibri" panose="020F0502020204030204" pitchFamily="34" charset="0"/>
              </a:endParaRPr>
            </a:p>
          </p:txBody>
        </p:sp>
      </p:grpSp>
      <p:grpSp>
        <p:nvGrpSpPr>
          <p:cNvPr id="16" name="Group 15"/>
          <p:cNvGrpSpPr>
            <a:grpSpLocks noChangeAspect="1"/>
          </p:cNvGrpSpPr>
          <p:nvPr/>
        </p:nvGrpSpPr>
        <p:grpSpPr>
          <a:xfrm>
            <a:off x="5274736" y="4172606"/>
            <a:ext cx="1944370" cy="2176145"/>
            <a:chOff x="0" y="0"/>
            <a:chExt cx="3651885" cy="4086860"/>
          </a:xfrm>
        </p:grpSpPr>
        <p:pic>
          <p:nvPicPr>
            <p:cNvPr id="17" name="Picture 16" descr="A picture containing indoor, yellow&#10;&#10;Description automatically generated"/>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0" y="0"/>
              <a:ext cx="3651885" cy="4086860"/>
            </a:xfrm>
            <a:prstGeom prst="rect">
              <a:avLst/>
            </a:prstGeom>
          </p:spPr>
        </p:pic>
        <p:sp>
          <p:nvSpPr>
            <p:cNvPr id="18" name="Text Box 22"/>
            <p:cNvSpPr txBox="1"/>
            <p:nvPr/>
          </p:nvSpPr>
          <p:spPr>
            <a:xfrm>
              <a:off x="254643" y="173620"/>
              <a:ext cx="3183038" cy="106487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800">
                  <a:solidFill>
                    <a:srgbClr val="FFFFFF"/>
                  </a:solidFill>
                  <a:latin typeface="Verdana" panose="020B0604030504040204" pitchFamily="34" charset="0"/>
                  <a:ea typeface="Calibri" panose="020F0502020204030204" pitchFamily="34" charset="0"/>
                  <a:cs typeface="Calibri" panose="020F0502020204030204" pitchFamily="34" charset="0"/>
                </a:rPr>
                <a:t>00:01:56.80</a:t>
              </a:r>
              <a:endParaRPr lang="en-US" sz="1100">
                <a:latin typeface="Calibri" panose="020F0502020204030204" pitchFamily="34" charset="0"/>
                <a:ea typeface="Calibri" panose="020F0502020204030204" pitchFamily="34" charset="0"/>
                <a:cs typeface="Calibri" panose="020F0502020204030204" pitchFamily="34" charset="0"/>
              </a:endParaRPr>
            </a:p>
          </p:txBody>
        </p:sp>
      </p:grpSp>
      <p:grpSp>
        <p:nvGrpSpPr>
          <p:cNvPr id="19" name="Group 18"/>
          <p:cNvGrpSpPr>
            <a:grpSpLocks noChangeAspect="1"/>
          </p:cNvGrpSpPr>
          <p:nvPr/>
        </p:nvGrpSpPr>
        <p:grpSpPr>
          <a:xfrm>
            <a:off x="7939947" y="4169062"/>
            <a:ext cx="1998980" cy="2168525"/>
            <a:chOff x="0" y="2"/>
            <a:chExt cx="3645405" cy="3956007"/>
          </a:xfrm>
        </p:grpSpPr>
        <p:pic>
          <p:nvPicPr>
            <p:cNvPr id="20" name="Picture 19" descr="A picture containing indoor&#10;&#10;Description automatically generated"/>
            <p:cNvPicPr>
              <a:picLocks noChangeAspect="1"/>
            </p:cNvPicPr>
            <p:nvPr/>
          </p:nvPicPr>
          <p:blipFill rotWithShape="1">
            <a:blip r:embed="rId7" cstate="screen">
              <a:extLst>
                <a:ext uri="{28A0092B-C50C-407E-A947-70E740481C1C}">
                  <a14:useLocalDpi xmlns:a14="http://schemas.microsoft.com/office/drawing/2010/main"/>
                </a:ext>
              </a:extLst>
            </a:blip>
            <a:srcRect l="1563" r="4" b="3202"/>
            <a:stretch/>
          </p:blipFill>
          <p:spPr bwMode="auto">
            <a:xfrm>
              <a:off x="0" y="2"/>
              <a:ext cx="3645405" cy="3956007"/>
            </a:xfrm>
            <a:prstGeom prst="rect">
              <a:avLst/>
            </a:prstGeom>
            <a:ln>
              <a:noFill/>
            </a:ln>
            <a:extLst>
              <a:ext uri="{53640926-AAD7-44D8-BBD7-CCE9431645EC}">
                <a14:shadowObscured xmlns:a14="http://schemas.microsoft.com/office/drawing/2010/main"/>
              </a:ext>
            </a:extLst>
          </p:spPr>
        </p:pic>
        <p:sp>
          <p:nvSpPr>
            <p:cNvPr id="21" name="Text Box 27"/>
            <p:cNvSpPr txBox="1"/>
            <p:nvPr/>
          </p:nvSpPr>
          <p:spPr>
            <a:xfrm>
              <a:off x="196770" y="150471"/>
              <a:ext cx="3183038" cy="106487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07000"/>
                </a:lnSpc>
                <a:spcAft>
                  <a:spcPts val="800"/>
                </a:spcAft>
              </a:pPr>
              <a:r>
                <a:rPr lang="en-US" sz="1800">
                  <a:solidFill>
                    <a:srgbClr val="FFFFFF"/>
                  </a:solidFill>
                  <a:latin typeface="Verdana" panose="020B0604030504040204" pitchFamily="34" charset="0"/>
                  <a:ea typeface="Calibri" panose="020F0502020204030204" pitchFamily="34" charset="0"/>
                  <a:cs typeface="Calibri" panose="020F0502020204030204" pitchFamily="34" charset="0"/>
                </a:rPr>
                <a:t>00:03:02.78</a:t>
              </a:r>
              <a:endParaRPr lang="en-US" sz="1100">
                <a:latin typeface="Calibri" panose="020F0502020204030204" pitchFamily="34" charset="0"/>
                <a:ea typeface="Calibri" panose="020F0502020204030204" pitchFamily="34" charset="0"/>
                <a:cs typeface="Calibri" panose="020F0502020204030204" pitchFamily="34" charset="0"/>
              </a:endParaRPr>
            </a:p>
          </p:txBody>
        </p:sp>
      </p:grpSp>
      <p:sp>
        <p:nvSpPr>
          <p:cNvPr id="23"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24" name="Google Shape;283;g104476d1465_1_17"/>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4" name="TextBox 13">
            <a:extLst>
              <a:ext uri="{FF2B5EF4-FFF2-40B4-BE49-F238E27FC236}">
                <a16:creationId xmlns:a16="http://schemas.microsoft.com/office/drawing/2014/main" id="{2FA392D8-3ED3-7940-83A8-1451AA8A08D4}"/>
              </a:ext>
            </a:extLst>
          </p:cNvPr>
          <p:cNvSpPr txBox="1"/>
          <p:nvPr/>
        </p:nvSpPr>
        <p:spPr>
          <a:xfrm>
            <a:off x="957262" y="520393"/>
            <a:ext cx="9844087"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one question you have as you watch the video or review the images.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Compare questions with your partner.</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Record your partner’s question in the table and have them initial that you recorded it correctly. If you had the same question, work with your partner to generate a different question to ask about the video. </a:t>
            </a:r>
            <a:r>
              <a:rPr lang="en-US" sz="2400" i="1" dirty="0">
                <a:latin typeface="Verdana" panose="020B0604030504040204" pitchFamily="34" charset="0"/>
                <a:ea typeface="Verdana" panose="020B0604030504040204" pitchFamily="34" charset="0"/>
                <a:cs typeface="Verdana" panose="020B0604030504040204" pitchFamily="34" charset="0"/>
              </a:rPr>
              <a:t>You are the only person who should write in the first column of the table.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6" name="Google Shape;278;g104476d1465_1_17">
            <a:extLst>
              <a:ext uri="{FF2B5EF4-FFF2-40B4-BE49-F238E27FC236}">
                <a16:creationId xmlns:a16="http://schemas.microsoft.com/office/drawing/2014/main" id="{285F77CB-5FF9-E743-9AA8-B4C11C925C98}"/>
              </a:ext>
            </a:extLst>
          </p:cNvPr>
          <p:cNvSpPr/>
          <p:nvPr/>
        </p:nvSpPr>
        <p:spPr>
          <a:xfrm>
            <a:off x="-20713"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4272333976"/>
              </p:ext>
            </p:extLst>
          </p:nvPr>
        </p:nvGraphicFramePr>
        <p:xfrm>
          <a:off x="2391814" y="4814859"/>
          <a:ext cx="7270347" cy="1474442"/>
        </p:xfrm>
        <a:graphic>
          <a:graphicData uri="http://schemas.openxmlformats.org/drawingml/2006/table">
            <a:tbl>
              <a:tblPr bandRow="1">
                <a:tableStyleId>{5940675A-B579-460E-94D1-54222C63F5DA}</a:tableStyleId>
              </a:tblPr>
              <a:tblGrid>
                <a:gridCol w="5730019">
                  <a:extLst>
                    <a:ext uri="{9D8B030D-6E8A-4147-A177-3AD203B41FA5}">
                      <a16:colId xmlns:a16="http://schemas.microsoft.com/office/drawing/2014/main" val="20000"/>
                    </a:ext>
                  </a:extLst>
                </a:gridCol>
                <a:gridCol w="1540328">
                  <a:extLst>
                    <a:ext uri="{9D8B030D-6E8A-4147-A177-3AD203B41FA5}">
                      <a16:colId xmlns:a16="http://schemas.microsoft.com/office/drawing/2014/main" val="20001"/>
                    </a:ext>
                  </a:extLst>
                </a:gridCol>
              </a:tblGrid>
              <a:tr h="209604">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My Partner’s Question From the Video</a:t>
                      </a:r>
                    </a:p>
                  </a:txBody>
                  <a:tcPr marL="68580" marR="68580" marT="0" marB="0">
                    <a:solidFill>
                      <a:schemeClr val="bg1">
                        <a:lumMod val="75000"/>
                      </a:schemeClr>
                    </a:solidFill>
                  </a:tcPr>
                </a:tc>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Initials</a:t>
                      </a:r>
                    </a:p>
                  </a:txBody>
                  <a:tcPr marL="68580" marR="68580" marT="0" marB="0">
                    <a:solidFill>
                      <a:schemeClr val="bg1">
                        <a:lumMod val="75000"/>
                      </a:schemeClr>
                    </a:solidFill>
                  </a:tcPr>
                </a:tc>
                <a:extLst>
                  <a:ext uri="{0D108BD9-81ED-4DB2-BD59-A6C34878D82A}">
                    <a16:rowId xmlns:a16="http://schemas.microsoft.com/office/drawing/2014/main" val="10000"/>
                  </a:ext>
                </a:extLst>
              </a:tr>
              <a:tr h="1177198">
                <a:tc>
                  <a:txBody>
                    <a:bodyPr/>
                    <a:lstStyle/>
                    <a:p>
                      <a:pPr marL="0" marR="0">
                        <a:lnSpc>
                          <a:spcPct val="107000"/>
                        </a:lnSpc>
                        <a:spcBef>
                          <a:spcPts val="0"/>
                        </a:spcBef>
                        <a:spcAft>
                          <a:spcPts val="800"/>
                        </a:spcAft>
                      </a:pPr>
                      <a:r>
                        <a:rPr lang="en-US" sz="1800" dirty="0">
                          <a:effectLst/>
                        </a:rPr>
                        <a:t> </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tc>
                  <a:txBody>
                    <a:bodyPr/>
                    <a:lstStyle/>
                    <a:p>
                      <a:pPr marL="0" marR="0">
                        <a:lnSpc>
                          <a:spcPct val="107000"/>
                        </a:lnSpc>
                        <a:spcBef>
                          <a:spcPts val="0"/>
                        </a:spcBef>
                        <a:spcAft>
                          <a:spcPts val="800"/>
                        </a:spcAft>
                      </a:pPr>
                      <a:r>
                        <a:rPr lang="en-US" sz="1800" dirty="0">
                          <a:effectLst/>
                        </a:rPr>
                        <a:t> </a:t>
                      </a:r>
                      <a:endParaRPr lang="en-US"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0001"/>
                  </a:ext>
                </a:extLst>
              </a:tr>
            </a:tbl>
          </a:graphicData>
        </a:graphic>
      </p:graphicFrame>
      <p:sp>
        <p:nvSpPr>
          <p:cNvPr id="8"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9</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291125" y="-7169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1.2.2 Guided Instruction: Least Common Multiple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3">
            <a:alphaModFix/>
          </a:blip>
          <a:srcRect/>
          <a:stretch/>
        </p:blipFill>
        <p:spPr>
          <a:xfrm>
            <a:off x="543825" y="135573"/>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1291125" y="1386026"/>
                <a:ext cx="9096459" cy="2123658"/>
              </a:xfrm>
              <a:prstGeom prst="rect">
                <a:avLst/>
              </a:prstGeom>
              <a:noFill/>
            </p:spPr>
            <p:txBody>
              <a:bodyPr wrap="square" rtlCol="0">
                <a:spAutoFit/>
              </a:bodyPr>
              <a:lstStyle/>
              <a:p>
                <a:pPr marL="457200" indent="-45720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Three timers were used in the video, a </a:t>
                </a:r>
                <a14:m>
                  <m:oMath xmlns:m="http://schemas.openxmlformats.org/officeDocument/2006/math">
                    <m:r>
                      <a:rPr lang="en-US" sz="2200" i="1">
                        <a:latin typeface="Cambria Math" panose="02040503050406030204" pitchFamily="18" charset="0"/>
                        <a:ea typeface="Cambria Math" panose="02040503050406030204" pitchFamily="18" charset="0"/>
                      </a:rPr>
                      <m:t>2</m:t>
                    </m:r>
                  </m:oMath>
                </a14:m>
                <a:r>
                  <a:rPr lang="en-US" sz="22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Cambria Math" panose="02040503050406030204" pitchFamily="18" charset="0"/>
                    <a:ea typeface="Cambria Math" panose="02040503050406030204" pitchFamily="18" charset="0"/>
                    <a:cs typeface="Verdana" panose="020B0604030504040204" pitchFamily="34" charset="0"/>
                  </a:rPr>
                  <a:t>-, </a:t>
                </a:r>
                <a:r>
                  <a:rPr lang="en-US" sz="2200" dirty="0">
                    <a:latin typeface="Verdana" panose="020B0604030504040204" pitchFamily="34" charset="0"/>
                    <a:ea typeface="Verdana" panose="020B0604030504040204" pitchFamily="34" charset="0"/>
                    <a:cs typeface="Verdana" panose="020B0604030504040204" pitchFamily="34" charset="0"/>
                  </a:rPr>
                  <a:t>and </a:t>
                </a:r>
                <a:br>
                  <a:rPr lang="en-US" sz="22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200" i="1">
                        <a:latin typeface="Cambria Math" panose="02040503050406030204" pitchFamily="18" charset="0"/>
                        <a:ea typeface="Cambria Math" panose="02040503050406030204" pitchFamily="18" charset="0"/>
                      </a:rPr>
                      <m:t>5</m:t>
                    </m:r>
                  </m:oMath>
                </a14:m>
                <a:r>
                  <a:rPr lang="en-US" sz="2200" dirty="0">
                    <a:latin typeface="Cambria Math" panose="02040503050406030204" pitchFamily="18" charset="0"/>
                    <a:ea typeface="Cambria Math" panose="02040503050406030204" pitchFamily="18" charset="0"/>
                    <a:cs typeface="Verdana" panose="020B0604030504040204" pitchFamily="34" charset="0"/>
                  </a:rPr>
                  <a:t>-</a:t>
                </a:r>
                <a:r>
                  <a:rPr lang="en-US" sz="2200" dirty="0">
                    <a:latin typeface="Verdana" panose="020B0604030504040204" pitchFamily="34" charset="0"/>
                    <a:ea typeface="Verdana" panose="020B0604030504040204" pitchFamily="34" charset="0"/>
                    <a:cs typeface="Verdana" panose="020B0604030504040204" pitchFamily="34" charset="0"/>
                  </a:rPr>
                  <a:t>minute timer. </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On each number line model, plot a point indicating the time at which each hourglass would need to be flipped over to restart the timer during a </a:t>
                </a:r>
                <a14:m>
                  <m:oMath xmlns:m="http://schemas.openxmlformats.org/officeDocument/2006/math">
                    <m:r>
                      <a:rPr lang="en-US" sz="2200" i="1">
                        <a:latin typeface="Cambria Math" panose="02040503050406030204" pitchFamily="18" charset="0"/>
                        <a:ea typeface="Cambria Math" panose="02040503050406030204" pitchFamily="18" charset="0"/>
                      </a:rPr>
                      <m:t>30</m:t>
                    </m:r>
                  </m:oMath>
                </a14:m>
                <a:r>
                  <a:rPr lang="en-US" sz="2200" dirty="0">
                    <a:latin typeface="Verdana" panose="020B0604030504040204" pitchFamily="34" charset="0"/>
                    <a:ea typeface="Verdana" panose="020B0604030504040204" pitchFamily="34" charset="0"/>
                    <a:cs typeface="Verdana" panose="020B0604030504040204" pitchFamily="34" charset="0"/>
                  </a:rPr>
                  <a:t> minute period.</a:t>
                </a:r>
              </a:p>
            </p:txBody>
          </p:sp>
        </mc:Choice>
        <mc:Fallback xmlns="">
          <p:sp>
            <p:nvSpPr>
              <p:cNvPr id="13" name="TextBox 12">
                <a:extLst>
                  <a:ext uri="{FF2B5EF4-FFF2-40B4-BE49-F238E27FC236}">
                    <a16:creationId xmlns="" xmlns:a16="http://schemas.microsoft.com/office/drawing/2014/main" xmlns:a14="http://schemas.microsoft.com/office/drawing/2010/main" id="{C01B13E8-EC8D-E443-A329-C5E3593DD13A}"/>
                  </a:ext>
                </a:extLst>
              </p:cNvPr>
              <p:cNvSpPr txBox="1">
                <a:spLocks noRot="1" noChangeAspect="1" noMove="1" noResize="1" noEditPoints="1" noAdjustHandles="1" noChangeArrowheads="1" noChangeShapeType="1" noTextEdit="1"/>
              </p:cNvSpPr>
              <p:nvPr/>
            </p:nvSpPr>
            <p:spPr>
              <a:xfrm>
                <a:off x="1291125" y="1386026"/>
                <a:ext cx="9096459" cy="2123658"/>
              </a:xfrm>
              <a:prstGeom prst="rect">
                <a:avLst/>
              </a:prstGeom>
              <a:blipFill rotWithShape="0">
                <a:blip r:embed="rId4"/>
                <a:stretch>
                  <a:fillRect l="-938" t="-2292" b="-4871"/>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7D185CEC-69E3-ED4E-87D7-D8AED7B32136}"/>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21078" y="3641701"/>
            <a:ext cx="6629590" cy="2745953"/>
          </a:xfrm>
          <a:prstGeom prst="rect">
            <a:avLst/>
          </a:prstGeom>
        </p:spPr>
      </p:pic>
      <p:sp>
        <p:nvSpPr>
          <p:cNvPr id="11"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12"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1100138" y="288745"/>
                <a:ext cx="9159430" cy="3785652"/>
              </a:xfrm>
              <a:prstGeom prst="rect">
                <a:avLst/>
              </a:prstGeom>
              <a:noFill/>
            </p:spPr>
            <p:txBody>
              <a:bodyPr wrap="square" rtlCol="0">
                <a:spAutoFit/>
              </a:bodyPr>
              <a:lstStyle/>
              <a:p>
                <a:pPr marL="914400" indent="-457200">
                  <a:buFont typeface="+mj-lt"/>
                  <a:buAutoNum type="alphaLcPeriod" startAt="2"/>
                </a:pPr>
                <a:r>
                  <a:rPr lang="en-US" sz="2400" dirty="0">
                    <a:latin typeface="Verdana" panose="020B0604030504040204" pitchFamily="34" charset="0"/>
                    <a:ea typeface="Verdana" panose="020B0604030504040204" pitchFamily="34" charset="0"/>
                    <a:cs typeface="Verdana" panose="020B0604030504040204" pitchFamily="34" charset="0"/>
                  </a:rPr>
                  <a:t>What do you notice about the times plotted on the number line for each timer?</a:t>
                </a: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For example, the </a:t>
                </a:r>
                <a:r>
                  <a:rPr lang="en-US" sz="2400" b="1" i="1" dirty="0">
                    <a:latin typeface="Verdana" panose="020B0604030504040204" pitchFamily="34" charset="0"/>
                    <a:ea typeface="Verdana" panose="020B0604030504040204" pitchFamily="34" charset="0"/>
                    <a:cs typeface="Verdana" panose="020B0604030504040204" pitchFamily="34" charset="0"/>
                  </a:rPr>
                  <a:t>multiples</a:t>
                </a:r>
                <a:r>
                  <a:rPr lang="en-US" sz="2400" dirty="0">
                    <a:latin typeface="Verdana" panose="020B0604030504040204" pitchFamily="34" charset="0"/>
                    <a:ea typeface="Verdana" panose="020B0604030504040204" pitchFamily="34" charset="0"/>
                    <a:cs typeface="Verdana" panose="020B0604030504040204" pitchFamily="34" charset="0"/>
                  </a:rPr>
                  <a:t> of </a:t>
                </a:r>
                <a14:m>
                  <m:oMath xmlns:m="http://schemas.openxmlformats.org/officeDocument/2006/math">
                    <m:r>
                      <a:rPr lang="en-US" sz="2400" i="1">
                        <a:latin typeface="Cambria Math" panose="02040503050406030204" pitchFamily="18" charset="0"/>
                        <a:ea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are </a:t>
                </a:r>
                <a14:m>
                  <m:oMath xmlns:m="http://schemas.openxmlformats.org/officeDocument/2006/math">
                    <m:r>
                      <a:rPr lang="en-US" sz="2400" i="1">
                        <a:latin typeface="Cambria Math" panose="02040503050406030204" pitchFamily="18" charset="0"/>
                        <a:ea typeface="Cambria Math" panose="02040503050406030204" pitchFamily="18" charset="0"/>
                      </a:rPr>
                      <m:t>2</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4</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6</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8, …</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 xmlns:a16="http://schemas.microsoft.com/office/drawing/2014/main" xmlns:a14="http://schemas.microsoft.com/office/drawing/2010/main" id="{8AE5E1E0-A54D-BE42-84B5-F917038ADE99}"/>
                  </a:ext>
                </a:extLst>
              </p:cNvPr>
              <p:cNvSpPr txBox="1">
                <a:spLocks noRot="1" noChangeAspect="1" noMove="1" noResize="1" noEditPoints="1" noAdjustHandles="1" noChangeArrowheads="1" noChangeShapeType="1" noTextEdit="1"/>
              </p:cNvSpPr>
              <p:nvPr/>
            </p:nvSpPr>
            <p:spPr>
              <a:xfrm>
                <a:off x="1100138" y="288745"/>
                <a:ext cx="9159430" cy="3785652"/>
              </a:xfrm>
              <a:prstGeom prst="rect">
                <a:avLst/>
              </a:prstGeom>
              <a:blipFill rotWithShape="0">
                <a:blip r:embed="rId3"/>
                <a:stretch>
                  <a:fillRect l="-998" t="-128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6B29BDED-917F-0645-8F07-B04061D83C61}"/>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Text Box 37"/>
          <p:cNvSpPr txBox="1"/>
          <p:nvPr/>
        </p:nvSpPr>
        <p:spPr>
          <a:xfrm>
            <a:off x="2865882" y="1582959"/>
            <a:ext cx="6460236" cy="1384808"/>
          </a:xfrm>
          <a:prstGeom prst="roundRect">
            <a:avLst/>
          </a:prstGeom>
          <a:solidFill>
            <a:srgbClr val="E2EED5"/>
          </a:solidFill>
          <a:ln>
            <a:noFill/>
          </a:ln>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Multiples</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of positive whole numbers are the product of that number multiplied by a positive whole number.</a:t>
            </a:r>
            <a:endParaRPr lang="en-US" sz="2000" dirty="0">
              <a:ea typeface="Calibri" panose="020F0502020204030204" pitchFamily="34" charset="0"/>
              <a:cs typeface="Calibri" panose="020F0502020204030204" pitchFamily="34" charset="0"/>
            </a:endParaRPr>
          </a:p>
        </p:txBody>
      </p:sp>
      <p:sp>
        <p:nvSpPr>
          <p:cNvPr id="9" name="Text Box 40"/>
          <p:cNvSpPr txBox="1"/>
          <p:nvPr/>
        </p:nvSpPr>
        <p:spPr>
          <a:xfrm>
            <a:off x="2865882" y="4074397"/>
            <a:ext cx="6796278" cy="1978931"/>
          </a:xfrm>
          <a:prstGeom prst="roundRect">
            <a:avLst/>
          </a:prstGeom>
          <a:solidFill>
            <a:srgbClr val="B8E6F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lnSpc>
                <a:spcPct val="107000"/>
              </a:lnSpc>
              <a:spcAft>
                <a:spcPts val="800"/>
              </a:spcAft>
            </a:pP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The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ellipses</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 at the end of the list of multiples means that the list continues beyond the last number listed. There are an </a:t>
            </a:r>
            <a:r>
              <a:rPr lang="en-US" sz="2000" b="1" dirty="0">
                <a:solidFill>
                  <a:srgbClr val="0075BF"/>
                </a:solidFill>
                <a:latin typeface="Verdana" panose="020B0604030504040204" pitchFamily="34" charset="0"/>
                <a:ea typeface="Verdana" panose="020B0604030504040204" pitchFamily="34" charset="0"/>
                <a:cs typeface="Verdana" panose="020B0604030504040204" pitchFamily="34" charset="0"/>
              </a:rPr>
              <a:t>infinite</a:t>
            </a:r>
            <a:r>
              <a:rPr lang="en-US" sz="2000" dirty="0">
                <a:solidFill>
                  <a:srgbClr val="0075BF"/>
                </a:solidFill>
                <a:latin typeface="Verdana" panose="020B0604030504040204" pitchFamily="34" charset="0"/>
                <a:ea typeface="Verdana" panose="020B0604030504040204" pitchFamily="34" charset="0"/>
                <a:cs typeface="Verdana" panose="020B0604030504040204" pitchFamily="34" charset="0"/>
              </a:rPr>
              <a:t> number of multiples for any given whole number.</a:t>
            </a:r>
            <a:endParaRPr lang="en-US" sz="2000" dirty="0">
              <a:ea typeface="Calibri" panose="020F0502020204030204" pitchFamily="34" charset="0"/>
              <a:cs typeface="Calibri" panose="020F0502020204030204" pitchFamily="34" charset="0"/>
            </a:endParaRPr>
          </a:p>
        </p:txBody>
      </p:sp>
      <p:pic>
        <p:nvPicPr>
          <p:cNvPr id="10" name="image15.png" descr="Icon&#10;&#10;Description automatically generated"/>
          <p:cNvPicPr/>
          <p:nvPr/>
        </p:nvPicPr>
        <p:blipFill>
          <a:blip r:embed="rId4" cstate="screen">
            <a:extLst>
              <a:ext uri="{28A0092B-C50C-407E-A947-70E740481C1C}">
                <a14:useLocalDpi xmlns:a14="http://schemas.microsoft.com/office/drawing/2010/main"/>
              </a:ext>
            </a:extLst>
          </a:blip>
          <a:srcRect/>
          <a:stretch>
            <a:fillRect/>
          </a:stretch>
        </p:blipFill>
        <p:spPr>
          <a:xfrm>
            <a:off x="3064637" y="4328827"/>
            <a:ext cx="539750" cy="539115"/>
          </a:xfrm>
          <a:prstGeom prst="rect">
            <a:avLst/>
          </a:prstGeom>
          <a:ln/>
          <a:effectLst>
            <a:outerShdw blurRad="50800" dist="38100" dir="2700000" algn="tl" rotWithShape="0">
              <a:prstClr val="black">
                <a:alpha val="40000"/>
              </a:prstClr>
            </a:outerShdw>
          </a:effectLst>
        </p:spPr>
      </p:pic>
      <p:sp>
        <p:nvSpPr>
          <p:cNvPr id="12"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13"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93813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885825" y="349706"/>
                <a:ext cx="10477388" cy="5170646"/>
              </a:xfrm>
              <a:prstGeom prst="rect">
                <a:avLst/>
              </a:prstGeom>
              <a:noFill/>
            </p:spPr>
            <p:txBody>
              <a:bodyPr wrap="square" rtlCol="0">
                <a:spAutoFit/>
              </a:bodyPr>
              <a:lstStyle/>
              <a:p>
                <a:pPr marL="457200" indent="-45720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Use the number line models for each of the timers and the definition of multiples to answer the questions.</a:t>
                </a:r>
              </a:p>
              <a:p>
                <a:r>
                  <a:rPr lang="en-US" sz="22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are all the common multiples among the three timers?</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What do these common multiples represent in this scenario?</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After how many minutes will the </a:t>
                </a:r>
                <a14:m>
                  <m:oMath xmlns:m="http://schemas.openxmlformats.org/officeDocument/2006/math">
                    <m:r>
                      <a:rPr lang="en-US" sz="2200" i="1">
                        <a:latin typeface="Cambria Math" charset="0"/>
                      </a:rPr>
                      <m:t>2</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charset="0"/>
                      </a:rPr>
                      <m:t>5</m:t>
                    </m:r>
                  </m:oMath>
                </a14:m>
                <a:r>
                  <a:rPr lang="en-US" sz="2200" dirty="0">
                    <a:latin typeface="Verdana" panose="020B0604030504040204" pitchFamily="34" charset="0"/>
                    <a:ea typeface="Verdana" panose="020B0604030504040204" pitchFamily="34" charset="0"/>
                    <a:cs typeface="Verdana" panose="020B0604030504040204" pitchFamily="34" charset="0"/>
                  </a:rPr>
                  <a:t>-minute timers run out of sand at the same time?</a:t>
                </a: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200" dirty="0">
                    <a:latin typeface="Verdana" panose="020B0604030504040204" pitchFamily="34" charset="0"/>
                    <a:ea typeface="Verdana" panose="020B0604030504040204" pitchFamily="34" charset="0"/>
                    <a:cs typeface="Verdana" panose="020B0604030504040204" pitchFamily="34" charset="0"/>
                  </a:rPr>
                  <a:t>After how many minutes will the </a:t>
                </a:r>
                <a14:m>
                  <m:oMath xmlns:m="http://schemas.openxmlformats.org/officeDocument/2006/math">
                    <m:r>
                      <a:rPr lang="en-US" sz="2200" i="1">
                        <a:latin typeface="Cambria Math" charset="0"/>
                      </a:rPr>
                      <m:t>3</m:t>
                    </m:r>
                  </m:oMath>
                </a14:m>
                <a:r>
                  <a:rPr lang="en-US" sz="22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200" i="1">
                        <a:latin typeface="Cambria Math" charset="0"/>
                      </a:rPr>
                      <m:t>5</m:t>
                    </m:r>
                  </m:oMath>
                </a14:m>
                <a:r>
                  <a:rPr lang="en-US" sz="2200" dirty="0">
                    <a:latin typeface="Verdana" panose="020B0604030504040204" pitchFamily="34" charset="0"/>
                    <a:ea typeface="Verdana" panose="020B0604030504040204" pitchFamily="34" charset="0"/>
                    <a:cs typeface="Verdana" panose="020B0604030504040204" pitchFamily="34" charset="0"/>
                  </a:rPr>
                  <a:t>-minute timers run out of sand at the same time?</a:t>
                </a:r>
              </a:p>
            </p:txBody>
          </p:sp>
        </mc:Choice>
        <mc:Fallback xmlns="">
          <p:sp>
            <p:nvSpPr>
              <p:cNvPr id="5" name="TextBox 4">
                <a:extLst>
                  <a:ext uri="{FF2B5EF4-FFF2-40B4-BE49-F238E27FC236}">
                    <a16:creationId xmlns="" xmlns:a16="http://schemas.microsoft.com/office/drawing/2014/main" xmlns:a14="http://schemas.microsoft.com/office/drawing/2010/main" id="{22347CCE-34A7-8044-BA67-B5895157AE55}"/>
                  </a:ext>
                </a:extLst>
              </p:cNvPr>
              <p:cNvSpPr txBox="1">
                <a:spLocks noRot="1" noChangeAspect="1" noMove="1" noResize="1" noEditPoints="1" noAdjustHandles="1" noChangeArrowheads="1" noChangeShapeType="1" noTextEdit="1"/>
              </p:cNvSpPr>
              <p:nvPr/>
            </p:nvSpPr>
            <p:spPr>
              <a:xfrm>
                <a:off x="885825" y="349706"/>
                <a:ext cx="10477388" cy="5170646"/>
              </a:xfrm>
              <a:prstGeom prst="rect">
                <a:avLst/>
              </a:prstGeom>
              <a:blipFill rotWithShape="0">
                <a:blip r:embed="rId3"/>
                <a:stretch>
                  <a:fillRect l="-756" t="-824" b="-1531"/>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3DDED37-A9DC-1840-BFB8-744A6C956060}"/>
              </a:ext>
            </a:extLst>
          </p:cNvPr>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65979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028700" y="2196794"/>
                <a:ext cx="10285266" cy="3816429"/>
              </a:xfrm>
              <a:prstGeom prst="rect">
                <a:avLst/>
              </a:prstGeom>
              <a:noFill/>
            </p:spPr>
            <p:txBody>
              <a:bodyPr wrap="square" rtlCol="0">
                <a:spAutoFit/>
              </a:bodyPr>
              <a:lstStyle/>
              <a:p>
                <a:pPr marL="457200" indent="-457200">
                  <a:buFont typeface="+mj-lt"/>
                  <a:buAutoNum type="arabicPeriod" startAt="3"/>
                </a:pPr>
                <a:r>
                  <a:rPr lang="en-US" sz="2200" dirty="0">
                    <a:latin typeface="Verdana" panose="020B0604030504040204" pitchFamily="34" charset="0"/>
                    <a:ea typeface="Verdana" panose="020B0604030504040204" pitchFamily="34" charset="0"/>
                    <a:cs typeface="Verdana" panose="020B0604030504040204" pitchFamily="34" charset="0"/>
                  </a:rPr>
                  <a:t>Use the definition to complete the statement. </a:t>
                </a:r>
              </a:p>
              <a:p>
                <a:pPr marL="457200"/>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a:lnSpc>
                    <a:spcPct val="150000"/>
                  </a:lnSpc>
                </a:pPr>
                <a:r>
                  <a:rPr lang="en-US" sz="2200" dirty="0">
                    <a:latin typeface="Verdana" panose="020B0604030504040204" pitchFamily="34" charset="0"/>
                    <a:ea typeface="Verdana" panose="020B0604030504040204" pitchFamily="34" charset="0"/>
                    <a:cs typeface="Verdana" panose="020B0604030504040204" pitchFamily="34" charset="0"/>
                  </a:rPr>
                  <a:t>The least common multiple (LCM) of </a:t>
                </a:r>
                <a14:m>
                  <m:oMath xmlns:m="http://schemas.openxmlformats.org/officeDocument/2006/math">
                    <m:r>
                      <a:rPr lang="en-US" sz="2200" i="1">
                        <a:latin typeface="Cambria Math" panose="02040503050406030204" pitchFamily="18" charset="0"/>
                        <a:ea typeface="Cambria Math" panose="02040503050406030204" pitchFamily="18" charset="0"/>
                      </a:rPr>
                      <m:t>2</m:t>
                    </m:r>
                  </m:oMath>
                </a14:m>
                <a:r>
                  <a:rPr lang="en-US" sz="22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200" i="1">
                        <a:latin typeface="Cambria Math" panose="02040503050406030204" pitchFamily="18" charset="0"/>
                        <a:ea typeface="Cambria Math" panose="02040503050406030204" pitchFamily="18" charset="0"/>
                      </a:rPr>
                      <m:t>3</m:t>
                    </m:r>
                  </m:oMath>
                </a14:m>
                <a:r>
                  <a:rPr lang="en-US" sz="2200" dirty="0">
                    <a:latin typeface="Cambria Math" panose="02040503050406030204" pitchFamily="18" charset="0"/>
                    <a:ea typeface="Cambria Math" panose="02040503050406030204" pitchFamily="18" charset="0"/>
                    <a:cs typeface="Verdana" panose="020B0604030504040204" pitchFamily="34" charset="0"/>
                  </a:rPr>
                  <a:t>, </a:t>
                </a:r>
                <a:r>
                  <a:rPr lang="en-US" sz="22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200" i="1">
                        <a:latin typeface="Cambria Math" panose="02040503050406030204" pitchFamily="18" charset="0"/>
                        <a:ea typeface="Cambria Math" panose="02040503050406030204" pitchFamily="18" charset="0"/>
                      </a:rPr>
                      <m:t>5</m:t>
                    </m:r>
                  </m:oMath>
                </a14:m>
                <a:r>
                  <a:rPr lang="en-US" sz="2200" dirty="0">
                    <a:latin typeface="Cambria Math" panose="02040503050406030204" pitchFamily="18" charset="0"/>
                    <a:ea typeface="Cambria Math" panose="02040503050406030204" pitchFamily="18" charset="0"/>
                    <a:cs typeface="Verdana" panose="020B0604030504040204" pitchFamily="34" charset="0"/>
                  </a:rPr>
                  <a:t> </a:t>
                </a:r>
                <a:r>
                  <a:rPr lang="en-US" sz="2200" dirty="0">
                    <a:latin typeface="Verdana" panose="020B0604030504040204" pitchFamily="34" charset="0"/>
                    <a:ea typeface="Verdana" panose="020B0604030504040204" pitchFamily="34" charset="0"/>
                    <a:cs typeface="Verdana" panose="020B0604030504040204" pitchFamily="34" charset="0"/>
                  </a:rPr>
                  <a:t>is ___. </a:t>
                </a:r>
              </a:p>
              <a:p>
                <a:pPr marL="457200">
                  <a:lnSpc>
                    <a:spcPct val="150000"/>
                  </a:lnSpc>
                </a:pPr>
                <a:r>
                  <a:rPr lang="en-US" sz="2200" dirty="0">
                    <a:latin typeface="Verdana" panose="020B0604030504040204" pitchFamily="34" charset="0"/>
                    <a:ea typeface="Verdana" panose="020B0604030504040204" pitchFamily="34" charset="0"/>
                    <a:cs typeface="Verdana" panose="020B0604030504040204" pitchFamily="34" charset="0"/>
                  </a:rPr>
                  <a:t>In the context of the hourglass timers, this value represents _________________________________</a:t>
                </a:r>
              </a:p>
              <a:p>
                <a:pPr marL="457200">
                  <a:lnSpc>
                    <a:spcPct val="150000"/>
                  </a:lnSpc>
                </a:pPr>
                <a:r>
                  <a:rPr lang="en-US" sz="2200" dirty="0">
                    <a:latin typeface="Verdana" panose="020B0604030504040204" pitchFamily="34" charset="0"/>
                    <a:ea typeface="Verdana" panose="020B0604030504040204" pitchFamily="34" charset="0"/>
                    <a:cs typeface="Verdana" panose="020B0604030504040204" pitchFamily="34" charset="0"/>
                  </a:rPr>
                  <a:t>__________________________________________.</a:t>
                </a:r>
              </a:p>
              <a:p>
                <a:pPr marL="457200">
                  <a:lnSpc>
                    <a:spcPct val="150000"/>
                  </a:lnSpc>
                </a:pPr>
                <a:endParaRPr lang="en-US" sz="2200" dirty="0">
                  <a:latin typeface="Verdana" panose="020B0604030504040204" pitchFamily="34" charset="0"/>
                  <a:ea typeface="Verdana" panose="020B0604030504040204" pitchFamily="34" charset="0"/>
                  <a:cs typeface="Verdana" panose="020B0604030504040204" pitchFamily="34" charset="0"/>
                </a:endParaRPr>
              </a:p>
              <a:p>
                <a:pPr marL="457200" indent="-457200">
                  <a:lnSpc>
                    <a:spcPct val="150000"/>
                  </a:lnSpc>
                  <a:buFont typeface="+mj-lt"/>
                  <a:buAutoNum type="arabicPeriod" startAt="4"/>
                </a:pPr>
                <a:r>
                  <a:rPr lang="en-US" sz="2200" dirty="0">
                    <a:latin typeface="Verdana" panose="020B0604030504040204" pitchFamily="34" charset="0"/>
                    <a:ea typeface="Verdana" panose="020B0604030504040204" pitchFamily="34" charset="0"/>
                    <a:cs typeface="Verdana" panose="020B0604030504040204" pitchFamily="34" charset="0"/>
                  </a:rPr>
                  <a:t>Find the LCM of </a:t>
                </a:r>
                <a:r>
                  <a:rPr lang="en-US" sz="2200" dirty="0">
                    <a:latin typeface="Cambria Math" panose="02040503050406030204" pitchFamily="18" charset="0"/>
                    <a:ea typeface="Cambria Math" panose="02040503050406030204" pitchFamily="18" charset="0"/>
                    <a:cs typeface="Verdana" panose="020B0604030504040204" pitchFamily="34" charset="0"/>
                  </a:rPr>
                  <a:t>8</a:t>
                </a:r>
                <a:r>
                  <a:rPr lang="en-US" sz="2200" dirty="0">
                    <a:latin typeface="Verdana" panose="020B0604030504040204" pitchFamily="34" charset="0"/>
                    <a:ea typeface="Verdana" panose="020B0604030504040204" pitchFamily="34" charset="0"/>
                    <a:cs typeface="Verdana" panose="020B0604030504040204" pitchFamily="34" charset="0"/>
                  </a:rPr>
                  <a:t> and </a:t>
                </a:r>
                <a:r>
                  <a:rPr lang="en-US" sz="2200" dirty="0">
                    <a:latin typeface="Cambria Math" panose="02040503050406030204" pitchFamily="18" charset="0"/>
                    <a:ea typeface="Cambria Math" panose="02040503050406030204" pitchFamily="18" charset="0"/>
                    <a:cs typeface="Verdana" panose="020B0604030504040204" pitchFamily="34" charset="0"/>
                  </a:rPr>
                  <a:t>6</a:t>
                </a:r>
                <a:r>
                  <a:rPr lang="en-US" sz="22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5" name="TextBox 4">
                <a:extLst>
                  <a:ext uri="{FF2B5EF4-FFF2-40B4-BE49-F238E27FC236}">
                    <a16:creationId xmlns="" xmlns:a16="http://schemas.microsoft.com/office/drawing/2014/main" xmlns:a14="http://schemas.microsoft.com/office/drawing/2010/main" id="{22347CCE-34A7-8044-BA67-B5895157AE55}"/>
                  </a:ext>
                </a:extLst>
              </p:cNvPr>
              <p:cNvSpPr txBox="1">
                <a:spLocks noRot="1" noChangeAspect="1" noMove="1" noResize="1" noEditPoints="1" noAdjustHandles="1" noChangeArrowheads="1" noChangeShapeType="1" noTextEdit="1"/>
              </p:cNvSpPr>
              <p:nvPr/>
            </p:nvSpPr>
            <p:spPr>
              <a:xfrm>
                <a:off x="1028700" y="2196794"/>
                <a:ext cx="10285266" cy="3816429"/>
              </a:xfrm>
              <a:prstGeom prst="rect">
                <a:avLst/>
              </a:prstGeom>
              <a:blipFill rotWithShape="0">
                <a:blip r:embed="rId3"/>
                <a:stretch>
                  <a:fillRect l="-830" t="-1118" b="-639"/>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3DDED37-A9DC-1840-BFB8-744A6C956060}"/>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 Box 6"/>
          <p:cNvSpPr txBox="1"/>
          <p:nvPr/>
        </p:nvSpPr>
        <p:spPr>
          <a:xfrm>
            <a:off x="2556578" y="528130"/>
            <a:ext cx="6410639" cy="1300670"/>
          </a:xfrm>
          <a:prstGeom prst="roundRect">
            <a:avLst/>
          </a:prstGeom>
          <a:solidFill>
            <a:srgbClr val="E2EED5"/>
          </a:solidFill>
          <a:ln>
            <a:noFill/>
          </a:ln>
          <a:effectLst>
            <a:outerShdw blurRad="50800" dist="381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68580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The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Least Common Multiple</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or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LCM</a:t>
            </a:r>
            <a:r>
              <a:rPr lang="en-US" sz="2000" b="1" dirty="0">
                <a:solidFill>
                  <a:srgbClr val="6C993D"/>
                </a:solidFill>
                <a:latin typeface="Verdana" panose="020B0604030504040204" pitchFamily="34" charset="0"/>
                <a:ea typeface="Verdana" panose="020B0604030504040204" pitchFamily="34" charset="0"/>
                <a:cs typeface="Verdana" panose="020B0604030504040204" pitchFamily="34" charset="0"/>
              </a:rPr>
              <a:t>,</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the lowest number that is a multiple of two or more given numbers.</a:t>
            </a:r>
            <a:endParaRPr lang="en-US" sz="2000" dirty="0">
              <a:ea typeface="Calibri" panose="020F0502020204030204" pitchFamily="34" charset="0"/>
              <a:cs typeface="Calibri" panose="020F0502020204030204" pitchFamily="34" charset="0"/>
            </a:endParaRPr>
          </a:p>
        </p:txBody>
      </p:sp>
      <p:pic>
        <p:nvPicPr>
          <p:cNvPr id="10" name="Shape 18"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2684593" y="756776"/>
            <a:ext cx="539750" cy="549486"/>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11</a:t>
            </a:r>
            <a:endParaRPr i="1" dirty="0">
              <a:latin typeface="Calibri"/>
              <a:ea typeface="Calibri"/>
              <a:cs typeface="Calibri"/>
              <a:sym typeface="Calibri"/>
            </a:endParaRPr>
          </a:p>
        </p:txBody>
      </p:sp>
      <p:pic>
        <p:nvPicPr>
          <p:cNvPr id="12"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25081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06858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0765"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1.2.3 Try It: Least Common Multiple</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0957"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460765" y="1386025"/>
                <a:ext cx="8926819"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LCM of each pair of numbers.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Every </a:t>
                </a:r>
                <a14:m>
                  <m:oMath xmlns:m="http://schemas.openxmlformats.org/officeDocument/2006/math">
                    <m:r>
                      <a:rPr lang="en-US" sz="2400" i="1">
                        <a:latin typeface="Cambria Math" panose="02040503050406030204" pitchFamily="18" charset="0"/>
                        <a:ea typeface="Cambria Math" panose="02040503050406030204" pitchFamily="18" charset="0"/>
                      </a:rPr>
                      <m:t>4</m:t>
                    </m:r>
                  </m:oMath>
                </a14:m>
                <a:r>
                  <a:rPr lang="en-US" sz="2400" dirty="0">
                    <a:latin typeface="Cambria Math" panose="02040503050406030204" pitchFamily="18" charset="0"/>
                    <a:ea typeface="Cambria Math" panose="02040503050406030204" pitchFamily="18" charset="0"/>
                    <a:cs typeface="Verdana" panose="020B0604030504040204" pitchFamily="34" charset="0"/>
                  </a:rPr>
                  <a:t> </a:t>
                </a:r>
                <a:r>
                  <a:rPr lang="en-US" sz="2400" dirty="0">
                    <a:latin typeface="Verdana" panose="020B0604030504040204" pitchFamily="34" charset="0"/>
                    <a:ea typeface="Verdana" panose="020B0604030504040204" pitchFamily="34" charset="0"/>
                    <a:cs typeface="Verdana" panose="020B0604030504040204" pitchFamily="34" charset="0"/>
                  </a:rPr>
                  <a:t>weeks, Fort Caroline Middle has an early release day. Every </a:t>
                </a:r>
                <a14:m>
                  <m:oMath xmlns:m="http://schemas.openxmlformats.org/officeDocument/2006/math">
                    <m:r>
                      <a:rPr lang="en-US" sz="2400" i="1">
                        <a:latin typeface="Cambria Math" panose="02040503050406030204" pitchFamily="18" charset="0"/>
                        <a:ea typeface="Cambria Math" panose="02040503050406030204" pitchFamily="18" charset="0"/>
                      </a:rPr>
                      <m:t>5</m:t>
                    </m:r>
                    <m:r>
                      <a:rPr lang="en-US" sz="2400" i="1">
                        <a:latin typeface="Cambria Math"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weeks, they host an assembly with a guest speaker for all students. After how many weeks will Fort Caroline Middle have an assembly and early release in the same week?</a:t>
                </a:r>
              </a:p>
            </p:txBody>
          </p:sp>
        </mc:Choice>
        <mc:Fallback xmlns="">
          <p:sp>
            <p:nvSpPr>
              <p:cNvPr id="10" name="TextBox 9">
                <a:extLst>
                  <a:ext uri="{FF2B5EF4-FFF2-40B4-BE49-F238E27FC236}">
                    <a16:creationId xmlns="" xmlns:a16="http://schemas.microsoft.com/office/drawing/2014/main" xmlns:a14="http://schemas.microsoft.com/office/drawing/2010/main" id="{0AB6A3A1-5A0D-C84F-AC89-57E6782F43E5}"/>
                  </a:ext>
                </a:extLst>
              </p:cNvPr>
              <p:cNvSpPr txBox="1">
                <a:spLocks noRot="1" noChangeAspect="1" noMove="1" noResize="1" noEditPoints="1" noAdjustHandles="1" noChangeArrowheads="1" noChangeShapeType="1" noTextEdit="1"/>
              </p:cNvSpPr>
              <p:nvPr/>
            </p:nvSpPr>
            <p:spPr>
              <a:xfrm>
                <a:off x="1460765" y="1386025"/>
                <a:ext cx="8926819" cy="3785652"/>
              </a:xfrm>
              <a:prstGeom prst="rect">
                <a:avLst/>
              </a:prstGeom>
              <a:blipFill rotWithShape="0">
                <a:blip r:embed="rId4"/>
                <a:stretch>
                  <a:fillRect l="-1093" t="-1288" r="-2254" b="-2738"/>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D93CCF23-305F-4542-AFD2-A48933A9E420}"/>
              </a:ext>
            </a:extLst>
          </p:cNvPr>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720847113"/>
                  </p:ext>
                </p:extLst>
              </p:nvPr>
            </p:nvGraphicFramePr>
            <p:xfrm>
              <a:off x="2519851" y="2259646"/>
              <a:ext cx="6818249" cy="703011"/>
            </p:xfrm>
            <a:graphic>
              <a:graphicData uri="http://schemas.openxmlformats.org/drawingml/2006/table">
                <a:tbl>
                  <a:tblPr bandRow="1">
                    <a:tableStyleId>{2D5ABB26-0587-4C30-8999-92F81FD0307C}</a:tableStyleId>
                  </a:tblPr>
                  <a:tblGrid>
                    <a:gridCol w="2324091">
                      <a:extLst>
                        <a:ext uri="{9D8B030D-6E8A-4147-A177-3AD203B41FA5}">
                          <a16:colId xmlns:a16="http://schemas.microsoft.com/office/drawing/2014/main" val="20000"/>
                        </a:ext>
                      </a:extLst>
                    </a:gridCol>
                    <a:gridCol w="2169443">
                      <a:extLst>
                        <a:ext uri="{9D8B030D-6E8A-4147-A177-3AD203B41FA5}">
                          <a16:colId xmlns:a16="http://schemas.microsoft.com/office/drawing/2014/main" val="20001"/>
                        </a:ext>
                      </a:extLst>
                    </a:gridCol>
                    <a:gridCol w="2324715">
                      <a:extLst>
                        <a:ext uri="{9D8B030D-6E8A-4147-A177-3AD203B41FA5}">
                          <a16:colId xmlns:a16="http://schemas.microsoft.com/office/drawing/2014/main" val="20002"/>
                        </a:ext>
                      </a:extLst>
                    </a:gridCol>
                  </a:tblGrid>
                  <a:tr h="703011">
                    <a:tc>
                      <a:txBody>
                        <a:bodyPr/>
                        <a:lstStyle/>
                        <a:p>
                          <a:pPr marL="342900" marR="0" lvl="0" indent="-342900">
                            <a:lnSpc>
                              <a:spcPct val="107000"/>
                            </a:lnSpc>
                            <a:spcBef>
                              <a:spcPts val="0"/>
                            </a:spcBef>
                            <a:spcAft>
                              <a:spcPts val="800"/>
                            </a:spcAft>
                            <a:buFont typeface="+mj-lt"/>
                            <a:buAutoNum type="alphaLcPeriod"/>
                          </a:pPr>
                          <a:r>
                            <a:rPr lang="en-US"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10</m:t>
                              </m:r>
                              <m:r>
                                <a:rPr lang="en-US" sz="2400">
                                  <a:effectLst/>
                                  <a:latin typeface="Cambria Math" charset="0"/>
                                </a:rPr>
                                <m:t> </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effectLst/>
                                  <a:latin typeface="Cambria Math" panose="02040503050406030204" pitchFamily="18" charset="0"/>
                                  <a:ea typeface="Cambria Math" panose="02040503050406030204" pitchFamily="18" charset="0"/>
                                </a:rPr>
                                <m:t>4</m:t>
                              </m:r>
                              <m:r>
                                <a:rPr lang="en-US" sz="2400">
                                  <a:effectLst/>
                                  <a:latin typeface="Cambria Math" charset="0"/>
                                </a:rPr>
                                <m:t> </m:t>
                              </m:r>
                            </m:oMath>
                          </a14:m>
                          <a:endParaRPr lang="en-US"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tc>
                    <a:tc>
                      <a:txBody>
                        <a:bodyPr/>
                        <a:lstStyle/>
                        <a:p>
                          <a:pPr marL="457200" marR="0" lvl="0" indent="-457200">
                            <a:lnSpc>
                              <a:spcPct val="107000"/>
                            </a:lnSpc>
                            <a:spcBef>
                              <a:spcPts val="0"/>
                            </a:spcBef>
                            <a:spcAft>
                              <a:spcPts val="800"/>
                            </a:spcAft>
                            <a:buFont typeface="+mj-lt"/>
                            <a:buAutoNum type="alphaLcPeriod" startAt="2"/>
                          </a:pPr>
                          <a:r>
                            <a:rPr lang="en-US"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5</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effectLst/>
                                  <a:latin typeface="Cambria Math" panose="02040503050406030204" pitchFamily="18" charset="0"/>
                                  <a:ea typeface="Cambria Math" panose="02040503050406030204" pitchFamily="18" charset="0"/>
                                </a:rPr>
                                <m:t>13</m:t>
                              </m:r>
                            </m:oMath>
                          </a14:m>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tc>
                      <a:txBody>
                        <a:bodyPr/>
                        <a:lstStyle/>
                        <a:p>
                          <a:pPr marL="457200" marR="0" lvl="0" indent="-457200">
                            <a:lnSpc>
                              <a:spcPct val="107000"/>
                            </a:lnSpc>
                            <a:spcBef>
                              <a:spcPts val="0"/>
                            </a:spcBef>
                            <a:spcAft>
                              <a:spcPts val="800"/>
                            </a:spcAft>
                            <a:buFont typeface="+mj-lt"/>
                            <a:buAutoNum type="alphaLcPeriod" startAt="3"/>
                          </a:pPr>
                          <a:r>
                            <a:rPr lang="en-US"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7</m:t>
                              </m:r>
                            </m:oMath>
                          </a14:m>
                          <a:r>
                            <a:rPr lang="en-US" sz="2400" dirty="0">
                              <a:effectLst/>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400">
                                  <a:effectLst/>
                                  <a:latin typeface="Cambria Math" panose="02040503050406030204" pitchFamily="18" charset="0"/>
                                  <a:ea typeface="Cambria Math" panose="02040503050406030204" pitchFamily="18" charset="0"/>
                                </a:rPr>
                                <m:t>21</m:t>
                              </m:r>
                            </m:oMath>
                          </a14:m>
                          <a:endParaRPr lang="en-US" sz="2400" dirty="0">
                            <a:effectLst/>
                            <a:latin typeface="Cambria Math" panose="02040503050406030204" pitchFamily="18" charset="0"/>
                            <a:ea typeface="Cambria Math" panose="02040503050406030204" pitchFamily="18" charset="0"/>
                            <a:cs typeface="Verdana" panose="020B0604030504040204" pitchFamily="34" charset="0"/>
                          </a:endParaRPr>
                        </a:p>
                      </a:txBody>
                      <a:tcPr marL="68580" marR="68580" marT="0" marB="0"/>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720847113"/>
                  </p:ext>
                </p:extLst>
              </p:nvPr>
            </p:nvGraphicFramePr>
            <p:xfrm>
              <a:off x="995850" y="2259645"/>
              <a:ext cx="6818249" cy="703011"/>
            </p:xfrm>
            <a:graphic>
              <a:graphicData uri="http://schemas.openxmlformats.org/drawingml/2006/table">
                <a:tbl>
                  <a:tblPr bandRow="1">
                    <a:tableStyleId>{2D5ABB26-0587-4C30-8999-92F81FD0307C}</a:tableStyleId>
                  </a:tblPr>
                  <a:tblGrid>
                    <a:gridCol w="2324091"/>
                    <a:gridCol w="2169443"/>
                    <a:gridCol w="2324715"/>
                  </a:tblGrid>
                  <a:tr h="703011">
                    <a:tc>
                      <a:txBody>
                        <a:bodyPr/>
                        <a:lstStyle/>
                        <a:p>
                          <a:endParaRPr lang="en-US"/>
                        </a:p>
                      </a:txBody>
                      <a:tcPr marL="68580" marR="68580" marT="0" marB="0">
                        <a:blipFill rotWithShape="0">
                          <a:blip r:embed="rId6"/>
                          <a:stretch>
                            <a:fillRect t="-14655" r="-193701"/>
                          </a:stretch>
                        </a:blipFill>
                      </a:tcPr>
                    </a:tc>
                    <a:tc>
                      <a:txBody>
                        <a:bodyPr/>
                        <a:lstStyle/>
                        <a:p>
                          <a:endParaRPr lang="en-US"/>
                        </a:p>
                      </a:txBody>
                      <a:tcPr marL="68580" marR="68580" marT="0" marB="0">
                        <a:blipFill rotWithShape="0">
                          <a:blip r:embed="rId6"/>
                          <a:stretch>
                            <a:fillRect l="-107022" t="-14655" r="-107303"/>
                          </a:stretch>
                        </a:blipFill>
                      </a:tcPr>
                    </a:tc>
                    <a:tc>
                      <a:txBody>
                        <a:bodyPr/>
                        <a:lstStyle/>
                        <a:p>
                          <a:endParaRPr lang="en-US"/>
                        </a:p>
                      </a:txBody>
                      <a:tcPr marL="68580" marR="68580" marT="0" marB="0">
                        <a:blipFill rotWithShape="0">
                          <a:blip r:embed="rId6"/>
                          <a:stretch>
                            <a:fillRect l="-192932" t="-14655"/>
                          </a:stretch>
                        </a:blipFill>
                      </a:tcPr>
                    </a:tc>
                  </a:tr>
                </a:tbl>
              </a:graphicData>
            </a:graphic>
          </p:graphicFrame>
        </mc:Fallback>
      </mc:AlternateContent>
      <p:sp>
        <p:nvSpPr>
          <p:cNvPr id="13"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11</a:t>
            </a:r>
            <a:endParaRPr i="1" dirty="0">
              <a:latin typeface="Calibri"/>
              <a:ea typeface="Calibri"/>
              <a:cs typeface="Calibri"/>
              <a:sym typeface="Calibri"/>
            </a:endParaRPr>
          </a:p>
        </p:txBody>
      </p:sp>
      <p:pic>
        <p:nvPicPr>
          <p:cNvPr id="14"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40359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2347CCE-34A7-8044-BA67-B5895157AE55}"/>
                  </a:ext>
                </a:extLst>
              </p:cNvPr>
              <p:cNvSpPr txBox="1"/>
              <p:nvPr/>
            </p:nvSpPr>
            <p:spPr>
              <a:xfrm>
                <a:off x="1143000" y="349706"/>
                <a:ext cx="9906000" cy="4893647"/>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A radio station is running two ongoing promotions. For the first promotion, every 30</a:t>
                </a:r>
                <a:r>
                  <a:rPr lang="en-US" sz="2400" baseline="30000" dirty="0">
                    <a:latin typeface="Verdana" panose="020B0604030504040204" pitchFamily="34" charset="0"/>
                    <a:ea typeface="Verdana" panose="020B0604030504040204" pitchFamily="34" charset="0"/>
                    <a:cs typeface="Verdana" panose="020B0604030504040204" pitchFamily="34" charset="0"/>
                  </a:rPr>
                  <a:t>th</a:t>
                </a:r>
                <a:r>
                  <a:rPr lang="en-US" sz="2400" dirty="0">
                    <a:latin typeface="Verdana" panose="020B0604030504040204" pitchFamily="34" charset="0"/>
                    <a:ea typeface="Verdana" panose="020B0604030504040204" pitchFamily="34" charset="0"/>
                    <a:cs typeface="Verdana" panose="020B0604030504040204" pitchFamily="34" charset="0"/>
                  </a:rPr>
                  <a:t> caller wins a pair of movie tickets. For the second promotion, every 100</a:t>
                </a:r>
                <a:r>
                  <a:rPr lang="en-US" sz="2400" baseline="30000" dirty="0">
                    <a:latin typeface="Verdana" panose="020B0604030504040204" pitchFamily="34" charset="0"/>
                    <a:ea typeface="Verdana" panose="020B0604030504040204" pitchFamily="34" charset="0"/>
                    <a:cs typeface="Verdana" panose="020B0604030504040204" pitchFamily="34" charset="0"/>
                  </a:rPr>
                  <a:t>th</a:t>
                </a:r>
                <a:r>
                  <a:rPr lang="en-US" sz="2400" dirty="0">
                    <a:latin typeface="Verdana" panose="020B0604030504040204" pitchFamily="34" charset="0"/>
                    <a:ea typeface="Verdana" panose="020B0604030504040204" pitchFamily="34" charset="0"/>
                    <a:cs typeface="Verdana" panose="020B0604030504040204" pitchFamily="34" charset="0"/>
                  </a:rPr>
                  <a:t> caller wins an annual pass to a theme park. Which caller number would be eligible for both prizes?</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Vincenzo and Marie both joined a local gym. Vincenzo plans to go to the gym every </a:t>
                </a:r>
                <a14:m>
                  <m:oMath xmlns:m="http://schemas.openxmlformats.org/officeDocument/2006/math">
                    <m:r>
                      <a:rPr lang="en-US" sz="2400" i="1">
                        <a:latin typeface="Cambria Math" panose="02040503050406030204" pitchFamily="18" charset="0"/>
                        <a:ea typeface="Cambria Math" panose="02040503050406030204" pitchFamily="18" charset="0"/>
                      </a:rPr>
                      <m:t>2</m:t>
                    </m:r>
                  </m:oMath>
                </a14:m>
                <a:r>
                  <a:rPr lang="en-US" sz="2400" dirty="0">
                    <a:latin typeface="Verdana" panose="020B0604030504040204" pitchFamily="34" charset="0"/>
                    <a:ea typeface="Verdana" panose="020B0604030504040204" pitchFamily="34" charset="0"/>
                    <a:cs typeface="Verdana" panose="020B0604030504040204" pitchFamily="34" charset="0"/>
                  </a:rPr>
                  <a:t> days at 7:00 am when they open. Marie plans to go every </a:t>
                </a:r>
                <a14:m>
                  <m:oMath xmlns:m="http://schemas.openxmlformats.org/officeDocument/2006/math">
                    <m:r>
                      <a:rPr lang="en-US" sz="2400" i="1">
                        <a:latin typeface="Cambria Math" panose="02040503050406030204" pitchFamily="18" charset="0"/>
                        <a:ea typeface="Cambria Math" panose="02040503050406030204" pitchFamily="18" charset="0"/>
                      </a:rPr>
                      <m:t>3</m:t>
                    </m:r>
                  </m:oMath>
                </a14:m>
                <a:r>
                  <a:rPr lang="en-US" sz="2400" dirty="0">
                    <a:latin typeface="Verdana" panose="020B0604030504040204" pitchFamily="34" charset="0"/>
                    <a:ea typeface="Verdana" panose="020B0604030504040204" pitchFamily="34" charset="0"/>
                    <a:cs typeface="Verdana" panose="020B0604030504040204" pitchFamily="34" charset="0"/>
                  </a:rPr>
                  <a:t> days at 7:00 am. If they both joined the gym on the same day, after how many days will they arrive at the gym on the same day?  </a:t>
                </a:r>
              </a:p>
            </p:txBody>
          </p:sp>
        </mc:Choice>
        <mc:Fallback xmlns="">
          <p:sp>
            <p:nvSpPr>
              <p:cNvPr id="5" name="TextBox 4">
                <a:extLst>
                  <a:ext uri="{FF2B5EF4-FFF2-40B4-BE49-F238E27FC236}">
                    <a16:creationId xmlns="" xmlns:a16="http://schemas.microsoft.com/office/drawing/2014/main" xmlns:a14="http://schemas.microsoft.com/office/drawing/2010/main" id="{22347CCE-34A7-8044-BA67-B5895157AE55}"/>
                  </a:ext>
                </a:extLst>
              </p:cNvPr>
              <p:cNvSpPr txBox="1">
                <a:spLocks noRot="1" noChangeAspect="1" noMove="1" noResize="1" noEditPoints="1" noAdjustHandles="1" noChangeArrowheads="1" noChangeShapeType="1" noTextEdit="1"/>
              </p:cNvSpPr>
              <p:nvPr/>
            </p:nvSpPr>
            <p:spPr>
              <a:xfrm>
                <a:off x="1143000" y="349706"/>
                <a:ext cx="9906000" cy="4893647"/>
              </a:xfrm>
              <a:prstGeom prst="rect">
                <a:avLst/>
              </a:prstGeom>
              <a:blipFill rotWithShape="0">
                <a:blip r:embed="rId3"/>
                <a:stretch>
                  <a:fillRect l="-985" t="-996" r="-1354" b="-1868"/>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23DDED37-A9DC-1840-BFB8-744A6C956060}"/>
              </a:ext>
            </a:extLst>
          </p:cNvPr>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12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1614666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60765"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1.2.4 Collaboration: Least Common Multiple</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0957" y="348272"/>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460765" y="1386026"/>
                <a:ext cx="8926819" cy="489364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Place a digit in each blue box to make a true statement. Use only digits </a:t>
                </a:r>
                <a14:m>
                  <m:oMath xmlns:m="http://schemas.openxmlformats.org/officeDocument/2006/math">
                    <m:r>
                      <a:rPr lang="en-US" sz="2400" i="1">
                        <a:latin typeface="Cambria Math" panose="02040503050406030204" pitchFamily="18" charset="0"/>
                        <a:ea typeface="Cambria Math" panose="02040503050406030204" pitchFamily="18"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a:latin typeface="Cambria Math" panose="02040503050406030204" pitchFamily="18" charset="0"/>
                        <a:ea typeface="Cambria Math" panose="02040503050406030204" pitchFamily="18" charset="0"/>
                      </a:rPr>
                      <m:t>9</m:t>
                    </m:r>
                  </m:oMath>
                </a14:m>
                <a:r>
                  <a:rPr lang="en-US" sz="2400" dirty="0">
                    <a:latin typeface="Verdana" panose="020B0604030504040204" pitchFamily="34" charset="0"/>
                    <a:ea typeface="Verdana" panose="020B0604030504040204" pitchFamily="34" charset="0"/>
                    <a:cs typeface="Verdana" panose="020B0604030504040204" pitchFamily="34" charset="0"/>
                  </a:rPr>
                  <a:t>, at most one time each. </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were some of the challenges you faced with this problem? </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methods did you use to solve this problem?</a:t>
                </a:r>
              </a:p>
            </p:txBody>
          </p:sp>
        </mc:Choice>
        <mc:Fallback xmlns="">
          <p:sp>
            <p:nvSpPr>
              <p:cNvPr id="10" name="TextBox 9">
                <a:extLst>
                  <a:ext uri="{FF2B5EF4-FFF2-40B4-BE49-F238E27FC236}">
                    <a16:creationId xmlns="" xmlns:a16="http://schemas.microsoft.com/office/drawing/2014/main" xmlns:a14="http://schemas.microsoft.com/office/drawing/2010/main" id="{E44DF7DE-9172-3E4E-B74A-7A51585FB6EA}"/>
                  </a:ext>
                </a:extLst>
              </p:cNvPr>
              <p:cNvSpPr txBox="1">
                <a:spLocks noRot="1" noChangeAspect="1" noMove="1" noResize="1" noEditPoints="1" noAdjustHandles="1" noChangeArrowheads="1" noChangeShapeType="1" noTextEdit="1"/>
              </p:cNvSpPr>
              <p:nvPr/>
            </p:nvSpPr>
            <p:spPr>
              <a:xfrm>
                <a:off x="1460765" y="1386026"/>
                <a:ext cx="8926819" cy="4893647"/>
              </a:xfrm>
              <a:prstGeom prst="rect">
                <a:avLst/>
              </a:prstGeom>
              <a:blipFill rotWithShape="0">
                <a:blip r:embed="rId4"/>
                <a:stretch>
                  <a:fillRect l="-1093" t="-996" b="-1868"/>
                </a:stretch>
              </a:blipFill>
            </p:spPr>
            <p:txBody>
              <a:bodyPr/>
              <a:lstStyle/>
              <a:p>
                <a:r>
                  <a:rPr lang="en-US">
                    <a:noFill/>
                  </a:rPr>
                  <a:t> </a:t>
                </a:r>
              </a:p>
            </p:txBody>
          </p:sp>
        </mc:Fallback>
      </mc:AlternateContent>
      <p:sp>
        <p:nvSpPr>
          <p:cNvPr id="11" name="Google Shape;278;g104476d1465_1_17">
            <a:extLst>
              <a:ext uri="{FF2B5EF4-FFF2-40B4-BE49-F238E27FC236}">
                <a16:creationId xmlns:a16="http://schemas.microsoft.com/office/drawing/2014/main" id="{E9CA456B-1791-3E43-BCF8-7E55B6240BB8}"/>
              </a:ext>
            </a:extLst>
          </p:cNvPr>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 name="Picture 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849034" y="2544154"/>
            <a:ext cx="6337638" cy="1761342"/>
          </a:xfrm>
          <a:prstGeom prst="rect">
            <a:avLst/>
          </a:prstGeom>
        </p:spPr>
      </p:pic>
      <p:sp>
        <p:nvSpPr>
          <p:cNvPr id="13"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a:latin typeface="Calibri"/>
                <a:ea typeface="Calibri"/>
                <a:cs typeface="Calibri"/>
                <a:sym typeface="Calibri"/>
              </a:rPr>
              <a:t>12</a:t>
            </a:r>
            <a:endParaRPr i="1" dirty="0">
              <a:latin typeface="Calibri"/>
              <a:ea typeface="Calibri"/>
              <a:cs typeface="Calibri"/>
              <a:sym typeface="Calibri"/>
            </a:endParaRPr>
          </a:p>
        </p:txBody>
      </p:sp>
      <p:pic>
        <p:nvPicPr>
          <p:cNvPr id="14"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6"/>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790839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33975" y="91393"/>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1.2.5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3">
            <a:alphaModFix/>
          </a:blip>
          <a:srcRect/>
          <a:stretch/>
        </p:blipFill>
        <p:spPr>
          <a:xfrm>
            <a:off x="486675" y="91393"/>
            <a:ext cx="747300" cy="747300"/>
          </a:xfrm>
          <a:prstGeom prst="rect">
            <a:avLst/>
          </a:prstGeom>
          <a:noFill/>
          <a:ln>
            <a:noFill/>
          </a:ln>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1233975" y="1386026"/>
                <a:ext cx="9153609" cy="4154984"/>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Find the LCM of each pair of numbers.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Jasmine and </a:t>
                </a:r>
                <a:r>
                  <a:rPr lang="en-US" sz="2400" dirty="0" err="1">
                    <a:latin typeface="Verdana" panose="020B0604030504040204" pitchFamily="34" charset="0"/>
                    <a:ea typeface="Verdana" panose="020B0604030504040204" pitchFamily="34" charset="0"/>
                    <a:cs typeface="Verdana" panose="020B0604030504040204" pitchFamily="34" charset="0"/>
                  </a:rPr>
                  <a:t>Teia</a:t>
                </a:r>
                <a:r>
                  <a:rPr lang="en-US" sz="2400" dirty="0">
                    <a:latin typeface="Verdana" panose="020B0604030504040204" pitchFamily="34" charset="0"/>
                    <a:ea typeface="Verdana" panose="020B0604030504040204" pitchFamily="34" charset="0"/>
                    <a:cs typeface="Verdana" panose="020B0604030504040204" pitchFamily="34" charset="0"/>
                  </a:rPr>
                  <a:t> are running a race. Jasmine runs at a rate of </a:t>
                </a:r>
                <a14:m>
                  <m:oMath xmlns:m="http://schemas.openxmlformats.org/officeDocument/2006/math">
                    <m:r>
                      <a:rPr lang="en-US" sz="2400" i="1">
                        <a:latin typeface="Cambria Math" panose="02040503050406030204" pitchFamily="18" charset="0"/>
                        <a:ea typeface="Cambria Math" panose="02040503050406030204" pitchFamily="18" charset="0"/>
                      </a:rPr>
                      <m:t>4</m:t>
                    </m:r>
                  </m:oMath>
                </a14:m>
                <a:r>
                  <a:rPr lang="en-US" sz="2400" dirty="0">
                    <a:latin typeface="Verdana" panose="020B0604030504040204" pitchFamily="34" charset="0"/>
                    <a:ea typeface="Verdana" panose="020B0604030504040204" pitchFamily="34" charset="0"/>
                    <a:cs typeface="Verdana" panose="020B0604030504040204" pitchFamily="34" charset="0"/>
                  </a:rPr>
                  <a:t> minutes per lap and </a:t>
                </a:r>
                <a:r>
                  <a:rPr lang="en-US" sz="2400" dirty="0" err="1">
                    <a:latin typeface="Verdana" panose="020B0604030504040204" pitchFamily="34" charset="0"/>
                    <a:ea typeface="Verdana" panose="020B0604030504040204" pitchFamily="34" charset="0"/>
                    <a:cs typeface="Verdana" panose="020B0604030504040204" pitchFamily="34" charset="0"/>
                  </a:rPr>
                  <a:t>Teia</a:t>
                </a:r>
                <a:r>
                  <a:rPr lang="en-US" sz="2400" dirty="0">
                    <a:latin typeface="Verdana" panose="020B0604030504040204" pitchFamily="34" charset="0"/>
                    <a:ea typeface="Verdana" panose="020B0604030504040204" pitchFamily="34" charset="0"/>
                    <a:cs typeface="Verdana" panose="020B0604030504040204" pitchFamily="34" charset="0"/>
                  </a:rPr>
                  <a:t> runs at a rate of </a:t>
                </a:r>
                <a14:m>
                  <m:oMath xmlns:m="http://schemas.openxmlformats.org/officeDocument/2006/math">
                    <m:r>
                      <a:rPr lang="en-US" sz="2400" i="1">
                        <a:latin typeface="Cambria Math" panose="02040503050406030204" pitchFamily="18" charset="0"/>
                        <a:ea typeface="Cambria Math" panose="02040503050406030204" pitchFamily="18" charset="0"/>
                      </a:rPr>
                      <m:t>6</m:t>
                    </m:r>
                    <m:r>
                      <a:rPr lang="en-US" sz="2400" i="1">
                        <a:latin typeface="Cambria Math"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minutes per lap. If they both start running at the same time, after how many minutes will they both be at the starting line at the same time again?</a:t>
                </a:r>
              </a:p>
            </p:txBody>
          </p:sp>
        </mc:Choice>
        <mc:Fallback xmlns="">
          <p:sp>
            <p:nvSpPr>
              <p:cNvPr id="12" name="TextBox 11">
                <a:extLst>
                  <a:ext uri="{FF2B5EF4-FFF2-40B4-BE49-F238E27FC236}">
                    <a16:creationId xmlns="" xmlns:a16="http://schemas.microsoft.com/office/drawing/2014/main" xmlns:a14="http://schemas.microsoft.com/office/drawing/2010/main" id="{759C3E41-93EC-B84D-963F-86A3B15AC1C6}"/>
                  </a:ext>
                </a:extLst>
              </p:cNvPr>
              <p:cNvSpPr txBox="1">
                <a:spLocks noRot="1" noChangeAspect="1" noMove="1" noResize="1" noEditPoints="1" noAdjustHandles="1" noChangeArrowheads="1" noChangeShapeType="1" noTextEdit="1"/>
              </p:cNvSpPr>
              <p:nvPr/>
            </p:nvSpPr>
            <p:spPr>
              <a:xfrm>
                <a:off x="1233975" y="1386026"/>
                <a:ext cx="9153609" cy="4154984"/>
              </a:xfrm>
              <a:prstGeom prst="rect">
                <a:avLst/>
              </a:prstGeom>
              <a:blipFill rotWithShape="0">
                <a:blip r:embed="rId4"/>
                <a:stretch>
                  <a:fillRect l="-999" t="-1173" b="-2346"/>
                </a:stretch>
              </a:blipFill>
            </p:spPr>
            <p:txBody>
              <a:bodyPr/>
              <a:lstStyle/>
              <a:p>
                <a:r>
                  <a:rPr lang="en-US">
                    <a:noFill/>
                  </a:rPr>
                  <a:t> </a:t>
                </a:r>
              </a:p>
            </p:txBody>
          </p:sp>
        </mc:Fallback>
      </mc:AlternateContent>
      <p:sp>
        <p:nvSpPr>
          <p:cNvPr id="8" name="Google Shape;278;g104476d1465_1_17">
            <a:extLst>
              <a:ext uri="{FF2B5EF4-FFF2-40B4-BE49-F238E27FC236}">
                <a16:creationId xmlns:a16="http://schemas.microsoft.com/office/drawing/2014/main" id="{781A9CA2-0645-4547-8E05-A9C337F9CC05}"/>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34421282"/>
                  </p:ext>
                </p:extLst>
              </p:nvPr>
            </p:nvGraphicFramePr>
            <p:xfrm>
              <a:off x="2519850" y="2327942"/>
              <a:ext cx="6943090" cy="561562"/>
            </p:xfrm>
            <a:graphic>
              <a:graphicData uri="http://schemas.openxmlformats.org/drawingml/2006/table">
                <a:tbl>
                  <a:tblPr bandRow="1">
                    <a:tableStyleId>{2D5ABB26-0587-4C30-8999-92F81FD0307C}</a:tableStyleId>
                  </a:tblPr>
                  <a:tblGrid>
                    <a:gridCol w="2366645">
                      <a:extLst>
                        <a:ext uri="{9D8B030D-6E8A-4147-A177-3AD203B41FA5}">
                          <a16:colId xmlns:a16="http://schemas.microsoft.com/office/drawing/2014/main" val="20000"/>
                        </a:ext>
                      </a:extLst>
                    </a:gridCol>
                    <a:gridCol w="2209165">
                      <a:extLst>
                        <a:ext uri="{9D8B030D-6E8A-4147-A177-3AD203B41FA5}">
                          <a16:colId xmlns:a16="http://schemas.microsoft.com/office/drawing/2014/main" val="20001"/>
                        </a:ext>
                      </a:extLst>
                    </a:gridCol>
                    <a:gridCol w="2367280">
                      <a:extLst>
                        <a:ext uri="{9D8B030D-6E8A-4147-A177-3AD203B41FA5}">
                          <a16:colId xmlns:a16="http://schemas.microsoft.com/office/drawing/2014/main" val="20002"/>
                        </a:ext>
                      </a:extLst>
                    </a:gridCol>
                  </a:tblGrid>
                  <a:tr h="561562">
                    <a:tc>
                      <a:txBody>
                        <a:bodyPr/>
                        <a:lstStyle/>
                        <a:p>
                          <a:pPr marL="342900" marR="0" lvl="0" indent="-342900">
                            <a:lnSpc>
                              <a:spcPct val="107000"/>
                            </a:lnSpc>
                            <a:spcBef>
                              <a:spcPts val="0"/>
                            </a:spcBef>
                            <a:spcAft>
                              <a:spcPts val="800"/>
                            </a:spcAft>
                            <a:buFont typeface="+mj-lt"/>
                            <a:buAutoNum type="alphaLcPeriod"/>
                          </a:pPr>
                          <a:r>
                            <a:rPr lang="en-US"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15 </m:t>
                              </m:r>
                            </m:oMath>
                          </a14:m>
                          <a:r>
                            <a:rPr lang="en-US" sz="2400" dirty="0">
                              <a:effectLst/>
                              <a:latin typeface="Cambria Math" panose="02040503050406030204" pitchFamily="18" charset="0"/>
                              <a:ea typeface="Cambria Math" panose="02040503050406030204" pitchFamily="18" charset="0"/>
                            </a:rPr>
                            <a:t> </a:t>
                          </a:r>
                          <a:r>
                            <a:rPr lang="en-US" sz="2400" dirty="0">
                              <a:effectLst/>
                              <a:latin typeface="Verdana" panose="020B0604030504040204" pitchFamily="34" charset="0"/>
                              <a:ea typeface="Verdana" panose="020B0604030504040204" pitchFamily="34" charset="0"/>
                              <a:cs typeface="Verdana" panose="020B0604030504040204" pitchFamily="34" charset="0"/>
                            </a:rPr>
                            <a:t>and</a:t>
                          </a:r>
                          <a:r>
                            <a:rPr lang="en-US" sz="2400" dirty="0">
                              <a:effectLst/>
                              <a:latin typeface="Cambria Math" panose="02040503050406030204" pitchFamily="18" charset="0"/>
                              <a:ea typeface="Cambria Math" panose="02040503050406030204" pitchFamily="18"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20 </m:t>
                              </m:r>
                            </m:oMath>
                          </a14:m>
                          <a:endParaRPr lang="en-US" sz="24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tc>
                    <a:tc>
                      <a:txBody>
                        <a:bodyPr/>
                        <a:lstStyle/>
                        <a:p>
                          <a:pPr marL="457200" marR="0" lvl="0" indent="-457200">
                            <a:lnSpc>
                              <a:spcPct val="107000"/>
                            </a:lnSpc>
                            <a:spcBef>
                              <a:spcPts val="0"/>
                            </a:spcBef>
                            <a:spcAft>
                              <a:spcPts val="800"/>
                            </a:spcAft>
                            <a:buFont typeface="+mj-lt"/>
                            <a:buAutoNum type="alphaLcPeriod" startAt="2"/>
                          </a:pPr>
                          <a:r>
                            <a:rPr lang="en-US"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18 </m:t>
                              </m:r>
                            </m:oMath>
                          </a14:m>
                          <a:r>
                            <a:rPr lang="en-US" sz="2400" dirty="0">
                              <a:effectLst/>
                              <a:latin typeface="Cambria Math" panose="02040503050406030204" pitchFamily="18" charset="0"/>
                              <a:ea typeface="Cambria Math" panose="02040503050406030204" pitchFamily="18" charset="0"/>
                            </a:rPr>
                            <a:t> </a:t>
                          </a:r>
                          <a:r>
                            <a:rPr lang="en-US" sz="2400" dirty="0">
                              <a:effectLst/>
                              <a:latin typeface="Verdana" panose="020B0604030504040204" pitchFamily="34" charset="0"/>
                              <a:ea typeface="Verdana" panose="020B0604030504040204" pitchFamily="34" charset="0"/>
                              <a:cs typeface="Verdana" panose="020B0604030504040204" pitchFamily="34" charset="0"/>
                            </a:rPr>
                            <a:t>and</a:t>
                          </a:r>
                          <a:r>
                            <a:rPr lang="en-US" sz="2400" dirty="0">
                              <a:effectLst/>
                              <a:latin typeface="Cambria Math" panose="02040503050406030204" pitchFamily="18" charset="0"/>
                              <a:ea typeface="Cambria Math" panose="02040503050406030204" pitchFamily="18"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24</m:t>
                              </m:r>
                            </m:oMath>
                          </a14:m>
                          <a:endParaRPr lang="en-US" sz="24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tc>
                    <a:tc>
                      <a:txBody>
                        <a:bodyPr/>
                        <a:lstStyle/>
                        <a:p>
                          <a:pPr marL="457200" marR="0" lvl="0" indent="-457200">
                            <a:lnSpc>
                              <a:spcPct val="107000"/>
                            </a:lnSpc>
                            <a:spcBef>
                              <a:spcPts val="0"/>
                            </a:spcBef>
                            <a:spcAft>
                              <a:spcPts val="800"/>
                            </a:spcAft>
                            <a:buFont typeface="+mj-lt"/>
                            <a:buAutoNum type="alphaLcPeriod" startAt="3"/>
                          </a:pPr>
                          <a:r>
                            <a:rPr lang="en-US" sz="24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22 </m:t>
                              </m:r>
                            </m:oMath>
                          </a14:m>
                          <a:r>
                            <a:rPr lang="en-US" sz="2400" dirty="0">
                              <a:effectLst/>
                              <a:latin typeface="Cambria Math" panose="02040503050406030204" pitchFamily="18" charset="0"/>
                              <a:ea typeface="Cambria Math" panose="02040503050406030204" pitchFamily="18" charset="0"/>
                            </a:rPr>
                            <a:t> </a:t>
                          </a:r>
                          <a:r>
                            <a:rPr lang="en-US" sz="2400" dirty="0">
                              <a:effectLst/>
                              <a:latin typeface="Verdana" panose="020B0604030504040204" pitchFamily="34" charset="0"/>
                              <a:ea typeface="Verdana" panose="020B0604030504040204" pitchFamily="34" charset="0"/>
                              <a:cs typeface="Verdana" panose="020B0604030504040204" pitchFamily="34" charset="0"/>
                            </a:rPr>
                            <a:t>and</a:t>
                          </a:r>
                          <a:r>
                            <a:rPr lang="en-US" sz="2400" dirty="0">
                              <a:effectLst/>
                              <a:latin typeface="Cambria Math" panose="02040503050406030204" pitchFamily="18" charset="0"/>
                              <a:ea typeface="Cambria Math" panose="02040503050406030204" pitchFamily="18" charset="0"/>
                            </a:rPr>
                            <a:t> </a:t>
                          </a:r>
                          <a14:m>
                            <m:oMath xmlns:m="http://schemas.openxmlformats.org/officeDocument/2006/math">
                              <m:r>
                                <a:rPr lang="en-US" sz="2400">
                                  <a:effectLst/>
                                  <a:latin typeface="Cambria Math" panose="02040503050406030204" pitchFamily="18" charset="0"/>
                                  <a:ea typeface="Cambria Math" panose="02040503050406030204" pitchFamily="18" charset="0"/>
                                </a:rPr>
                                <m:t>11 </m:t>
                              </m:r>
                            </m:oMath>
                          </a14:m>
                          <a:endParaRPr lang="en-US" sz="2400" dirty="0">
                            <a:effectLst/>
                            <a:latin typeface="Cambria Math" panose="02040503050406030204" pitchFamily="18" charset="0"/>
                            <a:ea typeface="Cambria Math" panose="02040503050406030204" pitchFamily="18" charset="0"/>
                            <a:cs typeface="Calibri" panose="020F0502020204030204" pitchFamily="34" charset="0"/>
                          </a:endParaRPr>
                        </a:p>
                      </a:txBody>
                      <a:tcPr marL="68580" marR="68580" marT="0" marB="0"/>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34421282"/>
                  </p:ext>
                </p:extLst>
              </p:nvPr>
            </p:nvGraphicFramePr>
            <p:xfrm>
              <a:off x="995850" y="2327942"/>
              <a:ext cx="6943090" cy="561562"/>
            </p:xfrm>
            <a:graphic>
              <a:graphicData uri="http://schemas.openxmlformats.org/drawingml/2006/table">
                <a:tbl>
                  <a:tblPr bandRow="1">
                    <a:tableStyleId>{2D5ABB26-0587-4C30-8999-92F81FD0307C}</a:tableStyleId>
                  </a:tblPr>
                  <a:tblGrid>
                    <a:gridCol w="2366645"/>
                    <a:gridCol w="2209165"/>
                    <a:gridCol w="2367280"/>
                  </a:tblGrid>
                  <a:tr h="561562">
                    <a:tc>
                      <a:txBody>
                        <a:bodyPr/>
                        <a:lstStyle/>
                        <a:p>
                          <a:endParaRPr lang="en-US"/>
                        </a:p>
                      </a:txBody>
                      <a:tcPr marL="68580" marR="68580" marT="0" marB="0">
                        <a:blipFill rotWithShape="0">
                          <a:blip r:embed="rId6"/>
                          <a:stretch>
                            <a:fillRect t="-18280" r="-193059"/>
                          </a:stretch>
                        </a:blipFill>
                      </a:tcPr>
                    </a:tc>
                    <a:tc>
                      <a:txBody>
                        <a:bodyPr/>
                        <a:lstStyle/>
                        <a:p>
                          <a:endParaRPr lang="en-US"/>
                        </a:p>
                      </a:txBody>
                      <a:tcPr marL="68580" marR="68580" marT="0" marB="0">
                        <a:blipFill rotWithShape="0">
                          <a:blip r:embed="rId6"/>
                          <a:stretch>
                            <a:fillRect l="-107459" t="-18280" r="-107459"/>
                          </a:stretch>
                        </a:blipFill>
                      </a:tcPr>
                    </a:tc>
                    <a:tc>
                      <a:txBody>
                        <a:bodyPr/>
                        <a:lstStyle/>
                        <a:p>
                          <a:endParaRPr lang="en-US"/>
                        </a:p>
                      </a:txBody>
                      <a:tcPr marL="68580" marR="68580" marT="0" marB="0">
                        <a:blipFill rotWithShape="0">
                          <a:blip r:embed="rId6"/>
                          <a:stretch>
                            <a:fillRect l="-193059" t="-18280"/>
                          </a:stretch>
                        </a:blipFill>
                      </a:tcPr>
                    </a:tc>
                  </a:tr>
                </a:tbl>
              </a:graphicData>
            </a:graphic>
          </p:graphicFrame>
        </mc:Fallback>
      </mc:AlternateContent>
      <p:sp>
        <p:nvSpPr>
          <p:cNvPr id="11"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a:t>
            </a:r>
            <a:endParaRPr i="1" dirty="0">
              <a:latin typeface="Calibri"/>
              <a:ea typeface="Calibri"/>
              <a:cs typeface="Calibri"/>
              <a:sym typeface="Calibri"/>
            </a:endParaRPr>
          </a:p>
        </p:txBody>
      </p:sp>
      <p:pic>
        <p:nvPicPr>
          <p:cNvPr id="13" name="Google Shape;283;g104476d1465_1_17"/>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0129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942974" y="410665"/>
                <a:ext cx="10086975" cy="2308324"/>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Lin’s uncle is opening a bakery. On the bakery’s grand opening day, he plans to give away prizes to the first </a:t>
                </a:r>
                <a14:m>
                  <m:oMath xmlns:m="http://schemas.openxmlformats.org/officeDocument/2006/math">
                    <m:r>
                      <a:rPr lang="en-US" sz="2400" i="1">
                        <a:latin typeface="Cambria Math" panose="02040503050406030204" pitchFamily="18" charset="0"/>
                        <a:ea typeface="Cambria Math" panose="02040503050406030204" pitchFamily="18" charset="0"/>
                      </a:rPr>
                      <m:t>50</m:t>
                    </m:r>
                  </m:oMath>
                </a14:m>
                <a:r>
                  <a:rPr lang="en-US" sz="2400" dirty="0">
                    <a:latin typeface="Verdana" panose="020B0604030504040204" pitchFamily="34" charset="0"/>
                    <a:ea typeface="Verdana" panose="020B0604030504040204" pitchFamily="34" charset="0"/>
                    <a:cs typeface="Verdana" panose="020B0604030504040204" pitchFamily="34" charset="0"/>
                  </a:rPr>
                  <a:t> customers that enter the shop. Every 9</a:t>
                </a:r>
                <a:r>
                  <a:rPr lang="en-US" sz="2400" baseline="30000" dirty="0">
                    <a:latin typeface="Verdana" panose="020B0604030504040204" pitchFamily="34" charset="0"/>
                    <a:ea typeface="Verdana" panose="020B0604030504040204" pitchFamily="34" charset="0"/>
                    <a:cs typeface="Verdana" panose="020B0604030504040204" pitchFamily="34" charset="0"/>
                  </a:rPr>
                  <a:t>th</a:t>
                </a:r>
                <a:r>
                  <a:rPr lang="en-US" sz="2400" dirty="0">
                    <a:latin typeface="Verdana" panose="020B0604030504040204" pitchFamily="34" charset="0"/>
                    <a:ea typeface="Verdana" panose="020B0604030504040204" pitchFamily="34" charset="0"/>
                    <a:cs typeface="Verdana" panose="020B0604030504040204" pitchFamily="34" charset="0"/>
                  </a:rPr>
                  <a:t> customer will get a free blueberry muffin. Every </a:t>
                </a:r>
                <a14:m>
                  <m:oMath xmlns:m="http://schemas.openxmlformats.org/officeDocument/2006/math">
                    <m:r>
                      <a:rPr lang="en-US" sz="2400" i="1">
                        <a:latin typeface="Cambria Math" panose="02040503050406030204" pitchFamily="18" charset="0"/>
                        <a:ea typeface="Cambria Math" panose="02040503050406030204" pitchFamily="18" charset="0"/>
                      </a:rPr>
                      <m:t>12</m:t>
                    </m:r>
                  </m:oMath>
                </a14:m>
                <a:r>
                  <a:rPr lang="en-US" sz="2400" baseline="30000" dirty="0" err="1">
                    <a:latin typeface="Verdana" panose="020B0604030504040204" pitchFamily="34" charset="0"/>
                    <a:ea typeface="Verdana" panose="020B0604030504040204" pitchFamily="34" charset="0"/>
                    <a:cs typeface="Verdana" panose="020B0604030504040204" pitchFamily="34" charset="0"/>
                  </a:rPr>
                  <a:t>th</a:t>
                </a:r>
                <a:r>
                  <a:rPr lang="en-US" sz="2400" dirty="0">
                    <a:latin typeface="Verdana" panose="020B0604030504040204" pitchFamily="34" charset="0"/>
                    <a:ea typeface="Verdana" panose="020B0604030504040204" pitchFamily="34" charset="0"/>
                    <a:cs typeface="Verdana" panose="020B0604030504040204" pitchFamily="34" charset="0"/>
                  </a:rPr>
                  <a:t> customer will get a free slice of carrot cake. Which customer will get both free bakery items?</a:t>
                </a:r>
              </a:p>
            </p:txBody>
          </p:sp>
        </mc:Choice>
        <mc:Fallback xmlns="">
          <p:sp>
            <p:nvSpPr>
              <p:cNvPr id="5" name="TextBox 4">
                <a:extLst>
                  <a:ext uri="{FF2B5EF4-FFF2-40B4-BE49-F238E27FC236}">
                    <a16:creationId xmlns="" xmlns:a16="http://schemas.microsoft.com/office/drawing/2014/main"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942974" y="410665"/>
                <a:ext cx="10086975" cy="2308324"/>
              </a:xfrm>
              <a:prstGeom prst="rect">
                <a:avLst/>
              </a:prstGeom>
              <a:blipFill rotWithShape="0">
                <a:blip r:embed="rId3"/>
                <a:stretch>
                  <a:fillRect l="-967" t="-2111" r="-484" b="-5013"/>
                </a:stretch>
              </a:blipFill>
            </p:spPr>
            <p:txBody>
              <a:bodyPr/>
              <a:lstStyle/>
              <a:p>
                <a:r>
                  <a:rPr lang="en-US">
                    <a:noFill/>
                  </a:rPr>
                  <a:t> </a:t>
                </a:r>
              </a:p>
            </p:txBody>
          </p:sp>
        </mc:Fallback>
      </mc:AlternateContent>
      <p:sp>
        <p:nvSpPr>
          <p:cNvPr id="6" name="Google Shape;278;g104476d1465_1_17">
            <a:extLst>
              <a:ext uri="{FF2B5EF4-FFF2-40B4-BE49-F238E27FC236}">
                <a16:creationId xmlns:a16="http://schemas.microsoft.com/office/drawing/2014/main" id="{D60F4B17-87E0-004C-AADF-1570DE52C58A}"/>
              </a:ext>
            </a:extLst>
          </p:cNvPr>
          <p:cNvSpPr/>
          <p:nvPr/>
        </p:nvSpPr>
        <p:spPr>
          <a:xfrm>
            <a:off x="0" y="0"/>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900"/>
            <a:ext cx="2731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73275" y="-1152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543825" y="141974"/>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373275" y="1217542"/>
            <a:ext cx="9100061" cy="3416320"/>
          </a:xfrm>
          <a:prstGeom prst="rect">
            <a:avLst/>
          </a:prstGeom>
          <a:noFill/>
        </p:spPr>
        <p:txBody>
          <a:bodyPr wrap="square" rtlCol="0">
            <a:spAutoFit/>
          </a:bodyPr>
          <a:lstStyle/>
          <a:p>
            <a:pPr marL="457200" lvl="3"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Rate your level of mathematical confidence on the concepts listed by circling the statement that best describes your understanding.</a:t>
            </a:r>
          </a:p>
          <a:p>
            <a:pPr marL="914400" lvl="3" indent="-457200">
              <a:buFont typeface="Arial" panose="020B0604020202020204" pitchFamily="34" charset="0"/>
              <a:buChar char="•"/>
            </a:pPr>
            <a:r>
              <a:rPr lang="en-US" sz="2400" b="1" dirty="0">
                <a:latin typeface="Verdana" panose="020B0604030504040204" pitchFamily="34" charset="0"/>
                <a:ea typeface="Verdana" panose="020B0604030504040204" pitchFamily="34" charset="0"/>
                <a:cs typeface="Verdana" panose="020B0604030504040204" pitchFamily="34" charset="0"/>
              </a:rPr>
              <a:t>Greatest Common Factor (GCF)</a:t>
            </a:r>
          </a:p>
          <a:p>
            <a:pPr marL="914400" lvl="3" indent="-457200">
              <a:buFont typeface="Arial" panose="020B0604020202020204" pitchFamily="34" charset="0"/>
              <a:buChar char="•"/>
            </a:pPr>
            <a:endParaRPr lang="en-US" sz="2400" b="1" dirty="0">
              <a:latin typeface="Verdana" panose="020B0604030504040204" pitchFamily="34" charset="0"/>
              <a:ea typeface="Verdana" panose="020B0604030504040204" pitchFamily="34" charset="0"/>
              <a:cs typeface="Verdana" panose="020B0604030504040204" pitchFamily="34" charset="0"/>
            </a:endParaRPr>
          </a:p>
          <a:p>
            <a:pPr marL="914400" lvl="3" indent="-457200">
              <a:buFont typeface="Arial" panose="020B0604020202020204" pitchFamily="34" charset="0"/>
              <a:buChar char="•"/>
            </a:pPr>
            <a:endParaRPr lang="en-US" sz="2400" b="1" dirty="0">
              <a:latin typeface="Verdana" panose="020B0604030504040204" pitchFamily="34" charset="0"/>
              <a:ea typeface="Verdana" panose="020B0604030504040204" pitchFamily="34" charset="0"/>
              <a:cs typeface="Verdana" panose="020B0604030504040204" pitchFamily="34" charset="0"/>
            </a:endParaRPr>
          </a:p>
          <a:p>
            <a:pPr marL="914400" lvl="3" indent="-457200">
              <a:buFont typeface="Arial" panose="020B0604020202020204" pitchFamily="34" charset="0"/>
              <a:buChar char="•"/>
            </a:pPr>
            <a:endParaRPr lang="en-US" sz="2400" b="1" dirty="0">
              <a:latin typeface="Verdana" panose="020B0604030504040204" pitchFamily="34" charset="0"/>
              <a:ea typeface="Verdana" panose="020B0604030504040204" pitchFamily="34" charset="0"/>
              <a:cs typeface="Verdana" panose="020B0604030504040204" pitchFamily="34" charset="0"/>
            </a:endParaRPr>
          </a:p>
          <a:p>
            <a:pPr marL="457200" lvl="3"/>
            <a:endParaRPr lang="en-US" sz="2400" b="1" dirty="0">
              <a:latin typeface="Verdana" panose="020B0604030504040204" pitchFamily="34" charset="0"/>
              <a:ea typeface="Verdana" panose="020B0604030504040204" pitchFamily="34" charset="0"/>
              <a:cs typeface="Verdana" panose="020B0604030504040204" pitchFamily="34" charset="0"/>
            </a:endParaRPr>
          </a:p>
          <a:p>
            <a:pPr marL="914400" lvl="3" indent="-457200">
              <a:buFont typeface="Arial" panose="020B0604020202020204" pitchFamily="34" charset="0"/>
              <a:buChar char="•"/>
            </a:pPr>
            <a:r>
              <a:rPr lang="en-US" sz="2400" b="1" dirty="0">
                <a:latin typeface="Verdana" panose="020B0604030504040204" pitchFamily="34" charset="0"/>
                <a:ea typeface="Verdana" panose="020B0604030504040204" pitchFamily="34" charset="0"/>
                <a:cs typeface="Verdana" panose="020B0604030504040204" pitchFamily="34" charset="0"/>
              </a:rPr>
              <a:t>Least Common Multiple (LCM)</a:t>
            </a:r>
          </a:p>
        </p:txBody>
      </p:sp>
      <p:sp>
        <p:nvSpPr>
          <p:cNvPr id="8" name="Google Shape;278;g104476d1465_1_17">
            <a:extLst>
              <a:ext uri="{FF2B5EF4-FFF2-40B4-BE49-F238E27FC236}">
                <a16:creationId xmlns:a16="http://schemas.microsoft.com/office/drawing/2014/main" id="{055A48D7-DC81-5F4D-9632-5F42A5D9EE47}"/>
              </a:ext>
            </a:extLst>
          </p:cNvPr>
          <p:cNvSpPr/>
          <p:nvPr/>
        </p:nvSpPr>
        <p:spPr>
          <a:xfrm>
            <a:off x="0" y="-8226"/>
            <a:ext cx="223200" cy="6866100"/>
          </a:xfrm>
          <a:prstGeom prst="rect">
            <a:avLst/>
          </a:prstGeom>
          <a:solidFill>
            <a:srgbClr val="F25E5B"/>
          </a:solidFill>
          <a:ln w="9525" cap="flat" cmpd="sng">
            <a:solidFill>
              <a:srgbClr val="F25E5B"/>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3480249849"/>
              </p:ext>
            </p:extLst>
          </p:nvPr>
        </p:nvGraphicFramePr>
        <p:xfrm>
          <a:off x="2263407" y="2849039"/>
          <a:ext cx="7685342" cy="1266984"/>
        </p:xfrm>
        <a:graphic>
          <a:graphicData uri="http://schemas.openxmlformats.org/drawingml/2006/table">
            <a:tbl>
              <a:tblPr bandRow="1">
                <a:tableStyleId>{5940675A-B579-460E-94D1-54222C63F5DA}</a:tableStyleId>
              </a:tblPr>
              <a:tblGrid>
                <a:gridCol w="1571724">
                  <a:extLst>
                    <a:ext uri="{9D8B030D-6E8A-4147-A177-3AD203B41FA5}">
                      <a16:colId xmlns:a16="http://schemas.microsoft.com/office/drawing/2014/main" val="20000"/>
                    </a:ext>
                  </a:extLst>
                </a:gridCol>
                <a:gridCol w="1572443">
                  <a:extLst>
                    <a:ext uri="{9D8B030D-6E8A-4147-A177-3AD203B41FA5}">
                      <a16:colId xmlns:a16="http://schemas.microsoft.com/office/drawing/2014/main" val="20001"/>
                    </a:ext>
                  </a:extLst>
                </a:gridCol>
                <a:gridCol w="1572443">
                  <a:extLst>
                    <a:ext uri="{9D8B030D-6E8A-4147-A177-3AD203B41FA5}">
                      <a16:colId xmlns:a16="http://schemas.microsoft.com/office/drawing/2014/main" val="20002"/>
                    </a:ext>
                  </a:extLst>
                </a:gridCol>
                <a:gridCol w="1572443">
                  <a:extLst>
                    <a:ext uri="{9D8B030D-6E8A-4147-A177-3AD203B41FA5}">
                      <a16:colId xmlns:a16="http://schemas.microsoft.com/office/drawing/2014/main" val="20003"/>
                    </a:ext>
                  </a:extLst>
                </a:gridCol>
                <a:gridCol w="1396289">
                  <a:extLst>
                    <a:ext uri="{9D8B030D-6E8A-4147-A177-3AD203B41FA5}">
                      <a16:colId xmlns:a16="http://schemas.microsoft.com/office/drawing/2014/main" val="20004"/>
                    </a:ext>
                  </a:extLst>
                </a:gridCol>
              </a:tblGrid>
              <a:tr h="1266984">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don’t know what GCF is.</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need a little more practice.</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am okay at this.</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I’m pretty good at this.</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could teach this.</a:t>
                      </a:r>
                    </a:p>
                  </a:txBody>
                  <a:tcPr marL="68580" marR="68580" marT="0" marB="0" anchor="ctr"/>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47611829"/>
              </p:ext>
            </p:extLst>
          </p:nvPr>
        </p:nvGraphicFramePr>
        <p:xfrm>
          <a:off x="2263408" y="4716391"/>
          <a:ext cx="7685343" cy="1345424"/>
        </p:xfrm>
        <a:graphic>
          <a:graphicData uri="http://schemas.openxmlformats.org/drawingml/2006/table">
            <a:tbl>
              <a:tblPr bandRow="1">
                <a:tableStyleId>{5940675A-B579-460E-94D1-54222C63F5DA}</a:tableStyleId>
              </a:tblPr>
              <a:tblGrid>
                <a:gridCol w="1568642">
                  <a:extLst>
                    <a:ext uri="{9D8B030D-6E8A-4147-A177-3AD203B41FA5}">
                      <a16:colId xmlns:a16="http://schemas.microsoft.com/office/drawing/2014/main" val="20000"/>
                    </a:ext>
                  </a:extLst>
                </a:gridCol>
                <a:gridCol w="1569360">
                  <a:extLst>
                    <a:ext uri="{9D8B030D-6E8A-4147-A177-3AD203B41FA5}">
                      <a16:colId xmlns:a16="http://schemas.microsoft.com/office/drawing/2014/main" val="20001"/>
                    </a:ext>
                  </a:extLst>
                </a:gridCol>
                <a:gridCol w="1569360">
                  <a:extLst>
                    <a:ext uri="{9D8B030D-6E8A-4147-A177-3AD203B41FA5}">
                      <a16:colId xmlns:a16="http://schemas.microsoft.com/office/drawing/2014/main" val="20002"/>
                    </a:ext>
                  </a:extLst>
                </a:gridCol>
                <a:gridCol w="1569360">
                  <a:extLst>
                    <a:ext uri="{9D8B030D-6E8A-4147-A177-3AD203B41FA5}">
                      <a16:colId xmlns:a16="http://schemas.microsoft.com/office/drawing/2014/main" val="20003"/>
                    </a:ext>
                  </a:extLst>
                </a:gridCol>
                <a:gridCol w="1408621">
                  <a:extLst>
                    <a:ext uri="{9D8B030D-6E8A-4147-A177-3AD203B41FA5}">
                      <a16:colId xmlns:a16="http://schemas.microsoft.com/office/drawing/2014/main" val="20004"/>
                    </a:ext>
                  </a:extLst>
                </a:gridCol>
              </a:tblGrid>
              <a:tr h="1345424">
                <a:tc>
                  <a:txBody>
                    <a:bodyPr/>
                    <a:lstStyle/>
                    <a:p>
                      <a:pPr marL="0" marR="0" indent="3175"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don’t know what LCM is.</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need a little more practice.</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am okay at this.</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I’m pretty good at this.</a:t>
                      </a:r>
                    </a:p>
                  </a:txBody>
                  <a:tcPr marL="68580" marR="68580" marT="0" marB="0" anchor="ctr"/>
                </a:tc>
                <a:tc>
                  <a:txBody>
                    <a:bodyPr/>
                    <a:lstStyle/>
                    <a:p>
                      <a:pPr marL="0" marR="0" algn="ctr">
                        <a:lnSpc>
                          <a:spcPct val="107000"/>
                        </a:lnSpc>
                        <a:spcBef>
                          <a:spcPts val="0"/>
                        </a:spcBef>
                        <a:spcAft>
                          <a:spcPts val="800"/>
                        </a:spcAft>
                      </a:pPr>
                      <a:r>
                        <a:rPr lang="en-US" sz="2000" dirty="0">
                          <a:effectLst/>
                          <a:latin typeface="Verdana" panose="020B0604030504040204" pitchFamily="34" charset="0"/>
                          <a:ea typeface="Verdana" panose="020B0604030504040204" pitchFamily="34" charset="0"/>
                          <a:cs typeface="Verdana" panose="020B0604030504040204" pitchFamily="34" charset="0"/>
                        </a:rPr>
                        <a:t>I could teach this.</a:t>
                      </a:r>
                    </a:p>
                  </a:txBody>
                  <a:tcPr marL="68580" marR="68580" marT="0" marB="0" anchor="ctr"/>
                </a:tc>
                <a:extLst>
                  <a:ext uri="{0D108BD9-81ED-4DB2-BD59-A6C34878D82A}">
                    <a16:rowId xmlns:a16="http://schemas.microsoft.com/office/drawing/2014/main" val="10000"/>
                  </a:ext>
                </a:extLst>
              </a:tr>
            </a:tbl>
          </a:graphicData>
        </a:graphic>
      </p:graphicFrame>
      <p:sp>
        <p:nvSpPr>
          <p:cNvPr id="11" name="Google Shape;282;g104476d1465_1_17"/>
          <p:cNvSpPr txBox="1"/>
          <p:nvPr/>
        </p:nvSpPr>
        <p:spPr>
          <a:xfrm>
            <a:off x="8729213"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14</a:t>
            </a:r>
            <a:endParaRPr i="1" dirty="0">
              <a:latin typeface="Calibri"/>
              <a:ea typeface="Calibri"/>
              <a:cs typeface="Calibri"/>
              <a:sym typeface="Calibri"/>
            </a:endParaRP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67439"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1286</TotalTime>
  <Words>1182</Words>
  <Application>Microsoft Office PowerPoint</Application>
  <PresentationFormat>Widescreen</PresentationFormat>
  <Paragraphs>165</Paragraphs>
  <Slides>22</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Black</vt:lpstr>
      <vt:lpstr>Calibri</vt:lpstr>
      <vt:lpstr>Cambria Math</vt:lpstr>
      <vt:lpstr>Century Gothic</vt:lpstr>
      <vt:lpstr>Verdana</vt:lpstr>
      <vt:lpstr>1_Office Theme</vt:lpstr>
      <vt:lpstr>6th Grade Accelerated Math  Unit 1, Lesson 2  Finding the Least Common Multiple  Volume 1, pg. 9  </vt:lpstr>
      <vt:lpstr>Benchmark</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Try It</vt:lpstr>
      <vt:lpstr>PowerPoint Presentation</vt:lpstr>
      <vt:lpstr>PowerPoint Presentation</vt:lpstr>
      <vt:lpstr>Collaboration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33</cp:revision>
  <dcterms:created xsi:type="dcterms:W3CDTF">2015-03-17T18:51:18Z</dcterms:created>
  <dcterms:modified xsi:type="dcterms:W3CDTF">2022-06-29T04:29:43Z</dcterms:modified>
</cp:coreProperties>
</file>