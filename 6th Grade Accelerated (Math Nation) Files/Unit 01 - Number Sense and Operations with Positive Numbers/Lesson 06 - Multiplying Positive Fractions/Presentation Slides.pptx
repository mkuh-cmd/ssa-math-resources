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81" r:id="rId8"/>
    <p:sldId id="282" r:id="rId9"/>
    <p:sldId id="283" r:id="rId10"/>
    <p:sldId id="293" r:id="rId11"/>
    <p:sldId id="275" r:id="rId12"/>
    <p:sldId id="276" r:id="rId13"/>
    <p:sldId id="277" r:id="rId14"/>
    <p:sldId id="272" r:id="rId15"/>
    <p:sldId id="273" r:id="rId16"/>
    <p:sldId id="274" r:id="rId17"/>
    <p:sldId id="287" r:id="rId18"/>
    <p:sldId id="288" r:id="rId19"/>
    <p:sldId id="290" r:id="rId20"/>
    <p:sldId id="291" r:id="rId21"/>
    <p:sldId id="292"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iGNqAw0ce6kMhO2MM82zLCkyAo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373"/>
    <p:restoredTop sz="94663"/>
  </p:normalViewPr>
  <p:slideViewPr>
    <p:cSldViewPr snapToGrid="0">
      <p:cViewPr varScale="1">
        <p:scale>
          <a:sx n="59" d="100"/>
          <a:sy n="59" d="100"/>
        </p:scale>
        <p:origin x="36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2479961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865689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2877348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2489230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extLst>
      <p:ext uri="{BB962C8B-B14F-4D97-AF65-F5344CB8AC3E}">
        <p14:creationId xmlns:p14="http://schemas.microsoft.com/office/powerpoint/2010/main" val="3388092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696701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1184129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2683630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1834799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194053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1.png"/></Relationships>
</file>

<file path=ppt/slides/_rels/slide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3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Multiplying Positive Fractions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30</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2577"/>
            <a:ext cx="3270825" cy="3812847"/>
          </a:xfrm>
          <a:prstGeom prst="rect">
            <a:avLst/>
          </a:prstGeom>
          <a:noFill/>
          <a:ln>
            <a:noFill/>
          </a:ln>
          <a:effectLst>
            <a:outerShdw blurRad="50800" dist="38100" dir="2700000" algn="tl" rotWithShape="0">
              <a:srgbClr val="000000">
                <a:alpha val="40000"/>
              </a:srgbClr>
            </a:outerShdw>
          </a:effectLst>
        </p:spPr>
      </p:pic>
      <p:sp>
        <p:nvSpPr>
          <p:cNvPr id="2" name="Rectangle 1">
            <a:extLst>
              <a:ext uri="{FF2B5EF4-FFF2-40B4-BE49-F238E27FC236}">
                <a16:creationId xmlns:a16="http://schemas.microsoft.com/office/drawing/2014/main" id="{D76148A5-8CC6-BE4B-A9C3-898D57409D01}"/>
              </a:ext>
            </a:extLst>
          </p:cNvPr>
          <p:cNvSpPr/>
          <p:nvPr/>
        </p:nvSpPr>
        <p:spPr>
          <a:xfrm>
            <a:off x="5978820" y="3275113"/>
            <a:ext cx="234360" cy="307777"/>
          </a:xfrm>
          <a:prstGeom prst="rect">
            <a:avLst/>
          </a:prstGeom>
        </p:spPr>
        <p:txBody>
          <a:bodyPr wrap="none">
            <a:spAutoFit/>
          </a:bodyPr>
          <a:lstStyle/>
          <a:p>
            <a:r>
              <a:rPr lang="en-US"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48250" y="7177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24750" y="307551"/>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48250" y="1600025"/>
            <a:ext cx="8762550" cy="4205700"/>
          </a:xfrm>
          <a:prstGeom prst="rect">
            <a:avLst/>
          </a:prstGeom>
          <a:noFill/>
          <a:ln>
            <a:noFill/>
          </a:ln>
        </p:spPr>
        <p:txBody>
          <a:bodyPr spcFirstLastPara="1" wrap="square" lIns="91425" tIns="45700" rIns="91425" bIns="45700" anchor="t" anchorCtr="0">
            <a:normAutofit lnSpcReduction="10000"/>
          </a:bodyPr>
          <a:lstStyle/>
          <a:p>
            <a:r>
              <a:rPr lang="en-US" sz="3200" dirty="0">
                <a:latin typeface="Verdana" panose="020B0604030504040204" pitchFamily="34" charset="0"/>
                <a:ea typeface="Verdana" panose="020B0604030504040204" pitchFamily="34" charset="0"/>
                <a:cs typeface="Verdana" panose="020B0604030504040204" pitchFamily="34" charset="0"/>
              </a:rPr>
              <a:t>MA.6.NSO.2.2</a:t>
            </a:r>
          </a:p>
          <a:p>
            <a:br>
              <a:rPr lang="en-US" sz="3200" dirty="0">
                <a:latin typeface="Verdana" panose="020B0604030504040204" pitchFamily="34" charset="0"/>
                <a:ea typeface="Verdana" panose="020B0604030504040204" pitchFamily="34" charset="0"/>
                <a:cs typeface="Verdana" panose="020B0604030504040204" pitchFamily="34" charset="0"/>
              </a:rPr>
            </a:b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multiplication and division to compute products and quotients of positive fractions by positive fractions with</a:t>
            </a:r>
          </a:p>
          <a:p>
            <a:r>
              <a:rPr lang="en-US" sz="3200" dirty="0">
                <a:latin typeface="Verdana" panose="020B0604030504040204" pitchFamily="34" charset="0"/>
                <a:ea typeface="Verdana" panose="020B0604030504040204" pitchFamily="34" charset="0"/>
                <a:cs typeface="Verdana" panose="020B0604030504040204" pitchFamily="34" charset="0"/>
              </a:rPr>
              <a:t>procedural fluency.</a:t>
            </a:r>
          </a:p>
          <a:p>
            <a:br>
              <a:rPr lang="en-US" sz="3600" dirty="0"/>
            </a:br>
            <a:endParaRPr sz="21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599350" y="3596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24000" y="1169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615262" y="1442667"/>
            <a:ext cx="9230537" cy="4205700"/>
          </a:xfrm>
          <a:prstGeom prst="rect">
            <a:avLst/>
          </a:prstGeom>
          <a:noFill/>
          <a:ln>
            <a:noFill/>
          </a:ln>
        </p:spPr>
        <p:txBody>
          <a:bodyPr spcFirstLastPara="1" wrap="square" lIns="91425" tIns="45700" rIns="91425" bIns="45700" anchor="t" anchorCtr="0">
            <a:noAutofit/>
          </a:bodyPr>
          <a:lstStyle/>
          <a:p>
            <a:pPr marL="457200"/>
            <a:endParaRPr sz="3200" dirty="0">
              <a:solidFill>
                <a:schemeClr val="dk1"/>
              </a:solidFill>
              <a:latin typeface="Verdana"/>
              <a:ea typeface="Verdana"/>
              <a:cs typeface="Verdana"/>
              <a:sym typeface="Verdana"/>
            </a:endParaRPr>
          </a:p>
          <a:p>
            <a:r>
              <a:rPr lang="en-US" sz="3200" dirty="0">
                <a:solidFill>
                  <a:schemeClr val="dk1"/>
                </a:solidFill>
                <a:latin typeface="Verdana"/>
                <a:ea typeface="Verdana"/>
                <a:cs typeface="Verdana"/>
                <a:sym typeface="Verdana"/>
              </a:rPr>
              <a:t>MA.K12.MTR.5.1 Use patterns and structure to help understand and connect mathematical concepts.</a:t>
            </a:r>
            <a:endParaRPr sz="3200" dirty="0"/>
          </a:p>
          <a:p>
            <a:endParaRPr sz="1800" dirty="0">
              <a:solidFill>
                <a:schemeClr val="dk1"/>
              </a:solidFill>
              <a:latin typeface="Verdana"/>
              <a:ea typeface="Verdana"/>
              <a:cs typeface="Verdana"/>
              <a:sym typeface="Verdana"/>
            </a:endParaRPr>
          </a:p>
          <a:p>
            <a:endParaRPr sz="1800" dirty="0">
              <a:solidFill>
                <a:schemeClr val="dk1"/>
              </a:solidFill>
              <a:latin typeface="Verdana"/>
              <a:ea typeface="Verdana"/>
              <a:cs typeface="Verdana"/>
              <a:sym typeface="Verdana"/>
            </a:endParaRPr>
          </a:p>
        </p:txBody>
      </p:sp>
      <p:sp>
        <p:nvSpPr>
          <p:cNvPr id="138" name="Google Shape;138;p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297875"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6" name="Google Shape;146;p2"/>
          <p:cNvPicPr preferRelativeResize="0"/>
          <p:nvPr/>
        </p:nvPicPr>
        <p:blipFill rotWithShape="1">
          <a:blip r:embed="rId3">
            <a:alphaModFix/>
          </a:blip>
          <a:srcRect/>
          <a:stretch/>
        </p:blipFill>
        <p:spPr>
          <a:xfrm>
            <a:off x="515713"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409700" y="1600200"/>
            <a:ext cx="880110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fluently multiply positive fractions by positive fractions.</a:t>
            </a:r>
            <a:endParaRPr sz="3500" dirty="0">
              <a:latin typeface="Verdana" panose="020B0604030504040204" pitchFamily="34" charset="0"/>
              <a:ea typeface="Verdana" panose="020B0604030504040204" pitchFamily="34" charset="0"/>
              <a:cs typeface="Verdana" panose="020B0604030504040204" pitchFamily="34" charset="0"/>
            </a:endParaRPr>
          </a:p>
        </p:txBody>
      </p:sp>
      <p:sp>
        <p:nvSpPr>
          <p:cNvPr id="149" name="Google Shape;149;p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11036" y="-82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1.6.1 Warm-Up: Food Science</a:t>
            </a:r>
            <a:endParaRPr dirty="0"/>
          </a:p>
        </p:txBody>
      </p:sp>
      <p:pic>
        <p:nvPicPr>
          <p:cNvPr id="167" name="Google Shape;167;p4"/>
          <p:cNvPicPr preferRelativeResize="0"/>
          <p:nvPr/>
        </p:nvPicPr>
        <p:blipFill rotWithShape="1">
          <a:blip r:embed="rId3">
            <a:alphaModFix/>
          </a:blip>
          <a:srcRect/>
          <a:stretch/>
        </p:blipFill>
        <p:spPr>
          <a:xfrm>
            <a:off x="563736" y="254849"/>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937386" y="1580549"/>
            <a:ext cx="8987436" cy="3385502"/>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Dr. Charlotte Armah is a research scientist at the Institute of Food Research. She leads experiments involving human</a:t>
            </a:r>
          </a:p>
          <a:p>
            <a:r>
              <a:rPr lang="en-US" sz="2000" dirty="0">
                <a:latin typeface="Verdana" panose="020B0604030504040204" pitchFamily="34" charset="0"/>
                <a:ea typeface="Verdana" panose="020B0604030504040204" pitchFamily="34" charset="0"/>
                <a:cs typeface="Verdana" panose="020B0604030504040204" pitchFamily="34" charset="0"/>
              </a:rPr>
              <a:t>volunteers to learn whether or not eating particular foods can protect us from diseases such as cardiovascular disease and cancer. Her work allows her to combine her scientific and math expertise, interest in helping others, and enjoyment of interacting with different people.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1. What is one aspect of Charlotte’s story that was surprising to you? Explain why this stood out to you.</a:t>
            </a:r>
          </a:p>
          <a:p>
            <a:endParaRPr dirty="0"/>
          </a:p>
        </p:txBody>
      </p:sp>
      <p:sp>
        <p:nvSpPr>
          <p:cNvPr id="170" name="Google Shape;170;p4"/>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pic>
        <p:nvPicPr>
          <p:cNvPr id="3" name="Picture 2">
            <a:extLst>
              <a:ext uri="{FF2B5EF4-FFF2-40B4-BE49-F238E27FC236}">
                <a16:creationId xmlns:a16="http://schemas.microsoft.com/office/drawing/2014/main" id="{A98BEE4B-D22D-3F57-981E-F82130E4B244}"/>
              </a:ext>
            </a:extLst>
          </p:cNvPr>
          <p:cNvPicPr>
            <a:picLocks noChangeAspect="1"/>
          </p:cNvPicPr>
          <p:nvPr/>
        </p:nvPicPr>
        <p:blipFill>
          <a:blip r:embed="rId5"/>
          <a:stretch>
            <a:fillRect/>
          </a:stretch>
        </p:blipFill>
        <p:spPr>
          <a:xfrm>
            <a:off x="9962068" y="254849"/>
            <a:ext cx="1837791" cy="18646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4"/>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67" name="Google Shape;367;p24"/>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54B5D1"/>
                </a:solidFill>
                <a:latin typeface="Verdana"/>
                <a:ea typeface="Verdana"/>
                <a:cs typeface="Verdana"/>
                <a:sym typeface="Verdana"/>
              </a:rPr>
              <a:t>Refresher</a:t>
            </a:r>
            <a:endParaRPr sz="5100" b="1">
              <a:solidFill>
                <a:srgbClr val="54B5D1"/>
              </a:solidFill>
              <a:latin typeface="Verdana"/>
              <a:ea typeface="Verdana"/>
              <a:cs typeface="Verdana"/>
              <a:sym typeface="Verdana"/>
            </a:endParaRPr>
          </a:p>
        </p:txBody>
      </p:sp>
      <p:pic>
        <p:nvPicPr>
          <p:cNvPr id="369" name="Google Shape;369;p24" descr="Icon&#10;&#10;Description automatically generated"/>
          <p:cNvPicPr preferRelativeResize="0"/>
          <p:nvPr/>
        </p:nvPicPr>
        <p:blipFill rotWithShape="1">
          <a:blip r:embed="rId3">
            <a:alphaModFix/>
          </a:blip>
          <a:srcRect/>
          <a:stretch/>
        </p:blipFill>
        <p:spPr>
          <a:xfrm>
            <a:off x="4492434" y="279196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45604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6" name="Google Shape;376;p25"/>
          <p:cNvSpPr txBox="1"/>
          <p:nvPr/>
        </p:nvSpPr>
        <p:spPr>
          <a:xfrm>
            <a:off x="1391400" y="37883"/>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1.6.2 Refresher: Multiplying Fractions</a:t>
            </a:r>
            <a:endParaRPr dirty="0"/>
          </a:p>
        </p:txBody>
      </p:sp>
      <p:pic>
        <p:nvPicPr>
          <p:cNvPr id="378" name="Google Shape;378;p2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01771" y="252677"/>
            <a:ext cx="749808" cy="749808"/>
          </a:xfrm>
          <a:prstGeom prst="rect">
            <a:avLst/>
          </a:prstGeom>
          <a:noFill/>
          <a:ln>
            <a:noFill/>
          </a:ln>
          <a:effectLst>
            <a:outerShdw blurRad="50800" dist="38100" dir="2700000" algn="tl" rotWithShape="0">
              <a:srgbClr val="000000">
                <a:alpha val="40000"/>
              </a:srgbClr>
            </a:outerShdw>
          </a:effectLst>
        </p:spPr>
      </p:pic>
      <p:sp>
        <p:nvSpPr>
          <p:cNvPr id="380" name="Google Shape;380;p25"/>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8" name="Group 7">
            <a:extLst>
              <a:ext uri="{FF2B5EF4-FFF2-40B4-BE49-F238E27FC236}">
                <a16:creationId xmlns:a16="http://schemas.microsoft.com/office/drawing/2014/main" id="{355B74F9-1FFD-CA42-BBC6-F6D9A2CA084F}"/>
              </a:ext>
            </a:extLst>
          </p:cNvPr>
          <p:cNvGrpSpPr/>
          <p:nvPr/>
        </p:nvGrpSpPr>
        <p:grpSpPr>
          <a:xfrm>
            <a:off x="2781300" y="2098767"/>
            <a:ext cx="6629400" cy="2965535"/>
            <a:chOff x="2031300" y="2096039"/>
            <a:chExt cx="6629400" cy="2965817"/>
          </a:xfrm>
        </p:grpSpPr>
        <p:grpSp>
          <p:nvGrpSpPr>
            <p:cNvPr id="9" name="Group 8">
              <a:extLst>
                <a:ext uri="{FF2B5EF4-FFF2-40B4-BE49-F238E27FC236}">
                  <a16:creationId xmlns:a16="http://schemas.microsoft.com/office/drawing/2014/main" id="{FF5EEF6A-59C3-E742-8F5D-BD8CB016AA4D}"/>
                </a:ext>
              </a:extLst>
            </p:cNvPr>
            <p:cNvGrpSpPr/>
            <p:nvPr/>
          </p:nvGrpSpPr>
          <p:grpSpPr>
            <a:xfrm>
              <a:off x="2031300" y="2096039"/>
              <a:ext cx="6629400" cy="2965817"/>
              <a:chOff x="0" y="-402114"/>
              <a:chExt cx="6629400" cy="2965962"/>
            </a:xfrm>
          </p:grpSpPr>
          <p:sp>
            <p:nvSpPr>
              <p:cNvPr id="10" name="Rectangle 9">
                <a:extLst>
                  <a:ext uri="{FF2B5EF4-FFF2-40B4-BE49-F238E27FC236}">
                    <a16:creationId xmlns:a16="http://schemas.microsoft.com/office/drawing/2014/main" id="{6A87B2AE-5058-C447-BB9E-AB2B3D5FB252}"/>
                  </a:ext>
                </a:extLst>
              </p:cNvPr>
              <p:cNvSpPr/>
              <p:nvPr/>
            </p:nvSpPr>
            <p:spPr>
              <a:xfrm>
                <a:off x="0" y="-2"/>
                <a:ext cx="6629400" cy="2563850"/>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1" name="Group 10">
                <a:extLst>
                  <a:ext uri="{FF2B5EF4-FFF2-40B4-BE49-F238E27FC236}">
                    <a16:creationId xmlns:a16="http://schemas.microsoft.com/office/drawing/2014/main" id="{91EC0782-560D-3740-9286-F42AB32C7510}"/>
                  </a:ext>
                </a:extLst>
              </p:cNvPr>
              <p:cNvGrpSpPr/>
              <p:nvPr/>
            </p:nvGrpSpPr>
            <p:grpSpPr>
              <a:xfrm>
                <a:off x="0" y="-402114"/>
                <a:ext cx="6629400" cy="2769724"/>
                <a:chOff x="0" y="-402114"/>
                <a:chExt cx="6629400" cy="2769724"/>
              </a:xfrm>
            </p:grpSpPr>
            <p:sp>
              <p:nvSpPr>
                <p:cNvPr id="13" name="Rectangle 12">
                  <a:extLst>
                    <a:ext uri="{FF2B5EF4-FFF2-40B4-BE49-F238E27FC236}">
                      <a16:creationId xmlns:a16="http://schemas.microsoft.com/office/drawing/2014/main" id="{CFCB91C4-D51A-454F-A90E-29C65D62C85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4" name="Rectangle 13">
                  <a:extLst>
                    <a:ext uri="{FF2B5EF4-FFF2-40B4-BE49-F238E27FC236}">
                      <a16:creationId xmlns:a16="http://schemas.microsoft.com/office/drawing/2014/main" id="{723D735E-FFAA-A144-A2BC-242D172BF21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FFB7CAB8-1AE8-2C4B-94CE-C513243F8852}"/>
                        </a:ext>
                      </a:extLst>
                    </p:cNvPr>
                    <p:cNvSpPr/>
                    <p:nvPr/>
                  </p:nvSpPr>
                  <p:spPr>
                    <a:xfrm>
                      <a:off x="0" y="-402114"/>
                      <a:ext cx="6629400" cy="2769724"/>
                    </a:xfrm>
                    <a:prstGeom prst="roundRect">
                      <a:avLst>
                        <a:gd name="adj" fmla="val 16667"/>
                      </a:avLst>
                    </a:prstGeom>
                    <a:solidFill>
                      <a:srgbClr val="B8E6F5"/>
                    </a:solidFill>
                    <a:ln>
                      <a:solidFill>
                        <a:schemeClr val="accent1"/>
                      </a:solidFill>
                    </a:ln>
                    <a:effectLst>
                      <a:outerShdw blurRad="50800" dist="38100" dir="2700000" algn="tl" rotWithShape="0">
                        <a:prstClr val="black">
                          <a:alpha val="44000"/>
                        </a:prstClr>
                      </a:outerShdw>
                    </a:effectLst>
                  </p:spPr>
                  <p:txBody>
                    <a:bodyPr spcFirstLastPara="1" wrap="square" lIns="91425" tIns="45700" rIns="91425" bIns="45700" anchor="ctr" anchorCtr="0">
                      <a:noAutofit/>
                    </a:bodyPr>
                    <a:lstStyle/>
                    <a:p>
                      <a:pPr marL="685800" indent="685800">
                        <a:lnSpc>
                          <a:spcPct val="107000"/>
                        </a:lnSpc>
                        <a:spcAft>
                          <a:spcPts val="800"/>
                        </a:spcAft>
                      </a:pPr>
                      <a:endPar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indent="685800">
                        <a:lnSpc>
                          <a:spcPct val="107000"/>
                        </a:lnSpc>
                        <a:spcAft>
                          <a:spcPts val="800"/>
                        </a:spcAft>
                      </a:pPr>
                      <a:r>
                        <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rPr>
                        <a:t>When </a:t>
                      </a:r>
                      <a:r>
                        <a:rPr lang="en-US" sz="1800" b="1" dirty="0">
                          <a:solidFill>
                            <a:srgbClr val="00619E"/>
                          </a:solidFill>
                          <a:latin typeface="Verdana" panose="020B0604030504040204" pitchFamily="34" charset="0"/>
                          <a:ea typeface="Verdana" panose="020B0604030504040204" pitchFamily="34" charset="0"/>
                          <a:cs typeface="Verdana" panose="020B0604030504040204" pitchFamily="34" charset="0"/>
                        </a:rPr>
                        <a:t>multiplying fractions</a:t>
                      </a:r>
                      <a:r>
                        <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rPr>
                        <a:t>, multiply the numerators of the factors to find the numerator of the product, and multiply the denominators of the factors to find the denominator of the product.</a:t>
                      </a:r>
                    </a:p>
                    <a:p>
                      <a:pPr marL="685800" indent="685800">
                        <a:lnSpc>
                          <a:spcPct val="107000"/>
                        </a:lnSpc>
                        <a:spcAft>
                          <a:spcPts val="800"/>
                        </a:spcAft>
                      </a:pPr>
                      <a14:m>
                        <m:oMathPara xmlns:m="http://schemas.openxmlformats.org/officeDocument/2006/math">
                          <m:oMathParaPr>
                            <m:jc m:val="centerGroup"/>
                          </m:oMathParaPr>
                          <m:oMath xmlns:m="http://schemas.openxmlformats.org/officeDocument/2006/math">
                            <m:f>
                              <m:fPr>
                                <m:ctrlP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ctrlPr>
                              </m:fPr>
                              <m:num>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3</m:t>
                                </m:r>
                              </m:num>
                              <m:den>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4</m:t>
                                </m:r>
                              </m:den>
                            </m:f>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 </m:t>
                            </m:r>
                            <m:r>
                              <a:rPr lang="en-US" sz="1800" i="1">
                                <a:solidFill>
                                  <a:srgbClr val="00619E"/>
                                </a:solidFill>
                                <a:latin typeface="Cambria Math" panose="02040503050406030204" pitchFamily="18" charset="0"/>
                                <a:ea typeface="Cambria Math" panose="02040503050406030204" pitchFamily="18" charset="0"/>
                                <a:cs typeface="Verdana" panose="020B0604030504040204" pitchFamily="34" charset="0"/>
                              </a:rPr>
                              <m:t>×</m:t>
                            </m:r>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 </m:t>
                            </m:r>
                            <m:f>
                              <m:fPr>
                                <m:ctrlP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ctrlPr>
                              </m:fPr>
                              <m:num>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2</m:t>
                                </m:r>
                              </m:num>
                              <m:den>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5</m:t>
                                </m:r>
                              </m:den>
                            </m:f>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 </m:t>
                            </m:r>
                            <m:f>
                              <m:fPr>
                                <m:ctrlP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ctrlPr>
                              </m:fPr>
                              <m:num>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6</m:t>
                                </m:r>
                              </m:num>
                              <m:den>
                                <m:r>
                                  <a:rPr lang="en-US" sz="1800" i="1">
                                    <a:solidFill>
                                      <a:srgbClr val="00619E"/>
                                    </a:solidFill>
                                    <a:latin typeface="Cambria Math" panose="02040503050406030204" pitchFamily="18" charset="0"/>
                                    <a:ea typeface="Verdana" panose="020B0604030504040204" pitchFamily="34" charset="0"/>
                                    <a:cs typeface="Verdana" panose="020B0604030504040204" pitchFamily="34" charset="0"/>
                                  </a:rPr>
                                  <m:t>20</m:t>
                                </m:r>
                              </m:den>
                            </m:f>
                          </m:oMath>
                        </m:oMathPara>
                      </a14:m>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a:p>
                      <a:pPr marL="685800" indent="685800">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a:p>
                      <a:pPr marL="685800" indent="685800">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mc:Choice>
              <mc:Fallback xmlns="">
                <p:sp>
                  <p:nvSpPr>
                    <p:cNvPr id="15" name="Rounded Rectangle 14">
                      <a:extLst>
                        <a:ext uri="{FF2B5EF4-FFF2-40B4-BE49-F238E27FC236}">
                          <a16:creationId xmlns:a16="http://schemas.microsoft.com/office/drawing/2014/main" id="{FFB7CAB8-1AE8-2C4B-94CE-C513243F8852}"/>
                        </a:ext>
                      </a:extLst>
                    </p:cNvPr>
                    <p:cNvSpPr>
                      <a:spLocks noRot="1" noChangeAspect="1" noMove="1" noResize="1" noEditPoints="1" noAdjustHandles="1" noChangeArrowheads="1" noChangeShapeType="1" noTextEdit="1"/>
                    </p:cNvSpPr>
                    <p:nvPr/>
                  </p:nvSpPr>
                  <p:spPr>
                    <a:xfrm>
                      <a:off x="0" y="-402114"/>
                      <a:ext cx="6629400" cy="2769724"/>
                    </a:xfrm>
                    <a:prstGeom prst="roundRect">
                      <a:avLst>
                        <a:gd name="adj" fmla="val 16667"/>
                      </a:avLst>
                    </a:prstGeom>
                    <a:blipFill>
                      <a:blip r:embed="rId4"/>
                      <a:stretch>
                        <a:fillRect/>
                      </a:stretch>
                    </a:blipFill>
                    <a:ln>
                      <a:solidFill>
                        <a:schemeClr val="accent1"/>
                      </a:solidFill>
                    </a:ln>
                    <a:effectLst>
                      <a:outerShdw blurRad="50800" dist="38100" dir="2700000" algn="tl" rotWithShape="0">
                        <a:prstClr val="black">
                          <a:alpha val="44000"/>
                        </a:prstClr>
                      </a:outerShdw>
                    </a:effectLst>
                  </p:spPr>
                  <p:txBody>
                    <a:bodyPr/>
                    <a:lstStyle/>
                    <a:p>
                      <a:r>
                        <a:rPr lang="en-US">
                          <a:noFill/>
                        </a:rPr>
                        <a:t> </a:t>
                      </a:r>
                    </a:p>
                  </p:txBody>
                </p:sp>
              </mc:Fallback>
            </mc:AlternateContent>
          </p:grpSp>
          <p:pic>
            <p:nvPicPr>
              <p:cNvPr id="12" name="Shape 8" descr="Icon&#10;&#10;Description automatically generated">
                <a:extLst>
                  <a:ext uri="{FF2B5EF4-FFF2-40B4-BE49-F238E27FC236}">
                    <a16:creationId xmlns:a16="http://schemas.microsoft.com/office/drawing/2014/main" id="{21F9DB6B-9478-CD40-A2EF-855415A7AB0E}"/>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54999" y="516500"/>
                <a:ext cx="539750" cy="539750"/>
              </a:xfrm>
              <a:prstGeom prst="rect">
                <a:avLst/>
              </a:prstGeom>
              <a:noFill/>
              <a:ln>
                <a:noFill/>
              </a:ln>
              <a:effectLst>
                <a:outerShdw blurRad="50800" dist="38100" dir="2700000" algn="tl" rotWithShape="0">
                  <a:prstClr val="black">
                    <a:alpha val="40000"/>
                  </a:prstClr>
                </a:outerShdw>
              </a:effectLst>
            </p:spPr>
          </p:pic>
        </p:grpSp>
      </p:grpSp>
      <p:sp>
        <p:nvSpPr>
          <p:cNvPr id="17"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31</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62320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8" name="Google Shape;388;p26"/>
              <p:cNvSpPr txBox="1"/>
              <p:nvPr/>
            </p:nvSpPr>
            <p:spPr>
              <a:xfrm>
                <a:off x="1079500" y="422858"/>
                <a:ext cx="10033000" cy="1478121"/>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1. With your partner, determine who will be partner A and who will be partner B.</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r>
                  <a:rPr lang="en-US" sz="2000" dirty="0">
                    <a:latin typeface="Verdana" panose="020B0604030504040204" pitchFamily="34" charset="0"/>
                    <a:ea typeface="Verdana" panose="020B0604030504040204" pitchFamily="34" charset="0"/>
                    <a:cs typeface="Verdana" panose="020B0604030504040204" pitchFamily="34" charset="0"/>
                  </a:rPr>
                  <a:t>a. Find the product </a:t>
                </a:r>
                <a14:m>
                  <m:oMath xmlns:m="http://schemas.openxmlformats.org/officeDocument/2006/math">
                    <m:r>
                      <a:rPr lang="en-US" sz="2000">
                        <a:latin typeface="Cambria Math" panose="02040503050406030204" pitchFamily="18" charset="0"/>
                        <a:ea typeface="Verdana" panose="020B0604030504040204" pitchFamily="34" charset="0"/>
                        <a:cs typeface="Verdana" panose="020B0604030504040204" pitchFamily="34" charset="0"/>
                      </a:rPr>
                      <m:t>1</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2</m:t>
                        </m:r>
                      </m:num>
                      <m:den>
                        <m:r>
                          <a:rPr lang="en-US" sz="2000" i="1">
                            <a:latin typeface="Cambria Math" panose="02040503050406030204" pitchFamily="18" charset="0"/>
                            <a:ea typeface="Verdana" panose="020B0604030504040204" pitchFamily="34" charset="0"/>
                            <a:cs typeface="Verdana" panose="020B0604030504040204" pitchFamily="34" charset="0"/>
                          </a:rPr>
                          <m:t>3</m:t>
                        </m:r>
                      </m:den>
                    </m:f>
                    <m:r>
                      <a:rPr lang="en-US" sz="2000" i="1">
                        <a:latin typeface="Cambria Math" panose="02040503050406030204" pitchFamily="18" charset="0"/>
                        <a:ea typeface="Verdana" panose="020B0604030504040204" pitchFamily="34" charset="0"/>
                        <a:cs typeface="Verdana" panose="020B0604030504040204" pitchFamily="34" charset="0"/>
                      </a:rPr>
                      <m:t> </m:t>
                    </m:r>
                    <m:r>
                      <a:rPr lang="en-US" sz="2000" i="1">
                        <a:latin typeface="Cambria Math" panose="02040503050406030204" pitchFamily="18" charset="0"/>
                        <a:ea typeface="Cambria Math" panose="02040503050406030204" pitchFamily="18" charset="0"/>
                        <a:cs typeface="Verdana" panose="020B0604030504040204" pitchFamily="34" charset="0"/>
                      </a:rPr>
                      <m:t>× 3</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i="1">
                            <a:latin typeface="Cambria Math" panose="02040503050406030204" pitchFamily="18" charset="0"/>
                            <a:ea typeface="Cambria Math" panose="02040503050406030204" pitchFamily="18" charset="0"/>
                            <a:cs typeface="Verdana" panose="020B0604030504040204" pitchFamily="34" charset="0"/>
                          </a:rPr>
                          <m:t>8</m:t>
                        </m:r>
                      </m:num>
                      <m:den>
                        <m:r>
                          <a:rPr lang="en-US" sz="2000" i="1">
                            <a:latin typeface="Cambria Math" panose="02040503050406030204" pitchFamily="18" charset="0"/>
                            <a:ea typeface="Cambria Math" panose="02040503050406030204" pitchFamily="18" charset="0"/>
                            <a:cs typeface="Verdana" panose="020B0604030504040204" pitchFamily="34" charset="0"/>
                          </a:rPr>
                          <m:t>9</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 using the method indicated.</a:t>
                </a:r>
              </a:p>
            </p:txBody>
          </p:sp>
        </mc:Choice>
        <mc:Fallback xmlns="">
          <p:sp>
            <p:nvSpPr>
              <p:cNvPr id="388" name="Google Shape;388;p26"/>
              <p:cNvSpPr txBox="1">
                <a:spLocks noRot="1" noChangeAspect="1" noMove="1" noResize="1" noEditPoints="1" noAdjustHandles="1" noChangeArrowheads="1" noChangeShapeType="1" noTextEdit="1"/>
              </p:cNvSpPr>
              <p:nvPr/>
            </p:nvSpPr>
            <p:spPr>
              <a:xfrm>
                <a:off x="1079500" y="422858"/>
                <a:ext cx="10033000" cy="1478121"/>
              </a:xfrm>
              <a:prstGeom prst="rect">
                <a:avLst/>
              </a:prstGeom>
              <a:blipFill rotWithShape="0">
                <a:blip r:embed="rId3"/>
                <a:stretch>
                  <a:fillRect l="-608" t="-2058" b="-27160"/>
                </a:stretch>
              </a:blipFill>
              <a:ln>
                <a:noFill/>
              </a:ln>
            </p:spPr>
            <p:txBody>
              <a:bodyPr/>
              <a:lstStyle/>
              <a:p>
                <a:r>
                  <a:rPr lang="en-US">
                    <a:noFill/>
                  </a:rPr>
                  <a:t> </a:t>
                </a:r>
              </a:p>
            </p:txBody>
          </p:sp>
        </mc:Fallback>
      </mc:AlternateContent>
      <p:sp>
        <p:nvSpPr>
          <p:cNvPr id="389" name="Google Shape;389;p26"/>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picture containing diagram&#10;&#10;Description automatically generated">
            <a:extLst>
              <a:ext uri="{FF2B5EF4-FFF2-40B4-BE49-F238E27FC236}">
                <a16:creationId xmlns:a16="http://schemas.microsoft.com/office/drawing/2014/main" id="{398C0FAC-6457-0B45-87AC-9F0B1BAF90D6}"/>
              </a:ext>
            </a:extLst>
          </p:cNvPr>
          <p:cNvPicPr>
            <a:picLocks noChangeAspect="1"/>
          </p:cNvPicPr>
          <p:nvPr/>
        </p:nvPicPr>
        <p:blipFill>
          <a:blip r:embed="rId4"/>
          <a:stretch>
            <a:fillRect/>
          </a:stretch>
        </p:blipFill>
        <p:spPr>
          <a:xfrm>
            <a:off x="2506188" y="1887496"/>
            <a:ext cx="6731000" cy="4254500"/>
          </a:xfrm>
          <a:prstGeom prst="rect">
            <a:avLst/>
          </a:prstGeom>
        </p:spPr>
      </p:pic>
      <p:sp>
        <p:nvSpPr>
          <p:cNvPr id="7"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05477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092200" y="506460"/>
            <a:ext cx="10158266" cy="1323399"/>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b. Compare your work with your partner to verify that you both found the same product. Discuss any errors and make corrections as needed. Once you are in agreement, write your partner’s work in your workbook in the space provided.</a:t>
            </a:r>
          </a:p>
        </p:txBody>
      </p:sp>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94657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354986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199050" y="-82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1.6.3 Guided Instruction: Multiplying Fractions</a:t>
            </a:r>
            <a:endParaRPr dirty="0"/>
          </a:p>
        </p:txBody>
      </p:sp>
      <p:pic>
        <p:nvPicPr>
          <p:cNvPr id="317" name="Google Shape;317;p19"/>
          <p:cNvPicPr preferRelativeResize="0"/>
          <p:nvPr/>
        </p:nvPicPr>
        <p:blipFill rotWithShape="1">
          <a:blip r:embed="rId3">
            <a:alphaModFix/>
          </a:blip>
          <a:srcRect/>
          <a:stretch/>
        </p:blipFill>
        <p:spPr>
          <a:xfrm>
            <a:off x="451750" y="19903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19" name="Google Shape;319;p19"/>
              <p:cNvSpPr txBox="1"/>
              <p:nvPr/>
            </p:nvSpPr>
            <p:spPr>
              <a:xfrm>
                <a:off x="1199050" y="1239721"/>
                <a:ext cx="9060518" cy="2093674"/>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Recall from Lesson 1 that fractions can be rewritten in simplest form using the GCF of the numerator and denominator.</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Find each product using the steps indicated.</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1.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5</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r>
                      <a:rPr lang="en-US" sz="2000" i="1">
                        <a:latin typeface="Cambria Math" panose="02040503050406030204" pitchFamily="18" charset="0"/>
                        <a:ea typeface="Verdana" panose="020B0604030504040204" pitchFamily="34" charset="0"/>
                        <a:cs typeface="Verdana" panose="020B0604030504040204" pitchFamily="34" charset="0"/>
                      </a:rPr>
                      <m:t> </m:t>
                    </m:r>
                    <m:r>
                      <a:rPr lang="en-US" sz="2000" i="1">
                        <a:latin typeface="Cambria Math" panose="02040503050406030204" pitchFamily="18" charset="0"/>
                        <a:ea typeface="Cambria Math" panose="02040503050406030204" pitchFamily="18" charset="0"/>
                        <a:cs typeface="Verdana" panose="020B0604030504040204" pitchFamily="34" charset="0"/>
                      </a:rPr>
                      <m:t>× 4</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i="1">
                            <a:latin typeface="Cambria Math" panose="02040503050406030204" pitchFamily="18" charset="0"/>
                            <a:ea typeface="Cambria Math" panose="02040503050406030204" pitchFamily="18" charset="0"/>
                            <a:cs typeface="Verdana" panose="020B0604030504040204" pitchFamily="34" charset="0"/>
                          </a:rPr>
                          <m:t>2</m:t>
                        </m:r>
                      </m:num>
                      <m:den>
                        <m:r>
                          <a:rPr lang="en-US" sz="2000" i="1">
                            <a:latin typeface="Cambria Math" panose="02040503050406030204" pitchFamily="18" charset="0"/>
                            <a:ea typeface="Cambria Math" panose="02040503050406030204" pitchFamily="18" charset="0"/>
                            <a:cs typeface="Verdana" panose="020B0604030504040204" pitchFamily="34" charset="0"/>
                          </a:rPr>
                          <m:t>3</m:t>
                        </m:r>
                      </m:den>
                    </m:f>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19" name="Google Shape;319;p19"/>
              <p:cNvSpPr txBox="1">
                <a:spLocks noRot="1" noChangeAspect="1" noMove="1" noResize="1" noEditPoints="1" noAdjustHandles="1" noChangeArrowheads="1" noChangeShapeType="1" noTextEdit="1"/>
              </p:cNvSpPr>
              <p:nvPr/>
            </p:nvSpPr>
            <p:spPr>
              <a:xfrm>
                <a:off x="1199050" y="1239721"/>
                <a:ext cx="9060518" cy="2093674"/>
              </a:xfrm>
              <a:prstGeom prst="rect">
                <a:avLst/>
              </a:prstGeom>
              <a:blipFill rotWithShape="0">
                <a:blip r:embed="rId4"/>
                <a:stretch>
                  <a:fillRect l="-740" t="-1453" r="-471"/>
                </a:stretch>
              </a:blipFill>
              <a:ln>
                <a:noFill/>
              </a:ln>
            </p:spPr>
            <p:txBody>
              <a:bodyPr/>
              <a:lstStyle/>
              <a:p>
                <a:r>
                  <a:rPr lang="en-US">
                    <a:noFill/>
                  </a:rPr>
                  <a:t> </a:t>
                </a:r>
              </a:p>
            </p:txBody>
          </p:sp>
        </mc:Fallback>
      </mc:AlternateContent>
      <p:sp>
        <p:nvSpPr>
          <p:cNvPr id="320" name="Google Shape;320;p19"/>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0830CC8E-3200-BD41-9ABD-D09FF068C5FF}"/>
              </a:ext>
            </a:extLst>
          </p:cNvPr>
          <p:cNvPicPr>
            <a:picLocks noChangeAspect="1"/>
          </p:cNvPicPr>
          <p:nvPr/>
        </p:nvPicPr>
        <p:blipFill>
          <a:blip r:embed="rId5"/>
          <a:stretch>
            <a:fillRect/>
          </a:stretch>
        </p:blipFill>
        <p:spPr>
          <a:xfrm>
            <a:off x="2781300" y="3302029"/>
            <a:ext cx="6629400" cy="3124200"/>
          </a:xfrm>
          <a:prstGeom prst="rect">
            <a:avLst/>
          </a:prstGeom>
        </p:spPr>
      </p:pic>
      <p:sp>
        <p:nvSpPr>
          <p:cNvPr id="9"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7532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083564" y="459652"/>
                <a:ext cx="8327136" cy="616923"/>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2. 			           </a:t>
                </a:r>
                <a14:m>
                  <m:oMath xmlns:m="http://schemas.openxmlformats.org/officeDocument/2006/math">
                    <m:r>
                      <a:rPr lang="en-US" sz="2400">
                        <a:latin typeface="Cambria Math" panose="02040503050406030204" pitchFamily="18" charset="0"/>
                        <a:ea typeface="Verdana"/>
                        <a:cs typeface="Verdana"/>
                        <a:sym typeface="Verdana"/>
                      </a:rPr>
                      <m:t>3</m:t>
                    </m:r>
                    <m:f>
                      <m:fPr>
                        <m:ctrlPr>
                          <a:rPr lang="en-US" sz="2400" i="1">
                            <a:latin typeface="Cambria Math" panose="02040503050406030204" pitchFamily="18" charset="0"/>
                            <a:ea typeface="Verdana"/>
                            <a:cs typeface="Verdana"/>
                            <a:sym typeface="Verdana"/>
                          </a:rPr>
                        </m:ctrlPr>
                      </m:fPr>
                      <m:num>
                        <m:r>
                          <a:rPr lang="en-US" sz="2400" i="1">
                            <a:latin typeface="Cambria Math" panose="02040503050406030204" pitchFamily="18" charset="0"/>
                            <a:ea typeface="Verdana"/>
                            <a:cs typeface="Verdana"/>
                            <a:sym typeface="Verdana"/>
                          </a:rPr>
                          <m:t>3</m:t>
                        </m:r>
                      </m:num>
                      <m:den>
                        <m:r>
                          <a:rPr lang="en-US" sz="2400" i="1">
                            <a:latin typeface="Cambria Math" panose="02040503050406030204" pitchFamily="18" charset="0"/>
                            <a:ea typeface="Verdana"/>
                            <a:cs typeface="Verdana"/>
                            <a:sym typeface="Verdana"/>
                          </a:rPr>
                          <m:t>5</m:t>
                        </m:r>
                      </m:den>
                    </m:f>
                    <m:r>
                      <a:rPr lang="en-US" sz="2400" i="1">
                        <a:latin typeface="Cambria Math" panose="02040503050406030204" pitchFamily="18" charset="0"/>
                        <a:ea typeface="Verdana"/>
                        <a:cs typeface="Verdana"/>
                        <a:sym typeface="Verdana"/>
                      </a:rPr>
                      <m:t> </m:t>
                    </m:r>
                    <m:r>
                      <a:rPr lang="en-US" sz="2400" i="1">
                        <a:latin typeface="Cambria Math" panose="02040503050406030204" pitchFamily="18" charset="0"/>
                        <a:ea typeface="Cambria Math" panose="02040503050406030204" pitchFamily="18" charset="0"/>
                        <a:cs typeface="Verdana"/>
                        <a:sym typeface="Verdana"/>
                      </a:rPr>
                      <m:t>∙2</m:t>
                    </m:r>
                    <m:f>
                      <m:fPr>
                        <m:ctrlPr>
                          <a:rPr lang="en-US" sz="2400" i="1">
                            <a:latin typeface="Cambria Math" panose="02040503050406030204" pitchFamily="18" charset="0"/>
                            <a:ea typeface="Cambria Math" panose="02040503050406030204" pitchFamily="18" charset="0"/>
                            <a:cs typeface="Verdana"/>
                            <a:sym typeface="Verdana"/>
                          </a:rPr>
                        </m:ctrlPr>
                      </m:fPr>
                      <m:num>
                        <m:r>
                          <a:rPr lang="en-US" sz="2400" i="1">
                            <a:latin typeface="Cambria Math" panose="02040503050406030204" pitchFamily="18" charset="0"/>
                            <a:ea typeface="Cambria Math" panose="02040503050406030204" pitchFamily="18" charset="0"/>
                            <a:cs typeface="Verdana"/>
                            <a:sym typeface="Verdana"/>
                          </a:rPr>
                          <m:t>1</m:t>
                        </m:r>
                      </m:num>
                      <m:den>
                        <m:r>
                          <a:rPr lang="en-US" sz="2400" i="1">
                            <a:latin typeface="Cambria Math" panose="02040503050406030204" pitchFamily="18" charset="0"/>
                            <a:ea typeface="Cambria Math" panose="02040503050406030204" pitchFamily="18" charset="0"/>
                            <a:cs typeface="Verdana"/>
                            <a:sym typeface="Verdana"/>
                          </a:rPr>
                          <m:t>6</m:t>
                        </m:r>
                      </m:den>
                    </m:f>
                  </m:oMath>
                </a14:m>
                <a:endParaRPr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083564" y="459652"/>
                <a:ext cx="8327136" cy="616923"/>
              </a:xfrm>
              <a:prstGeom prst="rect">
                <a:avLst/>
              </a:prstGeom>
              <a:blipFill rotWithShape="0">
                <a:blip r:embed="rId3"/>
                <a:stretch>
                  <a:fillRect l="-1171" b="-5882"/>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44F5FF6B-9F63-AC4B-B1B3-EDAFA93175C8}"/>
              </a:ext>
            </a:extLst>
          </p:cNvPr>
          <p:cNvPicPr>
            <a:picLocks noChangeAspect="1"/>
          </p:cNvPicPr>
          <p:nvPr/>
        </p:nvPicPr>
        <p:blipFill>
          <a:blip r:embed="rId4"/>
          <a:stretch>
            <a:fillRect/>
          </a:stretch>
        </p:blipFill>
        <p:spPr>
          <a:xfrm>
            <a:off x="2781300" y="1506945"/>
            <a:ext cx="6629400" cy="2921000"/>
          </a:xfrm>
          <a:prstGeom prst="rect">
            <a:avLst/>
          </a:prstGeom>
        </p:spPr>
      </p:pic>
      <p:sp>
        <p:nvSpPr>
          <p:cNvPr id="7"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49235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5"/>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77" name="Google Shape;277;p15"/>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279" name="Google Shape;279;p15"/>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674959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6" name="Google Shape;286;p16"/>
          <p:cNvSpPr txBox="1"/>
          <p:nvPr/>
        </p:nvSpPr>
        <p:spPr>
          <a:xfrm>
            <a:off x="1313350"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1.6.4 Try It: Multiplying Fractions</a:t>
            </a:r>
            <a:endParaRPr dirty="0"/>
          </a:p>
        </p:txBody>
      </p:sp>
      <p:pic>
        <p:nvPicPr>
          <p:cNvPr id="288" name="Google Shape;288;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3542" y="297656"/>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89" name="Google Shape;289;p16"/>
              <p:cNvSpPr txBox="1"/>
              <p:nvPr/>
            </p:nvSpPr>
            <p:spPr>
              <a:xfrm>
                <a:off x="1313350" y="1386025"/>
                <a:ext cx="9074234" cy="5133288"/>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each product. Rewrite each product in simplest form. Show your work.</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Cambria Math" panose="02040503050406030204" pitchFamily="18" charset="0"/>
                    <a:ea typeface="Cambria Math" panose="02040503050406030204" pitchFamily="18" charset="0"/>
                    <a:cs typeface="Verdana" panose="020B0604030504040204" pitchFamily="34" charset="0"/>
                  </a:rPr>
                  <a:t> (1</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8</m:t>
                        </m:r>
                      </m:den>
                    </m:f>
                  </m:oMath>
                </a14:m>
                <a:r>
                  <a:rPr lang="en-US" sz="2000" dirty="0">
                    <a:latin typeface="Cambria Math" panose="02040503050406030204" pitchFamily="18" charset="0"/>
                    <a:ea typeface="Cambria Math" panose="02040503050406030204" pitchFamily="18" charset="0"/>
                    <a:cs typeface="Verdana" panose="020B0604030504040204" pitchFamily="34" charset="0"/>
                  </a:rPr>
                  <a:t> )(5</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5</m:t>
                        </m:r>
                      </m:num>
                      <m:den>
                        <m:r>
                          <a:rPr lang="en-US" sz="2000" i="1">
                            <a:latin typeface="Cambria Math" panose="02040503050406030204" pitchFamily="18" charset="0"/>
                            <a:ea typeface="Cambria Math" panose="02040503050406030204" pitchFamily="18" charset="0"/>
                          </a:rPr>
                          <m:t>7</m:t>
                        </m:r>
                      </m:den>
                    </m:f>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p>
              <a:p>
                <a:pPr marL="917575" indent="-452438">
                  <a:buAutoNum type="alphaLcPeriod"/>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r>
                  <a:rPr lang="en-US" sz="2000" dirty="0">
                    <a:latin typeface="Cambria Math" panose="02040503050406030204" pitchFamily="18" charset="0"/>
                    <a:ea typeface="Cambria Math" panose="02040503050406030204" pitchFamily="18" charset="0"/>
                    <a:cs typeface="Verdana" panose="020B0604030504040204" pitchFamily="34" charset="0"/>
                  </a:rPr>
                  <a:t> 4</a:t>
                </a:r>
                <a:r>
                  <a:rPr lang="en-US" sz="2000" dirty="0">
                    <a:latin typeface="Cambria Math" panose="02040503050406030204" pitchFamily="18" charset="0"/>
                    <a:ea typeface="Cambria Math" panose="02040503050406030204" pitchFamily="18"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4</m:t>
                        </m:r>
                      </m:num>
                      <m:den>
                        <m:r>
                          <a:rPr lang="en-US" sz="2000" i="1">
                            <a:latin typeface="Cambria Math" panose="02040503050406030204" pitchFamily="18" charset="0"/>
                            <a:ea typeface="Cambria Math" panose="02040503050406030204" pitchFamily="18" charset="0"/>
                          </a:rPr>
                          <m:t>5</m:t>
                        </m:r>
                      </m:den>
                    </m:f>
                  </m:oMath>
                </a14:m>
                <a:r>
                  <a:rPr lang="en-US" sz="2000" dirty="0">
                    <a:latin typeface="Cambria Math" panose="02040503050406030204" pitchFamily="18" charset="0"/>
                    <a:ea typeface="Cambria Math" panose="02040503050406030204" pitchFamily="18" charset="0"/>
                    <a:cs typeface="Verdana" panose="020B0604030504040204" pitchFamily="34" charset="0"/>
                  </a:rPr>
                  <a:t> x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10</m:t>
                        </m:r>
                      </m:num>
                      <m:den>
                        <m:r>
                          <a:rPr lang="en-US" sz="2000" i="1">
                            <a:latin typeface="Cambria Math" panose="02040503050406030204" pitchFamily="18" charset="0"/>
                            <a:ea typeface="Cambria Math" panose="02040503050406030204" pitchFamily="18" charset="0"/>
                          </a:rPr>
                          <m:t>13</m:t>
                        </m:r>
                      </m:den>
                    </m:f>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r>
                  <a:rPr lang="en-US" sz="2000" dirty="0">
                    <a:latin typeface="Cambria Math" panose="02040503050406030204" pitchFamily="18" charset="0"/>
                    <a:ea typeface="Cambria Math" panose="02040503050406030204" pitchFamily="18"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4</m:t>
                        </m:r>
                      </m:num>
                      <m:den>
                        <m:r>
                          <a:rPr lang="en-US" sz="2000" i="1">
                            <a:latin typeface="Cambria Math" panose="02040503050406030204" pitchFamily="18" charset="0"/>
                            <a:ea typeface="Cambria Math" panose="02040503050406030204" pitchFamily="18" charset="0"/>
                          </a:rPr>
                          <m:t>11</m:t>
                        </m:r>
                      </m:den>
                    </m:f>
                    <m:r>
                      <a:rPr lang="en-US" sz="2000" i="1">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2</m:t>
                        </m:r>
                      </m:den>
                    </m:f>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7575" indent="-452438">
                  <a:buAutoNum type="alphaLcPeriod"/>
                </a:pPr>
                <a:r>
                  <a:rPr lang="en-US" sz="2000" dirty="0">
                    <a:latin typeface="Cambria Math" panose="02040503050406030204" pitchFamily="18" charset="0"/>
                    <a:ea typeface="Cambria Math" panose="02040503050406030204" pitchFamily="18" charset="0"/>
                    <a:cs typeface="Verdana" panose="020B0604030504040204" pitchFamily="34" charset="0"/>
                  </a:rPr>
                  <a:t> 2</a:t>
                </a:r>
                <a:r>
                  <a:rPr lang="en-US" sz="2000" dirty="0">
                    <a:latin typeface="Cambria Math" panose="02040503050406030204" pitchFamily="18" charset="0"/>
                    <a:ea typeface="Cambria Math" panose="02040503050406030204" pitchFamily="18"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dirty="0">
                    <a:latin typeface="Cambria Math" panose="02040503050406030204" pitchFamily="18" charset="0"/>
                    <a:ea typeface="Cambria Math" panose="02040503050406030204" pitchFamily="18" charset="0"/>
                    <a:cs typeface="Verdana" panose="020B0604030504040204" pitchFamily="34" charset="0"/>
                  </a:rPr>
                  <a:t> x 4</a:t>
                </a:r>
                <a:r>
                  <a:rPr lang="en-US" sz="2000" dirty="0">
                    <a:latin typeface="Cambria Math" panose="02040503050406030204" pitchFamily="18" charset="0"/>
                    <a:ea typeface="Cambria Math" panose="02040503050406030204" pitchFamily="18"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4</m:t>
                        </m:r>
                      </m:num>
                      <m:den>
                        <m:r>
                          <a:rPr lang="en-US" sz="2000" i="1">
                            <a:latin typeface="Cambria Math" panose="02040503050406030204" pitchFamily="18" charset="0"/>
                            <a:ea typeface="Cambria Math" panose="02040503050406030204" pitchFamily="18" charset="0"/>
                          </a:rPr>
                          <m:t>5</m:t>
                        </m:r>
                      </m:den>
                    </m:f>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57200"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dirty="0"/>
              </a:p>
            </p:txBody>
          </p:sp>
        </mc:Choice>
        <mc:Fallback xmlns="">
          <p:sp>
            <p:nvSpPr>
              <p:cNvPr id="289" name="Google Shape;289;p16"/>
              <p:cNvSpPr txBox="1">
                <a:spLocks noRot="1" noChangeAspect="1" noMove="1" noResize="1" noEditPoints="1" noAdjustHandles="1" noChangeArrowheads="1" noChangeShapeType="1" noTextEdit="1"/>
              </p:cNvSpPr>
              <p:nvPr/>
            </p:nvSpPr>
            <p:spPr>
              <a:xfrm>
                <a:off x="1313350" y="1386025"/>
                <a:ext cx="9074234" cy="5133288"/>
              </a:xfrm>
              <a:prstGeom prst="rect">
                <a:avLst/>
              </a:prstGeom>
              <a:blipFill rotWithShape="0">
                <a:blip r:embed="rId4"/>
                <a:stretch>
                  <a:fillRect l="-739" t="-713"/>
                </a:stretch>
              </a:blipFill>
              <a:ln>
                <a:noFill/>
              </a:ln>
            </p:spPr>
            <p:txBody>
              <a:bodyPr/>
              <a:lstStyle/>
              <a:p>
                <a:r>
                  <a:rPr lang="en-US">
                    <a:noFill/>
                  </a:rPr>
                  <a:t> </a:t>
                </a:r>
              </a:p>
            </p:txBody>
          </p:sp>
        </mc:Fallback>
      </mc:AlternateContent>
      <p:sp>
        <p:nvSpPr>
          <p:cNvPr id="290" name="Google Shape;290;p16"/>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6122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8" name="Google Shape;298;p17"/>
          <p:cNvSpPr txBox="1"/>
          <p:nvPr/>
        </p:nvSpPr>
        <p:spPr>
          <a:xfrm>
            <a:off x="635000" y="349705"/>
            <a:ext cx="10800024" cy="4093388"/>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2. Complete the statement to describe which product was the most challenging for you to find.</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r>
              <a:rPr lang="en-US" sz="2000" dirty="0">
                <a:latin typeface="Verdana" panose="020B0604030504040204" pitchFamily="34" charset="0"/>
                <a:ea typeface="Verdana" panose="020B0604030504040204" pitchFamily="34" charset="0"/>
                <a:cs typeface="Verdana" panose="020B0604030504040204" pitchFamily="34" charset="0"/>
              </a:rPr>
              <a:t>The product of _________ was most challenging for me</a:t>
            </a: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r>
              <a:rPr lang="en-US" sz="2000" dirty="0">
                <a:latin typeface="Verdana" panose="020B0604030504040204" pitchFamily="34" charset="0"/>
                <a:ea typeface="Verdana" panose="020B0604030504040204" pitchFamily="34" charset="0"/>
                <a:cs typeface="Verdana" panose="020B0604030504040204" pitchFamily="34" charset="0"/>
              </a:rPr>
              <a:t>to find because ________________________________</a:t>
            </a: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r>
              <a:rPr lang="en-US" sz="2000" dirty="0">
                <a:latin typeface="Verdana" panose="020B0604030504040204" pitchFamily="34" charset="0"/>
                <a:ea typeface="Verdana" panose="020B0604030504040204" pitchFamily="34" charset="0"/>
                <a:cs typeface="Verdana" panose="020B0604030504040204" pitchFamily="34" charset="0"/>
              </a:rPr>
              <a:t>____________________________________________.</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3. What is a strategy that could help you on a similar problem in the future?</a:t>
            </a:r>
          </a:p>
        </p:txBody>
      </p:sp>
      <p:sp>
        <p:nvSpPr>
          <p:cNvPr id="299" name="Google Shape;299;p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463581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326050" y="266433"/>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1.6.5 Your Turn!</a:t>
            </a:r>
            <a:endParaRPr dirty="0"/>
          </a:p>
        </p:txBody>
      </p:sp>
      <p:pic>
        <p:nvPicPr>
          <p:cNvPr id="437" name="Google Shape;437;p31"/>
          <p:cNvPicPr preferRelativeResize="0"/>
          <p:nvPr/>
        </p:nvPicPr>
        <p:blipFill rotWithShape="1">
          <a:blip r:embed="rId3">
            <a:alphaModFix/>
          </a:blip>
          <a:srcRect/>
          <a:stretch/>
        </p:blipFill>
        <p:spPr>
          <a:xfrm>
            <a:off x="578750" y="266433"/>
            <a:ext cx="747300" cy="747300"/>
          </a:xfrm>
          <a:prstGeom prst="rect">
            <a:avLst/>
          </a:prstGeom>
          <a:noFill/>
          <a:ln>
            <a:noFill/>
          </a:ln>
        </p:spPr>
      </p:pic>
      <mc:AlternateContent xmlns:mc="http://schemas.openxmlformats.org/markup-compatibility/2006">
        <mc:Choice xmlns:a14="http://schemas.microsoft.com/office/drawing/2010/main" Requires="a14">
          <p:sp>
            <p:nvSpPr>
              <p:cNvPr id="439" name="Google Shape;439;p31"/>
              <p:cNvSpPr txBox="1"/>
              <p:nvPr/>
            </p:nvSpPr>
            <p:spPr>
              <a:xfrm>
                <a:off x="1326049" y="1281523"/>
                <a:ext cx="9728393" cy="3893270"/>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each product. Simplify when possible.</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Cambria Math" panose="02040503050406030204" pitchFamily="18" charset="0"/>
                    <a:ea typeface="Cambria Math" panose="02040503050406030204" pitchFamily="18" charset="0"/>
                    <a:cs typeface="Verdana" panose="020B0604030504040204" pitchFamily="34" charset="0"/>
                  </a:rPr>
                  <a:t>		              b.    </a:t>
                </a:r>
                <a14:m>
                  <m:oMath xmlns:m="http://schemas.openxmlformats.org/officeDocument/2006/math">
                    <m:r>
                      <a:rPr lang="en-US" sz="2000">
                        <a:latin typeface="Cambria Math" panose="02040503050406030204" pitchFamily="18" charset="0"/>
                        <a:ea typeface="Cambria Math" panose="02040503050406030204" pitchFamily="18" charset="0"/>
                        <a:cs typeface="Verdana" panose="020B0604030504040204" pitchFamily="34" charset="0"/>
                      </a:rPr>
                      <m:t> 2</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1</m:t>
                        </m:r>
                      </m:num>
                      <m:den>
                        <m:r>
                          <a:rPr lang="en-US" sz="2000">
                            <a:latin typeface="Cambria Math" panose="02040503050406030204" pitchFamily="18" charset="0"/>
                            <a:ea typeface="Cambria Math" panose="02040503050406030204" pitchFamily="18" charset="0"/>
                            <a:cs typeface="Verdana" panose="020B0604030504040204" pitchFamily="34" charset="0"/>
                          </a:rPr>
                          <m:t>3</m:t>
                        </m:r>
                      </m:den>
                    </m:f>
                    <m:r>
                      <a:rPr lang="en-US" sz="2000">
                        <a:latin typeface="Cambria Math" panose="02040503050406030204" pitchFamily="18" charset="0"/>
                        <a:ea typeface="Cambria Math" panose="02040503050406030204" pitchFamily="18" charset="0"/>
                        <a:cs typeface="Verdana" panose="020B0604030504040204" pitchFamily="34" charset="0"/>
                      </a:rPr>
                      <m:t> × </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3</m:t>
                        </m:r>
                      </m:num>
                      <m:den>
                        <m:r>
                          <a:rPr lang="en-US" sz="2000">
                            <a:latin typeface="Cambria Math" panose="02040503050406030204" pitchFamily="18" charset="0"/>
                            <a:ea typeface="Cambria Math" panose="02040503050406030204" pitchFamily="18" charset="0"/>
                            <a:cs typeface="Verdana" panose="020B0604030504040204" pitchFamily="34" charset="0"/>
                          </a:rPr>
                          <m:t>4</m:t>
                        </m:r>
                      </m:den>
                    </m:f>
                    <m:r>
                      <a:rPr lang="en-US" sz="2000">
                        <a:latin typeface="Cambria Math" panose="02040503050406030204" pitchFamily="18" charset="0"/>
                        <a:ea typeface="Cambria Math" panose="02040503050406030204" pitchFamily="18" charset="0"/>
                        <a:cs typeface="Verdana" panose="020B0604030504040204" pitchFamily="34" charset="0"/>
                      </a:rPr>
                      <m:t> </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c.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8</m:t>
                        </m:r>
                      </m:num>
                      <m:den>
                        <m:r>
                          <a:rPr lang="en-US" sz="2000">
                            <a:latin typeface="Cambria Math" panose="02040503050406030204" pitchFamily="18" charset="0"/>
                            <a:ea typeface="Cambria Math" panose="02040503050406030204" pitchFamily="18" charset="0"/>
                            <a:cs typeface="Verdana" panose="020B0604030504040204" pitchFamily="34" charset="0"/>
                          </a:rPr>
                          <m:t>7</m:t>
                        </m:r>
                      </m:den>
                    </m:f>
                    <m:r>
                      <a:rPr lang="en-US" sz="2000">
                        <a:latin typeface="Cambria Math" panose="02040503050406030204" pitchFamily="18" charset="0"/>
                        <a:ea typeface="Cambria Math" panose="02040503050406030204" pitchFamily="18" charset="0"/>
                        <a:cs typeface="Verdana" panose="020B0604030504040204" pitchFamily="34" charset="0"/>
                      </a:rPr>
                      <m:t> ∙ </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7</m:t>
                        </m:r>
                      </m:num>
                      <m:den>
                        <m:r>
                          <a:rPr lang="en-US" sz="2000">
                            <a:latin typeface="Cambria Math" panose="02040503050406030204" pitchFamily="18" charset="0"/>
                            <a:ea typeface="Cambria Math" panose="02040503050406030204" pitchFamily="18" charset="0"/>
                            <a:cs typeface="Verdana" panose="020B0604030504040204" pitchFamily="34" charset="0"/>
                          </a:rPr>
                          <m:t>10</m:t>
                        </m:r>
                      </m:den>
                    </m:f>
                    <m:r>
                      <a:rPr lang="en-US" sz="2000">
                        <a:latin typeface="Cambria Math" panose="02040503050406030204" pitchFamily="18" charset="0"/>
                        <a:ea typeface="Cambria Math" panose="02040503050406030204" pitchFamily="18" charset="0"/>
                        <a:cs typeface="Verdana" panose="020B0604030504040204" pitchFamily="34" charset="0"/>
                      </a:rPr>
                      <m:t> </m:t>
                    </m:r>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buAutoNum type="alphaLcPeriod"/>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buAutoNum type="alphaLcPeriod" startAt="4"/>
                </a:pPr>
                <a:r>
                  <a:rPr lang="en-US" sz="2000" dirty="0">
                    <a:ea typeface="Cambria Math" panose="02040503050406030204" pitchFamily="18"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13</m:t>
                        </m:r>
                      </m:num>
                      <m:den>
                        <m:r>
                          <a:rPr lang="en-US" sz="2000">
                            <a:latin typeface="Cambria Math" panose="02040503050406030204" pitchFamily="18" charset="0"/>
                            <a:ea typeface="Cambria Math" panose="02040503050406030204" pitchFamily="18" charset="0"/>
                            <a:cs typeface="Verdana" panose="020B0604030504040204" pitchFamily="34" charset="0"/>
                          </a:rPr>
                          <m:t>2</m:t>
                        </m:r>
                      </m:den>
                    </m:f>
                    <m:r>
                      <a:rPr lang="en-US" sz="2000">
                        <a:latin typeface="Cambria Math" panose="02040503050406030204" pitchFamily="18" charset="0"/>
                        <a:ea typeface="Cambria Math" panose="02040503050406030204" pitchFamily="18" charset="0"/>
                        <a:cs typeface="Verdana" panose="020B0604030504040204" pitchFamily="34" charset="0"/>
                      </a:rPr>
                      <m:t> ∙ </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7</m:t>
                        </m:r>
                      </m:num>
                      <m:den>
                        <m:r>
                          <a:rPr lang="en-US" sz="2000">
                            <a:latin typeface="Cambria Math" panose="02040503050406030204" pitchFamily="18" charset="0"/>
                            <a:ea typeface="Cambria Math" panose="02040503050406030204" pitchFamily="18" charset="0"/>
                            <a:cs typeface="Verdana" panose="020B0604030504040204" pitchFamily="34" charset="0"/>
                          </a:rPr>
                          <m:t>4</m:t>
                        </m:r>
                      </m:den>
                    </m:f>
                    <m:r>
                      <a:rPr lang="en-US" sz="2000">
                        <a:latin typeface="Cambria Math" panose="02040503050406030204" pitchFamily="18" charset="0"/>
                        <a:ea typeface="Cambria Math" panose="02040503050406030204" pitchFamily="18" charset="0"/>
                        <a:cs typeface="Verdana" panose="020B0604030504040204" pitchFamily="34" charset="0"/>
                      </a:rPr>
                      <m:t> </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e.  </a:t>
                </a:r>
                <a14:m>
                  <m:oMath xmlns:m="http://schemas.openxmlformats.org/officeDocument/2006/math">
                    <m:r>
                      <a:rPr lang="en-US" sz="2000" dirty="0">
                        <a:latin typeface="Cambria Math" panose="02040503050406030204" pitchFamily="18" charset="0"/>
                        <a:ea typeface="Cambria Math" panose="02040503050406030204" pitchFamily="18" charset="0"/>
                        <a:cs typeface="Verdana" panose="020B0604030504040204" pitchFamily="34" charset="0"/>
                      </a:rPr>
                      <m:t> 7</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5</m:t>
                        </m:r>
                      </m:num>
                      <m:den>
                        <m:r>
                          <a:rPr lang="en-US" sz="2000">
                            <a:latin typeface="Cambria Math" panose="02040503050406030204" pitchFamily="18" charset="0"/>
                            <a:ea typeface="Cambria Math" panose="02040503050406030204" pitchFamily="18" charset="0"/>
                            <a:cs typeface="Verdana" panose="020B0604030504040204" pitchFamily="34" charset="0"/>
                          </a:rPr>
                          <m:t>6</m:t>
                        </m:r>
                      </m:den>
                    </m:f>
                    <m:r>
                      <a:rPr lang="en-US" sz="2000">
                        <a:latin typeface="Cambria Math" panose="02040503050406030204" pitchFamily="18" charset="0"/>
                        <a:ea typeface="Cambria Math" panose="02040503050406030204" pitchFamily="18" charset="0"/>
                        <a:cs typeface="Verdana" panose="020B0604030504040204" pitchFamily="34" charset="0"/>
                      </a:rPr>
                      <m:t> × 9</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f.  </a:t>
                </a:r>
                <a14:m>
                  <m:oMath xmlns:m="http://schemas.openxmlformats.org/officeDocument/2006/math">
                    <m:d>
                      <m:dPr>
                        <m:ctrlPr>
                          <a:rPr lang="en-US" sz="2000" i="1" dirty="0">
                            <a:latin typeface="Cambria Math" panose="02040503050406030204" pitchFamily="18" charset="0"/>
                            <a:ea typeface="Cambria Math" panose="02040503050406030204" pitchFamily="18" charset="0"/>
                            <a:cs typeface="Verdana" panose="020B0604030504040204" pitchFamily="34" charset="0"/>
                          </a:rPr>
                        </m:ctrlPr>
                      </m:dPr>
                      <m:e>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24</m:t>
                            </m:r>
                          </m:num>
                          <m:den>
                            <m:r>
                              <a:rPr lang="en-US" sz="2000">
                                <a:latin typeface="Cambria Math" panose="02040503050406030204" pitchFamily="18" charset="0"/>
                                <a:ea typeface="Cambria Math" panose="02040503050406030204" pitchFamily="18" charset="0"/>
                                <a:cs typeface="Verdana" panose="020B0604030504040204" pitchFamily="34" charset="0"/>
                              </a:rPr>
                              <m:t>27</m:t>
                            </m:r>
                          </m:den>
                        </m:f>
                      </m:e>
                    </m:d>
                    <m:d>
                      <m:dPr>
                        <m:ctrlPr>
                          <a:rPr lang="en-US" sz="2000" i="1">
                            <a:latin typeface="Cambria Math" panose="02040503050406030204" pitchFamily="18" charset="0"/>
                            <a:ea typeface="Cambria Math" panose="02040503050406030204" pitchFamily="18" charset="0"/>
                            <a:cs typeface="Verdana" panose="020B0604030504040204" pitchFamily="34" charset="0"/>
                          </a:rPr>
                        </m:ctrlPr>
                      </m:dPr>
                      <m:e>
                        <m:r>
                          <a:rPr lang="en-US" sz="2000">
                            <a:latin typeface="Cambria Math" panose="02040503050406030204" pitchFamily="18" charset="0"/>
                            <a:ea typeface="Cambria Math" panose="02040503050406030204" pitchFamily="18" charset="0"/>
                            <a:cs typeface="Verdana" panose="020B0604030504040204" pitchFamily="34" charset="0"/>
                          </a:rPr>
                          <m:t> </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45</m:t>
                            </m:r>
                          </m:num>
                          <m:den>
                            <m:r>
                              <a:rPr lang="en-US" sz="2000">
                                <a:latin typeface="Cambria Math" panose="02040503050406030204" pitchFamily="18" charset="0"/>
                                <a:ea typeface="Cambria Math" panose="02040503050406030204" pitchFamily="18" charset="0"/>
                                <a:cs typeface="Verdana" panose="020B0604030504040204" pitchFamily="34" charset="0"/>
                              </a:rPr>
                              <m:t>32</m:t>
                            </m:r>
                          </m:den>
                        </m:f>
                        <m:r>
                          <a:rPr lang="en-US" sz="2000">
                            <a:latin typeface="Cambria Math" panose="02040503050406030204" pitchFamily="18" charset="0"/>
                            <a:ea typeface="Cambria Math" panose="02040503050406030204" pitchFamily="18" charset="0"/>
                            <a:cs typeface="Verdana" panose="020B0604030504040204" pitchFamily="34" charset="0"/>
                          </a:rPr>
                          <m:t> </m:t>
                        </m:r>
                      </m:e>
                    </m:d>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buAutoNum type="alphaLcPeriod" startAt="4"/>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buAutoNum type="alphaLcPeriod" startAt="4"/>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buAutoNum type="alphaLcPeriod" startAt="4"/>
                </a:pPr>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65138"/>
                <a:r>
                  <a:rPr lang="en-US" sz="2000" dirty="0">
                    <a:latin typeface="Cambria Math" panose="02040503050406030204" pitchFamily="18" charset="0"/>
                    <a:ea typeface="Cambria Math" panose="02040503050406030204" pitchFamily="18" charset="0"/>
                    <a:cs typeface="Verdana" panose="020B0604030504040204" pitchFamily="34" charset="0"/>
                  </a:rPr>
                  <a:t>g.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3</m:t>
                        </m:r>
                      </m:num>
                      <m:den>
                        <m:r>
                          <a:rPr lang="en-US" sz="2000">
                            <a:latin typeface="Cambria Math" panose="02040503050406030204" pitchFamily="18" charset="0"/>
                            <a:ea typeface="Cambria Math" panose="02040503050406030204" pitchFamily="18" charset="0"/>
                            <a:cs typeface="Verdana" panose="020B0604030504040204" pitchFamily="34" charset="0"/>
                          </a:rPr>
                          <m:t>2</m:t>
                        </m:r>
                      </m:den>
                    </m:f>
                    <m:r>
                      <a:rPr lang="en-US" sz="2000">
                        <a:latin typeface="Cambria Math" panose="02040503050406030204" pitchFamily="18" charset="0"/>
                        <a:ea typeface="Cambria Math" panose="02040503050406030204" pitchFamily="18" charset="0"/>
                        <a:cs typeface="Verdana" panose="020B0604030504040204" pitchFamily="34" charset="0"/>
                      </a:rPr>
                      <m:t> ∙ </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7</m:t>
                        </m:r>
                      </m:num>
                      <m:den>
                        <m:r>
                          <a:rPr lang="en-US" sz="2000">
                            <a:latin typeface="Cambria Math" panose="02040503050406030204" pitchFamily="18" charset="0"/>
                            <a:ea typeface="Cambria Math" panose="02040503050406030204" pitchFamily="18" charset="0"/>
                            <a:cs typeface="Verdana" panose="020B0604030504040204" pitchFamily="34" charset="0"/>
                          </a:rPr>
                          <m:t>10 </m:t>
                        </m:r>
                      </m:den>
                    </m:f>
                    <m:r>
                      <a:rPr lang="en-US" sz="2000">
                        <a:latin typeface="Cambria Math" panose="02040503050406030204" pitchFamily="18" charset="0"/>
                        <a:ea typeface="Cambria Math" panose="02040503050406030204" pitchFamily="18" charset="0"/>
                        <a:cs typeface="Verdana" panose="020B0604030504040204" pitchFamily="34" charset="0"/>
                      </a:rPr>
                      <m:t> </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h.  </a:t>
                </a:r>
                <a14:m>
                  <m:oMath xmlns:m="http://schemas.openxmlformats.org/officeDocument/2006/math">
                    <m:d>
                      <m:dPr>
                        <m:ctrlPr>
                          <a:rPr lang="en-US" sz="2000" i="1" dirty="0">
                            <a:latin typeface="Cambria Math" panose="02040503050406030204" pitchFamily="18" charset="0"/>
                            <a:ea typeface="Cambria Math" panose="02040503050406030204" pitchFamily="18" charset="0"/>
                            <a:cs typeface="Verdana" panose="020B0604030504040204" pitchFamily="34" charset="0"/>
                          </a:rPr>
                        </m:ctrlPr>
                      </m:dPr>
                      <m:e>
                        <m:r>
                          <a:rPr lang="en-US" sz="2000" dirty="0">
                            <a:latin typeface="Cambria Math" panose="02040503050406030204" pitchFamily="18" charset="0"/>
                            <a:ea typeface="Cambria Math" panose="02040503050406030204" pitchFamily="18" charset="0"/>
                            <a:cs typeface="Verdana" panose="020B0604030504040204" pitchFamily="34" charset="0"/>
                          </a:rPr>
                          <m:t>2</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6</m:t>
                            </m:r>
                          </m:num>
                          <m:den>
                            <m:r>
                              <a:rPr lang="en-US" sz="2000">
                                <a:latin typeface="Cambria Math" panose="02040503050406030204" pitchFamily="18" charset="0"/>
                                <a:ea typeface="Cambria Math" panose="02040503050406030204" pitchFamily="18" charset="0"/>
                                <a:cs typeface="Verdana" panose="020B0604030504040204" pitchFamily="34" charset="0"/>
                              </a:rPr>
                              <m:t>25</m:t>
                            </m:r>
                          </m:den>
                        </m:f>
                      </m:e>
                    </m:d>
                    <m:d>
                      <m:dPr>
                        <m:ctrlPr>
                          <a:rPr lang="en-US" sz="2000" i="1">
                            <a:latin typeface="Cambria Math" panose="02040503050406030204" pitchFamily="18" charset="0"/>
                            <a:ea typeface="Cambria Math" panose="02040503050406030204" pitchFamily="18" charset="0"/>
                            <a:cs typeface="Verdana" panose="020B0604030504040204" pitchFamily="34" charset="0"/>
                          </a:rPr>
                        </m:ctrlPr>
                      </m:dPr>
                      <m:e>
                        <m:r>
                          <a:rPr lang="en-US" sz="2000">
                            <a:latin typeface="Cambria Math" panose="02040503050406030204" pitchFamily="18" charset="0"/>
                            <a:ea typeface="Cambria Math" panose="02040503050406030204" pitchFamily="18" charset="0"/>
                            <a:cs typeface="Verdana" panose="020B0604030504040204" pitchFamily="34" charset="0"/>
                          </a:rPr>
                          <m:t> </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1</m:t>
                            </m:r>
                          </m:num>
                          <m:den>
                            <m:r>
                              <a:rPr lang="en-US" sz="2000">
                                <a:latin typeface="Cambria Math" panose="02040503050406030204" pitchFamily="18" charset="0"/>
                                <a:ea typeface="Cambria Math" panose="02040503050406030204" pitchFamily="18" charset="0"/>
                                <a:cs typeface="Verdana" panose="020B0604030504040204" pitchFamily="34" charset="0"/>
                              </a:rPr>
                              <m:t>25</m:t>
                            </m:r>
                          </m:den>
                        </m:f>
                        <m:r>
                          <a:rPr lang="en-US" sz="2000">
                            <a:latin typeface="Cambria Math" panose="02040503050406030204" pitchFamily="18" charset="0"/>
                            <a:ea typeface="Cambria Math" panose="02040503050406030204" pitchFamily="18" charset="0"/>
                            <a:cs typeface="Verdana" panose="020B0604030504040204" pitchFamily="34" charset="0"/>
                          </a:rPr>
                          <m:t> </m:t>
                        </m:r>
                      </m:e>
                    </m:d>
                  </m:oMath>
                </a14:m>
                <a:r>
                  <a:rPr lang="en-US" sz="2000" dirty="0">
                    <a:latin typeface="Cambria Math" panose="02040503050406030204" pitchFamily="18" charset="0"/>
                    <a:ea typeface="Cambria Math" panose="02040503050406030204" pitchFamily="18" charset="0"/>
                    <a:cs typeface="Verdana" panose="020B0604030504040204" pitchFamily="34" charset="0"/>
                  </a:rPr>
                  <a:t>		i. </a:t>
                </a:r>
                <a14:m>
                  <m:oMath xmlns:m="http://schemas.openxmlformats.org/officeDocument/2006/math">
                    <m:r>
                      <a:rPr lang="en-US" sz="2000" dirty="0">
                        <a:latin typeface="Cambria Math" panose="02040503050406030204" pitchFamily="18" charset="0"/>
                        <a:ea typeface="Cambria Math" panose="02040503050406030204" pitchFamily="18" charset="0"/>
                        <a:cs typeface="Verdana" panose="020B0604030504040204" pitchFamily="34" charset="0"/>
                      </a:rPr>
                      <m:t> 4</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1</m:t>
                        </m:r>
                      </m:num>
                      <m:den>
                        <m:r>
                          <a:rPr lang="en-US" sz="2000">
                            <a:latin typeface="Cambria Math" panose="02040503050406030204" pitchFamily="18" charset="0"/>
                            <a:ea typeface="Cambria Math" panose="02040503050406030204" pitchFamily="18" charset="0"/>
                            <a:cs typeface="Verdana" panose="020B0604030504040204" pitchFamily="34" charset="0"/>
                          </a:rPr>
                          <m:t>5</m:t>
                        </m:r>
                      </m:den>
                    </m:f>
                    <m:r>
                      <a:rPr lang="en-US" sz="2000">
                        <a:latin typeface="Cambria Math" panose="02040503050406030204" pitchFamily="18" charset="0"/>
                        <a:ea typeface="Cambria Math" panose="02040503050406030204" pitchFamily="18" charset="0"/>
                        <a:cs typeface="Verdana" panose="020B0604030504040204" pitchFamily="34" charset="0"/>
                      </a:rPr>
                      <m:t> × 1</m:t>
                    </m:r>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7</m:t>
                        </m:r>
                      </m:num>
                      <m:den>
                        <m:r>
                          <a:rPr lang="en-US" sz="2000">
                            <a:latin typeface="Cambria Math" panose="02040503050406030204" pitchFamily="18" charset="0"/>
                            <a:ea typeface="Cambria Math" panose="02040503050406030204" pitchFamily="18" charset="0"/>
                            <a:cs typeface="Verdana" panose="020B0604030504040204" pitchFamily="34" charset="0"/>
                          </a:rPr>
                          <m:t>9</m:t>
                        </m:r>
                      </m:den>
                    </m:f>
                    <m:r>
                      <a:rPr lang="en-US" sz="2000">
                        <a:latin typeface="Cambria Math" panose="02040503050406030204" pitchFamily="18" charset="0"/>
                        <a:ea typeface="Cambria Math" panose="02040503050406030204" pitchFamily="18" charset="0"/>
                        <a:cs typeface="Verdana" panose="020B0604030504040204" pitchFamily="34" charset="0"/>
                      </a:rPr>
                      <m:t> </m:t>
                    </m:r>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p:txBody>
          </p:sp>
        </mc:Choice>
        <mc:Fallback>
          <p:sp>
            <p:nvSpPr>
              <p:cNvPr id="439" name="Google Shape;439;p31"/>
              <p:cNvSpPr txBox="1">
                <a:spLocks noRot="1" noChangeAspect="1" noMove="1" noResize="1" noEditPoints="1" noAdjustHandles="1" noChangeArrowheads="1" noChangeShapeType="1" noTextEdit="1"/>
              </p:cNvSpPr>
              <p:nvPr/>
            </p:nvSpPr>
            <p:spPr>
              <a:xfrm>
                <a:off x="1326049" y="1281523"/>
                <a:ext cx="9728393" cy="3893270"/>
              </a:xfrm>
              <a:prstGeom prst="rect">
                <a:avLst/>
              </a:prstGeom>
              <a:blipFill>
                <a:blip r:embed="rId4"/>
                <a:stretch>
                  <a:fillRect l="-690" t="-1095" b="-156"/>
                </a:stretch>
              </a:blipFill>
              <a:ln>
                <a:noFill/>
              </a:ln>
            </p:spPr>
            <p:txBody>
              <a:bodyPr/>
              <a:lstStyle/>
              <a:p>
                <a:r>
                  <a:rPr lang="en-US">
                    <a:noFill/>
                  </a:rPr>
                  <a:t> </a:t>
                </a:r>
              </a:p>
            </p:txBody>
          </p:sp>
        </mc:Fallback>
      </mc:AlternateContent>
      <p:sp>
        <p:nvSpPr>
          <p:cNvPr id="440" name="Google Shape;440;p3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pic>
        <p:nvPicPr>
          <p:cNvPr id="3" name="Picture 2">
            <a:extLst>
              <a:ext uri="{FF2B5EF4-FFF2-40B4-BE49-F238E27FC236}">
                <a16:creationId xmlns:a16="http://schemas.microsoft.com/office/drawing/2014/main" id="{F64EC072-A27E-D52F-A778-E5F498F2FE9F}"/>
              </a:ext>
            </a:extLst>
          </p:cNvPr>
          <p:cNvPicPr>
            <a:picLocks noChangeAspect="1"/>
          </p:cNvPicPr>
          <p:nvPr/>
        </p:nvPicPr>
        <p:blipFill>
          <a:blip r:embed="rId6"/>
          <a:stretch>
            <a:fillRect/>
          </a:stretch>
        </p:blipFill>
        <p:spPr>
          <a:xfrm>
            <a:off x="1759337" y="1683207"/>
            <a:ext cx="1598009" cy="9946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90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344700"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1.6.6 Wrap-Up: Reflection</a:t>
            </a:r>
            <a:endParaRPr dirty="0"/>
          </a:p>
        </p:txBody>
      </p:sp>
      <p:pic>
        <p:nvPicPr>
          <p:cNvPr id="468" name="Google Shape;468;p34"/>
          <p:cNvPicPr preferRelativeResize="0"/>
          <p:nvPr/>
        </p:nvPicPr>
        <p:blipFill rotWithShape="1">
          <a:blip r:embed="rId3">
            <a:alphaModFix/>
          </a:blip>
          <a:srcRect/>
          <a:stretch/>
        </p:blipFill>
        <p:spPr>
          <a:xfrm>
            <a:off x="515250" y="231796"/>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435100" y="1386026"/>
            <a:ext cx="8952484" cy="3785611"/>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this unit, you have learned multiple concepts including</a:t>
            </a:r>
          </a:p>
          <a:p>
            <a:r>
              <a:rPr lang="en-US" sz="2000" dirty="0">
                <a:latin typeface="Verdana" panose="020B0604030504040204" pitchFamily="34" charset="0"/>
                <a:ea typeface="Verdana" panose="020B0604030504040204" pitchFamily="34" charset="0"/>
                <a:cs typeface="Verdana" panose="020B0604030504040204" pitchFamily="34" charset="0"/>
              </a:rPr>
              <a:t>those listed below.</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Finding the GCF and LCM of two or more numbers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Rewriting sums using distributive property</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Multiplying and dividing decimals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Multiplying fractions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470" name="Google Shape;470;p34"/>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8" name="Google Shape;478;p35"/>
          <p:cNvSpPr txBox="1"/>
          <p:nvPr/>
        </p:nvSpPr>
        <p:spPr>
          <a:xfrm>
            <a:off x="1016000" y="422857"/>
            <a:ext cx="10160000" cy="707846"/>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1. Use the stoplight reflection below to share how you are feeling about each of these concepts at this point.</a:t>
            </a:r>
          </a:p>
        </p:txBody>
      </p:sp>
      <p:sp>
        <p:nvSpPr>
          <p:cNvPr id="479" name="Google Shape;479;p35"/>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group of colorful circles&#10;&#10;Description automatically generated with low confidence">
            <a:extLst>
              <a:ext uri="{FF2B5EF4-FFF2-40B4-BE49-F238E27FC236}">
                <a16:creationId xmlns:a16="http://schemas.microsoft.com/office/drawing/2014/main" id="{9D2C6A35-DA02-BC44-ADF8-2E7AE14D5954}"/>
              </a:ext>
            </a:extLst>
          </p:cNvPr>
          <p:cNvPicPr>
            <a:picLocks noChangeAspect="1"/>
          </p:cNvPicPr>
          <p:nvPr/>
        </p:nvPicPr>
        <p:blipFill>
          <a:blip r:embed="rId3"/>
          <a:stretch>
            <a:fillRect/>
          </a:stretch>
        </p:blipFill>
        <p:spPr>
          <a:xfrm>
            <a:off x="1968568" y="1514110"/>
            <a:ext cx="2194637" cy="3821430"/>
          </a:xfrm>
          <a:prstGeom prst="rect">
            <a:avLst/>
          </a:prstGeom>
        </p:spPr>
      </p:pic>
      <p:sp>
        <p:nvSpPr>
          <p:cNvPr id="4" name="TextBox 3">
            <a:extLst>
              <a:ext uri="{FF2B5EF4-FFF2-40B4-BE49-F238E27FC236}">
                <a16:creationId xmlns:a16="http://schemas.microsoft.com/office/drawing/2014/main" id="{33018955-5356-1E40-AE79-A4BC0C3177D8}"/>
              </a:ext>
            </a:extLst>
          </p:cNvPr>
          <p:cNvSpPr txBox="1"/>
          <p:nvPr/>
        </p:nvSpPr>
        <p:spPr>
          <a:xfrm>
            <a:off x="4441371" y="1933303"/>
            <a:ext cx="5416732"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 still feel stuck about how to…</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I’m starting to get the hang of…</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I feel confident and ready to go with…</a:t>
            </a:r>
          </a:p>
        </p:txBody>
      </p:sp>
      <p:sp>
        <p:nvSpPr>
          <p:cNvPr id="8" name="Google Shape;125;g104476d1465_1_17"/>
          <p:cNvSpPr txBox="1"/>
          <p:nvPr/>
        </p:nvSpPr>
        <p:spPr>
          <a:xfrm>
            <a:off x="88010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9250"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771</Words>
  <Application>Microsoft Office PowerPoint</Application>
  <PresentationFormat>Widescreen</PresentationFormat>
  <Paragraphs>142</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Black</vt:lpstr>
      <vt:lpstr>Calibri</vt:lpstr>
      <vt:lpstr>Cambria Math</vt:lpstr>
      <vt:lpstr>Century Gothic</vt:lpstr>
      <vt:lpstr>Verdana</vt:lpstr>
      <vt:lpstr>1_Office Theme</vt:lpstr>
      <vt:lpstr>6th Grade Accelerated Math  Unit 1, Lesson 6  Multiplying Positive Fractions  Volume 1, pg. 30  </vt:lpstr>
      <vt:lpstr>Benchmark</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Guided Instruction</vt:lpstr>
      <vt:lpstr>PowerPoint Presentation</vt:lpstr>
      <vt:lpstr>PowerPoint Presentation</vt:lpstr>
      <vt:lpstr>Try It</vt:lpstr>
      <vt:lpstr>PowerPoint Presentation</vt:lpstr>
      <vt:lpstr>PowerPoint Presentation</vt:lpstr>
      <vt:lpstr>Your Turn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1, Lesson 6  Multiplying Positive Fractions  Volume 1, pg. 30  </dc:title>
  <dc:creator>Karen McKenzie</dc:creator>
  <cp:lastModifiedBy>Cassie O'Connor</cp:lastModifiedBy>
  <cp:revision>8</cp:revision>
  <dcterms:created xsi:type="dcterms:W3CDTF">2015-03-17T18:51:18Z</dcterms:created>
  <dcterms:modified xsi:type="dcterms:W3CDTF">2022-07-27T00:27:13Z</dcterms:modified>
</cp:coreProperties>
</file>