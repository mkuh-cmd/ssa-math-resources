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99" r:id="rId8"/>
    <p:sldId id="274" r:id="rId9"/>
    <p:sldId id="275" r:id="rId10"/>
    <p:sldId id="276" r:id="rId11"/>
    <p:sldId id="277" r:id="rId12"/>
    <p:sldId id="293" r:id="rId13"/>
    <p:sldId id="300" r:id="rId14"/>
    <p:sldId id="301" r:id="rId15"/>
    <p:sldId id="302" r:id="rId16"/>
    <p:sldId id="278" r:id="rId17"/>
    <p:sldId id="296" r:id="rId18"/>
    <p:sldId id="280" r:id="rId19"/>
    <p:sldId id="287" r:id="rId20"/>
    <p:sldId id="288" r:id="rId21"/>
    <p:sldId id="289" r:id="rId22"/>
    <p:sldId id="290" r:id="rId23"/>
    <p:sldId id="29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iOUGvFbR4FBglWCVqDp22ntkrZ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663" autoAdjust="0"/>
    <p:restoredTop sz="94650"/>
  </p:normalViewPr>
  <p:slideViewPr>
    <p:cSldViewPr snapToGrid="0">
      <p:cViewPr varScale="1">
        <p:scale>
          <a:sx n="79" d="100"/>
          <a:sy n="79" d="100"/>
        </p:scale>
        <p:origin x="142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1234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ed8cbc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11ed8cbce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11ed8cbce7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ed8cbc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11ed8cbce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11ed8cbce7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4503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ed8cbc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11ed8cbce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11ed8cbce7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474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ed8cbc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11ed8cbce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11ed8cbce7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913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ed8cbc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11ed8cbce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11ed8cbce7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8821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90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" name="Google Shape;43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7" name="Google Shape;46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1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29386" y="3805518"/>
            <a:ext cx="48310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Positive Fractions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34</a:t>
            </a:r>
            <a:endParaRPr sz="3200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736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607" y="4102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625600" y="1600200"/>
            <a:ext cx="8585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MA.6.NSO.2.2</a:t>
            </a:r>
          </a:p>
          <a:p>
            <a:pPr>
              <a:lnSpc>
                <a:spcPct val="107000"/>
              </a:lnSpc>
            </a:pP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 previous understanding of multiplication and division to compute products and quotients of positive fractions by positive fractions with procedural fluency.</a:t>
            </a:r>
            <a:endParaRPr lang="en-US" sz="32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6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513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451300" y="1596390"/>
            <a:ext cx="87595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800" dirty="0"/>
          </a:p>
          <a:p>
            <a:pPr marL="457200">
              <a:buSzPts val="1800"/>
            </a:pP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2800" dirty="0"/>
          </a:p>
          <a:p>
            <a:pPr marL="457200"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24526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96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378857" y="1600200"/>
            <a:ext cx="88319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fluently divide positive fractions by positive fractions.</a:t>
            </a:r>
            <a:endParaRPr dirty="0"/>
          </a:p>
        </p:txBody>
      </p:sp>
      <p:sp>
        <p:nvSpPr>
          <p:cNvPr id="149" name="Google Shape;149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384265" y="42716"/>
            <a:ext cx="8148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1.7.1 Warm-Up: Error Analysis</a:t>
            </a:r>
            <a:endParaRPr sz="1300"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182" y="2773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/>
          <p:nvPr/>
        </p:nvSpPr>
        <p:spPr>
          <a:xfrm>
            <a:off x="1371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1843EF-1A70-7049-8F02-AF548979474C}"/>
                  </a:ext>
                </a:extLst>
              </p:cNvPr>
              <p:cNvSpPr txBox="1"/>
              <p:nvPr/>
            </p:nvSpPr>
            <p:spPr>
              <a:xfrm>
                <a:off x="1384266" y="1360500"/>
                <a:ext cx="8795464" cy="1201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Mateo tried to multiply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∙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he made an error. His work is shown.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D1843EF-1A70-7049-8F02-AF548979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266" y="1360500"/>
                <a:ext cx="8795464" cy="1201932"/>
              </a:xfrm>
              <a:prstGeom prst="rect">
                <a:avLst/>
              </a:prstGeom>
              <a:blipFill rotWithShape="0">
                <a:blip r:embed="rId4"/>
                <a:stretch>
                  <a:fillRect l="-693" r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542DF8-BC2D-B140-88D7-1E4228F35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860" y="2201060"/>
            <a:ext cx="4707890" cy="970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FBF170-1658-804E-AE21-94AED82BEF9C}"/>
              </a:ext>
            </a:extLst>
          </p:cNvPr>
          <p:cNvSpPr txBox="1"/>
          <p:nvPr/>
        </p:nvSpPr>
        <p:spPr>
          <a:xfrm>
            <a:off x="1318482" y="3791150"/>
            <a:ext cx="7280267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error did Mateo make?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that Mateo did correctly?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41A750-8563-C842-9F40-6425E1D6F90C}"/>
              </a:ext>
            </a:extLst>
          </p:cNvPr>
          <p:cNvSpPr/>
          <p:nvPr/>
        </p:nvSpPr>
        <p:spPr>
          <a:xfrm>
            <a:off x="841829" y="326648"/>
            <a:ext cx="9462187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lvl="0" indent="-331788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Help Mateo understand and learn from his mistake. Write a brief note to Mateo explaining the mistake he made and how to fix it moving forward.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186251-67E6-0D4D-AB3D-B1F45C74823D}"/>
              </a:ext>
            </a:extLst>
          </p:cNvPr>
          <p:cNvSpPr/>
          <p:nvPr/>
        </p:nvSpPr>
        <p:spPr>
          <a:xfrm>
            <a:off x="2642852" y="1599115"/>
            <a:ext cx="2072005" cy="2827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F25756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9AFA95-F05D-324A-84FA-7315A2753BE1}"/>
              </a:ext>
            </a:extLst>
          </p:cNvPr>
          <p:cNvSpPr/>
          <p:nvPr/>
        </p:nvSpPr>
        <p:spPr>
          <a:xfrm>
            <a:off x="5667307" y="1680395"/>
            <a:ext cx="3698240" cy="266446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F38883-A2FF-964A-8D68-E4E283B380CD}"/>
                  </a:ext>
                </a:extLst>
              </p:cNvPr>
              <p:cNvSpPr txBox="1"/>
              <p:nvPr/>
            </p:nvSpPr>
            <p:spPr>
              <a:xfrm>
                <a:off x="841829" y="4716707"/>
                <a:ext cx="7627563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Find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 ∙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6F38883-A2FF-964A-8D68-E4E283B38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29" y="4716707"/>
                <a:ext cx="7627563" cy="849271"/>
              </a:xfrm>
              <a:prstGeom prst="rect">
                <a:avLst/>
              </a:prstGeom>
              <a:blipFill rotWithShape="0">
                <a:blip r:embed="rId3"/>
                <a:stretch>
                  <a:fillRect l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961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8" name="Google Shape;298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/>
        </p:nvSpPr>
        <p:spPr>
          <a:xfrm>
            <a:off x="1415188" y="349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1.7.2 Guided Instruction: Dividing Fractions</a:t>
            </a:r>
            <a:endParaRPr dirty="0"/>
          </a:p>
        </p:txBody>
      </p:sp>
      <p:pic>
        <p:nvPicPr>
          <p:cNvPr id="308" name="Google Shape;30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888" y="2300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11" name="Google Shape;311;p1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645B5-E6E6-4045-B21E-0BD2AE030A3E}"/>
              </a:ext>
            </a:extLst>
          </p:cNvPr>
          <p:cNvSpPr txBox="1"/>
          <p:nvPr/>
        </p:nvSpPr>
        <p:spPr>
          <a:xfrm>
            <a:off x="667888" y="1526958"/>
            <a:ext cx="9197815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tabLst>
                <a:tab pos="10414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 how tape diagrams can be used to illustrate division.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Picture 10" descr="A picture containing table&#10;&#10;Description automatically generated">
            <a:extLst>
              <a:ext uri="{FF2B5EF4-FFF2-40B4-BE49-F238E27FC236}">
                <a16:creationId xmlns:a16="http://schemas.microsoft.com/office/drawing/2014/main" id="{E9031F2C-A5D4-3942-A646-76C96A353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0738" y="2047833"/>
            <a:ext cx="5470525" cy="18497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8667CC-B3B2-8B47-A9F2-CA6F2D0E7D2E}"/>
              </a:ext>
            </a:extLst>
          </p:cNvPr>
          <p:cNvSpPr/>
          <p:nvPr/>
        </p:nvSpPr>
        <p:spPr>
          <a:xfrm>
            <a:off x="783771" y="4086349"/>
            <a:ext cx="9269205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division equation represented by the tape diagram.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F6F0989-54CE-A240-AE1A-9C291C511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464857"/>
                  </p:ext>
                </p:extLst>
              </p:nvPr>
            </p:nvGraphicFramePr>
            <p:xfrm>
              <a:off x="3461941" y="5030692"/>
              <a:ext cx="5268117" cy="10126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28789">
                      <a:extLst>
                        <a:ext uri="{9D8B030D-6E8A-4147-A177-3AD203B41FA5}">
                          <a16:colId xmlns:a16="http://schemas.microsoft.com/office/drawing/2014/main" val="871031140"/>
                        </a:ext>
                      </a:extLst>
                    </a:gridCol>
                    <a:gridCol w="355748">
                      <a:extLst>
                        <a:ext uri="{9D8B030D-6E8A-4147-A177-3AD203B41FA5}">
                          <a16:colId xmlns:a16="http://schemas.microsoft.com/office/drawing/2014/main" val="1216400718"/>
                        </a:ext>
                      </a:extLst>
                    </a:gridCol>
                    <a:gridCol w="1317935">
                      <a:extLst>
                        <a:ext uri="{9D8B030D-6E8A-4147-A177-3AD203B41FA5}">
                          <a16:colId xmlns:a16="http://schemas.microsoft.com/office/drawing/2014/main" val="615196175"/>
                        </a:ext>
                      </a:extLst>
                    </a:gridCol>
                    <a:gridCol w="675995">
                      <a:extLst>
                        <a:ext uri="{9D8B030D-6E8A-4147-A177-3AD203B41FA5}">
                          <a16:colId xmlns:a16="http://schemas.microsoft.com/office/drawing/2014/main" val="3792704856"/>
                        </a:ext>
                      </a:extLst>
                    </a:gridCol>
                    <a:gridCol w="1489650">
                      <a:extLst>
                        <a:ext uri="{9D8B030D-6E8A-4147-A177-3AD203B41FA5}">
                          <a16:colId xmlns:a16="http://schemas.microsoft.com/office/drawing/2014/main" val="1021289189"/>
                        </a:ext>
                      </a:extLst>
                    </a:gridCol>
                  </a:tblGrid>
                  <a:tr h="438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dividend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divisor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quotient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870786"/>
                      </a:ext>
                    </a:extLst>
                  </a:tr>
                  <a:tr h="5742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934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F6F0989-54CE-A240-AE1A-9C291C511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464857"/>
                  </p:ext>
                </p:extLst>
              </p:nvPr>
            </p:nvGraphicFramePr>
            <p:xfrm>
              <a:off x="1937940" y="5030692"/>
              <a:ext cx="5268117" cy="10126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28789">
                      <a:extLst>
                        <a:ext uri="{9D8B030D-6E8A-4147-A177-3AD203B41FA5}">
                          <a16:colId xmlns:a16="http://schemas.microsoft.com/office/drawing/2014/main" val="871031140"/>
                        </a:ext>
                      </a:extLst>
                    </a:gridCol>
                    <a:gridCol w="355748">
                      <a:extLst>
                        <a:ext uri="{9D8B030D-6E8A-4147-A177-3AD203B41FA5}">
                          <a16:colId xmlns:a16="http://schemas.microsoft.com/office/drawing/2014/main" val="1216400718"/>
                        </a:ext>
                      </a:extLst>
                    </a:gridCol>
                    <a:gridCol w="1317935">
                      <a:extLst>
                        <a:ext uri="{9D8B030D-6E8A-4147-A177-3AD203B41FA5}">
                          <a16:colId xmlns:a16="http://schemas.microsoft.com/office/drawing/2014/main" val="615196175"/>
                        </a:ext>
                      </a:extLst>
                    </a:gridCol>
                    <a:gridCol w="675995">
                      <a:extLst>
                        <a:ext uri="{9D8B030D-6E8A-4147-A177-3AD203B41FA5}">
                          <a16:colId xmlns:a16="http://schemas.microsoft.com/office/drawing/2014/main" val="3792704856"/>
                        </a:ext>
                      </a:extLst>
                    </a:gridCol>
                    <a:gridCol w="1489650">
                      <a:extLst>
                        <a:ext uri="{9D8B030D-6E8A-4147-A177-3AD203B41FA5}">
                          <a16:colId xmlns:a16="http://schemas.microsoft.com/office/drawing/2014/main" val="1021289189"/>
                        </a:ext>
                      </a:extLst>
                    </a:gridCol>
                  </a:tblGrid>
                  <a:tr h="438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dividend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divisor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quotient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870786"/>
                      </a:ext>
                    </a:extLst>
                  </a:tr>
                  <a:tr h="5742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407143" t="-93333" r="-989286" b="-2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464151" t="-93333" r="-226415" b="-2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_______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9348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C43852-84FF-0148-9825-6F9F6CD78AE1}"/>
                  </a:ext>
                </a:extLst>
              </p:cNvPr>
              <p:cNvSpPr txBox="1"/>
              <p:nvPr/>
            </p:nvSpPr>
            <p:spPr>
              <a:xfrm>
                <a:off x="870857" y="257454"/>
                <a:ext cx="6093033" cy="750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How many groups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AC43852-84FF-0148-9825-6F9F6CD78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7" y="257454"/>
                <a:ext cx="6093033" cy="750911"/>
              </a:xfrm>
              <a:prstGeom prst="rect">
                <a:avLst/>
              </a:prstGeom>
              <a:blipFill rotWithShape="0">
                <a:blip r:embed="rId3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D2C6997-5472-6C48-994C-B2938A999334}"/>
              </a:ext>
            </a:extLst>
          </p:cNvPr>
          <p:cNvSpPr txBox="1"/>
          <p:nvPr/>
        </p:nvSpPr>
        <p:spPr>
          <a:xfrm>
            <a:off x="870857" y="2166152"/>
            <a:ext cx="10398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indent="-3460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Complete the table by finding each quotient. Use the tape diagram shown.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0C724F-861C-1643-90AD-C5172B22C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481" y="2824024"/>
            <a:ext cx="6219443" cy="3683664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ed8cbce7_0_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B9B80-EEC7-CA45-A846-76A36B0D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3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C6C8132-916C-EB40-9C16-6E42E980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160" y="170486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648489-1864-E34C-B1AF-F56E4E3B6F4E}"/>
                  </a:ext>
                </a:extLst>
              </p:cNvPr>
              <p:cNvSpPr txBox="1"/>
              <p:nvPr/>
            </p:nvSpPr>
            <p:spPr>
              <a:xfrm>
                <a:off x="914400" y="457201"/>
                <a:ext cx="10402640" cy="324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6075" lvl="0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Jacquelyn is making ground beef flautas, where each flauta will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of ground beef. She has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of ground beef to use.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lvl="0" indent="-9223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a. 	Which division statement below represents the number of flautas Jacquelyn can make?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 ÷ 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648489-1864-E34C-B1AF-F56E4E3B6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57201"/>
                <a:ext cx="10402640" cy="3249223"/>
              </a:xfrm>
              <a:prstGeom prst="rect">
                <a:avLst/>
              </a:prstGeom>
              <a:blipFill>
                <a:blip r:embed="rId3"/>
                <a:stretch>
                  <a:fillRect l="-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ed8cbce7_0_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B9B80-EEC7-CA45-A846-76A36B0D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3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C6C8132-916C-EB40-9C16-6E42E980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160" y="170486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2DA5ADA-E632-AA4B-94CB-A05D41C99DA1}"/>
                  </a:ext>
                </a:extLst>
              </p:cNvPr>
              <p:cNvSpPr/>
              <p:nvPr/>
            </p:nvSpPr>
            <p:spPr>
              <a:xfrm>
                <a:off x="957944" y="457201"/>
                <a:ext cx="9221786" cy="4511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Draw a tape diagram to illustrate the division statement you chose. </a:t>
                </a: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Solve the division statement.</a:t>
                </a: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tabLst>
                    <a:tab pos="1041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How many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 flautas can she make?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3225" indent="-403225">
                  <a:lnSpc>
                    <a:spcPct val="107000"/>
                  </a:lnSpc>
                  <a:buFont typeface="+mj-lt"/>
                  <a:buAutoNum type="alphaLcPeriod"/>
                  <a:tabLst>
                    <a:tab pos="1041400" algn="l"/>
                  </a:tabLst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2DA5ADA-E632-AA4B-94CB-A05D41C99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4" y="457201"/>
                <a:ext cx="9221786" cy="4511941"/>
              </a:xfrm>
              <a:prstGeom prst="rect">
                <a:avLst/>
              </a:prstGeom>
              <a:blipFill rotWithShape="0">
                <a:blip r:embed="rId3"/>
                <a:stretch>
                  <a:fillRect l="-661" t="-811" r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998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ed8cbce7_0_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B9B80-EEC7-CA45-A846-76A36B0D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3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C6C8132-916C-EB40-9C16-6E42E980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160" y="170486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E1E7DD-2AB9-4149-9734-61F9D3AF1A3B}"/>
              </a:ext>
            </a:extLst>
          </p:cNvPr>
          <p:cNvSpPr txBox="1"/>
          <p:nvPr/>
        </p:nvSpPr>
        <p:spPr>
          <a:xfrm>
            <a:off x="986971" y="273646"/>
            <a:ext cx="9707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previously developed an algorithm to use when dividing fractions.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7AFDED-AB52-534E-AE85-9DFD8D90E860}"/>
              </a:ext>
            </a:extLst>
          </p:cNvPr>
          <p:cNvGrpSpPr/>
          <p:nvPr/>
        </p:nvGrpSpPr>
        <p:grpSpPr>
          <a:xfrm>
            <a:off x="2923344" y="1200712"/>
            <a:ext cx="6700891" cy="2532074"/>
            <a:chOff x="0" y="0"/>
            <a:chExt cx="6700891" cy="25327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9142DF-C73A-CE46-A16C-3C7BBB002739}"/>
                </a:ext>
              </a:extLst>
            </p:cNvPr>
            <p:cNvGrpSpPr/>
            <p:nvPr/>
          </p:nvGrpSpPr>
          <p:grpSpPr>
            <a:xfrm>
              <a:off x="0" y="0"/>
              <a:ext cx="6700891" cy="2532715"/>
              <a:chOff x="2031300" y="3386808"/>
              <a:chExt cx="6700891" cy="253271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374A606-C608-874B-9705-415503B87175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6700891" cy="2532715"/>
                <a:chOff x="0" y="0"/>
                <a:chExt cx="6700891" cy="2532715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21D5EFD-938E-7449-9F7A-4EB62DE370E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F04B1EF8-108B-0749-B2B9-7D43D3219F3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ounded Rectangle 15">
                      <a:extLst>
                        <a:ext uri="{FF2B5EF4-FFF2-40B4-BE49-F238E27FC236}">
                          <a16:creationId xmlns:a16="http://schemas.microsoft.com/office/drawing/2014/main" id="{436EAA1B-F8E5-E94F-A697-D61B93DC0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91" y="88618"/>
                      <a:ext cx="6629400" cy="2444097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When </a:t>
                      </a:r>
                      <a:r>
                        <a:rPr lang="en-US" sz="18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dividing fractions</a:t>
                      </a:r>
                      <a:r>
                        <a:rPr lang="en-US" sz="18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the division statement can be rewritten as an equivalent multiplication sentence by using the </a:t>
                      </a:r>
                      <a:r>
                        <a:rPr lang="en-US" sz="18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reciprocal</a:t>
                      </a:r>
                      <a:r>
                        <a:rPr lang="en-US" sz="18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or multiplicative inverse,</a:t>
                      </a:r>
                      <a:r>
                        <a:rPr lang="en-US" sz="18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 the second fraction.</a:t>
                      </a:r>
                      <a:endParaRPr lang="en-US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 ÷ 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 = 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 × 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 = 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 = 1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a14:m>
                      <a:r>
                        <a:rPr lang="en-US" sz="18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 dirty="0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ounded Rectangle 15">
                      <a:extLst>
                        <a:ext uri="{FF2B5EF4-FFF2-40B4-BE49-F238E27FC236}">
                          <a16:creationId xmlns:a16="http://schemas.microsoft.com/office/drawing/2014/main" id="{436EAA1B-F8E5-E94F-A697-D61B93DC09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491" y="88618"/>
                      <a:ext cx="6629400" cy="2444097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1" name="image15.png" descr="Icon&#10;&#10;Description automatically generated">
              <a:extLst>
                <a:ext uri="{FF2B5EF4-FFF2-40B4-BE49-F238E27FC236}">
                  <a16:creationId xmlns:a16="http://schemas.microsoft.com/office/drawing/2014/main" id="{8CADA0C3-1569-1D45-B15C-666CF6D31D6D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88945" y="148046"/>
              <a:ext cx="539750" cy="539750"/>
            </a:xfrm>
            <a:prstGeom prst="rect">
              <a:avLst/>
            </a:prstGeom>
            <a:ln/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5A770F-46E2-2546-B64E-BACD5FC8186E}"/>
              </a:ext>
            </a:extLst>
          </p:cNvPr>
          <p:cNvGrpSpPr/>
          <p:nvPr/>
        </p:nvGrpSpPr>
        <p:grpSpPr>
          <a:xfrm>
            <a:off x="2994834" y="4237154"/>
            <a:ext cx="6629400" cy="1477010"/>
            <a:chOff x="2031300" y="3373600"/>
            <a:chExt cx="6629400" cy="14771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A9DDB4C-2819-6F4B-B618-731410F70D79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1477108"/>
              <a:chOff x="2031300" y="3373600"/>
              <a:chExt cx="6629400" cy="147710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2A12AC6-7185-D047-8F9E-E50603096FD7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57FB23-0065-8646-94D9-9B36D201BFEA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6629400" cy="1477108"/>
                <a:chOff x="0" y="0"/>
                <a:chExt cx="6629400" cy="1477108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C802E6E-0BBB-D346-81AC-40B87496574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3201BFEA-96CB-5341-8ABB-F9206B35D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147710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Existence of multiplicative inverses</a:t>
                      </a:r>
                      <a:endPara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 every</a:t>
                      </a:r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≠0</m:t>
                          </m:r>
                        </m:oMath>
                      </a14:m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there exists</a:t>
                      </a:r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</m:oMath>
                      </a14:m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 that</a:t>
                      </a:r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=1</m:t>
                          </m:r>
                        </m:oMath>
                      </a14:m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</a:t>
                      </a:r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×</m:t>
                          </m:r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=1</m:t>
                          </m:r>
                        </m:oMath>
                      </a14:m>
                      <a:r>
                        <a:rPr lang="en-US" sz="1800" i="1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3201BFEA-96CB-5341-8ABB-F9206B35D71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6629400" cy="1477108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 t="-855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3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866B792E-E88B-D749-82FF-92AEB5F2F15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8545" y="9236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24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216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ed8cbce7_0_31"/>
          <p:cNvSpPr/>
          <p:nvPr/>
        </p:nvSpPr>
        <p:spPr>
          <a:xfrm>
            <a:off x="1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B9B80-EEC7-CA45-A846-76A36B0D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3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C6C8132-916C-EB40-9C16-6E42E980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160" y="170486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19E8FD-8E9A-2745-9FA5-641DE0765220}"/>
                  </a:ext>
                </a:extLst>
              </p:cNvPr>
              <p:cNvSpPr/>
              <p:nvPr/>
            </p:nvSpPr>
            <p:spPr>
              <a:xfrm>
                <a:off x="972458" y="359546"/>
                <a:ext cx="9294852" cy="15477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the tape diagrams, you determined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=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standard algorithm can also be used to determine the quotient.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19E8FD-8E9A-2745-9FA5-641DE0765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58" y="359546"/>
                <a:ext cx="9294852" cy="1547731"/>
              </a:xfrm>
              <a:prstGeom prst="rect">
                <a:avLst/>
              </a:prstGeom>
              <a:blipFill rotWithShape="0">
                <a:blip r:embed="rId3"/>
                <a:stretch>
                  <a:fillRect l="-722" t="-19291" b="-4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1E6C17-73D6-E040-B3FD-A97E2AE72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28043"/>
                  </p:ext>
                </p:extLst>
              </p:nvPr>
            </p:nvGraphicFramePr>
            <p:xfrm>
              <a:off x="2768283" y="2305078"/>
              <a:ext cx="6655435" cy="36703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736975">
                      <a:extLst>
                        <a:ext uri="{9D8B030D-6E8A-4147-A177-3AD203B41FA5}">
                          <a16:colId xmlns:a16="http://schemas.microsoft.com/office/drawing/2014/main" val="2525912859"/>
                        </a:ext>
                      </a:extLst>
                    </a:gridCol>
                    <a:gridCol w="2918460">
                      <a:extLst>
                        <a:ext uri="{9D8B030D-6E8A-4147-A177-3AD203B41FA5}">
                          <a16:colId xmlns:a16="http://schemas.microsoft.com/office/drawing/2014/main" val="885987799"/>
                        </a:ext>
                      </a:extLst>
                    </a:gridCol>
                  </a:tblGrid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Write the given division expression.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1663125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Rewrite the expression, rewriting any mixed numbers as fractions greater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2344942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Rewrite the division using multiplication by the reciprocal of the second fraction.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555460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Multiply the fractions and simplify.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4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34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1E6C17-73D6-E040-B3FD-A97E2AE72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28043"/>
                  </p:ext>
                </p:extLst>
              </p:nvPr>
            </p:nvGraphicFramePr>
            <p:xfrm>
              <a:off x="1244282" y="2305078"/>
              <a:ext cx="6655435" cy="36703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736975">
                      <a:extLst>
                        <a:ext uri="{9D8B030D-6E8A-4147-A177-3AD203B41FA5}">
                          <a16:colId xmlns:a16="http://schemas.microsoft.com/office/drawing/2014/main" val="2525912859"/>
                        </a:ext>
                      </a:extLst>
                    </a:gridCol>
                    <a:gridCol w="2918460">
                      <a:extLst>
                        <a:ext uri="{9D8B030D-6E8A-4147-A177-3AD203B41FA5}">
                          <a16:colId xmlns:a16="http://schemas.microsoft.com/office/drawing/2014/main" val="885987799"/>
                        </a:ext>
                      </a:extLst>
                    </a:gridCol>
                  </a:tblGrid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Write the given division expression.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7706" t="-1370" r="-433" b="-298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663125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2778" r="-78644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7706" t="-102778" r="-433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2344942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Rewrite the division using multiplication by the reciprocal of the second fraction.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7706" t="-200000" r="-4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555460"/>
                      </a:ext>
                    </a:extLst>
                  </a:tr>
                  <a:tr h="9175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387600" algn="l"/>
                            </a:tabLst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Multiply the fractions and simplify.</a:t>
                          </a:r>
                          <a:endParaRPr lang="en-US" sz="1600" b="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7706" t="-304167" r="-433" b="-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34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478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ed8cbce7_0_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B9B80-EEC7-CA45-A846-76A36B0D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3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C6C8132-916C-EB40-9C16-6E42E980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160" y="1704860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F17DAD-8192-8B47-AA07-31B5D1DA1118}"/>
                  </a:ext>
                </a:extLst>
              </p:cNvPr>
              <p:cNvSpPr/>
              <p:nvPr/>
            </p:nvSpPr>
            <p:spPr>
              <a:xfrm>
                <a:off x="972457" y="307983"/>
                <a:ext cx="9264389" cy="5598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5</a:t>
                </a: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quotient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5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÷ 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algorithm.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3F17DAD-8192-8B47-AA07-31B5D1DA1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57" y="307983"/>
                <a:ext cx="9264389" cy="559833"/>
              </a:xfrm>
              <a:prstGeom prst="rect">
                <a:avLst/>
              </a:prstGeom>
              <a:blipFill rotWithShape="0">
                <a:blip r:embed="rId3"/>
                <a:stretch>
                  <a:fillRect l="-724" t="-54945" b="-79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3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1" name="Google Shape;341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3" name="Google Shape;343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/>
        </p:nvSpPr>
        <p:spPr>
          <a:xfrm>
            <a:off x="1272308" y="26602"/>
            <a:ext cx="81481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1.7.3 Guided Practice: Dividing Fractions</a:t>
            </a:r>
            <a:endParaRPr dirty="0"/>
          </a:p>
        </p:txBody>
      </p:sp>
      <p:pic>
        <p:nvPicPr>
          <p:cNvPr id="352" name="Google Shape;352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500" y="19262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4" name="Google Shape;354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37B9553-CBD3-604E-AA99-1F4D8AE59A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19839"/>
                  </p:ext>
                </p:extLst>
              </p:nvPr>
            </p:nvGraphicFramePr>
            <p:xfrm>
              <a:off x="1931670" y="2084466"/>
              <a:ext cx="6829426" cy="37806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4971">
                      <a:extLst>
                        <a:ext uri="{9D8B030D-6E8A-4147-A177-3AD203B41FA5}">
                          <a16:colId xmlns:a16="http://schemas.microsoft.com/office/drawing/2014/main" val="3012183922"/>
                        </a:ext>
                      </a:extLst>
                    </a:gridCol>
                    <a:gridCol w="1735606">
                      <a:extLst>
                        <a:ext uri="{9D8B030D-6E8A-4147-A177-3AD203B41FA5}">
                          <a16:colId xmlns:a16="http://schemas.microsoft.com/office/drawing/2014/main" val="2458680100"/>
                        </a:ext>
                      </a:extLst>
                    </a:gridCol>
                    <a:gridCol w="1930497">
                      <a:extLst>
                        <a:ext uri="{9D8B030D-6E8A-4147-A177-3AD203B41FA5}">
                          <a16:colId xmlns:a16="http://schemas.microsoft.com/office/drawing/2014/main" val="104928301"/>
                        </a:ext>
                      </a:extLst>
                    </a:gridCol>
                    <a:gridCol w="1428352">
                      <a:extLst>
                        <a:ext uri="{9D8B030D-6E8A-4147-A177-3AD203B41FA5}">
                          <a16:colId xmlns:a16="http://schemas.microsoft.com/office/drawing/2014/main" val="307265849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indent="698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Division Sentence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Rewritten as Fractions (If Needed)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Multiplication Sentence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Quotient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070307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2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164943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998111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559273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18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÷ 1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81559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37B9553-CBD3-604E-AA99-1F4D8AE59A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19839"/>
                  </p:ext>
                </p:extLst>
              </p:nvPr>
            </p:nvGraphicFramePr>
            <p:xfrm>
              <a:off x="1931670" y="2084466"/>
              <a:ext cx="6829426" cy="380657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497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12183922"/>
                        </a:ext>
                      </a:extLst>
                    </a:gridCol>
                    <a:gridCol w="173560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58680100"/>
                        </a:ext>
                      </a:extLst>
                    </a:gridCol>
                    <a:gridCol w="193049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4928301"/>
                        </a:ext>
                      </a:extLst>
                    </a:gridCol>
                    <a:gridCol w="142835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72658499"/>
                        </a:ext>
                      </a:extLst>
                    </a:gridCol>
                  </a:tblGrid>
                  <a:tr h="880491">
                    <a:tc>
                      <a:txBody>
                        <a:bodyPr/>
                        <a:lstStyle/>
                        <a:p>
                          <a:pPr marL="0" marR="0" indent="698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Division Sentence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Rewritten as Fractions (If Needed)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Multiplication Sentence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Quotient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070307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51" t="-131667" r="-294386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4164943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51" t="-231667" r="-294386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0998111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51" t="-328926" r="-294386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2559273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51" t="-432500" r="-29438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041400" algn="l"/>
                            </a:tabLst>
                          </a:pPr>
                          <a:r>
                            <a:rPr lang="en-US" sz="18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 </a:t>
                          </a:r>
                          <a:endParaRPr lang="en-US" sz="1600" i="1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481559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2DDF110-2E11-B64C-93D5-B5E9208AA9F1}"/>
              </a:ext>
            </a:extLst>
          </p:cNvPr>
          <p:cNvSpPr/>
          <p:nvPr/>
        </p:nvSpPr>
        <p:spPr>
          <a:xfrm>
            <a:off x="1272308" y="1507557"/>
            <a:ext cx="6714302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Complete the table to find each quotient.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312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737EA7-13BF-8C40-BA9D-BD37018724E1}"/>
              </a:ext>
            </a:extLst>
          </p:cNvPr>
          <p:cNvSpPr/>
          <p:nvPr/>
        </p:nvSpPr>
        <p:spPr>
          <a:xfrm>
            <a:off x="856343" y="459506"/>
            <a:ext cx="10517433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2216150" algn="l"/>
              </a:tabLst>
            </a:pPr>
            <a:r>
              <a:rPr lang="en-US" sz="2000" dirty="0">
                <a:latin typeface="Verdana" panose="020B060403050404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2. Find each quotient using your preferred method. Simplify when possible.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C0E05E6-9C1A-B346-AC47-75DE6049E6C0}"/>
                  </a:ext>
                </a:extLst>
              </p:cNvPr>
              <p:cNvSpPr/>
              <p:nvPr/>
            </p:nvSpPr>
            <p:spPr>
              <a:xfrm>
                <a:off x="3145922" y="1985366"/>
                <a:ext cx="1366271" cy="5275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a.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C0E05E6-9C1A-B346-AC47-75DE6049E6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21" y="1985366"/>
                <a:ext cx="1366271" cy="527580"/>
              </a:xfrm>
              <a:prstGeom prst="rect">
                <a:avLst/>
              </a:prstGeom>
              <a:blipFill>
                <a:blip r:embed="rId4"/>
                <a:stretch>
                  <a:fillRect l="-4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D4586E4-20A9-264E-9305-7AC38D724253}"/>
                  </a:ext>
                </a:extLst>
              </p:cNvPr>
              <p:cNvSpPr/>
              <p:nvPr/>
            </p:nvSpPr>
            <p:spPr>
              <a:xfrm>
                <a:off x="7412954" y="1978826"/>
                <a:ext cx="1445396" cy="534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00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.   6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D4586E4-20A9-264E-9305-7AC38D724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954" y="1978825"/>
                <a:ext cx="1445396" cy="534121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35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31" name="Google Shape;431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32" name="Google Shape;43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35550" y="64618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47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"/>
          <p:cNvSpPr txBox="1"/>
          <p:nvPr/>
        </p:nvSpPr>
        <p:spPr>
          <a:xfrm>
            <a:off x="1280167" y="18675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1.7.4 Your Turn!</a:t>
            </a:r>
            <a:endParaRPr dirty="0"/>
          </a:p>
        </p:txBody>
      </p:sp>
      <p:pic>
        <p:nvPicPr>
          <p:cNvPr id="441" name="Google Shape;44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867" y="15772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1103086" y="1386025"/>
            <a:ext cx="9284498" cy="42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each quotient. Simplify when possible.</a:t>
            </a:r>
            <a:endParaRPr lang="en-US" sz="18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BFADD9-E0E2-1B42-8BD0-6F6132016E6F}"/>
                  </a:ext>
                </a:extLst>
              </p:cNvPr>
              <p:cNvSpPr/>
              <p:nvPr/>
            </p:nvSpPr>
            <p:spPr>
              <a:xfrm>
                <a:off x="3058528" y="2452273"/>
                <a:ext cx="1261884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 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BFADD9-E0E2-1B42-8BD0-6F6132016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528" y="2452273"/>
                <a:ext cx="1261884" cy="612732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137E7D-581C-C545-8459-E2951EB2504E}"/>
                  </a:ext>
                </a:extLst>
              </p:cNvPr>
              <p:cNvSpPr/>
              <p:nvPr/>
            </p:nvSpPr>
            <p:spPr>
              <a:xfrm>
                <a:off x="5609232" y="2513824"/>
                <a:ext cx="1953618" cy="485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.  2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÷ 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137E7D-581C-C545-8459-E2951EB25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232" y="2513824"/>
                <a:ext cx="1953618" cy="485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5D24E9-C3CE-B444-99A8-973697E12040}"/>
                  </a:ext>
                </a:extLst>
              </p:cNvPr>
              <p:cNvSpPr/>
              <p:nvPr/>
            </p:nvSpPr>
            <p:spPr>
              <a:xfrm>
                <a:off x="8212310" y="2517542"/>
                <a:ext cx="1087157" cy="4857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6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5D24E9-C3CE-B444-99A8-973697E120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309" y="2517542"/>
                <a:ext cx="1087157" cy="485774"/>
              </a:xfrm>
              <a:prstGeom prst="rect">
                <a:avLst/>
              </a:prstGeom>
              <a:blipFill>
                <a:blip r:embed="rId7"/>
                <a:stretch>
                  <a:fillRect l="-459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22DA133-DABF-FA4F-9BC9-3E3D28A2EAB5}"/>
                  </a:ext>
                </a:extLst>
              </p:cNvPr>
              <p:cNvSpPr/>
              <p:nvPr/>
            </p:nvSpPr>
            <p:spPr>
              <a:xfrm>
                <a:off x="3023009" y="4405727"/>
                <a:ext cx="1149674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9 ÷ 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22DA133-DABF-FA4F-9BC9-3E3D28A2E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009" y="4405727"/>
                <a:ext cx="1149674" cy="610936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43657C-EE82-A646-A890-911CDC1C1380}"/>
                  </a:ext>
                </a:extLst>
              </p:cNvPr>
              <p:cNvSpPr/>
              <p:nvPr/>
            </p:nvSpPr>
            <p:spPr>
              <a:xfrm>
                <a:off x="5551524" y="4391878"/>
                <a:ext cx="1467068" cy="618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1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 5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43657C-EE82-A646-A890-911CDC1C1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524" y="4391877"/>
                <a:ext cx="1467068" cy="618311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B8494FA-09CC-8145-8F0B-B973C08742A4}"/>
                  </a:ext>
                </a:extLst>
              </p:cNvPr>
              <p:cNvSpPr/>
              <p:nvPr/>
            </p:nvSpPr>
            <p:spPr>
              <a:xfrm>
                <a:off x="8212310" y="4458434"/>
                <a:ext cx="1026243" cy="4851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B8494FA-09CC-8145-8F0B-B973C0874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309" y="4458433"/>
                <a:ext cx="1026243" cy="485197"/>
              </a:xfrm>
              <a:prstGeom prst="rect">
                <a:avLst/>
              </a:prstGeom>
              <a:blipFill>
                <a:blip r:embed="rId10"/>
                <a:stretch>
                  <a:fillRect l="-487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125;g104476d1465_1_17"/>
          <p:cNvSpPr txBox="1"/>
          <p:nvPr/>
        </p:nvSpPr>
        <p:spPr>
          <a:xfrm>
            <a:off x="8635550" y="64618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47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CAA39C2-5E38-7843-990C-98832884511C}"/>
                  </a:ext>
                </a:extLst>
              </p:cNvPr>
              <p:cNvSpPr/>
              <p:nvPr/>
            </p:nvSpPr>
            <p:spPr>
              <a:xfrm>
                <a:off x="2898289" y="2156512"/>
                <a:ext cx="1069524" cy="4839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CAA39C2-5E38-7843-990C-988328845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289" y="2156511"/>
                <a:ext cx="1069524" cy="483915"/>
              </a:xfrm>
              <a:prstGeom prst="rect">
                <a:avLst/>
              </a:prstGeom>
              <a:blipFill>
                <a:blip r:embed="rId4"/>
                <a:stretch>
                  <a:fillRect l="-470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85618-F2CA-4D44-830D-31160FE2AD1E}"/>
                  </a:ext>
                </a:extLst>
              </p:cNvPr>
              <p:cNvSpPr txBox="1"/>
              <p:nvPr/>
            </p:nvSpPr>
            <p:spPr>
              <a:xfrm>
                <a:off x="5592626" y="2160269"/>
                <a:ext cx="1321196" cy="491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2 ÷ 3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85618-F2CA-4D44-830D-31160FE2A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626" y="2160269"/>
                <a:ext cx="1321196" cy="491738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5644A-340E-1544-AAAA-21D053046296}"/>
                  </a:ext>
                </a:extLst>
              </p:cNvPr>
              <p:cNvSpPr txBox="1"/>
              <p:nvPr/>
            </p:nvSpPr>
            <p:spPr>
              <a:xfrm>
                <a:off x="8507330" y="2156511"/>
                <a:ext cx="1455848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 1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÷ 5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5644A-340E-1544-AAAA-21D053046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30" y="2156511"/>
                <a:ext cx="1441420" cy="492443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D1682B1-DBEB-FD41-B33B-86BF2D5F5BA6}"/>
              </a:ext>
            </a:extLst>
          </p:cNvPr>
          <p:cNvSpPr/>
          <p:nvPr/>
        </p:nvSpPr>
        <p:spPr>
          <a:xfrm>
            <a:off x="782015" y="379172"/>
            <a:ext cx="613180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each quotient. Simplify when possible.</a:t>
            </a:r>
            <a:endParaRPr lang="en-US" sz="2000" i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35550" y="64618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47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62" name="Google Shape;462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63" name="Google Shape;46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35550" y="64618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47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"/>
          <p:cNvSpPr txBox="1"/>
          <p:nvPr/>
        </p:nvSpPr>
        <p:spPr>
          <a:xfrm>
            <a:off x="1415188" y="6718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1.7.5 Wrap-Up: Ticket Out the Door</a:t>
            </a:r>
            <a:endParaRPr dirty="0"/>
          </a:p>
        </p:txBody>
      </p:sp>
      <p:pic>
        <p:nvPicPr>
          <p:cNvPr id="472" name="Google Shape;47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888" y="3296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73" name="Google Shape;473;p34"/>
          <p:cNvSpPr txBox="1"/>
          <p:nvPr/>
        </p:nvSpPr>
        <p:spPr>
          <a:xfrm>
            <a:off x="1262743" y="1441110"/>
            <a:ext cx="907215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Find each product or quotient. Simplify when possible.</a:t>
            </a:r>
          </a:p>
        </p:txBody>
      </p:sp>
      <p:sp>
        <p:nvSpPr>
          <p:cNvPr id="474" name="Google Shape;474;p34"/>
          <p:cNvSpPr/>
          <p:nvPr/>
        </p:nvSpPr>
        <p:spPr>
          <a:xfrm>
            <a:off x="0" y="-1023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B9F46CA-EAAF-6948-99F3-F3AEAD8CACA2}"/>
                  </a:ext>
                </a:extLst>
              </p:cNvPr>
              <p:cNvSpPr/>
              <p:nvPr/>
            </p:nvSpPr>
            <p:spPr>
              <a:xfrm>
                <a:off x="3332062" y="2570654"/>
                <a:ext cx="1170513" cy="485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a.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B9F46CA-EAAF-6948-99F3-F3AEAD8C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061" y="2570654"/>
                <a:ext cx="1170513" cy="485454"/>
              </a:xfrm>
              <a:prstGeom prst="rect">
                <a:avLst/>
              </a:prstGeom>
              <a:blipFill>
                <a:blip r:embed="rId5"/>
                <a:stretch>
                  <a:fillRect l="-430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EB9F911-3A4E-B349-AD96-176994B73CDA}"/>
                  </a:ext>
                </a:extLst>
              </p:cNvPr>
              <p:cNvSpPr/>
              <p:nvPr/>
            </p:nvSpPr>
            <p:spPr>
              <a:xfrm>
                <a:off x="7039543" y="2549238"/>
                <a:ext cx="1510991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EB9F911-3A4E-B349-AD96-176994B73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542" y="2549238"/>
                <a:ext cx="1510991" cy="506870"/>
              </a:xfrm>
              <a:prstGeom prst="rect">
                <a:avLst/>
              </a:prstGeom>
              <a:blipFill>
                <a:blip r:embed="rId6"/>
                <a:stretch>
                  <a:fillRect l="-3333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9ADD63-6E78-EE44-9162-F957A78FB8B8}"/>
                  </a:ext>
                </a:extLst>
              </p:cNvPr>
              <p:cNvSpPr txBox="1"/>
              <p:nvPr/>
            </p:nvSpPr>
            <p:spPr>
              <a:xfrm>
                <a:off x="3332061" y="4085952"/>
                <a:ext cx="1526380" cy="485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 2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9ADD63-6E78-EE44-9162-F957A78FB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061" y="4085952"/>
                <a:ext cx="1526380" cy="4859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DE2B71-C7F5-8142-9EAD-746DE31768CD}"/>
                  </a:ext>
                </a:extLst>
              </p:cNvPr>
              <p:cNvSpPr txBox="1"/>
              <p:nvPr/>
            </p:nvSpPr>
            <p:spPr>
              <a:xfrm>
                <a:off x="7039542" y="4241493"/>
                <a:ext cx="140936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3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4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DE2B71-C7F5-8142-9EAD-746DE317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542" y="4241493"/>
                <a:ext cx="1409360" cy="4857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25;g104476d1465_1_17"/>
          <p:cNvSpPr txBox="1"/>
          <p:nvPr/>
        </p:nvSpPr>
        <p:spPr>
          <a:xfrm>
            <a:off x="8635550" y="64618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73776" y="62047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896</Words>
  <Application>Microsoft Office PowerPoint</Application>
  <PresentationFormat>Widescreen</PresentationFormat>
  <Paragraphs>180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Verdana</vt:lpstr>
      <vt:lpstr>1_Office Theme</vt:lpstr>
      <vt:lpstr>6th Grade Accelerated Math  Unit 1, Lesson 7  Dividing Positive Fractions  Volume 1, pg. 34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1, Lesson 3  Rewriting Expressions Using the Distributive Property  Volume 1, pg. 14  </dc:title>
  <dc:creator>Karen McKenzie</dc:creator>
  <cp:lastModifiedBy>Cassie O'Connor</cp:lastModifiedBy>
  <cp:revision>9</cp:revision>
  <cp:lastPrinted>2022-02-08T20:27:47Z</cp:lastPrinted>
  <dcterms:created xsi:type="dcterms:W3CDTF">2015-03-17T18:51:18Z</dcterms:created>
  <dcterms:modified xsi:type="dcterms:W3CDTF">2022-06-29T04:35:12Z</dcterms:modified>
</cp:coreProperties>
</file>