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72" r:id="rId8"/>
    <p:sldId id="373" r:id="rId9"/>
    <p:sldId id="374" r:id="rId10"/>
    <p:sldId id="375" r:id="rId11"/>
    <p:sldId id="376" r:id="rId12"/>
    <p:sldId id="386" r:id="rId13"/>
    <p:sldId id="377" r:id="rId14"/>
    <p:sldId id="378" r:id="rId15"/>
    <p:sldId id="379" r:id="rId16"/>
    <p:sldId id="380" r:id="rId17"/>
    <p:sldId id="387" r:id="rId18"/>
    <p:sldId id="314" r:id="rId19"/>
    <p:sldId id="315" r:id="rId20"/>
    <p:sldId id="362" r:id="rId21"/>
    <p:sldId id="381" r:id="rId22"/>
    <p:sldId id="382" r:id="rId23"/>
    <p:sldId id="383" r:id="rId24"/>
    <p:sldId id="384" r:id="rId25"/>
    <p:sldId id="302" r:id="rId26"/>
    <p:sldId id="303" r:id="rId27"/>
    <p:sldId id="306" r:id="rId28"/>
    <p:sldId id="307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73"/>
    <p:restoredTop sz="94695"/>
  </p:normalViewPr>
  <p:slideViewPr>
    <p:cSldViewPr snapToGrid="0">
      <p:cViewPr varScale="1">
        <p:scale>
          <a:sx n="81" d="100"/>
          <a:sy n="81" d="100"/>
        </p:scale>
        <p:origin x="27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3573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6793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677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9048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1080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2054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721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8172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0928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314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771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05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3481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5468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54732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106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Percent Increase and Decrease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247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70015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22145" y="211344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645" y="44711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97845" y="1600200"/>
            <a:ext cx="87963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MA.7.AR.3.1 </a:t>
            </a:r>
          </a:p>
          <a:p>
            <a:pPr marL="46196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previous understanding of percentages and ratios to solve multi-step, real-world percent problems.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419" y="4144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73069" y="171838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73069" y="1596390"/>
            <a:ext cx="963362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7226" y="-3428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064" y="2549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697845" y="1498651"/>
            <a:ext cx="87963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find percent increase or percent decrease.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9345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12.7.1 Warm-Up: Interpreting Percentages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045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29345" y="1386025"/>
            <a:ext cx="95893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exactly 93.6% of people completed a survey, what is the fewest number of people that were surveyed? Consider: How could it be determined if only one person could have completed it? Can partial people complete the survey?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your answer using mathematics. 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8027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1364" y="4695209"/>
            <a:ext cx="6270469" cy="2097477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9345" y="5675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12.7.2 Guided Instruction: Percent of Change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045" y="2640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429345" y="1386026"/>
                <a:ext cx="9589342" cy="2989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Percentages can be used to make comparisons from one quantity to another.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It takes Andre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times longer than it took Jada to get to school.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196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diagram models this in terms of percentages.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each line of the tape diagram with the name of the student who is represented.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345" y="1386026"/>
                <a:ext cx="9589342" cy="2989793"/>
              </a:xfrm>
              <a:prstGeom prst="rect">
                <a:avLst/>
              </a:prstGeom>
              <a:blipFill rotWithShape="0">
                <a:blip r:embed="rId5"/>
                <a:stretch>
                  <a:fillRect l="-699" t="-1018" b="-2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9895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007765" y="2872123"/>
                <a:ext cx="832713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statements.</a:t>
                </a:r>
              </a:p>
              <a:p>
                <a:pPr marL="461963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196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time it takes Andre to get to school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75%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61963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196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than the time it takes Jada. The diagram shows Andre’s </a:t>
                </a:r>
              </a:p>
              <a:p>
                <a:pPr marL="461963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196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travel time is                   of Jada’s travel time.</a:t>
                </a:r>
              </a:p>
              <a:p>
                <a:pPr marL="461963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1963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 Jada’s time. Write an expression to model how long it takes Andre to get to school.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5" y="2872123"/>
                <a:ext cx="8327136" cy="3785652"/>
              </a:xfrm>
              <a:prstGeom prst="rect">
                <a:avLst/>
              </a:prstGeom>
              <a:blipFill>
                <a:blip r:embed="rId4"/>
                <a:stretch>
                  <a:fillRect l="-805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1750" y="3242705"/>
            <a:ext cx="1330874" cy="8362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5638" y="4513138"/>
            <a:ext cx="1397000" cy="901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2215BA-CC3E-4AE4-9181-14931B6B718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766" y="663847"/>
            <a:ext cx="6270469" cy="2097477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518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965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34321" y="520394"/>
            <a:ext cx="102740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5513" indent="-447675">
              <a:buFont typeface="+mj-lt"/>
              <a:buAutoNum type="alphaL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it takes Jada 8 minutes to get to school, calculate how long it takes Andre to get to school.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terms “percent increase” and “percent decrease”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are used to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describe a specific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b="1" i="1" dirty="0">
                <a:latin typeface="Verdana" charset="0"/>
                <a:ea typeface="Verdana" charset="0"/>
                <a:cs typeface="Verdana" charset="0"/>
              </a:rPr>
              <a:t>percent of change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.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double number line can also be used to model percent increase or percent decrease.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Text Box 24"/>
          <p:cNvSpPr txBox="1"/>
          <p:nvPr/>
        </p:nvSpPr>
        <p:spPr>
          <a:xfrm>
            <a:off x="2939296" y="3072062"/>
            <a:ext cx="6629400" cy="1615306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5513"/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A </a:t>
            </a:r>
            <a:r>
              <a:rPr lang="en-US" sz="2000" b="1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percent of change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is the difference between a final value and an initial value, expressed as a percentage of the initial value.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797" y="3337227"/>
            <a:ext cx="558119" cy="570949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9501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24262" y="520394"/>
                <a:ext cx="10094142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movie theater decreased the size of popcorn bags by 20%. The old bags held 15 cups of popcorn.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the top number line, plot the 15 cups of popcorn as the initial value of 100%. </a:t>
                </a: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the second line, plot 20% less than the initial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100%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262" y="520394"/>
                <a:ext cx="10094142" cy="4708981"/>
              </a:xfrm>
              <a:prstGeom prst="rect">
                <a:avLst/>
              </a:prstGeom>
              <a:blipFill rotWithShape="0">
                <a:blip r:embed="rId3"/>
                <a:stretch>
                  <a:fillRect l="-664" t="-776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1183" y="1550857"/>
            <a:ext cx="7480300" cy="14478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8117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424067" y="520394"/>
                <a:ext cx="9940158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double number line to find the number of cups in the smaller bag.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the double number line is helpful for determining the impact of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decrease in the size of the popcorn bag.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067" y="520394"/>
                <a:ext cx="9940158" cy="3477875"/>
              </a:xfrm>
              <a:prstGeom prst="rect">
                <a:avLst/>
              </a:prstGeom>
              <a:blipFill rotWithShape="0">
                <a:blip r:embed="rId3"/>
                <a:stretch>
                  <a:fillRect l="-675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8678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4268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8091" y="60325"/>
            <a:ext cx="93048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12.7.3 Try It: Percent of Change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283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1558977" y="1386025"/>
            <a:ext cx="8828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which diagram, A or B, matches each situation.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8450" y="1980417"/>
            <a:ext cx="7480300" cy="402590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7350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549031"/>
              </p:ext>
            </p:extLst>
          </p:nvPr>
        </p:nvGraphicFramePr>
        <p:xfrm>
          <a:off x="2132147" y="370865"/>
          <a:ext cx="8146109" cy="5505279"/>
        </p:xfrm>
        <a:graphic>
          <a:graphicData uri="http://schemas.openxmlformats.org/drawingml/2006/table">
            <a:tbl>
              <a:tblPr firstRow="1" firstCol="1" bandRow="1"/>
              <a:tblGrid>
                <a:gridCol w="3150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7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Situation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Matching Diagram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Reason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4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Compared to last year’s strawberry harvest, this year’s increased 25%. </a:t>
                      </a:r>
                      <a:endParaRPr lang="en-US" sz="1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832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This year’s blueberry harvest is 75% of last year’s. 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94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Compared to last year, this year’s peach harvest decreased by 25%.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832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This year’s plum harvest is 125% of last year’s plum harvest. 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3161" marR="531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839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84223" y="520394"/>
            <a:ext cx="9974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number of mosquitoes decreased by 80% from last month to this month. Create a tape diagram of this month to represent the situation.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5033" y="2047407"/>
            <a:ext cx="6832600" cy="21336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0379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94282" y="520394"/>
            <a:ext cx="10154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gas tank in Robert’s truck holds 12 gallons. The gas tank in his mom’s truck holds 50% more gas. Using the double number lines, determine how many gallons the gas tank of Robert’s mom’s truck holds.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1183" y="2435277"/>
            <a:ext cx="7480300" cy="14478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4218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8051" y="5260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12.7.4 Collaboration: Calculating Percent Increase or Decrease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283" y="34055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558977" y="1386026"/>
                <a:ext cx="721026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Percent increase and decrease can also be found through calculations.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following with your partner.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new cereal box contains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More” cereal. The original cereal boxes contained 500 grams of cereal.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how to determine how much cereal is in the new box. </a:t>
                </a: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cereal comes in the new box?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977" y="1386026"/>
                <a:ext cx="7210269" cy="4401205"/>
              </a:xfrm>
              <a:prstGeom prst="rect">
                <a:avLst/>
              </a:prstGeom>
              <a:blipFill rotWithShape="0">
                <a:blip r:embed="rId4"/>
                <a:stretch>
                  <a:fillRect l="-930" t="-693" b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5157" y="1619137"/>
            <a:ext cx="1959732" cy="2298916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99213" y="520394"/>
                <a:ext cx="659067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price of a shirt at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ClothesMart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$18.50, but there is a store coupon that lowers the price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determine how much the shirt is with the coupon.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213" y="520394"/>
                <a:ext cx="6590676" cy="2246769"/>
              </a:xfrm>
              <a:prstGeom prst="rect">
                <a:avLst/>
              </a:prstGeom>
              <a:blipFill rotWithShape="0">
                <a:blip r:embed="rId3"/>
                <a:stretch>
                  <a:fillRect l="-1018" t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4543" y="323554"/>
            <a:ext cx="2440359" cy="275138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6973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19134" y="520394"/>
            <a:ext cx="97043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table shows two different ways to complete this problem, along with corresponding answers.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5513" indent="-447675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whether or not these equations are equivalent.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447592"/>
                  </p:ext>
                </p:extLst>
              </p:nvPr>
            </p:nvGraphicFramePr>
            <p:xfrm>
              <a:off x="2600355" y="1619905"/>
              <a:ext cx="7141956" cy="22021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81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93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384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Approach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𝟏</m:t>
                              </m:r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Approach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𝟐</m:t>
                              </m:r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909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cost of the shirt with the coupon will be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80%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of the original cost.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new cost of the shirt is what’s remaining after 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20%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has been deducted from the original cost.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7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New cost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0.8</m:t>
                              </m:r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18.50</m:t>
                                  </m:r>
                                </m:e>
                              </m:d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New cost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18.50−0.2</m:t>
                              </m:r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18.50</m:t>
                                  </m:r>
                                </m:e>
                              </m:d>
                            </m:oMath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447592"/>
                  </p:ext>
                </p:extLst>
              </p:nvPr>
            </p:nvGraphicFramePr>
            <p:xfrm>
              <a:off x="1076355" y="1619905"/>
              <a:ext cx="7141956" cy="22021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8124"/>
                    <a:gridCol w="3793832"/>
                  </a:tblGrid>
                  <a:tr h="3384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82" t="-21429" r="-113636" b="-58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88443" t="-21429" r="-321" b="-582143"/>
                          </a:stretch>
                        </a:blipFill>
                      </a:tcPr>
                    </a:tc>
                  </a:tr>
                  <a:tr h="14909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82" t="-27755" r="-113636" b="-3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88443" t="-27755" r="-321" b="-33061"/>
                          </a:stretch>
                        </a:blipFill>
                      </a:tcPr>
                    </a:tc>
                  </a:tr>
                  <a:tr h="372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82" t="-513115" r="-113636" b="-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88443" t="-513115" r="-321" b="-3278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9410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633929" y="520393"/>
            <a:ext cx="9505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Did your answer to Part A match the solution(s) of the equations in the table?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24"/>
              <p:cNvSpPr txBox="1"/>
              <p:nvPr/>
            </p:nvSpPr>
            <p:spPr>
              <a:xfrm>
                <a:off x="2894326" y="4789156"/>
                <a:ext cx="7401580" cy="1101979"/>
              </a:xfrm>
              <a:prstGeom prst="roundRect">
                <a:avLst/>
              </a:prstGeom>
              <a:solidFill>
                <a:srgbClr val="B6E6F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925513"/>
                <a:r>
                  <a:rPr lang="en-US" sz="2000" b="1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Percent of Change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𝟏𝟎𝟎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×</m:t>
                    </m:r>
                    <m:r>
                      <a:rPr lang="en-US" sz="20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𝐅𝐢𝐧𝐚𝐥</m:t>
                        </m:r>
                        <m:r>
                          <a:rPr lang="en-US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 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𝐕𝐚𝐥𝐮𝐞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𝐈𝐧𝐢𝐭𝐢𝐚𝐥</m:t>
                        </m:r>
                        <m:r>
                          <a:rPr lang="en-US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 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𝐕𝐚𝐥𝐮𝐞</m:t>
                        </m:r>
                      </m:num>
                      <m:den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𝐈𝐧𝐢𝐭𝐢𝐚𝐥</m:t>
                        </m:r>
                        <m:r>
                          <a:rPr lang="en-US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 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𝐕𝐚𝐥𝐮𝐞</m:t>
                        </m:r>
                      </m:den>
                    </m:f>
                  </m:oMath>
                </a14:m>
                <a:endParaRPr lang="en-US" sz="2000" dirty="0">
                  <a:solidFill>
                    <a:srgbClr val="0070C0"/>
                  </a:solidFill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326" y="4789156"/>
                <a:ext cx="7401580" cy="110197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0849" y="4974891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0562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09273" y="520393"/>
                <a:ext cx="1024300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original cost of pants at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ClothesMart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$30.00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after a store coupon is applied, the cost is only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$25.50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percent of change by filling in the blanks of the percent of change ratio for the situation.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273" y="520393"/>
                <a:ext cx="10243008" cy="1631216"/>
              </a:xfrm>
              <a:prstGeom prst="rect">
                <a:avLst/>
              </a:prstGeom>
              <a:blipFill rotWithShape="0">
                <a:blip r:embed="rId3"/>
                <a:stretch>
                  <a:fillRect l="-655" t="-2239" r="-238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2700" y="2476500"/>
            <a:ext cx="7073900" cy="1905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49077" y="4706391"/>
            <a:ext cx="9203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Explain whether the percent of change represents a percent increase or decrease based on its value.</a:t>
            </a:r>
            <a:endParaRPr lang="en-US" dirty="0">
              <a:latin typeface="Cambria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9631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438400" y="520394"/>
            <a:ext cx="78965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statements.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calculating the percent of change using the ratio,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positive value represents a percent 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and a negative value represents a percent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 this context, it makes sense that the percent change is a 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percent                   because the change is the result of a 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discount.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4751" y="1517457"/>
            <a:ext cx="1629203" cy="8681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9876" y="2385651"/>
            <a:ext cx="1672077" cy="8789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738" y="3690916"/>
            <a:ext cx="1511300" cy="82532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6236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20637" y="18146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12.7.5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337" y="1814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499016" y="1386026"/>
            <a:ext cx="88885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school had 1,200 students last year and only 1,080 students this year. What was the percentage decrease in the number of students?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juice box has 20% more juice in its new packaging. The original packaging held 12 fluid ounces. How much juice does the new packaging hold?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0419" y="-45995"/>
            <a:ext cx="99316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12.7.6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970" y="2168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079292" y="1386025"/>
                <a:ext cx="995484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number of campers who attend a local summer camp has increased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1,938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2,128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camp director calculates the percent of increase for an upcoming presentation. Her work is shown.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196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the camp director’s mistake.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1386025"/>
                <a:ext cx="9954840" cy="4093428"/>
              </a:xfrm>
              <a:prstGeom prst="rect">
                <a:avLst/>
              </a:prstGeom>
              <a:blipFill rotWithShape="0">
                <a:blip r:embed="rId4"/>
                <a:stretch>
                  <a:fillRect l="-674" t="-893" r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6162" y="2782064"/>
            <a:ext cx="3721100" cy="187960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638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1258</Words>
  <Application>Microsoft Office PowerPoint</Application>
  <PresentationFormat>Widescreen</PresentationFormat>
  <Paragraphs>223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6th Grade Accelerated Math  Unit 12, Lesson 7  Percent Increase and Decrease  Volume 2, pg. 247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27</cp:revision>
  <dcterms:created xsi:type="dcterms:W3CDTF">2015-03-17T18:51:18Z</dcterms:created>
  <dcterms:modified xsi:type="dcterms:W3CDTF">2022-10-03T14:55:12Z</dcterms:modified>
</cp:coreProperties>
</file>