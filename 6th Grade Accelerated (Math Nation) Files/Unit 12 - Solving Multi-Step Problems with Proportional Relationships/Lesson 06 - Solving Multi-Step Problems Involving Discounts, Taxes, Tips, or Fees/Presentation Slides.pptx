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288" r:id="rId8"/>
    <p:sldId id="372" r:id="rId9"/>
    <p:sldId id="373" r:id="rId10"/>
    <p:sldId id="374" r:id="rId11"/>
    <p:sldId id="375" r:id="rId12"/>
    <p:sldId id="376" r:id="rId13"/>
    <p:sldId id="314" r:id="rId14"/>
    <p:sldId id="315" r:id="rId15"/>
    <p:sldId id="362" r:id="rId16"/>
    <p:sldId id="377" r:id="rId17"/>
    <p:sldId id="378" r:id="rId18"/>
    <p:sldId id="302" r:id="rId19"/>
    <p:sldId id="303" r:id="rId20"/>
    <p:sldId id="370" r:id="rId21"/>
    <p:sldId id="379" r:id="rId22"/>
    <p:sldId id="306" r:id="rId23"/>
    <p:sldId id="307"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2574"/>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837"/>
    <p:restoredTop sz="94694"/>
  </p:normalViewPr>
  <p:slideViewPr>
    <p:cSldViewPr snapToGrid="0">
      <p:cViewPr varScale="1">
        <p:scale>
          <a:sx n="115" d="100"/>
          <a:sy n="115" d="100"/>
        </p:scale>
        <p:origin x="232" y="3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548021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30048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319003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345942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44763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09405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44202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5334053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0266757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846551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17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23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193762"/>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12, Lesson 6</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Solving Multi-Step Problems Involving Discounts, Taxes, Tips, or Fees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241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70015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21238" y="404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97738" y="23982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21238" y="1600200"/>
            <a:ext cx="93495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MA.7.AR.3.1 </a:t>
            </a:r>
          </a:p>
          <a:p>
            <a:pPr marL="458788" indent="0">
              <a:buNone/>
            </a:pPr>
            <a:r>
              <a:rPr lang="en-US" sz="2400" dirty="0">
                <a:latin typeface="Verdana" charset="0"/>
                <a:ea typeface="Verdana" charset="0"/>
                <a:cs typeface="Verdana" charset="0"/>
              </a:rPr>
              <a:t>Apply previous understanding of percentages and ratios to solve multi-step, real-world percent problems.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48302" y="35731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72952" y="11467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72952" y="1596390"/>
            <a:ext cx="983385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241</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67290" y="-79256"/>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19990" y="209944"/>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705340" y="1498651"/>
            <a:ext cx="878132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solve multi-step problems that involve discounts, markups, taxes, tips, or fees.</a:t>
            </a:r>
          </a:p>
        </p:txBody>
      </p:sp>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7035"/>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3439"/>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5928"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12.6.1 Warm-Up: Percentages on a Linear Model</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70453" y="31740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455928" y="1386025"/>
                <a:ext cx="953617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Fill in the blue boxes using the digits </a:t>
                </a:r>
                <a14:m>
                  <m:oMath xmlns:m="http://schemas.openxmlformats.org/officeDocument/2006/math">
                    <m:r>
                      <a:rPr lang="en-US" sz="2000" i="1">
                        <a:latin typeface="Cambria Math" panose="02040503050406030204" pitchFamily="18" charset="0"/>
                        <a:ea typeface="Verdana" charset="0"/>
                        <a:cs typeface="Verdana" charset="0"/>
                      </a:rPr>
                      <m:t>1−9</m:t>
                    </m:r>
                  </m:oMath>
                </a14:m>
                <a:r>
                  <a:rPr lang="en-US" sz="2000" dirty="0">
                    <a:latin typeface="Verdana" charset="0"/>
                    <a:ea typeface="Verdana" charset="0"/>
                    <a:cs typeface="Verdana" charset="0"/>
                  </a:rPr>
                  <a:t>, one time each at most, to create an accurate number line.</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455928" y="1386025"/>
                <a:ext cx="9536176" cy="707886"/>
              </a:xfrm>
              <a:prstGeom prst="rect">
                <a:avLst/>
              </a:prstGeom>
              <a:blipFill rotWithShape="0">
                <a:blip r:embed="rId4"/>
                <a:stretch>
                  <a:fillRect l="-703" t="-5172" r="-1087" b="-14655"/>
                </a:stretch>
              </a:blipFill>
            </p:spPr>
            <p:txBody>
              <a:bodyPr/>
              <a:lstStyle/>
              <a:p>
                <a:r>
                  <a:rPr lang="en-US">
                    <a:noFill/>
                  </a:rPr>
                  <a:t> </a:t>
                </a:r>
              </a:p>
            </p:txBody>
          </p:sp>
        </mc:Fallback>
      </mc:AlternateContent>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64034" y="2415228"/>
            <a:ext cx="7119964" cy="2008767"/>
          </a:xfrm>
          <a:prstGeom prst="rect">
            <a:avLst/>
          </a:prstGeom>
        </p:spPr>
      </p:pic>
      <p:sp>
        <p:nvSpPr>
          <p:cNvPr id="9"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241</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59370" y="520393"/>
                <a:ext cx="10423926" cy="3477875"/>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There are multiple possible solutions.</a:t>
                </a:r>
              </a:p>
              <a:p>
                <a:r>
                  <a:rPr lang="en-US" sz="2000" dirty="0">
                    <a:latin typeface="Verdana" charset="0"/>
                    <a:ea typeface="Verdana" charset="0"/>
                    <a:cs typeface="Verdana" charset="0"/>
                  </a:rPr>
                  <a:t> </a:t>
                </a:r>
              </a:p>
              <a:p>
                <a:pPr marL="917575" lvl="1" indent="-444500">
                  <a:buFont typeface="+mj-lt"/>
                  <a:buAutoNum type="alphaLcPeriod"/>
                </a:pPr>
                <a:r>
                  <a:rPr lang="en-US" sz="2000" dirty="0">
                    <a:latin typeface="Verdana" charset="0"/>
                    <a:ea typeface="Verdana" charset="0"/>
                    <a:cs typeface="Verdana" charset="0"/>
                  </a:rPr>
                  <a:t>Find at least one other solution.</a:t>
                </a: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r>
                  <a:rPr lang="en-US" sz="2000" dirty="0">
                    <a:latin typeface="Verdana" charset="0"/>
                    <a:ea typeface="Verdana" charset="0"/>
                    <a:cs typeface="Verdana" charset="0"/>
                  </a:rPr>
                  <a:t>Explain whether using </a:t>
                </a:r>
                <a14:m>
                  <m:oMath xmlns:m="http://schemas.openxmlformats.org/officeDocument/2006/math">
                    <m:r>
                      <a:rPr lang="en-US" sz="2000" i="1">
                        <a:latin typeface="Cambria Math" panose="02040503050406030204" pitchFamily="18" charset="0"/>
                        <a:ea typeface="Verdana" charset="0"/>
                        <a:cs typeface="Verdana" charset="0"/>
                      </a:rPr>
                      <m:t>47%</m:t>
                    </m:r>
                  </m:oMath>
                </a14:m>
                <a:r>
                  <a:rPr lang="en-US" sz="2000" dirty="0">
                    <a:latin typeface="Verdana" charset="0"/>
                    <a:ea typeface="Verdana" charset="0"/>
                    <a:cs typeface="Verdana" charset="0"/>
                  </a:rPr>
                  <a:t> for the percentage makes sense.</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59370" y="520393"/>
                <a:ext cx="10423926" cy="3477875"/>
              </a:xfrm>
              <a:prstGeom prst="rect">
                <a:avLst/>
              </a:prstGeom>
              <a:blipFill rotWithShape="0">
                <a:blip r:embed="rId3"/>
                <a:stretch>
                  <a:fillRect l="-643" t="-1051" b="-2277"/>
                </a:stretch>
              </a:blipFill>
            </p:spPr>
            <p:txBody>
              <a:bodyPr/>
              <a:lstStyle/>
              <a:p>
                <a:r>
                  <a:rPr lang="en-US">
                    <a:noFill/>
                  </a:rPr>
                  <a:t> </a:t>
                </a:r>
              </a:p>
            </p:txBody>
          </p:sp>
        </mc:Fallback>
      </mc:AlternateContent>
      <p:sp>
        <p:nvSpPr>
          <p:cNvPr id="6"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241</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20321"/>
            <a:ext cx="2731200" cy="6898631"/>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5329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6385"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12.6.2 Exploration: Finding Sales Tax Rates and Total Amounts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0087" y="308451"/>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432341" y="1386026"/>
            <a:ext cx="9583350" cy="1938992"/>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Cities often have different sales tax rates based on local government decisions.  </a:t>
            </a:r>
          </a:p>
          <a:p>
            <a:r>
              <a:rPr lang="en-US" sz="2000" dirty="0">
                <a:latin typeface="Verdana" charset="0"/>
                <a:ea typeface="Verdana" charset="0"/>
                <a:cs typeface="Verdana" charset="0"/>
              </a:rPr>
              <a:t> </a:t>
            </a:r>
          </a:p>
          <a:p>
            <a:pPr marL="917575" indent="-444500">
              <a:buFont typeface="+mj-lt"/>
              <a:buAutoNum type="alphaLcPeriod"/>
            </a:pPr>
            <a:r>
              <a:rPr lang="en-US" sz="2000" dirty="0">
                <a:latin typeface="Verdana" charset="0"/>
                <a:ea typeface="Verdana" charset="0"/>
                <a:cs typeface="Verdana" charset="0"/>
              </a:rPr>
              <a:t>Discuss with your partner how you might find the percentage of sales tax if you are given the price of an item and the amount of sales tax paid for the item. Summarize your discussion.</a:t>
            </a:r>
          </a:p>
        </p:txBody>
      </p:sp>
      <p:sp>
        <p:nvSpPr>
          <p:cNvPr id="9"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242</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69074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54243" y="520393"/>
            <a:ext cx="10418320" cy="707886"/>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With your partner, complete the two tables to determine the sales tax rates for City A and City B.</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867128129"/>
                  </p:ext>
                </p:extLst>
              </p:nvPr>
            </p:nvGraphicFramePr>
            <p:xfrm>
              <a:off x="2245143" y="1546670"/>
              <a:ext cx="7790482" cy="2133600"/>
            </p:xfrm>
            <a:graphic>
              <a:graphicData uri="http://schemas.openxmlformats.org/drawingml/2006/table">
                <a:tbl>
                  <a:tblPr firstRow="1" firstCol="1" lastRow="1" lastCol="1"/>
                  <a:tblGrid>
                    <a:gridCol w="2265472">
                      <a:extLst>
                        <a:ext uri="{9D8B030D-6E8A-4147-A177-3AD203B41FA5}">
                          <a16:colId xmlns:a16="http://schemas.microsoft.com/office/drawing/2014/main" val="20000"/>
                        </a:ext>
                      </a:extLst>
                    </a:gridCol>
                    <a:gridCol w="891231">
                      <a:extLst>
                        <a:ext uri="{9D8B030D-6E8A-4147-A177-3AD203B41FA5}">
                          <a16:colId xmlns:a16="http://schemas.microsoft.com/office/drawing/2014/main" val="20001"/>
                        </a:ext>
                      </a:extLst>
                    </a:gridCol>
                    <a:gridCol w="1579910">
                      <a:extLst>
                        <a:ext uri="{9D8B030D-6E8A-4147-A177-3AD203B41FA5}">
                          <a16:colId xmlns:a16="http://schemas.microsoft.com/office/drawing/2014/main" val="20002"/>
                        </a:ext>
                      </a:extLst>
                    </a:gridCol>
                    <a:gridCol w="3053869">
                      <a:extLst>
                        <a:ext uri="{9D8B030D-6E8A-4147-A177-3AD203B41FA5}">
                          <a16:colId xmlns:a16="http://schemas.microsoft.com/office/drawing/2014/main" val="20003"/>
                        </a:ext>
                      </a:extLst>
                    </a:gridCol>
                  </a:tblGrid>
                  <a:tr h="0">
                    <a:tc gridSpan="4">
                      <a:txBody>
                        <a:bodyPr/>
                        <a:lstStyle/>
                        <a:p>
                          <a:pPr marL="0" marR="0" algn="ctr">
                            <a:spcBef>
                              <a:spcPts val="0"/>
                            </a:spcBef>
                            <a:spcAft>
                              <a:spcPts val="0"/>
                            </a:spcAft>
                          </a:pPr>
                          <a:r>
                            <a:rPr lang="en-US" sz="2000" b="1" dirty="0">
                              <a:effectLst/>
                              <a:latin typeface="Verdana" charset="0"/>
                              <a:ea typeface="Verdana" charset="0"/>
                              <a:cs typeface="Verdana" charset="0"/>
                            </a:rPr>
                            <a:t>City A</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algn="ctr">
                            <a:spcBef>
                              <a:spcPts val="0"/>
                            </a:spcBef>
                            <a:spcAft>
                              <a:spcPts val="0"/>
                            </a:spcAft>
                          </a:pPr>
                          <a:r>
                            <a:rPr lang="en-US" sz="2000" b="1">
                              <a:effectLst/>
                              <a:latin typeface="Verdana" charset="0"/>
                              <a:ea typeface="Verdana" charset="0"/>
                              <a:cs typeface="Verdana" charset="0"/>
                            </a:rPr>
                            <a:t>Item</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Price</a:t>
                          </a:r>
                          <a:br>
                            <a:rPr lang="en-US" sz="2000" b="1" dirty="0">
                              <a:effectLst/>
                              <a:latin typeface="Verdana" charset="0"/>
                              <a:ea typeface="Verdana" charset="0"/>
                              <a:cs typeface="Verdana" charset="0"/>
                            </a:rPr>
                          </a:br>
                          <a:r>
                            <a:rPr lang="en-US" sz="2000" b="1" dirty="0">
                              <a:effectLst/>
                              <a:latin typeface="Verdana" charset="0"/>
                              <a:ea typeface="Verdana" charset="0"/>
                              <a:cs typeface="Verdana" charset="0"/>
                            </a:rPr>
                            <a:t>($)</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Sales Tax</a:t>
                          </a:r>
                          <a:br>
                            <a:rPr lang="en-US" sz="2000" b="1">
                              <a:effectLst/>
                              <a:latin typeface="Verdana" charset="0"/>
                              <a:ea typeface="Verdana" charset="0"/>
                              <a:cs typeface="Verdana" charset="0"/>
                            </a:rPr>
                          </a:br>
                          <a:r>
                            <a:rPr lang="en-US" sz="2000" b="1">
                              <a:effectLst/>
                              <a:latin typeface="Verdana" charset="0"/>
                              <a:ea typeface="Verdana" charset="0"/>
                              <a:cs typeface="Verdana" charset="0"/>
                            </a:rPr>
                            <a: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Sales Tax Rate (</a:t>
                          </a:r>
                          <a14:m>
                            <m:oMath xmlns:m="http://schemas.openxmlformats.org/officeDocument/2006/math">
                              <m:r>
                                <a:rPr lang="en-US" sz="2000" b="1" i="1">
                                  <a:effectLst/>
                                  <a:latin typeface="Cambria Math" panose="02040503050406030204" pitchFamily="18" charset="0"/>
                                  <a:ea typeface="Verdana" charset="0"/>
                                  <a:cs typeface="Verdana" charset="0"/>
                                </a:rPr>
                                <m:t>%</m:t>
                              </m:r>
                            </m:oMath>
                          </a14:m>
                          <a:r>
                            <a:rPr lang="en-US" sz="2000" b="1">
                              <a:effectLst/>
                              <a:latin typeface="Verdana" charset="0"/>
                              <a:ea typeface="Verdana" charset="0"/>
                              <a:cs typeface="Verdana" charset="0"/>
                            </a:rPr>
                            <a: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2000">
                              <a:effectLst/>
                              <a:latin typeface="Verdana" charset="0"/>
                              <a:ea typeface="Verdana" charset="0"/>
                              <a:cs typeface="Verdana" charset="0"/>
                            </a:rPr>
                            <a:t>Paper Towels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8.99</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0.63</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2000">
                              <a:effectLst/>
                              <a:latin typeface="Verdana" charset="0"/>
                              <a:ea typeface="Verdana" charset="0"/>
                              <a:cs typeface="Verdana" charset="0"/>
                            </a:rPr>
                            <a:t>Laundry Soap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11.83</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0.83</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867128129"/>
                  </p:ext>
                </p:extLst>
              </p:nvPr>
            </p:nvGraphicFramePr>
            <p:xfrm>
              <a:off x="721143" y="1546670"/>
              <a:ext cx="7790482" cy="2133600"/>
            </p:xfrm>
            <a:graphic>
              <a:graphicData uri="http://schemas.openxmlformats.org/drawingml/2006/table">
                <a:tbl>
                  <a:tblPr firstRow="1" firstCol="1" lastRow="1" lastCol="1"/>
                  <a:tblGrid>
                    <a:gridCol w="2265472"/>
                    <a:gridCol w="891231"/>
                    <a:gridCol w="1579910"/>
                    <a:gridCol w="3053869"/>
                  </a:tblGrid>
                  <a:tr h="304800">
                    <a:tc gridSpan="4">
                      <a:txBody>
                        <a:bodyPr/>
                        <a:lstStyle/>
                        <a:p>
                          <a:pPr marL="0" marR="0" algn="ctr">
                            <a:spcBef>
                              <a:spcPts val="0"/>
                            </a:spcBef>
                            <a:spcAft>
                              <a:spcPts val="0"/>
                            </a:spcAft>
                          </a:pPr>
                          <a:r>
                            <a:rPr lang="en-US" sz="2000" b="1" dirty="0">
                              <a:effectLst/>
                              <a:latin typeface="Verdana" charset="0"/>
                              <a:ea typeface="Verdana" charset="0"/>
                              <a:cs typeface="Verdana" charset="0"/>
                            </a:rPr>
                            <a:t>City A</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609600">
                    <a:tc>
                      <a:txBody>
                        <a:bodyPr/>
                        <a:lstStyle/>
                        <a:p>
                          <a:pPr marL="0" marR="0" algn="ctr">
                            <a:spcBef>
                              <a:spcPts val="0"/>
                            </a:spcBef>
                            <a:spcAft>
                              <a:spcPts val="0"/>
                            </a:spcAft>
                          </a:pPr>
                          <a:r>
                            <a:rPr lang="en-US" sz="2000" b="1">
                              <a:effectLst/>
                              <a:latin typeface="Verdana" charset="0"/>
                              <a:ea typeface="Verdana" charset="0"/>
                              <a:cs typeface="Verdana" charset="0"/>
                            </a:rPr>
                            <a:t>Item</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Price</a:t>
                          </a:r>
                          <a:br>
                            <a:rPr lang="en-US" sz="2000" b="1" dirty="0">
                              <a:effectLst/>
                              <a:latin typeface="Verdana" charset="0"/>
                              <a:ea typeface="Verdana" charset="0"/>
                              <a:cs typeface="Verdana" charset="0"/>
                            </a:rPr>
                          </a:br>
                          <a:r>
                            <a:rPr lang="en-US" sz="2000" b="1" dirty="0">
                              <a:effectLst/>
                              <a:latin typeface="Verdana" charset="0"/>
                              <a:ea typeface="Verdana" charset="0"/>
                              <a:cs typeface="Verdana" charset="0"/>
                            </a:rPr>
                            <a:t>($)</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Sales Tax</a:t>
                          </a:r>
                          <a:br>
                            <a:rPr lang="en-US" sz="2000" b="1">
                              <a:effectLst/>
                              <a:latin typeface="Verdana" charset="0"/>
                              <a:ea typeface="Verdana" charset="0"/>
                              <a:cs typeface="Verdana" charset="0"/>
                            </a:rPr>
                          </a:br>
                          <a:r>
                            <a:rPr lang="en-US" sz="2000" b="1">
                              <a:effectLst/>
                              <a:latin typeface="Verdana" charset="0"/>
                              <a:ea typeface="Verdana" charset="0"/>
                              <a:cs typeface="Verdana" charset="0"/>
                            </a:rPr>
                            <a: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55489" t="-62000" r="-399" b="-203000"/>
                          </a:stretch>
                        </a:blipFill>
                      </a:tcPr>
                    </a:tc>
                  </a:tr>
                  <a:tr h="609600">
                    <a:tc>
                      <a:txBody>
                        <a:bodyPr/>
                        <a:lstStyle/>
                        <a:p>
                          <a:pPr marL="0" marR="0" algn="ctr">
                            <a:spcBef>
                              <a:spcPts val="0"/>
                            </a:spcBef>
                            <a:spcAft>
                              <a:spcPts val="0"/>
                            </a:spcAft>
                          </a:pPr>
                          <a:r>
                            <a:rPr lang="en-US" sz="2000">
                              <a:effectLst/>
                              <a:latin typeface="Verdana" charset="0"/>
                              <a:ea typeface="Verdana" charset="0"/>
                              <a:cs typeface="Verdana" charset="0"/>
                            </a:rPr>
                            <a:t>Paper Towels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55479" t="-160396" r="-522603" b="-10099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99615" t="-160396" r="-193462" b="-100990"/>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600">
                    <a:tc>
                      <a:txBody>
                        <a:bodyPr/>
                        <a:lstStyle/>
                        <a:p>
                          <a:pPr marL="0" marR="0" algn="ctr">
                            <a:spcBef>
                              <a:spcPts val="0"/>
                            </a:spcBef>
                            <a:spcAft>
                              <a:spcPts val="0"/>
                            </a:spcAft>
                          </a:pPr>
                          <a:r>
                            <a:rPr lang="en-US" sz="2000">
                              <a:effectLst/>
                              <a:latin typeface="Verdana" charset="0"/>
                              <a:ea typeface="Verdana" charset="0"/>
                              <a:cs typeface="Verdana" charset="0"/>
                            </a:rPr>
                            <a:t>Laundry Soap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55479" t="-263000" r="-522603" b="-2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99615" t="-263000" r="-193462" b="-2000"/>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791414139"/>
                  </p:ext>
                </p:extLst>
              </p:nvPr>
            </p:nvGraphicFramePr>
            <p:xfrm>
              <a:off x="2245144" y="3909726"/>
              <a:ext cx="7807833" cy="2133600"/>
            </p:xfrm>
            <a:graphic>
              <a:graphicData uri="http://schemas.openxmlformats.org/drawingml/2006/table">
                <a:tbl>
                  <a:tblPr firstRow="1" firstCol="1" lastRow="1" lastCol="1"/>
                  <a:tblGrid>
                    <a:gridCol w="2331419">
                      <a:extLst>
                        <a:ext uri="{9D8B030D-6E8A-4147-A177-3AD203B41FA5}">
                          <a16:colId xmlns:a16="http://schemas.microsoft.com/office/drawing/2014/main" val="20000"/>
                        </a:ext>
                      </a:extLst>
                    </a:gridCol>
                    <a:gridCol w="890093">
                      <a:extLst>
                        <a:ext uri="{9D8B030D-6E8A-4147-A177-3AD203B41FA5}">
                          <a16:colId xmlns:a16="http://schemas.microsoft.com/office/drawing/2014/main" val="20001"/>
                        </a:ext>
                      </a:extLst>
                    </a:gridCol>
                    <a:gridCol w="1580305">
                      <a:extLst>
                        <a:ext uri="{9D8B030D-6E8A-4147-A177-3AD203B41FA5}">
                          <a16:colId xmlns:a16="http://schemas.microsoft.com/office/drawing/2014/main" val="20002"/>
                        </a:ext>
                      </a:extLst>
                    </a:gridCol>
                    <a:gridCol w="3006016">
                      <a:extLst>
                        <a:ext uri="{9D8B030D-6E8A-4147-A177-3AD203B41FA5}">
                          <a16:colId xmlns:a16="http://schemas.microsoft.com/office/drawing/2014/main" val="20003"/>
                        </a:ext>
                      </a:extLst>
                    </a:gridCol>
                  </a:tblGrid>
                  <a:tr h="0">
                    <a:tc gridSpan="4">
                      <a:txBody>
                        <a:bodyPr/>
                        <a:lstStyle/>
                        <a:p>
                          <a:pPr marL="0" marR="0" algn="ctr">
                            <a:spcBef>
                              <a:spcPts val="0"/>
                            </a:spcBef>
                            <a:spcAft>
                              <a:spcPts val="0"/>
                            </a:spcAft>
                          </a:pPr>
                          <a:r>
                            <a:rPr lang="en-US" sz="2000" b="1">
                              <a:effectLst/>
                              <a:latin typeface="Verdana" charset="0"/>
                              <a:ea typeface="Verdana" charset="0"/>
                              <a:cs typeface="Verdana" charset="0"/>
                            </a:rPr>
                            <a:t>City B</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algn="ctr">
                            <a:spcBef>
                              <a:spcPts val="0"/>
                            </a:spcBef>
                            <a:spcAft>
                              <a:spcPts val="0"/>
                            </a:spcAft>
                          </a:pPr>
                          <a:r>
                            <a:rPr lang="en-US" sz="2000" b="1">
                              <a:effectLst/>
                              <a:latin typeface="Verdana" charset="0"/>
                              <a:ea typeface="Verdana" charset="0"/>
                              <a:cs typeface="Verdana" charset="0"/>
                            </a:rPr>
                            <a:t>Item</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Price</a:t>
                          </a:r>
                          <a:br>
                            <a:rPr lang="en-US" sz="2000" b="1" dirty="0">
                              <a:effectLst/>
                              <a:latin typeface="Verdana" charset="0"/>
                              <a:ea typeface="Verdana" charset="0"/>
                              <a:cs typeface="Verdana" charset="0"/>
                            </a:rPr>
                          </a:br>
                          <a:r>
                            <a:rPr lang="en-US" sz="2000" b="1" dirty="0">
                              <a:effectLst/>
                              <a:latin typeface="Verdana" charset="0"/>
                              <a:ea typeface="Verdana" charset="0"/>
                              <a:cs typeface="Verdana" charset="0"/>
                            </a:rPr>
                            <a:t>($)</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Sales Tax</a:t>
                          </a:r>
                          <a:br>
                            <a:rPr lang="en-US" sz="2000" b="1">
                              <a:effectLst/>
                              <a:latin typeface="Verdana" charset="0"/>
                              <a:ea typeface="Verdana" charset="0"/>
                              <a:cs typeface="Verdana" charset="0"/>
                            </a:rPr>
                          </a:br>
                          <a:r>
                            <a:rPr lang="en-US" sz="2000" b="1">
                              <a:effectLst/>
                              <a:latin typeface="Verdana" charset="0"/>
                              <a:ea typeface="Verdana" charset="0"/>
                              <a:cs typeface="Verdana" charset="0"/>
                            </a:rPr>
                            <a: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Sales Tax Rate (</a:t>
                          </a:r>
                          <a14:m>
                            <m:oMath xmlns:m="http://schemas.openxmlformats.org/officeDocument/2006/math">
                              <m:r>
                                <a:rPr lang="en-US" sz="2000" b="1" i="1">
                                  <a:effectLst/>
                                  <a:latin typeface="Cambria Math" panose="02040503050406030204" pitchFamily="18" charset="0"/>
                                  <a:ea typeface="Verdana" charset="0"/>
                                  <a:cs typeface="Verdana" charset="0"/>
                                </a:rPr>
                                <m:t>%</m:t>
                              </m:r>
                            </m:oMath>
                          </a14:m>
                          <a:r>
                            <a:rPr lang="en-US" sz="2000" b="1">
                              <a:effectLst/>
                              <a:latin typeface="Verdana" charset="0"/>
                              <a:ea typeface="Verdana" charset="0"/>
                              <a:cs typeface="Verdana" charset="0"/>
                            </a:rPr>
                            <a: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2000">
                              <a:effectLst/>
                              <a:latin typeface="Verdana" charset="0"/>
                              <a:ea typeface="Verdana" charset="0"/>
                              <a:cs typeface="Verdana" charset="0"/>
                            </a:rPr>
                            <a:t>Paper Towels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8.99</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0.54</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2000">
                              <a:effectLst/>
                              <a:latin typeface="Verdana" charset="0"/>
                              <a:ea typeface="Verdana" charset="0"/>
                              <a:cs typeface="Verdana" charset="0"/>
                            </a:rPr>
                            <a:t>Laundry Soap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11.83</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0.71</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791414139"/>
                  </p:ext>
                </p:extLst>
              </p:nvPr>
            </p:nvGraphicFramePr>
            <p:xfrm>
              <a:off x="721143" y="3909726"/>
              <a:ext cx="7807833" cy="2133600"/>
            </p:xfrm>
            <a:graphic>
              <a:graphicData uri="http://schemas.openxmlformats.org/drawingml/2006/table">
                <a:tbl>
                  <a:tblPr firstRow="1" firstCol="1" lastRow="1" lastCol="1"/>
                  <a:tblGrid>
                    <a:gridCol w="2331419"/>
                    <a:gridCol w="890093"/>
                    <a:gridCol w="1580305"/>
                    <a:gridCol w="3006016"/>
                  </a:tblGrid>
                  <a:tr h="304800">
                    <a:tc gridSpan="4">
                      <a:txBody>
                        <a:bodyPr/>
                        <a:lstStyle/>
                        <a:p>
                          <a:pPr marL="0" marR="0" algn="ctr">
                            <a:spcBef>
                              <a:spcPts val="0"/>
                            </a:spcBef>
                            <a:spcAft>
                              <a:spcPts val="0"/>
                            </a:spcAft>
                          </a:pPr>
                          <a:r>
                            <a:rPr lang="en-US" sz="2000" b="1">
                              <a:effectLst/>
                              <a:latin typeface="Verdana" charset="0"/>
                              <a:ea typeface="Verdana" charset="0"/>
                              <a:cs typeface="Verdana" charset="0"/>
                            </a:rPr>
                            <a:t>City B</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609600">
                    <a:tc>
                      <a:txBody>
                        <a:bodyPr/>
                        <a:lstStyle/>
                        <a:p>
                          <a:pPr marL="0" marR="0" algn="ctr">
                            <a:spcBef>
                              <a:spcPts val="0"/>
                            </a:spcBef>
                            <a:spcAft>
                              <a:spcPts val="0"/>
                            </a:spcAft>
                          </a:pPr>
                          <a:r>
                            <a:rPr lang="en-US" sz="2000" b="1">
                              <a:effectLst/>
                              <a:latin typeface="Verdana" charset="0"/>
                              <a:ea typeface="Verdana" charset="0"/>
                              <a:cs typeface="Verdana" charset="0"/>
                            </a:rPr>
                            <a:t>Item</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Price</a:t>
                          </a:r>
                          <a:br>
                            <a:rPr lang="en-US" sz="2000" b="1" dirty="0">
                              <a:effectLst/>
                              <a:latin typeface="Verdana" charset="0"/>
                              <a:ea typeface="Verdana" charset="0"/>
                              <a:cs typeface="Verdana" charset="0"/>
                            </a:rPr>
                          </a:br>
                          <a:r>
                            <a:rPr lang="en-US" sz="2000" b="1" dirty="0">
                              <a:effectLst/>
                              <a:latin typeface="Verdana" charset="0"/>
                              <a:ea typeface="Verdana" charset="0"/>
                              <a:cs typeface="Verdana" charset="0"/>
                            </a:rPr>
                            <a:t>($)</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Sales Tax</a:t>
                          </a:r>
                          <a:br>
                            <a:rPr lang="en-US" sz="2000" b="1">
                              <a:effectLst/>
                              <a:latin typeface="Verdana" charset="0"/>
                              <a:ea typeface="Verdana" charset="0"/>
                              <a:cs typeface="Verdana" charset="0"/>
                            </a:rPr>
                          </a:br>
                          <a:r>
                            <a:rPr lang="en-US" sz="2000" b="1">
                              <a:effectLst/>
                              <a:latin typeface="Verdana" charset="0"/>
                              <a:ea typeface="Verdana" charset="0"/>
                              <a:cs typeface="Verdana" charset="0"/>
                            </a:rPr>
                            <a: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159717" t="-63000" r="-405" b="-203000"/>
                          </a:stretch>
                        </a:blipFill>
                      </a:tcPr>
                    </a:tc>
                  </a:tr>
                  <a:tr h="609600">
                    <a:tc>
                      <a:txBody>
                        <a:bodyPr/>
                        <a:lstStyle/>
                        <a:p>
                          <a:pPr marL="0" marR="0" algn="ctr">
                            <a:spcBef>
                              <a:spcPts val="0"/>
                            </a:spcBef>
                            <a:spcAft>
                              <a:spcPts val="0"/>
                            </a:spcAft>
                          </a:pPr>
                          <a:r>
                            <a:rPr lang="en-US" sz="2000">
                              <a:effectLst/>
                              <a:latin typeface="Verdana" charset="0"/>
                              <a:ea typeface="Verdana" charset="0"/>
                              <a:cs typeface="Verdana" charset="0"/>
                            </a:rPr>
                            <a:t>Paper Towels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63014" t="-161386" r="-517123" b="-10099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04633" t="-161386" r="-191506" b="-100990"/>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600">
                    <a:tc>
                      <a:txBody>
                        <a:bodyPr/>
                        <a:lstStyle/>
                        <a:p>
                          <a:pPr marL="0" marR="0" algn="ctr">
                            <a:spcBef>
                              <a:spcPts val="0"/>
                            </a:spcBef>
                            <a:spcAft>
                              <a:spcPts val="0"/>
                            </a:spcAft>
                          </a:pPr>
                          <a:r>
                            <a:rPr lang="en-US" sz="2000">
                              <a:effectLst/>
                              <a:latin typeface="Verdana" charset="0"/>
                              <a:ea typeface="Verdana" charset="0"/>
                              <a:cs typeface="Verdana" charset="0"/>
                            </a:rPr>
                            <a:t>Laundry Soap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63014" t="-264000" r="-517123" b="-2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04633" t="-264000" r="-191506" b="-2000"/>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4" name="Rectangle 1"/>
          <p:cNvSpPr>
            <a:spLocks noChangeArrowheads="1"/>
          </p:cNvSpPr>
          <p:nvPr/>
        </p:nvSpPr>
        <p:spPr bwMode="auto">
          <a:xfrm>
            <a:off x="2192339" y="311636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242</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68749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304144" y="520393"/>
                <a:ext cx="10134016" cy="4401205"/>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Determine the total cost, with tax, of paper towels and laundry soap in City A.</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The pre-tax cost of </a:t>
                </a:r>
                <a14:m>
                  <m:oMath xmlns:m="http://schemas.openxmlformats.org/officeDocument/2006/math">
                    <m:r>
                      <a:rPr lang="en-US" sz="2000" i="1">
                        <a:latin typeface="Cambria Math" panose="02040503050406030204" pitchFamily="18" charset="0"/>
                        <a:ea typeface="Verdana" charset="0"/>
                        <a:cs typeface="Verdana" charset="0"/>
                      </a:rPr>
                      <m:t>5</m:t>
                    </m:r>
                  </m:oMath>
                </a14:m>
                <a:r>
                  <a:rPr lang="en-US" sz="2000" dirty="0">
                    <a:latin typeface="Verdana" charset="0"/>
                    <a:ea typeface="Verdana" charset="0"/>
                    <a:cs typeface="Verdana" charset="0"/>
                  </a:rPr>
                  <a:t> beach towels in City A is </a:t>
                </a:r>
                <a14:m>
                  <m:oMath xmlns:m="http://schemas.openxmlformats.org/officeDocument/2006/math">
                    <m:r>
                      <a:rPr lang="en-US" sz="2000" i="1">
                        <a:latin typeface="Cambria Math" panose="02040503050406030204" pitchFamily="18" charset="0"/>
                        <a:ea typeface="Verdana" charset="0"/>
                        <a:cs typeface="Verdana" charset="0"/>
                      </a:rPr>
                      <m:t>$54.95</m:t>
                    </m:r>
                  </m:oMath>
                </a14:m>
                <a:r>
                  <a:rPr lang="en-US" sz="2000" dirty="0">
                    <a:latin typeface="Verdana" charset="0"/>
                    <a:ea typeface="Verdana" charset="0"/>
                    <a:cs typeface="Verdana" charset="0"/>
                  </a:rPr>
                  <a:t>. Determine the total cost, with tax, of </a:t>
                </a:r>
                <a14:m>
                  <m:oMath xmlns:m="http://schemas.openxmlformats.org/officeDocument/2006/math">
                    <m:r>
                      <a:rPr lang="en-US" sz="2000" i="1">
                        <a:latin typeface="Cambria Math" panose="02040503050406030204" pitchFamily="18" charset="0"/>
                        <a:ea typeface="Verdana" charset="0"/>
                        <a:cs typeface="Verdana" charset="0"/>
                      </a:rPr>
                      <m:t>5</m:t>
                    </m:r>
                  </m:oMath>
                </a14:m>
                <a:r>
                  <a:rPr lang="en-US" sz="2000" dirty="0">
                    <a:latin typeface="Verdana" charset="0"/>
                    <a:ea typeface="Verdana" charset="0"/>
                    <a:cs typeface="Verdana" charset="0"/>
                  </a:rPr>
                  <a:t> beach towels in City A.</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If the subtotal for the purchase of a new bathing suit in City B is </a:t>
                </a:r>
                <a14:m>
                  <m:oMath xmlns:m="http://schemas.openxmlformats.org/officeDocument/2006/math">
                    <m:r>
                      <a:rPr lang="en-US" sz="2000" i="1">
                        <a:latin typeface="Cambria Math" panose="02040503050406030204" pitchFamily="18" charset="0"/>
                        <a:ea typeface="Verdana" charset="0"/>
                        <a:cs typeface="Verdana" charset="0"/>
                      </a:rPr>
                      <m:t>$47.97</m:t>
                    </m:r>
                  </m:oMath>
                </a14:m>
                <a:r>
                  <a:rPr lang="en-US" sz="2000" dirty="0">
                    <a:latin typeface="Verdana" charset="0"/>
                    <a:ea typeface="Verdana" charset="0"/>
                    <a:cs typeface="Verdana" charset="0"/>
                  </a:rPr>
                  <a:t>, what is the total cost of the bathing suit with tax? </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Find the total cost, with tax, on paper towels, laundry soap, and a new bathing suit in City B.</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304144" y="520393"/>
                <a:ext cx="10134016" cy="4401205"/>
              </a:xfrm>
              <a:prstGeom prst="rect">
                <a:avLst/>
              </a:prstGeom>
              <a:blipFill rotWithShape="0">
                <a:blip r:embed="rId3"/>
                <a:stretch>
                  <a:fillRect l="-662" t="-831" r="-361" b="-1524"/>
                </a:stretch>
              </a:blipFill>
            </p:spPr>
            <p:txBody>
              <a:bodyPr/>
              <a:lstStyle/>
              <a:p>
                <a:r>
                  <a:rPr lang="en-US">
                    <a:noFill/>
                  </a:rPr>
                  <a:t> </a:t>
                </a:r>
              </a:p>
            </p:txBody>
          </p:sp>
        </mc:Fallback>
      </mc:AlternateContent>
      <p:sp>
        <p:nvSpPr>
          <p:cNvPr id="6"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242</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32859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39252" y="520394"/>
                <a:ext cx="6175499" cy="4708981"/>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Jada and Corrin had lunch at a local restaurant. The final bill for their meal is shown.</a:t>
                </a:r>
              </a:p>
              <a:p>
                <a:pPr marL="458788">
                  <a:buFont typeface="+mj-lt"/>
                  <a:buAutoNum type="arabicPeriod" startAt="2"/>
                </a:pPr>
                <a:endParaRPr lang="en-US" sz="2000" dirty="0">
                  <a:latin typeface="Verdana" charset="0"/>
                  <a:ea typeface="Verdana" charset="0"/>
                  <a:cs typeface="Verdana" charset="0"/>
                </a:endParaRPr>
              </a:p>
              <a:p>
                <a:pPr marL="458788"/>
                <a:r>
                  <a:rPr lang="en-US" sz="2000" dirty="0">
                    <a:latin typeface="Verdana" charset="0"/>
                    <a:ea typeface="Verdana" charset="0"/>
                    <a:cs typeface="Verdana" charset="0"/>
                  </a:rPr>
                  <a:t>They decide to tip their server </a:t>
                </a:r>
                <a14:m>
                  <m:oMath xmlns:m="http://schemas.openxmlformats.org/officeDocument/2006/math">
                    <m:r>
                      <a:rPr lang="en-US" sz="2000" i="1">
                        <a:latin typeface="Cambria Math" panose="02040503050406030204" pitchFamily="18" charset="0"/>
                        <a:ea typeface="Verdana" charset="0"/>
                        <a:cs typeface="Verdana" charset="0"/>
                      </a:rPr>
                      <m:t>18%</m:t>
                    </m:r>
                  </m:oMath>
                </a14:m>
                <a:r>
                  <a:rPr lang="en-US" sz="2000" dirty="0">
                    <a:latin typeface="Verdana" charset="0"/>
                    <a:ea typeface="Verdana" charset="0"/>
                    <a:cs typeface="Verdana" charset="0"/>
                  </a:rPr>
                  <a:t> of the subtotal. Jada says the tip should be </a:t>
                </a:r>
                <a14:m>
                  <m:oMath xmlns:m="http://schemas.openxmlformats.org/officeDocument/2006/math">
                    <m:r>
                      <a:rPr lang="en-US" sz="2000" i="1">
                        <a:latin typeface="Cambria Math" panose="02040503050406030204" pitchFamily="18" charset="0"/>
                        <a:ea typeface="Verdana" charset="0"/>
                        <a:cs typeface="Verdana" charset="0"/>
                      </a:rPr>
                      <m:t>$7.56</m:t>
                    </m:r>
                  </m:oMath>
                </a14:m>
                <a:r>
                  <a:rPr lang="en-US" sz="2000" dirty="0">
                    <a:latin typeface="Verdana" charset="0"/>
                    <a:ea typeface="Verdana" charset="0"/>
                    <a:cs typeface="Verdana" charset="0"/>
                  </a:rPr>
                  <a:t>, but Corrin disagrees. Corrin calculated the tip to be </a:t>
                </a:r>
                <a14:m>
                  <m:oMath xmlns:m="http://schemas.openxmlformats.org/officeDocument/2006/math">
                    <m:r>
                      <a:rPr lang="en-US" sz="2000" i="1">
                        <a:latin typeface="Cambria Math" panose="02040503050406030204" pitchFamily="18" charset="0"/>
                        <a:ea typeface="Verdana" charset="0"/>
                        <a:cs typeface="Verdana" charset="0"/>
                      </a:rPr>
                      <m:t>$8.28</m:t>
                    </m:r>
                  </m:oMath>
                </a14:m>
                <a:r>
                  <a:rPr lang="en-US" sz="2000" dirty="0">
                    <a:latin typeface="Verdana" charset="0"/>
                    <a:ea typeface="Verdana" charset="0"/>
                    <a:cs typeface="Verdana" charset="0"/>
                  </a:rPr>
                  <a:t>.</a:t>
                </a:r>
              </a:p>
              <a:p>
                <a:pPr marL="458788"/>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Explain who calculated the correct tip.</a:t>
                </a: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What is the total amount, including the tip, that the friends paid at the restaurant? </a:t>
                </a:r>
              </a:p>
              <a:p>
                <a:pPr lvl="0"/>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39252" y="520394"/>
                <a:ext cx="6175499" cy="4708981"/>
              </a:xfrm>
              <a:prstGeom prst="rect">
                <a:avLst/>
              </a:prstGeom>
              <a:blipFill rotWithShape="0">
                <a:blip r:embed="rId3"/>
                <a:stretch>
                  <a:fillRect l="-1086" t="-776" r="-1283"/>
                </a:stretch>
              </a:blipFill>
            </p:spPr>
            <p:txBody>
              <a:bodyPr/>
              <a:lstStyle/>
              <a:p>
                <a:r>
                  <a:rPr lang="en-US">
                    <a:noFill/>
                  </a:rPr>
                  <a:t> </a:t>
                </a:r>
              </a:p>
            </p:txBody>
          </p:sp>
        </mc:Fallback>
      </mc:AlternateContent>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314750" y="668060"/>
            <a:ext cx="3175000" cy="5029200"/>
          </a:xfrm>
          <a:prstGeom prst="rect">
            <a:avLst/>
          </a:prstGeom>
        </p:spPr>
      </p:pic>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243</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69054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243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5586"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12.6.3 Collaboration: Taxes, Tips, and Totals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5778"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435586" y="1386025"/>
                <a:ext cx="5879165" cy="2554545"/>
              </a:xfrm>
              <a:prstGeom prst="rect">
                <a:avLst/>
              </a:prstGeom>
              <a:noFill/>
            </p:spPr>
            <p:txBody>
              <a:bodyPr wrap="square" rtlCol="0">
                <a:spAutoFit/>
              </a:bodyPr>
              <a:lstStyle/>
              <a:p>
                <a:r>
                  <a:rPr lang="en-US" sz="2000" dirty="0">
                    <a:latin typeface="Verdana" charset="0"/>
                    <a:ea typeface="Verdana" charset="0"/>
                    <a:cs typeface="Verdana" charset="0"/>
                  </a:rPr>
                  <a:t>Work through each situation with your partner. Be sure to show your work. </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Xavier visits an Italian restaurant for dinner.</a:t>
                </a:r>
              </a:p>
              <a:p>
                <a:pPr lvl="0"/>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If Xavier tips </a:t>
                </a:r>
                <a14:m>
                  <m:oMath xmlns:m="http://schemas.openxmlformats.org/officeDocument/2006/math">
                    <m:r>
                      <a:rPr lang="en-US" sz="2000" i="1">
                        <a:latin typeface="Cambria Math" panose="02040503050406030204" pitchFamily="18" charset="0"/>
                        <a:ea typeface="Verdana" charset="0"/>
                        <a:cs typeface="Verdana" charset="0"/>
                      </a:rPr>
                      <m:t>20%</m:t>
                    </m:r>
                  </m:oMath>
                </a14:m>
                <a:r>
                  <a:rPr lang="en-US" sz="2000" dirty="0">
                    <a:latin typeface="Verdana" charset="0"/>
                    <a:ea typeface="Verdana" charset="0"/>
                    <a:cs typeface="Verdana" charset="0"/>
                  </a:rPr>
                  <a:t> on the subtotal </a:t>
                </a:r>
                <a14:m>
                  <m:oMath xmlns:m="http://schemas.openxmlformats.org/officeDocument/2006/math">
                    <m:r>
                      <a:rPr lang="en-US" sz="2000" i="1">
                        <a:latin typeface="Cambria Math" panose="02040503050406030204" pitchFamily="18" charset="0"/>
                        <a:ea typeface="Verdana" charset="0"/>
                        <a:cs typeface="Verdana" charset="0"/>
                      </a:rPr>
                      <m:t>$24.95</m:t>
                    </m:r>
                  </m:oMath>
                </a14:m>
                <a:r>
                  <a:rPr lang="en-US" sz="2000" dirty="0">
                    <a:latin typeface="Verdana" charset="0"/>
                    <a:ea typeface="Verdana" charset="0"/>
                    <a:cs typeface="Verdana" charset="0"/>
                  </a:rPr>
                  <a:t>, how much tip will he pay?</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435586" y="1386025"/>
                <a:ext cx="5879165" cy="2554545"/>
              </a:xfrm>
              <a:prstGeom prst="rect">
                <a:avLst/>
              </a:prstGeom>
              <a:blipFill rotWithShape="0">
                <a:blip r:embed="rId4"/>
                <a:stretch>
                  <a:fillRect l="-1140" t="-1193" b="-3341"/>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314751" y="1386025"/>
            <a:ext cx="3042923" cy="4220244"/>
          </a:xfrm>
          <a:prstGeom prst="rect">
            <a:avLst/>
          </a:prstGeom>
        </p:spPr>
      </p:pic>
      <p:sp>
        <p:nvSpPr>
          <p:cNvPr id="11"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243</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29193" y="520394"/>
                <a:ext cx="9105708" cy="3477875"/>
              </a:xfrm>
              <a:prstGeom prst="rect">
                <a:avLst/>
              </a:prstGeom>
              <a:noFill/>
            </p:spPr>
            <p:txBody>
              <a:bodyPr wrap="square" rtlCol="0">
                <a:spAutoFit/>
              </a:bodyPr>
              <a:lstStyle/>
              <a:p>
                <a:pPr marL="930275" indent="-457200">
                  <a:buFont typeface="+mj-lt"/>
                  <a:buAutoNum type="alphaLcPeriod" startAt="2"/>
                </a:pPr>
                <a:r>
                  <a:rPr lang="en-US" sz="2000" dirty="0">
                    <a:latin typeface="Verdana" charset="0"/>
                    <a:ea typeface="Verdana" charset="0"/>
                    <a:cs typeface="Verdana" charset="0"/>
                  </a:rPr>
                  <a:t>The city has a sales tax rate of </a:t>
                </a:r>
                <a14:m>
                  <m:oMath xmlns:m="http://schemas.openxmlformats.org/officeDocument/2006/math">
                    <m:r>
                      <a:rPr lang="en-US" sz="2000" i="1">
                        <a:latin typeface="Cambria Math" panose="02040503050406030204" pitchFamily="18" charset="0"/>
                        <a:ea typeface="Verdana" charset="0"/>
                        <a:cs typeface="Verdana" charset="0"/>
                      </a:rPr>
                      <m:t>9.5%.</m:t>
                    </m:r>
                  </m:oMath>
                </a14:m>
                <a:r>
                  <a:rPr lang="en-US" sz="2000" dirty="0">
                    <a:latin typeface="Verdana" charset="0"/>
                    <a:ea typeface="Verdana" charset="0"/>
                    <a:cs typeface="Verdana" charset="0"/>
                  </a:rPr>
                  <a:t> How much in tax will the customer pay on the subtotal of </a:t>
                </a:r>
                <a14:m>
                  <m:oMath xmlns:m="http://schemas.openxmlformats.org/officeDocument/2006/math">
                    <m:r>
                      <a:rPr lang="en-US" sz="2000" i="1">
                        <a:latin typeface="Cambria Math" panose="02040503050406030204" pitchFamily="18" charset="0"/>
                        <a:ea typeface="Verdana" charset="0"/>
                        <a:cs typeface="Verdana" charset="0"/>
                      </a:rPr>
                      <m:t>$24.95</m:t>
                    </m:r>
                  </m:oMath>
                </a14:m>
                <a:r>
                  <a:rPr lang="en-US" sz="2000" dirty="0">
                    <a:latin typeface="Verdana" charset="0"/>
                    <a:ea typeface="Verdana" charset="0"/>
                    <a:cs typeface="Verdana" charset="0"/>
                  </a:rPr>
                  <a:t>?</a:t>
                </a:r>
              </a:p>
              <a:p>
                <a:pPr marL="930275" indent="-457200">
                  <a:buFont typeface="+mj-lt"/>
                  <a:buAutoNum type="alphaLcPeriod" startAt="2"/>
                </a:pPr>
                <a:endParaRPr lang="en-US" sz="2000" dirty="0">
                  <a:latin typeface="Verdana" charset="0"/>
                  <a:ea typeface="Verdana" charset="0"/>
                  <a:cs typeface="Verdana" charset="0"/>
                </a:endParaRPr>
              </a:p>
              <a:p>
                <a:pPr marL="930275" indent="-457200">
                  <a:buFont typeface="+mj-lt"/>
                  <a:buAutoNum type="alphaLcPeriod" startAt="2"/>
                </a:pPr>
                <a:endParaRPr lang="en-US" sz="2000" dirty="0">
                  <a:latin typeface="Verdana" charset="0"/>
                  <a:ea typeface="Verdana" charset="0"/>
                  <a:cs typeface="Verdana" charset="0"/>
                </a:endParaRPr>
              </a:p>
              <a:p>
                <a:pPr marL="930275" indent="-457200">
                  <a:buFont typeface="+mj-lt"/>
                  <a:buAutoNum type="alphaLcPeriod" startAt="2"/>
                </a:pPr>
                <a:endParaRPr lang="en-US" sz="2000" dirty="0">
                  <a:latin typeface="Verdana" charset="0"/>
                  <a:ea typeface="Verdana" charset="0"/>
                  <a:cs typeface="Verdana" charset="0"/>
                </a:endParaRPr>
              </a:p>
              <a:p>
                <a:pPr marL="930275" indent="-457200">
                  <a:buFont typeface="+mj-lt"/>
                  <a:buAutoNum type="alphaLcPeriod" startAt="2"/>
                </a:pPr>
                <a:endParaRPr lang="en-US" sz="2000" dirty="0">
                  <a:latin typeface="Verdana" charset="0"/>
                  <a:ea typeface="Verdana" charset="0"/>
                  <a:cs typeface="Verdana" charset="0"/>
                </a:endParaRPr>
              </a:p>
              <a:p>
                <a:pPr marL="930275" indent="-457200">
                  <a:buFont typeface="+mj-lt"/>
                  <a:buAutoNum type="alphaLcPeriod" startAt="2"/>
                </a:pPr>
                <a:endParaRPr lang="en-US" sz="2000" dirty="0">
                  <a:latin typeface="Verdana" charset="0"/>
                  <a:ea typeface="Verdana" charset="0"/>
                  <a:cs typeface="Verdana" charset="0"/>
                </a:endParaRPr>
              </a:p>
              <a:p>
                <a:pPr marL="930275" indent="-457200">
                  <a:buFont typeface="+mj-lt"/>
                  <a:buAutoNum type="alphaLcPeriod" startAt="2"/>
                </a:pPr>
                <a:endParaRPr lang="en-US" sz="2000" dirty="0">
                  <a:latin typeface="Verdana" charset="0"/>
                  <a:ea typeface="Verdana" charset="0"/>
                  <a:cs typeface="Verdana" charset="0"/>
                </a:endParaRPr>
              </a:p>
              <a:p>
                <a:pPr marL="930275" indent="-457200">
                  <a:buFont typeface="+mj-lt"/>
                  <a:buAutoNum type="alphaLcPeriod" startAt="2"/>
                </a:pPr>
                <a:endParaRPr lang="en-US" sz="2000" dirty="0">
                  <a:latin typeface="Verdana" charset="0"/>
                  <a:ea typeface="Verdana" charset="0"/>
                  <a:cs typeface="Verdana" charset="0"/>
                </a:endParaRPr>
              </a:p>
              <a:p>
                <a:pPr marL="930275" indent="-457200">
                  <a:buFont typeface="+mj-lt"/>
                  <a:buAutoNum type="alphaLcPeriod" startAt="2"/>
                </a:pPr>
                <a:r>
                  <a:rPr lang="en-US" sz="2000" dirty="0">
                    <a:latin typeface="Verdana" charset="0"/>
                    <a:ea typeface="Verdana" charset="0"/>
                    <a:cs typeface="Verdana" charset="0"/>
                  </a:rPr>
                  <a:t>What is the total Xavier spent on his meal, including tip and tax?</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29193" y="520394"/>
                <a:ext cx="9105708" cy="3477875"/>
              </a:xfrm>
              <a:prstGeom prst="rect">
                <a:avLst/>
              </a:prstGeom>
              <a:blipFill rotWithShape="0">
                <a:blip r:embed="rId3"/>
                <a:stretch>
                  <a:fillRect t="-1051" r="-536" b="-2102"/>
                </a:stretch>
              </a:blipFill>
            </p:spPr>
            <p:txBody>
              <a:bodyPr/>
              <a:lstStyle/>
              <a:p>
                <a:r>
                  <a:rPr lang="en-US">
                    <a:noFill/>
                  </a:rPr>
                  <a:t> </a:t>
                </a:r>
              </a:p>
            </p:txBody>
          </p:sp>
        </mc:Fallback>
      </mc:AlternateContent>
      <p:sp>
        <p:nvSpPr>
          <p:cNvPr id="6"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243</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26973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794479" y="520394"/>
                <a:ext cx="9540422" cy="4708981"/>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A sporting goods store purchased baseball hats from a supplier for </a:t>
                </a:r>
                <a14:m>
                  <m:oMath xmlns:m="http://schemas.openxmlformats.org/officeDocument/2006/math">
                    <m:r>
                      <a:rPr lang="en-US" sz="2000" b="0">
                        <a:latin typeface="Cambria Math" panose="02040503050406030204" pitchFamily="18" charset="0"/>
                        <a:ea typeface="Verdana" charset="0"/>
                        <a:cs typeface="Verdana" charset="0"/>
                      </a:rPr>
                      <m:t>$</m:t>
                    </m:r>
                    <m:r>
                      <a:rPr lang="en-US" sz="2000" b="0" i="1">
                        <a:latin typeface="Cambria Math" panose="02040503050406030204" pitchFamily="18" charset="0"/>
                        <a:ea typeface="Verdana" charset="0"/>
                        <a:cs typeface="Verdana" charset="0"/>
                      </a:rPr>
                      <m:t>24</m:t>
                    </m:r>
                  </m:oMath>
                </a14:m>
                <a:r>
                  <a:rPr lang="en-US" sz="2000" dirty="0">
                    <a:latin typeface="Verdana" charset="0"/>
                    <a:ea typeface="Verdana" charset="0"/>
                    <a:cs typeface="Verdana" charset="0"/>
                  </a:rPr>
                  <a:t> each and marked them up to </a:t>
                </a:r>
                <a14:m>
                  <m:oMath xmlns:m="http://schemas.openxmlformats.org/officeDocument/2006/math">
                    <m:r>
                      <a:rPr lang="en-US" sz="2000" b="0">
                        <a:latin typeface="Cambria Math" panose="02040503050406030204" pitchFamily="18" charset="0"/>
                        <a:ea typeface="Verdana" charset="0"/>
                        <a:cs typeface="Verdana" charset="0"/>
                      </a:rPr>
                      <m:t>$</m:t>
                    </m:r>
                    <m:r>
                      <a:rPr lang="en-US" sz="2000" b="0" i="1">
                        <a:latin typeface="Cambria Math" panose="02040503050406030204" pitchFamily="18" charset="0"/>
                        <a:ea typeface="Verdana" charset="0"/>
                        <a:cs typeface="Verdana" charset="0"/>
                      </a:rPr>
                      <m:t>35</m:t>
                    </m:r>
                  </m:oMath>
                </a14:m>
                <a:r>
                  <a:rPr lang="en-US" sz="2000" dirty="0">
                    <a:latin typeface="Verdana" charset="0"/>
                    <a:ea typeface="Verdana" charset="0"/>
                    <a:cs typeface="Verdana" charset="0"/>
                  </a:rPr>
                  <a:t>.</a:t>
                </a:r>
                <a:endParaRPr lang="en-US" sz="2000" b="1" dirty="0">
                  <a:latin typeface="Verdana" charset="0"/>
                  <a:ea typeface="Verdana" charset="0"/>
                  <a:cs typeface="Verdana" charset="0"/>
                </a:endParaRPr>
              </a:p>
              <a:p>
                <a:r>
                  <a:rPr lang="en-US" sz="2000" b="1" dirty="0">
                    <a:latin typeface="Verdana" charset="0"/>
                    <a:ea typeface="Verdana" charset="0"/>
                    <a:cs typeface="Verdana" charset="0"/>
                  </a:rPr>
                  <a:t> </a:t>
                </a:r>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Calculate the percentage of the markup.</a:t>
                </a: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A customer orders </a:t>
                </a:r>
                <a14:m>
                  <m:oMath xmlns:m="http://schemas.openxmlformats.org/officeDocument/2006/math">
                    <m:r>
                      <a:rPr lang="en-US" sz="2000" i="1">
                        <a:latin typeface="Cambria Math" panose="02040503050406030204" pitchFamily="18" charset="0"/>
                        <a:ea typeface="Verdana" charset="0"/>
                        <a:cs typeface="Verdana" charset="0"/>
                      </a:rPr>
                      <m:t>4</m:t>
                    </m:r>
                  </m:oMath>
                </a14:m>
                <a:r>
                  <a:rPr lang="en-US" sz="2000" dirty="0">
                    <a:latin typeface="Verdana" charset="0"/>
                    <a:ea typeface="Verdana" charset="0"/>
                    <a:cs typeface="Verdana" charset="0"/>
                  </a:rPr>
                  <a:t> baseball hats from the store online. What is the subtotal of the </a:t>
                </a:r>
                <a14:m>
                  <m:oMath xmlns:m="http://schemas.openxmlformats.org/officeDocument/2006/math">
                    <m:r>
                      <a:rPr lang="en-US" sz="2000" i="1">
                        <a:latin typeface="Cambria Math" panose="02040503050406030204" pitchFamily="18" charset="0"/>
                        <a:ea typeface="Verdana" charset="0"/>
                        <a:cs typeface="Verdana" charset="0"/>
                      </a:rPr>
                      <m:t>4</m:t>
                    </m:r>
                  </m:oMath>
                </a14:m>
                <a:r>
                  <a:rPr lang="en-US" sz="2000" dirty="0">
                    <a:latin typeface="Verdana" charset="0"/>
                    <a:ea typeface="Verdana" charset="0"/>
                    <a:cs typeface="Verdana" charset="0"/>
                  </a:rPr>
                  <a:t> hats?</a:t>
                </a: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If the sales tax is </a:t>
                </a:r>
                <a14:m>
                  <m:oMath xmlns:m="http://schemas.openxmlformats.org/officeDocument/2006/math">
                    <m:r>
                      <a:rPr lang="en-US" sz="2000" i="1">
                        <a:latin typeface="Cambria Math" panose="02040503050406030204" pitchFamily="18" charset="0"/>
                        <a:ea typeface="Verdana" charset="0"/>
                        <a:cs typeface="Verdana" charset="0"/>
                      </a:rPr>
                      <m:t>6.25%</m:t>
                    </m:r>
                  </m:oMath>
                </a14:m>
                <a:r>
                  <a:rPr lang="en-US" sz="2000" dirty="0">
                    <a:latin typeface="Verdana" charset="0"/>
                    <a:ea typeface="Verdana" charset="0"/>
                    <a:cs typeface="Verdana" charset="0"/>
                  </a:rPr>
                  <a:t> of the subtotal and there is a </a:t>
                </a:r>
                <a14:m>
                  <m:oMath xmlns:m="http://schemas.openxmlformats.org/officeDocument/2006/math">
                    <m:r>
                      <a:rPr lang="en-US" sz="2000" i="1">
                        <a:latin typeface="Cambria Math" panose="02040503050406030204" pitchFamily="18" charset="0"/>
                        <a:ea typeface="Verdana" charset="0"/>
                        <a:cs typeface="Verdana" charset="0"/>
                      </a:rPr>
                      <m:t>$7.00</m:t>
                    </m:r>
                  </m:oMath>
                </a14:m>
                <a:r>
                  <a:rPr lang="en-US" sz="2000" dirty="0">
                    <a:latin typeface="Verdana" charset="0"/>
                    <a:ea typeface="Verdana" charset="0"/>
                    <a:cs typeface="Verdana" charset="0"/>
                  </a:rPr>
                  <a:t> shipping fee applied after tax, what is the total amount the customer paid?</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794479" y="520394"/>
                <a:ext cx="9540422" cy="4708981"/>
              </a:xfrm>
              <a:prstGeom prst="rect">
                <a:avLst/>
              </a:prstGeom>
              <a:blipFill>
                <a:blip r:embed="rId3"/>
                <a:stretch>
                  <a:fillRect l="-665" t="-538" b="-1344"/>
                </a:stretch>
              </a:blipFill>
            </p:spPr>
            <p:txBody>
              <a:bodyPr/>
              <a:lstStyle/>
              <a:p>
                <a:r>
                  <a:rPr lang="en-US">
                    <a:noFill/>
                  </a:rPr>
                  <a:t> </a:t>
                </a:r>
              </a:p>
            </p:txBody>
          </p:sp>
        </mc:Fallback>
      </mc:AlternateContent>
      <p:sp>
        <p:nvSpPr>
          <p:cNvPr id="6"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0052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24262" y="520393"/>
                <a:ext cx="10094142" cy="1323439"/>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Leilani found a </a:t>
                </a:r>
                <a14:m>
                  <m:oMath xmlns:m="http://schemas.openxmlformats.org/officeDocument/2006/math">
                    <m:r>
                      <a:rPr lang="en-US" sz="2000" i="1">
                        <a:latin typeface="Cambria Math" panose="02040503050406030204" pitchFamily="18" charset="0"/>
                        <a:ea typeface="Verdana" charset="0"/>
                        <a:cs typeface="Verdana" charset="0"/>
                      </a:rPr>
                      <m:t>30%</m:t>
                    </m:r>
                  </m:oMath>
                </a14:m>
                <a:r>
                  <a:rPr lang="en-US" sz="2000" dirty="0">
                    <a:latin typeface="Verdana" charset="0"/>
                    <a:ea typeface="Verdana" charset="0"/>
                    <a:cs typeface="Verdana" charset="0"/>
                  </a:rPr>
                  <a:t> off discount code for an NXT True Hybrid Surfboard. The original cost of the surfboard is </a:t>
                </a:r>
                <a14:m>
                  <m:oMath xmlns:m="http://schemas.openxmlformats.org/officeDocument/2006/math">
                    <m:r>
                      <a:rPr lang="en-US" sz="2000" i="1">
                        <a:latin typeface="Cambria Math" panose="02040503050406030204" pitchFamily="18" charset="0"/>
                        <a:ea typeface="Verdana" charset="0"/>
                        <a:cs typeface="Verdana" charset="0"/>
                      </a:rPr>
                      <m:t>$700</m:t>
                    </m:r>
                  </m:oMath>
                </a14:m>
                <a:r>
                  <a:rPr lang="en-US" sz="2000" dirty="0">
                    <a:latin typeface="Verdana" charset="0"/>
                    <a:ea typeface="Verdana" charset="0"/>
                    <a:cs typeface="Verdana" charset="0"/>
                  </a:rPr>
                  <a:t>. If the company does not charge tax but instead charges a </a:t>
                </a:r>
                <a14:m>
                  <m:oMath xmlns:m="http://schemas.openxmlformats.org/officeDocument/2006/math">
                    <m:r>
                      <a:rPr lang="en-US" sz="2000" i="1">
                        <a:latin typeface="Cambria Math" panose="02040503050406030204" pitchFamily="18" charset="0"/>
                        <a:ea typeface="Verdana" charset="0"/>
                        <a:cs typeface="Verdana" charset="0"/>
                      </a:rPr>
                      <m:t>$150</m:t>
                    </m:r>
                  </m:oMath>
                </a14:m>
                <a:r>
                  <a:rPr lang="en-US" sz="2000" dirty="0">
                    <a:latin typeface="Verdana" charset="0"/>
                    <a:ea typeface="Verdana" charset="0"/>
                    <a:cs typeface="Verdana" charset="0"/>
                  </a:rPr>
                  <a:t> shipping fee, how much does the surfboard cost in total?</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24262" y="520393"/>
                <a:ext cx="10094142" cy="1323439"/>
              </a:xfrm>
              <a:prstGeom prst="rect">
                <a:avLst/>
              </a:prstGeom>
              <a:blipFill rotWithShape="0">
                <a:blip r:embed="rId3"/>
                <a:stretch>
                  <a:fillRect l="-664" t="-2765" r="-1389" b="-7373"/>
                </a:stretch>
              </a:blipFill>
            </p:spPr>
            <p:txBody>
              <a:bodyPr/>
              <a:lstStyle/>
              <a:p>
                <a:r>
                  <a:rPr lang="en-US">
                    <a:noFill/>
                  </a:rPr>
                  <a:t> </a:t>
                </a:r>
              </a:p>
            </p:txBody>
          </p:sp>
        </mc:Fallback>
      </mc:AlternateContent>
      <p:sp>
        <p:nvSpPr>
          <p:cNvPr id="6"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244</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45252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245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36840" y="109281"/>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12.6.4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89540" y="10928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109272" y="1275262"/>
                <a:ext cx="6151748" cy="132343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 car dealership pays a wholesale price of </a:t>
                </a:r>
                <a14:m>
                  <m:oMath xmlns:m="http://schemas.openxmlformats.org/officeDocument/2006/math">
                    <m:r>
                      <a:rPr lang="en-US" sz="2000" i="1">
                        <a:latin typeface="Cambria Math" panose="02040503050406030204" pitchFamily="18" charset="0"/>
                        <a:ea typeface="Verdana" charset="0"/>
                        <a:cs typeface="Verdana" charset="0"/>
                      </a:rPr>
                      <m:t>$12,000 </m:t>
                    </m:r>
                  </m:oMath>
                </a14:m>
                <a:r>
                  <a:rPr lang="en-US" sz="2000" dirty="0">
                    <a:latin typeface="Verdana" charset="0"/>
                    <a:ea typeface="Verdana" charset="0"/>
                    <a:cs typeface="Verdana" charset="0"/>
                  </a:rPr>
                  <a:t>to purchase a vehicle. The car dealership wants to make a </a:t>
                </a:r>
                <a14:m>
                  <m:oMath xmlns:m="http://schemas.openxmlformats.org/officeDocument/2006/math">
                    <m:r>
                      <a:rPr lang="en-US" sz="2000" i="1">
                        <a:latin typeface="Cambria Math" panose="02040503050406030204" pitchFamily="18" charset="0"/>
                        <a:ea typeface="Verdana" charset="0"/>
                        <a:cs typeface="Verdana" charset="0"/>
                      </a:rPr>
                      <m:t>32% </m:t>
                    </m:r>
                  </m:oMath>
                </a14:m>
                <a:r>
                  <a:rPr lang="en-US" sz="2000" dirty="0">
                    <a:latin typeface="Verdana" charset="0"/>
                    <a:ea typeface="Verdana" charset="0"/>
                    <a:cs typeface="Verdana" charset="0"/>
                  </a:rPr>
                  <a:t>profit. </a:t>
                </a:r>
              </a:p>
              <a:p>
                <a:endParaRPr lang="en-US" sz="2000" dirty="0">
                  <a:latin typeface="Verdana" charset="0"/>
                  <a:ea typeface="Verdana" charset="0"/>
                  <a:cs typeface="Verdana"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109272" y="1275262"/>
                <a:ext cx="6151748" cy="1323439"/>
              </a:xfrm>
              <a:prstGeom prst="rect">
                <a:avLst/>
              </a:prstGeom>
              <a:blipFill rotWithShape="0">
                <a:blip r:embed="rId4"/>
                <a:stretch>
                  <a:fillRect l="-1090" t="-5991" b="-152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109272" y="3048239"/>
                <a:ext cx="8943705" cy="2862322"/>
              </a:xfrm>
              <a:prstGeom prst="rect">
                <a:avLst/>
              </a:prstGeom>
            </p:spPr>
            <p:txBody>
              <a:bodyPr wrap="square">
                <a:spAutoFit/>
              </a:bodyPr>
              <a:lstStyle/>
              <a:p>
                <a:pPr marL="917575" lvl="1" indent="-460375">
                  <a:buFont typeface="+mj-lt"/>
                  <a:buAutoNum type="alphaLcPeriod"/>
                </a:pPr>
                <a:r>
                  <a:rPr lang="en-US" sz="2000" dirty="0">
                    <a:latin typeface="Verdana" charset="0"/>
                    <a:ea typeface="Verdana" charset="0"/>
                    <a:cs typeface="Verdana" charset="0"/>
                  </a:rPr>
                  <a:t>How much money is added to the wholesale price to make a </a:t>
                </a:r>
                <a14:m>
                  <m:oMath xmlns:m="http://schemas.openxmlformats.org/officeDocument/2006/math">
                    <m:r>
                      <a:rPr lang="en-US" sz="2000" i="1">
                        <a:latin typeface="Cambria Math" panose="02040503050406030204" pitchFamily="18" charset="0"/>
                        <a:ea typeface="Verdana" charset="0"/>
                        <a:cs typeface="Verdana" charset="0"/>
                      </a:rPr>
                      <m:t>32%</m:t>
                    </m:r>
                  </m:oMath>
                </a14:m>
                <a:r>
                  <a:rPr lang="en-US" sz="2000" dirty="0">
                    <a:latin typeface="Verdana" charset="0"/>
                    <a:ea typeface="Verdana" charset="0"/>
                    <a:cs typeface="Verdana" charset="0"/>
                  </a:rPr>
                  <a:t> profit? </a:t>
                </a:r>
              </a:p>
              <a:p>
                <a:pPr marL="917575" lvl="1" indent="-460375">
                  <a:buFont typeface="+mj-lt"/>
                  <a:buAutoNum type="alphaLcPeriod"/>
                </a:pPr>
                <a:endParaRPr lang="en-US" sz="2000" dirty="0">
                  <a:latin typeface="Verdana" charset="0"/>
                  <a:ea typeface="Verdana" charset="0"/>
                  <a:cs typeface="Verdana" charset="0"/>
                </a:endParaRPr>
              </a:p>
              <a:p>
                <a:pPr marL="917575" lvl="1" indent="-460375">
                  <a:buFont typeface="+mj-lt"/>
                  <a:buAutoNum type="alphaLcPeriod"/>
                </a:pPr>
                <a:endParaRPr lang="en-US" sz="2000" dirty="0">
                  <a:latin typeface="Verdana" charset="0"/>
                  <a:ea typeface="Verdana" charset="0"/>
                  <a:cs typeface="Verdana" charset="0"/>
                </a:endParaRPr>
              </a:p>
              <a:p>
                <a:pPr marL="917575" lvl="1" indent="-460375">
                  <a:buFont typeface="+mj-lt"/>
                  <a:buAutoNum type="alphaLcPeriod"/>
                </a:pPr>
                <a:r>
                  <a:rPr lang="en-US" sz="2000" dirty="0">
                    <a:latin typeface="Verdana" charset="0"/>
                    <a:ea typeface="Verdana" charset="0"/>
                    <a:cs typeface="Verdana" charset="0"/>
                  </a:rPr>
                  <a:t>After the markup, what is the total retail price of the vehicle?</a:t>
                </a:r>
              </a:p>
              <a:p>
                <a:pPr marL="917575" lvl="1" indent="-460375">
                  <a:buFont typeface="+mj-lt"/>
                  <a:buAutoNum type="alphaLcPeriod"/>
                </a:pPr>
                <a:endParaRPr lang="en-US" sz="2000" dirty="0">
                  <a:latin typeface="Verdana" charset="0"/>
                  <a:ea typeface="Verdana" charset="0"/>
                  <a:cs typeface="Verdana" charset="0"/>
                </a:endParaRPr>
              </a:p>
              <a:p>
                <a:pPr marL="917575" lvl="1" indent="-460375">
                  <a:buFont typeface="+mj-lt"/>
                  <a:buAutoNum type="alphaLcPeriod"/>
                </a:pPr>
                <a:endParaRPr lang="en-US" sz="2000" dirty="0">
                  <a:latin typeface="Verdana" charset="0"/>
                  <a:ea typeface="Verdana" charset="0"/>
                  <a:cs typeface="Verdana" charset="0"/>
                </a:endParaRPr>
              </a:p>
              <a:p>
                <a:pPr marL="917575" lvl="1" indent="-460375">
                  <a:buFont typeface="+mj-lt"/>
                  <a:buAutoNum type="alphaLcPeriod"/>
                </a:pPr>
                <a:r>
                  <a:rPr lang="en-US" sz="2000" dirty="0">
                    <a:latin typeface="Verdana" charset="0"/>
                    <a:ea typeface="Verdana" charset="0"/>
                    <a:cs typeface="Verdana" charset="0"/>
                  </a:rPr>
                  <a:t>The sales tax in the city it is sold is </a:t>
                </a:r>
                <a14:m>
                  <m:oMath xmlns:m="http://schemas.openxmlformats.org/officeDocument/2006/math">
                    <m:r>
                      <a:rPr lang="en-US" sz="2000" i="1">
                        <a:latin typeface="Cambria Math" panose="02040503050406030204" pitchFamily="18" charset="0"/>
                        <a:ea typeface="Verdana" charset="0"/>
                        <a:cs typeface="Verdana" charset="0"/>
                      </a:rPr>
                      <m:t>7.5%.</m:t>
                    </m:r>
                  </m:oMath>
                </a14:m>
                <a:r>
                  <a:rPr lang="en-US" sz="2000" dirty="0">
                    <a:latin typeface="Verdana" charset="0"/>
                    <a:ea typeface="Verdana" charset="0"/>
                    <a:cs typeface="Verdana" charset="0"/>
                  </a:rPr>
                  <a:t> After tax, what will the customer pay for the car?</a:t>
                </a:r>
              </a:p>
            </p:txBody>
          </p:sp>
        </mc:Choice>
        <mc:Fallback xmlns="">
          <p:sp>
            <p:nvSpPr>
              <p:cNvPr id="3" name="Rectangle 2"/>
              <p:cNvSpPr>
                <a:spLocks noRot="1" noChangeAspect="1" noMove="1" noResize="1" noEditPoints="1" noAdjustHandles="1" noChangeArrowheads="1" noChangeShapeType="1" noTextEdit="1"/>
              </p:cNvSpPr>
              <p:nvPr/>
            </p:nvSpPr>
            <p:spPr>
              <a:xfrm>
                <a:off x="1109272" y="3048239"/>
                <a:ext cx="8943705" cy="2862322"/>
              </a:xfrm>
              <a:prstGeom prst="rect">
                <a:avLst/>
              </a:prstGeom>
              <a:blipFill rotWithShape="0">
                <a:blip r:embed="rId5"/>
                <a:stretch>
                  <a:fillRect t="-1489" r="-682" b="-2766"/>
                </a:stretch>
              </a:blipFill>
            </p:spPr>
            <p:txBody>
              <a:bodyPr/>
              <a:lstStyle/>
              <a:p>
                <a:r>
                  <a:rPr lang="en-US">
                    <a:noFill/>
                  </a:rPr>
                  <a:t> </a:t>
                </a:r>
              </a:p>
            </p:txBody>
          </p:sp>
        </mc:Fallback>
      </mc:AlternateContent>
      <p:pic>
        <p:nvPicPr>
          <p:cNvPr id="4" name="Picture 3"/>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7261020" y="1275262"/>
            <a:ext cx="2654300" cy="1485900"/>
          </a:xfrm>
          <a:prstGeom prst="rect">
            <a:avLst/>
          </a:prstGeom>
        </p:spPr>
      </p:pic>
      <p:sp>
        <p:nvSpPr>
          <p:cNvPr id="10"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245</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44184" y="520393"/>
                <a:ext cx="9854298" cy="7078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 table shows the pre-tax cost of items at a convenience store where the sales tax rate is </a:t>
                </a:r>
                <a14:m>
                  <m:oMath xmlns:m="http://schemas.openxmlformats.org/officeDocument/2006/math">
                    <m:r>
                      <a:rPr lang="en-US" sz="2000" i="1">
                        <a:latin typeface="Cambria Math" panose="02040503050406030204" pitchFamily="18" charset="0"/>
                        <a:ea typeface="Verdana" charset="0"/>
                        <a:cs typeface="Verdana" charset="0"/>
                      </a:rPr>
                      <m:t>4.6%</m:t>
                    </m:r>
                  </m:oMath>
                </a14:m>
                <a:r>
                  <a:rPr lang="en-US" sz="2000" dirty="0">
                    <a:latin typeface="Verdana" charset="0"/>
                    <a:ea typeface="Verdana" charset="0"/>
                    <a:cs typeface="Verdana" charset="0"/>
                  </a:rPr>
                  <a:t>. </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44184" y="520393"/>
                <a:ext cx="9854298" cy="707886"/>
              </a:xfrm>
              <a:prstGeom prst="rect">
                <a:avLst/>
              </a:prstGeom>
              <a:blipFill rotWithShape="0">
                <a:blip r:embed="rId3"/>
                <a:stretch>
                  <a:fillRect l="-680" t="-5172" r="-989"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56035919"/>
                  </p:ext>
                </p:extLst>
              </p:nvPr>
            </p:nvGraphicFramePr>
            <p:xfrm>
              <a:off x="3054014" y="1473337"/>
              <a:ext cx="6234638" cy="2480496"/>
            </p:xfrm>
            <a:graphic>
              <a:graphicData uri="http://schemas.openxmlformats.org/drawingml/2006/table">
                <a:tbl>
                  <a:tblPr firstRow="1" firstCol="1" lastRow="1" lastCol="1"/>
                  <a:tblGrid>
                    <a:gridCol w="4250776">
                      <a:extLst>
                        <a:ext uri="{9D8B030D-6E8A-4147-A177-3AD203B41FA5}">
                          <a16:colId xmlns:a16="http://schemas.microsoft.com/office/drawing/2014/main" val="20000"/>
                        </a:ext>
                      </a:extLst>
                    </a:gridCol>
                    <a:gridCol w="1983862">
                      <a:extLst>
                        <a:ext uri="{9D8B030D-6E8A-4147-A177-3AD203B41FA5}">
                          <a16:colId xmlns:a16="http://schemas.microsoft.com/office/drawing/2014/main" val="20001"/>
                        </a:ext>
                      </a:extLst>
                    </a:gridCol>
                  </a:tblGrid>
                  <a:tr h="350096">
                    <a:tc>
                      <a:txBody>
                        <a:bodyPr/>
                        <a:lstStyle/>
                        <a:p>
                          <a:pPr marL="0" marR="0" algn="ctr">
                            <a:spcBef>
                              <a:spcPts val="0"/>
                            </a:spcBef>
                            <a:spcAft>
                              <a:spcPts val="0"/>
                            </a:spcAft>
                          </a:pPr>
                          <a:r>
                            <a:rPr lang="en-US" sz="2000" b="1">
                              <a:effectLst/>
                              <a:latin typeface="Verdana" charset="0"/>
                              <a:ea typeface="Verdana" charset="0"/>
                              <a:cs typeface="Verdana" charset="0"/>
                            </a:rPr>
                            <a:t>Item</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Cost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50096">
                    <a:tc>
                      <a:txBody>
                        <a:bodyPr/>
                        <a:lstStyle/>
                        <a:p>
                          <a:pPr marL="0" marR="0" algn="ctr">
                            <a:spcBef>
                              <a:spcPts val="0"/>
                            </a:spcBef>
                            <a:spcAft>
                              <a:spcPts val="0"/>
                            </a:spcAft>
                          </a:pPr>
                          <a:r>
                            <a:rPr lang="en-US" sz="2000">
                              <a:effectLst/>
                              <a:latin typeface="Verdana" charset="0"/>
                              <a:ea typeface="Verdana" charset="0"/>
                              <a:cs typeface="Verdana" charset="0"/>
                            </a:rPr>
                            <a:t>Milk</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3.75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50096">
                    <a:tc>
                      <a:txBody>
                        <a:bodyPr/>
                        <a:lstStyle/>
                        <a:p>
                          <a:pPr marL="0" marR="0" algn="ctr">
                            <a:spcBef>
                              <a:spcPts val="0"/>
                            </a:spcBef>
                            <a:spcAft>
                              <a:spcPts val="0"/>
                            </a:spcAft>
                          </a:pPr>
                          <a:r>
                            <a:rPr lang="en-US" sz="2000">
                              <a:effectLst/>
                              <a:latin typeface="Verdana" charset="0"/>
                              <a:ea typeface="Verdana" charset="0"/>
                              <a:cs typeface="Verdana" charset="0"/>
                            </a:rPr>
                            <a:t>Bag of Ice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2.50</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008">
                    <a:tc>
                      <a:txBody>
                        <a:bodyPr/>
                        <a:lstStyle/>
                        <a:p>
                          <a:pPr marL="0" marR="0" algn="ctr">
                            <a:spcBef>
                              <a:spcPts val="0"/>
                            </a:spcBef>
                            <a:spcAft>
                              <a:spcPts val="0"/>
                            </a:spcAft>
                          </a:pPr>
                          <a:r>
                            <a:rPr lang="en-US" sz="2000" dirty="0">
                              <a:effectLst/>
                              <a:latin typeface="Verdana" charset="0"/>
                              <a:ea typeface="Verdana" charset="0"/>
                              <a:cs typeface="Verdana" charset="0"/>
                            </a:rPr>
                            <a:t>Aspirin – </a:t>
                          </a:r>
                          <a14:m>
                            <m:oMath xmlns:m="http://schemas.openxmlformats.org/officeDocument/2006/math">
                              <m:r>
                                <a:rPr lang="en-US" sz="2000" i="1">
                                  <a:effectLst/>
                                  <a:latin typeface="Cambria Math" panose="02040503050406030204" pitchFamily="18" charset="0"/>
                                  <a:ea typeface="Verdana" charset="0"/>
                                  <a:cs typeface="Verdana" charset="0"/>
                                </a:rPr>
                                <m:t>24</m:t>
                              </m:r>
                            </m:oMath>
                          </a14:m>
                          <a:r>
                            <a:rPr lang="en-US" sz="2000" dirty="0">
                              <a:effectLst/>
                              <a:latin typeface="Verdana" charset="0"/>
                              <a:ea typeface="Verdana" charset="0"/>
                              <a:cs typeface="Verdana" charset="0"/>
                            </a:rPr>
                            <a:t> tablets</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8.25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0096">
                    <a:tc>
                      <a:txBody>
                        <a:bodyPr/>
                        <a:lstStyle/>
                        <a:p>
                          <a:pPr marL="0" marR="0" algn="ctr">
                            <a:spcBef>
                              <a:spcPts val="0"/>
                            </a:spcBef>
                            <a:spcAft>
                              <a:spcPts val="0"/>
                            </a:spcAft>
                          </a:pPr>
                          <a:r>
                            <a:rPr lang="en-US" sz="2000" dirty="0">
                              <a:effectLst/>
                              <a:latin typeface="Verdana" charset="0"/>
                              <a:ea typeface="Verdana" charset="0"/>
                              <a:cs typeface="Verdana" charset="0"/>
                            </a:rPr>
                            <a:t>Snack Mix</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3.75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50096">
                    <a:tc>
                      <a:txBody>
                        <a:bodyPr/>
                        <a:lstStyle/>
                        <a:p>
                          <a:pPr marL="0" marR="0" algn="ctr">
                            <a:spcBef>
                              <a:spcPts val="0"/>
                            </a:spcBef>
                            <a:spcAft>
                              <a:spcPts val="0"/>
                            </a:spcAft>
                          </a:pPr>
                          <a:r>
                            <a:rPr lang="en-US" sz="2000">
                              <a:effectLst/>
                              <a:latin typeface="Verdana" charset="0"/>
                              <a:ea typeface="Verdana" charset="0"/>
                              <a:cs typeface="Verdana" charset="0"/>
                            </a:rPr>
                            <a:t>Candy Bar</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1.25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65008">
                    <a:tc>
                      <a:txBody>
                        <a:bodyPr/>
                        <a:lstStyle/>
                        <a:p>
                          <a:pPr marL="0" marR="0" algn="ctr">
                            <a:spcBef>
                              <a:spcPts val="0"/>
                            </a:spcBef>
                            <a:spcAft>
                              <a:spcPts val="0"/>
                            </a:spcAft>
                          </a:pPr>
                          <a:r>
                            <a:rPr lang="en-US" sz="2000">
                              <a:effectLst/>
                              <a:latin typeface="Verdana" charset="0"/>
                              <a:ea typeface="Verdana" charset="0"/>
                              <a:cs typeface="Verdana" charset="0"/>
                            </a:rPr>
                            <a:t>Batteries</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6.75</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56035919"/>
                  </p:ext>
                </p:extLst>
              </p:nvPr>
            </p:nvGraphicFramePr>
            <p:xfrm>
              <a:off x="1530014" y="1473337"/>
              <a:ext cx="6234638" cy="2480496"/>
            </p:xfrm>
            <a:graphic>
              <a:graphicData uri="http://schemas.openxmlformats.org/drawingml/2006/table">
                <a:tbl>
                  <a:tblPr firstRow="1" firstCol="1" lastRow="1" lastCol="1"/>
                  <a:tblGrid>
                    <a:gridCol w="4250776"/>
                    <a:gridCol w="1983862"/>
                  </a:tblGrid>
                  <a:tr h="350096">
                    <a:tc>
                      <a:txBody>
                        <a:bodyPr/>
                        <a:lstStyle/>
                        <a:p>
                          <a:pPr marL="0" marR="0" algn="ctr">
                            <a:spcBef>
                              <a:spcPts val="0"/>
                            </a:spcBef>
                            <a:spcAft>
                              <a:spcPts val="0"/>
                            </a:spcAft>
                          </a:pPr>
                          <a:r>
                            <a:rPr lang="en-US" sz="2000" b="1">
                              <a:effectLst/>
                              <a:latin typeface="Verdana" charset="0"/>
                              <a:ea typeface="Verdana" charset="0"/>
                              <a:cs typeface="Verdana" charset="0"/>
                            </a:rPr>
                            <a:t>Item</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Cost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350096">
                    <a:tc>
                      <a:txBody>
                        <a:bodyPr/>
                        <a:lstStyle/>
                        <a:p>
                          <a:pPr marL="0" marR="0" algn="ctr">
                            <a:spcBef>
                              <a:spcPts val="0"/>
                            </a:spcBef>
                            <a:spcAft>
                              <a:spcPts val="0"/>
                            </a:spcAft>
                          </a:pPr>
                          <a:r>
                            <a:rPr lang="en-US" sz="2000">
                              <a:effectLst/>
                              <a:latin typeface="Verdana" charset="0"/>
                              <a:ea typeface="Verdana" charset="0"/>
                              <a:cs typeface="Verdana" charset="0"/>
                            </a:rPr>
                            <a:t>Milk</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14417" t="-117544" r="-613" b="-549123"/>
                          </a:stretch>
                        </a:blipFill>
                      </a:tcPr>
                    </a:tc>
                  </a:tr>
                  <a:tr h="350096">
                    <a:tc>
                      <a:txBody>
                        <a:bodyPr/>
                        <a:lstStyle/>
                        <a:p>
                          <a:pPr marL="0" marR="0" algn="ctr">
                            <a:spcBef>
                              <a:spcPts val="0"/>
                            </a:spcBef>
                            <a:spcAft>
                              <a:spcPts val="0"/>
                            </a:spcAft>
                          </a:pPr>
                          <a:r>
                            <a:rPr lang="en-US" sz="2000">
                              <a:effectLst/>
                              <a:latin typeface="Verdana" charset="0"/>
                              <a:ea typeface="Verdana" charset="0"/>
                              <a:cs typeface="Verdana" charset="0"/>
                            </a:rPr>
                            <a:t>Bag of Ice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14417" t="-213793" r="-613" b="-439655"/>
                          </a:stretch>
                        </a:blipFill>
                      </a:tcPr>
                    </a:tc>
                  </a:tr>
                  <a:tr h="36500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143" t="-303333" r="-46991" b="-325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14417" t="-303333" r="-613" b="-325000"/>
                          </a:stretch>
                        </a:blipFill>
                      </a:tcPr>
                    </a:tc>
                  </a:tr>
                  <a:tr h="350096">
                    <a:tc>
                      <a:txBody>
                        <a:bodyPr/>
                        <a:lstStyle/>
                        <a:p>
                          <a:pPr marL="0" marR="0" algn="ctr">
                            <a:spcBef>
                              <a:spcPts val="0"/>
                            </a:spcBef>
                            <a:spcAft>
                              <a:spcPts val="0"/>
                            </a:spcAft>
                          </a:pPr>
                          <a:r>
                            <a:rPr lang="en-US" sz="2000" dirty="0">
                              <a:effectLst/>
                              <a:latin typeface="Verdana" charset="0"/>
                              <a:ea typeface="Verdana" charset="0"/>
                              <a:cs typeface="Verdana" charset="0"/>
                            </a:rPr>
                            <a:t>Snack Mix</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14417" t="-424561" r="-613" b="-242105"/>
                          </a:stretch>
                        </a:blipFill>
                      </a:tcPr>
                    </a:tc>
                  </a:tr>
                  <a:tr h="350096">
                    <a:tc>
                      <a:txBody>
                        <a:bodyPr/>
                        <a:lstStyle/>
                        <a:p>
                          <a:pPr marL="0" marR="0" algn="ctr">
                            <a:spcBef>
                              <a:spcPts val="0"/>
                            </a:spcBef>
                            <a:spcAft>
                              <a:spcPts val="0"/>
                            </a:spcAft>
                          </a:pPr>
                          <a:r>
                            <a:rPr lang="en-US" sz="2000">
                              <a:effectLst/>
                              <a:latin typeface="Verdana" charset="0"/>
                              <a:ea typeface="Verdana" charset="0"/>
                              <a:cs typeface="Verdana" charset="0"/>
                            </a:rPr>
                            <a:t>Candy Bar</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14417" t="-515517" r="-613" b="-137931"/>
                          </a:stretch>
                        </a:blipFill>
                      </a:tcPr>
                    </a:tc>
                  </a:tr>
                  <a:tr h="365008">
                    <a:tc>
                      <a:txBody>
                        <a:bodyPr/>
                        <a:lstStyle/>
                        <a:p>
                          <a:pPr marL="0" marR="0" algn="ctr">
                            <a:spcBef>
                              <a:spcPts val="0"/>
                            </a:spcBef>
                            <a:spcAft>
                              <a:spcPts val="0"/>
                            </a:spcAft>
                          </a:pPr>
                          <a:r>
                            <a:rPr lang="en-US" sz="2000">
                              <a:effectLst/>
                              <a:latin typeface="Verdana" charset="0"/>
                              <a:ea typeface="Verdana" charset="0"/>
                              <a:cs typeface="Verdana" charset="0"/>
                            </a:rPr>
                            <a:t>Batteries</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14417" t="-595000" r="-613" b="-33333"/>
                          </a:stretch>
                        </a:blipFill>
                      </a:tcPr>
                    </a:tc>
                  </a:tr>
                </a:tbl>
              </a:graphicData>
            </a:graphic>
          </p:graphicFrame>
        </mc:Fallback>
      </mc:AlternateContent>
      <mc:AlternateContent xmlns:mc="http://schemas.openxmlformats.org/markup-compatibility/2006" xmlns:a14="http://schemas.microsoft.com/office/drawing/2010/main">
        <mc:Choice Requires="a14">
          <p:sp>
            <p:nvSpPr>
              <p:cNvPr id="3" name="Rectangle 2"/>
              <p:cNvSpPr/>
              <p:nvPr/>
            </p:nvSpPr>
            <p:spPr>
              <a:xfrm>
                <a:off x="1244184" y="4282470"/>
                <a:ext cx="9854298" cy="1631216"/>
              </a:xfrm>
              <a:prstGeom prst="rect">
                <a:avLst/>
              </a:prstGeom>
            </p:spPr>
            <p:txBody>
              <a:bodyPr wrap="square">
                <a:spAutoFit/>
              </a:bodyPr>
              <a:lstStyle/>
              <a:p>
                <a:pPr marL="917575" lvl="1" indent="-460375">
                  <a:buFont typeface="+mj-lt"/>
                  <a:buAutoNum type="alphaLcPeriod"/>
                </a:pPr>
                <a:r>
                  <a:rPr lang="en-US" sz="2000" dirty="0">
                    <a:latin typeface="Verdana" charset="0"/>
                    <a:ea typeface="Verdana" charset="0"/>
                    <a:cs typeface="Verdana" charset="0"/>
                  </a:rPr>
                  <a:t>Cal stopped at the convenience store and picked up a bag of ice and batteries. What was his total cost, with tax?</a:t>
                </a:r>
              </a:p>
              <a:p>
                <a:pPr marL="917575" lvl="1" indent="-460375">
                  <a:buFont typeface="+mj-lt"/>
                  <a:buAutoNum type="alphaLcPeriod"/>
                </a:pPr>
                <a:endParaRPr lang="en-US" sz="2000" dirty="0">
                  <a:latin typeface="Verdana" charset="0"/>
                  <a:ea typeface="Verdana" charset="0"/>
                  <a:cs typeface="Verdana" charset="0"/>
                </a:endParaRPr>
              </a:p>
              <a:p>
                <a:pPr marL="917575" lvl="1" indent="-460375">
                  <a:buFont typeface="+mj-lt"/>
                  <a:buAutoNum type="alphaLcPeriod"/>
                </a:pPr>
                <a:r>
                  <a:rPr lang="en-US" sz="2000" dirty="0">
                    <a:latin typeface="Verdana" charset="0"/>
                    <a:ea typeface="Verdana" charset="0"/>
                    <a:cs typeface="Verdana" charset="0"/>
                  </a:rPr>
                  <a:t>Ms. </a:t>
                </a:r>
                <a:r>
                  <a:rPr lang="en-US" sz="2000" dirty="0" err="1">
                    <a:latin typeface="Verdana" charset="0"/>
                    <a:ea typeface="Verdana" charset="0"/>
                    <a:cs typeface="Verdana" charset="0"/>
                  </a:rPr>
                  <a:t>Isales</a:t>
                </a:r>
                <a:r>
                  <a:rPr lang="en-US" sz="2000" dirty="0">
                    <a:latin typeface="Verdana" charset="0"/>
                    <a:ea typeface="Verdana" charset="0"/>
                    <a:cs typeface="Verdana" charset="0"/>
                  </a:rPr>
                  <a:t> has </a:t>
                </a:r>
                <a14:m>
                  <m:oMath xmlns:m="http://schemas.openxmlformats.org/officeDocument/2006/math">
                    <m:r>
                      <a:rPr lang="en-US" sz="2000" i="1">
                        <a:latin typeface="Cambria Math" panose="02040503050406030204" pitchFamily="18" charset="0"/>
                        <a:ea typeface="Verdana" charset="0"/>
                        <a:cs typeface="Verdana" charset="0"/>
                      </a:rPr>
                      <m:t>$10.00</m:t>
                    </m:r>
                  </m:oMath>
                </a14:m>
                <a:r>
                  <a:rPr lang="en-US" sz="2000" dirty="0">
                    <a:latin typeface="Verdana" charset="0"/>
                    <a:ea typeface="Verdana" charset="0"/>
                    <a:cs typeface="Verdana" charset="0"/>
                  </a:rPr>
                  <a:t> in her wallet. Does she have enough to buy aspirin and a candy bar? Explain your reasoning using mathematics.</a:t>
                </a:r>
              </a:p>
            </p:txBody>
          </p:sp>
        </mc:Choice>
        <mc:Fallback xmlns="">
          <p:sp>
            <p:nvSpPr>
              <p:cNvPr id="3" name="Rectangle 2"/>
              <p:cNvSpPr>
                <a:spLocks noRot="1" noChangeAspect="1" noMove="1" noResize="1" noEditPoints="1" noAdjustHandles="1" noChangeArrowheads="1" noChangeShapeType="1" noTextEdit="1"/>
              </p:cNvSpPr>
              <p:nvPr/>
            </p:nvSpPr>
            <p:spPr>
              <a:xfrm>
                <a:off x="1244184" y="4282470"/>
                <a:ext cx="9854298" cy="1631216"/>
              </a:xfrm>
              <a:prstGeom prst="rect">
                <a:avLst/>
              </a:prstGeom>
              <a:blipFill rotWithShape="0">
                <a:blip r:embed="rId6"/>
                <a:stretch>
                  <a:fillRect t="-2622" r="-1484" b="-5993"/>
                </a:stretch>
              </a:blipFill>
            </p:spPr>
            <p:txBody>
              <a:bodyPr/>
              <a:lstStyle/>
              <a:p>
                <a:r>
                  <a:rPr lang="en-US">
                    <a:noFill/>
                  </a:rPr>
                  <a:t> </a:t>
                </a:r>
              </a:p>
            </p:txBody>
          </p:sp>
        </mc:Fallback>
      </mc:AlternateContent>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245</a:t>
            </a:r>
            <a:endParaRPr i="1" dirty="0">
              <a:latin typeface="Calibri"/>
              <a:ea typeface="Calibri"/>
              <a:cs typeface="Calibri"/>
              <a:sym typeface="Calibri"/>
            </a:endParaRPr>
          </a:p>
        </p:txBody>
      </p:sp>
      <p:pic>
        <p:nvPicPr>
          <p:cNvPr id="9"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57196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69233" y="520394"/>
                <a:ext cx="10004200" cy="1015663"/>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A local restaurant automatically adds a </a:t>
                </a:r>
                <a14:m>
                  <m:oMath xmlns:m="http://schemas.openxmlformats.org/officeDocument/2006/math">
                    <m:r>
                      <a:rPr lang="en-US" sz="2000" i="1">
                        <a:latin typeface="Cambria Math" panose="02040503050406030204" pitchFamily="18" charset="0"/>
                        <a:ea typeface="Verdana" charset="0"/>
                        <a:cs typeface="Verdana" charset="0"/>
                      </a:rPr>
                      <m:t>21%</m:t>
                    </m:r>
                  </m:oMath>
                </a14:m>
                <a:r>
                  <a:rPr lang="en-US" sz="2000" dirty="0">
                    <a:latin typeface="Verdana" charset="0"/>
                    <a:ea typeface="Verdana" charset="0"/>
                    <a:cs typeface="Verdana" charset="0"/>
                  </a:rPr>
                  <a:t> gratuity (tip), pre-tax, to each bill for parties over </a:t>
                </a:r>
                <a14:m>
                  <m:oMath xmlns:m="http://schemas.openxmlformats.org/officeDocument/2006/math">
                    <m:r>
                      <a:rPr lang="en-US" sz="2000" i="1">
                        <a:latin typeface="Cambria Math" panose="02040503050406030204" pitchFamily="18" charset="0"/>
                        <a:ea typeface="Verdana" charset="0"/>
                        <a:cs typeface="Verdana" charset="0"/>
                      </a:rPr>
                      <m:t>10</m:t>
                    </m:r>
                  </m:oMath>
                </a14:m>
                <a:r>
                  <a:rPr lang="en-US" sz="2000" dirty="0">
                    <a:latin typeface="Verdana" charset="0"/>
                    <a:ea typeface="Verdana" charset="0"/>
                    <a:cs typeface="Verdana" charset="0"/>
                  </a:rPr>
                  <a:t>. The table shows the bills due for several parties over </a:t>
                </a:r>
                <a14:m>
                  <m:oMath xmlns:m="http://schemas.openxmlformats.org/officeDocument/2006/math">
                    <m:r>
                      <a:rPr lang="en-US" sz="2000" i="1">
                        <a:latin typeface="Cambria Math" panose="02040503050406030204" pitchFamily="18" charset="0"/>
                        <a:ea typeface="Verdana" charset="0"/>
                        <a:cs typeface="Verdana" charset="0"/>
                      </a:rPr>
                      <m:t>10</m:t>
                    </m:r>
                  </m:oMath>
                </a14:m>
                <a:r>
                  <a:rPr lang="en-US" sz="2000" dirty="0">
                    <a:latin typeface="Verdana" charset="0"/>
                    <a:ea typeface="Verdana" charset="0"/>
                    <a:cs typeface="Verdana" charset="0"/>
                  </a:rPr>
                  <a:t>. Complete the table.</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69233" y="520394"/>
                <a:ext cx="10004200" cy="1015663"/>
              </a:xfrm>
              <a:prstGeom prst="rect">
                <a:avLst/>
              </a:prstGeom>
              <a:blipFill rotWithShape="0">
                <a:blip r:embed="rId3"/>
                <a:stretch>
                  <a:fillRect l="-670" t="-3593" b="-9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491176042"/>
                  </p:ext>
                </p:extLst>
              </p:nvPr>
            </p:nvGraphicFramePr>
            <p:xfrm>
              <a:off x="2084397" y="1787795"/>
              <a:ext cx="8250504" cy="3274060"/>
            </p:xfrm>
            <a:graphic>
              <a:graphicData uri="http://schemas.openxmlformats.org/drawingml/2006/table">
                <a:tbl>
                  <a:tblPr firstRow="1" firstCol="1" lastRow="1" lastCol="1"/>
                  <a:tblGrid>
                    <a:gridCol w="1704554">
                      <a:extLst>
                        <a:ext uri="{9D8B030D-6E8A-4147-A177-3AD203B41FA5}">
                          <a16:colId xmlns:a16="http://schemas.microsoft.com/office/drawing/2014/main" val="20000"/>
                        </a:ext>
                      </a:extLst>
                    </a:gridCol>
                    <a:gridCol w="1912467">
                      <a:extLst>
                        <a:ext uri="{9D8B030D-6E8A-4147-A177-3AD203B41FA5}">
                          <a16:colId xmlns:a16="http://schemas.microsoft.com/office/drawing/2014/main" val="20001"/>
                        </a:ext>
                      </a:extLst>
                    </a:gridCol>
                    <a:gridCol w="1277985">
                      <a:extLst>
                        <a:ext uri="{9D8B030D-6E8A-4147-A177-3AD203B41FA5}">
                          <a16:colId xmlns:a16="http://schemas.microsoft.com/office/drawing/2014/main" val="20002"/>
                        </a:ext>
                      </a:extLst>
                    </a:gridCol>
                    <a:gridCol w="1311023">
                      <a:extLst>
                        <a:ext uri="{9D8B030D-6E8A-4147-A177-3AD203B41FA5}">
                          <a16:colId xmlns:a16="http://schemas.microsoft.com/office/drawing/2014/main" val="20003"/>
                        </a:ext>
                      </a:extLst>
                    </a:gridCol>
                    <a:gridCol w="2044475">
                      <a:extLst>
                        <a:ext uri="{9D8B030D-6E8A-4147-A177-3AD203B41FA5}">
                          <a16:colId xmlns:a16="http://schemas.microsoft.com/office/drawing/2014/main" val="20004"/>
                        </a:ext>
                      </a:extLst>
                    </a:gridCol>
                  </a:tblGrid>
                  <a:tr h="1240155">
                    <a:tc>
                      <a:txBody>
                        <a:bodyPr/>
                        <a:lstStyle/>
                        <a:p>
                          <a:pPr marL="0" marR="0" algn="ctr">
                            <a:spcBef>
                              <a:spcPts val="0"/>
                            </a:spcBef>
                            <a:spcAft>
                              <a:spcPts val="0"/>
                            </a:spcAft>
                          </a:pPr>
                          <a:r>
                            <a:rPr lang="en-US" sz="2000" b="1">
                              <a:effectLst/>
                              <a:latin typeface="Verdana" charset="0"/>
                              <a:ea typeface="Verdana" charset="0"/>
                              <a:cs typeface="Verdana" charset="0"/>
                            </a:rPr>
                            <a:t>Party</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Subtotal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Sales Tax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Gratuity</a:t>
                          </a:r>
                          <a:endParaRPr lang="en-US" sz="2000">
                            <a:effectLst/>
                            <a:latin typeface="Verdana" charset="0"/>
                            <a:ea typeface="Verdana" charset="0"/>
                            <a:cs typeface="Verdana" charset="0"/>
                          </a:endParaRPr>
                        </a:p>
                        <a:p>
                          <a:pPr marL="0" marR="0" algn="ctr">
                            <a:spcBef>
                              <a:spcPts val="0"/>
                            </a:spcBef>
                            <a:spcAft>
                              <a:spcPts val="0"/>
                            </a:spcAft>
                          </a:pPr>
                          <a:r>
                            <a:rPr lang="en-US" sz="2000" b="1">
                              <a:effectLst/>
                              <a:latin typeface="Verdana" charset="0"/>
                              <a:ea typeface="Verdana" charset="0"/>
                              <a:cs typeface="Verdana" charset="0"/>
                            </a:rPr>
                            <a: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 Amount of Bill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46430">
                    <a:tc>
                      <a:txBody>
                        <a:bodyPr/>
                        <a:lstStyle/>
                        <a:p>
                          <a:pPr marL="0" marR="0" algn="ctr">
                            <a:spcBef>
                              <a:spcPts val="0"/>
                            </a:spcBef>
                            <a:spcAft>
                              <a:spcPts val="0"/>
                            </a:spcAft>
                          </a:pPr>
                          <a:r>
                            <a:rPr lang="en-US" sz="2000">
                              <a:effectLst/>
                              <a:latin typeface="Verdana" charset="0"/>
                              <a:ea typeface="Verdana" charset="0"/>
                              <a:cs typeface="Verdana" charset="0"/>
                            </a:rPr>
                            <a:t>Flores</a:t>
                          </a:r>
                        </a:p>
                        <a:p>
                          <a:pPr marL="0" marR="0" algn="ctr">
                            <a:spcBef>
                              <a:spcPts val="0"/>
                            </a:spcBef>
                            <a:spcAft>
                              <a:spcPts val="0"/>
                            </a:spcAft>
                          </a:pPr>
                          <a:r>
                            <a:rPr lang="en-US" sz="2000">
                              <a:effectLst/>
                              <a:latin typeface="Verdana" charset="0"/>
                              <a:ea typeface="Verdana" charset="0"/>
                              <a:cs typeface="Verdana" charset="0"/>
                            </a:rPr>
                            <a:t>Party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93.75</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5.86</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4845">
                    <a:tc>
                      <a:txBody>
                        <a:bodyPr/>
                        <a:lstStyle/>
                        <a:p>
                          <a:pPr marL="0" marR="0" algn="ctr">
                            <a:spcBef>
                              <a:spcPts val="0"/>
                            </a:spcBef>
                            <a:spcAft>
                              <a:spcPts val="0"/>
                            </a:spcAft>
                          </a:pPr>
                          <a:r>
                            <a:rPr lang="en-US" sz="2000">
                              <a:effectLst/>
                              <a:latin typeface="Verdana" charset="0"/>
                              <a:ea typeface="Verdana" charset="0"/>
                              <a:cs typeface="Verdana" charset="0"/>
                            </a:rPr>
                            <a:t>Atkinson</a:t>
                          </a:r>
                        </a:p>
                        <a:p>
                          <a:pPr marL="0" marR="0" algn="ctr">
                            <a:spcBef>
                              <a:spcPts val="0"/>
                            </a:spcBef>
                            <a:spcAft>
                              <a:spcPts val="0"/>
                            </a:spcAft>
                          </a:pPr>
                          <a:r>
                            <a:rPr lang="en-US" sz="2000">
                              <a:effectLst/>
                              <a:latin typeface="Verdana" charset="0"/>
                              <a:ea typeface="Verdana" charset="0"/>
                              <a:cs typeface="Verdana" charset="0"/>
                            </a:rPr>
                            <a:t>Party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176.99</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37.17</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22630">
                    <a:tc>
                      <a:txBody>
                        <a:bodyPr/>
                        <a:lstStyle/>
                        <a:p>
                          <a:pPr marL="0" marR="0" algn="ctr">
                            <a:spcBef>
                              <a:spcPts val="0"/>
                            </a:spcBef>
                            <a:spcAft>
                              <a:spcPts val="0"/>
                            </a:spcAft>
                          </a:pPr>
                          <a:r>
                            <a:rPr lang="en-US" sz="2000">
                              <a:effectLst/>
                              <a:latin typeface="Verdana" charset="0"/>
                              <a:ea typeface="Verdana" charset="0"/>
                              <a:cs typeface="Verdana" charset="0"/>
                            </a:rPr>
                            <a:t>Mikelson</a:t>
                          </a:r>
                        </a:p>
                        <a:p>
                          <a:pPr marL="0" marR="0" algn="ctr">
                            <a:spcBef>
                              <a:spcPts val="0"/>
                            </a:spcBef>
                            <a:spcAft>
                              <a:spcPts val="0"/>
                            </a:spcAft>
                          </a:pPr>
                          <a:r>
                            <a:rPr lang="en-US" sz="2000">
                              <a:effectLst/>
                              <a:latin typeface="Verdana" charset="0"/>
                              <a:ea typeface="Verdana" charset="0"/>
                              <a:cs typeface="Verdana" charset="0"/>
                            </a:rPr>
                            <a:t>Party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135.50</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172.43</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491176042"/>
                  </p:ext>
                </p:extLst>
              </p:nvPr>
            </p:nvGraphicFramePr>
            <p:xfrm>
              <a:off x="560397" y="1787795"/>
              <a:ext cx="8250504" cy="3274060"/>
            </p:xfrm>
            <a:graphic>
              <a:graphicData uri="http://schemas.openxmlformats.org/drawingml/2006/table">
                <a:tbl>
                  <a:tblPr firstRow="1" firstCol="1" lastRow="1" lastCol="1"/>
                  <a:tblGrid>
                    <a:gridCol w="1704554"/>
                    <a:gridCol w="1912467"/>
                    <a:gridCol w="1277985"/>
                    <a:gridCol w="1311023"/>
                    <a:gridCol w="2044475"/>
                  </a:tblGrid>
                  <a:tr h="1240155">
                    <a:tc>
                      <a:txBody>
                        <a:bodyPr/>
                        <a:lstStyle/>
                        <a:p>
                          <a:pPr marL="0" marR="0" algn="ctr">
                            <a:spcBef>
                              <a:spcPts val="0"/>
                            </a:spcBef>
                            <a:spcAft>
                              <a:spcPts val="0"/>
                            </a:spcAft>
                          </a:pPr>
                          <a:r>
                            <a:rPr lang="en-US" sz="2000" b="1">
                              <a:effectLst/>
                              <a:latin typeface="Verdana" charset="0"/>
                              <a:ea typeface="Verdana" charset="0"/>
                              <a:cs typeface="Verdana" charset="0"/>
                            </a:rPr>
                            <a:t>Party</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Subtotal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Sales Tax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Gratuity</a:t>
                          </a:r>
                          <a:endParaRPr lang="en-US" sz="2000">
                            <a:effectLst/>
                            <a:latin typeface="Verdana" charset="0"/>
                            <a:ea typeface="Verdana" charset="0"/>
                            <a:cs typeface="Verdana" charset="0"/>
                          </a:endParaRPr>
                        </a:p>
                        <a:p>
                          <a:pPr marL="0" marR="0" algn="ctr">
                            <a:spcBef>
                              <a:spcPts val="0"/>
                            </a:spcBef>
                            <a:spcAft>
                              <a:spcPts val="0"/>
                            </a:spcAft>
                          </a:pPr>
                          <a:r>
                            <a:rPr lang="en-US" sz="2000" b="1">
                              <a:effectLst/>
                              <a:latin typeface="Verdana" charset="0"/>
                              <a:ea typeface="Verdana" charset="0"/>
                              <a:cs typeface="Verdana" charset="0"/>
                            </a:rPr>
                            <a: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 Amount of Bill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646430">
                    <a:tc>
                      <a:txBody>
                        <a:bodyPr/>
                        <a:lstStyle/>
                        <a:p>
                          <a:pPr marL="0" marR="0" algn="ctr">
                            <a:spcBef>
                              <a:spcPts val="0"/>
                            </a:spcBef>
                            <a:spcAft>
                              <a:spcPts val="0"/>
                            </a:spcAft>
                          </a:pPr>
                          <a:r>
                            <a:rPr lang="en-US" sz="2000">
                              <a:effectLst/>
                              <a:latin typeface="Verdana" charset="0"/>
                              <a:ea typeface="Verdana" charset="0"/>
                              <a:cs typeface="Verdana" charset="0"/>
                            </a:rPr>
                            <a:t>Flores</a:t>
                          </a:r>
                        </a:p>
                        <a:p>
                          <a:pPr marL="0" marR="0" algn="ctr">
                            <a:spcBef>
                              <a:spcPts val="0"/>
                            </a:spcBef>
                            <a:spcAft>
                              <a:spcPts val="0"/>
                            </a:spcAft>
                          </a:pPr>
                          <a:r>
                            <a:rPr lang="en-US" sz="2000">
                              <a:effectLst/>
                              <a:latin typeface="Verdana" charset="0"/>
                              <a:ea typeface="Verdana" charset="0"/>
                              <a:cs typeface="Verdana" charset="0"/>
                            </a:rPr>
                            <a:t>Party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89490" t="-193396" r="-242994" b="-22075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83333" t="-193396" r="-263333" b="-220755"/>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4845">
                    <a:tc>
                      <a:txBody>
                        <a:bodyPr/>
                        <a:lstStyle/>
                        <a:p>
                          <a:pPr marL="0" marR="0" algn="ctr">
                            <a:spcBef>
                              <a:spcPts val="0"/>
                            </a:spcBef>
                            <a:spcAft>
                              <a:spcPts val="0"/>
                            </a:spcAft>
                          </a:pPr>
                          <a:r>
                            <a:rPr lang="en-US" sz="2000">
                              <a:effectLst/>
                              <a:latin typeface="Verdana" charset="0"/>
                              <a:ea typeface="Verdana" charset="0"/>
                              <a:cs typeface="Verdana" charset="0"/>
                            </a:rPr>
                            <a:t>Atkinson</a:t>
                          </a:r>
                        </a:p>
                        <a:p>
                          <a:pPr marL="0" marR="0" algn="ctr">
                            <a:spcBef>
                              <a:spcPts val="0"/>
                            </a:spcBef>
                            <a:spcAft>
                              <a:spcPts val="0"/>
                            </a:spcAft>
                          </a:pPr>
                          <a:r>
                            <a:rPr lang="en-US" sz="2000">
                              <a:effectLst/>
                              <a:latin typeface="Verdana" charset="0"/>
                              <a:ea typeface="Verdana" charset="0"/>
                              <a:cs typeface="Verdana" charset="0"/>
                            </a:rPr>
                            <a:t>Party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89490" t="-285321" r="-242994" b="-114679"/>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374419" t="-285321" r="-157209" b="-114679"/>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22630">
                    <a:tc>
                      <a:txBody>
                        <a:bodyPr/>
                        <a:lstStyle/>
                        <a:p>
                          <a:pPr marL="0" marR="0" algn="ctr">
                            <a:spcBef>
                              <a:spcPts val="0"/>
                            </a:spcBef>
                            <a:spcAft>
                              <a:spcPts val="0"/>
                            </a:spcAft>
                          </a:pPr>
                          <a:r>
                            <a:rPr lang="en-US" sz="2000">
                              <a:effectLst/>
                              <a:latin typeface="Verdana" charset="0"/>
                              <a:ea typeface="Verdana" charset="0"/>
                              <a:cs typeface="Verdana" charset="0"/>
                            </a:rPr>
                            <a:t>Mikelson</a:t>
                          </a:r>
                        </a:p>
                        <a:p>
                          <a:pPr marL="0" marR="0" algn="ctr">
                            <a:spcBef>
                              <a:spcPts val="0"/>
                            </a:spcBef>
                            <a:spcAft>
                              <a:spcPts val="0"/>
                            </a:spcAft>
                          </a:pPr>
                          <a:r>
                            <a:rPr lang="en-US" sz="2000">
                              <a:effectLst/>
                              <a:latin typeface="Verdana" charset="0"/>
                              <a:ea typeface="Verdana" charset="0"/>
                              <a:cs typeface="Verdana" charset="0"/>
                            </a:rPr>
                            <a:t>Party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89490" t="-352941" r="-242994" b="-5042"/>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303571" t="-352941" r="-595" b="-5042"/>
                          </a:stretch>
                        </a:blipFill>
                      </a:tcPr>
                    </a:tc>
                  </a:tr>
                </a:tbl>
              </a:graphicData>
            </a:graphic>
          </p:graphicFrame>
        </mc:Fallback>
      </mc:AlternateContent>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246</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4708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246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77914" y="-89940"/>
            <a:ext cx="993916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12.6.5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48465" y="14289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1656572" y="1386026"/>
                <a:ext cx="9134888" cy="2554545"/>
              </a:xfrm>
              <a:prstGeom prst="rect">
                <a:avLst/>
              </a:prstGeom>
              <a:noFill/>
            </p:spPr>
            <p:txBody>
              <a:bodyPr wrap="square" rtlCol="0">
                <a:spAutoFit/>
              </a:bodyPr>
              <a:lstStyle/>
              <a:p>
                <a:pPr marL="457200" lvl="4" indent="-457200">
                  <a:buFont typeface="+mj-lt"/>
                  <a:buAutoNum type="arabicPeriod"/>
                </a:pPr>
                <a:r>
                  <a:rPr lang="en-US" sz="2000" dirty="0">
                    <a:latin typeface="Verdana" charset="0"/>
                    <a:ea typeface="Verdana" charset="0"/>
                    <a:cs typeface="Verdana" charset="0"/>
                  </a:rPr>
                  <a:t>Diesel has been waiting patiently for the Evolve Carbon All Terrain Skateboard to go on sale. For his birthday, he received a </a:t>
                </a:r>
                <a14:m>
                  <m:oMath xmlns:m="http://schemas.openxmlformats.org/officeDocument/2006/math">
                    <m:r>
                      <a:rPr lang="en-US" sz="2000" i="1">
                        <a:latin typeface="Cambria Math" panose="02040503050406030204" pitchFamily="18" charset="0"/>
                        <a:ea typeface="Verdana" charset="0"/>
                        <a:cs typeface="Verdana" charset="0"/>
                      </a:rPr>
                      <m:t>25%</m:t>
                    </m:r>
                  </m:oMath>
                </a14:m>
                <a:r>
                  <a:rPr lang="en-US" sz="2000" dirty="0">
                    <a:latin typeface="Verdana" charset="0"/>
                    <a:ea typeface="Verdana" charset="0"/>
                    <a:cs typeface="Verdana" charset="0"/>
                  </a:rPr>
                  <a:t> off discount. The original price of the skateboard is </a:t>
                </a:r>
                <a14:m>
                  <m:oMath xmlns:m="http://schemas.openxmlformats.org/officeDocument/2006/math">
                    <m:r>
                      <a:rPr lang="en-US" sz="2000" i="1">
                        <a:latin typeface="Cambria Math" panose="02040503050406030204" pitchFamily="18" charset="0"/>
                        <a:ea typeface="Verdana" charset="0"/>
                        <a:cs typeface="Verdana" charset="0"/>
                      </a:rPr>
                      <m:t>$1,999.99</m:t>
                    </m:r>
                  </m:oMath>
                </a14:m>
                <a:r>
                  <a:rPr lang="en-US" sz="2000" dirty="0">
                    <a:latin typeface="Verdana" charset="0"/>
                    <a:ea typeface="Verdana" charset="0"/>
                    <a:cs typeface="Verdana" charset="0"/>
                  </a:rPr>
                  <a:t> and the company has a </a:t>
                </a:r>
                <a14:m>
                  <m:oMath xmlns:m="http://schemas.openxmlformats.org/officeDocument/2006/math">
                    <m:r>
                      <a:rPr lang="en-US" sz="2000" i="1">
                        <a:latin typeface="Cambria Math" panose="02040503050406030204" pitchFamily="18" charset="0"/>
                        <a:ea typeface="Verdana" charset="0"/>
                        <a:cs typeface="Verdana" charset="0"/>
                      </a:rPr>
                      <m:t>5%</m:t>
                    </m:r>
                  </m:oMath>
                </a14:m>
                <a:r>
                  <a:rPr lang="en-US" sz="2000" dirty="0">
                    <a:latin typeface="Verdana" charset="0"/>
                    <a:ea typeface="Verdana" charset="0"/>
                    <a:cs typeface="Verdana" charset="0"/>
                  </a:rPr>
                  <a:t> sales tax, along with a flat fee of </a:t>
                </a:r>
                <a14:m>
                  <m:oMath xmlns:m="http://schemas.openxmlformats.org/officeDocument/2006/math">
                    <m:r>
                      <a:rPr lang="en-US" sz="2000" i="1">
                        <a:latin typeface="Cambria Math" panose="02040503050406030204" pitchFamily="18" charset="0"/>
                        <a:ea typeface="Verdana" charset="0"/>
                        <a:cs typeface="Verdana" charset="0"/>
                      </a:rPr>
                      <m:t>$35</m:t>
                    </m:r>
                  </m:oMath>
                </a14:m>
                <a:r>
                  <a:rPr lang="en-US" sz="2000" dirty="0">
                    <a:latin typeface="Verdana" charset="0"/>
                    <a:ea typeface="Verdana" charset="0"/>
                    <a:cs typeface="Verdana" charset="0"/>
                  </a:rPr>
                  <a:t> for shipping. </a:t>
                </a:r>
              </a:p>
              <a:p>
                <a:r>
                  <a:rPr lang="en-US" sz="2000" dirty="0">
                    <a:latin typeface="Verdana" charset="0"/>
                    <a:ea typeface="Verdana" charset="0"/>
                    <a:cs typeface="Verdana" charset="0"/>
                  </a:rPr>
                  <a:t> </a:t>
                </a:r>
              </a:p>
              <a:p>
                <a:pPr marL="458788"/>
                <a:r>
                  <a:rPr lang="en-US" sz="2000" dirty="0">
                    <a:latin typeface="Verdana" charset="0"/>
                    <a:ea typeface="Verdana" charset="0"/>
                    <a:cs typeface="Verdana" charset="0"/>
                  </a:rPr>
                  <a:t>What is the total amount Diesel needs to purchase his dream skateboard?</a:t>
                </a: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1656572" y="1386026"/>
                <a:ext cx="9134888" cy="2554545"/>
              </a:xfrm>
              <a:prstGeom prst="rect">
                <a:avLst/>
              </a:prstGeom>
              <a:blipFill rotWithShape="0">
                <a:blip r:embed="rId4"/>
                <a:stretch>
                  <a:fillRect l="-734" t="-1432" r="-1469" b="-3341"/>
                </a:stretch>
              </a:blipFill>
            </p:spPr>
            <p:txBody>
              <a:bodyPr/>
              <a:lstStyle/>
              <a:p>
                <a:r>
                  <a:rPr lang="en-US">
                    <a:noFill/>
                  </a:rPr>
                  <a:t> </a:t>
                </a:r>
              </a:p>
            </p:txBody>
          </p:sp>
        </mc:Fallback>
      </mc:AlternateContent>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246</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1312</TotalTime>
  <Words>1201</Words>
  <Application>Microsoft Macintosh PowerPoint</Application>
  <PresentationFormat>Widescreen</PresentationFormat>
  <Paragraphs>210</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 Black</vt:lpstr>
      <vt:lpstr>Calibri</vt:lpstr>
      <vt:lpstr>Cambria Math</vt:lpstr>
      <vt:lpstr>Century Gothic</vt:lpstr>
      <vt:lpstr>Verdana</vt:lpstr>
      <vt:lpstr>Wingdings</vt:lpstr>
      <vt:lpstr>1_Office Theme</vt:lpstr>
      <vt:lpstr>6th Grade Accelerated Math  Unit 12, Lesson 6  Solving Multi-Step Problems Involving Discounts, Taxes, Tips, or Fees  Volume 2, pg. 241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Diana Barnett</cp:lastModifiedBy>
  <cp:revision>25</cp:revision>
  <dcterms:created xsi:type="dcterms:W3CDTF">2015-03-17T18:51:18Z</dcterms:created>
  <dcterms:modified xsi:type="dcterms:W3CDTF">2023-01-30T14:49:09Z</dcterms:modified>
</cp:coreProperties>
</file>