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372" r:id="rId8"/>
    <p:sldId id="373" r:id="rId9"/>
    <p:sldId id="374" r:id="rId10"/>
    <p:sldId id="375" r:id="rId11"/>
    <p:sldId id="376" r:id="rId12"/>
    <p:sldId id="389" r:id="rId13"/>
    <p:sldId id="377" r:id="rId14"/>
    <p:sldId id="378" r:id="rId15"/>
    <p:sldId id="380" r:id="rId16"/>
    <p:sldId id="381" r:id="rId17"/>
    <p:sldId id="382" r:id="rId18"/>
    <p:sldId id="383" r:id="rId19"/>
    <p:sldId id="390" r:id="rId20"/>
    <p:sldId id="384" r:id="rId21"/>
    <p:sldId id="385" r:id="rId22"/>
    <p:sldId id="391" r:id="rId23"/>
    <p:sldId id="386" r:id="rId24"/>
    <p:sldId id="387" r:id="rId25"/>
    <p:sldId id="302" r:id="rId26"/>
    <p:sldId id="303" r:id="rId27"/>
    <p:sldId id="370" r:id="rId28"/>
    <p:sldId id="306" r:id="rId29"/>
    <p:sldId id="307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70"/>
    <p:restoredTop sz="94695"/>
  </p:normalViewPr>
  <p:slideViewPr>
    <p:cSldViewPr snapToGrid="0">
      <p:cViewPr varScale="1">
        <p:scale>
          <a:sx n="79" d="100"/>
          <a:sy n="79" d="100"/>
        </p:scale>
        <p:origin x="19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779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5042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2178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6290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158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137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497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590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38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3136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6791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1681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702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0932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0475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673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24038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2915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6757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Tax, Tip, or Fees Given a Percentage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234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19878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14857" y="49524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357" y="2852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49831" y="1600200"/>
            <a:ext cx="866096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MA.7.AR.3.1 </a:t>
            </a:r>
          </a:p>
          <a:p>
            <a:pPr marL="46831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previous understanding of percentages and ratios to solve multi-step, real-world percent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22" y="38779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6072" y="14516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735810" y="1596390"/>
            <a:ext cx="84749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7841" y="82478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679" y="37167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87837" y="1498651"/>
            <a:ext cx="872296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determine the amount of tax, tip, or fee given a percentage.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determine the percentage of a discount or markup.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4939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12.5.1 Warm-Up: Math Fail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639" y="32981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501765" y="1386025"/>
            <a:ext cx="5335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following sticker was placed on an item for sale.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54939" y="2711726"/>
                <a:ext cx="578301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any error(s) on the sticker.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Correct the sticker so that it accurately reflects the “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1/2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Price” advertised in the first line.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939" y="2711726"/>
                <a:ext cx="5783018" cy="1938992"/>
              </a:xfrm>
              <a:prstGeom prst="rect">
                <a:avLst/>
              </a:prstGeom>
              <a:blipFill rotWithShape="0">
                <a:blip r:embed="rId4"/>
                <a:stretch>
                  <a:fillRect l="-1160" t="-2201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1184" y="1386025"/>
            <a:ext cx="3291393" cy="357632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622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4487" y="155963"/>
            <a:ext cx="100946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12.5.2 Guided Instruction: Finding the Percentage of a Discount or Markup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87" y="2413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329047" y="1386026"/>
                <a:ext cx="978993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Recall that discount and markup problems typically include given percentages.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tape diagram shows the original cost of a shirt,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047" y="1386026"/>
                <a:ext cx="9789938" cy="1323439"/>
              </a:xfrm>
              <a:prstGeom prst="rect">
                <a:avLst/>
              </a:prstGeom>
              <a:blipFill rotWithShape="0">
                <a:blip r:embed="rId4"/>
                <a:stretch>
                  <a:fillRect l="-685" t="-2304" b="-7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828800" y="4518683"/>
                <a:ext cx="9249834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store manager wants to sell more of this shirt before the end of summer. The manager decides to put the shirt on sale for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off the original price. 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Will customers pay more or less than the original price for the shirt?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518683"/>
                <a:ext cx="9249834" cy="1938992"/>
              </a:xfrm>
              <a:prstGeom prst="rect">
                <a:avLst/>
              </a:prstGeom>
              <a:blipFill rotWithShape="0">
                <a:blip r:embed="rId5"/>
                <a:stretch>
                  <a:fillRect l="-725" t="-9119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6890" y="2786669"/>
            <a:ext cx="4510210" cy="1732014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597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79350" y="520394"/>
            <a:ext cx="1001460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tape diagram is divided into thirds.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price of the shirt after the discount?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6350" y="1382633"/>
            <a:ext cx="5105400" cy="29845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3062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93370" y="2743586"/>
                <a:ext cx="10041984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much will customers save from the original price?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how to calculate the percentage discounted if given the original price of the shirt and the sale price of the shirt.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shirt was discounted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percentage of the shirt was discounted?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70" y="2743586"/>
                <a:ext cx="10041984" cy="3477875"/>
              </a:xfrm>
              <a:prstGeom prst="rect">
                <a:avLst/>
              </a:prstGeom>
              <a:blipFill rotWithShape="0">
                <a:blip r:embed="rId3"/>
                <a:stretch>
                  <a:fillRect l="-668" t="-1226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E10F1BD-9AA6-4928-A0D2-E7B9D78ABC2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3024" y="109510"/>
            <a:ext cx="4505952" cy="2634076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532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00380" y="520393"/>
                <a:ext cx="1014190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Nova buys earrings from a supplier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$13.20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She sells them in her boutique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$24.95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Clare works at the boutique and was curious what percentage markup Nova uses. The table shows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different methods Clare used to determine the percentage the earrings are marked up when sold.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380" y="520393"/>
                <a:ext cx="10141906" cy="1323439"/>
              </a:xfrm>
              <a:prstGeom prst="rect">
                <a:avLst/>
              </a:prstGeom>
              <a:blipFill rotWithShape="0">
                <a:blip r:embed="rId3"/>
                <a:stretch>
                  <a:fillRect l="-661" t="-2765" r="-1203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1123969"/>
                  </p:ext>
                </p:extLst>
              </p:nvPr>
            </p:nvGraphicFramePr>
            <p:xfrm>
              <a:off x="2259340" y="2464050"/>
              <a:ext cx="7793637" cy="351003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158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777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24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Method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𝟏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Method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𝟐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9758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$24.95=(1+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Markup</m:t>
                                </m:r>
                                <m:r>
                                  <a:rPr lang="en-US" sz="20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rate</m:t>
                                </m:r>
                                <m:r>
                                  <a:rPr lang="en-US" sz="20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)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×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$13.20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24.95</m:t>
                                  </m:r>
                                </m:num>
                                <m:den>
                                  <m:r>
                                    <a:rPr lang="en-US" sz="20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13.20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1+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Markup rate</a:t>
                          </a: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1.89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1+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Markup rate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1.89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−</m:t>
                              </m:r>
                              <m:r>
                                <a:rPr lang="en-US" sz="20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Markup rate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Nova paid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$13.20 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Nova </a:t>
                          </a: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is selling for</a:t>
                          </a:r>
                          <a:r>
                            <a:rPr lang="en-US" sz="2000" i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$24.95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$24.95−$13.20=$11.75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What</a:t>
                          </a: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11.75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13.2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?</a:t>
                          </a: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11.75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13.2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=0.89 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1123969"/>
                  </p:ext>
                </p:extLst>
              </p:nvPr>
            </p:nvGraphicFramePr>
            <p:xfrm>
              <a:off x="735339" y="2464049"/>
              <a:ext cx="7793637" cy="351003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15875"/>
                    <a:gridCol w="3377762"/>
                  </a:tblGrid>
                  <a:tr h="312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38" t="-33333" r="-76828" b="-10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30811" t="-33333" r="-360" b="-1035294"/>
                          </a:stretch>
                        </a:blipFill>
                      </a:tcPr>
                    </a:tc>
                  </a:tr>
                  <a:tr h="31975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38" t="-12952" r="-76828" b="-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30811" t="-12952" r="-360" b="-57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255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24367" y="520394"/>
            <a:ext cx="1029408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Compare both methods. Discuss the similarities and differences in the two methods with your partner. Then, write them in the table.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percentage of the markup?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00214"/>
              </p:ext>
            </p:extLst>
          </p:nvPr>
        </p:nvGraphicFramePr>
        <p:xfrm>
          <a:off x="2704465" y="1847127"/>
          <a:ext cx="6783070" cy="2766695"/>
        </p:xfrm>
        <a:graphic>
          <a:graphicData uri="http://schemas.openxmlformats.org/drawingml/2006/table">
            <a:tbl>
              <a:tblPr firstRow="1" firstCol="1" bandRow="1"/>
              <a:tblGrid>
                <a:gridCol w="339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1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Similarities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Differences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78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4163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145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006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57476" y="67660"/>
            <a:ext cx="98013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12.5.3 Try It: Finding the Percentage of a Discount or Markup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7669" y="35560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357476" y="1673971"/>
                <a:ext cx="678068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Johnetta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calculated the percentage discounted for a backpack that normally costs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$25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but is on sale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Johnetta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has made errors in her work. Identify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Johnetta’s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errors and correct her work.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476" y="1673971"/>
                <a:ext cx="6780685" cy="1938992"/>
              </a:xfrm>
              <a:prstGeom prst="rect">
                <a:avLst/>
              </a:prstGeom>
              <a:blipFill rotWithShape="0">
                <a:blip r:embed="rId4"/>
                <a:stretch>
                  <a:fillRect l="-989" t="-4403" r="-1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0376" y="1602366"/>
            <a:ext cx="1752600" cy="1981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03420" y="3612963"/>
            <a:ext cx="4572000" cy="28447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603420" y="3971312"/>
                <a:ext cx="4572000" cy="288668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Backpack original cost is $25</a:t>
                </a:r>
              </a:p>
              <a:p>
                <a:pPr algn="ctr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Backpack sale cost is $21</a:t>
                </a:r>
              </a:p>
              <a:p>
                <a:pPr algn="ctr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$25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$21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=1.19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algn="ctr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Discount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1.19%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algn="ctr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algn="ctr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420" y="3971312"/>
                <a:ext cx="4572000" cy="2886688"/>
              </a:xfrm>
              <a:prstGeom prst="rect">
                <a:avLst/>
              </a:prstGeom>
              <a:blipFill rotWithShape="0">
                <a:blip r:embed="rId7"/>
                <a:stretch>
                  <a:fillRect t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8409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9464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17992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12.5.4 Guided Instruction: Taxes, Tips, and Fees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692" y="2072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425844" y="1386025"/>
                <a:ext cx="959634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Baxter has been saving all of his money to purchase new Nike Air Max sneakers. After four months, he finally had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saved, so he went to purchase the sneakers. Unfortunately, when Baxter checked out, the total came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which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more than he had saved.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44" y="1386025"/>
                <a:ext cx="9596344" cy="1323439"/>
              </a:xfrm>
              <a:prstGeom prst="rect">
                <a:avLst/>
              </a:prstGeom>
              <a:blipFill rotWithShape="0">
                <a:blip r:embed="rId4"/>
                <a:stretch>
                  <a:fillRect l="-699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311096"/>
              </p:ext>
            </p:extLst>
          </p:nvPr>
        </p:nvGraphicFramePr>
        <p:xfrm>
          <a:off x="3933192" y="3424825"/>
          <a:ext cx="3876993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247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3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Subtotal</a:t>
                      </a:r>
                      <a:endParaRPr lang="en-US" sz="14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$200.00</a:t>
                      </a:r>
                      <a:endParaRPr lang="en-US" sz="14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Estimated Shipping</a:t>
                      </a:r>
                      <a:endParaRPr lang="en-US" sz="14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$0.00</a:t>
                      </a:r>
                      <a:endParaRPr lang="en-US" sz="14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Estimated Tax</a:t>
                      </a:r>
                      <a:endParaRPr lang="en-US" sz="14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$12.00</a:t>
                      </a:r>
                      <a:endParaRPr lang="en-US" sz="14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TOTAL</a:t>
                      </a:r>
                      <a:endParaRPr lang="en-US" sz="14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$212.00</a:t>
                      </a:r>
                      <a:endParaRPr lang="en-US" sz="14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3793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160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31377" y="2128034"/>
                <a:ext cx="1028069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why Baxter’s total was more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Baxter had to pay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sales tax on the same Nike Air Max sneakers, what would the cost of the taxes be?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whether the estimated tax from Baxter’s online search was more or less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77" y="2128034"/>
                <a:ext cx="10280690" cy="4093428"/>
              </a:xfrm>
              <a:prstGeom prst="rect">
                <a:avLst/>
              </a:prstGeom>
              <a:blipFill rotWithShape="0">
                <a:blip r:embed="rId3"/>
                <a:stretch>
                  <a:fillRect l="-652" t="-1042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5C6F7D-C0A5-4C7A-AC56-DD6D67BCE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112234"/>
              </p:ext>
            </p:extLst>
          </p:nvPr>
        </p:nvGraphicFramePr>
        <p:xfrm>
          <a:off x="3640962" y="316978"/>
          <a:ext cx="3876993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2473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3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Subtotal</a:t>
                      </a:r>
                      <a:endParaRPr lang="en-US" sz="14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$200.00</a:t>
                      </a:r>
                      <a:endParaRPr lang="en-US" sz="14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Estimated Shipping</a:t>
                      </a:r>
                      <a:endParaRPr lang="en-US" sz="14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$0.00</a:t>
                      </a:r>
                      <a:endParaRPr lang="en-US" sz="14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Estimated Tax</a:t>
                      </a:r>
                      <a:endParaRPr lang="en-US" sz="14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$12.00</a:t>
                      </a:r>
                      <a:endParaRPr lang="en-US" sz="14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TOTAL</a:t>
                      </a:r>
                      <a:endParaRPr lang="en-US" sz="14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$212.00</a:t>
                      </a:r>
                      <a:endParaRPr lang="en-US" sz="14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8672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60895" y="520393"/>
            <a:ext cx="104208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to complete the following.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Cardone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Family is planning to have a birthday celebration at one of their favorite restaurants. The restaurants they are considering are in different counties that each have different sales tax rates. 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7585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53885" y="249545"/>
            <a:ext cx="102348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20750" indent="-528638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 to determine how much tax will be at each restaurant given the same pre-tax cost of dinner. The first row of the table has been completed.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8915322"/>
                  </p:ext>
                </p:extLst>
              </p:nvPr>
            </p:nvGraphicFramePr>
            <p:xfrm>
              <a:off x="2521353" y="1845130"/>
              <a:ext cx="7299960" cy="40833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499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050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699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1198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Cost of Dinner (Pre-tax)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How Much Sales Tax?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97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 A</a:t>
                          </a: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$120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Sales Tax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7%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120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0.07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=8.40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$8.40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tax</a:t>
                          </a:r>
                        </a:p>
                      </a:txBody>
                      <a:tcPr marL="46938" marR="469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4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 B</a:t>
                          </a: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$120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Sales Tax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7.5%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4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 C</a:t>
                          </a: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$120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Sales Tax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8%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4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 D</a:t>
                          </a: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$120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Sales Tax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8.5%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8915322"/>
                  </p:ext>
                </p:extLst>
              </p:nvPr>
            </p:nvGraphicFramePr>
            <p:xfrm>
              <a:off x="997353" y="1845130"/>
              <a:ext cx="7299960" cy="40833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4991"/>
                    <a:gridCol w="2305049"/>
                    <a:gridCol w="3169920"/>
                  </a:tblGrid>
                  <a:tr h="11198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Cost of Dinner (Pre-tax)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How Much Sales Tax?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14497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 A</a:t>
                          </a: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79630" t="-77731" r="-138360" b="-108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938" marR="469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30326" t="-77731" r="-384" b="-108403"/>
                          </a:stretch>
                        </a:blipFill>
                      </a:tcPr>
                    </a:tc>
                  </a:tr>
                  <a:tr h="504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 B</a:t>
                          </a: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79630" t="-509639" r="-138360" b="-210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938" marR="469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30326" t="-509639" r="-384" b="-210843"/>
                          </a:stretch>
                        </a:blipFill>
                      </a:tcPr>
                    </a:tc>
                  </a:tr>
                  <a:tr h="504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 C</a:t>
                          </a: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79630" t="-609639" r="-138360" b="-110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938" marR="469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30326" t="-609639" r="-384" b="-110843"/>
                          </a:stretch>
                        </a:blipFill>
                      </a:tcPr>
                    </a:tc>
                  </a:tr>
                  <a:tr h="504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Restaurant D</a:t>
                          </a:r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938" marR="4693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79630" t="-709639" r="-138360" b="-10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938" marR="469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30326" t="-709639" r="-384" b="-1084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6687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3885" y="520393"/>
                <a:ext cx="1023489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0750" indent="-392113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Cardone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Family plans to leave a tip for their server. They intend to tip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 the cost of their dinner. If the cost of dinner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$120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how much tip will the server receive?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Qualyen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bought a new computer and printer online totaling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$850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He had to pay an additional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3%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shipping fees on top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$850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With your partner, determine the cost of the shipping fees.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85" y="520393"/>
                <a:ext cx="10234896" cy="3477875"/>
              </a:xfrm>
              <a:prstGeom prst="rect">
                <a:avLst/>
              </a:prstGeom>
              <a:blipFill rotWithShape="0">
                <a:blip r:embed="rId3"/>
                <a:stretch>
                  <a:fillRect l="-655" t="-1051" r="-1251" b="-5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530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8902" y="520394"/>
                <a:ext cx="10544862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There are many situations where a percentage of an amount of money is added to or subtracted from a total amount. For example: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a restaurant bill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$34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the customer pays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$40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they left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dollars as a tip for the server. That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18%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 they left 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18%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tip. 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the price tag on a shirt in Arizona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$11.50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the sales tax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(0.075)⋅$11.5=$0.8625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which rounds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cents. The customer pays $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11.50+$0.86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$12.36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for the shirt.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student goes to a hairdresser to get ready for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</m:t>
                    </m:r>
                  </m:oMath>
                </a14:m>
                <a:r>
                  <a:rPr lang="en-US" sz="2000" baseline="30000" dirty="0" err="1">
                    <a:latin typeface="Verdana" charset="0"/>
                    <a:ea typeface="Verdana" charset="0"/>
                    <a:cs typeface="Verdana" charset="0"/>
                  </a:rPr>
                  <a:t>th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grade formal dance. The total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student’s parents tip the hairdresser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%. The total cost of the service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$143.75.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gentleman purchases a suit originally priced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$397.98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suit is on clearance with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45%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off sticker. The discount reduces the suit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$179.09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off the original price, resulting in the new suit price being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$218.89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02" y="520394"/>
                <a:ext cx="10544862" cy="4401205"/>
              </a:xfrm>
              <a:prstGeom prst="rect">
                <a:avLst/>
              </a:prstGeom>
              <a:blipFill rotWithShape="0">
                <a:blip r:embed="rId3"/>
                <a:stretch>
                  <a:fillRect l="-578" t="-693" r="-1387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8854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124440"/>
              </p:ext>
            </p:extLst>
          </p:nvPr>
        </p:nvGraphicFramePr>
        <p:xfrm>
          <a:off x="2086073" y="474505"/>
          <a:ext cx="8079009" cy="5149057"/>
        </p:xfrm>
        <a:graphic>
          <a:graphicData uri="http://schemas.openxmlformats.org/drawingml/2006/table">
            <a:tbl>
              <a:tblPr firstRow="1" firstCol="1" lastRow="1" lastCol="1"/>
              <a:tblGrid>
                <a:gridCol w="2071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5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Goes to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How It Works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6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Sales Tax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The government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Added to the price of the item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9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Gratuity (Tip)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The person providing the service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Added to the cost of the service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6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Markup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The seller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Added to the cost of an item so the seller can make a profit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9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Markdown (Discount)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The customer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Subtracted from the price of an item to encourage the customer to buy it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927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Commission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The salesperson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Percentage of the value of the sale that is subtracted from the total sale and given to the salesperson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972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7398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0982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12.5.5 Guided Practice: Calculating Tax, Tip, and Fees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1174" y="16602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310982" y="1386025"/>
                <a:ext cx="982606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Johnny went shopping for his mom at Save More Foods and his subtotal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$11.75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tax applied at the grocery store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6%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How much was the tax for his purchase?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Rosa and her friends are eating at a restaurant for dinner. Their bill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$45.80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They want to leave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20%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tip. How much tip will the server receive?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Rick bought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shirts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$18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each,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pairs of socks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$3.99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pair, and a pair of slacks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$45.00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sales tax rate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8.5%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How much sales tax did Rick pay?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82" y="1386025"/>
                <a:ext cx="9826068" cy="4093428"/>
              </a:xfrm>
              <a:prstGeom prst="rect">
                <a:avLst/>
              </a:prstGeom>
              <a:blipFill rotWithShape="0">
                <a:blip r:embed="rId4"/>
                <a:stretch>
                  <a:fillRect l="-682" t="-893" r="-682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457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26481" y="20144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12.5.6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81" y="2014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503336" y="1386025"/>
                <a:ext cx="94413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city in Ohio has a sales tax rate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7.25%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Complete the table to determine how much sales tax is for each item.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36" y="1386025"/>
                <a:ext cx="9441360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711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519646"/>
                  </p:ext>
                </p:extLst>
              </p:nvPr>
            </p:nvGraphicFramePr>
            <p:xfrm>
              <a:off x="2519850" y="2402387"/>
              <a:ext cx="7140618" cy="2931612"/>
            </p:xfrm>
            <a:graphic>
              <a:graphicData uri="http://schemas.openxmlformats.org/drawingml/2006/table">
                <a:tbl>
                  <a:tblPr firstRow="1" firstCol="1" lastRow="1" lastCol="1"/>
                  <a:tblGrid>
                    <a:gridCol w="14895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2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289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329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Item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Price Before Tax ($)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Sales Tax ($)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29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Pillow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8.69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29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Blanket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22.00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329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Trash Can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14.50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519646"/>
                  </p:ext>
                </p:extLst>
              </p:nvPr>
            </p:nvGraphicFramePr>
            <p:xfrm>
              <a:off x="995850" y="2402387"/>
              <a:ext cx="7140618" cy="2931612"/>
            </p:xfrm>
            <a:graphic>
              <a:graphicData uri="http://schemas.openxmlformats.org/drawingml/2006/table">
                <a:tbl>
                  <a:tblPr firstRow="1" firstCol="1" lastRow="1" lastCol="1"/>
                  <a:tblGrid>
                    <a:gridCol w="1489533"/>
                    <a:gridCol w="2222160"/>
                    <a:gridCol w="3428925"/>
                  </a:tblGrid>
                  <a:tr h="7329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Item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Price Before Tax ($)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Sales Tax ($)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7329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Pillow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67123" t="-101653" r="-154795" b="-210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329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Blanket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67123" t="-203333" r="-154795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329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Trash Can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67123" t="-303333" r="-154795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332854" y="520393"/>
                <a:ext cx="967695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store has a sale on pants. The original price of the pants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$19.00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With the discount, the price of one pair of pants before tax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$15.20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What was the percent discount?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music store marks up its instruments. The store bought a guitar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$45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sold it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$58.50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store bought a trumpet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$80 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sold it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$104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What is the percent markup the store used to price the guitar and trumpet? 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54" y="520393"/>
                <a:ext cx="9676958" cy="4093428"/>
              </a:xfrm>
              <a:prstGeom prst="rect">
                <a:avLst/>
              </a:prstGeom>
              <a:blipFill rotWithShape="0">
                <a:blip r:embed="rId3"/>
                <a:stretch>
                  <a:fillRect l="-693" t="-893" r="-378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7196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01034" y="-108486"/>
            <a:ext cx="96732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12.5.7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85" y="1428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673817" y="1386026"/>
                <a:ext cx="910039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Mrs. Jones attended a Southern Living home party. She purchased a vase that cost $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34.99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plus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$3.00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shipping. There is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8.25%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sales tax on the cost of the vase and shipping charge.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amount of tax Mrs. Jones paid on her purchase?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817" y="1386026"/>
                <a:ext cx="9100398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737" t="-2239" r="-1072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250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33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1765</Words>
  <Application>Microsoft Office PowerPoint</Application>
  <PresentationFormat>Widescreen</PresentationFormat>
  <Paragraphs>285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6th Grade Accelerated Math  Unit 12, Lesson 5  Determining Tax, Tip, or Fees Given a Percentage  Volume 2, pg. 234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26</cp:revision>
  <dcterms:created xsi:type="dcterms:W3CDTF">2015-03-17T18:51:18Z</dcterms:created>
  <dcterms:modified xsi:type="dcterms:W3CDTF">2022-07-02T04:11:58Z</dcterms:modified>
</cp:coreProperties>
</file>