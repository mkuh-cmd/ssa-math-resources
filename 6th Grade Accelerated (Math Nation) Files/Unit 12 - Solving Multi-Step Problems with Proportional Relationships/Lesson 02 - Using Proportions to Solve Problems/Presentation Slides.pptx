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1"/>
  </p:notesMasterIdLst>
  <p:sldIdLst>
    <p:sldId id="256" r:id="rId2"/>
    <p:sldId id="257" r:id="rId3"/>
    <p:sldId id="285" r:id="rId4"/>
    <p:sldId id="286" r:id="rId5"/>
    <p:sldId id="261" r:id="rId6"/>
    <p:sldId id="287" r:id="rId7"/>
    <p:sldId id="372" r:id="rId8"/>
    <p:sldId id="373" r:id="rId9"/>
    <p:sldId id="374" r:id="rId10"/>
    <p:sldId id="375" r:id="rId11"/>
    <p:sldId id="384" r:id="rId12"/>
    <p:sldId id="385" r:id="rId13"/>
    <p:sldId id="386" r:id="rId14"/>
    <p:sldId id="314" r:id="rId15"/>
    <p:sldId id="315" r:id="rId16"/>
    <p:sldId id="362" r:id="rId17"/>
    <p:sldId id="376" r:id="rId18"/>
    <p:sldId id="387" r:id="rId19"/>
    <p:sldId id="377" r:id="rId20"/>
    <p:sldId id="378" r:id="rId21"/>
    <p:sldId id="379" r:id="rId22"/>
    <p:sldId id="380" r:id="rId23"/>
    <p:sldId id="388" r:id="rId24"/>
    <p:sldId id="381" r:id="rId25"/>
    <p:sldId id="382" r:id="rId26"/>
    <p:sldId id="302" r:id="rId27"/>
    <p:sldId id="303" r:id="rId28"/>
    <p:sldId id="306" r:id="rId29"/>
    <p:sldId id="307" r:id="rId3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2574"/>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614"/>
    <p:restoredTop sz="94695"/>
  </p:normalViewPr>
  <p:slideViewPr>
    <p:cSldViewPr snapToGrid="0">
      <p:cViewPr varScale="1">
        <p:scale>
          <a:sx n="79" d="100"/>
          <a:sy n="79" d="100"/>
        </p:scale>
        <p:origin x="40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752608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063104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79636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296323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063074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747543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711694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09405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581654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737193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887914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780422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029366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0432960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9506452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368176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85864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3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60.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12, Lesson 2</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Using Proportions to Solve Problems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218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69205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76837" y="185813"/>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53337" y="42158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76837" y="1600200"/>
            <a:ext cx="8633963"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MA.7.AR.3.2 </a:t>
            </a:r>
          </a:p>
          <a:p>
            <a:pPr marL="922338" indent="0">
              <a:buNone/>
            </a:pPr>
            <a:r>
              <a:rPr lang="en-US" sz="2400" dirty="0">
                <a:latin typeface="Verdana" charset="0"/>
                <a:ea typeface="Verdana" charset="0"/>
                <a:cs typeface="Verdana" charset="0"/>
              </a:rPr>
              <a:t>Apply previous understanding of ratios to solve real-world problems involving proportions.</a:t>
            </a:r>
            <a:endParaRPr lang="en-US" sz="2400" i="1" dirty="0">
              <a:latin typeface="Verdana" charset="0"/>
              <a:ea typeface="Verdana" charset="0"/>
              <a:cs typeface="Verdana"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644906" y="232036"/>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69556" y="-1059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69556" y="1596390"/>
            <a:ext cx="984064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218</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81325" y="-1203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99163" y="27716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701944" y="1498651"/>
            <a:ext cx="878811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solve problems using proportions. </a:t>
            </a:r>
            <a:endParaRPr lang="en-US" sz="2400" i="1" dirty="0">
              <a:latin typeface="Verdana" charset="0"/>
              <a:ea typeface="Verdana" charset="0"/>
              <a:cs typeface="Verdana" charset="0"/>
            </a:endParaRPr>
          </a:p>
        </p:txBody>
      </p:sp>
      <p:sp>
        <p:nvSpPr>
          <p:cNvPr id="8"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62550"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12.2.1 Warm-Up: Making More Servings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15250" y="349526"/>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262550" y="1386026"/>
                <a:ext cx="9922932"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Gabriel wants to make </a:t>
                </a:r>
                <a14:m>
                  <m:oMath xmlns:m="http://schemas.openxmlformats.org/officeDocument/2006/math">
                    <m:r>
                      <a:rPr lang="en-US" sz="2000" i="1">
                        <a:latin typeface="Cambria Math" panose="02040503050406030204" pitchFamily="18" charset="0"/>
                        <a:ea typeface="Verdana" charset="0"/>
                        <a:cs typeface="Verdana" charset="0"/>
                      </a:rPr>
                      <m:t>5</m:t>
                    </m:r>
                  </m:oMath>
                </a14:m>
                <a:r>
                  <a:rPr lang="en-US" sz="2000" dirty="0">
                    <a:latin typeface="Verdana" charset="0"/>
                    <a:ea typeface="Verdana" charset="0"/>
                    <a:cs typeface="Verdana" charset="0"/>
                  </a:rPr>
                  <a:t> servings of oatmeal for breakfast using this recipe. How much water and oats will he need to use? Show your work.</a:t>
                </a:r>
                <a:endParaRPr lang="en-US" sz="2000" i="1" dirty="0">
                  <a:latin typeface="Verdana" charset="0"/>
                  <a:ea typeface="Verdana" charset="0"/>
                  <a:cs typeface="Verdana" charset="0"/>
                </a:endParaRPr>
              </a:p>
            </p:txBody>
          </p:sp>
        </mc:Choice>
        <mc:Fallback xmlns="">
          <p:sp>
            <p:nvSpPr>
              <p:cNvPr id="2" name="TextBox 1">
                <a:extLst>
                  <a:ext uri="{FF2B5EF4-FFF2-40B4-BE49-F238E27FC236}">
                    <a16:creationId xmlns:a16="http://schemas.microsoft.com/office/drawing/2014/main" xmlns:a14="http://schemas.microsoft.com/office/drawing/2010/main" xmlns="" id="{E1D7562E-134F-D14B-AF1A-DF40E11EF758}"/>
                  </a:ext>
                </a:extLst>
              </p:cNvPr>
              <p:cNvSpPr txBox="1">
                <a:spLocks noRot="1" noChangeAspect="1" noMove="1" noResize="1" noEditPoints="1" noAdjustHandles="1" noChangeArrowheads="1" noChangeShapeType="1" noTextEdit="1"/>
              </p:cNvSpPr>
              <p:nvPr/>
            </p:nvSpPr>
            <p:spPr>
              <a:xfrm>
                <a:off x="1262550" y="1386026"/>
                <a:ext cx="9922932" cy="707886"/>
              </a:xfrm>
              <a:prstGeom prst="rect">
                <a:avLst/>
              </a:prstGeom>
              <a:blipFill rotWithShape="0">
                <a:blip r:embed="rId4"/>
                <a:stretch>
                  <a:fillRect l="-676" t="-5172" b="-14655"/>
                </a:stretch>
              </a:blipFill>
            </p:spPr>
            <p:txBody>
              <a:bodyPr/>
              <a:lstStyle/>
              <a:p>
                <a:r>
                  <a:rPr lang="en-US">
                    <a:noFill/>
                  </a:rPr>
                  <a:t> </a:t>
                </a:r>
              </a:p>
            </p:txBody>
          </p:sp>
        </mc:Fallback>
      </mc:AlternateContent>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19851" y="2401689"/>
            <a:ext cx="5665261" cy="4256087"/>
          </a:xfrm>
          <a:prstGeom prst="rect">
            <a:avLst/>
          </a:prstGeom>
        </p:spPr>
      </p:pic>
      <p:sp>
        <p:nvSpPr>
          <p:cNvPr id="9"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218</a:t>
            </a:r>
            <a:endParaRPr i="1" dirty="0">
              <a:latin typeface="Calibri"/>
              <a:ea typeface="Calibri"/>
              <a:cs typeface="Calibri"/>
              <a:sym typeface="Calibri"/>
            </a:endParaRPr>
          </a:p>
        </p:txBody>
      </p:sp>
      <p:pic>
        <p:nvPicPr>
          <p:cNvPr id="10"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69319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9700"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12.2.2 Guided Instruction: Solving Proportions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72400" y="20726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319700" y="1386026"/>
                <a:ext cx="9808632" cy="3132781"/>
              </a:xfrm>
              <a:prstGeom prst="rect">
                <a:avLst/>
              </a:prstGeom>
              <a:noFill/>
            </p:spPr>
            <p:txBody>
              <a:bodyPr wrap="square" rtlCol="0">
                <a:spAutoFit/>
              </a:bodyPr>
              <a:lstStyle/>
              <a:p>
                <a:r>
                  <a:rPr lang="en-US" sz="2000" dirty="0">
                    <a:latin typeface="Verdana" charset="0"/>
                    <a:ea typeface="Verdana" charset="0"/>
                    <a:cs typeface="Verdana" charset="0"/>
                  </a:rPr>
                  <a:t>Just as there are different ways to set up a proportion to solve a problem, there are different ways to solve the proportion once it’s set up. </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 </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Jacksonville and Gainesville are approximately </a:t>
                </a:r>
                <a14:m>
                  <m:oMath xmlns:m="http://schemas.openxmlformats.org/officeDocument/2006/math">
                    <m:r>
                      <a:rPr lang="en-US" sz="2000" i="1">
                        <a:latin typeface="Cambria Math" panose="02040503050406030204" pitchFamily="18" charset="0"/>
                        <a:ea typeface="Verdana" charset="0"/>
                        <a:cs typeface="Verdana" charset="0"/>
                      </a:rPr>
                      <m:t>1.4</m:t>
                    </m:r>
                  </m:oMath>
                </a14:m>
                <a:r>
                  <a:rPr lang="en-US" sz="2000" dirty="0">
                    <a:latin typeface="Verdana" charset="0"/>
                    <a:ea typeface="Verdana" charset="0"/>
                    <a:cs typeface="Verdana" charset="0"/>
                  </a:rPr>
                  <a:t> inches (in.) apart on a scaled map of Florida. The scale used for the map is </a:t>
                </a:r>
                <a14:m>
                  <m:oMath xmlns:m="http://schemas.openxmlformats.org/officeDocument/2006/math">
                    <m:r>
                      <a:rPr lang="en-US" sz="2000" i="1">
                        <a:latin typeface="Cambria Math" panose="02040503050406030204" pitchFamily="18" charset="0"/>
                        <a:ea typeface="Verdana" charset="0"/>
                        <a:cs typeface="Verdana" charset="0"/>
                      </a:rPr>
                      <m:t>2 </m:t>
                    </m:r>
                  </m:oMath>
                </a14:m>
                <a:r>
                  <a:rPr lang="en-US" sz="2000" dirty="0">
                    <a:latin typeface="Verdana" charset="0"/>
                    <a:ea typeface="Verdana" charset="0"/>
                    <a:cs typeface="Verdana" charset="0"/>
                  </a:rPr>
                  <a:t>in. </a:t>
                </a:r>
                <a14:m>
                  <m:oMath xmlns:m="http://schemas.openxmlformats.org/officeDocument/2006/math">
                    <m:r>
                      <a:rPr lang="en-US" sz="2000" i="1">
                        <a:latin typeface="Cambria Math" panose="02040503050406030204" pitchFamily="18" charset="0"/>
                        <a:ea typeface="Verdana" charset="0"/>
                        <a:cs typeface="Verdana" charset="0"/>
                      </a:rPr>
                      <m:t>= 90 </m:t>
                    </m:r>
                  </m:oMath>
                </a14:m>
                <a:r>
                  <a:rPr lang="en-US" sz="2000" dirty="0">
                    <a:latin typeface="Verdana" charset="0"/>
                    <a:ea typeface="Verdana" charset="0"/>
                    <a:cs typeface="Verdana" charset="0"/>
                  </a:rPr>
                  <a:t>miles. The proportion below can be used to find the actual distance between Jacksonville and Gainesville.</a:t>
                </a:r>
              </a:p>
              <a:p>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2</m:t>
                          </m:r>
                        </m:num>
                        <m:den>
                          <m:r>
                            <a:rPr lang="en-US" sz="2000" i="1">
                              <a:latin typeface="Cambria Math" panose="02040503050406030204" pitchFamily="18" charset="0"/>
                              <a:ea typeface="Verdana" charset="0"/>
                              <a:cs typeface="Verdana" charset="0"/>
                            </a:rPr>
                            <m:t>90</m:t>
                          </m:r>
                        </m:den>
                      </m:f>
                      <m:r>
                        <a:rPr lang="en-US" sz="2000" i="1">
                          <a:latin typeface="Cambria Math" panose="02040503050406030204" pitchFamily="18" charset="0"/>
                          <a:ea typeface="Verdana" charset="0"/>
                          <a:cs typeface="Verdana" charset="0"/>
                        </a:rPr>
                        <m:t> = </m:t>
                      </m:r>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1.4</m:t>
                          </m:r>
                        </m:num>
                        <m:den>
                          <m:r>
                            <a:rPr lang="en-US" sz="2000" i="1">
                              <a:latin typeface="Cambria Math" panose="02040503050406030204" pitchFamily="18" charset="0"/>
                              <a:ea typeface="Verdana" charset="0"/>
                              <a:cs typeface="Verdana" charset="0"/>
                            </a:rPr>
                            <m:t>𝑥</m:t>
                          </m:r>
                        </m:den>
                      </m:f>
                    </m:oMath>
                  </m:oMathPara>
                </a14:m>
                <a:endParaRPr lang="en-US" sz="2000" i="1" dirty="0">
                  <a:latin typeface="Verdana" charset="0"/>
                  <a:ea typeface="Verdana" charset="0"/>
                  <a:cs typeface="Verdana" charset="0"/>
                </a:endParaRPr>
              </a:p>
            </p:txBody>
          </p:sp>
        </mc:Choice>
        <mc:Fallback xmlns="">
          <p:sp>
            <p:nvSpPr>
              <p:cNvPr id="13" name="TextBox 12">
                <a:extLst>
                  <a:ext uri="{FF2B5EF4-FFF2-40B4-BE49-F238E27FC236}">
                    <a16:creationId xmlns:a16="http://schemas.microsoft.com/office/drawing/2014/main" xmlns:a14="http://schemas.microsoft.com/office/drawing/2010/main" xmlns="" id="{C01B13E8-EC8D-E443-A329-C5E3593DD13A}"/>
                  </a:ext>
                </a:extLst>
              </p:cNvPr>
              <p:cNvSpPr txBox="1">
                <a:spLocks noRot="1" noChangeAspect="1" noMove="1" noResize="1" noEditPoints="1" noAdjustHandles="1" noChangeArrowheads="1" noChangeShapeType="1" noTextEdit="1"/>
              </p:cNvSpPr>
              <p:nvPr/>
            </p:nvSpPr>
            <p:spPr>
              <a:xfrm>
                <a:off x="1319700" y="1386026"/>
                <a:ext cx="9808632" cy="3132781"/>
              </a:xfrm>
              <a:prstGeom prst="rect">
                <a:avLst/>
              </a:prstGeom>
              <a:blipFill rotWithShape="0">
                <a:blip r:embed="rId4"/>
                <a:stretch>
                  <a:fillRect l="-621" t="-973"/>
                </a:stretch>
              </a:blipFill>
            </p:spPr>
            <p:txBody>
              <a:bodyPr/>
              <a:lstStyle/>
              <a:p>
                <a:r>
                  <a:rPr lang="en-US">
                    <a:noFill/>
                  </a:rPr>
                  <a:t> </a:t>
                </a:r>
              </a:p>
            </p:txBody>
          </p:sp>
        </mc:Fallback>
      </mc:AlternateContent>
      <p:sp>
        <p:nvSpPr>
          <p:cNvPr id="8"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219</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44364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300163" y="520393"/>
            <a:ext cx="9742340" cy="400110"/>
          </a:xfrm>
          <a:prstGeom prst="rect">
            <a:avLst/>
          </a:prstGeom>
          <a:noFill/>
        </p:spPr>
        <p:txBody>
          <a:bodyPr wrap="square" rtlCol="0">
            <a:spAutoFit/>
          </a:bodyPr>
          <a:lstStyle/>
          <a:p>
            <a:r>
              <a:rPr lang="en-US" sz="2000" dirty="0">
                <a:latin typeface="Verdana" charset="0"/>
                <a:ea typeface="Verdana" charset="0"/>
                <a:cs typeface="Verdana" charset="0"/>
              </a:rPr>
              <a:t>Two methods for solving the proportion are shown.</a:t>
            </a:r>
            <a:endParaRPr lang="en-US" sz="2000" i="1" dirty="0">
              <a:latin typeface="Verdana" charset="0"/>
              <a:ea typeface="Verdana" charset="0"/>
              <a:cs typeface="Verdana"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788589540"/>
                  </p:ext>
                </p:extLst>
              </p:nvPr>
            </p:nvGraphicFramePr>
            <p:xfrm>
              <a:off x="2545264" y="1081175"/>
              <a:ext cx="7252138" cy="5119424"/>
            </p:xfrm>
            <a:graphic>
              <a:graphicData uri="http://schemas.openxmlformats.org/drawingml/2006/table">
                <a:tbl>
                  <a:tblPr firstRow="1" firstCol="1" bandRow="1"/>
                  <a:tblGrid>
                    <a:gridCol w="3671740">
                      <a:extLst>
                        <a:ext uri="{9D8B030D-6E8A-4147-A177-3AD203B41FA5}">
                          <a16:colId xmlns:a16="http://schemas.microsoft.com/office/drawing/2014/main" val="20000"/>
                        </a:ext>
                      </a:extLst>
                    </a:gridCol>
                    <a:gridCol w="3580398">
                      <a:extLst>
                        <a:ext uri="{9D8B030D-6E8A-4147-A177-3AD203B41FA5}">
                          <a16:colId xmlns:a16="http://schemas.microsoft.com/office/drawing/2014/main" val="20001"/>
                        </a:ext>
                      </a:extLst>
                    </a:gridCol>
                  </a:tblGrid>
                  <a:tr h="712405">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Method A</a:t>
                          </a:r>
                          <a:endParaRPr lang="en-US" sz="2000" i="1">
                            <a:effectLst/>
                            <a:latin typeface="Verdana" charset="0"/>
                            <a:ea typeface="Verdana" charset="0"/>
                            <a:cs typeface="Verdana" charset="0"/>
                          </a:endParaRPr>
                        </a:p>
                        <a:p>
                          <a:pPr marL="0" marR="0" algn="ctr">
                            <a:lnSpc>
                              <a:spcPct val="107000"/>
                            </a:lnSpc>
                            <a:spcBef>
                              <a:spcPts val="0"/>
                            </a:spcBef>
                            <a:spcAft>
                              <a:spcPts val="0"/>
                            </a:spcAft>
                          </a:pPr>
                          <a:r>
                            <a:rPr lang="en-US" sz="2000" b="1" i="0">
                              <a:effectLst/>
                              <a:latin typeface="Verdana" charset="0"/>
                              <a:ea typeface="Verdana" charset="0"/>
                              <a:cs typeface="Verdana" charset="0"/>
                            </a:rPr>
                            <a:t>Using a Scale Factor</a:t>
                          </a:r>
                          <a:endParaRPr lang="en-US" sz="2000" i="1">
                            <a:effectLst/>
                            <a:latin typeface="Verdana" charset="0"/>
                            <a:ea typeface="Verdana" charset="0"/>
                            <a:cs typeface="Verdana" charset="0"/>
                          </a:endParaRPr>
                        </a:p>
                      </a:txBody>
                      <a:tcPr marL="36955" marR="36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Method B</a:t>
                          </a:r>
                          <a:endParaRPr lang="en-US" sz="2000" i="1">
                            <a:effectLst/>
                            <a:latin typeface="Verdana" charset="0"/>
                            <a:ea typeface="Verdana" charset="0"/>
                            <a:cs typeface="Verdana" charset="0"/>
                          </a:endParaRPr>
                        </a:p>
                        <a:p>
                          <a:pPr marL="0" marR="0" algn="ctr">
                            <a:lnSpc>
                              <a:spcPct val="107000"/>
                            </a:lnSpc>
                            <a:spcBef>
                              <a:spcPts val="0"/>
                            </a:spcBef>
                            <a:spcAft>
                              <a:spcPts val="0"/>
                            </a:spcAft>
                          </a:pPr>
                          <a:r>
                            <a:rPr lang="en-US" sz="2000" b="1" i="0">
                              <a:effectLst/>
                              <a:latin typeface="Verdana" charset="0"/>
                              <a:ea typeface="Verdana" charset="0"/>
                              <a:cs typeface="Verdana" charset="0"/>
                            </a:rPr>
                            <a:t>Solving the Equation</a:t>
                          </a:r>
                          <a:endParaRPr lang="en-US" sz="2000" i="1">
                            <a:effectLst/>
                            <a:latin typeface="Verdana" charset="0"/>
                            <a:ea typeface="Verdana" charset="0"/>
                            <a:cs typeface="Verdana" charset="0"/>
                          </a:endParaRPr>
                        </a:p>
                      </a:txBody>
                      <a:tcPr marL="36955" marR="36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613605">
                    <a:tc>
                      <a:txBody>
                        <a:bodyPr/>
                        <a:lstStyle/>
                        <a:p>
                          <a:pPr marL="0" marR="0">
                            <a:lnSpc>
                              <a:spcPct val="107000"/>
                            </a:lnSpc>
                            <a:spcBef>
                              <a:spcPts val="0"/>
                            </a:spcBef>
                            <a:spcAft>
                              <a:spcPts val="0"/>
                            </a:spcAft>
                          </a:pPr>
                          <a:endParaRPr lang="en-US" sz="2000" i="1" dirty="0">
                            <a:effectLst/>
                            <a:latin typeface="Verdana" charset="0"/>
                            <a:ea typeface="Verdana" charset="0"/>
                            <a:cs typeface="Verdana" charset="0"/>
                          </a:endParaRPr>
                        </a:p>
                      </a:txBody>
                      <a:tcPr marL="36955" marR="369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 </a:t>
                          </a:r>
                          <a:endParaRPr lang="en-US" sz="2000" i="1" dirty="0">
                            <a:effectLst/>
                            <a:latin typeface="Verdana" charset="0"/>
                            <a:ea typeface="Verdana" charset="0"/>
                            <a:cs typeface="Verdana" charset="0"/>
                          </a:endParaRPr>
                        </a:p>
                      </a:txBody>
                      <a:tcPr marL="36955" marR="36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93414">
                    <a:tc gridSpan="2">
                      <a:txBody>
                        <a:bodyPr/>
                        <a:lstStyle/>
                        <a:p>
                          <a:pPr marL="0" marR="0" algn="ctr">
                            <a:lnSpc>
                              <a:spcPct val="107000"/>
                            </a:lnSpc>
                            <a:spcBef>
                              <a:spcPts val="0"/>
                            </a:spcBef>
                            <a:spcAft>
                              <a:spcPts val="0"/>
                            </a:spcAft>
                          </a:pPr>
                          <a:r>
                            <a:rPr lang="en-US" sz="2000" i="0" dirty="0">
                              <a:effectLst/>
                              <a:latin typeface="Verdana" charset="0"/>
                              <a:ea typeface="Verdana" charset="0"/>
                              <a:cs typeface="Verdana" charset="0"/>
                            </a:rPr>
                            <a:t>Both solution methods show the approximate distance between Jacksonville and Gainesville is </a:t>
                          </a:r>
                          <a14:m>
                            <m:oMath xmlns:m="http://schemas.openxmlformats.org/officeDocument/2006/math">
                              <m:r>
                                <a:rPr lang="en-US" sz="2000" i="1">
                                  <a:effectLst/>
                                  <a:latin typeface="Cambria Math" panose="02040503050406030204" pitchFamily="18" charset="0"/>
                                  <a:ea typeface="Verdana" charset="0"/>
                                  <a:cs typeface="Verdana" charset="0"/>
                                </a:rPr>
                                <m:t>63</m:t>
                              </m:r>
                            </m:oMath>
                          </a14:m>
                          <a:r>
                            <a:rPr lang="en-US" sz="2000" i="0" dirty="0">
                              <a:effectLst/>
                              <a:latin typeface="Verdana" charset="0"/>
                              <a:ea typeface="Verdana" charset="0"/>
                              <a:cs typeface="Verdana" charset="0"/>
                            </a:rPr>
                            <a:t> miles.</a:t>
                          </a:r>
                          <a:endParaRPr lang="en-US" sz="2000" i="1" dirty="0">
                            <a:effectLst/>
                            <a:latin typeface="Verdana" charset="0"/>
                            <a:ea typeface="Verdana" charset="0"/>
                            <a:cs typeface="Verdana" charset="0"/>
                          </a:endParaRPr>
                        </a:p>
                      </a:txBody>
                      <a:tcPr marL="36955" marR="369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788589540"/>
                  </p:ext>
                </p:extLst>
              </p:nvPr>
            </p:nvGraphicFramePr>
            <p:xfrm>
              <a:off x="1021264" y="1081175"/>
              <a:ext cx="7252138" cy="5119424"/>
            </p:xfrm>
            <a:graphic>
              <a:graphicData uri="http://schemas.openxmlformats.org/drawingml/2006/table">
                <a:tbl>
                  <a:tblPr firstRow="1" firstCol="1" bandRow="1"/>
                  <a:tblGrid>
                    <a:gridCol w="3671740"/>
                    <a:gridCol w="3580398"/>
                  </a:tblGrid>
                  <a:tr h="712405">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Method A</a:t>
                          </a:r>
                          <a:endParaRPr lang="en-US" sz="2000" i="1">
                            <a:effectLst/>
                            <a:latin typeface="Verdana" charset="0"/>
                            <a:ea typeface="Verdana" charset="0"/>
                            <a:cs typeface="Verdana" charset="0"/>
                          </a:endParaRPr>
                        </a:p>
                        <a:p>
                          <a:pPr marL="0" marR="0" algn="ctr">
                            <a:lnSpc>
                              <a:spcPct val="107000"/>
                            </a:lnSpc>
                            <a:spcBef>
                              <a:spcPts val="0"/>
                            </a:spcBef>
                            <a:spcAft>
                              <a:spcPts val="0"/>
                            </a:spcAft>
                          </a:pPr>
                          <a:r>
                            <a:rPr lang="en-US" sz="2000" b="1" i="0">
                              <a:effectLst/>
                              <a:latin typeface="Verdana" charset="0"/>
                              <a:ea typeface="Verdana" charset="0"/>
                              <a:cs typeface="Verdana" charset="0"/>
                            </a:rPr>
                            <a:t>Using a Scale Factor</a:t>
                          </a:r>
                          <a:endParaRPr lang="en-US" sz="2000" i="1">
                            <a:effectLst/>
                            <a:latin typeface="Verdana" charset="0"/>
                            <a:ea typeface="Verdana" charset="0"/>
                            <a:cs typeface="Verdana" charset="0"/>
                          </a:endParaRPr>
                        </a:p>
                      </a:txBody>
                      <a:tcPr marL="36955" marR="36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Method B</a:t>
                          </a:r>
                          <a:endParaRPr lang="en-US" sz="2000" i="1">
                            <a:effectLst/>
                            <a:latin typeface="Verdana" charset="0"/>
                            <a:ea typeface="Verdana" charset="0"/>
                            <a:cs typeface="Verdana" charset="0"/>
                          </a:endParaRPr>
                        </a:p>
                        <a:p>
                          <a:pPr marL="0" marR="0" algn="ctr">
                            <a:lnSpc>
                              <a:spcPct val="107000"/>
                            </a:lnSpc>
                            <a:spcBef>
                              <a:spcPts val="0"/>
                            </a:spcBef>
                            <a:spcAft>
                              <a:spcPts val="0"/>
                            </a:spcAft>
                          </a:pPr>
                          <a:r>
                            <a:rPr lang="en-US" sz="2000" b="1" i="0">
                              <a:effectLst/>
                              <a:latin typeface="Verdana" charset="0"/>
                              <a:ea typeface="Verdana" charset="0"/>
                              <a:cs typeface="Verdana" charset="0"/>
                            </a:rPr>
                            <a:t>Solving the Equation</a:t>
                          </a:r>
                          <a:endParaRPr lang="en-US" sz="2000" i="1">
                            <a:effectLst/>
                            <a:latin typeface="Verdana" charset="0"/>
                            <a:ea typeface="Verdana" charset="0"/>
                            <a:cs typeface="Verdana" charset="0"/>
                          </a:endParaRPr>
                        </a:p>
                      </a:txBody>
                      <a:tcPr marL="36955" marR="36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r>
                  <a:tr h="3613605">
                    <a:tc>
                      <a:txBody>
                        <a:bodyPr/>
                        <a:lstStyle/>
                        <a:p>
                          <a:pPr marL="0" marR="0">
                            <a:lnSpc>
                              <a:spcPct val="107000"/>
                            </a:lnSpc>
                            <a:spcBef>
                              <a:spcPts val="0"/>
                            </a:spcBef>
                            <a:spcAft>
                              <a:spcPts val="0"/>
                            </a:spcAft>
                          </a:pPr>
                          <a:endParaRPr lang="en-US" sz="2000" i="1" dirty="0">
                            <a:effectLst/>
                            <a:latin typeface="Verdana" charset="0"/>
                            <a:ea typeface="Verdana" charset="0"/>
                            <a:cs typeface="Verdana" charset="0"/>
                          </a:endParaRPr>
                        </a:p>
                      </a:txBody>
                      <a:tcPr marL="36955" marR="369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 </a:t>
                          </a:r>
                          <a:endParaRPr lang="en-US" sz="2000" i="1" dirty="0">
                            <a:effectLst/>
                            <a:latin typeface="Verdana" charset="0"/>
                            <a:ea typeface="Verdana" charset="0"/>
                            <a:cs typeface="Verdana" charset="0"/>
                          </a:endParaRPr>
                        </a:p>
                      </a:txBody>
                      <a:tcPr marL="36955" marR="369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93414">
                    <a:tc gridSpan="2">
                      <a:txBody>
                        <a:bodyPr/>
                        <a:lstStyle/>
                        <a:p>
                          <a:endParaRPr lang="en-US"/>
                        </a:p>
                      </a:txBody>
                      <a:tcPr marL="36955" marR="369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84" t="-557692" r="-168" b="-8462"/>
                          </a:stretch>
                        </a:blipFill>
                      </a:tcPr>
                    </a:tc>
                    <a:tc hMerge="1">
                      <a:txBody>
                        <a:bodyPr/>
                        <a:lstStyle/>
                        <a:p>
                          <a:endParaRPr lang="en-US"/>
                        </a:p>
                      </a:txBody>
                      <a:tcPr/>
                    </a:tc>
                  </a:tr>
                </a:tbl>
              </a:graphicData>
            </a:graphic>
          </p:graphicFrame>
        </mc:Fallback>
      </mc:AlternateContent>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930735" y="1930360"/>
            <a:ext cx="2782190" cy="3301756"/>
          </a:xfrm>
          <a:prstGeom prst="rect">
            <a:avLst/>
          </a:prstGeom>
        </p:spPr>
      </p:pic>
      <p:pic>
        <p:nvPicPr>
          <p:cNvPr id="4" name="Picture 3"/>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6911637" y="1918301"/>
            <a:ext cx="2237484" cy="3402316"/>
          </a:xfrm>
          <a:prstGeom prst="rect">
            <a:avLst/>
          </a:prstGeom>
        </p:spPr>
      </p:pic>
      <p:sp>
        <p:nvSpPr>
          <p:cNvPr id="9"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219</a:t>
            </a:r>
            <a:endParaRPr i="1" dirty="0">
              <a:latin typeface="Calibri"/>
              <a:ea typeface="Calibri"/>
              <a:cs typeface="Calibri"/>
              <a:sym typeface="Calibri"/>
            </a:endParaRPr>
          </a:p>
        </p:txBody>
      </p:sp>
      <p:pic>
        <p:nvPicPr>
          <p:cNvPr id="10"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8408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100138" y="520393"/>
                <a:ext cx="10142390" cy="4222823"/>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In Method A, how does multiplying the ratio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2</m:t>
                        </m:r>
                      </m:num>
                      <m:den>
                        <m:r>
                          <a:rPr lang="en-US" sz="2000" i="1">
                            <a:latin typeface="Cambria Math" panose="02040503050406030204" pitchFamily="18" charset="0"/>
                            <a:ea typeface="Verdana" charset="0"/>
                            <a:cs typeface="Verdana" charset="0"/>
                          </a:rPr>
                          <m:t>90</m:t>
                        </m:r>
                      </m:den>
                    </m:f>
                  </m:oMath>
                </a14:m>
                <a:r>
                  <a:rPr lang="en-US" sz="2000" dirty="0">
                    <a:latin typeface="Verdana" charset="0"/>
                    <a:ea typeface="Verdana" charset="0"/>
                    <a:cs typeface="Verdana" charset="0"/>
                  </a:rPr>
                  <a:t> by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0.7</m:t>
                        </m:r>
                      </m:num>
                      <m:den>
                        <m:r>
                          <a:rPr lang="en-US" sz="2000" i="1">
                            <a:latin typeface="Cambria Math" panose="02040503050406030204" pitchFamily="18" charset="0"/>
                            <a:ea typeface="Verdana" charset="0"/>
                            <a:cs typeface="Verdana" charset="0"/>
                          </a:rPr>
                          <m:t>0.7</m:t>
                        </m:r>
                      </m:den>
                    </m:f>
                  </m:oMath>
                </a14:m>
                <a:r>
                  <a:rPr lang="en-US" sz="2000" dirty="0">
                    <a:latin typeface="Verdana" charset="0"/>
                    <a:ea typeface="Verdana" charset="0"/>
                    <a:cs typeface="Verdana" charset="0"/>
                  </a:rPr>
                  <a:t> show that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2</m:t>
                        </m:r>
                      </m:num>
                      <m:den>
                        <m:r>
                          <a:rPr lang="en-US" sz="2000" i="1">
                            <a:latin typeface="Cambria Math" panose="02040503050406030204" pitchFamily="18" charset="0"/>
                            <a:ea typeface="Verdana" charset="0"/>
                            <a:cs typeface="Verdana" charset="0"/>
                          </a:rPr>
                          <m:t>90</m:t>
                        </m:r>
                      </m:den>
                    </m:f>
                  </m:oMath>
                </a14:m>
                <a:r>
                  <a:rPr lang="en-US" sz="2000" dirty="0">
                    <a:latin typeface="Verdana" charset="0"/>
                    <a:ea typeface="Verdana" charset="0"/>
                    <a:cs typeface="Verdana" charset="0"/>
                  </a:rPr>
                  <a:t> and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1.4</m:t>
                        </m:r>
                      </m:num>
                      <m:den>
                        <m:r>
                          <a:rPr lang="en-US" sz="2000" i="1">
                            <a:latin typeface="Cambria Math" panose="02040503050406030204" pitchFamily="18" charset="0"/>
                            <a:ea typeface="Verdana" charset="0"/>
                            <a:cs typeface="Verdana" charset="0"/>
                          </a:rPr>
                          <m:t>63</m:t>
                        </m:r>
                      </m:den>
                    </m:f>
                  </m:oMath>
                </a14:m>
                <a:r>
                  <a:rPr lang="en-US" sz="2000" dirty="0">
                    <a:latin typeface="Verdana" charset="0"/>
                    <a:ea typeface="Verdana" charset="0"/>
                    <a:cs typeface="Verdana" charset="0"/>
                  </a:rPr>
                  <a:t> are equivalent?</a:t>
                </a:r>
                <a:endParaRPr lang="en-US" sz="2000" i="1"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In Method B, why were both ratios multiplied by </a:t>
                </a:r>
                <a14:m>
                  <m:oMath xmlns:m="http://schemas.openxmlformats.org/officeDocument/2006/math">
                    <m:r>
                      <a:rPr lang="en-US" sz="2000" i="1">
                        <a:latin typeface="Cambria Math" panose="02040503050406030204" pitchFamily="18" charset="0"/>
                        <a:ea typeface="Verdana" charset="0"/>
                        <a:cs typeface="Verdana" charset="0"/>
                      </a:rPr>
                      <m:t>90</m:t>
                    </m:r>
                  </m:oMath>
                </a14:m>
                <a:r>
                  <a:rPr lang="en-US" sz="2000" dirty="0">
                    <a:latin typeface="Verdana" charset="0"/>
                    <a:ea typeface="Verdana" charset="0"/>
                    <a:cs typeface="Verdana" charset="0"/>
                  </a:rPr>
                  <a:t> and then by </a:t>
                </a:r>
                <a14:m>
                  <m:oMath xmlns:m="http://schemas.openxmlformats.org/officeDocument/2006/math">
                    <m:r>
                      <a:rPr lang="en-US" sz="2000" i="1">
                        <a:latin typeface="Cambria Math" panose="02040503050406030204" pitchFamily="18" charset="0"/>
                        <a:ea typeface="Verdana" charset="0"/>
                        <a:cs typeface="Verdana" charset="0"/>
                      </a:rPr>
                      <m:t>𝑥</m:t>
                    </m:r>
                  </m:oMath>
                </a14:m>
                <a:r>
                  <a:rPr lang="en-US" sz="2000" dirty="0">
                    <a:latin typeface="Verdana" charset="0"/>
                    <a:ea typeface="Verdana" charset="0"/>
                    <a:cs typeface="Verdana" charset="0"/>
                  </a:rPr>
                  <a:t>?</a:t>
                </a:r>
                <a:endParaRPr lang="en-US" sz="2000" i="1"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In Method B, why are both sides of the equation multiplied or divided by the same value in each step? </a:t>
                </a:r>
                <a:endParaRPr lang="en-US" sz="2000" i="1"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1100138" y="520393"/>
                <a:ext cx="10142390" cy="4222823"/>
              </a:xfrm>
              <a:prstGeom prst="rect">
                <a:avLst/>
              </a:prstGeom>
              <a:blipFill rotWithShape="0">
                <a:blip r:embed="rId3"/>
                <a:stretch>
                  <a:fillRect l="-661" b="-1587"/>
                </a:stretch>
              </a:blipFill>
            </p:spPr>
            <p:txBody>
              <a:bodyPr/>
              <a:lstStyle/>
              <a:p>
                <a:r>
                  <a:rPr lang="en-US">
                    <a:noFill/>
                  </a:rPr>
                  <a:t> </a:t>
                </a:r>
              </a:p>
            </p:txBody>
          </p:sp>
        </mc:Fallback>
      </mc:AlternateContent>
      <p:sp>
        <p:nvSpPr>
          <p:cNvPr id="6"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219</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32914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800100" y="520393"/>
                <a:ext cx="10742466" cy="2648289"/>
              </a:xfrm>
              <a:prstGeom prst="rect">
                <a:avLst/>
              </a:prstGeom>
              <a:noFill/>
            </p:spPr>
            <p:txBody>
              <a:bodyPr wrap="square" rtlCol="0">
                <a:spAutoFit/>
              </a:bodyPr>
              <a:lstStyle/>
              <a:p>
                <a:r>
                  <a:rPr lang="en-US" sz="2000" dirty="0">
                    <a:latin typeface="Verdana" charset="0"/>
                    <a:ea typeface="Verdana" charset="0"/>
                    <a:cs typeface="Verdana" charset="0"/>
                  </a:rPr>
                  <a:t>A certain shade of light blue paint is made by mixing </a:t>
                </a:r>
                <a14:m>
                  <m:oMath xmlns:m="http://schemas.openxmlformats.org/officeDocument/2006/math">
                    <m:r>
                      <a:rPr lang="en-US" sz="2000" i="1">
                        <a:latin typeface="Cambria Math" panose="02040503050406030204" pitchFamily="18" charset="0"/>
                        <a:ea typeface="Verdana" charset="0"/>
                        <a:cs typeface="Verdana" charset="0"/>
                      </a:rPr>
                      <m:t>2</m:t>
                    </m:r>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m:t>
                        </m:r>
                      </m:num>
                      <m:den>
                        <m:r>
                          <a:rPr lang="en-US" sz="2000" i="1">
                            <a:latin typeface="Cambria Math" panose="02040503050406030204" pitchFamily="18" charset="0"/>
                            <a:ea typeface="Verdana" charset="0"/>
                            <a:cs typeface="Verdana" charset="0"/>
                          </a:rPr>
                          <m:t>2</m:t>
                        </m:r>
                      </m:den>
                    </m:f>
                  </m:oMath>
                </a14:m>
                <a:r>
                  <a:rPr lang="en-US" sz="2000" dirty="0">
                    <a:latin typeface="Verdana" charset="0"/>
                    <a:ea typeface="Verdana" charset="0"/>
                    <a:cs typeface="Verdana" charset="0"/>
                  </a:rPr>
                  <a:t> quarts of blue paint with </a:t>
                </a:r>
                <a14:m>
                  <m:oMath xmlns:m="http://schemas.openxmlformats.org/officeDocument/2006/math">
                    <m:r>
                      <a:rPr lang="en-US" sz="2000" i="1">
                        <a:latin typeface="Cambria Math" panose="02040503050406030204" pitchFamily="18" charset="0"/>
                        <a:ea typeface="Verdana" charset="0"/>
                        <a:cs typeface="Verdana" charset="0"/>
                      </a:rPr>
                      <m:t>7</m:t>
                    </m:r>
                  </m:oMath>
                </a14:m>
                <a:r>
                  <a:rPr lang="en-US" sz="2000" dirty="0">
                    <a:latin typeface="Verdana" charset="0"/>
                    <a:ea typeface="Verdana" charset="0"/>
                    <a:cs typeface="Verdana" charset="0"/>
                  </a:rPr>
                  <a:t> quarts of white paint. To make the same shade of light blue, how much white paint would be needed to mix with </a:t>
                </a:r>
                <a14:m>
                  <m:oMath xmlns:m="http://schemas.openxmlformats.org/officeDocument/2006/math">
                    <m:r>
                      <a:rPr lang="en-US" sz="2000" i="1">
                        <a:latin typeface="Cambria Math" panose="02040503050406030204" pitchFamily="18" charset="0"/>
                        <a:ea typeface="Verdana" charset="0"/>
                        <a:cs typeface="Verdana" charset="0"/>
                      </a:rPr>
                      <m:t>4</m:t>
                    </m:r>
                  </m:oMath>
                </a14:m>
                <a:r>
                  <a:rPr lang="en-US" sz="2000" dirty="0">
                    <a:latin typeface="Verdana" charset="0"/>
                    <a:ea typeface="Verdana" charset="0"/>
                    <a:cs typeface="Verdana" charset="0"/>
                  </a:rPr>
                  <a:t> quarts of blue paint?</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 </a:t>
                </a:r>
                <a:endParaRPr lang="en-US" sz="2000" i="1" dirty="0">
                  <a:latin typeface="Verdana" charset="0"/>
                  <a:ea typeface="Verdana" charset="0"/>
                  <a:cs typeface="Verdana" charset="0"/>
                </a:endParaRPr>
              </a:p>
              <a:p>
                <a:pPr marL="457200" indent="-457200">
                  <a:buFont typeface="+mj-lt"/>
                  <a:buAutoNum type="arabicPeriod" startAt="4"/>
                </a:pPr>
                <a:r>
                  <a:rPr lang="en-US" sz="2000" dirty="0">
                    <a:latin typeface="Verdana" charset="0"/>
                    <a:ea typeface="Verdana" charset="0"/>
                    <a:cs typeface="Verdana" charset="0"/>
                  </a:rPr>
                  <a:t>Complete the proportion using the information given.</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 </a:t>
                </a:r>
                <a:endParaRPr lang="en-US" sz="2000" i="1" dirty="0">
                  <a:latin typeface="Verdana" charset="0"/>
                  <a:ea typeface="Verdana" charset="0"/>
                  <a:cs typeface="Verdana" charset="0"/>
                </a:endParaRPr>
              </a:p>
              <a:p>
                <a:pPr/>
                <a14:m>
                  <m:oMathPara xmlns:m="http://schemas.openxmlformats.org/officeDocument/2006/math">
                    <m:oMathParaPr>
                      <m:jc m:val="centerGroup"/>
                    </m:oMathParaPr>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2.5</m:t>
                          </m:r>
                        </m:num>
                        <m:den>
                          <m:r>
                            <a:rPr lang="en-US" sz="2000" i="1">
                              <a:latin typeface="Cambria Math" panose="02040503050406030204" pitchFamily="18" charset="0"/>
                              <a:ea typeface="Verdana" charset="0"/>
                              <a:cs typeface="Verdana" charset="0"/>
                            </a:rPr>
                            <m:t>        </m:t>
                          </m:r>
                        </m:den>
                      </m:f>
                      <m:r>
                        <a:rPr lang="en-US" sz="2000" i="1">
                          <a:latin typeface="Cambria Math" panose="02040503050406030204" pitchFamily="18" charset="0"/>
                          <a:ea typeface="Verdana" charset="0"/>
                          <a:cs typeface="Verdana" charset="0"/>
                        </a:rPr>
                        <m:t> = </m:t>
                      </m:r>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7</m:t>
                          </m:r>
                        </m:num>
                        <m:den>
                          <m:r>
                            <a:rPr lang="en-US" sz="2000" i="1">
                              <a:latin typeface="Cambria Math" panose="02040503050406030204" pitchFamily="18" charset="0"/>
                              <a:ea typeface="Verdana" charset="0"/>
                              <a:cs typeface="Verdana" charset="0"/>
                            </a:rPr>
                            <m:t>       </m:t>
                          </m:r>
                        </m:den>
                      </m:f>
                    </m:oMath>
                  </m:oMathPara>
                </a14:m>
                <a:endParaRPr lang="en-US" sz="2000" i="1"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800100" y="520393"/>
                <a:ext cx="10742466" cy="2648289"/>
              </a:xfrm>
              <a:prstGeom prst="rect">
                <a:avLst/>
              </a:prstGeom>
              <a:blipFill rotWithShape="0">
                <a:blip r:embed="rId3"/>
                <a:stretch>
                  <a:fillRect l="-624"/>
                </a:stretch>
              </a:blipFill>
            </p:spPr>
            <p:txBody>
              <a:bodyPr/>
              <a:lstStyle/>
              <a:p>
                <a:r>
                  <a:rPr lang="en-US">
                    <a:noFill/>
                  </a:rPr>
                  <a:t> </a:t>
                </a:r>
              </a:p>
            </p:txBody>
          </p:sp>
        </mc:Fallback>
      </mc:AlternateContent>
      <p:sp>
        <p:nvSpPr>
          <p:cNvPr id="6"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219</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5049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622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900113" y="520394"/>
            <a:ext cx="10542440" cy="707886"/>
          </a:xfrm>
          <a:prstGeom prst="rect">
            <a:avLst/>
          </a:prstGeom>
          <a:noFill/>
        </p:spPr>
        <p:txBody>
          <a:bodyPr wrap="square" rtlCol="0">
            <a:spAutoFit/>
          </a:bodyPr>
          <a:lstStyle/>
          <a:p>
            <a:pPr marL="457200" indent="-457200">
              <a:buFont typeface="+mj-lt"/>
              <a:buAutoNum type="arabicPeriod" startAt="5"/>
            </a:pPr>
            <a:r>
              <a:rPr lang="en-US" sz="2000" dirty="0">
                <a:latin typeface="Verdana" charset="0"/>
                <a:ea typeface="Verdana" charset="0"/>
                <a:cs typeface="Verdana" charset="0"/>
              </a:rPr>
              <a:t>With your partner, decide who is Partner A and who is Partner B. Then solve the proportion using the method indicated in the space provided.</a:t>
            </a:r>
            <a:endParaRPr lang="en-US" sz="2000" i="1" dirty="0">
              <a:latin typeface="Verdana" charset="0"/>
              <a:ea typeface="Verdana" charset="0"/>
              <a:cs typeface="Verdana" charset="0"/>
            </a:endParaRPr>
          </a:p>
        </p:txBody>
      </p:sp>
      <p:graphicFrame>
        <p:nvGraphicFramePr>
          <p:cNvPr id="2" name="Table 1"/>
          <p:cNvGraphicFramePr>
            <a:graphicFrameLocks noGrp="1"/>
          </p:cNvGraphicFramePr>
          <p:nvPr>
            <p:extLst>
              <p:ext uri="{D42A27DB-BD31-4B8C-83A1-F6EECF244321}">
                <p14:modId xmlns:p14="http://schemas.microsoft.com/office/powerpoint/2010/main" val="428783846"/>
              </p:ext>
            </p:extLst>
          </p:nvPr>
        </p:nvGraphicFramePr>
        <p:xfrm>
          <a:off x="2741381" y="1756140"/>
          <a:ext cx="6859905" cy="3337370"/>
        </p:xfrm>
        <a:graphic>
          <a:graphicData uri="http://schemas.openxmlformats.org/drawingml/2006/table">
            <a:tbl>
              <a:tblPr firstRow="1" firstCol="1" bandRow="1"/>
              <a:tblGrid>
                <a:gridCol w="3471545">
                  <a:extLst>
                    <a:ext uri="{9D8B030D-6E8A-4147-A177-3AD203B41FA5}">
                      <a16:colId xmlns:a16="http://schemas.microsoft.com/office/drawing/2014/main" val="20000"/>
                    </a:ext>
                  </a:extLst>
                </a:gridCol>
                <a:gridCol w="3388360">
                  <a:extLst>
                    <a:ext uri="{9D8B030D-6E8A-4147-A177-3AD203B41FA5}">
                      <a16:colId xmlns:a16="http://schemas.microsoft.com/office/drawing/2014/main" val="20001"/>
                    </a:ext>
                  </a:extLst>
                </a:gridCol>
              </a:tblGrid>
              <a:tr h="0">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Partner A - Method A</a:t>
                      </a:r>
                      <a:endParaRPr lang="en-US" sz="2000" i="1" dirty="0">
                        <a:effectLst/>
                        <a:latin typeface="Verdana" charset="0"/>
                        <a:ea typeface="Verdana" charset="0"/>
                        <a:cs typeface="Verdana" charset="0"/>
                      </a:endParaRPr>
                    </a:p>
                    <a:p>
                      <a:pPr marL="0" marR="0" algn="ctr">
                        <a:lnSpc>
                          <a:spcPct val="107000"/>
                        </a:lnSpc>
                        <a:spcBef>
                          <a:spcPts val="0"/>
                        </a:spcBef>
                        <a:spcAft>
                          <a:spcPts val="0"/>
                        </a:spcAft>
                      </a:pPr>
                      <a:r>
                        <a:rPr lang="en-US" sz="2000" i="0" dirty="0">
                          <a:effectLst/>
                          <a:latin typeface="Verdana" charset="0"/>
                          <a:ea typeface="Verdana" charset="0"/>
                          <a:cs typeface="Verdana" charset="0"/>
                        </a:rPr>
                        <a:t>Using a Scale Factor</a:t>
                      </a:r>
                      <a:endParaRPr lang="en-US" sz="2000" i="1"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Partner B - Method B</a:t>
                      </a:r>
                      <a:endParaRPr lang="en-US" sz="2000" i="1">
                        <a:effectLst/>
                        <a:latin typeface="Verdana" charset="0"/>
                        <a:ea typeface="Verdana" charset="0"/>
                        <a:cs typeface="Verdana" charset="0"/>
                      </a:endParaRPr>
                    </a:p>
                    <a:p>
                      <a:pPr marL="0" marR="0" algn="ctr">
                        <a:lnSpc>
                          <a:spcPct val="107000"/>
                        </a:lnSpc>
                        <a:spcBef>
                          <a:spcPts val="0"/>
                        </a:spcBef>
                        <a:spcAft>
                          <a:spcPts val="0"/>
                        </a:spcAft>
                      </a:pPr>
                      <a:r>
                        <a:rPr lang="en-US" sz="2000" i="0">
                          <a:effectLst/>
                          <a:latin typeface="Verdana" charset="0"/>
                          <a:ea typeface="Verdana" charset="0"/>
                          <a:cs typeface="Verdana" charset="0"/>
                        </a:rPr>
                        <a:t>Solving the Equation</a:t>
                      </a:r>
                      <a:endParaRPr lang="en-US" sz="2000" i="1">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713990">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 </a:t>
                      </a:r>
                      <a:endParaRPr lang="en-US" sz="20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i="0" dirty="0">
                          <a:solidFill>
                            <a:srgbClr val="00B0F0"/>
                          </a:solidFill>
                          <a:effectLst/>
                          <a:latin typeface="Verdana" charset="0"/>
                          <a:ea typeface="Verdana" charset="0"/>
                          <a:cs typeface="Verdana" charset="0"/>
                        </a:rPr>
                        <a:t> </a:t>
                      </a:r>
                      <a:endParaRPr lang="en-US" sz="20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220</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62152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1085850" y="520393"/>
            <a:ext cx="10170966" cy="1938992"/>
          </a:xfrm>
          <a:prstGeom prst="rect">
            <a:avLst/>
          </a:prstGeom>
          <a:noFill/>
        </p:spPr>
        <p:txBody>
          <a:bodyPr wrap="square" rtlCol="0">
            <a:spAutoFit/>
          </a:bodyPr>
          <a:lstStyle/>
          <a:p>
            <a:pPr marL="457200" indent="-457200">
              <a:buFont typeface="+mj-lt"/>
              <a:buAutoNum type="arabicPeriod" startAt="6"/>
            </a:pPr>
            <a:r>
              <a:rPr lang="en-US" sz="2000" dirty="0">
                <a:latin typeface="Verdana" charset="0"/>
                <a:ea typeface="Verdana" charset="0"/>
                <a:cs typeface="Verdana" charset="0"/>
              </a:rPr>
              <a:t>Check your work with your partner, making any necessary corrections. Once both partners agree, write your partner’s method in your workbook. Then complete the statement.</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 </a:t>
            </a:r>
            <a:endParaRPr lang="en-US" sz="2000" i="1" dirty="0">
              <a:latin typeface="Verdana" charset="0"/>
              <a:ea typeface="Verdana" charset="0"/>
              <a:cs typeface="Verdana" charset="0"/>
            </a:endParaRPr>
          </a:p>
          <a:p>
            <a:pPr marL="469900"/>
            <a:r>
              <a:rPr lang="en-US" sz="2000" dirty="0">
                <a:latin typeface="Verdana" charset="0"/>
                <a:ea typeface="Verdana" charset="0"/>
                <a:cs typeface="Verdana" charset="0"/>
              </a:rPr>
              <a:t>To make the same shade of light blue, _____ quarts of white paint would be needed.</a:t>
            </a:r>
            <a:endParaRPr lang="en-US" sz="2000" i="1" dirty="0">
              <a:latin typeface="Verdana" charset="0"/>
              <a:ea typeface="Verdana" charset="0"/>
              <a:cs typeface="Verdana" charset="0"/>
            </a:endParaRPr>
          </a:p>
        </p:txBody>
      </p:sp>
      <p:sp>
        <p:nvSpPr>
          <p:cNvPr id="6"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220</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44254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219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12.2.3 Collaboration: Examining Student Work</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8238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1432190" y="1386025"/>
            <a:ext cx="9583652" cy="1323439"/>
          </a:xfrm>
          <a:prstGeom prst="rect">
            <a:avLst/>
          </a:prstGeom>
          <a:noFill/>
        </p:spPr>
        <p:txBody>
          <a:bodyPr wrap="square" rtlCol="0">
            <a:spAutoFit/>
          </a:bodyPr>
          <a:lstStyle/>
          <a:p>
            <a:r>
              <a:rPr lang="en-US" sz="2000" dirty="0">
                <a:latin typeface="Verdana" charset="0"/>
                <a:ea typeface="Verdana" charset="0"/>
                <a:cs typeface="Verdana" charset="0"/>
              </a:rPr>
              <a:t>Four students solved different problems involving proportional relationships. Each student’s work is shown, including any errors they may have made. Work with your partner or a small group to examine each student’s work and complete the table that follows.</a:t>
            </a:r>
            <a:endParaRPr lang="en-US" sz="2000" i="1" dirty="0">
              <a:latin typeface="Verdana" charset="0"/>
              <a:ea typeface="Verdana" charset="0"/>
              <a:cs typeface="Verdana" charset="0"/>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74555867"/>
                  </p:ext>
                </p:extLst>
              </p:nvPr>
            </p:nvGraphicFramePr>
            <p:xfrm>
              <a:off x="2667635" y="3781789"/>
              <a:ext cx="6856730" cy="2058988"/>
            </p:xfrm>
            <a:graphic>
              <a:graphicData uri="http://schemas.openxmlformats.org/drawingml/2006/table">
                <a:tbl>
                  <a:tblPr firstRow="1" firstCol="1" bandRow="1"/>
                  <a:tblGrid>
                    <a:gridCol w="2225675">
                      <a:extLst>
                        <a:ext uri="{9D8B030D-6E8A-4147-A177-3AD203B41FA5}">
                          <a16:colId xmlns:a16="http://schemas.microsoft.com/office/drawing/2014/main" val="20000"/>
                        </a:ext>
                      </a:extLst>
                    </a:gridCol>
                    <a:gridCol w="4631055">
                      <a:extLst>
                        <a:ext uri="{9D8B030D-6E8A-4147-A177-3AD203B41FA5}">
                          <a16:colId xmlns:a16="http://schemas.microsoft.com/office/drawing/2014/main" val="20001"/>
                        </a:ext>
                      </a:extLst>
                    </a:gridCol>
                  </a:tblGrid>
                  <a:tr h="457200">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Javier</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71600">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Problem</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A mixture of concrete is made up of sand and cement in a ratio of </a:t>
                          </a:r>
                          <a14:m>
                            <m:oMath xmlns:m="http://schemas.openxmlformats.org/officeDocument/2006/math">
                              <m:r>
                                <a:rPr lang="en-US" sz="2000" i="1">
                                  <a:effectLst/>
                                  <a:latin typeface="Cambria Math" panose="02040503050406030204" pitchFamily="18" charset="0"/>
                                  <a:ea typeface="Verdana" charset="0"/>
                                  <a:cs typeface="Verdana" charset="0"/>
                                </a:rPr>
                                <m:t>5:3</m:t>
                              </m:r>
                            </m:oMath>
                          </a14:m>
                          <a:r>
                            <a:rPr lang="en-US" sz="2000" i="0" dirty="0">
                              <a:effectLst/>
                              <a:latin typeface="Verdana" charset="0"/>
                              <a:ea typeface="Verdana" charset="0"/>
                              <a:cs typeface="Verdana" charset="0"/>
                            </a:rPr>
                            <a:t>. How many cubic feet of sand is needed to make </a:t>
                          </a:r>
                          <a14:m>
                            <m:oMath xmlns:m="http://schemas.openxmlformats.org/officeDocument/2006/math">
                              <m:r>
                                <a:rPr lang="en-US" sz="2000" i="1">
                                  <a:effectLst/>
                                  <a:latin typeface="Cambria Math" panose="02040503050406030204" pitchFamily="18" charset="0"/>
                                  <a:ea typeface="Verdana" charset="0"/>
                                  <a:cs typeface="Verdana" charset="0"/>
                                </a:rPr>
                                <m:t>160</m:t>
                              </m:r>
                            </m:oMath>
                          </a14:m>
                          <a:r>
                            <a:rPr lang="en-US" sz="2000" i="0" dirty="0">
                              <a:effectLst/>
                              <a:latin typeface="Verdana" charset="0"/>
                              <a:ea typeface="Verdana" charset="0"/>
                              <a:cs typeface="Verdana" charset="0"/>
                            </a:rPr>
                            <a:t> cubic feet of concrete?</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74555867"/>
                  </p:ext>
                </p:extLst>
              </p:nvPr>
            </p:nvGraphicFramePr>
            <p:xfrm>
              <a:off x="1143635" y="3781789"/>
              <a:ext cx="6856730" cy="2058988"/>
            </p:xfrm>
            <a:graphic>
              <a:graphicData uri="http://schemas.openxmlformats.org/drawingml/2006/table">
                <a:tbl>
                  <a:tblPr firstRow="1" firstCol="1" bandRow="1"/>
                  <a:tblGrid>
                    <a:gridCol w="2225675"/>
                    <a:gridCol w="4631055"/>
                  </a:tblGrid>
                  <a:tr h="457200">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Javier</a:t>
                          </a:r>
                          <a:endParaRPr lang="en-US" sz="1800" i="1">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01788">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Problem</a:t>
                          </a:r>
                          <a:endParaRPr lang="en-US" sz="1800" i="1"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5"/>
                          <a:stretch>
                            <a:fillRect l="-48095" t="-28788" r="-263" b="-9470"/>
                          </a:stretch>
                        </a:blipFill>
                      </a:tcPr>
                    </a:tc>
                  </a:tr>
                </a:tbl>
              </a:graphicData>
            </a:graphic>
          </p:graphicFrame>
        </mc:Fallback>
      </mc:AlternateContent>
      <p:sp>
        <p:nvSpPr>
          <p:cNvPr id="11"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220</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477623806"/>
              </p:ext>
            </p:extLst>
          </p:nvPr>
        </p:nvGraphicFramePr>
        <p:xfrm>
          <a:off x="2819366" y="510808"/>
          <a:ext cx="6856730" cy="3291840"/>
        </p:xfrm>
        <a:graphic>
          <a:graphicData uri="http://schemas.openxmlformats.org/drawingml/2006/table">
            <a:tbl>
              <a:tblPr firstRow="1" firstCol="1" bandRow="1"/>
              <a:tblGrid>
                <a:gridCol w="2225675">
                  <a:extLst>
                    <a:ext uri="{9D8B030D-6E8A-4147-A177-3AD203B41FA5}">
                      <a16:colId xmlns:a16="http://schemas.microsoft.com/office/drawing/2014/main" val="20000"/>
                    </a:ext>
                  </a:extLst>
                </a:gridCol>
                <a:gridCol w="4631055">
                  <a:extLst>
                    <a:ext uri="{9D8B030D-6E8A-4147-A177-3AD203B41FA5}">
                      <a16:colId xmlns:a16="http://schemas.microsoft.com/office/drawing/2014/main" val="20001"/>
                    </a:ext>
                  </a:extLst>
                </a:gridCol>
              </a:tblGrid>
              <a:tr h="3291840">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Student’s Work</a:t>
                      </a:r>
                      <a:endParaRPr lang="en-US" sz="1800" i="1" dirty="0">
                        <a:effectLst/>
                        <a:latin typeface="Cambria Math" charset="0"/>
                        <a:ea typeface="Cambria Math" charset="0"/>
                        <a:cs typeface="Cambria Math"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endParaRPr lang="en-US" sz="2000" i="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4097" name="Picture 55" descr="A picture containing text, whiteboard&#10;&#10;Description automatically generated"/>
          <p:cNvPicPr>
            <a:picLocks noChangeAspect="1" noChangeArrowheads="1"/>
          </p:cNvPicPr>
          <p:nvPr/>
        </p:nvPicPr>
        <p:blipFill>
          <a:blip r:embed="rId3">
            <a:extLst>
              <a:ext uri="{28A0092B-C50C-407E-A947-70E740481C1C}">
                <a14:useLocalDpi xmlns:a14="http://schemas.microsoft.com/office/drawing/2010/main"/>
              </a:ext>
            </a:extLst>
          </a:blip>
          <a:srcRect b="4544"/>
          <a:stretch>
            <a:fillRect/>
          </a:stretch>
        </p:blipFill>
        <p:spPr bwMode="auto">
          <a:xfrm>
            <a:off x="5708200" y="615266"/>
            <a:ext cx="3213100" cy="30829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p:cNvGraphicFramePr>
            <a:graphicFrameLocks noGrp="1"/>
          </p:cNvGraphicFramePr>
          <p:nvPr>
            <p:extLst>
              <p:ext uri="{D42A27DB-BD31-4B8C-83A1-F6EECF244321}">
                <p14:modId xmlns:p14="http://schemas.microsoft.com/office/powerpoint/2010/main" val="1655605684"/>
              </p:ext>
            </p:extLst>
          </p:nvPr>
        </p:nvGraphicFramePr>
        <p:xfrm>
          <a:off x="2249170" y="3907106"/>
          <a:ext cx="7997123" cy="2113891"/>
        </p:xfrm>
        <a:graphic>
          <a:graphicData uri="http://schemas.openxmlformats.org/drawingml/2006/table">
            <a:tbl>
              <a:tblPr firstRow="1" firstCol="1" bandRow="1"/>
              <a:tblGrid>
                <a:gridCol w="2698289">
                  <a:extLst>
                    <a:ext uri="{9D8B030D-6E8A-4147-A177-3AD203B41FA5}">
                      <a16:colId xmlns:a16="http://schemas.microsoft.com/office/drawing/2014/main" val="20000"/>
                    </a:ext>
                  </a:extLst>
                </a:gridCol>
                <a:gridCol w="2699029">
                  <a:extLst>
                    <a:ext uri="{9D8B030D-6E8A-4147-A177-3AD203B41FA5}">
                      <a16:colId xmlns:a16="http://schemas.microsoft.com/office/drawing/2014/main" val="20001"/>
                    </a:ext>
                  </a:extLst>
                </a:gridCol>
                <a:gridCol w="2599805">
                  <a:extLst>
                    <a:ext uri="{9D8B030D-6E8A-4147-A177-3AD203B41FA5}">
                      <a16:colId xmlns:a16="http://schemas.microsoft.com/office/drawing/2014/main" val="20002"/>
                    </a:ext>
                  </a:extLst>
                </a:gridCol>
              </a:tblGrid>
              <a:tr h="460975">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What did Javier do correctly? </a:t>
                      </a:r>
                      <a:endParaRPr lang="en-US" sz="1800" i="1">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What error(s) did Javier make?</a:t>
                      </a:r>
                      <a:endParaRPr lang="en-US" sz="1800" i="1">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Find the correct answer.</a:t>
                      </a:r>
                      <a:endParaRPr lang="en-US" sz="1800" i="1">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486320">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 </a:t>
                      </a:r>
                      <a:endParaRPr lang="en-US" sz="1800" i="1" dirty="0">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a:effectLst/>
                          <a:latin typeface="Verdana" charset="0"/>
                          <a:ea typeface="Verdana" charset="0"/>
                          <a:cs typeface="Verdana" charset="0"/>
                        </a:rPr>
                        <a:t> </a:t>
                      </a:r>
                      <a:endParaRPr lang="en-US" sz="1800" i="1">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 </a:t>
                      </a:r>
                      <a:endParaRPr lang="en-US" sz="1800" i="1" dirty="0">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26973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588258174"/>
                  </p:ext>
                </p:extLst>
              </p:nvPr>
            </p:nvGraphicFramePr>
            <p:xfrm>
              <a:off x="2064012" y="434176"/>
              <a:ext cx="8162555" cy="4531962"/>
            </p:xfrm>
            <a:graphic>
              <a:graphicData uri="http://schemas.openxmlformats.org/drawingml/2006/table">
                <a:tbl>
                  <a:tblPr firstRow="1" firstCol="1" bandRow="1"/>
                  <a:tblGrid>
                    <a:gridCol w="1933675">
                      <a:extLst>
                        <a:ext uri="{9D8B030D-6E8A-4147-A177-3AD203B41FA5}">
                          <a16:colId xmlns:a16="http://schemas.microsoft.com/office/drawing/2014/main" val="20000"/>
                        </a:ext>
                      </a:extLst>
                    </a:gridCol>
                    <a:gridCol w="6228880">
                      <a:extLst>
                        <a:ext uri="{9D8B030D-6E8A-4147-A177-3AD203B41FA5}">
                          <a16:colId xmlns:a16="http://schemas.microsoft.com/office/drawing/2014/main" val="20001"/>
                        </a:ext>
                      </a:extLst>
                    </a:gridCol>
                  </a:tblGrid>
                  <a:tr h="354177">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a:t>
                          </a:r>
                          <a:endParaRPr lang="en-US" sz="2000" i="1">
                            <a:effectLst/>
                            <a:latin typeface="Verdana" charset="0"/>
                            <a:ea typeface="Verdana" charset="0"/>
                            <a:cs typeface="Verdana" charset="0"/>
                          </a:endParaRPr>
                        </a:p>
                      </a:txBody>
                      <a:tcPr marL="37844" marR="378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Kayla</a:t>
                          </a:r>
                          <a:endParaRPr lang="en-US" sz="2000" i="1">
                            <a:effectLst/>
                            <a:latin typeface="Verdana" charset="0"/>
                            <a:ea typeface="Verdana" charset="0"/>
                            <a:cs typeface="Verdana" charset="0"/>
                          </a:endParaRPr>
                        </a:p>
                      </a:txBody>
                      <a:tcPr marL="37844" marR="378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77785">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Problem</a:t>
                          </a:r>
                          <a:endParaRPr lang="en-US" sz="2000" i="1">
                            <a:effectLst/>
                            <a:latin typeface="Verdana" charset="0"/>
                            <a:ea typeface="Verdana" charset="0"/>
                            <a:cs typeface="Verdana" charset="0"/>
                          </a:endParaRPr>
                        </a:p>
                      </a:txBody>
                      <a:tcPr marL="37844" marR="378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A recipe for making 4 pancakes calls for the ingredients listed.</a:t>
                          </a:r>
                          <a:endParaRPr lang="en-US" sz="2000" i="1" dirty="0">
                            <a:effectLst/>
                            <a:latin typeface="Verdana" charset="0"/>
                            <a:ea typeface="Verdana" charset="0"/>
                            <a:cs typeface="Verdana" charset="0"/>
                          </a:endParaRPr>
                        </a:p>
                        <a:p>
                          <a:pPr marL="923925" marR="0" lvl="0" indent="-454025">
                            <a:lnSpc>
                              <a:spcPct val="107000"/>
                            </a:lnSpc>
                            <a:spcBef>
                              <a:spcPts val="0"/>
                            </a:spcBef>
                            <a:spcAft>
                              <a:spcPts val="0"/>
                            </a:spcAft>
                            <a:buFont typeface="Wingdings" charset="2"/>
                            <a:buChar char=""/>
                            <a:tabLst/>
                          </a:pPr>
                          <a14:m>
                            <m:oMath xmlns:m="http://schemas.openxmlformats.org/officeDocument/2006/math">
                              <m:r>
                                <a:rPr lang="en-US" sz="2000" i="1">
                                  <a:effectLst/>
                                  <a:latin typeface="Cambria Math" panose="02040503050406030204" pitchFamily="18" charset="0"/>
                                  <a:ea typeface="Verdana" charset="0"/>
                                  <a:cs typeface="Verdana" charset="0"/>
                                </a:rPr>
                                <m:t>6</m:t>
                              </m:r>
                            </m:oMath>
                          </a14:m>
                          <a:r>
                            <a:rPr lang="en-US" sz="2000" i="0" dirty="0">
                              <a:effectLst/>
                              <a:latin typeface="Verdana" charset="0"/>
                              <a:ea typeface="Verdana" charset="0"/>
                              <a:cs typeface="Verdana" charset="0"/>
                            </a:rPr>
                            <a:t> tablespoons flour</a:t>
                          </a:r>
                          <a:endParaRPr lang="en-US" sz="2000" i="1" dirty="0">
                            <a:effectLst/>
                            <a:latin typeface="Verdana" charset="0"/>
                            <a:ea typeface="Verdana" charset="0"/>
                            <a:cs typeface="Verdana" charset="0"/>
                          </a:endParaRPr>
                        </a:p>
                        <a:p>
                          <a:pPr marL="923925" marR="0" lvl="0" indent="-454025">
                            <a:lnSpc>
                              <a:spcPct val="107000"/>
                            </a:lnSpc>
                            <a:spcBef>
                              <a:spcPts val="0"/>
                            </a:spcBef>
                            <a:spcAft>
                              <a:spcPts val="0"/>
                            </a:spcAft>
                            <a:buFont typeface="Wingdings" charset="2"/>
                            <a:buChar char=""/>
                            <a:tabLst/>
                          </a:pP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4</m:t>
                                  </m:r>
                                </m:den>
                              </m:f>
                            </m:oMath>
                          </a14:m>
                          <a:r>
                            <a:rPr lang="en-US" sz="2000" i="0" dirty="0">
                              <a:effectLst/>
                              <a:latin typeface="Verdana" charset="0"/>
                              <a:ea typeface="Verdana" charset="0"/>
                              <a:cs typeface="Verdana" charset="0"/>
                            </a:rPr>
                            <a:t> pint milk</a:t>
                          </a:r>
                          <a:endParaRPr lang="en-US" sz="2000" i="1" dirty="0">
                            <a:effectLst/>
                            <a:latin typeface="Verdana" charset="0"/>
                            <a:ea typeface="Verdana" charset="0"/>
                            <a:cs typeface="Verdana" charset="0"/>
                          </a:endParaRPr>
                        </a:p>
                        <a:p>
                          <a:pPr marL="923925" marR="0" lvl="0" indent="-454025">
                            <a:lnSpc>
                              <a:spcPct val="107000"/>
                            </a:lnSpc>
                            <a:spcBef>
                              <a:spcPts val="0"/>
                            </a:spcBef>
                            <a:spcAft>
                              <a:spcPts val="0"/>
                            </a:spcAft>
                            <a:buFont typeface="Wingdings" charset="2"/>
                            <a:buChar char=""/>
                            <a:tabLst/>
                          </a:pPr>
                          <a14:m>
                            <m:oMath xmlns:m="http://schemas.openxmlformats.org/officeDocument/2006/math">
                              <m:r>
                                <a:rPr lang="en-US" sz="2000" i="1">
                                  <a:effectLst/>
                                  <a:latin typeface="Cambria Math" panose="02040503050406030204" pitchFamily="18" charset="0"/>
                                  <a:ea typeface="Verdana" charset="0"/>
                                  <a:cs typeface="Verdana" charset="0"/>
                                </a:rPr>
                                <m:t>1</m:t>
                              </m:r>
                            </m:oMath>
                          </a14:m>
                          <a:r>
                            <a:rPr lang="en-US" sz="2000" i="0" dirty="0">
                              <a:effectLst/>
                              <a:latin typeface="Verdana" charset="0"/>
                              <a:ea typeface="Verdana" charset="0"/>
                              <a:cs typeface="Verdana" charset="0"/>
                            </a:rPr>
                            <a:t> pinch salt</a:t>
                          </a:r>
                          <a:endParaRPr lang="en-US" sz="2000" i="1" dirty="0">
                            <a:effectLst/>
                            <a:latin typeface="Verdana" charset="0"/>
                            <a:ea typeface="Verdana" charset="0"/>
                            <a:cs typeface="Verdana" charset="0"/>
                          </a:endParaRPr>
                        </a:p>
                        <a:p>
                          <a:pPr marL="923925" marR="0" lvl="0" indent="-454025">
                            <a:lnSpc>
                              <a:spcPct val="107000"/>
                            </a:lnSpc>
                            <a:spcBef>
                              <a:spcPts val="0"/>
                            </a:spcBef>
                            <a:spcAft>
                              <a:spcPts val="0"/>
                            </a:spcAft>
                            <a:buFont typeface="Wingdings" charset="2"/>
                            <a:buChar char=""/>
                            <a:tabLst/>
                          </a:pPr>
                          <a14:m>
                            <m:oMath xmlns:m="http://schemas.openxmlformats.org/officeDocument/2006/math">
                              <m:r>
                                <a:rPr lang="en-US" sz="2000" i="1">
                                  <a:effectLst/>
                                  <a:latin typeface="Cambria Math" panose="02040503050406030204" pitchFamily="18" charset="0"/>
                                  <a:ea typeface="Verdana" charset="0"/>
                                  <a:cs typeface="Verdana" charset="0"/>
                                </a:rPr>
                                <m:t>1</m:t>
                              </m:r>
                            </m:oMath>
                          </a14:m>
                          <a:r>
                            <a:rPr lang="en-US" sz="2000" i="0" dirty="0">
                              <a:effectLst/>
                              <a:latin typeface="Verdana" charset="0"/>
                              <a:ea typeface="Verdana" charset="0"/>
                              <a:cs typeface="Verdana" charset="0"/>
                            </a:rPr>
                            <a:t> egg</a:t>
                          </a:r>
                          <a:endParaRPr lang="en-US" sz="2000" i="1" dirty="0">
                            <a:effectLst/>
                            <a:latin typeface="Verdana" charset="0"/>
                            <a:ea typeface="Verdana" charset="0"/>
                            <a:cs typeface="Verdana" charset="0"/>
                          </a:endParaRPr>
                        </a:p>
                        <a:p>
                          <a:pPr marL="923925" marR="0" lvl="0" indent="-454025">
                            <a:lnSpc>
                              <a:spcPct val="107000"/>
                            </a:lnSpc>
                            <a:spcBef>
                              <a:spcPts val="0"/>
                            </a:spcBef>
                            <a:spcAft>
                              <a:spcPts val="0"/>
                            </a:spcAft>
                            <a:buFont typeface="Wingdings" charset="2"/>
                            <a:buChar char=""/>
                            <a:tabLst/>
                          </a:pP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3</m:t>
                                  </m:r>
                                </m:den>
                              </m:f>
                            </m:oMath>
                          </a14:m>
                          <a:r>
                            <a:rPr lang="en-US" sz="2000" i="0" dirty="0">
                              <a:effectLst/>
                              <a:latin typeface="Verdana" charset="0"/>
                              <a:ea typeface="Verdana" charset="0"/>
                              <a:cs typeface="Verdana" charset="0"/>
                            </a:rPr>
                            <a:t> pint water</a:t>
                          </a:r>
                          <a:endParaRPr lang="en-US" sz="2000" i="1" dirty="0">
                            <a:effectLst/>
                            <a:latin typeface="Verdana" charset="0"/>
                            <a:ea typeface="Verdana" charset="0"/>
                            <a:cs typeface="Verdana" charset="0"/>
                          </a:endParaRPr>
                        </a:p>
                        <a:p>
                          <a:pPr marL="0" marR="0">
                            <a:lnSpc>
                              <a:spcPct val="107000"/>
                            </a:lnSpc>
                            <a:spcBef>
                              <a:spcPts val="0"/>
                            </a:spcBef>
                            <a:spcAft>
                              <a:spcPts val="0"/>
                            </a:spcAft>
                          </a:pPr>
                          <a:r>
                            <a:rPr lang="en-US" sz="2000" i="0" dirty="0">
                              <a:effectLst/>
                              <a:latin typeface="Verdana" charset="0"/>
                              <a:ea typeface="Verdana" charset="0"/>
                              <a:cs typeface="Verdana" charset="0"/>
                            </a:rPr>
                            <a:t>You want to make 10 pancakes.</a:t>
                          </a:r>
                          <a:endParaRPr lang="en-US" sz="2000" i="1" dirty="0">
                            <a:effectLst/>
                            <a:latin typeface="Verdana" charset="0"/>
                            <a:ea typeface="Verdana" charset="0"/>
                            <a:cs typeface="Verdana" charset="0"/>
                          </a:endParaRPr>
                        </a:p>
                        <a:p>
                          <a:pPr marL="923925" marR="0" lvl="0" indent="-454025">
                            <a:lnSpc>
                              <a:spcPct val="107000"/>
                            </a:lnSpc>
                            <a:spcBef>
                              <a:spcPts val="0"/>
                            </a:spcBef>
                            <a:spcAft>
                              <a:spcPts val="0"/>
                            </a:spcAft>
                            <a:buFont typeface="+mj-lt"/>
                            <a:buAutoNum type="alphaLcPeriod"/>
                            <a:tabLst/>
                          </a:pPr>
                          <a:r>
                            <a:rPr lang="en-US" sz="2000" i="0" dirty="0">
                              <a:effectLst/>
                              <a:latin typeface="Verdana" charset="0"/>
                              <a:ea typeface="Verdana" charset="0"/>
                              <a:cs typeface="Verdana" charset="0"/>
                            </a:rPr>
                            <a:t>How much flour do you need?</a:t>
                          </a:r>
                        </a:p>
                        <a:p>
                          <a:pPr marL="923925" marR="0" lvl="0" indent="-454025">
                            <a:lnSpc>
                              <a:spcPct val="107000"/>
                            </a:lnSpc>
                            <a:spcBef>
                              <a:spcPts val="0"/>
                            </a:spcBef>
                            <a:spcAft>
                              <a:spcPts val="0"/>
                            </a:spcAft>
                            <a:buFont typeface="+mj-lt"/>
                            <a:buAutoNum type="alphaLcPeriod"/>
                            <a:tabLst/>
                          </a:pPr>
                          <a:endParaRPr lang="en-US" sz="2000" i="1" dirty="0">
                            <a:effectLst/>
                            <a:latin typeface="Verdana" charset="0"/>
                            <a:ea typeface="Verdana" charset="0"/>
                            <a:cs typeface="Verdana" charset="0"/>
                          </a:endParaRPr>
                        </a:p>
                        <a:p>
                          <a:pPr marL="923925" marR="0" lvl="0" indent="-454025">
                            <a:lnSpc>
                              <a:spcPct val="107000"/>
                            </a:lnSpc>
                            <a:spcBef>
                              <a:spcPts val="0"/>
                            </a:spcBef>
                            <a:spcAft>
                              <a:spcPts val="0"/>
                            </a:spcAft>
                            <a:buFont typeface="+mj-lt"/>
                            <a:buAutoNum type="alphaLcPeriod"/>
                            <a:tabLst/>
                          </a:pPr>
                          <a:r>
                            <a:rPr lang="en-US" sz="2000" i="0" dirty="0">
                              <a:effectLst/>
                              <a:latin typeface="Verdana" charset="0"/>
                              <a:ea typeface="Verdana" charset="0"/>
                              <a:cs typeface="Verdana" charset="0"/>
                            </a:rPr>
                            <a:t>How much milk do you need?</a:t>
                          </a:r>
                          <a:endParaRPr lang="en-US" sz="2000" i="1" dirty="0">
                            <a:effectLst/>
                            <a:latin typeface="Verdana" charset="0"/>
                            <a:ea typeface="Verdana" charset="0"/>
                            <a:cs typeface="Verdana" charset="0"/>
                          </a:endParaRPr>
                        </a:p>
                      </a:txBody>
                      <a:tcPr marL="37844" marR="378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588258174"/>
                  </p:ext>
                </p:extLst>
              </p:nvPr>
            </p:nvGraphicFramePr>
            <p:xfrm>
              <a:off x="540011" y="434176"/>
              <a:ext cx="8162555" cy="4531962"/>
            </p:xfrm>
            <a:graphic>
              <a:graphicData uri="http://schemas.openxmlformats.org/drawingml/2006/table">
                <a:tbl>
                  <a:tblPr firstRow="1" firstCol="1" bandRow="1"/>
                  <a:tblGrid>
                    <a:gridCol w="1933675"/>
                    <a:gridCol w="6228880"/>
                  </a:tblGrid>
                  <a:tr h="354177">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a:t>
                          </a:r>
                          <a:endParaRPr lang="en-US" sz="2000" i="1">
                            <a:effectLst/>
                            <a:latin typeface="Verdana" charset="0"/>
                            <a:ea typeface="Verdana" charset="0"/>
                            <a:cs typeface="Verdana" charset="0"/>
                          </a:endParaRPr>
                        </a:p>
                      </a:txBody>
                      <a:tcPr marL="37844" marR="378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Kayla</a:t>
                          </a:r>
                          <a:endParaRPr lang="en-US" sz="2000" i="1">
                            <a:effectLst/>
                            <a:latin typeface="Verdana" charset="0"/>
                            <a:ea typeface="Verdana" charset="0"/>
                            <a:cs typeface="Verdana" charset="0"/>
                          </a:endParaRPr>
                        </a:p>
                      </a:txBody>
                      <a:tcPr marL="37844" marR="378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177785">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Problem</a:t>
                          </a:r>
                          <a:endParaRPr lang="en-US" sz="2000" i="1">
                            <a:effectLst/>
                            <a:latin typeface="Verdana" charset="0"/>
                            <a:ea typeface="Verdana" charset="0"/>
                            <a:cs typeface="Verdana" charset="0"/>
                          </a:endParaRPr>
                        </a:p>
                      </a:txBody>
                      <a:tcPr marL="37844" marR="378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37844" marR="378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31085" t="-9767" r="-196" b="-292"/>
                          </a:stretch>
                        </a:blipFill>
                      </a:tcPr>
                    </a:tc>
                  </a:tr>
                </a:tbl>
              </a:graphicData>
            </a:graphic>
          </p:graphicFrame>
        </mc:Fallback>
      </mc:AlternateContent>
      <p:sp>
        <p:nvSpPr>
          <p:cNvPr id="6"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221</a:t>
            </a:r>
            <a:endParaRPr i="1" dirty="0">
              <a:latin typeface="Calibri"/>
              <a:ea typeface="Calibri"/>
              <a:cs typeface="Calibri"/>
              <a:sym typeface="Calibri"/>
            </a:endParaRPr>
          </a:p>
        </p:txBody>
      </p:sp>
      <p:pic>
        <p:nvPicPr>
          <p:cNvPr id="7"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48645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1403779071"/>
              </p:ext>
            </p:extLst>
          </p:nvPr>
        </p:nvGraphicFramePr>
        <p:xfrm>
          <a:off x="2064012" y="434176"/>
          <a:ext cx="8162555" cy="5189284"/>
        </p:xfrm>
        <a:graphic>
          <a:graphicData uri="http://schemas.openxmlformats.org/drawingml/2006/table">
            <a:tbl>
              <a:tblPr firstRow="1" firstCol="1" bandRow="1"/>
              <a:tblGrid>
                <a:gridCol w="1933675">
                  <a:extLst>
                    <a:ext uri="{9D8B030D-6E8A-4147-A177-3AD203B41FA5}">
                      <a16:colId xmlns:a16="http://schemas.microsoft.com/office/drawing/2014/main" val="20000"/>
                    </a:ext>
                  </a:extLst>
                </a:gridCol>
                <a:gridCol w="6228880">
                  <a:extLst>
                    <a:ext uri="{9D8B030D-6E8A-4147-A177-3AD203B41FA5}">
                      <a16:colId xmlns:a16="http://schemas.microsoft.com/office/drawing/2014/main" val="20001"/>
                    </a:ext>
                  </a:extLst>
                </a:gridCol>
              </a:tblGrid>
              <a:tr h="2245049">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Student’s Work</a:t>
                      </a:r>
                      <a:endParaRPr lang="en-US" sz="2000" i="1" dirty="0">
                        <a:effectLst/>
                        <a:latin typeface="Verdana" charset="0"/>
                        <a:ea typeface="Verdana" charset="0"/>
                        <a:cs typeface="Verdana" charset="0"/>
                      </a:endParaRPr>
                    </a:p>
                  </a:txBody>
                  <a:tcPr marL="37844" marR="3784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685800" marR="0">
                        <a:lnSpc>
                          <a:spcPct val="107000"/>
                        </a:lnSpc>
                        <a:spcBef>
                          <a:spcPts val="0"/>
                        </a:spcBef>
                        <a:spcAft>
                          <a:spcPts val="0"/>
                        </a:spcAft>
                      </a:pPr>
                      <a:r>
                        <a:rPr lang="en-US" sz="2000" i="0" dirty="0">
                          <a:effectLst/>
                          <a:latin typeface="Verdana" charset="0"/>
                          <a:ea typeface="Verdana" charset="0"/>
                          <a:cs typeface="Verdana" charset="0"/>
                        </a:rPr>
                        <a:t> </a:t>
                      </a:r>
                      <a:endParaRPr lang="en-US" sz="2000" i="1" dirty="0">
                        <a:effectLst/>
                        <a:latin typeface="Verdana" charset="0"/>
                        <a:ea typeface="Verdana" charset="0"/>
                        <a:cs typeface="Verdana" charset="0"/>
                      </a:endParaRPr>
                    </a:p>
                    <a:p>
                      <a:pPr marL="641350" marR="0" lvl="0" indent="-454025">
                        <a:lnSpc>
                          <a:spcPct val="107000"/>
                        </a:lnSpc>
                        <a:spcBef>
                          <a:spcPts val="0"/>
                        </a:spcBef>
                        <a:spcAft>
                          <a:spcPts val="0"/>
                        </a:spcAft>
                        <a:buFont typeface="+mj-lt"/>
                        <a:buAutoNum type="alphaLcPeriod"/>
                        <a:tabLst/>
                      </a:pPr>
                      <a:r>
                        <a:rPr lang="en-US" sz="2000" i="0" dirty="0">
                          <a:effectLst/>
                          <a:latin typeface="Verdana" charset="0"/>
                          <a:ea typeface="Verdana" charset="0"/>
                          <a:cs typeface="Verdana" charset="0"/>
                        </a:rPr>
                        <a:t>How much flour do you need?</a:t>
                      </a:r>
                    </a:p>
                    <a:p>
                      <a:pPr marL="641350" marR="0" lvl="0" indent="-454025">
                        <a:lnSpc>
                          <a:spcPct val="107000"/>
                        </a:lnSpc>
                        <a:spcBef>
                          <a:spcPts val="0"/>
                        </a:spcBef>
                        <a:spcAft>
                          <a:spcPts val="0"/>
                        </a:spcAft>
                        <a:buFont typeface="+mj-lt"/>
                        <a:buAutoNum type="alphaLcPeriod"/>
                        <a:tabLst/>
                      </a:pPr>
                      <a:endParaRPr lang="en-US" sz="2000" i="0" dirty="0">
                        <a:effectLst/>
                        <a:latin typeface="Verdana" charset="0"/>
                        <a:ea typeface="Verdana" charset="0"/>
                        <a:cs typeface="Verdana" charset="0"/>
                      </a:endParaRPr>
                    </a:p>
                    <a:p>
                      <a:pPr marL="641350" marR="0" lvl="0" indent="-454025">
                        <a:lnSpc>
                          <a:spcPct val="107000"/>
                        </a:lnSpc>
                        <a:spcBef>
                          <a:spcPts val="0"/>
                        </a:spcBef>
                        <a:spcAft>
                          <a:spcPts val="0"/>
                        </a:spcAft>
                        <a:buFont typeface="+mj-lt"/>
                        <a:buAutoNum type="alphaLcPeriod"/>
                        <a:tabLst/>
                      </a:pPr>
                      <a:endParaRPr lang="en-US" sz="2000" i="0" dirty="0">
                        <a:effectLst/>
                        <a:latin typeface="Verdana" charset="0"/>
                        <a:ea typeface="Verdana" charset="0"/>
                        <a:cs typeface="Verdana" charset="0"/>
                      </a:endParaRPr>
                    </a:p>
                    <a:p>
                      <a:pPr marL="641350" marR="0" lvl="0" indent="-454025">
                        <a:lnSpc>
                          <a:spcPct val="107000"/>
                        </a:lnSpc>
                        <a:spcBef>
                          <a:spcPts val="0"/>
                        </a:spcBef>
                        <a:spcAft>
                          <a:spcPts val="0"/>
                        </a:spcAft>
                        <a:buFont typeface="+mj-lt"/>
                        <a:buAutoNum type="alphaLcPeriod"/>
                        <a:tabLst/>
                      </a:pPr>
                      <a:endParaRPr lang="en-US" sz="2000" i="0" dirty="0">
                        <a:effectLst/>
                        <a:latin typeface="Verdana" charset="0"/>
                        <a:ea typeface="Verdana" charset="0"/>
                        <a:cs typeface="Verdana" charset="0"/>
                      </a:endParaRPr>
                    </a:p>
                    <a:p>
                      <a:pPr marL="641350" marR="0" lvl="0" indent="-454025">
                        <a:lnSpc>
                          <a:spcPct val="107000"/>
                        </a:lnSpc>
                        <a:spcBef>
                          <a:spcPts val="0"/>
                        </a:spcBef>
                        <a:spcAft>
                          <a:spcPts val="0"/>
                        </a:spcAft>
                        <a:buFont typeface="+mj-lt"/>
                        <a:buAutoNum type="alphaLcPeriod"/>
                        <a:tabLst/>
                      </a:pPr>
                      <a:endParaRPr lang="en-US" sz="2000" i="1" dirty="0">
                        <a:effectLst/>
                        <a:latin typeface="Verdana" charset="0"/>
                        <a:ea typeface="Verdana" charset="0"/>
                        <a:cs typeface="Verdana" charset="0"/>
                      </a:endParaRPr>
                    </a:p>
                    <a:p>
                      <a:pPr marL="641350" marR="0" indent="-454025">
                        <a:lnSpc>
                          <a:spcPct val="107000"/>
                        </a:lnSpc>
                        <a:spcBef>
                          <a:spcPts val="0"/>
                        </a:spcBef>
                        <a:spcAft>
                          <a:spcPts val="0"/>
                        </a:spcAft>
                        <a:tabLst/>
                      </a:pPr>
                      <a:r>
                        <a:rPr lang="en-US" sz="2000" i="0" dirty="0">
                          <a:effectLst/>
                          <a:latin typeface="Verdana" charset="0"/>
                          <a:ea typeface="Verdana" charset="0"/>
                          <a:cs typeface="Verdana" charset="0"/>
                        </a:rPr>
                        <a:t> </a:t>
                      </a:r>
                    </a:p>
                    <a:p>
                      <a:pPr marL="641350" marR="0" indent="-454025">
                        <a:lnSpc>
                          <a:spcPct val="107000"/>
                        </a:lnSpc>
                        <a:spcBef>
                          <a:spcPts val="0"/>
                        </a:spcBef>
                        <a:spcAft>
                          <a:spcPts val="0"/>
                        </a:spcAft>
                        <a:tabLst/>
                      </a:pPr>
                      <a:endParaRPr lang="en-US" sz="2000" i="0" dirty="0">
                        <a:effectLst/>
                        <a:latin typeface="Verdana" charset="0"/>
                        <a:ea typeface="Verdana" charset="0"/>
                        <a:cs typeface="Verdana" charset="0"/>
                      </a:endParaRPr>
                    </a:p>
                    <a:p>
                      <a:pPr marL="641350" marR="0" indent="-454025">
                        <a:lnSpc>
                          <a:spcPct val="107000"/>
                        </a:lnSpc>
                        <a:spcBef>
                          <a:spcPts val="0"/>
                        </a:spcBef>
                        <a:spcAft>
                          <a:spcPts val="0"/>
                        </a:spcAft>
                        <a:tabLst/>
                      </a:pPr>
                      <a:endParaRPr lang="en-US" sz="2000" i="0" dirty="0">
                        <a:effectLst/>
                        <a:latin typeface="Verdana" charset="0"/>
                        <a:ea typeface="Verdana" charset="0"/>
                        <a:cs typeface="Verdana" charset="0"/>
                      </a:endParaRPr>
                    </a:p>
                    <a:p>
                      <a:pPr marL="641350" marR="0" indent="-454025">
                        <a:lnSpc>
                          <a:spcPct val="107000"/>
                        </a:lnSpc>
                        <a:spcBef>
                          <a:spcPts val="0"/>
                        </a:spcBef>
                        <a:spcAft>
                          <a:spcPts val="0"/>
                        </a:spcAft>
                        <a:tabLst/>
                      </a:pPr>
                      <a:endParaRPr lang="en-US" sz="2000" i="0" dirty="0">
                        <a:effectLst/>
                        <a:latin typeface="Verdana" charset="0"/>
                        <a:ea typeface="Verdana" charset="0"/>
                        <a:cs typeface="Verdana" charset="0"/>
                      </a:endParaRPr>
                    </a:p>
                    <a:p>
                      <a:pPr marL="641350" marR="0" indent="-454025">
                        <a:lnSpc>
                          <a:spcPct val="107000"/>
                        </a:lnSpc>
                        <a:spcBef>
                          <a:spcPts val="0"/>
                        </a:spcBef>
                        <a:spcAft>
                          <a:spcPts val="0"/>
                        </a:spcAft>
                        <a:tabLst/>
                      </a:pPr>
                      <a:endParaRPr lang="en-US" sz="2000" i="1" dirty="0">
                        <a:effectLst/>
                        <a:latin typeface="Verdana" charset="0"/>
                        <a:ea typeface="Verdana" charset="0"/>
                        <a:cs typeface="Verdana" charset="0"/>
                      </a:endParaRPr>
                    </a:p>
                    <a:p>
                      <a:pPr marL="641350" marR="0" lvl="0" indent="-454025">
                        <a:lnSpc>
                          <a:spcPct val="107000"/>
                        </a:lnSpc>
                        <a:spcBef>
                          <a:spcPts val="0"/>
                        </a:spcBef>
                        <a:spcAft>
                          <a:spcPts val="0"/>
                        </a:spcAft>
                        <a:buFont typeface="+mj-lt"/>
                        <a:buAutoNum type="alphaLcPeriod" startAt="2"/>
                        <a:tabLst/>
                      </a:pPr>
                      <a:r>
                        <a:rPr lang="en-US" sz="2000" i="0" dirty="0">
                          <a:effectLst/>
                          <a:latin typeface="Verdana" charset="0"/>
                          <a:ea typeface="Verdana" charset="0"/>
                          <a:cs typeface="Verdana" charset="0"/>
                        </a:rPr>
                        <a:t>How much milk do you need?</a:t>
                      </a:r>
                    </a:p>
                    <a:p>
                      <a:pPr marL="342900" marR="0" lvl="0" indent="-342900">
                        <a:lnSpc>
                          <a:spcPct val="107000"/>
                        </a:lnSpc>
                        <a:spcBef>
                          <a:spcPts val="0"/>
                        </a:spcBef>
                        <a:spcAft>
                          <a:spcPts val="0"/>
                        </a:spcAft>
                        <a:buFont typeface="+mj-lt"/>
                        <a:buAutoNum type="alphaLcPeriod" startAt="2"/>
                      </a:pPr>
                      <a:endParaRPr lang="en-US" sz="2000" i="0" dirty="0">
                        <a:effectLst/>
                        <a:latin typeface="Verdana" charset="0"/>
                        <a:ea typeface="Verdana" charset="0"/>
                        <a:cs typeface="Verdana" charset="0"/>
                      </a:endParaRPr>
                    </a:p>
                    <a:p>
                      <a:pPr marL="342900" marR="0" lvl="0" indent="-342900">
                        <a:lnSpc>
                          <a:spcPct val="107000"/>
                        </a:lnSpc>
                        <a:spcBef>
                          <a:spcPts val="0"/>
                        </a:spcBef>
                        <a:spcAft>
                          <a:spcPts val="0"/>
                        </a:spcAft>
                        <a:buFont typeface="+mj-lt"/>
                        <a:buAutoNum type="alphaLcPeriod" startAt="2"/>
                      </a:pPr>
                      <a:endParaRPr lang="en-US" sz="2000" i="0" dirty="0">
                        <a:effectLst/>
                        <a:latin typeface="Verdana" charset="0"/>
                        <a:ea typeface="Verdana" charset="0"/>
                        <a:cs typeface="Verdana" charset="0"/>
                      </a:endParaRPr>
                    </a:p>
                    <a:p>
                      <a:pPr marL="342900" marR="0" lvl="0" indent="-342900">
                        <a:lnSpc>
                          <a:spcPct val="107000"/>
                        </a:lnSpc>
                        <a:spcBef>
                          <a:spcPts val="0"/>
                        </a:spcBef>
                        <a:spcAft>
                          <a:spcPts val="0"/>
                        </a:spcAft>
                        <a:buFont typeface="+mj-lt"/>
                        <a:buAutoNum type="alphaLcPeriod" startAt="2"/>
                      </a:pPr>
                      <a:endParaRPr lang="en-US" sz="2000" i="0" dirty="0">
                        <a:effectLst/>
                        <a:latin typeface="Verdana" charset="0"/>
                        <a:ea typeface="Verdana" charset="0"/>
                        <a:cs typeface="Verdana" charset="0"/>
                      </a:endParaRPr>
                    </a:p>
                    <a:p>
                      <a:pPr marL="342900" marR="0" lvl="0" indent="-342900">
                        <a:lnSpc>
                          <a:spcPct val="107000"/>
                        </a:lnSpc>
                        <a:spcBef>
                          <a:spcPts val="0"/>
                        </a:spcBef>
                        <a:spcAft>
                          <a:spcPts val="0"/>
                        </a:spcAft>
                        <a:buFont typeface="+mj-lt"/>
                        <a:buAutoNum type="alphaLcPeriod" startAt="2"/>
                      </a:pPr>
                      <a:endParaRPr lang="en-US" sz="2000" i="1" dirty="0">
                        <a:effectLst/>
                        <a:latin typeface="Verdana" charset="0"/>
                        <a:ea typeface="Verdana" charset="0"/>
                        <a:cs typeface="Verdana" charset="0"/>
                      </a:endParaRPr>
                    </a:p>
                  </a:txBody>
                  <a:tcPr marL="37844" marR="3784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pic>
        <p:nvPicPr>
          <p:cNvPr id="5122" name="Picture 15" descr="Text, letter&#10;&#10;Description automatically generated"/>
          <p:cNvPicPr>
            <a:picLocks noChangeAspect="1" noChangeArrowheads="1"/>
          </p:cNvPicPr>
          <p:nvPr/>
        </p:nvPicPr>
        <p:blipFill>
          <a:blip r:embed="rId3" cstate="screen">
            <a:extLst>
              <a:ext uri="{28A0092B-C50C-407E-A947-70E740481C1C}">
                <a14:useLocalDpi xmlns:a14="http://schemas.microsoft.com/office/drawing/2010/main"/>
              </a:ext>
            </a:extLst>
          </a:blip>
          <a:srcRect l="4770" t="5145" r="24507" b="34924"/>
          <a:stretch>
            <a:fillRect/>
          </a:stretch>
        </p:blipFill>
        <p:spPr bwMode="auto">
          <a:xfrm>
            <a:off x="4631338" y="1392488"/>
            <a:ext cx="4914900" cy="22606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4" descr="Text, letter&#10;&#10;Description automatically generated"/>
          <p:cNvPicPr>
            <a:picLocks noChangeAspect="1" noChangeArrowheads="1"/>
          </p:cNvPicPr>
          <p:nvPr/>
        </p:nvPicPr>
        <p:blipFill>
          <a:blip r:embed="rId4" cstate="screen">
            <a:extLst>
              <a:ext uri="{28A0092B-C50C-407E-A947-70E740481C1C}">
                <a14:useLocalDpi xmlns:a14="http://schemas.microsoft.com/office/drawing/2010/main"/>
              </a:ext>
            </a:extLst>
          </a:blip>
          <a:srcRect l="6578" t="66667" r="1028" b="12527"/>
          <a:stretch>
            <a:fillRect/>
          </a:stretch>
        </p:blipFill>
        <p:spPr bwMode="auto">
          <a:xfrm>
            <a:off x="4523388" y="4611399"/>
            <a:ext cx="5130800" cy="622300"/>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221</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25914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778472589"/>
              </p:ext>
            </p:extLst>
          </p:nvPr>
        </p:nvGraphicFramePr>
        <p:xfrm>
          <a:off x="2341638" y="550135"/>
          <a:ext cx="7607113" cy="2564321"/>
        </p:xfrm>
        <a:graphic>
          <a:graphicData uri="http://schemas.openxmlformats.org/drawingml/2006/table">
            <a:tbl>
              <a:tblPr firstRow="1" firstCol="1" bandRow="1"/>
              <a:tblGrid>
                <a:gridCol w="2411152">
                  <a:extLst>
                    <a:ext uri="{9D8B030D-6E8A-4147-A177-3AD203B41FA5}">
                      <a16:colId xmlns:a16="http://schemas.microsoft.com/office/drawing/2014/main" val="20000"/>
                    </a:ext>
                  </a:extLst>
                </a:gridCol>
                <a:gridCol w="2664957">
                  <a:extLst>
                    <a:ext uri="{9D8B030D-6E8A-4147-A177-3AD203B41FA5}">
                      <a16:colId xmlns:a16="http://schemas.microsoft.com/office/drawing/2014/main" val="20001"/>
                    </a:ext>
                  </a:extLst>
                </a:gridCol>
                <a:gridCol w="2531004">
                  <a:extLst>
                    <a:ext uri="{9D8B030D-6E8A-4147-A177-3AD203B41FA5}">
                      <a16:colId xmlns:a16="http://schemas.microsoft.com/office/drawing/2014/main" val="20002"/>
                    </a:ext>
                  </a:extLst>
                </a:gridCol>
              </a:tblGrid>
              <a:tr h="0">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What did Kayla do correctly? </a:t>
                      </a:r>
                      <a:endParaRPr lang="en-US" sz="1800" i="1">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What error(s) did Kayla make?</a:t>
                      </a:r>
                      <a:endParaRPr lang="en-US" sz="1800" i="1" dirty="0">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Find the correct answers.</a:t>
                      </a:r>
                      <a:endParaRPr lang="en-US" sz="1800" i="1">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936750">
                <a:tc>
                  <a:txBody>
                    <a:bodyPr/>
                    <a:lstStyle/>
                    <a:p>
                      <a:pPr marL="0" marR="0">
                        <a:lnSpc>
                          <a:spcPct val="107000"/>
                        </a:lnSpc>
                        <a:spcBef>
                          <a:spcPts val="0"/>
                        </a:spcBef>
                        <a:spcAft>
                          <a:spcPts val="0"/>
                        </a:spcAft>
                      </a:pPr>
                      <a:r>
                        <a:rPr lang="en-US" sz="2000" i="0">
                          <a:effectLst/>
                          <a:latin typeface="Verdana" charset="0"/>
                          <a:ea typeface="Verdana" charset="0"/>
                          <a:cs typeface="Verdana" charset="0"/>
                        </a:rPr>
                        <a:t> </a:t>
                      </a:r>
                      <a:endParaRPr lang="en-US" sz="1800" i="1">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a:effectLst/>
                          <a:latin typeface="Verdana" charset="0"/>
                          <a:ea typeface="Verdana" charset="0"/>
                          <a:cs typeface="Verdana" charset="0"/>
                        </a:rPr>
                        <a:t> </a:t>
                      </a:r>
                      <a:endParaRPr lang="en-US" sz="1800" i="1">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 </a:t>
                      </a:r>
                      <a:endParaRPr lang="en-US" sz="1800" i="1" dirty="0">
                        <a:effectLst/>
                        <a:latin typeface="Cambria Math" charset="0"/>
                        <a:ea typeface="Cambria Math" charset="0"/>
                        <a:cs typeface="Cambria Math"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221</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68784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560516322"/>
                  </p:ext>
                </p:extLst>
              </p:nvPr>
            </p:nvGraphicFramePr>
            <p:xfrm>
              <a:off x="2170804" y="395635"/>
              <a:ext cx="7777947" cy="6062040"/>
            </p:xfrm>
            <a:graphic>
              <a:graphicData uri="http://schemas.openxmlformats.org/drawingml/2006/table">
                <a:tbl>
                  <a:tblPr firstRow="1" firstCol="1" bandRow="1"/>
                  <a:tblGrid>
                    <a:gridCol w="1978639">
                      <a:extLst>
                        <a:ext uri="{9D8B030D-6E8A-4147-A177-3AD203B41FA5}">
                          <a16:colId xmlns:a16="http://schemas.microsoft.com/office/drawing/2014/main" val="20000"/>
                        </a:ext>
                      </a:extLst>
                    </a:gridCol>
                    <a:gridCol w="5799308">
                      <a:extLst>
                        <a:ext uri="{9D8B030D-6E8A-4147-A177-3AD203B41FA5}">
                          <a16:colId xmlns:a16="http://schemas.microsoft.com/office/drawing/2014/main" val="20001"/>
                        </a:ext>
                      </a:extLst>
                    </a:gridCol>
                  </a:tblGrid>
                  <a:tr h="455318">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a:t>
                          </a:r>
                          <a:endParaRPr lang="en-US" sz="2000" i="1">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Isaac</a:t>
                          </a:r>
                          <a:endParaRPr lang="en-US" sz="2000" i="1">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01405">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Problem</a:t>
                          </a:r>
                          <a:endParaRPr lang="en-US" sz="2000" i="1">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A drawing of a surfboard in a catalog shows its length as </a:t>
                          </a:r>
                          <a14:m>
                            <m:oMath xmlns:m="http://schemas.openxmlformats.org/officeDocument/2006/math">
                              <m:r>
                                <a:rPr lang="en-US" sz="2000" i="1">
                                  <a:effectLst/>
                                  <a:latin typeface="Cambria Math" panose="02040503050406030204" pitchFamily="18" charset="0"/>
                                  <a:ea typeface="Verdana" charset="0"/>
                                  <a:cs typeface="Verdana" charset="0"/>
                                </a:rPr>
                                <m:t>8</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4</m:t>
                                  </m:r>
                                </m:num>
                                <m:den>
                                  <m:r>
                                    <a:rPr lang="en-US" sz="2000" i="1">
                                      <a:effectLst/>
                                      <a:latin typeface="Cambria Math" panose="02040503050406030204" pitchFamily="18" charset="0"/>
                                      <a:ea typeface="Verdana" charset="0"/>
                                      <a:cs typeface="Verdana" charset="0"/>
                                    </a:rPr>
                                    <m:t>9</m:t>
                                  </m:r>
                                </m:den>
                              </m:f>
                            </m:oMath>
                          </a14:m>
                          <a:r>
                            <a:rPr lang="en-US" sz="2000" i="0" dirty="0">
                              <a:effectLst/>
                              <a:latin typeface="Verdana" charset="0"/>
                              <a:ea typeface="Verdana" charset="0"/>
                              <a:cs typeface="Verdana" charset="0"/>
                            </a:rPr>
                            <a:t> inches (in.). Find the actual length of the surfboard if </a:t>
                          </a: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1</m:t>
                                  </m:r>
                                </m:num>
                                <m:den>
                                  <m:r>
                                    <a:rPr lang="en-US" sz="2000" i="1">
                                      <a:effectLst/>
                                      <a:latin typeface="Cambria Math" panose="02040503050406030204" pitchFamily="18" charset="0"/>
                                      <a:ea typeface="Verdana" charset="0"/>
                                      <a:cs typeface="Verdana" charset="0"/>
                                    </a:rPr>
                                    <m:t>2</m:t>
                                  </m:r>
                                </m:den>
                              </m:f>
                            </m:oMath>
                          </a14:m>
                          <a:r>
                            <a:rPr lang="en-US" sz="2000" i="0" dirty="0">
                              <a:effectLst/>
                              <a:latin typeface="Verdana" charset="0"/>
                              <a:ea typeface="Verdana" charset="0"/>
                              <a:cs typeface="Verdana" charset="0"/>
                            </a:rPr>
                            <a:t> in. length on the drawing corresponds to </a:t>
                          </a:r>
                          <a14:m>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panose="02040503050406030204" pitchFamily="18" charset="0"/>
                                      <a:ea typeface="Verdana" charset="0"/>
                                      <a:cs typeface="Verdana" charset="0"/>
                                    </a:rPr>
                                    <m:t>3</m:t>
                                  </m:r>
                                </m:num>
                                <m:den>
                                  <m:r>
                                    <a:rPr lang="en-US" sz="2000" i="1">
                                      <a:effectLst/>
                                      <a:latin typeface="Cambria Math" panose="02040503050406030204" pitchFamily="18" charset="0"/>
                                      <a:ea typeface="Verdana" charset="0"/>
                                      <a:cs typeface="Verdana" charset="0"/>
                                    </a:rPr>
                                    <m:t>8</m:t>
                                  </m:r>
                                </m:den>
                              </m:f>
                            </m:oMath>
                          </a14:m>
                          <a:r>
                            <a:rPr lang="en-US" sz="2000" i="0" dirty="0">
                              <a:effectLst/>
                              <a:latin typeface="Verdana" charset="0"/>
                              <a:ea typeface="Verdana" charset="0"/>
                              <a:cs typeface="Verdana" charset="0"/>
                            </a:rPr>
                            <a:t> foot of actual length.</a:t>
                          </a:r>
                          <a:endParaRPr lang="en-US" sz="2000" i="1" dirty="0">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505317">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Student’s Work</a:t>
                          </a:r>
                          <a:endParaRPr lang="en-US" sz="2000" i="1">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endParaRPr lang="en-US" sz="2000" i="0" dirty="0">
                            <a:effectLst/>
                            <a:latin typeface="Verdana" charset="0"/>
                            <a:ea typeface="Verdana" charset="0"/>
                            <a:cs typeface="Verdana" charset="0"/>
                          </a:endParaRPr>
                        </a:p>
                        <a:p>
                          <a:pPr marL="0" marR="0" algn="ctr">
                            <a:lnSpc>
                              <a:spcPct val="107000"/>
                            </a:lnSpc>
                            <a:spcBef>
                              <a:spcPts val="0"/>
                            </a:spcBef>
                            <a:spcAft>
                              <a:spcPts val="0"/>
                            </a:spcAft>
                          </a:pPr>
                          <a:endParaRPr lang="en-US" sz="2000" i="0" dirty="0">
                            <a:effectLst/>
                            <a:latin typeface="Verdana" charset="0"/>
                            <a:ea typeface="Verdana" charset="0"/>
                            <a:cs typeface="Verdana" charset="0"/>
                          </a:endParaRPr>
                        </a:p>
                        <a:p>
                          <a:pPr marL="0" marR="0" algn="ctr">
                            <a:lnSpc>
                              <a:spcPct val="107000"/>
                            </a:lnSpc>
                            <a:spcBef>
                              <a:spcPts val="0"/>
                            </a:spcBef>
                            <a:spcAft>
                              <a:spcPts val="0"/>
                            </a:spcAft>
                          </a:pPr>
                          <a:endParaRPr lang="en-US" sz="2000" i="0" dirty="0">
                            <a:effectLst/>
                            <a:latin typeface="Verdana" charset="0"/>
                            <a:ea typeface="Verdana" charset="0"/>
                            <a:cs typeface="Verdana" charset="0"/>
                          </a:endParaRPr>
                        </a:p>
                        <a:p>
                          <a:pPr marL="0" marR="0" algn="ctr">
                            <a:lnSpc>
                              <a:spcPct val="107000"/>
                            </a:lnSpc>
                            <a:spcBef>
                              <a:spcPts val="0"/>
                            </a:spcBef>
                            <a:spcAft>
                              <a:spcPts val="0"/>
                            </a:spcAft>
                          </a:pPr>
                          <a:endParaRPr lang="en-US" sz="2000" i="0" dirty="0">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560516322"/>
                  </p:ext>
                </p:extLst>
              </p:nvPr>
            </p:nvGraphicFramePr>
            <p:xfrm>
              <a:off x="646803" y="395635"/>
              <a:ext cx="7777947" cy="6062040"/>
            </p:xfrm>
            <a:graphic>
              <a:graphicData uri="http://schemas.openxmlformats.org/drawingml/2006/table">
                <a:tbl>
                  <a:tblPr firstRow="1" firstCol="1" bandRow="1"/>
                  <a:tblGrid>
                    <a:gridCol w="1978639"/>
                    <a:gridCol w="5799308"/>
                  </a:tblGrid>
                  <a:tr h="455318">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a:t>
                          </a:r>
                          <a:endParaRPr lang="en-US" sz="2000" i="1">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Isaac</a:t>
                          </a:r>
                          <a:endParaRPr lang="en-US" sz="2000" i="1">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01405">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Problem</a:t>
                          </a:r>
                          <a:endParaRPr lang="en-US" sz="2000" i="1">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34244" t="-22029" r="-210" b="-167536"/>
                          </a:stretch>
                        </a:blipFill>
                      </a:tcPr>
                    </a:tc>
                  </a:tr>
                  <a:tr h="3505317">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Student’s Work</a:t>
                          </a:r>
                          <a:endParaRPr lang="en-US" sz="2000" i="1">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endParaRPr lang="en-US" sz="2000" i="0" dirty="0" smtClean="0">
                            <a:effectLst/>
                            <a:latin typeface="Verdana" charset="0"/>
                            <a:ea typeface="Verdana" charset="0"/>
                            <a:cs typeface="Verdana" charset="0"/>
                          </a:endParaRPr>
                        </a:p>
                        <a:p>
                          <a:pPr marL="0" marR="0" algn="ctr">
                            <a:lnSpc>
                              <a:spcPct val="107000"/>
                            </a:lnSpc>
                            <a:spcBef>
                              <a:spcPts val="0"/>
                            </a:spcBef>
                            <a:spcAft>
                              <a:spcPts val="0"/>
                            </a:spcAft>
                          </a:pPr>
                          <a:endParaRPr lang="en-US" sz="2000" i="0" dirty="0" smtClean="0">
                            <a:effectLst/>
                            <a:latin typeface="Verdana" charset="0"/>
                            <a:ea typeface="Verdana" charset="0"/>
                            <a:cs typeface="Verdana" charset="0"/>
                          </a:endParaRPr>
                        </a:p>
                        <a:p>
                          <a:pPr marL="0" marR="0" algn="ctr">
                            <a:lnSpc>
                              <a:spcPct val="107000"/>
                            </a:lnSpc>
                            <a:spcBef>
                              <a:spcPts val="0"/>
                            </a:spcBef>
                            <a:spcAft>
                              <a:spcPts val="0"/>
                            </a:spcAft>
                          </a:pPr>
                          <a:endParaRPr lang="en-US" sz="2000" i="0" dirty="0" smtClean="0">
                            <a:effectLst/>
                            <a:latin typeface="Verdana" charset="0"/>
                            <a:ea typeface="Verdana" charset="0"/>
                            <a:cs typeface="Verdana" charset="0"/>
                          </a:endParaRPr>
                        </a:p>
                        <a:p>
                          <a:pPr marL="0" marR="0" algn="ctr">
                            <a:lnSpc>
                              <a:spcPct val="107000"/>
                            </a:lnSpc>
                            <a:spcBef>
                              <a:spcPts val="0"/>
                            </a:spcBef>
                            <a:spcAft>
                              <a:spcPts val="0"/>
                            </a:spcAft>
                          </a:pPr>
                          <a:endParaRPr lang="en-US" sz="2000" i="0" dirty="0">
                            <a:effectLst/>
                            <a:latin typeface="Verdana" charset="0"/>
                            <a:ea typeface="Verdana" charset="0"/>
                            <a:cs typeface="Verdana" charset="0"/>
                          </a:endParaRPr>
                        </a:p>
                      </a:txBody>
                      <a:tcPr marL="51354" marR="5135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pic>
        <p:nvPicPr>
          <p:cNvPr id="8193" name="Picture 69" descr="A picture containing calendar&#10;&#10;Description automatically generated"/>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636149" y="3078590"/>
            <a:ext cx="4876800" cy="3263900"/>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221</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73226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1452559156"/>
              </p:ext>
            </p:extLst>
          </p:nvPr>
        </p:nvGraphicFramePr>
        <p:xfrm>
          <a:off x="2259133" y="469791"/>
          <a:ext cx="7793844" cy="4416449"/>
        </p:xfrm>
        <a:graphic>
          <a:graphicData uri="http://schemas.openxmlformats.org/drawingml/2006/table">
            <a:tbl>
              <a:tblPr firstRow="1" firstCol="1" bandRow="1"/>
              <a:tblGrid>
                <a:gridCol w="2630188">
                  <a:extLst>
                    <a:ext uri="{9D8B030D-6E8A-4147-A177-3AD203B41FA5}">
                      <a16:colId xmlns:a16="http://schemas.microsoft.com/office/drawing/2014/main" val="20000"/>
                    </a:ext>
                  </a:extLst>
                </a:gridCol>
                <a:gridCol w="2630909">
                  <a:extLst>
                    <a:ext uri="{9D8B030D-6E8A-4147-A177-3AD203B41FA5}">
                      <a16:colId xmlns:a16="http://schemas.microsoft.com/office/drawing/2014/main" val="20001"/>
                    </a:ext>
                  </a:extLst>
                </a:gridCol>
                <a:gridCol w="2532747">
                  <a:extLst>
                    <a:ext uri="{9D8B030D-6E8A-4147-A177-3AD203B41FA5}">
                      <a16:colId xmlns:a16="http://schemas.microsoft.com/office/drawing/2014/main" val="20002"/>
                    </a:ext>
                  </a:extLst>
                </a:gridCol>
              </a:tblGrid>
              <a:tr h="562460">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What did Isaac do correctly? </a:t>
                      </a:r>
                      <a:endParaRPr lang="en-US" sz="1800" i="1" dirty="0">
                        <a:effectLst/>
                        <a:latin typeface="Cambria Math" charset="0"/>
                        <a:ea typeface="Cambria Math" charset="0"/>
                        <a:cs typeface="Cambria Math" charset="0"/>
                      </a:endParaRPr>
                    </a:p>
                  </a:txBody>
                  <a:tcPr marL="65714" marR="657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What error(s) did Isaac make?</a:t>
                      </a:r>
                      <a:endParaRPr lang="en-US" sz="1800" i="1">
                        <a:effectLst/>
                        <a:latin typeface="Cambria Math" charset="0"/>
                        <a:ea typeface="Cambria Math" charset="0"/>
                        <a:cs typeface="Cambria Math" charset="0"/>
                      </a:endParaRPr>
                    </a:p>
                  </a:txBody>
                  <a:tcPr marL="65714" marR="657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Find the correct answers.</a:t>
                      </a:r>
                      <a:endParaRPr lang="en-US" sz="1800" i="1">
                        <a:effectLst/>
                        <a:latin typeface="Cambria Math" charset="0"/>
                        <a:ea typeface="Cambria Math" charset="0"/>
                        <a:cs typeface="Cambria Math" charset="0"/>
                      </a:endParaRPr>
                    </a:p>
                  </a:txBody>
                  <a:tcPr marL="65714" marR="657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788878">
                <a:tc>
                  <a:txBody>
                    <a:bodyPr/>
                    <a:lstStyle/>
                    <a:p>
                      <a:pPr marL="0" marR="0">
                        <a:lnSpc>
                          <a:spcPct val="107000"/>
                        </a:lnSpc>
                        <a:spcBef>
                          <a:spcPts val="0"/>
                        </a:spcBef>
                        <a:spcAft>
                          <a:spcPts val="0"/>
                        </a:spcAft>
                      </a:pPr>
                      <a:r>
                        <a:rPr lang="en-US" sz="2000" i="0">
                          <a:effectLst/>
                          <a:latin typeface="Verdana" charset="0"/>
                          <a:ea typeface="Verdana" charset="0"/>
                          <a:cs typeface="Verdana" charset="0"/>
                        </a:rPr>
                        <a:t> </a:t>
                      </a:r>
                      <a:endParaRPr lang="en-US" sz="1800" i="1">
                        <a:effectLst/>
                        <a:latin typeface="Cambria Math" charset="0"/>
                        <a:ea typeface="Cambria Math" charset="0"/>
                        <a:cs typeface="Cambria Math" charset="0"/>
                      </a:endParaRPr>
                    </a:p>
                  </a:txBody>
                  <a:tcPr marL="65714" marR="657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a:effectLst/>
                          <a:latin typeface="Verdana" charset="0"/>
                          <a:ea typeface="Verdana" charset="0"/>
                          <a:cs typeface="Verdana" charset="0"/>
                        </a:rPr>
                        <a:t> </a:t>
                      </a:r>
                      <a:endParaRPr lang="en-US" sz="1800" i="1">
                        <a:effectLst/>
                        <a:latin typeface="Cambria Math" charset="0"/>
                        <a:ea typeface="Cambria Math" charset="0"/>
                        <a:cs typeface="Cambria Math" charset="0"/>
                      </a:endParaRPr>
                    </a:p>
                  </a:txBody>
                  <a:tcPr marL="65714" marR="657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 </a:t>
                      </a:r>
                      <a:endParaRPr lang="en-US" sz="1800" i="1" dirty="0">
                        <a:effectLst/>
                        <a:latin typeface="Cambria Math" charset="0"/>
                        <a:ea typeface="Cambria Math" charset="0"/>
                        <a:cs typeface="Cambria Math" charset="0"/>
                      </a:endParaRPr>
                    </a:p>
                  </a:txBody>
                  <a:tcPr marL="65714" marR="65714"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221</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39555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013116717"/>
                  </p:ext>
                </p:extLst>
              </p:nvPr>
            </p:nvGraphicFramePr>
            <p:xfrm>
              <a:off x="2105952" y="580823"/>
              <a:ext cx="8057551" cy="5415505"/>
            </p:xfrm>
            <a:graphic>
              <a:graphicData uri="http://schemas.openxmlformats.org/drawingml/2006/table">
                <a:tbl>
                  <a:tblPr firstRow="1" firstCol="1" bandRow="1"/>
                  <a:tblGrid>
                    <a:gridCol w="2163256">
                      <a:extLst>
                        <a:ext uri="{9D8B030D-6E8A-4147-A177-3AD203B41FA5}">
                          <a16:colId xmlns:a16="http://schemas.microsoft.com/office/drawing/2014/main" val="20000"/>
                        </a:ext>
                      </a:extLst>
                    </a:gridCol>
                    <a:gridCol w="5894295">
                      <a:extLst>
                        <a:ext uri="{9D8B030D-6E8A-4147-A177-3AD203B41FA5}">
                          <a16:colId xmlns:a16="http://schemas.microsoft.com/office/drawing/2014/main" val="20001"/>
                        </a:ext>
                      </a:extLst>
                    </a:gridCol>
                  </a:tblGrid>
                  <a:tr h="622247">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a:t>
                          </a:r>
                          <a:endParaRPr lang="en-US" sz="1800" i="1">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Mari</a:t>
                          </a:r>
                          <a:endParaRPr lang="en-US" sz="1800" i="1">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82021">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Problem</a:t>
                          </a:r>
                          <a:endParaRPr lang="en-US" sz="1800" i="1">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7000"/>
                            </a:lnSpc>
                            <a:spcBef>
                              <a:spcPts val="0"/>
                            </a:spcBef>
                            <a:spcAft>
                              <a:spcPts val="0"/>
                            </a:spcAft>
                          </a:pPr>
                          <a:r>
                            <a:rPr lang="en-US" sz="2000" i="0">
                              <a:effectLst/>
                              <a:latin typeface="Verdana" charset="0"/>
                              <a:ea typeface="Verdana" charset="0"/>
                              <a:cs typeface="Verdana" charset="0"/>
                            </a:rPr>
                            <a:t>Juan made </a:t>
                          </a:r>
                          <a14:m>
                            <m:oMath xmlns:m="http://schemas.openxmlformats.org/officeDocument/2006/math">
                              <m:r>
                                <a:rPr lang="en-US" sz="2000" i="1">
                                  <a:effectLst/>
                                  <a:latin typeface="Cambria Math" panose="02040503050406030204" pitchFamily="18" charset="0"/>
                                  <a:ea typeface="Verdana" charset="0"/>
                                  <a:cs typeface="Verdana" charset="0"/>
                                </a:rPr>
                                <m:t>13</m:t>
                              </m:r>
                            </m:oMath>
                          </a14:m>
                          <a:r>
                            <a:rPr lang="en-US" sz="2000" i="0">
                              <a:effectLst/>
                              <a:latin typeface="Verdana" charset="0"/>
                              <a:ea typeface="Verdana" charset="0"/>
                              <a:cs typeface="Verdana" charset="0"/>
                            </a:rPr>
                            <a:t> out of </a:t>
                          </a:r>
                          <a14:m>
                            <m:oMath xmlns:m="http://schemas.openxmlformats.org/officeDocument/2006/math">
                              <m:r>
                                <a:rPr lang="en-US" sz="2000" i="1">
                                  <a:effectLst/>
                                  <a:latin typeface="Cambria Math" panose="02040503050406030204" pitchFamily="18" charset="0"/>
                                  <a:ea typeface="Verdana" charset="0"/>
                                  <a:cs typeface="Verdana" charset="0"/>
                                </a:rPr>
                                <m:t>20</m:t>
                              </m:r>
                            </m:oMath>
                          </a14:m>
                          <a:r>
                            <a:rPr lang="en-US" sz="2000" i="0">
                              <a:effectLst/>
                              <a:latin typeface="Verdana" charset="0"/>
                              <a:ea typeface="Verdana" charset="0"/>
                              <a:cs typeface="Verdana" charset="0"/>
                            </a:rPr>
                            <a:t> free throws at basketball practice. If Jada shoots </a:t>
                          </a:r>
                          <a14:m>
                            <m:oMath xmlns:m="http://schemas.openxmlformats.org/officeDocument/2006/math">
                              <m:r>
                                <a:rPr lang="en-US" sz="2000" i="1">
                                  <a:effectLst/>
                                  <a:latin typeface="Cambria Math" panose="02040503050406030204" pitchFamily="18" charset="0"/>
                                  <a:ea typeface="Verdana" charset="0"/>
                                  <a:cs typeface="Verdana" charset="0"/>
                                </a:rPr>
                                <m:t>25</m:t>
                              </m:r>
                            </m:oMath>
                          </a14:m>
                          <a:r>
                            <a:rPr lang="en-US" sz="2000" i="0">
                              <a:effectLst/>
                              <a:latin typeface="Verdana" charset="0"/>
                              <a:ea typeface="Verdana" charset="0"/>
                              <a:cs typeface="Verdana" charset="0"/>
                            </a:rPr>
                            <a:t> free throws, what is the smallest number of shots she has to make to have a better free-throw percentage than Juan?</a:t>
                          </a:r>
                          <a:endParaRPr lang="en-US" sz="1800" i="1">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11237">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Student’s Work</a:t>
                          </a:r>
                          <a:endParaRPr lang="en-US" sz="1800" i="1" dirty="0">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7000"/>
                            </a:lnSpc>
                            <a:spcBef>
                              <a:spcPts val="0"/>
                            </a:spcBef>
                            <a:spcAft>
                              <a:spcPts val="0"/>
                            </a:spcAft>
                          </a:pPr>
                          <a:endParaRPr lang="en-US" sz="2000" i="0" dirty="0">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013116717"/>
                  </p:ext>
                </p:extLst>
              </p:nvPr>
            </p:nvGraphicFramePr>
            <p:xfrm>
              <a:off x="581951" y="580822"/>
              <a:ext cx="8057551" cy="5415505"/>
            </p:xfrm>
            <a:graphic>
              <a:graphicData uri="http://schemas.openxmlformats.org/drawingml/2006/table">
                <a:tbl>
                  <a:tblPr firstRow="1" firstCol="1" bandRow="1"/>
                  <a:tblGrid>
                    <a:gridCol w="2163256"/>
                    <a:gridCol w="5894295"/>
                  </a:tblGrid>
                  <a:tr h="622247">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Student</a:t>
                          </a:r>
                          <a:endParaRPr lang="en-US" sz="1800" i="1">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i="0">
                              <a:effectLst/>
                              <a:latin typeface="Verdana" charset="0"/>
                              <a:ea typeface="Verdana" charset="0"/>
                              <a:cs typeface="Verdana" charset="0"/>
                            </a:rPr>
                            <a:t>Mari</a:t>
                          </a:r>
                          <a:endParaRPr lang="en-US" sz="1800" i="1">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82021">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Problem</a:t>
                          </a:r>
                          <a:endParaRPr lang="en-US" sz="1800" i="1">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4"/>
                          <a:stretch>
                            <a:fillRect l="-36777" t="-37319" r="-207" b="-185870"/>
                          </a:stretch>
                        </a:blipFill>
                      </a:tcPr>
                    </a:tc>
                  </a:tr>
                  <a:tr h="3111237">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Student’s Work</a:t>
                          </a:r>
                          <a:endParaRPr lang="en-US" sz="1800" i="1" dirty="0">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7000"/>
                            </a:lnSpc>
                            <a:spcBef>
                              <a:spcPts val="0"/>
                            </a:spcBef>
                            <a:spcAft>
                              <a:spcPts val="0"/>
                            </a:spcAft>
                          </a:pPr>
                          <a:endParaRPr lang="en-US" sz="2000" i="0" dirty="0">
                            <a:effectLst/>
                            <a:latin typeface="Verdana" charset="0"/>
                            <a:ea typeface="Verdana" charset="0"/>
                            <a:cs typeface="Verdana" charset="0"/>
                          </a:endParaRPr>
                        </a:p>
                      </a:txBody>
                      <a:tcPr marL="65270" marR="6527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mc:Fallback>
      </mc:AlternateContent>
      <p:pic>
        <p:nvPicPr>
          <p:cNvPr id="10241" name="Picture 70" descr="Text&#10;&#10;Description automatically generated"/>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694019" y="3288574"/>
            <a:ext cx="4914900" cy="1955800"/>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222</a:t>
            </a:r>
            <a:endParaRPr i="1" dirty="0">
              <a:latin typeface="Calibri"/>
              <a:ea typeface="Calibri"/>
              <a:cs typeface="Calibri"/>
              <a:sym typeface="Calibri"/>
            </a:endParaRPr>
          </a:p>
        </p:txBody>
      </p:sp>
      <p:pic>
        <p:nvPicPr>
          <p:cNvPr id="8"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631348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812906062"/>
              </p:ext>
            </p:extLst>
          </p:nvPr>
        </p:nvGraphicFramePr>
        <p:xfrm>
          <a:off x="2362580" y="611681"/>
          <a:ext cx="7690396" cy="4420664"/>
        </p:xfrm>
        <a:graphic>
          <a:graphicData uri="http://schemas.openxmlformats.org/drawingml/2006/table">
            <a:tbl>
              <a:tblPr firstRow="1" firstCol="1" bandRow="1"/>
              <a:tblGrid>
                <a:gridCol w="2595277">
                  <a:extLst>
                    <a:ext uri="{9D8B030D-6E8A-4147-A177-3AD203B41FA5}">
                      <a16:colId xmlns:a16="http://schemas.microsoft.com/office/drawing/2014/main" val="20000"/>
                    </a:ext>
                  </a:extLst>
                </a:gridCol>
                <a:gridCol w="2595990">
                  <a:extLst>
                    <a:ext uri="{9D8B030D-6E8A-4147-A177-3AD203B41FA5}">
                      <a16:colId xmlns:a16="http://schemas.microsoft.com/office/drawing/2014/main" val="20001"/>
                    </a:ext>
                  </a:extLst>
                </a:gridCol>
                <a:gridCol w="2499129">
                  <a:extLst>
                    <a:ext uri="{9D8B030D-6E8A-4147-A177-3AD203B41FA5}">
                      <a16:colId xmlns:a16="http://schemas.microsoft.com/office/drawing/2014/main" val="20002"/>
                    </a:ext>
                  </a:extLst>
                </a:gridCol>
              </a:tblGrid>
              <a:tr h="558245">
                <a:tc>
                  <a:txBody>
                    <a:bodyPr/>
                    <a:lstStyle/>
                    <a:p>
                      <a:pPr marL="0" marR="0" algn="ctr">
                        <a:lnSpc>
                          <a:spcPct val="107000"/>
                        </a:lnSpc>
                        <a:spcBef>
                          <a:spcPts val="0"/>
                        </a:spcBef>
                        <a:spcAft>
                          <a:spcPts val="0"/>
                        </a:spcAft>
                      </a:pPr>
                      <a:r>
                        <a:rPr lang="en-US" sz="2000" b="1" i="0" dirty="0">
                          <a:effectLst/>
                          <a:latin typeface="Verdana" charset="0"/>
                          <a:ea typeface="Verdana" charset="0"/>
                          <a:cs typeface="Verdana" charset="0"/>
                        </a:rPr>
                        <a:t>What did Mari do correctly? </a:t>
                      </a:r>
                      <a:endParaRPr lang="en-US" sz="1800" i="1" dirty="0">
                        <a:effectLst/>
                        <a:latin typeface="Cambria Math" charset="0"/>
                        <a:ea typeface="Cambria Math" charset="0"/>
                        <a:cs typeface="Cambria Math" charset="0"/>
                      </a:endParaRPr>
                    </a:p>
                  </a:txBody>
                  <a:tcPr marL="65221" marR="652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What error(s) did Mari make?</a:t>
                      </a:r>
                      <a:endParaRPr lang="en-US" sz="1800" i="1">
                        <a:effectLst/>
                        <a:latin typeface="Cambria Math" charset="0"/>
                        <a:ea typeface="Cambria Math" charset="0"/>
                        <a:cs typeface="Cambria Math" charset="0"/>
                      </a:endParaRPr>
                    </a:p>
                  </a:txBody>
                  <a:tcPr marL="65221" marR="652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i="0">
                          <a:effectLst/>
                          <a:latin typeface="Verdana" charset="0"/>
                          <a:ea typeface="Verdana" charset="0"/>
                          <a:cs typeface="Verdana" charset="0"/>
                        </a:rPr>
                        <a:t>Find the correct answers.</a:t>
                      </a:r>
                      <a:endParaRPr lang="en-US" sz="1800" i="1">
                        <a:effectLst/>
                        <a:latin typeface="Cambria Math" charset="0"/>
                        <a:ea typeface="Cambria Math" charset="0"/>
                        <a:cs typeface="Cambria Math" charset="0"/>
                      </a:endParaRPr>
                    </a:p>
                  </a:txBody>
                  <a:tcPr marL="65221" marR="652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793093">
                <a:tc>
                  <a:txBody>
                    <a:bodyPr/>
                    <a:lstStyle/>
                    <a:p>
                      <a:pPr marL="0" marR="0">
                        <a:lnSpc>
                          <a:spcPct val="107000"/>
                        </a:lnSpc>
                        <a:spcBef>
                          <a:spcPts val="0"/>
                        </a:spcBef>
                        <a:spcAft>
                          <a:spcPts val="0"/>
                        </a:spcAft>
                      </a:pPr>
                      <a:r>
                        <a:rPr lang="en-US" sz="2000" i="0">
                          <a:effectLst/>
                          <a:latin typeface="Verdana" charset="0"/>
                          <a:ea typeface="Verdana" charset="0"/>
                          <a:cs typeface="Verdana" charset="0"/>
                        </a:rPr>
                        <a:t> </a:t>
                      </a:r>
                      <a:endParaRPr lang="en-US" sz="1800" i="1">
                        <a:effectLst/>
                        <a:latin typeface="Cambria Math" charset="0"/>
                        <a:ea typeface="Cambria Math" charset="0"/>
                        <a:cs typeface="Cambria Math" charset="0"/>
                      </a:endParaRPr>
                    </a:p>
                  </a:txBody>
                  <a:tcPr marL="65221" marR="652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a:effectLst/>
                          <a:latin typeface="Verdana" charset="0"/>
                          <a:ea typeface="Verdana" charset="0"/>
                          <a:cs typeface="Verdana" charset="0"/>
                        </a:rPr>
                        <a:t> </a:t>
                      </a:r>
                      <a:endParaRPr lang="en-US" sz="1800" i="1">
                        <a:effectLst/>
                        <a:latin typeface="Cambria Math" charset="0"/>
                        <a:ea typeface="Cambria Math" charset="0"/>
                        <a:cs typeface="Cambria Math" charset="0"/>
                      </a:endParaRPr>
                    </a:p>
                  </a:txBody>
                  <a:tcPr marL="65221" marR="652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i="0" dirty="0">
                          <a:effectLst/>
                          <a:latin typeface="Verdana" charset="0"/>
                          <a:ea typeface="Verdana" charset="0"/>
                          <a:cs typeface="Verdana" charset="0"/>
                        </a:rPr>
                        <a:t> </a:t>
                      </a:r>
                      <a:endParaRPr lang="en-US" sz="1800" i="1" dirty="0">
                        <a:effectLst/>
                        <a:latin typeface="Cambria Math" charset="0"/>
                        <a:ea typeface="Cambria Math" charset="0"/>
                        <a:cs typeface="Cambria Math" charset="0"/>
                      </a:endParaRPr>
                    </a:p>
                  </a:txBody>
                  <a:tcPr marL="65221" marR="6522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6"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222</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06101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3075"/>
            <a:ext cx="2731200" cy="6871074"/>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30475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524"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1385" y="-68266"/>
            <a:ext cx="103700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12.2.4 Bring It Together: Proportions</a:t>
            </a:r>
          </a:p>
        </p:txBody>
      </p:sp>
      <p:sp>
        <p:nvSpPr>
          <p:cNvPr id="8" name="TextBox 7">
            <a:extLst>
              <a:ext uri="{FF2B5EF4-FFF2-40B4-BE49-F238E27FC236}">
                <a16:creationId xmlns:a16="http://schemas.microsoft.com/office/drawing/2014/main" id="{669E00F9-F39F-5043-888E-B0A2D8C9AE0F}"/>
              </a:ext>
            </a:extLst>
          </p:cNvPr>
          <p:cNvSpPr txBox="1"/>
          <p:nvPr/>
        </p:nvSpPr>
        <p:spPr>
          <a:xfrm>
            <a:off x="1429471" y="1386025"/>
            <a:ext cx="9589090" cy="132343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Mistakes create opportunities to learn! Based on the mistakes you observed when examining other students’ work, use the space provided to describe at least two things you learned and want to keep in mind when using proportions to solve problems.</a:t>
            </a:r>
            <a:endParaRPr lang="en-US" sz="2000" i="1" dirty="0">
              <a:latin typeface="Verdana" charset="0"/>
              <a:ea typeface="Verdana" charset="0"/>
              <a:cs typeface="Verdana" charset="0"/>
            </a:endParaRPr>
          </a:p>
        </p:txBody>
      </p:sp>
      <p:pic>
        <p:nvPicPr>
          <p:cNvPr id="10" name="Picture 2" descr="Icon&#10;&#10;Description automatically generated">
            <a:extLst>
              <a:ext uri="{FF2B5EF4-FFF2-40B4-BE49-F238E27FC236}">
                <a16:creationId xmlns:a16="http://schemas.microsoft.com/office/drawing/2014/main" id="{C83A8687-31CC-0249-9695-539B96DF03B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9663" y="17322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487862" y="3090393"/>
            <a:ext cx="2499561" cy="3433360"/>
          </a:xfrm>
          <a:prstGeom prst="rect">
            <a:avLst/>
          </a:prstGeom>
        </p:spPr>
      </p:pic>
      <p:pic>
        <p:nvPicPr>
          <p:cNvPr id="4" name="Picture 3"/>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346297" y="3090393"/>
            <a:ext cx="2877172" cy="3451372"/>
          </a:xfrm>
          <a:prstGeom prst="rect">
            <a:avLst/>
          </a:prstGeom>
        </p:spPr>
      </p:pic>
      <p:sp>
        <p:nvSpPr>
          <p:cNvPr id="12"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223</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659552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433444" y="9958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12.2.5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686144" y="9958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228725" y="1144851"/>
                <a:ext cx="9885216" cy="4041556"/>
              </a:xfrm>
              <a:prstGeom prst="rect">
                <a:avLst/>
              </a:prstGeom>
              <a:noFill/>
            </p:spPr>
            <p:txBody>
              <a:bodyPr wrap="square" rtlCol="0">
                <a:spAutoFit/>
              </a:bodyPr>
              <a:lstStyle/>
              <a:p>
                <a:r>
                  <a:rPr lang="en-US" sz="2000" dirty="0">
                    <a:latin typeface="Verdana" charset="0"/>
                    <a:ea typeface="Verdana" charset="0"/>
                    <a:cs typeface="Verdana" charset="0"/>
                  </a:rPr>
                  <a:t>Solve each problem using proportional reasoning. Show your work.</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 </a:t>
                </a:r>
                <a:endParaRPr lang="en-US" sz="2000" i="1"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Tyler swims at a constant speed of </a:t>
                </a:r>
                <a14:m>
                  <m:oMath xmlns:m="http://schemas.openxmlformats.org/officeDocument/2006/math">
                    <m:r>
                      <a:rPr lang="en-US" sz="2000" i="1">
                        <a:latin typeface="Cambria Math" panose="02040503050406030204" pitchFamily="18" charset="0"/>
                        <a:ea typeface="Verdana" charset="0"/>
                        <a:cs typeface="Verdana" charset="0"/>
                      </a:rPr>
                      <m:t>5</m:t>
                    </m:r>
                  </m:oMath>
                </a14:m>
                <a:r>
                  <a:rPr lang="en-US" sz="2000" dirty="0">
                    <a:latin typeface="Verdana" charset="0"/>
                    <a:ea typeface="Verdana" charset="0"/>
                    <a:cs typeface="Verdana" charset="0"/>
                  </a:rPr>
                  <a:t> meters (m) every </a:t>
                </a:r>
                <a14:m>
                  <m:oMath xmlns:m="http://schemas.openxmlformats.org/officeDocument/2006/math">
                    <m:r>
                      <a:rPr lang="en-US" sz="2000" i="1">
                        <a:latin typeface="Cambria Math" panose="02040503050406030204" pitchFamily="18" charset="0"/>
                        <a:ea typeface="Verdana" charset="0"/>
                        <a:cs typeface="Verdana" charset="0"/>
                      </a:rPr>
                      <m:t>3</m:t>
                    </m:r>
                  </m:oMath>
                </a14:m>
                <a:r>
                  <a:rPr lang="en-US" sz="2000" dirty="0">
                    <a:latin typeface="Verdana" charset="0"/>
                    <a:ea typeface="Verdana" charset="0"/>
                    <a:cs typeface="Verdana" charset="0"/>
                  </a:rPr>
                  <a:t> seconds. How long does it take him to swim </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114</m:t>
                    </m:r>
                  </m:oMath>
                </a14:m>
                <a:r>
                  <a:rPr lang="en-US" sz="2000" dirty="0">
                    <a:latin typeface="Verdana" charset="0"/>
                    <a:ea typeface="Verdana" charset="0"/>
                    <a:cs typeface="Verdana" charset="0"/>
                  </a:rPr>
                  <a:t> meters?</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 </a:t>
                </a:r>
                <a:endParaRPr lang="en-US" sz="2000" i="1" dirty="0">
                  <a:latin typeface="Verdana" charset="0"/>
                  <a:ea typeface="Verdana" charset="0"/>
                  <a:cs typeface="Verdana" charset="0"/>
                </a:endParaRPr>
              </a:p>
              <a:p>
                <a:pPr marL="457200" indent="-457200">
                  <a:buFont typeface="+mj-lt"/>
                  <a:buAutoNum type="arabicPeriod" startAt="2"/>
                </a:pPr>
                <a:r>
                  <a:rPr lang="en-US" sz="2000" dirty="0">
                    <a:latin typeface="Verdana" charset="0"/>
                    <a:ea typeface="Verdana" charset="0"/>
                    <a:cs typeface="Verdana" charset="0"/>
                  </a:rPr>
                  <a:t>To make a shade of paint called jasper green, mix </a:t>
                </a:r>
                <a14:m>
                  <m:oMath xmlns:m="http://schemas.openxmlformats.org/officeDocument/2006/math">
                    <m:r>
                      <a:rPr lang="en-US" sz="2000" i="1">
                        <a:latin typeface="Cambria Math" panose="02040503050406030204" pitchFamily="18" charset="0"/>
                        <a:ea typeface="Verdana" charset="0"/>
                        <a:cs typeface="Verdana" charset="0"/>
                      </a:rPr>
                      <m:t>4</m:t>
                    </m:r>
                  </m:oMath>
                </a14:m>
                <a:r>
                  <a:rPr lang="en-US" sz="2000" dirty="0">
                    <a:latin typeface="Verdana" charset="0"/>
                    <a:ea typeface="Verdana" charset="0"/>
                    <a:cs typeface="Verdana" charset="0"/>
                  </a:rPr>
                  <a:t> quarts (</a:t>
                </a:r>
                <a:r>
                  <a:rPr lang="en-US" sz="2000" dirty="0" err="1">
                    <a:latin typeface="Verdana" charset="0"/>
                    <a:ea typeface="Verdana" charset="0"/>
                    <a:cs typeface="Verdana" charset="0"/>
                  </a:rPr>
                  <a:t>qt</a:t>
                </a:r>
                <a:r>
                  <a:rPr lang="en-US" sz="2000" dirty="0">
                    <a:latin typeface="Verdana" charset="0"/>
                    <a:ea typeface="Verdana" charset="0"/>
                    <a:cs typeface="Verdana" charset="0"/>
                  </a:rPr>
                  <a:t>) of green paint with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2</m:t>
                        </m:r>
                      </m:num>
                      <m:den>
                        <m:r>
                          <a:rPr lang="en-US" sz="2000" i="1">
                            <a:latin typeface="Cambria Math" panose="02040503050406030204" pitchFamily="18" charset="0"/>
                            <a:ea typeface="Verdana" charset="0"/>
                            <a:cs typeface="Verdana" charset="0"/>
                          </a:rPr>
                          <m:t>3</m:t>
                        </m:r>
                      </m:den>
                    </m:f>
                  </m:oMath>
                </a14:m>
                <a:r>
                  <a:rPr lang="en-US" sz="2000" dirty="0">
                    <a:latin typeface="Verdana" charset="0"/>
                    <a:ea typeface="Verdana" charset="0"/>
                    <a:cs typeface="Verdana" charset="0"/>
                  </a:rPr>
                  <a:t> cup (c) of black paint. How much green paint should be mixed with </a:t>
                </a:r>
                <a14:m>
                  <m:oMath xmlns:m="http://schemas.openxmlformats.org/officeDocument/2006/math">
                    <m:r>
                      <a:rPr lang="en-US" sz="2000" i="1">
                        <a:latin typeface="Cambria Math" panose="02040503050406030204" pitchFamily="18" charset="0"/>
                        <a:ea typeface="Verdana" charset="0"/>
                        <a:cs typeface="Verdana" charset="0"/>
                      </a:rPr>
                      <m:t>4.5</m:t>
                    </m:r>
                  </m:oMath>
                </a14:m>
                <a:r>
                  <a:rPr lang="en-US" sz="2000" dirty="0">
                    <a:latin typeface="Verdana" charset="0"/>
                    <a:ea typeface="Verdana" charset="0"/>
                    <a:cs typeface="Verdana" charset="0"/>
                  </a:rPr>
                  <a:t> cups of black paint to make jasper green?</a:t>
                </a:r>
              </a:p>
              <a:p>
                <a:pPr marL="457200" indent="-457200">
                  <a:buFont typeface="+mj-lt"/>
                  <a:buAutoNum type="arabicPeriod" startAt="2"/>
                </a:pPr>
                <a:endParaRPr lang="en-US" sz="2000" i="1" dirty="0">
                  <a:latin typeface="Verdana" charset="0"/>
                  <a:ea typeface="Verdana" charset="0"/>
                  <a:cs typeface="Verdana" charset="0"/>
                </a:endParaRPr>
              </a:p>
              <a:p>
                <a:pPr marL="457200" indent="-457200">
                  <a:buFont typeface="+mj-lt"/>
                  <a:buAutoNum type="arabicPeriod" startAt="2"/>
                </a:pPr>
                <a:r>
                  <a:rPr lang="en-US" sz="2000" dirty="0">
                    <a:latin typeface="Verdana" charset="0"/>
                    <a:ea typeface="Verdana" charset="0"/>
                    <a:cs typeface="Verdana" charset="0"/>
                  </a:rPr>
                  <a:t>It takes an ant farm </a:t>
                </a:r>
                <a14:m>
                  <m:oMath xmlns:m="http://schemas.openxmlformats.org/officeDocument/2006/math">
                    <m:r>
                      <a:rPr lang="en-US" sz="2000" i="1">
                        <a:latin typeface="Cambria Math" panose="02040503050406030204" pitchFamily="18" charset="0"/>
                        <a:ea typeface="Verdana" charset="0"/>
                        <a:cs typeface="Verdana" charset="0"/>
                      </a:rPr>
                      <m:t>3</m:t>
                    </m:r>
                  </m:oMath>
                </a14:m>
                <a:r>
                  <a:rPr lang="en-US" sz="2000" dirty="0">
                    <a:latin typeface="Verdana" charset="0"/>
                    <a:ea typeface="Verdana" charset="0"/>
                    <a:cs typeface="Verdana" charset="0"/>
                  </a:rPr>
                  <a:t> days to consume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1</m:t>
                        </m:r>
                      </m:num>
                      <m:den>
                        <m:r>
                          <a:rPr lang="en-US" sz="2000" i="1">
                            <a:latin typeface="Cambria Math" panose="02040503050406030204" pitchFamily="18" charset="0"/>
                            <a:ea typeface="Verdana" charset="0"/>
                            <a:cs typeface="Verdana" charset="0"/>
                          </a:rPr>
                          <m:t>2</m:t>
                        </m:r>
                      </m:den>
                    </m:f>
                  </m:oMath>
                </a14:m>
                <a:r>
                  <a:rPr lang="en-US" sz="2000" dirty="0">
                    <a:latin typeface="Verdana" charset="0"/>
                    <a:ea typeface="Verdana" charset="0"/>
                    <a:cs typeface="Verdana" charset="0"/>
                  </a:rPr>
                  <a:t> of an apple. At that rate, in how many days will the ant farm consume </a:t>
                </a:r>
                <a14:m>
                  <m:oMath xmlns:m="http://schemas.openxmlformats.org/officeDocument/2006/math">
                    <m:r>
                      <a:rPr lang="en-US" sz="2000" i="1">
                        <a:latin typeface="Cambria Math" panose="02040503050406030204" pitchFamily="18" charset="0"/>
                        <a:ea typeface="Verdana" charset="0"/>
                        <a:cs typeface="Verdana" charset="0"/>
                      </a:rPr>
                      <m:t>6</m:t>
                    </m:r>
                  </m:oMath>
                </a14:m>
                <a:r>
                  <a:rPr lang="en-US" sz="2000" dirty="0">
                    <a:latin typeface="Verdana" charset="0"/>
                    <a:ea typeface="Verdana" charset="0"/>
                    <a:cs typeface="Verdana" charset="0"/>
                  </a:rPr>
                  <a:t> apples?</a:t>
                </a:r>
                <a:endParaRPr lang="en-US" sz="2000" i="1" dirty="0">
                  <a:latin typeface="Verdana" charset="0"/>
                  <a:ea typeface="Verdana" charset="0"/>
                  <a:cs typeface="Verdana" charset="0"/>
                </a:endParaRPr>
              </a:p>
            </p:txBody>
          </p:sp>
        </mc:Choice>
        <mc:Fallback xmlns="">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1228725" y="1144851"/>
                <a:ext cx="9885216" cy="4041556"/>
              </a:xfrm>
              <a:prstGeom prst="rect">
                <a:avLst/>
              </a:prstGeom>
              <a:blipFill rotWithShape="0">
                <a:blip r:embed="rId4"/>
                <a:stretch>
                  <a:fillRect l="-679" t="-905" b="-1659"/>
                </a:stretch>
              </a:blipFill>
            </p:spPr>
            <p:txBody>
              <a:bodyPr/>
              <a:lstStyle/>
              <a:p>
                <a:r>
                  <a:rPr lang="en-US">
                    <a:noFill/>
                  </a:rPr>
                  <a:t> </a:t>
                </a:r>
              </a:p>
            </p:txBody>
          </p:sp>
        </mc:Fallback>
      </mc:AlternateContent>
      <p:sp>
        <p:nvSpPr>
          <p:cNvPr id="8"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223</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74519" y="-810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12.2.6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45069" y="20623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042988" y="1386025"/>
            <a:ext cx="10362056" cy="4093428"/>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Draw an </a:t>
            </a:r>
            <a:r>
              <a:rPr lang="en-US" sz="2000" b="1" dirty="0">
                <a:latin typeface="Verdana" charset="0"/>
                <a:ea typeface="Verdana" charset="0"/>
                <a:cs typeface="Verdana" charset="0"/>
              </a:rPr>
              <a:t>X</a:t>
            </a:r>
            <a:r>
              <a:rPr lang="en-US" sz="2000" dirty="0">
                <a:latin typeface="Verdana" charset="0"/>
                <a:ea typeface="Verdana" charset="0"/>
                <a:cs typeface="Verdana" charset="0"/>
              </a:rPr>
              <a:t> on each line to indicate where your current learning is in relation to today’s learning target.</a:t>
            </a:r>
            <a:endParaRPr lang="en-US" sz="2000" i="1" dirty="0">
              <a:latin typeface="Verdana" charset="0"/>
              <a:ea typeface="Verdana" charset="0"/>
              <a:cs typeface="Verdana" charset="0"/>
            </a:endParaRPr>
          </a:p>
          <a:p>
            <a:r>
              <a:rPr lang="en-US" sz="2000" dirty="0">
                <a:latin typeface="Verdana" charset="0"/>
                <a:ea typeface="Verdana" charset="0"/>
                <a:cs typeface="Verdana" charset="0"/>
              </a:rPr>
              <a:t> </a:t>
            </a:r>
            <a:endParaRPr lang="en-US" sz="2000" i="1" dirty="0">
              <a:latin typeface="Verdana" charset="0"/>
              <a:ea typeface="Verdana" charset="0"/>
              <a:cs typeface="Verdana" charset="0"/>
            </a:endParaRPr>
          </a:p>
          <a:p>
            <a:pPr marL="469900"/>
            <a:r>
              <a:rPr lang="en-US" sz="2000" dirty="0">
                <a:latin typeface="Verdana" charset="0"/>
                <a:ea typeface="Verdana" charset="0"/>
                <a:cs typeface="Verdana" charset="0"/>
              </a:rPr>
              <a:t>I can solve problems using proportions.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pPr marL="457200" indent="-457200">
              <a:buFont typeface="+mj-lt"/>
              <a:buAutoNum type="arabicPeriod" startAt="2"/>
            </a:pPr>
            <a:r>
              <a:rPr lang="en-US" sz="2000" dirty="0">
                <a:latin typeface="Verdana" charset="0"/>
                <a:ea typeface="Verdana" charset="0"/>
                <a:cs typeface="Verdana" charset="0"/>
              </a:rPr>
              <a:t>Explain why you placed your </a:t>
            </a:r>
            <a:r>
              <a:rPr lang="en-US" sz="2000" b="1" dirty="0">
                <a:latin typeface="Verdana" charset="0"/>
                <a:ea typeface="Verdana" charset="0"/>
                <a:cs typeface="Verdana" charset="0"/>
              </a:rPr>
              <a:t>X</a:t>
            </a:r>
            <a:r>
              <a:rPr lang="en-US" sz="2000" dirty="0">
                <a:latin typeface="Verdana" charset="0"/>
                <a:ea typeface="Verdana" charset="0"/>
                <a:cs typeface="Verdana" charset="0"/>
              </a:rPr>
              <a:t> where you did.</a:t>
            </a:r>
            <a:endParaRPr lang="en-US" sz="2000" i="1" dirty="0">
              <a:latin typeface="Verdana" charset="0"/>
              <a:ea typeface="Verdana" charset="0"/>
              <a:cs typeface="Verdana" charset="0"/>
            </a:endParaRPr>
          </a:p>
          <a:p>
            <a:endParaRPr lang="en-US" sz="2000" i="1" dirty="0">
              <a:latin typeface="Verdana" charset="0"/>
              <a:ea typeface="Verdana" charset="0"/>
              <a:cs typeface="Verdana"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56816" y="3131314"/>
            <a:ext cx="8534400" cy="1181100"/>
          </a:xfrm>
          <a:prstGeom prst="rect">
            <a:avLst/>
          </a:prstGeom>
        </p:spPr>
      </p:pic>
      <p:sp>
        <p:nvSpPr>
          <p:cNvPr id="10" name="Google Shape;282;g104476d1465_1_17"/>
          <p:cNvSpPr txBox="1"/>
          <p:nvPr/>
        </p:nvSpPr>
        <p:spPr>
          <a:xfrm>
            <a:off x="8672062"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223</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1028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1362</TotalTime>
  <Words>1212</Words>
  <Application>Microsoft Office PowerPoint</Application>
  <PresentationFormat>Widescreen</PresentationFormat>
  <Paragraphs>207</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Arial Black</vt:lpstr>
      <vt:lpstr>Calibri</vt:lpstr>
      <vt:lpstr>Cambria Math</vt:lpstr>
      <vt:lpstr>Century Gothic</vt:lpstr>
      <vt:lpstr>Verdana</vt:lpstr>
      <vt:lpstr>Wingdings</vt:lpstr>
      <vt:lpstr>1_Office Theme</vt:lpstr>
      <vt:lpstr>6th Grade Accelerated Math  Unit 12, Lesson 2  Using Proportions to Solve Problems  Volume 2, pg. 218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Bring It Together</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26</cp:revision>
  <dcterms:created xsi:type="dcterms:W3CDTF">2015-03-17T18:51:18Z</dcterms:created>
  <dcterms:modified xsi:type="dcterms:W3CDTF">2022-07-02T04:09:48Z</dcterms:modified>
</cp:coreProperties>
</file>