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72" r:id="rId8"/>
    <p:sldId id="373" r:id="rId9"/>
    <p:sldId id="374" r:id="rId10"/>
    <p:sldId id="375" r:id="rId11"/>
    <p:sldId id="376" r:id="rId12"/>
    <p:sldId id="377" r:id="rId13"/>
    <p:sldId id="384" r:id="rId14"/>
    <p:sldId id="385" r:id="rId15"/>
    <p:sldId id="386" r:id="rId16"/>
    <p:sldId id="378" r:id="rId17"/>
    <p:sldId id="379" r:id="rId18"/>
    <p:sldId id="380" r:id="rId19"/>
    <p:sldId id="381" r:id="rId20"/>
    <p:sldId id="382" r:id="rId21"/>
    <p:sldId id="383" r:id="rId22"/>
    <p:sldId id="387"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68"/>
    <p:restoredTop sz="94695"/>
  </p:normalViewPr>
  <p:slideViewPr>
    <p:cSldViewPr snapToGrid="0">
      <p:cViewPr varScale="1">
        <p:scale>
          <a:sx n="79" d="100"/>
          <a:sy n="79" d="100"/>
        </p:scale>
        <p:origin x="47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042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811952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75503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701562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23720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68854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45921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521262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763768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12061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103695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08736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040750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031185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707231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613255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8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12,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Discounts and Markups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228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205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0241" y="15059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26741" y="3863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50241" y="1630680"/>
            <a:ext cx="909151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MA.7.AR.3.1 </a:t>
            </a:r>
          </a:p>
          <a:p>
            <a:pPr marL="468313" indent="0">
              <a:buNone/>
            </a:pPr>
            <a:r>
              <a:rPr lang="en-US" sz="2400" dirty="0">
                <a:latin typeface="Verdana" charset="0"/>
                <a:ea typeface="Verdana" charset="0"/>
                <a:cs typeface="Verdana" charset="0"/>
              </a:rPr>
              <a:t>Apply previous understanding of percentages and ratios to solve multi-step, real-world percent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797079" y="38636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621729" y="143734"/>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544379" y="1596390"/>
            <a:ext cx="969100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b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b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99019" y="82353"/>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16857" y="37155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603717" y="1498651"/>
            <a:ext cx="898456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problems involving discounts and markups.</a:t>
            </a:r>
          </a:p>
        </p:txBody>
      </p:sp>
      <p:sp>
        <p:nvSpPr>
          <p:cNvPr id="8"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88961" y="12073"/>
            <a:ext cx="89258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12.4.1 Warm-Up: Civil Engineer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41662" y="261774"/>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670870" y="1386026"/>
            <a:ext cx="9106292" cy="4401205"/>
          </a:xfrm>
          <a:prstGeom prst="rect">
            <a:avLst/>
          </a:prstGeom>
          <a:noFill/>
        </p:spPr>
        <p:txBody>
          <a:bodyPr wrap="square" rtlCol="0">
            <a:spAutoFit/>
          </a:bodyPr>
          <a:lstStyle/>
          <a:p>
            <a:r>
              <a:rPr lang="en-US" sz="2000" dirty="0" err="1">
                <a:latin typeface="Verdana" charset="0"/>
                <a:ea typeface="Verdana" charset="0"/>
                <a:cs typeface="Verdana" charset="0"/>
              </a:rPr>
              <a:t>Alishia</a:t>
            </a:r>
            <a:r>
              <a:rPr lang="en-US" sz="2000" dirty="0">
                <a:latin typeface="Verdana" charset="0"/>
                <a:ea typeface="Verdana" charset="0"/>
                <a:cs typeface="Verdana" charset="0"/>
              </a:rPr>
              <a:t> Ballard works as a civil engineer for San Francisco Public Works. Civil engineers work on the plans to create structures such as bridges, large buildings, etc. They also analyze whether or not structures are safe.</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How do you think civil engineers use math in their tasks?</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err="1">
                <a:latin typeface="Verdana" charset="0"/>
                <a:ea typeface="Verdana" charset="0"/>
                <a:cs typeface="Verdana" charset="0"/>
              </a:rPr>
              <a:t>Alishia</a:t>
            </a:r>
            <a:r>
              <a:rPr lang="en-US" sz="2000" dirty="0">
                <a:latin typeface="Verdana" charset="0"/>
                <a:ea typeface="Verdana" charset="0"/>
                <a:cs typeface="Verdana" charset="0"/>
              </a:rPr>
              <a:t> enjoys working at Public Works because it’s a way to give back to her community. Every structure plan she works on or structure she inspects is all for the people around her.</a:t>
            </a:r>
          </a:p>
          <a:p>
            <a:r>
              <a:rPr lang="en-US" sz="2000" dirty="0">
                <a:latin typeface="Verdana" charset="0"/>
                <a:ea typeface="Verdana" charset="0"/>
                <a:cs typeface="Verdana" charset="0"/>
              </a:rPr>
              <a:t> </a:t>
            </a:r>
          </a:p>
          <a:p>
            <a:pPr marL="457200" indent="-457200">
              <a:buFont typeface="+mj-lt"/>
              <a:buAutoNum type="arabicPeriod" startAt="2"/>
            </a:pPr>
            <a:r>
              <a:rPr lang="en-US" sz="2000" dirty="0">
                <a:latin typeface="Verdana" charset="0"/>
                <a:ea typeface="Verdana" charset="0"/>
                <a:cs typeface="Verdana" charset="0"/>
              </a:rPr>
              <a:t>What is something you have done that gives back to your community, your school, or your peers?</a:t>
            </a:r>
          </a:p>
        </p:txBody>
      </p:sp>
      <p:sp>
        <p:nvSpPr>
          <p:cNvPr id="9"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7513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51138" y="-3464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12.4.2 Guided Instruction: Discounts and Markup</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703838" y="17262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069145" y="1386025"/>
                <a:ext cx="10309742" cy="4985980"/>
              </a:xfrm>
              <a:prstGeom prst="rect">
                <a:avLst/>
              </a:prstGeom>
              <a:noFill/>
            </p:spPr>
            <p:txBody>
              <a:bodyPr wrap="square" rtlCol="0">
                <a:spAutoFit/>
              </a:bodyPr>
              <a:lstStyle/>
              <a:p>
                <a:r>
                  <a:rPr lang="en-US" sz="2000" dirty="0">
                    <a:latin typeface="Verdana" charset="0"/>
                    <a:ea typeface="Verdana" charset="0"/>
                    <a:cs typeface="Verdana" charset="0"/>
                  </a:rPr>
                  <a:t>Percentages and ratios are often used to express or solve problems involving changes in the price of goods and services.</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The price of a shirt is </a:t>
                </a:r>
                <a14:m>
                  <m:oMath xmlns:m="http://schemas.openxmlformats.org/officeDocument/2006/math">
                    <m:r>
                      <a:rPr lang="en-US" sz="2000" i="1">
                        <a:latin typeface="Cambria Math" panose="02040503050406030204" pitchFamily="18" charset="0"/>
                        <a:ea typeface="Verdana" charset="0"/>
                        <a:cs typeface="Verdana" charset="0"/>
                      </a:rPr>
                      <m:t>$18.50</m:t>
                    </m:r>
                  </m:oMath>
                </a14:m>
                <a:r>
                  <a:rPr lang="en-US" sz="2000" dirty="0">
                    <a:latin typeface="Verdana" charset="0"/>
                    <a:ea typeface="Verdana" charset="0"/>
                    <a:cs typeface="Verdana" charset="0"/>
                  </a:rPr>
                  <a:t>. Natalie has a coupon that reads “discount </a:t>
                </a:r>
                <a14:m>
                  <m:oMath xmlns:m="http://schemas.openxmlformats.org/officeDocument/2006/math">
                    <m:r>
                      <a:rPr lang="en-US" sz="2000" i="1">
                        <a:latin typeface="Cambria Math" panose="02040503050406030204" pitchFamily="18" charset="0"/>
                        <a:ea typeface="Verdana" charset="0"/>
                        <a:cs typeface="Verdana" charset="0"/>
                      </a:rPr>
                      <m:t>½</m:t>
                    </m:r>
                  </m:oMath>
                </a14:m>
                <a:r>
                  <a:rPr lang="en-US" sz="2000" dirty="0">
                    <a:latin typeface="Verdana" charset="0"/>
                    <a:ea typeface="Verdana" charset="0"/>
                    <a:cs typeface="Verdana" charset="0"/>
                  </a:rPr>
                  <a:t> off.”</a:t>
                </a:r>
              </a:p>
              <a:p>
                <a:r>
                  <a:rPr lang="en-US" sz="2000" dirty="0">
                    <a:latin typeface="Verdana" charset="0"/>
                    <a:ea typeface="Verdana" charset="0"/>
                    <a:cs typeface="Verdana" charset="0"/>
                  </a:rPr>
                  <a:t> </a:t>
                </a:r>
              </a:p>
              <a:p>
                <a:pPr marL="920750" indent="-498475">
                  <a:buFont typeface="+mj-lt"/>
                  <a:buAutoNum type="alphaLcPeriod"/>
                </a:pPr>
                <a:r>
                  <a:rPr lang="en-US" sz="2000" dirty="0">
                    <a:latin typeface="Verdana" charset="0"/>
                    <a:ea typeface="Verdana" charset="0"/>
                    <a:cs typeface="Verdana" charset="0"/>
                  </a:rPr>
                  <a:t>With the coupon, will Natalie pay more or pay less than </a:t>
                </a:r>
                <a14:m>
                  <m:oMath xmlns:m="http://schemas.openxmlformats.org/officeDocument/2006/math">
                    <m:r>
                      <a:rPr lang="en-US" sz="2000" i="1">
                        <a:latin typeface="Cambria Math" panose="02040503050406030204" pitchFamily="18" charset="0"/>
                        <a:ea typeface="Verdana" charset="0"/>
                        <a:cs typeface="Verdana" charset="0"/>
                      </a:rPr>
                      <m:t>$18.50</m:t>
                    </m:r>
                  </m:oMath>
                </a14:m>
                <a:r>
                  <a:rPr lang="en-US" sz="2000" dirty="0">
                    <a:latin typeface="Verdana" charset="0"/>
                    <a:ea typeface="Verdana" charset="0"/>
                    <a:cs typeface="Verdana" charset="0"/>
                  </a:rPr>
                  <a:t> for the shirt?</a:t>
                </a: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r>
                  <a:rPr lang="en-US" sz="2000" dirty="0">
                    <a:latin typeface="Verdana" charset="0"/>
                    <a:ea typeface="Verdana" charset="0"/>
                    <a:cs typeface="Verdana" charset="0"/>
                  </a:rPr>
                  <a:t>Discuss with your partner what “</a:t>
                </a:r>
                <a14:m>
                  <m:oMath xmlns:m="http://schemas.openxmlformats.org/officeDocument/2006/math">
                    <m:r>
                      <a:rPr lang="en-US" sz="2000" i="1">
                        <a:latin typeface="Cambria Math" panose="02040503050406030204" pitchFamily="18" charset="0"/>
                        <a:ea typeface="Verdana" charset="0"/>
                        <a:cs typeface="Verdana" charset="0"/>
                      </a:rPr>
                      <m:t>½</m:t>
                    </m:r>
                  </m:oMath>
                </a14:m>
                <a:r>
                  <a:rPr lang="en-US" sz="2000" dirty="0">
                    <a:latin typeface="Verdana" charset="0"/>
                    <a:ea typeface="Verdana" charset="0"/>
                    <a:cs typeface="Verdana" charset="0"/>
                  </a:rPr>
                  <a:t> off” means. Summarize your discussion.</a:t>
                </a: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r>
                  <a:rPr lang="en-US" sz="2000" dirty="0">
                    <a:latin typeface="Verdana" charset="0"/>
                    <a:ea typeface="Verdana" charset="0"/>
                    <a:cs typeface="Verdana" charset="0"/>
                  </a:rPr>
                  <a:t>By what percentage will the coupon reduce the price?</a:t>
                </a:r>
              </a:p>
              <a:p>
                <a:pPr marL="920750" indent="-498475">
                  <a:buFont typeface="+mj-lt"/>
                  <a:buAutoNum type="alphaLcPeriod"/>
                </a:pPr>
                <a:endParaRPr lang="en-US" sz="2000" dirty="0">
                  <a:latin typeface="Verdana" charset="0"/>
                  <a:ea typeface="Verdana" charset="0"/>
                  <a:cs typeface="Verdana"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069145" y="1386025"/>
                <a:ext cx="10309742" cy="4985980"/>
              </a:xfrm>
              <a:prstGeom prst="rect">
                <a:avLst/>
              </a:prstGeom>
              <a:blipFill rotWithShape="0">
                <a:blip r:embed="rId4"/>
                <a:stretch>
                  <a:fillRect l="-650" t="-611"/>
                </a:stretch>
              </a:blipFill>
            </p:spPr>
            <p:txBody>
              <a:bodyPr/>
              <a:lstStyle/>
              <a:p>
                <a:r>
                  <a:rPr lang="en-US">
                    <a:noFill/>
                  </a:rPr>
                  <a:t> </a:t>
                </a:r>
              </a:p>
            </p:txBody>
          </p:sp>
        </mc:Fallback>
      </mc:AlternateContent>
      <p:sp>
        <p:nvSpPr>
          <p:cNvPr id="10" name="Text Box 24"/>
          <p:cNvSpPr txBox="1"/>
          <p:nvPr/>
        </p:nvSpPr>
        <p:spPr>
          <a:xfrm>
            <a:off x="2180844" y="4885719"/>
            <a:ext cx="8086344" cy="646531"/>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chemeClr val="accent6"/>
                </a:solidFill>
                <a:latin typeface="Verdana" charset="0"/>
                <a:ea typeface="Verdana" charset="0"/>
                <a:cs typeface="Verdana" charset="0"/>
              </a:rPr>
              <a:t>A</a:t>
            </a:r>
            <a:r>
              <a:rPr lang="en-US" sz="2000" b="1" i="1" dirty="0">
                <a:solidFill>
                  <a:schemeClr val="accent6"/>
                </a:solidFill>
                <a:latin typeface="Verdana" charset="0"/>
                <a:ea typeface="Verdana" charset="0"/>
                <a:cs typeface="Verdana" charset="0"/>
              </a:rPr>
              <a:t> discount</a:t>
            </a:r>
            <a:r>
              <a:rPr lang="en-US" sz="2000" b="1" dirty="0">
                <a:solidFill>
                  <a:schemeClr val="accent6"/>
                </a:solidFill>
                <a:latin typeface="Verdana" charset="0"/>
                <a:ea typeface="Verdana" charset="0"/>
                <a:cs typeface="Verdana" charset="0"/>
              </a:rPr>
              <a:t> </a:t>
            </a:r>
            <a:r>
              <a:rPr lang="en-US" sz="2000" dirty="0">
                <a:solidFill>
                  <a:schemeClr val="accent6"/>
                </a:solidFill>
                <a:latin typeface="Verdana" charset="0"/>
                <a:ea typeface="Verdana" charset="0"/>
                <a:cs typeface="Verdana" charset="0"/>
              </a:rPr>
              <a:t>is a reduction of a price for goods or </a:t>
            </a:r>
            <a:r>
              <a:rPr lang="en-US" sz="2000">
                <a:solidFill>
                  <a:schemeClr val="accent6"/>
                </a:solidFill>
                <a:latin typeface="Verdana" charset="0"/>
                <a:ea typeface="Verdana" charset="0"/>
                <a:cs typeface="Verdana" charset="0"/>
              </a:rPr>
              <a:t>services.</a:t>
            </a:r>
            <a:endParaRPr lang="en-US" sz="2000" dirty="0">
              <a:solidFill>
                <a:schemeClr val="accent6"/>
              </a:solidFill>
              <a:latin typeface="Verdana" charset="0"/>
              <a:ea typeface="Verdana" charset="0"/>
              <a:cs typeface="Verdana" charset="0"/>
            </a:endParaRPr>
          </a:p>
        </p:txBody>
      </p:sp>
      <p:sp>
        <p:nvSpPr>
          <p:cNvPr id="11"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229</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1989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97280" y="520393"/>
            <a:ext cx="9237621" cy="3477875"/>
          </a:xfrm>
          <a:prstGeom prst="rect">
            <a:avLst/>
          </a:prstGeom>
          <a:noFill/>
        </p:spPr>
        <p:txBody>
          <a:bodyPr wrap="square" rtlCol="0">
            <a:spAutoFit/>
          </a:bodyPr>
          <a:lstStyle/>
          <a:p>
            <a:pPr marL="457200" indent="-457200">
              <a:buFont typeface="+mj-lt"/>
              <a:buAutoNum type="alphaLcPeriod" startAt="4"/>
            </a:pPr>
            <a:r>
              <a:rPr lang="en-US" sz="2000" dirty="0">
                <a:latin typeface="Verdana" charset="0"/>
                <a:ea typeface="Verdana" charset="0"/>
                <a:cs typeface="Verdana" charset="0"/>
              </a:rPr>
              <a:t>What is the discount amount, in dollars, taken off the shirt price?</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What is the discounted price, in dollars, of the shirt after the coupon is applied?</a:t>
            </a:r>
          </a:p>
        </p:txBody>
      </p:sp>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230</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2792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1348" y="520393"/>
                <a:ext cx="10119970" cy="347787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Cassidy, a young inventor of Baby Toon, appeared on Shark Tank in 2019. Cassidy shared that it costs her </a:t>
                </a:r>
                <a14:m>
                  <m:oMath xmlns:m="http://schemas.openxmlformats.org/officeDocument/2006/math">
                    <m:r>
                      <a:rPr lang="en-US" sz="2000" i="1">
                        <a:latin typeface="Cambria Math" panose="02040503050406030204" pitchFamily="18" charset="0"/>
                        <a:ea typeface="Verdana" charset="0"/>
                        <a:cs typeface="Verdana" charset="0"/>
                      </a:rPr>
                      <m:t>$6.60</m:t>
                    </m:r>
                  </m:oMath>
                </a14:m>
                <a:r>
                  <a:rPr lang="en-US" sz="2000" dirty="0">
                    <a:latin typeface="Verdana" charset="0"/>
                    <a:ea typeface="Verdana" charset="0"/>
                    <a:cs typeface="Verdana" charset="0"/>
                  </a:rPr>
                  <a:t> to produce one of her baby spoons and that she sells them to customers marked up to </a:t>
                </a:r>
                <a14:m>
                  <m:oMath xmlns:m="http://schemas.openxmlformats.org/officeDocument/2006/math">
                    <m:r>
                      <a:rPr lang="en-US" sz="2000" i="1">
                        <a:latin typeface="Cambria Math" panose="02040503050406030204" pitchFamily="18" charset="0"/>
                        <a:ea typeface="Verdana" charset="0"/>
                        <a:cs typeface="Verdana" charset="0"/>
                      </a:rPr>
                      <m:t>$15.00</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920750" indent="-512763">
                  <a:buFont typeface="+mj-lt"/>
                  <a:buAutoNum type="alphaLcPeriod"/>
                </a:pPr>
                <a:r>
                  <a:rPr lang="en-US" sz="2000" dirty="0">
                    <a:latin typeface="Verdana" charset="0"/>
                    <a:ea typeface="Verdana" charset="0"/>
                    <a:cs typeface="Verdana" charset="0"/>
                  </a:rPr>
                  <a:t>Does a markup increase or decrease the original price?</a:t>
                </a:r>
              </a:p>
              <a:p>
                <a:pPr marL="920750" indent="-512763">
                  <a:buFont typeface="+mj-lt"/>
                  <a:buAutoNum type="alphaLcPeriod"/>
                </a:pPr>
                <a:endParaRPr lang="en-US" sz="2000" dirty="0">
                  <a:latin typeface="Verdana" charset="0"/>
                  <a:ea typeface="Verdana" charset="0"/>
                  <a:cs typeface="Verdana" charset="0"/>
                </a:endParaRPr>
              </a:p>
              <a:p>
                <a:pPr marL="920750" indent="-512763">
                  <a:buFont typeface="+mj-lt"/>
                  <a:buAutoNum type="alphaLcPeriod"/>
                </a:pPr>
                <a:endParaRPr lang="en-US" sz="2000" dirty="0">
                  <a:latin typeface="Verdana" charset="0"/>
                  <a:ea typeface="Verdana" charset="0"/>
                  <a:cs typeface="Verdana" charset="0"/>
                </a:endParaRPr>
              </a:p>
              <a:p>
                <a:pPr marL="920750" indent="-512763">
                  <a:buFont typeface="+mj-lt"/>
                  <a:buAutoNum type="alphaLcPeriod"/>
                </a:pPr>
                <a:endParaRPr lang="en-US" sz="2000" dirty="0">
                  <a:latin typeface="Verdana" charset="0"/>
                  <a:ea typeface="Verdana" charset="0"/>
                  <a:cs typeface="Verdana" charset="0"/>
                </a:endParaRPr>
              </a:p>
              <a:p>
                <a:pPr marL="920750" indent="-512763">
                  <a:buFont typeface="+mj-lt"/>
                  <a:buAutoNum type="alphaLcPeriod"/>
                </a:pPr>
                <a:endParaRPr lang="en-US" sz="2000" dirty="0">
                  <a:latin typeface="Verdana" charset="0"/>
                  <a:ea typeface="Verdana" charset="0"/>
                  <a:cs typeface="Verdana" charset="0"/>
                </a:endParaRPr>
              </a:p>
              <a:p>
                <a:pPr marL="920750" indent="-512763">
                  <a:buFont typeface="+mj-lt"/>
                  <a:buAutoNum type="alphaLcPeriod"/>
                </a:pPr>
                <a:r>
                  <a:rPr lang="en-US" sz="2000" dirty="0">
                    <a:latin typeface="Verdana" charset="0"/>
                    <a:ea typeface="Verdana" charset="0"/>
                    <a:cs typeface="Verdana" charset="0"/>
                  </a:rPr>
                  <a:t>Discuss with your partner what you think markup means. Summarize the discussion by writing a definition for markup.</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11348" y="520393"/>
                <a:ext cx="10119970" cy="3477875"/>
              </a:xfrm>
              <a:prstGeom prst="rect">
                <a:avLst/>
              </a:prstGeom>
              <a:blipFill rotWithShape="0">
                <a:blip r:embed="rId3"/>
                <a:stretch>
                  <a:fillRect l="-663" t="-1051" r="-241" b="-2102"/>
                </a:stretch>
              </a:blipFill>
            </p:spPr>
            <p:txBody>
              <a:bodyPr/>
              <a:lstStyle/>
              <a:p>
                <a:r>
                  <a:rPr lang="en-US">
                    <a:noFill/>
                  </a:rPr>
                  <a:t> </a:t>
                </a:r>
              </a:p>
            </p:txBody>
          </p:sp>
        </mc:Fallback>
      </mc:AlternateContent>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6846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491176" y="520393"/>
            <a:ext cx="8843726" cy="400110"/>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Complete the statements.</a:t>
            </a:r>
          </a:p>
        </p:txBody>
      </p:sp>
      <p:sp>
        <p:nvSpPr>
          <p:cNvPr id="2" name="Rectangle 1"/>
          <p:cNvSpPr/>
          <p:nvPr/>
        </p:nvSpPr>
        <p:spPr>
          <a:xfrm>
            <a:off x="2910840" y="1414790"/>
            <a:ext cx="7424060" cy="2862322"/>
          </a:xfrm>
          <a:prstGeom prst="rect">
            <a:avLst/>
          </a:prstGeom>
        </p:spPr>
        <p:txBody>
          <a:bodyPr wrap="square">
            <a:spAutoFit/>
          </a:bodyPr>
          <a:lstStyle/>
          <a:p>
            <a:r>
              <a:rPr lang="en-US" sz="2000" dirty="0">
                <a:latin typeface="Verdana" charset="0"/>
                <a:ea typeface="Verdana" charset="0"/>
                <a:cs typeface="Verdana" charset="0"/>
              </a:rPr>
              <a:t>A markup is applied to goods or services so that the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seller is able to make a                     The markup</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the price from the cost to the seller and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is usually determined using percentages. </a:t>
            </a:r>
          </a:p>
          <a:p>
            <a:endParaRPr lang="en-US" sz="2000" dirty="0">
              <a:latin typeface="Verdana" charset="0"/>
              <a:ea typeface="Verdana" charset="0"/>
              <a:cs typeface="Verdana" charset="0"/>
            </a:endParaRPr>
          </a:p>
        </p:txBody>
      </p:sp>
      <p:pic>
        <p:nvPicPr>
          <p:cNvPr id="3" name="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97601" y="1807238"/>
            <a:ext cx="1356399" cy="858727"/>
          </a:xfrm>
          <a:prstGeom prst="rect">
            <a:avLst/>
          </a:prstGeom>
        </p:spPr>
      </p:pic>
      <p:pic>
        <p:nvPicPr>
          <p:cNvPr id="4" name="Picture 3"/>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02758" y="2566099"/>
            <a:ext cx="1912620" cy="858727"/>
          </a:xfrm>
          <a:prstGeom prst="rect">
            <a:avLst/>
          </a:prstGeom>
        </p:spPr>
      </p:pic>
      <p:sp>
        <p:nvSpPr>
          <p:cNvPr id="9"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230</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10591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1349" y="520393"/>
                <a:ext cx="10535364" cy="3170099"/>
              </a:xfrm>
              <a:prstGeom prst="rect">
                <a:avLst/>
              </a:prstGeom>
              <a:noFill/>
            </p:spPr>
            <p:txBody>
              <a:bodyPr wrap="square" rtlCol="0">
                <a:spAutoFit/>
              </a:bodyPr>
              <a:lstStyle/>
              <a:p>
                <a:pPr marL="457200" indent="-457200">
                  <a:buFont typeface="+mj-lt"/>
                  <a:buAutoNum type="alphaLcPeriod" startAt="4"/>
                </a:pPr>
                <a:r>
                  <a:rPr lang="en-US" sz="2000" dirty="0">
                    <a:latin typeface="Verdana" charset="0"/>
                    <a:ea typeface="Verdana" charset="0"/>
                    <a:cs typeface="Verdana" charset="0"/>
                  </a:rPr>
                  <a:t>If Cassidy placed a </a:t>
                </a:r>
                <a14:m>
                  <m:oMath xmlns:m="http://schemas.openxmlformats.org/officeDocument/2006/math">
                    <m:r>
                      <a:rPr lang="en-US" sz="2000" i="1">
                        <a:latin typeface="Cambria Math" panose="02040503050406030204" pitchFamily="18" charset="0"/>
                        <a:ea typeface="Verdana" charset="0"/>
                        <a:cs typeface="Verdana" charset="0"/>
                      </a:rPr>
                      <m:t>100%</m:t>
                    </m:r>
                  </m:oMath>
                </a14:m>
                <a:r>
                  <a:rPr lang="en-US" sz="2000" dirty="0">
                    <a:latin typeface="Verdana" charset="0"/>
                    <a:ea typeface="Verdana" charset="0"/>
                    <a:cs typeface="Verdana" charset="0"/>
                  </a:rPr>
                  <a:t> markup on her spoons that only cost </a:t>
                </a:r>
                <a14:m>
                  <m:oMath xmlns:m="http://schemas.openxmlformats.org/officeDocument/2006/math">
                    <m:r>
                      <a:rPr lang="en-US" sz="2000" i="1">
                        <a:latin typeface="Cambria Math" panose="02040503050406030204" pitchFamily="18" charset="0"/>
                        <a:ea typeface="Verdana" charset="0"/>
                        <a:cs typeface="Verdana" charset="0"/>
                      </a:rPr>
                      <m:t>$6.60</m:t>
                    </m:r>
                  </m:oMath>
                </a14:m>
                <a:r>
                  <a:rPr lang="en-US" sz="2000" dirty="0">
                    <a:latin typeface="Verdana" charset="0"/>
                    <a:ea typeface="Verdana" charset="0"/>
                    <a:cs typeface="Verdana" charset="0"/>
                  </a:rPr>
                  <a:t> to produce, what would the price of a spoon be for customers?</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Discuss with your partner how you determined a </a:t>
                </a:r>
                <a14:m>
                  <m:oMath xmlns:m="http://schemas.openxmlformats.org/officeDocument/2006/math">
                    <m:r>
                      <a:rPr lang="en-US" sz="2000" i="1">
                        <a:latin typeface="Cambria Math" panose="02040503050406030204" pitchFamily="18" charset="0"/>
                        <a:ea typeface="Verdana" charset="0"/>
                        <a:cs typeface="Verdana" charset="0"/>
                      </a:rPr>
                      <m:t>100%</m:t>
                    </m:r>
                  </m:oMath>
                </a14:m>
                <a:r>
                  <a:rPr lang="en-US" sz="2000" dirty="0">
                    <a:latin typeface="Verdana" charset="0"/>
                    <a:ea typeface="Verdana" charset="0"/>
                    <a:cs typeface="Verdana" charset="0"/>
                  </a:rPr>
                  <a:t> markup of $</a:t>
                </a:r>
                <a14:m>
                  <m:oMath xmlns:m="http://schemas.openxmlformats.org/officeDocument/2006/math">
                    <m:r>
                      <a:rPr lang="en-US" sz="2000" i="1">
                        <a:latin typeface="Cambria Math" panose="02040503050406030204" pitchFamily="18" charset="0"/>
                        <a:ea typeface="Verdana" charset="0"/>
                        <a:cs typeface="Verdana" charset="0"/>
                      </a:rPr>
                      <m:t>6.60</m:t>
                    </m:r>
                  </m:oMath>
                </a14:m>
                <a:r>
                  <a:rPr lang="en-US" sz="2000" dirty="0">
                    <a:latin typeface="Verdana" charset="0"/>
                    <a:ea typeface="Verdana" charset="0"/>
                    <a:cs typeface="Verdana" charset="0"/>
                  </a:rPr>
                  <a:t>. After your discussion, make any revisions to part b, if necessary.</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11349" y="520393"/>
                <a:ext cx="10535364" cy="3170099"/>
              </a:xfrm>
              <a:prstGeom prst="rect">
                <a:avLst/>
              </a:prstGeom>
              <a:blipFill rotWithShape="0">
                <a:blip r:embed="rId3"/>
                <a:stretch>
                  <a:fillRect l="-636" t="-1154" r="-1330" b="-2500"/>
                </a:stretch>
              </a:blipFill>
            </p:spPr>
            <p:txBody>
              <a:bodyPr/>
              <a:lstStyle/>
              <a:p>
                <a:r>
                  <a:rPr lang="en-US">
                    <a:noFill/>
                  </a:rPr>
                  <a:t> </a:t>
                </a:r>
              </a:p>
            </p:txBody>
          </p:sp>
        </mc:Fallback>
      </mc:AlternateContent>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72255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80161" y="520394"/>
                <a:ext cx="10197740" cy="707886"/>
              </a:xfrm>
              <a:prstGeom prst="rect">
                <a:avLst/>
              </a:prstGeom>
              <a:noFill/>
            </p:spPr>
            <p:txBody>
              <a:bodyPr wrap="square" rtlCol="0">
                <a:spAutoFit/>
              </a:bodyPr>
              <a:lstStyle/>
              <a:p>
                <a:pPr marL="457200" indent="-457200">
                  <a:buFont typeface="+mj-lt"/>
                  <a:buAutoNum type="alphaLcPeriod" startAt="6"/>
                </a:pPr>
                <a:r>
                  <a:rPr lang="en-US" sz="2000" dirty="0">
                    <a:latin typeface="Verdana" charset="0"/>
                    <a:ea typeface="Verdana" charset="0"/>
                    <a:cs typeface="Verdana" charset="0"/>
                  </a:rPr>
                  <a:t>Jovi and Malik used two different methods to find the price of the spoon if the markup used is </a:t>
                </a:r>
                <a14:m>
                  <m:oMath xmlns:m="http://schemas.openxmlformats.org/officeDocument/2006/math">
                    <m:r>
                      <a:rPr lang="en-US" sz="2000" i="1">
                        <a:latin typeface="Cambria Math" panose="02040503050406030204" pitchFamily="18" charset="0"/>
                        <a:ea typeface="Verdana" charset="0"/>
                        <a:cs typeface="Verdana" charset="0"/>
                      </a:rPr>
                      <m:t>61%</m:t>
                    </m:r>
                  </m:oMath>
                </a14:m>
                <a:r>
                  <a:rPr lang="en-US" sz="2000" dirty="0">
                    <a:latin typeface="Verdana" charset="0"/>
                    <a:ea typeface="Verdana" charset="0"/>
                    <a:cs typeface="Verdana" charset="0"/>
                  </a:rPr>
                  <a:t>. Part of their work is shown.</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80161" y="520394"/>
                <a:ext cx="10197740" cy="707886"/>
              </a:xfrm>
              <a:prstGeom prst="rect">
                <a:avLst/>
              </a:prstGeom>
              <a:blipFill rotWithShape="0">
                <a:blip r:embed="rId3"/>
                <a:stretch>
                  <a:fillRect l="-658" t="-5172" r="-299" b="-14655"/>
                </a:stretch>
              </a:blipFill>
            </p:spPr>
            <p:txBody>
              <a:bodyPr/>
              <a:lstStyle/>
              <a:p>
                <a:r>
                  <a:rPr lang="en-US">
                    <a:noFill/>
                  </a:rPr>
                  <a:t> </a:t>
                </a:r>
              </a:p>
            </p:txBody>
          </p:sp>
        </mc:Fallback>
      </mc:AlternateContent>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00043" y="1749535"/>
            <a:ext cx="7942580" cy="3109485"/>
          </a:xfrm>
          <a:prstGeom prst="rect">
            <a:avLst/>
          </a:prstGeom>
        </p:spPr>
      </p:pic>
      <p:sp>
        <p:nvSpPr>
          <p:cNvPr id="7"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231</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86175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6" cy="5324535"/>
              </a:xfrm>
              <a:prstGeom prst="rect">
                <a:avLst/>
              </a:prstGeom>
              <a:noFill/>
            </p:spPr>
            <p:txBody>
              <a:bodyPr wrap="square" rtlCol="0">
                <a:spAutoFit/>
              </a:bodyPr>
              <a:lstStyle/>
              <a:p>
                <a:r>
                  <a:rPr lang="en-US" sz="2000" dirty="0">
                    <a:latin typeface="Verdana" charset="0"/>
                    <a:ea typeface="Verdana" charset="0"/>
                    <a:cs typeface="Verdana" charset="0"/>
                  </a:rPr>
                  <a:t>Complete the statements.</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Jovi used a percent                        to find the value of </a:t>
                </a:r>
                <a14:m>
                  <m:oMath xmlns:m="http://schemas.openxmlformats.org/officeDocument/2006/math">
                    <m:r>
                      <a:rPr lang="en-US" sz="2000" i="1">
                        <a:latin typeface="Cambria Math" panose="02040503050406030204" pitchFamily="18" charset="0"/>
                        <a:ea typeface="Verdana" charset="0"/>
                        <a:cs typeface="Verdana" charset="0"/>
                      </a:rPr>
                      <m:t>𝑚</m:t>
                    </m:r>
                  </m:oMath>
                </a14:m>
                <a:r>
                  <a:rPr lang="en-US" sz="2000" dirty="0">
                    <a:latin typeface="Verdana" charset="0"/>
                    <a:ea typeface="Verdana" charset="0"/>
                    <a:cs typeface="Verdana" charset="0"/>
                  </a:rPr>
                  <a:t> while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Malik used a percent                        Both methods resulted in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the same value of </a:t>
                </a:r>
                <a14:m>
                  <m:oMath xmlns:m="http://schemas.openxmlformats.org/officeDocument/2006/math">
                    <m:r>
                      <a:rPr lang="en-US" sz="2000" i="1">
                        <a:latin typeface="Cambria Math" panose="02040503050406030204" pitchFamily="18" charset="0"/>
                        <a:ea typeface="Verdana" charset="0"/>
                        <a:cs typeface="Verdana" charset="0"/>
                      </a:rPr>
                      <m:t>𝑚</m:t>
                    </m:r>
                  </m:oMath>
                </a14:m>
                <a:r>
                  <a:rPr lang="en-US" sz="2000" dirty="0">
                    <a:latin typeface="Verdana" charset="0"/>
                    <a:ea typeface="Verdana" charset="0"/>
                    <a:cs typeface="Verdana" charset="0"/>
                  </a:rPr>
                  <a:t>, which represents the</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At a </a:t>
                </a:r>
                <a14:m>
                  <m:oMath xmlns:m="http://schemas.openxmlformats.org/officeDocument/2006/math">
                    <m:r>
                      <a:rPr lang="en-US" sz="2000" i="1">
                        <a:latin typeface="Cambria Math" panose="02040503050406030204" pitchFamily="18" charset="0"/>
                        <a:ea typeface="Verdana" charset="0"/>
                        <a:cs typeface="Verdana" charset="0"/>
                      </a:rPr>
                      <m:t>61%</m:t>
                    </m:r>
                  </m:oMath>
                </a14:m>
                <a:r>
                  <a:rPr lang="en-US" sz="2000" dirty="0">
                    <a:latin typeface="Verdana" charset="0"/>
                    <a:ea typeface="Verdana" charset="0"/>
                    <a:cs typeface="Verdana" charset="0"/>
                  </a:rPr>
                  <a:t> markup, the spoon would sell for </a:t>
                </a: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5" y="520393"/>
                <a:ext cx="8327136" cy="5324535"/>
              </a:xfrm>
              <a:prstGeom prst="rect">
                <a:avLst/>
              </a:prstGeom>
              <a:blipFill rotWithShape="0">
                <a:blip r:embed="rId4"/>
                <a:stretch>
                  <a:fillRect l="-732" t="-572" r="-1171"/>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71276" y="937044"/>
            <a:ext cx="1929968" cy="864465"/>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806436" y="2101107"/>
            <a:ext cx="2070694" cy="964984"/>
          </a:xfrm>
          <a:prstGeom prst="rect">
            <a:avLst/>
          </a:prstGeom>
        </p:spPr>
      </p:pic>
      <p:pic>
        <p:nvPicPr>
          <p:cNvPr id="4" name="Picture 3"/>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180583" y="3752185"/>
            <a:ext cx="4643985" cy="894620"/>
          </a:xfrm>
          <a:prstGeom prst="rect">
            <a:avLst/>
          </a:prstGeom>
        </p:spPr>
      </p:pic>
      <p:pic>
        <p:nvPicPr>
          <p:cNvPr id="5" name="Picture 4"/>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654587" y="4484822"/>
            <a:ext cx="1417320" cy="1537943"/>
          </a:xfrm>
          <a:prstGeom prst="rect">
            <a:avLst/>
          </a:prstGeom>
        </p:spPr>
      </p:pic>
      <p:sp>
        <p:nvSpPr>
          <p:cNvPr id="10"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231</a:t>
            </a:r>
            <a:endParaRPr i="1" dirty="0">
              <a:latin typeface="Calibri"/>
              <a:ea typeface="Calibri"/>
              <a:cs typeface="Calibri"/>
              <a:sym typeface="Calibri"/>
            </a:endParaRPr>
          </a:p>
        </p:txBody>
      </p:sp>
      <p:pic>
        <p:nvPicPr>
          <p:cNvPr id="11"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059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52026" y="520393"/>
                <a:ext cx="10223530" cy="1323439"/>
              </a:xfrm>
              <a:prstGeom prst="rect">
                <a:avLst/>
              </a:prstGeom>
              <a:noFill/>
            </p:spPr>
            <p:txBody>
              <a:bodyPr wrap="square" rtlCol="0">
                <a:spAutoFit/>
              </a:bodyPr>
              <a:lstStyle/>
              <a:p>
                <a:pPr marL="457200" indent="-457200">
                  <a:buFont typeface="+mj-lt"/>
                  <a:buAutoNum type="alphaLcPeriod" startAt="7"/>
                </a:pPr>
                <a:r>
                  <a:rPr lang="en-US" sz="2000" dirty="0">
                    <a:latin typeface="Verdana" charset="0"/>
                    <a:ea typeface="Verdana" charset="0"/>
                    <a:cs typeface="Verdana" charset="0"/>
                  </a:rPr>
                  <a:t>Jovi and Malik both found the price of the spoon after a </a:t>
                </a:r>
                <a14:m>
                  <m:oMath xmlns:m="http://schemas.openxmlformats.org/officeDocument/2006/math">
                    <m:r>
                      <a:rPr lang="en-US" sz="2000" i="1">
                        <a:latin typeface="Cambria Math" panose="02040503050406030204" pitchFamily="18" charset="0"/>
                        <a:ea typeface="Verdana" charset="0"/>
                        <a:cs typeface="Verdana" charset="0"/>
                      </a:rPr>
                      <m:t>61%</m:t>
                    </m:r>
                  </m:oMath>
                </a14:m>
                <a:r>
                  <a:rPr lang="en-US" sz="2000" dirty="0">
                    <a:latin typeface="Verdana" charset="0"/>
                    <a:ea typeface="Verdana" charset="0"/>
                    <a:cs typeface="Verdana" charset="0"/>
                  </a:rPr>
                  <a:t> markup by calculating the amount of the markup and adding it to the cost of the spoon. What percentage could they have used if they wanted to calculate the price after markup in one step?</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52026" y="520393"/>
                <a:ext cx="10223530" cy="1323439"/>
              </a:xfrm>
              <a:prstGeom prst="rect">
                <a:avLst/>
              </a:prstGeom>
              <a:blipFill rotWithShape="0">
                <a:blip r:embed="rId3"/>
                <a:stretch>
                  <a:fillRect l="-656" t="-2765" b="-7373"/>
                </a:stretch>
              </a:blipFill>
            </p:spPr>
            <p:txBody>
              <a:bodyPr/>
              <a:lstStyle/>
              <a:p>
                <a:r>
                  <a:rPr lang="en-US">
                    <a:noFill/>
                  </a:rPr>
                  <a:t> </a:t>
                </a:r>
              </a:p>
            </p:txBody>
          </p:sp>
        </mc:Fallback>
      </mc:AlternateContent>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51840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291"/>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41597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9884" y="2349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12.4.3 Activity: Math Menu</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0076" y="31143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1449884" y="1386026"/>
            <a:ext cx="9548264" cy="1015663"/>
          </a:xfrm>
          <a:prstGeom prst="rect">
            <a:avLst/>
          </a:prstGeom>
          <a:noFill/>
        </p:spPr>
        <p:txBody>
          <a:bodyPr wrap="square" rtlCol="0">
            <a:spAutoFit/>
          </a:bodyPr>
          <a:lstStyle/>
          <a:p>
            <a:r>
              <a:rPr lang="en-US" sz="2000" dirty="0">
                <a:latin typeface="Verdana" charset="0"/>
                <a:ea typeface="Verdana" charset="0"/>
                <a:cs typeface="Verdana" charset="0"/>
              </a:rPr>
              <a:t>With your partner, choose your meal from the math menu shown. Select one appetizer, one main course, two side dishes, and one dessert. Put a * next to your selections. Then, solve each problem selected.</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574606254"/>
                  </p:ext>
                </p:extLst>
              </p:nvPr>
            </p:nvGraphicFramePr>
            <p:xfrm>
              <a:off x="2581656" y="2794458"/>
              <a:ext cx="7284720" cy="3578225"/>
            </p:xfrm>
            <a:graphic>
              <a:graphicData uri="http://schemas.openxmlformats.org/drawingml/2006/table">
                <a:tbl>
                  <a:tblPr firstRow="1" firstCol="1" bandRow="1"/>
                  <a:tblGrid>
                    <a:gridCol w="7284720">
                      <a:extLst>
                        <a:ext uri="{9D8B030D-6E8A-4147-A177-3AD203B41FA5}">
                          <a16:colId xmlns:a16="http://schemas.microsoft.com/office/drawing/2014/main" val="20000"/>
                        </a:ext>
                      </a:extLst>
                    </a:gridCol>
                  </a:tblGrid>
                  <a:tr h="0">
                    <a:tc>
                      <a:txBody>
                        <a:bodyPr/>
                        <a:lstStyle/>
                        <a:p>
                          <a:pPr marL="0" marR="0" algn="ctr">
                            <a:spcBef>
                              <a:spcPts val="0"/>
                            </a:spcBef>
                            <a:spcAft>
                              <a:spcPts val="0"/>
                            </a:spcAft>
                          </a:pPr>
                          <a:r>
                            <a:rPr lang="en-US" sz="2000" b="1">
                              <a:effectLst/>
                              <a:latin typeface="Verdana" charset="0"/>
                              <a:ea typeface="Verdana" charset="0"/>
                              <a:cs typeface="Verdana" charset="0"/>
                            </a:rPr>
                            <a:t>Appetizers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14425">
                    <a:tc>
                      <a:txBody>
                        <a:bodyPr/>
                        <a:lstStyle/>
                        <a:p>
                          <a:pPr marL="441960" marR="0" indent="-441960">
                            <a:spcBef>
                              <a:spcPts val="0"/>
                            </a:spcBef>
                            <a:spcAft>
                              <a:spcPts val="0"/>
                            </a:spcAft>
                            <a:tabLst>
                              <a:tab pos="441960" algn="l"/>
                            </a:tabLst>
                          </a:pPr>
                          <a:r>
                            <a:rPr lang="en-US" sz="2000">
                              <a:effectLst/>
                              <a:latin typeface="Verdana" charset="0"/>
                              <a:ea typeface="Verdana" charset="0"/>
                              <a:cs typeface="Verdana" charset="0"/>
                            </a:rPr>
                            <a:t>A1. A book has been discounted by </a:t>
                          </a:r>
                          <a14:m>
                            <m:oMath xmlns:m="http://schemas.openxmlformats.org/officeDocument/2006/math">
                              <m:f>
                                <m:fPr>
                                  <m:type m:val="skw"/>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10</m:t>
                                  </m:r>
                                </m:den>
                              </m:f>
                            </m:oMath>
                          </a14:m>
                          <a:r>
                            <a:rPr lang="en-US" sz="2000">
                              <a:effectLst/>
                              <a:latin typeface="Verdana" charset="0"/>
                              <a:ea typeface="Verdana" charset="0"/>
                              <a:cs typeface="Verdana" charset="0"/>
                            </a:rPr>
                            <a:t>. The original price of the book is </a:t>
                          </a:r>
                          <a14:m>
                            <m:oMath xmlns:m="http://schemas.openxmlformats.org/officeDocument/2006/math">
                              <m:r>
                                <a:rPr lang="en-US" sz="2000" i="1">
                                  <a:effectLst/>
                                  <a:latin typeface="Cambria Math" panose="02040503050406030204" pitchFamily="18" charset="0"/>
                                  <a:ea typeface="Verdana" charset="0"/>
                                  <a:cs typeface="Verdana" charset="0"/>
                                </a:rPr>
                                <m:t>$34.99</m:t>
                              </m:r>
                            </m:oMath>
                          </a14:m>
                          <a:r>
                            <a:rPr lang="en-US" sz="2000">
                              <a:effectLst/>
                              <a:latin typeface="Verdana" charset="0"/>
                              <a:ea typeface="Verdana" charset="0"/>
                              <a:cs typeface="Verdana" charset="0"/>
                            </a:rPr>
                            <a:t>. What is the amount being discounted from the book?</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13765">
                    <a:tc>
                      <a:txBody>
                        <a:bodyPr/>
                        <a:lstStyle/>
                        <a:p>
                          <a:pPr marL="499110" marR="0" indent="-499110">
                            <a:spcBef>
                              <a:spcPts val="0"/>
                            </a:spcBef>
                            <a:spcAft>
                              <a:spcPts val="0"/>
                            </a:spcAft>
                            <a:tabLst>
                              <a:tab pos="457200" algn="l"/>
                            </a:tabLst>
                          </a:pPr>
                          <a:r>
                            <a:rPr lang="en-US" sz="2000" dirty="0">
                              <a:effectLst/>
                              <a:latin typeface="Verdana" charset="0"/>
                              <a:ea typeface="Verdana" charset="0"/>
                              <a:cs typeface="Verdana" charset="0"/>
                            </a:rPr>
                            <a:t>A2. Westside Skate Shop is having a storewide </a:t>
                          </a:r>
                          <a14:m>
                            <m:oMath xmlns:m="http://schemas.openxmlformats.org/officeDocument/2006/math">
                              <m:f>
                                <m:fPr>
                                  <m:type m:val="skw"/>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5</m:t>
                                  </m:r>
                                </m:den>
                              </m:f>
                            </m:oMath>
                          </a14:m>
                          <a:r>
                            <a:rPr lang="en-US" sz="2000" dirty="0">
                              <a:effectLst/>
                              <a:latin typeface="Verdana" charset="0"/>
                              <a:ea typeface="Verdana" charset="0"/>
                              <a:cs typeface="Verdana" charset="0"/>
                            </a:rPr>
                            <a:t> off sale. Find the amount saved on a </a:t>
                          </a:r>
                          <a14:m>
                            <m:oMath xmlns:m="http://schemas.openxmlformats.org/officeDocument/2006/math">
                              <m:r>
                                <a:rPr lang="en-US" sz="2000" i="1">
                                  <a:effectLst/>
                                  <a:latin typeface="Cambria Math" panose="02040503050406030204" pitchFamily="18" charset="0"/>
                                  <a:ea typeface="Verdana" charset="0"/>
                                  <a:cs typeface="Verdana" charset="0"/>
                                </a:rPr>
                                <m:t>$66</m:t>
                              </m:r>
                            </m:oMath>
                          </a14:m>
                          <a:r>
                            <a:rPr lang="en-US" sz="2000" dirty="0">
                              <a:effectLst/>
                              <a:latin typeface="Verdana" charset="0"/>
                              <a:ea typeface="Verdana" charset="0"/>
                              <a:cs typeface="Verdana" charset="0"/>
                            </a:rPr>
                            <a:t> skateboard.</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45235">
                    <a:tc>
                      <a:txBody>
                        <a:bodyPr/>
                        <a:lstStyle/>
                        <a:p>
                          <a:pPr marL="441960" marR="0" indent="-441960">
                            <a:spcBef>
                              <a:spcPts val="0"/>
                            </a:spcBef>
                            <a:spcAft>
                              <a:spcPts val="0"/>
                            </a:spcAft>
                            <a:tabLst>
                              <a:tab pos="457200" algn="l"/>
                            </a:tabLst>
                          </a:pPr>
                          <a:r>
                            <a:rPr lang="en-US" sz="2000" dirty="0">
                              <a:effectLst/>
                              <a:latin typeface="Verdana" charset="0"/>
                              <a:ea typeface="Verdana" charset="0"/>
                              <a:cs typeface="Verdana" charset="0"/>
                            </a:rPr>
                            <a:t>A3. </a:t>
                          </a:r>
                          <a:r>
                            <a:rPr lang="en-US" sz="2000" dirty="0" err="1">
                              <a:effectLst/>
                              <a:latin typeface="Verdana" charset="0"/>
                              <a:ea typeface="Verdana" charset="0"/>
                              <a:cs typeface="Verdana" charset="0"/>
                            </a:rPr>
                            <a:t>Jennea</a:t>
                          </a:r>
                          <a:r>
                            <a:rPr lang="en-US" sz="2000" dirty="0">
                              <a:effectLst/>
                              <a:latin typeface="Verdana" charset="0"/>
                              <a:ea typeface="Verdana" charset="0"/>
                              <a:cs typeface="Verdana" charset="0"/>
                            </a:rPr>
                            <a:t> bought a scratched iPhone because it was discounted </a:t>
                          </a:r>
                          <a14:m>
                            <m:oMath xmlns:m="http://schemas.openxmlformats.org/officeDocument/2006/math">
                              <m:f>
                                <m:fPr>
                                  <m:type m:val="skw"/>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9</m:t>
                                  </m:r>
                                </m:num>
                                <m:den>
                                  <m:r>
                                    <a:rPr lang="en-US" sz="2000" i="1">
                                      <a:effectLst/>
                                      <a:latin typeface="Cambria Math" panose="02040503050406030204" pitchFamily="18" charset="0"/>
                                      <a:ea typeface="Verdana" charset="0"/>
                                      <a:cs typeface="Verdana" charset="0"/>
                                    </a:rPr>
                                    <m:t>20</m:t>
                                  </m:r>
                                </m:den>
                              </m:f>
                            </m:oMath>
                          </a14:m>
                          <a:r>
                            <a:rPr lang="en-US" sz="2000" dirty="0">
                              <a:effectLst/>
                              <a:latin typeface="Verdana" charset="0"/>
                              <a:ea typeface="Verdana" charset="0"/>
                              <a:cs typeface="Verdana" charset="0"/>
                            </a:rPr>
                            <a:t> off the original price of </a:t>
                          </a:r>
                          <a14:m>
                            <m:oMath xmlns:m="http://schemas.openxmlformats.org/officeDocument/2006/math">
                              <m:r>
                                <a:rPr lang="en-US" sz="2000" i="1">
                                  <a:effectLst/>
                                  <a:latin typeface="Cambria Math" panose="02040503050406030204" pitchFamily="18" charset="0"/>
                                  <a:ea typeface="Verdana" charset="0"/>
                                  <a:cs typeface="Verdana" charset="0"/>
                                </a:rPr>
                                <m:t>$795</m:t>
                              </m:r>
                            </m:oMath>
                          </a14:m>
                          <a:r>
                            <a:rPr lang="en-US" sz="2000" dirty="0">
                              <a:effectLst/>
                              <a:latin typeface="Verdana" charset="0"/>
                              <a:ea typeface="Verdana" charset="0"/>
                              <a:cs typeface="Verdana" charset="0"/>
                            </a:rPr>
                            <a:t>. What was the reduced price, in dollars?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574606254"/>
                  </p:ext>
                </p:extLst>
              </p:nvPr>
            </p:nvGraphicFramePr>
            <p:xfrm>
              <a:off x="1057656" y="2794457"/>
              <a:ext cx="7284720" cy="3578225"/>
            </p:xfrm>
            <a:graphic>
              <a:graphicData uri="http://schemas.openxmlformats.org/drawingml/2006/table">
                <a:tbl>
                  <a:tblPr firstRow="1" firstCol="1" bandRow="1"/>
                  <a:tblGrid>
                    <a:gridCol w="7284720"/>
                  </a:tblGrid>
                  <a:tr h="304800">
                    <a:tc>
                      <a:txBody>
                        <a:bodyPr/>
                        <a:lstStyle/>
                        <a:p>
                          <a:pPr marL="0" marR="0" algn="ctr">
                            <a:spcBef>
                              <a:spcPts val="0"/>
                            </a:spcBef>
                            <a:spcAft>
                              <a:spcPts val="0"/>
                            </a:spcAft>
                          </a:pPr>
                          <a:r>
                            <a:rPr lang="en-US" sz="2000" b="1">
                              <a:effectLst/>
                              <a:latin typeface="Verdana" charset="0"/>
                              <a:ea typeface="Verdana" charset="0"/>
                              <a:cs typeface="Verdana" charset="0"/>
                            </a:rPr>
                            <a:t>Appetizers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11442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4" t="-38251" r="-167" b="-222951"/>
                          </a:stretch>
                        </a:blipFill>
                      </a:tcPr>
                    </a:tc>
                  </a:tr>
                  <a:tr h="91376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4" t="-168667" r="-167" b="-172000"/>
                          </a:stretch>
                        </a:blipFill>
                      </a:tcPr>
                    </a:tc>
                  </a:tr>
                  <a:tr h="124523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4" t="-196585" r="-167" b="-25854"/>
                          </a:stretch>
                        </a:blipFill>
                      </a:tcPr>
                    </a:tc>
                  </a:tr>
                </a:tbl>
              </a:graphicData>
            </a:graphic>
          </p:graphicFrame>
        </mc:Fallback>
      </mc:AlternateContent>
      <p:sp>
        <p:nvSpPr>
          <p:cNvPr id="11"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232</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10543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6445647"/>
                  </p:ext>
                </p:extLst>
              </p:nvPr>
            </p:nvGraphicFramePr>
            <p:xfrm>
              <a:off x="2614138" y="571025"/>
              <a:ext cx="7359964" cy="4686775"/>
            </p:xfrm>
            <a:graphic>
              <a:graphicData uri="http://schemas.openxmlformats.org/drawingml/2006/table">
                <a:tbl>
                  <a:tblPr firstRow="1" firstCol="1" bandRow="1"/>
                  <a:tblGrid>
                    <a:gridCol w="7359964">
                      <a:extLst>
                        <a:ext uri="{9D8B030D-6E8A-4147-A177-3AD203B41FA5}">
                          <a16:colId xmlns:a16="http://schemas.microsoft.com/office/drawing/2014/main" val="20000"/>
                        </a:ext>
                      </a:extLst>
                    </a:gridCol>
                  </a:tblGrid>
                  <a:tr h="341892">
                    <a:tc>
                      <a:txBody>
                        <a:bodyPr/>
                        <a:lstStyle/>
                        <a:p>
                          <a:pPr marL="0" marR="0" algn="ctr">
                            <a:spcBef>
                              <a:spcPts val="0"/>
                            </a:spcBef>
                            <a:spcAft>
                              <a:spcPts val="0"/>
                            </a:spcAft>
                          </a:pPr>
                          <a:r>
                            <a:rPr lang="en-US" sz="2000" b="1">
                              <a:effectLst/>
                              <a:latin typeface="Verdana" charset="0"/>
                              <a:ea typeface="Verdana" charset="0"/>
                              <a:cs typeface="Verdana" charset="0"/>
                            </a:rPr>
                            <a:t>Main Courses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224402">
                    <a:tc>
                      <a:txBody>
                        <a:bodyPr/>
                        <a:lstStyle/>
                        <a:p>
                          <a:pPr marL="499110" marR="0" indent="-499110">
                            <a:spcBef>
                              <a:spcPts val="0"/>
                            </a:spcBef>
                            <a:spcAft>
                              <a:spcPts val="0"/>
                            </a:spcAft>
                            <a:tabLst>
                              <a:tab pos="457200" algn="l"/>
                            </a:tabLst>
                          </a:pPr>
                          <a:r>
                            <a:rPr lang="en-US" sz="2000" dirty="0">
                              <a:effectLst/>
                              <a:latin typeface="Verdana" charset="0"/>
                              <a:ea typeface="Verdana" charset="0"/>
                              <a:cs typeface="Verdana" charset="0"/>
                            </a:rPr>
                            <a:t>M1. </a:t>
                          </a:r>
                          <a:r>
                            <a:rPr lang="en-US" sz="2000" dirty="0" err="1">
                              <a:effectLst/>
                              <a:latin typeface="Verdana" charset="0"/>
                              <a:ea typeface="Verdana" charset="0"/>
                              <a:cs typeface="Verdana" charset="0"/>
                            </a:rPr>
                            <a:t>Ramin’s</a:t>
                          </a:r>
                          <a:r>
                            <a:rPr lang="en-US" sz="2000" dirty="0">
                              <a:effectLst/>
                              <a:latin typeface="Verdana" charset="0"/>
                              <a:ea typeface="Verdana" charset="0"/>
                              <a:cs typeface="Verdana" charset="0"/>
                            </a:rPr>
                            <a:t> Discount Automobiles buys a used car for </a:t>
                          </a:r>
                          <a14:m>
                            <m:oMath xmlns:m="http://schemas.openxmlformats.org/officeDocument/2006/math">
                              <m:r>
                                <a:rPr lang="en-US" sz="2000" i="1">
                                  <a:effectLst/>
                                  <a:latin typeface="Cambria Math" panose="02040503050406030204" pitchFamily="18" charset="0"/>
                                  <a:ea typeface="Verdana" charset="0"/>
                                  <a:cs typeface="Verdana" charset="0"/>
                                </a:rPr>
                                <m:t>$3,000</m:t>
                              </m:r>
                            </m:oMath>
                          </a14:m>
                          <a:r>
                            <a:rPr lang="en-US" sz="2000" dirty="0">
                              <a:effectLst/>
                              <a:latin typeface="Verdana" charset="0"/>
                              <a:ea typeface="Verdana" charset="0"/>
                              <a:cs typeface="Verdana" charset="0"/>
                            </a:rPr>
                            <a:t>. They mark it up </a:t>
                          </a:r>
                          <a14:m>
                            <m:oMath xmlns:m="http://schemas.openxmlformats.org/officeDocument/2006/math">
                              <m:r>
                                <a:rPr lang="en-US" sz="2000" i="1">
                                  <a:effectLst/>
                                  <a:latin typeface="Cambria Math" panose="02040503050406030204" pitchFamily="18" charset="0"/>
                                  <a:ea typeface="Verdana" charset="0"/>
                                  <a:cs typeface="Verdana" charset="0"/>
                                </a:rPr>
                                <m:t>65%</m:t>
                              </m:r>
                            </m:oMath>
                          </a14:m>
                          <a:r>
                            <a:rPr lang="en-US" sz="2000" dirty="0">
                              <a:effectLst/>
                              <a:latin typeface="Verdana" charset="0"/>
                              <a:ea typeface="Verdana" charset="0"/>
                              <a:cs typeface="Verdana" charset="0"/>
                            </a:rPr>
                            <a:t> before selling it to a customer. What was the sale price of the car?</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24983">
                    <a:tc>
                      <a:txBody>
                        <a:bodyPr/>
                        <a:lstStyle/>
                        <a:p>
                          <a:pPr marL="499110" marR="0" indent="-499110">
                            <a:spcBef>
                              <a:spcPts val="0"/>
                            </a:spcBef>
                            <a:spcAft>
                              <a:spcPts val="0"/>
                            </a:spcAft>
                            <a:tabLst>
                              <a:tab pos="441960" algn="l"/>
                            </a:tabLst>
                          </a:pPr>
                          <a:r>
                            <a:rPr lang="en-US" sz="2000">
                              <a:effectLst/>
                              <a:latin typeface="Verdana" charset="0"/>
                              <a:ea typeface="Verdana" charset="0"/>
                              <a:cs typeface="Verdana" charset="0"/>
                            </a:rPr>
                            <a:t>M2. Elliott sells grab-and-go lunches. He spends </a:t>
                          </a:r>
                          <a14:m>
                            <m:oMath xmlns:m="http://schemas.openxmlformats.org/officeDocument/2006/math">
                              <m:r>
                                <a:rPr lang="en-US" sz="2000" i="1">
                                  <a:effectLst/>
                                  <a:latin typeface="Cambria Math" panose="02040503050406030204" pitchFamily="18" charset="0"/>
                                  <a:ea typeface="Verdana" charset="0"/>
                                  <a:cs typeface="Verdana" charset="0"/>
                                </a:rPr>
                                <m:t>$2.70</m:t>
                              </m:r>
                            </m:oMath>
                          </a14:m>
                          <a:r>
                            <a:rPr lang="en-US" sz="2000">
                              <a:effectLst/>
                              <a:latin typeface="Verdana" charset="0"/>
                              <a:ea typeface="Verdana" charset="0"/>
                              <a:cs typeface="Verdana" charset="0"/>
                            </a:rPr>
                            <a:t> per lunch on ingredients and then adds a </a:t>
                          </a:r>
                          <a14:m>
                            <m:oMath xmlns:m="http://schemas.openxmlformats.org/officeDocument/2006/math">
                              <m:r>
                                <a:rPr lang="en-US" sz="2000" i="1">
                                  <a:effectLst/>
                                  <a:latin typeface="Cambria Math" panose="02040503050406030204" pitchFamily="18" charset="0"/>
                                  <a:ea typeface="Verdana" charset="0"/>
                                  <a:cs typeface="Verdana" charset="0"/>
                                </a:rPr>
                                <m:t>110%</m:t>
                              </m:r>
                            </m:oMath>
                          </a14:m>
                          <a:r>
                            <a:rPr lang="en-US" sz="2000">
                              <a:effectLst/>
                              <a:latin typeface="Verdana" charset="0"/>
                              <a:ea typeface="Verdana" charset="0"/>
                              <a:cs typeface="Verdana" charset="0"/>
                            </a:rPr>
                            <a:t> markup to sell. What is the selling price of one sandwich?</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95498">
                    <a:tc>
                      <a:txBody>
                        <a:bodyPr/>
                        <a:lstStyle/>
                        <a:p>
                          <a:pPr marL="499110" marR="0" indent="-499110">
                            <a:spcBef>
                              <a:spcPts val="0"/>
                            </a:spcBef>
                            <a:spcAft>
                              <a:spcPts val="0"/>
                            </a:spcAft>
                            <a:tabLst>
                              <a:tab pos="441960" algn="l"/>
                            </a:tabLst>
                          </a:pPr>
                          <a:r>
                            <a:rPr lang="en-US" sz="2000" dirty="0">
                              <a:effectLst/>
                              <a:latin typeface="Verdana" charset="0"/>
                              <a:ea typeface="Verdana" charset="0"/>
                              <a:cs typeface="Verdana" charset="0"/>
                            </a:rPr>
                            <a:t>M3. It costs JS Surfboards </a:t>
                          </a:r>
                          <a14:m>
                            <m:oMath xmlns:m="http://schemas.openxmlformats.org/officeDocument/2006/math">
                              <m:r>
                                <a:rPr lang="en-US" sz="2000" i="1">
                                  <a:effectLst/>
                                  <a:latin typeface="Cambria Math" panose="02040503050406030204" pitchFamily="18" charset="0"/>
                                  <a:ea typeface="Verdana" charset="0"/>
                                  <a:cs typeface="Verdana" charset="0"/>
                                </a:rPr>
                                <m:t>$225.00</m:t>
                              </m:r>
                            </m:oMath>
                          </a14:m>
                          <a:r>
                            <a:rPr lang="en-US" sz="2000" dirty="0">
                              <a:effectLst/>
                              <a:latin typeface="Verdana" charset="0"/>
                              <a:ea typeface="Verdana" charset="0"/>
                              <a:cs typeface="Verdana" charset="0"/>
                            </a:rPr>
                            <a:t> in labor to make one Model S surfboard. The company marks up the surfboard </a:t>
                          </a:r>
                          <a14:m>
                            <m:oMath xmlns:m="http://schemas.openxmlformats.org/officeDocument/2006/math">
                              <m:r>
                                <a:rPr lang="en-US" sz="2000" i="1">
                                  <a:effectLst/>
                                  <a:latin typeface="Cambria Math" panose="02040503050406030204" pitchFamily="18" charset="0"/>
                                  <a:ea typeface="Verdana" charset="0"/>
                                  <a:cs typeface="Verdana" charset="0"/>
                                </a:rPr>
                                <m:t>51%</m:t>
                              </m:r>
                            </m:oMath>
                          </a14:m>
                          <a:r>
                            <a:rPr lang="en-US" sz="2000" dirty="0">
                              <a:effectLst/>
                              <a:latin typeface="Verdana" charset="0"/>
                              <a:ea typeface="Verdana" charset="0"/>
                              <a:cs typeface="Verdana" charset="0"/>
                            </a:rPr>
                            <a:t> to sell. What amount, in dollars, are Model S surfboards sold for?</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6445647"/>
                  </p:ext>
                </p:extLst>
              </p:nvPr>
            </p:nvGraphicFramePr>
            <p:xfrm>
              <a:off x="1090138" y="571024"/>
              <a:ext cx="7359964" cy="4686775"/>
            </p:xfrm>
            <a:graphic>
              <a:graphicData uri="http://schemas.openxmlformats.org/drawingml/2006/table">
                <a:tbl>
                  <a:tblPr firstRow="1" firstCol="1" bandRow="1"/>
                  <a:tblGrid>
                    <a:gridCol w="7359964"/>
                  </a:tblGrid>
                  <a:tr h="341892">
                    <a:tc>
                      <a:txBody>
                        <a:bodyPr/>
                        <a:lstStyle/>
                        <a:p>
                          <a:pPr marL="0" marR="0" algn="ctr">
                            <a:spcBef>
                              <a:spcPts val="0"/>
                            </a:spcBef>
                            <a:spcAft>
                              <a:spcPts val="0"/>
                            </a:spcAft>
                          </a:pPr>
                          <a:r>
                            <a:rPr lang="en-US" sz="2000" b="1">
                              <a:effectLst/>
                              <a:latin typeface="Verdana" charset="0"/>
                              <a:ea typeface="Verdana" charset="0"/>
                              <a:cs typeface="Verdana" charset="0"/>
                            </a:rPr>
                            <a:t>Main Courses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22440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33831" r="-165" b="-256219"/>
                          </a:stretch>
                        </a:blipFill>
                      </a:tcPr>
                    </a:tc>
                  </a:tr>
                  <a:tr h="1524983">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107171" r="-165" b="-105179"/>
                          </a:stretch>
                        </a:blipFill>
                      </a:tcPr>
                    </a:tc>
                  </a:tr>
                  <a:tr h="159549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198473" r="-165" b="-763"/>
                          </a:stretch>
                        </a:blipFill>
                      </a:tcPr>
                    </a:tc>
                  </a:tr>
                </a:tbl>
              </a:graphicData>
            </a:graphic>
          </p:graphicFrame>
        </mc:Fallback>
      </mc:AlternateContent>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232</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32047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993309252"/>
                  </p:ext>
                </p:extLst>
              </p:nvPr>
            </p:nvGraphicFramePr>
            <p:xfrm>
              <a:off x="2575560" y="575946"/>
              <a:ext cx="7376160" cy="4391007"/>
            </p:xfrm>
            <a:graphic>
              <a:graphicData uri="http://schemas.openxmlformats.org/drawingml/2006/table">
                <a:tbl>
                  <a:tblPr firstRow="1" firstCol="1" bandRow="1"/>
                  <a:tblGrid>
                    <a:gridCol w="7376160">
                      <a:extLst>
                        <a:ext uri="{9D8B030D-6E8A-4147-A177-3AD203B41FA5}">
                          <a16:colId xmlns:a16="http://schemas.microsoft.com/office/drawing/2014/main" val="20000"/>
                        </a:ext>
                      </a:extLst>
                    </a:gridCol>
                  </a:tblGrid>
                  <a:tr h="265131">
                    <a:tc>
                      <a:txBody>
                        <a:bodyPr/>
                        <a:lstStyle/>
                        <a:p>
                          <a:pPr marL="0" marR="0" algn="ctr">
                            <a:spcBef>
                              <a:spcPts val="0"/>
                            </a:spcBef>
                            <a:spcAft>
                              <a:spcPts val="0"/>
                            </a:spcAft>
                          </a:pPr>
                          <a:r>
                            <a:rPr lang="en-US" sz="2000" b="1">
                              <a:effectLst/>
                              <a:latin typeface="Verdana" charset="0"/>
                              <a:ea typeface="Verdana" charset="0"/>
                              <a:cs typeface="Verdana" charset="0"/>
                            </a:rPr>
                            <a:t>Side Dishes</a:t>
                          </a:r>
                          <a:endParaRPr lang="en-US" sz="1600">
                            <a:effectLst/>
                            <a:latin typeface="Verdana" charset="0"/>
                            <a:ea typeface="Verdana" charset="0"/>
                            <a:cs typeface="Verdana" charset="0"/>
                          </a:endParaRPr>
                        </a:p>
                      </a:txBody>
                      <a:tcPr marL="66283" marR="662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60523">
                    <a:tc>
                      <a:txBody>
                        <a:bodyPr/>
                        <a:lstStyle/>
                        <a:p>
                          <a:pPr marL="441960" marR="0" indent="-441960">
                            <a:spcBef>
                              <a:spcPts val="0"/>
                            </a:spcBef>
                            <a:spcAft>
                              <a:spcPts val="0"/>
                            </a:spcAft>
                            <a:tabLst>
                              <a:tab pos="441960" algn="l"/>
                            </a:tabLst>
                          </a:pPr>
                          <a:r>
                            <a:rPr lang="en-US" sz="2000" dirty="0">
                              <a:effectLst/>
                              <a:latin typeface="Verdana" charset="0"/>
                              <a:ea typeface="Verdana" charset="0"/>
                              <a:cs typeface="Verdana" charset="0"/>
                            </a:rPr>
                            <a:t>S1. A concert ticket is on sale for </a:t>
                          </a:r>
                          <a14:m>
                            <m:oMath xmlns:m="http://schemas.openxmlformats.org/officeDocument/2006/math">
                              <m:r>
                                <a:rPr lang="en-US" sz="2000" i="1">
                                  <a:effectLst/>
                                  <a:latin typeface="Cambria Math" panose="02040503050406030204" pitchFamily="18" charset="0"/>
                                  <a:ea typeface="Verdana" charset="0"/>
                                  <a:cs typeface="Verdana" charset="0"/>
                                </a:rPr>
                                <m:t>$129</m:t>
                              </m:r>
                            </m:oMath>
                          </a14:m>
                          <a:r>
                            <a:rPr lang="en-US" sz="2000" dirty="0">
                              <a:effectLst/>
                              <a:latin typeface="Verdana" charset="0"/>
                              <a:ea typeface="Verdana" charset="0"/>
                              <a:cs typeface="Verdana" charset="0"/>
                            </a:rPr>
                            <a:t>. The sign says </a:t>
                          </a:r>
                          <a14:m>
                            <m:oMath xmlns:m="http://schemas.openxmlformats.org/officeDocument/2006/math">
                              <m:r>
                                <a:rPr lang="en-US" sz="2000" i="1">
                                  <a:effectLst/>
                                  <a:latin typeface="Cambria Math" panose="02040503050406030204" pitchFamily="18" charset="0"/>
                                  <a:ea typeface="Verdana" charset="0"/>
                                  <a:cs typeface="Verdana" charset="0"/>
                                </a:rPr>
                                <m:t>14%</m:t>
                              </m:r>
                            </m:oMath>
                          </a14:m>
                          <a:r>
                            <a:rPr lang="en-US" sz="2000" dirty="0">
                              <a:effectLst/>
                              <a:latin typeface="Verdana" charset="0"/>
                              <a:ea typeface="Verdana" charset="0"/>
                              <a:cs typeface="Verdana" charset="0"/>
                            </a:rPr>
                            <a:t> off the original price. What was the original price of the ticket?</a:t>
                          </a:r>
                          <a:endParaRPr lang="en-US" sz="1600" dirty="0">
                            <a:effectLst/>
                            <a:latin typeface="Verdana" charset="0"/>
                            <a:ea typeface="Verdana" charset="0"/>
                            <a:cs typeface="Verdana" charset="0"/>
                          </a:endParaRPr>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04098">
                    <a:tc>
                      <a:txBody>
                        <a:bodyPr/>
                        <a:lstStyle/>
                        <a:p>
                          <a:pPr marL="441960" marR="0" indent="-441960">
                            <a:spcBef>
                              <a:spcPts val="0"/>
                            </a:spcBef>
                            <a:spcAft>
                              <a:spcPts val="0"/>
                            </a:spcAft>
                          </a:pPr>
                          <a:r>
                            <a:rPr lang="en-US" sz="2000">
                              <a:effectLst/>
                              <a:latin typeface="Verdana" charset="0"/>
                              <a:ea typeface="Verdana" charset="0"/>
                              <a:cs typeface="Verdana" charset="0"/>
                            </a:rPr>
                            <a:t>S2. A scientific calculator is </a:t>
                          </a:r>
                          <a14:m>
                            <m:oMath xmlns:m="http://schemas.openxmlformats.org/officeDocument/2006/math">
                              <m:r>
                                <a:rPr lang="en-US" sz="2000" i="1">
                                  <a:effectLst/>
                                  <a:latin typeface="Cambria Math" panose="02040503050406030204" pitchFamily="18" charset="0"/>
                                  <a:ea typeface="Verdana" charset="0"/>
                                  <a:cs typeface="Verdana" charset="0"/>
                                </a:rPr>
                                <m:t>15%</m:t>
                              </m:r>
                            </m:oMath>
                          </a14:m>
                          <a:r>
                            <a:rPr lang="en-US" sz="2000">
                              <a:effectLst/>
                              <a:latin typeface="Verdana" charset="0"/>
                              <a:ea typeface="Verdana" charset="0"/>
                              <a:cs typeface="Verdana" charset="0"/>
                            </a:rPr>
                            <a:t> off. The sale price of the calculator is </a:t>
                          </a:r>
                          <a14:m>
                            <m:oMath xmlns:m="http://schemas.openxmlformats.org/officeDocument/2006/math">
                              <m:r>
                                <a:rPr lang="en-US" sz="2000" i="1">
                                  <a:effectLst/>
                                  <a:latin typeface="Cambria Math" panose="02040503050406030204" pitchFamily="18" charset="0"/>
                                  <a:ea typeface="Verdana" charset="0"/>
                                  <a:cs typeface="Verdana" charset="0"/>
                                </a:rPr>
                                <m:t>$13.99</m:t>
                              </m:r>
                            </m:oMath>
                          </a14:m>
                          <a:r>
                            <a:rPr lang="en-US" sz="2000">
                              <a:effectLst/>
                              <a:latin typeface="Verdana" charset="0"/>
                              <a:ea typeface="Verdana" charset="0"/>
                              <a:cs typeface="Verdana" charset="0"/>
                            </a:rPr>
                            <a:t>. What is the original cost of the calculator?</a:t>
                          </a:r>
                          <a:endParaRPr lang="en-US" sz="1600">
                            <a:effectLst/>
                            <a:latin typeface="Verdana" charset="0"/>
                            <a:ea typeface="Verdana" charset="0"/>
                            <a:cs typeface="Verdana" charset="0"/>
                          </a:endParaRPr>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3770">
                    <a:tc>
                      <a:txBody>
                        <a:bodyPr/>
                        <a:lstStyle/>
                        <a:p>
                          <a:pPr marL="441960" marR="0" indent="-441960">
                            <a:spcBef>
                              <a:spcPts val="0"/>
                            </a:spcBef>
                            <a:spcAft>
                              <a:spcPts val="0"/>
                            </a:spcAft>
                          </a:pPr>
                          <a:r>
                            <a:rPr lang="en-US" sz="2000" dirty="0">
                              <a:effectLst/>
                              <a:latin typeface="Verdana" charset="0"/>
                              <a:ea typeface="Verdana" charset="0"/>
                              <a:cs typeface="Verdana" charset="0"/>
                            </a:rPr>
                            <a:t>S3. The price of an apple is </a:t>
                          </a:r>
                          <a14:m>
                            <m:oMath xmlns:m="http://schemas.openxmlformats.org/officeDocument/2006/math">
                              <m:r>
                                <a:rPr lang="en-US" sz="2000" i="1">
                                  <a:effectLst/>
                                  <a:latin typeface="Cambria Math" panose="02040503050406030204" pitchFamily="18" charset="0"/>
                                  <a:ea typeface="Verdana" charset="0"/>
                                  <a:cs typeface="Verdana" charset="0"/>
                                </a:rPr>
                                <m:t>$1.25</m:t>
                              </m:r>
                            </m:oMath>
                          </a14:m>
                          <a:r>
                            <a:rPr lang="en-US" sz="2000" dirty="0">
                              <a:effectLst/>
                              <a:latin typeface="Verdana" charset="0"/>
                              <a:ea typeface="Verdana" charset="0"/>
                              <a:cs typeface="Verdana" charset="0"/>
                            </a:rPr>
                            <a:t>. If you get a </a:t>
                          </a:r>
                          <a14:m>
                            <m:oMath xmlns:m="http://schemas.openxmlformats.org/officeDocument/2006/math">
                              <m:r>
                                <a:rPr lang="en-US" sz="2000" i="1">
                                  <a:effectLst/>
                                  <a:latin typeface="Cambria Math" panose="02040503050406030204" pitchFamily="18" charset="0"/>
                                  <a:ea typeface="Verdana" charset="0"/>
                                  <a:cs typeface="Verdana" charset="0"/>
                                </a:rPr>
                                <m:t>10%</m:t>
                              </m:r>
                            </m:oMath>
                          </a14:m>
                          <a:r>
                            <a:rPr lang="en-US" sz="2000" dirty="0">
                              <a:effectLst/>
                              <a:latin typeface="Verdana" charset="0"/>
                              <a:ea typeface="Verdana" charset="0"/>
                              <a:cs typeface="Verdana" charset="0"/>
                            </a:rPr>
                            <a:t> discount, how much do you have to pay?</a:t>
                          </a:r>
                          <a:endParaRPr lang="en-US" sz="1600" dirty="0">
                            <a:effectLst/>
                            <a:latin typeface="Verdana" charset="0"/>
                            <a:ea typeface="Verdana" charset="0"/>
                            <a:cs typeface="Verdana" charset="0"/>
                          </a:endParaRPr>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37816">
                    <a:tc>
                      <a:txBody>
                        <a:bodyPr/>
                        <a:lstStyle/>
                        <a:p>
                          <a:pPr marL="499110" marR="0" indent="-499110">
                            <a:spcBef>
                              <a:spcPts val="0"/>
                            </a:spcBef>
                            <a:spcAft>
                              <a:spcPts val="0"/>
                            </a:spcAft>
                          </a:pPr>
                          <a:r>
                            <a:rPr lang="en-US" sz="2000" dirty="0">
                              <a:effectLst/>
                              <a:latin typeface="Verdana" charset="0"/>
                              <a:ea typeface="Verdana" charset="0"/>
                              <a:cs typeface="Verdana" charset="0"/>
                            </a:rPr>
                            <a:t>S4. Teena bought a bicycle for </a:t>
                          </a:r>
                          <a14:m>
                            <m:oMath xmlns:m="http://schemas.openxmlformats.org/officeDocument/2006/math">
                              <m:r>
                                <a:rPr lang="en-US" sz="2000" i="1">
                                  <a:effectLst/>
                                  <a:latin typeface="Cambria Math" panose="02040503050406030204" pitchFamily="18" charset="0"/>
                                  <a:ea typeface="Verdana" charset="0"/>
                                  <a:cs typeface="Verdana" charset="0"/>
                                </a:rPr>
                                <m:t>$528</m:t>
                              </m:r>
                            </m:oMath>
                          </a14:m>
                          <a:r>
                            <a:rPr lang="en-US" sz="2000" dirty="0">
                              <a:effectLst/>
                              <a:latin typeface="Verdana" charset="0"/>
                              <a:ea typeface="Verdana" charset="0"/>
                              <a:cs typeface="Verdana" charset="0"/>
                            </a:rPr>
                            <a:t> after getting a discount of </a:t>
                          </a:r>
                          <a14:m>
                            <m:oMath xmlns:m="http://schemas.openxmlformats.org/officeDocument/2006/math">
                              <m:r>
                                <a:rPr lang="en-US" sz="2000" i="1">
                                  <a:effectLst/>
                                  <a:latin typeface="Cambria Math" panose="02040503050406030204" pitchFamily="18" charset="0"/>
                                  <a:ea typeface="Verdana" charset="0"/>
                                  <a:cs typeface="Verdana" charset="0"/>
                                </a:rPr>
                                <m:t>12%</m:t>
                              </m:r>
                            </m:oMath>
                          </a14:m>
                          <a:r>
                            <a:rPr lang="en-US" sz="2000" dirty="0">
                              <a:effectLst/>
                              <a:latin typeface="Verdana" charset="0"/>
                              <a:ea typeface="Verdana" charset="0"/>
                              <a:cs typeface="Verdana" charset="0"/>
                            </a:rPr>
                            <a:t> taken off its normal price. Find the normal price of the bicycle. </a:t>
                          </a:r>
                          <a:endParaRPr lang="en-US" sz="1600" dirty="0">
                            <a:effectLst/>
                            <a:latin typeface="Verdana" charset="0"/>
                            <a:ea typeface="Verdana" charset="0"/>
                            <a:cs typeface="Verdana" charset="0"/>
                          </a:endParaRPr>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993309252"/>
                  </p:ext>
                </p:extLst>
              </p:nvPr>
            </p:nvGraphicFramePr>
            <p:xfrm>
              <a:off x="1051560" y="575945"/>
              <a:ext cx="7376160" cy="4391007"/>
            </p:xfrm>
            <a:graphic>
              <a:graphicData uri="http://schemas.openxmlformats.org/drawingml/2006/table">
                <a:tbl>
                  <a:tblPr firstRow="1" firstCol="1" bandRow="1"/>
                  <a:tblGrid>
                    <a:gridCol w="7376160"/>
                  </a:tblGrid>
                  <a:tr h="304800">
                    <a:tc>
                      <a:txBody>
                        <a:bodyPr/>
                        <a:lstStyle/>
                        <a:p>
                          <a:pPr marL="0" marR="0" algn="ctr">
                            <a:spcBef>
                              <a:spcPts val="0"/>
                            </a:spcBef>
                            <a:spcAft>
                              <a:spcPts val="0"/>
                            </a:spcAft>
                          </a:pPr>
                          <a:r>
                            <a:rPr lang="en-US" sz="2000" b="1">
                              <a:effectLst/>
                              <a:latin typeface="Verdana" charset="0"/>
                              <a:ea typeface="Verdana" charset="0"/>
                              <a:cs typeface="Verdana" charset="0"/>
                            </a:rPr>
                            <a:t>Side Dishes</a:t>
                          </a:r>
                          <a:endParaRPr lang="en-US" sz="1600">
                            <a:effectLst/>
                            <a:latin typeface="Verdana" charset="0"/>
                            <a:ea typeface="Verdana" charset="0"/>
                            <a:cs typeface="Verdana" charset="0"/>
                          </a:endParaRPr>
                        </a:p>
                      </a:txBody>
                      <a:tcPr marL="66283" marR="662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060523">
                    <a:tc>
                      <a:txBody>
                        <a:bodyPr/>
                        <a:lstStyle/>
                        <a:p>
                          <a:endParaRPr lang="en-US"/>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36207" r="-165" b="-294253"/>
                          </a:stretch>
                        </a:blipFill>
                      </a:tcPr>
                    </a:tc>
                  </a:tr>
                  <a:tr h="1104098">
                    <a:tc>
                      <a:txBody>
                        <a:bodyPr/>
                        <a:lstStyle/>
                        <a:p>
                          <a:endParaRPr lang="en-US"/>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130939" r="-165" b="-182873"/>
                          </a:stretch>
                        </a:blipFill>
                      </a:tcPr>
                    </a:tc>
                  </a:tr>
                  <a:tr h="883770">
                    <a:tc>
                      <a:txBody>
                        <a:bodyPr/>
                        <a:lstStyle/>
                        <a:p>
                          <a:endParaRPr lang="en-US"/>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286301" r="-165" b="-126712"/>
                          </a:stretch>
                        </a:blipFill>
                      </a:tcPr>
                    </a:tc>
                  </a:tr>
                  <a:tr h="1037816">
                    <a:tc>
                      <a:txBody>
                        <a:bodyPr/>
                        <a:lstStyle/>
                        <a:p>
                          <a:endParaRPr lang="en-US"/>
                        </a:p>
                      </a:txBody>
                      <a:tcPr marL="66283" marR="662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 t="-331765" r="-165" b="-8824"/>
                          </a:stretch>
                        </a:blipFill>
                      </a:tcPr>
                    </a:tc>
                  </a:tr>
                </a:tbl>
              </a:graphicData>
            </a:graphic>
          </p:graphicFrame>
        </mc:Fallback>
      </mc:AlternateContent>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232</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60822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37761478"/>
                  </p:ext>
                </p:extLst>
              </p:nvPr>
            </p:nvGraphicFramePr>
            <p:xfrm>
              <a:off x="2758440" y="640240"/>
              <a:ext cx="6949440" cy="3566001"/>
            </p:xfrm>
            <a:graphic>
              <a:graphicData uri="http://schemas.openxmlformats.org/drawingml/2006/table">
                <a:tbl>
                  <a:tblPr firstRow="1" firstCol="1" bandRow="1"/>
                  <a:tblGrid>
                    <a:gridCol w="6949440">
                      <a:extLst>
                        <a:ext uri="{9D8B030D-6E8A-4147-A177-3AD203B41FA5}">
                          <a16:colId xmlns:a16="http://schemas.microsoft.com/office/drawing/2014/main" val="20000"/>
                        </a:ext>
                      </a:extLst>
                    </a:gridCol>
                  </a:tblGrid>
                  <a:tr h="356377">
                    <a:tc>
                      <a:txBody>
                        <a:bodyPr/>
                        <a:lstStyle/>
                        <a:p>
                          <a:pPr marL="0" marR="0" algn="ctr">
                            <a:spcBef>
                              <a:spcPts val="0"/>
                            </a:spcBef>
                            <a:spcAft>
                              <a:spcPts val="0"/>
                            </a:spcAft>
                          </a:pPr>
                          <a:r>
                            <a:rPr lang="en-US" sz="2000" b="1">
                              <a:effectLst/>
                              <a:latin typeface="Verdana" charset="0"/>
                              <a:ea typeface="Verdana" charset="0"/>
                              <a:cs typeface="Verdana" charset="0"/>
                            </a:rPr>
                            <a:t>Desserts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69132">
                    <a:tc>
                      <a:txBody>
                        <a:bodyPr/>
                        <a:lstStyle/>
                        <a:p>
                          <a:pPr marL="499110" marR="0" indent="-499110">
                            <a:spcBef>
                              <a:spcPts val="0"/>
                            </a:spcBef>
                            <a:spcAft>
                              <a:spcPts val="0"/>
                            </a:spcAft>
                          </a:pPr>
                          <a:r>
                            <a:rPr lang="en-US" sz="2000" dirty="0">
                              <a:effectLst/>
                              <a:latin typeface="Verdana" charset="0"/>
                              <a:ea typeface="Verdana" charset="0"/>
                              <a:cs typeface="Verdana" charset="0"/>
                            </a:rPr>
                            <a:t>D1. A store sells notebooks for </a:t>
                          </a:r>
                          <a14:m>
                            <m:oMath xmlns:m="http://schemas.openxmlformats.org/officeDocument/2006/math">
                              <m:r>
                                <a:rPr lang="en-US" sz="2000" i="1">
                                  <a:effectLst/>
                                  <a:latin typeface="Cambria Math" panose="02040503050406030204" pitchFamily="18" charset="0"/>
                                  <a:ea typeface="Verdana" charset="0"/>
                                  <a:cs typeface="Verdana" charset="0"/>
                                </a:rPr>
                                <m:t>$1.60 </m:t>
                              </m:r>
                            </m:oMath>
                          </a14:m>
                          <a:r>
                            <a:rPr lang="en-US" sz="2000" dirty="0">
                              <a:effectLst/>
                              <a:latin typeface="Verdana" charset="0"/>
                              <a:ea typeface="Verdana" charset="0"/>
                              <a:cs typeface="Verdana" charset="0"/>
                            </a:rPr>
                            <a:t>after a </a:t>
                          </a:r>
                          <a14:m>
                            <m:oMath xmlns:m="http://schemas.openxmlformats.org/officeDocument/2006/math">
                              <m:f>
                                <m:fPr>
                                  <m:type m:val="skw"/>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10</m:t>
                                  </m:r>
                                </m:den>
                              </m:f>
                            </m:oMath>
                          </a14:m>
                          <a:r>
                            <a:rPr lang="en-US" sz="2000" dirty="0">
                              <a:effectLst/>
                              <a:latin typeface="Verdana" charset="0"/>
                              <a:ea typeface="Verdana" charset="0"/>
                              <a:cs typeface="Verdana" charset="0"/>
                            </a:rPr>
                            <a:t> markup. How much is the markup?</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40492">
                    <a:tc>
                      <a:txBody>
                        <a:bodyPr/>
                        <a:lstStyle/>
                        <a:p>
                          <a:pPr marL="499110" marR="0" indent="-499110">
                            <a:spcBef>
                              <a:spcPts val="0"/>
                            </a:spcBef>
                            <a:spcAft>
                              <a:spcPts val="0"/>
                            </a:spcAft>
                          </a:pPr>
                          <a:r>
                            <a:rPr lang="en-US" sz="2000" dirty="0">
                              <a:effectLst/>
                              <a:latin typeface="Verdana" charset="0"/>
                              <a:ea typeface="Verdana" charset="0"/>
                              <a:cs typeface="Verdana" charset="0"/>
                            </a:rPr>
                            <a:t>D2. </a:t>
                          </a:r>
                          <a:r>
                            <a:rPr lang="en-US" sz="2000" dirty="0" err="1">
                              <a:effectLst/>
                              <a:latin typeface="Verdana" charset="0"/>
                              <a:ea typeface="Verdana" charset="0"/>
                              <a:cs typeface="Verdana" charset="0"/>
                            </a:rPr>
                            <a:t>Burgermonster</a:t>
                          </a:r>
                          <a:r>
                            <a:rPr lang="en-US" sz="2000" dirty="0">
                              <a:effectLst/>
                              <a:latin typeface="Verdana" charset="0"/>
                              <a:ea typeface="Verdana" charset="0"/>
                              <a:cs typeface="Verdana" charset="0"/>
                            </a:rPr>
                            <a:t> sells its burgers for </a:t>
                          </a:r>
                          <a14:m>
                            <m:oMath xmlns:m="http://schemas.openxmlformats.org/officeDocument/2006/math">
                              <m:r>
                                <a:rPr lang="en-US" sz="2000" i="1">
                                  <a:effectLst/>
                                  <a:latin typeface="Cambria Math" panose="02040503050406030204" pitchFamily="18" charset="0"/>
                                  <a:ea typeface="Verdana" charset="0"/>
                                  <a:cs typeface="Verdana" charset="0"/>
                                </a:rPr>
                                <m:t>$1.84</m:t>
                              </m:r>
                            </m:oMath>
                          </a14:m>
                          <a:r>
                            <a:rPr lang="en-US" sz="2000" dirty="0">
                              <a:effectLst/>
                              <a:latin typeface="Verdana" charset="0"/>
                              <a:ea typeface="Verdana" charset="0"/>
                              <a:cs typeface="Verdana" charset="0"/>
                            </a:rPr>
                            <a:t>. To determine the selling price, the restaurant added a markup of </a:t>
                          </a:r>
                          <a14:m>
                            <m:oMath xmlns:m="http://schemas.openxmlformats.org/officeDocument/2006/math">
                              <m:f>
                                <m:fPr>
                                  <m:type m:val="skw"/>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23</m:t>
                                  </m:r>
                                </m:num>
                                <m:den>
                                  <m:r>
                                    <a:rPr lang="en-US" sz="2000" i="1">
                                      <a:effectLst/>
                                      <a:latin typeface="Cambria Math" panose="02040503050406030204" pitchFamily="18" charset="0"/>
                                      <a:ea typeface="Verdana" charset="0"/>
                                      <a:cs typeface="Verdana" charset="0"/>
                                    </a:rPr>
                                    <m:t>10</m:t>
                                  </m:r>
                                </m:den>
                              </m:f>
                            </m:oMath>
                          </a14:m>
                          <a:r>
                            <a:rPr lang="en-US" sz="2000" dirty="0">
                              <a:effectLst/>
                              <a:latin typeface="Verdana" charset="0"/>
                              <a:ea typeface="Verdana" charset="0"/>
                              <a:cs typeface="Verdana" charset="0"/>
                            </a:rPr>
                            <a:t> to the cost of the ingredients used to make a single burger. What is the cost </a:t>
                          </a:r>
                          <a:r>
                            <a:rPr lang="en-US" sz="2000" dirty="0" err="1">
                              <a:effectLst/>
                              <a:latin typeface="Verdana" charset="0"/>
                              <a:ea typeface="Verdana" charset="0"/>
                              <a:cs typeface="Verdana" charset="0"/>
                            </a:rPr>
                            <a:t>Burgermonster</a:t>
                          </a:r>
                          <a:r>
                            <a:rPr lang="en-US" sz="2000" dirty="0">
                              <a:effectLst/>
                              <a:latin typeface="Verdana" charset="0"/>
                              <a:ea typeface="Verdana" charset="0"/>
                              <a:cs typeface="Verdana" charset="0"/>
                            </a:rPr>
                            <a:t> pays for ingredients?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37761478"/>
                  </p:ext>
                </p:extLst>
              </p:nvPr>
            </p:nvGraphicFramePr>
            <p:xfrm>
              <a:off x="1234440" y="640239"/>
              <a:ext cx="6949440" cy="3566001"/>
            </p:xfrm>
            <a:graphic>
              <a:graphicData uri="http://schemas.openxmlformats.org/drawingml/2006/table">
                <a:tbl>
                  <a:tblPr firstRow="1" firstCol="1" bandRow="1"/>
                  <a:tblGrid>
                    <a:gridCol w="6949440"/>
                  </a:tblGrid>
                  <a:tr h="356377">
                    <a:tc>
                      <a:txBody>
                        <a:bodyPr/>
                        <a:lstStyle/>
                        <a:p>
                          <a:pPr marL="0" marR="0" algn="ctr">
                            <a:spcBef>
                              <a:spcPts val="0"/>
                            </a:spcBef>
                            <a:spcAft>
                              <a:spcPts val="0"/>
                            </a:spcAft>
                          </a:pPr>
                          <a:r>
                            <a:rPr lang="en-US" sz="2000" b="1">
                              <a:effectLst/>
                              <a:latin typeface="Verdana" charset="0"/>
                              <a:ea typeface="Verdana" charset="0"/>
                              <a:cs typeface="Verdana" charset="0"/>
                            </a:rPr>
                            <a:t>Desserts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06913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8" t="-40341" r="-175" b="-201136"/>
                          </a:stretch>
                        </a:blipFill>
                      </a:tcPr>
                    </a:tc>
                  </a:tr>
                  <a:tr h="214049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8" t="-70370" r="-175" b="-855"/>
                          </a:stretch>
                        </a:blipFill>
                      </a:tcPr>
                    </a:tc>
                  </a:tr>
                </a:tbl>
              </a:graphicData>
            </a:graphic>
          </p:graphicFrame>
        </mc:Fallback>
      </mc:AlternateContent>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232</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59790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985467861"/>
              </p:ext>
            </p:extLst>
          </p:nvPr>
        </p:nvGraphicFramePr>
        <p:xfrm>
          <a:off x="2377440" y="599287"/>
          <a:ext cx="7571310" cy="4761854"/>
        </p:xfrm>
        <a:graphic>
          <a:graphicData uri="http://schemas.openxmlformats.org/drawingml/2006/table">
            <a:tbl>
              <a:tblPr firstRow="1" firstCol="1" bandRow="1"/>
              <a:tblGrid>
                <a:gridCol w="7571310">
                  <a:extLst>
                    <a:ext uri="{9D8B030D-6E8A-4147-A177-3AD203B41FA5}">
                      <a16:colId xmlns:a16="http://schemas.microsoft.com/office/drawing/2014/main" val="20000"/>
                    </a:ext>
                  </a:extLst>
                </a:gridCol>
              </a:tblGrid>
              <a:tr h="99542">
                <a:tc>
                  <a:txBody>
                    <a:bodyPr/>
                    <a:lstStyle/>
                    <a:p>
                      <a:pPr marL="0" marR="0" algn="ctr">
                        <a:spcBef>
                          <a:spcPts val="0"/>
                        </a:spcBef>
                        <a:spcAft>
                          <a:spcPts val="0"/>
                        </a:spcAft>
                      </a:pPr>
                      <a:r>
                        <a:rPr lang="en-US" sz="2000" b="1">
                          <a:effectLst/>
                          <a:latin typeface="Verdana" charset="0"/>
                          <a:ea typeface="Times New Roman" charset="0"/>
                          <a:cs typeface="Times New Roman" charset="0"/>
                        </a:rPr>
                        <a:t>Appetizer Selection Work and Answer</a:t>
                      </a:r>
                      <a:endParaRPr lang="en-US" sz="2000">
                        <a:effectLst/>
                        <a:latin typeface="Cambria" charset="0"/>
                        <a:ea typeface="Times New Roman" charset="0"/>
                        <a:cs typeface="Times New Roman" charset="0"/>
                      </a:endParaRPr>
                    </a:p>
                  </a:txBody>
                  <a:tcPr marL="27996" marR="279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14509">
                <a:tc>
                  <a:txBody>
                    <a:bodyPr/>
                    <a:lstStyle/>
                    <a:p>
                      <a:pPr marL="0" marR="0">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7996" marR="279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9542">
                <a:tc>
                  <a:txBody>
                    <a:bodyPr/>
                    <a:lstStyle/>
                    <a:p>
                      <a:pPr marL="0" marR="0" algn="ctr">
                        <a:spcBef>
                          <a:spcPts val="0"/>
                        </a:spcBef>
                        <a:spcAft>
                          <a:spcPts val="0"/>
                        </a:spcAft>
                      </a:pPr>
                      <a:r>
                        <a:rPr lang="en-US" sz="2000" b="1">
                          <a:effectLst/>
                          <a:latin typeface="Verdana" charset="0"/>
                          <a:ea typeface="Times New Roman" charset="0"/>
                          <a:cs typeface="Times New Roman" charset="0"/>
                        </a:rPr>
                        <a:t>Main Course Selection Work and Answer</a:t>
                      </a:r>
                      <a:endParaRPr lang="en-US" sz="2000">
                        <a:effectLst/>
                        <a:latin typeface="Cambria" charset="0"/>
                        <a:ea typeface="Times New Roman" charset="0"/>
                        <a:cs typeface="Times New Roman" charset="0"/>
                      </a:endParaRPr>
                    </a:p>
                  </a:txBody>
                  <a:tcPr marL="27996" marR="279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2437745">
                <a:tc>
                  <a:txBody>
                    <a:bodyPr/>
                    <a:lstStyle/>
                    <a:p>
                      <a:pPr marL="0" marR="0">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7996" marR="279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3732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113352116"/>
              </p:ext>
            </p:extLst>
          </p:nvPr>
        </p:nvGraphicFramePr>
        <p:xfrm>
          <a:off x="2324629" y="591185"/>
          <a:ext cx="7728347" cy="5246122"/>
        </p:xfrm>
        <a:graphic>
          <a:graphicData uri="http://schemas.openxmlformats.org/drawingml/2006/table">
            <a:tbl>
              <a:tblPr firstRow="1" firstCol="1" bandRow="1"/>
              <a:tblGrid>
                <a:gridCol w="7728347">
                  <a:extLst>
                    <a:ext uri="{9D8B030D-6E8A-4147-A177-3AD203B41FA5}">
                      <a16:colId xmlns:a16="http://schemas.microsoft.com/office/drawing/2014/main" val="20000"/>
                    </a:ext>
                  </a:extLst>
                </a:gridCol>
              </a:tblGrid>
              <a:tr h="220787">
                <a:tc>
                  <a:txBody>
                    <a:bodyPr/>
                    <a:lstStyle/>
                    <a:p>
                      <a:pPr marL="0" marR="0" algn="ctr">
                        <a:spcBef>
                          <a:spcPts val="0"/>
                        </a:spcBef>
                        <a:spcAft>
                          <a:spcPts val="0"/>
                        </a:spcAft>
                      </a:pPr>
                      <a:r>
                        <a:rPr lang="en-US" sz="2000" b="1">
                          <a:effectLst/>
                          <a:latin typeface="Verdana" charset="0"/>
                          <a:ea typeface="Verdana" charset="0"/>
                          <a:cs typeface="Verdana" charset="0"/>
                        </a:rPr>
                        <a:t>Side Dish Selection Work and Answers</a:t>
                      </a:r>
                      <a:endParaRPr lang="en-US" sz="2000">
                        <a:effectLst/>
                        <a:latin typeface="Verdana" charset="0"/>
                        <a:ea typeface="Verdana" charset="0"/>
                        <a:cs typeface="Verdana" charset="0"/>
                      </a:endParaRPr>
                    </a:p>
                  </a:txBody>
                  <a:tcPr marL="27742" marR="277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649441">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27742" marR="277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0787">
                <a:tc>
                  <a:txBody>
                    <a:bodyPr/>
                    <a:lstStyle/>
                    <a:p>
                      <a:pPr marL="0" marR="0" algn="ctr">
                        <a:spcBef>
                          <a:spcPts val="0"/>
                        </a:spcBef>
                        <a:spcAft>
                          <a:spcPts val="0"/>
                        </a:spcAft>
                      </a:pPr>
                      <a:r>
                        <a:rPr lang="en-US" sz="2000" b="1">
                          <a:effectLst/>
                          <a:latin typeface="Verdana" charset="0"/>
                          <a:ea typeface="Verdana" charset="0"/>
                          <a:cs typeface="Verdana" charset="0"/>
                        </a:rPr>
                        <a:t>Dessert Selection Work and Answers</a:t>
                      </a:r>
                      <a:endParaRPr lang="en-US" sz="2000">
                        <a:effectLst/>
                        <a:latin typeface="Verdana" charset="0"/>
                        <a:ea typeface="Verdana" charset="0"/>
                        <a:cs typeface="Verdana" charset="0"/>
                      </a:endParaRPr>
                    </a:p>
                  </a:txBody>
                  <a:tcPr marL="27742" marR="277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1987081">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27742" marR="2774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94670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92213" y="-5941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12.4.4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62763" y="16789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492213" y="1386025"/>
            <a:ext cx="946360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What was the </a:t>
            </a:r>
            <a:r>
              <a:rPr lang="en-US" sz="2000" b="1" i="1" dirty="0">
                <a:latin typeface="Verdana" charset="0"/>
                <a:ea typeface="Verdana" charset="0"/>
                <a:cs typeface="Verdana" charset="0"/>
              </a:rPr>
              <a:t>muddiest</a:t>
            </a:r>
            <a:r>
              <a:rPr lang="en-US" sz="2000" dirty="0">
                <a:latin typeface="Verdana" charset="0"/>
                <a:ea typeface="Verdana" charset="0"/>
                <a:cs typeface="Verdana" charset="0"/>
              </a:rPr>
              <a:t> (most difficult or confusing) point in today’s lesson on discounts and markup?</a:t>
            </a: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020566" y="2457175"/>
            <a:ext cx="4406900" cy="4000500"/>
          </a:xfrm>
          <a:prstGeom prst="rect">
            <a:avLst/>
          </a:prstGeom>
        </p:spPr>
      </p:pic>
      <p:sp>
        <p:nvSpPr>
          <p:cNvPr id="10" name="Google Shape;282;g104476d1465_1_17"/>
          <p:cNvSpPr txBox="1"/>
          <p:nvPr/>
        </p:nvSpPr>
        <p:spPr>
          <a:xfrm>
            <a:off x="87074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234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567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1311</TotalTime>
  <Words>1308</Words>
  <Application>Microsoft Office PowerPoint</Application>
  <PresentationFormat>Widescreen</PresentationFormat>
  <Paragraphs>172</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Verdana</vt:lpstr>
      <vt:lpstr>Wingdings</vt:lpstr>
      <vt:lpstr>1_Office Theme</vt:lpstr>
      <vt:lpstr>6th Grade Accelerated Math  Unit 12, Lesson 4  Discounts and Markups  Volume 2, pg. 228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26</cp:revision>
  <dcterms:created xsi:type="dcterms:W3CDTF">2015-03-17T18:51:18Z</dcterms:created>
  <dcterms:modified xsi:type="dcterms:W3CDTF">2022-07-02T04:10:43Z</dcterms:modified>
</cp:coreProperties>
</file>