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72" r:id="rId8"/>
    <p:sldId id="373" r:id="rId9"/>
    <p:sldId id="374" r:id="rId10"/>
    <p:sldId id="38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14" r:id="rId21"/>
    <p:sldId id="315" r:id="rId22"/>
    <p:sldId id="362" r:id="rId23"/>
    <p:sldId id="385" r:id="rId24"/>
    <p:sldId id="386" r:id="rId25"/>
    <p:sldId id="306" r:id="rId26"/>
    <p:sldId id="307" r:id="rId27"/>
    <p:sldId id="37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6B9A3D"/>
    <a:srgbClr val="3465B0"/>
    <a:srgbClr val="DA4487"/>
    <a:srgbClr val="276C46"/>
    <a:srgbClr val="C9DF6F"/>
    <a:srgbClr val="417DB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32"/>
    <p:restoredTop sz="94695"/>
  </p:normalViewPr>
  <p:slideViewPr>
    <p:cSldViewPr snapToGrid="0">
      <p:cViewPr varScale="1">
        <p:scale>
          <a:sx n="79" d="100"/>
          <a:sy n="79" d="100"/>
        </p:scale>
        <p:origin x="30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2182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214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1601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8735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3098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9150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10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2453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06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936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7657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0106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48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05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6800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84592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96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11" Type="http://schemas.openxmlformats.org/officeDocument/2006/relationships/image" Target="../media/image10.png"/><Relationship Id="rId5" Type="http://schemas.openxmlformats.org/officeDocument/2006/relationships/image" Target="../media/image150.png"/><Relationship Id="rId10" Type="http://schemas.openxmlformats.org/officeDocument/2006/relationships/image" Target="../media/image20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0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0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Creating Proportions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213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01899" y="12153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399" y="3573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01899" y="1600200"/>
            <a:ext cx="860890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MA.7.AR.3.2 </a:t>
            </a:r>
          </a:p>
          <a:p>
            <a:pPr marL="9175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previous understanding of ratios to solve real-world problems involving proportions.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409" y="425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0059" y="18258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03948" y="1725133"/>
            <a:ext cx="836523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4721" y="2580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559" y="315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05340" y="1498651"/>
            <a:ext cx="87813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create proportions to represent a situation. 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6840" y="3307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12.1.1 Warm-Up: Math Flop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540" y="3164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36840" y="1358776"/>
            <a:ext cx="46436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advertisement encourages making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DiGiorno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pizza a part of your weekly meals.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advertisement?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3661" y="1358776"/>
            <a:ext cx="4121240" cy="4019137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0321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385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6385" y="-333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12.1.2 Exploration: Proportional Thinking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087" y="24479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1432341" y="1386025"/>
            <a:ext cx="9583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photograph is enlarged to make a poster. Measurements are given in centimeters (cm).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753711" y="3244828"/>
                <a:ext cx="9092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16 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cm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710" y="3244828"/>
                <a:ext cx="909223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95455" r="-6040" b="-1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2238" y="2658797"/>
            <a:ext cx="1167664" cy="18182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1183" y="2029092"/>
            <a:ext cx="1951668" cy="3077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21459" y="4477017"/>
                <a:ext cx="9092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cm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458" y="4477017"/>
                <a:ext cx="909223" cy="400110"/>
              </a:xfrm>
              <a:prstGeom prst="rect">
                <a:avLst/>
              </a:prstGeom>
              <a:blipFill rotWithShape="0">
                <a:blip r:embed="rId8"/>
                <a:stretch>
                  <a:fillRect t="-95455" r="-6040" b="-1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24016" y="3244828"/>
                <a:ext cx="3834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?</m:t>
                      </m:r>
                    </m:oMath>
                  </m:oMathPara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016" y="3244828"/>
                <a:ext cx="383438" cy="4001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92406" y="5182033"/>
                <a:ext cx="9092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25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cm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405" y="5182033"/>
                <a:ext cx="909223" cy="400110"/>
              </a:xfrm>
              <a:prstGeom prst="rect">
                <a:avLst/>
              </a:prstGeom>
              <a:blipFill rotWithShape="0">
                <a:blip r:embed="rId10"/>
                <a:stretch>
                  <a:fillRect t="-95455" r="-6000" b="-1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903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89154" y="520394"/>
                <a:ext cx="976435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Abigail used her pencil and measured the photo’s width using her finger to mark off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cm on the pencil. She then used the pencil to estimate the height using the mark on her pencil.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why Abigail’s strategy could lead to an incorrect answer.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154" y="520394"/>
                <a:ext cx="9764358" cy="2246769"/>
              </a:xfrm>
              <a:prstGeom prst="rect">
                <a:avLst/>
              </a:prstGeom>
              <a:blipFill rotWithShape="0">
                <a:blip r:embed="rId3"/>
                <a:stretch>
                  <a:fillRect l="-687" t="-1355" r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9538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94987" y="520394"/>
            <a:ext cx="103526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Mariana and Yousef used different strategies to find the height of the poster. Review their solution strategies. Then, work with your partner to answer the questions that follow.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1110" y="1676400"/>
            <a:ext cx="7821866" cy="32173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29193" y="5179816"/>
            <a:ext cx="10093090" cy="108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are Mariana and Yousef’s solution strategies similar?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are their solution strategies different?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178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1074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3209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19416" y="-212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12.1.3 Bring It Together: Proportional Relationships</a:t>
            </a: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C83A8687-31CC-0249-9695-539B96DF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9608" y="26666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24"/>
          <p:cNvSpPr txBox="1"/>
          <p:nvPr/>
        </p:nvSpPr>
        <p:spPr>
          <a:xfrm>
            <a:off x="2909316" y="1371398"/>
            <a:ext cx="6629400" cy="2836061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30275"/>
            <a:r>
              <a:rPr lang="en-US" sz="2000" dirty="0">
                <a:solidFill>
                  <a:srgbClr val="3465B0"/>
                </a:solidFill>
                <a:latin typeface="Verdana" charset="0"/>
                <a:ea typeface="Verdana" charset="0"/>
                <a:cs typeface="Verdana" charset="0"/>
              </a:rPr>
              <a:t>In a </a:t>
            </a:r>
            <a:r>
              <a:rPr lang="en-US" sz="2000" b="1" dirty="0">
                <a:solidFill>
                  <a:srgbClr val="3465B0"/>
                </a:solidFill>
                <a:latin typeface="Verdana" charset="0"/>
                <a:ea typeface="Verdana" charset="0"/>
                <a:cs typeface="Verdana" charset="0"/>
              </a:rPr>
              <a:t>proportional relationship</a:t>
            </a:r>
            <a:r>
              <a:rPr lang="en-US" sz="2000" dirty="0">
                <a:solidFill>
                  <a:srgbClr val="3465B0"/>
                </a:solidFill>
                <a:latin typeface="Verdana" charset="0"/>
                <a:ea typeface="Verdana" charset="0"/>
                <a:cs typeface="Verdana" charset="0"/>
              </a:rPr>
              <a:t>, the values for one quantity are each multiplied by the same number to get the values for the other quantity. </a:t>
            </a:r>
            <a:endParaRPr lang="en-US" sz="2000" i="1" dirty="0">
              <a:solidFill>
                <a:srgbClr val="3465B0"/>
              </a:solidFill>
              <a:latin typeface="Verdana" charset="0"/>
              <a:ea typeface="Verdana" charset="0"/>
              <a:cs typeface="Verdana" charset="0"/>
            </a:endParaRPr>
          </a:p>
          <a:p>
            <a:pPr marL="930275"/>
            <a:r>
              <a:rPr lang="en-US" sz="2000" dirty="0">
                <a:solidFill>
                  <a:srgbClr val="3465B0"/>
                </a:solidFill>
                <a:latin typeface="Verdana" charset="0"/>
                <a:ea typeface="Verdana" charset="0"/>
                <a:cs typeface="Verdana" charset="0"/>
              </a:rPr>
              <a:t>A </a:t>
            </a:r>
            <a:r>
              <a:rPr lang="en-US" sz="2000" b="1" dirty="0">
                <a:solidFill>
                  <a:srgbClr val="3465B0"/>
                </a:solidFill>
                <a:latin typeface="Verdana" charset="0"/>
                <a:ea typeface="Verdana" charset="0"/>
                <a:cs typeface="Verdana" charset="0"/>
              </a:rPr>
              <a:t>proportion</a:t>
            </a:r>
            <a:r>
              <a:rPr lang="en-US" sz="2000" dirty="0">
                <a:solidFill>
                  <a:srgbClr val="3465B0"/>
                </a:solidFill>
                <a:latin typeface="Verdana" charset="0"/>
                <a:ea typeface="Verdana" charset="0"/>
                <a:cs typeface="Verdana" charset="0"/>
              </a:rPr>
              <a:t> sets two or more equivalent ratios in such relationships as equal to each other and can be used to solve problems.</a:t>
            </a:r>
            <a:endParaRPr lang="en-US" sz="2000" i="1" dirty="0">
              <a:solidFill>
                <a:srgbClr val="3465B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5839" y="1557134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4"/>
              <p:cNvSpPr txBox="1"/>
              <p:nvPr/>
            </p:nvSpPr>
            <p:spPr>
              <a:xfrm>
                <a:off x="2909316" y="4420318"/>
                <a:ext cx="6629400" cy="1615306"/>
              </a:xfrm>
              <a:prstGeom prst="roundRect">
                <a:avLst/>
              </a:prstGeom>
              <a:solidFill>
                <a:srgbClr val="E2EED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930275"/>
                <a:r>
                  <a:rPr lang="en-US" sz="2000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A</a:t>
                </a:r>
                <a:r>
                  <a:rPr lang="en-US" sz="2000" b="1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 unit rate </a:t>
                </a:r>
                <a:r>
                  <a:rPr lang="en-US" sz="2000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is a ratio comparing a number of units of one quantity to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B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 unit of a second quantity.</a:t>
                </a:r>
                <a:endParaRPr lang="en-US" sz="2000" i="1" dirty="0">
                  <a:solidFill>
                    <a:srgbClr val="6B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316" y="4420318"/>
                <a:ext cx="6629400" cy="1615306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7817" y="4685483"/>
            <a:ext cx="558119" cy="570949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4767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04144" y="520393"/>
            <a:ext cx="97343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words and phrases in the bank below to complete the description of Mariana and Yousef’s work.</a:t>
            </a:r>
          </a:p>
          <a:p>
            <a:pPr lvl="0"/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photograph and the poster are in a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proportional relationship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because the poster is a scaled version of the photograph. Mariana found the scale factor, which is a _______________, and multiplied it by the height of the photo to find the height of the poster. Yousef set up a _______________ stating the _______________ of the height to width of the photograph _______________ the ratio of the height to width of the poster.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2916" y="1566040"/>
            <a:ext cx="7745835" cy="75382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535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258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684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12.1.4 Guided Instruction: Proportional Thinking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540" y="2072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436841" y="1386025"/>
            <a:ext cx="26948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Proportions can be set up in different ways using the relationships between each quantity.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Four different proportions that can be used to find the height of the poster are shown.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6718" y="1386025"/>
            <a:ext cx="6390867" cy="4339154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70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520393"/>
            <a:ext cx="83271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All of the proportions show that the ratios of the </a:t>
            </a:r>
            <a:r>
              <a:rPr lang="en-US" sz="2000" dirty="0">
                <a:solidFill>
                  <a:srgbClr val="822574"/>
                </a:solidFill>
                <a:latin typeface="Verdana" charset="0"/>
                <a:ea typeface="Verdana" charset="0"/>
                <a:cs typeface="Verdana" charset="0"/>
              </a:rPr>
              <a:t>dimensions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of the </a:t>
            </a:r>
            <a:r>
              <a:rPr lang="en-US" sz="2000" dirty="0">
                <a:solidFill>
                  <a:schemeClr val="accent2"/>
                </a:solidFill>
                <a:latin typeface="Verdana" charset="0"/>
                <a:ea typeface="Verdana" charset="0"/>
                <a:cs typeface="Verdana" charset="0"/>
              </a:rPr>
              <a:t>photograph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and the </a:t>
            </a:r>
            <a:r>
              <a:rPr lang="en-US" sz="2000" dirty="0">
                <a:solidFill>
                  <a:srgbClr val="822574"/>
                </a:solidFill>
                <a:latin typeface="Verdana" charset="0"/>
                <a:ea typeface="Verdana" charset="0"/>
                <a:cs typeface="Verdana" charset="0"/>
              </a:rPr>
              <a:t>dimensions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of the </a:t>
            </a:r>
            <a:r>
              <a:rPr lang="en-US" sz="2000" dirty="0">
                <a:solidFill>
                  <a:schemeClr val="accent2"/>
                </a:solidFill>
                <a:latin typeface="Verdana" charset="0"/>
                <a:ea typeface="Verdana" charset="0"/>
                <a:cs typeface="Verdana" charset="0"/>
              </a:rPr>
              <a:t>poster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are equivalent.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statements based on the proportions.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07766" y="2665512"/>
            <a:ext cx="79409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dimensions of the poster are              times larger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73075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than the photograph.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height of both the photograph and poster is        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73075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times larger than the width.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248" y="2407840"/>
            <a:ext cx="1060602" cy="9280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0416" y="3605523"/>
            <a:ext cx="1060602" cy="928027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4035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946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5586" y="5115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12.1.5 Guided Practice: Proportional Thinking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778" y="33709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435586" y="1386025"/>
                <a:ext cx="957686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city of Tampa collected sample data on pet ownership to use when determining whether or not it needed to build additional dog parks. A city parks officer randomly sampled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households in Tampa and found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126 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of the households had a dog. Using the results of the sample, determine how many households have a dog if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153,918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households in Tampa.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statements to describe the relationships that are being compared.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30275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number of households with a dog is being 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compared to the ________________________.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30275" indent="-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30275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data sample is being compared to the _______________________________ of Tampa.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586" y="1386025"/>
                <a:ext cx="9576860" cy="4708981"/>
              </a:xfrm>
              <a:prstGeom prst="rect">
                <a:avLst/>
              </a:prstGeom>
              <a:blipFill rotWithShape="0">
                <a:blip r:embed="rId4"/>
                <a:stretch>
                  <a:fillRect l="-700" t="-647" r="-254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4587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520393"/>
            <a:ext cx="8327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Two proportions that represent this situation are below, but one of them has an error.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9643774"/>
                  </p:ext>
                </p:extLst>
              </p:nvPr>
            </p:nvGraphicFramePr>
            <p:xfrm>
              <a:off x="2761701" y="1482820"/>
              <a:ext cx="6819265" cy="13830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826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366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89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Proportion A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Proportion B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58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126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200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153,918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153,918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200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126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9643774"/>
                  </p:ext>
                </p:extLst>
              </p:nvPr>
            </p:nvGraphicFramePr>
            <p:xfrm>
              <a:off x="1237700" y="1482820"/>
              <a:ext cx="6819265" cy="13830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82645"/>
                    <a:gridCol w="3436620"/>
                  </a:tblGrid>
                  <a:tr h="2972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Proportion A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Proportion B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10858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60" t="-35196" r="-101982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8759" t="-35196" r="-355" b="-111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16575" y="3424826"/>
                <a:ext cx="7732175" cy="21377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" indent="457200">
                  <a:lnSpc>
                    <a:spcPct val="107000"/>
                  </a:lnSpc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Proportion            is not set up correctly. The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5875" indent="457200">
                  <a:lnSpc>
                    <a:spcPct val="107000"/>
                  </a:lnSpc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5875" indent="457200">
                  <a:lnSpc>
                    <a:spcPct val="107000"/>
                  </a:lnSpc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proportion should be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                              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 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=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                              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15875" indent="457200">
                  <a:lnSpc>
                    <a:spcPct val="107000"/>
                  </a:lnSpc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number of households expected to have a dog.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74" y="3424825"/>
                <a:ext cx="7732175" cy="2137701"/>
              </a:xfrm>
              <a:prstGeom prst="rect">
                <a:avLst/>
              </a:prstGeom>
              <a:blipFill rotWithShape="0">
                <a:blip r:embed="rId5"/>
                <a:stretch>
                  <a:fillRect l="-868" t="-2000" b="-3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4338" y="3120455"/>
            <a:ext cx="891232" cy="973184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6049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3478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5455" y="5779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12.1.6 Collaboration: Creating Proportions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5647" y="34574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433487" y="1386025"/>
                <a:ext cx="6631221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Javad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drove his car to Canada. He was driving on a road and saw the sign shown to the right. According to his speedometer,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Javad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driving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75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miles per hour when he was pulled over for speeding. Canadian speed limits are given in kilometers (km) per hour because they use the metric system. There are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1.61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kilometers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mile.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487" y="1386025"/>
                <a:ext cx="6631221" cy="2554545"/>
              </a:xfrm>
              <a:prstGeom prst="rect">
                <a:avLst/>
              </a:prstGeom>
              <a:blipFill rotWithShape="0">
                <a:blip r:embed="rId4"/>
                <a:stretch>
                  <a:fillRect l="-1011" t="-1432" r="-1379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8997" y="1569617"/>
            <a:ext cx="2125905" cy="2284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59174" y="4400157"/>
            <a:ext cx="95950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0275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Create two different proportions that could be used to find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Javad’s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speed in kilometers per hour.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451924"/>
              </p:ext>
            </p:extLst>
          </p:nvPr>
        </p:nvGraphicFramePr>
        <p:xfrm>
          <a:off x="2668670" y="5259144"/>
          <a:ext cx="6776085" cy="1193475"/>
        </p:xfrm>
        <a:graphic>
          <a:graphicData uri="http://schemas.openxmlformats.org/drawingml/2006/table">
            <a:tbl>
              <a:tblPr firstRow="1" firstCol="1" bandRow="1"/>
              <a:tblGrid>
                <a:gridCol w="341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Proportion A</a:t>
                      </a:r>
                      <a:endParaRPr lang="en-US" sz="1600" i="1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Proportion B</a:t>
                      </a:r>
                      <a:endParaRPr lang="en-US" sz="1600" i="1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9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600" i="1" dirty="0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600" i="1" dirty="0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59175" y="520393"/>
            <a:ext cx="10254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fast was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Javad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traveling in kilometers per hour?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6973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59174" y="520393"/>
            <a:ext cx="9075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An architect made a scale drawing of a house as shown.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7989" y="1058334"/>
            <a:ext cx="4747399" cy="3869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14032" y="5274830"/>
                <a:ext cx="6251135" cy="566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457200">
                  <a:lnSpc>
                    <a:spcPct val="107000"/>
                  </a:lnSpc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scale for the drawing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 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feet.</a:t>
                </a:r>
                <a:endParaRPr lang="en-US" sz="18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31" y="5274830"/>
                <a:ext cx="6251135" cy="566502"/>
              </a:xfrm>
              <a:prstGeom prst="rect">
                <a:avLst/>
              </a:prstGeom>
              <a:blipFill rotWithShape="0">
                <a:blip r:embed="rId5"/>
                <a:stretch>
                  <a:fillRect r="-19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5964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484027" y="520393"/>
            <a:ext cx="98052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Create two different proportions that could be used to find the actual length of the house represented by the drawing.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length of the house represented by the drawing?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189258"/>
              </p:ext>
            </p:extLst>
          </p:nvPr>
        </p:nvGraphicFramePr>
        <p:xfrm>
          <a:off x="2760769" y="1724179"/>
          <a:ext cx="6805930" cy="2480056"/>
        </p:xfrm>
        <a:graphic>
          <a:graphicData uri="http://schemas.openxmlformats.org/drawingml/2006/table">
            <a:tbl>
              <a:tblPr firstRow="1" firstCol="1" bandRow="1"/>
              <a:tblGrid>
                <a:gridCol w="341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Proportion A</a:t>
                      </a:r>
                      <a:endParaRPr lang="en-US" sz="1800" i="1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Proportion B</a:t>
                      </a:r>
                      <a:endParaRPr lang="en-US" sz="1800" i="1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800" i="1" dirty="0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800" i="1" dirty="0">
                        <a:effectLst/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4484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7915" y="-82570"/>
            <a:ext cx="91800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 charset="0"/>
                <a:ea typeface="Verdana" charset="0"/>
                <a:cs typeface="Verdana" charset="0"/>
                <a:sym typeface="Verdana"/>
              </a:rPr>
              <a:t>12.1.7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615" y="2066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588957" y="1243130"/>
                <a:ext cx="944162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Jacksonville and Gainesville are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1.4 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inches (in.) apart on a scaled map of Florida. The scale used for the map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in. =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90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miles (mi).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Three students set up proportions to find the actual distance between Jacksonville and Gainesville, but two of them made errors.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957" y="1243130"/>
                <a:ext cx="9441622" cy="2246769"/>
              </a:xfrm>
              <a:prstGeom prst="rect">
                <a:avLst/>
              </a:prstGeom>
              <a:blipFill rotWithShape="0">
                <a:blip r:embed="rId4"/>
                <a:stretch>
                  <a:fillRect l="-711" t="-17120" r="-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94282" y="520394"/>
            <a:ext cx="10154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For each proportion, check whether it is correct or incorrect. If it is incorrect, fix the error by changing one of the ratios in the proportion.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418261"/>
                  </p:ext>
                </p:extLst>
              </p:nvPr>
            </p:nvGraphicFramePr>
            <p:xfrm>
              <a:off x="2757256" y="1808471"/>
              <a:ext cx="6828155" cy="26957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599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5361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171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Lily’s Proportion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Eli’s Proportion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Mia’s Proportion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51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90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1.4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1.4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90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1.4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714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correct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incorrect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418261"/>
                  </p:ext>
                </p:extLst>
              </p:nvPr>
            </p:nvGraphicFramePr>
            <p:xfrm>
              <a:off x="1233255" y="1808471"/>
              <a:ext cx="6828155" cy="26957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59965"/>
                    <a:gridCol w="2314575"/>
                    <a:gridCol w="2253615"/>
                  </a:tblGrid>
                  <a:tr h="9171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Lily’s Proportion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Eli’s Proportion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Mia’s Proportion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8615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70" t="-107801" r="-202695" b="-110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7895" t="-107801" r="-97895" b="-110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3243" t="-107801" r="-541" b="-110638"/>
                          </a:stretch>
                        </a:blipFill>
                      </a:tcPr>
                    </a:tc>
                  </a:tr>
                  <a:tr h="91714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correct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incorrect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incorrect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67640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1148</Words>
  <Application>Microsoft Office PowerPoint</Application>
  <PresentationFormat>Widescreen</PresentationFormat>
  <Paragraphs>173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Wingdings</vt:lpstr>
      <vt:lpstr>1_Office Theme</vt:lpstr>
      <vt:lpstr>6th Grade Accelerated Math  Unit 12, Lesson 1  Creating Proportions  Volume 2, pg. 213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27</cp:revision>
  <dcterms:created xsi:type="dcterms:W3CDTF">2015-03-17T18:51:18Z</dcterms:created>
  <dcterms:modified xsi:type="dcterms:W3CDTF">2022-07-02T04:08:56Z</dcterms:modified>
</cp:coreProperties>
</file>