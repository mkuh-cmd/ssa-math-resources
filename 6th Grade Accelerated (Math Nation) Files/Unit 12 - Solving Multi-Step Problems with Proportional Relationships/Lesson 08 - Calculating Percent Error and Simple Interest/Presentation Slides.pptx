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72" r:id="rId8"/>
    <p:sldId id="373" r:id="rId9"/>
    <p:sldId id="375" r:id="rId10"/>
    <p:sldId id="376" r:id="rId11"/>
    <p:sldId id="377" r:id="rId12"/>
    <p:sldId id="378" r:id="rId13"/>
    <p:sldId id="388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6" r:id="rId22"/>
    <p:sldId id="387" r:id="rId23"/>
    <p:sldId id="389" r:id="rId24"/>
    <p:sldId id="306" r:id="rId25"/>
    <p:sldId id="307" r:id="rId26"/>
    <p:sldId id="371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822574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4"/>
    <p:restoredTop sz="94695"/>
  </p:normalViewPr>
  <p:slideViewPr>
    <p:cSldViewPr snapToGrid="0">
      <p:cViewPr varScale="1">
        <p:scale>
          <a:sx n="79" d="100"/>
          <a:sy n="79" d="100"/>
        </p:scale>
        <p:origin x="37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0693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349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4035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9510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74293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5749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343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2011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956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35297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1161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52641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48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99120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636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1289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4092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968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8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Calculating Percent Error and Simple Interest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253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70015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48262" y="76763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762" y="31253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548262" y="1557337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MA.7.AR.3.1 </a:t>
            </a:r>
          </a:p>
          <a:p>
            <a:pPr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Apply previous understanding of percentages and ratios to solve multi-step, real-world percent problems.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481" y="2974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98131" y="54856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98131" y="1596390"/>
            <a:ext cx="978349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9900" y="2253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738" y="2914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509900" y="1498651"/>
            <a:ext cx="91722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find percent error.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solve problems that involve simple interest.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62018" y="-19792"/>
            <a:ext cx="1025373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12.8.1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719" y="26024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462018" y="1386026"/>
                <a:ext cx="5338521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It’s “Multiple Monday” and the more pizzas purchased, the greater the discount applied. If one pizza is ordered, the discount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10%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If two pizzas are ordered, the discount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20%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for three pizzas, the discount goes up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30%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018" y="1386026"/>
                <a:ext cx="5338521" cy="2246769"/>
              </a:xfrm>
              <a:prstGeom prst="rect">
                <a:avLst/>
              </a:prstGeom>
              <a:blipFill rotWithShape="0">
                <a:blip r:embed="rId4"/>
                <a:stretch>
                  <a:fillRect l="-1256" t="-1355" r="-1370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462018" y="4210906"/>
                <a:ext cx="8936159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Would you rather order 3 pizzas on separate checks, or order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pizzas on the same check and split the cost?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Justify your answer using mathematics.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018" y="4210906"/>
                <a:ext cx="8936159" cy="1631216"/>
              </a:xfrm>
              <a:prstGeom prst="rect">
                <a:avLst/>
              </a:prstGeom>
              <a:blipFill rotWithShape="0">
                <a:blip r:embed="rId5"/>
                <a:stretch>
                  <a:fillRect l="-750" t="-2622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0750" y="1460775"/>
            <a:ext cx="3302000" cy="250190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98631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1024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61564" y="15821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12.8.2 Exploration: Estimate vs. Actual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5266" y="40633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1457520" y="1386026"/>
                <a:ext cx="9532992" cy="4528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Instructions to care for a plant say, “Water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cup of water daily.” The plant has been getting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25%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too much water. How much water has the plant been getting? Include units.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pressure on a bicycle tire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63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psi. This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5%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higher than what the manual states is the correct pressure. What is the correct pressure? Include units.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crowd at a sporting event is estimated to be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2,500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attendees. The exact attendance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2,486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people. By what percentage is the estimated attendance off?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what strategies you used to solve questions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1−3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520" y="1386026"/>
                <a:ext cx="9532992" cy="4528676"/>
              </a:xfrm>
              <a:prstGeom prst="rect">
                <a:avLst/>
              </a:prstGeom>
              <a:blipFill rotWithShape="0">
                <a:blip r:embed="rId4"/>
                <a:stretch>
                  <a:fillRect l="-703" r="-1535" b="-1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8301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304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62550" y="-379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12.8.3 Guided Instruction: Percent Error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50" y="20346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443038" y="3045952"/>
                <a:ext cx="956195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Percent error can be used to describe any situation where there is a correct value and an incorrect value, and to describe the relative difference between them.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teacher estimates there are approximately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600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students at his school, but in actuality there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625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students enrolled.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4400" indent="-531813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difference between the teacher’s estimate and the actual number of students enrolled at the school?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038" y="3045952"/>
                <a:ext cx="9561956" cy="2862322"/>
              </a:xfrm>
              <a:prstGeom prst="rect">
                <a:avLst/>
              </a:prstGeom>
              <a:blipFill rotWithShape="0">
                <a:blip r:embed="rId4"/>
                <a:stretch>
                  <a:fillRect l="-702" t="-1279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4"/>
          <p:cNvSpPr txBox="1"/>
          <p:nvPr/>
        </p:nvSpPr>
        <p:spPr>
          <a:xfrm>
            <a:off x="2894326" y="1297201"/>
            <a:ext cx="6629400" cy="1615306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14400"/>
            <a:r>
              <a:rPr lang="en-US" sz="2000" b="1" i="1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Percent error</a:t>
            </a:r>
            <a:r>
              <a:rPr lang="en-US" sz="2000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 is the difference between the estimated number and the actual number as a percentage of the actual value.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2827" y="1562366"/>
            <a:ext cx="558119" cy="570949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0769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228726" y="520394"/>
                <a:ext cx="1028587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the definition of percent error, finish filling out the ratio of the situation.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percent error in the teacher’s estimate is ____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726" y="520394"/>
                <a:ext cx="10285870" cy="3477875"/>
              </a:xfrm>
              <a:prstGeom prst="rect">
                <a:avLst/>
              </a:prstGeom>
              <a:blipFill rotWithShape="0">
                <a:blip r:embed="rId3"/>
                <a:stretch>
                  <a:fillRect l="-652" t="-1051" b="-2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8419" y="1924779"/>
            <a:ext cx="7493000" cy="92710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4527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85864" y="520393"/>
            <a:ext cx="10356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Discuss with your partner why the percent error is positive. Summarize your discussion.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5380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314450" y="520393"/>
                <a:ext cx="971376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front of a cereal box lists the net weight of the product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ounces (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oz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). After further measurements, it is determined there are actually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oz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of cereal in the box.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4400" indent="-4714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difference, in ounces, between the weight listed on the box and the measured weight? </a:t>
                </a:r>
              </a:p>
              <a:p>
                <a:pPr marL="914400" indent="-4714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714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714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714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714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714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percent error. Show your work.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0" y="520393"/>
                <a:ext cx="9713766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691" t="-966" r="-1004" b="-2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5366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3409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60765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12.8.4 Guided Practice: Percent Error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0957" y="22635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300163" y="1386025"/>
                <a:ext cx="9847706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store owner estimated she would have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125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customers in her store on its opening day. She underestimated the number of customers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8%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How many customers visited the store on opening day?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To be labeled a jumbo egg, the egg is supposed to weigh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2.5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ounces (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oz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). Alana buys a carton of jumbo eggs and measures one of the eggs as 2.4 oz. What is the percent error?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163" y="1386025"/>
                <a:ext cx="9847706" cy="3170099"/>
              </a:xfrm>
              <a:prstGeom prst="rect">
                <a:avLst/>
              </a:prstGeom>
              <a:blipFill rotWithShape="0">
                <a:blip r:embed="rId4"/>
                <a:stretch>
                  <a:fillRect l="-681" t="-1154" r="-557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3750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2963" y="520394"/>
                <a:ext cx="1065674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student estimates there to be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25.7 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milliliters (mL) of a solution in his beaker in science class. He underestimated the amount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12.5%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What was the actual amount of solution in the beaker? Round to the nearest thousandth.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Lia wanted to take advantage of the pizza special on “Multiple Monday.” She estimates it will cost her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$28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for two large cheese pizzas after the discount is applied. The actual cost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$28.80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What is the percent error? Round to the nearest whole percent.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63" y="520394"/>
                <a:ext cx="10656740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629" t="-10145" r="-629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1209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236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655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48275" y="-10919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12.8.5 Guided Instruction: Simple Interest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23" y="1747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457325" y="1416006"/>
                <a:ext cx="953338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Kristina received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 a birthday card and wants to put the money into her savings account, where she will earn an additional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each year it remains in her account. This is known as </a:t>
                </a:r>
                <a:r>
                  <a:rPr lang="en-US" sz="2000" b="1" i="1" dirty="0">
                    <a:latin typeface="Verdana" charset="0"/>
                    <a:ea typeface="Verdana" charset="0"/>
                    <a:cs typeface="Verdana" charset="0"/>
                  </a:rPr>
                  <a:t>simple interest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325" y="1416006"/>
                <a:ext cx="9533382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703" t="-3593" r="-895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4"/>
          <p:cNvSpPr txBox="1"/>
          <p:nvPr/>
        </p:nvSpPr>
        <p:spPr>
          <a:xfrm>
            <a:off x="2879336" y="3342646"/>
            <a:ext cx="6629400" cy="1873931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73138"/>
            <a:r>
              <a:rPr lang="en-US" sz="2000" b="1" i="1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Simple interest</a:t>
            </a:r>
            <a:r>
              <a:rPr lang="en-US" sz="2000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 is a method of computing interest. Interest is computed from the (original) principal alone, no matter how much money has accrued so far.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7837" y="3607811"/>
            <a:ext cx="558119" cy="570949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9424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328739" y="520394"/>
                <a:ext cx="10070854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much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much money will be in Kristina’s savings account after one year if she makes no additional deposits or withdrawals after putting in her birthday money?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Compare your answer with your partner and discuss how you determined the answer for Part B.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739" y="520394"/>
                <a:ext cx="10070854" cy="4401205"/>
              </a:xfrm>
              <a:prstGeom prst="rect">
                <a:avLst/>
              </a:prstGeom>
              <a:blipFill rotWithShape="0">
                <a:blip r:embed="rId3"/>
                <a:stretch>
                  <a:fillRect l="-666" t="-831" r="-1211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661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71563" y="520393"/>
                <a:ext cx="10199540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Suppose an investment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earns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$3.50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interest in one year.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4400" indent="-4714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investment amount will earn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$61.60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 two years at the same rate?</a:t>
                </a:r>
              </a:p>
              <a:p>
                <a:pPr marL="914400" indent="-4714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714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Ask two other partner pairs to describe how they found the initial investment. Record their initial investment and write your summary of their process. </a:t>
                </a:r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You are the only person who should write in the first two columns of the table.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Have the person initial next to your summary stating that your summary was correct.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563" y="520393"/>
                <a:ext cx="10199540" cy="3170099"/>
              </a:xfrm>
              <a:prstGeom prst="rect">
                <a:avLst/>
              </a:prstGeom>
              <a:blipFill rotWithShape="0">
                <a:blip r:embed="rId3"/>
                <a:stretch>
                  <a:fillRect l="-658" t="-1154" r="-1375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383704"/>
              </p:ext>
            </p:extLst>
          </p:nvPr>
        </p:nvGraphicFramePr>
        <p:xfrm>
          <a:off x="2274515" y="4306046"/>
          <a:ext cx="7793637" cy="1807987"/>
        </p:xfrm>
        <a:graphic>
          <a:graphicData uri="http://schemas.openxmlformats.org/drawingml/2006/table">
            <a:tbl>
              <a:tblPr bandRow="1"/>
              <a:tblGrid>
                <a:gridCol w="1848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9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5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Initial Investment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My Summary of Their Reason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Initials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7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7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8381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71575" y="520394"/>
            <a:ext cx="10325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Review the initial investments and reasons provided by other partner pairs. If necessary, fix any mistakes you and your partner made.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8208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285875" y="3327405"/>
                <a:ext cx="1033476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Tonio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took out a six-year car loan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$15,600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with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simple interest rate over the life of the loan.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4400" indent="-5016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much interest, in dollars, will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Tonio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pay annually?</a:t>
                </a:r>
              </a:p>
              <a:p>
                <a:pPr marL="914400" indent="-5016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5016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5016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much will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Tonio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pay in interest over the course of </a:t>
                </a:r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six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years?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5" y="3327405"/>
                <a:ext cx="10334766" cy="2246769"/>
              </a:xfrm>
              <a:prstGeom prst="rect">
                <a:avLst/>
              </a:prstGeom>
              <a:blipFill rotWithShape="0">
                <a:blip r:embed="rId3"/>
                <a:stretch>
                  <a:fillRect l="-649" t="-1902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4"/>
              <p:cNvSpPr txBox="1"/>
              <p:nvPr/>
            </p:nvSpPr>
            <p:spPr>
              <a:xfrm>
                <a:off x="2954287" y="486978"/>
                <a:ext cx="6629400" cy="2286203"/>
              </a:xfrm>
              <a:prstGeom prst="roundRect">
                <a:avLst/>
              </a:prstGeom>
              <a:solidFill>
                <a:srgbClr val="B6E6F5"/>
              </a:solid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914400"/>
                <a:r>
                  <a:rPr lang="en-US" sz="2000" b="1" dirty="0">
                    <a:solidFill>
                      <a:srgbClr val="3465B0"/>
                    </a:solidFill>
                    <a:latin typeface="Verdana" charset="0"/>
                    <a:ea typeface="Verdana" charset="0"/>
                    <a:cs typeface="Verdana" charset="0"/>
                  </a:rPr>
                  <a:t>Simple Interest Formula</a:t>
                </a:r>
                <a:endParaRPr lang="en-US" sz="2000" dirty="0">
                  <a:solidFill>
                    <a:srgbClr val="3465B0"/>
                  </a:solidFill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3465B0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𝑰</m:t>
                      </m:r>
                      <m:r>
                        <a:rPr lang="en-US" sz="2000" b="1" i="1">
                          <a:solidFill>
                            <a:srgbClr val="3465B0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</m:t>
                      </m:r>
                      <m:r>
                        <a:rPr lang="en-US" sz="2000" b="1" i="1">
                          <a:solidFill>
                            <a:srgbClr val="3465B0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rgbClr val="3465B0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×</m:t>
                      </m:r>
                      <m:r>
                        <a:rPr lang="en-US" sz="2000" b="1" i="1">
                          <a:solidFill>
                            <a:srgbClr val="3465B0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𝒓</m:t>
                      </m:r>
                      <m:r>
                        <a:rPr lang="en-US" sz="2000" b="1" i="1">
                          <a:solidFill>
                            <a:srgbClr val="3465B0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×</m:t>
                      </m:r>
                      <m:r>
                        <a:rPr lang="en-US" sz="2000" b="1" i="1">
                          <a:solidFill>
                            <a:srgbClr val="3465B0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𝒕</m:t>
                      </m:r>
                    </m:oMath>
                  </m:oMathPara>
                </a14:m>
                <a:endParaRPr lang="en-US" sz="2000" dirty="0">
                  <a:solidFill>
                    <a:srgbClr val="3465B0"/>
                  </a:solidFill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/>
                <a:r>
                  <a:rPr lang="en-US" sz="2000" dirty="0">
                    <a:solidFill>
                      <a:srgbClr val="3465B0"/>
                    </a:solidFill>
                    <a:latin typeface="Verdana" charset="0"/>
                    <a:ea typeface="Verdana" charset="0"/>
                    <a:cs typeface="Verdana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465B0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rgbClr val="3465B0"/>
                    </a:solidFill>
                    <a:latin typeface="Verdana" charset="0"/>
                    <a:ea typeface="Verdana" charset="0"/>
                    <a:cs typeface="Verdana" charset="0"/>
                  </a:rPr>
                  <a:t> is the interest earned,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465B0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rgbClr val="3465B0"/>
                    </a:solidFill>
                    <a:latin typeface="Verdana" charset="0"/>
                    <a:ea typeface="Verdana" charset="0"/>
                    <a:cs typeface="Verdana" charset="0"/>
                  </a:rPr>
                  <a:t> is the principal starting amount of money,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465B0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𝑟</m:t>
                    </m:r>
                  </m:oMath>
                </a14:m>
                <a:r>
                  <a:rPr lang="en-US" sz="2000" dirty="0">
                    <a:solidFill>
                      <a:srgbClr val="3465B0"/>
                    </a:solidFill>
                    <a:latin typeface="Verdana" charset="0"/>
                    <a:ea typeface="Verdana" charset="0"/>
                    <a:cs typeface="Verdana" charset="0"/>
                  </a:rPr>
                  <a:t> is the interest rate per year,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465B0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𝑡</m:t>
                    </m:r>
                  </m:oMath>
                </a14:m>
                <a:r>
                  <a:rPr lang="en-US" sz="2000" dirty="0">
                    <a:solidFill>
                      <a:srgbClr val="3465B0"/>
                    </a:solidFill>
                    <a:latin typeface="Verdana" charset="0"/>
                    <a:ea typeface="Verdana" charset="0"/>
                    <a:cs typeface="Verdana" charset="0"/>
                  </a:rPr>
                  <a:t> is the length of the investment.</a:t>
                </a:r>
              </a:p>
            </p:txBody>
          </p:sp>
        </mc:Choice>
        <mc:Fallback xmlns="">
          <p:sp>
            <p:nvSpPr>
              <p:cNvPr id="6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287" y="486977"/>
                <a:ext cx="6629400" cy="2286203"/>
              </a:xfrm>
              <a:prstGeom prst="round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10810" y="672714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4463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443038" y="520394"/>
            <a:ext cx="982726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is the total amount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Tonio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will pay back at the end of his six-year loan?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why the total amount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Tonio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will have paid back by the end of his loan is more than the loan amount he borrowed.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810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62019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12.8.6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719" y="27619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462019" y="1386025"/>
            <a:ext cx="95239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In this unit, you have learned multiple concepts about percentages and proportional relationships, including those listed below.</a:t>
            </a:r>
          </a:p>
          <a:p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buFont typeface="Arial" charset="0"/>
              <a:buChar char="•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Solving real-world problems using proportions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Solving discount, markup, tax, tip, and fees problems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Finding percentage of increase and decrease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Finding percent error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Solving problems involving simple interest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040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00163" y="520393"/>
            <a:ext cx="9742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stoplight reflection below to share how you are feeling about each of the concepts at this point.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4900" y="1676400"/>
            <a:ext cx="7429500" cy="349250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7292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74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67640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1363</Words>
  <Application>Microsoft Office PowerPoint</Application>
  <PresentationFormat>Widescreen</PresentationFormat>
  <Paragraphs>181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6th Grade Accelerated Math  Unit 12, Lesson 8  Calculating Percent Error and Simple Interest  Volume 2, pg. 253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24</cp:revision>
  <dcterms:created xsi:type="dcterms:W3CDTF">2015-03-17T18:51:18Z</dcterms:created>
  <dcterms:modified xsi:type="dcterms:W3CDTF">2022-07-02T04:14:16Z</dcterms:modified>
</cp:coreProperties>
</file>