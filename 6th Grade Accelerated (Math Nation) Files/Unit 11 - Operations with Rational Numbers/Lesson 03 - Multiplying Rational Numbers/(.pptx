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288" r:id="rId10"/>
    <p:sldId id="316" r:id="rId11"/>
    <p:sldId id="323" r:id="rId12"/>
    <p:sldId id="324" r:id="rId13"/>
    <p:sldId id="325" r:id="rId14"/>
    <p:sldId id="326" r:id="rId15"/>
    <p:sldId id="306" r:id="rId16"/>
    <p:sldId id="307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60" autoAdjust="0"/>
    <p:restoredTop sz="94695"/>
  </p:normalViewPr>
  <p:slideViewPr>
    <p:cSldViewPr snapToGrid="0">
      <p:cViewPr varScale="1">
        <p:scale>
          <a:sx n="79" d="100"/>
          <a:sy n="79" d="100"/>
        </p:scale>
        <p:origin x="60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28277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6405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3171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6261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97723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15" Type="http://schemas.openxmlformats.org/officeDocument/2006/relationships/image" Target="../media/image10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Multiplying Rational Numbers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176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12701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762" y="1850136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28933" y="33901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433" y="26967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694329" y="1600200"/>
            <a:ext cx="851647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MA.7.NSO.2.2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Add, subtract, multiply, and divide rational numbers with procedural fluency.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797" y="32270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691447" y="80069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614097" y="1596390"/>
            <a:ext cx="955156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88469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07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709088" y="1600200"/>
            <a:ext cx="87738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ct val="125000"/>
              <a:buFont typeface="Verdana"/>
              <a:buChar char="❏"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fluently multiply rational numbers.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40588" y="7611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11.3.1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288" y="3218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1660320" y="1386025"/>
                <a:ext cx="912739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Using the digits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at most one time each, fill in the boxes so that the top two equations are equal, and the bottom equation has the greatest value.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320" y="1386025"/>
                <a:ext cx="9127392" cy="1107996"/>
              </a:xfrm>
              <a:prstGeom prst="rect">
                <a:avLst/>
              </a:prstGeom>
              <a:blipFill rotWithShape="0">
                <a:blip r:embed="rId4"/>
                <a:stretch>
                  <a:fillRect l="-868" t="-4396" b="-10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3409420" y="2791958"/>
            <a:ext cx="4391028" cy="894715"/>
            <a:chOff x="162045" y="0"/>
            <a:chExt cx="4391286" cy="895150"/>
          </a:xfrm>
        </p:grpSpPr>
        <p:sp>
          <p:nvSpPr>
            <p:cNvPr id="10" name="Rectangle 9"/>
            <p:cNvSpPr>
              <a:spLocks noChangeAspect="1"/>
            </p:cNvSpPr>
            <p:nvPr/>
          </p:nvSpPr>
          <p:spPr>
            <a:xfrm>
              <a:off x="1031272" y="0"/>
              <a:ext cx="914400" cy="89515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" name="Rectangle 10"/>
            <p:cNvSpPr>
              <a:spLocks noChangeAspect="1"/>
            </p:cNvSpPr>
            <p:nvPr/>
          </p:nvSpPr>
          <p:spPr>
            <a:xfrm>
              <a:off x="2663303" y="0"/>
              <a:ext cx="914400" cy="894715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201"/>
                <p:cNvSpPr txBox="1"/>
                <p:nvPr/>
              </p:nvSpPr>
              <p:spPr>
                <a:xfrm>
                  <a:off x="1701478" y="126197"/>
                  <a:ext cx="1149985" cy="6908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sz="1100">
                    <a:latin typeface="Calibri" panose="020F050202020403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 Box 2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1478" y="126197"/>
                  <a:ext cx="1149985" cy="69088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202"/>
                <p:cNvSpPr txBox="1"/>
                <p:nvPr/>
              </p:nvSpPr>
              <p:spPr>
                <a:xfrm>
                  <a:off x="3402957" y="126197"/>
                  <a:ext cx="1150374" cy="69112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1100">
                    <a:latin typeface="Calibri" panose="020F050202020403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 Box 20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2957" y="126197"/>
                  <a:ext cx="1150374" cy="691126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3"/>
                <p:cNvSpPr txBox="1"/>
                <p:nvPr/>
              </p:nvSpPr>
              <p:spPr>
                <a:xfrm>
                  <a:off x="162045" y="34725"/>
                  <a:ext cx="1150374" cy="69112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sz="1100">
                    <a:latin typeface="Calibri" panose="020F050202020403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 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045" y="34725"/>
                  <a:ext cx="1150374" cy="691126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/>
          <p:cNvGrpSpPr/>
          <p:nvPr/>
        </p:nvGrpSpPr>
        <p:grpSpPr>
          <a:xfrm>
            <a:off x="3409420" y="3947299"/>
            <a:ext cx="4391028" cy="894715"/>
            <a:chOff x="162045" y="0"/>
            <a:chExt cx="4391286" cy="895150"/>
          </a:xfrm>
        </p:grpSpPr>
        <p:sp>
          <p:nvSpPr>
            <p:cNvPr id="18" name="Rectangle 17"/>
            <p:cNvSpPr>
              <a:spLocks noChangeAspect="1"/>
            </p:cNvSpPr>
            <p:nvPr/>
          </p:nvSpPr>
          <p:spPr>
            <a:xfrm>
              <a:off x="1031272" y="0"/>
              <a:ext cx="914400" cy="89515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" name="Rectangle 18"/>
            <p:cNvSpPr>
              <a:spLocks noChangeAspect="1"/>
            </p:cNvSpPr>
            <p:nvPr/>
          </p:nvSpPr>
          <p:spPr>
            <a:xfrm>
              <a:off x="2663303" y="0"/>
              <a:ext cx="914400" cy="894715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21"/>
                <p:cNvSpPr txBox="1"/>
                <p:nvPr/>
              </p:nvSpPr>
              <p:spPr>
                <a:xfrm>
                  <a:off x="1701478" y="126197"/>
                  <a:ext cx="1149985" cy="6908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sz="1100" dirty="0">
                    <a:latin typeface="Calibri" panose="020F050202020403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3600" dirty="0">
                      <a:latin typeface="Calibri" panose="020F0502020204030204" pitchFamily="34" charset="0"/>
                      <a:ea typeface="Yu Mincho" panose="02020400000000000000" pitchFamily="18" charset="-128"/>
                      <a:cs typeface="Times New Roman" panose="02020603050405020304" pitchFamily="18" charset="0"/>
                    </a:rPr>
                    <a:t> </a:t>
                  </a:r>
                  <a:endParaRPr lang="en-US" sz="1100" dirty="0">
                    <a:latin typeface="Calibri" panose="020F050202020403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 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1478" y="126197"/>
                  <a:ext cx="1149985" cy="69088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22"/>
                <p:cNvSpPr txBox="1"/>
                <p:nvPr/>
              </p:nvSpPr>
              <p:spPr>
                <a:xfrm>
                  <a:off x="3402957" y="126197"/>
                  <a:ext cx="1150374" cy="69112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1100">
                    <a:latin typeface="Calibri" panose="020F050202020403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 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2957" y="126197"/>
                  <a:ext cx="1150374" cy="691126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23"/>
                <p:cNvSpPr txBox="1"/>
                <p:nvPr/>
              </p:nvSpPr>
              <p:spPr>
                <a:xfrm>
                  <a:off x="162045" y="34725"/>
                  <a:ext cx="1150374" cy="69112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sz="1100">
                    <a:latin typeface="Calibri" panose="020F050202020403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Text 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045" y="34725"/>
                  <a:ext cx="1150374" cy="691126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/>
          <p:cNvGrpSpPr/>
          <p:nvPr/>
        </p:nvGrpSpPr>
        <p:grpSpPr>
          <a:xfrm>
            <a:off x="3409421" y="5352256"/>
            <a:ext cx="4634229" cy="909955"/>
            <a:chOff x="162045" y="0"/>
            <a:chExt cx="4634355" cy="910444"/>
          </a:xfrm>
        </p:grpSpPr>
        <p:sp>
          <p:nvSpPr>
            <p:cNvPr id="24" name="Rectangle 23"/>
            <p:cNvSpPr>
              <a:spLocks noChangeAspect="1"/>
            </p:cNvSpPr>
            <p:nvPr/>
          </p:nvSpPr>
          <p:spPr>
            <a:xfrm>
              <a:off x="1031272" y="0"/>
              <a:ext cx="914400" cy="89515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5" name="Rectangle 24"/>
            <p:cNvSpPr>
              <a:spLocks noChangeAspect="1"/>
            </p:cNvSpPr>
            <p:nvPr/>
          </p:nvSpPr>
          <p:spPr>
            <a:xfrm>
              <a:off x="3022118" y="15729"/>
              <a:ext cx="914400" cy="894715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 Box 27"/>
                <p:cNvSpPr txBox="1"/>
                <p:nvPr/>
              </p:nvSpPr>
              <p:spPr>
                <a:xfrm>
                  <a:off x="1701478" y="126197"/>
                  <a:ext cx="1149985" cy="6908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sz="1100">
                    <a:latin typeface="Calibri" panose="020F050202020403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3600">
                      <a:latin typeface="Calibri" panose="020F0502020204030204" pitchFamily="34" charset="0"/>
                      <a:ea typeface="Yu Mincho" panose="02020400000000000000" pitchFamily="18" charset="-128"/>
                      <a:cs typeface="Times New Roman" panose="02020603050405020304" pitchFamily="18" charset="0"/>
                    </a:rPr>
                    <a:t> </a:t>
                  </a:r>
                  <a:endParaRPr lang="en-US" sz="1100">
                    <a:latin typeface="Calibri" panose="020F050202020403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 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1478" y="126197"/>
                  <a:ext cx="1149985" cy="690880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28"/>
                <p:cNvSpPr txBox="1"/>
                <p:nvPr/>
              </p:nvSpPr>
              <p:spPr>
                <a:xfrm>
                  <a:off x="3646026" y="126197"/>
                  <a:ext cx="1150374" cy="69112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1100">
                    <a:latin typeface="Calibri" panose="020F050202020403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Text 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6026" y="126197"/>
                  <a:ext cx="1150374" cy="691126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29"/>
                <p:cNvSpPr txBox="1"/>
                <p:nvPr/>
              </p:nvSpPr>
              <p:spPr>
                <a:xfrm>
                  <a:off x="162045" y="34725"/>
                  <a:ext cx="1150374" cy="69112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sz="1100" dirty="0">
                    <a:latin typeface="Calibri" panose="020F0502020204030204" pitchFamily="34" charset="0"/>
                    <a:ea typeface="Yu Mincho" panose="02020400000000000000" pitchFamily="18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Text 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045" y="34725"/>
                  <a:ext cx="1150374" cy="691126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30"/>
              <p:cNvSpPr txBox="1"/>
              <p:nvPr/>
            </p:nvSpPr>
            <p:spPr>
              <a:xfrm>
                <a:off x="5296696" y="5312662"/>
                <a:ext cx="1149985" cy="69024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−</m:t>
                      </m:r>
                    </m:oMath>
                  </m:oMathPara>
                </a14:m>
                <a:endParaRPr lang="en-US" sz="1100" b="1" i="1" dirty="0">
                  <a:latin typeface="Calibri" panose="020F0502020204030204" pitchFamily="34" charset="0"/>
                  <a:ea typeface="Yu Mincho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2695" y="5312661"/>
                <a:ext cx="1149985" cy="690245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283;g104476d1465_1_17"/>
          <p:cNvPicPr preferRelativeResize="0"/>
          <p:nvPr/>
        </p:nvPicPr>
        <p:blipFill>
          <a:blip r:embed="rId1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9836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11.3.2 Collaboration: Signed Number Rules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8552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1398360" y="1386025"/>
            <a:ext cx="965131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Fill in the blank with the words </a:t>
            </a:r>
            <a:r>
              <a:rPr 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positive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or </a:t>
            </a:r>
            <a:r>
              <a:rPr 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negative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to describe the rules for multiplying integers. </a:t>
            </a:r>
          </a:p>
          <a:p>
            <a:pPr marL="914400" indent="-4619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product of two positive integers is a ____________ integer.  </a:t>
            </a:r>
          </a:p>
          <a:p>
            <a:pPr marL="914400" indent="-4619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product of two negative integers is a ___________ integer.  </a:t>
            </a:r>
          </a:p>
          <a:p>
            <a:pPr marL="914400" indent="-4619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product of a negative integer and a positive integer is a ____________ integer. </a:t>
            </a:r>
          </a:p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whether you think the same rules apply to rational numbers. Write a summary of your reasoning.</a:t>
            </a: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290918" y="520393"/>
            <a:ext cx="97608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 Use a calculator to find the product of each expression to verify if the same rules for signs apply when multiplying rational numbers.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8481878"/>
                  </p:ext>
                </p:extLst>
              </p:nvPr>
            </p:nvGraphicFramePr>
            <p:xfrm>
              <a:off x="2496889" y="1731660"/>
              <a:ext cx="7053510" cy="444004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5769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899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9060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1526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18694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marL="63903" marR="6390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Sign of Product Using the Rules</a:t>
                          </a:r>
                        </a:p>
                      </a:txBody>
                      <a:tcPr marL="63903" marR="6390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</a:t>
                          </a:r>
                        </a:p>
                      </a:txBody>
                      <a:tcPr marL="63903" marR="6390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Did the Same Rule Apply?</a:t>
                          </a:r>
                        </a:p>
                      </a:txBody>
                      <a:tcPr marL="63903" marR="6390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910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910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18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Pre>
                                      <m:sPre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PrePr>
                                      <m:sub>
                                        <m:r>
                                          <a:rPr lang="en-US" sz="2000" b="0" i="0" smtClean="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b>
                                      <m:sup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</m:sup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8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25</m:t>
                                            </m:r>
                                          </m:den>
                                        </m:f>
                                      </m:e>
                                    </m:sPre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910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21.285∙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sz="2000" b="0" i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3.8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9109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sz="2000" b="0" i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91.09)</m:t>
                                    </m:r>
                                  </m:e>
                                </m:sPre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sz="2000" b="0" i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6.4</m:t>
                                    </m:r>
                                  </m:e>
                                </m:sPre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8481878"/>
                  </p:ext>
                </p:extLst>
              </p:nvPr>
            </p:nvGraphicFramePr>
            <p:xfrm>
              <a:off x="972889" y="1731660"/>
              <a:ext cx="7053510" cy="44689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57690"/>
                    <a:gridCol w="1789945"/>
                    <a:gridCol w="1790608"/>
                    <a:gridCol w="1615267"/>
                  </a:tblGrid>
                  <a:tr h="130454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</a:p>
                      </a:txBody>
                      <a:tcPr marL="63903" marR="6390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Sign of Product Using the Rules</a:t>
                          </a:r>
                        </a:p>
                      </a:txBody>
                      <a:tcPr marL="63903" marR="6390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</a:t>
                          </a:r>
                        </a:p>
                      </a:txBody>
                      <a:tcPr marL="63903" marR="6390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Did the Same Rule Apply?</a:t>
                          </a:r>
                        </a:p>
                      </a:txBody>
                      <a:tcPr marL="63903" marR="63903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7910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903" marR="63903" marT="0" marB="0" anchor="ctr">
                        <a:blipFill rotWithShape="0">
                          <a:blip r:embed="rId4"/>
                          <a:stretch>
                            <a:fillRect l="-328" t="-175385" r="-280328" b="-3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</a:tr>
                  <a:tr h="7910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903" marR="63903" marT="0" marB="0" anchor="ctr">
                        <a:blipFill rotWithShape="0">
                          <a:blip r:embed="rId4"/>
                          <a:stretch>
                            <a:fillRect l="-328" t="-275385" r="-280328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</a:tr>
                  <a:tr h="7910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903" marR="63903" marT="0" marB="0" anchor="ctr">
                        <a:blipFill rotWithShape="0">
                          <a:blip r:embed="rId4"/>
                          <a:stretch>
                            <a:fillRect l="-328" t="-375385" r="-280328" b="-1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</a:tr>
                  <a:tr h="7910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903" marR="63903" marT="0" marB="0" anchor="ctr">
                        <a:blipFill rotWithShape="0">
                          <a:blip r:embed="rId4"/>
                          <a:stretch>
                            <a:fillRect l="-328" t="-475385" r="-280328" b="-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3903" marR="63903" marT="0" marB="0"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2007765" y="410665"/>
            <a:ext cx="832713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sentence.</a:t>
            </a:r>
          </a:p>
          <a:p>
            <a:pPr marL="457200">
              <a:lnSpc>
                <a:spcPct val="250000"/>
              </a:lnSpc>
              <a:tabLst>
                <a:tab pos="50800" algn="l"/>
                <a:tab pos="627063" algn="l"/>
              </a:tabLst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rules for multiplying rational numbers are					 the integer rules for multiplication.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6514" y="1777473"/>
            <a:ext cx="2249486" cy="907311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707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20278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09614" y="100745"/>
            <a:ext cx="1001073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11.3.3 Guided Practice: Applying Signed Number Rules to Rational Numbers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9806" y="24983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1309614" y="1522247"/>
            <a:ext cx="96689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decide who will be Partner A and who will be Partner B. Then, find the product of the expression in the column that matches your letter.</a:t>
            </a: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1129553" y="4043878"/>
            <a:ext cx="99328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expressions in each row have the same product. Check your work with your partner, and if necessary, resolve any differences. Write the agreed-upon product in the center column.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9052288"/>
                  </p:ext>
                </p:extLst>
              </p:nvPr>
            </p:nvGraphicFramePr>
            <p:xfrm>
              <a:off x="2470658" y="447486"/>
              <a:ext cx="7250685" cy="322840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56370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434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434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8106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Column A</a:t>
                          </a:r>
                        </a:p>
                      </a:txBody>
                      <a:tcPr marL="44701" marR="44701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</a:t>
                          </a:r>
                        </a:p>
                      </a:txBody>
                      <a:tcPr marL="44701" marR="44701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Column B</a:t>
                          </a:r>
                        </a:p>
                      </a:txBody>
                      <a:tcPr marL="44701" marR="44701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9029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790 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7.9(10)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9029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∙7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(0.1)∙(−60)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9029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2.1∙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−8.4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9029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2.5 ∙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sz="2000" b="0" i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3.25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9052288"/>
                  </p:ext>
                </p:extLst>
              </p:nvPr>
            </p:nvGraphicFramePr>
            <p:xfrm>
              <a:off x="946657" y="447486"/>
              <a:ext cx="7250685" cy="325729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563701"/>
                    <a:gridCol w="2343492"/>
                    <a:gridCol w="2343492"/>
                  </a:tblGrid>
                  <a:tr h="32613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Column A</a:t>
                          </a:r>
                        </a:p>
                      </a:txBody>
                      <a:tcPr marL="44701" marR="44701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</a:t>
                          </a:r>
                        </a:p>
                      </a:txBody>
                      <a:tcPr marL="44701" marR="44701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Column B</a:t>
                          </a:r>
                        </a:p>
                      </a:txBody>
                      <a:tcPr marL="44701" marR="44701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732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0" marB="0" anchor="ctr">
                        <a:blipFill rotWithShape="0">
                          <a:blip r:embed="rId4"/>
                          <a:stretch>
                            <a:fillRect l="-238" t="-56667" r="-183135" b="-3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0" marB="0" anchor="ctr">
                        <a:blipFill rotWithShape="0">
                          <a:blip r:embed="rId4"/>
                          <a:stretch>
                            <a:fillRect l="-209351" t="-56667" r="-519" b="-302500"/>
                          </a:stretch>
                        </a:blipFill>
                      </a:tcPr>
                    </a:tc>
                  </a:tr>
                  <a:tr h="732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0" marB="0" anchor="ctr">
                        <a:blipFill rotWithShape="0">
                          <a:blip r:embed="rId4"/>
                          <a:stretch>
                            <a:fillRect l="-238" t="-156667" r="-183135" b="-2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0" marB="0" anchor="ctr">
                        <a:blipFill rotWithShape="0">
                          <a:blip r:embed="rId4"/>
                          <a:stretch>
                            <a:fillRect l="-209351" t="-156667" r="-519" b="-202500"/>
                          </a:stretch>
                        </a:blipFill>
                      </a:tcPr>
                    </a:tc>
                  </a:tr>
                  <a:tr h="732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0" marB="0" anchor="ctr">
                        <a:blipFill rotWithShape="0">
                          <a:blip r:embed="rId4"/>
                          <a:stretch>
                            <a:fillRect l="-238" t="-254545" r="-183135" b="-100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0" marB="0" anchor="ctr">
                        <a:blipFill rotWithShape="0">
                          <a:blip r:embed="rId4"/>
                          <a:stretch>
                            <a:fillRect l="-209351" t="-254545" r="-519" b="-100826"/>
                          </a:stretch>
                        </a:blipFill>
                      </a:tcPr>
                    </a:tc>
                  </a:tr>
                  <a:tr h="732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0" marB="0" anchor="ctr">
                        <a:blipFill rotWithShape="0">
                          <a:blip r:embed="rId4"/>
                          <a:stretch>
                            <a:fillRect l="-238" t="-357500" r="-183135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4701" marR="44701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4701" marR="44701" marT="0" marB="0" anchor="ctr">
                        <a:blipFill rotWithShape="0">
                          <a:blip r:embed="rId4"/>
                          <a:stretch>
                            <a:fillRect l="-209351" t="-357500" r="-519" b="-1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995082" y="386281"/>
            <a:ext cx="1020183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Choose a value from Row A and a value from Row B that, when multiplied, will result in a negative answer. Then, calculate the product.</a:t>
            </a: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Row A</a:t>
            </a:r>
          </a:p>
          <a:p>
            <a:pPr algn="ctr"/>
            <a:endParaRPr lang="en-US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endParaRPr lang="en-US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endParaRPr lang="en-US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Row B</a:t>
            </a:r>
          </a:p>
          <a:p>
            <a:pPr algn="ctr"/>
            <a:endParaRPr lang="en-US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endParaRPr lang="en-US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endParaRPr lang="en-US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endParaRPr lang="en-US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endParaRPr lang="en-US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endParaRPr lang="en-US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endParaRPr lang="en-US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1415912"/>
                  </p:ext>
                </p:extLst>
              </p:nvPr>
            </p:nvGraphicFramePr>
            <p:xfrm>
              <a:off x="4153006" y="2244462"/>
              <a:ext cx="3890328" cy="75273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2967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967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967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5273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−9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12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1415912"/>
                  </p:ext>
                </p:extLst>
              </p:nvPr>
            </p:nvGraphicFramePr>
            <p:xfrm>
              <a:off x="2629006" y="2244461"/>
              <a:ext cx="3890328" cy="75273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296776"/>
                    <a:gridCol w="1296776"/>
                    <a:gridCol w="1296776"/>
                  </a:tblGrid>
                  <a:tr h="7527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4"/>
                          <a:stretch>
                            <a:fillRect l="-469" t="-806" r="-200939" b="-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4"/>
                          <a:stretch>
                            <a:fillRect l="-100469" t="-806" r="-100939" b="-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4"/>
                          <a:stretch>
                            <a:fillRect l="-200469" t="-806" r="-939" b="-161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9904791"/>
                  </p:ext>
                </p:extLst>
              </p:nvPr>
            </p:nvGraphicFramePr>
            <p:xfrm>
              <a:off x="4153006" y="3672682"/>
              <a:ext cx="3890328" cy="79771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2967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967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967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977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9904791"/>
                  </p:ext>
                </p:extLst>
              </p:nvPr>
            </p:nvGraphicFramePr>
            <p:xfrm>
              <a:off x="2629006" y="3672681"/>
              <a:ext cx="3890328" cy="79771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296776"/>
                    <a:gridCol w="1296776"/>
                    <a:gridCol w="1296776"/>
                  </a:tblGrid>
                  <a:tr h="7977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5"/>
                          <a:stretch>
                            <a:fillRect l="-469" t="-758" r="-200939" b="-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5"/>
                          <a:stretch>
                            <a:fillRect l="-100469" t="-758" r="-100939" b="-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5"/>
                          <a:stretch>
                            <a:fillRect l="-200469" t="-758" r="-939" b="-151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575408"/>
              </p:ext>
            </p:extLst>
          </p:nvPr>
        </p:nvGraphicFramePr>
        <p:xfrm>
          <a:off x="3247232" y="4855381"/>
          <a:ext cx="5697537" cy="327025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503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81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74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9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Row A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Row B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Product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537375" y="5543484"/>
            <a:ext cx="965200" cy="6330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613399" y="5543483"/>
            <a:ext cx="965200" cy="6330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936483" y="5543482"/>
            <a:ext cx="965200" cy="6330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7073035" y="5674111"/>
                <a:ext cx="44755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9035" y="5674111"/>
                <a:ext cx="447558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839017" y="5659973"/>
                <a:ext cx="43794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5017" y="5659973"/>
                <a:ext cx="437940" cy="4001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06071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9312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81663" y="-121023"/>
            <a:ext cx="1019038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11.3.4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213" y="142896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116106" y="1386025"/>
            <a:ext cx="102158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product of each expression.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Fill in the blanks with the words </a:t>
            </a:r>
            <a:r>
              <a:rPr 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positive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or </a:t>
            </a:r>
            <a:r>
              <a:rPr 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negative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Two positive factors result in a _________ product. 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Two negative factors result in a _________ product. 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positive factor and a negative factor result in a ___________ product.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7187548"/>
                  </p:ext>
                </p:extLst>
              </p:nvPr>
            </p:nvGraphicFramePr>
            <p:xfrm>
              <a:off x="2655413" y="1959808"/>
              <a:ext cx="6432550" cy="73406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35941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384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34060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2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0.24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sz="22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Pre>
                                    <m:sPrePr>
                                      <m:ctrlPr>
                                        <a:rPr lang="en-US" sz="22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PrePr>
                                    <m:sub>
                                      <m:r>
                                        <a:rPr lang="en-US" sz="2200" b="0" i="0" smtClean="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</m:sub>
                                    <m:sup>
                                      <m:r>
                                        <a:rPr lang="en-US" sz="22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</m:sup>
                                    <m:e>
                                      <m:r>
                                        <a:rPr lang="en-US" sz="22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3.8</m:t>
                                      </m:r>
                                    </m:e>
                                  </m:sPre>
                                </m:e>
                              </m:d>
                            </m:oMath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2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2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22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2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US" sz="22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2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2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22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2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9</m:t>
                                      </m:r>
                                    </m:num>
                                    <m:den>
                                      <m:r>
                                        <a:rPr lang="en-US" sz="22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7187548"/>
                  </p:ext>
                </p:extLst>
              </p:nvPr>
            </p:nvGraphicFramePr>
            <p:xfrm>
              <a:off x="1131413" y="1959808"/>
              <a:ext cx="6432550" cy="73406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3594100"/>
                    <a:gridCol w="2838450"/>
                  </a:tblGrid>
                  <a:tr h="7340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5"/>
                          <a:stretch>
                            <a:fillRect r="-789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0">
                          <a:blip r:embed="rId5"/>
                          <a:stretch>
                            <a:fillRect l="-12660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6863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1292</TotalTime>
  <Words>710</Words>
  <Application>Microsoft Office PowerPoint</Application>
  <PresentationFormat>Widescreen</PresentationFormat>
  <Paragraphs>153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Black</vt:lpstr>
      <vt:lpstr>Calibri</vt:lpstr>
      <vt:lpstr>Cambria Math</vt:lpstr>
      <vt:lpstr>Century Gothic</vt:lpstr>
      <vt:lpstr>Verdana</vt:lpstr>
      <vt:lpstr>1_Office Theme</vt:lpstr>
      <vt:lpstr>6th Grade Accelerated Math  Unit 11, Lesson 3  Multiplying Rational Numbers  Volume 2, pg. 176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24</cp:revision>
  <dcterms:created xsi:type="dcterms:W3CDTF">2015-03-17T18:51:18Z</dcterms:created>
  <dcterms:modified xsi:type="dcterms:W3CDTF">2022-07-02T03:31:05Z</dcterms:modified>
</cp:coreProperties>
</file>