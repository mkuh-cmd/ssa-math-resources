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27"/>
  </p:notesMasterIdLst>
  <p:sldIdLst>
    <p:sldId id="256" r:id="rId5"/>
    <p:sldId id="257" r:id="rId6"/>
    <p:sldId id="285" r:id="rId7"/>
    <p:sldId id="286" r:id="rId8"/>
    <p:sldId id="261" r:id="rId9"/>
    <p:sldId id="287" r:id="rId10"/>
    <p:sldId id="289" r:id="rId11"/>
    <p:sldId id="290" r:id="rId12"/>
    <p:sldId id="288" r:id="rId13"/>
    <p:sldId id="317" r:id="rId14"/>
    <p:sldId id="318" r:id="rId15"/>
    <p:sldId id="308" r:id="rId16"/>
    <p:sldId id="319" r:id="rId17"/>
    <p:sldId id="320" r:id="rId18"/>
    <p:sldId id="321" r:id="rId19"/>
    <p:sldId id="322" r:id="rId20"/>
    <p:sldId id="332" r:id="rId21"/>
    <p:sldId id="333" r:id="rId22"/>
    <p:sldId id="334" r:id="rId23"/>
    <p:sldId id="306" r:id="rId24"/>
    <p:sldId id="307" r:id="rId25"/>
    <p:sldId id="310"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99C8"/>
    <a:srgbClr val="1F3165"/>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952" autoAdjust="0"/>
    <p:restoredTop sz="94695"/>
  </p:normalViewPr>
  <p:slideViewPr>
    <p:cSldViewPr snapToGrid="0">
      <p:cViewPr varScale="1">
        <p:scale>
          <a:sx n="53" d="100"/>
          <a:sy n="53" d="100"/>
        </p:scale>
        <p:origin x="84" y="48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55" Type="http://customschemas.google.com/relationships/presentationmetadata" Target="meta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59"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57"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4530209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573132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811449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3083847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28030581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6702437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7030514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2467688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5315508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716929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9385635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18.png"/><Relationship Id="rId4" Type="http://schemas.openxmlformats.org/officeDocument/2006/relationships/image" Target="../media/image170.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2.png"/><Relationship Id="rId4" Type="http://schemas.openxmlformats.org/officeDocument/2006/relationships/image" Target="../media/image210.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49901" y="2054277"/>
            <a:ext cx="516890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11, Lesson 9</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Evaluating Numeric Expressions – Part 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205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12701"/>
            <a:ext cx="4094106" cy="6870701"/>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id="{AB08A17F-C082-CD48-B100-6B09C860CC1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1762" y="1850136"/>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554020" y="122878"/>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730520" y="358653"/>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5223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205</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0457"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554020" y="1600200"/>
            <a:ext cx="908396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MA.7.NSO.2.1</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Solve mathematical problems using multi-step order of operations with rational numbers including grouping symbols, whole-number exponents, and absolute value.</a:t>
            </a:r>
          </a:p>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MA.7.NSO.2.2</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Add, subtract, multiply, and divide rational numbers with procedural fluency.</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798759" y="385948"/>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623409" y="143315"/>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623409" y="1596390"/>
            <a:ext cx="953294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25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25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5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25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5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25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5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25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5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10" name="Google Shape;282;g104476d1465_1_17"/>
          <p:cNvSpPr txBox="1"/>
          <p:nvPr/>
        </p:nvSpPr>
        <p:spPr>
          <a:xfrm>
            <a:off x="865223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205</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045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352276"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570114" y="28920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501254" y="1600200"/>
            <a:ext cx="918949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ct val="125000"/>
              <a:buFont typeface="Verdana"/>
              <a:buChar char="❏"/>
            </a:pPr>
            <a:r>
              <a:rPr lang="en-US" sz="2400" dirty="0">
                <a:latin typeface="Verdana" panose="020B0604030504040204" pitchFamily="34" charset="0"/>
                <a:ea typeface="Verdana" panose="020B0604030504040204" pitchFamily="34" charset="0"/>
                <a:cs typeface="Verdana" panose="020B0604030504040204" pitchFamily="34" charset="0"/>
              </a:rPr>
              <a:t>I can evaluate numeric expressions with up to six operations.</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6350">
              <a:buClr>
                <a:srgbClr val="434343"/>
              </a:buClr>
              <a:buSzPts val="3500"/>
            </a:pP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p:cNvSpPr txBox="1"/>
          <p:nvPr/>
        </p:nvSpPr>
        <p:spPr>
          <a:xfrm>
            <a:off x="865223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205</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045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65223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0457" y="62007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23528" y="-48859"/>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11.9.1 Warm-Up: Bell Work</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676228" y="19748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1423528" y="1386025"/>
                <a:ext cx="9600976" cy="3173946"/>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Explain the steps needed to evaluate the expressions. </a:t>
                </a:r>
                <a:endParaRPr lang="en-US" sz="2200" i="1" dirty="0">
                  <a:latin typeface="Verdana" panose="020B0604030504040204" pitchFamily="34" charset="0"/>
                  <a:ea typeface="Verdana" panose="020B0604030504040204" pitchFamily="34" charset="0"/>
                  <a:cs typeface="Verdana" panose="020B0604030504040204" pitchFamily="34" charset="0"/>
                </a:endParaRPr>
              </a:p>
              <a:p>
                <a:r>
                  <a:rPr lang="en-US" sz="2400" dirty="0"/>
                  <a:t> </a:t>
                </a:r>
                <a:endParaRPr lang="en-US" sz="2400" i="1" dirty="0"/>
              </a:p>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r>
                              <a:rPr lang="en-US" sz="2200" i="1">
                                <a:latin typeface="Cambria Math" panose="02040503050406030204" pitchFamily="18" charset="0"/>
                              </a:rPr>
                              <m:t>10+18∙2</m:t>
                            </m:r>
                          </m:e>
                        </m:d>
                      </m:e>
                      <m:sup>
                        <m:r>
                          <a:rPr lang="en-US" sz="2200" i="1">
                            <a:latin typeface="Cambria Math" panose="02040503050406030204" pitchFamily="18" charset="0"/>
                          </a:rPr>
                          <m:t>5</m:t>
                        </m:r>
                      </m:sup>
                    </m:sSup>
                    <m:r>
                      <a:rPr lang="en-US" sz="2200" i="1">
                        <a:latin typeface="Cambria Math" panose="02040503050406030204" pitchFamily="18" charset="0"/>
                      </a:rPr>
                      <m:t>÷3</m:t>
                    </m:r>
                  </m:oMath>
                </a14:m>
                <a:r>
                  <a:rPr lang="en-US" sz="2200" dirty="0"/>
                  <a:t>  </a:t>
                </a:r>
                <a:endParaRPr lang="en-US" sz="2200" i="1" dirty="0"/>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US" sz="2200" i="1">
                            <a:latin typeface="Cambria Math" panose="02040503050406030204" pitchFamily="18" charset="0"/>
                          </a:rPr>
                        </m:ctrlPr>
                      </m:sSupPr>
                      <m:e>
                        <m:d>
                          <m:dPr>
                            <m:begChr m:val="["/>
                            <m:endChr m:val="]"/>
                            <m:ctrlPr>
                              <a:rPr lang="en-US" sz="2200" i="1">
                                <a:latin typeface="Cambria Math" panose="02040503050406030204" pitchFamily="18" charset="0"/>
                              </a:rPr>
                            </m:ctrlPr>
                          </m:dPr>
                          <m:e>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r>
                                      <a:rPr lang="en-US" sz="2200">
                                        <a:latin typeface="Cambria Math" panose="02040503050406030204" pitchFamily="18" charset="0"/>
                                      </a:rPr>
                                      <m:t>7</m:t>
                                    </m:r>
                                    <m:r>
                                      <a:rPr lang="en-US" sz="2200" i="1">
                                        <a:latin typeface="Cambria Math" panose="02040503050406030204" pitchFamily="18" charset="0"/>
                                      </a:rPr>
                                      <m:t>−</m:t>
                                    </m:r>
                                    <m:r>
                                      <a:rPr lang="en-US" sz="2200">
                                        <a:latin typeface="Cambria Math" panose="02040503050406030204" pitchFamily="18" charset="0"/>
                                      </a:rPr>
                                      <m:t>10</m:t>
                                    </m:r>
                                  </m:e>
                                </m:d>
                              </m:e>
                              <m:sup>
                                <m:r>
                                  <a:rPr lang="en-US" sz="2200">
                                    <a:latin typeface="Cambria Math" panose="02040503050406030204" pitchFamily="18" charset="0"/>
                                  </a:rPr>
                                  <m:t>2</m:t>
                                </m:r>
                              </m:sup>
                            </m:sSup>
                          </m:e>
                        </m:d>
                      </m:e>
                      <m:sup>
                        <m:r>
                          <a:rPr lang="en-US" sz="2200">
                            <a:latin typeface="Cambria Math" panose="02040503050406030204" pitchFamily="18" charset="0"/>
                          </a:rPr>
                          <m:t>4</m:t>
                        </m:r>
                      </m:sup>
                    </m:sSup>
                    <m:r>
                      <a:rPr lang="en-US" sz="2200">
                        <a:latin typeface="Cambria Math" panose="02040503050406030204" pitchFamily="18" charset="0"/>
                      </a:rPr>
                      <m:t>×2</m:t>
                    </m:r>
                  </m:oMath>
                </a14:m>
                <a:endParaRPr lang="en-US" sz="22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TextBox 1">
                <a:extLst>
                  <a:ext uri="{FF2B5EF4-FFF2-40B4-BE49-F238E27FC236}">
                    <a16:creationId xmlns:a16="http://schemas.microsoft.com/office/drawing/2014/main" xmlns:a14="http://schemas.microsoft.com/office/drawing/2010/main" xmlns="" id="{E1D7562E-134F-D14B-AF1A-DF40E11EF758}"/>
                  </a:ext>
                </a:extLst>
              </p:cNvPr>
              <p:cNvSpPr txBox="1">
                <a:spLocks noRot="1" noChangeAspect="1" noMove="1" noResize="1" noEditPoints="1" noAdjustHandles="1" noChangeArrowheads="1" noChangeShapeType="1" noTextEdit="1"/>
              </p:cNvSpPr>
              <p:nvPr/>
            </p:nvSpPr>
            <p:spPr>
              <a:xfrm>
                <a:off x="1423528" y="1386025"/>
                <a:ext cx="9600976" cy="3173946"/>
              </a:xfrm>
              <a:prstGeom prst="rect">
                <a:avLst/>
              </a:prstGeom>
              <a:blipFill rotWithShape="0">
                <a:blip r:embed="rId4"/>
                <a:stretch>
                  <a:fillRect l="-889" t="-960" b="-3071"/>
                </a:stretch>
              </a:blipFill>
            </p:spPr>
            <p:txBody>
              <a:bodyPr/>
              <a:lstStyle/>
              <a:p>
                <a:r>
                  <a:rPr lang="en-US">
                    <a:noFill/>
                  </a:rPr>
                  <a:t> </a:t>
                </a:r>
              </a:p>
            </p:txBody>
          </p:sp>
        </mc:Fallback>
      </mc:AlternateContent>
      <p:sp>
        <p:nvSpPr>
          <p:cNvPr id="10" name="Google Shape;282;g104476d1465_1_17"/>
          <p:cNvSpPr txBox="1"/>
          <p:nvPr/>
        </p:nvSpPr>
        <p:spPr>
          <a:xfrm>
            <a:off x="865223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206</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9045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65223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206</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045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23528" y="-58719"/>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900" b="1" dirty="0">
                <a:solidFill>
                  <a:srgbClr val="54B5D1"/>
                </a:solidFill>
                <a:latin typeface="Verdana"/>
                <a:ea typeface="Verdana"/>
                <a:cs typeface="Verdana"/>
                <a:sym typeface="Verdana"/>
              </a:rPr>
              <a:t>11.9.2 Guided Instruction: Evaluating Expressions with Multiple Steps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676228" y="148545"/>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id="{C01B13E8-EC8D-E443-A329-C5E3593DD13A}"/>
              </a:ext>
            </a:extLst>
          </p:cNvPr>
          <p:cNvSpPr txBox="1"/>
          <p:nvPr/>
        </p:nvSpPr>
        <p:spPr>
          <a:xfrm>
            <a:off x="1160060" y="1446986"/>
            <a:ext cx="3169059" cy="3139321"/>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Two students evaluated the expression to the right in two different ways. Review the work of each student. Then, answer the questions.</a:t>
            </a:r>
          </a:p>
        </p:txBody>
      </p:sp>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3294812253"/>
                  </p:ext>
                </p:extLst>
              </p:nvPr>
            </p:nvGraphicFramePr>
            <p:xfrm>
              <a:off x="4225284" y="1213658"/>
              <a:ext cx="5723467" cy="5244017"/>
            </p:xfrm>
            <a:graphic>
              <a:graphicData uri="http://schemas.openxmlformats.org/drawingml/2006/table">
                <a:tbl>
                  <a:tblPr firstRow="1" firstCol="1" bandRow="1">
                    <a:tableStyleId>{5940675A-B579-460E-94D1-54222C63F5DA}</a:tableStyleId>
                  </a:tblPr>
                  <a:tblGrid>
                    <a:gridCol w="2860409">
                      <a:extLst>
                        <a:ext uri="{9D8B030D-6E8A-4147-A177-3AD203B41FA5}">
                          <a16:colId xmlns:a16="http://schemas.microsoft.com/office/drawing/2014/main" val="20000"/>
                        </a:ext>
                      </a:extLst>
                    </a:gridCol>
                    <a:gridCol w="2863058">
                      <a:extLst>
                        <a:ext uri="{9D8B030D-6E8A-4147-A177-3AD203B41FA5}">
                          <a16:colId xmlns:a16="http://schemas.microsoft.com/office/drawing/2014/main" val="20001"/>
                        </a:ext>
                      </a:extLst>
                    </a:gridCol>
                  </a:tblGrid>
                  <a:tr h="306257">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Diego</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53513" marR="53513"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Valeria</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53513" marR="53513" marT="0" marB="0" anchor="ctr">
                        <a:solidFill>
                          <a:schemeClr val="bg1">
                            <a:lumMod val="75000"/>
                          </a:schemeClr>
                        </a:solidFill>
                      </a:tcPr>
                    </a:tc>
                    <a:extLst>
                      <a:ext uri="{0D108BD9-81ED-4DB2-BD59-A6C34878D82A}">
                        <a16:rowId xmlns:a16="http://schemas.microsoft.com/office/drawing/2014/main" val="10000"/>
                      </a:ext>
                    </a:extLst>
                  </a:tr>
                  <a:tr h="4753222">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600" i="1">
                                        <a:effectLst/>
                                        <a:latin typeface="Cambria Math" panose="02040503050406030204" pitchFamily="18" charset="0"/>
                                        <a:ea typeface="Cambria Math" panose="02040503050406030204" pitchFamily="18" charset="0"/>
                                      </a:rPr>
                                    </m:ctrlPr>
                                  </m:sSupPr>
                                  <m:e>
                                    <m:d>
                                      <m:dPr>
                                        <m:begChr m:val="["/>
                                        <m:endChr m:val="]"/>
                                        <m:ctrlPr>
                                          <a:rPr lang="en-US" sz="1600" i="1">
                                            <a:effectLst/>
                                            <a:latin typeface="Cambria Math" panose="02040503050406030204" pitchFamily="18" charset="0"/>
                                            <a:ea typeface="Cambria Math" panose="02040503050406030204" pitchFamily="18" charset="0"/>
                                          </a:rPr>
                                        </m:ctrlPr>
                                      </m:dPr>
                                      <m:e>
                                        <m:r>
                                          <a:rPr lang="en-US" sz="1600">
                                            <a:effectLst/>
                                            <a:latin typeface="Cambria Math" panose="02040503050406030204" pitchFamily="18" charset="0"/>
                                            <a:ea typeface="Cambria Math" panose="02040503050406030204" pitchFamily="18" charset="0"/>
                                          </a:rPr>
                                          <m:t>0.5×</m:t>
                                        </m:r>
                                        <m:sSup>
                                          <m:sSupPr>
                                            <m:ctrlPr>
                                              <a:rPr lang="en-US" sz="1600" i="1">
                                                <a:effectLst/>
                                                <a:latin typeface="Cambria Math" panose="02040503050406030204" pitchFamily="18" charset="0"/>
                                                <a:ea typeface="Cambria Math" panose="02040503050406030204" pitchFamily="18" charset="0"/>
                                              </a:rPr>
                                            </m:ctrlPr>
                                          </m:sSupPr>
                                          <m:e>
                                            <m:d>
                                              <m:dPr>
                                                <m:ctrlPr>
                                                  <a:rPr lang="en-US" sz="1600" i="1">
                                                    <a:effectLst/>
                                                    <a:latin typeface="Cambria Math" panose="02040503050406030204" pitchFamily="18" charset="0"/>
                                                    <a:ea typeface="Cambria Math" panose="02040503050406030204" pitchFamily="18" charset="0"/>
                                                  </a:rPr>
                                                </m:ctrlPr>
                                              </m:dPr>
                                              <m:e>
                                                <m:r>
                                                  <a:rPr lang="en-US" sz="1600">
                                                    <a:effectLst/>
                                                    <a:latin typeface="Cambria Math" panose="02040503050406030204" pitchFamily="18" charset="0"/>
                                                    <a:ea typeface="Cambria Math" panose="02040503050406030204" pitchFamily="18" charset="0"/>
                                                  </a:rPr>
                                                  <m:t>0.5+3.5</m:t>
                                                </m:r>
                                              </m:e>
                                            </m:d>
                                          </m:e>
                                          <m:sup>
                                            <m:r>
                                              <a:rPr lang="en-US" sz="1600">
                                                <a:effectLst/>
                                                <a:latin typeface="Cambria Math" panose="02040503050406030204" pitchFamily="18" charset="0"/>
                                                <a:ea typeface="Cambria Math" panose="02040503050406030204" pitchFamily="18" charset="0"/>
                                              </a:rPr>
                                              <m:t>2</m:t>
                                            </m:r>
                                          </m:sup>
                                        </m:sSup>
                                      </m:e>
                                    </m:d>
                                  </m:e>
                                  <m:sup>
                                    <m:r>
                                      <a:rPr lang="en-US" sz="1600">
                                        <a:effectLst/>
                                        <a:latin typeface="Cambria Math" panose="02040503050406030204" pitchFamily="18" charset="0"/>
                                        <a:ea typeface="Cambria Math" panose="02040503050406030204" pitchFamily="18" charset="0"/>
                                      </a:rPr>
                                      <m:t>3</m:t>
                                    </m:r>
                                  </m:sup>
                                </m:sSup>
                                <m:r>
                                  <a:rPr lang="en-US" sz="1600">
                                    <a:effectLst/>
                                    <a:latin typeface="Cambria Math" panose="02040503050406030204" pitchFamily="18" charset="0"/>
                                    <a:ea typeface="Cambria Math" panose="02040503050406030204" pitchFamily="18" charset="0"/>
                                  </a:rPr>
                                  <m:t>+26÷13</m:t>
                                </m:r>
                              </m:oMath>
                            </m:oMathPara>
                          </a14:m>
                          <a:endParaRPr lang="en-US" sz="1600" dirty="0">
                            <a:effectLst/>
                            <a:latin typeface="Cambria Math" panose="02040503050406030204" pitchFamily="18" charset="0"/>
                            <a:ea typeface="Cambria Math" panose="02040503050406030204" pitchFamily="18" charset="0"/>
                          </a:endParaRPr>
                        </a:p>
                        <a:p>
                          <a:pPr marL="0" marR="0">
                            <a:lnSpc>
                              <a:spcPct val="107000"/>
                            </a:lnSpc>
                            <a:spcBef>
                              <a:spcPts val="0"/>
                            </a:spcBef>
                            <a:spcAft>
                              <a:spcPts val="0"/>
                            </a:spcAft>
                          </a:pPr>
                          <a:r>
                            <a:rPr lang="en-US" sz="16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600" i="1">
                                        <a:effectLst/>
                                        <a:latin typeface="Cambria Math" panose="02040503050406030204" pitchFamily="18" charset="0"/>
                                        <a:ea typeface="Cambria Math" panose="02040503050406030204" pitchFamily="18" charset="0"/>
                                      </a:rPr>
                                    </m:ctrlPr>
                                  </m:sSupPr>
                                  <m:e>
                                    <m:d>
                                      <m:dPr>
                                        <m:begChr m:val="["/>
                                        <m:endChr m:val="]"/>
                                        <m:ctrlPr>
                                          <a:rPr lang="en-US" sz="1600" i="1">
                                            <a:effectLst/>
                                            <a:latin typeface="Cambria Math" panose="02040503050406030204" pitchFamily="18" charset="0"/>
                                            <a:ea typeface="Cambria Math" panose="02040503050406030204" pitchFamily="18" charset="0"/>
                                          </a:rPr>
                                        </m:ctrlPr>
                                      </m:dPr>
                                      <m:e>
                                        <m:r>
                                          <a:rPr lang="en-US" sz="1600">
                                            <a:effectLst/>
                                            <a:latin typeface="Cambria Math" panose="02040503050406030204" pitchFamily="18" charset="0"/>
                                            <a:ea typeface="Cambria Math" panose="02040503050406030204" pitchFamily="18" charset="0"/>
                                          </a:rPr>
                                          <m:t>0.5×</m:t>
                                        </m:r>
                                        <m:sSup>
                                          <m:sSupPr>
                                            <m:ctrlPr>
                                              <a:rPr lang="en-US" sz="1600" i="1">
                                                <a:effectLst/>
                                                <a:latin typeface="Cambria Math" panose="02040503050406030204" pitchFamily="18" charset="0"/>
                                                <a:ea typeface="Cambria Math" panose="02040503050406030204" pitchFamily="18" charset="0"/>
                                              </a:rPr>
                                            </m:ctrlPr>
                                          </m:sSupPr>
                                          <m:e>
                                            <m:r>
                                              <a:rPr lang="en-US" sz="1600">
                                                <a:effectLst/>
                                                <a:latin typeface="Cambria Math" panose="02040503050406030204" pitchFamily="18" charset="0"/>
                                                <a:ea typeface="Cambria Math" panose="02040503050406030204" pitchFamily="18" charset="0"/>
                                              </a:rPr>
                                              <m:t>4</m:t>
                                            </m:r>
                                          </m:e>
                                          <m:sup>
                                            <m:r>
                                              <a:rPr lang="en-US" sz="1600">
                                                <a:effectLst/>
                                                <a:latin typeface="Cambria Math" panose="02040503050406030204" pitchFamily="18" charset="0"/>
                                                <a:ea typeface="Cambria Math" panose="02040503050406030204" pitchFamily="18" charset="0"/>
                                              </a:rPr>
                                              <m:t>2</m:t>
                                            </m:r>
                                          </m:sup>
                                        </m:sSup>
                                      </m:e>
                                    </m:d>
                                  </m:e>
                                  <m:sup>
                                    <m:r>
                                      <a:rPr lang="en-US" sz="1600">
                                        <a:effectLst/>
                                        <a:latin typeface="Cambria Math" panose="02040503050406030204" pitchFamily="18" charset="0"/>
                                        <a:ea typeface="Cambria Math" panose="02040503050406030204" pitchFamily="18" charset="0"/>
                                      </a:rPr>
                                      <m:t>3</m:t>
                                    </m:r>
                                  </m:sup>
                                </m:sSup>
                                <m:r>
                                  <a:rPr lang="en-US" sz="1600">
                                    <a:effectLst/>
                                    <a:latin typeface="Cambria Math" panose="02040503050406030204" pitchFamily="18" charset="0"/>
                                    <a:ea typeface="Cambria Math" panose="02040503050406030204" pitchFamily="18" charset="0"/>
                                  </a:rPr>
                                  <m:t>+26÷13</m:t>
                                </m:r>
                              </m:oMath>
                            </m:oMathPara>
                          </a14:m>
                          <a:endParaRPr lang="en-US" sz="1600" dirty="0">
                            <a:effectLst/>
                            <a:latin typeface="Cambria Math" panose="02040503050406030204" pitchFamily="18" charset="0"/>
                            <a:ea typeface="Cambria Math" panose="02040503050406030204" pitchFamily="18" charset="0"/>
                          </a:endParaRPr>
                        </a:p>
                        <a:p>
                          <a:pPr marL="0" marR="0">
                            <a:lnSpc>
                              <a:spcPct val="107000"/>
                            </a:lnSpc>
                            <a:spcBef>
                              <a:spcPts val="0"/>
                            </a:spcBef>
                            <a:spcAft>
                              <a:spcPts val="0"/>
                            </a:spcAft>
                          </a:pPr>
                          <a:r>
                            <a:rPr lang="en-US" sz="16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600" i="1">
                                        <a:effectLst/>
                                        <a:latin typeface="Cambria Math" panose="02040503050406030204" pitchFamily="18" charset="0"/>
                                        <a:ea typeface="Cambria Math" panose="02040503050406030204" pitchFamily="18" charset="0"/>
                                      </a:rPr>
                                    </m:ctrlPr>
                                  </m:sSupPr>
                                  <m:e>
                                    <m:d>
                                      <m:dPr>
                                        <m:begChr m:val="["/>
                                        <m:endChr m:val="]"/>
                                        <m:ctrlPr>
                                          <a:rPr lang="en-US" sz="1600" i="1">
                                            <a:effectLst/>
                                            <a:latin typeface="Cambria Math" panose="02040503050406030204" pitchFamily="18" charset="0"/>
                                            <a:ea typeface="Cambria Math" panose="02040503050406030204" pitchFamily="18" charset="0"/>
                                          </a:rPr>
                                        </m:ctrlPr>
                                      </m:dPr>
                                      <m:e>
                                        <m:r>
                                          <a:rPr lang="en-US" sz="1600">
                                            <a:effectLst/>
                                            <a:latin typeface="Cambria Math" panose="02040503050406030204" pitchFamily="18" charset="0"/>
                                            <a:ea typeface="Cambria Math" panose="02040503050406030204" pitchFamily="18" charset="0"/>
                                          </a:rPr>
                                          <m:t>0.5×16</m:t>
                                        </m:r>
                                      </m:e>
                                    </m:d>
                                  </m:e>
                                  <m:sup>
                                    <m:r>
                                      <a:rPr lang="en-US" sz="1600">
                                        <a:effectLst/>
                                        <a:latin typeface="Cambria Math" panose="02040503050406030204" pitchFamily="18" charset="0"/>
                                        <a:ea typeface="Cambria Math" panose="02040503050406030204" pitchFamily="18" charset="0"/>
                                      </a:rPr>
                                      <m:t>3</m:t>
                                    </m:r>
                                  </m:sup>
                                </m:sSup>
                                <m:r>
                                  <a:rPr lang="en-US" sz="1600">
                                    <a:effectLst/>
                                    <a:latin typeface="Cambria Math" panose="02040503050406030204" pitchFamily="18" charset="0"/>
                                    <a:ea typeface="Cambria Math" panose="02040503050406030204" pitchFamily="18" charset="0"/>
                                  </a:rPr>
                                  <m:t>+26÷13</m:t>
                                </m:r>
                              </m:oMath>
                            </m:oMathPara>
                          </a14:m>
                          <a:endParaRPr lang="en-US" sz="1600" dirty="0">
                            <a:effectLst/>
                            <a:latin typeface="Cambria Math" panose="02040503050406030204" pitchFamily="18" charset="0"/>
                            <a:ea typeface="Cambria Math" panose="02040503050406030204" pitchFamily="18" charset="0"/>
                          </a:endParaRPr>
                        </a:p>
                        <a:p>
                          <a:pPr marL="0" marR="0">
                            <a:lnSpc>
                              <a:spcPct val="107000"/>
                            </a:lnSpc>
                            <a:spcBef>
                              <a:spcPts val="0"/>
                            </a:spcBef>
                            <a:spcAft>
                              <a:spcPts val="0"/>
                            </a:spcAft>
                          </a:pPr>
                          <a:r>
                            <a:rPr lang="en-US" sz="16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600" i="1">
                                        <a:effectLst/>
                                        <a:latin typeface="Cambria Math" panose="02040503050406030204" pitchFamily="18" charset="0"/>
                                        <a:ea typeface="Cambria Math" panose="02040503050406030204" pitchFamily="18" charset="0"/>
                                      </a:rPr>
                                    </m:ctrlPr>
                                  </m:sSupPr>
                                  <m:e>
                                    <m:r>
                                      <a:rPr lang="en-US" sz="1600">
                                        <a:effectLst/>
                                        <a:latin typeface="Cambria Math" panose="02040503050406030204" pitchFamily="18" charset="0"/>
                                        <a:ea typeface="Cambria Math" panose="02040503050406030204" pitchFamily="18" charset="0"/>
                                      </a:rPr>
                                      <m:t>8</m:t>
                                    </m:r>
                                  </m:e>
                                  <m:sup>
                                    <m:r>
                                      <a:rPr lang="en-US" sz="1600">
                                        <a:effectLst/>
                                        <a:latin typeface="Cambria Math" panose="02040503050406030204" pitchFamily="18" charset="0"/>
                                        <a:ea typeface="Cambria Math" panose="02040503050406030204" pitchFamily="18" charset="0"/>
                                      </a:rPr>
                                      <m:t>3</m:t>
                                    </m:r>
                                  </m:sup>
                                </m:sSup>
                                <m:r>
                                  <a:rPr lang="en-US" sz="1600">
                                    <a:effectLst/>
                                    <a:latin typeface="Cambria Math" panose="02040503050406030204" pitchFamily="18" charset="0"/>
                                    <a:ea typeface="Cambria Math" panose="02040503050406030204" pitchFamily="18" charset="0"/>
                                  </a:rPr>
                                  <m:t>+26÷13</m:t>
                                </m:r>
                              </m:oMath>
                            </m:oMathPara>
                          </a14:m>
                          <a:endParaRPr lang="en-US" sz="1600" dirty="0">
                            <a:effectLst/>
                            <a:latin typeface="Cambria Math" panose="02040503050406030204" pitchFamily="18" charset="0"/>
                            <a:ea typeface="Cambria Math" panose="02040503050406030204" pitchFamily="18" charset="0"/>
                          </a:endParaRPr>
                        </a:p>
                        <a:p>
                          <a:pPr marL="0" marR="0">
                            <a:lnSpc>
                              <a:spcPct val="107000"/>
                            </a:lnSpc>
                            <a:spcBef>
                              <a:spcPts val="0"/>
                            </a:spcBef>
                            <a:spcAft>
                              <a:spcPts val="0"/>
                            </a:spcAft>
                          </a:pPr>
                          <a:r>
                            <a:rPr lang="en-US" sz="16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ea typeface="Cambria Math" panose="02040503050406030204" pitchFamily="18" charset="0"/>
                                  </a:rPr>
                                  <m:t>512+26÷13</m:t>
                                </m:r>
                              </m:oMath>
                            </m:oMathPara>
                          </a14:m>
                          <a:endParaRPr lang="en-US" sz="1600" dirty="0">
                            <a:effectLst/>
                            <a:latin typeface="Cambria Math" panose="02040503050406030204" pitchFamily="18" charset="0"/>
                            <a:ea typeface="Cambria Math" panose="02040503050406030204" pitchFamily="18" charset="0"/>
                          </a:endParaRPr>
                        </a:p>
                        <a:p>
                          <a:pPr marL="0" marR="0">
                            <a:lnSpc>
                              <a:spcPct val="107000"/>
                            </a:lnSpc>
                            <a:spcBef>
                              <a:spcPts val="0"/>
                            </a:spcBef>
                            <a:spcAft>
                              <a:spcPts val="0"/>
                            </a:spcAft>
                          </a:pPr>
                          <a:r>
                            <a:rPr lang="en-US" sz="16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ea typeface="Cambria Math" panose="02040503050406030204" pitchFamily="18" charset="0"/>
                                  </a:rPr>
                                  <m:t>512+2</m:t>
                                </m:r>
                              </m:oMath>
                            </m:oMathPara>
                          </a14:m>
                          <a:endParaRPr lang="en-US" sz="1600" dirty="0">
                            <a:effectLst/>
                            <a:latin typeface="Cambria Math" panose="02040503050406030204" pitchFamily="18" charset="0"/>
                            <a:ea typeface="Cambria Math" panose="02040503050406030204" pitchFamily="18" charset="0"/>
                          </a:endParaRPr>
                        </a:p>
                        <a:p>
                          <a:pPr marL="0" marR="0">
                            <a:lnSpc>
                              <a:spcPct val="107000"/>
                            </a:lnSpc>
                            <a:spcBef>
                              <a:spcPts val="0"/>
                            </a:spcBef>
                            <a:spcAft>
                              <a:spcPts val="0"/>
                            </a:spcAft>
                          </a:pPr>
                          <a:r>
                            <a:rPr lang="en-US" sz="16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ea typeface="Cambria Math" panose="02040503050406030204" pitchFamily="18" charset="0"/>
                                  </a:rPr>
                                  <m:t>514</m:t>
                                </m:r>
                              </m:oMath>
                            </m:oMathPara>
                          </a14:m>
                          <a:endParaRPr lang="en-US" sz="1600" dirty="0">
                            <a:effectLst/>
                            <a:latin typeface="Cambria Math" panose="02040503050406030204" pitchFamily="18" charset="0"/>
                            <a:ea typeface="Cambria Math" panose="02040503050406030204" pitchFamily="18" charset="0"/>
                          </a:endParaRPr>
                        </a:p>
                        <a:p>
                          <a:pPr marL="0" marR="0">
                            <a:lnSpc>
                              <a:spcPct val="107000"/>
                            </a:lnSpc>
                            <a:spcBef>
                              <a:spcPts val="0"/>
                            </a:spcBef>
                            <a:spcAft>
                              <a:spcPts val="0"/>
                            </a:spcAft>
                          </a:pPr>
                          <a:r>
                            <a:rPr lang="en-US" sz="16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r>
                            <a:rPr lang="en-US" sz="16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r>
                            <a:rPr lang="en-US" sz="16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r>
                            <a:rPr lang="en-US" sz="16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r>
                            <a:rPr lang="en-US" sz="1600" dirty="0">
                              <a:effectLst/>
                              <a:latin typeface="Cambria Math" panose="02040503050406030204" pitchFamily="18" charset="0"/>
                              <a:ea typeface="Cambria Math" panose="02040503050406030204" pitchFamily="18" charset="0"/>
                            </a:rPr>
                            <a:t> </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53513" marR="53513" marT="0" marB="0"/>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600" i="1">
                                        <a:effectLst/>
                                        <a:latin typeface="Cambria Math" panose="02040503050406030204" pitchFamily="18" charset="0"/>
                                        <a:ea typeface="Cambria Math" panose="02040503050406030204" pitchFamily="18" charset="0"/>
                                      </a:rPr>
                                    </m:ctrlPr>
                                  </m:sSupPr>
                                  <m:e>
                                    <m:d>
                                      <m:dPr>
                                        <m:begChr m:val="["/>
                                        <m:endChr m:val="]"/>
                                        <m:ctrlPr>
                                          <a:rPr lang="en-US" sz="1600" i="1">
                                            <a:effectLst/>
                                            <a:latin typeface="Cambria Math" panose="02040503050406030204" pitchFamily="18" charset="0"/>
                                            <a:ea typeface="Cambria Math" panose="02040503050406030204" pitchFamily="18" charset="0"/>
                                          </a:rPr>
                                        </m:ctrlPr>
                                      </m:dPr>
                                      <m:e>
                                        <m:r>
                                          <a:rPr lang="en-US" sz="1600">
                                            <a:effectLst/>
                                            <a:latin typeface="Cambria Math" panose="02040503050406030204" pitchFamily="18" charset="0"/>
                                            <a:ea typeface="Cambria Math" panose="02040503050406030204" pitchFamily="18" charset="0"/>
                                          </a:rPr>
                                          <m:t>0.5×</m:t>
                                        </m:r>
                                        <m:sSup>
                                          <m:sSupPr>
                                            <m:ctrlPr>
                                              <a:rPr lang="en-US" sz="1600" i="1">
                                                <a:effectLst/>
                                                <a:latin typeface="Cambria Math" panose="02040503050406030204" pitchFamily="18" charset="0"/>
                                                <a:ea typeface="Cambria Math" panose="02040503050406030204" pitchFamily="18" charset="0"/>
                                              </a:rPr>
                                            </m:ctrlPr>
                                          </m:sSupPr>
                                          <m:e>
                                            <m:d>
                                              <m:dPr>
                                                <m:ctrlPr>
                                                  <a:rPr lang="en-US" sz="1600" i="1">
                                                    <a:effectLst/>
                                                    <a:latin typeface="Cambria Math" panose="02040503050406030204" pitchFamily="18" charset="0"/>
                                                    <a:ea typeface="Cambria Math" panose="02040503050406030204" pitchFamily="18" charset="0"/>
                                                  </a:rPr>
                                                </m:ctrlPr>
                                              </m:dPr>
                                              <m:e>
                                                <m:r>
                                                  <a:rPr lang="en-US" sz="1600">
                                                    <a:effectLst/>
                                                    <a:latin typeface="Cambria Math" panose="02040503050406030204" pitchFamily="18" charset="0"/>
                                                    <a:ea typeface="Cambria Math" panose="02040503050406030204" pitchFamily="18" charset="0"/>
                                                  </a:rPr>
                                                  <m:t>0.5+3.5</m:t>
                                                </m:r>
                                              </m:e>
                                            </m:d>
                                          </m:e>
                                          <m:sup>
                                            <m:r>
                                              <a:rPr lang="en-US" sz="1600">
                                                <a:effectLst/>
                                                <a:latin typeface="Cambria Math" panose="02040503050406030204" pitchFamily="18" charset="0"/>
                                                <a:ea typeface="Cambria Math" panose="02040503050406030204" pitchFamily="18" charset="0"/>
                                              </a:rPr>
                                              <m:t>2</m:t>
                                            </m:r>
                                          </m:sup>
                                        </m:sSup>
                                      </m:e>
                                    </m:d>
                                  </m:e>
                                  <m:sup>
                                    <m:r>
                                      <a:rPr lang="en-US" sz="1600">
                                        <a:effectLst/>
                                        <a:latin typeface="Cambria Math" panose="02040503050406030204" pitchFamily="18" charset="0"/>
                                        <a:ea typeface="Cambria Math" panose="02040503050406030204" pitchFamily="18" charset="0"/>
                                      </a:rPr>
                                      <m:t>3</m:t>
                                    </m:r>
                                  </m:sup>
                                </m:sSup>
                                <m:r>
                                  <a:rPr lang="en-US" sz="1600">
                                    <a:effectLst/>
                                    <a:latin typeface="Cambria Math" panose="02040503050406030204" pitchFamily="18" charset="0"/>
                                    <a:ea typeface="Cambria Math" panose="02040503050406030204" pitchFamily="18" charset="0"/>
                                  </a:rPr>
                                  <m:t>+26÷13</m:t>
                                </m:r>
                              </m:oMath>
                            </m:oMathPara>
                          </a14:m>
                          <a:endParaRPr lang="en-US" sz="1600" dirty="0">
                            <a:effectLst/>
                            <a:latin typeface="Cambria Math" panose="02040503050406030204" pitchFamily="18" charset="0"/>
                            <a:ea typeface="Cambria Math" panose="02040503050406030204" pitchFamily="18" charset="0"/>
                          </a:endParaRPr>
                        </a:p>
                        <a:p>
                          <a:pPr marL="0" marR="0">
                            <a:lnSpc>
                              <a:spcPct val="107000"/>
                            </a:lnSpc>
                            <a:spcBef>
                              <a:spcPts val="0"/>
                            </a:spcBef>
                            <a:spcAft>
                              <a:spcPts val="0"/>
                            </a:spcAft>
                          </a:pPr>
                          <a:r>
                            <a:rPr lang="en-US" sz="16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600" i="1">
                                        <a:effectLst/>
                                        <a:latin typeface="Cambria Math" panose="02040503050406030204" pitchFamily="18" charset="0"/>
                                        <a:ea typeface="Cambria Math" panose="02040503050406030204" pitchFamily="18" charset="0"/>
                                      </a:rPr>
                                    </m:ctrlPr>
                                  </m:sSupPr>
                                  <m:e>
                                    <m:r>
                                      <a:rPr lang="en-US" sz="1600">
                                        <a:effectLst/>
                                        <a:latin typeface="Cambria Math" panose="02040503050406030204" pitchFamily="18" charset="0"/>
                                        <a:ea typeface="Cambria Math" panose="02040503050406030204" pitchFamily="18" charset="0"/>
                                      </a:rPr>
                                      <m:t>0.5</m:t>
                                    </m:r>
                                  </m:e>
                                  <m:sup>
                                    <m:r>
                                      <a:rPr lang="en-US" sz="1600">
                                        <a:effectLst/>
                                        <a:latin typeface="Cambria Math" panose="02040503050406030204" pitchFamily="18" charset="0"/>
                                        <a:ea typeface="Cambria Math" panose="02040503050406030204" pitchFamily="18" charset="0"/>
                                      </a:rPr>
                                      <m:t>3</m:t>
                                    </m:r>
                                  </m:sup>
                                </m:sSup>
                                <m:r>
                                  <a:rPr lang="en-US" sz="1600">
                                    <a:effectLst/>
                                    <a:latin typeface="Cambria Math" panose="02040503050406030204" pitchFamily="18" charset="0"/>
                                    <a:ea typeface="Cambria Math" panose="02040503050406030204" pitchFamily="18" charset="0"/>
                                  </a:rPr>
                                  <m:t>×</m:t>
                                </m:r>
                                <m:sSup>
                                  <m:sSupPr>
                                    <m:ctrlPr>
                                      <a:rPr lang="en-US" sz="1600" i="1">
                                        <a:effectLst/>
                                        <a:latin typeface="Cambria Math" panose="02040503050406030204" pitchFamily="18" charset="0"/>
                                        <a:ea typeface="Cambria Math" panose="02040503050406030204" pitchFamily="18" charset="0"/>
                                      </a:rPr>
                                    </m:ctrlPr>
                                  </m:sSupPr>
                                  <m:e>
                                    <m:d>
                                      <m:dPr>
                                        <m:ctrlPr>
                                          <a:rPr lang="en-US" sz="1600" i="1">
                                            <a:effectLst/>
                                            <a:latin typeface="Cambria Math" panose="02040503050406030204" pitchFamily="18" charset="0"/>
                                            <a:ea typeface="Cambria Math" panose="02040503050406030204" pitchFamily="18" charset="0"/>
                                          </a:rPr>
                                        </m:ctrlPr>
                                      </m:dPr>
                                      <m:e>
                                        <m:r>
                                          <a:rPr lang="en-US" sz="1600">
                                            <a:effectLst/>
                                            <a:latin typeface="Cambria Math" panose="02040503050406030204" pitchFamily="18" charset="0"/>
                                            <a:ea typeface="Cambria Math" panose="02040503050406030204" pitchFamily="18" charset="0"/>
                                          </a:rPr>
                                          <m:t>0.5+3.5</m:t>
                                        </m:r>
                                      </m:e>
                                    </m:d>
                                  </m:e>
                                  <m:sup>
                                    <m:r>
                                      <a:rPr lang="en-US" sz="1600">
                                        <a:effectLst/>
                                        <a:latin typeface="Cambria Math" panose="02040503050406030204" pitchFamily="18" charset="0"/>
                                        <a:ea typeface="Cambria Math" panose="02040503050406030204" pitchFamily="18" charset="0"/>
                                      </a:rPr>
                                      <m:t>2×3</m:t>
                                    </m:r>
                                  </m:sup>
                                </m:sSup>
                                <m:r>
                                  <a:rPr lang="en-US" sz="1600">
                                    <a:effectLst/>
                                    <a:latin typeface="Cambria Math" panose="02040503050406030204" pitchFamily="18" charset="0"/>
                                    <a:ea typeface="Cambria Math" panose="02040503050406030204" pitchFamily="18" charset="0"/>
                                  </a:rPr>
                                  <m:t>+26÷13</m:t>
                                </m:r>
                              </m:oMath>
                            </m:oMathPara>
                          </a14:m>
                          <a:endParaRPr lang="en-US" sz="1600" dirty="0">
                            <a:effectLst/>
                            <a:latin typeface="Cambria Math" panose="02040503050406030204" pitchFamily="18" charset="0"/>
                            <a:ea typeface="Cambria Math" panose="02040503050406030204" pitchFamily="18" charset="0"/>
                          </a:endParaRPr>
                        </a:p>
                        <a:p>
                          <a:pPr marL="0" marR="0">
                            <a:lnSpc>
                              <a:spcPct val="107000"/>
                            </a:lnSpc>
                            <a:spcBef>
                              <a:spcPts val="0"/>
                            </a:spcBef>
                            <a:spcAft>
                              <a:spcPts val="0"/>
                            </a:spcAft>
                          </a:pPr>
                          <a:r>
                            <a:rPr lang="en-US" sz="16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600" i="1">
                                        <a:effectLst/>
                                        <a:latin typeface="Cambria Math" panose="02040503050406030204" pitchFamily="18" charset="0"/>
                                        <a:ea typeface="Cambria Math" panose="02040503050406030204" pitchFamily="18" charset="0"/>
                                      </a:rPr>
                                    </m:ctrlPr>
                                  </m:sSupPr>
                                  <m:e>
                                    <m:r>
                                      <a:rPr lang="en-US" sz="1600">
                                        <a:effectLst/>
                                        <a:latin typeface="Cambria Math" panose="02040503050406030204" pitchFamily="18" charset="0"/>
                                        <a:ea typeface="Cambria Math" panose="02040503050406030204" pitchFamily="18" charset="0"/>
                                      </a:rPr>
                                      <m:t>0.5</m:t>
                                    </m:r>
                                  </m:e>
                                  <m:sup>
                                    <m:r>
                                      <a:rPr lang="en-US" sz="1600">
                                        <a:effectLst/>
                                        <a:latin typeface="Cambria Math" panose="02040503050406030204" pitchFamily="18" charset="0"/>
                                        <a:ea typeface="Cambria Math" panose="02040503050406030204" pitchFamily="18" charset="0"/>
                                      </a:rPr>
                                      <m:t>3</m:t>
                                    </m:r>
                                  </m:sup>
                                </m:sSup>
                                <m:r>
                                  <a:rPr lang="en-US" sz="1600">
                                    <a:effectLst/>
                                    <a:latin typeface="Cambria Math" panose="02040503050406030204" pitchFamily="18" charset="0"/>
                                    <a:ea typeface="Cambria Math" panose="02040503050406030204" pitchFamily="18" charset="0"/>
                                  </a:rPr>
                                  <m:t>×</m:t>
                                </m:r>
                                <m:sSup>
                                  <m:sSupPr>
                                    <m:ctrlPr>
                                      <a:rPr lang="en-US" sz="1600" i="1">
                                        <a:effectLst/>
                                        <a:latin typeface="Cambria Math" panose="02040503050406030204" pitchFamily="18" charset="0"/>
                                        <a:ea typeface="Cambria Math" panose="02040503050406030204" pitchFamily="18" charset="0"/>
                                      </a:rPr>
                                    </m:ctrlPr>
                                  </m:sSupPr>
                                  <m:e>
                                    <m:d>
                                      <m:dPr>
                                        <m:ctrlPr>
                                          <a:rPr lang="en-US" sz="1600" i="1">
                                            <a:effectLst/>
                                            <a:latin typeface="Cambria Math" panose="02040503050406030204" pitchFamily="18" charset="0"/>
                                            <a:ea typeface="Cambria Math" panose="02040503050406030204" pitchFamily="18" charset="0"/>
                                          </a:rPr>
                                        </m:ctrlPr>
                                      </m:dPr>
                                      <m:e>
                                        <m:r>
                                          <a:rPr lang="en-US" sz="1600">
                                            <a:effectLst/>
                                            <a:latin typeface="Cambria Math" panose="02040503050406030204" pitchFamily="18" charset="0"/>
                                            <a:ea typeface="Cambria Math" panose="02040503050406030204" pitchFamily="18" charset="0"/>
                                          </a:rPr>
                                          <m:t>0.5+3.5</m:t>
                                        </m:r>
                                      </m:e>
                                    </m:d>
                                  </m:e>
                                  <m:sup>
                                    <m:r>
                                      <a:rPr lang="en-US" sz="1600">
                                        <a:effectLst/>
                                        <a:latin typeface="Cambria Math" panose="02040503050406030204" pitchFamily="18" charset="0"/>
                                        <a:ea typeface="Cambria Math" panose="02040503050406030204" pitchFamily="18" charset="0"/>
                                      </a:rPr>
                                      <m:t>6</m:t>
                                    </m:r>
                                  </m:sup>
                                </m:sSup>
                                <m:r>
                                  <a:rPr lang="en-US" sz="1600">
                                    <a:effectLst/>
                                    <a:latin typeface="Cambria Math" panose="02040503050406030204" pitchFamily="18" charset="0"/>
                                    <a:ea typeface="Cambria Math" panose="02040503050406030204" pitchFamily="18" charset="0"/>
                                  </a:rPr>
                                  <m:t>+26÷13</m:t>
                                </m:r>
                              </m:oMath>
                            </m:oMathPara>
                          </a14:m>
                          <a:endParaRPr lang="en-US" sz="1600" dirty="0">
                            <a:effectLst/>
                            <a:latin typeface="Cambria Math" panose="02040503050406030204" pitchFamily="18" charset="0"/>
                            <a:ea typeface="Cambria Math" panose="02040503050406030204" pitchFamily="18" charset="0"/>
                          </a:endParaRPr>
                        </a:p>
                        <a:p>
                          <a:pPr marL="0" marR="0">
                            <a:lnSpc>
                              <a:spcPct val="107000"/>
                            </a:lnSpc>
                            <a:spcBef>
                              <a:spcPts val="0"/>
                            </a:spcBef>
                            <a:spcAft>
                              <a:spcPts val="0"/>
                            </a:spcAft>
                          </a:pPr>
                          <a:r>
                            <a:rPr lang="en-US" sz="16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600" i="1">
                                        <a:effectLst/>
                                        <a:latin typeface="Cambria Math" panose="02040503050406030204" pitchFamily="18" charset="0"/>
                                        <a:ea typeface="Cambria Math" panose="02040503050406030204" pitchFamily="18" charset="0"/>
                                      </a:rPr>
                                    </m:ctrlPr>
                                  </m:sSupPr>
                                  <m:e>
                                    <m:r>
                                      <a:rPr lang="en-US" sz="1600">
                                        <a:effectLst/>
                                        <a:latin typeface="Cambria Math" panose="02040503050406030204" pitchFamily="18" charset="0"/>
                                        <a:ea typeface="Cambria Math" panose="02040503050406030204" pitchFamily="18" charset="0"/>
                                      </a:rPr>
                                      <m:t>0.5</m:t>
                                    </m:r>
                                  </m:e>
                                  <m:sup>
                                    <m:r>
                                      <a:rPr lang="en-US" sz="1600">
                                        <a:effectLst/>
                                        <a:latin typeface="Cambria Math" panose="02040503050406030204" pitchFamily="18" charset="0"/>
                                        <a:ea typeface="Cambria Math" panose="02040503050406030204" pitchFamily="18" charset="0"/>
                                      </a:rPr>
                                      <m:t>3</m:t>
                                    </m:r>
                                  </m:sup>
                                </m:sSup>
                                <m:r>
                                  <a:rPr lang="en-US" sz="1600">
                                    <a:effectLst/>
                                    <a:latin typeface="Cambria Math" panose="02040503050406030204" pitchFamily="18" charset="0"/>
                                    <a:ea typeface="Cambria Math" panose="02040503050406030204" pitchFamily="18" charset="0"/>
                                  </a:rPr>
                                  <m:t>×</m:t>
                                </m:r>
                                <m:sSup>
                                  <m:sSupPr>
                                    <m:ctrlPr>
                                      <a:rPr lang="en-US" sz="1600" i="1">
                                        <a:effectLst/>
                                        <a:latin typeface="Cambria Math" panose="02040503050406030204" pitchFamily="18" charset="0"/>
                                        <a:ea typeface="Cambria Math" panose="02040503050406030204" pitchFamily="18" charset="0"/>
                                      </a:rPr>
                                    </m:ctrlPr>
                                  </m:sSupPr>
                                  <m:e>
                                    <m:r>
                                      <a:rPr lang="en-US" sz="1600">
                                        <a:effectLst/>
                                        <a:latin typeface="Cambria Math" panose="02040503050406030204" pitchFamily="18" charset="0"/>
                                        <a:ea typeface="Cambria Math" panose="02040503050406030204" pitchFamily="18" charset="0"/>
                                      </a:rPr>
                                      <m:t>4</m:t>
                                    </m:r>
                                  </m:e>
                                  <m:sup>
                                    <m:r>
                                      <a:rPr lang="en-US" sz="1600">
                                        <a:effectLst/>
                                        <a:latin typeface="Cambria Math" panose="02040503050406030204" pitchFamily="18" charset="0"/>
                                        <a:ea typeface="Cambria Math" panose="02040503050406030204" pitchFamily="18" charset="0"/>
                                      </a:rPr>
                                      <m:t>6</m:t>
                                    </m:r>
                                  </m:sup>
                                </m:sSup>
                                <m:r>
                                  <a:rPr lang="en-US" sz="1600">
                                    <a:effectLst/>
                                    <a:latin typeface="Cambria Math" panose="02040503050406030204" pitchFamily="18" charset="0"/>
                                    <a:ea typeface="Cambria Math" panose="02040503050406030204" pitchFamily="18" charset="0"/>
                                  </a:rPr>
                                  <m:t>+26÷13</m:t>
                                </m:r>
                              </m:oMath>
                            </m:oMathPara>
                          </a14:m>
                          <a:endParaRPr lang="en-US" sz="1600" dirty="0">
                            <a:effectLst/>
                            <a:latin typeface="Cambria Math" panose="02040503050406030204" pitchFamily="18" charset="0"/>
                            <a:ea typeface="Cambria Math" panose="02040503050406030204" pitchFamily="18" charset="0"/>
                          </a:endParaRPr>
                        </a:p>
                        <a:p>
                          <a:pPr marL="0" marR="0">
                            <a:lnSpc>
                              <a:spcPct val="107000"/>
                            </a:lnSpc>
                            <a:spcBef>
                              <a:spcPts val="0"/>
                            </a:spcBef>
                            <a:spcAft>
                              <a:spcPts val="0"/>
                            </a:spcAft>
                          </a:pPr>
                          <a:r>
                            <a:rPr lang="en-US" sz="16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ea typeface="Cambria Math" panose="02040503050406030204" pitchFamily="18" charset="0"/>
                                  </a:rPr>
                                  <m:t>0.125×</m:t>
                                </m:r>
                                <m:sSup>
                                  <m:sSupPr>
                                    <m:ctrlPr>
                                      <a:rPr lang="en-US" sz="1600" i="1">
                                        <a:effectLst/>
                                        <a:latin typeface="Cambria Math" panose="02040503050406030204" pitchFamily="18" charset="0"/>
                                        <a:ea typeface="Cambria Math" panose="02040503050406030204" pitchFamily="18" charset="0"/>
                                      </a:rPr>
                                    </m:ctrlPr>
                                  </m:sSupPr>
                                  <m:e>
                                    <m:r>
                                      <a:rPr lang="en-US" sz="1600">
                                        <a:effectLst/>
                                        <a:latin typeface="Cambria Math" panose="02040503050406030204" pitchFamily="18" charset="0"/>
                                        <a:ea typeface="Cambria Math" panose="02040503050406030204" pitchFamily="18" charset="0"/>
                                      </a:rPr>
                                      <m:t>4</m:t>
                                    </m:r>
                                  </m:e>
                                  <m:sup>
                                    <m:r>
                                      <a:rPr lang="en-US" sz="1600">
                                        <a:effectLst/>
                                        <a:latin typeface="Cambria Math" panose="02040503050406030204" pitchFamily="18" charset="0"/>
                                        <a:ea typeface="Cambria Math" panose="02040503050406030204" pitchFamily="18" charset="0"/>
                                      </a:rPr>
                                      <m:t>6</m:t>
                                    </m:r>
                                  </m:sup>
                                </m:sSup>
                                <m:r>
                                  <a:rPr lang="en-US" sz="1600">
                                    <a:effectLst/>
                                    <a:latin typeface="Cambria Math" panose="02040503050406030204" pitchFamily="18" charset="0"/>
                                    <a:ea typeface="Cambria Math" panose="02040503050406030204" pitchFamily="18" charset="0"/>
                                  </a:rPr>
                                  <m:t>+26÷13</m:t>
                                </m:r>
                              </m:oMath>
                            </m:oMathPara>
                          </a14:m>
                          <a:endParaRPr lang="en-US" sz="1600" dirty="0">
                            <a:effectLst/>
                            <a:latin typeface="Cambria Math" panose="02040503050406030204" pitchFamily="18" charset="0"/>
                            <a:ea typeface="Cambria Math" panose="02040503050406030204" pitchFamily="18" charset="0"/>
                          </a:endParaRPr>
                        </a:p>
                        <a:p>
                          <a:pPr marL="0" marR="0">
                            <a:lnSpc>
                              <a:spcPct val="107000"/>
                            </a:lnSpc>
                            <a:spcBef>
                              <a:spcPts val="0"/>
                            </a:spcBef>
                            <a:spcAft>
                              <a:spcPts val="0"/>
                            </a:spcAft>
                          </a:pPr>
                          <a:r>
                            <a:rPr lang="en-US" sz="16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ea typeface="Cambria Math" panose="02040503050406030204" pitchFamily="18" charset="0"/>
                                  </a:rPr>
                                  <m:t>0.125×4,096+26÷13</m:t>
                                </m:r>
                              </m:oMath>
                            </m:oMathPara>
                          </a14:m>
                          <a:endParaRPr lang="en-US" sz="1600" dirty="0">
                            <a:effectLst/>
                            <a:latin typeface="Cambria Math" panose="02040503050406030204" pitchFamily="18" charset="0"/>
                            <a:ea typeface="Cambria Math" panose="02040503050406030204" pitchFamily="18" charset="0"/>
                          </a:endParaRPr>
                        </a:p>
                        <a:p>
                          <a:pPr marL="0" marR="0">
                            <a:lnSpc>
                              <a:spcPct val="107000"/>
                            </a:lnSpc>
                            <a:spcBef>
                              <a:spcPts val="0"/>
                            </a:spcBef>
                            <a:spcAft>
                              <a:spcPts val="0"/>
                            </a:spcAft>
                          </a:pPr>
                          <a:r>
                            <a:rPr lang="en-US" sz="16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ea typeface="Cambria Math" panose="02040503050406030204" pitchFamily="18" charset="0"/>
                                  </a:rPr>
                                  <m:t>512+26÷13</m:t>
                                </m:r>
                              </m:oMath>
                            </m:oMathPara>
                          </a14:m>
                          <a:endParaRPr lang="en-US" sz="1600" dirty="0">
                            <a:effectLst/>
                            <a:latin typeface="Cambria Math" panose="02040503050406030204" pitchFamily="18" charset="0"/>
                            <a:ea typeface="Cambria Math" panose="02040503050406030204" pitchFamily="18" charset="0"/>
                          </a:endParaRPr>
                        </a:p>
                        <a:p>
                          <a:pPr marL="0" marR="0">
                            <a:lnSpc>
                              <a:spcPct val="107000"/>
                            </a:lnSpc>
                            <a:spcBef>
                              <a:spcPts val="0"/>
                            </a:spcBef>
                            <a:spcAft>
                              <a:spcPts val="0"/>
                            </a:spcAft>
                          </a:pPr>
                          <a:r>
                            <a:rPr lang="en-US" sz="16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ea typeface="Cambria Math" panose="02040503050406030204" pitchFamily="18" charset="0"/>
                                  </a:rPr>
                                  <m:t>512+2</m:t>
                                </m:r>
                              </m:oMath>
                            </m:oMathPara>
                          </a14:m>
                          <a:endParaRPr lang="en-US" sz="1600" dirty="0">
                            <a:effectLst/>
                            <a:latin typeface="Cambria Math" panose="02040503050406030204" pitchFamily="18" charset="0"/>
                            <a:ea typeface="Cambria Math" panose="02040503050406030204" pitchFamily="18" charset="0"/>
                          </a:endParaRPr>
                        </a:p>
                        <a:p>
                          <a:pPr marL="0" marR="0">
                            <a:lnSpc>
                              <a:spcPct val="107000"/>
                            </a:lnSpc>
                            <a:spcBef>
                              <a:spcPts val="0"/>
                            </a:spcBef>
                            <a:spcAft>
                              <a:spcPts val="0"/>
                            </a:spcAft>
                          </a:pPr>
                          <a:r>
                            <a:rPr lang="en-US" sz="1600" dirty="0">
                              <a:effectLst/>
                              <a:latin typeface="Cambria Math" panose="02040503050406030204" pitchFamily="18" charset="0"/>
                              <a:ea typeface="Cambria Math" panose="02040503050406030204" pitchFamily="18"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ea typeface="Cambria Math" panose="02040503050406030204" pitchFamily="18" charset="0"/>
                                  </a:rPr>
                                  <m:t>514</m:t>
                                </m:r>
                              </m:oMath>
                            </m:oMathPara>
                          </a14:m>
                          <a:endParaRPr lang="en-US" sz="1600" dirty="0">
                            <a:effectLst/>
                            <a:latin typeface="Cambria Math" panose="02040503050406030204" pitchFamily="18" charset="0"/>
                            <a:ea typeface="Cambria Math" panose="02040503050406030204" pitchFamily="18" charset="0"/>
                          </a:endParaRPr>
                        </a:p>
                        <a:p>
                          <a:pPr marL="0" marR="0">
                            <a:lnSpc>
                              <a:spcPct val="107000"/>
                            </a:lnSpc>
                            <a:spcBef>
                              <a:spcPts val="0"/>
                            </a:spcBef>
                            <a:spcAft>
                              <a:spcPts val="0"/>
                            </a:spcAft>
                          </a:pPr>
                          <a:r>
                            <a:rPr lang="en-US" sz="1600" dirty="0">
                              <a:effectLst/>
                              <a:latin typeface="Cambria Math" panose="02040503050406030204" pitchFamily="18" charset="0"/>
                              <a:ea typeface="Cambria Math" panose="02040503050406030204" pitchFamily="18" charset="0"/>
                            </a:rPr>
                            <a:t> </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53513" marR="53513" marT="0" marB="0"/>
                    </a:tc>
                    <a:extLst>
                      <a:ext uri="{0D108BD9-81ED-4DB2-BD59-A6C34878D82A}">
                        <a16:rowId xmlns:a16="http://schemas.microsoft.com/office/drawing/2014/main" val="10001"/>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3294812253"/>
                  </p:ext>
                </p:extLst>
              </p:nvPr>
            </p:nvGraphicFramePr>
            <p:xfrm>
              <a:off x="2701283" y="1213658"/>
              <a:ext cx="5723467" cy="5244017"/>
            </p:xfrm>
            <a:graphic>
              <a:graphicData uri="http://schemas.openxmlformats.org/drawingml/2006/table">
                <a:tbl>
                  <a:tblPr firstRow="1" firstCol="1" bandRow="1">
                    <a:tableStyleId>{5940675A-B579-460E-94D1-54222C63F5DA}</a:tableStyleId>
                  </a:tblPr>
                  <a:tblGrid>
                    <a:gridCol w="2860409"/>
                    <a:gridCol w="2863058"/>
                  </a:tblGrid>
                  <a:tr h="306257">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Diego</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53513" marR="53513"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Valeria</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53513" marR="53513" marT="0" marB="0" anchor="ctr">
                        <a:solidFill>
                          <a:schemeClr val="bg1">
                            <a:lumMod val="75000"/>
                          </a:schemeClr>
                        </a:solidFill>
                      </a:tcPr>
                    </a:tc>
                  </a:tr>
                  <a:tr h="4937760">
                    <a:tc>
                      <a:txBody>
                        <a:bodyPr/>
                        <a:lstStyle/>
                        <a:p>
                          <a:endParaRPr lang="en-US"/>
                        </a:p>
                      </a:txBody>
                      <a:tcPr marL="53513" marR="53513" marT="0" marB="0">
                        <a:blipFill rotWithShape="0">
                          <a:blip r:embed="rId5"/>
                          <a:stretch>
                            <a:fillRect l="-213" t="-7768" r="-100426" b="-247"/>
                          </a:stretch>
                        </a:blipFill>
                      </a:tcPr>
                    </a:tc>
                    <a:tc>
                      <a:txBody>
                        <a:bodyPr/>
                        <a:lstStyle/>
                        <a:p>
                          <a:endParaRPr lang="en-US"/>
                        </a:p>
                      </a:txBody>
                      <a:tcPr marL="53513" marR="53513" marT="0" marB="0">
                        <a:blipFill rotWithShape="0">
                          <a:blip r:embed="rId5"/>
                          <a:stretch>
                            <a:fillRect l="-100213" t="-7768" r="-426" b="-247"/>
                          </a:stretch>
                        </a:blipFill>
                      </a:tcPr>
                    </a:tc>
                  </a:tr>
                </a:tbl>
              </a:graphicData>
            </a:graphic>
          </p:graphicFrame>
        </mc:Fallback>
      </mc:AlternateContent>
      <p:sp>
        <p:nvSpPr>
          <p:cNvPr id="12" name="Google Shape;282;g104476d1465_1_17"/>
          <p:cNvSpPr txBox="1"/>
          <p:nvPr/>
        </p:nvSpPr>
        <p:spPr>
          <a:xfrm>
            <a:off x="865223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206</a:t>
            </a:r>
            <a:endParaRPr i="1" dirty="0">
              <a:latin typeface="Calibri"/>
              <a:ea typeface="Calibri"/>
              <a:cs typeface="Calibri"/>
              <a:sym typeface="Calibri"/>
            </a:endParaRPr>
          </a:p>
        </p:txBody>
      </p:sp>
      <p:pic>
        <p:nvPicPr>
          <p:cNvPr id="14"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39045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214651" y="520394"/>
            <a:ext cx="9913364" cy="2800767"/>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How were Diego’s steps and Valeria’s steps different from each other?</a:t>
            </a:r>
            <a:endParaRPr lang="en-US" sz="22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b="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b="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b="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b="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Discuss with your partner whether you think one method was easier to use to evaluate the expression over the other.</a:t>
            </a:r>
          </a:p>
        </p:txBody>
      </p:sp>
      <p:sp>
        <p:nvSpPr>
          <p:cNvPr id="7" name="Google Shape;282;g104476d1465_1_17"/>
          <p:cNvSpPr txBox="1"/>
          <p:nvPr/>
        </p:nvSpPr>
        <p:spPr>
          <a:xfrm>
            <a:off x="865223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206</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9045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pic>
        <p:nvPicPr>
          <p:cNvPr id="5122" name="Picture 2" descr="Icon&#10;&#10;Description automatically generated">
            <a:extLst>
              <a:ext uri="{FF2B5EF4-FFF2-40B4-BE49-F238E27FC236}">
                <a16:creationId xmlns:a16="http://schemas.microsoft.com/office/drawing/2014/main" id="{217F3A92-AA2C-4D41-A73D-4DC6608D6820}"/>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20890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65223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045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816111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22274" y="-105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11.9.3 Activity: Expression Game</a:t>
            </a:r>
          </a:p>
        </p:txBody>
      </p:sp>
      <p:pic>
        <p:nvPicPr>
          <p:cNvPr id="9" name="Picture 2" descr="Icon&#10;&#10;Description automatically generated">
            <a:extLst>
              <a:ext uri="{FF2B5EF4-FFF2-40B4-BE49-F238E27FC236}">
                <a16:creationId xmlns:a16="http://schemas.microsoft.com/office/drawing/2014/main" id="{37999C4E-6AE0-FA43-BC73-665C08EC572F}"/>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72466" y="28689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3547ABD-563B-A148-B65C-C7679A7B43D4}"/>
                  </a:ext>
                </a:extLst>
              </p:cNvPr>
              <p:cNvSpPr txBox="1"/>
              <p:nvPr/>
            </p:nvSpPr>
            <p:spPr>
              <a:xfrm>
                <a:off x="1643260" y="1216695"/>
                <a:ext cx="9161512" cy="224676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Each group will use a standard number cube with sides numbered </a:t>
                </a:r>
                <a14:m>
                  <m:oMath xmlns:m="http://schemas.openxmlformats.org/officeDocument/2006/math">
                    <m:r>
                      <a:rPr lang="en-US" sz="2000">
                        <a:latin typeface="Cambria Math" panose="02040503050406030204" pitchFamily="18" charset="0"/>
                        <a:ea typeface="Cambria Math" panose="02040503050406030204" pitchFamily="18" charset="0"/>
                      </a:rPr>
                      <m:t>1</m:t>
                    </m:r>
                    <m:r>
                      <a:rPr lang="en-US" sz="2000" i="1">
                        <a:latin typeface="Cambria Math" panose="02040503050406030204" pitchFamily="18" charset="0"/>
                        <a:ea typeface="Cambria Math" panose="02040503050406030204" pitchFamily="18" charset="0"/>
                      </a:rPr>
                      <m:t>−</m:t>
                    </m:r>
                    <m:r>
                      <a:rPr lang="en-US" sz="2000">
                        <a:latin typeface="Cambria Math" panose="02040503050406030204" pitchFamily="18" charset="0"/>
                        <a:ea typeface="Cambria Math" panose="02040503050406030204" pitchFamily="18" charset="0"/>
                      </a:rPr>
                      <m:t>6</m:t>
                    </m:r>
                  </m:oMath>
                </a14:m>
                <a:r>
                  <a:rPr lang="en-US" sz="2000" dirty="0">
                    <a:latin typeface="Verdana" panose="020B0604030504040204" pitchFamily="34" charset="0"/>
                    <a:ea typeface="Verdana" panose="020B0604030504040204" pitchFamily="34" charset="0"/>
                    <a:cs typeface="Verdana" panose="020B0604030504040204" pitchFamily="34" charset="0"/>
                  </a:rPr>
                  <a:t> to play a game. One player rolls the number cube. Each player decides which box to place that number in the expression. Continue rolling the cube until all blanks in the expression are filled. Evaluate your expression and record your score based on the point system in the table. If on any round two players’ expressions have the same value, both players</a:t>
                </a:r>
                <a:r>
                  <a:rPr lang="en-US" sz="2000" b="1" dirty="0">
                    <a:latin typeface="Verdana" panose="020B0604030504040204" pitchFamily="34" charset="0"/>
                    <a:ea typeface="Verdana" panose="020B0604030504040204" pitchFamily="34" charset="0"/>
                    <a:cs typeface="Verdana" panose="020B0604030504040204" pitchFamily="34" charset="0"/>
                  </a:rPr>
                  <a:t> lose </a:t>
                </a:r>
                <a14:m>
                  <m:oMath xmlns:m="http://schemas.openxmlformats.org/officeDocument/2006/math">
                    <m:r>
                      <a:rPr lang="en-US" sz="2000" b="1" i="1">
                        <a:latin typeface="Cambria Math" panose="02040503050406030204" pitchFamily="18" charset="0"/>
                        <a:ea typeface="Cambria Math" panose="02040503050406030204" pitchFamily="18" charset="0"/>
                      </a:rPr>
                      <m:t>𝟏𝟎</m:t>
                    </m:r>
                  </m:oMath>
                </a14:m>
                <a:r>
                  <a:rPr lang="en-US" sz="2000" b="1" dirty="0">
                    <a:latin typeface="Verdana" panose="020B0604030504040204" pitchFamily="34" charset="0"/>
                    <a:ea typeface="Verdana" panose="020B0604030504040204" pitchFamily="34" charset="0"/>
                    <a:cs typeface="Verdana" panose="020B0604030504040204" pitchFamily="34" charset="0"/>
                  </a:rPr>
                  <a:t> points.</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xmlns:a14="http://schemas.microsoft.com/office/drawing/2010/main" xmlns="" id="{A3547ABD-563B-A148-B65C-C7679A7B43D4}"/>
                  </a:ext>
                </a:extLst>
              </p:cNvPr>
              <p:cNvSpPr txBox="1">
                <a:spLocks noRot="1" noChangeAspect="1" noMove="1" noResize="1" noEditPoints="1" noAdjustHandles="1" noChangeArrowheads="1" noChangeShapeType="1" noTextEdit="1"/>
              </p:cNvSpPr>
              <p:nvPr/>
            </p:nvSpPr>
            <p:spPr>
              <a:xfrm>
                <a:off x="1643260" y="1216695"/>
                <a:ext cx="9161512" cy="2246769"/>
              </a:xfrm>
              <a:prstGeom prst="rect">
                <a:avLst/>
              </a:prstGeom>
              <a:blipFill rotWithShape="0">
                <a:blip r:embed="rId4"/>
                <a:stretch>
                  <a:fillRect l="-732" t="-1902" r="-732" b="-40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635704610"/>
                  </p:ext>
                </p:extLst>
              </p:nvPr>
            </p:nvGraphicFramePr>
            <p:xfrm>
              <a:off x="1846740" y="4197633"/>
              <a:ext cx="8206237" cy="1927924"/>
            </p:xfrm>
            <a:graphic>
              <a:graphicData uri="http://schemas.openxmlformats.org/drawingml/2006/table">
                <a:tbl>
                  <a:tblPr firstRow="1" firstCol="1" bandRow="1">
                    <a:tableStyleId>{5940675A-B579-460E-94D1-54222C63F5DA}</a:tableStyleId>
                  </a:tblPr>
                  <a:tblGrid>
                    <a:gridCol w="2225531">
                      <a:extLst>
                        <a:ext uri="{9D8B030D-6E8A-4147-A177-3AD203B41FA5}">
                          <a16:colId xmlns:a16="http://schemas.microsoft.com/office/drawing/2014/main" val="20000"/>
                        </a:ext>
                      </a:extLst>
                    </a:gridCol>
                    <a:gridCol w="4408391">
                      <a:extLst>
                        <a:ext uri="{9D8B030D-6E8A-4147-A177-3AD203B41FA5}">
                          <a16:colId xmlns:a16="http://schemas.microsoft.com/office/drawing/2014/main" val="20001"/>
                        </a:ext>
                      </a:extLst>
                    </a:gridCol>
                    <a:gridCol w="1572315">
                      <a:extLst>
                        <a:ext uri="{9D8B030D-6E8A-4147-A177-3AD203B41FA5}">
                          <a16:colId xmlns:a16="http://schemas.microsoft.com/office/drawing/2014/main" val="20002"/>
                        </a:ext>
                      </a:extLst>
                    </a:gridCol>
                  </a:tblGrid>
                  <a:tr h="1644383">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Round 1</a:t>
                          </a:r>
                        </a:p>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Scoring</a:t>
                          </a:r>
                          <a:r>
                            <a:rPr lang="en-US" sz="2000" dirty="0">
                              <a:effectLst/>
                              <a:latin typeface="Verdana" panose="020B0604030504040204" pitchFamily="34" charset="0"/>
                              <a:ea typeface="Verdana" panose="020B0604030504040204" pitchFamily="34" charset="0"/>
                              <a:cs typeface="Verdana" panose="020B0604030504040204" pitchFamily="34" charset="0"/>
                            </a:rPr>
                            <a:t> – the player with the greatest value </a:t>
                          </a:r>
                          <a:r>
                            <a:rPr lang="en-US" sz="2000" b="1" dirty="0">
                              <a:effectLst/>
                              <a:latin typeface="Verdana" panose="020B0604030504040204" pitchFamily="34" charset="0"/>
                              <a:ea typeface="Verdana" panose="020B0604030504040204" pitchFamily="34" charset="0"/>
                              <a:cs typeface="Verdana" panose="020B0604030504040204" pitchFamily="34" charset="0"/>
                            </a:rPr>
                            <a:t>earns</a:t>
                          </a:r>
                          <a:r>
                            <a:rPr lang="en-US" sz="2000" dirty="0">
                              <a:effectLst/>
                              <a:latin typeface="Verdana" panose="020B0604030504040204" pitchFamily="34" charset="0"/>
                              <a:ea typeface="Verdana" panose="020B0604030504040204" pitchFamily="34" charset="0"/>
                              <a:cs typeface="Verdana" panose="020B0604030504040204" pitchFamily="34" charset="0"/>
                            </a:rPr>
                            <a:t> 8 points.</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begChr m:val="["/>
                                    <m:endChr m:val="]"/>
                                    <m:ctrlPr>
                                      <a:rPr lang="en-US" sz="2000" i="1">
                                        <a:effectLst/>
                                        <a:latin typeface="Cambria Math" panose="02040503050406030204" pitchFamily="18" charset="0"/>
                                        <a:ea typeface="Cambria Math" panose="02040503050406030204" pitchFamily="18" charset="0"/>
                                      </a:rPr>
                                    </m:ctrlPr>
                                  </m:dPr>
                                  <m:e>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______ ×</m:t>
                                        </m:r>
                                        <m:sSup>
                                          <m:sSupPr>
                                            <m:ctrlPr>
                                              <a:rPr lang="en-US" sz="2000" i="1">
                                                <a:effectLst/>
                                                <a:latin typeface="Cambria Math" panose="02040503050406030204" pitchFamily="18" charset="0"/>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______</m:t>
                                            </m:r>
                                          </m:e>
                                          <m:sup>
                                            <m:r>
                                              <a:rPr lang="en-US" sz="2000">
                                                <a:effectLst/>
                                                <a:latin typeface="Cambria Math" panose="02040503050406030204" pitchFamily="18" charset="0"/>
                                                <a:ea typeface="Cambria Math" panose="02040503050406030204" pitchFamily="18" charset="0"/>
                                              </a:rPr>
                                              <m:t>2</m:t>
                                            </m:r>
                                          </m:sup>
                                        </m:sSup>
                                      </m:e>
                                    </m:d>
                                    <m:r>
                                      <a:rPr lang="en-US" sz="2000">
                                        <a:effectLst/>
                                        <a:latin typeface="Cambria Math" panose="02040503050406030204" pitchFamily="18" charset="0"/>
                                        <a:ea typeface="Cambria Math" panose="02040503050406030204" pitchFamily="18" charset="0"/>
                                      </a:rPr>
                                      <m:t>+______</m:t>
                                    </m:r>
                                  </m:e>
                                </m:d>
                                <m:r>
                                  <a:rPr lang="en-US" sz="2000">
                                    <a:effectLst/>
                                    <a:latin typeface="Cambria Math" panose="02040503050406030204" pitchFamily="18" charset="0"/>
                                    <a:ea typeface="Cambria Math" panose="02040503050406030204" pitchFamily="18" charset="0"/>
                                  </a:rPr>
                                  <m:t>÷______</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My answer</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______</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Points earned</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______</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val="10000"/>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635704610"/>
                  </p:ext>
                </p:extLst>
              </p:nvPr>
            </p:nvGraphicFramePr>
            <p:xfrm>
              <a:off x="322739" y="4197633"/>
              <a:ext cx="8206237" cy="1956816"/>
            </p:xfrm>
            <a:graphic>
              <a:graphicData uri="http://schemas.openxmlformats.org/drawingml/2006/table">
                <a:tbl>
                  <a:tblPr firstRow="1" firstCol="1" bandRow="1">
                    <a:tableStyleId>{5940675A-B579-460E-94D1-54222C63F5DA}</a:tableStyleId>
                  </a:tblPr>
                  <a:tblGrid>
                    <a:gridCol w="2225531"/>
                    <a:gridCol w="4408391"/>
                    <a:gridCol w="1572315"/>
                  </a:tblGrid>
                  <a:tr h="1956816">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Round 1</a:t>
                          </a:r>
                        </a:p>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Scoring</a:t>
                          </a:r>
                          <a:r>
                            <a:rPr lang="en-US" sz="2000" dirty="0">
                              <a:effectLst/>
                              <a:latin typeface="Verdana" panose="020B0604030504040204" pitchFamily="34" charset="0"/>
                              <a:ea typeface="Verdana" panose="020B0604030504040204" pitchFamily="34" charset="0"/>
                              <a:cs typeface="Verdana" panose="020B0604030504040204" pitchFamily="34" charset="0"/>
                            </a:rPr>
                            <a:t> – the player with the greatest value </a:t>
                          </a:r>
                          <a:r>
                            <a:rPr lang="en-US" sz="2000" b="1" dirty="0">
                              <a:effectLst/>
                              <a:latin typeface="Verdana" panose="020B0604030504040204" pitchFamily="34" charset="0"/>
                              <a:ea typeface="Verdana" panose="020B0604030504040204" pitchFamily="34" charset="0"/>
                              <a:cs typeface="Verdana" panose="020B0604030504040204" pitchFamily="34" charset="0"/>
                            </a:rPr>
                            <a:t>earns</a:t>
                          </a:r>
                          <a:r>
                            <a:rPr lang="en-US" sz="2000" dirty="0">
                              <a:effectLst/>
                              <a:latin typeface="Verdana" panose="020B0604030504040204" pitchFamily="34" charset="0"/>
                              <a:ea typeface="Verdana" panose="020B0604030504040204" pitchFamily="34" charset="0"/>
                              <a:cs typeface="Verdana" panose="020B0604030504040204" pitchFamily="34" charset="0"/>
                            </a:rPr>
                            <a:t> 8 points.</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endParaRPr lang="en-US"/>
                        </a:p>
                      </a:txBody>
                      <a:tcPr marL="68580" marR="68580" marT="0" marB="0">
                        <a:blipFill rotWithShape="0">
                          <a:blip r:embed="rId6"/>
                          <a:stretch>
                            <a:fillRect l="-50691" t="-4037" r="-35912" b="-6522"/>
                          </a:stretch>
                        </a:blipFill>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My answer</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______</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Points earned</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______</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tr>
                </a:tbl>
              </a:graphicData>
            </a:graphic>
          </p:graphicFrame>
        </mc:Fallback>
      </mc:AlternateContent>
      <p:sp>
        <p:nvSpPr>
          <p:cNvPr id="12" name="Google Shape;282;g104476d1465_1_17"/>
          <p:cNvSpPr txBox="1"/>
          <p:nvPr/>
        </p:nvSpPr>
        <p:spPr>
          <a:xfrm>
            <a:off x="865223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207</a:t>
            </a:r>
            <a:endParaRPr i="1" dirty="0">
              <a:latin typeface="Calibri"/>
              <a:ea typeface="Calibri"/>
              <a:cs typeface="Calibri"/>
              <a:sym typeface="Calibri"/>
            </a:endParaRPr>
          </a:p>
        </p:txBody>
      </p:sp>
      <p:pic>
        <p:nvPicPr>
          <p:cNvPr id="13"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39045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069935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1015328404"/>
                  </p:ext>
                </p:extLst>
              </p:nvPr>
            </p:nvGraphicFramePr>
            <p:xfrm>
              <a:off x="1870884" y="301900"/>
              <a:ext cx="8497858" cy="5789994"/>
            </p:xfrm>
            <a:graphic>
              <a:graphicData uri="http://schemas.openxmlformats.org/drawingml/2006/table">
                <a:tbl>
                  <a:tblPr firstRow="1" firstCol="1" bandRow="1">
                    <a:tableStyleId>{5940675A-B579-460E-94D1-54222C63F5DA}</a:tableStyleId>
                  </a:tblPr>
                  <a:tblGrid>
                    <a:gridCol w="2304619">
                      <a:extLst>
                        <a:ext uri="{9D8B030D-6E8A-4147-A177-3AD203B41FA5}">
                          <a16:colId xmlns:a16="http://schemas.microsoft.com/office/drawing/2014/main" val="20000"/>
                        </a:ext>
                      </a:extLst>
                    </a:gridCol>
                    <a:gridCol w="4565049">
                      <a:extLst>
                        <a:ext uri="{9D8B030D-6E8A-4147-A177-3AD203B41FA5}">
                          <a16:colId xmlns:a16="http://schemas.microsoft.com/office/drawing/2014/main" val="20001"/>
                        </a:ext>
                      </a:extLst>
                    </a:gridCol>
                    <a:gridCol w="1628190">
                      <a:extLst>
                        <a:ext uri="{9D8B030D-6E8A-4147-A177-3AD203B41FA5}">
                          <a16:colId xmlns:a16="http://schemas.microsoft.com/office/drawing/2014/main" val="20002"/>
                        </a:ext>
                      </a:extLst>
                    </a:gridCol>
                  </a:tblGrid>
                  <a:tr h="1617329">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Round 2</a:t>
                          </a:r>
                        </a:p>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Scoring</a:t>
                          </a:r>
                          <a:r>
                            <a:rPr lang="en-US" sz="2000" dirty="0">
                              <a:effectLst/>
                              <a:latin typeface="Verdana" panose="020B0604030504040204" pitchFamily="34" charset="0"/>
                              <a:ea typeface="Verdana" panose="020B0604030504040204" pitchFamily="34" charset="0"/>
                              <a:cs typeface="Verdana" panose="020B0604030504040204" pitchFamily="34" charset="0"/>
                            </a:rPr>
                            <a:t> – the player with the least value </a:t>
                          </a:r>
                          <a:r>
                            <a:rPr lang="en-US" sz="2000" b="1" dirty="0">
                              <a:effectLst/>
                              <a:latin typeface="Verdana" panose="020B0604030504040204" pitchFamily="34" charset="0"/>
                              <a:ea typeface="Verdana" panose="020B0604030504040204" pitchFamily="34" charset="0"/>
                              <a:cs typeface="Verdana" panose="020B0604030504040204" pitchFamily="34" charset="0"/>
                            </a:rPr>
                            <a:t>earns</a:t>
                          </a: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ea typeface="Cambria Math" panose="02040503050406030204" pitchFamily="18" charset="0"/>
                                </a:rPr>
                                <m:t>5.5</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points.</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1455" marR="61455" marT="0" marB="0" anchor="ctr"/>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begChr m:val="["/>
                                    <m:endChr m:val="]"/>
                                    <m:ctrlPr>
                                      <a:rPr lang="en-US" sz="2000" i="1">
                                        <a:effectLst/>
                                        <a:latin typeface="Cambria Math" panose="02040503050406030204" pitchFamily="18" charset="0"/>
                                        <a:ea typeface="Cambria Math" panose="02040503050406030204" pitchFamily="18" charset="0"/>
                                      </a:rPr>
                                    </m:ctrlPr>
                                  </m:dPr>
                                  <m:e>
                                    <m:sSup>
                                      <m:sSupPr>
                                        <m:ctrlPr>
                                          <a:rPr lang="en-US" sz="2000" i="1">
                                            <a:effectLst/>
                                            <a:latin typeface="Cambria Math" panose="02040503050406030204" pitchFamily="18" charset="0"/>
                                            <a:ea typeface="Cambria Math" panose="02040503050406030204" pitchFamily="18" charset="0"/>
                                          </a:rPr>
                                        </m:ctrlPr>
                                      </m:sSupPr>
                                      <m:e>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______×______</m:t>
                                            </m:r>
                                          </m:e>
                                        </m:d>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+______</m:t>
                                    </m:r>
                                  </m:e>
                                </m:d>
                                <m:r>
                                  <a:rPr lang="en-US" sz="2000">
                                    <a:effectLst/>
                                    <a:latin typeface="Cambria Math" panose="02040503050406030204" pitchFamily="18" charset="0"/>
                                    <a:ea typeface="Cambria Math" panose="02040503050406030204" pitchFamily="18" charset="0"/>
                                  </a:rPr>
                                  <m:t>÷______</m:t>
                                </m:r>
                              </m:oMath>
                            </m:oMathPara>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1455" marR="61455" marT="0" marB="0"/>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My answer</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______</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Points earned</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______</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1455" marR="61455" marT="0" marB="0"/>
                    </a:tc>
                    <a:extLst>
                      <a:ext uri="{0D108BD9-81ED-4DB2-BD59-A6C34878D82A}">
                        <a16:rowId xmlns:a16="http://schemas.microsoft.com/office/drawing/2014/main" val="10000"/>
                      </a:ext>
                    </a:extLst>
                  </a:tr>
                  <a:tr h="1617329">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Round 3</a:t>
                          </a:r>
                        </a:p>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Scoring</a:t>
                          </a:r>
                          <a:r>
                            <a:rPr lang="en-US" sz="2000" dirty="0">
                              <a:effectLst/>
                              <a:latin typeface="Verdana" panose="020B0604030504040204" pitchFamily="34" charset="0"/>
                              <a:ea typeface="Verdana" panose="020B0604030504040204" pitchFamily="34" charset="0"/>
                              <a:cs typeface="Verdana" panose="020B0604030504040204" pitchFamily="34" charset="0"/>
                            </a:rPr>
                            <a:t> – the player with the greatest absolute value </a:t>
                          </a:r>
                          <a:r>
                            <a:rPr lang="en-US" sz="2000" b="1" dirty="0">
                              <a:effectLst/>
                              <a:latin typeface="Verdana" panose="020B0604030504040204" pitchFamily="34" charset="0"/>
                              <a:ea typeface="Verdana" panose="020B0604030504040204" pitchFamily="34" charset="0"/>
                              <a:cs typeface="Verdana" panose="020B0604030504040204" pitchFamily="34" charset="0"/>
                            </a:rPr>
                            <a:t>loses</a:t>
                          </a: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ea typeface="Cambria Math" panose="02040503050406030204" pitchFamily="18" charset="0"/>
                                </a:rPr>
                                <m:t>3.7</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points.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1455" marR="61455" marT="0" marB="0" anchor="ctr"/>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smtClean="0">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______×</m:t>
                                    </m:r>
                                    <m:sSup>
                                      <m:sSupPr>
                                        <m:ctrlPr>
                                          <a:rPr lang="en-US" sz="2000" i="1">
                                            <a:effectLst/>
                                            <a:latin typeface="Cambria Math" panose="02040503050406030204" pitchFamily="18" charset="0"/>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______</m:t>
                                        </m:r>
                                      </m:e>
                                      <m:sup>
                                        <m:r>
                                          <a:rPr lang="en-US" sz="2000">
                                            <a:effectLst/>
                                            <a:latin typeface="Cambria Math" panose="02040503050406030204" pitchFamily="18" charset="0"/>
                                            <a:ea typeface="Cambria Math" panose="02040503050406030204" pitchFamily="18" charset="0"/>
                                          </a:rPr>
                                          <m:t>2</m:t>
                                        </m:r>
                                      </m:sup>
                                    </m:sSup>
                                  </m:e>
                                </m:d>
                                <m:r>
                                  <a:rPr lang="en-PH" sz="2000" b="0" i="0" smtClean="0">
                                    <a:effectLst/>
                                    <a:latin typeface="Cambria Math" panose="02040503050406030204" pitchFamily="18" charset="0"/>
                                    <a:ea typeface="Cambria Math" panose="02040503050406030204" pitchFamily="18" charset="0"/>
                                  </a:rPr>
                                  <m:t>−</m:t>
                                </m:r>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______÷______</m:t>
                                    </m:r>
                                  </m:e>
                                </m:d>
                              </m:oMath>
                            </m:oMathPara>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1455" marR="61455" marT="0" marB="0"/>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My answer</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______</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Points earned</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______</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1455" marR="61455" marT="0" marB="0"/>
                    </a:tc>
                    <a:extLst>
                      <a:ext uri="{0D108BD9-81ED-4DB2-BD59-A6C34878D82A}">
                        <a16:rowId xmlns:a16="http://schemas.microsoft.com/office/drawing/2014/main" val="10001"/>
                      </a:ext>
                    </a:extLst>
                  </a:tr>
                  <a:tr h="1617329">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Round 4</a:t>
                          </a:r>
                        </a:p>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Scoring </a:t>
                          </a:r>
                          <a:r>
                            <a:rPr lang="en-US" sz="2000" dirty="0">
                              <a:effectLst/>
                              <a:latin typeface="Verdana" panose="020B0604030504040204" pitchFamily="34" charset="0"/>
                              <a:ea typeface="Verdana" panose="020B0604030504040204" pitchFamily="34" charset="0"/>
                              <a:cs typeface="Verdana" panose="020B0604030504040204" pitchFamily="34" charset="0"/>
                            </a:rPr>
                            <a:t>– the player with the absolute value closest to zero </a:t>
                          </a:r>
                          <a:r>
                            <a:rPr lang="en-US" sz="2000" b="1" dirty="0">
                              <a:effectLst/>
                              <a:latin typeface="Verdana" panose="020B0604030504040204" pitchFamily="34" charset="0"/>
                              <a:ea typeface="Verdana" panose="020B0604030504040204" pitchFamily="34" charset="0"/>
                              <a:cs typeface="Verdana" panose="020B0604030504040204" pitchFamily="34" charset="0"/>
                            </a:rPr>
                            <a:t>earns</a:t>
                          </a: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ea typeface="Cambria Math" panose="02040503050406030204" pitchFamily="18" charset="0"/>
                                </a:rPr>
                                <m:t>11</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points.</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1455" marR="61455" marT="0" marB="0" anchor="ctr"/>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smtClean="0">
                                        <a:effectLst/>
                                        <a:latin typeface="Cambria Math" panose="02040503050406030204" pitchFamily="18" charset="0"/>
                                        <a:ea typeface="Cambria Math" panose="02040503050406030204" pitchFamily="18" charset="0"/>
                                      </a:rPr>
                                    </m:ctrlPr>
                                  </m:sSupPr>
                                  <m:e>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______×______</m:t>
                                        </m:r>
                                      </m:e>
                                    </m:d>
                                  </m:e>
                                  <m:sup>
                                    <m:r>
                                      <a:rPr lang="en-US" sz="2000">
                                        <a:effectLst/>
                                        <a:latin typeface="Cambria Math" panose="02040503050406030204" pitchFamily="18" charset="0"/>
                                        <a:ea typeface="Cambria Math" panose="02040503050406030204" pitchFamily="18" charset="0"/>
                                      </a:rPr>
                                      <m:t>2</m:t>
                                    </m:r>
                                  </m:sup>
                                </m:sSup>
                                <m:r>
                                  <a:rPr lang="en-PH" sz="2000" b="0" i="0" smtClean="0">
                                    <a:effectLst/>
                                    <a:latin typeface="Cambria Math" panose="02040503050406030204" pitchFamily="18" charset="0"/>
                                    <a:ea typeface="Cambria Math" panose="02040503050406030204" pitchFamily="18" charset="0"/>
                                  </a:rPr>
                                  <m:t>−</m:t>
                                </m:r>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______÷______</m:t>
                                    </m:r>
                                  </m:e>
                                </m:d>
                              </m:oMath>
                            </m:oMathPara>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1455" marR="61455" marT="0" marB="0"/>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My answer</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______</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Points earned</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______</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1455" marR="61455" marT="0" marB="0"/>
                    </a:tc>
                    <a:extLst>
                      <a:ext uri="{0D108BD9-81ED-4DB2-BD59-A6C34878D82A}">
                        <a16:rowId xmlns:a16="http://schemas.microsoft.com/office/drawing/2014/main" val="10002"/>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1015328404"/>
                  </p:ext>
                </p:extLst>
              </p:nvPr>
            </p:nvGraphicFramePr>
            <p:xfrm>
              <a:off x="1870884" y="301900"/>
              <a:ext cx="8497858" cy="5789994"/>
            </p:xfrm>
            <a:graphic>
              <a:graphicData uri="http://schemas.openxmlformats.org/drawingml/2006/table">
                <a:tbl>
                  <a:tblPr firstRow="1" firstCol="1" bandRow="1">
                    <a:tableStyleId>{5940675A-B579-460E-94D1-54222C63F5DA}</a:tableStyleId>
                  </a:tblPr>
                  <a:tblGrid>
                    <a:gridCol w="2304619">
                      <a:extLst>
                        <a:ext uri="{9D8B030D-6E8A-4147-A177-3AD203B41FA5}">
                          <a16:colId xmlns:a16="http://schemas.microsoft.com/office/drawing/2014/main" val="20000"/>
                        </a:ext>
                      </a:extLst>
                    </a:gridCol>
                    <a:gridCol w="4565049">
                      <a:extLst>
                        <a:ext uri="{9D8B030D-6E8A-4147-A177-3AD203B41FA5}">
                          <a16:colId xmlns:a16="http://schemas.microsoft.com/office/drawing/2014/main" val="20001"/>
                        </a:ext>
                      </a:extLst>
                    </a:gridCol>
                    <a:gridCol w="1628190">
                      <a:extLst>
                        <a:ext uri="{9D8B030D-6E8A-4147-A177-3AD203B41FA5}">
                          <a16:colId xmlns:a16="http://schemas.microsoft.com/office/drawing/2014/main" val="20002"/>
                        </a:ext>
                      </a:extLst>
                    </a:gridCol>
                  </a:tblGrid>
                  <a:tr h="1927924">
                    <a:tc>
                      <a:txBody>
                        <a:bodyPr/>
                        <a:lstStyle/>
                        <a:p>
                          <a:endParaRPr lang="en-US"/>
                        </a:p>
                      </a:txBody>
                      <a:tcPr marL="61455" marR="61455" marT="0" marB="0" anchor="ctr">
                        <a:blipFill>
                          <a:blip r:embed="rId3"/>
                          <a:stretch>
                            <a:fillRect l="-265" t="-4101" r="-269577" b="-207886"/>
                          </a:stretch>
                        </a:blipFill>
                      </a:tcPr>
                    </a:tc>
                    <a:tc>
                      <a:txBody>
                        <a:bodyPr/>
                        <a:lstStyle/>
                        <a:p>
                          <a:endParaRPr lang="en-US"/>
                        </a:p>
                      </a:txBody>
                      <a:tcPr marL="61455" marR="61455" marT="0" marB="0">
                        <a:blipFill>
                          <a:blip r:embed="rId3"/>
                          <a:stretch>
                            <a:fillRect l="-50533" t="-4101" r="-35867" b="-207886"/>
                          </a:stretch>
                        </a:blipFill>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My answer</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______</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Points earned</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______</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1455" marR="61455" marT="0" marB="0"/>
                    </a:tc>
                    <a:extLst>
                      <a:ext uri="{0D108BD9-81ED-4DB2-BD59-A6C34878D82A}">
                        <a16:rowId xmlns:a16="http://schemas.microsoft.com/office/drawing/2014/main" val="10000"/>
                      </a:ext>
                    </a:extLst>
                  </a:tr>
                  <a:tr h="1931035">
                    <a:tc>
                      <a:txBody>
                        <a:bodyPr/>
                        <a:lstStyle/>
                        <a:p>
                          <a:endParaRPr lang="en-US"/>
                        </a:p>
                      </a:txBody>
                      <a:tcPr marL="61455" marR="61455" marT="0" marB="0" anchor="ctr">
                        <a:blipFill>
                          <a:blip r:embed="rId3"/>
                          <a:stretch>
                            <a:fillRect l="-265" t="-104101" r="-269577" b="-107886"/>
                          </a:stretch>
                        </a:blipFill>
                      </a:tcPr>
                    </a:tc>
                    <a:tc>
                      <a:txBody>
                        <a:bodyPr/>
                        <a:lstStyle/>
                        <a:p>
                          <a:endParaRPr lang="en-US"/>
                        </a:p>
                      </a:txBody>
                      <a:tcPr marL="61455" marR="61455" marT="0" marB="0">
                        <a:blipFill>
                          <a:blip r:embed="rId3"/>
                          <a:stretch>
                            <a:fillRect l="-50533" t="-104101" r="-35867" b="-107886"/>
                          </a:stretch>
                        </a:blipFill>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My answer</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______</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Points earned</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______</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1455" marR="61455" marT="0" marB="0"/>
                    </a:tc>
                    <a:extLst>
                      <a:ext uri="{0D108BD9-81ED-4DB2-BD59-A6C34878D82A}">
                        <a16:rowId xmlns:a16="http://schemas.microsoft.com/office/drawing/2014/main" val="10001"/>
                      </a:ext>
                    </a:extLst>
                  </a:tr>
                  <a:tr h="1931035">
                    <a:tc>
                      <a:txBody>
                        <a:bodyPr/>
                        <a:lstStyle/>
                        <a:p>
                          <a:endParaRPr lang="en-US"/>
                        </a:p>
                      </a:txBody>
                      <a:tcPr marL="61455" marR="61455" marT="0" marB="0" anchor="ctr">
                        <a:blipFill>
                          <a:blip r:embed="rId3"/>
                          <a:stretch>
                            <a:fillRect l="-265" t="-204101" r="-269577" b="-7886"/>
                          </a:stretch>
                        </a:blipFill>
                      </a:tcPr>
                    </a:tc>
                    <a:tc>
                      <a:txBody>
                        <a:bodyPr/>
                        <a:lstStyle/>
                        <a:p>
                          <a:endParaRPr lang="en-US"/>
                        </a:p>
                      </a:txBody>
                      <a:tcPr marL="61455" marR="61455" marT="0" marB="0">
                        <a:blipFill>
                          <a:blip r:embed="rId3"/>
                          <a:stretch>
                            <a:fillRect l="-50533" t="-204101" r="-35867" b="-7886"/>
                          </a:stretch>
                        </a:blipFill>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My answer</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______</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Points earned</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______</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1455" marR="61455" marT="0" marB="0"/>
                    </a:tc>
                    <a:extLst>
                      <a:ext uri="{0D108BD9-81ED-4DB2-BD59-A6C34878D82A}">
                        <a16:rowId xmlns:a16="http://schemas.microsoft.com/office/drawing/2014/main" val="10002"/>
                      </a:ext>
                    </a:extLst>
                  </a:tr>
                </a:tbl>
              </a:graphicData>
            </a:graphic>
          </p:graphicFrame>
        </mc:Fallback>
      </mc:AlternateContent>
      <p:sp>
        <p:nvSpPr>
          <p:cNvPr id="6" name="Google Shape;282;g104476d1465_1_17"/>
          <p:cNvSpPr txBox="1"/>
          <p:nvPr/>
        </p:nvSpPr>
        <p:spPr>
          <a:xfrm>
            <a:off x="865223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207</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045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93813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B6C08EE3-8247-C14E-9600-35165D5C8679}"/>
              </a:ext>
            </a:extLst>
          </p:cNvPr>
          <p:cNvSpPr txBox="1"/>
          <p:nvPr/>
        </p:nvSpPr>
        <p:spPr>
          <a:xfrm>
            <a:off x="1310185" y="337514"/>
            <a:ext cx="9571630" cy="3477875"/>
          </a:xfrm>
          <a:prstGeom prst="rect">
            <a:avLst/>
          </a:prstGeom>
          <a:noFill/>
        </p:spPr>
        <p:txBody>
          <a:bodyPr wrap="square" rtlCol="0">
            <a:spAutoFit/>
          </a:bodyPr>
          <a:lstStyle/>
          <a:p>
            <a:pPr algn="ctr"/>
            <a:r>
              <a:rPr lang="en-US" sz="2200" b="1" dirty="0">
                <a:latin typeface="Verdana" panose="020B0604030504040204" pitchFamily="34" charset="0"/>
                <a:ea typeface="Verdana" panose="020B0604030504040204" pitchFamily="34" charset="0"/>
                <a:cs typeface="Verdana" panose="020B0604030504040204" pitchFamily="34" charset="0"/>
              </a:rPr>
              <a:t>My Game Score</a:t>
            </a:r>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Discuss with the other players what strategies they used to determine where to put the numbers. Summarize your discussion.</a:t>
            </a:r>
          </a:p>
        </p:txBody>
      </p:sp>
      <p:graphicFrame>
        <p:nvGraphicFramePr>
          <p:cNvPr id="2" name="Table 1"/>
          <p:cNvGraphicFramePr>
            <a:graphicFrameLocks noGrp="1"/>
          </p:cNvGraphicFramePr>
          <p:nvPr>
            <p:extLst>
              <p:ext uri="{D42A27DB-BD31-4B8C-83A1-F6EECF244321}">
                <p14:modId xmlns:p14="http://schemas.microsoft.com/office/powerpoint/2010/main" val="132437282"/>
              </p:ext>
            </p:extLst>
          </p:nvPr>
        </p:nvGraphicFramePr>
        <p:xfrm>
          <a:off x="2467508" y="997296"/>
          <a:ext cx="7792060" cy="946150"/>
        </p:xfrm>
        <a:graphic>
          <a:graphicData uri="http://schemas.openxmlformats.org/drawingml/2006/table">
            <a:tbl>
              <a:tblPr firstRow="1" firstCol="1" bandRow="1">
                <a:tableStyleId>{5940675A-B579-460E-94D1-54222C63F5DA}</a:tableStyleId>
              </a:tblPr>
              <a:tblGrid>
                <a:gridCol w="1533477">
                  <a:extLst>
                    <a:ext uri="{9D8B030D-6E8A-4147-A177-3AD203B41FA5}">
                      <a16:colId xmlns:a16="http://schemas.microsoft.com/office/drawing/2014/main" val="20000"/>
                    </a:ext>
                  </a:extLst>
                </a:gridCol>
                <a:gridCol w="1533477">
                  <a:extLst>
                    <a:ext uri="{9D8B030D-6E8A-4147-A177-3AD203B41FA5}">
                      <a16:colId xmlns:a16="http://schemas.microsoft.com/office/drawing/2014/main" val="20001"/>
                    </a:ext>
                  </a:extLst>
                </a:gridCol>
                <a:gridCol w="1530361">
                  <a:extLst>
                    <a:ext uri="{9D8B030D-6E8A-4147-A177-3AD203B41FA5}">
                      <a16:colId xmlns:a16="http://schemas.microsoft.com/office/drawing/2014/main" val="20002"/>
                    </a:ext>
                  </a:extLst>
                </a:gridCol>
                <a:gridCol w="1530361">
                  <a:extLst>
                    <a:ext uri="{9D8B030D-6E8A-4147-A177-3AD203B41FA5}">
                      <a16:colId xmlns:a16="http://schemas.microsoft.com/office/drawing/2014/main" val="20003"/>
                    </a:ext>
                  </a:extLst>
                </a:gridCol>
                <a:gridCol w="1664384">
                  <a:extLst>
                    <a:ext uri="{9D8B030D-6E8A-4147-A177-3AD203B41FA5}">
                      <a16:colId xmlns:a16="http://schemas.microsoft.com/office/drawing/2014/main" val="20004"/>
                    </a:ext>
                  </a:extLst>
                </a:gridCol>
              </a:tblGrid>
              <a:tr h="473075">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Round 1</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Round 2</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Round 3</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Round 4</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My Score</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extLst>
                  <a:ext uri="{0D108BD9-81ED-4DB2-BD59-A6C34878D82A}">
                    <a16:rowId xmlns:a16="http://schemas.microsoft.com/office/drawing/2014/main" val="10000"/>
                  </a:ext>
                </a:extLst>
              </a:tr>
              <a:tr h="473075">
                <a:tc>
                  <a:txBody>
                    <a:bodyPr/>
                    <a:lstStyle/>
                    <a:p>
                      <a:pPr marL="0" marR="0">
                        <a:lnSpc>
                          <a:spcPct val="107000"/>
                        </a:lnSpc>
                        <a:spcBef>
                          <a:spcPts val="0"/>
                        </a:spcBef>
                        <a:spcAft>
                          <a:spcPts val="0"/>
                        </a:spcAft>
                      </a:pPr>
                      <a:r>
                        <a:rPr lang="en-US" sz="1800">
                          <a:effectLst/>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nSpc>
                          <a:spcPct val="107000"/>
                        </a:lnSpc>
                        <a:spcBef>
                          <a:spcPts val="0"/>
                        </a:spcBef>
                        <a:spcAft>
                          <a:spcPts val="0"/>
                        </a:spcAft>
                      </a:pPr>
                      <a:r>
                        <a:rPr lang="en-US" sz="1800">
                          <a:effectLst/>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nSpc>
                          <a:spcPct val="107000"/>
                        </a:lnSpc>
                        <a:spcBef>
                          <a:spcPts val="0"/>
                        </a:spcBef>
                        <a:spcAft>
                          <a:spcPts val="0"/>
                        </a:spcAft>
                      </a:pPr>
                      <a:r>
                        <a:rPr lang="en-US" sz="1800">
                          <a:effectLst/>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nSpc>
                          <a:spcPct val="107000"/>
                        </a:lnSpc>
                        <a:spcBef>
                          <a:spcPts val="0"/>
                        </a:spcBef>
                        <a:spcAft>
                          <a:spcPts val="0"/>
                        </a:spcAft>
                      </a:pPr>
                      <a:r>
                        <a:rPr lang="en-US" sz="1800" dirty="0">
                          <a:effectLst/>
                        </a:rPr>
                        <a:t> </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nSpc>
                          <a:spcPct val="107000"/>
                        </a:lnSpc>
                        <a:spcBef>
                          <a:spcPts val="0"/>
                        </a:spcBef>
                        <a:spcAft>
                          <a:spcPts val="0"/>
                        </a:spcAft>
                      </a:pPr>
                      <a:r>
                        <a:rPr lang="en-US" sz="1800" dirty="0">
                          <a:effectLst/>
                        </a:rPr>
                        <a:t> </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extLst>
                  <a:ext uri="{0D108BD9-81ED-4DB2-BD59-A6C34878D82A}">
                    <a16:rowId xmlns:a16="http://schemas.microsoft.com/office/drawing/2014/main" val="10001"/>
                  </a:ext>
                </a:extLst>
              </a:tr>
            </a:tbl>
          </a:graphicData>
        </a:graphic>
      </p:graphicFrame>
      <p:sp>
        <p:nvSpPr>
          <p:cNvPr id="8" name="Google Shape;282;g104476d1465_1_17"/>
          <p:cNvSpPr txBox="1"/>
          <p:nvPr/>
        </p:nvSpPr>
        <p:spPr>
          <a:xfrm>
            <a:off x="865223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207</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9045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771154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65223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208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045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06858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22274"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11.9.4 Try It: Evaluating Expressions with Multiple Steps</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72466"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AB6A3A1-5A0D-C84F-AC89-57E6782F43E5}"/>
                  </a:ext>
                </a:extLst>
              </p:cNvPr>
              <p:cNvSpPr txBox="1"/>
              <p:nvPr/>
            </p:nvSpPr>
            <p:spPr>
              <a:xfrm>
                <a:off x="1422274" y="1386025"/>
                <a:ext cx="9603484" cy="1107996"/>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In the table an expression has been evaluated, but the steps are mixed up. Order the expressions using the numbers </a:t>
                </a:r>
                <a14:m>
                  <m:oMath xmlns:m="http://schemas.openxmlformats.org/officeDocument/2006/math">
                    <m:r>
                      <a:rPr lang="en-US" sz="2200">
                        <a:latin typeface="Cambria Math" panose="02040503050406030204" pitchFamily="18" charset="0"/>
                        <a:ea typeface="Cambria Math" panose="02040503050406030204" pitchFamily="18" charset="0"/>
                      </a:rPr>
                      <m:t>1</m:t>
                    </m:r>
                    <m:r>
                      <a:rPr lang="en-US" sz="2200" i="1">
                        <a:latin typeface="Cambria Math" panose="02040503050406030204" pitchFamily="18" charset="0"/>
                        <a:ea typeface="Cambria Math" panose="02040503050406030204" pitchFamily="18" charset="0"/>
                      </a:rPr>
                      <m:t>−</m:t>
                    </m:r>
                    <m:r>
                      <a:rPr lang="en-US" sz="2200">
                        <a:latin typeface="Cambria Math" panose="02040503050406030204" pitchFamily="18" charset="0"/>
                        <a:ea typeface="Cambria Math" panose="02040503050406030204" pitchFamily="18" charset="0"/>
                      </a:rPr>
                      <m:t>7</m:t>
                    </m:r>
                  </m:oMath>
                </a14:m>
                <a:r>
                  <a:rPr lang="en-US" sz="2200" dirty="0">
                    <a:latin typeface="Verdana" panose="020B0604030504040204" pitchFamily="34" charset="0"/>
                    <a:ea typeface="Verdana" panose="020B0604030504040204" pitchFamily="34" charset="0"/>
                    <a:cs typeface="Verdana" panose="020B0604030504040204" pitchFamily="34" charset="0"/>
                  </a:rPr>
                  <a:t> on the left. Write an explanation for each step.</a:t>
                </a:r>
              </a:p>
            </p:txBody>
          </p:sp>
        </mc:Choice>
        <mc:Fallback xmlns="">
          <p:sp>
            <p:nvSpPr>
              <p:cNvPr id="10" name="TextBox 9">
                <a:extLst>
                  <a:ext uri="{FF2B5EF4-FFF2-40B4-BE49-F238E27FC236}">
                    <a16:creationId xmlns:a16="http://schemas.microsoft.com/office/drawing/2014/main" xmlns:a14="http://schemas.microsoft.com/office/drawing/2010/main" xmlns="" id="{0AB6A3A1-5A0D-C84F-AC89-57E6782F43E5}"/>
                  </a:ext>
                </a:extLst>
              </p:cNvPr>
              <p:cNvSpPr txBox="1">
                <a:spLocks noRot="1" noChangeAspect="1" noMove="1" noResize="1" noEditPoints="1" noAdjustHandles="1" noChangeArrowheads="1" noChangeShapeType="1" noTextEdit="1"/>
              </p:cNvSpPr>
              <p:nvPr/>
            </p:nvSpPr>
            <p:spPr>
              <a:xfrm>
                <a:off x="1422274" y="1386025"/>
                <a:ext cx="9603484" cy="1107996"/>
              </a:xfrm>
              <a:prstGeom prst="rect">
                <a:avLst/>
              </a:prstGeom>
              <a:blipFill rotWithShape="0">
                <a:blip r:embed="rId4"/>
                <a:stretch>
                  <a:fillRect l="-825" t="-3846" b="-109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904706230"/>
                  </p:ext>
                </p:extLst>
              </p:nvPr>
            </p:nvGraphicFramePr>
            <p:xfrm>
              <a:off x="2322114" y="2896843"/>
              <a:ext cx="7803804" cy="3239491"/>
            </p:xfrm>
            <a:graphic>
              <a:graphicData uri="http://schemas.openxmlformats.org/drawingml/2006/table">
                <a:tbl>
                  <a:tblPr firstRow="1" firstCol="1" bandRow="1">
                    <a:tableStyleId>{5940675A-B579-460E-94D1-54222C63F5DA}</a:tableStyleId>
                  </a:tblPr>
                  <a:tblGrid>
                    <a:gridCol w="867901">
                      <a:extLst>
                        <a:ext uri="{9D8B030D-6E8A-4147-A177-3AD203B41FA5}">
                          <a16:colId xmlns:a16="http://schemas.microsoft.com/office/drawing/2014/main" val="20000"/>
                        </a:ext>
                      </a:extLst>
                    </a:gridCol>
                    <a:gridCol w="4199855">
                      <a:extLst>
                        <a:ext uri="{9D8B030D-6E8A-4147-A177-3AD203B41FA5}">
                          <a16:colId xmlns:a16="http://schemas.microsoft.com/office/drawing/2014/main" val="20001"/>
                        </a:ext>
                      </a:extLst>
                    </a:gridCol>
                    <a:gridCol w="2736048">
                      <a:extLst>
                        <a:ext uri="{9D8B030D-6E8A-4147-A177-3AD203B41FA5}">
                          <a16:colId xmlns:a16="http://schemas.microsoft.com/office/drawing/2014/main" val="20002"/>
                        </a:ext>
                      </a:extLst>
                    </a:gridCol>
                  </a:tblGrid>
                  <a:tr h="381769">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Step</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Explain the Step</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solidFill>
                          <a:schemeClr val="bg1">
                            <a:lumMod val="75000"/>
                          </a:schemeClr>
                        </a:solidFill>
                      </a:tcPr>
                    </a:tc>
                    <a:extLst>
                      <a:ext uri="{0D108BD9-81ED-4DB2-BD59-A6C34878D82A}">
                        <a16:rowId xmlns:a16="http://schemas.microsoft.com/office/drawing/2014/main" val="10000"/>
                      </a:ext>
                    </a:extLst>
                  </a:tr>
                  <a:tr h="408246">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begChr m:val="|"/>
                                    <m:endChr m:val="|"/>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−11.591</m:t>
                                    </m:r>
                                  </m:e>
                                </m:d>
                                <m:r>
                                  <a:rPr lang="en-US" sz="2000">
                                    <a:effectLst/>
                                    <a:latin typeface="Cambria Math" panose="02040503050406030204" pitchFamily="18" charset="0"/>
                                    <a:ea typeface="Cambria Math" panose="02040503050406030204" pitchFamily="18" charset="0"/>
                                  </a:rPr>
                                  <m:t>+15−</m:t>
                                </m:r>
                                <m:sSup>
                                  <m:sSupPr>
                                    <m:ctrlPr>
                                      <a:rPr lang="en-US" sz="2000" i="1">
                                        <a:effectLst/>
                                        <a:latin typeface="Cambria Math" panose="02040503050406030204" pitchFamily="18" charset="0"/>
                                        <a:ea typeface="Cambria Math" panose="02040503050406030204" pitchFamily="18" charset="0"/>
                                      </a:rPr>
                                    </m:ctrlPr>
                                  </m:sSupPr>
                                  <m:e>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−3.1</m:t>
                                        </m:r>
                                      </m:e>
                                    </m:d>
                                  </m:e>
                                  <m:sup>
                                    <m:r>
                                      <a:rPr lang="en-US" sz="2000">
                                        <a:effectLst/>
                                        <a:latin typeface="Cambria Math" panose="02040503050406030204" pitchFamily="18" charset="0"/>
                                        <a:ea typeface="Cambria Math" panose="02040503050406030204" pitchFamily="18" charset="0"/>
                                      </a:rPr>
                                      <m:t>2</m:t>
                                    </m:r>
                                  </m:sup>
                                </m:sSup>
                              </m:oMath>
                            </m:oMathPara>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extLst>
                      <a:ext uri="{0D108BD9-81ED-4DB2-BD59-A6C34878D82A}">
                        <a16:rowId xmlns:a16="http://schemas.microsoft.com/office/drawing/2014/main" val="10001"/>
                      </a:ext>
                    </a:extLst>
                  </a:tr>
                  <a:tr h="408246">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11.591+15−9.61</m:t>
                                </m:r>
                              </m:oMath>
                            </m:oMathPara>
                          </a14:m>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extLst>
                      <a:ext uri="{0D108BD9-81ED-4DB2-BD59-A6C34878D82A}">
                        <a16:rowId xmlns:a16="http://schemas.microsoft.com/office/drawing/2014/main" val="10002"/>
                      </a:ext>
                    </a:extLst>
                  </a:tr>
                  <a:tr h="408246">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11.591+15−</m:t>
                                </m:r>
                                <m:sSup>
                                  <m:sSupPr>
                                    <m:ctrlPr>
                                      <a:rPr lang="en-US" sz="2000" i="1">
                                        <a:effectLst/>
                                        <a:latin typeface="Cambria Math" panose="02040503050406030204" pitchFamily="18" charset="0"/>
                                        <a:ea typeface="Cambria Math" panose="02040503050406030204" pitchFamily="18" charset="0"/>
                                      </a:rPr>
                                    </m:ctrlPr>
                                  </m:sSupPr>
                                  <m:e>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−3.1</m:t>
                                        </m:r>
                                      </m:e>
                                    </m:d>
                                  </m:e>
                                  <m:sup>
                                    <m:r>
                                      <a:rPr lang="en-US" sz="2000">
                                        <a:effectLst/>
                                        <a:latin typeface="Cambria Math" panose="02040503050406030204" pitchFamily="18" charset="0"/>
                                        <a:ea typeface="Cambria Math" panose="02040503050406030204" pitchFamily="18" charset="0"/>
                                      </a:rPr>
                                      <m:t>2</m:t>
                                    </m:r>
                                  </m:sup>
                                </m:sSup>
                              </m:oMath>
                            </m:oMathPara>
                          </a14:m>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extLst>
                      <a:ext uri="{0D108BD9-81ED-4DB2-BD59-A6C34878D82A}">
                        <a16:rowId xmlns:a16="http://schemas.microsoft.com/office/drawing/2014/main" val="10003"/>
                      </a:ext>
                    </a:extLst>
                  </a:tr>
                  <a:tr h="408246">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m:t>
                                </m:r>
                              </m:oMath>
                            </m:oMathPara>
                          </a14:m>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begChr m:val="|"/>
                                    <m:endChr m:val="|"/>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18.2+</m:t>
                                    </m:r>
                                    <m:sSup>
                                      <m:sSupPr>
                                        <m:ctrlPr>
                                          <a:rPr lang="en-US" sz="2000" i="1">
                                            <a:effectLst/>
                                            <a:latin typeface="Cambria Math" panose="02040503050406030204" pitchFamily="18" charset="0"/>
                                            <a:ea typeface="Cambria Math" panose="02040503050406030204" pitchFamily="18" charset="0"/>
                                          </a:rPr>
                                        </m:ctrlPr>
                                      </m:sSupPr>
                                      <m:e>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−3.1</m:t>
                                            </m:r>
                                          </m:e>
                                        </m:d>
                                      </m:e>
                                      <m:sup>
                                        <m:r>
                                          <a:rPr lang="en-US" sz="2000">
                                            <a:effectLst/>
                                            <a:latin typeface="Cambria Math" panose="02040503050406030204" pitchFamily="18" charset="0"/>
                                            <a:ea typeface="Cambria Math" panose="02040503050406030204" pitchFamily="18" charset="0"/>
                                          </a:rPr>
                                          <m:t>3</m:t>
                                        </m:r>
                                      </m:sup>
                                    </m:sSup>
                                  </m:e>
                                </m:d>
                                <m:r>
                                  <a:rPr lang="en-US" sz="2000">
                                    <a:effectLst/>
                                    <a:latin typeface="Cambria Math" panose="02040503050406030204" pitchFamily="18" charset="0"/>
                                    <a:ea typeface="Cambria Math" panose="02040503050406030204" pitchFamily="18" charset="0"/>
                                  </a:rPr>
                                  <m:t>+15−</m:t>
                                </m:r>
                                <m:sSup>
                                  <m:sSupPr>
                                    <m:ctrlPr>
                                      <a:rPr lang="en-US" sz="2000" i="1">
                                        <a:effectLst/>
                                        <a:latin typeface="Cambria Math" panose="02040503050406030204" pitchFamily="18" charset="0"/>
                                        <a:ea typeface="Cambria Math" panose="02040503050406030204" pitchFamily="18" charset="0"/>
                                      </a:rPr>
                                    </m:ctrlPr>
                                  </m:sSupPr>
                                  <m:e>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−3.1</m:t>
                                        </m:r>
                                      </m:e>
                                    </m:d>
                                  </m:e>
                                  <m:sup>
                                    <m:r>
                                      <a:rPr lang="en-US" sz="2000">
                                        <a:effectLst/>
                                        <a:latin typeface="Cambria Math" panose="02040503050406030204" pitchFamily="18" charset="0"/>
                                        <a:ea typeface="Cambria Math" panose="02040503050406030204" pitchFamily="18" charset="0"/>
                                      </a:rPr>
                                      <m:t>2</m:t>
                                    </m:r>
                                  </m:sup>
                                </m:sSup>
                              </m:oMath>
                            </m:oMathPara>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Original expression</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extLst>
                      <a:ext uri="{0D108BD9-81ED-4DB2-BD59-A6C34878D82A}">
                        <a16:rowId xmlns:a16="http://schemas.microsoft.com/office/drawing/2014/main" val="10004"/>
                      </a:ext>
                    </a:extLst>
                  </a:tr>
                  <a:tr h="408246">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26.591−9.61</m:t>
                                </m:r>
                              </m:oMath>
                            </m:oMathPara>
                          </a14:m>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extLst>
                      <a:ext uri="{0D108BD9-81ED-4DB2-BD59-A6C34878D82A}">
                        <a16:rowId xmlns:a16="http://schemas.microsoft.com/office/drawing/2014/main" val="10005"/>
                      </a:ext>
                    </a:extLst>
                  </a:tr>
                  <a:tr h="408246">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begChr m:val="|"/>
                                    <m:endChr m:val="|"/>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18.2+</m:t>
                                    </m:r>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−29.791</m:t>
                                        </m:r>
                                      </m:e>
                                    </m:d>
                                  </m:e>
                                </m:d>
                                <m:r>
                                  <a:rPr lang="en-US" sz="2000">
                                    <a:effectLst/>
                                    <a:latin typeface="Cambria Math" panose="02040503050406030204" pitchFamily="18" charset="0"/>
                                    <a:ea typeface="Cambria Math" panose="02040503050406030204" pitchFamily="18" charset="0"/>
                                  </a:rPr>
                                  <m:t>+15−</m:t>
                                </m:r>
                                <m:sSup>
                                  <m:sSupPr>
                                    <m:ctrlPr>
                                      <a:rPr lang="en-US" sz="2000" i="1">
                                        <a:effectLst/>
                                        <a:latin typeface="Cambria Math" panose="02040503050406030204" pitchFamily="18" charset="0"/>
                                        <a:ea typeface="Cambria Math" panose="02040503050406030204" pitchFamily="18" charset="0"/>
                                      </a:rPr>
                                    </m:ctrlPr>
                                  </m:sSupPr>
                                  <m:e>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−3.1</m:t>
                                        </m:r>
                                      </m:e>
                                    </m:d>
                                  </m:e>
                                  <m:sup>
                                    <m:r>
                                      <a:rPr lang="en-US" sz="2000">
                                        <a:effectLst/>
                                        <a:latin typeface="Cambria Math" panose="02040503050406030204" pitchFamily="18" charset="0"/>
                                        <a:ea typeface="Cambria Math" panose="02040503050406030204" pitchFamily="18" charset="0"/>
                                      </a:rPr>
                                      <m:t>2</m:t>
                                    </m:r>
                                  </m:sup>
                                </m:sSup>
                              </m:oMath>
                            </m:oMathPara>
                          </a14:m>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extLst>
                      <a:ext uri="{0D108BD9-81ED-4DB2-BD59-A6C34878D82A}">
                        <a16:rowId xmlns:a16="http://schemas.microsoft.com/office/drawing/2014/main" val="10006"/>
                      </a:ext>
                    </a:extLst>
                  </a:tr>
                  <a:tr h="408246">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16.981</m:t>
                                </m:r>
                              </m:oMath>
                            </m:oMathPara>
                          </a14:m>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extLst>
                      <a:ext uri="{0D108BD9-81ED-4DB2-BD59-A6C34878D82A}">
                        <a16:rowId xmlns:a16="http://schemas.microsoft.com/office/drawing/2014/main" val="10007"/>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904706230"/>
                  </p:ext>
                </p:extLst>
              </p:nvPr>
            </p:nvGraphicFramePr>
            <p:xfrm>
              <a:off x="798114" y="2896842"/>
              <a:ext cx="7803804" cy="3239491"/>
            </p:xfrm>
            <a:graphic>
              <a:graphicData uri="http://schemas.openxmlformats.org/drawingml/2006/table">
                <a:tbl>
                  <a:tblPr firstRow="1" firstCol="1" bandRow="1">
                    <a:tableStyleId>{5940675A-B579-460E-94D1-54222C63F5DA}</a:tableStyleId>
                  </a:tblPr>
                  <a:tblGrid>
                    <a:gridCol w="867901"/>
                    <a:gridCol w="4199855"/>
                    <a:gridCol w="2736048"/>
                  </a:tblGrid>
                  <a:tr h="381769">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Step</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Explain the Step</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solidFill>
                          <a:schemeClr val="bg1">
                            <a:lumMod val="75000"/>
                          </a:schemeClr>
                        </a:solidFill>
                      </a:tcPr>
                    </a:tc>
                  </a:tr>
                  <a:tr h="408246">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c>
                      <a:txBody>
                        <a:bodyPr/>
                        <a:lstStyle/>
                        <a:p>
                          <a:endParaRPr lang="en-US"/>
                        </a:p>
                      </a:txBody>
                      <a:tcPr marL="38599" marR="38599" marT="0" marB="0" anchor="ctr">
                        <a:blipFill rotWithShape="0">
                          <a:blip r:embed="rId6"/>
                          <a:stretch>
                            <a:fillRect l="-20870" t="-107463" r="-65362" b="-602985"/>
                          </a:stretch>
                        </a:blipFill>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r>
                  <a:tr h="408246">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c>
                      <a:txBody>
                        <a:bodyPr/>
                        <a:lstStyle/>
                        <a:p>
                          <a:endParaRPr lang="en-US"/>
                        </a:p>
                      </a:txBody>
                      <a:tcPr marL="38599" marR="38599" marT="0" marB="0" anchor="ctr">
                        <a:blipFill rotWithShape="0">
                          <a:blip r:embed="rId6"/>
                          <a:stretch>
                            <a:fillRect l="-20870" t="-207463" r="-65362" b="-502985"/>
                          </a:stretch>
                        </a:blipFill>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r>
                  <a:tr h="408246">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c>
                      <a:txBody>
                        <a:bodyPr/>
                        <a:lstStyle/>
                        <a:p>
                          <a:endParaRPr lang="en-US"/>
                        </a:p>
                      </a:txBody>
                      <a:tcPr marL="38599" marR="38599" marT="0" marB="0" anchor="ctr">
                        <a:blipFill rotWithShape="0">
                          <a:blip r:embed="rId6"/>
                          <a:stretch>
                            <a:fillRect l="-20870" t="-307463" r="-65362" b="-402985"/>
                          </a:stretch>
                        </a:blipFill>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r>
                  <a:tr h="408246">
                    <a:tc>
                      <a:txBody>
                        <a:bodyPr/>
                        <a:lstStyle/>
                        <a:p>
                          <a:endParaRPr lang="en-US"/>
                        </a:p>
                      </a:txBody>
                      <a:tcPr marL="38599" marR="38599" marT="0" marB="0" anchor="ctr">
                        <a:blipFill rotWithShape="0">
                          <a:blip r:embed="rId6"/>
                          <a:stretch>
                            <a:fillRect l="-699" t="-407463" r="-797902" b="-302985"/>
                          </a:stretch>
                        </a:blipFill>
                      </a:tcPr>
                    </a:tc>
                    <a:tc>
                      <a:txBody>
                        <a:bodyPr/>
                        <a:lstStyle/>
                        <a:p>
                          <a:endParaRPr lang="en-US"/>
                        </a:p>
                      </a:txBody>
                      <a:tcPr marL="38599" marR="38599" marT="0" marB="0" anchor="ctr">
                        <a:blipFill rotWithShape="0">
                          <a:blip r:embed="rId6"/>
                          <a:stretch>
                            <a:fillRect l="-20870" t="-407463" r="-65362" b="-302985"/>
                          </a:stretch>
                        </a:blipFill>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Original expression</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r>
                  <a:tr h="408246">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c>
                      <a:txBody>
                        <a:bodyPr/>
                        <a:lstStyle/>
                        <a:p>
                          <a:endParaRPr lang="en-US"/>
                        </a:p>
                      </a:txBody>
                      <a:tcPr marL="38599" marR="38599" marT="0" marB="0" anchor="ctr">
                        <a:blipFill rotWithShape="0">
                          <a:blip r:embed="rId6"/>
                          <a:stretch>
                            <a:fillRect l="-20870" t="-507463" r="-65362" b="-202985"/>
                          </a:stretch>
                        </a:blipFill>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r>
                  <a:tr h="408246">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c>
                      <a:txBody>
                        <a:bodyPr/>
                        <a:lstStyle/>
                        <a:p>
                          <a:endParaRPr lang="en-US"/>
                        </a:p>
                      </a:txBody>
                      <a:tcPr marL="38599" marR="38599" marT="0" marB="0" anchor="ctr">
                        <a:blipFill rotWithShape="0">
                          <a:blip r:embed="rId6"/>
                          <a:stretch>
                            <a:fillRect l="-20870" t="-607463" r="-65362" b="-102985"/>
                          </a:stretch>
                        </a:blipFill>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r>
                  <a:tr h="408246">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US" sz="2000" i="1">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c>
                      <a:txBody>
                        <a:bodyPr/>
                        <a:lstStyle/>
                        <a:p>
                          <a:endParaRPr lang="en-US"/>
                        </a:p>
                      </a:txBody>
                      <a:tcPr marL="38599" marR="38599" marT="0" marB="0" anchor="ctr">
                        <a:blipFill rotWithShape="0">
                          <a:blip r:embed="rId6"/>
                          <a:stretch>
                            <a:fillRect l="-20870" t="-707463" r="-65362" b="-2985"/>
                          </a:stretch>
                        </a:blipFill>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38599" marR="38599" marT="0" marB="0" anchor="ctr"/>
                    </a:tc>
                  </a:tr>
                </a:tbl>
              </a:graphicData>
            </a:graphic>
          </p:graphicFrame>
        </mc:Fallback>
      </mc:AlternateContent>
      <p:sp>
        <p:nvSpPr>
          <p:cNvPr id="12" name="Google Shape;282;g104476d1465_1_17"/>
          <p:cNvSpPr txBox="1"/>
          <p:nvPr/>
        </p:nvSpPr>
        <p:spPr>
          <a:xfrm>
            <a:off x="865223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208</a:t>
            </a:r>
            <a:endParaRPr i="1" dirty="0">
              <a:latin typeface="Calibri"/>
              <a:ea typeface="Calibri"/>
              <a:cs typeface="Calibri"/>
              <a:sym typeface="Calibri"/>
            </a:endParaRPr>
          </a:p>
        </p:txBody>
      </p:sp>
      <p:pic>
        <p:nvPicPr>
          <p:cNvPr id="13"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39045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40359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2347CCE-34A7-8044-BA67-B5895157AE55}"/>
                  </a:ext>
                </a:extLst>
              </p:cNvPr>
              <p:cNvSpPr txBox="1"/>
              <p:nvPr/>
            </p:nvSpPr>
            <p:spPr>
              <a:xfrm>
                <a:off x="723331" y="349706"/>
                <a:ext cx="10745338" cy="4626779"/>
              </a:xfrm>
              <a:prstGeom prst="rect">
                <a:avLst/>
              </a:prstGeom>
              <a:noFill/>
            </p:spPr>
            <p:txBody>
              <a:bodyPr wrap="square" rtlCol="0">
                <a:spAutoFit/>
              </a:bodyPr>
              <a:lstStyle/>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Evaluate each expression without using a calculator. </a:t>
                </a:r>
                <a:endParaRPr lang="en-US" sz="2200" i="1"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US" sz="2400" i="1">
                            <a:latin typeface="Cambria Math" panose="02040503050406030204" pitchFamily="18" charset="0"/>
                            <a:ea typeface="Cambria Math" panose="02040503050406030204" pitchFamily="18" charset="0"/>
                          </a:rPr>
                        </m:ctrlPr>
                      </m:sSupPr>
                      <m:e>
                        <m:d>
                          <m:dPr>
                            <m:ctrlPr>
                              <a:rPr lang="en-US" sz="2400" i="1">
                                <a:latin typeface="Cambria Math" panose="02040503050406030204" pitchFamily="18" charset="0"/>
                                <a:ea typeface="Cambria Math" panose="02040503050406030204" pitchFamily="18" charset="0"/>
                              </a:rPr>
                            </m:ctrlPr>
                          </m:dPr>
                          <m:e>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3</m:t>
                                </m:r>
                              </m:num>
                              <m:den>
                                <m:r>
                                  <a:rPr lang="en-US" sz="2400" i="1">
                                    <a:latin typeface="Cambria Math" panose="02040503050406030204" pitchFamily="18" charset="0"/>
                                    <a:ea typeface="Cambria Math" panose="02040503050406030204" pitchFamily="18" charset="0"/>
                                  </a:rPr>
                                  <m:t>4</m:t>
                                </m:r>
                              </m:den>
                            </m:f>
                          </m:e>
                        </m:d>
                      </m:e>
                      <m:sup>
                        <m:r>
                          <a:rPr lang="en-US" sz="2400" i="1">
                            <a:latin typeface="Cambria Math" panose="02040503050406030204" pitchFamily="18" charset="0"/>
                            <a:ea typeface="Cambria Math" panose="02040503050406030204" pitchFamily="18" charset="0"/>
                          </a:rPr>
                          <m:t>2</m:t>
                        </m:r>
                      </m:sup>
                    </m:sSup>
                    <m:r>
                      <a:rPr lang="en-US" sz="2400" i="1">
                        <a:latin typeface="Cambria Math" panose="02040503050406030204" pitchFamily="18" charset="0"/>
                        <a:ea typeface="Cambria Math" panose="02040503050406030204" pitchFamily="18" charset="0"/>
                      </a:rPr>
                      <m:t>×32+</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3</m:t>
                        </m:r>
                      </m:e>
                      <m:sup>
                        <m:r>
                          <a:rPr lang="en-US" sz="2400" i="1">
                            <a:latin typeface="Cambria Math" panose="02040503050406030204" pitchFamily="18" charset="0"/>
                            <a:ea typeface="Cambria Math" panose="02040503050406030204" pitchFamily="18" charset="0"/>
                          </a:rPr>
                          <m:t>2</m:t>
                        </m:r>
                      </m:sup>
                    </m:sSup>
                  </m:oMath>
                </a14:m>
                <a:endParaRPr lang="en-US" sz="2400" i="1" dirty="0">
                  <a:latin typeface="Cambria Math" panose="02040503050406030204" pitchFamily="18" charset="0"/>
                  <a:ea typeface="Cambria Math" panose="02040503050406030204" pitchFamily="18"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US" sz="2400" i="1">
                            <a:latin typeface="Cambria Math" panose="02040503050406030204" pitchFamily="18" charset="0"/>
                            <a:ea typeface="Cambria Math" panose="02040503050406030204" pitchFamily="18" charset="0"/>
                          </a:rPr>
                        </m:ctrlPr>
                      </m:sSupPr>
                      <m:e>
                        <m:d>
                          <m:dPr>
                            <m:begChr m:val="["/>
                            <m:endChr m:val="]"/>
                            <m:ctrlPr>
                              <a:rPr lang="en-US" sz="2400" i="1">
                                <a:latin typeface="Cambria Math" panose="02040503050406030204" pitchFamily="18" charset="0"/>
                                <a:ea typeface="Cambria Math" panose="02040503050406030204" pitchFamily="18" charset="0"/>
                              </a:rPr>
                            </m:ctrlPr>
                          </m:dPr>
                          <m:e>
                            <m:sSup>
                              <m:sSupPr>
                                <m:ctrlPr>
                                  <a:rPr lang="en-US" sz="2400" i="1">
                                    <a:latin typeface="Cambria Math" panose="02040503050406030204" pitchFamily="18" charset="0"/>
                                    <a:ea typeface="Cambria Math" panose="02040503050406030204" pitchFamily="18" charset="0"/>
                                  </a:rPr>
                                </m:ctrlPr>
                              </m:sSupPr>
                              <m:e>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10+4.5</m:t>
                                    </m:r>
                                  </m:e>
                                </m:d>
                              </m:e>
                              <m:sup>
                                <m:r>
                                  <a:rPr lang="en-US" sz="2400" i="1">
                                    <a:latin typeface="Cambria Math" panose="02040503050406030204" pitchFamily="18" charset="0"/>
                                    <a:ea typeface="Cambria Math" panose="02040503050406030204" pitchFamily="18" charset="0"/>
                                  </a:rPr>
                                  <m:t>2</m:t>
                                </m:r>
                              </m:sup>
                            </m:sSup>
                            <m:r>
                              <a:rPr lang="en-US" sz="2400" i="1">
                                <a:latin typeface="Cambria Math" panose="02040503050406030204" pitchFamily="18" charset="0"/>
                                <a:ea typeface="Cambria Math" panose="02040503050406030204" pitchFamily="18" charset="0"/>
                              </a:rPr>
                              <m:t>−10.25</m:t>
                            </m:r>
                          </m:e>
                        </m:d>
                      </m:e>
                      <m:sup>
                        <m:r>
                          <a:rPr lang="en-US" sz="2400" i="1">
                            <a:latin typeface="Cambria Math" panose="02040503050406030204" pitchFamily="18" charset="0"/>
                            <a:ea typeface="Cambria Math" panose="02040503050406030204" pitchFamily="18" charset="0"/>
                          </a:rPr>
                          <m:t>2</m:t>
                        </m:r>
                      </m:sup>
                    </m:sSup>
                    <m:r>
                      <a:rPr lang="en-US" sz="2400" i="1">
                        <a:latin typeface="Cambria Math" panose="02040503050406030204" pitchFamily="18" charset="0"/>
                        <a:ea typeface="Cambria Math" panose="02040503050406030204" pitchFamily="18" charset="0"/>
                      </a:rPr>
                      <m:t>÷40</m:t>
                    </m:r>
                  </m:oMath>
                </a14:m>
                <a:endParaRPr lang="en-US" sz="2400" i="1" dirty="0">
                  <a:latin typeface="Cambria Math" panose="02040503050406030204" pitchFamily="18" charset="0"/>
                  <a:ea typeface="Cambria Math" panose="02040503050406030204" pitchFamily="18" charset="0"/>
                </a:endParaRPr>
              </a:p>
              <a:p>
                <a:pPr marL="914400" indent="-457200">
                  <a:buFont typeface="+mj-lt"/>
                  <a:buAutoNum type="alphaLcPeriod"/>
                </a:pPr>
                <a:endParaRPr lang="en-US" sz="2400" dirty="0"/>
              </a:p>
              <a:p>
                <a:pPr marL="914400" indent="-457200">
                  <a:buFont typeface="+mj-lt"/>
                  <a:buAutoNum type="alphaLcPeriod"/>
                </a:pPr>
                <a:endParaRPr lang="en-US" sz="2400" dirty="0"/>
              </a:p>
              <a:p>
                <a:pPr marL="914400" indent="-457200">
                  <a:buFont typeface="+mj-lt"/>
                  <a:buAutoNum type="alphaLcPeriod"/>
                </a:pPr>
                <a:endParaRPr lang="en-US" sz="2400" dirty="0"/>
              </a:p>
              <a:p>
                <a:pPr marL="914400" indent="-457200">
                  <a:buFont typeface="+mj-lt"/>
                  <a:buAutoNum type="alphaLcPeriod"/>
                </a:pPr>
                <a:endParaRPr lang="en-US" sz="2400" dirty="0"/>
              </a:p>
              <a:p>
                <a:pPr marL="914400" indent="-457200">
                  <a:buFont typeface="+mj-lt"/>
                  <a:buAutoNum type="alphaLcPeriod"/>
                </a:pPr>
                <a:r>
                  <a:rPr lang="en-US" sz="2400" dirty="0"/>
                  <a:t> </a:t>
                </a:r>
                <a14:m>
                  <m:oMath xmlns:m="http://schemas.openxmlformats.org/officeDocument/2006/math">
                    <m:r>
                      <a:rPr lang="en-US" sz="2400" i="1">
                        <a:latin typeface="Cambria Math" panose="02040503050406030204" pitchFamily="18" charset="0"/>
                        <a:ea typeface="Cambria Math" panose="02040503050406030204" pitchFamily="18" charset="0"/>
                      </a:rPr>
                      <m:t>6.7−</m:t>
                    </m:r>
                    <m:sSup>
                      <m:sSupPr>
                        <m:ctrlPr>
                          <a:rPr lang="en-US" sz="2400" i="1">
                            <a:latin typeface="Cambria Math" panose="02040503050406030204" pitchFamily="18" charset="0"/>
                            <a:ea typeface="Cambria Math" panose="02040503050406030204" pitchFamily="18" charset="0"/>
                          </a:rPr>
                        </m:ctrlPr>
                      </m:sSupPr>
                      <m:e>
                        <m:d>
                          <m:dPr>
                            <m:ctrlPr>
                              <a:rPr lang="en-US" sz="2400" i="1">
                                <a:latin typeface="Cambria Math" panose="02040503050406030204" pitchFamily="18" charset="0"/>
                                <a:ea typeface="Cambria Math" panose="02040503050406030204" pitchFamily="18" charset="0"/>
                              </a:rPr>
                            </m:ctrlPr>
                          </m:dPr>
                          <m:e>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2</m:t>
                                </m:r>
                              </m:e>
                              <m:sup>
                                <m:r>
                                  <a:rPr lang="en-US" sz="2400" i="1">
                                    <a:latin typeface="Cambria Math" panose="02040503050406030204" pitchFamily="18" charset="0"/>
                                    <a:ea typeface="Cambria Math" panose="02040503050406030204" pitchFamily="18" charset="0"/>
                                  </a:rPr>
                                  <m:t>3</m:t>
                                </m:r>
                              </m:sup>
                            </m:sSup>
                            <m:r>
                              <a:rPr lang="en-US" sz="2400" i="1">
                                <a:latin typeface="Cambria Math" panose="02040503050406030204" pitchFamily="18" charset="0"/>
                                <a:ea typeface="Cambria Math" panose="02040503050406030204" pitchFamily="18" charset="0"/>
                              </a:rPr>
                              <m:t>−3</m:t>
                            </m:r>
                          </m:e>
                        </m:d>
                      </m:e>
                      <m:sup>
                        <m:r>
                          <a:rPr lang="en-US" sz="2400" i="1">
                            <a:latin typeface="Cambria Math" panose="02040503050406030204" pitchFamily="18" charset="0"/>
                            <a:ea typeface="Cambria Math" panose="02040503050406030204" pitchFamily="18" charset="0"/>
                          </a:rPr>
                          <m:t>3</m:t>
                        </m:r>
                      </m:sup>
                    </m:sSup>
                    <m:r>
                      <a:rPr lang="en-US" sz="2400" i="1">
                        <a:latin typeface="Cambria Math" panose="02040503050406030204" pitchFamily="18" charset="0"/>
                        <a:ea typeface="Cambria Math" panose="02040503050406030204" pitchFamily="18" charset="0"/>
                      </a:rPr>
                      <m:t>÷10+4</m:t>
                    </m:r>
                  </m:oMath>
                </a14:m>
                <a:endParaRPr lang="en-US" sz="2400" i="1" dirty="0">
                  <a:latin typeface="Cambria Math" panose="02040503050406030204" pitchFamily="18" charset="0"/>
                  <a:ea typeface="Cambria Math" panose="02040503050406030204" pitchFamily="18" charset="0"/>
                </a:endParaRPr>
              </a:p>
            </p:txBody>
          </p:sp>
        </mc:Choice>
        <mc:Fallback xmlns="">
          <p:sp>
            <p:nvSpPr>
              <p:cNvPr id="5" name="TextBox 4">
                <a:extLst>
                  <a:ext uri="{FF2B5EF4-FFF2-40B4-BE49-F238E27FC236}">
                    <a16:creationId xmlns:a16="http://schemas.microsoft.com/office/drawing/2014/main" xmlns:a14="http://schemas.microsoft.com/office/drawing/2010/main" xmlns="" id="{22347CCE-34A7-8044-BA67-B5895157AE55}"/>
                  </a:ext>
                </a:extLst>
              </p:cNvPr>
              <p:cNvSpPr txBox="1">
                <a:spLocks noRot="1" noChangeAspect="1" noMove="1" noResize="1" noEditPoints="1" noAdjustHandles="1" noChangeArrowheads="1" noChangeShapeType="1" noTextEdit="1"/>
              </p:cNvSpPr>
              <p:nvPr/>
            </p:nvSpPr>
            <p:spPr>
              <a:xfrm>
                <a:off x="723331" y="349706"/>
                <a:ext cx="10745338" cy="4626779"/>
              </a:xfrm>
              <a:prstGeom prst="rect">
                <a:avLst/>
              </a:prstGeom>
              <a:blipFill rotWithShape="0">
                <a:blip r:embed="rId3"/>
                <a:stretch>
                  <a:fillRect l="-795" t="-922" b="-1713"/>
                </a:stretch>
              </a:blipFill>
            </p:spPr>
            <p:txBody>
              <a:bodyPr/>
              <a:lstStyle/>
              <a:p>
                <a:r>
                  <a:rPr lang="en-US">
                    <a:noFill/>
                  </a:rPr>
                  <a:t> </a:t>
                </a:r>
              </a:p>
            </p:txBody>
          </p:sp>
        </mc:Fallback>
      </mc:AlternateContent>
      <p:sp>
        <p:nvSpPr>
          <p:cNvPr id="7" name="Google Shape;282;g104476d1465_1_17"/>
          <p:cNvSpPr txBox="1"/>
          <p:nvPr/>
        </p:nvSpPr>
        <p:spPr>
          <a:xfrm>
            <a:off x="865223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208</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045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614666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pic>
        <p:nvPicPr>
          <p:cNvPr id="5122" name="Picture 2" descr="Icon&#10;&#10;Description automatically generated">
            <a:extLst>
              <a:ext uri="{FF2B5EF4-FFF2-40B4-BE49-F238E27FC236}">
                <a16:creationId xmlns:a16="http://schemas.microsoft.com/office/drawing/2014/main" id="{217F3A92-AA2C-4D41-A73D-4DC6608D6820}"/>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20890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65223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045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82970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22274" y="60593"/>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11.9.5 Activity: Class Debate</a:t>
            </a:r>
          </a:p>
        </p:txBody>
      </p:sp>
      <p:pic>
        <p:nvPicPr>
          <p:cNvPr id="9" name="Picture 2" descr="Icon&#10;&#10;Description automatically generated">
            <a:extLst>
              <a:ext uri="{FF2B5EF4-FFF2-40B4-BE49-F238E27FC236}">
                <a16:creationId xmlns:a16="http://schemas.microsoft.com/office/drawing/2014/main" id="{37999C4E-6AE0-FA43-BC73-665C08EC572F}"/>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72466" y="348539"/>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3547ABD-563B-A148-B65C-C7679A7B43D4}"/>
                  </a:ext>
                </a:extLst>
              </p:cNvPr>
              <p:cNvSpPr txBox="1"/>
              <p:nvPr/>
            </p:nvSpPr>
            <p:spPr>
              <a:xfrm>
                <a:off x="1528549" y="1386026"/>
                <a:ext cx="9390934" cy="769441"/>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James wants to choose an expression that has a value of </a:t>
                </a:r>
                <a14:m>
                  <m:oMath xmlns:m="http://schemas.openxmlformats.org/officeDocument/2006/math">
                    <m:r>
                      <a:rPr lang="en-US" sz="2200" i="1">
                        <a:latin typeface="Cambria Math" panose="02040503050406030204" pitchFamily="18" charset="0"/>
                        <a:ea typeface="Cambria Math" panose="02040503050406030204" pitchFamily="18" charset="0"/>
                      </a:rPr>
                      <m:t>−</m:t>
                    </m:r>
                    <m:r>
                      <a:rPr lang="en-US" sz="2200">
                        <a:latin typeface="Cambria Math" panose="02040503050406030204" pitchFamily="18" charset="0"/>
                        <a:ea typeface="Cambria Math" panose="02040503050406030204" pitchFamily="18" charset="0"/>
                      </a:rPr>
                      <m:t>778</m:t>
                    </m:r>
                  </m:oMath>
                </a14:m>
                <a:r>
                  <a:rPr lang="en-US" sz="2200" dirty="0">
                    <a:latin typeface="Verdana" panose="020B0604030504040204" pitchFamily="34" charset="0"/>
                    <a:ea typeface="Verdana" panose="020B0604030504040204" pitchFamily="34" charset="0"/>
                    <a:cs typeface="Verdana" panose="020B0604030504040204" pitchFamily="34" charset="0"/>
                  </a:rPr>
                  <a:t>. He can choose between the expressions shown.</a:t>
                </a:r>
              </a:p>
            </p:txBody>
          </p:sp>
        </mc:Choice>
        <mc:Fallback xmlns="">
          <p:sp>
            <p:nvSpPr>
              <p:cNvPr id="10" name="TextBox 9">
                <a:extLst>
                  <a:ext uri="{FF2B5EF4-FFF2-40B4-BE49-F238E27FC236}">
                    <a16:creationId xmlns:a16="http://schemas.microsoft.com/office/drawing/2014/main" xmlns:a14="http://schemas.microsoft.com/office/drawing/2010/main" xmlns="" id="{A3547ABD-563B-A148-B65C-C7679A7B43D4}"/>
                  </a:ext>
                </a:extLst>
              </p:cNvPr>
              <p:cNvSpPr txBox="1">
                <a:spLocks noRot="1" noChangeAspect="1" noMove="1" noResize="1" noEditPoints="1" noAdjustHandles="1" noChangeArrowheads="1" noChangeShapeType="1" noTextEdit="1"/>
              </p:cNvSpPr>
              <p:nvPr/>
            </p:nvSpPr>
            <p:spPr>
              <a:xfrm>
                <a:off x="1528549" y="1386026"/>
                <a:ext cx="9390934" cy="769441"/>
              </a:xfrm>
              <a:prstGeom prst="rect">
                <a:avLst/>
              </a:prstGeom>
              <a:blipFill rotWithShape="0">
                <a:blip r:embed="rId4"/>
                <a:stretch>
                  <a:fillRect l="-844" t="-4724" b="-157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462804203"/>
                  </p:ext>
                </p:extLst>
              </p:nvPr>
            </p:nvGraphicFramePr>
            <p:xfrm>
              <a:off x="2735980" y="2404841"/>
              <a:ext cx="6511814" cy="2152650"/>
            </p:xfrm>
            <a:graphic>
              <a:graphicData uri="http://schemas.openxmlformats.org/drawingml/2006/table">
                <a:tbl>
                  <a:tblPr firstRow="1" firstCol="1" bandRow="1">
                    <a:tableStyleId>{5940675A-B579-460E-94D1-54222C63F5DA}</a:tableStyleId>
                  </a:tblPr>
                  <a:tblGrid>
                    <a:gridCol w="3255907">
                      <a:extLst>
                        <a:ext uri="{9D8B030D-6E8A-4147-A177-3AD203B41FA5}">
                          <a16:colId xmlns:a16="http://schemas.microsoft.com/office/drawing/2014/main" val="20000"/>
                        </a:ext>
                      </a:extLst>
                    </a:gridCol>
                    <a:gridCol w="3255907">
                      <a:extLst>
                        <a:ext uri="{9D8B030D-6E8A-4147-A177-3AD203B41FA5}">
                          <a16:colId xmlns:a16="http://schemas.microsoft.com/office/drawing/2014/main" val="20001"/>
                        </a:ext>
                      </a:extLst>
                    </a:gridCol>
                  </a:tblGrid>
                  <a:tr h="951230">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Expression A</a:t>
                          </a:r>
                        </a:p>
                        <a:p>
                          <a:pPr marL="0" marR="0" algn="ctr">
                            <a:lnSpc>
                              <a:spcPct val="107000"/>
                            </a:lnSpc>
                            <a:spcBef>
                              <a:spcPts val="0"/>
                            </a:spcBef>
                            <a:spcAft>
                              <a:spcPts val="0"/>
                            </a:spcAft>
                          </a:pPr>
                          <a:r>
                            <a:rPr lang="en-US" sz="22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200">
                                    <a:effectLst/>
                                    <a:latin typeface="Cambria Math" panose="02040503050406030204" pitchFamily="18" charset="0"/>
                                    <a:ea typeface="Cambria Math" panose="02040503050406030204" pitchFamily="18" charset="0"/>
                                  </a:rPr>
                                  <m:t>14−</m:t>
                                </m:r>
                                <m:sSup>
                                  <m:sSupPr>
                                    <m:ctrlPr>
                                      <a:rPr lang="en-US" sz="2200" i="1">
                                        <a:effectLst/>
                                        <a:latin typeface="Cambria Math" panose="02040503050406030204" pitchFamily="18" charset="0"/>
                                        <a:ea typeface="Cambria Math" panose="02040503050406030204" pitchFamily="18" charset="0"/>
                                      </a:rPr>
                                    </m:ctrlPr>
                                  </m:sSupPr>
                                  <m:e>
                                    <m:d>
                                      <m:dPr>
                                        <m:ctrlPr>
                                          <a:rPr lang="en-US" sz="2200" i="1">
                                            <a:effectLst/>
                                            <a:latin typeface="Cambria Math" panose="02040503050406030204" pitchFamily="18" charset="0"/>
                                            <a:ea typeface="Cambria Math" panose="02040503050406030204" pitchFamily="18" charset="0"/>
                                          </a:rPr>
                                        </m:ctrlPr>
                                      </m:dPr>
                                      <m:e>
                                        <m:r>
                                          <a:rPr lang="en-US" sz="2200">
                                            <a:effectLst/>
                                            <a:latin typeface="Cambria Math" panose="02040503050406030204" pitchFamily="18" charset="0"/>
                                            <a:ea typeface="Cambria Math" panose="02040503050406030204" pitchFamily="18" charset="0"/>
                                          </a:rPr>
                                          <m:t>10×</m:t>
                                        </m:r>
                                        <m:sSup>
                                          <m:sSupPr>
                                            <m:ctrlPr>
                                              <a:rPr lang="en-US" sz="2200" i="1">
                                                <a:effectLst/>
                                                <a:latin typeface="Cambria Math" panose="02040503050406030204" pitchFamily="18" charset="0"/>
                                                <a:ea typeface="Cambria Math" panose="02040503050406030204" pitchFamily="18" charset="0"/>
                                              </a:rPr>
                                            </m:ctrlPr>
                                          </m:sSupPr>
                                          <m:e>
                                            <m:r>
                                              <a:rPr lang="en-US" sz="2200">
                                                <a:effectLst/>
                                                <a:latin typeface="Cambria Math" panose="02040503050406030204" pitchFamily="18" charset="0"/>
                                                <a:ea typeface="Cambria Math" panose="02040503050406030204" pitchFamily="18" charset="0"/>
                                              </a:rPr>
                                              <m:t>3</m:t>
                                            </m:r>
                                          </m:e>
                                          <m:sup>
                                            <m:r>
                                              <a:rPr lang="en-US" sz="2200">
                                                <a:effectLst/>
                                                <a:latin typeface="Cambria Math" panose="02040503050406030204" pitchFamily="18" charset="0"/>
                                                <a:ea typeface="Cambria Math" panose="02040503050406030204" pitchFamily="18" charset="0"/>
                                              </a:rPr>
                                              <m:t>2</m:t>
                                            </m:r>
                                          </m:sup>
                                        </m:sSup>
                                      </m:e>
                                    </m:d>
                                  </m:e>
                                  <m:sup>
                                    <m:r>
                                      <a:rPr lang="en-US" sz="2200">
                                        <a:effectLst/>
                                        <a:latin typeface="Cambria Math" panose="02040503050406030204" pitchFamily="18" charset="0"/>
                                        <a:ea typeface="Cambria Math" panose="02040503050406030204" pitchFamily="18" charset="0"/>
                                      </a:rPr>
                                      <m:t>2</m:t>
                                    </m:r>
                                  </m:sup>
                                </m:sSup>
                                <m:r>
                                  <a:rPr lang="en-US" sz="2200">
                                    <a:effectLst/>
                                    <a:latin typeface="Cambria Math" panose="02040503050406030204" pitchFamily="18" charset="0"/>
                                    <a:ea typeface="Cambria Math" panose="02040503050406030204" pitchFamily="18" charset="0"/>
                                  </a:rPr>
                                  <m:t>+6×3</m:t>
                                </m:r>
                              </m:oMath>
                            </m:oMathPara>
                          </a14:m>
                          <a:endParaRPr lang="en-US" sz="22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Expression B</a:t>
                          </a:r>
                        </a:p>
                        <a:p>
                          <a:pPr marL="0" marR="0" algn="ctr">
                            <a:lnSpc>
                              <a:spcPct val="107000"/>
                            </a:lnSpc>
                            <a:spcBef>
                              <a:spcPts val="0"/>
                            </a:spcBef>
                            <a:spcAft>
                              <a:spcPts val="0"/>
                            </a:spcAft>
                          </a:pPr>
                          <a:r>
                            <a:rPr lang="en-US" sz="22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200">
                                    <a:effectLst/>
                                    <a:latin typeface="Cambria Math" panose="02040503050406030204" pitchFamily="18" charset="0"/>
                                    <a:ea typeface="Cambria Math" panose="02040503050406030204" pitchFamily="18" charset="0"/>
                                  </a:rPr>
                                  <m:t>14−10×</m:t>
                                </m:r>
                                <m:sSup>
                                  <m:sSupPr>
                                    <m:ctrlPr>
                                      <a:rPr lang="en-US" sz="2200" i="1">
                                        <a:effectLst/>
                                        <a:latin typeface="Cambria Math" panose="02040503050406030204" pitchFamily="18" charset="0"/>
                                        <a:ea typeface="Cambria Math" panose="02040503050406030204" pitchFamily="18" charset="0"/>
                                      </a:rPr>
                                    </m:ctrlPr>
                                  </m:sSupPr>
                                  <m:e>
                                    <m:d>
                                      <m:dPr>
                                        <m:ctrlPr>
                                          <a:rPr lang="en-US" sz="2200" i="1">
                                            <a:effectLst/>
                                            <a:latin typeface="Cambria Math" panose="02040503050406030204" pitchFamily="18" charset="0"/>
                                            <a:ea typeface="Cambria Math" panose="02040503050406030204" pitchFamily="18" charset="0"/>
                                          </a:rPr>
                                        </m:ctrlPr>
                                      </m:dPr>
                                      <m:e>
                                        <m:sSup>
                                          <m:sSupPr>
                                            <m:ctrlPr>
                                              <a:rPr lang="en-US" sz="2200" i="1">
                                                <a:effectLst/>
                                                <a:latin typeface="Cambria Math" panose="02040503050406030204" pitchFamily="18" charset="0"/>
                                                <a:ea typeface="Cambria Math" panose="02040503050406030204" pitchFamily="18" charset="0"/>
                                              </a:rPr>
                                            </m:ctrlPr>
                                          </m:sSupPr>
                                          <m:e>
                                            <m:r>
                                              <a:rPr lang="en-US" sz="2200">
                                                <a:effectLst/>
                                                <a:latin typeface="Cambria Math" panose="02040503050406030204" pitchFamily="18" charset="0"/>
                                                <a:ea typeface="Cambria Math" panose="02040503050406030204" pitchFamily="18" charset="0"/>
                                              </a:rPr>
                                              <m:t>3</m:t>
                                            </m:r>
                                          </m:e>
                                          <m:sup>
                                            <m:r>
                                              <a:rPr lang="en-US" sz="2200">
                                                <a:effectLst/>
                                                <a:latin typeface="Cambria Math" panose="02040503050406030204" pitchFamily="18" charset="0"/>
                                                <a:ea typeface="Cambria Math" panose="02040503050406030204" pitchFamily="18" charset="0"/>
                                              </a:rPr>
                                              <m:t>2</m:t>
                                            </m:r>
                                          </m:sup>
                                        </m:sSup>
                                      </m:e>
                                    </m:d>
                                  </m:e>
                                  <m:sup>
                                    <m:r>
                                      <a:rPr lang="en-US" sz="2200">
                                        <a:effectLst/>
                                        <a:latin typeface="Cambria Math" panose="02040503050406030204" pitchFamily="18" charset="0"/>
                                        <a:ea typeface="Cambria Math" panose="02040503050406030204" pitchFamily="18" charset="0"/>
                                      </a:rPr>
                                      <m:t>2</m:t>
                                    </m:r>
                                  </m:sup>
                                </m:sSup>
                                <m:r>
                                  <a:rPr lang="en-US" sz="2200">
                                    <a:effectLst/>
                                    <a:latin typeface="Cambria Math" panose="02040503050406030204" pitchFamily="18" charset="0"/>
                                    <a:ea typeface="Cambria Math" panose="02040503050406030204" pitchFamily="18" charset="0"/>
                                  </a:rPr>
                                  <m:t>+6×3</m:t>
                                </m:r>
                              </m:oMath>
                            </m:oMathPara>
                          </a14:m>
                          <a:endParaRPr lang="en-US" sz="22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val="10000"/>
                      </a:ext>
                    </a:extLst>
                  </a:tr>
                  <a:tr h="931545">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Expression C</a:t>
                          </a:r>
                        </a:p>
                        <a:p>
                          <a:pPr marL="0" marR="0" algn="ctr">
                            <a:lnSpc>
                              <a:spcPct val="107000"/>
                            </a:lnSpc>
                            <a:spcBef>
                              <a:spcPts val="0"/>
                            </a:spcBef>
                            <a:spcAft>
                              <a:spcPts val="0"/>
                            </a:spcAft>
                          </a:pPr>
                          <a:r>
                            <a:rPr lang="en-US" sz="22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200" i="1">
                                        <a:effectLst/>
                                        <a:latin typeface="Cambria Math" panose="02040503050406030204" pitchFamily="18" charset="0"/>
                                        <a:ea typeface="Cambria Math" panose="02040503050406030204" pitchFamily="18" charset="0"/>
                                      </a:rPr>
                                    </m:ctrlPr>
                                  </m:dPr>
                                  <m:e>
                                    <m:r>
                                      <a:rPr lang="en-US" sz="2200">
                                        <a:effectLst/>
                                        <a:latin typeface="Cambria Math" panose="02040503050406030204" pitchFamily="18" charset="0"/>
                                        <a:ea typeface="Cambria Math" panose="02040503050406030204" pitchFamily="18" charset="0"/>
                                      </a:rPr>
                                      <m:t>14−10</m:t>
                                    </m:r>
                                  </m:e>
                                </m:d>
                                <m:r>
                                  <a:rPr lang="en-US" sz="2200">
                                    <a:effectLst/>
                                    <a:latin typeface="Cambria Math" panose="02040503050406030204" pitchFamily="18" charset="0"/>
                                    <a:ea typeface="Cambria Math" panose="02040503050406030204" pitchFamily="18" charset="0"/>
                                  </a:rPr>
                                  <m:t>×</m:t>
                                </m:r>
                                <m:sSup>
                                  <m:sSupPr>
                                    <m:ctrlPr>
                                      <a:rPr lang="en-US" sz="2200" i="1">
                                        <a:effectLst/>
                                        <a:latin typeface="Cambria Math" panose="02040503050406030204" pitchFamily="18" charset="0"/>
                                        <a:ea typeface="Cambria Math" panose="02040503050406030204" pitchFamily="18" charset="0"/>
                                      </a:rPr>
                                    </m:ctrlPr>
                                  </m:sSupPr>
                                  <m:e>
                                    <m:d>
                                      <m:dPr>
                                        <m:ctrlPr>
                                          <a:rPr lang="en-US" sz="2200" i="1">
                                            <a:effectLst/>
                                            <a:latin typeface="Cambria Math" panose="02040503050406030204" pitchFamily="18" charset="0"/>
                                            <a:ea typeface="Cambria Math" panose="02040503050406030204" pitchFamily="18" charset="0"/>
                                          </a:rPr>
                                        </m:ctrlPr>
                                      </m:dPr>
                                      <m:e>
                                        <m:sSup>
                                          <m:sSupPr>
                                            <m:ctrlPr>
                                              <a:rPr lang="en-US" sz="2200" i="1">
                                                <a:effectLst/>
                                                <a:latin typeface="Cambria Math" panose="02040503050406030204" pitchFamily="18" charset="0"/>
                                                <a:ea typeface="Cambria Math" panose="02040503050406030204" pitchFamily="18" charset="0"/>
                                              </a:rPr>
                                            </m:ctrlPr>
                                          </m:sSupPr>
                                          <m:e>
                                            <m:r>
                                              <a:rPr lang="en-US" sz="2200">
                                                <a:effectLst/>
                                                <a:latin typeface="Cambria Math" panose="02040503050406030204" pitchFamily="18" charset="0"/>
                                                <a:ea typeface="Cambria Math" panose="02040503050406030204" pitchFamily="18" charset="0"/>
                                              </a:rPr>
                                              <m:t>3</m:t>
                                            </m:r>
                                          </m:e>
                                          <m:sup>
                                            <m:r>
                                              <a:rPr lang="en-US" sz="2200">
                                                <a:effectLst/>
                                                <a:latin typeface="Cambria Math" panose="02040503050406030204" pitchFamily="18" charset="0"/>
                                                <a:ea typeface="Cambria Math" panose="02040503050406030204" pitchFamily="18" charset="0"/>
                                              </a:rPr>
                                              <m:t>2</m:t>
                                            </m:r>
                                          </m:sup>
                                        </m:sSup>
                                        <m:r>
                                          <a:rPr lang="en-US" sz="2200">
                                            <a:effectLst/>
                                            <a:latin typeface="Cambria Math" panose="02040503050406030204" pitchFamily="18" charset="0"/>
                                            <a:ea typeface="Cambria Math" panose="02040503050406030204" pitchFamily="18" charset="0"/>
                                          </a:rPr>
                                          <m:t>+6</m:t>
                                        </m:r>
                                      </m:e>
                                    </m:d>
                                  </m:e>
                                  <m:sup>
                                    <m:r>
                                      <a:rPr lang="en-US" sz="2200">
                                        <a:effectLst/>
                                        <a:latin typeface="Cambria Math" panose="02040503050406030204" pitchFamily="18" charset="0"/>
                                        <a:ea typeface="Cambria Math" panose="02040503050406030204" pitchFamily="18" charset="0"/>
                                      </a:rPr>
                                      <m:t>2</m:t>
                                    </m:r>
                                  </m:sup>
                                </m:sSup>
                                <m:r>
                                  <a:rPr lang="en-US" sz="2200">
                                    <a:effectLst/>
                                    <a:latin typeface="Cambria Math" panose="02040503050406030204" pitchFamily="18" charset="0"/>
                                    <a:ea typeface="Cambria Math" panose="02040503050406030204" pitchFamily="18" charset="0"/>
                                  </a:rPr>
                                  <m:t>×3</m:t>
                                </m:r>
                              </m:oMath>
                            </m:oMathPara>
                          </a14:m>
                          <a:endParaRPr lang="en-US" sz="22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Expression D</a:t>
                          </a:r>
                        </a:p>
                        <a:p>
                          <a:pPr marL="0" marR="0" algn="ctr">
                            <a:lnSpc>
                              <a:spcPct val="107000"/>
                            </a:lnSpc>
                            <a:spcBef>
                              <a:spcPts val="0"/>
                            </a:spcBef>
                            <a:spcAft>
                              <a:spcPts val="0"/>
                            </a:spcAft>
                          </a:pPr>
                          <a:r>
                            <a:rPr lang="en-US" sz="22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200">
                                    <a:effectLst/>
                                    <a:latin typeface="Cambria Math" panose="02040503050406030204" pitchFamily="18" charset="0"/>
                                    <a:ea typeface="Cambria Math" panose="02040503050406030204" pitchFamily="18" charset="0"/>
                                  </a:rPr>
                                  <m:t>14−</m:t>
                                </m:r>
                                <m:d>
                                  <m:dPr>
                                    <m:begChr m:val="["/>
                                    <m:endChr m:val="]"/>
                                    <m:ctrlPr>
                                      <a:rPr lang="en-US" sz="2200" i="1">
                                        <a:effectLst/>
                                        <a:latin typeface="Cambria Math" panose="02040503050406030204" pitchFamily="18" charset="0"/>
                                        <a:ea typeface="Cambria Math" panose="02040503050406030204" pitchFamily="18" charset="0"/>
                                      </a:rPr>
                                    </m:ctrlPr>
                                  </m:dPr>
                                  <m:e>
                                    <m:r>
                                      <a:rPr lang="en-US" sz="2200">
                                        <a:effectLst/>
                                        <a:latin typeface="Cambria Math" panose="02040503050406030204" pitchFamily="18" charset="0"/>
                                        <a:ea typeface="Cambria Math" panose="02040503050406030204" pitchFamily="18" charset="0"/>
                                      </a:rPr>
                                      <m:t>10×</m:t>
                                    </m:r>
                                    <m:sSup>
                                      <m:sSupPr>
                                        <m:ctrlPr>
                                          <a:rPr lang="en-US" sz="2200" i="1">
                                            <a:effectLst/>
                                            <a:latin typeface="Cambria Math" panose="02040503050406030204" pitchFamily="18" charset="0"/>
                                            <a:ea typeface="Cambria Math" panose="02040503050406030204" pitchFamily="18" charset="0"/>
                                          </a:rPr>
                                        </m:ctrlPr>
                                      </m:sSupPr>
                                      <m:e>
                                        <m:d>
                                          <m:dPr>
                                            <m:ctrlPr>
                                              <a:rPr lang="en-US" sz="2200" i="1">
                                                <a:effectLst/>
                                                <a:latin typeface="Cambria Math" panose="02040503050406030204" pitchFamily="18" charset="0"/>
                                                <a:ea typeface="Cambria Math" panose="02040503050406030204" pitchFamily="18" charset="0"/>
                                              </a:rPr>
                                            </m:ctrlPr>
                                          </m:dPr>
                                          <m:e>
                                            <m:sSup>
                                              <m:sSupPr>
                                                <m:ctrlPr>
                                                  <a:rPr lang="en-US" sz="2200" i="1">
                                                    <a:effectLst/>
                                                    <a:latin typeface="Cambria Math" panose="02040503050406030204" pitchFamily="18" charset="0"/>
                                                    <a:ea typeface="Cambria Math" panose="02040503050406030204" pitchFamily="18" charset="0"/>
                                                  </a:rPr>
                                                </m:ctrlPr>
                                              </m:sSupPr>
                                              <m:e>
                                                <m:r>
                                                  <a:rPr lang="en-US" sz="2200">
                                                    <a:effectLst/>
                                                    <a:latin typeface="Cambria Math" panose="02040503050406030204" pitchFamily="18" charset="0"/>
                                                    <a:ea typeface="Cambria Math" panose="02040503050406030204" pitchFamily="18" charset="0"/>
                                                  </a:rPr>
                                                  <m:t>3</m:t>
                                                </m:r>
                                              </m:e>
                                              <m:sup>
                                                <m:r>
                                                  <a:rPr lang="en-US" sz="2200">
                                                    <a:effectLst/>
                                                    <a:latin typeface="Cambria Math" panose="02040503050406030204" pitchFamily="18" charset="0"/>
                                                    <a:ea typeface="Cambria Math" panose="02040503050406030204" pitchFamily="18" charset="0"/>
                                                  </a:rPr>
                                                  <m:t>2</m:t>
                                                </m:r>
                                              </m:sup>
                                            </m:sSup>
                                          </m:e>
                                        </m:d>
                                      </m:e>
                                      <m:sup>
                                        <m:r>
                                          <a:rPr lang="en-US" sz="2200">
                                            <a:effectLst/>
                                            <a:latin typeface="Cambria Math" panose="02040503050406030204" pitchFamily="18" charset="0"/>
                                            <a:ea typeface="Cambria Math" panose="02040503050406030204" pitchFamily="18" charset="0"/>
                                          </a:rPr>
                                          <m:t>2</m:t>
                                        </m:r>
                                      </m:sup>
                                    </m:sSup>
                                  </m:e>
                                </m:d>
                                <m:r>
                                  <a:rPr lang="en-US" sz="2200">
                                    <a:effectLst/>
                                    <a:latin typeface="Cambria Math" panose="02040503050406030204" pitchFamily="18" charset="0"/>
                                    <a:ea typeface="Cambria Math" panose="02040503050406030204" pitchFamily="18" charset="0"/>
                                  </a:rPr>
                                  <m:t>+6×3</m:t>
                                </m:r>
                              </m:oMath>
                            </m:oMathPara>
                          </a14:m>
                          <a:endParaRPr lang="en-US" sz="22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462804203"/>
                  </p:ext>
                </p:extLst>
              </p:nvPr>
            </p:nvGraphicFramePr>
            <p:xfrm>
              <a:off x="1211980" y="2404841"/>
              <a:ext cx="6511814" cy="2152650"/>
            </p:xfrm>
            <a:graphic>
              <a:graphicData uri="http://schemas.openxmlformats.org/drawingml/2006/table">
                <a:tbl>
                  <a:tblPr firstRow="1" firstCol="1" bandRow="1">
                    <a:tableStyleId>{5940675A-B579-460E-94D1-54222C63F5DA}</a:tableStyleId>
                  </a:tblPr>
                  <a:tblGrid>
                    <a:gridCol w="3255907"/>
                    <a:gridCol w="3255907"/>
                  </a:tblGrid>
                  <a:tr h="1076325">
                    <a:tc>
                      <a:txBody>
                        <a:bodyPr/>
                        <a:lstStyle/>
                        <a:p>
                          <a:endParaRPr lang="en-US"/>
                        </a:p>
                      </a:txBody>
                      <a:tcPr marL="68580" marR="68580" marT="0" marB="0" anchor="ctr">
                        <a:blipFill rotWithShape="0">
                          <a:blip r:embed="rId6"/>
                          <a:stretch>
                            <a:fillRect l="-187" t="-8475" r="-100374" b="-101130"/>
                          </a:stretch>
                        </a:blipFill>
                      </a:tcPr>
                    </a:tc>
                    <a:tc>
                      <a:txBody>
                        <a:bodyPr/>
                        <a:lstStyle/>
                        <a:p>
                          <a:endParaRPr lang="en-US"/>
                        </a:p>
                      </a:txBody>
                      <a:tcPr marL="68580" marR="68580" marT="0" marB="0" anchor="ctr">
                        <a:blipFill rotWithShape="0">
                          <a:blip r:embed="rId6"/>
                          <a:stretch>
                            <a:fillRect l="-100187" t="-8475" r="-374" b="-101130"/>
                          </a:stretch>
                        </a:blipFill>
                      </a:tcPr>
                    </a:tc>
                  </a:tr>
                  <a:tr h="1076325">
                    <a:tc>
                      <a:txBody>
                        <a:bodyPr/>
                        <a:lstStyle/>
                        <a:p>
                          <a:endParaRPr lang="en-US"/>
                        </a:p>
                      </a:txBody>
                      <a:tcPr marL="68580" marR="68580" marT="0" marB="0" anchor="ctr">
                        <a:blipFill rotWithShape="0">
                          <a:blip r:embed="rId6"/>
                          <a:stretch>
                            <a:fillRect l="-187" t="-108475" r="-100374" b="-1130"/>
                          </a:stretch>
                        </a:blipFill>
                      </a:tcPr>
                    </a:tc>
                    <a:tc>
                      <a:txBody>
                        <a:bodyPr/>
                        <a:lstStyle/>
                        <a:p>
                          <a:endParaRPr lang="en-US"/>
                        </a:p>
                      </a:txBody>
                      <a:tcPr marL="68580" marR="68580" marT="0" marB="0" anchor="ctr">
                        <a:blipFill rotWithShape="0">
                          <a:blip r:embed="rId6"/>
                          <a:stretch>
                            <a:fillRect l="-100187" t="-108475" r="-374" b="-1130"/>
                          </a:stretch>
                        </a:blipFill>
                      </a:tcPr>
                    </a:tc>
                  </a:tr>
                </a:tbl>
              </a:graphicData>
            </a:graphic>
          </p:graphicFrame>
        </mc:Fallback>
      </mc:AlternateContent>
      <p:sp>
        <p:nvSpPr>
          <p:cNvPr id="12" name="Google Shape;282;g104476d1465_1_17"/>
          <p:cNvSpPr txBox="1"/>
          <p:nvPr/>
        </p:nvSpPr>
        <p:spPr>
          <a:xfrm>
            <a:off x="865223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209</a:t>
            </a:r>
            <a:endParaRPr i="1" dirty="0">
              <a:latin typeface="Calibri"/>
              <a:ea typeface="Calibri"/>
              <a:cs typeface="Calibri"/>
              <a:sym typeface="Calibri"/>
            </a:endParaRPr>
          </a:p>
        </p:txBody>
      </p:sp>
      <p:pic>
        <p:nvPicPr>
          <p:cNvPr id="13"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39045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41777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B6C08EE3-8247-C14E-9600-35165D5C8679}"/>
              </a:ext>
            </a:extLst>
          </p:cNvPr>
          <p:cNvSpPr txBox="1"/>
          <p:nvPr/>
        </p:nvSpPr>
        <p:spPr>
          <a:xfrm>
            <a:off x="1214651" y="171263"/>
            <a:ext cx="9762698" cy="5632311"/>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Which expression should James choose? _________</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Each corner of the room is labeled A, B, C, or D. After selecting the expression that you think James should choose, go to the corner of the room that matches the label for that expression.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65137"/>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With your classmates who selected the same expression, discuss why your expression is the expression that James should choose. Discuss why James should not choose the other expressions. One member of your group will act as a representative during a class debate.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Arial" panose="020B0604020202020204" pitchFamily="34" charset="0"/>
              <a:buChar char="•"/>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For the debate, prepare an opening statement and potential rebuttals for arguments from other groups. Keep arguments and rebuttals centered on the mathematics.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Arial" panose="020B0604020202020204" pitchFamily="34" charset="0"/>
              <a:buChar char="•"/>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After the debate, explain whether you would select the same expression again.</a:t>
            </a:r>
          </a:p>
        </p:txBody>
      </p:sp>
      <p:sp>
        <p:nvSpPr>
          <p:cNvPr id="7" name="Google Shape;282;g104476d1465_1_17"/>
          <p:cNvSpPr txBox="1"/>
          <p:nvPr/>
        </p:nvSpPr>
        <p:spPr>
          <a:xfrm>
            <a:off x="865223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209</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9045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707188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5223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209</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045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64603" y="-62163"/>
            <a:ext cx="982162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11.9.6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35153" y="176269"/>
            <a:ext cx="747300" cy="747300"/>
          </a:xfrm>
          <a:prstGeom prst="rect">
            <a:avLst/>
          </a:prstGeom>
          <a:noFill/>
          <a:ln>
            <a:noFill/>
          </a:ln>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70EDB7-6994-3D43-ABF9-E04CBAFB9CD9}"/>
                  </a:ext>
                </a:extLst>
              </p:cNvPr>
              <p:cNvSpPr txBox="1"/>
              <p:nvPr/>
            </p:nvSpPr>
            <p:spPr>
              <a:xfrm>
                <a:off x="1464603" y="1386025"/>
                <a:ext cx="9518826" cy="1783950"/>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Evaluate each expression without a calculator. Show each step you use. </a:t>
                </a:r>
                <a:endParaRPr lang="en-US" sz="2200" i="1" dirty="0">
                  <a:latin typeface="Verdana" panose="020B0604030504040204" pitchFamily="34" charset="0"/>
                  <a:ea typeface="Verdana" panose="020B0604030504040204" pitchFamily="34" charset="0"/>
                  <a:cs typeface="Verdana" panose="020B0604030504040204" pitchFamily="34" charset="0"/>
                </a:endParaRPr>
              </a:p>
              <a:p>
                <a:r>
                  <a:rPr lang="en-US" sz="2400" dirty="0"/>
                  <a:t> </a:t>
                </a:r>
                <a:endParaRPr lang="en-US" sz="2400" i="1" dirty="0"/>
              </a:p>
              <a:p>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a:latin typeface="Cambria Math" panose="02040503050406030204" pitchFamily="18" charset="0"/>
                              <a:ea typeface="Cambria Math" panose="02040503050406030204" pitchFamily="18" charset="0"/>
                            </a:rPr>
                            <m:t>5</m:t>
                          </m:r>
                          <m:r>
                            <a:rPr lang="en-US" sz="2200" i="1">
                              <a:latin typeface="Cambria Math" panose="02040503050406030204" pitchFamily="18" charset="0"/>
                              <a:ea typeface="Cambria Math" panose="02040503050406030204" pitchFamily="18" charset="0"/>
                            </a:rPr>
                            <m:t>−</m:t>
                          </m:r>
                          <m:f>
                            <m:fPr>
                              <m:ctrlPr>
                                <a:rPr lang="en-US" sz="2200" i="1">
                                  <a:latin typeface="Cambria Math" panose="02040503050406030204" pitchFamily="18" charset="0"/>
                                  <a:ea typeface="Cambria Math" panose="02040503050406030204" pitchFamily="18" charset="0"/>
                                </a:rPr>
                              </m:ctrlPr>
                            </m:fPr>
                            <m:num>
                              <m:r>
                                <a:rPr lang="en-US" sz="2200">
                                  <a:latin typeface="Cambria Math" panose="02040503050406030204" pitchFamily="18" charset="0"/>
                                  <a:ea typeface="Cambria Math" panose="02040503050406030204" pitchFamily="18" charset="0"/>
                                </a:rPr>
                                <m:t>3</m:t>
                              </m:r>
                            </m:num>
                            <m:den>
                              <m:r>
                                <a:rPr lang="en-US" sz="2200">
                                  <a:latin typeface="Cambria Math" panose="02040503050406030204" pitchFamily="18" charset="0"/>
                                  <a:ea typeface="Cambria Math" panose="02040503050406030204" pitchFamily="18" charset="0"/>
                                </a:rPr>
                                <m:t>5</m:t>
                              </m:r>
                            </m:den>
                          </m:f>
                        </m:e>
                      </m:d>
                      <m:r>
                        <a:rPr lang="en-US" sz="2200">
                          <a:latin typeface="Cambria Math" panose="02040503050406030204" pitchFamily="18" charset="0"/>
                          <a:ea typeface="Cambria Math" panose="02040503050406030204" pitchFamily="18" charset="0"/>
                        </a:rPr>
                        <m:t>+</m:t>
                      </m:r>
                      <m:f>
                        <m:fPr>
                          <m:ctrlPr>
                            <a:rPr lang="en-US" sz="2200" i="1">
                              <a:latin typeface="Cambria Math" panose="02040503050406030204" pitchFamily="18" charset="0"/>
                              <a:ea typeface="Cambria Math" panose="02040503050406030204" pitchFamily="18" charset="0"/>
                            </a:rPr>
                          </m:ctrlPr>
                        </m:fPr>
                        <m:num>
                          <m:r>
                            <a:rPr lang="en-US" sz="2200">
                              <a:latin typeface="Cambria Math" panose="02040503050406030204" pitchFamily="18" charset="0"/>
                              <a:ea typeface="Cambria Math" panose="02040503050406030204" pitchFamily="18" charset="0"/>
                            </a:rPr>
                            <m:t>4</m:t>
                          </m:r>
                        </m:num>
                        <m:den>
                          <m:r>
                            <a:rPr lang="en-US" sz="2200">
                              <a:latin typeface="Cambria Math" panose="02040503050406030204" pitchFamily="18" charset="0"/>
                              <a:ea typeface="Cambria Math" panose="02040503050406030204" pitchFamily="18" charset="0"/>
                            </a:rPr>
                            <m:t>15</m:t>
                          </m:r>
                        </m:den>
                      </m:f>
                      <m:d>
                        <m:dPr>
                          <m:ctrlPr>
                            <a:rPr lang="en-US" sz="2200" i="1">
                              <a:latin typeface="Cambria Math" panose="02040503050406030204" pitchFamily="18" charset="0"/>
                              <a:ea typeface="Cambria Math" panose="02040503050406030204" pitchFamily="18" charset="0"/>
                            </a:rPr>
                          </m:ctrlPr>
                        </m:dPr>
                        <m:e>
                          <m:sSup>
                            <m:sSupPr>
                              <m:ctrlPr>
                                <a:rPr lang="en-US" sz="2200" i="1">
                                  <a:latin typeface="Cambria Math" panose="02040503050406030204" pitchFamily="18" charset="0"/>
                                  <a:ea typeface="Cambria Math" panose="02040503050406030204" pitchFamily="18" charset="0"/>
                                </a:rPr>
                              </m:ctrlPr>
                            </m:sSupPr>
                            <m:e>
                              <m:r>
                                <a:rPr lang="en-US" sz="2200">
                                  <a:latin typeface="Cambria Math" panose="02040503050406030204" pitchFamily="18" charset="0"/>
                                  <a:ea typeface="Cambria Math" panose="02040503050406030204" pitchFamily="18" charset="0"/>
                                </a:rPr>
                                <m:t>4</m:t>
                              </m:r>
                            </m:e>
                            <m:sup>
                              <m:r>
                                <a:rPr lang="en-US" sz="2200">
                                  <a:latin typeface="Cambria Math" panose="02040503050406030204" pitchFamily="18" charset="0"/>
                                  <a:ea typeface="Cambria Math" panose="02040503050406030204" pitchFamily="18" charset="0"/>
                                </a:rPr>
                                <m:t>2</m:t>
                              </m:r>
                            </m:sup>
                          </m:sSup>
                          <m:r>
                            <a:rPr lang="en-US" sz="2200" i="1">
                              <a:latin typeface="Cambria Math" panose="02040503050406030204" pitchFamily="18" charset="0"/>
                              <a:ea typeface="Cambria Math" panose="02040503050406030204" pitchFamily="18" charset="0"/>
                            </a:rPr>
                            <m:t>−</m:t>
                          </m:r>
                          <m:r>
                            <a:rPr lang="en-US" sz="2200">
                              <a:latin typeface="Cambria Math" panose="02040503050406030204" pitchFamily="18" charset="0"/>
                              <a:ea typeface="Cambria Math" panose="02040503050406030204" pitchFamily="18" charset="0"/>
                            </a:rPr>
                            <m:t>61</m:t>
                          </m:r>
                        </m:e>
                      </m:d>
                    </m:oMath>
                  </m:oMathPara>
                </a14:m>
                <a:endParaRPr lang="en-US" sz="2200" dirty="0">
                  <a:latin typeface="Cambria Math" panose="02040503050406030204" pitchFamily="18" charset="0"/>
                  <a:ea typeface="Cambria Math" panose="02040503050406030204" pitchFamily="18" charset="0"/>
                  <a:cs typeface="Verdana" panose="020B0604030504040204" pitchFamily="34" charset="0"/>
                </a:endParaRPr>
              </a:p>
            </p:txBody>
          </p:sp>
        </mc:Choice>
        <mc:Fallback xmlns="">
          <p:sp>
            <p:nvSpPr>
              <p:cNvPr id="12" name="TextBox 11">
                <a:extLst>
                  <a:ext uri="{FF2B5EF4-FFF2-40B4-BE49-F238E27FC236}">
                    <a16:creationId xmlns:a16="http://schemas.microsoft.com/office/drawing/2014/main" xmlns:a14="http://schemas.microsoft.com/office/drawing/2010/main" xmlns="" id="{0370EDB7-6994-3D43-ABF9-E04CBAFB9CD9}"/>
                  </a:ext>
                </a:extLst>
              </p:cNvPr>
              <p:cNvSpPr txBox="1">
                <a:spLocks noRot="1" noChangeAspect="1" noMove="1" noResize="1" noEditPoints="1" noAdjustHandles="1" noChangeArrowheads="1" noChangeShapeType="1" noTextEdit="1"/>
              </p:cNvSpPr>
              <p:nvPr/>
            </p:nvSpPr>
            <p:spPr>
              <a:xfrm>
                <a:off x="1464603" y="1386025"/>
                <a:ext cx="9518826" cy="1783950"/>
              </a:xfrm>
              <a:prstGeom prst="rect">
                <a:avLst/>
              </a:prstGeom>
              <a:blipFill rotWithShape="0">
                <a:blip r:embed="rId4"/>
                <a:stretch>
                  <a:fillRect l="-832" t="-2389" r="-1536"/>
                </a:stretch>
              </a:blipFill>
            </p:spPr>
            <p:txBody>
              <a:bodyPr/>
              <a:lstStyle/>
              <a:p>
                <a:r>
                  <a:rPr lang="en-US">
                    <a:noFill/>
                  </a:rPr>
                  <a:t> </a:t>
                </a:r>
              </a:p>
            </p:txBody>
          </p:sp>
        </mc:Fallback>
      </mc:AlternateContent>
      <p:graphicFrame>
        <p:nvGraphicFramePr>
          <p:cNvPr id="3" name="Table 2"/>
          <p:cNvGraphicFramePr>
            <a:graphicFrameLocks noGrp="1"/>
          </p:cNvGraphicFramePr>
          <p:nvPr>
            <p:extLst>
              <p:ext uri="{D42A27DB-BD31-4B8C-83A1-F6EECF244321}">
                <p14:modId xmlns:p14="http://schemas.microsoft.com/office/powerpoint/2010/main" val="278520983"/>
              </p:ext>
            </p:extLst>
          </p:nvPr>
        </p:nvGraphicFramePr>
        <p:xfrm>
          <a:off x="3118367" y="3424826"/>
          <a:ext cx="5842635" cy="2887729"/>
        </p:xfrm>
        <a:graphic>
          <a:graphicData uri="http://schemas.openxmlformats.org/drawingml/2006/table">
            <a:tbl>
              <a:tblPr firstRow="1" firstCol="1" bandRow="1">
                <a:tableStyleId>{5940675A-B579-460E-94D1-54222C63F5DA}</a:tableStyleId>
              </a:tblPr>
              <a:tblGrid>
                <a:gridCol w="5842635">
                  <a:extLst>
                    <a:ext uri="{9D8B030D-6E8A-4147-A177-3AD203B41FA5}">
                      <a16:colId xmlns:a16="http://schemas.microsoft.com/office/drawing/2014/main" val="20000"/>
                    </a:ext>
                  </a:extLst>
                </a:gridCol>
              </a:tblGrid>
              <a:tr h="2887729">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Work</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val="10000"/>
                  </a:ext>
                </a:extLst>
              </a:tr>
            </a:tbl>
          </a:graphicData>
        </a:graphic>
      </p:graphicFrame>
      <p:sp>
        <p:nvSpPr>
          <p:cNvPr id="11" name="Google Shape;282;g104476d1465_1_17"/>
          <p:cNvSpPr txBox="1"/>
          <p:nvPr/>
        </p:nvSpPr>
        <p:spPr>
          <a:xfrm>
            <a:off x="865223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209</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9045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CE9D117-FAE6-F74F-940B-9CD1479755BE}"/>
                  </a:ext>
                </a:extLst>
              </p:cNvPr>
              <p:cNvSpPr txBox="1"/>
              <p:nvPr/>
            </p:nvSpPr>
            <p:spPr>
              <a:xfrm>
                <a:off x="1932432" y="505983"/>
                <a:ext cx="8327136" cy="7694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200" i="1">
                              <a:latin typeface="Cambria Math" panose="02040503050406030204" pitchFamily="18" charset="0"/>
                              <a:ea typeface="Cambria Math" panose="02040503050406030204" pitchFamily="18" charset="0"/>
                            </a:rPr>
                          </m:ctrlPr>
                        </m:fPr>
                        <m:num>
                          <m:sSup>
                            <m:sSupPr>
                              <m:ctrlPr>
                                <a:rPr lang="en-US" sz="2200" i="1">
                                  <a:latin typeface="Cambria Math" panose="02040503050406030204" pitchFamily="18" charset="0"/>
                                  <a:ea typeface="Cambria Math" panose="02040503050406030204" pitchFamily="18" charset="0"/>
                                </a:rPr>
                              </m:ctrlPr>
                            </m:sSupPr>
                            <m:e>
                              <m:d>
                                <m:dPr>
                                  <m:ctrlPr>
                                    <a:rPr lang="en-US" sz="2200" i="1">
                                      <a:latin typeface="Cambria Math" panose="02040503050406030204" pitchFamily="18" charset="0"/>
                                      <a:ea typeface="Cambria Math" panose="02040503050406030204" pitchFamily="18" charset="0"/>
                                    </a:rPr>
                                  </m:ctrlPr>
                                </m:dPr>
                                <m:e>
                                  <m:r>
                                    <a:rPr lang="en-US" sz="2200">
                                      <a:latin typeface="Cambria Math" panose="02040503050406030204" pitchFamily="18" charset="0"/>
                                      <a:ea typeface="Cambria Math" panose="02040503050406030204" pitchFamily="18" charset="0"/>
                                    </a:rPr>
                                    <m:t>1.5+</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r>
                                        <a:rPr lang="en-US" sz="2200">
                                          <a:latin typeface="Cambria Math" panose="02040503050406030204" pitchFamily="18" charset="0"/>
                                          <a:ea typeface="Cambria Math" panose="02040503050406030204" pitchFamily="18" charset="0"/>
                                        </a:rPr>
                                        <m:t>3.25</m:t>
                                      </m:r>
                                      <m:r>
                                        <a:rPr lang="en-US" sz="2200" i="1">
                                          <a:latin typeface="Cambria Math" panose="02040503050406030204" pitchFamily="18" charset="0"/>
                                          <a:ea typeface="Cambria Math" panose="02040503050406030204" pitchFamily="18" charset="0"/>
                                        </a:rPr>
                                        <m:t>−</m:t>
                                      </m:r>
                                      <m:r>
                                        <a:rPr lang="en-US" sz="2200">
                                          <a:latin typeface="Cambria Math" panose="02040503050406030204" pitchFamily="18" charset="0"/>
                                          <a:ea typeface="Cambria Math" panose="02040503050406030204" pitchFamily="18" charset="0"/>
                                        </a:rPr>
                                        <m:t>4.25</m:t>
                                      </m:r>
                                    </m:e>
                                  </m:d>
                                </m:e>
                              </m:d>
                            </m:e>
                            <m:sup>
                              <m:r>
                                <a:rPr lang="en-US" sz="2200">
                                  <a:latin typeface="Cambria Math" panose="02040503050406030204" pitchFamily="18" charset="0"/>
                                  <a:ea typeface="Cambria Math" panose="02040503050406030204" pitchFamily="18" charset="0"/>
                                </a:rPr>
                                <m:t>3</m:t>
                              </m:r>
                            </m:sup>
                          </m:sSup>
                        </m:num>
                        <m:den>
                          <m:r>
                            <a:rPr lang="en-US" sz="2200">
                              <a:latin typeface="Cambria Math" panose="02040503050406030204" pitchFamily="18" charset="0"/>
                              <a:ea typeface="Cambria Math" panose="02040503050406030204" pitchFamily="18" charset="0"/>
                            </a:rPr>
                            <m:t>12</m:t>
                          </m:r>
                        </m:den>
                      </m:f>
                    </m:oMath>
                  </m:oMathPara>
                </a14:m>
                <a:endParaRPr lang="en-US" sz="2200" dirty="0">
                  <a:latin typeface="Cambria Math" panose="02040503050406030204" pitchFamily="18" charset="0"/>
                  <a:ea typeface="Cambria Math" panose="02040503050406030204" pitchFamily="18"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 id="{4CE9D117-FAE6-F74F-940B-9CD1479755BE}"/>
                  </a:ext>
                </a:extLst>
              </p:cNvPr>
              <p:cNvSpPr txBox="1">
                <a:spLocks noRot="1" noChangeAspect="1" noMove="1" noResize="1" noEditPoints="1" noAdjustHandles="1" noChangeArrowheads="1" noChangeShapeType="1" noTextEdit="1"/>
              </p:cNvSpPr>
              <p:nvPr/>
            </p:nvSpPr>
            <p:spPr>
              <a:xfrm>
                <a:off x="408432" y="505982"/>
                <a:ext cx="8327136" cy="769441"/>
              </a:xfrm>
              <a:prstGeom prst="rect">
                <a:avLst/>
              </a:prstGeom>
              <a:blipFill rotWithShape="0">
                <a:blip r:embed="rId4"/>
                <a:stretch>
                  <a:fillRect/>
                </a:stretch>
              </a:blipFill>
            </p:spPr>
            <p:txBody>
              <a:bodyPr/>
              <a:lstStyle/>
              <a:p>
                <a:r>
                  <a:rPr lang="en-US">
                    <a:noFill/>
                  </a:rPr>
                  <a:t> </a:t>
                </a:r>
              </a:p>
            </p:txBody>
          </p:sp>
        </mc:Fallback>
      </mc:AlternateContent>
      <p:graphicFrame>
        <p:nvGraphicFramePr>
          <p:cNvPr id="6" name="Table 5"/>
          <p:cNvGraphicFramePr>
            <a:graphicFrameLocks noGrp="1"/>
          </p:cNvGraphicFramePr>
          <p:nvPr>
            <p:extLst>
              <p:ext uri="{D42A27DB-BD31-4B8C-83A1-F6EECF244321}">
                <p14:modId xmlns:p14="http://schemas.microsoft.com/office/powerpoint/2010/main" val="1022367260"/>
              </p:ext>
            </p:extLst>
          </p:nvPr>
        </p:nvGraphicFramePr>
        <p:xfrm>
          <a:off x="2705198" y="1596032"/>
          <a:ext cx="6781605" cy="3474738"/>
        </p:xfrm>
        <a:graphic>
          <a:graphicData uri="http://schemas.openxmlformats.org/drawingml/2006/table">
            <a:tbl>
              <a:tblPr firstRow="1" firstCol="1" bandRow="1">
                <a:tableStyleId>{5940675A-B579-460E-94D1-54222C63F5DA}</a:tableStyleId>
              </a:tblPr>
              <a:tblGrid>
                <a:gridCol w="6781605">
                  <a:extLst>
                    <a:ext uri="{9D8B030D-6E8A-4147-A177-3AD203B41FA5}">
                      <a16:colId xmlns:a16="http://schemas.microsoft.com/office/drawing/2014/main" val="20000"/>
                    </a:ext>
                  </a:extLst>
                </a:gridCol>
              </a:tblGrid>
              <a:tr h="3474738">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Work</a:t>
                      </a:r>
                      <a:endParaRPr lang="en-US" sz="22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val="10000"/>
                  </a:ext>
                </a:extLst>
              </a:tr>
            </a:tbl>
          </a:graphicData>
        </a:graphic>
      </p:graphicFrame>
      <p:sp>
        <p:nvSpPr>
          <p:cNvPr id="8" name="Google Shape;278;g104476d1465_1_17">
            <a:extLst>
              <a:ext uri="{FF2B5EF4-FFF2-40B4-BE49-F238E27FC236}">
                <a16:creationId xmlns:a16="http://schemas.microsoft.com/office/drawing/2014/main" id="{356773A9-6681-534E-83A5-B8E75D28E3CC}"/>
              </a:ext>
            </a:extLst>
          </p:cNvPr>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65223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209</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9045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D5A1EC4-DC68-490F-AD31-CAC59DC83714}">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2.xml><?xml version="1.0" encoding="utf-8"?>
<ds:datastoreItem xmlns:ds="http://schemas.openxmlformats.org/officeDocument/2006/customXml" ds:itemID="{30F20270-6E20-4EA8-9093-F14C19CB64E3}">
  <ds:schemaRefs>
    <ds:schemaRef ds:uri="http://schemas.microsoft.com/sharepoint/v3/contenttype/forms"/>
  </ds:schemaRefs>
</ds:datastoreItem>
</file>

<file path=customXml/itemProps3.xml><?xml version="1.0" encoding="utf-8"?>
<ds:datastoreItem xmlns:ds="http://schemas.openxmlformats.org/officeDocument/2006/customXml" ds:itemID="{894CF4AC-1C19-4FD4-BA9D-20766D0CC9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1315</TotalTime>
  <Words>1063</Words>
  <Application>Microsoft Office PowerPoint</Application>
  <PresentationFormat>Widescreen</PresentationFormat>
  <Paragraphs>244</Paragraphs>
  <Slides>22</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Arial Black</vt:lpstr>
      <vt:lpstr>Calibri</vt:lpstr>
      <vt:lpstr>Cambria Math</vt:lpstr>
      <vt:lpstr>Century Gothic</vt:lpstr>
      <vt:lpstr>Verdana</vt:lpstr>
      <vt:lpstr>1_Office Theme</vt:lpstr>
      <vt:lpstr>6th Grade Accelerated Math  Unit 11, Lesson 9  Evaluating Numeric Expressions – Part 2  Volume 2, pg. 205  </vt:lpstr>
      <vt:lpstr>Benchmarks</vt:lpstr>
      <vt:lpstr>PowerPoint Presentation</vt:lpstr>
      <vt:lpstr>PowerPoint Presentation</vt:lpstr>
      <vt:lpstr>Warm-Up</vt:lpstr>
      <vt:lpstr>PowerPoint Presentation</vt:lpstr>
      <vt:lpstr>Guided Instruction</vt:lpstr>
      <vt:lpstr>PowerPoint Presentation</vt:lpstr>
      <vt:lpstr>PowerPoint Presentation</vt:lpstr>
      <vt:lpstr>Activity</vt:lpstr>
      <vt:lpstr>PowerPoint Presentation</vt:lpstr>
      <vt:lpstr>PowerPoint Presentation</vt:lpstr>
      <vt:lpstr>PowerPoint Presentation</vt:lpstr>
      <vt:lpstr>Try It</vt:lpstr>
      <vt:lpstr>PowerPoint Presentation</vt:lpstr>
      <vt:lpstr>PowerPoint Presentation</vt:lpstr>
      <vt:lpstr>Activity</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vaanmx</cp:lastModifiedBy>
  <cp:revision>26</cp:revision>
  <dcterms:created xsi:type="dcterms:W3CDTF">2015-03-17T18:51:18Z</dcterms:created>
  <dcterms:modified xsi:type="dcterms:W3CDTF">2023-07-06T10:19:08Z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