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326" r:id="rId8"/>
    <p:sldId id="327" r:id="rId9"/>
    <p:sldId id="288" r:id="rId10"/>
    <p:sldId id="328" r:id="rId11"/>
    <p:sldId id="314" r:id="rId12"/>
    <p:sldId id="315" r:id="rId13"/>
    <p:sldId id="316" r:id="rId14"/>
    <p:sldId id="329" r:id="rId15"/>
    <p:sldId id="323" r:id="rId16"/>
    <p:sldId id="324" r:id="rId17"/>
    <p:sldId id="330" r:id="rId18"/>
    <p:sldId id="302" r:id="rId19"/>
    <p:sldId id="303" r:id="rId20"/>
    <p:sldId id="306" r:id="rId21"/>
    <p:sldId id="307" r:id="rId22"/>
    <p:sldId id="310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05" autoAdjust="0"/>
    <p:restoredTop sz="94695"/>
  </p:normalViewPr>
  <p:slideViewPr>
    <p:cSldViewPr snapToGrid="0">
      <p:cViewPr varScale="1">
        <p:scale>
          <a:sx n="79" d="100"/>
          <a:sy n="79" d="100"/>
        </p:scale>
        <p:origin x="48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86516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1420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1652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2380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0617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342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80585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Dividing Rational Numbers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180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736905" y="7622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405" y="31200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547446" y="1600200"/>
            <a:ext cx="909710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MA.7.NSO.2.2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Add, subtract, multiply, and divide rational numbers with procedural fluency.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567" y="3863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80217" y="14373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80217" y="1596390"/>
            <a:ext cx="981932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81769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469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12605" y="1600200"/>
            <a:ext cx="87667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ct val="125000"/>
              <a:buFont typeface="Verdana"/>
              <a:buChar char="❏"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fluently divide rational numbers.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619518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11.4.1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218" y="19748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663837" y="1386026"/>
                <a:ext cx="9120358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if you would rather have a stack of quarters that stands from the floor to the top of your head, 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$225.00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 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you would change your mind if the quarters were stacked to the top of your desk.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837" y="1386026"/>
                <a:ext cx="9120358" cy="2800767"/>
              </a:xfrm>
              <a:prstGeom prst="rect">
                <a:avLst/>
              </a:prstGeom>
              <a:blipFill rotWithShape="0">
                <a:blip r:embed="rId4"/>
                <a:stretch>
                  <a:fillRect l="-936" t="-1522" b="-3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92434" y="279196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62761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11.4.2 Refresher: Dividing Positive Rational Numbers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3132" y="21479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C51FF2-AD43-3B4B-B9DE-330920D33388}"/>
              </a:ext>
            </a:extLst>
          </p:cNvPr>
          <p:cNvSpPr txBox="1"/>
          <p:nvPr/>
        </p:nvSpPr>
        <p:spPr>
          <a:xfrm>
            <a:off x="1462761" y="1386025"/>
            <a:ext cx="952251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Ren found the following quotient, making at least one error in her work. 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error(s) in Ren’s work and write an explanation of the error(s). Then, find the correct quotient. 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07765" y="4956924"/>
            <a:ext cx="8327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advice do you have for Ren that could help her with dividing decimals in the future?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2680295"/>
                  </p:ext>
                </p:extLst>
              </p:nvPr>
            </p:nvGraphicFramePr>
            <p:xfrm>
              <a:off x="2007765" y="345428"/>
              <a:ext cx="8245086" cy="410408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7678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001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7707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65482">
                    <a:tc>
                      <a:txBody>
                        <a:bodyPr/>
                        <a:lstStyle/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Ren’s Work</a:t>
                          </a:r>
                        </a:p>
                      </a:txBody>
                      <a:tcPr marL="62928" marR="62928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</a:p>
                      </a:txBody>
                      <a:tcPr marL="62928" marR="62928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 Quotient</a:t>
                          </a:r>
                        </a:p>
                      </a:txBody>
                      <a:tcPr marL="62928" marR="62928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6691">
                    <a:tc>
                      <a:txBody>
                        <a:bodyPr/>
                        <a:lstStyle/>
                        <a:p>
                          <a:pPr marL="0" marR="0" indent="1206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</a:rPr>
                            <a:t> </a:t>
                          </a:r>
                          <a:endParaRPr lang="en-US" sz="1000" dirty="0">
                            <a:effectLst/>
                          </a:endParaRPr>
                        </a:p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12.636÷3.12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                . 0 4 0 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 . 1 2 )1 2 . 6 3 6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:pPr marL="0" marR="0" indent="1206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 −1 2  4 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indent="1206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                 1 5 6 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             −      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                       0 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2928" marR="62928" marT="0" marB="0"/>
                    </a:tc>
                    <a:tc>
                      <a:txBody>
                        <a:bodyPr/>
                        <a:lstStyle/>
                        <a:p>
                          <a:pPr marL="0" marR="0" indent="1206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</a:rPr>
                            <a:t> </a:t>
                          </a:r>
                          <a:endParaRPr lang="en-US" sz="1000">
                            <a:effectLst/>
                            <a:latin typeface="Calibri" panose="020F0502020204030204" pitchFamily="34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2928" marR="62928" marT="0" marB="0"/>
                    </a:tc>
                    <a:tc>
                      <a:txBody>
                        <a:bodyPr/>
                        <a:lstStyle/>
                        <a:p>
                          <a:pPr marL="0" marR="0" indent="1206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</a:rPr>
                            <a:t> </a:t>
                          </a:r>
                          <a:endParaRPr lang="en-US" sz="1000" dirty="0">
                            <a:effectLst/>
                            <a:latin typeface="Calibri" panose="020F0502020204030204" pitchFamily="34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2928" marR="62928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2680295"/>
                  </p:ext>
                </p:extLst>
              </p:nvPr>
            </p:nvGraphicFramePr>
            <p:xfrm>
              <a:off x="483765" y="345427"/>
              <a:ext cx="8245086" cy="410408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767845"/>
                    <a:gridCol w="2700168"/>
                    <a:gridCol w="2777073"/>
                  </a:tblGrid>
                  <a:tr h="565482">
                    <a:tc>
                      <a:txBody>
                        <a:bodyPr/>
                        <a:lstStyle/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Ren’s Work</a:t>
                          </a:r>
                        </a:p>
                      </a:txBody>
                      <a:tcPr marL="62928" marR="62928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</a:p>
                      </a:txBody>
                      <a:tcPr marL="62928" marR="62928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206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 Quotient</a:t>
                          </a:r>
                        </a:p>
                      </a:txBody>
                      <a:tcPr marL="62928" marR="62928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35386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928" marR="62928" marT="0" marB="0">
                        <a:blipFill rotWithShape="0">
                          <a:blip r:embed="rId4"/>
                          <a:stretch>
                            <a:fillRect l="-220" t="-16179" r="-198458" b="-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206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>
                              <a:effectLst/>
                            </a:rPr>
                            <a:t> </a:t>
                          </a:r>
                          <a:endParaRPr lang="en-US" sz="1000">
                            <a:effectLst/>
                            <a:latin typeface="Calibri" panose="020F0502020204030204" pitchFamily="34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2928" marR="62928" marT="0" marB="0"/>
                    </a:tc>
                    <a:tc>
                      <a:txBody>
                        <a:bodyPr/>
                        <a:lstStyle/>
                        <a:p>
                          <a:pPr marL="0" marR="0" indent="1206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</a:rPr>
                            <a:t> </a:t>
                          </a:r>
                          <a:endParaRPr lang="en-US" sz="1000" dirty="0">
                            <a:effectLst/>
                            <a:latin typeface="Calibri" panose="020F0502020204030204" pitchFamily="34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2928" marR="62928" marT="0" marB="0"/>
                    </a:tc>
                  </a:tr>
                </a:tbl>
              </a:graphicData>
            </a:graphic>
          </p:graphicFrame>
        </mc:Fallback>
      </mc:AlternateContent>
      <p:cxnSp>
        <p:nvCxnSpPr>
          <p:cNvPr id="7" name="Straight Connector 6"/>
          <p:cNvCxnSpPr/>
          <p:nvPr/>
        </p:nvCxnSpPr>
        <p:spPr>
          <a:xfrm>
            <a:off x="3207175" y="2833999"/>
            <a:ext cx="1295400" cy="31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207175" y="3446051"/>
            <a:ext cx="1295400" cy="31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07175" y="4054928"/>
            <a:ext cx="1295400" cy="31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202642" y="3142251"/>
            <a:ext cx="0" cy="2825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EAAB6-B932-C047-9261-EF734547974E}"/>
              </a:ext>
            </a:extLst>
          </p:cNvPr>
          <p:cNvSpPr txBox="1"/>
          <p:nvPr/>
        </p:nvSpPr>
        <p:spPr>
          <a:xfrm>
            <a:off x="1434905" y="253524"/>
            <a:ext cx="93221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Trevor found the following quotient, making at least one error in his work. Circle the error(s) in Trevor’s work. Write an explanation of the error(s). Then, find the correct quotient.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721028"/>
                  </p:ext>
                </p:extLst>
              </p:nvPr>
            </p:nvGraphicFramePr>
            <p:xfrm>
              <a:off x="2162150" y="1744724"/>
              <a:ext cx="7786601" cy="472504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919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611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3352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870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Trevor’s Work</a:t>
                          </a:r>
                        </a:p>
                      </a:txBody>
                      <a:tcPr marL="56231" marR="5623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</a:p>
                      </a:txBody>
                      <a:tcPr marL="56231" marR="5623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 Quotient</a:t>
                          </a:r>
                        </a:p>
                      </a:txBody>
                      <a:tcPr marL="56231" marR="5623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8324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38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38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19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(38÷19)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effectLst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libri" panose="020F0502020204030204" pitchFamily="34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56231" marR="56231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effectLst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libri" panose="020F0502020204030204" pitchFamily="34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56231" marR="56231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effectLst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libri" panose="020F0502020204030204" pitchFamily="34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56231" marR="56231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721028"/>
                  </p:ext>
                </p:extLst>
              </p:nvPr>
            </p:nvGraphicFramePr>
            <p:xfrm>
              <a:off x="638149" y="1744723"/>
              <a:ext cx="7786601" cy="472504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91929"/>
                    <a:gridCol w="2661144"/>
                    <a:gridCol w="2533528"/>
                  </a:tblGrid>
                  <a:tr h="48870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Trevor’s Work</a:t>
                          </a:r>
                        </a:p>
                      </a:txBody>
                      <a:tcPr marL="56231" marR="5623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</a:p>
                      </a:txBody>
                      <a:tcPr marL="56231" marR="5623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 Quotient</a:t>
                          </a:r>
                        </a:p>
                      </a:txBody>
                      <a:tcPr marL="56231" marR="5623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42363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31" marR="56231" marT="0" marB="0" anchor="ctr">
                        <a:blipFill rotWithShape="0">
                          <a:blip r:embed="rId4"/>
                          <a:stretch>
                            <a:fillRect l="-235" t="-11638" r="-200704" b="-2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effectLst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libri" panose="020F0502020204030204" pitchFamily="34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56231" marR="56231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effectLst/>
                            </a:rPr>
                            <a:t> </a:t>
                          </a:r>
                          <a:endParaRPr lang="en-US" sz="900" dirty="0">
                            <a:effectLst/>
                            <a:latin typeface="Calibri" panose="020F0502020204030204" pitchFamily="34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56231" marR="56231" marT="0" marB="0"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2717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674321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11.4.3 Collaboration: Signed Number Rules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4513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195754" y="1386025"/>
            <a:ext cx="100565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in the blanks with the words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positive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or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write the rules for dividing integers. 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quotient of two positive integers is a ________ integer. </a:t>
            </a:r>
          </a:p>
          <a:p>
            <a:pPr marL="4572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quotient of two negative integers is a ________ integer. 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quotient of a negative integer divided by a positive integer is a ________ integer.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quotient of a positive integer divided by a negative integer is a ________ integer.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1097280" y="241334"/>
            <a:ext cx="1014810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whether you think the same rules apply to rational numbers. Write a summary of your reasoning.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 Use a calculator to find the quotient of each expression to verify if the same rules for signs apply when dividing rational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763190"/>
                  </p:ext>
                </p:extLst>
              </p:nvPr>
            </p:nvGraphicFramePr>
            <p:xfrm>
              <a:off x="2024171" y="3077331"/>
              <a:ext cx="7695035" cy="339834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060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546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6573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853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23955"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Sign of Quotient Using the Rules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Did the Same Rule Apply?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7327"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9602"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18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den>
                                    </m:f>
                                  </m:e>
                                </m:sPre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149"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43.008÷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4.096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149"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525.6)</m:t>
                                    </m:r>
                                  </m:e>
                                </m:sPre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÷(−0.36)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763190"/>
                  </p:ext>
                </p:extLst>
              </p:nvPr>
            </p:nvGraphicFramePr>
            <p:xfrm>
              <a:off x="500170" y="3077331"/>
              <a:ext cx="7695035" cy="342723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06081"/>
                    <a:gridCol w="1654687"/>
                    <a:gridCol w="1965734"/>
                    <a:gridCol w="1268533"/>
                  </a:tblGrid>
                  <a:tr h="1304544"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Sign of Quotient Using the Rules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Quotient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Did the Same Rule Apply?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732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4"/>
                          <a:stretch>
                            <a:fillRect l="-217" t="-190000" r="-17440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6596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4"/>
                          <a:stretch>
                            <a:fillRect l="-217" t="-319266" r="-174403" b="-120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3651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4"/>
                          <a:stretch>
                            <a:fillRect l="-217" t="-761667" r="-174403" b="-1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3651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4"/>
                          <a:stretch>
                            <a:fillRect l="-217" t="-861667" r="-174403" b="-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102235" marR="0" indent="-10223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2007765" y="410665"/>
            <a:ext cx="832713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sentence.</a:t>
            </a:r>
          </a:p>
          <a:p>
            <a:pPr marL="457200">
              <a:lnSpc>
                <a:spcPct val="25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rules for dividing rational numbers are				the integer rules for division.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0692" y="1685308"/>
            <a:ext cx="2187575" cy="899815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5697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42851" y="-3275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11.4.4 Guided Practice: Finding the Quotients of Rational Numbers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3043" y="13327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1266092" y="1386026"/>
            <a:ext cx="99158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expressions that will result in a positive quotient.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9975689"/>
                  </p:ext>
                </p:extLst>
              </p:nvPr>
            </p:nvGraphicFramePr>
            <p:xfrm>
              <a:off x="2370941" y="2260553"/>
              <a:ext cx="7241768" cy="232854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69284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226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2624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6870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2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9.655 ÷0.5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0.068 ÷ </m:t>
                                </m:r>
                                <m:sPre>
                                  <m:sPre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2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0.01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2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14.628</m:t>
                                    </m:r>
                                  </m:e>
                                </m:sPre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÷ </m:t>
                                </m:r>
                                <m:sPre>
                                  <m:sPre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2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4.6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59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÷ 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2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2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lang="en-US" sz="22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15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2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2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2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num>
                                      <m:den>
                                        <m:r>
                                          <a:rPr lang="en-US" sz="22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÷ 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2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2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2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2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2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2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÷ 2</m:t>
                                </m:r>
                                <m:f>
                                  <m:f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9975689"/>
                  </p:ext>
                </p:extLst>
              </p:nvPr>
            </p:nvGraphicFramePr>
            <p:xfrm>
              <a:off x="846941" y="2260552"/>
              <a:ext cx="7241768" cy="232854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692841"/>
                    <a:gridCol w="2422681"/>
                    <a:gridCol w="2126246"/>
                  </a:tblGrid>
                  <a:tr h="10687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r="-169005" b="-117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111055" r="-87688" b="-117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240688" b="-117614"/>
                          </a:stretch>
                        </a:blipFill>
                      </a:tcPr>
                    </a:tc>
                  </a:tr>
                  <a:tr h="1259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t="-85024" r="-1690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111055" t="-85024" r="-87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240688" t="-8502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1181686" y="410666"/>
                <a:ext cx="9979294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division sentence in the form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where the value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number </a:t>
                </a:r>
                <a:r>
                  <a:rPr lang="en-US" sz="22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between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15.1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16.2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number </a:t>
                </a:r>
                <a:r>
                  <a:rPr lang="en-US" sz="22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between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4.6</m:t>
                        </m:r>
                      </m:e>
                    </m:sPre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3.3</m:t>
                        </m:r>
                      </m:e>
                    </m:sPre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the quotient?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686" y="410666"/>
                <a:ext cx="9979294" cy="3139321"/>
              </a:xfrm>
              <a:prstGeom prst="rect">
                <a:avLst/>
              </a:prstGeom>
              <a:blipFill rotWithShape="0">
                <a:blip r:embed="rId3"/>
                <a:stretch>
                  <a:fillRect l="-855" t="-1359" b="-3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0905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3416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44105" y="115997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11.4.5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805" y="115997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1561514" y="1115093"/>
            <a:ext cx="93250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value of each expression.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0449220"/>
                  </p:ext>
                </p:extLst>
              </p:nvPr>
            </p:nvGraphicFramePr>
            <p:xfrm>
              <a:off x="2672872" y="2171426"/>
              <a:ext cx="7222148" cy="355347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6110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110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282384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−3</m:t>
                                  </m:r>
                                  <m:f>
                                    <m:fPr>
                                      <m:ctrlPr>
                                        <a:rPr lang="en-US" sz="22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9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d>
                                <m:d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  <m:f>
                                    <m:fPr>
                                      <m:ctrlPr>
                                        <a:rPr lang="en-US" sz="22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8290" marR="38290" marT="0" marB="0"/>
                    </a:tc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70.62÷</m:t>
                              </m:r>
                              <m:sPre>
                                <m:sPre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sz="2200" b="0" i="0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160.5</m:t>
                                  </m:r>
                                </m:e>
                              </m:sPre>
                            </m:oMath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8290" marR="3829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57394"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3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  <m:f>
                                    <m:fPr>
                                      <m:ctrlPr>
                                        <a:rPr lang="en-US" sz="22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7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d>
                                <m:d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−5</m:t>
                                  </m:r>
                                  <m:f>
                                    <m:fPr>
                                      <m:ctrlPr>
                                        <a:rPr lang="en-US" sz="22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8290" marR="38290" marT="0" marB="0"/>
                    </a:tc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4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Pre>
                                <m:sPre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sz="2200" b="0" i="0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44.64</m:t>
                                  </m:r>
                                </m:e>
                              </m:sPre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sPre>
                                <m:sPre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sz="2200" b="0" i="0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2.88</m:t>
                                  </m:r>
                                </m:e>
                              </m:sPre>
                            </m:oMath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8290" marR="3829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13692"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5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f>
                                <m:f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68580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8290" marR="38290" marT="0" marB="0"/>
                    </a:tc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6"/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−45.018÷(−7.32)</m:t>
                              </m:r>
                            </m:oMath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8290" marR="3829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0449220"/>
                  </p:ext>
                </p:extLst>
              </p:nvPr>
            </p:nvGraphicFramePr>
            <p:xfrm>
              <a:off x="1148872" y="2171426"/>
              <a:ext cx="7222148" cy="355347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611074"/>
                    <a:gridCol w="3611074"/>
                  </a:tblGrid>
                  <a:tr h="12823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290" marR="38290" marT="0" marB="0">
                        <a:blipFill rotWithShape="0">
                          <a:blip r:embed="rId5"/>
                          <a:stretch>
                            <a:fillRect t="-7583" r="-100000" b="-1767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290" marR="38290" marT="0" marB="0">
                        <a:blipFill rotWithShape="0">
                          <a:blip r:embed="rId5"/>
                          <a:stretch>
                            <a:fillRect l="-100000" t="-7583" b="-176777"/>
                          </a:stretch>
                        </a:blipFill>
                      </a:tcPr>
                    </a:tc>
                  </a:tr>
                  <a:tr h="12573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290" marR="38290" marT="0" marB="0">
                        <a:blipFill rotWithShape="0">
                          <a:blip r:embed="rId5"/>
                          <a:stretch>
                            <a:fillRect t="-110194" r="-100000" b="-810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290" marR="38290" marT="0" marB="0">
                        <a:blipFill rotWithShape="0">
                          <a:blip r:embed="rId5"/>
                          <a:stretch>
                            <a:fillRect l="-100000" t="-110194" b="-81068"/>
                          </a:stretch>
                        </a:blipFill>
                      </a:tcPr>
                    </a:tc>
                  </a:tr>
                  <a:tr h="10136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290" marR="38290" marT="0" marB="0">
                        <a:blipFill rotWithShape="0">
                          <a:blip r:embed="rId5"/>
                          <a:stretch>
                            <a:fillRect t="-259281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290" marR="38290" marT="0" marB="0">
                        <a:blipFill rotWithShape="0">
                          <a:blip r:embed="rId5"/>
                          <a:stretch>
                            <a:fillRect l="-100000" t="-25928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85180" y="-8035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11.4.6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730" y="203221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167618" y="1386025"/>
            <a:ext cx="1011279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an 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on each line to indicate where your current learning is in relation to each statement. Then, provide a brief explanation or evidence to support your self-assessment. 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correctly decide the sign of the quotient when dividing rational numbers.</a:t>
            </a: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Evidence: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0449" y="4118196"/>
            <a:ext cx="8094133" cy="1034761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E9D117-FAE6-F74F-940B-9CD1479755BE}"/>
              </a:ext>
            </a:extLst>
          </p:cNvPr>
          <p:cNvSpPr txBox="1"/>
          <p:nvPr/>
        </p:nvSpPr>
        <p:spPr>
          <a:xfrm>
            <a:off x="900332" y="422857"/>
            <a:ext cx="1039133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fluently divide rational numbers that are fractions.</a:t>
            </a: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Evidence:</a:t>
            </a: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fluently divide rational numbers that are decimals.</a:t>
            </a: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Evidence: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8934" y="1391929"/>
            <a:ext cx="8094133" cy="10347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2433" y="4432457"/>
            <a:ext cx="8094133" cy="1034761"/>
          </a:xfrm>
          <a:prstGeom prst="rect">
            <a:avLst/>
          </a:prstGeom>
        </p:spPr>
      </p:pic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554F26E-4DC0-0540-B63C-D112483071D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9338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161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1383</TotalTime>
  <Words>916</Words>
  <Application>Microsoft Office PowerPoint</Application>
  <PresentationFormat>Widescreen</PresentationFormat>
  <Paragraphs>197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Cambria Math</vt:lpstr>
      <vt:lpstr>Century Gothic</vt:lpstr>
      <vt:lpstr>Verdana</vt:lpstr>
      <vt:lpstr>1_Office Theme</vt:lpstr>
      <vt:lpstr>6th Grade Accelerated Math  Unit 11, Lesson 4  Dividing Rational Numbers  Volume 2, pg. 180  </vt:lpstr>
      <vt:lpstr>Benchmark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27</cp:revision>
  <dcterms:created xsi:type="dcterms:W3CDTF">2015-03-17T18:51:18Z</dcterms:created>
  <dcterms:modified xsi:type="dcterms:W3CDTF">2022-07-02T04:00:44Z</dcterms:modified>
</cp:coreProperties>
</file>