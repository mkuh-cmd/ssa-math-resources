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317" r:id="rId9"/>
    <p:sldId id="318" r:id="rId10"/>
    <p:sldId id="319" r:id="rId11"/>
    <p:sldId id="320" r:id="rId12"/>
    <p:sldId id="321" r:id="rId13"/>
    <p:sldId id="322" r:id="rId14"/>
    <p:sldId id="323" r:id="rId15"/>
    <p:sldId id="302" r:id="rId16"/>
    <p:sldId id="303" r:id="rId17"/>
    <p:sldId id="309" r:id="rId18"/>
    <p:sldId id="306" r:id="rId19"/>
    <p:sldId id="307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99C8"/>
    <a:srgbClr val="1F3165"/>
    <a:srgbClr val="C9DF6F"/>
    <a:srgbClr val="417DBF"/>
    <a:srgbClr val="3F2A67"/>
    <a:srgbClr val="E24E5F"/>
    <a:srgbClr val="26B7D4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84" autoAdjust="0"/>
    <p:restoredTop sz="94695"/>
  </p:normalViewPr>
  <p:slideViewPr>
    <p:cSldViewPr snapToGrid="0">
      <p:cViewPr varScale="1">
        <p:scale>
          <a:sx n="79" d="100"/>
          <a:sy n="79" d="100"/>
        </p:scale>
        <p:origin x="653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9179799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203627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301846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159871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30581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02437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30514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774294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007777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367833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33080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0458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6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49901" y="2054277"/>
            <a:ext cx="5168900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11, Lesson 7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Solving Real-World Problems with Rational Numbers – Part 3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195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70701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AB08A17F-C082-CD48-B100-6B09C860CC1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1762" y="1850136"/>
            <a:ext cx="3090582" cy="36027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491319" y="1976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819" y="23775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74598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421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630017" y="1600200"/>
            <a:ext cx="8580783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MA.7.NSO.2.3</a:t>
            </a:r>
          </a:p>
          <a:p>
            <a:pPr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Solve real-world problems involving any of the four operations with rational numbers.</a:t>
            </a: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307" y="385552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412957" y="142919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524000" y="1596390"/>
            <a:ext cx="973176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74598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421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518286" y="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124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351722" y="1600200"/>
            <a:ext cx="948855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0850">
              <a:buClr>
                <a:srgbClr val="434343"/>
              </a:buClr>
              <a:buSzPct val="125000"/>
              <a:buFont typeface="Verdana"/>
              <a:buChar char="❏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solve problems with at least three operations involving any of the four operations with rational numbers.</a:t>
            </a: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74598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421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74598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421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525937" y="-72195"/>
            <a:ext cx="10281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11.7.1 Warm-Up: Notice and Wonder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637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1338470" y="1386025"/>
            <a:ext cx="50187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do you notice about the binder clips in the image?</a:t>
            </a:r>
          </a:p>
        </p:txBody>
      </p:sp>
      <p:pic>
        <p:nvPicPr>
          <p:cNvPr id="9" name="Picture 8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90652" y="1167321"/>
            <a:ext cx="3362325" cy="249745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232453" y="4007987"/>
                <a:ext cx="8645924" cy="22660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2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questions come to mind when you look at this image?</a:t>
                </a: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2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2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2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stack of papers contains about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260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sheets of paper. Estimate the number of sheets each binder clip can hold. 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2453" y="4007987"/>
                <a:ext cx="8645924" cy="2266005"/>
              </a:xfrm>
              <a:prstGeom prst="rect">
                <a:avLst/>
              </a:prstGeom>
              <a:blipFill rotWithShape="0">
                <a:blip r:embed="rId5"/>
                <a:stretch>
                  <a:fillRect l="-917" t="-2419" r="-1058"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/>
          <p:cNvSpPr txBox="1"/>
          <p:nvPr/>
        </p:nvSpPr>
        <p:spPr>
          <a:xfrm>
            <a:off x="874598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421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166191" y="520394"/>
            <a:ext cx="1001028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make a good estimate, what information would be useful to know?</a:t>
            </a:r>
          </a:p>
          <a:p>
            <a:pPr marL="457200" indent="-457200">
              <a:buFont typeface="+mj-lt"/>
              <a:buAutoNum type="arabicPeriod" startAt="4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tools or resources could help you find that information?</a:t>
            </a: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74598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421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122" name="Picture 2" descr="Icon&#10;&#10;Description automatically generated">
            <a:extLst>
              <a:ext uri="{FF2B5EF4-FFF2-40B4-BE49-F238E27FC236}">
                <a16:creationId xmlns:a16="http://schemas.microsoft.com/office/drawing/2014/main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0890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74598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421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16111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618702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11.7.2 Activity: Gallery Walk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68894" y="3482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3547ABD-563B-A148-B65C-C7679A7B43D4}"/>
              </a:ext>
            </a:extLst>
          </p:cNvPr>
          <p:cNvSpPr txBox="1"/>
          <p:nvPr/>
        </p:nvSpPr>
        <p:spPr>
          <a:xfrm>
            <a:off x="1378226" y="1386025"/>
            <a:ext cx="96920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Your teacher will assign your group one of the following scenarios. Work together to answer the question(s), writing neatly on the chart paper provided. Show all your work to prepare a presentation for the other students in your class.</a:t>
            </a:r>
          </a:p>
        </p:txBody>
      </p:sp>
      <p:sp>
        <p:nvSpPr>
          <p:cNvPr id="12" name="Google Shape;282;g104476d1465_1_17"/>
          <p:cNvSpPr txBox="1"/>
          <p:nvPr/>
        </p:nvSpPr>
        <p:spPr>
          <a:xfrm>
            <a:off x="874598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421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69935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5673260"/>
                  </p:ext>
                </p:extLst>
              </p:nvPr>
            </p:nvGraphicFramePr>
            <p:xfrm>
              <a:off x="1832501" y="471122"/>
              <a:ext cx="8078374" cy="5860352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42232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65604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351338">
                    <a:tc>
                      <a:txBody>
                        <a:bodyPr/>
                        <a:lstStyle/>
                        <a:p>
                          <a:pPr marL="0" marR="0" indent="41275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Scenario 1</a:t>
                          </a:r>
                        </a:p>
                      </a:txBody>
                      <a:tcPr marL="31690" marR="31690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Marie plans to use a ride sharing service for the trip from Tampa International Airport to her hotel. The service has a booking fee of $2.45 and a cost of $0.42 for the first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mile and an additional fee of $0.16 for each 0.1 mile after the first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mile. </a:t>
                          </a:r>
                        </a:p>
                        <a:p>
                          <a:pPr marL="927100" marR="0" lvl="0" indent="-455613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/>
                            <a:tabLst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How much will the trip cost if Marie’s hotel is 7.25 miles from the airport?</a:t>
                          </a: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 </a:t>
                          </a: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927100" marR="0" lvl="0" indent="-455613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 startAt="2"/>
                            <a:tabLst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Marie decides to stop by a grocery store before arriving at her hotel. The ride sharing service charges $0.45 for each minute they have to wait on a customer. Her total bill was $21.72. How long was Marie in the grocery store? </a:t>
                          </a: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31690" marR="3169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5673260"/>
                  </p:ext>
                </p:extLst>
              </p:nvPr>
            </p:nvGraphicFramePr>
            <p:xfrm>
              <a:off x="308501" y="471122"/>
              <a:ext cx="8078374" cy="5860352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42232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65604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860352">
                    <a:tc>
                      <a:txBody>
                        <a:bodyPr/>
                        <a:lstStyle/>
                        <a:p>
                          <a:pPr marL="0" marR="0" indent="41275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Scenario 1</a:t>
                          </a:r>
                        </a:p>
                      </a:txBody>
                      <a:tcPr marL="31690" marR="31690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1690" marR="31690" marT="0" marB="0" anchor="ctr">
                        <a:blipFill>
                          <a:blip r:embed="rId4"/>
                          <a:stretch>
                            <a:fillRect l="-21524" t="-1732" r="-190" b="-21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74598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421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71154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71918193"/>
                  </p:ext>
                </p:extLst>
              </p:nvPr>
            </p:nvGraphicFramePr>
            <p:xfrm>
              <a:off x="1810956" y="383447"/>
              <a:ext cx="8645629" cy="5674453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36223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28339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67445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Scenario 2</a:t>
                          </a:r>
                        </a:p>
                      </a:txBody>
                      <a:tcPr marL="26513" marR="26513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Leah and her parents have an agreement. She borrowed money from them to buy a video gaming system and is supposed to pay them back within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months. If Leah does not have the balance paid by the agreed-upon time, she will have to give the system to her parents until it is paid off. Leah and her parents created a payment plan to help her meet this goal. Starting on July 1, Leah should pay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$5.95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per day until the gaming system is paid off. On July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th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her balance was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−$10.25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since she couldn’t pay the full amount each day. Leah was not able to pay anything again for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15 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days. On July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20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th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Leah paid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$85.00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 </a:t>
                          </a:r>
                          <a:endParaRPr lang="en-US" sz="8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862013" marR="0" lvl="0" indent="-390525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/>
                            <a:tabLst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How much had Leah paid her parents by July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oMath>
                          </a14:m>
                          <a:r>
                            <a:rPr lang="en-US" sz="2000" baseline="30000" dirty="0" err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?</a:t>
                          </a:r>
                        </a:p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/>
                          </a:pP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927100" marR="0" lvl="0" indent="-455613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/>
                            <a:tabLst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By July 20</a:t>
                          </a:r>
                          <a:r>
                            <a:rPr lang="en-US" sz="2000" baseline="30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how much more or less had Leah paid than what was required by the payment plan?</a:t>
                          </a:r>
                        </a:p>
                      </a:txBody>
                      <a:tcPr marL="26513" marR="26513" marT="0" marB="0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71918193"/>
                  </p:ext>
                </p:extLst>
              </p:nvPr>
            </p:nvGraphicFramePr>
            <p:xfrm>
              <a:off x="286955" y="383446"/>
              <a:ext cx="8645629" cy="5674453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36223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28339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67445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Scenario 2</a:t>
                          </a:r>
                        </a:p>
                      </a:txBody>
                      <a:tcPr marL="26513" marR="26513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6513" marR="26513" marT="0" marB="0">
                        <a:blipFill>
                          <a:blip r:embed="rId4"/>
                          <a:stretch>
                            <a:fillRect l="-18609" t="-1566" r="-174" b="-17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74598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421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62412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01923098"/>
                  </p:ext>
                </p:extLst>
              </p:nvPr>
            </p:nvGraphicFramePr>
            <p:xfrm>
              <a:off x="1912409" y="122498"/>
              <a:ext cx="8595788" cy="5926968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44606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14972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926968">
                    <a:tc>
                      <a:txBody>
                        <a:bodyPr/>
                        <a:lstStyle/>
                        <a:p>
                          <a:pPr marL="0" marR="0" indent="41275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Scenario 3</a:t>
                          </a:r>
                        </a:p>
                      </a:txBody>
                      <a:tcPr marL="27498" marR="27498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 coffee shop keeps track of changes in their coffee inventory. A week of their record- keeping is shown. </a:t>
                          </a: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927100" marR="0" lvl="0" indent="-455613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/>
                            <a:tabLst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How much coffee is left at the end of the week?</a:t>
                          </a:r>
                        </a:p>
                        <a:p>
                          <a:pPr marL="457200" marR="0" lvl="0" indent="-4572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 startAt="2"/>
                          </a:pP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457200" marR="0" lvl="0" indent="-4572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 startAt="2"/>
                          </a:pP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927100" marR="0" lvl="0" indent="-455613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 startAt="2"/>
                            <a:tabLst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Coffee is delivered in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50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-pound (</a:t>
                          </a:r>
                          <a:r>
                            <a:rPr lang="en-US" sz="2000" dirty="0" err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lb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) bags,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bags at a time. How many pounds of coffee were sold on Thursday?</a:t>
                          </a:r>
                        </a:p>
                      </a:txBody>
                      <a:tcPr marL="27498" marR="27498" marT="0" marB="0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01923098"/>
                  </p:ext>
                </p:extLst>
              </p:nvPr>
            </p:nvGraphicFramePr>
            <p:xfrm>
              <a:off x="388409" y="122498"/>
              <a:ext cx="8595788" cy="5926968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44606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14972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926968">
                    <a:tc>
                      <a:txBody>
                        <a:bodyPr/>
                        <a:lstStyle/>
                        <a:p>
                          <a:pPr marL="0" marR="0" indent="41275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Scenario 3</a:t>
                          </a:r>
                        </a:p>
                      </a:txBody>
                      <a:tcPr marL="27498" marR="27498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7498" marR="27498" marT="0" marB="0">
                        <a:blipFill>
                          <a:blip r:embed="rId4"/>
                          <a:stretch>
                            <a:fillRect l="-20390" t="-1496" r="-177" b="-106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52315D45-B3A1-794D-B32B-991896BD835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56428104"/>
                  </p:ext>
                </p:extLst>
              </p:nvPr>
            </p:nvGraphicFramePr>
            <p:xfrm>
              <a:off x="4796395" y="808535"/>
              <a:ext cx="4341541" cy="3039277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22484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1669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85867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Day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Change in Inventory (</a:t>
                          </a:r>
                          <a:r>
                            <a:rPr lang="en-US" sz="1800" b="1" dirty="0" err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lb</a:t>
                          </a: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)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8737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Monday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150</m:t>
                                </m:r>
                              </m:oMath>
                            </m:oMathPara>
                          </a14:m>
                          <a:endParaRPr lang="en-US" sz="18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8737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Tuesday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−43.3</m:t>
                                </m:r>
                              </m:oMath>
                            </m:oMathPara>
                          </a14:m>
                          <a:endParaRPr lang="en-US" sz="18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19616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Wednesday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−50.5</m:t>
                                </m:r>
                              </m:oMath>
                            </m:oMathPara>
                          </a14:m>
                          <a:endParaRPr lang="en-US" sz="18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58737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Thursday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72.8</m:t>
                                </m:r>
                              </m:oMath>
                            </m:oMathPara>
                          </a14:m>
                          <a:endParaRPr lang="en-US" sz="18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58737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Friday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−52.7</m:t>
                                </m:r>
                              </m:oMath>
                            </m:oMathPara>
                          </a14:m>
                          <a:endParaRPr lang="en-US" sz="18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58737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Saturday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−21.6</m:t>
                                </m:r>
                              </m:oMath>
                            </m:oMathPara>
                          </a14:m>
                          <a:endParaRPr lang="en-US" sz="18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58737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Sunday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8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52315D45-B3A1-794D-B32B-991896BD835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56428104"/>
                  </p:ext>
                </p:extLst>
              </p:nvPr>
            </p:nvGraphicFramePr>
            <p:xfrm>
              <a:off x="3272394" y="808534"/>
              <a:ext cx="4341541" cy="3039277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22484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1669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85867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Day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Change in Inventory (</a:t>
                          </a:r>
                          <a:r>
                            <a:rPr lang="en-US" sz="1800" b="1" dirty="0" err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lb</a:t>
                          </a: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)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3497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Monday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5"/>
                          <a:stretch>
                            <a:fillRect l="-105988" t="-300000" r="-599" b="-6869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3497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Tuesday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5"/>
                          <a:stretch>
                            <a:fillRect l="-105988" t="-400000" r="-599" b="-5869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19616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Wednesday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5"/>
                          <a:stretch>
                            <a:fillRect l="-105988" t="-348485" r="-599" b="-3090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93497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Thursday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5"/>
                          <a:stretch>
                            <a:fillRect l="-105988" t="-643478" r="-599" b="-3434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93497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Friday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5"/>
                          <a:stretch>
                            <a:fillRect l="-105988" t="-712500" r="-599" b="-2291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93497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Saturday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5"/>
                          <a:stretch>
                            <a:fillRect l="-105988" t="-847826" r="-599" b="-1391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93497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Sunday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5"/>
                          <a:stretch>
                            <a:fillRect l="-105988" t="-947826" r="-599" b="-391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74598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421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311795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8771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0DAC403D-848F-564C-9C59-45771CCDE18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94973030"/>
                  </p:ext>
                </p:extLst>
              </p:nvPr>
            </p:nvGraphicFramePr>
            <p:xfrm>
              <a:off x="2028750" y="370883"/>
              <a:ext cx="7920000" cy="6086793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536321">
                      <a:extLst>
                        <a:ext uri="{9D8B030D-6E8A-4147-A177-3AD203B41FA5}">
                          <a16:colId xmlns:a16="http://schemas.microsoft.com/office/drawing/2014/main" val="3299004842"/>
                        </a:ext>
                      </a:extLst>
                    </a:gridCol>
                    <a:gridCol w="6383679">
                      <a:extLst>
                        <a:ext uri="{9D8B030D-6E8A-4147-A177-3AD203B41FA5}">
                          <a16:colId xmlns:a16="http://schemas.microsoft.com/office/drawing/2014/main" val="467491053"/>
                        </a:ext>
                      </a:extLst>
                    </a:gridCol>
                  </a:tblGrid>
                  <a:tr h="6086793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Scenario </a:t>
                          </a: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4</a:t>
                          </a:r>
                          <a:endParaRPr lang="x-none" sz="18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19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Recall from the previous lesson that The Better Utility Company charges </a:t>
                          </a:r>
                          <a14:m>
                            <m:oMath xmlns:m="http://schemas.openxmlformats.org/officeDocument/2006/math">
                              <m:r>
                                <a:rPr lang="en-US" sz="19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$0.12</m:t>
                              </m:r>
                            </m:oMath>
                          </a14:m>
                          <a:r>
                            <a:rPr lang="en-US" sz="19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 per kilowatt-hour for the energy a customer uses that is provided by the utility company. The company gives an adjustment of </a:t>
                          </a:r>
                          <a14:m>
                            <m:oMath xmlns:m="http://schemas.openxmlformats.org/officeDocument/2006/math">
                              <m:r>
                                <a:rPr lang="en-US" sz="19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−$0.025</m:t>
                              </m:r>
                            </m:oMath>
                          </a14:m>
                          <a:r>
                            <a:rPr lang="en-US" sz="19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 for every kilowatt-hour of electricity a customer with solar panel(s) generates that they do not use themselves.</a:t>
                          </a:r>
                          <a:endParaRPr lang="x-none" sz="19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The table shows the number of kilowatt-hours of the electricity a customer used and generated each week for a month.</a:t>
                          </a:r>
                          <a:endParaRPr lang="x-none" sz="19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216707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0DAC403D-848F-564C-9C59-45771CCDE18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94973030"/>
                  </p:ext>
                </p:extLst>
              </p:nvPr>
            </p:nvGraphicFramePr>
            <p:xfrm>
              <a:off x="504750" y="370882"/>
              <a:ext cx="7920000" cy="6086793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536321">
                      <a:extLst>
                        <a:ext uri="{9D8B030D-6E8A-4147-A177-3AD203B41FA5}">
                          <a16:colId xmlns:a16="http://schemas.microsoft.com/office/drawing/2014/main" val="3299004842"/>
                        </a:ext>
                      </a:extLst>
                    </a:gridCol>
                    <a:gridCol w="6383679">
                      <a:extLst>
                        <a:ext uri="{9D8B030D-6E8A-4147-A177-3AD203B41FA5}">
                          <a16:colId xmlns:a16="http://schemas.microsoft.com/office/drawing/2014/main" val="467491053"/>
                        </a:ext>
                      </a:extLst>
                    </a:gridCol>
                  </a:tblGrid>
                  <a:tr h="6086793">
                    <a:tc>
                      <a:txBody>
                        <a:bodyPr/>
                        <a:lstStyle/>
                        <a:p>
                          <a:pPr marL="0" marR="0" indent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Scenario </a:t>
                          </a: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4</a:t>
                          </a:r>
                          <a:endParaRPr lang="x-none" sz="18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206" t="-833" r="-397" b="-4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167071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F7C13933-0AAE-694A-B164-B76A442DE24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95356489"/>
                  </p:ext>
                </p:extLst>
              </p:nvPr>
            </p:nvGraphicFramePr>
            <p:xfrm>
              <a:off x="3992850" y="3852624"/>
              <a:ext cx="5760000" cy="232200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440000">
                      <a:extLst>
                        <a:ext uri="{9D8B030D-6E8A-4147-A177-3AD203B41FA5}">
                          <a16:colId xmlns:a16="http://schemas.microsoft.com/office/drawing/2014/main" val="3139438643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val="2211055997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val="2766609696"/>
                        </a:ext>
                      </a:extLst>
                    </a:gridCol>
                  </a:tblGrid>
                  <a:tr h="848902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18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0264" marR="50264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Kilowatt-Hours Used</a:t>
                          </a:r>
                          <a:endParaRPr lang="x-none" sz="18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0264" marR="5026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Kilowatt-Hours Generated that were not Used by the Customer</a:t>
                          </a:r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0264" marR="5026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5807364"/>
                      </a:ext>
                    </a:extLst>
                  </a:tr>
                  <a:tr h="215111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Week 1</a:t>
                          </a:r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0264" marR="50264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112.08</m:t>
                                </m:r>
                              </m:oMath>
                            </m:oMathPara>
                          </a14:m>
                          <a:endParaRPr lang="x-none" sz="18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0264" marR="50264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253.2</m:t>
                                </m:r>
                              </m:oMath>
                            </m:oMathPara>
                          </a14:m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0264" marR="50264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68448880"/>
                      </a:ext>
                    </a:extLst>
                  </a:tr>
                  <a:tr h="215111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Week 2</a:t>
                          </a:r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0264" marR="50264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181.5</m:t>
                                </m:r>
                              </m:oMath>
                            </m:oMathPara>
                          </a14:m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0264" marR="50264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357.6</m:t>
                                </m:r>
                              </m:oMath>
                            </m:oMathPara>
                          </a14:m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0264" marR="50264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32359341"/>
                      </a:ext>
                    </a:extLst>
                  </a:tr>
                  <a:tr h="215111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Week 3</a:t>
                          </a:r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0264" marR="50264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101</m:t>
                                </m:r>
                              </m:oMath>
                            </m:oMathPara>
                          </a14:m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0264" marR="50264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308</m:t>
                                </m:r>
                              </m:oMath>
                            </m:oMathPara>
                          </a14:m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0264" marR="50264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10060954"/>
                      </a:ext>
                    </a:extLst>
                  </a:tr>
                  <a:tr h="215111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Week 4</a:t>
                          </a:r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0264" marR="50264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200.42</m:t>
                                </m:r>
                              </m:oMath>
                            </m:oMathPara>
                          </a14:m>
                          <a:endParaRPr lang="x-none" sz="18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0264" marR="50264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214.4</m:t>
                                </m:r>
                              </m:oMath>
                            </m:oMathPara>
                          </a14:m>
                          <a:endParaRPr lang="x-none" sz="18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0264" marR="50264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398718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F7C13933-0AAE-694A-B164-B76A442DE24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95356489"/>
                  </p:ext>
                </p:extLst>
              </p:nvPr>
            </p:nvGraphicFramePr>
            <p:xfrm>
              <a:off x="2468850" y="3852624"/>
              <a:ext cx="5760000" cy="234797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440000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3139438643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211055997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766609696"/>
                        </a:ext>
                      </a:extLst>
                    </a:gridCol>
                  </a:tblGrid>
                  <a:tr h="1173988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18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0264" marR="50264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Kilowatt-Hours Used</a:t>
                          </a:r>
                          <a:endParaRPr lang="x-none" sz="18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0264" marR="5026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Kilowatt-Hours Generated that were not Used by the Customer</a:t>
                          </a:r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0264" marR="5026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2355807364"/>
                      </a:ext>
                    </a:extLst>
                  </a:tr>
                  <a:tr h="293497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Week 1</a:t>
                          </a:r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0264" marR="50264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264" marR="50264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100847" t="-431250" r="-202119" b="-34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264" marR="50264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100211" t="-431250" r="-846" b="-34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3168448880"/>
                      </a:ext>
                    </a:extLst>
                  </a:tr>
                  <a:tr h="293497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Week 2</a:t>
                          </a:r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0264" marR="50264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264" marR="50264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100847" t="-531250" r="-202119" b="-24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264" marR="50264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100211" t="-531250" r="-846" b="-24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532359341"/>
                      </a:ext>
                    </a:extLst>
                  </a:tr>
                  <a:tr h="293497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Week 3</a:t>
                          </a:r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0264" marR="50264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264" marR="50264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100847" t="-618367" r="-202119" b="-1367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264" marR="50264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100211" t="-618367" r="-846" b="-1367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810060954"/>
                      </a:ext>
                    </a:extLst>
                  </a:tr>
                  <a:tr h="293497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Week 4</a:t>
                          </a:r>
                          <a:endParaRPr lang="x-none" sz="18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0264" marR="50264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264" marR="50264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100847" t="-733333" r="-202119" b="-395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264" marR="50264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100211" t="-733333" r="-846" b="-395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5398718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74598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421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570383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0DAC403D-848F-564C-9C59-45771CCDE18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85969344"/>
                  </p:ext>
                </p:extLst>
              </p:nvPr>
            </p:nvGraphicFramePr>
            <p:xfrm>
              <a:off x="2022848" y="381429"/>
              <a:ext cx="7920000" cy="443909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3299004842"/>
                        </a:ext>
                      </a:extLst>
                    </a:gridCol>
                    <a:gridCol w="6120000">
                      <a:extLst>
                        <a:ext uri="{9D8B030D-6E8A-4147-A177-3AD203B41FA5}">
                          <a16:colId xmlns:a16="http://schemas.microsoft.com/office/drawing/2014/main" val="467491053"/>
                        </a:ext>
                      </a:extLst>
                    </a:gridCol>
                  </a:tblGrid>
                  <a:tr h="4320000">
                    <a:tc>
                      <a:txBody>
                        <a:bodyPr/>
                        <a:lstStyle/>
                        <a:p>
                          <a:pPr marL="1588" marR="0" indent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Scenario </a:t>
                          </a: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4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927100" marR="0" lvl="0" indent="-455613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/>
                            <a:tabLst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What is the amount due for this month?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indent="-4572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  <a:p>
                          <a:pPr marL="0" marR="0" indent="-4572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indent="-4572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indent="-4572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indent="-4572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927100" marR="0" lvl="0" indent="-455613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 startAt="2"/>
                            <a:tabLst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The average customer’s bill is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 of what they would have been charged if they had not produced electricity using solar panels. Explain if this customer’s savings was below or above that average.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216707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0DAC403D-848F-564C-9C59-45771CCDE18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85969344"/>
                  </p:ext>
                </p:extLst>
              </p:nvPr>
            </p:nvGraphicFramePr>
            <p:xfrm>
              <a:off x="498848" y="381428"/>
              <a:ext cx="7920000" cy="443909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3299004842"/>
                        </a:ext>
                      </a:extLst>
                    </a:gridCol>
                    <a:gridCol w="6120000">
                      <a:extLst>
                        <a:ext uri="{9D8B030D-6E8A-4147-A177-3AD203B41FA5}">
                          <a16:colId xmlns:a16="http://schemas.microsoft.com/office/drawing/2014/main" val="467491053"/>
                        </a:ext>
                      </a:extLst>
                    </a:gridCol>
                  </a:tblGrid>
                  <a:tr h="4439095">
                    <a:tc>
                      <a:txBody>
                        <a:bodyPr/>
                        <a:lstStyle/>
                        <a:p>
                          <a:pPr marL="1588" marR="0" indent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Scenario </a:t>
                          </a: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4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668" t="-1143" r="-415" b="-22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16707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74598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421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767484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74598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421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470405" y="192847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11.7.3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3105" y="192847"/>
            <a:ext cx="747300" cy="747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1470405" y="1386025"/>
                <a:ext cx="9507222" cy="2602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Araya is making red ribbons to sell to support a local nonprofit organization. She purchased a roll of fabric that is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30</m:t>
                    </m:r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feet in length and each ribbon uses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0.635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feet of fabric. </a:t>
                </a:r>
              </a:p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/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If she already has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ribbon orders, how many additional ribbons will she be able to sell with the single roll? Show your work.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0405" y="1386025"/>
                <a:ext cx="9507222" cy="2602444"/>
              </a:xfrm>
              <a:prstGeom prst="rect">
                <a:avLst/>
              </a:prstGeom>
              <a:blipFill rotWithShape="0">
                <a:blip r:embed="rId4"/>
                <a:stretch>
                  <a:fillRect l="-833" t="-1639" r="-1282" b="-39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/>
          <p:cNvSpPr txBox="1"/>
          <p:nvPr/>
        </p:nvSpPr>
        <p:spPr>
          <a:xfrm>
            <a:off x="874598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421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/>
              <p:nvPr/>
            </p:nvSpPr>
            <p:spPr>
              <a:xfrm>
                <a:off x="1298713" y="398473"/>
                <a:ext cx="9594574" cy="44370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Joanne purchased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pounds of tomatoes,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pounds of red onions,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pounds of asparagus, and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lemons from a grocery store.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Based on the listed prices, how much would Joanne spend?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8C67FCF-92C3-654A-BF40-5BDF7A4F9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8713" y="398473"/>
                <a:ext cx="9594574" cy="4437048"/>
              </a:xfrm>
              <a:prstGeom prst="rect">
                <a:avLst/>
              </a:prstGeom>
              <a:blipFill rotWithShape="0">
                <a:blip r:embed="rId3"/>
                <a:stretch>
                  <a:fillRect l="-826" b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15898419"/>
                  </p:ext>
                </p:extLst>
              </p:nvPr>
            </p:nvGraphicFramePr>
            <p:xfrm>
              <a:off x="3279322" y="2075566"/>
              <a:ext cx="4580164" cy="1663677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83206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74809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2997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Produce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Price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3342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Tomatoes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$2.99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per pound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3342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Red Onions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$1.79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per pound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3342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Asparagus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$2.49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per pound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3342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Lemons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$0.79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each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15898419"/>
                  </p:ext>
                </p:extLst>
              </p:nvPr>
            </p:nvGraphicFramePr>
            <p:xfrm>
              <a:off x="1755322" y="2075565"/>
              <a:ext cx="4580164" cy="1663677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832066"/>
                    <a:gridCol w="2748098"/>
                  </a:tblGrid>
                  <a:tr h="32997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Produce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Price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</a:tr>
                  <a:tr h="33342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Tomatoes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0">
                          <a:blip r:embed="rId5"/>
                          <a:stretch>
                            <a:fillRect l="-66814" t="-121818" r="-442" b="-336364"/>
                          </a:stretch>
                        </a:blipFill>
                      </a:tcPr>
                    </a:tc>
                  </a:tr>
                  <a:tr h="33342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Red Onions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0">
                          <a:blip r:embed="rId5"/>
                          <a:stretch>
                            <a:fillRect l="-66814" t="-221818" r="-442" b="-236364"/>
                          </a:stretch>
                        </a:blipFill>
                      </a:tcPr>
                    </a:tc>
                  </a:tr>
                  <a:tr h="33342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Asparagus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0">
                          <a:blip r:embed="rId5"/>
                          <a:stretch>
                            <a:fillRect l="-66814" t="-321818" r="-442" b="-136364"/>
                          </a:stretch>
                        </a:blipFill>
                      </a:tcPr>
                    </a:tc>
                  </a:tr>
                  <a:tr h="33342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Lemons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0">
                          <a:blip r:embed="rId5"/>
                          <a:stretch>
                            <a:fillRect l="-66814" t="-421818" r="-442" b="-36364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74598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421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436146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74598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421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4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555078" y="-8224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11.7.4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380" y="204051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1555078" y="1157424"/>
            <a:ext cx="883250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Color in the arrow up to the statement which best describes your current understanding of solving real-world problems with rational numbers.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16954" y="2265421"/>
            <a:ext cx="5914797" cy="4592455"/>
          </a:xfrm>
          <a:prstGeom prst="rect">
            <a:avLst/>
          </a:prstGeom>
        </p:spPr>
      </p:pic>
      <p:sp>
        <p:nvSpPr>
          <p:cNvPr id="11" name="Google Shape;282;g104476d1465_1_17"/>
          <p:cNvSpPr txBox="1"/>
          <p:nvPr/>
        </p:nvSpPr>
        <p:spPr>
          <a:xfrm>
            <a:off x="874598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199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421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1313</TotalTime>
  <Words>1112</Words>
  <Application>Microsoft Office PowerPoint</Application>
  <PresentationFormat>Widescreen</PresentationFormat>
  <Paragraphs>168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Arial Black</vt:lpstr>
      <vt:lpstr>Calibri</vt:lpstr>
      <vt:lpstr>Cambria Math</vt:lpstr>
      <vt:lpstr>Century Gothic</vt:lpstr>
      <vt:lpstr>Verdana</vt:lpstr>
      <vt:lpstr>1_Office Theme</vt:lpstr>
      <vt:lpstr>6th Grade Accelerated Math  Unit 11, Lesson 7  Solving Real-World Problems with Rational Numbers – Part 3  Volume 2, pg. 195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Activity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Cassie O'Connor</cp:lastModifiedBy>
  <cp:revision>27</cp:revision>
  <dcterms:created xsi:type="dcterms:W3CDTF">2015-03-17T18:51:18Z</dcterms:created>
  <dcterms:modified xsi:type="dcterms:W3CDTF">2022-07-02T04:03:17Z</dcterms:modified>
</cp:coreProperties>
</file>