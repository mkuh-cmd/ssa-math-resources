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288" r:id="rId8"/>
    <p:sldId id="289" r:id="rId9"/>
    <p:sldId id="290" r:id="rId10"/>
    <p:sldId id="308" r:id="rId11"/>
    <p:sldId id="338" r:id="rId12"/>
    <p:sldId id="314" r:id="rId13"/>
    <p:sldId id="315" r:id="rId14"/>
    <p:sldId id="339" r:id="rId15"/>
    <p:sldId id="316" r:id="rId16"/>
    <p:sldId id="340" r:id="rId17"/>
    <p:sldId id="341" r:id="rId18"/>
    <p:sldId id="342" r:id="rId19"/>
    <p:sldId id="332" r:id="rId20"/>
    <p:sldId id="333" r:id="rId21"/>
    <p:sldId id="334" r:id="rId22"/>
    <p:sldId id="335" r:id="rId23"/>
    <p:sldId id="336" r:id="rId24"/>
    <p:sldId id="344" r:id="rId25"/>
    <p:sldId id="302" r:id="rId26"/>
    <p:sldId id="303" r:id="rId27"/>
    <p:sldId id="306" r:id="rId28"/>
    <p:sldId id="307"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99C8"/>
    <a:srgbClr val="1F3165"/>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96" autoAdjust="0"/>
    <p:restoredTop sz="94695"/>
  </p:normalViewPr>
  <p:slideViewPr>
    <p:cSldViewPr snapToGrid="0">
      <p:cViewPr varScale="1">
        <p:scale>
          <a:sx n="57" d="100"/>
          <a:sy n="57" d="100"/>
        </p:scale>
        <p:origin x="90"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870530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50355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2545669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955118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607471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0215722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6711859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945406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093109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5715794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736662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882464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843422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1140518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7921845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7.tiff"/><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7" Type="http://schemas.openxmlformats.org/officeDocument/2006/relationships/image" Target="../media/image17.tiff"/><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8.pn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7" Type="http://schemas.openxmlformats.org/officeDocument/2006/relationships/image" Target="../media/image17.tiff"/><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8.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9.tiff"/><Relationship Id="rId5" Type="http://schemas.openxmlformats.org/officeDocument/2006/relationships/image" Target="../media/image280.png"/><Relationship Id="rId10" Type="http://schemas.openxmlformats.org/officeDocument/2006/relationships/image" Target="../media/image10.png"/><Relationship Id="rId9"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29.tiff"/><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7.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80.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5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44.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11, Lesson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Subtracting Rational Numbers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171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70701"/>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AB08A17F-C082-CD48-B100-6B09C860CC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762"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72133" y="10922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48633" y="34500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472133" y="1600200"/>
            <a:ext cx="924773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MA.7.NSO.2.2</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Add, subtract, multiply, and divide rational numbers with procedural fluency.</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75933" y="282562"/>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500583" y="39929"/>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500583" y="1596390"/>
            <a:ext cx="977859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10"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171</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512352" y="-4369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30190" y="24550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512352" y="1600200"/>
            <a:ext cx="916729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ct val="125000"/>
              <a:buFont typeface="Verdana"/>
              <a:buChar char="❏"/>
            </a:pPr>
            <a:r>
              <a:rPr lang="en-US" sz="2400" dirty="0">
                <a:latin typeface="Verdana" panose="020B0604030504040204" pitchFamily="34" charset="0"/>
                <a:ea typeface="Verdana" panose="020B0604030504040204" pitchFamily="34" charset="0"/>
                <a:cs typeface="Verdana" panose="020B0604030504040204" pitchFamily="34" charset="0"/>
              </a:rPr>
              <a:t>I can fluently subtract rational numbers.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171</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0554"/>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23313" y="-6250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11.2.1 Warm-Up: Math Talk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476013" y="1974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223313" y="1386025"/>
                <a:ext cx="10152972" cy="911468"/>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Several students discussed which fraction was greater,  </a:t>
                </a:r>
                <a14:m>
                  <m:oMath xmlns:m="http://schemas.openxmlformats.org/officeDocument/2006/math">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13</m:t>
                        </m:r>
                      </m:num>
                      <m:den>
                        <m:r>
                          <a:rPr lang="en-US" sz="2200" i="1">
                            <a:latin typeface="Cambria Math" panose="02040503050406030204" pitchFamily="18" charset="0"/>
                            <a:ea typeface="Cambria Math" panose="02040503050406030204" pitchFamily="18" charset="0"/>
                          </a:rPr>
                          <m:t>19</m:t>
                        </m:r>
                      </m:den>
                    </m:f>
                  </m:oMath>
                </a14:m>
                <a:r>
                  <a:rPr lang="en-US" sz="22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2</m:t>
                        </m:r>
                      </m:num>
                      <m:den>
                        <m:r>
                          <a:rPr lang="en-US" sz="2200" i="1">
                            <a:latin typeface="Cambria Math" panose="02040503050406030204" pitchFamily="18" charset="0"/>
                            <a:ea typeface="Cambria Math" panose="02040503050406030204" pitchFamily="18" charset="0"/>
                          </a:rPr>
                          <m:t>3</m:t>
                        </m:r>
                      </m:den>
                    </m:f>
                  </m:oMath>
                </a14:m>
                <a:r>
                  <a:rPr lang="en-US" sz="2200" dirty="0">
                    <a:latin typeface="Verdana" panose="020B0604030504040204" pitchFamily="34" charset="0"/>
                    <a:ea typeface="Verdana" panose="020B0604030504040204" pitchFamily="34" charset="0"/>
                    <a:cs typeface="Verdana" panose="020B0604030504040204" pitchFamily="34" charset="0"/>
                  </a:rPr>
                  <a:t>. A summary of the discussion is shown.</a:t>
                </a: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1223313" y="1386025"/>
                <a:ext cx="10152972" cy="911468"/>
              </a:xfrm>
              <a:prstGeom prst="rect">
                <a:avLst/>
              </a:prstGeom>
              <a:blipFill rotWithShape="0">
                <a:blip r:embed="rId4"/>
                <a:stretch>
                  <a:fillRect l="-781"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091615182"/>
                  </p:ext>
                </p:extLst>
              </p:nvPr>
            </p:nvGraphicFramePr>
            <p:xfrm>
              <a:off x="2041974" y="2611992"/>
              <a:ext cx="7906776" cy="3588609"/>
            </p:xfrm>
            <a:graphic>
              <a:graphicData uri="http://schemas.openxmlformats.org/drawingml/2006/table">
                <a:tbl>
                  <a:tblPr firstRow="1" firstCol="1" bandRow="1">
                    <a:tableStyleId>{5940675A-B579-460E-94D1-54222C63F5DA}</a:tableStyleId>
                  </a:tblPr>
                  <a:tblGrid>
                    <a:gridCol w="1396397">
                      <a:extLst>
                        <a:ext uri="{9D8B030D-6E8A-4147-A177-3AD203B41FA5}">
                          <a16:colId xmlns:a16="http://schemas.microsoft.com/office/drawing/2014/main" val="20000"/>
                        </a:ext>
                      </a:extLst>
                    </a:gridCol>
                    <a:gridCol w="6510379">
                      <a:extLst>
                        <a:ext uri="{9D8B030D-6E8A-4147-A177-3AD203B41FA5}">
                          <a16:colId xmlns:a16="http://schemas.microsoft.com/office/drawing/2014/main" val="20001"/>
                        </a:ext>
                      </a:extLst>
                    </a:gridCol>
                  </a:tblGrid>
                  <a:tr h="1386746">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Amy:</a:t>
                          </a:r>
                        </a:p>
                      </a:txBody>
                      <a:tcPr marL="58190" marR="58190" marT="0" marB="0" anchor="ctr">
                        <a:lnR w="12700" cap="flat" cmpd="sng" algn="ctr">
                          <a:noFill/>
                          <a:prstDash val="solid"/>
                          <a:round/>
                          <a:headEnd type="none" w="med" len="med"/>
                          <a:tailEnd type="none" w="med" len="med"/>
                        </a:lnR>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changed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13</m:t>
                                  </m:r>
                                </m:num>
                                <m:den>
                                  <m:r>
                                    <a:rPr lang="en-US" sz="2000">
                                      <a:effectLst/>
                                      <a:latin typeface="Cambria Math" panose="02040503050406030204" pitchFamily="18" charset="0"/>
                                      <a:ea typeface="Cambria Math" panose="02040503050406030204" pitchFamily="18" charset="0"/>
                                    </a:rPr>
                                    <m:t>19</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13</m:t>
                                  </m:r>
                                </m:num>
                                <m:den>
                                  <m:r>
                                    <a:rPr lang="en-US" sz="2000">
                                      <a:effectLst/>
                                      <a:latin typeface="Cambria Math" panose="02040503050406030204" pitchFamily="18" charset="0"/>
                                      <a:ea typeface="Cambria Math" panose="02040503050406030204" pitchFamily="18" charset="0"/>
                                    </a:rPr>
                                    <m:t>18</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since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3</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is equal to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12</m:t>
                                  </m:r>
                                </m:num>
                                <m:den>
                                  <m:r>
                                    <a:rPr lang="en-US" sz="2000">
                                      <a:effectLst/>
                                      <a:latin typeface="Cambria Math" panose="02040503050406030204" pitchFamily="18" charset="0"/>
                                      <a:ea typeface="Cambria Math" panose="02040503050406030204" pitchFamily="18" charset="0"/>
                                    </a:rPr>
                                    <m:t>18</m:t>
                                  </m:r>
                                </m:den>
                              </m:f>
                              <m:r>
                                <a:rPr lang="en-US" sz="2000">
                                  <a:effectLst/>
                                  <a:latin typeface="Cambria Math" panose="02040503050406030204" pitchFamily="18" charset="0"/>
                                  <a:ea typeface="Cambria Math" panose="02040503050406030204" pitchFamily="18" charset="0"/>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I’m about </a:t>
                          </a:r>
                          <a14:m>
                            <m:oMath xmlns:m="http://schemas.openxmlformats.org/officeDocument/2006/math">
                              <m:r>
                                <a:rPr lang="en-US" sz="2000">
                                  <a:effectLst/>
                                  <a:latin typeface="Cambria Math" panose="02040503050406030204" pitchFamily="18" charset="0"/>
                                  <a:ea typeface="Cambria Math" panose="02040503050406030204" pitchFamily="18" charset="0"/>
                                </a:rPr>
                                <m:t>70%</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confident that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13</m:t>
                                  </m:r>
                                </m:num>
                                <m:den>
                                  <m:r>
                                    <a:rPr lang="en-US" sz="2000">
                                      <a:effectLst/>
                                      <a:latin typeface="Cambria Math" panose="02040503050406030204" pitchFamily="18" charset="0"/>
                                      <a:ea typeface="Cambria Math" panose="02040503050406030204" pitchFamily="18" charset="0"/>
                                    </a:rPr>
                                    <m:t>19</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is greater than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3</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8190" marR="58190" marT="0" marB="0" anchor="ctr">
                        <a:lnL w="12700" cap="flat" cmpd="sng" algn="ctr">
                          <a:noFill/>
                          <a:prstDash val="solid"/>
                          <a:round/>
                          <a:headEnd type="none" w="med" len="med"/>
                          <a:tailEnd type="none" w="med" len="med"/>
                        </a:lnL>
                      </a:tcPr>
                    </a:tc>
                    <a:extLst>
                      <a:ext uri="{0D108BD9-81ED-4DB2-BD59-A6C34878D82A}">
                        <a16:rowId xmlns:a16="http://schemas.microsoft.com/office/drawing/2014/main" val="10000"/>
                      </a:ext>
                    </a:extLst>
                  </a:tr>
                  <a:tr h="1877786">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Brandon:</a:t>
                          </a:r>
                        </a:p>
                      </a:txBody>
                      <a:tcPr marL="58190" marR="58190" marT="0" marB="0" anchor="ctr">
                        <a:lnR w="12700" cap="flat" cmpd="sng" algn="ctr">
                          <a:noFill/>
                          <a:prstDash val="solid"/>
                          <a:round/>
                          <a:headEnd type="none" w="med" len="med"/>
                          <a:tailEnd type="none" w="med" len="med"/>
                        </a:lnR>
                      </a:tcPr>
                    </a:tc>
                    <a:tc>
                      <a:txBody>
                        <a:bodyPr/>
                        <a:lstStyle/>
                        <a:p>
                          <a:pPr marL="0" marR="0">
                            <a:lnSpc>
                              <a:spcPct val="107000"/>
                            </a:lnSpc>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fractions were small enough that I could do mental math and change them into common denominators, so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13</m:t>
                                  </m:r>
                                </m:num>
                                <m:den>
                                  <m:r>
                                    <a:rPr lang="en-US" sz="2000">
                                      <a:effectLst/>
                                      <a:latin typeface="Cambria Math" panose="02040503050406030204" pitchFamily="18" charset="0"/>
                                      <a:ea typeface="Cambria Math" panose="02040503050406030204" pitchFamily="18" charset="0"/>
                                    </a:rPr>
                                    <m:t>19</m:t>
                                  </m:r>
                                </m:den>
                              </m:f>
                              <m:r>
                                <a:rPr lang="en-US" sz="2000">
                                  <a:effectLst/>
                                  <a:latin typeface="Cambria Math" panose="02040503050406030204" pitchFamily="18" charset="0"/>
                                  <a:ea typeface="Cambria Math" panose="02040503050406030204" pitchFamily="18" charset="0"/>
                                </a:rPr>
                                <m:t> =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39</m:t>
                                  </m:r>
                                </m:num>
                                <m:den>
                                  <m:r>
                                    <a:rPr lang="en-US" sz="2000">
                                      <a:effectLst/>
                                      <a:latin typeface="Cambria Math" panose="02040503050406030204" pitchFamily="18" charset="0"/>
                                      <a:ea typeface="Cambria Math" panose="02040503050406030204" pitchFamily="18" charset="0"/>
                                    </a:rPr>
                                    <m:t>57</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3</m:t>
                                  </m:r>
                                </m:den>
                              </m:f>
                              <m:r>
                                <a:rPr lang="en-US" sz="2000">
                                  <a:effectLst/>
                                  <a:latin typeface="Cambria Math" panose="02040503050406030204" pitchFamily="18" charset="0"/>
                                  <a:ea typeface="Cambria Math" panose="02040503050406030204" pitchFamily="18" charset="0"/>
                                </a:rPr>
                                <m:t> =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38</m:t>
                                  </m:r>
                                </m:num>
                                <m:den>
                                  <m:r>
                                    <a:rPr lang="en-US" sz="2000">
                                      <a:effectLst/>
                                      <a:latin typeface="Cambria Math" panose="02040503050406030204" pitchFamily="18" charset="0"/>
                                      <a:ea typeface="Cambria Math" panose="02040503050406030204" pitchFamily="18" charset="0"/>
                                    </a:rPr>
                                    <m:t>57</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Therefore,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13</m:t>
                                  </m:r>
                                </m:num>
                                <m:den>
                                  <m:r>
                                    <a:rPr lang="en-US" sz="2000">
                                      <a:effectLst/>
                                      <a:latin typeface="Cambria Math" panose="02040503050406030204" pitchFamily="18" charset="0"/>
                                      <a:ea typeface="Cambria Math" panose="02040503050406030204" pitchFamily="18" charset="0"/>
                                    </a:rPr>
                                    <m:t>19</m:t>
                                  </m:r>
                                </m:den>
                              </m:f>
                              <m:r>
                                <a:rPr lang="en-US" sz="2000">
                                  <a:effectLst/>
                                  <a:latin typeface="Cambria Math" panose="02040503050406030204" pitchFamily="18" charset="0"/>
                                  <a:ea typeface="Cambria Math" panose="02040503050406030204" pitchFamily="18" charset="0"/>
                                </a:rPr>
                                <m:t> </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is greater than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3</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8190" marR="58190" marT="0" marB="0" anchor="ctr">
                        <a:lnL w="12700" cap="flat" cmpd="sng" algn="ctr">
                          <a:noFill/>
                          <a:prstDash val="solid"/>
                          <a:round/>
                          <a:headEnd type="none" w="med" len="med"/>
                          <a:tailEnd type="none" w="med" len="med"/>
                        </a:lnL>
                      </a:tcP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091615182"/>
                  </p:ext>
                </p:extLst>
              </p:nvPr>
            </p:nvGraphicFramePr>
            <p:xfrm>
              <a:off x="517974" y="2611991"/>
              <a:ext cx="7906776" cy="3588609"/>
            </p:xfrm>
            <a:graphic>
              <a:graphicData uri="http://schemas.openxmlformats.org/drawingml/2006/table">
                <a:tbl>
                  <a:tblPr firstRow="1" firstCol="1" bandRow="1">
                    <a:tableStyleId>{5940675A-B579-460E-94D1-54222C63F5DA}</a:tableStyleId>
                  </a:tblPr>
                  <a:tblGrid>
                    <a:gridCol w="1396397"/>
                    <a:gridCol w="6510379"/>
                  </a:tblGrid>
                  <a:tr h="1386746">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Amy:</a:t>
                          </a:r>
                        </a:p>
                      </a:txBody>
                      <a:tcPr marL="58190" marR="58190" marT="0" marB="0" anchor="ctr">
                        <a:lnR w="12700" cap="flat" cmpd="sng" algn="ctr">
                          <a:noFill/>
                          <a:prstDash val="solid"/>
                          <a:round/>
                          <a:headEnd type="none" w="med" len="med"/>
                          <a:tailEnd type="none" w="med" len="med"/>
                        </a:lnR>
                      </a:tcPr>
                    </a:tc>
                    <a:tc>
                      <a:txBody>
                        <a:bodyPr/>
                        <a:lstStyle/>
                        <a:p>
                          <a:endParaRPr lang="en-US"/>
                        </a:p>
                      </a:txBody>
                      <a:tcPr marL="58190" marR="58190" marT="0" marB="0" anchor="ctr">
                        <a:lnL w="12700" cap="flat" cmpd="sng" algn="ctr">
                          <a:noFill/>
                          <a:prstDash val="solid"/>
                          <a:round/>
                          <a:headEnd type="none" w="med" len="med"/>
                          <a:tailEnd type="none" w="med" len="med"/>
                        </a:lnL>
                        <a:blipFill rotWithShape="0">
                          <a:blip r:embed="rId6"/>
                          <a:stretch>
                            <a:fillRect l="-21495" t="-439" r="-187" b="-159649"/>
                          </a:stretch>
                        </a:blipFill>
                      </a:tcPr>
                    </a:tc>
                  </a:tr>
                  <a:tr h="2201863">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Brandon:</a:t>
                          </a:r>
                        </a:p>
                      </a:txBody>
                      <a:tcPr marL="58190" marR="58190" marT="0" marB="0" anchor="ctr">
                        <a:lnR w="12700" cap="flat" cmpd="sng" algn="ctr">
                          <a:noFill/>
                          <a:prstDash val="solid"/>
                          <a:round/>
                          <a:headEnd type="none" w="med" len="med"/>
                          <a:tailEnd type="none" w="med" len="med"/>
                        </a:lnR>
                      </a:tcPr>
                    </a:tc>
                    <a:tc>
                      <a:txBody>
                        <a:bodyPr/>
                        <a:lstStyle/>
                        <a:p>
                          <a:endParaRPr lang="en-US"/>
                        </a:p>
                      </a:txBody>
                      <a:tcPr marL="58190" marR="58190" marT="0" marB="0" anchor="ctr">
                        <a:lnL w="12700" cap="flat" cmpd="sng" algn="ctr">
                          <a:noFill/>
                          <a:prstDash val="solid"/>
                          <a:round/>
                          <a:headEnd type="none" w="med" len="med"/>
                          <a:tailEnd type="none" w="med" len="med"/>
                        </a:lnL>
                        <a:blipFill rotWithShape="0">
                          <a:blip r:embed="rId6"/>
                          <a:stretch>
                            <a:fillRect l="-21495" t="-63260" r="-187" b="-552"/>
                          </a:stretch>
                        </a:blipFill>
                      </a:tcPr>
                    </a:tc>
                  </a:tr>
                </a:tbl>
              </a:graphicData>
            </a:graphic>
          </p:graphicFrame>
        </mc:Fallback>
      </mc:AlternateContent>
      <p:sp>
        <p:nvSpPr>
          <p:cNvPr id="10"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171</a:t>
            </a:r>
            <a:endParaRPr i="1" dirty="0">
              <a:latin typeface="Calibri"/>
              <a:ea typeface="Calibri"/>
              <a:cs typeface="Calibri"/>
              <a:sym typeface="Calibri"/>
            </a:endParaRPr>
          </a:p>
        </p:txBody>
      </p:sp>
      <p:pic>
        <p:nvPicPr>
          <p:cNvPr id="11"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173707" y="3753458"/>
            <a:ext cx="9995252" cy="2123658"/>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Explain which student’s reasoning you agree with.</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Choose one student you didn’t agree with, and explain why you did not agree.</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275199918"/>
                  </p:ext>
                </p:extLst>
              </p:nvPr>
            </p:nvGraphicFramePr>
            <p:xfrm>
              <a:off x="2217945" y="405040"/>
              <a:ext cx="7906776" cy="2773427"/>
            </p:xfrm>
            <a:graphic>
              <a:graphicData uri="http://schemas.openxmlformats.org/drawingml/2006/table">
                <a:tbl>
                  <a:tblPr firstRow="1" firstCol="1" bandRow="1">
                    <a:tableStyleId>{5940675A-B579-460E-94D1-54222C63F5DA}</a:tableStyleId>
                  </a:tblPr>
                  <a:tblGrid>
                    <a:gridCol w="1396397">
                      <a:extLst>
                        <a:ext uri="{9D8B030D-6E8A-4147-A177-3AD203B41FA5}">
                          <a16:colId xmlns:a16="http://schemas.microsoft.com/office/drawing/2014/main" val="20000"/>
                        </a:ext>
                      </a:extLst>
                    </a:gridCol>
                    <a:gridCol w="6510379">
                      <a:extLst>
                        <a:ext uri="{9D8B030D-6E8A-4147-A177-3AD203B41FA5}">
                          <a16:colId xmlns:a16="http://schemas.microsoft.com/office/drawing/2014/main" val="20001"/>
                        </a:ext>
                      </a:extLst>
                    </a:gridCol>
                  </a:tblGrid>
                  <a:tr h="665978">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Carlos:</a:t>
                          </a:r>
                        </a:p>
                      </a:txBody>
                      <a:tcPr marL="58190" marR="58190" marT="0" marB="0" anchor="ctr">
                        <a:lnR w="12700" cap="flat" cmpd="sng" algn="ctr">
                          <a:noFill/>
                          <a:prstDash val="solid"/>
                          <a:round/>
                          <a:headEnd type="none" w="med" len="med"/>
                          <a:tailEnd type="none" w="med" len="med"/>
                        </a:lnR>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changed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13</m:t>
                                  </m:r>
                                </m:num>
                                <m:den>
                                  <m:r>
                                    <a:rPr lang="en-US" sz="2000">
                                      <a:effectLst/>
                                      <a:latin typeface="Cambria Math" panose="02040503050406030204" pitchFamily="18" charset="0"/>
                                      <a:ea typeface="Cambria Math" panose="02040503050406030204" pitchFamily="18" charset="0"/>
                                    </a:rPr>
                                    <m:t>19</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14</m:t>
                                  </m:r>
                                </m:num>
                                <m:den>
                                  <m:r>
                                    <a:rPr lang="en-US" sz="2000">
                                      <a:effectLst/>
                                      <a:latin typeface="Cambria Math" panose="02040503050406030204" pitchFamily="18" charset="0"/>
                                      <a:ea typeface="Cambria Math" panose="02040503050406030204" pitchFamily="18" charset="0"/>
                                    </a:rPr>
                                    <m:t>20</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Then I thought of a pizza, and that’s a lot of little pieces. So, I’m about 70% confident that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3</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is bigger than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13</m:t>
                                  </m:r>
                                </m:num>
                                <m:den>
                                  <m:r>
                                    <a:rPr lang="en-US" sz="2000">
                                      <a:effectLst/>
                                      <a:latin typeface="Cambria Math" panose="02040503050406030204" pitchFamily="18" charset="0"/>
                                      <a:ea typeface="Cambria Math" panose="02040503050406030204" pitchFamily="18" charset="0"/>
                                    </a:rPr>
                                    <m:t>19</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8190" marR="58190" marT="0" marB="0" anchor="ctr">
                        <a:lnL w="12700" cap="flat" cmpd="sng" algn="ctr">
                          <a:noFill/>
                          <a:prstDash val="solid"/>
                          <a:round/>
                          <a:headEnd type="none" w="med" len="med"/>
                          <a:tailEnd type="none" w="med" len="med"/>
                        </a:lnL>
                      </a:tcPr>
                    </a:tc>
                    <a:extLst>
                      <a:ext uri="{0D108BD9-81ED-4DB2-BD59-A6C34878D82A}">
                        <a16:rowId xmlns:a16="http://schemas.microsoft.com/office/drawing/2014/main" val="10000"/>
                      </a:ext>
                    </a:extLst>
                  </a:tr>
                  <a:tr h="481901">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Dimitri:</a:t>
                          </a:r>
                        </a:p>
                      </a:txBody>
                      <a:tcPr marL="58190" marR="58190" marT="0" marB="0" anchor="ctr">
                        <a:lnR w="12700" cap="flat" cmpd="sng" algn="ctr">
                          <a:noFill/>
                          <a:prstDash val="solid"/>
                          <a:round/>
                          <a:headEnd type="none" w="med" len="med"/>
                          <a:tailEnd type="none" w="med" len="med"/>
                        </a:lnR>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know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3</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12</m:t>
                                  </m:r>
                                </m:num>
                                <m:den>
                                  <m:r>
                                    <a:rPr lang="en-US" sz="2000">
                                      <a:effectLst/>
                                      <a:latin typeface="Cambria Math" panose="02040503050406030204" pitchFamily="18" charset="0"/>
                                      <a:ea typeface="Cambria Math" panose="02040503050406030204" pitchFamily="18" charset="0"/>
                                    </a:rPr>
                                    <m:t>18</m:t>
                                  </m:r>
                                </m:den>
                              </m:f>
                              <m:r>
                                <a:rPr lang="en-US" sz="2000">
                                  <a:effectLst/>
                                  <a:latin typeface="Cambria Math" panose="02040503050406030204" pitchFamily="18" charset="0"/>
                                  <a:ea typeface="Cambria Math" panose="02040503050406030204" pitchFamily="18" charset="0"/>
                                </a:rPr>
                                <m:t> </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if I multiply the top and bottom by </a:t>
                          </a:r>
                          <a14:m>
                            <m:oMath xmlns:m="http://schemas.openxmlformats.org/officeDocument/2006/math">
                              <m:r>
                                <a:rPr lang="en-US" sz="2000">
                                  <a:effectLst/>
                                  <a:latin typeface="Cambria Math" panose="02040503050406030204" pitchFamily="18" charset="0"/>
                                  <a:ea typeface="Cambria Math" panose="02040503050406030204" pitchFamily="18" charset="0"/>
                                </a:rPr>
                                <m:t>6</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12</m:t>
                                  </m:r>
                                </m:num>
                                <m:den>
                                  <m:r>
                                    <a:rPr lang="en-US" sz="2000">
                                      <a:effectLst/>
                                      <a:latin typeface="Cambria Math" panose="02040503050406030204" pitchFamily="18" charset="0"/>
                                      <a:ea typeface="Cambria Math" panose="02040503050406030204" pitchFamily="18" charset="0"/>
                                    </a:rPr>
                                    <m:t>18</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is bigger than </a:t>
                          </a: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13</m:t>
                                  </m:r>
                                </m:num>
                                <m:den>
                                  <m:r>
                                    <a:rPr lang="en-US" sz="2000">
                                      <a:effectLst/>
                                      <a:latin typeface="Cambria Math" panose="02040503050406030204" pitchFamily="18" charset="0"/>
                                      <a:ea typeface="Cambria Math" panose="02040503050406030204" pitchFamily="18" charset="0"/>
                                    </a:rPr>
                                    <m:t>19</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I’m </a:t>
                          </a:r>
                          <a14:m>
                            <m:oMath xmlns:m="http://schemas.openxmlformats.org/officeDocument/2006/math">
                              <m:r>
                                <a:rPr lang="en-US" sz="2000">
                                  <a:effectLst/>
                                  <a:latin typeface="Cambria Math" panose="02040503050406030204" pitchFamily="18" charset="0"/>
                                  <a:ea typeface="Cambria Math" panose="02040503050406030204" pitchFamily="18" charset="0"/>
                                </a:rPr>
                                <m:t>90%</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confident.</a:t>
                          </a: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58190" marR="58190" marT="0" marB="0" anchor="ctr">
                        <a:lnL w="12700" cap="flat" cmpd="sng" algn="ctr">
                          <a:noFill/>
                          <a:prstDash val="solid"/>
                          <a:round/>
                          <a:headEnd type="none" w="med" len="med"/>
                          <a:tailEnd type="none" w="med" len="med"/>
                        </a:lnL>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275199918"/>
                  </p:ext>
                </p:extLst>
              </p:nvPr>
            </p:nvGraphicFramePr>
            <p:xfrm>
              <a:off x="693945" y="405039"/>
              <a:ext cx="7906776" cy="2802319"/>
            </p:xfrm>
            <a:graphic>
              <a:graphicData uri="http://schemas.openxmlformats.org/drawingml/2006/table">
                <a:tbl>
                  <a:tblPr firstRow="1" firstCol="1" bandRow="1">
                    <a:tableStyleId>{5940675A-B579-460E-94D1-54222C63F5DA}</a:tableStyleId>
                  </a:tblPr>
                  <a:tblGrid>
                    <a:gridCol w="1396397"/>
                    <a:gridCol w="6510379"/>
                  </a:tblGrid>
                  <a:tr h="1549337">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Carlos:</a:t>
                          </a:r>
                        </a:p>
                      </a:txBody>
                      <a:tcPr marL="58190" marR="58190" marT="0" marB="0" anchor="ctr">
                        <a:lnR w="12700" cap="flat" cmpd="sng" algn="ctr">
                          <a:noFill/>
                          <a:prstDash val="solid"/>
                          <a:round/>
                          <a:headEnd type="none" w="med" len="med"/>
                          <a:tailEnd type="none" w="med" len="med"/>
                        </a:lnR>
                      </a:tcPr>
                    </a:tc>
                    <a:tc>
                      <a:txBody>
                        <a:bodyPr/>
                        <a:lstStyle/>
                        <a:p>
                          <a:endParaRPr lang="en-US"/>
                        </a:p>
                      </a:txBody>
                      <a:tcPr marL="58190" marR="58190" marT="0" marB="0" anchor="ctr">
                        <a:lnL w="12700" cap="flat" cmpd="sng" algn="ctr">
                          <a:noFill/>
                          <a:prstDash val="solid"/>
                          <a:round/>
                          <a:headEnd type="none" w="med" len="med"/>
                          <a:tailEnd type="none" w="med" len="med"/>
                        </a:lnL>
                        <a:blipFill rotWithShape="0">
                          <a:blip r:embed="rId4"/>
                          <a:stretch>
                            <a:fillRect l="-21515" t="-392" r="-187" b="-81569"/>
                          </a:stretch>
                        </a:blipFill>
                      </a:tcPr>
                    </a:tc>
                  </a:tr>
                  <a:tr h="1252982">
                    <a:tc>
                      <a:txBody>
                        <a:bodyPr/>
                        <a:lstStyle/>
                        <a:p>
                          <a:pPr marL="0" marR="0">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Dimitri:</a:t>
                          </a:r>
                        </a:p>
                      </a:txBody>
                      <a:tcPr marL="58190" marR="58190" marT="0" marB="0" anchor="ctr">
                        <a:lnR w="12700" cap="flat" cmpd="sng" algn="ctr">
                          <a:noFill/>
                          <a:prstDash val="solid"/>
                          <a:round/>
                          <a:headEnd type="none" w="med" len="med"/>
                          <a:tailEnd type="none" w="med" len="med"/>
                        </a:lnR>
                      </a:tcPr>
                    </a:tc>
                    <a:tc>
                      <a:txBody>
                        <a:bodyPr/>
                        <a:lstStyle/>
                        <a:p>
                          <a:endParaRPr lang="en-US"/>
                        </a:p>
                      </a:txBody>
                      <a:tcPr marL="58190" marR="58190" marT="0" marB="0" anchor="ctr">
                        <a:lnL w="12700" cap="flat" cmpd="sng" algn="ctr">
                          <a:noFill/>
                          <a:prstDash val="solid"/>
                          <a:round/>
                          <a:headEnd type="none" w="med" len="med"/>
                          <a:tailEnd type="none" w="med" len="med"/>
                        </a:lnL>
                        <a:blipFill rotWithShape="0">
                          <a:blip r:embed="rId4"/>
                          <a:stretch>
                            <a:fillRect l="-21515" t="-124272" r="-187" b="-971"/>
                          </a:stretch>
                        </a:blipFill>
                      </a:tcPr>
                    </a:tc>
                  </a:tr>
                </a:tbl>
              </a:graphicData>
            </a:graphic>
          </p:graphicFrame>
        </mc:Fallback>
      </mc:AlternateContent>
      <p:sp>
        <p:nvSpPr>
          <p:cNvPr id="8"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171</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2619" y="-810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9798"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6961" y="-7442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11.2.2 Guided Instruction: Understanding Differences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489661" y="13815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236961" y="1255394"/>
                <a:ext cx="10125676" cy="2800767"/>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Finding the </a:t>
                </a:r>
                <a:r>
                  <a:rPr lang="en-US" sz="2200" b="1" dirty="0">
                    <a:latin typeface="Verdana" panose="020B0604030504040204" pitchFamily="34" charset="0"/>
                    <a:ea typeface="Verdana" panose="020B0604030504040204" pitchFamily="34" charset="0"/>
                    <a:cs typeface="Verdana" panose="020B0604030504040204" pitchFamily="34" charset="0"/>
                  </a:rPr>
                  <a:t>difference</a:t>
                </a:r>
                <a:r>
                  <a:rPr lang="en-US" sz="2200" dirty="0">
                    <a:latin typeface="Verdana" panose="020B0604030504040204" pitchFamily="34" charset="0"/>
                    <a:ea typeface="Verdana" panose="020B0604030504040204" pitchFamily="34" charset="0"/>
                    <a:cs typeface="Verdana" panose="020B0604030504040204" pitchFamily="34" charset="0"/>
                  </a:rPr>
                  <a:t> of two numbers means to </a:t>
                </a:r>
                <a:r>
                  <a:rPr lang="en-US" sz="2200" i="1" dirty="0">
                    <a:latin typeface="Verdana" panose="020B0604030504040204" pitchFamily="34" charset="0"/>
                    <a:ea typeface="Verdana" panose="020B0604030504040204" pitchFamily="34" charset="0"/>
                    <a:cs typeface="Verdana" panose="020B0604030504040204" pitchFamily="34" charset="0"/>
                  </a:rPr>
                  <a:t>subtract the numbers</a:t>
                </a:r>
                <a:r>
                  <a:rPr lang="en-US" sz="2200" dirty="0">
                    <a:latin typeface="Verdana" panose="020B0604030504040204" pitchFamily="34" charset="0"/>
                    <a:ea typeface="Verdana" panose="020B0604030504040204" pitchFamily="34" charset="0"/>
                    <a:cs typeface="Verdana" panose="020B0604030504040204" pitchFamily="34" charset="0"/>
                  </a:rPr>
                  <a:t>. When finding the difference between two numbers, subtract the numbers in the order they are named. For example, the difference of 3.5 and </a:t>
                </a:r>
                <a14:m>
                  <m:oMath xmlns:m="http://schemas.openxmlformats.org/officeDocument/2006/math">
                    <m:r>
                      <a:rPr lang="en-US" sz="2200" i="1">
                        <a:latin typeface="Cambria Math" panose="02040503050406030204" pitchFamily="18" charset="0"/>
                        <a:ea typeface="Cambria Math" panose="02040503050406030204" pitchFamily="18" charset="0"/>
                      </a:rPr>
                      <m:t>−1.5</m:t>
                    </m:r>
                  </m:oMath>
                </a14:m>
                <a:r>
                  <a:rPr lang="en-US" sz="2200" dirty="0">
                    <a:latin typeface="Verdana" panose="020B0604030504040204" pitchFamily="34" charset="0"/>
                    <a:ea typeface="Verdana" panose="020B0604030504040204" pitchFamily="34" charset="0"/>
                    <a:cs typeface="Verdana" panose="020B0604030504040204" pitchFamily="34" charset="0"/>
                  </a:rPr>
                  <a:t> is represented by the subtraction expression </a:t>
                </a:r>
                <a14:m>
                  <m:oMath xmlns:m="http://schemas.openxmlformats.org/officeDocument/2006/math">
                    <m:r>
                      <a:rPr lang="en-US" sz="2200" i="1">
                        <a:latin typeface="Cambria Math" panose="02040503050406030204" pitchFamily="18" charset="0"/>
                        <a:ea typeface="Cambria Math" panose="02040503050406030204" pitchFamily="18" charset="0"/>
                      </a:rPr>
                      <m:t>3.5−</m:t>
                    </m:r>
                    <m:d>
                      <m:dPr>
                        <m:ctrlPr>
                          <a:rPr lang="en-US" sz="2200" i="1">
                            <a:latin typeface="Cambria Math" panose="02040503050406030204" pitchFamily="18" charset="0"/>
                            <a:ea typeface="Cambria Math" panose="02040503050406030204" pitchFamily="18" charset="0"/>
                          </a:rPr>
                        </m:ctrlPr>
                      </m:dPr>
                      <m:e>
                        <m:sPre>
                          <m:sPrePr>
                            <m:ctrlPr>
                              <a:rPr lang="en-US" sz="2200" i="1">
                                <a:latin typeface="Cambria Math" panose="02040503050406030204" pitchFamily="18" charset="0"/>
                                <a:ea typeface="Cambria Math" panose="02040503050406030204" pitchFamily="18" charset="0"/>
                              </a:rPr>
                            </m:ctrlPr>
                          </m:sPrePr>
                          <m:sub>
                            <m:r>
                              <a:rPr lang="en-US" sz="2200" i="1">
                                <a:latin typeface="Cambria Math" panose="02040503050406030204" pitchFamily="18" charset="0"/>
                                <a:ea typeface="Cambria Math" panose="02040503050406030204" pitchFamily="18" charset="0"/>
                              </a:rPr>
                              <m:t> </m:t>
                            </m:r>
                          </m:sub>
                          <m:sup>
                            <m:r>
                              <a:rPr lang="en-US" sz="2200" i="1">
                                <a:latin typeface="Cambria Math" panose="02040503050406030204" pitchFamily="18" charset="0"/>
                                <a:ea typeface="Cambria Math" panose="02040503050406030204" pitchFamily="18" charset="0"/>
                              </a:rPr>
                              <m:t>−</m:t>
                            </m:r>
                          </m:sup>
                          <m:e>
                            <m:r>
                              <a:rPr lang="en-US" sz="2200" i="1">
                                <a:latin typeface="Cambria Math" panose="02040503050406030204" pitchFamily="18" charset="0"/>
                                <a:ea typeface="Cambria Math" panose="02040503050406030204" pitchFamily="18" charset="0"/>
                              </a:rPr>
                              <m:t>1.5</m:t>
                            </m:r>
                          </m:e>
                        </m:sPre>
                      </m:e>
                    </m:d>
                  </m:oMath>
                </a14:m>
                <a:r>
                  <a:rPr lang="en-US" sz="2200" dirty="0">
                    <a:latin typeface="Verdana" panose="020B0604030504040204" pitchFamily="34" charset="0"/>
                    <a:ea typeface="Verdana" panose="020B0604030504040204" pitchFamily="34" charset="0"/>
                    <a:cs typeface="Verdana" panose="020B0604030504040204" pitchFamily="34" charset="0"/>
                  </a:rPr>
                  <a:t>. </a:t>
                </a:r>
              </a:p>
              <a:p>
                <a:r>
                  <a:rPr lang="en-US" sz="2200" dirty="0">
                    <a:latin typeface="Verdana" panose="020B0604030504040204" pitchFamily="34" charset="0"/>
                    <a:ea typeface="Verdana" panose="020B0604030504040204" pitchFamily="34" charset="0"/>
                    <a:cs typeface="Verdana" panose="020B0604030504040204" pitchFamily="34" charset="0"/>
                  </a:rPr>
                  <a:t> </a:t>
                </a:r>
              </a:p>
              <a:p>
                <a:r>
                  <a:rPr lang="en-US" sz="2200" dirty="0">
                    <a:latin typeface="Verdana" panose="020B0604030504040204" pitchFamily="34" charset="0"/>
                    <a:ea typeface="Verdana" panose="020B0604030504040204" pitchFamily="34" charset="0"/>
                    <a:cs typeface="Verdana" panose="020B0604030504040204" pitchFamily="34" charset="0"/>
                  </a:rPr>
                  <a:t>The difference of two numbers is how far apart the </a:t>
                </a:r>
              </a:p>
              <a:p>
                <a:r>
                  <a:rPr lang="en-US" sz="2200" dirty="0">
                    <a:latin typeface="Verdana" panose="020B0604030504040204" pitchFamily="34" charset="0"/>
                    <a:ea typeface="Verdana" panose="020B0604030504040204" pitchFamily="34" charset="0"/>
                    <a:cs typeface="Verdana" panose="020B0604030504040204" pitchFamily="34" charset="0"/>
                  </a:rPr>
                  <a:t>numbers are on a number line. </a:t>
                </a: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236961" y="1255394"/>
                <a:ext cx="10125676" cy="2800767"/>
              </a:xfrm>
              <a:prstGeom prst="rect">
                <a:avLst/>
              </a:prstGeom>
              <a:blipFill rotWithShape="0">
                <a:blip r:embed="rId4"/>
                <a:stretch>
                  <a:fillRect l="-783" t="-1307" r="-1626" b="-3704"/>
                </a:stretch>
              </a:blipFill>
            </p:spPr>
            <p:txBody>
              <a:bodyPr/>
              <a:lstStyle/>
              <a:p>
                <a:r>
                  <a:rPr lang="en-US">
                    <a:noFill/>
                  </a:rPr>
                  <a:t> </a:t>
                </a:r>
              </a:p>
            </p:txBody>
          </p:sp>
        </mc:Fallback>
      </mc:AlternateContent>
      <p:pic>
        <p:nvPicPr>
          <p:cNvPr id="8" name="Picture 7" descr="Graphical user interface, text&#10;&#10;Description automatically generated"/>
          <p:cNvPicPr/>
          <p:nvPr/>
        </p:nvPicPr>
        <p:blipFill rotWithShape="1">
          <a:blip r:embed="rId5" cstate="screen">
            <a:extLst>
              <a:ext uri="{28A0092B-C50C-407E-A947-70E740481C1C}">
                <a14:useLocalDpi xmlns:a14="http://schemas.microsoft.com/office/drawing/2010/main"/>
              </a:ext>
            </a:extLst>
          </a:blip>
          <a:srcRect t="42328" b="44875"/>
          <a:stretch/>
        </p:blipFill>
        <p:spPr bwMode="auto">
          <a:xfrm>
            <a:off x="2519850" y="5041900"/>
            <a:ext cx="6946900" cy="660400"/>
          </a:xfrm>
          <a:prstGeom prst="rect">
            <a:avLst/>
          </a:prstGeom>
          <a:ln>
            <a:noFill/>
          </a:ln>
          <a:extLst>
            <a:ext uri="{53640926-AAD7-44D8-BBD7-CCE9431645EC}">
              <a14:shadowObscured xmlns:a14="http://schemas.microsoft.com/office/drawing/2010/main"/>
            </a:ext>
          </a:extLst>
        </p:spPr>
      </p:pic>
      <p:grpSp>
        <p:nvGrpSpPr>
          <p:cNvPr id="10" name="Group 9"/>
          <p:cNvGrpSpPr/>
          <p:nvPr/>
        </p:nvGrpSpPr>
        <p:grpSpPr>
          <a:xfrm>
            <a:off x="4988242" y="5108121"/>
            <a:ext cx="3358504" cy="247650"/>
            <a:chOff x="0" y="0"/>
            <a:chExt cx="3359023" cy="247650"/>
          </a:xfrm>
        </p:grpSpPr>
        <p:sp>
          <p:nvSpPr>
            <p:cNvPr id="11" name="Oval 10"/>
            <p:cNvSpPr/>
            <p:nvPr/>
          </p:nvSpPr>
          <p:spPr>
            <a:xfrm>
              <a:off x="0" y="95250"/>
              <a:ext cx="155448" cy="1524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Oval 13"/>
            <p:cNvSpPr/>
            <p:nvPr/>
          </p:nvSpPr>
          <p:spPr>
            <a:xfrm>
              <a:off x="3203575" y="95250"/>
              <a:ext cx="155448" cy="1524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5" name="Straight Arrow Connector 14"/>
            <p:cNvCxnSpPr/>
            <p:nvPr/>
          </p:nvCxnSpPr>
          <p:spPr>
            <a:xfrm>
              <a:off x="76188" y="0"/>
              <a:ext cx="3282327" cy="0"/>
            </a:xfrm>
            <a:prstGeom prst="straightConnector1">
              <a:avLst/>
            </a:prstGeom>
            <a:ln w="635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6" name="Text Box 2"/>
              <p:cNvSpPr txBox="1">
                <a:spLocks noChangeArrowheads="1"/>
              </p:cNvSpPr>
              <p:nvPr/>
            </p:nvSpPr>
            <p:spPr bwMode="auto">
              <a:xfrm>
                <a:off x="5078842" y="4631780"/>
                <a:ext cx="2778760" cy="524246"/>
              </a:xfrm>
              <a:prstGeom prst="rect">
                <a:avLst/>
              </a:prstGeom>
              <a:noFill/>
              <a:ln w="9525">
                <a:noFill/>
                <a:miter lim="800000"/>
                <a:headEnd/>
                <a:tailEnd/>
              </a:ln>
            </p:spPr>
            <p:txBody>
              <a:bodyPr rot="0" vert="horz" wrap="square" lIns="91440" tIns="45720" rIns="91440" bIns="45720" anchor="t" anchorCtr="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Yu Mincho" panose="02020400000000000000" pitchFamily="18" charset="-128"/>
                          <a:cs typeface="Times New Roman" panose="02020603050405020304" pitchFamily="18" charset="0"/>
                        </a:rPr>
                        <m:t>+5</m:t>
                      </m:r>
                    </m:oMath>
                  </m:oMathPara>
                </a14:m>
                <a:endParaRPr lang="en-US" sz="2000" dirty="0">
                  <a:latin typeface="Calibri" panose="020F0502020204030204" pitchFamily="34" charset="0"/>
                  <a:ea typeface="Yu Mincho" panose="02020400000000000000" pitchFamily="18" charset="-128"/>
                  <a:cs typeface="Times New Roman" panose="02020603050405020304" pitchFamily="18" charset="0"/>
                </a:endParaRPr>
              </a:p>
            </p:txBody>
          </p:sp>
        </mc:Choice>
        <mc:Fallback xmlns="">
          <p:sp>
            <p:nvSpPr>
              <p:cNvPr id="16" name="Text Box 2"/>
              <p:cNvSpPr txBox="1">
                <a:spLocks noRot="1" noChangeAspect="1" noMove="1" noResize="1" noEditPoints="1" noAdjustHandles="1" noChangeArrowheads="1" noChangeShapeType="1" noTextEdit="1"/>
              </p:cNvSpPr>
              <p:nvPr/>
            </p:nvSpPr>
            <p:spPr bwMode="auto">
              <a:xfrm>
                <a:off x="3554842" y="4631780"/>
                <a:ext cx="2778760" cy="524246"/>
              </a:xfrm>
              <a:prstGeom prst="rect">
                <a:avLst/>
              </a:prstGeom>
              <a:blipFill rotWithShape="0">
                <a:blip r:embed="rId7"/>
                <a:stretch>
                  <a:fillRect/>
                </a:stretch>
              </a:blipFill>
              <a:ln w="9525">
                <a:noFill/>
                <a:miter lim="800000"/>
                <a:headEnd/>
                <a:tailEnd/>
              </a:ln>
            </p:spPr>
            <p:txBody>
              <a:bodyPr/>
              <a:lstStyle/>
              <a:p>
                <a:r>
                  <a:rPr lang="en-US">
                    <a:noFill/>
                  </a:rPr>
                  <a:t> </a:t>
                </a:r>
              </a:p>
            </p:txBody>
          </p:sp>
        </mc:Fallback>
      </mc:AlternateContent>
      <p:sp>
        <p:nvSpPr>
          <p:cNvPr id="18"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172</a:t>
            </a:r>
            <a:endParaRPr i="1" dirty="0">
              <a:latin typeface="Calibri"/>
              <a:ea typeface="Calibri"/>
              <a:cs typeface="Calibri"/>
              <a:sym typeface="Calibri"/>
            </a:endParaRPr>
          </a:p>
        </p:txBody>
      </p:sp>
      <p:pic>
        <p:nvPicPr>
          <p:cNvPr id="19"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872"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932432" y="288745"/>
                <a:ext cx="8327136" cy="5170646"/>
              </a:xfrm>
              <a:prstGeom prst="rect">
                <a:avLst/>
              </a:prstGeom>
              <a:noFill/>
            </p:spPr>
            <p:txBody>
              <a:bodyPr wrap="square" rtlCol="0">
                <a:spAutoFit/>
              </a:bodyPr>
              <a:lstStyle/>
              <a:p>
                <a:pPr marL="457200" indent="-457200">
                  <a:lnSpc>
                    <a:spcPct val="250000"/>
                  </a:lnSpc>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250000"/>
                  </a:lnSpc>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250000"/>
                  </a:lnSpc>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The numbers 3.5 and </a:t>
                </a:r>
                <a14:m>
                  <m:oMath xmlns:m="http://schemas.openxmlformats.org/officeDocument/2006/math">
                    <m:r>
                      <a:rPr lang="en-US" sz="2200" i="1">
                        <a:latin typeface="Cambria Math" panose="02040503050406030204" pitchFamily="18" charset="0"/>
                        <a:ea typeface="Cambria Math" panose="02040503050406030204" pitchFamily="18" charset="0"/>
                      </a:rPr>
                      <m:t>−1.5</m:t>
                    </m:r>
                  </m:oMath>
                </a14:m>
                <a:r>
                  <a:rPr lang="en-US" sz="2200" dirty="0">
                    <a:latin typeface="Verdana" panose="020B0604030504040204" pitchFamily="34" charset="0"/>
                    <a:ea typeface="Verdana" panose="020B0604030504040204" pitchFamily="34" charset="0"/>
                    <a:cs typeface="Verdana" panose="020B0604030504040204" pitchFamily="34" charset="0"/>
                  </a:rPr>
                  <a:t> are ______ units apart. The direction to move from the second number </a:t>
                </a:r>
                <a14:m>
                  <m:oMath xmlns:m="http://schemas.openxmlformats.org/officeDocument/2006/math">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−1.5</m:t>
                        </m:r>
                      </m:e>
                    </m:d>
                  </m:oMath>
                </a14:m>
                <a:r>
                  <a:rPr lang="en-US" sz="2200" dirty="0">
                    <a:latin typeface="Verdana" panose="020B0604030504040204" pitchFamily="34" charset="0"/>
                    <a:ea typeface="Verdana" panose="020B0604030504040204" pitchFamily="34" charset="0"/>
                    <a:cs typeface="Verdana" panose="020B0604030504040204" pitchFamily="34" charset="0"/>
                  </a:rPr>
                  <a:t> to the first number </a:t>
                </a:r>
                <a14:m>
                  <m:oMath xmlns:m="http://schemas.openxmlformats.org/officeDocument/2006/math">
                    <m:r>
                      <a:rPr lang="en-US" sz="2200" i="1">
                        <a:latin typeface="Cambria Math" panose="02040503050406030204" pitchFamily="18" charset="0"/>
                        <a:ea typeface="Cambria Math" panose="02040503050406030204" pitchFamily="18" charset="0"/>
                      </a:rPr>
                      <m:t>(3.5)</m:t>
                    </m:r>
                  </m:oMath>
                </a14:m>
                <a:r>
                  <a:rPr lang="en-US" sz="2200" dirty="0">
                    <a:latin typeface="Verdana" panose="020B0604030504040204" pitchFamily="34" charset="0"/>
                    <a:ea typeface="Verdana" panose="020B0604030504040204" pitchFamily="34" charset="0"/>
                    <a:cs typeface="Verdana" panose="020B0604030504040204" pitchFamily="34" charset="0"/>
                  </a:rPr>
                  <a:t> is to the		 or the 		    direction. Therefore, </a:t>
                </a:r>
                <a14:m>
                  <m:oMath xmlns:m="http://schemas.openxmlformats.org/officeDocument/2006/math">
                    <m:r>
                      <a:rPr lang="en-US" sz="2200" i="1">
                        <a:latin typeface="Cambria Math" panose="02040503050406030204" pitchFamily="18" charset="0"/>
                        <a:ea typeface="Cambria Math" panose="02040503050406030204" pitchFamily="18" charset="0"/>
                      </a:rPr>
                      <m:t>3.5− </m:t>
                    </m:r>
                    <m:d>
                      <m:dPr>
                        <m:ctrlPr>
                          <a:rPr lang="en-US" sz="2200" i="1">
                            <a:latin typeface="Cambria Math" panose="02040503050406030204" pitchFamily="18" charset="0"/>
                            <a:ea typeface="Cambria Math" panose="02040503050406030204" pitchFamily="18" charset="0"/>
                          </a:rPr>
                        </m:ctrlPr>
                      </m:dPr>
                      <m:e>
                        <m:sPre>
                          <m:sPrePr>
                            <m:ctrlPr>
                              <a:rPr lang="en-US" sz="2200" i="1">
                                <a:latin typeface="Cambria Math" panose="02040503050406030204" pitchFamily="18" charset="0"/>
                                <a:ea typeface="Cambria Math" panose="02040503050406030204" pitchFamily="18" charset="0"/>
                              </a:rPr>
                            </m:ctrlPr>
                          </m:sPrePr>
                          <m:sub>
                            <m:r>
                              <a:rPr lang="en-US" sz="2200" i="1">
                                <a:latin typeface="Cambria Math" panose="02040503050406030204" pitchFamily="18" charset="0"/>
                                <a:ea typeface="Cambria Math" panose="02040503050406030204" pitchFamily="18" charset="0"/>
                              </a:rPr>
                              <m:t> </m:t>
                            </m:r>
                          </m:sub>
                          <m:sup>
                            <m:r>
                              <a:rPr lang="en-US" sz="2200" i="1">
                                <a:latin typeface="Cambria Math" panose="02040503050406030204" pitchFamily="18" charset="0"/>
                                <a:ea typeface="Cambria Math" panose="02040503050406030204" pitchFamily="18" charset="0"/>
                              </a:rPr>
                              <m:t>−</m:t>
                            </m:r>
                          </m:sup>
                          <m:e>
                            <m:r>
                              <a:rPr lang="en-US" sz="2200" i="1">
                                <a:latin typeface="Cambria Math" panose="02040503050406030204" pitchFamily="18" charset="0"/>
                                <a:ea typeface="Cambria Math" panose="02040503050406030204" pitchFamily="18" charset="0"/>
                              </a:rPr>
                              <m:t>1.5</m:t>
                            </m:r>
                          </m:e>
                        </m:sPre>
                      </m:e>
                    </m:d>
                    <m:r>
                      <a:rPr lang="en-US" sz="2200" i="1">
                        <a:latin typeface="Cambria Math" panose="02040503050406030204" pitchFamily="18" charset="0"/>
                        <a:ea typeface="Cambria Math" panose="02040503050406030204" pitchFamily="18" charset="0"/>
                      </a:rPr>
                      <m:t>=+5</m:t>
                    </m:r>
                  </m:oMath>
                </a14:m>
                <a:r>
                  <a:rPr lang="en-US" sz="22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408432" y="288745"/>
                <a:ext cx="8327136" cy="5020990"/>
              </a:xfrm>
              <a:prstGeom prst="rect">
                <a:avLst/>
              </a:prstGeom>
              <a:blipFill>
                <a:blip r:embed="rId4"/>
                <a:stretch>
                  <a:fillRect l="-1067" b="-1511"/>
                </a:stretch>
              </a:blipFill>
            </p:spPr>
            <p:txBody>
              <a:bodyPr/>
              <a:lstStyle/>
              <a:p>
                <a:r>
                  <a:rPr lang="en-US">
                    <a:noFill/>
                  </a:rPr>
                  <a:t> </a:t>
                </a:r>
              </a:p>
            </p:txBody>
          </p:sp>
        </mc:Fallback>
      </mc:AlternateContent>
      <p:pic>
        <p:nvPicPr>
          <p:cNvPr id="2" name="Picture 1"/>
          <p:cNvPicPr>
            <a:picLocks noChangeAspect="1"/>
          </p:cNvPicPr>
          <p:nvPr/>
        </p:nvPicPr>
        <p:blipFill>
          <a:blip r:embed="rId5"/>
          <a:stretch>
            <a:fillRect/>
          </a:stretch>
        </p:blipFill>
        <p:spPr>
          <a:xfrm>
            <a:off x="7152127" y="3828229"/>
            <a:ext cx="1293195" cy="891426"/>
          </a:xfrm>
          <a:prstGeom prst="rect">
            <a:avLst/>
          </a:prstGeom>
        </p:spPr>
      </p:pic>
      <p:pic>
        <p:nvPicPr>
          <p:cNvPr id="3" name="Picture 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412426" y="4651107"/>
            <a:ext cx="1683203" cy="883985"/>
          </a:xfrm>
          <a:prstGeom prst="rect">
            <a:avLst/>
          </a:prstGeom>
        </p:spPr>
      </p:pic>
      <p:pic>
        <p:nvPicPr>
          <p:cNvPr id="9" name="Picture 8" descr="Graphical user interface, text&#10;&#10;Description automatically generated">
            <a:extLst>
              <a:ext uri="{FF2B5EF4-FFF2-40B4-BE49-F238E27FC236}">
                <a16:creationId xmlns:a16="http://schemas.microsoft.com/office/drawing/2014/main" id="{2BA2EEC9-C9E0-D345-ABD8-2E7B69E2FB9D}"/>
              </a:ext>
            </a:extLst>
          </p:cNvPr>
          <p:cNvPicPr/>
          <p:nvPr/>
        </p:nvPicPr>
        <p:blipFill rotWithShape="1">
          <a:blip r:embed="rId7" cstate="screen">
            <a:extLst>
              <a:ext uri="{28A0092B-C50C-407E-A947-70E740481C1C}">
                <a14:useLocalDpi xmlns:a14="http://schemas.microsoft.com/office/drawing/2010/main"/>
              </a:ext>
            </a:extLst>
          </a:blip>
          <a:srcRect t="42328" b="44875"/>
          <a:stretch/>
        </p:blipFill>
        <p:spPr bwMode="auto">
          <a:xfrm>
            <a:off x="2773850" y="698865"/>
            <a:ext cx="6946900" cy="660400"/>
          </a:xfrm>
          <a:prstGeom prst="rect">
            <a:avLst/>
          </a:prstGeom>
          <a:ln>
            <a:noFill/>
          </a:ln>
          <a:extLst>
            <a:ext uri="{53640926-AAD7-44D8-BBD7-CCE9431645EC}">
              <a14:shadowObscured xmlns:a14="http://schemas.microsoft.com/office/drawing/2010/main"/>
            </a:ext>
          </a:extLst>
        </p:spPr>
      </p:pic>
      <p:grpSp>
        <p:nvGrpSpPr>
          <p:cNvPr id="10" name="Group 9">
            <a:extLst>
              <a:ext uri="{FF2B5EF4-FFF2-40B4-BE49-F238E27FC236}">
                <a16:creationId xmlns:a16="http://schemas.microsoft.com/office/drawing/2014/main" id="{4301BD31-D282-4D45-8CEB-206F80F8D37B}"/>
              </a:ext>
            </a:extLst>
          </p:cNvPr>
          <p:cNvGrpSpPr/>
          <p:nvPr/>
        </p:nvGrpSpPr>
        <p:grpSpPr>
          <a:xfrm>
            <a:off x="5242242" y="765086"/>
            <a:ext cx="3358504" cy="247650"/>
            <a:chOff x="0" y="0"/>
            <a:chExt cx="3359023" cy="247650"/>
          </a:xfrm>
        </p:grpSpPr>
        <p:sp>
          <p:nvSpPr>
            <p:cNvPr id="11" name="Oval 10">
              <a:extLst>
                <a:ext uri="{FF2B5EF4-FFF2-40B4-BE49-F238E27FC236}">
                  <a16:creationId xmlns:a16="http://schemas.microsoft.com/office/drawing/2014/main" id="{AF9B1E0F-6EF1-414F-889C-2653F84542F9}"/>
                </a:ext>
              </a:extLst>
            </p:cNvPr>
            <p:cNvSpPr/>
            <p:nvPr/>
          </p:nvSpPr>
          <p:spPr>
            <a:xfrm>
              <a:off x="0" y="95250"/>
              <a:ext cx="155448" cy="1524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2" name="Oval 11">
              <a:extLst>
                <a:ext uri="{FF2B5EF4-FFF2-40B4-BE49-F238E27FC236}">
                  <a16:creationId xmlns:a16="http://schemas.microsoft.com/office/drawing/2014/main" id="{B5AC8286-8DB7-A841-A134-1814B098C6A8}"/>
                </a:ext>
              </a:extLst>
            </p:cNvPr>
            <p:cNvSpPr/>
            <p:nvPr/>
          </p:nvSpPr>
          <p:spPr>
            <a:xfrm>
              <a:off x="3203575" y="95250"/>
              <a:ext cx="155448" cy="1524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3" name="Straight Arrow Connector 12">
              <a:extLst>
                <a:ext uri="{FF2B5EF4-FFF2-40B4-BE49-F238E27FC236}">
                  <a16:creationId xmlns:a16="http://schemas.microsoft.com/office/drawing/2014/main" id="{724ECDC5-0051-3F49-92E8-E80C031D9990}"/>
                </a:ext>
              </a:extLst>
            </p:cNvPr>
            <p:cNvCxnSpPr/>
            <p:nvPr/>
          </p:nvCxnSpPr>
          <p:spPr>
            <a:xfrm>
              <a:off x="76188" y="0"/>
              <a:ext cx="3282327" cy="0"/>
            </a:xfrm>
            <a:prstGeom prst="straightConnector1">
              <a:avLst/>
            </a:prstGeom>
            <a:ln w="635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4" name="Text Box 2">
                <a:extLst>
                  <a:ext uri="{FF2B5EF4-FFF2-40B4-BE49-F238E27FC236}">
                    <a16:creationId xmlns:a16="http://schemas.microsoft.com/office/drawing/2014/main" id="{69EFF009-53C4-B14A-AFFE-A2BDB9BB5C7D}"/>
                  </a:ext>
                </a:extLst>
              </p:cNvPr>
              <p:cNvSpPr txBox="1">
                <a:spLocks noChangeArrowheads="1"/>
              </p:cNvSpPr>
              <p:nvPr/>
            </p:nvSpPr>
            <p:spPr bwMode="auto">
              <a:xfrm>
                <a:off x="5332842" y="288745"/>
                <a:ext cx="2778760" cy="524246"/>
              </a:xfrm>
              <a:prstGeom prst="rect">
                <a:avLst/>
              </a:prstGeom>
              <a:noFill/>
              <a:ln w="9525">
                <a:noFill/>
                <a:miter lim="800000"/>
                <a:headEnd/>
                <a:tailEnd/>
              </a:ln>
            </p:spPr>
            <p:txBody>
              <a:bodyPr rot="0" vert="horz" wrap="square" lIns="91440" tIns="45720" rIns="91440" bIns="45720" anchor="t" anchorCtr="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Yu Mincho" panose="02020400000000000000" pitchFamily="18" charset="-128"/>
                          <a:cs typeface="Times New Roman" panose="02020603050405020304" pitchFamily="18" charset="0"/>
                        </a:rPr>
                        <m:t>+5</m:t>
                      </m:r>
                    </m:oMath>
                  </m:oMathPara>
                </a14:m>
                <a:endParaRPr lang="en-US" sz="2000" dirty="0">
                  <a:latin typeface="Calibri" panose="020F0502020204030204" pitchFamily="34" charset="0"/>
                  <a:ea typeface="Yu Mincho" panose="02020400000000000000" pitchFamily="18" charset="-128"/>
                  <a:cs typeface="Times New Roman" panose="02020603050405020304" pitchFamily="18" charset="0"/>
                </a:endParaRPr>
              </a:p>
            </p:txBody>
          </p:sp>
        </mc:Choice>
        <mc:Fallback xmlns="">
          <p:sp>
            <p:nvSpPr>
              <p:cNvPr id="14" name="Text Box 2">
                <a:extLst>
                  <a:ext uri="{FF2B5EF4-FFF2-40B4-BE49-F238E27FC236}">
                    <a16:creationId xmlns:a16="http://schemas.microsoft.com/office/drawing/2014/main" id="{69EFF009-53C4-B14A-AFFE-A2BDB9BB5C7D}"/>
                  </a:ext>
                </a:extLst>
              </p:cNvPr>
              <p:cNvSpPr txBox="1">
                <a:spLocks noRot="1" noChangeAspect="1" noMove="1" noResize="1" noEditPoints="1" noAdjustHandles="1" noChangeArrowheads="1" noChangeShapeType="1" noTextEdit="1"/>
              </p:cNvSpPr>
              <p:nvPr/>
            </p:nvSpPr>
            <p:spPr bwMode="auto">
              <a:xfrm>
                <a:off x="3808842" y="288745"/>
                <a:ext cx="2778760" cy="524246"/>
              </a:xfrm>
              <a:prstGeom prst="rect">
                <a:avLst/>
              </a:prstGeom>
              <a:blipFill>
                <a:blip r:embed="rId8"/>
                <a:stretch>
                  <a:fillRect/>
                </a:stretch>
              </a:blipFill>
              <a:ln w="9525">
                <a:noFill/>
                <a:miter lim="800000"/>
                <a:headEnd/>
                <a:tailEnd/>
              </a:ln>
            </p:spPr>
            <p:txBody>
              <a:bodyPr/>
              <a:lstStyle/>
              <a:p>
                <a:r>
                  <a:rPr lang="en-US">
                    <a:noFill/>
                  </a:rPr>
                  <a:t> </a:t>
                </a:r>
              </a:p>
            </p:txBody>
          </p:sp>
        </mc:Fallback>
      </mc:AlternateContent>
      <p:sp>
        <p:nvSpPr>
          <p:cNvPr id="15"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172</a:t>
            </a:r>
            <a:endParaRPr i="1" dirty="0">
              <a:latin typeface="Calibri"/>
              <a:ea typeface="Calibri"/>
              <a:cs typeface="Calibri"/>
              <a:sym typeface="Calibri"/>
            </a:endParaRPr>
          </a:p>
        </p:txBody>
      </p:sp>
      <p:pic>
        <p:nvPicPr>
          <p:cNvPr id="16" name="Google Shape;283;g104476d1465_1_17"/>
          <p:cNvPicPr preferRelativeResize="0"/>
          <p:nvPr/>
        </p:nvPicPr>
        <p:blipFill>
          <a:blip r:embed="rId9"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3813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932432" y="288745"/>
                <a:ext cx="8327136" cy="5027210"/>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Suppose the numbers are subtracted in the opposite order, </a:t>
                </a:r>
                <a14:m>
                  <m:oMath xmlns:m="http://schemas.openxmlformats.org/officeDocument/2006/math">
                    <m:d>
                      <m:dPr>
                        <m:ctrlPr>
                          <a:rPr lang="en-US" sz="2200" i="1">
                            <a:latin typeface="Cambria Math" panose="02040503050406030204" pitchFamily="18" charset="0"/>
                            <a:ea typeface="Cambria Math" panose="02040503050406030204" pitchFamily="18" charset="0"/>
                          </a:rPr>
                        </m:ctrlPr>
                      </m:dPr>
                      <m:e>
                        <m:sPre>
                          <m:sPrePr>
                            <m:ctrlPr>
                              <a:rPr lang="en-US" sz="2200" i="1">
                                <a:latin typeface="Cambria Math" panose="02040503050406030204" pitchFamily="18" charset="0"/>
                                <a:ea typeface="Cambria Math" panose="02040503050406030204" pitchFamily="18" charset="0"/>
                              </a:rPr>
                            </m:ctrlPr>
                          </m:sPrePr>
                          <m:sub>
                            <m:r>
                              <a:rPr lang="en-US" sz="2200" i="1">
                                <a:latin typeface="Cambria Math" panose="02040503050406030204" pitchFamily="18" charset="0"/>
                                <a:ea typeface="Cambria Math" panose="02040503050406030204" pitchFamily="18" charset="0"/>
                              </a:rPr>
                              <m:t> </m:t>
                            </m:r>
                          </m:sub>
                          <m:sup>
                            <m:r>
                              <a:rPr lang="en-US" sz="2200" i="1">
                                <a:latin typeface="Cambria Math" panose="02040503050406030204" pitchFamily="18" charset="0"/>
                                <a:ea typeface="Cambria Math" panose="02040503050406030204" pitchFamily="18" charset="0"/>
                              </a:rPr>
                              <m:t>−</m:t>
                            </m:r>
                          </m:sup>
                          <m:e>
                            <m:r>
                              <a:rPr lang="en-US" sz="2200" i="1">
                                <a:latin typeface="Cambria Math" panose="02040503050406030204" pitchFamily="18" charset="0"/>
                                <a:ea typeface="Cambria Math" panose="02040503050406030204" pitchFamily="18" charset="0"/>
                              </a:rPr>
                              <m:t>1.5</m:t>
                            </m:r>
                          </m:e>
                        </m:sPre>
                      </m:e>
                    </m:d>
                    <m:r>
                      <a:rPr lang="en-US" sz="2200" i="1">
                        <a:latin typeface="Cambria Math" panose="02040503050406030204" pitchFamily="18" charset="0"/>
                        <a:ea typeface="Cambria Math" panose="02040503050406030204" pitchFamily="18" charset="0"/>
                      </a:rPr>
                      <m:t>−3.5</m:t>
                    </m:r>
                  </m:oMath>
                </a14:m>
                <a:r>
                  <a:rPr lang="en-US" sz="2200" dirty="0">
                    <a:latin typeface="Verdana" panose="020B0604030504040204" pitchFamily="34" charset="0"/>
                    <a:ea typeface="Verdana" panose="020B0604030504040204" pitchFamily="34" charset="0"/>
                    <a:cs typeface="Verdana" panose="020B0604030504040204" pitchFamily="34" charset="0"/>
                  </a:rPr>
                  <a:t>. </a:t>
                </a:r>
              </a:p>
              <a:p>
                <a:pPr marL="457200">
                  <a:lnSpc>
                    <a:spcPct val="250000"/>
                  </a:lnSpc>
                </a:pPr>
                <a:r>
                  <a:rPr lang="en-US" sz="2200" dirty="0">
                    <a:latin typeface="Verdana" panose="020B0604030504040204" pitchFamily="34" charset="0"/>
                    <a:ea typeface="Verdana" panose="020B0604030504040204" pitchFamily="34" charset="0"/>
                    <a:cs typeface="Verdana" panose="020B0604030504040204" pitchFamily="34" charset="0"/>
                  </a:rPr>
                  <a:t>The numbers </a:t>
                </a:r>
                <a:r>
                  <a:rPr lang="en-US" sz="2200" dirty="0">
                    <a:latin typeface="Cambria Math" panose="02040503050406030204" pitchFamily="18" charset="0"/>
                    <a:ea typeface="Cambria Math" panose="02040503050406030204" pitchFamily="18" charset="0"/>
                    <a:cs typeface="Verdana" panose="020B0604030504040204" pitchFamily="34" charset="0"/>
                  </a:rPr>
                  <a:t>3.5</a:t>
                </a:r>
                <a:r>
                  <a:rPr lang="en-US" sz="22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latin typeface="Cambria Math" panose="02040503050406030204" pitchFamily="18" charset="0"/>
                        <a:ea typeface="Cambria Math" panose="02040503050406030204" pitchFamily="18" charset="0"/>
                      </a:rPr>
                      <m:t>−1.5</m:t>
                    </m:r>
                  </m:oMath>
                </a14:m>
                <a:r>
                  <a:rPr lang="en-US" sz="2200" dirty="0">
                    <a:latin typeface="Verdana" panose="020B0604030504040204" pitchFamily="34" charset="0"/>
                    <a:ea typeface="Verdana" panose="020B0604030504040204" pitchFamily="34" charset="0"/>
                    <a:cs typeface="Verdana" panose="020B0604030504040204" pitchFamily="34" charset="0"/>
                  </a:rPr>
                  <a:t> are still _______ units apart, but the direction of the move has changed. To move from the second number </a:t>
                </a:r>
                <a14:m>
                  <m:oMath xmlns:m="http://schemas.openxmlformats.org/officeDocument/2006/math">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3.5</m:t>
                        </m:r>
                      </m:e>
                    </m:d>
                  </m:oMath>
                </a14:m>
                <a:r>
                  <a:rPr lang="en-US" sz="2200" dirty="0">
                    <a:latin typeface="Verdana" panose="020B0604030504040204" pitchFamily="34" charset="0"/>
                    <a:ea typeface="Verdana" panose="020B0604030504040204" pitchFamily="34" charset="0"/>
                    <a:cs typeface="Verdana" panose="020B0604030504040204" pitchFamily="34" charset="0"/>
                  </a:rPr>
                  <a:t> to the first number </a:t>
                </a:r>
                <a14:m>
                  <m:oMath xmlns:m="http://schemas.openxmlformats.org/officeDocument/2006/math">
                    <m:r>
                      <a:rPr lang="en-US" sz="2200" i="1">
                        <a:latin typeface="Cambria Math" panose="02040503050406030204" pitchFamily="18" charset="0"/>
                        <a:ea typeface="Cambria Math" panose="02040503050406030204" pitchFamily="18" charset="0"/>
                      </a:rPr>
                      <m:t>(−1.5)</m:t>
                    </m:r>
                  </m:oMath>
                </a14:m>
                <a:r>
                  <a:rPr lang="en-US" sz="2200" dirty="0">
                    <a:latin typeface="Verdana" panose="020B0604030504040204" pitchFamily="34" charset="0"/>
                    <a:ea typeface="Verdana" panose="020B0604030504040204" pitchFamily="34" charset="0"/>
                    <a:cs typeface="Verdana" panose="020B0604030504040204" pitchFamily="34" charset="0"/>
                  </a:rPr>
                  <a:t> is to move to the	       or the 			 direction. Therefore, </a:t>
                </a:r>
                <a14:m>
                  <m:oMath xmlns:m="http://schemas.openxmlformats.org/officeDocument/2006/math">
                    <m:d>
                      <m:dPr>
                        <m:ctrlPr>
                          <a:rPr lang="en-US" sz="2200" i="1">
                            <a:latin typeface="Cambria Math" panose="02040503050406030204" pitchFamily="18" charset="0"/>
                            <a:ea typeface="Cambria Math" panose="02040503050406030204" pitchFamily="18" charset="0"/>
                          </a:rPr>
                        </m:ctrlPr>
                      </m:dPr>
                      <m:e>
                        <m:sPre>
                          <m:sPrePr>
                            <m:ctrlPr>
                              <a:rPr lang="en-US" sz="2200" i="1">
                                <a:latin typeface="Cambria Math" panose="02040503050406030204" pitchFamily="18" charset="0"/>
                                <a:ea typeface="Cambria Math" panose="02040503050406030204" pitchFamily="18" charset="0"/>
                              </a:rPr>
                            </m:ctrlPr>
                          </m:sPrePr>
                          <m:sub>
                            <m:r>
                              <a:rPr lang="en-US" sz="2200" i="1">
                                <a:latin typeface="Cambria Math" panose="02040503050406030204" pitchFamily="18" charset="0"/>
                                <a:ea typeface="Cambria Math" panose="02040503050406030204" pitchFamily="18" charset="0"/>
                              </a:rPr>
                              <m:t> </m:t>
                            </m:r>
                          </m:sub>
                          <m:sup>
                            <m:r>
                              <a:rPr lang="en-US" sz="2200" i="1">
                                <a:latin typeface="Cambria Math" panose="02040503050406030204" pitchFamily="18" charset="0"/>
                                <a:ea typeface="Cambria Math" panose="02040503050406030204" pitchFamily="18" charset="0"/>
                              </a:rPr>
                              <m:t>−</m:t>
                            </m:r>
                          </m:sup>
                          <m:e>
                            <m:r>
                              <a:rPr lang="en-US" sz="2200" i="1">
                                <a:latin typeface="Cambria Math" panose="02040503050406030204" pitchFamily="18" charset="0"/>
                                <a:ea typeface="Cambria Math" panose="02040503050406030204" pitchFamily="18" charset="0"/>
                              </a:rPr>
                              <m:t>1.5</m:t>
                            </m:r>
                          </m:e>
                        </m:sPre>
                      </m:e>
                    </m:d>
                    <m:r>
                      <a:rPr lang="en-US" sz="2200" i="1">
                        <a:latin typeface="Cambria Math" panose="02040503050406030204" pitchFamily="18" charset="0"/>
                        <a:ea typeface="Cambria Math" panose="02040503050406030204" pitchFamily="18" charset="0"/>
                      </a:rPr>
                      <m:t>−3.5= </m:t>
                    </m:r>
                    <m:sPre>
                      <m:sPrePr>
                        <m:ctrlPr>
                          <a:rPr lang="en-US" sz="2200" i="1">
                            <a:latin typeface="Cambria Math" panose="02040503050406030204" pitchFamily="18" charset="0"/>
                            <a:ea typeface="Cambria Math" panose="02040503050406030204" pitchFamily="18" charset="0"/>
                          </a:rPr>
                        </m:ctrlPr>
                      </m:sPrePr>
                      <m:sub>
                        <m:r>
                          <a:rPr lang="en-US" sz="2200" i="1">
                            <a:latin typeface="Cambria Math" panose="02040503050406030204" pitchFamily="18" charset="0"/>
                            <a:ea typeface="Cambria Math" panose="02040503050406030204" pitchFamily="18" charset="0"/>
                          </a:rPr>
                          <m:t> </m:t>
                        </m:r>
                      </m:sub>
                      <m:sup>
                        <m:r>
                          <a:rPr lang="en-US" sz="2200" i="1">
                            <a:latin typeface="Cambria Math" panose="02040503050406030204" pitchFamily="18" charset="0"/>
                            <a:ea typeface="Cambria Math" panose="02040503050406030204" pitchFamily="18" charset="0"/>
                          </a:rPr>
                          <m:t>−</m:t>
                        </m:r>
                      </m:sup>
                      <m:e>
                        <m:r>
                          <a:rPr lang="en-US" sz="2200" i="1">
                            <a:latin typeface="Cambria Math" panose="02040503050406030204" pitchFamily="18" charset="0"/>
                            <a:ea typeface="Cambria Math" panose="02040503050406030204" pitchFamily="18" charset="0"/>
                          </a:rPr>
                          <m:t>5</m:t>
                        </m:r>
                      </m:e>
                    </m:sPre>
                  </m:oMath>
                </a14:m>
                <a:r>
                  <a:rPr lang="en-US" sz="22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xmlns="" id="{8AE5E1E0-A54D-BE42-84B5-F917038ADE99}"/>
                  </a:ext>
                </a:extLst>
              </p:cNvPr>
              <p:cNvSpPr txBox="1">
                <a:spLocks noRot="1" noChangeAspect="1" noMove="1" noResize="1" noEditPoints="1" noAdjustHandles="1" noChangeArrowheads="1" noChangeShapeType="1" noTextEdit="1"/>
              </p:cNvSpPr>
              <p:nvPr/>
            </p:nvSpPr>
            <p:spPr>
              <a:xfrm>
                <a:off x="408432" y="288745"/>
                <a:ext cx="8327136" cy="5027210"/>
              </a:xfrm>
              <a:prstGeom prst="rect">
                <a:avLst/>
              </a:prstGeom>
              <a:blipFill rotWithShape="0">
                <a:blip r:embed="rId4"/>
                <a:stretch>
                  <a:fillRect l="-952" t="-848"/>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035575" y="3634467"/>
            <a:ext cx="1085169" cy="815104"/>
          </a:xfrm>
          <a:prstGeom prst="rect">
            <a:avLst/>
          </a:prstGeom>
        </p:spPr>
      </p:pic>
      <p:pic>
        <p:nvPicPr>
          <p:cNvPr id="3" name="Picture 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431462" y="4496343"/>
            <a:ext cx="1443853" cy="819613"/>
          </a:xfrm>
          <a:prstGeom prst="rect">
            <a:avLst/>
          </a:prstGeom>
        </p:spPr>
      </p:pic>
      <p:pic>
        <p:nvPicPr>
          <p:cNvPr id="8" name="Picture 7" descr="Graphical user interface, text&#10;&#10;Description automatically generated"/>
          <p:cNvPicPr/>
          <p:nvPr/>
        </p:nvPicPr>
        <p:blipFill rotWithShape="1">
          <a:blip r:embed="rId7" cstate="screen">
            <a:extLst>
              <a:ext uri="{28A0092B-C50C-407E-A947-70E740481C1C}">
                <a14:useLocalDpi xmlns:a14="http://schemas.microsoft.com/office/drawing/2010/main"/>
              </a:ext>
            </a:extLst>
          </a:blip>
          <a:srcRect t="43804" b="43153"/>
          <a:stretch/>
        </p:blipFill>
        <p:spPr bwMode="auto">
          <a:xfrm>
            <a:off x="2431461" y="5864050"/>
            <a:ext cx="6946900" cy="673100"/>
          </a:xfrm>
          <a:prstGeom prst="rect">
            <a:avLst/>
          </a:prstGeom>
          <a:ln>
            <a:noFill/>
          </a:ln>
          <a:extLst>
            <a:ext uri="{53640926-AAD7-44D8-BBD7-CCE9431645EC}">
              <a14:shadowObscured xmlns:a14="http://schemas.microsoft.com/office/drawing/2010/main"/>
            </a:ext>
          </a:extLst>
        </p:spPr>
      </p:pic>
      <p:grpSp>
        <p:nvGrpSpPr>
          <p:cNvPr id="9" name="Group 8"/>
          <p:cNvGrpSpPr/>
          <p:nvPr/>
        </p:nvGrpSpPr>
        <p:grpSpPr>
          <a:xfrm>
            <a:off x="4843281" y="5859791"/>
            <a:ext cx="3282316" cy="247650"/>
            <a:chOff x="0" y="0"/>
            <a:chExt cx="3282823" cy="247650"/>
          </a:xfrm>
        </p:grpSpPr>
        <p:sp>
          <p:nvSpPr>
            <p:cNvPr id="10" name="Oval 9"/>
            <p:cNvSpPr/>
            <p:nvPr/>
          </p:nvSpPr>
          <p:spPr>
            <a:xfrm>
              <a:off x="0" y="95250"/>
              <a:ext cx="155448" cy="152400"/>
            </a:xfrm>
            <a:prstGeom prst="ellipse">
              <a:avLst/>
            </a:prstGeom>
            <a:solidFill>
              <a:schemeClr val="accent1"/>
            </a:solidFill>
            <a:ln>
              <a:solidFill>
                <a:schemeClr val="accent1"/>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1" name="Straight Arrow Connector 10"/>
            <p:cNvCxnSpPr/>
            <p:nvPr/>
          </p:nvCxnSpPr>
          <p:spPr>
            <a:xfrm>
              <a:off x="76188" y="0"/>
              <a:ext cx="3136912" cy="0"/>
            </a:xfrm>
            <a:prstGeom prst="straightConnector1">
              <a:avLst/>
            </a:prstGeom>
            <a:ln w="63500">
              <a:solidFill>
                <a:srgbClr val="7030A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3127375" y="95250"/>
              <a:ext cx="155448" cy="152400"/>
            </a:xfrm>
            <a:prstGeom prst="ellipse">
              <a:avLst/>
            </a:prstGeom>
            <a:solidFill>
              <a:schemeClr val="accent1"/>
            </a:solidFill>
            <a:ln>
              <a:solidFill>
                <a:schemeClr val="accent1"/>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mc:AlternateContent xmlns:mc="http://schemas.openxmlformats.org/markup-compatibility/2006" xmlns:a14="http://schemas.microsoft.com/office/drawing/2010/main">
        <mc:Choice Requires="a14">
          <p:sp>
            <p:nvSpPr>
              <p:cNvPr id="14" name="Text Box 2"/>
              <p:cNvSpPr txBox="1">
                <a:spLocks noChangeArrowheads="1"/>
              </p:cNvSpPr>
              <p:nvPr/>
            </p:nvSpPr>
            <p:spPr bwMode="auto">
              <a:xfrm>
                <a:off x="5191413" y="5447345"/>
                <a:ext cx="2778760" cy="524246"/>
              </a:xfrm>
              <a:prstGeom prst="rect">
                <a:avLst/>
              </a:prstGeom>
              <a:noFill/>
              <a:ln w="9525">
                <a:noFill/>
                <a:miter lim="800000"/>
                <a:headEnd/>
                <a:tailEnd/>
              </a:ln>
            </p:spPr>
            <p:txBody>
              <a:bodyPr rot="0" vert="horz" wrap="square" lIns="91440" tIns="45720" rIns="91440" bIns="45720" anchor="t" anchorCtr="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solidFill>
                            <a:srgbClr val="7030A0"/>
                          </a:solidFill>
                          <a:latin typeface="Cambria Math" panose="02040503050406030204" pitchFamily="18" charset="0"/>
                          <a:ea typeface="Yu Mincho" panose="02020400000000000000" pitchFamily="18" charset="-128"/>
                          <a:cs typeface="Times New Roman" panose="02020603050405020304" pitchFamily="18" charset="0"/>
                        </a:rPr>
                        <m:t>−5</m:t>
                      </m:r>
                    </m:oMath>
                  </m:oMathPara>
                </a14:m>
                <a:endParaRPr lang="en-US" sz="2000" dirty="0">
                  <a:latin typeface="Calibri" panose="020F0502020204030204" pitchFamily="34" charset="0"/>
                  <a:ea typeface="Yu Mincho" panose="02020400000000000000" pitchFamily="18" charset="-128"/>
                  <a:cs typeface="Times New Roman" panose="02020603050405020304" pitchFamily="18" charset="0"/>
                </a:endParaRPr>
              </a:p>
            </p:txBody>
          </p:sp>
        </mc:Choice>
        <mc:Fallback xmlns="">
          <p:sp>
            <p:nvSpPr>
              <p:cNvPr id="14" name="Text Box 2"/>
              <p:cNvSpPr txBox="1">
                <a:spLocks noRot="1" noChangeAspect="1" noMove="1" noResize="1" noEditPoints="1" noAdjustHandles="1" noChangeArrowheads="1" noChangeShapeType="1" noTextEdit="1"/>
              </p:cNvSpPr>
              <p:nvPr/>
            </p:nvSpPr>
            <p:spPr bwMode="auto">
              <a:xfrm>
                <a:off x="3667413" y="5447345"/>
                <a:ext cx="2778760" cy="524246"/>
              </a:xfrm>
              <a:prstGeom prst="rect">
                <a:avLst/>
              </a:prstGeom>
              <a:blipFill rotWithShape="0">
                <a:blip r:embed="rId8"/>
                <a:stretch>
                  <a:fillRect/>
                </a:stretch>
              </a:blipFill>
              <a:ln w="9525">
                <a:noFill/>
                <a:miter lim="800000"/>
                <a:headEnd/>
                <a:tailEnd/>
              </a:ln>
            </p:spPr>
            <p:txBody>
              <a:bodyPr/>
              <a:lstStyle/>
              <a:p>
                <a:r>
                  <a:rPr lang="en-US">
                    <a:noFill/>
                  </a:rPr>
                  <a:t> </a:t>
                </a:r>
              </a:p>
            </p:txBody>
          </p:sp>
        </mc:Fallback>
      </mc:AlternateContent>
      <p:sp>
        <p:nvSpPr>
          <p:cNvPr id="16"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172</a:t>
            </a:r>
            <a:endParaRPr i="1" dirty="0">
              <a:latin typeface="Calibri"/>
              <a:ea typeface="Calibri"/>
              <a:cs typeface="Calibri"/>
              <a:sym typeface="Calibri"/>
            </a:endParaRPr>
          </a:p>
        </p:txBody>
      </p:sp>
      <p:pic>
        <p:nvPicPr>
          <p:cNvPr id="17" name="Google Shape;283;g104476d1465_1_17"/>
          <p:cNvPicPr preferRelativeResize="0"/>
          <p:nvPr/>
        </p:nvPicPr>
        <p:blipFill>
          <a:blip r:embed="rId9"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66476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0341"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5979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11.2.3 Collaboration: Understanding Differences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25484" y="354173"/>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1460310" y="1386025"/>
            <a:ext cx="9527412" cy="1446550"/>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Working with your partner, write each phrase as a subtraction expression. Then, draw a number line representation to find the value of the expression. The first phrase has been done for you.</a:t>
            </a: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249429254"/>
                  </p:ext>
                </p:extLst>
              </p:nvPr>
            </p:nvGraphicFramePr>
            <p:xfrm>
              <a:off x="2208876" y="2932327"/>
              <a:ext cx="8178709" cy="3110739"/>
            </p:xfrm>
            <a:graphic>
              <a:graphicData uri="http://schemas.openxmlformats.org/drawingml/2006/table">
                <a:tbl>
                  <a:tblPr firstRow="1" firstCol="1" bandRow="1">
                    <a:tableStyleId>{5940675A-B579-460E-94D1-54222C63F5DA}</a:tableStyleId>
                  </a:tblPr>
                  <a:tblGrid>
                    <a:gridCol w="2075482">
                      <a:extLst>
                        <a:ext uri="{9D8B030D-6E8A-4147-A177-3AD203B41FA5}">
                          <a16:colId xmlns:a16="http://schemas.microsoft.com/office/drawing/2014/main" val="20000"/>
                        </a:ext>
                      </a:extLst>
                    </a:gridCol>
                    <a:gridCol w="2010022">
                      <a:extLst>
                        <a:ext uri="{9D8B030D-6E8A-4147-A177-3AD203B41FA5}">
                          <a16:colId xmlns:a16="http://schemas.microsoft.com/office/drawing/2014/main" val="20001"/>
                        </a:ext>
                      </a:extLst>
                    </a:gridCol>
                    <a:gridCol w="4093205">
                      <a:extLst>
                        <a:ext uri="{9D8B030D-6E8A-4147-A177-3AD203B41FA5}">
                          <a16:colId xmlns:a16="http://schemas.microsoft.com/office/drawing/2014/main" val="20002"/>
                        </a:ext>
                      </a:extLst>
                    </a:gridCol>
                  </a:tblGrid>
                  <a:tr h="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Phrase</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Subtraction Expression</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Line</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Representation</a:t>
                          </a:r>
                        </a:p>
                      </a:txBody>
                      <a:tcPr marL="68580" marR="68580" marT="0" marB="0" anchor="ctr">
                        <a:solidFill>
                          <a:schemeClr val="bg1">
                            <a:lumMod val="75000"/>
                          </a:schemeClr>
                        </a:solidFill>
                      </a:tcPr>
                    </a:tc>
                    <a:extLst>
                      <a:ext uri="{0D108BD9-81ED-4DB2-BD59-A6C34878D82A}">
                        <a16:rowId xmlns:a16="http://schemas.microsoft.com/office/drawing/2014/main" val="10000"/>
                      </a:ext>
                    </a:extLst>
                  </a:tr>
                  <a:tr h="0">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difference of </a:t>
                          </a:r>
                          <a14:m>
                            <m:oMath xmlns:m="http://schemas.openxmlformats.org/officeDocument/2006/math">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5</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m:t>
                                  </m:r>
                                </m:num>
                                <m:den>
                                  <m:r>
                                    <a:rPr lang="en-US" sz="2000">
                                      <a:effectLst/>
                                      <a:latin typeface="Cambria Math" panose="02040503050406030204" pitchFamily="18" charset="0"/>
                                      <a:ea typeface="Cambria Math" panose="02040503050406030204" pitchFamily="18" charset="0"/>
                                    </a:rPr>
                                    <m:t>5</m:t>
                                  </m:r>
                                </m:den>
                              </m:f>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 </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m:t>
                                        </m:r>
                                      </m:num>
                                      <m:den>
                                        <m:r>
                                          <a:rPr lang="en-US" sz="2000">
                                            <a:effectLst/>
                                            <a:latin typeface="Cambria Math" panose="02040503050406030204" pitchFamily="18" charset="0"/>
                                            <a:ea typeface="Cambria Math" panose="02040503050406030204" pitchFamily="18" charset="0"/>
                                          </a:rPr>
                                          <m:t>5</m:t>
                                        </m:r>
                                      </m:den>
                                    </m:f>
                                  </m:e>
                                </m:d>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extLst>
                      <a:ext uri="{0D108BD9-81ED-4DB2-BD59-A6C34878D82A}">
                        <a16:rowId xmlns:a16="http://schemas.microsoft.com/office/drawing/2014/main" val="10001"/>
                      </a:ext>
                    </a:extLst>
                  </a:tr>
                  <a:tr h="559435">
                    <a:tc gridSpan="3">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 = </a:t>
                          </a:r>
                          <a14:m>
                            <m:oMath xmlns:m="http://schemas.openxmlformats.org/officeDocument/2006/math">
                              <m:f>
                                <m:fPr>
                                  <m:ctrlPr>
                                    <a:rPr lang="en-US" sz="2000" b="1" i="1">
                                      <a:effectLst/>
                                      <a:latin typeface="Cambria Math" panose="02040503050406030204" pitchFamily="18" charset="0"/>
                                      <a:ea typeface="Cambria Math" panose="02040503050406030204" pitchFamily="18" charset="0"/>
                                    </a:rPr>
                                  </m:ctrlPr>
                                </m:fPr>
                                <m:num>
                                  <m:r>
                                    <a:rPr lang="en-US" sz="2000" b="1" i="1">
                                      <a:effectLst/>
                                      <a:latin typeface="Cambria Math" panose="02040503050406030204" pitchFamily="18" charset="0"/>
                                      <a:ea typeface="Cambria Math" panose="02040503050406030204" pitchFamily="18" charset="0"/>
                                    </a:rPr>
                                    <m:t>𝟑</m:t>
                                  </m:r>
                                </m:num>
                                <m:den>
                                  <m:r>
                                    <a:rPr lang="en-US" sz="2000" b="1" i="1">
                                      <a:effectLst/>
                                      <a:latin typeface="Cambria Math" panose="02040503050406030204" pitchFamily="18" charset="0"/>
                                      <a:ea typeface="Cambria Math" panose="02040503050406030204" pitchFamily="18" charset="0"/>
                                    </a:rPr>
                                    <m:t>𝟓</m:t>
                                  </m:r>
                                </m:den>
                              </m:f>
                            </m:oMath>
                          </a14:m>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249429254"/>
                  </p:ext>
                </p:extLst>
              </p:nvPr>
            </p:nvGraphicFramePr>
            <p:xfrm>
              <a:off x="684875" y="2932326"/>
              <a:ext cx="8178709" cy="3168523"/>
            </p:xfrm>
            <a:graphic>
              <a:graphicData uri="http://schemas.openxmlformats.org/drawingml/2006/table">
                <a:tbl>
                  <a:tblPr firstRow="1" firstCol="1" bandRow="1">
                    <a:tableStyleId>{5940675A-B579-460E-94D1-54222C63F5DA}</a:tableStyleId>
                  </a:tblPr>
                  <a:tblGrid>
                    <a:gridCol w="2075482"/>
                    <a:gridCol w="2010022"/>
                    <a:gridCol w="4093205"/>
                  </a:tblGrid>
                  <a:tr h="652272">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Phrase</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Subtraction Expression</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Line</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Representation</a:t>
                          </a:r>
                        </a:p>
                      </a:txBody>
                      <a:tcPr marL="68580" marR="68580" marT="0" marB="0" anchor="ctr">
                        <a:solidFill>
                          <a:schemeClr val="bg1">
                            <a:lumMod val="75000"/>
                          </a:schemeClr>
                        </a:solidFill>
                      </a:tcPr>
                    </a:tc>
                  </a:tr>
                  <a:tr h="1956816">
                    <a:tc>
                      <a:txBody>
                        <a:bodyPr/>
                        <a:lstStyle/>
                        <a:p>
                          <a:endParaRPr lang="en-US"/>
                        </a:p>
                      </a:txBody>
                      <a:tcPr marL="68580" marR="68580" marT="0" marB="0" anchor="ctr">
                        <a:blipFill rotWithShape="0">
                          <a:blip r:embed="rId5"/>
                          <a:stretch>
                            <a:fillRect l="-293" t="-37695" r="-294428" b="-31464"/>
                          </a:stretch>
                        </a:blipFill>
                      </a:tcPr>
                    </a:tc>
                    <a:tc>
                      <a:txBody>
                        <a:bodyPr/>
                        <a:lstStyle/>
                        <a:p>
                          <a:endParaRPr lang="en-US"/>
                        </a:p>
                      </a:txBody>
                      <a:tcPr marL="68580" marR="68580" marT="0" marB="0" anchor="ctr">
                        <a:blipFill rotWithShape="0">
                          <a:blip r:embed="rId5"/>
                          <a:stretch>
                            <a:fillRect l="-103951" t="-37695" r="-205167" b="-31464"/>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r>
                  <a:tr h="559435">
                    <a:tc gridSpan="3">
                      <a:txBody>
                        <a:bodyPr/>
                        <a:lstStyle/>
                        <a:p>
                          <a:endParaRPr lang="en-US"/>
                        </a:p>
                      </a:txBody>
                      <a:tcPr marL="68580" marR="68580" marT="0" marB="0" anchor="ctr">
                        <a:blipFill rotWithShape="0">
                          <a:blip r:embed="rId5"/>
                          <a:stretch>
                            <a:fillRect l="-75" t="-480435" r="-224" b="-9783"/>
                          </a:stretch>
                        </a:blipFill>
                      </a:tcPr>
                    </a:tc>
                    <a:tc hMerge="1">
                      <a:txBody>
                        <a:bodyPr/>
                        <a:lstStyle/>
                        <a:p>
                          <a:endParaRPr lang="en-US"/>
                        </a:p>
                      </a:txBody>
                      <a:tcPr/>
                    </a:tc>
                    <a:tc hMerge="1">
                      <a:txBody>
                        <a:bodyPr/>
                        <a:lstStyle/>
                        <a:p>
                          <a:endParaRPr lang="en-US"/>
                        </a:p>
                      </a:txBody>
                      <a:tcPr/>
                    </a:tc>
                  </a:tr>
                </a:tbl>
              </a:graphicData>
            </a:graphic>
          </p:graphicFrame>
        </mc:Fallback>
      </mc:AlternateContent>
      <p:pic>
        <p:nvPicPr>
          <p:cNvPr id="11" name="Picture 10" descr="A picture containing shape&#10;&#10;Description automatically generated"/>
          <p:cNvPicPr/>
          <p:nvPr/>
        </p:nvPicPr>
        <p:blipFill rotWithShape="1">
          <a:blip r:embed="rId6" cstate="screen">
            <a:extLst>
              <a:ext uri="{28A0092B-C50C-407E-A947-70E740481C1C}">
                <a14:useLocalDpi xmlns:a14="http://schemas.microsoft.com/office/drawing/2010/main"/>
              </a:ext>
            </a:extLst>
          </a:blip>
          <a:srcRect t="41038" b="47258"/>
          <a:stretch/>
        </p:blipFill>
        <p:spPr bwMode="auto">
          <a:xfrm>
            <a:off x="6775656" y="4516587"/>
            <a:ext cx="3173095" cy="469900"/>
          </a:xfrm>
          <a:prstGeom prst="rect">
            <a:avLst/>
          </a:prstGeom>
          <a:ln>
            <a:noFill/>
          </a:ln>
          <a:extLst>
            <a:ext uri="{53640926-AAD7-44D8-BBD7-CCE9431645EC}">
              <a14:shadowObscured xmlns:a14="http://schemas.microsoft.com/office/drawing/2010/main"/>
            </a:ext>
          </a:extLst>
        </p:spPr>
      </p:pic>
      <p:grpSp>
        <p:nvGrpSpPr>
          <p:cNvPr id="12" name="Group 11"/>
          <p:cNvGrpSpPr/>
          <p:nvPr/>
        </p:nvGrpSpPr>
        <p:grpSpPr>
          <a:xfrm>
            <a:off x="7466310" y="4516588"/>
            <a:ext cx="700404" cy="204469"/>
            <a:chOff x="-98146" y="83431"/>
            <a:chExt cx="2712001" cy="333711"/>
          </a:xfrm>
        </p:grpSpPr>
        <p:sp>
          <p:nvSpPr>
            <p:cNvPr id="13" name="Oval 12"/>
            <p:cNvSpPr/>
            <p:nvPr/>
          </p:nvSpPr>
          <p:spPr>
            <a:xfrm>
              <a:off x="-98146" y="239902"/>
              <a:ext cx="353325" cy="14859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Oval 13"/>
            <p:cNvSpPr/>
            <p:nvPr/>
          </p:nvSpPr>
          <p:spPr>
            <a:xfrm flipV="1">
              <a:off x="2260081" y="268373"/>
              <a:ext cx="353774" cy="148769"/>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6" name="Straight Arrow Connector 15"/>
            <p:cNvCxnSpPr/>
            <p:nvPr/>
          </p:nvCxnSpPr>
          <p:spPr>
            <a:xfrm>
              <a:off x="82760" y="83431"/>
              <a:ext cx="2349163" cy="0"/>
            </a:xfrm>
            <a:prstGeom prst="straightConnector1">
              <a:avLst/>
            </a:prstGeom>
            <a:ln w="635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 name="Text Box 25"/>
              <p:cNvSpPr txBox="1"/>
              <p:nvPr/>
            </p:nvSpPr>
            <p:spPr>
              <a:xfrm>
                <a:off x="7199610" y="4751537"/>
                <a:ext cx="533400" cy="6985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solidFill>
                            <a:srgbClr val="FF9300"/>
                          </a:solidFill>
                          <a:latin typeface="Cambria Math" panose="02040503050406030204" pitchFamily="18" charset="0"/>
                          <a:ea typeface="Yu Mincho" panose="02020400000000000000" pitchFamily="18" charset="-128"/>
                          <a:cs typeface="Times New Roman" panose="02020603050405020304" pitchFamily="18" charset="0"/>
                        </a:rPr>
                        <m:t>−</m:t>
                      </m:r>
                      <m:f>
                        <m:fPr>
                          <m:ctrlPr>
                            <a:rPr lang="en-US" sz="2000" i="1">
                              <a:solidFill>
                                <a:srgbClr val="FF9300"/>
                              </a:solidFill>
                              <a:latin typeface="Cambria Math" panose="02040503050406030204" pitchFamily="18" charset="0"/>
                              <a:ea typeface="Yu Mincho" panose="02020400000000000000" pitchFamily="18" charset="-128"/>
                              <a:cs typeface="Times New Roman" panose="02020603050405020304" pitchFamily="18" charset="0"/>
                            </a:rPr>
                          </m:ctrlPr>
                        </m:fPr>
                        <m:num>
                          <m:r>
                            <a:rPr lang="en-US" sz="2000" i="1">
                              <a:solidFill>
                                <a:srgbClr val="FF9300"/>
                              </a:solidFill>
                              <a:latin typeface="Cambria Math" panose="02040503050406030204" pitchFamily="18" charset="0"/>
                              <a:ea typeface="Yu Mincho" panose="02020400000000000000" pitchFamily="18" charset="-128"/>
                              <a:cs typeface="Times New Roman" panose="02020603050405020304" pitchFamily="18" charset="0"/>
                            </a:rPr>
                            <m:t>4</m:t>
                          </m:r>
                        </m:num>
                        <m:den>
                          <m:r>
                            <a:rPr lang="en-US" sz="2000" i="1">
                              <a:solidFill>
                                <a:srgbClr val="FF9300"/>
                              </a:solidFill>
                              <a:latin typeface="Cambria Math" panose="02040503050406030204" pitchFamily="18" charset="0"/>
                              <a:ea typeface="Yu Mincho" panose="02020400000000000000" pitchFamily="18" charset="-128"/>
                              <a:cs typeface="Times New Roman" panose="02020603050405020304" pitchFamily="18" charset="0"/>
                            </a:rPr>
                            <m:t>5</m:t>
                          </m:r>
                        </m:den>
                      </m:f>
                    </m:oMath>
                  </m:oMathPara>
                </a14:m>
                <a:endParaRPr lang="en-US" sz="2000" dirty="0">
                  <a:latin typeface="Calibri" panose="020F0502020204030204" pitchFamily="34" charset="0"/>
                  <a:ea typeface="Yu Mincho" panose="02020400000000000000" pitchFamily="18" charset="-128"/>
                  <a:cs typeface="Times New Roman" panose="02020603050405020304" pitchFamily="18" charset="0"/>
                </a:endParaRPr>
              </a:p>
            </p:txBody>
          </p:sp>
        </mc:Choice>
        <mc:Fallback xmlns="">
          <p:sp>
            <p:nvSpPr>
              <p:cNvPr id="17" name="Text Box 25"/>
              <p:cNvSpPr txBox="1">
                <a:spLocks noRot="1" noChangeAspect="1" noMove="1" noResize="1" noEditPoints="1" noAdjustHandles="1" noChangeArrowheads="1" noChangeShapeType="1" noTextEdit="1"/>
              </p:cNvSpPr>
              <p:nvPr/>
            </p:nvSpPr>
            <p:spPr>
              <a:xfrm>
                <a:off x="5675610" y="4751537"/>
                <a:ext cx="533400" cy="698500"/>
              </a:xfrm>
              <a:prstGeom prst="rect">
                <a:avLst/>
              </a:prstGeom>
              <a:blipFill rotWithShape="0">
                <a:blip r:embed="rId7"/>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 Box 26"/>
              <p:cNvSpPr txBox="1"/>
              <p:nvPr/>
            </p:nvSpPr>
            <p:spPr>
              <a:xfrm>
                <a:off x="7808648" y="4769953"/>
                <a:ext cx="533400" cy="6985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solidFill>
                            <a:srgbClr val="FF9300"/>
                          </a:solidFill>
                          <a:latin typeface="Cambria Math" panose="02040503050406030204" pitchFamily="18" charset="0"/>
                          <a:ea typeface="Yu Mincho" panose="02020400000000000000" pitchFamily="18" charset="-128"/>
                          <a:cs typeface="Times New Roman" panose="02020603050405020304" pitchFamily="18" charset="0"/>
                        </a:rPr>
                        <m:t>−</m:t>
                      </m:r>
                      <m:f>
                        <m:fPr>
                          <m:ctrlPr>
                            <a:rPr lang="en-US" sz="2000" i="1">
                              <a:solidFill>
                                <a:srgbClr val="FF9300"/>
                              </a:solidFill>
                              <a:latin typeface="Cambria Math" panose="02040503050406030204" pitchFamily="18" charset="0"/>
                              <a:ea typeface="Yu Mincho" panose="02020400000000000000" pitchFamily="18" charset="-128"/>
                              <a:cs typeface="Times New Roman" panose="02020603050405020304" pitchFamily="18" charset="0"/>
                            </a:rPr>
                          </m:ctrlPr>
                        </m:fPr>
                        <m:num>
                          <m:r>
                            <a:rPr lang="en-US" sz="2000" i="1">
                              <a:solidFill>
                                <a:srgbClr val="FF9300"/>
                              </a:solidFill>
                              <a:latin typeface="Cambria Math" panose="02040503050406030204" pitchFamily="18" charset="0"/>
                              <a:ea typeface="Yu Mincho" panose="02020400000000000000" pitchFamily="18" charset="-128"/>
                              <a:cs typeface="Times New Roman" panose="02020603050405020304" pitchFamily="18" charset="0"/>
                            </a:rPr>
                            <m:t>1</m:t>
                          </m:r>
                        </m:num>
                        <m:den>
                          <m:r>
                            <a:rPr lang="en-US" sz="2000" i="1">
                              <a:solidFill>
                                <a:srgbClr val="FF9300"/>
                              </a:solidFill>
                              <a:latin typeface="Cambria Math" panose="02040503050406030204" pitchFamily="18" charset="0"/>
                              <a:ea typeface="Yu Mincho" panose="02020400000000000000" pitchFamily="18" charset="-128"/>
                              <a:cs typeface="Times New Roman" panose="02020603050405020304" pitchFamily="18" charset="0"/>
                            </a:rPr>
                            <m:t>5</m:t>
                          </m:r>
                        </m:den>
                      </m:f>
                    </m:oMath>
                  </m:oMathPara>
                </a14:m>
                <a:endParaRPr lang="en-US" sz="2000" dirty="0">
                  <a:latin typeface="Calibri" panose="020F0502020204030204" pitchFamily="34" charset="0"/>
                  <a:ea typeface="Yu Mincho" panose="02020400000000000000" pitchFamily="18" charset="-128"/>
                  <a:cs typeface="Times New Roman" panose="02020603050405020304" pitchFamily="18" charset="0"/>
                </a:endParaRPr>
              </a:p>
            </p:txBody>
          </p:sp>
        </mc:Choice>
        <mc:Fallback xmlns="">
          <p:sp>
            <p:nvSpPr>
              <p:cNvPr id="18" name="Text Box 26"/>
              <p:cNvSpPr txBox="1">
                <a:spLocks noRot="1" noChangeAspect="1" noMove="1" noResize="1" noEditPoints="1" noAdjustHandles="1" noChangeArrowheads="1" noChangeShapeType="1" noTextEdit="1"/>
              </p:cNvSpPr>
              <p:nvPr/>
            </p:nvSpPr>
            <p:spPr>
              <a:xfrm>
                <a:off x="6284648" y="4769953"/>
                <a:ext cx="533400" cy="698500"/>
              </a:xfrm>
              <a:prstGeom prst="rect">
                <a:avLst/>
              </a:prstGeom>
              <a:blipFill rotWithShape="0">
                <a:blip r:embed="rId8"/>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 Box 32"/>
              <p:cNvSpPr txBox="1"/>
              <p:nvPr/>
            </p:nvSpPr>
            <p:spPr>
              <a:xfrm flipH="1">
                <a:off x="7199610" y="3622351"/>
                <a:ext cx="953770" cy="6223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solidFill>
                            <a:srgbClr val="6C993D"/>
                          </a:solidFill>
                          <a:latin typeface="Cambria Math" panose="02040503050406030204" pitchFamily="18" charset="0"/>
                          <a:ea typeface="Yu Mincho" panose="02020400000000000000" pitchFamily="18" charset="-128"/>
                          <a:cs typeface="Times New Roman" panose="02020603050405020304" pitchFamily="18" charset="0"/>
                        </a:rPr>
                        <m:t>+</m:t>
                      </m:r>
                      <m:f>
                        <m:fPr>
                          <m:ctrlPr>
                            <a:rPr lang="en-US" sz="2000" i="1">
                              <a:solidFill>
                                <a:srgbClr val="6C993D"/>
                              </a:solidFill>
                              <a:latin typeface="Cambria Math" panose="02040503050406030204" pitchFamily="18" charset="0"/>
                              <a:ea typeface="Yu Mincho" panose="02020400000000000000" pitchFamily="18" charset="-128"/>
                              <a:cs typeface="Times New Roman" panose="02020603050405020304" pitchFamily="18" charset="0"/>
                            </a:rPr>
                          </m:ctrlPr>
                        </m:fPr>
                        <m:num>
                          <m:r>
                            <a:rPr lang="en-US" sz="2000" i="1">
                              <a:solidFill>
                                <a:srgbClr val="6C993D"/>
                              </a:solidFill>
                              <a:latin typeface="Cambria Math" panose="02040503050406030204" pitchFamily="18" charset="0"/>
                              <a:ea typeface="Yu Mincho" panose="02020400000000000000" pitchFamily="18" charset="-128"/>
                              <a:cs typeface="Times New Roman" panose="02020603050405020304" pitchFamily="18" charset="0"/>
                            </a:rPr>
                            <m:t>3</m:t>
                          </m:r>
                        </m:num>
                        <m:den>
                          <m:r>
                            <a:rPr lang="en-US" sz="2000" i="1">
                              <a:solidFill>
                                <a:srgbClr val="6C993D"/>
                              </a:solidFill>
                              <a:latin typeface="Cambria Math" panose="02040503050406030204" pitchFamily="18" charset="0"/>
                              <a:ea typeface="Yu Mincho" panose="02020400000000000000" pitchFamily="18" charset="-128"/>
                              <a:cs typeface="Times New Roman" panose="02020603050405020304" pitchFamily="18" charset="0"/>
                            </a:rPr>
                            <m:t>5</m:t>
                          </m:r>
                        </m:den>
                      </m:f>
                    </m:oMath>
                  </m:oMathPara>
                </a14:m>
                <a:endParaRPr lang="en-US" sz="2000" dirty="0">
                  <a:latin typeface="Calibri" panose="020F0502020204030204" pitchFamily="34" charset="0"/>
                  <a:ea typeface="Yu Mincho" panose="02020400000000000000" pitchFamily="18" charset="-128"/>
                  <a:cs typeface="Times New Roman" panose="02020603050405020304" pitchFamily="18" charset="0"/>
                </a:endParaRPr>
              </a:p>
            </p:txBody>
          </p:sp>
        </mc:Choice>
        <mc:Fallback xmlns="">
          <p:sp>
            <p:nvSpPr>
              <p:cNvPr id="19" name="Text Box 32"/>
              <p:cNvSpPr txBox="1">
                <a:spLocks noRot="1" noChangeAspect="1" noMove="1" noResize="1" noEditPoints="1" noAdjustHandles="1" noChangeArrowheads="1" noChangeShapeType="1" noTextEdit="1"/>
              </p:cNvSpPr>
              <p:nvPr/>
            </p:nvSpPr>
            <p:spPr>
              <a:xfrm flipH="1">
                <a:off x="5675610" y="3622351"/>
                <a:ext cx="953770" cy="622300"/>
              </a:xfrm>
              <a:prstGeom prst="rect">
                <a:avLst/>
              </a:prstGeom>
              <a:blipFill rotWithShape="0">
                <a:blip r:embed="rId9"/>
                <a:stretch>
                  <a:fillRect b="-6863"/>
                </a:stretch>
              </a:blipFill>
              <a:ln w="6350">
                <a:noFill/>
              </a:ln>
            </p:spPr>
            <p:txBody>
              <a:bodyPr/>
              <a:lstStyle/>
              <a:p>
                <a:r>
                  <a:rPr lang="en-US">
                    <a:noFill/>
                  </a:rPr>
                  <a:t> </a:t>
                </a:r>
              </a:p>
            </p:txBody>
          </p:sp>
        </mc:Fallback>
      </mc:AlternateContent>
      <p:sp>
        <p:nvSpPr>
          <p:cNvPr id="21"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173</a:t>
            </a:r>
            <a:endParaRPr i="1" dirty="0">
              <a:latin typeface="Calibri"/>
              <a:ea typeface="Calibri"/>
              <a:cs typeface="Calibri"/>
              <a:sym typeface="Calibri"/>
            </a:endParaRPr>
          </a:p>
        </p:txBody>
      </p:sp>
      <p:pic>
        <p:nvPicPr>
          <p:cNvPr id="22" name="Google Shape;283;g104476d1465_1_17"/>
          <p:cNvPicPr preferRelativeResize="0"/>
          <p:nvPr/>
        </p:nvPicPr>
        <p:blipFill>
          <a:blip r:embed="rId10"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Picture 7" descr="A picture containing shape&#10;&#10;Description automatically generated"/>
          <p:cNvPicPr/>
          <p:nvPr/>
        </p:nvPicPr>
        <p:blipFill rotWithShape="1">
          <a:blip r:embed="rId3" cstate="screen">
            <a:extLst>
              <a:ext uri="{28A0092B-C50C-407E-A947-70E740481C1C}">
                <a14:useLocalDpi xmlns:a14="http://schemas.microsoft.com/office/drawing/2010/main"/>
              </a:ext>
            </a:extLst>
          </a:blip>
          <a:srcRect t="41038" b="47258"/>
          <a:stretch/>
        </p:blipFill>
        <p:spPr bwMode="auto">
          <a:xfrm>
            <a:off x="6552136" y="2429812"/>
            <a:ext cx="3173095" cy="469900"/>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732665720"/>
                  </p:ext>
                </p:extLst>
              </p:nvPr>
            </p:nvGraphicFramePr>
            <p:xfrm>
              <a:off x="2291442" y="713345"/>
              <a:ext cx="7657308" cy="3873945"/>
            </p:xfrm>
            <a:graphic>
              <a:graphicData uri="http://schemas.openxmlformats.org/drawingml/2006/table">
                <a:tbl>
                  <a:tblPr firstRow="1" firstCol="1" bandRow="1">
                    <a:tableStyleId>{5940675A-B579-460E-94D1-54222C63F5DA}</a:tableStyleId>
                  </a:tblPr>
                  <a:tblGrid>
                    <a:gridCol w="1943168">
                      <a:extLst>
                        <a:ext uri="{9D8B030D-6E8A-4147-A177-3AD203B41FA5}">
                          <a16:colId xmlns:a16="http://schemas.microsoft.com/office/drawing/2014/main" val="20000"/>
                        </a:ext>
                      </a:extLst>
                    </a:gridCol>
                    <a:gridCol w="1881881">
                      <a:extLst>
                        <a:ext uri="{9D8B030D-6E8A-4147-A177-3AD203B41FA5}">
                          <a16:colId xmlns:a16="http://schemas.microsoft.com/office/drawing/2014/main" val="20001"/>
                        </a:ext>
                      </a:extLst>
                    </a:gridCol>
                    <a:gridCol w="3832259">
                      <a:extLst>
                        <a:ext uri="{9D8B030D-6E8A-4147-A177-3AD203B41FA5}">
                          <a16:colId xmlns:a16="http://schemas.microsoft.com/office/drawing/2014/main" val="20002"/>
                        </a:ext>
                      </a:extLst>
                    </a:gridCol>
                  </a:tblGrid>
                  <a:tr h="547645">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Phrase</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Subtraction Expression</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Line</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Representation</a:t>
                          </a:r>
                        </a:p>
                      </a:txBody>
                      <a:tcPr marL="68580" marR="68580" marT="0" marB="0" anchor="ctr">
                        <a:solidFill>
                          <a:schemeClr val="bg1">
                            <a:lumMod val="75000"/>
                          </a:schemeClr>
                        </a:solidFill>
                      </a:tcPr>
                    </a:tc>
                    <a:extLst>
                      <a:ext uri="{0D108BD9-81ED-4DB2-BD59-A6C34878D82A}">
                        <a16:rowId xmlns:a16="http://schemas.microsoft.com/office/drawing/2014/main" val="10000"/>
                      </a:ext>
                    </a:extLst>
                  </a:tr>
                  <a:tr h="2685415">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difference of </a:t>
                          </a:r>
                          <a14:m>
                            <m:oMath xmlns:m="http://schemas.openxmlformats.org/officeDocument/2006/math">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m:t>
                                  </m:r>
                                </m:num>
                                <m:den>
                                  <m:r>
                                    <a:rPr lang="en-US" sz="2000">
                                      <a:effectLst/>
                                      <a:latin typeface="Cambria Math" panose="02040503050406030204" pitchFamily="18" charset="0"/>
                                      <a:ea typeface="Cambria Math" panose="02040503050406030204" pitchFamily="18" charset="0"/>
                                    </a:rPr>
                                    <m:t>5</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5</m:t>
                                  </m:r>
                                </m:den>
                              </m:f>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b"/>
                    </a:tc>
                    <a:extLst>
                      <a:ext uri="{0D108BD9-81ED-4DB2-BD59-A6C34878D82A}">
                        <a16:rowId xmlns:a16="http://schemas.microsoft.com/office/drawing/2014/main" val="10001"/>
                      </a:ext>
                    </a:extLst>
                  </a:tr>
                  <a:tr h="565150">
                    <a:tc gridSpan="3">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 = ______</a:t>
                          </a:r>
                        </a:p>
                      </a:txBody>
                      <a:tcPr marL="68580" marR="6858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732665720"/>
                  </p:ext>
                </p:extLst>
              </p:nvPr>
            </p:nvGraphicFramePr>
            <p:xfrm>
              <a:off x="767442" y="713344"/>
              <a:ext cx="7657308" cy="3902837"/>
            </p:xfrm>
            <a:graphic>
              <a:graphicData uri="http://schemas.openxmlformats.org/drawingml/2006/table">
                <a:tbl>
                  <a:tblPr firstRow="1" firstCol="1" bandRow="1">
                    <a:tableStyleId>{5940675A-B579-460E-94D1-54222C63F5DA}</a:tableStyleId>
                  </a:tblPr>
                  <a:tblGrid>
                    <a:gridCol w="1943168"/>
                    <a:gridCol w="1881881"/>
                    <a:gridCol w="3832259"/>
                  </a:tblGrid>
                  <a:tr h="652272">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Phrase</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Subtraction Expression</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Line</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Representation</a:t>
                          </a:r>
                        </a:p>
                      </a:txBody>
                      <a:tcPr marL="68580" marR="68580" marT="0" marB="0" anchor="ctr">
                        <a:solidFill>
                          <a:schemeClr val="bg1">
                            <a:lumMod val="75000"/>
                          </a:schemeClr>
                        </a:solidFill>
                      </a:tcPr>
                    </a:tc>
                  </a:tr>
                  <a:tr h="2685415">
                    <a:tc>
                      <a:txBody>
                        <a:bodyPr/>
                        <a:lstStyle/>
                        <a:p>
                          <a:endParaRPr lang="en-US"/>
                        </a:p>
                      </a:txBody>
                      <a:tcPr marL="68580" marR="68580" marT="0" marB="0" anchor="ctr">
                        <a:blipFill rotWithShape="0">
                          <a:blip r:embed="rId5"/>
                          <a:stretch>
                            <a:fillRect l="-313" t="-27438" r="-294984" b="-21542"/>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b"/>
                    </a:tc>
                  </a:tr>
                  <a:tr h="565150">
                    <a:tc gridSpan="3">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 = ______</a:t>
                          </a:r>
                        </a:p>
                      </a:txBody>
                      <a:tcPr marL="68580" marR="68580" marT="0" marB="0" anchor="ctr"/>
                    </a:tc>
                    <a:tc hMerge="1">
                      <a:txBody>
                        <a:bodyPr/>
                        <a:lstStyle/>
                        <a:p>
                          <a:endParaRPr lang="en-US"/>
                        </a:p>
                      </a:txBody>
                      <a:tcPr/>
                    </a:tc>
                    <a:tc hMerge="1">
                      <a:txBody>
                        <a:bodyPr/>
                        <a:lstStyle/>
                        <a:p>
                          <a:endParaRPr lang="en-US"/>
                        </a:p>
                      </a:txBody>
                      <a:tcPr/>
                    </a:tc>
                  </a:tr>
                </a:tbl>
              </a:graphicData>
            </a:graphic>
          </p:graphicFrame>
        </mc:Fallback>
      </mc:AlternateContent>
      <p:sp>
        <p:nvSpPr>
          <p:cNvPr id="7"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173</a:t>
            </a:r>
            <a:endParaRPr i="1" dirty="0">
              <a:latin typeface="Calibri"/>
              <a:ea typeface="Calibri"/>
              <a:cs typeface="Calibri"/>
              <a:sym typeface="Calibri"/>
            </a:endParaRP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0898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198282853"/>
                  </p:ext>
                </p:extLst>
              </p:nvPr>
            </p:nvGraphicFramePr>
            <p:xfrm>
              <a:off x="2291442" y="713345"/>
              <a:ext cx="7657308" cy="3873945"/>
            </p:xfrm>
            <a:graphic>
              <a:graphicData uri="http://schemas.openxmlformats.org/drawingml/2006/table">
                <a:tbl>
                  <a:tblPr firstRow="1" firstCol="1" bandRow="1">
                    <a:tableStyleId>{5940675A-B579-460E-94D1-54222C63F5DA}</a:tableStyleId>
                  </a:tblPr>
                  <a:tblGrid>
                    <a:gridCol w="1943168">
                      <a:extLst>
                        <a:ext uri="{9D8B030D-6E8A-4147-A177-3AD203B41FA5}">
                          <a16:colId xmlns:a16="http://schemas.microsoft.com/office/drawing/2014/main" val="20000"/>
                        </a:ext>
                      </a:extLst>
                    </a:gridCol>
                    <a:gridCol w="1881881">
                      <a:extLst>
                        <a:ext uri="{9D8B030D-6E8A-4147-A177-3AD203B41FA5}">
                          <a16:colId xmlns:a16="http://schemas.microsoft.com/office/drawing/2014/main" val="20001"/>
                        </a:ext>
                      </a:extLst>
                    </a:gridCol>
                    <a:gridCol w="3832259">
                      <a:extLst>
                        <a:ext uri="{9D8B030D-6E8A-4147-A177-3AD203B41FA5}">
                          <a16:colId xmlns:a16="http://schemas.microsoft.com/office/drawing/2014/main" val="20002"/>
                        </a:ext>
                      </a:extLst>
                    </a:gridCol>
                  </a:tblGrid>
                  <a:tr h="547645">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Phrase</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Subtraction Expression</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Line</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Representation</a:t>
                          </a:r>
                        </a:p>
                      </a:txBody>
                      <a:tcPr marL="68580" marR="68580" marT="0" marB="0" anchor="ctr">
                        <a:solidFill>
                          <a:schemeClr val="bg1">
                            <a:lumMod val="75000"/>
                          </a:schemeClr>
                        </a:solidFill>
                      </a:tcPr>
                    </a:tc>
                    <a:extLst>
                      <a:ext uri="{0D108BD9-81ED-4DB2-BD59-A6C34878D82A}">
                        <a16:rowId xmlns:a16="http://schemas.microsoft.com/office/drawing/2014/main" val="10000"/>
                      </a:ext>
                    </a:extLst>
                  </a:tr>
                  <a:tr h="2685415">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difference of </a:t>
                          </a:r>
                          <a14:m>
                            <m:oMath xmlns:m="http://schemas.openxmlformats.org/officeDocument/2006/math">
                              <m:r>
                                <a:rPr lang="en-US" sz="2000" b="0" i="1" smtClean="0">
                                  <a:effectLst/>
                                  <a:latin typeface="Cambria Math" panose="02040503050406030204" pitchFamily="18" charset="0"/>
                                  <a:ea typeface="Verdana" panose="020B0604030504040204" pitchFamily="34" charset="0"/>
                                  <a:cs typeface="Verdana" panose="020B0604030504040204" pitchFamily="34" charset="0"/>
                                </a:rPr>
                                <m:t>0.9</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a:effectLst/>
                                  <a:latin typeface="Cambria Math" panose="02040503050406030204" pitchFamily="18" charset="0"/>
                                  <a:ea typeface="Cambria Math" panose="02040503050406030204" pitchFamily="18" charset="0"/>
                                </a:rPr>
                                <m:t>−</m:t>
                              </m:r>
                              <m:r>
                                <a:rPr lang="en-US" sz="2000" b="0" i="0" smtClean="0">
                                  <a:effectLst/>
                                  <a:latin typeface="Cambria Math" panose="02040503050406030204" pitchFamily="18" charset="0"/>
                                  <a:ea typeface="Cambria Math" panose="02040503050406030204" pitchFamily="18" charset="0"/>
                                </a:rPr>
                                <m:t>0.5</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b"/>
                    </a:tc>
                    <a:extLst>
                      <a:ext uri="{0D108BD9-81ED-4DB2-BD59-A6C34878D82A}">
                        <a16:rowId xmlns:a16="http://schemas.microsoft.com/office/drawing/2014/main" val="10001"/>
                      </a:ext>
                    </a:extLst>
                  </a:tr>
                  <a:tr h="565150">
                    <a:tc gridSpan="3">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 = ______</a:t>
                          </a:r>
                        </a:p>
                      </a:txBody>
                      <a:tcPr marL="68580" marR="6858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198282853"/>
                  </p:ext>
                </p:extLst>
              </p:nvPr>
            </p:nvGraphicFramePr>
            <p:xfrm>
              <a:off x="767442" y="713344"/>
              <a:ext cx="7657308" cy="3902837"/>
            </p:xfrm>
            <a:graphic>
              <a:graphicData uri="http://schemas.openxmlformats.org/drawingml/2006/table">
                <a:tbl>
                  <a:tblPr firstRow="1" firstCol="1" bandRow="1">
                    <a:tableStyleId>{5940675A-B579-460E-94D1-54222C63F5DA}</a:tableStyleId>
                  </a:tblPr>
                  <a:tblGrid>
                    <a:gridCol w="1943168"/>
                    <a:gridCol w="1881881"/>
                    <a:gridCol w="3832259"/>
                  </a:tblGrid>
                  <a:tr h="652272">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Phrase</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Subtraction Expression</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Line</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Representation</a:t>
                          </a:r>
                        </a:p>
                      </a:txBody>
                      <a:tcPr marL="68580" marR="68580" marT="0" marB="0" anchor="ctr">
                        <a:solidFill>
                          <a:schemeClr val="bg1">
                            <a:lumMod val="75000"/>
                          </a:schemeClr>
                        </a:solidFill>
                      </a:tcPr>
                    </a:tc>
                  </a:tr>
                  <a:tr h="2685415">
                    <a:tc>
                      <a:txBody>
                        <a:bodyPr/>
                        <a:lstStyle/>
                        <a:p>
                          <a:endParaRPr lang="en-US"/>
                        </a:p>
                      </a:txBody>
                      <a:tcPr marL="68580" marR="68580" marT="0" marB="0" anchor="ctr">
                        <a:blipFill rotWithShape="0">
                          <a:blip r:embed="rId4"/>
                          <a:stretch>
                            <a:fillRect l="-313" t="-27438" r="-294984" b="-21542"/>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b"/>
                    </a:tc>
                  </a:tr>
                  <a:tr h="565150">
                    <a:tc gridSpan="3">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 = ______</a:t>
                          </a:r>
                        </a:p>
                      </a:txBody>
                      <a:tcPr marL="68580" marR="68580" marT="0" marB="0" anchor="ctr"/>
                    </a:tc>
                    <a:tc hMerge="1">
                      <a:txBody>
                        <a:bodyPr/>
                        <a:lstStyle/>
                        <a:p>
                          <a:endParaRPr lang="en-US"/>
                        </a:p>
                      </a:txBody>
                      <a:tcPr/>
                    </a:tc>
                    <a:tc hMerge="1">
                      <a:txBody>
                        <a:bodyPr/>
                        <a:lstStyle/>
                        <a:p>
                          <a:endParaRPr lang="en-US"/>
                        </a:p>
                      </a:txBody>
                      <a:tcPr/>
                    </a:tc>
                  </a:tr>
                </a:tbl>
              </a:graphicData>
            </a:graphic>
          </p:graphicFrame>
        </mc:Fallback>
      </mc:AlternateContent>
      <p:pic>
        <p:nvPicPr>
          <p:cNvPr id="9" name="Picture 8" descr="Diagram&#10;&#10;Description automatically generated"/>
          <p:cNvPicPr/>
          <p:nvPr/>
        </p:nvPicPr>
        <p:blipFill rotWithShape="1">
          <a:blip r:embed="rId5" cstate="screen">
            <a:extLst>
              <a:ext uri="{28A0092B-C50C-407E-A947-70E740481C1C}">
                <a14:useLocalDpi xmlns:a14="http://schemas.microsoft.com/office/drawing/2010/main"/>
              </a:ext>
            </a:extLst>
          </a:blip>
          <a:srcRect t="31519" b="56194"/>
          <a:stretch/>
        </p:blipFill>
        <p:spPr bwMode="auto">
          <a:xfrm>
            <a:off x="6418353" y="2384092"/>
            <a:ext cx="3339465" cy="561340"/>
          </a:xfrm>
          <a:prstGeom prst="rect">
            <a:avLst/>
          </a:prstGeom>
          <a:ln>
            <a:noFill/>
          </a:ln>
          <a:extLst>
            <a:ext uri="{53640926-AAD7-44D8-BBD7-CCE9431645EC}">
              <a14:shadowObscured xmlns:a14="http://schemas.microsoft.com/office/drawing/2010/main"/>
            </a:ext>
          </a:extLst>
        </p:spPr>
      </p:pic>
      <p:sp>
        <p:nvSpPr>
          <p:cNvPr id="7"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173</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1846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513111404"/>
                  </p:ext>
                </p:extLst>
              </p:nvPr>
            </p:nvGraphicFramePr>
            <p:xfrm>
              <a:off x="2291442" y="713344"/>
              <a:ext cx="7657308" cy="3993050"/>
            </p:xfrm>
            <a:graphic>
              <a:graphicData uri="http://schemas.openxmlformats.org/drawingml/2006/table">
                <a:tbl>
                  <a:tblPr firstRow="1" firstCol="1" bandRow="1">
                    <a:tableStyleId>{5940675A-B579-460E-94D1-54222C63F5DA}</a:tableStyleId>
                  </a:tblPr>
                  <a:tblGrid>
                    <a:gridCol w="1943168">
                      <a:extLst>
                        <a:ext uri="{9D8B030D-6E8A-4147-A177-3AD203B41FA5}">
                          <a16:colId xmlns:a16="http://schemas.microsoft.com/office/drawing/2014/main" val="20000"/>
                        </a:ext>
                      </a:extLst>
                    </a:gridCol>
                    <a:gridCol w="1881881">
                      <a:extLst>
                        <a:ext uri="{9D8B030D-6E8A-4147-A177-3AD203B41FA5}">
                          <a16:colId xmlns:a16="http://schemas.microsoft.com/office/drawing/2014/main" val="20001"/>
                        </a:ext>
                      </a:extLst>
                    </a:gridCol>
                    <a:gridCol w="3832259">
                      <a:extLst>
                        <a:ext uri="{9D8B030D-6E8A-4147-A177-3AD203B41FA5}">
                          <a16:colId xmlns:a16="http://schemas.microsoft.com/office/drawing/2014/main" val="20002"/>
                        </a:ext>
                      </a:extLst>
                    </a:gridCol>
                  </a:tblGrid>
                  <a:tr h="547645">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Phrase</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Subtraction Expression</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Line</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Representation</a:t>
                          </a:r>
                        </a:p>
                      </a:txBody>
                      <a:tcPr marL="68580" marR="68580" marT="0" marB="0" anchor="ctr">
                        <a:solidFill>
                          <a:schemeClr val="bg1">
                            <a:lumMod val="75000"/>
                          </a:schemeClr>
                        </a:solidFill>
                      </a:tcPr>
                    </a:tc>
                    <a:extLst>
                      <a:ext uri="{0D108BD9-81ED-4DB2-BD59-A6C34878D82A}">
                        <a16:rowId xmlns:a16="http://schemas.microsoft.com/office/drawing/2014/main" val="10000"/>
                      </a:ext>
                    </a:extLst>
                  </a:tr>
                  <a:tr h="2685415">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difference of </a:t>
                          </a:r>
                          <a14:m>
                            <m:oMath xmlns:m="http://schemas.openxmlformats.org/officeDocument/2006/math">
                              <m:r>
                                <a:rPr lang="en-US" sz="2000" b="0" i="0" smtClean="0">
                                  <a:effectLst/>
                                  <a:latin typeface="Cambria Math" panose="02040503050406030204" pitchFamily="18" charset="0"/>
                                  <a:ea typeface="Verdana" panose="020B0604030504040204" pitchFamily="34" charset="0"/>
                                  <a:cs typeface="Verdana" panose="020B0604030504040204" pitchFamily="34" charset="0"/>
                                </a:rPr>
                                <m:t>−</m:t>
                              </m:r>
                              <m:r>
                                <a:rPr lang="en-US" sz="2000" b="0" i="1" smtClean="0">
                                  <a:effectLst/>
                                  <a:latin typeface="Cambria Math" panose="02040503050406030204" pitchFamily="18" charset="0"/>
                                  <a:ea typeface="Verdana" panose="020B0604030504040204" pitchFamily="34" charset="0"/>
                                  <a:cs typeface="Verdana" panose="020B0604030504040204" pitchFamily="34" charset="0"/>
                                </a:rPr>
                                <m:t>0.5</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b="0" i="0" smtClean="0">
                                  <a:effectLst/>
                                  <a:latin typeface="Cambria Math" panose="02040503050406030204" pitchFamily="18" charset="0"/>
                                  <a:ea typeface="Cambria Math" panose="02040503050406030204" pitchFamily="18" charset="0"/>
                                </a:rPr>
                                <m:t>0.9</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b"/>
                    </a:tc>
                    <a:extLst>
                      <a:ext uri="{0D108BD9-81ED-4DB2-BD59-A6C34878D82A}">
                        <a16:rowId xmlns:a16="http://schemas.microsoft.com/office/drawing/2014/main" val="10001"/>
                      </a:ext>
                    </a:extLst>
                  </a:tr>
                  <a:tr h="684255">
                    <a:tc gridSpan="3">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 = ______</a:t>
                          </a:r>
                        </a:p>
                      </a:txBody>
                      <a:tcPr marL="68580" marR="6858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513111404"/>
                  </p:ext>
                </p:extLst>
              </p:nvPr>
            </p:nvGraphicFramePr>
            <p:xfrm>
              <a:off x="767442" y="713344"/>
              <a:ext cx="7657308" cy="4021942"/>
            </p:xfrm>
            <a:graphic>
              <a:graphicData uri="http://schemas.openxmlformats.org/drawingml/2006/table">
                <a:tbl>
                  <a:tblPr firstRow="1" firstCol="1" bandRow="1">
                    <a:tableStyleId>{5940675A-B579-460E-94D1-54222C63F5DA}</a:tableStyleId>
                  </a:tblPr>
                  <a:tblGrid>
                    <a:gridCol w="1943168"/>
                    <a:gridCol w="1881881"/>
                    <a:gridCol w="3832259"/>
                  </a:tblGrid>
                  <a:tr h="652272">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Phrase</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Subtraction Expression</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Line</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Representation</a:t>
                          </a:r>
                        </a:p>
                      </a:txBody>
                      <a:tcPr marL="68580" marR="68580" marT="0" marB="0" anchor="ctr">
                        <a:solidFill>
                          <a:schemeClr val="bg1">
                            <a:lumMod val="75000"/>
                          </a:schemeClr>
                        </a:solidFill>
                      </a:tcPr>
                    </a:tc>
                  </a:tr>
                  <a:tr h="2685415">
                    <a:tc>
                      <a:txBody>
                        <a:bodyPr/>
                        <a:lstStyle/>
                        <a:p>
                          <a:endParaRPr lang="en-US"/>
                        </a:p>
                      </a:txBody>
                      <a:tcPr marL="68580" marR="68580" marT="0" marB="0" anchor="ctr">
                        <a:blipFill rotWithShape="0">
                          <a:blip r:embed="rId4"/>
                          <a:stretch>
                            <a:fillRect l="-313" t="-27438" r="-294984" b="-25850"/>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b"/>
                    </a:tc>
                  </a:tr>
                  <a:tr h="684255">
                    <a:tc gridSpan="3">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 = ______</a:t>
                          </a:r>
                        </a:p>
                      </a:txBody>
                      <a:tcPr marL="68580" marR="68580" marT="0" marB="0" anchor="ctr"/>
                    </a:tc>
                    <a:tc hMerge="1">
                      <a:txBody>
                        <a:bodyPr/>
                        <a:lstStyle/>
                        <a:p>
                          <a:endParaRPr lang="en-US"/>
                        </a:p>
                      </a:txBody>
                      <a:tcPr/>
                    </a:tc>
                    <a:tc hMerge="1">
                      <a:txBody>
                        <a:bodyPr/>
                        <a:lstStyle/>
                        <a:p>
                          <a:endParaRPr lang="en-US"/>
                        </a:p>
                      </a:txBody>
                      <a:tcPr/>
                    </a:tc>
                  </a:tr>
                </a:tbl>
              </a:graphicData>
            </a:graphic>
          </p:graphicFrame>
        </mc:Fallback>
      </mc:AlternateContent>
      <p:pic>
        <p:nvPicPr>
          <p:cNvPr id="7" name="Picture 6" descr="Diagram&#10;&#10;Description automatically generated"/>
          <p:cNvPicPr/>
          <p:nvPr/>
        </p:nvPicPr>
        <p:blipFill rotWithShape="1">
          <a:blip r:embed="rId5" cstate="screen">
            <a:extLst>
              <a:ext uri="{28A0092B-C50C-407E-A947-70E740481C1C}">
                <a14:useLocalDpi xmlns:a14="http://schemas.microsoft.com/office/drawing/2010/main"/>
              </a:ext>
            </a:extLst>
          </a:blip>
          <a:srcRect t="31519" b="56194"/>
          <a:stretch/>
        </p:blipFill>
        <p:spPr bwMode="auto">
          <a:xfrm>
            <a:off x="6408103" y="2390442"/>
            <a:ext cx="3261995" cy="548640"/>
          </a:xfrm>
          <a:prstGeom prst="rect">
            <a:avLst/>
          </a:prstGeom>
          <a:ln>
            <a:noFill/>
          </a:ln>
          <a:extLst>
            <a:ext uri="{53640926-AAD7-44D8-BBD7-CCE9431645EC}">
              <a14:shadowObscured xmlns:a14="http://schemas.microsoft.com/office/drawing/2010/main"/>
            </a:ext>
          </a:extLst>
        </p:spPr>
      </p:pic>
      <p:sp>
        <p:nvSpPr>
          <p:cNvPr id="9"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173</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55307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1932432" y="288746"/>
            <a:ext cx="8327136" cy="769441"/>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With your partner, complete the table to find the difference of the values.</a:t>
            </a: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3847107579"/>
                  </p:ext>
                </p:extLst>
              </p:nvPr>
            </p:nvGraphicFramePr>
            <p:xfrm>
              <a:off x="2124926" y="1307806"/>
              <a:ext cx="8128332" cy="4473547"/>
            </p:xfrm>
            <a:graphic>
              <a:graphicData uri="http://schemas.openxmlformats.org/drawingml/2006/table">
                <a:tbl>
                  <a:tblPr firstRow="1" firstCol="1" bandRow="1">
                    <a:tableStyleId>{5940675A-B579-460E-94D1-54222C63F5DA}</a:tableStyleId>
                  </a:tblPr>
                  <a:tblGrid>
                    <a:gridCol w="2362484">
                      <a:extLst>
                        <a:ext uri="{9D8B030D-6E8A-4147-A177-3AD203B41FA5}">
                          <a16:colId xmlns:a16="http://schemas.microsoft.com/office/drawing/2014/main" val="20000"/>
                        </a:ext>
                      </a:extLst>
                    </a:gridCol>
                    <a:gridCol w="1478675">
                      <a:extLst>
                        <a:ext uri="{9D8B030D-6E8A-4147-A177-3AD203B41FA5}">
                          <a16:colId xmlns:a16="http://schemas.microsoft.com/office/drawing/2014/main" val="20001"/>
                        </a:ext>
                      </a:extLst>
                    </a:gridCol>
                    <a:gridCol w="1725236">
                      <a:extLst>
                        <a:ext uri="{9D8B030D-6E8A-4147-A177-3AD203B41FA5}">
                          <a16:colId xmlns:a16="http://schemas.microsoft.com/office/drawing/2014/main" val="20002"/>
                        </a:ext>
                      </a:extLst>
                    </a:gridCol>
                    <a:gridCol w="2561937">
                      <a:extLst>
                        <a:ext uri="{9D8B030D-6E8A-4147-A177-3AD203B41FA5}">
                          <a16:colId xmlns:a16="http://schemas.microsoft.com/office/drawing/2014/main" val="20003"/>
                        </a:ext>
                      </a:extLst>
                    </a:gridCol>
                  </a:tblGrid>
                  <a:tr h="1695131">
                    <a:tc>
                      <a:txBody>
                        <a:bodyPr/>
                        <a:lstStyle/>
                        <a:p>
                          <a:pPr marL="0" marR="0" indent="571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0137" marR="60137" marT="0" marB="0" anchor="ctr">
                        <a:solidFill>
                          <a:schemeClr val="bg1">
                            <a:lumMod val="75000"/>
                          </a:schemeClr>
                        </a:solidFill>
                      </a:tcPr>
                    </a:tc>
                    <a:tc>
                      <a:txBody>
                        <a:bodyPr/>
                        <a:lstStyle/>
                        <a:p>
                          <a:pPr marL="0" marR="0" indent="571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Distance Between the Values</a:t>
                          </a:r>
                        </a:p>
                      </a:txBody>
                      <a:tcPr marL="60137" marR="60137" marT="0" marB="0" anchor="ctr">
                        <a:solidFill>
                          <a:schemeClr val="bg1">
                            <a:lumMod val="75000"/>
                          </a:schemeClr>
                        </a:solidFill>
                      </a:tcPr>
                    </a:tc>
                    <a:tc>
                      <a:txBody>
                        <a:bodyPr/>
                        <a:lstStyle/>
                        <a:p>
                          <a:pPr marL="0" marR="0" indent="571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Direction from Second Value to First Value</a:t>
                          </a:r>
                        </a:p>
                      </a:txBody>
                      <a:tcPr marL="60137" marR="60137" marT="0" marB="0" anchor="ctr">
                        <a:solidFill>
                          <a:schemeClr val="bg1">
                            <a:lumMod val="75000"/>
                          </a:schemeClr>
                        </a:solidFill>
                      </a:tcPr>
                    </a:tc>
                    <a:tc>
                      <a:txBody>
                        <a:bodyPr/>
                        <a:lstStyle/>
                        <a:p>
                          <a:pPr marL="0" marR="0" indent="571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Difference</a:t>
                          </a:r>
                        </a:p>
                      </a:txBody>
                      <a:tcPr marL="60137" marR="60137" marT="0" marB="0" anchor="ctr">
                        <a:solidFill>
                          <a:schemeClr val="bg1">
                            <a:lumMod val="75000"/>
                          </a:schemeClr>
                        </a:solidFill>
                      </a:tcPr>
                    </a:tc>
                    <a:extLst>
                      <a:ext uri="{0D108BD9-81ED-4DB2-BD59-A6C34878D82A}">
                        <a16:rowId xmlns:a16="http://schemas.microsoft.com/office/drawing/2014/main" val="10000"/>
                      </a:ext>
                    </a:extLst>
                  </a:tr>
                  <a:tr h="694604">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9.9−6.2</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0137" marR="60137" marT="0" marB="0" anchor="ctr"/>
                    </a:tc>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3.7</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0137" marR="60137" marT="0" marB="0" anchor="ctr"/>
                    </a:tc>
                    <a:tc>
                      <a:txBody>
                        <a:bodyPr/>
                        <a:lstStyle/>
                        <a:p>
                          <a:pPr marL="0" marR="0" indent="5715"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Right/</a:t>
                          </a:r>
                        </a:p>
                        <a:p>
                          <a:pPr marL="0" marR="0" indent="5715"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positive</a:t>
                          </a:r>
                        </a:p>
                      </a:txBody>
                      <a:tcPr marL="60137" marR="60137" marT="0" marB="0" anchor="ctr"/>
                    </a:tc>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9.9− 6.2=3.7</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0137" marR="60137" marT="0" marB="0" anchor="ctr"/>
                    </a:tc>
                    <a:extLst>
                      <a:ext uri="{0D108BD9-81ED-4DB2-BD59-A6C34878D82A}">
                        <a16:rowId xmlns:a16="http://schemas.microsoft.com/office/drawing/2014/main" val="10001"/>
                      </a:ext>
                    </a:extLst>
                  </a:tr>
                  <a:tr h="694604">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effectLst/>
                                    <a:latin typeface="Cambria Math" panose="02040503050406030204" pitchFamily="18" charset="0"/>
                                    <a:ea typeface="Cambria Math" panose="02040503050406030204" pitchFamily="18" charset="0"/>
                                  </a:rPr>
                                  <m:t>9.9−</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6.2</m:t>
                                        </m:r>
                                      </m:e>
                                    </m:sPre>
                                  </m:e>
                                </m:d>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0137" marR="60137" marT="0" marB="0" anchor="ctr"/>
                    </a:tc>
                    <a:tc>
                      <a:txBody>
                        <a:bodyPr/>
                        <a:lstStyle/>
                        <a:p>
                          <a:pPr marL="0" marR="0" indent="5715"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0137" marR="60137" marT="0" marB="0" anchor="ctr"/>
                    </a:tc>
                    <a:tc>
                      <a:txBody>
                        <a:bodyPr/>
                        <a:lstStyle/>
                        <a:p>
                          <a:pPr marL="0" marR="0" indent="5715"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0137" marR="60137" marT="0" marB="0" anchor="ctr"/>
                    </a:tc>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effectLst/>
                                    <a:latin typeface="Cambria Math" panose="02040503050406030204" pitchFamily="18" charset="0"/>
                                    <a:ea typeface="Cambria Math" panose="02040503050406030204" pitchFamily="18" charset="0"/>
                                  </a:rPr>
                                  <m:t>9.9−</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6.2</m:t>
                                        </m:r>
                                      </m:e>
                                    </m:sPre>
                                  </m:e>
                                </m:d>
                                <m:r>
                                  <a:rPr lang="en-US" sz="2000">
                                    <a:effectLst/>
                                    <a:latin typeface="Cambria Math" panose="02040503050406030204" pitchFamily="18" charset="0"/>
                                    <a:ea typeface="Cambria Math" panose="02040503050406030204" pitchFamily="18" charset="0"/>
                                  </a:rPr>
                                  <m:t>=____</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0137" marR="60137" marT="0" marB="0" anchor="ctr"/>
                    </a:tc>
                    <a:extLst>
                      <a:ext uri="{0D108BD9-81ED-4DB2-BD59-A6C34878D82A}">
                        <a16:rowId xmlns:a16="http://schemas.microsoft.com/office/drawing/2014/main" val="10002"/>
                      </a:ext>
                    </a:extLst>
                  </a:tr>
                  <a:tr h="694604">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9.9</m:t>
                                        </m:r>
                                      </m:e>
                                    </m:sPre>
                                  </m:e>
                                </m:d>
                                <m:r>
                                  <a:rPr lang="en-US" sz="2000">
                                    <a:effectLst/>
                                    <a:latin typeface="Cambria Math" panose="02040503050406030204" pitchFamily="18" charset="0"/>
                                    <a:ea typeface="Cambria Math" panose="02040503050406030204" pitchFamily="18" charset="0"/>
                                  </a:rPr>
                                  <m:t>−6.2</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0137" marR="60137" marT="0" marB="0" anchor="ctr"/>
                    </a:tc>
                    <a:tc>
                      <a:txBody>
                        <a:bodyPr/>
                        <a:lstStyle/>
                        <a:p>
                          <a:pPr marL="0" marR="0" indent="5715"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0137" marR="60137" marT="0" marB="0" anchor="ctr"/>
                    </a:tc>
                    <a:tc>
                      <a:txBody>
                        <a:bodyPr/>
                        <a:lstStyle/>
                        <a:p>
                          <a:pPr marL="0" marR="0" indent="5715"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0137" marR="60137" marT="0" marB="0" anchor="ctr"/>
                    </a:tc>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9.9</m:t>
                                        </m:r>
                                      </m:e>
                                    </m:sPre>
                                  </m:e>
                                </m:d>
                                <m:r>
                                  <a:rPr lang="en-US" sz="2000">
                                    <a:effectLst/>
                                    <a:latin typeface="Cambria Math" panose="02040503050406030204" pitchFamily="18" charset="0"/>
                                    <a:ea typeface="Cambria Math" panose="02040503050406030204" pitchFamily="18" charset="0"/>
                                  </a:rPr>
                                  <m:t>−6.2=____</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0137" marR="60137" marT="0" marB="0" anchor="ctr"/>
                    </a:tc>
                    <a:extLst>
                      <a:ext uri="{0D108BD9-81ED-4DB2-BD59-A6C34878D82A}">
                        <a16:rowId xmlns:a16="http://schemas.microsoft.com/office/drawing/2014/main" val="10003"/>
                      </a:ext>
                    </a:extLst>
                  </a:tr>
                  <a:tr h="694604">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9.9</m:t>
                                        </m:r>
                                      </m:e>
                                    </m:sPre>
                                  </m:e>
                                </m:d>
                                <m:r>
                                  <a:rPr lang="en-US" sz="2000">
                                    <a:effectLst/>
                                    <a:latin typeface="Cambria Math" panose="02040503050406030204" pitchFamily="18" charset="0"/>
                                    <a:ea typeface="Cambria Math" panose="02040503050406030204" pitchFamily="18" charset="0"/>
                                  </a:rPr>
                                  <m:t>−</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6.2</m:t>
                                        </m:r>
                                      </m:e>
                                    </m:sPre>
                                  </m:e>
                                </m:d>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0137" marR="60137" marT="0" marB="0" anchor="ctr"/>
                    </a:tc>
                    <a:tc>
                      <a:txBody>
                        <a:bodyPr/>
                        <a:lstStyle/>
                        <a:p>
                          <a:pPr marL="0" marR="0" indent="5715"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0137" marR="60137" marT="0" marB="0" anchor="ctr"/>
                    </a:tc>
                    <a:tc>
                      <a:txBody>
                        <a:bodyPr/>
                        <a:lstStyle/>
                        <a:p>
                          <a:pPr marL="0" marR="0" indent="5715"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0137" marR="60137" marT="0" marB="0" anchor="ctr"/>
                    </a:tc>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9.9</m:t>
                                        </m:r>
                                      </m:e>
                                    </m:sPre>
                                  </m:e>
                                </m:d>
                                <m:r>
                                  <a:rPr lang="en-US" sz="2000">
                                    <a:effectLst/>
                                    <a:latin typeface="Cambria Math" panose="02040503050406030204" pitchFamily="18" charset="0"/>
                                    <a:ea typeface="Cambria Math" panose="02040503050406030204" pitchFamily="18" charset="0"/>
                                  </a:rPr>
                                  <m:t>−</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6.2</m:t>
                                        </m:r>
                                      </m:e>
                                    </m:sPre>
                                  </m:e>
                                </m:d>
                                <m:r>
                                  <a:rPr lang="en-US" sz="2000">
                                    <a:effectLst/>
                                    <a:latin typeface="Cambria Math" panose="02040503050406030204" pitchFamily="18" charset="0"/>
                                    <a:ea typeface="Cambria Math" panose="02040503050406030204" pitchFamily="18" charset="0"/>
                                  </a:rPr>
                                  <m:t>=____</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0137" marR="60137" marT="0" marB="0" anchor="ctr"/>
                    </a:tc>
                    <a:extLst>
                      <a:ext uri="{0D108BD9-81ED-4DB2-BD59-A6C34878D82A}">
                        <a16:rowId xmlns:a16="http://schemas.microsoft.com/office/drawing/2014/main" val="10004"/>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3847107579"/>
                  </p:ext>
                </p:extLst>
              </p:nvPr>
            </p:nvGraphicFramePr>
            <p:xfrm>
              <a:off x="2124926" y="1307806"/>
              <a:ext cx="8128332" cy="4473547"/>
            </p:xfrm>
            <a:graphic>
              <a:graphicData uri="http://schemas.openxmlformats.org/drawingml/2006/table">
                <a:tbl>
                  <a:tblPr firstRow="1" firstCol="1" bandRow="1">
                    <a:tableStyleId>{5940675A-B579-460E-94D1-54222C63F5DA}</a:tableStyleId>
                  </a:tblPr>
                  <a:tblGrid>
                    <a:gridCol w="2362484">
                      <a:extLst>
                        <a:ext uri="{9D8B030D-6E8A-4147-A177-3AD203B41FA5}">
                          <a16:colId xmlns:a16="http://schemas.microsoft.com/office/drawing/2014/main" val="20000"/>
                        </a:ext>
                      </a:extLst>
                    </a:gridCol>
                    <a:gridCol w="1478675">
                      <a:extLst>
                        <a:ext uri="{9D8B030D-6E8A-4147-A177-3AD203B41FA5}">
                          <a16:colId xmlns:a16="http://schemas.microsoft.com/office/drawing/2014/main" val="20001"/>
                        </a:ext>
                      </a:extLst>
                    </a:gridCol>
                    <a:gridCol w="1725236">
                      <a:extLst>
                        <a:ext uri="{9D8B030D-6E8A-4147-A177-3AD203B41FA5}">
                          <a16:colId xmlns:a16="http://schemas.microsoft.com/office/drawing/2014/main" val="20002"/>
                        </a:ext>
                      </a:extLst>
                    </a:gridCol>
                    <a:gridCol w="2561937">
                      <a:extLst>
                        <a:ext uri="{9D8B030D-6E8A-4147-A177-3AD203B41FA5}">
                          <a16:colId xmlns:a16="http://schemas.microsoft.com/office/drawing/2014/main" val="20003"/>
                        </a:ext>
                      </a:extLst>
                    </a:gridCol>
                  </a:tblGrid>
                  <a:tr h="1695131">
                    <a:tc>
                      <a:txBody>
                        <a:bodyPr/>
                        <a:lstStyle/>
                        <a:p>
                          <a:pPr marL="0" marR="0" indent="571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0137" marR="60137" marT="0" marB="0" anchor="ctr">
                        <a:solidFill>
                          <a:schemeClr val="bg1">
                            <a:lumMod val="75000"/>
                          </a:schemeClr>
                        </a:solidFill>
                      </a:tcPr>
                    </a:tc>
                    <a:tc>
                      <a:txBody>
                        <a:bodyPr/>
                        <a:lstStyle/>
                        <a:p>
                          <a:pPr marL="0" marR="0" indent="571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Distance Between the Values</a:t>
                          </a:r>
                        </a:p>
                      </a:txBody>
                      <a:tcPr marL="60137" marR="60137" marT="0" marB="0" anchor="ctr">
                        <a:solidFill>
                          <a:schemeClr val="bg1">
                            <a:lumMod val="75000"/>
                          </a:schemeClr>
                        </a:solidFill>
                      </a:tcPr>
                    </a:tc>
                    <a:tc>
                      <a:txBody>
                        <a:bodyPr/>
                        <a:lstStyle/>
                        <a:p>
                          <a:pPr marL="0" marR="0" indent="571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Direction from Second Value to First Value</a:t>
                          </a:r>
                        </a:p>
                      </a:txBody>
                      <a:tcPr marL="60137" marR="60137" marT="0" marB="0" anchor="ctr">
                        <a:solidFill>
                          <a:schemeClr val="bg1">
                            <a:lumMod val="75000"/>
                          </a:schemeClr>
                        </a:solidFill>
                      </a:tcPr>
                    </a:tc>
                    <a:tc>
                      <a:txBody>
                        <a:bodyPr/>
                        <a:lstStyle/>
                        <a:p>
                          <a:pPr marL="0" marR="0" indent="571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Difference</a:t>
                          </a:r>
                        </a:p>
                      </a:txBody>
                      <a:tcPr marL="60137" marR="60137" marT="0" marB="0" anchor="ctr">
                        <a:solidFill>
                          <a:schemeClr val="bg1">
                            <a:lumMod val="75000"/>
                          </a:schemeClr>
                        </a:solidFill>
                      </a:tcPr>
                    </a:tc>
                    <a:extLst>
                      <a:ext uri="{0D108BD9-81ED-4DB2-BD59-A6C34878D82A}">
                        <a16:rowId xmlns:a16="http://schemas.microsoft.com/office/drawing/2014/main" val="10000"/>
                      </a:ext>
                    </a:extLst>
                  </a:tr>
                  <a:tr h="694604">
                    <a:tc>
                      <a:txBody>
                        <a:bodyPr/>
                        <a:lstStyle/>
                        <a:p>
                          <a:endParaRPr lang="en-US"/>
                        </a:p>
                      </a:txBody>
                      <a:tcPr marL="60137" marR="60137" marT="0" marB="0" anchor="ctr">
                        <a:blipFill>
                          <a:blip r:embed="rId3"/>
                          <a:stretch>
                            <a:fillRect l="-258" t="-250000" r="-244588" b="-301754"/>
                          </a:stretch>
                        </a:blipFill>
                      </a:tcPr>
                    </a:tc>
                    <a:tc>
                      <a:txBody>
                        <a:bodyPr/>
                        <a:lstStyle/>
                        <a:p>
                          <a:endParaRPr lang="en-US"/>
                        </a:p>
                      </a:txBody>
                      <a:tcPr marL="60137" marR="60137" marT="0" marB="0" anchor="ctr">
                        <a:blipFill>
                          <a:blip r:embed="rId3"/>
                          <a:stretch>
                            <a:fillRect l="-160744" t="-250000" r="-292149" b="-301754"/>
                          </a:stretch>
                        </a:blipFill>
                      </a:tcPr>
                    </a:tc>
                    <a:tc>
                      <a:txBody>
                        <a:bodyPr/>
                        <a:lstStyle/>
                        <a:p>
                          <a:pPr marL="0" marR="0" indent="5715"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Right/</a:t>
                          </a:r>
                        </a:p>
                        <a:p>
                          <a:pPr marL="0" marR="0" indent="5715"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positive</a:t>
                          </a:r>
                        </a:p>
                      </a:txBody>
                      <a:tcPr marL="60137" marR="60137" marT="0" marB="0" anchor="ctr"/>
                    </a:tc>
                    <a:tc>
                      <a:txBody>
                        <a:bodyPr/>
                        <a:lstStyle/>
                        <a:p>
                          <a:endParaRPr lang="en-US"/>
                        </a:p>
                      </a:txBody>
                      <a:tcPr marL="60137" marR="60137" marT="0" marB="0" anchor="ctr">
                        <a:blipFill>
                          <a:blip r:embed="rId3"/>
                          <a:stretch>
                            <a:fillRect l="-217857" t="-250000" r="-714" b="-301754"/>
                          </a:stretch>
                        </a:blipFill>
                      </a:tcPr>
                    </a:tc>
                    <a:extLst>
                      <a:ext uri="{0D108BD9-81ED-4DB2-BD59-A6C34878D82A}">
                        <a16:rowId xmlns:a16="http://schemas.microsoft.com/office/drawing/2014/main" val="10001"/>
                      </a:ext>
                    </a:extLst>
                  </a:tr>
                  <a:tr h="694604">
                    <a:tc>
                      <a:txBody>
                        <a:bodyPr/>
                        <a:lstStyle/>
                        <a:p>
                          <a:endParaRPr lang="en-US"/>
                        </a:p>
                      </a:txBody>
                      <a:tcPr marL="60137" marR="60137" marT="0" marB="0" anchor="ctr">
                        <a:blipFill>
                          <a:blip r:embed="rId3"/>
                          <a:stretch>
                            <a:fillRect l="-258" t="-350000" r="-244588" b="-201754"/>
                          </a:stretch>
                        </a:blipFill>
                      </a:tcPr>
                    </a:tc>
                    <a:tc>
                      <a:txBody>
                        <a:bodyPr/>
                        <a:lstStyle/>
                        <a:p>
                          <a:pPr marL="0" marR="0" indent="5715"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0137" marR="60137" marT="0" marB="0" anchor="ctr"/>
                    </a:tc>
                    <a:tc>
                      <a:txBody>
                        <a:bodyPr/>
                        <a:lstStyle/>
                        <a:p>
                          <a:pPr marL="0" marR="0" indent="5715"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0137" marR="60137" marT="0" marB="0" anchor="ctr"/>
                    </a:tc>
                    <a:tc>
                      <a:txBody>
                        <a:bodyPr/>
                        <a:lstStyle/>
                        <a:p>
                          <a:endParaRPr lang="en-US"/>
                        </a:p>
                      </a:txBody>
                      <a:tcPr marL="60137" marR="60137" marT="0" marB="0" anchor="ctr">
                        <a:blipFill>
                          <a:blip r:embed="rId3"/>
                          <a:stretch>
                            <a:fillRect l="-217857" t="-350000" r="-714" b="-201754"/>
                          </a:stretch>
                        </a:blipFill>
                      </a:tcPr>
                    </a:tc>
                    <a:extLst>
                      <a:ext uri="{0D108BD9-81ED-4DB2-BD59-A6C34878D82A}">
                        <a16:rowId xmlns:a16="http://schemas.microsoft.com/office/drawing/2014/main" val="10002"/>
                      </a:ext>
                    </a:extLst>
                  </a:tr>
                  <a:tr h="694604">
                    <a:tc>
                      <a:txBody>
                        <a:bodyPr/>
                        <a:lstStyle/>
                        <a:p>
                          <a:endParaRPr lang="en-US"/>
                        </a:p>
                      </a:txBody>
                      <a:tcPr marL="60137" marR="60137" marT="0" marB="0" anchor="ctr">
                        <a:blipFill>
                          <a:blip r:embed="rId3"/>
                          <a:stretch>
                            <a:fillRect l="-258" t="-450000" r="-244588" b="-101754"/>
                          </a:stretch>
                        </a:blipFill>
                      </a:tcPr>
                    </a:tc>
                    <a:tc>
                      <a:txBody>
                        <a:bodyPr/>
                        <a:lstStyle/>
                        <a:p>
                          <a:pPr marL="0" marR="0" indent="5715"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0137" marR="60137" marT="0" marB="0" anchor="ctr"/>
                    </a:tc>
                    <a:tc>
                      <a:txBody>
                        <a:bodyPr/>
                        <a:lstStyle/>
                        <a:p>
                          <a:pPr marL="0" marR="0" indent="5715"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0137" marR="60137" marT="0" marB="0" anchor="ctr"/>
                    </a:tc>
                    <a:tc>
                      <a:txBody>
                        <a:bodyPr/>
                        <a:lstStyle/>
                        <a:p>
                          <a:endParaRPr lang="en-US"/>
                        </a:p>
                      </a:txBody>
                      <a:tcPr marL="60137" marR="60137" marT="0" marB="0" anchor="ctr">
                        <a:blipFill>
                          <a:blip r:embed="rId3"/>
                          <a:stretch>
                            <a:fillRect l="-217857" t="-450000" r="-714" b="-101754"/>
                          </a:stretch>
                        </a:blipFill>
                      </a:tcPr>
                    </a:tc>
                    <a:extLst>
                      <a:ext uri="{0D108BD9-81ED-4DB2-BD59-A6C34878D82A}">
                        <a16:rowId xmlns:a16="http://schemas.microsoft.com/office/drawing/2014/main" val="10003"/>
                      </a:ext>
                    </a:extLst>
                  </a:tr>
                  <a:tr h="694604">
                    <a:tc>
                      <a:txBody>
                        <a:bodyPr/>
                        <a:lstStyle/>
                        <a:p>
                          <a:endParaRPr lang="en-US"/>
                        </a:p>
                      </a:txBody>
                      <a:tcPr marL="60137" marR="60137" marT="0" marB="0" anchor="ctr">
                        <a:blipFill>
                          <a:blip r:embed="rId3"/>
                          <a:stretch>
                            <a:fillRect l="-258" t="-550000" r="-244588" b="-1754"/>
                          </a:stretch>
                        </a:blipFill>
                      </a:tcPr>
                    </a:tc>
                    <a:tc>
                      <a:txBody>
                        <a:bodyPr/>
                        <a:lstStyle/>
                        <a:p>
                          <a:pPr marL="0" marR="0" indent="5715"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0137" marR="60137" marT="0" marB="0" anchor="ctr"/>
                    </a:tc>
                    <a:tc>
                      <a:txBody>
                        <a:bodyPr/>
                        <a:lstStyle/>
                        <a:p>
                          <a:pPr marL="0" marR="0" indent="5715"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0137" marR="60137" marT="0" marB="0" anchor="ctr"/>
                    </a:tc>
                    <a:tc>
                      <a:txBody>
                        <a:bodyPr/>
                        <a:lstStyle/>
                        <a:p>
                          <a:endParaRPr lang="en-US"/>
                        </a:p>
                      </a:txBody>
                      <a:tcPr marL="60137" marR="60137" marT="0" marB="0" anchor="ctr">
                        <a:blipFill>
                          <a:blip r:embed="rId3"/>
                          <a:stretch>
                            <a:fillRect l="-217857" t="-550000" r="-714" b="-1754"/>
                          </a:stretch>
                        </a:blipFill>
                      </a:tcPr>
                    </a:tc>
                    <a:extLst>
                      <a:ext uri="{0D108BD9-81ED-4DB2-BD59-A6C34878D82A}">
                        <a16:rowId xmlns:a16="http://schemas.microsoft.com/office/drawing/2014/main" val="10004"/>
                      </a:ext>
                    </a:extLst>
                  </a:tr>
                </a:tbl>
              </a:graphicData>
            </a:graphic>
          </p:graphicFrame>
        </mc:Fallback>
      </mc:AlternateContent>
      <p:sp>
        <p:nvSpPr>
          <p:cNvPr id="8"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35799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033606996"/>
                  </p:ext>
                </p:extLst>
              </p:nvPr>
            </p:nvGraphicFramePr>
            <p:xfrm>
              <a:off x="1997877" y="486682"/>
              <a:ext cx="8457852" cy="5195661"/>
            </p:xfrm>
            <a:graphic>
              <a:graphicData uri="http://schemas.openxmlformats.org/drawingml/2006/table">
                <a:tbl>
                  <a:tblPr firstRow="1" firstCol="1" bandRow="1">
                    <a:tableStyleId>{5940675A-B579-460E-94D1-54222C63F5DA}</a:tableStyleId>
                  </a:tblPr>
                  <a:tblGrid>
                    <a:gridCol w="2458259">
                      <a:extLst>
                        <a:ext uri="{9D8B030D-6E8A-4147-A177-3AD203B41FA5}">
                          <a16:colId xmlns:a16="http://schemas.microsoft.com/office/drawing/2014/main" val="20000"/>
                        </a:ext>
                      </a:extLst>
                    </a:gridCol>
                    <a:gridCol w="1418257">
                      <a:extLst>
                        <a:ext uri="{9D8B030D-6E8A-4147-A177-3AD203B41FA5}">
                          <a16:colId xmlns:a16="http://schemas.microsoft.com/office/drawing/2014/main" val="20001"/>
                        </a:ext>
                      </a:extLst>
                    </a:gridCol>
                    <a:gridCol w="1903450">
                      <a:extLst>
                        <a:ext uri="{9D8B030D-6E8A-4147-A177-3AD203B41FA5}">
                          <a16:colId xmlns:a16="http://schemas.microsoft.com/office/drawing/2014/main" val="20002"/>
                        </a:ext>
                      </a:extLst>
                    </a:gridCol>
                    <a:gridCol w="2677886">
                      <a:extLst>
                        <a:ext uri="{9D8B030D-6E8A-4147-A177-3AD203B41FA5}">
                          <a16:colId xmlns:a16="http://schemas.microsoft.com/office/drawing/2014/main" val="20003"/>
                        </a:ext>
                      </a:extLst>
                    </a:gridCol>
                  </a:tblGrid>
                  <a:tr h="1968757">
                    <a:tc>
                      <a:txBody>
                        <a:bodyPr/>
                        <a:lstStyle/>
                        <a:p>
                          <a:pPr marL="0" marR="0" indent="571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0137" marR="60137" marT="0" marB="0" anchor="ctr">
                        <a:solidFill>
                          <a:schemeClr val="bg1">
                            <a:lumMod val="75000"/>
                          </a:schemeClr>
                        </a:solidFill>
                      </a:tcPr>
                    </a:tc>
                    <a:tc>
                      <a:txBody>
                        <a:bodyPr/>
                        <a:lstStyle/>
                        <a:p>
                          <a:pPr marL="0" marR="0" indent="571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Distance Between the Values</a:t>
                          </a:r>
                        </a:p>
                      </a:txBody>
                      <a:tcPr marL="60137" marR="60137" marT="0" marB="0" anchor="ctr">
                        <a:solidFill>
                          <a:schemeClr val="bg1">
                            <a:lumMod val="75000"/>
                          </a:schemeClr>
                        </a:solidFill>
                      </a:tcPr>
                    </a:tc>
                    <a:tc>
                      <a:txBody>
                        <a:bodyPr/>
                        <a:lstStyle/>
                        <a:p>
                          <a:pPr marL="0" marR="0" indent="571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Direction from Second Value to First Value</a:t>
                          </a:r>
                        </a:p>
                      </a:txBody>
                      <a:tcPr marL="60137" marR="60137" marT="0" marB="0" anchor="ctr">
                        <a:solidFill>
                          <a:schemeClr val="bg1">
                            <a:lumMod val="75000"/>
                          </a:schemeClr>
                        </a:solidFill>
                      </a:tcPr>
                    </a:tc>
                    <a:tc>
                      <a:txBody>
                        <a:bodyPr/>
                        <a:lstStyle/>
                        <a:p>
                          <a:pPr marL="0" marR="0" indent="571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Difference</a:t>
                          </a:r>
                        </a:p>
                      </a:txBody>
                      <a:tcPr marL="60137" marR="60137" marT="0" marB="0" anchor="ctr">
                        <a:solidFill>
                          <a:schemeClr val="bg1">
                            <a:lumMod val="75000"/>
                          </a:schemeClr>
                        </a:solidFill>
                      </a:tcPr>
                    </a:tc>
                    <a:extLst>
                      <a:ext uri="{0D108BD9-81ED-4DB2-BD59-A6C34878D82A}">
                        <a16:rowId xmlns:a16="http://schemas.microsoft.com/office/drawing/2014/main" val="10000"/>
                      </a:ext>
                    </a:extLst>
                  </a:tr>
                  <a:tr h="806726">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6.2−9.9</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pPr marL="0" marR="0" indent="5715"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pPr marL="0" marR="0" indent="5715"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6.2−9.9=____</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extLst>
                      <a:ext uri="{0D108BD9-81ED-4DB2-BD59-A6C34878D82A}">
                        <a16:rowId xmlns:a16="http://schemas.microsoft.com/office/drawing/2014/main" val="10001"/>
                      </a:ext>
                    </a:extLst>
                  </a:tr>
                  <a:tr h="806726">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effectLst/>
                                    <a:latin typeface="Cambria Math" panose="02040503050406030204" pitchFamily="18" charset="0"/>
                                    <a:ea typeface="Cambria Math" panose="02040503050406030204" pitchFamily="18" charset="0"/>
                                  </a:rPr>
                                  <m:t>6.2−</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9.9</m:t>
                                        </m:r>
                                      </m:e>
                                    </m:sPre>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pPr marL="0" marR="0" indent="5715"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pPr marL="0" marR="0" indent="5715"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effectLst/>
                                    <a:latin typeface="Cambria Math" panose="02040503050406030204" pitchFamily="18" charset="0"/>
                                    <a:ea typeface="Cambria Math" panose="02040503050406030204" pitchFamily="18" charset="0"/>
                                  </a:rPr>
                                  <m:t>6.2−</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9.9</m:t>
                                        </m:r>
                                      </m:e>
                                    </m:sPre>
                                  </m:e>
                                </m:d>
                                <m:r>
                                  <a:rPr lang="en-US" sz="2000">
                                    <a:effectLst/>
                                    <a:latin typeface="Cambria Math" panose="02040503050406030204" pitchFamily="18" charset="0"/>
                                    <a:ea typeface="Cambria Math" panose="02040503050406030204" pitchFamily="18" charset="0"/>
                                  </a:rPr>
                                  <m:t>=____</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extLst>
                      <a:ext uri="{0D108BD9-81ED-4DB2-BD59-A6C34878D82A}">
                        <a16:rowId xmlns:a16="http://schemas.microsoft.com/office/drawing/2014/main" val="10002"/>
                      </a:ext>
                    </a:extLst>
                  </a:tr>
                  <a:tr h="806726">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6.2</m:t>
                                        </m:r>
                                      </m:e>
                                    </m:sPre>
                                  </m:e>
                                </m:d>
                                <m:r>
                                  <a:rPr lang="en-US" sz="2000">
                                    <a:effectLst/>
                                    <a:latin typeface="Cambria Math" panose="02040503050406030204" pitchFamily="18" charset="0"/>
                                    <a:ea typeface="Cambria Math" panose="02040503050406030204" pitchFamily="18" charset="0"/>
                                  </a:rPr>
                                  <m:t>−9.9</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pPr marL="0" marR="0" indent="5715"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pPr marL="0" marR="0" indent="5715"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6.2</m:t>
                                        </m:r>
                                      </m:e>
                                    </m:sPre>
                                  </m:e>
                                </m:d>
                                <m:r>
                                  <a:rPr lang="en-US" sz="2000">
                                    <a:effectLst/>
                                    <a:latin typeface="Cambria Math" panose="02040503050406030204" pitchFamily="18" charset="0"/>
                                    <a:ea typeface="Cambria Math" panose="02040503050406030204" pitchFamily="18" charset="0"/>
                                  </a:rPr>
                                  <m:t>−9.9=____</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extLst>
                      <a:ext uri="{0D108BD9-81ED-4DB2-BD59-A6C34878D82A}">
                        <a16:rowId xmlns:a16="http://schemas.microsoft.com/office/drawing/2014/main" val="10003"/>
                      </a:ext>
                    </a:extLst>
                  </a:tr>
                  <a:tr h="806726">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6.2</m:t>
                                        </m:r>
                                      </m:e>
                                    </m:sPre>
                                  </m:e>
                                </m:d>
                                <m:r>
                                  <a:rPr lang="en-US" sz="2000">
                                    <a:effectLst/>
                                    <a:latin typeface="Cambria Math" panose="02040503050406030204" pitchFamily="18" charset="0"/>
                                    <a:ea typeface="Cambria Math" panose="02040503050406030204" pitchFamily="18" charset="0"/>
                                  </a:rPr>
                                  <m:t>−</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9.9</m:t>
                                        </m:r>
                                      </m:e>
                                    </m:sPre>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pPr marL="0" marR="0" indent="5715"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pPr marL="0" marR="0" indent="5715"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pPr marL="0" marR="0" indent="5715"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6.2</m:t>
                                        </m:r>
                                      </m:e>
                                    </m:sPre>
                                  </m:e>
                                </m:d>
                                <m:r>
                                  <a:rPr lang="en-US" sz="2000">
                                    <a:effectLst/>
                                    <a:latin typeface="Cambria Math" panose="02040503050406030204" pitchFamily="18" charset="0"/>
                                    <a:ea typeface="Cambria Math" panose="02040503050406030204" pitchFamily="18" charset="0"/>
                                  </a:rPr>
                                  <m:t>−</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9.9</m:t>
                                        </m:r>
                                      </m:e>
                                    </m:sPre>
                                  </m:e>
                                </m:d>
                                <m:r>
                                  <a:rPr lang="en-US" sz="2000">
                                    <a:effectLst/>
                                    <a:latin typeface="Cambria Math" panose="02040503050406030204" pitchFamily="18" charset="0"/>
                                    <a:ea typeface="Cambria Math" panose="02040503050406030204" pitchFamily="18" charset="0"/>
                                  </a:rPr>
                                  <m:t>=____</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033606996"/>
                  </p:ext>
                </p:extLst>
              </p:nvPr>
            </p:nvGraphicFramePr>
            <p:xfrm>
              <a:off x="473877" y="486681"/>
              <a:ext cx="8457852" cy="5195661"/>
            </p:xfrm>
            <a:graphic>
              <a:graphicData uri="http://schemas.openxmlformats.org/drawingml/2006/table">
                <a:tbl>
                  <a:tblPr firstRow="1" firstCol="1" bandRow="1">
                    <a:tableStyleId>{5940675A-B579-460E-94D1-54222C63F5DA}</a:tableStyleId>
                  </a:tblPr>
                  <a:tblGrid>
                    <a:gridCol w="2458259"/>
                    <a:gridCol w="1418257"/>
                    <a:gridCol w="1903450"/>
                    <a:gridCol w="2677886"/>
                  </a:tblGrid>
                  <a:tr h="1968757">
                    <a:tc>
                      <a:txBody>
                        <a:bodyPr/>
                        <a:lstStyle/>
                        <a:p>
                          <a:pPr marL="0" marR="0" indent="571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marL="60137" marR="60137" marT="0" marB="0" anchor="ctr">
                        <a:solidFill>
                          <a:schemeClr val="bg1">
                            <a:lumMod val="75000"/>
                          </a:schemeClr>
                        </a:solidFill>
                      </a:tcPr>
                    </a:tc>
                    <a:tc>
                      <a:txBody>
                        <a:bodyPr/>
                        <a:lstStyle/>
                        <a:p>
                          <a:pPr marL="0" marR="0" indent="571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Distance Between the Values</a:t>
                          </a:r>
                        </a:p>
                      </a:txBody>
                      <a:tcPr marL="60137" marR="60137" marT="0" marB="0" anchor="ctr">
                        <a:solidFill>
                          <a:schemeClr val="bg1">
                            <a:lumMod val="75000"/>
                          </a:schemeClr>
                        </a:solidFill>
                      </a:tcPr>
                    </a:tc>
                    <a:tc>
                      <a:txBody>
                        <a:bodyPr/>
                        <a:lstStyle/>
                        <a:p>
                          <a:pPr marL="0" marR="0" indent="571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Direction from Second Value to First Value</a:t>
                          </a:r>
                        </a:p>
                      </a:txBody>
                      <a:tcPr marL="60137" marR="60137" marT="0" marB="0" anchor="ctr">
                        <a:solidFill>
                          <a:schemeClr val="bg1">
                            <a:lumMod val="75000"/>
                          </a:schemeClr>
                        </a:solidFill>
                      </a:tcPr>
                    </a:tc>
                    <a:tc>
                      <a:txBody>
                        <a:bodyPr/>
                        <a:lstStyle/>
                        <a:p>
                          <a:pPr marL="0" marR="0" indent="5715"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Difference</a:t>
                          </a:r>
                        </a:p>
                      </a:txBody>
                      <a:tcPr marL="60137" marR="60137" marT="0" marB="0" anchor="ctr">
                        <a:solidFill>
                          <a:schemeClr val="bg1">
                            <a:lumMod val="75000"/>
                          </a:schemeClr>
                        </a:solidFill>
                      </a:tcPr>
                    </a:tc>
                  </a:tr>
                  <a:tr h="806726">
                    <a:tc>
                      <a:txBody>
                        <a:bodyPr/>
                        <a:lstStyle/>
                        <a:p>
                          <a:endParaRPr lang="en-US"/>
                        </a:p>
                      </a:txBody>
                      <a:tcPr marL="60137" marR="60137" marT="0" marB="0" anchor="ctr">
                        <a:blipFill rotWithShape="0">
                          <a:blip r:embed="rId4"/>
                          <a:stretch>
                            <a:fillRect l="-248" t="-246212" r="-244307" b="-303030"/>
                          </a:stretch>
                        </a:blipFill>
                      </a:tcPr>
                    </a:tc>
                    <a:tc>
                      <a:txBody>
                        <a:bodyPr/>
                        <a:lstStyle/>
                        <a:p>
                          <a:pPr marL="0" marR="0" indent="5715"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pPr marL="0" marR="0" indent="5715"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endParaRPr lang="en-US"/>
                        </a:p>
                      </a:txBody>
                      <a:tcPr marL="60137" marR="60137" marT="0" marB="0" anchor="ctr">
                        <a:blipFill rotWithShape="0">
                          <a:blip r:embed="rId4"/>
                          <a:stretch>
                            <a:fillRect l="-215909" t="-246212" r="-455" b="-303030"/>
                          </a:stretch>
                        </a:blipFill>
                      </a:tcPr>
                    </a:tc>
                  </a:tr>
                  <a:tr h="806726">
                    <a:tc>
                      <a:txBody>
                        <a:bodyPr/>
                        <a:lstStyle/>
                        <a:p>
                          <a:endParaRPr lang="en-US"/>
                        </a:p>
                      </a:txBody>
                      <a:tcPr marL="60137" marR="60137" marT="0" marB="0" anchor="ctr">
                        <a:blipFill rotWithShape="0">
                          <a:blip r:embed="rId4"/>
                          <a:stretch>
                            <a:fillRect l="-248" t="-343609" r="-244307" b="-200752"/>
                          </a:stretch>
                        </a:blipFill>
                      </a:tcPr>
                    </a:tc>
                    <a:tc>
                      <a:txBody>
                        <a:bodyPr/>
                        <a:lstStyle/>
                        <a:p>
                          <a:pPr marL="0" marR="0" indent="5715"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pPr marL="0" marR="0" indent="5715"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endParaRPr lang="en-US"/>
                        </a:p>
                      </a:txBody>
                      <a:tcPr marL="60137" marR="60137" marT="0" marB="0" anchor="ctr">
                        <a:blipFill rotWithShape="0">
                          <a:blip r:embed="rId4"/>
                          <a:stretch>
                            <a:fillRect l="-215909" t="-343609" r="-455" b="-200752"/>
                          </a:stretch>
                        </a:blipFill>
                      </a:tcPr>
                    </a:tc>
                  </a:tr>
                  <a:tr h="806726">
                    <a:tc>
                      <a:txBody>
                        <a:bodyPr/>
                        <a:lstStyle/>
                        <a:p>
                          <a:endParaRPr lang="en-US"/>
                        </a:p>
                      </a:txBody>
                      <a:tcPr marL="60137" marR="60137" marT="0" marB="0" anchor="ctr">
                        <a:blipFill rotWithShape="0">
                          <a:blip r:embed="rId4"/>
                          <a:stretch>
                            <a:fillRect l="-248" t="-446970" r="-244307" b="-102273"/>
                          </a:stretch>
                        </a:blipFill>
                      </a:tcPr>
                    </a:tc>
                    <a:tc>
                      <a:txBody>
                        <a:bodyPr/>
                        <a:lstStyle/>
                        <a:p>
                          <a:pPr marL="0" marR="0" indent="5715"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pPr marL="0" marR="0" indent="5715"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endParaRPr lang="en-US"/>
                        </a:p>
                      </a:txBody>
                      <a:tcPr marL="60137" marR="60137" marT="0" marB="0" anchor="ctr">
                        <a:blipFill rotWithShape="0">
                          <a:blip r:embed="rId4"/>
                          <a:stretch>
                            <a:fillRect l="-215909" t="-446970" r="-455" b="-102273"/>
                          </a:stretch>
                        </a:blipFill>
                      </a:tcPr>
                    </a:tc>
                  </a:tr>
                  <a:tr h="806726">
                    <a:tc>
                      <a:txBody>
                        <a:bodyPr/>
                        <a:lstStyle/>
                        <a:p>
                          <a:endParaRPr lang="en-US"/>
                        </a:p>
                      </a:txBody>
                      <a:tcPr marL="60137" marR="60137" marT="0" marB="0" anchor="ctr">
                        <a:blipFill rotWithShape="0">
                          <a:blip r:embed="rId4"/>
                          <a:stretch>
                            <a:fillRect l="-248" t="-542857" r="-244307" b="-1504"/>
                          </a:stretch>
                        </a:blipFill>
                      </a:tcPr>
                    </a:tc>
                    <a:tc>
                      <a:txBody>
                        <a:bodyPr/>
                        <a:lstStyle/>
                        <a:p>
                          <a:pPr marL="0" marR="0" indent="5715"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pPr marL="0" marR="0" indent="5715"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0137" marR="60137" marT="0" marB="0" anchor="ctr"/>
                    </a:tc>
                    <a:tc>
                      <a:txBody>
                        <a:bodyPr/>
                        <a:lstStyle/>
                        <a:p>
                          <a:endParaRPr lang="en-US"/>
                        </a:p>
                      </a:txBody>
                      <a:tcPr marL="60137" marR="60137" marT="0" marB="0" anchor="ctr">
                        <a:blipFill rotWithShape="0">
                          <a:blip r:embed="rId4"/>
                          <a:stretch>
                            <a:fillRect l="-215909" t="-542857" r="-455" b="-1504"/>
                          </a:stretch>
                        </a:blipFill>
                      </a:tcPr>
                    </a:tc>
                  </a:tr>
                </a:tbl>
              </a:graphicData>
            </a:graphic>
          </p:graphicFrame>
        </mc:Fallback>
      </mc:AlternateContent>
      <p:sp>
        <p:nvSpPr>
          <p:cNvPr id="6"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174</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1944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8532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32495" y="603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11.2.4 Guided Instruction: Finding Differences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585195" y="26759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332495" y="1386026"/>
                <a:ext cx="9783042" cy="3816429"/>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Adding a negative value has the same result as subtracting a positive value. This is because addition and subtraction have an inverse relationship.</a:t>
                </a:r>
              </a:p>
              <a:p>
                <a:r>
                  <a:rPr lang="en-US" sz="2200" dirty="0">
                    <a:latin typeface="Verdana" panose="020B0604030504040204" pitchFamily="34" charset="0"/>
                    <a:ea typeface="Verdana" panose="020B0604030504040204" pitchFamily="34" charset="0"/>
                    <a:cs typeface="Verdana" panose="020B0604030504040204" pitchFamily="34" charset="0"/>
                  </a:rPr>
                  <a:t> </a:t>
                </a:r>
              </a:p>
              <a:p>
                <a:r>
                  <a:rPr lang="en-US" sz="2200" dirty="0">
                    <a:latin typeface="Verdana" panose="020B0604030504040204" pitchFamily="34" charset="0"/>
                    <a:ea typeface="Verdana" panose="020B0604030504040204" pitchFamily="34" charset="0"/>
                    <a:cs typeface="Verdana" panose="020B0604030504040204" pitchFamily="34" charset="0"/>
                  </a:rPr>
                  <a:t>For example, </a:t>
                </a:r>
                <a14:m>
                  <m:oMath xmlns:m="http://schemas.openxmlformats.org/officeDocument/2006/math">
                    <m:r>
                      <a:rPr lang="en-US" sz="2200" i="1">
                        <a:latin typeface="Cambria Math" panose="02040503050406030204" pitchFamily="18" charset="0"/>
                        <a:ea typeface="Cambria Math" panose="02040503050406030204" pitchFamily="18" charset="0"/>
                      </a:rPr>
                      <m:t>5+(−6)</m:t>
                    </m:r>
                  </m:oMath>
                </a14:m>
                <a:r>
                  <a:rPr lang="en-US" sz="2200" dirty="0">
                    <a:latin typeface="Verdana" panose="020B0604030504040204" pitchFamily="34" charset="0"/>
                    <a:ea typeface="Verdana" panose="020B0604030504040204" pitchFamily="34" charset="0"/>
                    <a:cs typeface="Verdana" panose="020B0604030504040204" pitchFamily="34" charset="0"/>
                  </a:rPr>
                  <a:t> is equivalent to </a:t>
                </a:r>
                <a14:m>
                  <m:oMath xmlns:m="http://schemas.openxmlformats.org/officeDocument/2006/math">
                    <m:r>
                      <a:rPr lang="en-US" sz="2200" i="1">
                        <a:latin typeface="Cambria Math" panose="02040503050406030204" pitchFamily="18" charset="0"/>
                        <a:ea typeface="Cambria Math" panose="02040503050406030204" pitchFamily="18" charset="0"/>
                      </a:rPr>
                      <m:t>5−6</m:t>
                    </m:r>
                  </m:oMath>
                </a14:m>
                <a:r>
                  <a:rPr lang="en-US" sz="2200" dirty="0">
                    <a:latin typeface="Verdana" panose="020B0604030504040204" pitchFamily="34" charset="0"/>
                    <a:ea typeface="Verdana" panose="020B0604030504040204" pitchFamily="34" charset="0"/>
                    <a:cs typeface="Verdana" panose="020B0604030504040204" pitchFamily="34" charset="0"/>
                  </a:rPr>
                  <a:t>. Both expressions have a value of </a:t>
                </a:r>
                <a14:m>
                  <m:oMath xmlns:m="http://schemas.openxmlformats.org/officeDocument/2006/math">
                    <m:r>
                      <a:rPr lang="en-US" sz="2200" i="1">
                        <a:latin typeface="Cambria Math" panose="02040503050406030204" pitchFamily="18" charset="0"/>
                        <a:ea typeface="Cambria Math" panose="02040503050406030204" pitchFamily="18" charset="0"/>
                      </a:rPr>
                      <m:t>−1</m:t>
                    </m:r>
                  </m:oMath>
                </a14:m>
                <a:r>
                  <a:rPr lang="en-US" sz="2200" dirty="0">
                    <a:latin typeface="Verdana" panose="020B0604030504040204" pitchFamily="34" charset="0"/>
                    <a:ea typeface="Verdana" panose="020B0604030504040204" pitchFamily="34" charset="0"/>
                    <a:cs typeface="Verdana" panose="020B0604030504040204" pitchFamily="34" charset="0"/>
                  </a:rPr>
                  <a:t>.</a:t>
                </a:r>
              </a:p>
              <a:p>
                <a:r>
                  <a:rPr lang="en-US" sz="2200" dirty="0">
                    <a:latin typeface="Verdana" panose="020B0604030504040204" pitchFamily="34" charset="0"/>
                    <a:ea typeface="Verdana" panose="020B0604030504040204" pitchFamily="34" charset="0"/>
                    <a:cs typeface="Verdana" panose="020B0604030504040204" pitchFamily="34" charset="0"/>
                  </a:rPr>
                  <a:t> </a:t>
                </a:r>
              </a:p>
              <a:p>
                <a:r>
                  <a:rPr lang="en-US" sz="2200" dirty="0">
                    <a:latin typeface="Verdana" panose="020B0604030504040204" pitchFamily="34" charset="0"/>
                    <a:ea typeface="Verdana" panose="020B0604030504040204" pitchFamily="34" charset="0"/>
                    <a:cs typeface="Verdana" panose="020B0604030504040204" pitchFamily="34" charset="0"/>
                  </a:rPr>
                  <a:t>This relationship can be used to subtract rational numbers. The difference of two numbers can be rewritten as an equivalent addition expression. Then, the rules for addition of two numbers can be followed.</a:t>
                </a: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332495" y="1386026"/>
                <a:ext cx="9783042" cy="3816429"/>
              </a:xfrm>
              <a:prstGeom prst="rect">
                <a:avLst/>
              </a:prstGeom>
              <a:blipFill rotWithShape="0">
                <a:blip r:embed="rId4"/>
                <a:stretch>
                  <a:fillRect l="-810" t="-799" b="-2556"/>
                </a:stretch>
              </a:blipFill>
            </p:spPr>
            <p:txBody>
              <a:bodyPr/>
              <a:lstStyle/>
              <a:p>
                <a:r>
                  <a:rPr lang="en-US">
                    <a:noFill/>
                  </a:rPr>
                  <a:t> </a:t>
                </a:r>
              </a:p>
            </p:txBody>
          </p:sp>
        </mc:Fallback>
      </mc:AlternateContent>
      <p:sp>
        <p:nvSpPr>
          <p:cNvPr id="10"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174</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87701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1173707" y="288746"/>
            <a:ext cx="9844586" cy="430887"/>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Fill in the blanks to complete the table.</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4056180913"/>
                  </p:ext>
                </p:extLst>
              </p:nvPr>
            </p:nvGraphicFramePr>
            <p:xfrm>
              <a:off x="1950100" y="1100374"/>
              <a:ext cx="7843176" cy="4180732"/>
            </p:xfrm>
            <a:graphic>
              <a:graphicData uri="http://schemas.openxmlformats.org/drawingml/2006/table">
                <a:tbl>
                  <a:tblPr firstRow="1" firstCol="1" bandRow="1">
                    <a:tableStyleId>{5940675A-B579-460E-94D1-54222C63F5DA}</a:tableStyleId>
                  </a:tblPr>
                  <a:tblGrid>
                    <a:gridCol w="3968792">
                      <a:extLst>
                        <a:ext uri="{9D8B030D-6E8A-4147-A177-3AD203B41FA5}">
                          <a16:colId xmlns:a16="http://schemas.microsoft.com/office/drawing/2014/main" val="20000"/>
                        </a:ext>
                      </a:extLst>
                    </a:gridCol>
                    <a:gridCol w="3874384">
                      <a:extLst>
                        <a:ext uri="{9D8B030D-6E8A-4147-A177-3AD203B41FA5}">
                          <a16:colId xmlns:a16="http://schemas.microsoft.com/office/drawing/2014/main" val="20001"/>
                        </a:ext>
                      </a:extLst>
                    </a:gridCol>
                  </a:tblGrid>
                  <a:tr h="644171">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Expression</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 </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 6 </m:t>
                                        </m:r>
                                      </m:num>
                                      <m:den>
                                        <m:r>
                                          <a:rPr lang="en-US" sz="2000">
                                            <a:effectLst/>
                                            <a:latin typeface="Cambria Math" panose="02040503050406030204" pitchFamily="18" charset="0"/>
                                            <a:ea typeface="Cambria Math" panose="02040503050406030204" pitchFamily="18" charset="0"/>
                                          </a:rPr>
                                          <m:t>7</m:t>
                                        </m:r>
                                      </m:den>
                                    </m:f>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2520423">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Rewrite as an equivalent addition problem by keeping the first term, changing subtraction to addition, and changing the second term to its opposite.</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effectLst/>
                                    <a:latin typeface="Cambria Math" panose="02040503050406030204" pitchFamily="18" charset="0"/>
                                    <a:ea typeface="Cambria Math" panose="02040503050406030204" pitchFamily="18" charset="0"/>
                                  </a:rPr>
                                  <m:t>1</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5</m:t>
                                    </m:r>
                                  </m:den>
                                </m:f>
                                <m:r>
                                  <a:rPr lang="en-US" sz="2000" b="0" i="0">
                                    <a:effectLst/>
                                    <a:latin typeface="Cambria Math" panose="02040503050406030204" pitchFamily="18" charset="0"/>
                                    <a:ea typeface="Cambria Math" panose="02040503050406030204" pitchFamily="18" charset="0"/>
                                  </a:rPr>
                                  <m:t>   </m:t>
                                </m:r>
                                <m:r>
                                  <a:rPr lang="en-US" sz="2000">
                                    <a:effectLst/>
                                    <a:latin typeface="Cambria Math" panose="02040503050406030204" pitchFamily="18" charset="0"/>
                                    <a:ea typeface="Cambria Math" panose="02040503050406030204" pitchFamily="18" charset="0"/>
                                  </a:rPr>
                                  <m:t>        </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     </m:t>
                                    </m:r>
                                    <m:r>
                                      <a:rPr lang="en-US" sz="2000" b="0" i="0" smtClean="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 6 </m:t>
                                        </m:r>
                                      </m:num>
                                      <m:den>
                                        <m:r>
                                          <a:rPr lang="en-US" sz="2000">
                                            <a:effectLst/>
                                            <a:latin typeface="Cambria Math" panose="02040503050406030204" pitchFamily="18" charset="0"/>
                                            <a:ea typeface="Cambria Math" panose="02040503050406030204" pitchFamily="18" charset="0"/>
                                          </a:rPr>
                                          <m:t>7</m:t>
                                        </m:r>
                                      </m:den>
                                    </m:f>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927519">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Solve the problem using the rules of addition.</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056180913"/>
                  </p:ext>
                </p:extLst>
              </p:nvPr>
            </p:nvGraphicFramePr>
            <p:xfrm>
              <a:off x="426100" y="1100373"/>
              <a:ext cx="7843176" cy="4180732"/>
            </p:xfrm>
            <a:graphic>
              <a:graphicData uri="http://schemas.openxmlformats.org/drawingml/2006/table">
                <a:tbl>
                  <a:tblPr firstRow="1" firstCol="1" bandRow="1">
                    <a:tableStyleId>{5940675A-B579-460E-94D1-54222C63F5DA}</a:tableStyleId>
                  </a:tblPr>
                  <a:tblGrid>
                    <a:gridCol w="3968792"/>
                    <a:gridCol w="3874384"/>
                  </a:tblGrid>
                  <a:tr h="73279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Expression</a:t>
                          </a:r>
                        </a:p>
                      </a:txBody>
                      <a:tcPr marL="68580" marR="68580" marT="0" marB="0" anchor="ctr">
                        <a:solidFill>
                          <a:schemeClr val="bg1">
                            <a:lumMod val="75000"/>
                          </a:schemeClr>
                        </a:solidFill>
                      </a:tcPr>
                    </a:tc>
                    <a:tc>
                      <a:txBody>
                        <a:bodyPr/>
                        <a:lstStyle/>
                        <a:p>
                          <a:endParaRPr lang="en-US"/>
                        </a:p>
                      </a:txBody>
                      <a:tcPr marL="68580" marR="68580" marT="0" marB="0" anchor="ctr">
                        <a:blipFill rotWithShape="0">
                          <a:blip r:embed="rId4"/>
                          <a:stretch>
                            <a:fillRect l="-102673" t="-833" r="-314" b="-474167"/>
                          </a:stretch>
                        </a:blipFill>
                      </a:tcPr>
                    </a:tc>
                  </a:tr>
                  <a:tr h="2520423">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Rewrite as an equivalent addition problem by keeping the first term, changing subtraction to addition, and changing the second term to its opposite.</a:t>
                          </a:r>
                        </a:p>
                      </a:txBody>
                      <a:tcPr marL="68580" marR="68580" marT="0" marB="0" anchor="ctr">
                        <a:solidFill>
                          <a:schemeClr val="bg1">
                            <a:lumMod val="75000"/>
                          </a:schemeClr>
                        </a:solidFill>
                      </a:tcPr>
                    </a:tc>
                    <a:tc>
                      <a:txBody>
                        <a:bodyPr/>
                        <a:lstStyle/>
                        <a:p>
                          <a:endParaRPr lang="en-US"/>
                        </a:p>
                      </a:txBody>
                      <a:tcPr marL="68580" marR="68580" marT="0" marB="0" anchor="ctr">
                        <a:blipFill rotWithShape="0">
                          <a:blip r:embed="rId4"/>
                          <a:stretch>
                            <a:fillRect l="-102673" t="-29157" r="-314" b="-37108"/>
                          </a:stretch>
                        </a:blipFill>
                      </a:tcPr>
                    </a:tc>
                  </a:tr>
                  <a:tr h="927519">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Solve the problem using the rules of addition.</a:t>
                          </a:r>
                        </a:p>
                      </a:txBody>
                      <a:tcPr marL="68580" marR="68580" marT="0" marB="0" anchor="ctr">
                        <a:solidFill>
                          <a:schemeClr val="bg1">
                            <a:lumMod val="75000"/>
                          </a:schemeClr>
                        </a:solidFill>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b"/>
                    </a:tc>
                  </a:tr>
                </a:tbl>
              </a:graphicData>
            </a:graphic>
          </p:graphicFrame>
        </mc:Fallback>
      </mc:AlternateContent>
      <p:sp>
        <p:nvSpPr>
          <p:cNvPr id="7" name="Rectangle 6"/>
          <p:cNvSpPr/>
          <p:nvPr/>
        </p:nvSpPr>
        <p:spPr>
          <a:xfrm>
            <a:off x="7240035" y="2848212"/>
            <a:ext cx="396648" cy="40793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Rectangle 7"/>
          <p:cNvSpPr/>
          <p:nvPr/>
        </p:nvSpPr>
        <p:spPr>
          <a:xfrm>
            <a:off x="7984648" y="2854974"/>
            <a:ext cx="396648" cy="40793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Rectangle 8"/>
          <p:cNvSpPr/>
          <p:nvPr/>
        </p:nvSpPr>
        <p:spPr>
          <a:xfrm>
            <a:off x="7392398" y="4488467"/>
            <a:ext cx="790575" cy="622300"/>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174</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34913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97084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59790" y="34536"/>
            <a:ext cx="84529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11.2.5 Collaboration: Does the Order Matter?</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09982" y="32248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1359790" y="1386026"/>
            <a:ext cx="9728452" cy="13234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With your partner, determine who will be Partner A and who will be Partner B. Partner A will work the problems in Column A while Partner B works the problems in Column B. Then, work together to answer the questions that follow.</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709179234"/>
                  </p:ext>
                </p:extLst>
              </p:nvPr>
            </p:nvGraphicFramePr>
            <p:xfrm>
              <a:off x="1992811" y="2815326"/>
              <a:ext cx="8008052" cy="3510643"/>
            </p:xfrm>
            <a:graphic>
              <a:graphicData uri="http://schemas.openxmlformats.org/drawingml/2006/table">
                <a:tbl>
                  <a:tblPr firstRow="1" firstCol="1" bandRow="1">
                    <a:tableStyleId>{5940675A-B579-460E-94D1-54222C63F5DA}</a:tableStyleId>
                  </a:tblPr>
                  <a:tblGrid>
                    <a:gridCol w="2306676">
                      <a:extLst>
                        <a:ext uri="{9D8B030D-6E8A-4147-A177-3AD203B41FA5}">
                          <a16:colId xmlns:a16="http://schemas.microsoft.com/office/drawing/2014/main" val="20000"/>
                        </a:ext>
                      </a:extLst>
                    </a:gridCol>
                    <a:gridCol w="1970678">
                      <a:extLst>
                        <a:ext uri="{9D8B030D-6E8A-4147-A177-3AD203B41FA5}">
                          <a16:colId xmlns:a16="http://schemas.microsoft.com/office/drawing/2014/main" val="20001"/>
                        </a:ext>
                      </a:extLst>
                    </a:gridCol>
                    <a:gridCol w="2242496">
                      <a:extLst>
                        <a:ext uri="{9D8B030D-6E8A-4147-A177-3AD203B41FA5}">
                          <a16:colId xmlns:a16="http://schemas.microsoft.com/office/drawing/2014/main" val="20002"/>
                        </a:ext>
                      </a:extLst>
                    </a:gridCol>
                    <a:gridCol w="1488202">
                      <a:extLst>
                        <a:ext uri="{9D8B030D-6E8A-4147-A177-3AD203B41FA5}">
                          <a16:colId xmlns:a16="http://schemas.microsoft.com/office/drawing/2014/main" val="20003"/>
                        </a:ext>
                      </a:extLst>
                    </a:gridCol>
                  </a:tblGrid>
                  <a:tr h="358988">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Column A</a:t>
                          </a:r>
                        </a:p>
                      </a:txBody>
                      <a:tcPr marL="61737" marR="61737"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a:t>
                          </a:r>
                        </a:p>
                      </a:txBody>
                      <a:tcPr marL="61737" marR="61737"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Column B</a:t>
                          </a:r>
                        </a:p>
                      </a:txBody>
                      <a:tcPr marL="61737" marR="61737"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a:t>
                          </a:r>
                        </a:p>
                      </a:txBody>
                      <a:tcPr marL="61737" marR="61737" marT="0" marB="0" anchor="ctr">
                        <a:solidFill>
                          <a:schemeClr val="bg1">
                            <a:lumMod val="75000"/>
                          </a:schemeClr>
                        </a:solidFill>
                      </a:tcPr>
                    </a:tc>
                    <a:extLst>
                      <a:ext uri="{0D108BD9-81ED-4DB2-BD59-A6C34878D82A}">
                        <a16:rowId xmlns:a16="http://schemas.microsoft.com/office/drawing/2014/main" val="10000"/>
                      </a:ext>
                    </a:extLst>
                  </a:tr>
                  <a:tr h="325028">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3 − 2</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2 − 3</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extLst>
                      <a:ext uri="{0D108BD9-81ED-4DB2-BD59-A6C34878D82A}">
                        <a16:rowId xmlns:a16="http://schemas.microsoft.com/office/drawing/2014/main" val="10001"/>
                      </a:ext>
                    </a:extLst>
                  </a:tr>
                  <a:tr h="332053">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effectLst/>
                                    <a:latin typeface="Cambria Math" panose="02040503050406030204" pitchFamily="18" charset="0"/>
                                    <a:ea typeface="Cambria Math" panose="02040503050406030204" pitchFamily="18" charset="0"/>
                                  </a:rPr>
                                  <m:t>5 − </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9</m:t>
                                        </m:r>
                                      </m:e>
                                    </m:sPre>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9</m:t>
                                        </m:r>
                                      </m:e>
                                    </m:sPre>
                                  </m:e>
                                </m:d>
                                <m:r>
                                  <a:rPr lang="en-US" sz="2000">
                                    <a:effectLst/>
                                    <a:latin typeface="Cambria Math" panose="02040503050406030204" pitchFamily="18" charset="0"/>
                                    <a:ea typeface="Cambria Math" panose="02040503050406030204" pitchFamily="18" charset="0"/>
                                  </a:rPr>
                                  <m:t> − 5</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extLst>
                      <a:ext uri="{0D108BD9-81ED-4DB2-BD59-A6C34878D82A}">
                        <a16:rowId xmlns:a16="http://schemas.microsoft.com/office/drawing/2014/main" val="10002"/>
                      </a:ext>
                    </a:extLst>
                  </a:tr>
                  <a:tr h="332053">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11</m:t>
                                        </m:r>
                                      </m:e>
                                    </m:sPre>
                                  </m:e>
                                </m:d>
                                <m:r>
                                  <a:rPr lang="en-US" sz="2000">
                                    <a:effectLst/>
                                    <a:latin typeface="Cambria Math" panose="02040503050406030204" pitchFamily="18" charset="0"/>
                                    <a:ea typeface="Cambria Math" panose="02040503050406030204" pitchFamily="18" charset="0"/>
                                  </a:rPr>
                                  <m:t> − 2</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effectLst/>
                                    <a:latin typeface="Cambria Math" panose="02040503050406030204" pitchFamily="18" charset="0"/>
                                    <a:ea typeface="Cambria Math" panose="02040503050406030204" pitchFamily="18" charset="0"/>
                                  </a:rPr>
                                  <m:t>2 − </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11</m:t>
                                        </m:r>
                                      </m:e>
                                    </m:sPre>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extLst>
                      <a:ext uri="{0D108BD9-81ED-4DB2-BD59-A6C34878D82A}">
                        <a16:rowId xmlns:a16="http://schemas.microsoft.com/office/drawing/2014/main" val="10003"/>
                      </a:ext>
                    </a:extLst>
                  </a:tr>
                  <a:tr h="73030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6</m:t>
                                        </m:r>
                                      </m:den>
                                    </m:f>
                                  </m:e>
                                </m:d>
                                <m:r>
                                  <a:rPr lang="en-US" sz="2000">
                                    <a:effectLst/>
                                    <a:latin typeface="Cambria Math" panose="02040503050406030204" pitchFamily="18" charset="0"/>
                                    <a:ea typeface="Cambria Math" panose="02040503050406030204" pitchFamily="18" charset="0"/>
                                  </a:rPr>
                                  <m:t> − </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3</m:t>
                                        </m:r>
                                      </m:den>
                                    </m:f>
                                  </m:e>
                                </m:d>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3</m:t>
                                        </m:r>
                                      </m:den>
                                    </m:f>
                                  </m:e>
                                </m:d>
                                <m:r>
                                  <a:rPr lang="en-US" sz="2000">
                                    <a:effectLst/>
                                    <a:latin typeface="Cambria Math" panose="02040503050406030204" pitchFamily="18" charset="0"/>
                                    <a:ea typeface="Cambria Math" panose="02040503050406030204" pitchFamily="18" charset="0"/>
                                  </a:rPr>
                                  <m:t> − </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6</m:t>
                                        </m:r>
                                      </m:den>
                                    </m:f>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extLst>
                      <a:ext uri="{0D108BD9-81ED-4DB2-BD59-A6C34878D82A}">
                        <a16:rowId xmlns:a16="http://schemas.microsoft.com/office/drawing/2014/main" val="10004"/>
                      </a:ext>
                    </a:extLst>
                  </a:tr>
                  <a:tr h="530552">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1.2</m:t>
                                        </m:r>
                                      </m:e>
                                    </m:sPre>
                                  </m:e>
                                </m:d>
                                <m:r>
                                  <a:rPr lang="en-US" sz="2000">
                                    <a:effectLst/>
                                    <a:latin typeface="Cambria Math" panose="02040503050406030204" pitchFamily="18" charset="0"/>
                                    <a:ea typeface="Cambria Math" panose="02040503050406030204" pitchFamily="18" charset="0"/>
                                  </a:rPr>
                                  <m:t> − </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3.6</m:t>
                                        </m:r>
                                      </m:e>
                                    </m:sPre>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3.6</m:t>
                                        </m:r>
                                      </m:e>
                                    </m:sPre>
                                  </m:e>
                                </m:d>
                                <m:r>
                                  <a:rPr lang="en-US" sz="2000">
                                    <a:effectLst/>
                                    <a:latin typeface="Cambria Math" panose="02040503050406030204" pitchFamily="18" charset="0"/>
                                    <a:ea typeface="Cambria Math" panose="02040503050406030204" pitchFamily="18" charset="0"/>
                                  </a:rPr>
                                  <m:t> − </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1.2</m:t>
                                        </m:r>
                                      </m:e>
                                    </m:sPre>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extLst>
                      <a:ext uri="{0D108BD9-81ED-4DB2-BD59-A6C34878D82A}">
                        <a16:rowId xmlns:a16="http://schemas.microsoft.com/office/drawing/2014/main" val="10005"/>
                      </a:ext>
                    </a:extLst>
                  </a:tr>
                  <a:tr h="898071">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2</m:t>
                                        </m:r>
                                      </m:e>
                                    </m:sPre>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e>
                                </m:d>
                                <m:r>
                                  <a:rPr lang="en-US" sz="2000">
                                    <a:effectLst/>
                                    <a:latin typeface="Cambria Math" panose="02040503050406030204" pitchFamily="18" charset="0"/>
                                    <a:ea typeface="Cambria Math" panose="02040503050406030204" pitchFamily="18" charset="0"/>
                                  </a:rPr>
                                  <m:t> − </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3</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e>
                                    </m:sPre>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smtClean="0">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3</m:t>
                                        </m:r>
                                      </m:e>
                                    </m:sPre>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e>
                                </m:d>
                                <m:r>
                                  <a:rPr lang="en-US" sz="2000">
                                    <a:effectLst/>
                                    <a:latin typeface="Cambria Math" panose="02040503050406030204" pitchFamily="18" charset="0"/>
                                    <a:ea typeface="Cambria Math" panose="02040503050406030204" pitchFamily="18" charset="0"/>
                                  </a:rPr>
                                  <m:t> − </m:t>
                                </m:r>
                                <m:d>
                                  <m:dPr>
                                    <m:ctrlPr>
                                      <a:rPr lang="en-US" sz="2000" i="1">
                                        <a:effectLst/>
                                        <a:latin typeface="Cambria Math" panose="02040503050406030204" pitchFamily="18" charset="0"/>
                                        <a:ea typeface="Cambria Math" panose="02040503050406030204" pitchFamily="18" charset="0"/>
                                      </a:rPr>
                                    </m:ctrlPr>
                                  </m:dPr>
                                  <m:e>
                                    <m:sPre>
                                      <m:sPrePr>
                                        <m:ctrlPr>
                                          <a:rPr lang="en-US" sz="2000" i="1">
                                            <a:effectLst/>
                                            <a:latin typeface="Cambria Math" panose="02040503050406030204" pitchFamily="18" charset="0"/>
                                            <a:ea typeface="Cambria Math" panose="02040503050406030204" pitchFamily="18" charset="0"/>
                                          </a:rPr>
                                        </m:ctrlPr>
                                      </m:sPrePr>
                                      <m:sub>
                                        <m:r>
                                          <a:rPr lang="en-US" sz="2000" b="0" i="0" smtClean="0">
                                            <a:effectLst/>
                                            <a:latin typeface="Cambria Math" panose="02040503050406030204" pitchFamily="18" charset="0"/>
                                            <a:ea typeface="Cambria Math" panose="02040503050406030204" pitchFamily="18" charset="0"/>
                                          </a:rPr>
                                          <m:t> </m:t>
                                        </m:r>
                                      </m:sub>
                                      <m:sup>
                                        <m:r>
                                          <a:rPr lang="en-US" sz="2000">
                                            <a:effectLst/>
                                            <a:latin typeface="Cambria Math" panose="02040503050406030204" pitchFamily="18" charset="0"/>
                                            <a:ea typeface="Cambria Math" panose="02040503050406030204" pitchFamily="18" charset="0"/>
                                          </a:rPr>
                                          <m:t>−</m:t>
                                        </m:r>
                                      </m:sup>
                                      <m:e>
                                        <m:r>
                                          <a:rPr lang="en-US" sz="2000">
                                            <a:effectLst/>
                                            <a:latin typeface="Cambria Math" panose="02040503050406030204" pitchFamily="18" charset="0"/>
                                            <a:ea typeface="Cambria Math" panose="02040503050406030204" pitchFamily="18" charset="0"/>
                                          </a:rPr>
                                          <m:t>2</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e>
                                    </m:sPre>
                                  </m:e>
                                </m:d>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extLst>
                      <a:ext uri="{0D108BD9-81ED-4DB2-BD59-A6C34878D82A}">
                        <a16:rowId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709179234"/>
                  </p:ext>
                </p:extLst>
              </p:nvPr>
            </p:nvGraphicFramePr>
            <p:xfrm>
              <a:off x="468811" y="2815325"/>
              <a:ext cx="8008052" cy="3510643"/>
            </p:xfrm>
            <a:graphic>
              <a:graphicData uri="http://schemas.openxmlformats.org/drawingml/2006/table">
                <a:tbl>
                  <a:tblPr firstRow="1" firstCol="1" bandRow="1">
                    <a:tableStyleId>{5940675A-B579-460E-94D1-54222C63F5DA}</a:tableStyleId>
                  </a:tblPr>
                  <a:tblGrid>
                    <a:gridCol w="2306676"/>
                    <a:gridCol w="1970678"/>
                    <a:gridCol w="2242496"/>
                    <a:gridCol w="1488202"/>
                  </a:tblGrid>
                  <a:tr h="358988">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Column A</a:t>
                          </a:r>
                        </a:p>
                      </a:txBody>
                      <a:tcPr marL="61737" marR="61737"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a:t>
                          </a:r>
                        </a:p>
                      </a:txBody>
                      <a:tcPr marL="61737" marR="61737"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Column B</a:t>
                          </a:r>
                        </a:p>
                      </a:txBody>
                      <a:tcPr marL="61737" marR="61737" marT="0" marB="0" anchor="c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a:t>
                          </a:r>
                        </a:p>
                      </a:txBody>
                      <a:tcPr marL="61737" marR="61737" marT="0" marB="0" anchor="ctr">
                        <a:solidFill>
                          <a:schemeClr val="bg1">
                            <a:lumMod val="75000"/>
                          </a:schemeClr>
                        </a:solidFill>
                      </a:tcPr>
                    </a:tc>
                  </a:tr>
                  <a:tr h="326136">
                    <a:tc>
                      <a:txBody>
                        <a:bodyPr/>
                        <a:lstStyle/>
                        <a:p>
                          <a:endParaRPr lang="en-US"/>
                        </a:p>
                      </a:txBody>
                      <a:tcPr marL="61737" marR="61737" marT="0" marB="0" anchor="ctr">
                        <a:blipFill rotWithShape="0">
                          <a:blip r:embed="rId5"/>
                          <a:stretch>
                            <a:fillRect l="-264" t="-124074" r="-247493" b="-862963"/>
                          </a:stretch>
                        </a:blipFill>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endParaRPr lang="en-US"/>
                        </a:p>
                      </a:txBody>
                      <a:tcPr marL="61737" marR="61737" marT="0" marB="0" anchor="ctr">
                        <a:blipFill rotWithShape="0">
                          <a:blip r:embed="rId5"/>
                          <a:stretch>
                            <a:fillRect l="-190515" t="-124074" r="-66667" b="-862963"/>
                          </a:stretch>
                        </a:blipFill>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r>
                  <a:tr h="332053">
                    <a:tc>
                      <a:txBody>
                        <a:bodyPr/>
                        <a:lstStyle/>
                        <a:p>
                          <a:endParaRPr lang="en-US"/>
                        </a:p>
                      </a:txBody>
                      <a:tcPr marL="61737" marR="61737" marT="0" marB="0" anchor="ctr">
                        <a:blipFill rotWithShape="0">
                          <a:blip r:embed="rId5"/>
                          <a:stretch>
                            <a:fillRect l="-264" t="-224074" r="-247493" b="-762963"/>
                          </a:stretch>
                        </a:blipFill>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endParaRPr lang="en-US"/>
                        </a:p>
                      </a:txBody>
                      <a:tcPr marL="61737" marR="61737" marT="0" marB="0" anchor="ctr">
                        <a:blipFill rotWithShape="0">
                          <a:blip r:embed="rId5"/>
                          <a:stretch>
                            <a:fillRect l="-190515" t="-224074" r="-66667" b="-762963"/>
                          </a:stretch>
                        </a:blipFill>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r>
                  <a:tr h="332053">
                    <a:tc>
                      <a:txBody>
                        <a:bodyPr/>
                        <a:lstStyle/>
                        <a:p>
                          <a:endParaRPr lang="en-US"/>
                        </a:p>
                      </a:txBody>
                      <a:tcPr marL="61737" marR="61737" marT="0" marB="0" anchor="ctr">
                        <a:blipFill rotWithShape="0">
                          <a:blip r:embed="rId5"/>
                          <a:stretch>
                            <a:fillRect l="-264" t="-318182" r="-247493" b="-649091"/>
                          </a:stretch>
                        </a:blipFill>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endParaRPr lang="en-US"/>
                        </a:p>
                      </a:txBody>
                      <a:tcPr marL="61737" marR="61737" marT="0" marB="0" anchor="ctr">
                        <a:blipFill rotWithShape="0">
                          <a:blip r:embed="rId5"/>
                          <a:stretch>
                            <a:fillRect l="-190515" t="-318182" r="-66667" b="-649091"/>
                          </a:stretch>
                        </a:blipFill>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r>
                  <a:tr h="732790">
                    <a:tc>
                      <a:txBody>
                        <a:bodyPr/>
                        <a:lstStyle/>
                        <a:p>
                          <a:endParaRPr lang="en-US"/>
                        </a:p>
                      </a:txBody>
                      <a:tcPr marL="61737" marR="61737" marT="0" marB="0" anchor="ctr">
                        <a:blipFill rotWithShape="0">
                          <a:blip r:embed="rId5"/>
                          <a:stretch>
                            <a:fillRect l="-264" t="-191667" r="-247493" b="-197500"/>
                          </a:stretch>
                        </a:blipFill>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endParaRPr lang="en-US"/>
                        </a:p>
                      </a:txBody>
                      <a:tcPr marL="61737" marR="61737" marT="0" marB="0" anchor="ctr">
                        <a:blipFill rotWithShape="0">
                          <a:blip r:embed="rId5"/>
                          <a:stretch>
                            <a:fillRect l="-190515" t="-191667" r="-66667" b="-197500"/>
                          </a:stretch>
                        </a:blipFill>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r>
                  <a:tr h="530552">
                    <a:tc>
                      <a:txBody>
                        <a:bodyPr/>
                        <a:lstStyle/>
                        <a:p>
                          <a:endParaRPr lang="en-US"/>
                        </a:p>
                      </a:txBody>
                      <a:tcPr marL="61737" marR="61737" marT="0" marB="0" anchor="ctr">
                        <a:blipFill rotWithShape="0">
                          <a:blip r:embed="rId5"/>
                          <a:stretch>
                            <a:fillRect l="-264" t="-402299" r="-247493" b="-172414"/>
                          </a:stretch>
                        </a:blipFill>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endParaRPr lang="en-US"/>
                        </a:p>
                      </a:txBody>
                      <a:tcPr marL="61737" marR="61737" marT="0" marB="0" anchor="ctr">
                        <a:blipFill rotWithShape="0">
                          <a:blip r:embed="rId5"/>
                          <a:stretch>
                            <a:fillRect l="-190515" t="-402299" r="-66667" b="-172414"/>
                          </a:stretch>
                        </a:blipFill>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r>
                  <a:tr h="898071">
                    <a:tc>
                      <a:txBody>
                        <a:bodyPr/>
                        <a:lstStyle/>
                        <a:p>
                          <a:endParaRPr lang="en-US"/>
                        </a:p>
                      </a:txBody>
                      <a:tcPr marL="61737" marR="61737" marT="0" marB="0" anchor="ctr">
                        <a:blipFill rotWithShape="0">
                          <a:blip r:embed="rId5"/>
                          <a:stretch>
                            <a:fillRect l="-264" t="-295270" r="-247493" b="-1351"/>
                          </a:stretch>
                        </a:blipFill>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c>
                      <a:txBody>
                        <a:bodyPr/>
                        <a:lstStyle/>
                        <a:p>
                          <a:endParaRPr lang="en-US"/>
                        </a:p>
                      </a:txBody>
                      <a:tcPr marL="61737" marR="61737" marT="0" marB="0" anchor="ctr">
                        <a:blipFill rotWithShape="0">
                          <a:blip r:embed="rId5"/>
                          <a:stretch>
                            <a:fillRect l="-190515" t="-295270" r="-66667" b="-1351"/>
                          </a:stretch>
                        </a:blipFill>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1737" marR="61737" marT="0" marB="0" anchor="ctr"/>
                    </a:tc>
                  </a:tr>
                </a:tbl>
              </a:graphicData>
            </a:graphic>
          </p:graphicFrame>
        </mc:Fallback>
      </mc:AlternateContent>
      <p:sp>
        <p:nvSpPr>
          <p:cNvPr id="12"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175</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67480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1009934" y="288746"/>
            <a:ext cx="10172132" cy="3139321"/>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Explain the difference between the expressions in Column A and the expressions in Column B.</a:t>
            </a: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Explain the relationship between the values of the expressions in Column A and the value of the expressions in Column B.</a:t>
            </a:r>
          </a:p>
        </p:txBody>
      </p:sp>
      <p:sp>
        <p:nvSpPr>
          <p:cNvPr id="7"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175</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068422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23320" y="254904"/>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11.2.6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676020" y="254904"/>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1423320" y="1386026"/>
                <a:ext cx="9601392" cy="2604559"/>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What is the difference of </a:t>
                </a:r>
                <a14:m>
                  <m:oMath xmlns:m="http://schemas.openxmlformats.org/officeDocument/2006/math">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9</m:t>
                        </m:r>
                      </m:num>
                      <m:den>
                        <m:r>
                          <a:rPr lang="en-US" sz="2200" i="1">
                            <a:latin typeface="Cambria Math" panose="02040503050406030204" pitchFamily="18" charset="0"/>
                            <a:ea typeface="Cambria Math" panose="02040503050406030204" pitchFamily="18" charset="0"/>
                          </a:rPr>
                          <m:t>14</m:t>
                        </m:r>
                      </m:den>
                    </m:f>
                    <m:r>
                      <a:rPr lang="en-US" sz="2200" i="1">
                        <a:latin typeface="Cambria Math" panose="02040503050406030204" pitchFamily="18" charset="0"/>
                        <a:ea typeface="Cambria Math" panose="02040503050406030204" pitchFamily="18" charset="0"/>
                      </a:rPr>
                      <m:t> </m:t>
                    </m:r>
                  </m:oMath>
                </a14:m>
                <a:r>
                  <a:rPr lang="en-US" sz="22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200" i="1">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13</m:t>
                        </m:r>
                      </m:num>
                      <m:den>
                        <m:r>
                          <a:rPr lang="en-US" sz="2200" i="1">
                            <a:latin typeface="Cambria Math" panose="02040503050406030204" pitchFamily="18" charset="0"/>
                            <a:ea typeface="Cambria Math" panose="02040503050406030204" pitchFamily="18" charset="0"/>
                          </a:rPr>
                          <m:t>20</m:t>
                        </m:r>
                      </m:den>
                    </m:f>
                  </m:oMath>
                </a14:m>
                <a:r>
                  <a:rPr lang="en-US" sz="22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Find the difference for each expression.  </a:t>
                </a: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1423320" y="1386026"/>
                <a:ext cx="9601392" cy="2604559"/>
              </a:xfrm>
              <a:prstGeom prst="rect">
                <a:avLst/>
              </a:prstGeom>
              <a:blipFill rotWithShape="0">
                <a:blip r:embed="rId4"/>
                <a:stretch>
                  <a:fillRect l="-825" b="-39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852185156"/>
                  </p:ext>
                </p:extLst>
              </p:nvPr>
            </p:nvGraphicFramePr>
            <p:xfrm>
              <a:off x="2519850" y="4374407"/>
              <a:ext cx="6922770" cy="721185"/>
            </p:xfrm>
            <a:graphic>
              <a:graphicData uri="http://schemas.openxmlformats.org/drawingml/2006/table">
                <a:tbl>
                  <a:tblPr firstRow="1" firstCol="1" bandRow="1">
                    <a:tableStyleId>{2D5ABB26-0587-4C30-8999-92F81FD0307C}</a:tableStyleId>
                  </a:tblPr>
                  <a:tblGrid>
                    <a:gridCol w="3461385">
                      <a:extLst>
                        <a:ext uri="{9D8B030D-6E8A-4147-A177-3AD203B41FA5}">
                          <a16:colId xmlns:a16="http://schemas.microsoft.com/office/drawing/2014/main" val="20000"/>
                        </a:ext>
                      </a:extLst>
                    </a:gridCol>
                    <a:gridCol w="3461385">
                      <a:extLst>
                        <a:ext uri="{9D8B030D-6E8A-4147-A177-3AD203B41FA5}">
                          <a16:colId xmlns:a16="http://schemas.microsoft.com/office/drawing/2014/main" val="20001"/>
                        </a:ext>
                      </a:extLst>
                    </a:gridCol>
                  </a:tblGrid>
                  <a:tr h="721185">
                    <a:tc>
                      <a:txBody>
                        <a:bodyPr/>
                        <a:lstStyle/>
                        <a:p>
                          <a:pPr marL="342900" marR="0" lvl="0" indent="-342900">
                            <a:lnSpc>
                              <a:spcPct val="107000"/>
                            </a:lnSpc>
                            <a:spcBef>
                              <a:spcPts val="0"/>
                            </a:spcBef>
                            <a:spcAft>
                              <a:spcPts val="0"/>
                            </a:spcAft>
                            <a:buFont typeface="+mj-lt"/>
                            <a:buAutoNum type="alphaLcPeriod"/>
                          </a:pP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rPr>
                                <m:t>5</m:t>
                              </m:r>
                              <m:f>
                                <m:fPr>
                                  <m:ctrlPr>
                                    <a:rPr lang="en-US" sz="2000" i="1">
                                      <a:effectLst/>
                                      <a:latin typeface="Cambria Math" panose="02040503050406030204" pitchFamily="18" charset="0"/>
                                    </a:rPr>
                                  </m:ctrlPr>
                                </m:fPr>
                                <m:num>
                                  <m:r>
                                    <a:rPr lang="en-US" sz="2000">
                                      <a:effectLst/>
                                      <a:latin typeface="Cambria Math" panose="02040503050406030204" pitchFamily="18" charset="0"/>
                                    </a:rPr>
                                    <m:t>7</m:t>
                                  </m:r>
                                </m:num>
                                <m:den>
                                  <m:r>
                                    <a:rPr lang="en-US" sz="2000">
                                      <a:effectLst/>
                                      <a:latin typeface="Cambria Math" panose="02040503050406030204" pitchFamily="18" charset="0"/>
                                    </a:rPr>
                                    <m:t>8</m:t>
                                  </m:r>
                                </m:den>
                              </m:f>
                              <m:r>
                                <a:rPr lang="en-US" sz="2000">
                                  <a:effectLst/>
                                  <a:latin typeface="Cambria Math" panose="02040503050406030204" pitchFamily="18" charset="0"/>
                                </a:rPr>
                                <m:t> − (</m:t>
                              </m:r>
                              <m:sPre>
                                <m:sPrePr>
                                  <m:ctrlPr>
                                    <a:rPr lang="en-US" sz="2000" i="1">
                                      <a:effectLst/>
                                      <a:latin typeface="Cambria Math" panose="02040503050406030204" pitchFamily="18" charset="0"/>
                                    </a:rPr>
                                  </m:ctrlPr>
                                </m:sPrePr>
                                <m:sub/>
                                <m:sup>
                                  <m:r>
                                    <a:rPr lang="en-US" sz="2000">
                                      <a:effectLst/>
                                      <a:latin typeface="Cambria Math" panose="02040503050406030204" pitchFamily="18" charset="0"/>
                                    </a:rPr>
                                    <m:t>−</m:t>
                                  </m:r>
                                </m:sup>
                                <m:e>
                                  <m:r>
                                    <a:rPr lang="en-US" sz="2000">
                                      <a:effectLst/>
                                      <a:latin typeface="Cambria Math" panose="02040503050406030204" pitchFamily="18" charset="0"/>
                                    </a:rPr>
                                    <m:t>2</m:t>
                                  </m:r>
                                  <m:f>
                                    <m:fPr>
                                      <m:ctrlPr>
                                        <a:rPr lang="en-US" sz="2000" i="1">
                                          <a:effectLst/>
                                          <a:latin typeface="Cambria Math" panose="02040503050406030204" pitchFamily="18" charset="0"/>
                                        </a:rPr>
                                      </m:ctrlPr>
                                    </m:fPr>
                                    <m:num>
                                      <m:r>
                                        <a:rPr lang="en-US" sz="2000">
                                          <a:effectLst/>
                                          <a:latin typeface="Cambria Math" panose="02040503050406030204" pitchFamily="18" charset="0"/>
                                        </a:rPr>
                                        <m:t>2</m:t>
                                      </m:r>
                                    </m:num>
                                    <m:den>
                                      <m:r>
                                        <a:rPr lang="en-US" sz="2000">
                                          <a:effectLst/>
                                          <a:latin typeface="Cambria Math" panose="02040503050406030204" pitchFamily="18" charset="0"/>
                                        </a:rPr>
                                        <m:t>5</m:t>
                                      </m:r>
                                    </m:den>
                                  </m:f>
                                  <m:r>
                                    <a:rPr lang="en-US" sz="2000">
                                      <a:effectLst/>
                                      <a:latin typeface="Cambria Math" panose="02040503050406030204" pitchFamily="18" charset="0"/>
                                    </a:rPr>
                                    <m:t>) </m:t>
                                  </m:r>
                                </m:e>
                              </m:sPre>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tc>
                      <a:txBody>
                        <a:bodyPr/>
                        <a:lstStyle/>
                        <a:p>
                          <a:pPr marL="457200" marR="0" lvl="0" indent="-457200">
                            <a:lnSpc>
                              <a:spcPct val="107000"/>
                            </a:lnSpc>
                            <a:spcBef>
                              <a:spcPts val="0"/>
                            </a:spcBef>
                            <a:spcAft>
                              <a:spcPts val="0"/>
                            </a:spcAft>
                            <a:buFont typeface="+mj-lt"/>
                            <a:buAutoNum type="alphaLcPeriod" startAt="2"/>
                          </a:pP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rPr>
                                <m:t>−45.6 − (−1.772)</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tc>
                    <a:extLst>
                      <a:ext uri="{0D108BD9-81ED-4DB2-BD59-A6C34878D82A}">
                        <a16:rowId xmlns:a16="http://schemas.microsoft.com/office/drawing/2014/main" val="10000"/>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852185156"/>
                  </p:ext>
                </p:extLst>
              </p:nvPr>
            </p:nvGraphicFramePr>
            <p:xfrm>
              <a:off x="995850" y="4374406"/>
              <a:ext cx="6922770" cy="721185"/>
            </p:xfrm>
            <a:graphic>
              <a:graphicData uri="http://schemas.openxmlformats.org/drawingml/2006/table">
                <a:tbl>
                  <a:tblPr firstRow="1" firstCol="1" bandRow="1">
                    <a:tableStyleId>{2D5ABB26-0587-4C30-8999-92F81FD0307C}</a:tableStyleId>
                  </a:tblPr>
                  <a:tblGrid>
                    <a:gridCol w="3461385"/>
                    <a:gridCol w="3461385"/>
                  </a:tblGrid>
                  <a:tr h="721185">
                    <a:tc>
                      <a:txBody>
                        <a:bodyPr/>
                        <a:lstStyle/>
                        <a:p>
                          <a:endParaRPr lang="en-US"/>
                        </a:p>
                      </a:txBody>
                      <a:tcPr marL="68580" marR="68580" marT="0" marB="0" anchor="ctr">
                        <a:blipFill rotWithShape="0">
                          <a:blip r:embed="rId6"/>
                          <a:stretch>
                            <a:fillRect r="-100000"/>
                          </a:stretch>
                        </a:blipFill>
                      </a:tcPr>
                    </a:tc>
                    <a:tc>
                      <a:txBody>
                        <a:bodyPr/>
                        <a:lstStyle/>
                        <a:p>
                          <a:endParaRPr lang="en-US"/>
                        </a:p>
                      </a:txBody>
                      <a:tcPr marL="68580" marR="68580" marT="0" marB="0" anchor="ctr">
                        <a:blipFill rotWithShape="0">
                          <a:blip r:embed="rId6"/>
                          <a:stretch>
                            <a:fillRect l="-100000"/>
                          </a:stretch>
                        </a:blipFill>
                      </a:tcPr>
                    </a:tc>
                  </a:tr>
                </a:tbl>
              </a:graphicData>
            </a:graphic>
          </p:graphicFrame>
        </mc:Fallback>
      </mc:AlternateContent>
      <p:sp>
        <p:nvSpPr>
          <p:cNvPr id="11"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175</a:t>
            </a:r>
            <a:endParaRPr i="1" dirty="0">
              <a:latin typeface="Calibri"/>
              <a:ea typeface="Calibri"/>
              <a:cs typeface="Calibri"/>
              <a:sym typeface="Calibri"/>
            </a:endParaRPr>
          </a:p>
        </p:txBody>
      </p:sp>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4"/>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14644" y="-68343"/>
            <a:ext cx="1047255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11.2.7 Wrap-Up: Growth Mindset</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585195" y="156441"/>
            <a:ext cx="747300" cy="747300"/>
          </a:xfrm>
          <a:prstGeom prst="rect">
            <a:avLst/>
          </a:prstGeom>
          <a:noFill/>
          <a:ln>
            <a:noFill/>
          </a:ln>
        </p:spPr>
      </p:pic>
      <p:sp>
        <p:nvSpPr>
          <p:cNvPr id="12" name="TextBox 11">
            <a:extLst>
              <a:ext uri="{FF2B5EF4-FFF2-40B4-BE49-F238E27FC236}">
                <a16:creationId xmlns:a16="http://schemas.microsoft.com/office/drawing/2014/main" id="{0370EDB7-6994-3D43-ABF9-E04CBAFB9CD9}"/>
              </a:ext>
            </a:extLst>
          </p:cNvPr>
          <p:cNvSpPr txBox="1"/>
          <p:nvPr/>
        </p:nvSpPr>
        <p:spPr>
          <a:xfrm>
            <a:off x="1542197" y="1255395"/>
            <a:ext cx="9363638" cy="163121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Making mistakes is one of the best ways to learn. Reflecting on our mistakes helps our brains to look for that mistake again and to avoid it the next time.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mistake did you make today that you can learn from?</a:t>
            </a:r>
          </a:p>
        </p:txBody>
      </p:sp>
      <p:sp>
        <p:nvSpPr>
          <p:cNvPr id="8" name="Rounded Rectangle 7"/>
          <p:cNvSpPr/>
          <p:nvPr/>
        </p:nvSpPr>
        <p:spPr>
          <a:xfrm>
            <a:off x="2499281" y="3424826"/>
            <a:ext cx="2081530" cy="2836545"/>
          </a:xfrm>
          <a:prstGeom prst="roundRect">
            <a:avLst>
              <a:gd name="adj" fmla="val 16667"/>
            </a:avLst>
          </a:prstGeom>
          <a:solidFill>
            <a:srgbClr val="DAE5F1"/>
          </a:solidFill>
          <a:ln w="9525" cap="flat" cmpd="sng">
            <a:noFill/>
            <a:prstDash val="solid"/>
            <a:round/>
            <a:headEnd type="none" w="sm" len="sm"/>
            <a:tailEnd type="none" w="sm" len="sm"/>
          </a:ln>
        </p:spPr>
        <p:txBody>
          <a:bodyPr spcFirstLastPara="1" wrap="square" lIns="91425" tIns="45700" rIns="91425" bIns="45700" anchor="ctr" anchorCtr="0">
            <a:noAutofit/>
          </a:bodyPr>
          <a:lstStyle/>
          <a:p>
            <a:pPr>
              <a:lnSpc>
                <a:spcPct val="114000"/>
              </a:lnSpc>
            </a:pPr>
            <a:r>
              <a:rPr lang="en-US" sz="1800" b="1" dirty="0">
                <a:solidFill>
                  <a:srgbClr val="DB2B2A"/>
                </a:solidFill>
                <a:latin typeface="Verdana" panose="020B0604030504040204" pitchFamily="34" charset="0"/>
                <a:ea typeface="Verdana" panose="020B0604030504040204" pitchFamily="34" charset="0"/>
                <a:cs typeface="Verdana" panose="020B0604030504040204" pitchFamily="34" charset="0"/>
              </a:rPr>
              <a:t>M</a:t>
            </a:r>
            <a:r>
              <a:rPr lang="en-US" sz="1800" b="1" dirty="0">
                <a:latin typeface="Verdana" panose="020B0604030504040204" pitchFamily="34" charset="0"/>
                <a:ea typeface="Verdana" panose="020B0604030504040204" pitchFamily="34" charset="0"/>
                <a:cs typeface="Verdana" panose="020B0604030504040204" pitchFamily="34" charset="0"/>
              </a:rPr>
              <a:t>eans</a:t>
            </a:r>
            <a:endParaRPr lang="en-US" sz="1100" dirty="0">
              <a:latin typeface="Calibri" panose="020F0502020204030204" pitchFamily="34" charset="0"/>
              <a:ea typeface="Yu Mincho" panose="02020400000000000000" pitchFamily="18" charset="-128"/>
              <a:cs typeface="Times New Roman" panose="02020603050405020304" pitchFamily="18" charset="0"/>
            </a:endParaRPr>
          </a:p>
          <a:p>
            <a:pPr>
              <a:lnSpc>
                <a:spcPct val="114000"/>
              </a:lnSpc>
            </a:pPr>
            <a:r>
              <a:rPr lang="en-US" sz="1800" b="1" dirty="0">
                <a:solidFill>
                  <a:srgbClr val="F25756"/>
                </a:solidFill>
                <a:latin typeface="Verdana" panose="020B0604030504040204" pitchFamily="34" charset="0"/>
                <a:ea typeface="Verdana" panose="020B0604030504040204" pitchFamily="34" charset="0"/>
                <a:cs typeface="Verdana" panose="020B0604030504040204" pitchFamily="34" charset="0"/>
              </a:rPr>
              <a:t>I</a:t>
            </a:r>
            <a:endParaRPr lang="en-US" sz="1100" dirty="0">
              <a:latin typeface="Calibri" panose="020F0502020204030204" pitchFamily="34" charset="0"/>
              <a:ea typeface="Yu Mincho" panose="02020400000000000000" pitchFamily="18" charset="-128"/>
              <a:cs typeface="Times New Roman" panose="02020603050405020304" pitchFamily="18" charset="0"/>
            </a:endParaRPr>
          </a:p>
          <a:p>
            <a:pPr>
              <a:lnSpc>
                <a:spcPct val="114000"/>
              </a:lnSpc>
            </a:pPr>
            <a:r>
              <a:rPr lang="en-US" sz="1800" b="1" dirty="0">
                <a:solidFill>
                  <a:srgbClr val="E99237"/>
                </a:solidFill>
                <a:latin typeface="Verdana" panose="020B0604030504040204" pitchFamily="34" charset="0"/>
                <a:ea typeface="Verdana" panose="020B0604030504040204" pitchFamily="34" charset="0"/>
                <a:cs typeface="Verdana" panose="020B0604030504040204" pitchFamily="34" charset="0"/>
              </a:rPr>
              <a:t>S</a:t>
            </a:r>
            <a:r>
              <a:rPr lang="en-US" sz="1800" b="1" dirty="0">
                <a:latin typeface="Verdana" panose="020B0604030504040204" pitchFamily="34" charset="0"/>
                <a:ea typeface="Verdana" panose="020B0604030504040204" pitchFamily="34" charset="0"/>
                <a:cs typeface="Verdana" panose="020B0604030504040204" pitchFamily="34" charset="0"/>
              </a:rPr>
              <a:t>tart</a:t>
            </a:r>
            <a:endParaRPr lang="en-US" sz="1100" dirty="0">
              <a:latin typeface="Calibri" panose="020F0502020204030204" pitchFamily="34" charset="0"/>
              <a:ea typeface="Yu Mincho" panose="02020400000000000000" pitchFamily="18" charset="-128"/>
              <a:cs typeface="Times New Roman" panose="02020603050405020304" pitchFamily="18" charset="0"/>
            </a:endParaRPr>
          </a:p>
          <a:p>
            <a:pPr>
              <a:lnSpc>
                <a:spcPct val="114000"/>
              </a:lnSpc>
            </a:pPr>
            <a:r>
              <a:rPr lang="en-US" sz="1800" b="1" dirty="0">
                <a:solidFill>
                  <a:srgbClr val="FACD17"/>
                </a:solidFill>
                <a:latin typeface="Verdana" panose="020B0604030504040204" pitchFamily="34" charset="0"/>
                <a:ea typeface="Verdana" panose="020B0604030504040204" pitchFamily="34" charset="0"/>
                <a:cs typeface="Verdana" panose="020B0604030504040204" pitchFamily="34" charset="0"/>
              </a:rPr>
              <a:t>T</a:t>
            </a:r>
            <a:r>
              <a:rPr lang="en-US" sz="1800" b="1" dirty="0">
                <a:latin typeface="Verdana" panose="020B0604030504040204" pitchFamily="34" charset="0"/>
                <a:ea typeface="Verdana" panose="020B0604030504040204" pitchFamily="34" charset="0"/>
                <a:cs typeface="Verdana" panose="020B0604030504040204" pitchFamily="34" charset="0"/>
              </a:rPr>
              <a:t>o </a:t>
            </a:r>
            <a:endParaRPr lang="en-US" sz="1100" dirty="0">
              <a:latin typeface="Calibri" panose="020F0502020204030204" pitchFamily="34" charset="0"/>
              <a:ea typeface="Yu Mincho" panose="02020400000000000000" pitchFamily="18" charset="-128"/>
              <a:cs typeface="Times New Roman" panose="02020603050405020304" pitchFamily="18" charset="0"/>
            </a:endParaRPr>
          </a:p>
          <a:p>
            <a:pPr>
              <a:lnSpc>
                <a:spcPct val="114000"/>
              </a:lnSpc>
            </a:pPr>
            <a:r>
              <a:rPr lang="en-US" sz="1800" b="1" dirty="0">
                <a:solidFill>
                  <a:srgbClr val="7BA43F"/>
                </a:solidFill>
                <a:latin typeface="Verdana" panose="020B0604030504040204" pitchFamily="34" charset="0"/>
                <a:ea typeface="Verdana" panose="020B0604030504040204" pitchFamily="34" charset="0"/>
                <a:cs typeface="Verdana" panose="020B0604030504040204" pitchFamily="34" charset="0"/>
              </a:rPr>
              <a:t>A</a:t>
            </a:r>
            <a:r>
              <a:rPr lang="en-US" sz="1800" b="1" dirty="0">
                <a:latin typeface="Verdana" panose="020B0604030504040204" pitchFamily="34" charset="0"/>
                <a:ea typeface="Verdana" panose="020B0604030504040204" pitchFamily="34" charset="0"/>
                <a:cs typeface="Verdana" panose="020B0604030504040204" pitchFamily="34" charset="0"/>
              </a:rPr>
              <a:t>cquire</a:t>
            </a:r>
            <a:endParaRPr lang="en-US" sz="1100" dirty="0">
              <a:latin typeface="Calibri" panose="020F0502020204030204" pitchFamily="34" charset="0"/>
              <a:ea typeface="Yu Mincho" panose="02020400000000000000" pitchFamily="18" charset="-128"/>
              <a:cs typeface="Times New Roman" panose="02020603050405020304" pitchFamily="18" charset="0"/>
            </a:endParaRPr>
          </a:p>
          <a:p>
            <a:pPr>
              <a:lnSpc>
                <a:spcPct val="114000"/>
              </a:lnSpc>
            </a:pPr>
            <a:r>
              <a:rPr lang="en-US" sz="1800" b="1" dirty="0">
                <a:solidFill>
                  <a:srgbClr val="24B7D2"/>
                </a:solidFill>
                <a:latin typeface="Verdana" panose="020B0604030504040204" pitchFamily="34" charset="0"/>
                <a:ea typeface="Verdana" panose="020B0604030504040204" pitchFamily="34" charset="0"/>
                <a:cs typeface="Verdana" panose="020B0604030504040204" pitchFamily="34" charset="0"/>
              </a:rPr>
              <a:t>K</a:t>
            </a:r>
            <a:r>
              <a:rPr lang="en-US" sz="1800" b="1" dirty="0">
                <a:latin typeface="Verdana" panose="020B0604030504040204" pitchFamily="34" charset="0"/>
                <a:ea typeface="Verdana" panose="020B0604030504040204" pitchFamily="34" charset="0"/>
                <a:cs typeface="Verdana" panose="020B0604030504040204" pitchFamily="34" charset="0"/>
              </a:rPr>
              <a:t>nowledge</a:t>
            </a:r>
            <a:endParaRPr lang="en-US" sz="1100" dirty="0">
              <a:latin typeface="Calibri" panose="020F0502020204030204" pitchFamily="34" charset="0"/>
              <a:ea typeface="Yu Mincho" panose="02020400000000000000" pitchFamily="18" charset="-128"/>
              <a:cs typeface="Times New Roman" panose="02020603050405020304" pitchFamily="18" charset="0"/>
            </a:endParaRPr>
          </a:p>
          <a:p>
            <a:pPr>
              <a:lnSpc>
                <a:spcPct val="114000"/>
              </a:lnSpc>
            </a:pPr>
            <a:r>
              <a:rPr lang="en-US" sz="1800" b="1" dirty="0">
                <a:solidFill>
                  <a:srgbClr val="1B74B9"/>
                </a:solidFill>
                <a:latin typeface="Verdana" panose="020B0604030504040204" pitchFamily="34" charset="0"/>
                <a:ea typeface="Verdana" panose="020B0604030504040204" pitchFamily="34" charset="0"/>
                <a:cs typeface="Verdana" panose="020B0604030504040204" pitchFamily="34" charset="0"/>
              </a:rPr>
              <a:t>E</a:t>
            </a:r>
            <a:r>
              <a:rPr lang="en-US" sz="1800" b="1" dirty="0">
                <a:latin typeface="Verdana" panose="020B0604030504040204" pitchFamily="34" charset="0"/>
                <a:ea typeface="Verdana" panose="020B0604030504040204" pitchFamily="34" charset="0"/>
                <a:cs typeface="Verdana" panose="020B0604030504040204" pitchFamily="34" charset="0"/>
              </a:rPr>
              <a:t>xperience </a:t>
            </a:r>
            <a:endParaRPr lang="en-US" sz="1100" dirty="0">
              <a:latin typeface="Calibri" panose="020F0502020204030204" pitchFamily="34" charset="0"/>
              <a:ea typeface="Yu Mincho" panose="02020400000000000000" pitchFamily="18" charset="-128"/>
              <a:cs typeface="Times New Roman" panose="02020603050405020304" pitchFamily="18" charset="0"/>
            </a:endParaRPr>
          </a:p>
          <a:p>
            <a:pPr>
              <a:lnSpc>
                <a:spcPct val="114000"/>
              </a:lnSpc>
            </a:pPr>
            <a:r>
              <a:rPr lang="en-US" sz="1800" b="1" dirty="0">
                <a:solidFill>
                  <a:srgbClr val="4A2B79"/>
                </a:solidFill>
                <a:latin typeface="Verdana" panose="020B0604030504040204" pitchFamily="34" charset="0"/>
                <a:ea typeface="Verdana" panose="020B0604030504040204" pitchFamily="34" charset="0"/>
                <a:cs typeface="Verdana" panose="020B0604030504040204" pitchFamily="34" charset="0"/>
              </a:rPr>
              <a:t>S</a:t>
            </a:r>
            <a:r>
              <a:rPr lang="en-US" sz="1800" b="1" dirty="0">
                <a:latin typeface="Verdana" panose="020B0604030504040204" pitchFamily="34" charset="0"/>
                <a:ea typeface="Verdana" panose="020B0604030504040204" pitchFamily="34" charset="0"/>
                <a:cs typeface="Verdana" panose="020B0604030504040204" pitchFamily="34" charset="0"/>
              </a:rPr>
              <a:t>kills</a:t>
            </a:r>
            <a:endParaRPr lang="en-US" sz="1100" dirty="0">
              <a:latin typeface="Calibri" panose="020F0502020204030204" pitchFamily="34" charset="0"/>
              <a:ea typeface="Yu Mincho" panose="02020400000000000000" pitchFamily="18" charset="-128"/>
              <a:cs typeface="Times New Roman" panose="02020603050405020304" pitchFamily="18" charset="0"/>
            </a:endParaRPr>
          </a:p>
          <a:p>
            <a:pPr algn="ctr">
              <a:lnSpc>
                <a:spcPct val="107000"/>
              </a:lnSpc>
              <a:spcAft>
                <a:spcPts val="800"/>
              </a:spcAft>
            </a:pPr>
            <a:r>
              <a:rPr lang="en-US" sz="1100" dirty="0">
                <a:latin typeface="Calibri" panose="020F0502020204030204" pitchFamily="34" charset="0"/>
                <a:ea typeface="Yu Mincho" panose="02020400000000000000" pitchFamily="18" charset="-128"/>
                <a:cs typeface="Times New Roman" panose="02020603050405020304" pitchFamily="18" charset="0"/>
              </a:rPr>
              <a:t> </a:t>
            </a:r>
          </a:p>
        </p:txBody>
      </p:sp>
      <p:sp>
        <p:nvSpPr>
          <p:cNvPr id="10" name="Rounded Rectangle 9"/>
          <p:cNvSpPr/>
          <p:nvPr/>
        </p:nvSpPr>
        <p:spPr>
          <a:xfrm>
            <a:off x="4791044" y="2978535"/>
            <a:ext cx="2865945" cy="3671316"/>
          </a:xfrm>
          <a:prstGeom prst="roundRect">
            <a:avLst>
              <a:gd name="adj" fmla="val 16667"/>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nSpc>
                <a:spcPct val="107000"/>
              </a:lnSpc>
            </a:pPr>
            <a:r>
              <a:rPr lang="en-US" sz="1100" i="1">
                <a:solidFill>
                  <a:srgbClr val="FF0000"/>
                </a:solidFill>
                <a:latin typeface="Verdana" panose="020B0604030504040204" pitchFamily="34" charset="0"/>
                <a:ea typeface="Verdana" panose="020B0604030504040204" pitchFamily="34" charset="0"/>
                <a:cs typeface="Verdana" panose="020B0604030504040204" pitchFamily="34" charset="0"/>
              </a:rPr>
              <a:t> </a:t>
            </a:r>
            <a:endParaRPr lang="en-US" sz="1100">
              <a:latin typeface="Calibri" panose="020F0502020204030204" pitchFamily="34" charset="0"/>
              <a:ea typeface="Yu Mincho" panose="02020400000000000000" pitchFamily="18" charset="-128"/>
              <a:cs typeface="Times New Roman" panose="02020603050405020304" pitchFamily="18" charset="0"/>
            </a:endParaRPr>
          </a:p>
        </p:txBody>
      </p:sp>
      <p:sp>
        <p:nvSpPr>
          <p:cNvPr id="13" name="Google Shape;282;g104476d1465_1_17"/>
          <p:cNvSpPr txBox="1"/>
          <p:nvPr/>
        </p:nvSpPr>
        <p:spPr>
          <a:xfrm>
            <a:off x="8734117"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176</a:t>
            </a:r>
            <a:endParaRPr i="1" dirty="0">
              <a:latin typeface="Calibri"/>
              <a:ea typeface="Calibri"/>
              <a:cs typeface="Calibri"/>
              <a:sym typeface="Calibri"/>
            </a:endParaRP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2343"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1339</TotalTime>
  <Words>1376</Words>
  <Application>Microsoft Office PowerPoint</Application>
  <PresentationFormat>Widescreen</PresentationFormat>
  <Paragraphs>281</Paragraphs>
  <Slides>28</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Arial Black</vt:lpstr>
      <vt:lpstr>Calibri</vt:lpstr>
      <vt:lpstr>Cambria Math</vt:lpstr>
      <vt:lpstr>Century Gothic</vt:lpstr>
      <vt:lpstr>Verdana</vt:lpstr>
      <vt:lpstr>1_Office Theme</vt:lpstr>
      <vt:lpstr>6th Grade Accelerated Math  Unit 11, Lesson 2  Subtracting Rational Numbers  Volume 2, pg. 171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Collaboration</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31</cp:revision>
  <dcterms:created xsi:type="dcterms:W3CDTF">2015-03-17T18:51:18Z</dcterms:created>
  <dcterms:modified xsi:type="dcterms:W3CDTF">2022-08-25T02:17:04Z</dcterms:modified>
</cp:coreProperties>
</file>