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288" r:id="rId8"/>
    <p:sldId id="289" r:id="rId9"/>
    <p:sldId id="290" r:id="rId10"/>
    <p:sldId id="308" r:id="rId11"/>
    <p:sldId id="329" r:id="rId12"/>
    <p:sldId id="330" r:id="rId13"/>
    <p:sldId id="320" r:id="rId14"/>
    <p:sldId id="321" r:id="rId15"/>
    <p:sldId id="326" r:id="rId16"/>
    <p:sldId id="327" r:id="rId17"/>
    <p:sldId id="331" r:id="rId18"/>
    <p:sldId id="322" r:id="rId19"/>
    <p:sldId id="328" r:id="rId20"/>
    <p:sldId id="332" r:id="rId21"/>
    <p:sldId id="323" r:id="rId22"/>
    <p:sldId id="324" r:id="rId23"/>
    <p:sldId id="325" r:id="rId24"/>
    <p:sldId id="333" r:id="rId25"/>
    <p:sldId id="302" r:id="rId26"/>
    <p:sldId id="303" r:id="rId27"/>
    <p:sldId id="306" r:id="rId28"/>
    <p:sldId id="307"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99C8"/>
    <a:srgbClr val="1F3165"/>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271" autoAdjust="0"/>
    <p:restoredTop sz="94695"/>
  </p:normalViewPr>
  <p:slideViewPr>
    <p:cSldViewPr snapToGrid="0">
      <p:cViewPr varScale="1">
        <p:scale>
          <a:sx n="79" d="100"/>
          <a:sy n="79" d="100"/>
        </p:scale>
        <p:origin x="47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317325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49220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3063268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944479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219740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7962354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840320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139839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2706172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5592045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42160587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30.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5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1.png"/><Relationship Id="rId4" Type="http://schemas.openxmlformats.org/officeDocument/2006/relationships/image" Target="../media/image300.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pn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11, Lesson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Adding Rational Numbers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165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12701"/>
            <a:ext cx="4094106" cy="6870701"/>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AB08A17F-C082-CD48-B100-6B09C860CC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23631" y="10839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00131" y="34416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89649" y="1600200"/>
            <a:ext cx="9012702"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MA.7.NSO.2.2</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Add, subtract, multiply, and divide rational numbers with procedural fluency.</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69635" y="44376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94285" y="20112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702191" y="1596390"/>
            <a:ext cx="937537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10"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165</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506054"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23892"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659988" y="1600200"/>
            <a:ext cx="855081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ct val="125000"/>
              <a:buFont typeface="Verdana"/>
              <a:buChar char="❏"/>
            </a:pPr>
            <a:r>
              <a:rPr lang="en-US" sz="2400" dirty="0">
                <a:solidFill>
                  <a:schemeClr val="tx1"/>
                </a:solidFill>
                <a:latin typeface="Verdana"/>
                <a:ea typeface="Verdana"/>
                <a:cs typeface="Verdana"/>
                <a:sym typeface="Verdana"/>
              </a:rPr>
              <a:t>I can fluently add rational numbers.</a:t>
            </a:r>
          </a:p>
        </p:txBody>
      </p:sp>
      <p:sp>
        <p:nvSpPr>
          <p:cNvPr id="9"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165</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8172" y="-52217"/>
            <a:ext cx="1056542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11.1.1 Warm-Up: Landscape Architect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710873" y="197486"/>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294228" y="1386026"/>
            <a:ext cx="9859576" cy="3477875"/>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Janice Nicol, a landscape architect, works to design natural systems and outdoor spaces, like trails and parks, for campuses and recreational facilities. Her job is both creative and technical. Creativity is expressed through drawing sketches both by hand and by using computer design programs and imaging. The technical side of her job involves knowing things such as land grading, water calculations, and natural systems. </a:t>
            </a:r>
          </a:p>
          <a:p>
            <a:r>
              <a:rPr lang="en-US" sz="2200" dirty="0">
                <a:latin typeface="Verdana" panose="020B0604030504040204" pitchFamily="34" charset="0"/>
                <a:ea typeface="Verdana" panose="020B0604030504040204" pitchFamily="34" charset="0"/>
                <a:cs typeface="Verdana" panose="020B0604030504040204" pitchFamily="34" charset="0"/>
              </a:rPr>
              <a:t> </a:t>
            </a:r>
          </a:p>
          <a:p>
            <a:r>
              <a:rPr lang="en-US" sz="2200" dirty="0">
                <a:latin typeface="Verdana" panose="020B0604030504040204" pitchFamily="34" charset="0"/>
                <a:ea typeface="Verdana" panose="020B0604030504040204" pitchFamily="34" charset="0"/>
                <a:cs typeface="Verdana" panose="020B0604030504040204" pitchFamily="34" charset="0"/>
              </a:rPr>
              <a:t>Janice mentions that she regularly collaborates and works together with others while doing her job.</a:t>
            </a:r>
          </a:p>
        </p:txBody>
      </p:sp>
      <p:sp>
        <p:nvSpPr>
          <p:cNvPr id="10"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165</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041009" y="520394"/>
            <a:ext cx="10260648" cy="2800767"/>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Why do you think it is important to be able to collaborate when doing a job?</a:t>
            </a: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How can you build your collaboration skills?</a:t>
            </a:r>
          </a:p>
        </p:txBody>
      </p:sp>
      <p:sp>
        <p:nvSpPr>
          <p:cNvPr id="7"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165</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3879"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10028" y="-6205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11.1.2 Guided Instruction: Adding Positive Rational Numbers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562728" y="14520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310028" y="1386025"/>
                <a:ext cx="9827976" cy="3816429"/>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Adrian added </a:t>
                </a:r>
                <a14:m>
                  <m:oMath xmlns:m="http://schemas.openxmlformats.org/officeDocument/2006/math">
                    <m:r>
                      <a:rPr lang="en-US" sz="2200" i="1">
                        <a:latin typeface="Cambria Math" panose="02040503050406030204" pitchFamily="18" charset="0"/>
                        <a:ea typeface="Cambria Math" panose="02040503050406030204" pitchFamily="18" charset="0"/>
                      </a:rPr>
                      <m:t>5.25</m:t>
                    </m:r>
                  </m:oMath>
                </a14:m>
                <a:r>
                  <a:rPr lang="en-US" sz="22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latin typeface="Cambria Math" panose="02040503050406030204" pitchFamily="18" charset="0"/>
                        <a:ea typeface="Cambria Math" panose="02040503050406030204" pitchFamily="18" charset="0"/>
                      </a:rPr>
                      <m:t>6.4</m:t>
                    </m:r>
                  </m:oMath>
                </a14:m>
                <a:r>
                  <a:rPr lang="en-US" sz="2200" dirty="0">
                    <a:latin typeface="Verdana" panose="020B0604030504040204" pitchFamily="34" charset="0"/>
                    <a:ea typeface="Verdana" panose="020B0604030504040204" pitchFamily="34" charset="0"/>
                    <a:cs typeface="Verdana" panose="020B0604030504040204" pitchFamily="34" charset="0"/>
                  </a:rPr>
                  <a:t>. His work is shown.</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Write an explanation to Adrian detailing any mistakes he made and how he can correct his work.</a:t>
                </a: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310028" y="1386025"/>
                <a:ext cx="9827976" cy="3816429"/>
              </a:xfrm>
              <a:prstGeom prst="rect">
                <a:avLst/>
              </a:prstGeom>
              <a:blipFill rotWithShape="0">
                <a:blip r:embed="rId4"/>
                <a:stretch>
                  <a:fillRect l="-868" t="-1278" b="-2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312678803"/>
                  </p:ext>
                </p:extLst>
              </p:nvPr>
            </p:nvGraphicFramePr>
            <p:xfrm>
              <a:off x="4001320" y="2207654"/>
              <a:ext cx="3313430" cy="1762125"/>
            </p:xfrm>
            <a:graphic>
              <a:graphicData uri="http://schemas.openxmlformats.org/drawingml/2006/table">
                <a:tbl>
                  <a:tblPr firstRow="1" firstCol="1" bandRow="1">
                    <a:tableStyleId>{5940675A-B579-460E-94D1-54222C63F5DA}</a:tableStyleId>
                  </a:tblPr>
                  <a:tblGrid>
                    <a:gridCol w="3313430">
                      <a:extLst>
                        <a:ext uri="{9D8B030D-6E8A-4147-A177-3AD203B41FA5}">
                          <a16:colId xmlns:a16="http://schemas.microsoft.com/office/drawing/2014/main" val="20000"/>
                        </a:ext>
                      </a:extLst>
                    </a:gridCol>
                  </a:tblGrid>
                  <a:tr h="271780">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Adrian’s Work</a:t>
                          </a:r>
                        </a:p>
                      </a:txBody>
                      <a:tcPr marL="68580" marR="68580" marT="0" marB="0" anchor="ctr">
                        <a:solidFill>
                          <a:schemeClr val="bg1">
                            <a:lumMod val="75000"/>
                          </a:schemeClr>
                        </a:solidFill>
                      </a:tcPr>
                    </a:tc>
                    <a:extLst>
                      <a:ext uri="{0D108BD9-81ED-4DB2-BD59-A6C34878D82A}">
                        <a16:rowId xmlns:a16="http://schemas.microsoft.com/office/drawing/2014/main" val="10000"/>
                      </a:ext>
                    </a:extLst>
                  </a:tr>
                  <a:tr h="1400353">
                    <a:tc>
                      <a:txBody>
                        <a:bodyPr/>
                        <a:lstStyle/>
                        <a:p>
                          <a:pPr marL="0" marR="0">
                            <a:lnSpc>
                              <a:spcPct val="107000"/>
                            </a:lnSpc>
                            <a:spcBef>
                              <a:spcPts val="0"/>
                            </a:spcBef>
                            <a:spcAft>
                              <a:spcPts val="0"/>
                            </a:spcAft>
                          </a:pPr>
                          <a:r>
                            <a:rPr lang="en-US" sz="2200" dirty="0">
                              <a:effectLst/>
                            </a:rPr>
                            <a:t> </a:t>
                          </a: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  5 . 2 5</m:t>
                                </m:r>
                              </m:oMath>
                            </m:oMathPara>
                          </a14:m>
                          <a:endParaRPr lang="en-US" sz="22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  6 . 4</m:t>
                                </m:r>
                              </m:oMath>
                            </m:oMathPara>
                          </a14:m>
                          <a:endParaRPr lang="en-US" sz="2200"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200">
                                    <a:effectLst/>
                                    <a:latin typeface="Cambria Math" panose="02040503050406030204" pitchFamily="18" charset="0"/>
                                    <a:ea typeface="Cambria Math" panose="02040503050406030204" pitchFamily="18" charset="0"/>
                                  </a:rPr>
                                  <m:t>  5 . 8 9</m:t>
                                </m:r>
                              </m:oMath>
                            </m:oMathPara>
                          </a14:m>
                          <a:endParaRPr lang="en-US" sz="22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312678803"/>
                  </p:ext>
                </p:extLst>
              </p:nvPr>
            </p:nvGraphicFramePr>
            <p:xfrm>
              <a:off x="2477320" y="2207653"/>
              <a:ext cx="3313430" cy="1762125"/>
            </p:xfrm>
            <a:graphic>
              <a:graphicData uri="http://schemas.openxmlformats.org/drawingml/2006/table">
                <a:tbl>
                  <a:tblPr firstRow="1" firstCol="1" bandRow="1">
                    <a:tableStyleId>{5940675A-B579-460E-94D1-54222C63F5DA}</a:tableStyleId>
                  </a:tblPr>
                  <a:tblGrid>
                    <a:gridCol w="3313430"/>
                  </a:tblGrid>
                  <a:tr h="327025">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Adrian’s Work</a:t>
                          </a:r>
                        </a:p>
                      </a:txBody>
                      <a:tcPr marL="68580" marR="68580" marT="0" marB="0" anchor="ctr">
                        <a:solidFill>
                          <a:schemeClr val="bg1">
                            <a:lumMod val="75000"/>
                          </a:schemeClr>
                        </a:solidFill>
                      </a:tcPr>
                    </a:tc>
                  </a:tr>
                  <a:tr h="1435100">
                    <a:tc>
                      <a:txBody>
                        <a:bodyPr/>
                        <a:lstStyle/>
                        <a:p>
                          <a:endParaRPr lang="en-US"/>
                        </a:p>
                      </a:txBody>
                      <a:tcPr marL="68580" marR="68580" marT="0" marB="0">
                        <a:blipFill rotWithShape="0">
                          <a:blip r:embed="rId6"/>
                          <a:stretch>
                            <a:fillRect l="-184" t="-29237" r="-551" b="-847"/>
                          </a:stretch>
                        </a:blipFill>
                      </a:tcPr>
                    </a:tc>
                  </a:tr>
                </a:tbl>
              </a:graphicData>
            </a:graphic>
          </p:graphicFrame>
        </mc:Fallback>
      </mc:AlternateContent>
      <p:cxnSp>
        <p:nvCxnSpPr>
          <p:cNvPr id="10" name="Straight Connector 9"/>
          <p:cNvCxnSpPr/>
          <p:nvPr/>
        </p:nvCxnSpPr>
        <p:spPr>
          <a:xfrm>
            <a:off x="5331276" y="3600085"/>
            <a:ext cx="733425" cy="0"/>
          </a:xfrm>
          <a:prstGeom prst="line">
            <a:avLst/>
          </a:prstGeom>
          <a:ln w="12700"/>
        </p:spPr>
        <p:style>
          <a:lnRef idx="1">
            <a:schemeClr val="dk1"/>
          </a:lnRef>
          <a:fillRef idx="0">
            <a:schemeClr val="dk1"/>
          </a:fillRef>
          <a:effectRef idx="0">
            <a:schemeClr val="dk1"/>
          </a:effectRef>
          <a:fontRef idx="minor">
            <a:schemeClr val="tx1"/>
          </a:fontRef>
        </p:style>
      </p:cxnSp>
      <p:sp>
        <p:nvSpPr>
          <p:cNvPr id="12"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166</a:t>
            </a:r>
            <a:endParaRPr i="1" dirty="0">
              <a:latin typeface="Calibri"/>
              <a:ea typeface="Calibri"/>
              <a:cs typeface="Calibri"/>
              <a:sym typeface="Calibri"/>
            </a:endParaRPr>
          </a:p>
        </p:txBody>
      </p:sp>
      <p:pic>
        <p:nvPicPr>
          <p:cNvPr id="14"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932432" y="288746"/>
                <a:ext cx="8327136" cy="430887"/>
              </a:xfrm>
              <a:prstGeom prst="rect">
                <a:avLst/>
              </a:prstGeom>
              <a:noFill/>
            </p:spPr>
            <p:txBody>
              <a:bodyPr wrap="square" rtlCol="0">
                <a:spAutoFit/>
              </a:bodyPr>
              <a:lstStyle/>
              <a:p>
                <a:pPr marL="914400" indent="-457200">
                  <a:buFont typeface="+mj-lt"/>
                  <a:buAutoNum type="alphaLcPeriod" startAt="2"/>
                </a:pPr>
                <a:r>
                  <a:rPr lang="en-US" sz="2200" dirty="0">
                    <a:latin typeface="Verdana" panose="020B0604030504040204" pitchFamily="34" charset="0"/>
                    <a:ea typeface="Verdana" panose="020B0604030504040204" pitchFamily="34" charset="0"/>
                    <a:cs typeface="Verdana" panose="020B0604030504040204" pitchFamily="34" charset="0"/>
                  </a:rPr>
                  <a:t>What is the sum of </a:t>
                </a:r>
                <a14:m>
                  <m:oMath xmlns:m="http://schemas.openxmlformats.org/officeDocument/2006/math">
                    <m:r>
                      <a:rPr lang="en-US" sz="2200" i="1">
                        <a:latin typeface="Cambria Math" panose="02040503050406030204" pitchFamily="18" charset="0"/>
                        <a:ea typeface="Cambria Math" panose="02040503050406030204" pitchFamily="18" charset="0"/>
                      </a:rPr>
                      <m:t>5.25</m:t>
                    </m:r>
                  </m:oMath>
                </a14:m>
                <a:r>
                  <a:rPr lang="en-US" sz="22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latin typeface="Cambria Math" panose="02040503050406030204" pitchFamily="18" charset="0"/>
                        <a:ea typeface="Cambria Math" panose="02040503050406030204" pitchFamily="18" charset="0"/>
                      </a:rPr>
                      <m:t>6.4</m:t>
                    </m:r>
                  </m:oMath>
                </a14:m>
                <a:r>
                  <a:rPr lang="en-US" sz="22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xmlns="" id="{8AE5E1E0-A54D-BE42-84B5-F917038ADE99}"/>
                  </a:ext>
                </a:extLst>
              </p:cNvPr>
              <p:cNvSpPr txBox="1">
                <a:spLocks noRot="1" noChangeAspect="1" noMove="1" noResize="1" noEditPoints="1" noAdjustHandles="1" noChangeArrowheads="1" noChangeShapeType="1" noTextEdit="1"/>
              </p:cNvSpPr>
              <p:nvPr/>
            </p:nvSpPr>
            <p:spPr>
              <a:xfrm>
                <a:off x="408432" y="288745"/>
                <a:ext cx="8327136" cy="430887"/>
              </a:xfrm>
              <a:prstGeom prst="rect">
                <a:avLst/>
              </a:prstGeom>
              <a:blipFill rotWithShape="0">
                <a:blip r:embed="rId4"/>
                <a:stretch>
                  <a:fillRect t="-11268" b="-28169"/>
                </a:stretch>
              </a:blipFill>
            </p:spPr>
            <p:txBody>
              <a:bodyPr/>
              <a:lstStyle/>
              <a:p>
                <a:r>
                  <a:rPr lang="en-US">
                    <a:noFill/>
                  </a:rPr>
                  <a:t> </a:t>
                </a:r>
              </a:p>
            </p:txBody>
          </p:sp>
        </mc:Fallback>
      </mc:AlternateContent>
      <p:sp>
        <p:nvSpPr>
          <p:cNvPr id="6" name="Rectangle: Rounded Corners 114"/>
          <p:cNvSpPr/>
          <p:nvPr/>
        </p:nvSpPr>
        <p:spPr>
          <a:xfrm>
            <a:off x="2343151" y="2948574"/>
            <a:ext cx="7709825" cy="1128126"/>
          </a:xfrm>
          <a:prstGeom prst="roundRect">
            <a:avLst/>
          </a:prstGeom>
          <a:solidFill>
            <a:srgbClr val="B8E7F5"/>
          </a:solidFill>
          <a:ln>
            <a:solidFill>
              <a:srgbClr val="B9E5F7"/>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685800">
              <a:lnSpc>
                <a:spcPct val="107000"/>
              </a:lnSpc>
              <a:spcAft>
                <a:spcPts val="800"/>
              </a:spcAft>
            </a:pPr>
            <a:r>
              <a:rPr lang="en-US" sz="2400" dirty="0">
                <a:solidFill>
                  <a:srgbClr val="00609E"/>
                </a:solidFill>
                <a:latin typeface="Verdana" panose="020B0604030504040204" pitchFamily="34" charset="0"/>
                <a:ea typeface="Times New Roman" panose="02020603050405020304" pitchFamily="18" charset="0"/>
                <a:cs typeface="Times New Roman" panose="02020603050405020304" pitchFamily="18" charset="0"/>
              </a:rPr>
              <a:t>When finding the sum of decimal numbers, add values with the same place value.</a:t>
            </a:r>
            <a:endParaRPr lang="en-US" sz="2400" dirty="0">
              <a:ea typeface="Times New Roman" panose="02020603050405020304" pitchFamily="18" charset="0"/>
              <a:cs typeface="Times New Roman" panose="02020603050405020304" pitchFamily="18" charset="0"/>
            </a:endParaRPr>
          </a:p>
        </p:txBody>
      </p:sp>
      <p:pic>
        <p:nvPicPr>
          <p:cNvPr id="7" name="Shape 31" descr="Icon&#10;&#10;Description automatically generated"/>
          <p:cNvPicPr/>
          <p:nvPr/>
        </p:nvPicPr>
        <p:blipFill rotWithShape="1">
          <a:blip r:embed="rId5" cstate="screen">
            <a:alphaModFix/>
            <a:extLst>
              <a:ext uri="{28A0092B-C50C-407E-A947-70E740481C1C}">
                <a14:useLocalDpi xmlns:a14="http://schemas.microsoft.com/office/drawing/2010/main"/>
              </a:ext>
            </a:extLst>
          </a:blip>
          <a:srcRect/>
          <a:stretch/>
        </p:blipFill>
        <p:spPr>
          <a:xfrm>
            <a:off x="2495550" y="3155268"/>
            <a:ext cx="539750" cy="539115"/>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166</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139483" y="288746"/>
                <a:ext cx="9913034" cy="1249829"/>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Johannes added </a:t>
                </a:r>
                <a14:m>
                  <m:oMath xmlns:m="http://schemas.openxmlformats.org/officeDocument/2006/math">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8</m:t>
                        </m:r>
                      </m:den>
                    </m:f>
                    <m:r>
                      <a:rPr lang="en-US" sz="2200" i="1">
                        <a:latin typeface="Cambria Math" panose="02040503050406030204" pitchFamily="18" charset="0"/>
                        <a:ea typeface="Cambria Math" panose="02040503050406030204" pitchFamily="18" charset="0"/>
                      </a:rPr>
                      <m:t> </m:t>
                    </m:r>
                  </m:oMath>
                </a14:m>
                <a:r>
                  <a:rPr lang="en-US" sz="22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3</m:t>
                        </m:r>
                      </m:num>
                      <m:den>
                        <m:r>
                          <a:rPr lang="en-US" sz="2200" i="1">
                            <a:latin typeface="Cambria Math" panose="02040503050406030204" pitchFamily="18" charset="0"/>
                            <a:ea typeface="Cambria Math" panose="02040503050406030204" pitchFamily="18" charset="0"/>
                          </a:rPr>
                          <m:t>4</m:t>
                        </m:r>
                      </m:den>
                    </m:f>
                  </m:oMath>
                </a14:m>
                <a:r>
                  <a:rPr lang="en-US" sz="2200" dirty="0">
                    <a:latin typeface="Verdana" panose="020B0604030504040204" pitchFamily="34" charset="0"/>
                    <a:ea typeface="Verdana" panose="020B0604030504040204" pitchFamily="34" charset="0"/>
                    <a:cs typeface="Verdana" panose="020B0604030504040204" pitchFamily="34" charset="0"/>
                  </a:rPr>
                  <a:t>. Part of her work is shown. </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indent="-465138">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Complete Johannes’ work by filling in the boxes.</a:t>
                </a: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1139483" y="288746"/>
                <a:ext cx="9913034" cy="1249829"/>
              </a:xfrm>
              <a:prstGeom prst="rect">
                <a:avLst/>
              </a:prstGeom>
              <a:blipFill rotWithShape="0">
                <a:blip r:embed="rId3"/>
                <a:stretch>
                  <a:fillRect l="-861" b="-97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502828774"/>
                  </p:ext>
                </p:extLst>
              </p:nvPr>
            </p:nvGraphicFramePr>
            <p:xfrm>
              <a:off x="3345711" y="1845253"/>
              <a:ext cx="4728718" cy="4243070"/>
            </p:xfrm>
            <a:graphic>
              <a:graphicData uri="http://schemas.openxmlformats.org/drawingml/2006/table">
                <a:tbl>
                  <a:tblPr firstRow="1" firstCol="1" bandRow="1">
                    <a:tableStyleId>{5940675A-B579-460E-94D1-54222C63F5DA}</a:tableStyleId>
                  </a:tblPr>
                  <a:tblGrid>
                    <a:gridCol w="4728718">
                      <a:extLst>
                        <a:ext uri="{9D8B030D-6E8A-4147-A177-3AD203B41FA5}">
                          <a16:colId xmlns:a16="http://schemas.microsoft.com/office/drawing/2014/main" val="20000"/>
                        </a:ext>
                      </a:extLst>
                    </a:gridCol>
                  </a:tblGrid>
                  <a:tr h="294753">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Johannes’ Answer</a:t>
                          </a:r>
                        </a:p>
                      </a:txBody>
                      <a:tcPr marL="68580" marR="68580" marT="0" marB="0" anchor="ctr">
                        <a:solidFill>
                          <a:schemeClr val="bg1">
                            <a:lumMod val="75000"/>
                          </a:schemeClr>
                        </a:solidFill>
                      </a:tcPr>
                    </a:tc>
                    <a:extLst>
                      <a:ext uri="{0D108BD9-81ED-4DB2-BD59-A6C34878D82A}">
                        <a16:rowId xmlns:a16="http://schemas.microsoft.com/office/drawing/2014/main" val="10000"/>
                      </a:ext>
                    </a:extLst>
                  </a:tr>
                  <a:tr h="3880842">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200" i="1" smtClean="0">
                                        <a:effectLst/>
                                        <a:latin typeface="Cambria Math" panose="02040503050406030204" pitchFamily="18" charset="0"/>
                                        <a:ea typeface="Cambria Math" panose="02040503050406030204" pitchFamily="18" charset="0"/>
                                      </a:rPr>
                                    </m:ctrlPr>
                                  </m:fPr>
                                  <m:num>
                                    <m:r>
                                      <a:rPr lang="en-US" sz="2200">
                                        <a:effectLst/>
                                        <a:latin typeface="Cambria Math" panose="02040503050406030204" pitchFamily="18" charset="0"/>
                                        <a:ea typeface="Cambria Math" panose="02040503050406030204" pitchFamily="18" charset="0"/>
                                      </a:rPr>
                                      <m:t>1</m:t>
                                    </m:r>
                                  </m:num>
                                  <m:den>
                                    <m:r>
                                      <a:rPr lang="en-US" sz="2200">
                                        <a:effectLst/>
                                        <a:latin typeface="Cambria Math" panose="02040503050406030204" pitchFamily="18" charset="0"/>
                                        <a:ea typeface="Cambria Math" panose="02040503050406030204" pitchFamily="18" charset="0"/>
                                      </a:rPr>
                                      <m:t>8</m:t>
                                    </m:r>
                                  </m:den>
                                </m:f>
                                <m:r>
                                  <a:rPr lang="en-US" sz="2200">
                                    <a:effectLst/>
                                    <a:latin typeface="Cambria Math" panose="02040503050406030204" pitchFamily="18" charset="0"/>
                                    <a:ea typeface="Cambria Math" panose="02040503050406030204" pitchFamily="18" charset="0"/>
                                  </a:rPr>
                                  <m:t> + </m:t>
                                </m:r>
                                <m:f>
                                  <m:fPr>
                                    <m:ctrlPr>
                                      <a:rPr lang="en-US" sz="2200" i="1">
                                        <a:effectLst/>
                                        <a:latin typeface="Cambria Math" panose="02040503050406030204" pitchFamily="18" charset="0"/>
                                        <a:ea typeface="Cambria Math" panose="02040503050406030204" pitchFamily="18" charset="0"/>
                                      </a:rPr>
                                    </m:ctrlPr>
                                  </m:fPr>
                                  <m:num>
                                    <m:r>
                                      <a:rPr lang="en-US" sz="2200">
                                        <a:effectLst/>
                                        <a:latin typeface="Cambria Math" panose="02040503050406030204" pitchFamily="18" charset="0"/>
                                        <a:ea typeface="Cambria Math" panose="02040503050406030204" pitchFamily="18" charset="0"/>
                                      </a:rPr>
                                      <m:t>3</m:t>
                                    </m:r>
                                  </m:num>
                                  <m:den>
                                    <m:r>
                                      <a:rPr lang="en-US" sz="2200">
                                        <a:effectLst/>
                                        <a:latin typeface="Cambria Math" panose="02040503050406030204" pitchFamily="18" charset="0"/>
                                        <a:ea typeface="Cambria Math" panose="02040503050406030204" pitchFamily="18" charset="0"/>
                                      </a:rPr>
                                      <m:t>4</m:t>
                                    </m:r>
                                  </m:den>
                                </m:f>
                                <m:r>
                                  <a:rPr lang="en-US" sz="2200">
                                    <a:effectLst/>
                                    <a:latin typeface="Cambria Math" panose="02040503050406030204" pitchFamily="18" charset="0"/>
                                    <a:ea typeface="Cambria Math" panose="02040503050406030204" pitchFamily="18" charset="0"/>
                                  </a:rPr>
                                  <m:t> =</m:t>
                                </m:r>
                              </m:oMath>
                            </m:oMathPara>
                          </a14:m>
                          <a:endParaRPr lang="en-US" sz="22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200" i="1">
                                        <a:effectLst/>
                                        <a:latin typeface="Cambria Math" panose="02040503050406030204" pitchFamily="18" charset="0"/>
                                        <a:ea typeface="Cambria Math" panose="02040503050406030204" pitchFamily="18" charset="0"/>
                                      </a:rPr>
                                    </m:ctrlPr>
                                  </m:fPr>
                                  <m:num>
                                    <m:r>
                                      <a:rPr lang="en-US" sz="2200">
                                        <a:effectLst/>
                                        <a:latin typeface="Cambria Math" panose="02040503050406030204" pitchFamily="18" charset="0"/>
                                        <a:ea typeface="Cambria Math" panose="02040503050406030204" pitchFamily="18" charset="0"/>
                                      </a:rPr>
                                      <m:t>1</m:t>
                                    </m:r>
                                  </m:num>
                                  <m:den>
                                    <m:r>
                                      <a:rPr lang="en-US" sz="2200">
                                        <a:effectLst/>
                                        <a:latin typeface="Cambria Math" panose="02040503050406030204" pitchFamily="18" charset="0"/>
                                        <a:ea typeface="Cambria Math" panose="02040503050406030204" pitchFamily="18" charset="0"/>
                                      </a:rPr>
                                      <m:t>8</m:t>
                                    </m:r>
                                  </m:den>
                                </m:f>
                                <m:r>
                                  <a:rPr lang="en-US" sz="2200">
                                    <a:effectLst/>
                                    <a:latin typeface="Cambria Math" panose="02040503050406030204" pitchFamily="18" charset="0"/>
                                    <a:ea typeface="Cambria Math" panose="02040503050406030204" pitchFamily="18" charset="0"/>
                                  </a:rPr>
                                  <m:t> + </m:t>
                                </m:r>
                                <m:f>
                                  <m:fPr>
                                    <m:ctrlPr>
                                      <a:rPr lang="en-US" sz="2200" i="1">
                                        <a:effectLst/>
                                        <a:latin typeface="Cambria Math" panose="02040503050406030204" pitchFamily="18" charset="0"/>
                                        <a:ea typeface="Cambria Math" panose="02040503050406030204" pitchFamily="18" charset="0"/>
                                      </a:rPr>
                                    </m:ctrlPr>
                                  </m:fPr>
                                  <m:num>
                                    <m:r>
                                      <a:rPr lang="en-US" sz="2200">
                                        <a:effectLst/>
                                        <a:latin typeface="Cambria Math" panose="02040503050406030204" pitchFamily="18" charset="0"/>
                                        <a:ea typeface="Cambria Math" panose="02040503050406030204" pitchFamily="18" charset="0"/>
                                      </a:rPr>
                                      <m:t>3</m:t>
                                    </m:r>
                                  </m:num>
                                  <m:den>
                                    <m:r>
                                      <a:rPr lang="en-US" sz="2200">
                                        <a:effectLst/>
                                        <a:latin typeface="Cambria Math" panose="02040503050406030204" pitchFamily="18" charset="0"/>
                                        <a:ea typeface="Cambria Math" panose="02040503050406030204" pitchFamily="18" charset="0"/>
                                      </a:rPr>
                                      <m:t>4</m:t>
                                    </m:r>
                                  </m:den>
                                </m:f>
                                <m:d>
                                  <m:dPr>
                                    <m:ctrlPr>
                                      <a:rPr lang="en-US" sz="2200" i="1">
                                        <a:effectLst/>
                                        <a:latin typeface="Cambria Math" panose="02040503050406030204" pitchFamily="18" charset="0"/>
                                        <a:ea typeface="Cambria Math" panose="02040503050406030204" pitchFamily="18" charset="0"/>
                                      </a:rPr>
                                    </m:ctrlPr>
                                  </m:dPr>
                                  <m:e>
                                    <m:f>
                                      <m:fPr>
                                        <m:ctrlPr>
                                          <a:rPr lang="en-US" sz="2200" i="1">
                                            <a:effectLst/>
                                            <a:latin typeface="Cambria Math" panose="02040503050406030204" pitchFamily="18" charset="0"/>
                                            <a:ea typeface="Cambria Math" panose="02040503050406030204" pitchFamily="18" charset="0"/>
                                          </a:rPr>
                                        </m:ctrlPr>
                                      </m:fPr>
                                      <m:num>
                                        <m:r>
                                          <a:rPr lang="en-US" sz="2200">
                                            <a:effectLst/>
                                            <a:latin typeface="Cambria Math" panose="02040503050406030204" pitchFamily="18" charset="0"/>
                                            <a:ea typeface="Cambria Math" panose="02040503050406030204" pitchFamily="18" charset="0"/>
                                          </a:rPr>
                                          <m:t>2</m:t>
                                        </m:r>
                                      </m:num>
                                      <m:den>
                                        <m:r>
                                          <a:rPr lang="en-US" sz="2200">
                                            <a:effectLst/>
                                            <a:latin typeface="Cambria Math" panose="02040503050406030204" pitchFamily="18" charset="0"/>
                                            <a:ea typeface="Cambria Math" panose="02040503050406030204" pitchFamily="18" charset="0"/>
                                          </a:rPr>
                                          <m:t>2</m:t>
                                        </m:r>
                                      </m:den>
                                    </m:f>
                                  </m:e>
                                </m:d>
                                <m:r>
                                  <a:rPr lang="en-US" sz="2200">
                                    <a:effectLst/>
                                    <a:latin typeface="Cambria Math" panose="02040503050406030204" pitchFamily="18" charset="0"/>
                                    <a:ea typeface="Cambria Math" panose="02040503050406030204" pitchFamily="18" charset="0"/>
                                  </a:rPr>
                                  <m:t>= </m:t>
                                </m:r>
                              </m:oMath>
                            </m:oMathPara>
                          </a14:m>
                          <a:endParaRPr lang="en-US" sz="22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200" i="1">
                                        <a:effectLst/>
                                        <a:latin typeface="Cambria Math" panose="02040503050406030204" pitchFamily="18" charset="0"/>
                                        <a:ea typeface="Cambria Math" panose="02040503050406030204" pitchFamily="18" charset="0"/>
                                      </a:rPr>
                                    </m:ctrlPr>
                                  </m:fPr>
                                  <m:num>
                                    <m:r>
                                      <a:rPr lang="en-US" sz="2200">
                                        <a:effectLst/>
                                        <a:latin typeface="Cambria Math" panose="02040503050406030204" pitchFamily="18" charset="0"/>
                                        <a:ea typeface="Cambria Math" panose="02040503050406030204" pitchFamily="18" charset="0"/>
                                      </a:rPr>
                                      <m:t>1</m:t>
                                    </m:r>
                                  </m:num>
                                  <m:den>
                                    <m:r>
                                      <a:rPr lang="en-US" sz="2200">
                                        <a:effectLst/>
                                        <a:latin typeface="Cambria Math" panose="02040503050406030204" pitchFamily="18" charset="0"/>
                                        <a:ea typeface="Cambria Math" panose="02040503050406030204" pitchFamily="18" charset="0"/>
                                      </a:rPr>
                                      <m:t>8</m:t>
                                    </m:r>
                                  </m:den>
                                </m:f>
                                <m:r>
                                  <a:rPr lang="en-US" sz="2200">
                                    <a:effectLst/>
                                    <a:latin typeface="Cambria Math" panose="02040503050406030204" pitchFamily="18" charset="0"/>
                                    <a:ea typeface="Cambria Math" panose="02040503050406030204" pitchFamily="18" charset="0"/>
                                  </a:rPr>
                                  <m:t> + </m:t>
                                </m:r>
                                <m:f>
                                  <m:fPr>
                                    <m:ctrlPr>
                                      <a:rPr lang="en-US" sz="2200" i="1">
                                        <a:effectLst/>
                                        <a:latin typeface="Cambria Math" panose="02040503050406030204" pitchFamily="18" charset="0"/>
                                        <a:ea typeface="Cambria Math" panose="02040503050406030204" pitchFamily="18" charset="0"/>
                                      </a:rPr>
                                    </m:ctrlPr>
                                  </m:fPr>
                                  <m:num>
                                    <m:r>
                                      <a:rPr lang="en-US" sz="2200" b="0" i="0" smtClean="0">
                                        <a:effectLst/>
                                        <a:latin typeface="Cambria Math" panose="02040503050406030204" pitchFamily="18" charset="0"/>
                                        <a:ea typeface="Cambria Math" panose="02040503050406030204" pitchFamily="18" charset="0"/>
                                      </a:rPr>
                                      <m:t>       </m:t>
                                    </m:r>
                                  </m:num>
                                  <m:den>
                                    <m:r>
                                      <a:rPr lang="en-US" sz="2200" b="0" i="0" smtClean="0">
                                        <a:effectLst/>
                                        <a:latin typeface="Cambria Math" panose="02040503050406030204" pitchFamily="18" charset="0"/>
                                        <a:ea typeface="Cambria Math" panose="02040503050406030204" pitchFamily="18" charset="0"/>
                                      </a:rPr>
                                      <m:t> </m:t>
                                    </m:r>
                                  </m:den>
                                </m:f>
                                <m:r>
                                  <a:rPr lang="en-US" sz="2200">
                                    <a:effectLst/>
                                    <a:latin typeface="Cambria Math" panose="02040503050406030204" pitchFamily="18" charset="0"/>
                                    <a:ea typeface="Cambria Math" panose="02040503050406030204" pitchFamily="18" charset="0"/>
                                  </a:rPr>
                                  <m:t> = </m:t>
                                </m:r>
                                <m:f>
                                  <m:fPr>
                                    <m:ctrlPr>
                                      <a:rPr lang="en-US" sz="2200" i="1">
                                        <a:effectLst/>
                                        <a:latin typeface="Cambria Math" panose="02040503050406030204" pitchFamily="18" charset="0"/>
                                        <a:ea typeface="Cambria Math" panose="02040503050406030204" pitchFamily="18" charset="0"/>
                                      </a:rPr>
                                    </m:ctrlPr>
                                  </m:fPr>
                                  <m:num>
                                    <m:r>
                                      <a:rPr lang="en-US" sz="2200" b="0" i="0" smtClean="0">
                                        <a:effectLst/>
                                        <a:latin typeface="Cambria Math" panose="02040503050406030204" pitchFamily="18" charset="0"/>
                                        <a:ea typeface="Cambria Math" panose="02040503050406030204" pitchFamily="18" charset="0"/>
                                      </a:rPr>
                                      <m:t>        </m:t>
                                    </m:r>
                                  </m:num>
                                  <m:den>
                                    <m:r>
                                      <a:rPr lang="en-US" sz="2200" b="0" i="0" smtClean="0">
                                        <a:effectLst/>
                                        <a:latin typeface="Cambria Math" panose="02040503050406030204" pitchFamily="18" charset="0"/>
                                        <a:ea typeface="Cambria Math" panose="02040503050406030204" pitchFamily="18" charset="0"/>
                                      </a:rPr>
                                      <m:t> </m:t>
                                    </m:r>
                                  </m:den>
                                </m:f>
                              </m:oMath>
                            </m:oMathPara>
                          </a14:m>
                          <a:endParaRPr lang="en-US" sz="22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502828774"/>
                  </p:ext>
                </p:extLst>
              </p:nvPr>
            </p:nvGraphicFramePr>
            <p:xfrm>
              <a:off x="1821711" y="1845252"/>
              <a:ext cx="4728718" cy="4243070"/>
            </p:xfrm>
            <a:graphic>
              <a:graphicData uri="http://schemas.openxmlformats.org/drawingml/2006/table">
                <a:tbl>
                  <a:tblPr firstRow="1" firstCol="1" bandRow="1">
                    <a:tableStyleId>{5940675A-B579-460E-94D1-54222C63F5DA}</a:tableStyleId>
                  </a:tblPr>
                  <a:tblGrid>
                    <a:gridCol w="4728718"/>
                  </a:tblGrid>
                  <a:tr h="327025">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Johannes’ Answer</a:t>
                          </a:r>
                        </a:p>
                      </a:txBody>
                      <a:tcPr marL="68580" marR="68580" marT="0" marB="0" anchor="ctr">
                        <a:solidFill>
                          <a:schemeClr val="bg1">
                            <a:lumMod val="75000"/>
                          </a:schemeClr>
                        </a:solidFill>
                      </a:tcPr>
                    </a:tc>
                  </a:tr>
                  <a:tr h="3916045">
                    <a:tc>
                      <a:txBody>
                        <a:bodyPr/>
                        <a:lstStyle/>
                        <a:p>
                          <a:endParaRPr lang="en-US"/>
                        </a:p>
                      </a:txBody>
                      <a:tcPr marL="68580" marR="68580" marT="0" marB="0" anchor="ctr">
                        <a:blipFill rotWithShape="0">
                          <a:blip r:embed="rId5"/>
                          <a:stretch>
                            <a:fillRect l="-129" t="-10731" r="-257" b="-311"/>
                          </a:stretch>
                        </a:blipFill>
                      </a:tcPr>
                    </a:tc>
                  </a:tr>
                </a:tbl>
              </a:graphicData>
            </a:graphic>
          </p:graphicFrame>
        </mc:Fallback>
      </mc:AlternateContent>
      <p:sp>
        <p:nvSpPr>
          <p:cNvPr id="7" name="Rectangle 6"/>
          <p:cNvSpPr/>
          <p:nvPr/>
        </p:nvSpPr>
        <p:spPr>
          <a:xfrm>
            <a:off x="5301361" y="4704985"/>
            <a:ext cx="428879" cy="34915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10"/>
          <p:cNvSpPr/>
          <p:nvPr/>
        </p:nvSpPr>
        <p:spPr>
          <a:xfrm>
            <a:off x="5301361" y="5222077"/>
            <a:ext cx="428879" cy="34915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Rectangle 12"/>
          <p:cNvSpPr/>
          <p:nvPr/>
        </p:nvSpPr>
        <p:spPr>
          <a:xfrm>
            <a:off x="6249400" y="4704985"/>
            <a:ext cx="428879" cy="34915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Rectangle 13"/>
          <p:cNvSpPr/>
          <p:nvPr/>
        </p:nvSpPr>
        <p:spPr>
          <a:xfrm>
            <a:off x="6249400" y="5222077"/>
            <a:ext cx="428879" cy="34915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166</a:t>
            </a:r>
            <a:endParaRPr i="1" dirty="0">
              <a:latin typeface="Calibri"/>
              <a:ea typeface="Calibri"/>
              <a:cs typeface="Calibri"/>
              <a:sym typeface="Calibri"/>
            </a:endParaRPr>
          </a:p>
        </p:txBody>
      </p:sp>
      <p:pic>
        <p:nvPicPr>
          <p:cNvPr id="16"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58838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932432" y="288745"/>
                <a:ext cx="8327136" cy="6222922"/>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 by choosing a word or number from the bank. Not all words and numbers may be used, and some may be used more than once.</a:t>
                </a: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To find the sum of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8</m:t>
                        </m:r>
                      </m:den>
                    </m:f>
                    <m:r>
                      <a:rPr lang="en-US" sz="2000" i="1">
                        <a:latin typeface="Cambria Math" panose="02040503050406030204" pitchFamily="18" charset="0"/>
                        <a:ea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3</m:t>
                        </m:r>
                      </m:num>
                      <m:den>
                        <m:r>
                          <a:rPr lang="en-US" sz="2000" i="1">
                            <a:latin typeface="Cambria Math" panose="02040503050406030204" pitchFamily="18" charset="0"/>
                            <a:ea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Johannes first rewrote</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each fraction using a _____________________.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The ___________________ of </a:t>
                </a:r>
                <a14:m>
                  <m:oMath xmlns:m="http://schemas.openxmlformats.org/officeDocument/2006/math">
                    <m:r>
                      <a:rPr lang="en-US" sz="2000" i="1">
                        <a:latin typeface="Cambria Math" panose="02040503050406030204" pitchFamily="18" charset="0"/>
                        <a:ea typeface="Cambria Math" panose="02040503050406030204" pitchFamily="18"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that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Johannes used was ____. Then, she added the two</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_______________  together to find the total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number of _______________.</a:t>
                </a:r>
              </a:p>
            </p:txBody>
          </p:sp>
        </mc:Choice>
        <mc:Fallback xmlns="">
          <p:sp>
            <p:nvSpPr>
              <p:cNvPr id="5" name="TextBox 4">
                <a:extLst>
                  <a:ext uri="{FF2B5EF4-FFF2-40B4-BE49-F238E27FC236}">
                    <a16:creationId xmlns:a16="http://schemas.microsoft.com/office/drawing/2014/main" xmlns="" id="{8AE5E1E0-A54D-BE42-84B5-F917038ADE99}"/>
                  </a:ext>
                </a:extLst>
              </p:cNvPr>
              <p:cNvSpPr txBox="1">
                <a:spLocks noRot="1" noChangeAspect="1" noMove="1" noResize="1" noEditPoints="1" noAdjustHandles="1" noChangeArrowheads="1" noChangeShapeType="1" noTextEdit="1"/>
              </p:cNvSpPr>
              <p:nvPr/>
            </p:nvSpPr>
            <p:spPr>
              <a:xfrm>
                <a:off x="408432" y="288745"/>
                <a:ext cx="8327136" cy="6222922"/>
              </a:xfrm>
              <a:prstGeom prst="rect">
                <a:avLst/>
              </a:prstGeom>
              <a:blipFill rotWithShape="0">
                <a:blip r:embed="rId4"/>
                <a:stretch>
                  <a:fillRect t="-588" r="-1611" b="-784"/>
                </a:stretch>
              </a:blipFill>
            </p:spPr>
            <p:txBody>
              <a:bodyPr/>
              <a:lstStyle/>
              <a:p>
                <a:r>
                  <a:rPr lang="en-US">
                    <a:noFill/>
                  </a:rPr>
                  <a:t> </a:t>
                </a:r>
              </a:p>
            </p:txBody>
          </p:sp>
        </mc:Fallback>
      </mc:AlternateContent>
      <p:pic>
        <p:nvPicPr>
          <p:cNvPr id="8" name="Picture 7" descr="Chart&#10;&#10;Description automatically generated with medium confidence">
            <a:extLst>
              <a:ext uri="{FF2B5EF4-FFF2-40B4-BE49-F238E27FC236}">
                <a16:creationId xmlns:a16="http://schemas.microsoft.com/office/drawing/2014/main" id="{286FB618-2686-9041-907E-C8C8637A6AE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038476" y="1259779"/>
            <a:ext cx="6448425" cy="1701189"/>
          </a:xfrm>
          <a:prstGeom prst="rect">
            <a:avLst/>
          </a:prstGeom>
        </p:spPr>
      </p:pic>
      <p:sp>
        <p:nvSpPr>
          <p:cNvPr id="9"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166</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6841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6919" y="9144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11.1.3 Try It: Adding Positive Rational Numbers</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07111" y="37939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AB6A3A1-5A0D-C84F-AC89-57E6782F43E5}"/>
              </a:ext>
            </a:extLst>
          </p:cNvPr>
          <p:cNvSpPr txBox="1"/>
          <p:nvPr/>
        </p:nvSpPr>
        <p:spPr>
          <a:xfrm>
            <a:off x="1456919" y="1386025"/>
            <a:ext cx="9534194" cy="5016758"/>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Match pairs of expressions that have the same sum. Write the equivalent expressions on the lines provided.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p>
          <a:p>
            <a:pPr algn="ctr"/>
            <a:r>
              <a:rPr lang="en-US" sz="2000" dirty="0">
                <a:latin typeface="Cambria Math" panose="02040503050406030204" pitchFamily="18" charset="0"/>
                <a:ea typeface="Cambria Math" panose="02040503050406030204" pitchFamily="18" charset="0"/>
              </a:rPr>
              <a:t>____________________ = ____________________</a:t>
            </a:r>
          </a:p>
          <a:p>
            <a:pPr algn="ctr"/>
            <a:r>
              <a:rPr lang="en-US" sz="2000" dirty="0">
                <a:latin typeface="Cambria Math" panose="02040503050406030204" pitchFamily="18" charset="0"/>
                <a:ea typeface="Cambria Math" panose="02040503050406030204" pitchFamily="18" charset="0"/>
              </a:rPr>
              <a:t> </a:t>
            </a:r>
          </a:p>
          <a:p>
            <a:pPr algn="ctr"/>
            <a:r>
              <a:rPr lang="en-US" sz="2000" dirty="0">
                <a:latin typeface="Cambria Math" panose="02040503050406030204" pitchFamily="18" charset="0"/>
                <a:ea typeface="Cambria Math" panose="02040503050406030204" pitchFamily="18" charset="0"/>
              </a:rPr>
              <a:t>____________________ = ____________________</a:t>
            </a:r>
          </a:p>
          <a:p>
            <a:pPr algn="ctr"/>
            <a:r>
              <a:rPr lang="en-US" sz="2000" dirty="0">
                <a:latin typeface="Cambria Math" panose="02040503050406030204" pitchFamily="18" charset="0"/>
                <a:ea typeface="Cambria Math" panose="02040503050406030204" pitchFamily="18" charset="0"/>
              </a:rPr>
              <a:t> </a:t>
            </a:r>
          </a:p>
          <a:p>
            <a:pPr algn="ctr"/>
            <a:r>
              <a:rPr lang="en-US" sz="2000" dirty="0">
                <a:latin typeface="Cambria Math" panose="02040503050406030204" pitchFamily="18" charset="0"/>
                <a:ea typeface="Cambria Math" panose="02040503050406030204" pitchFamily="18" charset="0"/>
              </a:rPr>
              <a:t>____________________ = ____________________</a:t>
            </a:r>
            <a:endParaRPr lang="en-US" sz="2000" dirty="0">
              <a:latin typeface="Cambria Math" panose="02040503050406030204" pitchFamily="18" charset="0"/>
              <a:ea typeface="Cambria Math" panose="02040503050406030204" pitchFamily="18"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054206856"/>
                  </p:ext>
                </p:extLst>
              </p:nvPr>
            </p:nvGraphicFramePr>
            <p:xfrm>
              <a:off x="3778790" y="2198080"/>
              <a:ext cx="4890452" cy="2166750"/>
            </p:xfrm>
            <a:graphic>
              <a:graphicData uri="http://schemas.openxmlformats.org/drawingml/2006/table">
                <a:tbl>
                  <a:tblPr firstRow="1" firstCol="1" bandRow="1">
                    <a:tableStyleId>{5940675A-B579-460E-94D1-54222C63F5DA}</a:tableStyleId>
                  </a:tblPr>
                  <a:tblGrid>
                    <a:gridCol w="1633171">
                      <a:extLst>
                        <a:ext uri="{9D8B030D-6E8A-4147-A177-3AD203B41FA5}">
                          <a16:colId xmlns:a16="http://schemas.microsoft.com/office/drawing/2014/main" val="20000"/>
                        </a:ext>
                      </a:extLst>
                    </a:gridCol>
                    <a:gridCol w="1646762">
                      <a:extLst>
                        <a:ext uri="{9D8B030D-6E8A-4147-A177-3AD203B41FA5}">
                          <a16:colId xmlns:a16="http://schemas.microsoft.com/office/drawing/2014/main" val="20001"/>
                        </a:ext>
                      </a:extLst>
                    </a:gridCol>
                    <a:gridCol w="1610519">
                      <a:extLst>
                        <a:ext uri="{9D8B030D-6E8A-4147-A177-3AD203B41FA5}">
                          <a16:colId xmlns:a16="http://schemas.microsoft.com/office/drawing/2014/main" val="20002"/>
                        </a:ext>
                      </a:extLst>
                    </a:gridCol>
                  </a:tblGrid>
                  <a:tr h="108337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4</m:t>
                                    </m:r>
                                  </m:den>
                                </m:f>
                                <m:r>
                                  <a:rPr lang="en-US" sz="2000">
                                    <a:effectLst/>
                                    <a:latin typeface="Cambria Math" panose="02040503050406030204" pitchFamily="18" charset="0"/>
                                    <a:ea typeface="Cambria Math" panose="02040503050406030204" pitchFamily="18" charset="0"/>
                                  </a:rPr>
                                  <m:t> +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8</m:t>
                                    </m:r>
                                  </m:den>
                                </m:f>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3</m:t>
                                    </m:r>
                                  </m:den>
                                </m:f>
                                <m:r>
                                  <a:rPr lang="en-US" sz="2000">
                                    <a:effectLst/>
                                    <a:latin typeface="Cambria Math" panose="02040503050406030204" pitchFamily="18" charset="0"/>
                                    <a:ea typeface="Cambria Math" panose="02040503050406030204" pitchFamily="18" charset="0"/>
                                  </a:rPr>
                                  <m:t> +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5</m:t>
                                    </m:r>
                                  </m:den>
                                </m:f>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3</m:t>
                                    </m:r>
                                  </m:den>
                                </m:f>
                                <m:r>
                                  <a:rPr lang="en-US" sz="2000">
                                    <a:effectLst/>
                                    <a:latin typeface="Cambria Math" panose="02040503050406030204" pitchFamily="18" charset="0"/>
                                    <a:ea typeface="Cambria Math" panose="02040503050406030204" pitchFamily="18" charset="0"/>
                                  </a:rPr>
                                  <m:t> +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7</m:t>
                                    </m:r>
                                  </m:num>
                                  <m:den>
                                    <m:r>
                                      <a:rPr lang="en-US" sz="2000">
                                        <a:effectLst/>
                                        <a:latin typeface="Cambria Math" panose="02040503050406030204" pitchFamily="18" charset="0"/>
                                        <a:ea typeface="Cambria Math" panose="02040503050406030204" pitchFamily="18" charset="0"/>
                                      </a:rPr>
                                      <m:t>18</m:t>
                                    </m:r>
                                  </m:den>
                                </m:f>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108337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5</m:t>
                                    </m:r>
                                  </m:num>
                                  <m:den>
                                    <m:r>
                                      <a:rPr lang="en-US" sz="2000">
                                        <a:effectLst/>
                                        <a:latin typeface="Cambria Math" panose="02040503050406030204" pitchFamily="18" charset="0"/>
                                        <a:ea typeface="Cambria Math" panose="02040503050406030204" pitchFamily="18" charset="0"/>
                                      </a:rPr>
                                      <m:t>9</m:t>
                                    </m:r>
                                  </m:den>
                                </m:f>
                                <m:r>
                                  <a:rPr lang="en-US" sz="2000">
                                    <a:effectLst/>
                                    <a:latin typeface="Cambria Math" panose="02040503050406030204" pitchFamily="18" charset="0"/>
                                    <a:ea typeface="Cambria Math" panose="02040503050406030204" pitchFamily="18" charset="0"/>
                                  </a:rPr>
                                  <m:t> +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15</m:t>
                                    </m:r>
                                  </m:num>
                                  <m:den>
                                    <m:r>
                                      <a:rPr lang="en-US" sz="2000">
                                        <a:effectLst/>
                                        <a:latin typeface="Cambria Math" panose="02040503050406030204" pitchFamily="18" charset="0"/>
                                        <a:ea typeface="Cambria Math" panose="02040503050406030204" pitchFamily="18" charset="0"/>
                                      </a:rPr>
                                      <m:t>15</m:t>
                                    </m:r>
                                  </m:den>
                                </m:f>
                                <m:r>
                                  <a:rPr lang="en-US" sz="2000">
                                    <a:effectLst/>
                                    <a:latin typeface="Cambria Math" panose="02040503050406030204" pitchFamily="18" charset="0"/>
                                    <a:ea typeface="Cambria Math" panose="02040503050406030204" pitchFamily="18" charset="0"/>
                                  </a:rPr>
                                  <m:t> +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8</m:t>
                                    </m:r>
                                  </m:num>
                                  <m:den>
                                    <m:r>
                                      <a:rPr lang="en-US" sz="2000">
                                        <a:effectLst/>
                                        <a:latin typeface="Cambria Math" panose="02040503050406030204" pitchFamily="18" charset="0"/>
                                        <a:ea typeface="Cambria Math" panose="02040503050406030204" pitchFamily="18" charset="0"/>
                                      </a:rPr>
                                      <m:t>30</m:t>
                                    </m:r>
                                  </m:den>
                                </m:f>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12</m:t>
                                    </m:r>
                                  </m:num>
                                  <m:den>
                                    <m:r>
                                      <a:rPr lang="en-US" sz="2000">
                                        <a:effectLst/>
                                        <a:latin typeface="Cambria Math" panose="02040503050406030204" pitchFamily="18" charset="0"/>
                                        <a:ea typeface="Cambria Math" panose="02040503050406030204" pitchFamily="18" charset="0"/>
                                      </a:rPr>
                                      <m:t>16</m:t>
                                    </m:r>
                                  </m:den>
                                </m:f>
                                <m:r>
                                  <a:rPr lang="en-US" sz="2000">
                                    <a:effectLst/>
                                    <a:latin typeface="Cambria Math" panose="02040503050406030204" pitchFamily="18" charset="0"/>
                                    <a:ea typeface="Cambria Math" panose="02040503050406030204" pitchFamily="18" charset="0"/>
                                  </a:rPr>
                                  <m:t> +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054206856"/>
                  </p:ext>
                </p:extLst>
              </p:nvPr>
            </p:nvGraphicFramePr>
            <p:xfrm>
              <a:off x="2254790" y="2198080"/>
              <a:ext cx="4890452" cy="2166750"/>
            </p:xfrm>
            <a:graphic>
              <a:graphicData uri="http://schemas.openxmlformats.org/drawingml/2006/table">
                <a:tbl>
                  <a:tblPr firstRow="1" firstCol="1" bandRow="1">
                    <a:tableStyleId>{5940675A-B579-460E-94D1-54222C63F5DA}</a:tableStyleId>
                  </a:tblPr>
                  <a:tblGrid>
                    <a:gridCol w="1633171"/>
                    <a:gridCol w="1646762"/>
                    <a:gridCol w="1610519"/>
                  </a:tblGrid>
                  <a:tr h="1083375">
                    <a:tc>
                      <a:txBody>
                        <a:bodyPr/>
                        <a:lstStyle/>
                        <a:p>
                          <a:endParaRPr lang="en-US"/>
                        </a:p>
                      </a:txBody>
                      <a:tcPr marL="68580" marR="68580" marT="0" marB="0" anchor="ctr">
                        <a:blipFill rotWithShape="0">
                          <a:blip r:embed="rId5"/>
                          <a:stretch>
                            <a:fillRect l="-373" t="-559" r="-200746" b="-100559"/>
                          </a:stretch>
                        </a:blipFill>
                      </a:tcPr>
                    </a:tc>
                    <a:tc>
                      <a:txBody>
                        <a:bodyPr/>
                        <a:lstStyle/>
                        <a:p>
                          <a:endParaRPr lang="en-US"/>
                        </a:p>
                      </a:txBody>
                      <a:tcPr marL="68580" marR="68580" marT="0" marB="0" anchor="ctr">
                        <a:blipFill rotWithShape="0">
                          <a:blip r:embed="rId5"/>
                          <a:stretch>
                            <a:fillRect l="-99262" t="-559" r="-98524" b="-100559"/>
                          </a:stretch>
                        </a:blipFill>
                      </a:tcPr>
                    </a:tc>
                    <a:tc>
                      <a:txBody>
                        <a:bodyPr/>
                        <a:lstStyle/>
                        <a:p>
                          <a:endParaRPr lang="en-US"/>
                        </a:p>
                      </a:txBody>
                      <a:tcPr marL="68580" marR="68580" marT="0" marB="0" anchor="ctr">
                        <a:blipFill rotWithShape="0">
                          <a:blip r:embed="rId5"/>
                          <a:stretch>
                            <a:fillRect l="-203774" t="-559" r="-755" b="-100559"/>
                          </a:stretch>
                        </a:blipFill>
                      </a:tcPr>
                    </a:tc>
                  </a:tr>
                  <a:tr h="1083375">
                    <a:tc>
                      <a:txBody>
                        <a:bodyPr/>
                        <a:lstStyle/>
                        <a:p>
                          <a:endParaRPr lang="en-US"/>
                        </a:p>
                      </a:txBody>
                      <a:tcPr marL="68580" marR="68580" marT="0" marB="0" anchor="ctr">
                        <a:blipFill rotWithShape="0">
                          <a:blip r:embed="rId5"/>
                          <a:stretch>
                            <a:fillRect l="-373" t="-101124" r="-200746" b="-1124"/>
                          </a:stretch>
                        </a:blipFill>
                      </a:tcPr>
                    </a:tc>
                    <a:tc>
                      <a:txBody>
                        <a:bodyPr/>
                        <a:lstStyle/>
                        <a:p>
                          <a:endParaRPr lang="en-US"/>
                        </a:p>
                      </a:txBody>
                      <a:tcPr marL="68580" marR="68580" marT="0" marB="0" anchor="ctr">
                        <a:blipFill rotWithShape="0">
                          <a:blip r:embed="rId5"/>
                          <a:stretch>
                            <a:fillRect l="-99262" t="-101124" r="-98524" b="-1124"/>
                          </a:stretch>
                        </a:blipFill>
                      </a:tcPr>
                    </a:tc>
                    <a:tc>
                      <a:txBody>
                        <a:bodyPr/>
                        <a:lstStyle/>
                        <a:p>
                          <a:endParaRPr lang="en-US"/>
                        </a:p>
                      </a:txBody>
                      <a:tcPr marL="68580" marR="68580" marT="0" marB="0" anchor="ctr">
                        <a:blipFill rotWithShape="0">
                          <a:blip r:embed="rId5"/>
                          <a:stretch>
                            <a:fillRect l="-203774" t="-101124" r="-755" b="-1124"/>
                          </a:stretch>
                        </a:blipFill>
                      </a:tcPr>
                    </a:tc>
                  </a:tr>
                </a:tbl>
              </a:graphicData>
            </a:graphic>
          </p:graphicFrame>
        </mc:Fallback>
      </mc:AlternateContent>
      <p:sp>
        <p:nvSpPr>
          <p:cNvPr id="12"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167</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pic>
        <p:nvPicPr>
          <p:cNvPr id="11266" name="Picture 2" descr="Icon&#10;&#10;Description automatically generated">
            <a:extLst>
              <a:ext uri="{FF2B5EF4-FFF2-40B4-BE49-F238E27FC236}">
                <a16:creationId xmlns:a16="http://schemas.microsoft.com/office/drawing/2014/main" id="{8E68AE2B-31C4-664C-9668-81B7C1673C9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492434"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62107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2838"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24096" y="-1385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11.1.4 Refresher: Operations with Integers</a:t>
            </a:r>
          </a:p>
        </p:txBody>
      </p:sp>
      <p:pic>
        <p:nvPicPr>
          <p:cNvPr id="9" name="Picture 2" descr="Icon&#10;&#10;Description automatically generated">
            <a:extLst>
              <a:ext uri="{FF2B5EF4-FFF2-40B4-BE49-F238E27FC236}">
                <a16:creationId xmlns:a16="http://schemas.microsoft.com/office/drawing/2014/main" id="{522B94A7-8145-AF4C-A130-4689EF537FB7}"/>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34467" y="20093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DC51FF2-AD43-3B4B-B9DE-330920D33388}"/>
              </a:ext>
            </a:extLst>
          </p:cNvPr>
          <p:cNvSpPr txBox="1"/>
          <p:nvPr/>
        </p:nvSpPr>
        <p:spPr>
          <a:xfrm>
            <a:off x="1324096" y="1386026"/>
            <a:ext cx="9799840" cy="769441"/>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Work with your partner to complete the table. The first addition expression has been done for you.</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398317175"/>
                  </p:ext>
                </p:extLst>
              </p:nvPr>
            </p:nvGraphicFramePr>
            <p:xfrm>
              <a:off x="2105125" y="2371550"/>
              <a:ext cx="7723162" cy="3800158"/>
            </p:xfrm>
            <a:graphic>
              <a:graphicData uri="http://schemas.openxmlformats.org/drawingml/2006/table">
                <a:tbl>
                  <a:tblPr firstRow="1" firstCol="1" bandRow="1">
                    <a:tableStyleId>{5940675A-B579-460E-94D1-54222C63F5DA}</a:tableStyleId>
                  </a:tblPr>
                  <a:tblGrid>
                    <a:gridCol w="1750150">
                      <a:extLst>
                        <a:ext uri="{9D8B030D-6E8A-4147-A177-3AD203B41FA5}">
                          <a16:colId xmlns:a16="http://schemas.microsoft.com/office/drawing/2014/main" val="20000"/>
                        </a:ext>
                      </a:extLst>
                    </a:gridCol>
                    <a:gridCol w="1435744">
                      <a:extLst>
                        <a:ext uri="{9D8B030D-6E8A-4147-A177-3AD203B41FA5}">
                          <a16:colId xmlns:a16="http://schemas.microsoft.com/office/drawing/2014/main" val="20001"/>
                        </a:ext>
                      </a:extLst>
                    </a:gridCol>
                    <a:gridCol w="1435744">
                      <a:extLst>
                        <a:ext uri="{9D8B030D-6E8A-4147-A177-3AD203B41FA5}">
                          <a16:colId xmlns:a16="http://schemas.microsoft.com/office/drawing/2014/main" val="20002"/>
                        </a:ext>
                      </a:extLst>
                    </a:gridCol>
                    <a:gridCol w="1435744">
                      <a:extLst>
                        <a:ext uri="{9D8B030D-6E8A-4147-A177-3AD203B41FA5}">
                          <a16:colId xmlns:a16="http://schemas.microsoft.com/office/drawing/2014/main" val="20003"/>
                        </a:ext>
                      </a:extLst>
                    </a:gridCol>
                    <a:gridCol w="802603">
                      <a:extLst>
                        <a:ext uri="{9D8B030D-6E8A-4147-A177-3AD203B41FA5}">
                          <a16:colId xmlns:a16="http://schemas.microsoft.com/office/drawing/2014/main" val="20004"/>
                        </a:ext>
                      </a:extLst>
                    </a:gridCol>
                    <a:gridCol w="863177">
                      <a:extLst>
                        <a:ext uri="{9D8B030D-6E8A-4147-A177-3AD203B41FA5}">
                          <a16:colId xmlns:a16="http://schemas.microsoft.com/office/drawing/2014/main" val="20005"/>
                        </a:ext>
                      </a:extLst>
                    </a:gridCol>
                  </a:tblGrid>
                  <a:tr h="158242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Absolute Value of First Addend</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Absolute Value of Second Addend</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Addend With Greater Absolute Value</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Sign of Sum</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Sum</a:t>
                          </a:r>
                        </a:p>
                      </a:txBody>
                      <a:tcPr marL="68580" marR="68580" marT="0" marB="0" anchor="ctr">
                        <a:solidFill>
                          <a:schemeClr val="bg1">
                            <a:lumMod val="75000"/>
                          </a:schemeClr>
                        </a:solidFill>
                      </a:tcPr>
                    </a:tc>
                    <a:extLst>
                      <a:ext uri="{0D108BD9-81ED-4DB2-BD59-A6C34878D82A}">
                        <a16:rowId xmlns:a16="http://schemas.microsoft.com/office/drawing/2014/main" val="10000"/>
                      </a:ext>
                    </a:extLst>
                  </a:tr>
                  <a:tr h="56388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10</m:t>
                                        </m:r>
                                      </m:e>
                                    </m:sPre>
                                  </m:e>
                                </m:d>
                                <m:r>
                                  <a:rPr lang="en-US" sz="2000">
                                    <a:effectLst/>
                                    <a:latin typeface="Cambria Math" panose="02040503050406030204" pitchFamily="18" charset="0"/>
                                    <a:ea typeface="Cambria Math" panose="02040503050406030204" pitchFamily="18" charset="0"/>
                                  </a:rPr>
                                  <m:t>+6</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10</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6</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Pre>
                                  <m:sPrePr>
                                    <m:ctrlPr>
                                      <a:rPr lang="en-US" sz="2000" i="1" smtClean="0">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10</m:t>
                                    </m:r>
                                  </m:e>
                                </m:sPre>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Pre>
                                  <m:sPrePr>
                                    <m:ctrlPr>
                                      <a:rPr lang="en-US" sz="2000" i="1" smtClean="0">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4</m:t>
                                    </m:r>
                                  </m:e>
                                </m:sPre>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54483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effectLst/>
                                    <a:latin typeface="Cambria Math" panose="02040503050406030204" pitchFamily="18" charset="0"/>
                                    <a:ea typeface="Cambria Math" panose="02040503050406030204" pitchFamily="18" charset="0"/>
                                  </a:rPr>
                                  <m:t>10+</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6</m:t>
                                        </m:r>
                                      </m:e>
                                    </m:sPre>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56388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10</m:t>
                                        </m:r>
                                      </m:e>
                                    </m:sPre>
                                  </m:e>
                                </m:d>
                                <m:r>
                                  <a:rPr lang="en-US" sz="2000">
                                    <a:effectLst/>
                                    <a:latin typeface="Cambria Math" panose="02040503050406030204" pitchFamily="18" charset="0"/>
                                    <a:ea typeface="Cambria Math" panose="02040503050406030204" pitchFamily="18" charset="0"/>
                                  </a:rPr>
                                  <m:t>+</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6</m:t>
                                        </m:r>
                                      </m:e>
                                    </m:sPre>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52578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10+6</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398317175"/>
                  </p:ext>
                </p:extLst>
              </p:nvPr>
            </p:nvGraphicFramePr>
            <p:xfrm>
              <a:off x="581125" y="2371550"/>
              <a:ext cx="7723162" cy="3829050"/>
            </p:xfrm>
            <a:graphic>
              <a:graphicData uri="http://schemas.openxmlformats.org/drawingml/2006/table">
                <a:tbl>
                  <a:tblPr firstRow="1" firstCol="1" bandRow="1">
                    <a:tableStyleId>{5940675A-B579-460E-94D1-54222C63F5DA}</a:tableStyleId>
                  </a:tblPr>
                  <a:tblGrid>
                    <a:gridCol w="1750150"/>
                    <a:gridCol w="1435744"/>
                    <a:gridCol w="1435744"/>
                    <a:gridCol w="1435744"/>
                    <a:gridCol w="802603"/>
                    <a:gridCol w="863177"/>
                  </a:tblGrid>
                  <a:tr h="163068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Absolute Value of First Addend</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Absolute Value of Second Addend</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Addend With Greater Absolute Value</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Sign of Sum</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Sum</a:t>
                          </a:r>
                        </a:p>
                      </a:txBody>
                      <a:tcPr marL="68580" marR="68580" marT="0" marB="0" anchor="ctr">
                        <a:solidFill>
                          <a:schemeClr val="bg1">
                            <a:lumMod val="75000"/>
                          </a:schemeClr>
                        </a:solidFill>
                      </a:tcPr>
                    </a:tc>
                  </a:tr>
                  <a:tr h="563880">
                    <a:tc>
                      <a:txBody>
                        <a:bodyPr/>
                        <a:lstStyle/>
                        <a:p>
                          <a:endParaRPr lang="en-US"/>
                        </a:p>
                      </a:txBody>
                      <a:tcPr marL="68580" marR="68580" marT="0" marB="0" anchor="ctr">
                        <a:blipFill rotWithShape="0">
                          <a:blip r:embed="rId5"/>
                          <a:stretch>
                            <a:fillRect l="-348" t="-303226" r="-342509" b="-290323"/>
                          </a:stretch>
                        </a:blipFill>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10</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6</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rotWithShape="0">
                          <a:blip r:embed="rId5"/>
                          <a:stretch>
                            <a:fillRect l="-322034" t="-303226" r="-116525" b="-290323"/>
                          </a:stretch>
                        </a:blipFill>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rotWithShape="0">
                          <a:blip r:embed="rId5"/>
                          <a:stretch>
                            <a:fillRect l="-793662" t="-303226" r="-1408" b="-290323"/>
                          </a:stretch>
                        </a:blipFill>
                      </a:tcPr>
                    </a:tc>
                  </a:tr>
                  <a:tr h="544830">
                    <a:tc>
                      <a:txBody>
                        <a:bodyPr/>
                        <a:lstStyle/>
                        <a:p>
                          <a:endParaRPr lang="en-US"/>
                        </a:p>
                      </a:txBody>
                      <a:tcPr marL="68580" marR="68580" marT="0" marB="0" anchor="ctr">
                        <a:blipFill rotWithShape="0">
                          <a:blip r:embed="rId5"/>
                          <a:stretch>
                            <a:fillRect l="-348" t="-421348" r="-342509" b="-203371"/>
                          </a:stretch>
                        </a:blipFill>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r>
                  <a:tr h="563880">
                    <a:tc>
                      <a:txBody>
                        <a:bodyPr/>
                        <a:lstStyle/>
                        <a:p>
                          <a:endParaRPr lang="en-US"/>
                        </a:p>
                      </a:txBody>
                      <a:tcPr marL="68580" marR="68580" marT="0" marB="0" anchor="ctr">
                        <a:blipFill rotWithShape="0">
                          <a:blip r:embed="rId5"/>
                          <a:stretch>
                            <a:fillRect l="-348" t="-498925" r="-342509" b="-94624"/>
                          </a:stretch>
                        </a:blipFill>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r>
                  <a:tr h="525780">
                    <a:tc>
                      <a:txBody>
                        <a:bodyPr/>
                        <a:lstStyle/>
                        <a:p>
                          <a:endParaRPr lang="en-US"/>
                        </a:p>
                      </a:txBody>
                      <a:tcPr marL="68580" marR="68580" marT="0" marB="0" anchor="ctr">
                        <a:blipFill rotWithShape="0">
                          <a:blip r:embed="rId5"/>
                          <a:stretch>
                            <a:fillRect l="-348" t="-647674" r="-342509" b="-2326"/>
                          </a:stretch>
                        </a:blipFill>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r>
                </a:tbl>
              </a:graphicData>
            </a:graphic>
          </p:graphicFrame>
        </mc:Fallback>
      </mc:AlternateContent>
      <p:sp>
        <p:nvSpPr>
          <p:cNvPr id="12"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167</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64029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1069145" y="288746"/>
            <a:ext cx="10053710" cy="3139321"/>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How did the size of the absolute value for each addend determine the sign of the sum?</a:t>
            </a: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Explain how finding the sum for the first two expressions was different from finding the sum for the last two expressions. </a:t>
            </a:r>
          </a:p>
        </p:txBody>
      </p:sp>
      <p:sp>
        <p:nvSpPr>
          <p:cNvPr id="7"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167</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36104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1026942" y="349706"/>
                <a:ext cx="10138116" cy="5523948"/>
              </a:xfrm>
              <a:prstGeom prst="rect">
                <a:avLst/>
              </a:prstGeom>
              <a:noFill/>
            </p:spPr>
            <p:txBody>
              <a:bodyPr wrap="square" rtlCol="0">
                <a:spAutoFit/>
              </a:bodyPr>
              <a:lstStyle/>
              <a:p>
                <a:pPr marL="457200" indent="-457200">
                  <a:buFont typeface="+mj-lt"/>
                  <a:buAutoNum type="arabicPeriod" startAt="4"/>
                </a:pPr>
                <a:r>
                  <a:rPr lang="en-US" sz="2200" dirty="0">
                    <a:latin typeface="Verdana" panose="020B0604030504040204" pitchFamily="34" charset="0"/>
                    <a:ea typeface="Verdana" panose="020B0604030504040204" pitchFamily="34" charset="0"/>
                    <a:cs typeface="Verdana" panose="020B0604030504040204" pitchFamily="34" charset="0"/>
                  </a:rPr>
                  <a:t>How were the sums for </a:t>
                </a:r>
                <a14:m>
                  <m:oMath xmlns:m="http://schemas.openxmlformats.org/officeDocument/2006/math">
                    <m:r>
                      <a:rPr lang="en-US" sz="2200">
                        <a:latin typeface="Cambria Math" panose="02040503050406030204" pitchFamily="18" charset="0"/>
                        <a:ea typeface="Cambria Math" panose="02040503050406030204" pitchFamily="18" charset="0"/>
                      </a:rPr>
                      <m:t>10+</m:t>
                    </m:r>
                    <m:d>
                      <m:dPr>
                        <m:ctrlPr>
                          <a:rPr lang="en-US" sz="2200" i="1">
                            <a:latin typeface="Cambria Math" panose="02040503050406030204" pitchFamily="18" charset="0"/>
                            <a:ea typeface="Cambria Math" panose="02040503050406030204" pitchFamily="18" charset="0"/>
                          </a:rPr>
                        </m:ctrlPr>
                      </m:dPr>
                      <m:e>
                        <m:sPre>
                          <m:sPrePr>
                            <m:ctrlPr>
                              <a:rPr lang="en-US" sz="2200" i="1">
                                <a:latin typeface="Cambria Math" panose="02040503050406030204" pitchFamily="18" charset="0"/>
                                <a:ea typeface="Cambria Math" panose="02040503050406030204" pitchFamily="18" charset="0"/>
                              </a:rPr>
                            </m:ctrlPr>
                          </m:sPrePr>
                          <m:sub/>
                          <m:sup>
                            <m:r>
                              <a:rPr lang="en-US" sz="2200" i="1">
                                <a:latin typeface="Cambria Math" panose="02040503050406030204" pitchFamily="18" charset="0"/>
                                <a:ea typeface="Cambria Math" panose="02040503050406030204" pitchFamily="18" charset="0"/>
                              </a:rPr>
                              <m:t>−</m:t>
                            </m:r>
                          </m:sup>
                          <m:e>
                            <m:r>
                              <a:rPr lang="en-US" sz="2200" i="1">
                                <a:latin typeface="Cambria Math" panose="02040503050406030204" pitchFamily="18" charset="0"/>
                                <a:ea typeface="Cambria Math" panose="02040503050406030204" pitchFamily="18" charset="0"/>
                              </a:rPr>
                              <m:t>6</m:t>
                            </m:r>
                          </m:e>
                        </m:sPre>
                      </m:e>
                    </m:d>
                  </m:oMath>
                </a14:m>
                <a:r>
                  <a:rPr lang="en-US" sz="22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d>
                      <m:dPr>
                        <m:ctrlPr>
                          <a:rPr lang="en-US" sz="2200" i="1">
                            <a:latin typeface="Cambria Math" panose="02040503050406030204" pitchFamily="18" charset="0"/>
                            <a:ea typeface="Cambria Math" panose="02040503050406030204" pitchFamily="18" charset="0"/>
                          </a:rPr>
                        </m:ctrlPr>
                      </m:dPr>
                      <m:e>
                        <m:sPre>
                          <m:sPrePr>
                            <m:ctrlPr>
                              <a:rPr lang="en-US" sz="2200" i="1">
                                <a:latin typeface="Cambria Math" panose="02040503050406030204" pitchFamily="18" charset="0"/>
                                <a:ea typeface="Cambria Math" panose="02040503050406030204" pitchFamily="18" charset="0"/>
                              </a:rPr>
                            </m:ctrlPr>
                          </m:sPrePr>
                          <m:sub/>
                          <m:sup>
                            <m:r>
                              <a:rPr lang="en-US" sz="2200" i="1">
                                <a:latin typeface="Cambria Math" panose="02040503050406030204" pitchFamily="18" charset="0"/>
                                <a:ea typeface="Cambria Math" panose="02040503050406030204" pitchFamily="18" charset="0"/>
                              </a:rPr>
                              <m:t>−</m:t>
                            </m:r>
                          </m:sup>
                          <m:e>
                            <m:r>
                              <a:rPr lang="en-US" sz="2200" i="1">
                                <a:latin typeface="Cambria Math" panose="02040503050406030204" pitchFamily="18" charset="0"/>
                                <a:ea typeface="Cambria Math" panose="02040503050406030204" pitchFamily="18" charset="0"/>
                              </a:rPr>
                              <m:t>10</m:t>
                            </m:r>
                          </m:e>
                        </m:sPre>
                      </m:e>
                    </m:d>
                    <m:r>
                      <a:rPr lang="en-US" sz="2200" i="1">
                        <a:latin typeface="Cambria Math" panose="02040503050406030204" pitchFamily="18" charset="0"/>
                        <a:ea typeface="Cambria Math" panose="02040503050406030204" pitchFamily="18" charset="0"/>
                      </a:rPr>
                      <m:t>+6</m:t>
                    </m:r>
                  </m:oMath>
                </a14:m>
                <a:r>
                  <a:rPr lang="en-US" sz="2200" dirty="0">
                    <a:latin typeface="Verdana" panose="020B0604030504040204" pitchFamily="34" charset="0"/>
                    <a:ea typeface="Verdana" panose="020B0604030504040204" pitchFamily="34" charset="0"/>
                    <a:cs typeface="Verdana" panose="020B0604030504040204" pitchFamily="34" charset="0"/>
                  </a:rPr>
                  <a:t> similar?</a:t>
                </a: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200" dirty="0">
                    <a:latin typeface="Verdana" panose="020B0604030504040204" pitchFamily="34" charset="0"/>
                    <a:ea typeface="Verdana" panose="020B0604030504040204" pitchFamily="34" charset="0"/>
                    <a:cs typeface="Verdana" panose="020B0604030504040204" pitchFamily="34" charset="0"/>
                  </a:rPr>
                  <a:t>How were the sums for </a:t>
                </a:r>
                <a14:m>
                  <m:oMath xmlns:m="http://schemas.openxmlformats.org/officeDocument/2006/math">
                    <m:d>
                      <m:dPr>
                        <m:ctrlPr>
                          <a:rPr lang="en-US" sz="2200" i="1">
                            <a:latin typeface="Cambria Math" panose="02040503050406030204" pitchFamily="18" charset="0"/>
                            <a:ea typeface="Cambria Math" panose="02040503050406030204" pitchFamily="18" charset="0"/>
                          </a:rPr>
                        </m:ctrlPr>
                      </m:dPr>
                      <m:e>
                        <m:sPre>
                          <m:sPrePr>
                            <m:ctrlPr>
                              <a:rPr lang="en-US" sz="2200" i="1">
                                <a:latin typeface="Cambria Math" panose="02040503050406030204" pitchFamily="18" charset="0"/>
                                <a:ea typeface="Cambria Math" panose="02040503050406030204" pitchFamily="18" charset="0"/>
                              </a:rPr>
                            </m:ctrlPr>
                          </m:sPrePr>
                          <m:sub/>
                          <m:sup>
                            <m:r>
                              <a:rPr lang="en-US" sz="2200" i="1">
                                <a:latin typeface="Cambria Math" panose="02040503050406030204" pitchFamily="18" charset="0"/>
                                <a:ea typeface="Cambria Math" panose="02040503050406030204" pitchFamily="18" charset="0"/>
                              </a:rPr>
                              <m:t>−</m:t>
                            </m:r>
                          </m:sup>
                          <m:e>
                            <m:r>
                              <a:rPr lang="en-US" sz="2200" i="1">
                                <a:latin typeface="Cambria Math" panose="02040503050406030204" pitchFamily="18" charset="0"/>
                                <a:ea typeface="Cambria Math" panose="02040503050406030204" pitchFamily="18" charset="0"/>
                              </a:rPr>
                              <m:t>10</m:t>
                            </m:r>
                          </m:e>
                        </m:sPre>
                      </m:e>
                    </m:d>
                    <m:r>
                      <a:rPr lang="en-US" sz="2200" i="1">
                        <a:latin typeface="Cambria Math" panose="02040503050406030204" pitchFamily="18" charset="0"/>
                        <a:ea typeface="Cambria Math" panose="02040503050406030204" pitchFamily="18" charset="0"/>
                      </a:rPr>
                      <m:t>+</m:t>
                    </m:r>
                    <m:d>
                      <m:dPr>
                        <m:ctrlPr>
                          <a:rPr lang="en-US" sz="2200" i="1">
                            <a:latin typeface="Cambria Math" panose="02040503050406030204" pitchFamily="18" charset="0"/>
                            <a:ea typeface="Cambria Math" panose="02040503050406030204" pitchFamily="18" charset="0"/>
                          </a:rPr>
                        </m:ctrlPr>
                      </m:dPr>
                      <m:e>
                        <m:sPre>
                          <m:sPrePr>
                            <m:ctrlPr>
                              <a:rPr lang="en-US" sz="2200" i="1">
                                <a:latin typeface="Cambria Math" panose="02040503050406030204" pitchFamily="18" charset="0"/>
                                <a:ea typeface="Cambria Math" panose="02040503050406030204" pitchFamily="18" charset="0"/>
                              </a:rPr>
                            </m:ctrlPr>
                          </m:sPrePr>
                          <m:sub/>
                          <m:sup>
                            <m:r>
                              <a:rPr lang="en-US" sz="2200" i="1">
                                <a:latin typeface="Cambria Math" panose="02040503050406030204" pitchFamily="18" charset="0"/>
                                <a:ea typeface="Cambria Math" panose="02040503050406030204" pitchFamily="18" charset="0"/>
                              </a:rPr>
                              <m:t>−</m:t>
                            </m:r>
                          </m:sup>
                          <m:e>
                            <m:r>
                              <a:rPr lang="en-US" sz="2200" i="1">
                                <a:latin typeface="Cambria Math" panose="02040503050406030204" pitchFamily="18" charset="0"/>
                                <a:ea typeface="Cambria Math" panose="02040503050406030204" pitchFamily="18" charset="0"/>
                              </a:rPr>
                              <m:t>6</m:t>
                            </m:r>
                          </m:e>
                        </m:sPre>
                      </m:e>
                    </m:d>
                  </m:oMath>
                </a14:m>
                <a:r>
                  <a:rPr lang="en-US" sz="22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latin typeface="Cambria Math" panose="02040503050406030204" pitchFamily="18" charset="0"/>
                        <a:ea typeface="Cambria Math" panose="02040503050406030204" pitchFamily="18" charset="0"/>
                      </a:rPr>
                      <m:t>10+6</m:t>
                    </m:r>
                  </m:oMath>
                </a14:m>
                <a:r>
                  <a:rPr lang="en-US" sz="2200" dirty="0">
                    <a:latin typeface="Verdana" panose="020B0604030504040204" pitchFamily="34" charset="0"/>
                    <a:ea typeface="Verdana" panose="020B0604030504040204" pitchFamily="34" charset="0"/>
                    <a:cs typeface="Verdana" panose="020B0604030504040204" pitchFamily="34" charset="0"/>
                  </a:rPr>
                  <a:t> different?</a:t>
                </a:r>
              </a:p>
              <a:p>
                <a:pPr marL="457200" indent="-457200">
                  <a:buFont typeface="+mj-lt"/>
                  <a:buAutoNum type="arabicPeriod" startAt="6"/>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r>
                  <a:rPr lang="en-US" sz="2200" dirty="0">
                    <a:latin typeface="Verdana" panose="020B0604030504040204" pitchFamily="34" charset="0"/>
                    <a:ea typeface="Verdana" panose="020B0604030504040204" pitchFamily="34" charset="0"/>
                    <a:cs typeface="Verdana" panose="020B0604030504040204" pitchFamily="34" charset="0"/>
                  </a:rPr>
                  <a:t>Complete the statements using the words </a:t>
                </a:r>
                <a:r>
                  <a:rPr lang="en-US" sz="2200" i="1" dirty="0">
                    <a:latin typeface="Verdana" panose="020B0604030504040204" pitchFamily="34" charset="0"/>
                    <a:ea typeface="Verdana" panose="020B0604030504040204" pitchFamily="34" charset="0"/>
                    <a:cs typeface="Verdana" panose="020B0604030504040204" pitchFamily="34" charset="0"/>
                  </a:rPr>
                  <a:t>same</a:t>
                </a:r>
                <a:r>
                  <a:rPr lang="en-US" sz="2200" dirty="0">
                    <a:latin typeface="Verdana" panose="020B0604030504040204" pitchFamily="34" charset="0"/>
                    <a:ea typeface="Verdana" panose="020B0604030504040204" pitchFamily="34" charset="0"/>
                    <a:cs typeface="Verdana" panose="020B0604030504040204" pitchFamily="34" charset="0"/>
                  </a:rPr>
                  <a:t> or </a:t>
                </a:r>
                <a:r>
                  <a:rPr lang="en-US" sz="2200" i="1" dirty="0">
                    <a:latin typeface="Verdana" panose="020B0604030504040204" pitchFamily="34" charset="0"/>
                    <a:ea typeface="Verdana" panose="020B0604030504040204" pitchFamily="34" charset="0"/>
                    <a:cs typeface="Verdana" panose="020B0604030504040204" pitchFamily="34" charset="0"/>
                  </a:rPr>
                  <a:t>different</a:t>
                </a:r>
                <a:r>
                  <a:rPr lang="en-US" sz="2200" dirty="0">
                    <a:latin typeface="Verdana" panose="020B0604030504040204" pitchFamily="34" charset="0"/>
                    <a:ea typeface="Verdana" panose="020B0604030504040204" pitchFamily="34" charset="0"/>
                    <a:cs typeface="Verdana" panose="020B0604030504040204" pitchFamily="34" charset="0"/>
                  </a:rPr>
                  <a:t> to describe the rules for finding the sums of signed numbers. </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465138"/>
                <a:r>
                  <a:rPr lang="en-US" sz="2200" dirty="0">
                    <a:latin typeface="Verdana" panose="020B0604030504040204" pitchFamily="34" charset="0"/>
                    <a:ea typeface="Verdana" panose="020B0604030504040204" pitchFamily="34" charset="0"/>
                    <a:cs typeface="Verdana" panose="020B0604030504040204" pitchFamily="34" charset="0"/>
                  </a:rPr>
                  <a:t>When two addends have the _____________ sign, the sum will have the sign of the addends. </a:t>
                </a:r>
              </a:p>
              <a:p>
                <a:pPr marL="465138"/>
                <a:r>
                  <a:rPr lang="en-US" sz="2200" dirty="0">
                    <a:latin typeface="Verdana" panose="020B0604030504040204" pitchFamily="34" charset="0"/>
                    <a:ea typeface="Verdana" panose="020B0604030504040204" pitchFamily="34" charset="0"/>
                    <a:cs typeface="Verdana" panose="020B0604030504040204" pitchFamily="34" charset="0"/>
                  </a:rPr>
                  <a:t> </a:t>
                </a:r>
              </a:p>
              <a:p>
                <a:pPr marL="465138"/>
                <a:r>
                  <a:rPr lang="en-US" sz="2200" dirty="0">
                    <a:latin typeface="Verdana" panose="020B0604030504040204" pitchFamily="34" charset="0"/>
                    <a:ea typeface="Verdana" panose="020B0604030504040204" pitchFamily="34" charset="0"/>
                    <a:cs typeface="Verdana" panose="020B0604030504040204" pitchFamily="34" charset="0"/>
                  </a:rPr>
                  <a:t>When two addends have _____________ signs, the sum will have the sign of the addend with the greater absolute value.</a:t>
                </a:r>
              </a:p>
            </p:txBody>
          </p:sp>
        </mc:Choice>
        <mc:Fallback xmlns="">
          <p:sp>
            <p:nvSpPr>
              <p:cNvPr id="5" name="TextBox 4">
                <a:extLst>
                  <a:ext uri="{FF2B5EF4-FFF2-40B4-BE49-F238E27FC236}">
                    <a16:creationId xmlns:a16="http://schemas.microsoft.com/office/drawing/2014/main" xmlns:a14="http://schemas.microsoft.com/office/drawing/2010/main" xmlns="" id="{22347CCE-34A7-8044-BA67-B5895157AE55}"/>
                  </a:ext>
                </a:extLst>
              </p:cNvPr>
              <p:cNvSpPr txBox="1">
                <a:spLocks noRot="1" noChangeAspect="1" noMove="1" noResize="1" noEditPoints="1" noAdjustHandles="1" noChangeArrowheads="1" noChangeShapeType="1" noTextEdit="1"/>
              </p:cNvSpPr>
              <p:nvPr/>
            </p:nvSpPr>
            <p:spPr>
              <a:xfrm>
                <a:off x="1026942" y="349706"/>
                <a:ext cx="10138116" cy="5523948"/>
              </a:xfrm>
              <a:prstGeom prst="rect">
                <a:avLst/>
              </a:prstGeom>
              <a:blipFill rotWithShape="0">
                <a:blip r:embed="rId3"/>
                <a:stretch>
                  <a:fillRect l="-781" t="-992" r="-361" b="-1323"/>
                </a:stretch>
              </a:blipFill>
            </p:spPr>
            <p:txBody>
              <a:bodyPr/>
              <a:lstStyle/>
              <a:p>
                <a:r>
                  <a:rPr lang="en-US">
                    <a:noFill/>
                  </a:rPr>
                  <a:t> </a:t>
                </a:r>
              </a:p>
            </p:txBody>
          </p:sp>
        </mc:Fallback>
      </mc:AlternateContent>
      <p:sp>
        <p:nvSpPr>
          <p:cNvPr id="7"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168</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61466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F16EAAB6-B932-C047-9261-EF734547974E}"/>
              </a:ext>
            </a:extLst>
          </p:cNvPr>
          <p:cNvSpPr txBox="1"/>
          <p:nvPr/>
        </p:nvSpPr>
        <p:spPr>
          <a:xfrm>
            <a:off x="815926" y="422857"/>
            <a:ext cx="10560148" cy="1107996"/>
          </a:xfrm>
          <a:prstGeom prst="rect">
            <a:avLst/>
          </a:prstGeom>
          <a:noFill/>
        </p:spPr>
        <p:txBody>
          <a:bodyPr wrap="square" rtlCol="0">
            <a:spAutoFit/>
          </a:bodyPr>
          <a:lstStyle/>
          <a:p>
            <a:pPr marL="457200" indent="-457200">
              <a:buFont typeface="+mj-lt"/>
              <a:buAutoNum type="arabicPeriod" startAt="7"/>
            </a:pPr>
            <a:r>
              <a:rPr lang="en-US" sz="2200" dirty="0">
                <a:latin typeface="Verdana" panose="020B0604030504040204" pitchFamily="34" charset="0"/>
                <a:ea typeface="Verdana" panose="020B0604030504040204" pitchFamily="34" charset="0"/>
                <a:cs typeface="Verdana" panose="020B0604030504040204" pitchFamily="34" charset="0"/>
              </a:rPr>
              <a:t>Apply the rules for integers to these expressions with rational numbers. Find the sum of each expression. Then, verify your answer using a calculator. </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908727394"/>
                  </p:ext>
                </p:extLst>
              </p:nvPr>
            </p:nvGraphicFramePr>
            <p:xfrm>
              <a:off x="2338484" y="1572894"/>
              <a:ext cx="7593476" cy="4867810"/>
            </p:xfrm>
            <a:graphic>
              <a:graphicData uri="http://schemas.openxmlformats.org/drawingml/2006/table">
                <a:tbl>
                  <a:tblPr firstRow="1" firstCol="1" bandRow="1">
                    <a:tableStyleId>{5940675A-B579-460E-94D1-54222C63F5DA}</a:tableStyleId>
                  </a:tblPr>
                  <a:tblGrid>
                    <a:gridCol w="2383508">
                      <a:extLst>
                        <a:ext uri="{9D8B030D-6E8A-4147-A177-3AD203B41FA5}">
                          <a16:colId xmlns:a16="http://schemas.microsoft.com/office/drawing/2014/main" val="20000"/>
                        </a:ext>
                      </a:extLst>
                    </a:gridCol>
                    <a:gridCol w="1695877">
                      <a:extLst>
                        <a:ext uri="{9D8B030D-6E8A-4147-A177-3AD203B41FA5}">
                          <a16:colId xmlns:a16="http://schemas.microsoft.com/office/drawing/2014/main" val="20001"/>
                        </a:ext>
                      </a:extLst>
                    </a:gridCol>
                    <a:gridCol w="1716266">
                      <a:extLst>
                        <a:ext uri="{9D8B030D-6E8A-4147-A177-3AD203B41FA5}">
                          <a16:colId xmlns:a16="http://schemas.microsoft.com/office/drawing/2014/main" val="20002"/>
                        </a:ext>
                      </a:extLst>
                    </a:gridCol>
                    <a:gridCol w="1797825">
                      <a:extLst>
                        <a:ext uri="{9D8B030D-6E8A-4147-A177-3AD203B41FA5}">
                          <a16:colId xmlns:a16="http://schemas.microsoft.com/office/drawing/2014/main" val="20003"/>
                        </a:ext>
                      </a:extLst>
                    </a:gridCol>
                  </a:tblGrid>
                  <a:tr h="955066">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Addition Expression</a:t>
                          </a:r>
                        </a:p>
                      </a:txBody>
                      <a:tcPr marL="37605" marR="37605"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Sum When Using the Rule</a:t>
                          </a:r>
                        </a:p>
                      </a:txBody>
                      <a:tcPr marL="37605" marR="37605"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Sum With a Calculator</a:t>
                          </a:r>
                        </a:p>
                      </a:txBody>
                      <a:tcPr marL="37605" marR="37605"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Does the Rule Work?</a:t>
                          </a:r>
                        </a:p>
                      </a:txBody>
                      <a:tcPr marL="37605" marR="37605" marT="0" marB="0" anchor="ctr">
                        <a:solidFill>
                          <a:schemeClr val="bg1">
                            <a:lumMod val="75000"/>
                          </a:schemeClr>
                        </a:solidFill>
                      </a:tcPr>
                    </a:tc>
                    <a:extLst>
                      <a:ext uri="{0D108BD9-81ED-4DB2-BD59-A6C34878D82A}">
                        <a16:rowId xmlns:a16="http://schemas.microsoft.com/office/drawing/2014/main" val="10000"/>
                      </a:ext>
                    </a:extLst>
                  </a:tr>
                  <a:tr h="61179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0.92</m:t>
                                        </m:r>
                                      </m:e>
                                    </m:sPre>
                                  </m:e>
                                </m:d>
                                <m:r>
                                  <a:rPr lang="en-US" sz="2000">
                                    <a:effectLst/>
                                    <a:latin typeface="Cambria Math" panose="02040503050406030204" pitchFamily="18" charset="0"/>
                                    <a:ea typeface="Cambria Math" panose="02040503050406030204" pitchFamily="18" charset="0"/>
                                  </a:rPr>
                                  <m:t>+50.6</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nchor="ctr"/>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extLst>
                      <a:ext uri="{0D108BD9-81ED-4DB2-BD59-A6C34878D82A}">
                        <a16:rowId xmlns:a16="http://schemas.microsoft.com/office/drawing/2014/main" val="10001"/>
                      </a:ext>
                    </a:extLst>
                  </a:tr>
                  <a:tr h="61179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4.95+3.05</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nchor="ctr"/>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extLst>
                      <a:ext uri="{0D108BD9-81ED-4DB2-BD59-A6C34878D82A}">
                        <a16:rowId xmlns:a16="http://schemas.microsoft.com/office/drawing/2014/main" val="10002"/>
                      </a:ext>
                    </a:extLst>
                  </a:tr>
                  <a:tr h="715308">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5</m:t>
                                        </m:r>
                                      </m:den>
                                    </m:f>
                                  </m:e>
                                </m:d>
                                <m:r>
                                  <a:rPr lang="en-US" sz="2000">
                                    <a:effectLst/>
                                    <a:latin typeface="Cambria Math" panose="02040503050406030204" pitchFamily="18" charset="0"/>
                                    <a:ea typeface="Cambria Math" panose="02040503050406030204" pitchFamily="18" charset="0"/>
                                  </a:rPr>
                                  <m:t>+ </m:t>
                                </m:r>
                                <m:d>
                                  <m:dPr>
                                    <m:ctrlPr>
                                      <a:rPr lang="en-US" sz="2000" i="1">
                                        <a:effectLst/>
                                        <a:latin typeface="Cambria Math" panose="02040503050406030204" pitchFamily="18" charset="0"/>
                                        <a:ea typeface="Cambria Math" panose="02040503050406030204" pitchFamily="18" charset="0"/>
                                      </a:rPr>
                                    </m:ctrlPr>
                                  </m:dPr>
                                  <m: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22</m:t>
                                        </m:r>
                                      </m:num>
                                      <m:den>
                                        <m:r>
                                          <a:rPr lang="en-US" sz="2000">
                                            <a:effectLst/>
                                            <a:latin typeface="Cambria Math" panose="02040503050406030204" pitchFamily="18" charset="0"/>
                                            <a:ea typeface="Cambria Math" panose="02040503050406030204" pitchFamily="18" charset="0"/>
                                          </a:rPr>
                                          <m:t>25</m:t>
                                        </m:r>
                                      </m:den>
                                    </m:f>
                                  </m:e>
                                </m:d>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nchor="ctr"/>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extLst>
                      <a:ext uri="{0D108BD9-81ED-4DB2-BD59-A6C34878D82A}">
                        <a16:rowId xmlns:a16="http://schemas.microsoft.com/office/drawing/2014/main" val="10003"/>
                      </a:ext>
                    </a:extLst>
                  </a:tr>
                  <a:tr h="61179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effectLst/>
                                    <a:latin typeface="Cambria Math" panose="02040503050406030204" pitchFamily="18" charset="0"/>
                                    <a:ea typeface="Cambria Math" panose="02040503050406030204" pitchFamily="18" charset="0"/>
                                  </a:rPr>
                                  <m:t>1.25+</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6.45</m:t>
                                        </m:r>
                                      </m:e>
                                    </m:sPre>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nchor="ctr"/>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extLst>
                      <a:ext uri="{0D108BD9-81ED-4DB2-BD59-A6C34878D82A}">
                        <a16:rowId xmlns:a16="http://schemas.microsoft.com/office/drawing/2014/main" val="10004"/>
                      </a:ext>
                    </a:extLst>
                  </a:tr>
                  <a:tr h="715308">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3</m:t>
                                        </m:r>
                                      </m:den>
                                    </m:f>
                                  </m:e>
                                </m:d>
                                <m:r>
                                  <a:rPr lang="en-US" sz="2000">
                                    <a:effectLst/>
                                    <a:latin typeface="Cambria Math" panose="02040503050406030204" pitchFamily="18" charset="0"/>
                                    <a:ea typeface="Cambria Math" panose="02040503050406030204" pitchFamily="18" charset="0"/>
                                  </a:rPr>
                                  <m:t>+ </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9</m:t>
                                        </m:r>
                                      </m:num>
                                      <m:den>
                                        <m:r>
                                          <a:rPr lang="en-US" sz="2000">
                                            <a:effectLst/>
                                            <a:latin typeface="Cambria Math" panose="02040503050406030204" pitchFamily="18" charset="0"/>
                                            <a:ea typeface="Cambria Math" panose="02040503050406030204" pitchFamily="18" charset="0"/>
                                          </a:rPr>
                                          <m:t>20</m:t>
                                        </m:r>
                                      </m:den>
                                    </m:f>
                                  </m:e>
                                </m:d>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nchor="ctr"/>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extLst>
                      <a:ext uri="{0D108BD9-81ED-4DB2-BD59-A6C34878D82A}">
                        <a16:rowId xmlns:a16="http://schemas.microsoft.com/office/drawing/2014/main" val="10005"/>
                      </a:ext>
                    </a:extLst>
                  </a:tr>
                  <a:tr h="61179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17.01</m:t>
                                        </m:r>
                                      </m:e>
                                    </m:sPre>
                                  </m:e>
                                </m:d>
                                <m:r>
                                  <a:rPr lang="en-US" sz="2000">
                                    <a:effectLst/>
                                    <a:latin typeface="Cambria Math" panose="02040503050406030204" pitchFamily="18" charset="0"/>
                                    <a:ea typeface="Cambria Math" panose="02040503050406030204" pitchFamily="18" charset="0"/>
                                  </a:rPr>
                                  <m:t>+</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2.99</m:t>
                                        </m:r>
                                      </m:e>
                                    </m:sPre>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nchor="ctr"/>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908727394"/>
                  </p:ext>
                </p:extLst>
              </p:nvPr>
            </p:nvGraphicFramePr>
            <p:xfrm>
              <a:off x="814484" y="1572894"/>
              <a:ext cx="7593476" cy="4891152"/>
            </p:xfrm>
            <a:graphic>
              <a:graphicData uri="http://schemas.openxmlformats.org/drawingml/2006/table">
                <a:tbl>
                  <a:tblPr firstRow="1" firstCol="1" bandRow="1">
                    <a:tableStyleId>{5940675A-B579-460E-94D1-54222C63F5DA}</a:tableStyleId>
                  </a:tblPr>
                  <a:tblGrid>
                    <a:gridCol w="2383508"/>
                    <a:gridCol w="1695877"/>
                    <a:gridCol w="1716266"/>
                    <a:gridCol w="1797825"/>
                  </a:tblGrid>
                  <a:tr h="978408">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Addition Expression</a:t>
                          </a:r>
                        </a:p>
                      </a:txBody>
                      <a:tcPr marL="37605" marR="37605"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Sum When Using the Rule</a:t>
                          </a:r>
                        </a:p>
                      </a:txBody>
                      <a:tcPr marL="37605" marR="37605"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Sum With a Calculator</a:t>
                          </a:r>
                        </a:p>
                      </a:txBody>
                      <a:tcPr marL="37605" marR="37605"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Does the Rule Work?</a:t>
                          </a:r>
                        </a:p>
                      </a:txBody>
                      <a:tcPr marL="37605" marR="37605" marT="0" marB="0" anchor="ctr">
                        <a:solidFill>
                          <a:schemeClr val="bg1">
                            <a:lumMod val="75000"/>
                          </a:schemeClr>
                        </a:solidFill>
                      </a:tcPr>
                    </a:tc>
                  </a:tr>
                  <a:tr h="611791">
                    <a:tc>
                      <a:txBody>
                        <a:bodyPr/>
                        <a:lstStyle/>
                        <a:p>
                          <a:endParaRPr lang="en-US"/>
                        </a:p>
                      </a:txBody>
                      <a:tcPr marL="37605" marR="37605" marT="0" marB="0" anchor="ctr">
                        <a:blipFill rotWithShape="0">
                          <a:blip r:embed="rId4"/>
                          <a:stretch>
                            <a:fillRect l="-256" t="-175000" r="-219437" b="-544000"/>
                          </a:stretch>
                        </a:blipFill>
                      </a:tcPr>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r>
                  <a:tr h="611791">
                    <a:tc>
                      <a:txBody>
                        <a:bodyPr/>
                        <a:lstStyle/>
                        <a:p>
                          <a:endParaRPr lang="en-US"/>
                        </a:p>
                      </a:txBody>
                      <a:tcPr marL="37605" marR="37605" marT="0" marB="0" anchor="ctr">
                        <a:blipFill rotWithShape="0">
                          <a:blip r:embed="rId4"/>
                          <a:stretch>
                            <a:fillRect l="-256" t="-272277" r="-219437" b="-438614"/>
                          </a:stretch>
                        </a:blipFill>
                      </a:tcPr>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r>
                  <a:tr h="732790">
                    <a:tc>
                      <a:txBody>
                        <a:bodyPr/>
                        <a:lstStyle/>
                        <a:p>
                          <a:endParaRPr lang="en-US"/>
                        </a:p>
                      </a:txBody>
                      <a:tcPr marL="37605" marR="37605" marT="0" marB="0" anchor="ctr">
                        <a:blipFill rotWithShape="0">
                          <a:blip r:embed="rId4"/>
                          <a:stretch>
                            <a:fillRect l="-256" t="-313333" r="-219437" b="-269167"/>
                          </a:stretch>
                        </a:blipFill>
                      </a:tcPr>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r>
                  <a:tr h="611791">
                    <a:tc>
                      <a:txBody>
                        <a:bodyPr/>
                        <a:lstStyle/>
                        <a:p>
                          <a:endParaRPr lang="en-US"/>
                        </a:p>
                      </a:txBody>
                      <a:tcPr marL="37605" marR="37605" marT="0" marB="0" anchor="ctr">
                        <a:blipFill rotWithShape="0">
                          <a:blip r:embed="rId4"/>
                          <a:stretch>
                            <a:fillRect l="-256" t="-496000" r="-219437" b="-223000"/>
                          </a:stretch>
                        </a:blipFill>
                      </a:tcPr>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r>
                  <a:tr h="732790">
                    <a:tc>
                      <a:txBody>
                        <a:bodyPr/>
                        <a:lstStyle/>
                        <a:p>
                          <a:endParaRPr lang="en-US"/>
                        </a:p>
                      </a:txBody>
                      <a:tcPr marL="37605" marR="37605" marT="0" marB="0" anchor="ctr">
                        <a:blipFill rotWithShape="0">
                          <a:blip r:embed="rId4"/>
                          <a:stretch>
                            <a:fillRect l="-256" t="-492562" r="-219437" b="-84298"/>
                          </a:stretch>
                        </a:blipFill>
                      </a:tcPr>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r>
                  <a:tr h="611791">
                    <a:tc>
                      <a:txBody>
                        <a:bodyPr/>
                        <a:lstStyle/>
                        <a:p>
                          <a:endParaRPr lang="en-US"/>
                        </a:p>
                      </a:txBody>
                      <a:tcPr marL="37605" marR="37605" marT="0" marB="0" anchor="ctr">
                        <a:blipFill rotWithShape="0">
                          <a:blip r:embed="rId4"/>
                          <a:stretch>
                            <a:fillRect l="-256" t="-717000" r="-219437" b="-2000"/>
                          </a:stretch>
                        </a:blipFill>
                      </a:tcPr>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c>
                      <a:txBody>
                        <a:bodyPr/>
                        <a:lstStyle/>
                        <a:p>
                          <a:pPr marL="0" marR="0">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7605" marR="37605" marT="0" marB="0"/>
                    </a:tc>
                  </a:tr>
                </a:tbl>
              </a:graphicData>
            </a:graphic>
          </p:graphicFrame>
        </mc:Fallback>
      </mc:AlternateContent>
      <p:sp>
        <p:nvSpPr>
          <p:cNvPr id="8"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168</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52717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F16EAAB6-B932-C047-9261-EF734547974E}"/>
              </a:ext>
            </a:extLst>
          </p:cNvPr>
          <p:cNvSpPr txBox="1"/>
          <p:nvPr/>
        </p:nvSpPr>
        <p:spPr>
          <a:xfrm>
            <a:off x="1932432" y="422857"/>
            <a:ext cx="8327136" cy="2123658"/>
          </a:xfrm>
          <a:prstGeom prst="rect">
            <a:avLst/>
          </a:prstGeom>
          <a:noFill/>
        </p:spPr>
        <p:txBody>
          <a:bodyPr wrap="square" rtlCol="0">
            <a:spAutoFit/>
          </a:bodyPr>
          <a:lstStyle/>
          <a:p>
            <a:pPr marL="457200" indent="-457200">
              <a:buFont typeface="+mj-lt"/>
              <a:buAutoNum type="arabicPeriod" startAt="8"/>
            </a:pPr>
            <a:r>
              <a:rPr lang="en-US" sz="2200" dirty="0">
                <a:latin typeface="Verdana" panose="020B0604030504040204" pitchFamily="34" charset="0"/>
                <a:ea typeface="Verdana" panose="020B0604030504040204" pitchFamily="34" charset="0"/>
                <a:cs typeface="Verdana" panose="020B0604030504040204" pitchFamily="34" charset="0"/>
              </a:rPr>
              <a:t>Complete the statement.</a:t>
            </a:r>
          </a:p>
          <a:p>
            <a:pPr marL="465138">
              <a:lnSpc>
                <a:spcPct val="250000"/>
              </a:lnSpc>
            </a:pPr>
            <a:r>
              <a:rPr lang="en-US" sz="2200" dirty="0">
                <a:latin typeface="Verdana" panose="020B0604030504040204" pitchFamily="34" charset="0"/>
                <a:ea typeface="Verdana" panose="020B0604030504040204" pitchFamily="34" charset="0"/>
                <a:cs typeface="Verdana" panose="020B0604030504040204" pitchFamily="34" charset="0"/>
              </a:rPr>
              <a:t>The sign rules for adding integers are		      as the rules for adding rational numbers.</a:t>
            </a:r>
          </a:p>
        </p:txBody>
      </p:sp>
      <p:pic>
        <p:nvPicPr>
          <p:cNvPr id="2" name="Picture 1"/>
          <p:cNvPicPr>
            <a:picLocks noChangeAspect="1"/>
          </p:cNvPicPr>
          <p:nvPr/>
        </p:nvPicPr>
        <p:blipFill>
          <a:blip r:embed="rId3"/>
          <a:stretch>
            <a:fillRect/>
          </a:stretch>
        </p:blipFill>
        <p:spPr>
          <a:xfrm>
            <a:off x="7923002" y="881063"/>
            <a:ext cx="2236816" cy="981858"/>
          </a:xfrm>
          <a:prstGeom prst="rect">
            <a:avLst/>
          </a:prstGeom>
        </p:spPr>
      </p:pic>
      <p:sp>
        <p:nvSpPr>
          <p:cNvPr id="8"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2461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2700"/>
            <a:ext cx="2731200" cy="68707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671"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25622" y="-7082"/>
            <a:ext cx="974717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11.1.5 Guided Practice: Applying Signed Number Rules to Rational Numbers</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5814" y="15894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1069145" y="1386025"/>
                <a:ext cx="10309742" cy="2759666"/>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The blanks in the addition equation represent missing values. Fill in the blanks for the addition equation below to make a true statement.</a:t>
                </a:r>
              </a:p>
              <a:p>
                <a:endParaRPr lang="en-US" sz="2200"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ea typeface="Cambria Math" panose="02040503050406030204" pitchFamily="18" charset="0"/>
                        </a:rPr>
                        <m:t>12</m:t>
                      </m:r>
                      <m:f>
                        <m:fPr>
                          <m:ctrlPr>
                            <a:rPr lang="en-US" sz="2200" i="1">
                              <a:latin typeface="Cambria Math" panose="02040503050406030204" pitchFamily="18" charset="0"/>
                              <a:ea typeface="Cambria Math" panose="02040503050406030204" pitchFamily="18" charset="0"/>
                            </a:rPr>
                          </m:ctrlPr>
                        </m:fPr>
                        <m:num>
                          <m:r>
                            <a:rPr lang="en-US" sz="2200">
                              <a:latin typeface="Cambria Math" panose="02040503050406030204" pitchFamily="18" charset="0"/>
                              <a:ea typeface="Cambria Math" panose="02040503050406030204" pitchFamily="18" charset="0"/>
                            </a:rPr>
                            <m:t>3</m:t>
                          </m:r>
                        </m:num>
                        <m:den>
                          <m:r>
                            <a:rPr lang="en-US" sz="2200">
                              <a:latin typeface="Cambria Math" panose="02040503050406030204" pitchFamily="18" charset="0"/>
                              <a:ea typeface="Cambria Math" panose="02040503050406030204" pitchFamily="18" charset="0"/>
                            </a:rPr>
                            <m:t>4</m:t>
                          </m:r>
                        </m:den>
                      </m:f>
                      <m:r>
                        <a:rPr lang="en-US" sz="2200">
                          <a:latin typeface="Cambria Math" panose="02040503050406030204" pitchFamily="18" charset="0"/>
                          <a:ea typeface="Cambria Math" panose="02040503050406030204" pitchFamily="18" charset="0"/>
                        </a:rPr>
                        <m:t> +</m:t>
                      </m:r>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ea typeface="Cambria Math" panose="02040503050406030204" pitchFamily="18" charset="0"/>
                            </a:rPr>
                            <m:t>5</m:t>
                          </m:r>
                          <m:f>
                            <m:fPr>
                              <m:ctrlPr>
                                <a:rPr lang="en-US" sz="2200" i="1">
                                  <a:latin typeface="Cambria Math" panose="02040503050406030204" pitchFamily="18" charset="0"/>
                                  <a:ea typeface="Cambria Math" panose="02040503050406030204" pitchFamily="18" charset="0"/>
                                </a:rPr>
                              </m:ctrlPr>
                            </m:fPr>
                            <m:num>
                              <m:r>
                                <a:rPr lang="en-US" sz="2200">
                                  <a:latin typeface="Cambria Math" panose="02040503050406030204" pitchFamily="18" charset="0"/>
                                  <a:ea typeface="Cambria Math" panose="02040503050406030204" pitchFamily="18" charset="0"/>
                                </a:rPr>
                                <m:t>        </m:t>
                              </m:r>
                            </m:num>
                            <m:den>
                              <m:r>
                                <a:rPr lang="en-US" sz="2200">
                                  <a:latin typeface="Cambria Math" panose="02040503050406030204" pitchFamily="18" charset="0"/>
                                  <a:ea typeface="Cambria Math" panose="02040503050406030204" pitchFamily="18" charset="0"/>
                                </a:rPr>
                                <m:t>6</m:t>
                              </m:r>
                            </m:den>
                          </m:f>
                        </m:e>
                      </m:d>
                      <m:r>
                        <a:rPr lang="en-US" sz="2200">
                          <a:latin typeface="Cambria Math" panose="02040503050406030204" pitchFamily="18" charset="0"/>
                          <a:ea typeface="Cambria Math" panose="02040503050406030204" pitchFamily="18" charset="0"/>
                        </a:rPr>
                        <m:t>= </m:t>
                      </m:r>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ea typeface="Cambria Math" panose="02040503050406030204" pitchFamily="18" charset="0"/>
                        </a:rPr>
                        <m:t>18</m:t>
                      </m:r>
                      <m:f>
                        <m:fPr>
                          <m:ctrlPr>
                            <a:rPr lang="en-US" sz="2200" i="1">
                              <a:latin typeface="Cambria Math" panose="02040503050406030204" pitchFamily="18" charset="0"/>
                              <a:ea typeface="Cambria Math" panose="02040503050406030204" pitchFamily="18" charset="0"/>
                            </a:rPr>
                          </m:ctrlPr>
                        </m:fPr>
                        <m:num>
                          <m:r>
                            <a:rPr lang="en-US" sz="2200">
                              <a:latin typeface="Cambria Math" panose="02040503050406030204" pitchFamily="18" charset="0"/>
                              <a:ea typeface="Cambria Math" panose="02040503050406030204" pitchFamily="18" charset="0"/>
                            </a:rPr>
                            <m:t>           </m:t>
                          </m:r>
                        </m:num>
                        <m:den>
                          <m:r>
                            <a:rPr lang="en-US" sz="2200">
                              <a:latin typeface="Cambria Math" panose="02040503050406030204" pitchFamily="18" charset="0"/>
                              <a:ea typeface="Cambria Math" panose="02040503050406030204" pitchFamily="18" charset="0"/>
                            </a:rPr>
                            <m:t>12</m:t>
                          </m:r>
                        </m:den>
                      </m:f>
                    </m:oMath>
                  </m:oMathPara>
                </a14:m>
                <a:endParaRPr lang="en-US" sz="2200" dirty="0">
                  <a:latin typeface="Cambria Math" panose="02040503050406030204" pitchFamily="18" charset="0"/>
                  <a:ea typeface="Cambria Math" panose="02040503050406030204" pitchFamily="18"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Find the sum for each addition expression.</a:t>
                </a:r>
              </a:p>
            </p:txBody>
          </p:sp>
        </mc:Choice>
        <mc:Fallback xmlns="">
          <p:sp>
            <p:nvSpPr>
              <p:cNvPr id="10" name="TextBox 9">
                <a:extLst>
                  <a:ext uri="{FF2B5EF4-FFF2-40B4-BE49-F238E27FC236}">
                    <a16:creationId xmlns:a16="http://schemas.microsoft.com/office/drawing/2014/main" xmlns:a14="http://schemas.microsoft.com/office/drawing/2010/main" xmlns="" id="{31D40250-DEDD-2C41-8538-3D4DD18CCC4A}"/>
                  </a:ext>
                </a:extLst>
              </p:cNvPr>
              <p:cNvSpPr txBox="1">
                <a:spLocks noRot="1" noChangeAspect="1" noMove="1" noResize="1" noEditPoints="1" noAdjustHandles="1" noChangeArrowheads="1" noChangeShapeType="1" noTextEdit="1"/>
              </p:cNvSpPr>
              <p:nvPr/>
            </p:nvSpPr>
            <p:spPr>
              <a:xfrm>
                <a:off x="1069145" y="1386025"/>
                <a:ext cx="10309742" cy="2759666"/>
              </a:xfrm>
              <a:prstGeom prst="rect">
                <a:avLst/>
              </a:prstGeom>
              <a:blipFill rotWithShape="0">
                <a:blip r:embed="rId4"/>
                <a:stretch>
                  <a:fillRect l="-768" t="-1545" r="-118" b="-3753"/>
                </a:stretch>
              </a:blipFill>
            </p:spPr>
            <p:txBody>
              <a:bodyPr/>
              <a:lstStyle/>
              <a:p>
                <a:r>
                  <a:rPr lang="en-US">
                    <a:noFill/>
                  </a:rPr>
                  <a:t> </a:t>
                </a:r>
              </a:p>
            </p:txBody>
          </p:sp>
        </mc:Fallback>
      </mc:AlternateContent>
      <p:sp>
        <p:nvSpPr>
          <p:cNvPr id="9" name="Rectangle 8"/>
          <p:cNvSpPr/>
          <p:nvPr/>
        </p:nvSpPr>
        <p:spPr>
          <a:xfrm>
            <a:off x="5976937" y="2743835"/>
            <a:ext cx="335194" cy="31524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10"/>
          <p:cNvSpPr/>
          <p:nvPr/>
        </p:nvSpPr>
        <p:spPr>
          <a:xfrm>
            <a:off x="7658879" y="2743835"/>
            <a:ext cx="335194" cy="31524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92417646"/>
                  </p:ext>
                </p:extLst>
              </p:nvPr>
            </p:nvGraphicFramePr>
            <p:xfrm>
              <a:off x="2907000" y="4267789"/>
              <a:ext cx="5416899" cy="2389987"/>
            </p:xfrm>
            <a:graphic>
              <a:graphicData uri="http://schemas.openxmlformats.org/drawingml/2006/table">
                <a:tbl>
                  <a:tblPr firstRow="1" firstCol="1" bandRow="1">
                    <a:tableStyleId>{5940675A-B579-460E-94D1-54222C63F5DA}</a:tableStyleId>
                  </a:tblPr>
                  <a:tblGrid>
                    <a:gridCol w="1884063">
                      <a:extLst>
                        <a:ext uri="{9D8B030D-6E8A-4147-A177-3AD203B41FA5}">
                          <a16:colId xmlns:a16="http://schemas.microsoft.com/office/drawing/2014/main" val="20000"/>
                        </a:ext>
                      </a:extLst>
                    </a:gridCol>
                    <a:gridCol w="3532836">
                      <a:extLst>
                        <a:ext uri="{9D8B030D-6E8A-4147-A177-3AD203B41FA5}">
                          <a16:colId xmlns:a16="http://schemas.microsoft.com/office/drawing/2014/main" val="20001"/>
                        </a:ext>
                      </a:extLst>
                    </a:gridCol>
                  </a:tblGrid>
                  <a:tr h="668259">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Addition Expression</a:t>
                          </a:r>
                        </a:p>
                      </a:txBody>
                      <a:tcPr marL="67882" marR="67882"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Sum</a:t>
                          </a:r>
                        </a:p>
                      </a:txBody>
                      <a:tcPr marL="67882" marR="67882" marT="0" marB="0" anchor="ctr">
                        <a:solidFill>
                          <a:schemeClr val="bg1">
                            <a:lumMod val="75000"/>
                          </a:schemeClr>
                        </a:solidFill>
                      </a:tcPr>
                    </a:tc>
                    <a:extLst>
                      <a:ext uri="{0D108BD9-81ED-4DB2-BD59-A6C34878D82A}">
                        <a16:rowId xmlns:a16="http://schemas.microsoft.com/office/drawing/2014/main" val="10000"/>
                      </a:ext>
                    </a:extLst>
                  </a:tr>
                  <a:tr h="860864">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 3 </m:t>
                                        </m:r>
                                      </m:num>
                                      <m:den>
                                        <m:r>
                                          <a:rPr lang="en-US" sz="2000">
                                            <a:effectLst/>
                                            <a:latin typeface="Cambria Math" panose="02040503050406030204" pitchFamily="18" charset="0"/>
                                            <a:ea typeface="Cambria Math" panose="02040503050406030204" pitchFamily="18" charset="0"/>
                                          </a:rPr>
                                          <m:t>7</m:t>
                                        </m:r>
                                      </m:den>
                                    </m:f>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7882" marR="67882" marT="0" marB="0" anchor="ctr"/>
                    </a:tc>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7882" marR="67882" marT="0" marB="0"/>
                    </a:tc>
                    <a:extLst>
                      <a:ext uri="{0D108BD9-81ED-4DB2-BD59-A6C34878D82A}">
                        <a16:rowId xmlns:a16="http://schemas.microsoft.com/office/drawing/2014/main" val="10001"/>
                      </a:ext>
                    </a:extLst>
                  </a:tr>
                  <a:tr h="860864">
                    <a:tc>
                      <a:txBody>
                        <a:bodyPr/>
                        <a:lstStyle/>
                        <a:p>
                          <a:pPr marL="0" marR="0"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−9</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r>
                                <a:rPr lang="en-US" sz="2000">
                                  <a:effectLst/>
                                  <a:latin typeface="Cambria Math" panose="02040503050406030204" pitchFamily="18" charset="0"/>
                                  <a:ea typeface="Cambria Math" panose="02040503050406030204" pitchFamily="18" charset="0"/>
                                </a:rPr>
                                <m:t>+(−14</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8</m:t>
                                  </m:r>
                                </m:den>
                              </m:f>
                              <m:r>
                                <a:rPr lang="en-US" sz="2000">
                                  <a:effectLst/>
                                  <a:latin typeface="Cambria Math" panose="02040503050406030204" pitchFamily="18" charset="0"/>
                                  <a:ea typeface="Cambria Math" panose="02040503050406030204" pitchFamily="18" charset="0"/>
                                </a:rPr>
                                <m:t>)</m:t>
                              </m:r>
                            </m:oMath>
                          </a14:m>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7882" marR="67882" marT="0" marB="0" anchor="ctr"/>
                    </a:tc>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7882" marR="67882" marT="0" marB="0"/>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92417646"/>
                  </p:ext>
                </p:extLst>
              </p:nvPr>
            </p:nvGraphicFramePr>
            <p:xfrm>
              <a:off x="1382999" y="4267788"/>
              <a:ext cx="5416899" cy="2389987"/>
            </p:xfrm>
            <a:graphic>
              <a:graphicData uri="http://schemas.openxmlformats.org/drawingml/2006/table">
                <a:tbl>
                  <a:tblPr firstRow="1" firstCol="1" bandRow="1">
                    <a:tableStyleId>{5940675A-B579-460E-94D1-54222C63F5DA}</a:tableStyleId>
                  </a:tblPr>
                  <a:tblGrid>
                    <a:gridCol w="1884063"/>
                    <a:gridCol w="3532836"/>
                  </a:tblGrid>
                  <a:tr h="668259">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Addition Expression</a:t>
                          </a:r>
                        </a:p>
                      </a:txBody>
                      <a:tcPr marL="67882" marR="67882"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Sum</a:t>
                          </a:r>
                        </a:p>
                      </a:txBody>
                      <a:tcPr marL="67882" marR="67882" marT="0" marB="0" anchor="ctr">
                        <a:solidFill>
                          <a:schemeClr val="bg1">
                            <a:lumMod val="75000"/>
                          </a:schemeClr>
                        </a:solidFill>
                      </a:tcPr>
                    </a:tc>
                  </a:tr>
                  <a:tr h="860864">
                    <a:tc>
                      <a:txBody>
                        <a:bodyPr/>
                        <a:lstStyle/>
                        <a:p>
                          <a:endParaRPr lang="en-US"/>
                        </a:p>
                      </a:txBody>
                      <a:tcPr marL="67882" marR="67882" marT="0" marB="0" anchor="ctr">
                        <a:blipFill rotWithShape="0">
                          <a:blip r:embed="rId6"/>
                          <a:stretch>
                            <a:fillRect l="-323" t="-87234" r="-187742" b="-102128"/>
                          </a:stretch>
                        </a:blipFill>
                      </a:tcPr>
                    </a:tc>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7882" marR="67882" marT="0" marB="0"/>
                    </a:tc>
                  </a:tr>
                  <a:tr h="860864">
                    <a:tc>
                      <a:txBody>
                        <a:bodyPr/>
                        <a:lstStyle/>
                        <a:p>
                          <a:endParaRPr lang="en-US"/>
                        </a:p>
                      </a:txBody>
                      <a:tcPr marL="67882" marR="67882" marT="0" marB="0" anchor="ctr">
                        <a:blipFill rotWithShape="0">
                          <a:blip r:embed="rId6"/>
                          <a:stretch>
                            <a:fillRect l="-323" t="-185915" r="-187742" b="-1408"/>
                          </a:stretch>
                        </a:blipFill>
                      </a:tcPr>
                    </a:tc>
                    <a:tc>
                      <a:txBody>
                        <a:bodyPr/>
                        <a:lstStyle/>
                        <a:p>
                          <a:pPr marL="0" marR="0">
                            <a:lnSpc>
                              <a:spcPct val="107000"/>
                            </a:lnSpc>
                            <a:spcBef>
                              <a:spcPts val="0"/>
                            </a:spcBef>
                            <a:spcAft>
                              <a:spcPts val="0"/>
                            </a:spcAft>
                          </a:pPr>
                          <a:r>
                            <a:rPr lang="en-US" sz="2000" dirty="0">
                              <a:effectLst/>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7882" marR="67882" marT="0" marB="0"/>
                    </a:tc>
                  </a:tr>
                </a:tbl>
              </a:graphicData>
            </a:graphic>
          </p:graphicFrame>
        </mc:Fallback>
      </mc:AlternateContent>
      <p:sp>
        <p:nvSpPr>
          <p:cNvPr id="12"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169</a:t>
            </a:r>
            <a:endParaRPr i="1" dirty="0">
              <a:latin typeface="Calibri"/>
              <a:ea typeface="Calibri"/>
              <a:cs typeface="Calibri"/>
              <a:sym typeface="Calibri"/>
            </a:endParaRPr>
          </a:p>
        </p:txBody>
      </p:sp>
      <p:pic>
        <p:nvPicPr>
          <p:cNvPr id="14"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1139483" y="386282"/>
                <a:ext cx="9913034" cy="3539430"/>
              </a:xfrm>
              <a:prstGeom prst="rect">
                <a:avLst/>
              </a:prstGeom>
              <a:noFill/>
            </p:spPr>
            <p:txBody>
              <a:bodyPr wrap="square" rtlCol="0">
                <a:spAutoFit/>
              </a:bodyPr>
              <a:lstStyle/>
              <a:p>
                <a:pPr marL="457200" indent="-457200">
                  <a:buFont typeface="+mj-lt"/>
                  <a:buAutoNum type="arabicPeriod" startAt="3"/>
                </a:pPr>
                <a:r>
                  <a:rPr lang="en-US" sz="2200" dirty="0">
                    <a:latin typeface="Verdana" panose="020B0604030504040204" pitchFamily="34" charset="0"/>
                    <a:ea typeface="Verdana" panose="020B0604030504040204" pitchFamily="34" charset="0"/>
                    <a:cs typeface="Verdana" panose="020B0604030504040204" pitchFamily="34" charset="0"/>
                  </a:rPr>
                  <a:t>The blanks in the addition equation represent digits in the values. </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Fill in the blanks for the addition equation below to create a true equation.</a:t>
                </a:r>
              </a:p>
              <a:p>
                <a:endParaRPr lang="en-US" sz="2400" i="1" dirty="0"/>
              </a:p>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ea typeface="Cambria Math" panose="02040503050406030204" pitchFamily="18" charset="0"/>
                        </a:rPr>
                        <m:t>16.537+6.1          8= </m:t>
                      </m:r>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ea typeface="Cambria Math" panose="02040503050406030204" pitchFamily="18" charset="0"/>
                        </a:rPr>
                        <m:t>10.          59</m:t>
                      </m:r>
                    </m:oMath>
                  </m:oMathPara>
                </a14:m>
                <a:endParaRPr lang="en-US" sz="2200" dirty="0">
                  <a:latin typeface="Cambria Math" panose="02040503050406030204" pitchFamily="18" charset="0"/>
                  <a:ea typeface="Cambria Math" panose="02040503050406030204" pitchFamily="18" charset="0"/>
                </a:endParaRPr>
              </a:p>
              <a:p>
                <a:r>
                  <a:rPr lang="en-US" sz="2400" dirty="0"/>
                  <a:t> </a:t>
                </a: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200" dirty="0">
                    <a:latin typeface="Verdana" panose="020B0604030504040204" pitchFamily="34" charset="0"/>
                    <a:ea typeface="Verdana" panose="020B0604030504040204" pitchFamily="34" charset="0"/>
                    <a:cs typeface="Verdana" panose="020B0604030504040204" pitchFamily="34" charset="0"/>
                  </a:rPr>
                  <a:t>Describe the process you used to determine the values for each of the blanks above.</a:t>
                </a:r>
              </a:p>
            </p:txBody>
          </p:sp>
        </mc:Choice>
        <mc:Fallback xmlns="">
          <p:sp>
            <p:nvSpPr>
              <p:cNvPr id="5" name="TextBox 4">
                <a:extLst>
                  <a:ext uri="{FF2B5EF4-FFF2-40B4-BE49-F238E27FC236}">
                    <a16:creationId xmlns:a16="http://schemas.microsoft.com/office/drawing/2014/main" xmlns:a14="http://schemas.microsoft.com/office/drawing/2010/main" xmlns="" id="{A3BC97A7-8575-5A46-8E72-A886A83AEC7E}"/>
                  </a:ext>
                </a:extLst>
              </p:cNvPr>
              <p:cNvSpPr txBox="1">
                <a:spLocks noRot="1" noChangeAspect="1" noMove="1" noResize="1" noEditPoints="1" noAdjustHandles="1" noChangeArrowheads="1" noChangeShapeType="1" noTextEdit="1"/>
              </p:cNvSpPr>
              <p:nvPr/>
            </p:nvSpPr>
            <p:spPr>
              <a:xfrm>
                <a:off x="1139483" y="386282"/>
                <a:ext cx="9913034" cy="3539430"/>
              </a:xfrm>
              <a:prstGeom prst="rect">
                <a:avLst/>
              </a:prstGeom>
              <a:blipFill rotWithShape="0">
                <a:blip r:embed="rId3"/>
                <a:stretch>
                  <a:fillRect l="-861" t="-1205" r="-1661" b="-2754"/>
                </a:stretch>
              </a:blipFill>
            </p:spPr>
            <p:txBody>
              <a:bodyPr/>
              <a:lstStyle/>
              <a:p>
                <a:r>
                  <a:rPr lang="en-US">
                    <a:noFill/>
                  </a:rPr>
                  <a:t> </a:t>
                </a:r>
              </a:p>
            </p:txBody>
          </p:sp>
        </mc:Fallback>
      </mc:AlternateContent>
      <p:sp>
        <p:nvSpPr>
          <p:cNvPr id="6" name="Rectangle 5"/>
          <p:cNvSpPr/>
          <p:nvPr/>
        </p:nvSpPr>
        <p:spPr>
          <a:xfrm>
            <a:off x="5730240" y="2480079"/>
            <a:ext cx="365760" cy="36830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Rectangle 6"/>
          <p:cNvSpPr/>
          <p:nvPr/>
        </p:nvSpPr>
        <p:spPr>
          <a:xfrm>
            <a:off x="7492538" y="2480079"/>
            <a:ext cx="365760" cy="36830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18385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F16EAAB6-B932-C047-9261-EF734547974E}"/>
              </a:ext>
            </a:extLst>
          </p:cNvPr>
          <p:cNvSpPr txBox="1"/>
          <p:nvPr/>
        </p:nvSpPr>
        <p:spPr>
          <a:xfrm>
            <a:off x="914400" y="422857"/>
            <a:ext cx="10363200" cy="1107996"/>
          </a:xfrm>
          <a:prstGeom prst="rect">
            <a:avLst/>
          </a:prstGeom>
          <a:noFill/>
        </p:spPr>
        <p:txBody>
          <a:bodyPr wrap="square" rtlCol="0">
            <a:spAutoFit/>
          </a:bodyPr>
          <a:lstStyle/>
          <a:p>
            <a:pPr marL="914400" indent="-447675">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Discuss your process with your partner. Write a summary of their process. Have your partner initial to show that your summary accurately expressed their process.</a:t>
            </a:r>
          </a:p>
        </p:txBody>
      </p:sp>
      <p:sp>
        <p:nvSpPr>
          <p:cNvPr id="6" name="Text Box 34"/>
          <p:cNvSpPr txBox="1"/>
          <p:nvPr/>
        </p:nvSpPr>
        <p:spPr>
          <a:xfrm>
            <a:off x="7071937" y="5099913"/>
            <a:ext cx="2237740" cy="70739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1800">
                <a:latin typeface="Verdana" panose="020B0604030504040204" pitchFamily="34" charset="0"/>
                <a:ea typeface="Times New Roman" panose="02020603050405020304" pitchFamily="18" charset="0"/>
                <a:cs typeface="Times New Roman" panose="02020603050405020304" pitchFamily="18" charset="0"/>
              </a:rPr>
              <a:t>Partner’s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r>
              <a:rPr lang="en-US" sz="1800">
                <a:latin typeface="Verdana" panose="020B0604030504040204" pitchFamily="34" charset="0"/>
                <a:ea typeface="Times New Roman" panose="02020603050405020304" pitchFamily="18" charset="0"/>
                <a:cs typeface="Times New Roman" panose="02020603050405020304" pitchFamily="18" charset="0"/>
              </a:rPr>
              <a:t>Initials      _____</a:t>
            </a:r>
            <a:endParaRPr lang="en-US" sz="1100">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015571411"/>
              </p:ext>
            </p:extLst>
          </p:nvPr>
        </p:nvGraphicFramePr>
        <p:xfrm>
          <a:off x="2667000" y="2114779"/>
          <a:ext cx="6858000" cy="3692525"/>
        </p:xfrm>
        <a:graphic>
          <a:graphicData uri="http://schemas.openxmlformats.org/drawingml/2006/table">
            <a:tbl>
              <a:tblPr firstRow="1" firstCol="1" bandRow="1">
                <a:tableStyleId>{5940675A-B579-460E-94D1-54222C63F5DA}</a:tableStyleId>
              </a:tblPr>
              <a:tblGrid>
                <a:gridCol w="6858000">
                  <a:extLst>
                    <a:ext uri="{9D8B030D-6E8A-4147-A177-3AD203B41FA5}">
                      <a16:colId xmlns:a16="http://schemas.microsoft.com/office/drawing/2014/main" val="20000"/>
                    </a:ext>
                  </a:extLst>
                </a:gridCol>
              </a:tblGrid>
              <a:tr h="0">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Your Partner’s Process</a:t>
                      </a:r>
                    </a:p>
                  </a:txBody>
                  <a:tcPr marL="68580" marR="68580" marT="0" marB="0" anchor="ctr">
                    <a:solidFill>
                      <a:schemeClr val="bg1">
                        <a:lumMod val="75000"/>
                      </a:schemeClr>
                    </a:solidFill>
                  </a:tcPr>
                </a:tc>
                <a:extLst>
                  <a:ext uri="{0D108BD9-81ED-4DB2-BD59-A6C34878D82A}">
                    <a16:rowId xmlns:a16="http://schemas.microsoft.com/office/drawing/2014/main" val="10000"/>
                  </a:ext>
                </a:extLst>
              </a:tr>
              <a:tr h="3365500">
                <a:tc>
                  <a:txBody>
                    <a:bodyPr/>
                    <a:lstStyle/>
                    <a:p>
                      <a:pPr marL="0" marR="0">
                        <a:lnSpc>
                          <a:spcPct val="107000"/>
                        </a:lnSpc>
                        <a:spcBef>
                          <a:spcPts val="0"/>
                        </a:spcBef>
                        <a:spcAft>
                          <a:spcPts val="0"/>
                        </a:spcAft>
                      </a:pPr>
                      <a:r>
                        <a:rPr lang="en-US" sz="1800" dirty="0">
                          <a:effectLst/>
                        </a:rPr>
                        <a:t> </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p:sp>
        <p:nvSpPr>
          <p:cNvPr id="9"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169</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341034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58173" y="136476"/>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11.1.6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710873" y="136476"/>
            <a:ext cx="747300" cy="747300"/>
          </a:xfrm>
          <a:prstGeom prst="rect">
            <a:avLst/>
          </a:prstGeom>
          <a:noFill/>
          <a:ln>
            <a:noFill/>
          </a:ln>
        </p:spPr>
      </p:pic>
      <p:sp>
        <p:nvSpPr>
          <p:cNvPr id="12" name="TextBox 11">
            <a:extLst>
              <a:ext uri="{FF2B5EF4-FFF2-40B4-BE49-F238E27FC236}">
                <a16:creationId xmlns:a16="http://schemas.microsoft.com/office/drawing/2014/main" id="{759C3E41-93EC-B84D-963F-86A3B15AC1C6}"/>
              </a:ext>
            </a:extLst>
          </p:cNvPr>
          <p:cNvSpPr txBox="1"/>
          <p:nvPr/>
        </p:nvSpPr>
        <p:spPr>
          <a:xfrm>
            <a:off x="1458173" y="1386025"/>
            <a:ext cx="8929411" cy="1107996"/>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Find the sum for each expression.</a:t>
            </a: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088314619"/>
                  </p:ext>
                </p:extLst>
              </p:nvPr>
            </p:nvGraphicFramePr>
            <p:xfrm>
              <a:off x="2519848" y="2144300"/>
              <a:ext cx="6784864" cy="4056301"/>
            </p:xfrm>
            <a:graphic>
              <a:graphicData uri="http://schemas.openxmlformats.org/drawingml/2006/table">
                <a:tbl>
                  <a:tblPr firstRow="1" firstCol="1" bandRow="1">
                    <a:tableStyleId>{2D5ABB26-0587-4C30-8999-92F81FD0307C}</a:tableStyleId>
                  </a:tblPr>
                  <a:tblGrid>
                    <a:gridCol w="3392432">
                      <a:extLst>
                        <a:ext uri="{9D8B030D-6E8A-4147-A177-3AD203B41FA5}">
                          <a16:colId xmlns:a16="http://schemas.microsoft.com/office/drawing/2014/main" val="20000"/>
                        </a:ext>
                      </a:extLst>
                    </a:gridCol>
                    <a:gridCol w="3392432">
                      <a:extLst>
                        <a:ext uri="{9D8B030D-6E8A-4147-A177-3AD203B41FA5}">
                          <a16:colId xmlns:a16="http://schemas.microsoft.com/office/drawing/2014/main" val="20001"/>
                        </a:ext>
                      </a:extLst>
                    </a:gridCol>
                  </a:tblGrid>
                  <a:tr h="1417410">
                    <a:tc>
                      <a:txBody>
                        <a:bodyPr/>
                        <a:lstStyle/>
                        <a:p>
                          <a:pPr marL="342900" marR="0" lvl="0" indent="-342900">
                            <a:lnSpc>
                              <a:spcPct val="107000"/>
                            </a:lnSpc>
                            <a:spcBef>
                              <a:spcPts val="0"/>
                            </a:spcBef>
                            <a:spcAft>
                              <a:spcPts val="0"/>
                            </a:spcAft>
                            <a:buFont typeface="+mj-lt"/>
                            <a:buAutoNum type="alphaLcPeriod"/>
                          </a:pPr>
                          <a:r>
                            <a:rPr lang="en-US" sz="2000" baseline="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r>
                                <a:rPr lang="en-US" sz="2000">
                                  <a:effectLst/>
                                  <a:latin typeface="Cambria Math" panose="02040503050406030204" pitchFamily="18" charset="0"/>
                                  <a:ea typeface="Cambria Math" panose="02040503050406030204" pitchFamily="18" charset="0"/>
                                </a:rPr>
                                <m:t> + </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8</m:t>
                                      </m:r>
                                    </m:den>
                                  </m:f>
                                </m:e>
                              </m:d>
                            </m:oMath>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4703" marR="34703" marT="0" marB="0"/>
                    </a:tc>
                    <a:tc>
                      <a:txBody>
                        <a:bodyPr/>
                        <a:lstStyle/>
                        <a:p>
                          <a:pPr marL="457200" marR="0" lvl="0" indent="-457200">
                            <a:lnSpc>
                              <a:spcPct val="107000"/>
                            </a:lnSpc>
                            <a:spcBef>
                              <a:spcPts val="0"/>
                            </a:spcBef>
                            <a:spcAft>
                              <a:spcPts val="0"/>
                            </a:spcAft>
                            <a:buFont typeface="+mj-lt"/>
                            <a:buAutoNum type="alphaLcPeriod" startAt="2"/>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−12.37 + 18.161</m:t>
                              </m:r>
                            </m:oMath>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4703" marR="34703" marT="0" marB="0"/>
                    </a:tc>
                    <a:extLst>
                      <a:ext uri="{0D108BD9-81ED-4DB2-BD59-A6C34878D82A}">
                        <a16:rowId xmlns:a16="http://schemas.microsoft.com/office/drawing/2014/main" val="10000"/>
                      </a:ext>
                    </a:extLst>
                  </a:tr>
                  <a:tr h="1380216">
                    <a:tc>
                      <a:txBody>
                        <a:bodyPr/>
                        <a:lstStyle/>
                        <a:p>
                          <a:pPr marL="457200" marR="0" lvl="0" indent="-457200">
                            <a:lnSpc>
                              <a:spcPct val="107000"/>
                            </a:lnSpc>
                            <a:spcBef>
                              <a:spcPts val="0"/>
                            </a:spcBef>
                            <a:spcAft>
                              <a:spcPts val="0"/>
                            </a:spcAft>
                            <a:buFont typeface="+mj-lt"/>
                            <a:buAutoNum type="alphaLcPeriod" startAt="3"/>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 (−7</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4</m:t>
                                  </m:r>
                                </m:den>
                              </m:f>
                              <m:r>
                                <a:rPr lang="en-US" sz="2000">
                                  <a:effectLst/>
                                  <a:latin typeface="Cambria Math" panose="02040503050406030204" pitchFamily="18" charset="0"/>
                                  <a:ea typeface="Cambria Math" panose="02040503050406030204" pitchFamily="18" charset="0"/>
                                </a:rPr>
                                <m:t>)</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34703" marR="34703" marT="0" marB="0"/>
                    </a:tc>
                    <a:tc>
                      <a:txBody>
                        <a:bodyPr/>
                        <a:lstStyle/>
                        <a:p>
                          <a:pPr marL="457200" marR="0" lvl="0" indent="-457200">
                            <a:lnSpc>
                              <a:spcPct val="107000"/>
                            </a:lnSpc>
                            <a:spcBef>
                              <a:spcPts val="0"/>
                            </a:spcBef>
                            <a:spcAft>
                              <a:spcPts val="0"/>
                            </a:spcAft>
                            <a:buFont typeface="+mj-lt"/>
                            <a:buAutoNum type="alphaLcPeriod" startAt="4"/>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−4.48 + 9.366</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34703" marR="34703" marT="0" marB="0"/>
                    </a:tc>
                    <a:extLst>
                      <a:ext uri="{0D108BD9-81ED-4DB2-BD59-A6C34878D82A}">
                        <a16:rowId xmlns:a16="http://schemas.microsoft.com/office/drawing/2014/main" val="10001"/>
                      </a:ext>
                    </a:extLst>
                  </a:tr>
                  <a:tr h="1258675">
                    <a:tc>
                      <a:txBody>
                        <a:bodyPr/>
                        <a:lstStyle/>
                        <a:p>
                          <a:pPr marL="457200" marR="0" lvl="0" indent="-457200">
                            <a:lnSpc>
                              <a:spcPct val="107000"/>
                            </a:lnSpc>
                            <a:spcBef>
                              <a:spcPts val="0"/>
                            </a:spcBef>
                            <a:spcAft>
                              <a:spcPts val="0"/>
                            </a:spcAft>
                            <a:buFont typeface="+mj-lt"/>
                            <a:buAutoNum type="alphaLcPeriod" startAt="5"/>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−233.24 + 25.8</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34703" marR="34703" marT="0" marB="0"/>
                    </a:tc>
                    <a:tc>
                      <a:txBody>
                        <a:bodyPr/>
                        <a:lstStyle/>
                        <a:p>
                          <a:pPr marL="457200" marR="0" lvl="0" indent="-457200">
                            <a:lnSpc>
                              <a:spcPct val="107000"/>
                            </a:lnSpc>
                            <a:spcBef>
                              <a:spcPts val="0"/>
                            </a:spcBef>
                            <a:spcAft>
                              <a:spcPts val="0"/>
                            </a:spcAft>
                            <a:buFont typeface="+mj-lt"/>
                            <a:buAutoNum type="alphaLcPeriod" startAt="6"/>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−4</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7</m:t>
                                  </m:r>
                                </m:den>
                              </m:f>
                              <m:r>
                                <a:rPr lang="en-US" sz="2000">
                                  <a:effectLst/>
                                  <a:latin typeface="Cambria Math" panose="02040503050406030204" pitchFamily="18" charset="0"/>
                                  <a:ea typeface="Cambria Math" panose="02040503050406030204" pitchFamily="18" charset="0"/>
                                </a:rPr>
                                <m:t> + 17</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9</m:t>
                                  </m:r>
                                </m:den>
                              </m:f>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34703" marR="34703" marT="0" marB="0"/>
                    </a:tc>
                    <a:extLst>
                      <a:ext uri="{0D108BD9-81ED-4DB2-BD59-A6C34878D82A}">
                        <a16:rowId xmlns:a16="http://schemas.microsoft.com/office/drawing/2014/main" val="10002"/>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088314619"/>
                  </p:ext>
                </p:extLst>
              </p:nvPr>
            </p:nvGraphicFramePr>
            <p:xfrm>
              <a:off x="995848" y="2144299"/>
              <a:ext cx="6784864" cy="4056301"/>
            </p:xfrm>
            <a:graphic>
              <a:graphicData uri="http://schemas.openxmlformats.org/drawingml/2006/table">
                <a:tbl>
                  <a:tblPr firstRow="1" firstCol="1" bandRow="1">
                    <a:tableStyleId>{2D5ABB26-0587-4C30-8999-92F81FD0307C}</a:tableStyleId>
                  </a:tblPr>
                  <a:tblGrid>
                    <a:gridCol w="3392432"/>
                    <a:gridCol w="3392432"/>
                  </a:tblGrid>
                  <a:tr h="1417410">
                    <a:tc>
                      <a:txBody>
                        <a:bodyPr/>
                        <a:lstStyle/>
                        <a:p>
                          <a:endParaRPr lang="en-US"/>
                        </a:p>
                      </a:txBody>
                      <a:tcPr marL="34703" marR="34703" marT="0" marB="0">
                        <a:blipFill rotWithShape="0">
                          <a:blip r:embed="rId5"/>
                          <a:stretch>
                            <a:fillRect t="-6009" r="-100000" b="-186266"/>
                          </a:stretch>
                        </a:blipFill>
                      </a:tcPr>
                    </a:tc>
                    <a:tc>
                      <a:txBody>
                        <a:bodyPr/>
                        <a:lstStyle/>
                        <a:p>
                          <a:endParaRPr lang="en-US"/>
                        </a:p>
                      </a:txBody>
                      <a:tcPr marL="34703" marR="34703" marT="0" marB="0">
                        <a:blipFill rotWithShape="0">
                          <a:blip r:embed="rId5"/>
                          <a:stretch>
                            <a:fillRect l="-100000" t="-6009" b="-186266"/>
                          </a:stretch>
                        </a:blipFill>
                      </a:tcPr>
                    </a:tc>
                  </a:tr>
                  <a:tr h="1380216">
                    <a:tc>
                      <a:txBody>
                        <a:bodyPr/>
                        <a:lstStyle/>
                        <a:p>
                          <a:endParaRPr lang="en-US"/>
                        </a:p>
                      </a:txBody>
                      <a:tcPr marL="34703" marR="34703" marT="0" marB="0">
                        <a:blipFill rotWithShape="0">
                          <a:blip r:embed="rId5"/>
                          <a:stretch>
                            <a:fillRect t="-108811" r="-100000" b="-91189"/>
                          </a:stretch>
                        </a:blipFill>
                      </a:tcPr>
                    </a:tc>
                    <a:tc>
                      <a:txBody>
                        <a:bodyPr/>
                        <a:lstStyle/>
                        <a:p>
                          <a:endParaRPr lang="en-US"/>
                        </a:p>
                      </a:txBody>
                      <a:tcPr marL="34703" marR="34703" marT="0" marB="0">
                        <a:blipFill rotWithShape="0">
                          <a:blip r:embed="rId5"/>
                          <a:stretch>
                            <a:fillRect l="-100000" t="-108811" b="-91189"/>
                          </a:stretch>
                        </a:blipFill>
                      </a:tcPr>
                    </a:tc>
                  </a:tr>
                  <a:tr h="1258675">
                    <a:tc>
                      <a:txBody>
                        <a:bodyPr/>
                        <a:lstStyle/>
                        <a:p>
                          <a:endParaRPr lang="en-US"/>
                        </a:p>
                      </a:txBody>
                      <a:tcPr marL="34703" marR="34703" marT="0" marB="0">
                        <a:blipFill rotWithShape="0">
                          <a:blip r:embed="rId5"/>
                          <a:stretch>
                            <a:fillRect t="-228986" r="-100000"/>
                          </a:stretch>
                        </a:blipFill>
                      </a:tcPr>
                    </a:tc>
                    <a:tc>
                      <a:txBody>
                        <a:bodyPr/>
                        <a:lstStyle/>
                        <a:p>
                          <a:endParaRPr lang="en-US"/>
                        </a:p>
                      </a:txBody>
                      <a:tcPr marL="34703" marR="34703" marT="0" marB="0">
                        <a:blipFill rotWithShape="0">
                          <a:blip r:embed="rId5"/>
                          <a:stretch>
                            <a:fillRect l="-100000" t="-228986"/>
                          </a:stretch>
                        </a:blipFill>
                      </a:tcPr>
                    </a:tc>
                  </a:tr>
                </a:tbl>
              </a:graphicData>
            </a:graphic>
          </p:graphicFrame>
        </mc:Fallback>
      </mc:AlternateContent>
      <p:sp>
        <p:nvSpPr>
          <p:cNvPr id="11"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170</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170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9974"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89260" y="-174702"/>
            <a:ext cx="1070273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11.1.7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59811" y="108874"/>
            <a:ext cx="747300" cy="747300"/>
          </a:xfrm>
          <a:prstGeom prst="rect">
            <a:avLst/>
          </a:prstGeom>
          <a:noFill/>
          <a:ln>
            <a:noFill/>
          </a:ln>
        </p:spPr>
      </p:pic>
      <p:sp>
        <p:nvSpPr>
          <p:cNvPr id="12" name="TextBox 11">
            <a:extLst>
              <a:ext uri="{FF2B5EF4-FFF2-40B4-BE49-F238E27FC236}">
                <a16:creationId xmlns:a16="http://schemas.microsoft.com/office/drawing/2014/main" id="{0370EDB7-6994-3D43-ABF9-E04CBAFB9CD9}"/>
              </a:ext>
            </a:extLst>
          </p:cNvPr>
          <p:cNvSpPr txBox="1"/>
          <p:nvPr/>
        </p:nvSpPr>
        <p:spPr>
          <a:xfrm>
            <a:off x="1012874" y="1190079"/>
            <a:ext cx="10455532" cy="4832092"/>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Choose a value from Row A and a value from Row B that, when added, will result in a negative answer. Then, calculate the sum.</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algn="ctr"/>
            <a:r>
              <a:rPr lang="en-US" sz="2200" b="1" dirty="0">
                <a:latin typeface="Verdana" panose="020B0604030504040204" pitchFamily="34" charset="0"/>
                <a:ea typeface="Verdana" panose="020B0604030504040204" pitchFamily="34" charset="0"/>
                <a:cs typeface="Verdana" panose="020B0604030504040204" pitchFamily="34" charset="0"/>
              </a:rPr>
              <a:t>Row A</a:t>
            </a:r>
          </a:p>
          <a:p>
            <a:pPr algn="ctr"/>
            <a:endParaRPr lang="en-US" sz="2200" b="1" dirty="0">
              <a:latin typeface="Verdana" panose="020B0604030504040204" pitchFamily="34" charset="0"/>
              <a:ea typeface="Verdana" panose="020B0604030504040204" pitchFamily="34" charset="0"/>
              <a:cs typeface="Verdana" panose="020B0604030504040204" pitchFamily="34" charset="0"/>
            </a:endParaRPr>
          </a:p>
          <a:p>
            <a:pPr algn="ctr"/>
            <a:endParaRPr lang="en-US" sz="2200" b="1" dirty="0">
              <a:latin typeface="Verdana" panose="020B0604030504040204" pitchFamily="34" charset="0"/>
              <a:ea typeface="Verdana" panose="020B0604030504040204" pitchFamily="34" charset="0"/>
              <a:cs typeface="Verdana" panose="020B0604030504040204" pitchFamily="34" charset="0"/>
            </a:endParaRPr>
          </a:p>
          <a:p>
            <a:pPr algn="ctr"/>
            <a:endParaRPr lang="en-US" sz="2200" b="1" dirty="0">
              <a:latin typeface="Verdana" panose="020B0604030504040204" pitchFamily="34" charset="0"/>
              <a:ea typeface="Verdana" panose="020B0604030504040204" pitchFamily="34" charset="0"/>
              <a:cs typeface="Verdana" panose="020B0604030504040204" pitchFamily="34" charset="0"/>
            </a:endParaRPr>
          </a:p>
          <a:p>
            <a:pPr algn="ctr"/>
            <a:r>
              <a:rPr lang="en-US" sz="2200" b="1" dirty="0">
                <a:latin typeface="Verdana" panose="020B0604030504040204" pitchFamily="34" charset="0"/>
                <a:ea typeface="Verdana" panose="020B0604030504040204" pitchFamily="34" charset="0"/>
                <a:cs typeface="Verdana" panose="020B0604030504040204" pitchFamily="34" charset="0"/>
              </a:rPr>
              <a:t>Row B</a:t>
            </a:r>
          </a:p>
          <a:p>
            <a:endParaRPr lang="en-US" sz="2200" b="1" dirty="0">
              <a:latin typeface="Verdana" panose="020B0604030504040204" pitchFamily="34" charset="0"/>
              <a:ea typeface="Verdana" panose="020B0604030504040204" pitchFamily="34" charset="0"/>
              <a:cs typeface="Verdana" panose="020B0604030504040204" pitchFamily="34" charset="0"/>
            </a:endParaRPr>
          </a:p>
          <a:p>
            <a:endParaRPr lang="en-US" sz="2200" b="1" dirty="0">
              <a:latin typeface="Verdana" panose="020B0604030504040204" pitchFamily="34" charset="0"/>
              <a:ea typeface="Verdana" panose="020B0604030504040204" pitchFamily="34" charset="0"/>
              <a:cs typeface="Verdana" panose="020B0604030504040204" pitchFamily="34" charset="0"/>
            </a:endParaRPr>
          </a:p>
          <a:p>
            <a:endParaRPr lang="en-US" sz="2200" b="1" dirty="0">
              <a:latin typeface="Verdana" panose="020B0604030504040204" pitchFamily="34" charset="0"/>
              <a:ea typeface="Verdana" panose="020B0604030504040204" pitchFamily="34" charset="0"/>
              <a:cs typeface="Verdana" panose="020B0604030504040204" pitchFamily="34" charset="0"/>
            </a:endParaRPr>
          </a:p>
          <a:p>
            <a:endParaRPr lang="en-US" sz="2200" b="1" dirty="0">
              <a:latin typeface="Verdana" panose="020B0604030504040204" pitchFamily="34" charset="0"/>
              <a:ea typeface="Verdana" panose="020B0604030504040204" pitchFamily="34" charset="0"/>
              <a:cs typeface="Verdana" panose="020B0604030504040204" pitchFamily="34" charset="0"/>
            </a:endParaRPr>
          </a:p>
          <a:p>
            <a:endParaRPr lang="en-US" sz="2200" b="1" dirty="0">
              <a:latin typeface="Verdana" panose="020B0604030504040204" pitchFamily="34" charset="0"/>
              <a:ea typeface="Verdana" panose="020B0604030504040204" pitchFamily="34" charset="0"/>
              <a:cs typeface="Verdana" panose="020B0604030504040204" pitchFamily="34" charset="0"/>
            </a:endParaRPr>
          </a:p>
          <a:p>
            <a:endParaRPr lang="en-US" sz="2200" b="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247470161"/>
                  </p:ext>
                </p:extLst>
              </p:nvPr>
            </p:nvGraphicFramePr>
            <p:xfrm>
              <a:off x="4459466" y="2574983"/>
              <a:ext cx="3781218" cy="849842"/>
            </p:xfrm>
            <a:graphic>
              <a:graphicData uri="http://schemas.openxmlformats.org/drawingml/2006/table">
                <a:tbl>
                  <a:tblPr firstRow="1" firstCol="1" bandRow="1">
                    <a:tableStyleId>{5940675A-B579-460E-94D1-54222C63F5DA}</a:tableStyleId>
                  </a:tblPr>
                  <a:tblGrid>
                    <a:gridCol w="1260406">
                      <a:extLst>
                        <a:ext uri="{9D8B030D-6E8A-4147-A177-3AD203B41FA5}">
                          <a16:colId xmlns:a16="http://schemas.microsoft.com/office/drawing/2014/main" val="20000"/>
                        </a:ext>
                      </a:extLst>
                    </a:gridCol>
                    <a:gridCol w="1260406">
                      <a:extLst>
                        <a:ext uri="{9D8B030D-6E8A-4147-A177-3AD203B41FA5}">
                          <a16:colId xmlns:a16="http://schemas.microsoft.com/office/drawing/2014/main" val="20001"/>
                        </a:ext>
                      </a:extLst>
                    </a:gridCol>
                    <a:gridCol w="1260406">
                      <a:extLst>
                        <a:ext uri="{9D8B030D-6E8A-4147-A177-3AD203B41FA5}">
                          <a16:colId xmlns:a16="http://schemas.microsoft.com/office/drawing/2014/main" val="20002"/>
                        </a:ext>
                      </a:extLst>
                    </a:gridCol>
                  </a:tblGrid>
                  <a:tr h="849842">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5</m:t>
                                    </m:r>
                                  </m:den>
                                </m:f>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8</m:t>
                                    </m:r>
                                  </m:den>
                                </m:f>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4</m:t>
                                    </m:r>
                                  </m:den>
                                </m:f>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247470161"/>
                  </p:ext>
                </p:extLst>
              </p:nvPr>
            </p:nvGraphicFramePr>
            <p:xfrm>
              <a:off x="2935466" y="2574983"/>
              <a:ext cx="3781218" cy="849842"/>
            </p:xfrm>
            <a:graphic>
              <a:graphicData uri="http://schemas.openxmlformats.org/drawingml/2006/table">
                <a:tbl>
                  <a:tblPr firstRow="1" firstCol="1" bandRow="1">
                    <a:tableStyleId>{5940675A-B579-460E-94D1-54222C63F5DA}</a:tableStyleId>
                  </a:tblPr>
                  <a:tblGrid>
                    <a:gridCol w="1260406"/>
                    <a:gridCol w="1260406"/>
                    <a:gridCol w="1260406"/>
                  </a:tblGrid>
                  <a:tr h="849842">
                    <a:tc>
                      <a:txBody>
                        <a:bodyPr/>
                        <a:lstStyle/>
                        <a:p>
                          <a:endParaRPr lang="en-US"/>
                        </a:p>
                      </a:txBody>
                      <a:tcPr marL="68580" marR="68580" marT="0" marB="0" anchor="ctr">
                        <a:blipFill rotWithShape="0">
                          <a:blip r:embed="rId5"/>
                          <a:stretch>
                            <a:fillRect l="-483" t="-714" r="-200966" b="-1429"/>
                          </a:stretch>
                        </a:blipFill>
                      </a:tcPr>
                    </a:tc>
                    <a:tc>
                      <a:txBody>
                        <a:bodyPr/>
                        <a:lstStyle/>
                        <a:p>
                          <a:endParaRPr lang="en-US"/>
                        </a:p>
                      </a:txBody>
                      <a:tcPr marL="68580" marR="68580" marT="0" marB="0" anchor="ctr">
                        <a:blipFill rotWithShape="0">
                          <a:blip r:embed="rId5"/>
                          <a:stretch>
                            <a:fillRect l="-100483" t="-714" r="-100966" b="-1429"/>
                          </a:stretch>
                        </a:blipFill>
                      </a:tcPr>
                    </a:tc>
                    <a:tc>
                      <a:txBody>
                        <a:bodyPr/>
                        <a:lstStyle/>
                        <a:p>
                          <a:endParaRPr lang="en-US"/>
                        </a:p>
                      </a:txBody>
                      <a:tcPr marL="68580" marR="68580" marT="0" marB="0" anchor="ctr">
                        <a:blipFill rotWithShape="0">
                          <a:blip r:embed="rId5"/>
                          <a:stretch>
                            <a:fillRect l="-200483" t="-714" r="-966" b="-1429"/>
                          </a:stretch>
                        </a:blip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864387746"/>
                  </p:ext>
                </p:extLst>
              </p:nvPr>
            </p:nvGraphicFramePr>
            <p:xfrm>
              <a:off x="4459466" y="4006449"/>
              <a:ext cx="3781218" cy="880861"/>
            </p:xfrm>
            <a:graphic>
              <a:graphicData uri="http://schemas.openxmlformats.org/drawingml/2006/table">
                <a:tbl>
                  <a:tblPr firstRow="1" firstCol="1" bandRow="1">
                    <a:tableStyleId>{5940675A-B579-460E-94D1-54222C63F5DA}</a:tableStyleId>
                  </a:tblPr>
                  <a:tblGrid>
                    <a:gridCol w="1260406">
                      <a:extLst>
                        <a:ext uri="{9D8B030D-6E8A-4147-A177-3AD203B41FA5}">
                          <a16:colId xmlns:a16="http://schemas.microsoft.com/office/drawing/2014/main" val="20000"/>
                        </a:ext>
                      </a:extLst>
                    </a:gridCol>
                    <a:gridCol w="1260406">
                      <a:extLst>
                        <a:ext uri="{9D8B030D-6E8A-4147-A177-3AD203B41FA5}">
                          <a16:colId xmlns:a16="http://schemas.microsoft.com/office/drawing/2014/main" val="20001"/>
                        </a:ext>
                      </a:extLst>
                    </a:gridCol>
                    <a:gridCol w="1260406">
                      <a:extLst>
                        <a:ext uri="{9D8B030D-6E8A-4147-A177-3AD203B41FA5}">
                          <a16:colId xmlns:a16="http://schemas.microsoft.com/office/drawing/2014/main" val="20002"/>
                        </a:ext>
                      </a:extLst>
                    </a:gridCol>
                  </a:tblGrid>
                  <a:tr h="88086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6</m:t>
                                    </m:r>
                                  </m:num>
                                  <m:den>
                                    <m:r>
                                      <a:rPr lang="en-US" sz="2000">
                                        <a:effectLst/>
                                        <a:latin typeface="Cambria Math" panose="02040503050406030204" pitchFamily="18" charset="0"/>
                                        <a:ea typeface="Cambria Math" panose="02040503050406030204" pitchFamily="18" charset="0"/>
                                      </a:rPr>
                                      <m:t>25</m:t>
                                    </m:r>
                                  </m:den>
                                </m:f>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19</m:t>
                                    </m:r>
                                  </m:num>
                                  <m:den>
                                    <m:r>
                                      <a:rPr lang="en-US" sz="2000">
                                        <a:effectLst/>
                                        <a:latin typeface="Cambria Math" panose="02040503050406030204" pitchFamily="18" charset="0"/>
                                        <a:ea typeface="Cambria Math" panose="02040503050406030204" pitchFamily="18" charset="0"/>
                                      </a:rPr>
                                      <m:t>40</m:t>
                                    </m:r>
                                  </m:den>
                                </m:f>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864387746"/>
                  </p:ext>
                </p:extLst>
              </p:nvPr>
            </p:nvGraphicFramePr>
            <p:xfrm>
              <a:off x="2935466" y="4006448"/>
              <a:ext cx="3781218" cy="880861"/>
            </p:xfrm>
            <a:graphic>
              <a:graphicData uri="http://schemas.openxmlformats.org/drawingml/2006/table">
                <a:tbl>
                  <a:tblPr firstRow="1" firstCol="1" bandRow="1">
                    <a:tableStyleId>{5940675A-B579-460E-94D1-54222C63F5DA}</a:tableStyleId>
                  </a:tblPr>
                  <a:tblGrid>
                    <a:gridCol w="1260406"/>
                    <a:gridCol w="1260406"/>
                    <a:gridCol w="1260406"/>
                  </a:tblGrid>
                  <a:tr h="880861">
                    <a:tc>
                      <a:txBody>
                        <a:bodyPr/>
                        <a:lstStyle/>
                        <a:p>
                          <a:endParaRPr lang="en-US"/>
                        </a:p>
                      </a:txBody>
                      <a:tcPr marL="68580" marR="68580" marT="0" marB="0" anchor="ctr">
                        <a:blipFill rotWithShape="0">
                          <a:blip r:embed="rId6"/>
                          <a:stretch>
                            <a:fillRect l="-483" t="-690" r="-200966" b="-1379"/>
                          </a:stretch>
                        </a:blipFill>
                      </a:tcPr>
                    </a:tc>
                    <a:tc>
                      <a:txBody>
                        <a:bodyPr/>
                        <a:lstStyle/>
                        <a:p>
                          <a:endParaRPr lang="en-US"/>
                        </a:p>
                      </a:txBody>
                      <a:tcPr marL="68580" marR="68580" marT="0" marB="0" anchor="ctr">
                        <a:blipFill rotWithShape="0">
                          <a:blip r:embed="rId6"/>
                          <a:stretch>
                            <a:fillRect l="-100483" t="-690" r="-100966" b="-1379"/>
                          </a:stretch>
                        </a:blipFill>
                      </a:tcPr>
                    </a:tc>
                    <a:tc>
                      <a:txBody>
                        <a:bodyPr/>
                        <a:lstStyle/>
                        <a:p>
                          <a:endParaRPr lang="en-US"/>
                        </a:p>
                      </a:txBody>
                      <a:tcPr marL="68580" marR="68580" marT="0" marB="0" anchor="ctr">
                        <a:blipFill rotWithShape="0">
                          <a:blip r:embed="rId6"/>
                          <a:stretch>
                            <a:fillRect l="-200483" t="-690" r="-966" b="-1379"/>
                          </a:stretch>
                        </a:blipFill>
                      </a:tcPr>
                    </a:tc>
                  </a:tr>
                </a:tbl>
              </a:graphicData>
            </a:graphic>
          </p:graphicFrame>
        </mc:Fallback>
      </mc:AlternateContent>
      <p:graphicFrame>
        <p:nvGraphicFramePr>
          <p:cNvPr id="8" name="Table 7"/>
          <p:cNvGraphicFramePr>
            <a:graphicFrameLocks noGrp="1"/>
          </p:cNvGraphicFramePr>
          <p:nvPr>
            <p:extLst>
              <p:ext uri="{D42A27DB-BD31-4B8C-83A1-F6EECF244321}">
                <p14:modId xmlns:p14="http://schemas.microsoft.com/office/powerpoint/2010/main" val="4036605408"/>
              </p:ext>
            </p:extLst>
          </p:nvPr>
        </p:nvGraphicFramePr>
        <p:xfrm>
          <a:off x="3641903" y="5165815"/>
          <a:ext cx="5197475" cy="327025"/>
        </p:xfrm>
        <a:graphic>
          <a:graphicData uri="http://schemas.openxmlformats.org/drawingml/2006/table">
            <a:tbl>
              <a:tblPr firstRow="1" firstCol="1" bandRow="1">
                <a:tableStyleId>{2D5ABB26-0587-4C30-8999-92F81FD0307C}</a:tableStyleId>
              </a:tblPr>
              <a:tblGrid>
                <a:gridCol w="1371600">
                  <a:extLst>
                    <a:ext uri="{9D8B030D-6E8A-4147-A177-3AD203B41FA5}">
                      <a16:colId xmlns:a16="http://schemas.microsoft.com/office/drawing/2014/main" val="20000"/>
                    </a:ext>
                  </a:extLst>
                </a:gridCol>
                <a:gridCol w="586105">
                  <a:extLst>
                    <a:ext uri="{9D8B030D-6E8A-4147-A177-3AD203B41FA5}">
                      <a16:colId xmlns:a16="http://schemas.microsoft.com/office/drawing/2014/main" val="20001"/>
                    </a:ext>
                  </a:extLst>
                </a:gridCol>
                <a:gridCol w="1291590">
                  <a:extLst>
                    <a:ext uri="{9D8B030D-6E8A-4147-A177-3AD203B41FA5}">
                      <a16:colId xmlns:a16="http://schemas.microsoft.com/office/drawing/2014/main" val="20002"/>
                    </a:ext>
                  </a:extLst>
                </a:gridCol>
                <a:gridCol w="636905">
                  <a:extLst>
                    <a:ext uri="{9D8B030D-6E8A-4147-A177-3AD203B41FA5}">
                      <a16:colId xmlns:a16="http://schemas.microsoft.com/office/drawing/2014/main" val="20003"/>
                    </a:ext>
                  </a:extLst>
                </a:gridCol>
                <a:gridCol w="1311275">
                  <a:extLst>
                    <a:ext uri="{9D8B030D-6E8A-4147-A177-3AD203B41FA5}">
                      <a16:colId xmlns:a16="http://schemas.microsoft.com/office/drawing/2014/main" val="20004"/>
                    </a:ext>
                  </a:extLst>
                </a:gridCol>
              </a:tblGrid>
              <a:tr h="288925">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Row A</a:t>
                      </a:r>
                    </a:p>
                  </a:txBody>
                  <a:tcPr marL="68580" marR="68580" marT="0" marB="0" anchor="ct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Row B</a:t>
                      </a:r>
                    </a:p>
                  </a:txBody>
                  <a:tcPr marL="68580" marR="68580" marT="0" marB="0" anchor="ct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lnSpc>
                          <a:spcPct val="107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Sum</a:t>
                      </a:r>
                    </a:p>
                  </a:txBody>
                  <a:tcPr marL="68580" marR="68580" marT="0" marB="0" anchor="ctr"/>
                </a:tc>
                <a:extLst>
                  <a:ext uri="{0D108BD9-81ED-4DB2-BD59-A6C34878D82A}">
                    <a16:rowId xmlns:a16="http://schemas.microsoft.com/office/drawing/2014/main" val="10000"/>
                  </a:ext>
                </a:extLst>
              </a:tr>
            </a:tbl>
          </a:graphicData>
        </a:graphic>
      </p:graphicFrame>
      <p:sp>
        <p:nvSpPr>
          <p:cNvPr id="14" name="Rectangle 13"/>
          <p:cNvSpPr/>
          <p:nvPr/>
        </p:nvSpPr>
        <p:spPr>
          <a:xfrm>
            <a:off x="3817851" y="5771531"/>
            <a:ext cx="965200" cy="6330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Rectangle 14"/>
          <p:cNvSpPr/>
          <p:nvPr/>
        </p:nvSpPr>
        <p:spPr>
          <a:xfrm>
            <a:off x="5867475" y="5771531"/>
            <a:ext cx="965200" cy="6330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Rectangle 15"/>
          <p:cNvSpPr/>
          <p:nvPr/>
        </p:nvSpPr>
        <p:spPr>
          <a:xfrm>
            <a:off x="7758084" y="5771345"/>
            <a:ext cx="965200" cy="6330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10" name="Rectangle 9"/>
              <p:cNvSpPr/>
              <p:nvPr/>
            </p:nvSpPr>
            <p:spPr>
              <a:xfrm>
                <a:off x="7094922" y="5813195"/>
                <a:ext cx="44755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m:t>
                      </m:r>
                    </m:oMath>
                  </m:oMathPara>
                </a14:m>
                <a:endParaRPr lang="en-US" sz="2000" dirty="0"/>
              </a:p>
            </p:txBody>
          </p:sp>
        </mc:Choice>
        <mc:Fallback xmlns="">
          <p:sp>
            <p:nvSpPr>
              <p:cNvPr id="10" name="Rectangle 9"/>
              <p:cNvSpPr>
                <a:spLocks noRot="1" noChangeAspect="1" noMove="1" noResize="1" noEditPoints="1" noAdjustHandles="1" noChangeArrowheads="1" noChangeShapeType="1" noTextEdit="1"/>
              </p:cNvSpPr>
              <p:nvPr/>
            </p:nvSpPr>
            <p:spPr>
              <a:xfrm>
                <a:off x="5570922" y="5813195"/>
                <a:ext cx="447558" cy="40011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5087978" y="5839813"/>
                <a:ext cx="44755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a:latin typeface="Cambria Math" panose="02040503050406030204" pitchFamily="18" charset="0"/>
                        </a:rPr>
                        <m:t>+</m:t>
                      </m:r>
                    </m:oMath>
                  </m:oMathPara>
                </a14:m>
                <a:endParaRPr lang="en-US" sz="2000" dirty="0"/>
              </a:p>
            </p:txBody>
          </p:sp>
        </mc:Choice>
        <mc:Fallback xmlns="">
          <p:sp>
            <p:nvSpPr>
              <p:cNvPr id="11" name="Rectangle 10"/>
              <p:cNvSpPr>
                <a:spLocks noRot="1" noChangeAspect="1" noMove="1" noResize="1" noEditPoints="1" noAdjustHandles="1" noChangeArrowheads="1" noChangeShapeType="1" noTextEdit="1"/>
              </p:cNvSpPr>
              <p:nvPr/>
            </p:nvSpPr>
            <p:spPr>
              <a:xfrm>
                <a:off x="3563978" y="5839813"/>
                <a:ext cx="447558" cy="400110"/>
              </a:xfrm>
              <a:prstGeom prst="rect">
                <a:avLst/>
              </a:prstGeom>
              <a:blipFill rotWithShape="0">
                <a:blip r:embed="rId8"/>
                <a:stretch>
                  <a:fillRect/>
                </a:stretch>
              </a:blipFill>
            </p:spPr>
            <p:txBody>
              <a:bodyPr/>
              <a:lstStyle/>
              <a:p>
                <a:r>
                  <a:rPr lang="en-US">
                    <a:noFill/>
                  </a:rPr>
                  <a:t> </a:t>
                </a:r>
              </a:p>
            </p:txBody>
          </p:sp>
        </mc:Fallback>
      </mc:AlternateContent>
      <p:sp>
        <p:nvSpPr>
          <p:cNvPr id="18" name="Google Shape;282;g104476d1465_1_17"/>
          <p:cNvSpPr txBox="1"/>
          <p:nvPr/>
        </p:nvSpPr>
        <p:spPr>
          <a:xfrm>
            <a:off x="872152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170</a:t>
            </a:r>
            <a:endParaRPr i="1" dirty="0">
              <a:latin typeface="Calibri"/>
              <a:ea typeface="Calibri"/>
              <a:cs typeface="Calibri"/>
              <a:sym typeface="Calibri"/>
            </a:endParaRPr>
          </a:p>
        </p:txBody>
      </p:sp>
      <p:pic>
        <p:nvPicPr>
          <p:cNvPr id="19" name="Google Shape;283;g104476d1465_1_17"/>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1145974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1367</TotalTime>
  <Words>1299</Words>
  <Application>Microsoft Office PowerPoint</Application>
  <PresentationFormat>Widescreen</PresentationFormat>
  <Paragraphs>299</Paragraphs>
  <Slides>28</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Arial Black</vt:lpstr>
      <vt:lpstr>Calibri</vt:lpstr>
      <vt:lpstr>Cambria Math</vt:lpstr>
      <vt:lpstr>Century Gothic</vt:lpstr>
      <vt:lpstr>Verdana</vt:lpstr>
      <vt:lpstr>1_Office Theme</vt:lpstr>
      <vt:lpstr>6th Grade Accelerated Math  Unit 11, Lesson 1  Adding Rational Numbers  Volume 2, pg. 165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Try It</vt:lpstr>
      <vt:lpstr>PowerPoint Presentation</vt:lpstr>
      <vt:lpstr>Refresher</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30</cp:revision>
  <dcterms:created xsi:type="dcterms:W3CDTF">2015-03-17T18:51:18Z</dcterms:created>
  <dcterms:modified xsi:type="dcterms:W3CDTF">2022-07-02T03:29:27Z</dcterms:modified>
</cp:coreProperties>
</file>