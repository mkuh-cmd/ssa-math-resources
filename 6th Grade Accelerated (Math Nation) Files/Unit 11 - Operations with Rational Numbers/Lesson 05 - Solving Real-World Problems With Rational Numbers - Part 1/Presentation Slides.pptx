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57" r:id="rId3"/>
    <p:sldId id="285" r:id="rId4"/>
    <p:sldId id="286" r:id="rId5"/>
    <p:sldId id="261" r:id="rId6"/>
    <p:sldId id="287" r:id="rId7"/>
    <p:sldId id="288" r:id="rId8"/>
    <p:sldId id="314" r:id="rId9"/>
    <p:sldId id="315" r:id="rId10"/>
    <p:sldId id="316" r:id="rId11"/>
    <p:sldId id="317" r:id="rId12"/>
    <p:sldId id="318" r:id="rId13"/>
    <p:sldId id="289" r:id="rId14"/>
    <p:sldId id="290" r:id="rId15"/>
    <p:sldId id="319" r:id="rId16"/>
    <p:sldId id="308" r:id="rId17"/>
    <p:sldId id="320" r:id="rId18"/>
    <p:sldId id="321" r:id="rId19"/>
    <p:sldId id="302" r:id="rId20"/>
    <p:sldId id="303" r:id="rId21"/>
    <p:sldId id="309" r:id="rId22"/>
    <p:sldId id="322" r:id="rId23"/>
    <p:sldId id="306" r:id="rId24"/>
    <p:sldId id="307" r:id="rId25"/>
    <p:sldId id="310"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99C8"/>
    <a:srgbClr val="1F3165"/>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9" autoAdjust="0"/>
    <p:restoredTop sz="94695"/>
  </p:normalViewPr>
  <p:slideViewPr>
    <p:cSldViewPr snapToGrid="0">
      <p:cViewPr varScale="1">
        <p:scale>
          <a:sx n="79" d="100"/>
          <a:sy n="79" d="100"/>
        </p:scale>
        <p:origin x="83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989589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08318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922243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220296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2835909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679881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118861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2101648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5905120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540458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4007244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50.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11, Lesson 5</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Solving Real-World Problems with Rational Numbers – Part 1</a:t>
            </a:r>
            <a:br>
              <a:rPr lang="en-US" sz="36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184</a:t>
            </a: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12701"/>
            <a:ext cx="4094106" cy="6870701"/>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AB08A17F-C082-CD48-B100-6B09C860CC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00386"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76886"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424186" y="1600200"/>
            <a:ext cx="9343628"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MA.7.NSO.2.3</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Solve real-world problems involving any of the four operations with rational numbers.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885434" y="388342"/>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710084" y="145709"/>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710084" y="1596390"/>
            <a:ext cx="935959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184</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92479" y="78787"/>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10317" y="367987"/>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713098" y="1600200"/>
            <a:ext cx="876580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ct val="125000"/>
              <a:buFont typeface="Verdana"/>
              <a:buChar char="❏"/>
            </a:pPr>
            <a:r>
              <a:rPr lang="en-US" sz="2400" dirty="0">
                <a:latin typeface="Verdana" panose="020B0604030504040204" pitchFamily="34" charset="0"/>
                <a:ea typeface="Verdana" panose="020B0604030504040204" pitchFamily="34" charset="0"/>
                <a:cs typeface="Verdana" panose="020B0604030504040204" pitchFamily="34" charset="0"/>
              </a:rPr>
              <a:t>I can solve problems with one or two operations by adding, subtracting, multiplying, and/or dividing rational numbers.</a:t>
            </a:r>
          </a:p>
        </p:txBody>
      </p:sp>
      <p:sp>
        <p:nvSpPr>
          <p:cNvPr id="9"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184</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6042"/>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10"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185</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44597" y="-94816"/>
            <a:ext cx="1055184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11.5.1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97298" y="202764"/>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2060448" y="1386026"/>
            <a:ext cx="8327136" cy="430887"/>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Several division equations are shown.</a:t>
            </a: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807778941"/>
                  </p:ext>
                </p:extLst>
              </p:nvPr>
            </p:nvGraphicFramePr>
            <p:xfrm>
              <a:off x="4117600" y="1977025"/>
              <a:ext cx="3025775" cy="2895600"/>
            </p:xfrm>
            <a:graphic>
              <a:graphicData uri="http://schemas.openxmlformats.org/drawingml/2006/table">
                <a:tbl>
                  <a:tblPr bandRow="1">
                    <a:tableStyleId>{2D5ABB26-0587-4C30-8999-92F81FD0307C}</a:tableStyleId>
                  </a:tblPr>
                  <a:tblGrid>
                    <a:gridCol w="3025775">
                      <a:extLst>
                        <a:ext uri="{9D8B030D-6E8A-4147-A177-3AD203B41FA5}">
                          <a16:colId xmlns:a16="http://schemas.microsoft.com/office/drawing/2014/main" val="20000"/>
                        </a:ext>
                      </a:extLst>
                    </a:gridCol>
                  </a:tblGrid>
                  <a:tr h="0">
                    <a:tc>
                      <a:txBody>
                        <a:bodyPr/>
                        <a:lstStyle/>
                        <a:p>
                          <a:pPr marL="0" marR="0" algn="ctr">
                            <a:lnSpc>
                              <a:spcPct val="115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0.28 ÷0.07= </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68580" marR="68580" marT="0" marB="0" anchor="ctr"/>
                    </a:tc>
                    <a:extLst>
                      <a:ext uri="{0D108BD9-81ED-4DB2-BD59-A6C34878D82A}">
                        <a16:rowId xmlns:a16="http://schemas.microsoft.com/office/drawing/2014/main" val="10000"/>
                      </a:ext>
                    </a:extLst>
                  </a:tr>
                  <a:tr h="0">
                    <a:tc>
                      <a:txBody>
                        <a:bodyPr/>
                        <a:lstStyle/>
                        <a:p>
                          <a:pPr marL="0" marR="0" algn="ctr">
                            <a:lnSpc>
                              <a:spcPct val="107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2.8 ÷0.7= </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68580" marR="68580" marT="0" marB="0" anchor="ctr"/>
                    </a:tc>
                    <a:extLst>
                      <a:ext uri="{0D108BD9-81ED-4DB2-BD59-A6C34878D82A}">
                        <a16:rowId xmlns:a16="http://schemas.microsoft.com/office/drawing/2014/main" val="10001"/>
                      </a:ext>
                    </a:extLst>
                  </a:tr>
                  <a:tr h="0">
                    <a:tc>
                      <a:txBody>
                        <a:bodyPr/>
                        <a:lstStyle/>
                        <a:p>
                          <a:pPr marL="0" marR="0" algn="ctr">
                            <a:lnSpc>
                              <a:spcPct val="107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28 ÷7=4</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68580" marR="68580" marT="0" marB="0" anchor="ctr"/>
                    </a:tc>
                    <a:extLst>
                      <a:ext uri="{0D108BD9-81ED-4DB2-BD59-A6C34878D82A}">
                        <a16:rowId xmlns:a16="http://schemas.microsoft.com/office/drawing/2014/main" val="10002"/>
                      </a:ext>
                    </a:extLst>
                  </a:tr>
                  <a:tr h="0">
                    <a:tc>
                      <a:txBody>
                        <a:bodyPr/>
                        <a:lstStyle/>
                        <a:p>
                          <a:pPr marL="0" marR="0" algn="ctr">
                            <a:lnSpc>
                              <a:spcPct val="107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280 ÷70=4</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68580" marR="68580" marT="0" marB="0" anchor="ctr"/>
                    </a:tc>
                    <a:extLst>
                      <a:ext uri="{0D108BD9-81ED-4DB2-BD59-A6C34878D82A}">
                        <a16:rowId xmlns:a16="http://schemas.microsoft.com/office/drawing/2014/main" val="10003"/>
                      </a:ext>
                    </a:extLst>
                  </a:tr>
                  <a:tr h="0">
                    <a:tc>
                      <a:txBody>
                        <a:bodyPr/>
                        <a:lstStyle/>
                        <a:p>
                          <a:pPr marL="0" marR="0" algn="ctr">
                            <a:lnSpc>
                              <a:spcPct val="107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2,800 ÷ 700=4</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68580" marR="68580" marT="0" marB="0" anchor="ctr"/>
                    </a:tc>
                    <a:extLst>
                      <a:ext uri="{0D108BD9-81ED-4DB2-BD59-A6C34878D82A}">
                        <a16:rowId xmlns:a16="http://schemas.microsoft.com/office/drawing/2014/main" val="10004"/>
                      </a:ext>
                    </a:extLst>
                  </a:tr>
                  <a:tr h="0">
                    <a:tc>
                      <a:txBody>
                        <a:bodyPr/>
                        <a:lstStyle/>
                        <a:p>
                          <a:pPr marL="0" marR="0" algn="ctr">
                            <a:lnSpc>
                              <a:spcPct val="107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28,000 ÷7,000=4</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68580" marR="68580" marT="0" marB="0" anchor="ctr"/>
                    </a:tc>
                    <a:extLst>
                      <a:ext uri="{0D108BD9-81ED-4DB2-BD59-A6C34878D82A}">
                        <a16:rowId xmlns:a16="http://schemas.microsoft.com/office/drawing/2014/main" val="10005"/>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807778941"/>
                  </p:ext>
                </p:extLst>
              </p:nvPr>
            </p:nvGraphicFramePr>
            <p:xfrm>
              <a:off x="2593599" y="1977025"/>
              <a:ext cx="3025775" cy="2895600"/>
            </p:xfrm>
            <a:graphic>
              <a:graphicData uri="http://schemas.openxmlformats.org/drawingml/2006/table">
                <a:tbl>
                  <a:tblPr bandRow="1">
                    <a:tableStyleId>{2D5ABB26-0587-4C30-8999-92F81FD0307C}</a:tableStyleId>
                  </a:tblPr>
                  <a:tblGrid>
                    <a:gridCol w="3025775"/>
                  </a:tblGrid>
                  <a:tr h="502920">
                    <a:tc>
                      <a:txBody>
                        <a:bodyPr/>
                        <a:lstStyle/>
                        <a:p>
                          <a:endParaRPr lang="en-US"/>
                        </a:p>
                      </a:txBody>
                      <a:tcPr marL="68580" marR="68580" marT="0" marB="0" anchor="ctr">
                        <a:blipFill rotWithShape="0">
                          <a:blip r:embed="rId5"/>
                          <a:stretch>
                            <a:fillRect b="-473494"/>
                          </a:stretch>
                        </a:blipFill>
                      </a:tcPr>
                    </a:tc>
                  </a:tr>
                  <a:tr h="478536">
                    <a:tc>
                      <a:txBody>
                        <a:bodyPr/>
                        <a:lstStyle/>
                        <a:p>
                          <a:endParaRPr lang="en-US"/>
                        </a:p>
                      </a:txBody>
                      <a:tcPr marL="68580" marR="68580" marT="0" marB="0" anchor="ctr">
                        <a:blipFill rotWithShape="0">
                          <a:blip r:embed="rId5"/>
                          <a:stretch>
                            <a:fillRect t="-106410" b="-403846"/>
                          </a:stretch>
                        </a:blipFill>
                      </a:tcPr>
                    </a:tc>
                  </a:tr>
                  <a:tr h="478536">
                    <a:tc>
                      <a:txBody>
                        <a:bodyPr/>
                        <a:lstStyle/>
                        <a:p>
                          <a:endParaRPr lang="en-US"/>
                        </a:p>
                      </a:txBody>
                      <a:tcPr marL="68580" marR="68580" marT="0" marB="0" anchor="ctr">
                        <a:blipFill rotWithShape="0">
                          <a:blip r:embed="rId5"/>
                          <a:stretch>
                            <a:fillRect t="-203797" b="-298734"/>
                          </a:stretch>
                        </a:blipFill>
                      </a:tcPr>
                    </a:tc>
                  </a:tr>
                  <a:tr h="478536">
                    <a:tc>
                      <a:txBody>
                        <a:bodyPr/>
                        <a:lstStyle/>
                        <a:p>
                          <a:endParaRPr lang="en-US"/>
                        </a:p>
                      </a:txBody>
                      <a:tcPr marL="68580" marR="68580" marT="0" marB="0" anchor="ctr">
                        <a:blipFill rotWithShape="0">
                          <a:blip r:embed="rId5"/>
                          <a:stretch>
                            <a:fillRect t="-303797" b="-198734"/>
                          </a:stretch>
                        </a:blipFill>
                      </a:tcPr>
                    </a:tc>
                  </a:tr>
                  <a:tr h="478536">
                    <a:tc>
                      <a:txBody>
                        <a:bodyPr/>
                        <a:lstStyle/>
                        <a:p>
                          <a:endParaRPr lang="en-US"/>
                        </a:p>
                      </a:txBody>
                      <a:tcPr marL="68580" marR="68580" marT="0" marB="0" anchor="ctr">
                        <a:blipFill rotWithShape="0">
                          <a:blip r:embed="rId5"/>
                          <a:stretch>
                            <a:fillRect t="-408974" b="-101282"/>
                          </a:stretch>
                        </a:blipFill>
                      </a:tcPr>
                    </a:tc>
                  </a:tr>
                  <a:tr h="478536">
                    <a:tc>
                      <a:txBody>
                        <a:bodyPr/>
                        <a:lstStyle/>
                        <a:p>
                          <a:endParaRPr lang="en-US"/>
                        </a:p>
                      </a:txBody>
                      <a:tcPr marL="68580" marR="68580" marT="0" marB="0" anchor="ctr">
                        <a:blipFill rotWithShape="0">
                          <a:blip r:embed="rId5"/>
                          <a:stretch>
                            <a:fillRect t="-502532"/>
                          </a:stretch>
                        </a:blipFill>
                      </a:tcPr>
                    </a:tc>
                  </a:tr>
                </a:tbl>
              </a:graphicData>
            </a:graphic>
          </p:graphicFrame>
        </mc:Fallback>
      </mc:AlternateContent>
      <p:sp>
        <p:nvSpPr>
          <p:cNvPr id="9"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185</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363579" y="520393"/>
            <a:ext cx="9615508" cy="4832092"/>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What do you wonder about the pattern?</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What do you notice about the equations?</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Use the pattern in the equations to determine the quotients of the first two equations.</a:t>
            </a:r>
          </a:p>
        </p:txBody>
      </p:sp>
      <p:sp>
        <p:nvSpPr>
          <p:cNvPr id="7"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185</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185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43344"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400" b="1" dirty="0">
                <a:solidFill>
                  <a:srgbClr val="33BEA6"/>
                </a:solidFill>
                <a:latin typeface="Verdana"/>
                <a:ea typeface="Verdana"/>
                <a:cs typeface="Verdana"/>
                <a:sym typeface="Verdana"/>
              </a:rPr>
              <a:t>11.5.2 Collaboration: Solving a Problem with Rational Numbers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93536"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443344" y="1386025"/>
                <a:ext cx="9561344" cy="3420103"/>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In order to make a profit, stores sell products for more than what they paid for them. For example, a local furniture store buys a mattress from a manufacturer for a certain price. The store then sets the store price at </a:t>
                </a:r>
                <a14:m>
                  <m:oMath xmlns:m="http://schemas.openxmlformats.org/officeDocument/2006/math">
                    <m:r>
                      <a:rPr lang="en-US" sz="2200" i="1">
                        <a:latin typeface="Cambria Math" panose="02040503050406030204" pitchFamily="18" charset="0"/>
                        <a:ea typeface="Cambria Math" panose="02040503050406030204" pitchFamily="18" charset="0"/>
                      </a:rPr>
                      <m:t>2</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2</m:t>
                        </m:r>
                      </m:den>
                    </m:f>
                  </m:oMath>
                </a14:m>
                <a:r>
                  <a:rPr lang="en-US" sz="2200" dirty="0">
                    <a:latin typeface="Verdana" panose="020B0604030504040204" pitchFamily="34" charset="0"/>
                    <a:ea typeface="Verdana" panose="020B0604030504040204" pitchFamily="34" charset="0"/>
                    <a:cs typeface="Verdana" panose="020B0604030504040204" pitchFamily="34" charset="0"/>
                  </a:rPr>
                  <a:t> times what they paid the manufacturer for it. If the mattress hasn’t sold in a year, then the store will reduce its price by </a:t>
                </a:r>
                <a14:m>
                  <m:oMath xmlns:m="http://schemas.openxmlformats.org/officeDocument/2006/math">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3</m:t>
                        </m:r>
                      </m:den>
                    </m:f>
                  </m:oMath>
                </a14:m>
                <a:r>
                  <a:rPr lang="en-US" sz="2200" dirty="0">
                    <a:latin typeface="Verdana" panose="020B0604030504040204" pitchFamily="34" charset="0"/>
                    <a:ea typeface="Verdana" panose="020B0604030504040204" pitchFamily="34" charset="0"/>
                    <a:cs typeface="Verdana" panose="020B0604030504040204" pitchFamily="34" charset="0"/>
                  </a:rPr>
                  <a:t> of the original store price.  </a:t>
                </a:r>
              </a:p>
              <a:p>
                <a:r>
                  <a:rPr lang="en-US" sz="2200" dirty="0">
                    <a:latin typeface="Verdana" panose="020B0604030504040204" pitchFamily="34" charset="0"/>
                    <a:ea typeface="Verdana" panose="020B0604030504040204" pitchFamily="34" charset="0"/>
                    <a:cs typeface="Verdana" panose="020B0604030504040204" pitchFamily="34" charset="0"/>
                  </a:rPr>
                  <a:t> </a:t>
                </a:r>
              </a:p>
              <a:p>
                <a:r>
                  <a:rPr lang="en-US" sz="2200" dirty="0">
                    <a:latin typeface="Verdana" panose="020B0604030504040204" pitchFamily="34" charset="0"/>
                    <a:ea typeface="Verdana" panose="020B0604030504040204" pitchFamily="34" charset="0"/>
                    <a:cs typeface="Verdana" panose="020B0604030504040204" pitchFamily="34" charset="0"/>
                  </a:rPr>
                  <a:t>Work with your partner to complete the following based on the information given. </a:t>
                </a: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1443344" y="1386025"/>
                <a:ext cx="9561344" cy="3420103"/>
              </a:xfrm>
              <a:prstGeom prst="rect">
                <a:avLst/>
              </a:prstGeom>
              <a:blipFill rotWithShape="0">
                <a:blip r:embed="rId4"/>
                <a:stretch>
                  <a:fillRect l="-829" t="-891" r="-638" b="-2852"/>
                </a:stretch>
              </a:blipFill>
            </p:spPr>
            <p:txBody>
              <a:bodyPr/>
              <a:lstStyle/>
              <a:p>
                <a:r>
                  <a:rPr lang="en-US">
                    <a:noFill/>
                  </a:rPr>
                  <a:t> </a:t>
                </a:r>
              </a:p>
            </p:txBody>
          </p:sp>
        </mc:Fallback>
      </mc:AlternateContent>
      <p:sp>
        <p:nvSpPr>
          <p:cNvPr id="12"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185</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194"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1058779" y="410665"/>
                <a:ext cx="10225108" cy="1107996"/>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Drawing a diagram can help make sense of the problem. Without calculating, complete the timeline to show how the price of a mattress the store purchases for </a:t>
                </a:r>
                <a14:m>
                  <m:oMath xmlns:m="http://schemas.openxmlformats.org/officeDocument/2006/math">
                    <m:r>
                      <a:rPr lang="en-US" sz="2200" i="1">
                        <a:latin typeface="Cambria Math" panose="02040503050406030204" pitchFamily="18" charset="0"/>
                        <a:ea typeface="Cambria Math" panose="02040503050406030204" pitchFamily="18" charset="0"/>
                      </a:rPr>
                      <m:t>$325.50</m:t>
                    </m:r>
                  </m:oMath>
                </a14:m>
                <a:r>
                  <a:rPr lang="en-US" sz="2200" dirty="0">
                    <a:latin typeface="Verdana" panose="020B0604030504040204" pitchFamily="34" charset="0"/>
                    <a:ea typeface="Verdana" panose="020B0604030504040204" pitchFamily="34" charset="0"/>
                    <a:cs typeface="Verdana" panose="020B0604030504040204" pitchFamily="34" charset="0"/>
                  </a:rPr>
                  <a:t> will change over time.</a:t>
                </a: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1058779" y="410665"/>
                <a:ext cx="10225108" cy="1107996"/>
              </a:xfrm>
              <a:prstGeom prst="rect">
                <a:avLst/>
              </a:prstGeom>
              <a:blipFill rotWithShape="0">
                <a:blip r:embed="rId3"/>
                <a:stretch>
                  <a:fillRect l="-835" t="-3846" b="-10440"/>
                </a:stretch>
              </a:blipFill>
            </p:spPr>
            <p:txBody>
              <a:bodyPr/>
              <a:lstStyle/>
              <a:p>
                <a:r>
                  <a:rPr lang="en-US">
                    <a:noFill/>
                  </a:rPr>
                  <a:t> </a:t>
                </a:r>
              </a:p>
            </p:txBody>
          </p:sp>
        </mc:Fallback>
      </mc:AlternateContent>
      <p:grpSp>
        <p:nvGrpSpPr>
          <p:cNvPr id="6" name="Group 5"/>
          <p:cNvGrpSpPr/>
          <p:nvPr/>
        </p:nvGrpSpPr>
        <p:grpSpPr>
          <a:xfrm>
            <a:off x="2177796" y="2368535"/>
            <a:ext cx="7379576" cy="3544570"/>
            <a:chOff x="-921789" y="-348558"/>
            <a:chExt cx="7660151" cy="2627087"/>
          </a:xfrm>
        </p:grpSpPr>
        <p:grpSp>
          <p:nvGrpSpPr>
            <p:cNvPr id="7" name="Group 6"/>
            <p:cNvGrpSpPr/>
            <p:nvPr/>
          </p:nvGrpSpPr>
          <p:grpSpPr>
            <a:xfrm>
              <a:off x="570102" y="192770"/>
              <a:ext cx="6168260" cy="785389"/>
              <a:chOff x="255777" y="-350155"/>
              <a:chExt cx="6168260" cy="785389"/>
            </a:xfrm>
          </p:grpSpPr>
          <p:cxnSp>
            <p:nvCxnSpPr>
              <p:cNvPr id="18" name="Straight Connector 17"/>
              <p:cNvCxnSpPr/>
              <p:nvPr/>
            </p:nvCxnSpPr>
            <p:spPr>
              <a:xfrm>
                <a:off x="255777" y="357848"/>
                <a:ext cx="616826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794311" y="-350155"/>
                <a:ext cx="0" cy="78538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8" name="Text Box 2"/>
            <p:cNvSpPr txBox="1">
              <a:spLocks noChangeArrowheads="1"/>
            </p:cNvSpPr>
            <p:nvPr/>
          </p:nvSpPr>
          <p:spPr bwMode="auto">
            <a:xfrm>
              <a:off x="1460674" y="-335401"/>
              <a:ext cx="1684712" cy="525347"/>
            </a:xfrm>
            <a:prstGeom prst="rect">
              <a:avLst/>
            </a:prstGeom>
            <a:noFill/>
            <a:ln w="12700">
              <a:solidFill>
                <a:srgbClr val="FF0000"/>
              </a:solidFill>
              <a:miter lim="800000"/>
              <a:headEnd/>
              <a:tailEnd/>
            </a:ln>
          </p:spPr>
          <p:txBody>
            <a:bodyPr rot="0" vert="horz" wrap="square" lIns="91440" tIns="45720" rIns="91440" bIns="45720" anchor="t" anchorCtr="0">
              <a:noAutofit/>
            </a:bodyPr>
            <a:lstStyle/>
            <a:p>
              <a:pPr>
                <a:lnSpc>
                  <a:spcPct val="107000"/>
                </a:lnSpc>
                <a:spcAft>
                  <a:spcPts val="800"/>
                </a:spcAft>
              </a:pPr>
              <a:r>
                <a:rPr lang="en-US" sz="2000" dirty="0">
                  <a:latin typeface="Verdana" panose="020B0604030504040204" pitchFamily="34" charset="0"/>
                  <a:ea typeface="Yu Mincho" panose="02020400000000000000" pitchFamily="18" charset="-128"/>
                  <a:cs typeface="Calibri" panose="020F0502020204030204" pitchFamily="34" charset="0"/>
                </a:rPr>
                <a:t>Store buys mattress</a:t>
              </a:r>
              <a:endParaRPr lang="en-US" sz="2000" dirty="0">
                <a:latin typeface="Calibri" panose="020F0502020204030204" pitchFamily="34" charset="0"/>
                <a:ea typeface="Yu Mincho" panose="02020400000000000000" pitchFamily="18" charset="-128"/>
                <a:cs typeface="Calibri" panose="020F0502020204030204" pitchFamily="34" charset="0"/>
              </a:endParaRPr>
            </a:p>
          </p:txBody>
        </p:sp>
        <p:sp>
          <p:nvSpPr>
            <p:cNvPr id="9" name="Text Box 2"/>
            <p:cNvSpPr txBox="1">
              <a:spLocks noChangeArrowheads="1"/>
            </p:cNvSpPr>
            <p:nvPr/>
          </p:nvSpPr>
          <p:spPr bwMode="auto">
            <a:xfrm>
              <a:off x="2209591" y="310505"/>
              <a:ext cx="1781417" cy="512883"/>
            </a:xfrm>
            <a:prstGeom prst="rect">
              <a:avLst/>
            </a:prstGeom>
            <a:noFill/>
            <a:ln w="12700">
              <a:solidFill>
                <a:srgbClr val="92D050"/>
              </a:solidFill>
              <a:miter lim="800000"/>
              <a:headEnd/>
              <a:tailEnd/>
            </a:ln>
          </p:spPr>
          <p:txBody>
            <a:bodyPr rot="0" vert="horz" wrap="square" lIns="91440" tIns="45720" rIns="91440" bIns="45720" anchor="t" anchorCtr="0">
              <a:noAutofit/>
            </a:bodyPr>
            <a:lstStyle/>
            <a:p>
              <a:pPr algn="ctr">
                <a:lnSpc>
                  <a:spcPct val="107000"/>
                </a:lnSpc>
                <a:spcAft>
                  <a:spcPts val="800"/>
                </a:spcAft>
              </a:pPr>
              <a:r>
                <a:rPr lang="en-US" sz="2000" dirty="0">
                  <a:latin typeface="Verdana" panose="020B0604030504040204" pitchFamily="34" charset="0"/>
                  <a:ea typeface="Yu Mincho" panose="02020400000000000000" pitchFamily="18" charset="-128"/>
                  <a:cs typeface="Calibri" panose="020F0502020204030204" pitchFamily="34" charset="0"/>
                </a:rPr>
                <a:t>Store sets store price</a:t>
              </a:r>
              <a:endParaRPr lang="en-US" sz="2000" dirty="0">
                <a:latin typeface="Calibri" panose="020F0502020204030204" pitchFamily="34" charset="0"/>
                <a:ea typeface="Yu Mincho" panose="02020400000000000000" pitchFamily="18" charset="-128"/>
                <a:cs typeface="Calibri" panose="020F0502020204030204" pitchFamily="34" charset="0"/>
              </a:endParaRPr>
            </a:p>
          </p:txBody>
        </p:sp>
        <p:sp>
          <p:nvSpPr>
            <p:cNvPr id="10" name="Text Box 2"/>
            <p:cNvSpPr txBox="1">
              <a:spLocks noChangeArrowheads="1"/>
            </p:cNvSpPr>
            <p:nvPr/>
          </p:nvSpPr>
          <p:spPr bwMode="auto">
            <a:xfrm>
              <a:off x="4833214" y="-348558"/>
              <a:ext cx="1713348" cy="953514"/>
            </a:xfrm>
            <a:prstGeom prst="rect">
              <a:avLst/>
            </a:prstGeom>
            <a:noFill/>
            <a:ln w="12700">
              <a:solidFill>
                <a:srgbClr val="00B0F0"/>
              </a:solidFill>
              <a:miter lim="800000"/>
              <a:headEnd/>
              <a:tailEnd/>
            </a:ln>
          </p:spPr>
          <p:txBody>
            <a:bodyPr rot="0" vert="horz" wrap="square" lIns="91440" tIns="45720" rIns="91440" bIns="45720" anchor="t" anchorCtr="0">
              <a:noAutofit/>
            </a:bodyPr>
            <a:lstStyle/>
            <a:p>
              <a:pPr algn="ctr">
                <a:lnSpc>
                  <a:spcPct val="107000"/>
                </a:lnSpc>
                <a:spcAft>
                  <a:spcPts val="800"/>
                </a:spcAft>
              </a:pPr>
              <a:r>
                <a:rPr lang="en-US" sz="1100">
                  <a:latin typeface="Calibri" panose="020F0502020204030204" pitchFamily="34" charset="0"/>
                  <a:ea typeface="Yu Mincho" panose="02020400000000000000" pitchFamily="18" charset="-128"/>
                  <a:cs typeface="Calibri" panose="020F0502020204030204" pitchFamily="34" charset="0"/>
                </a:rPr>
                <a:t> </a:t>
              </a:r>
            </a:p>
          </p:txBody>
        </p:sp>
        <p:sp>
          <p:nvSpPr>
            <p:cNvPr id="11" name="Text Box 2"/>
            <p:cNvSpPr txBox="1">
              <a:spLocks noChangeArrowheads="1"/>
            </p:cNvSpPr>
            <p:nvPr/>
          </p:nvSpPr>
          <p:spPr bwMode="auto">
            <a:xfrm>
              <a:off x="4668808" y="677243"/>
              <a:ext cx="1146325" cy="351955"/>
            </a:xfrm>
            <a:prstGeom prst="rect">
              <a:avLst/>
            </a:prstGeom>
            <a:noFill/>
            <a:ln w="9525">
              <a:noFill/>
              <a:miter lim="800000"/>
              <a:headEnd/>
              <a:tailEnd/>
            </a:ln>
          </p:spPr>
          <p:txBody>
            <a:bodyPr rot="0" vert="horz" wrap="square" lIns="91440" tIns="45720" rIns="91440" bIns="45720" anchor="t" anchorCtr="0">
              <a:noAutofit/>
            </a:bodyPr>
            <a:lstStyle/>
            <a:p>
              <a:pPr algn="ct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1 year</a:t>
              </a:r>
            </a:p>
          </p:txBody>
        </p:sp>
        <p:sp>
          <p:nvSpPr>
            <p:cNvPr id="13" name="Text Box 2"/>
            <p:cNvSpPr txBox="1">
              <a:spLocks noChangeArrowheads="1"/>
            </p:cNvSpPr>
            <p:nvPr/>
          </p:nvSpPr>
          <p:spPr bwMode="auto">
            <a:xfrm>
              <a:off x="220756" y="332116"/>
              <a:ext cx="1045672" cy="357221"/>
            </a:xfrm>
            <a:prstGeom prst="rect">
              <a:avLst/>
            </a:prstGeom>
            <a:no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US" sz="2000" b="1" dirty="0">
                  <a:latin typeface="Verdana" panose="020B0604030504040204" pitchFamily="34" charset="0"/>
                  <a:ea typeface="Yu Mincho" panose="02020400000000000000" pitchFamily="18" charset="-128"/>
                  <a:cs typeface="Calibri" panose="020F0502020204030204" pitchFamily="34" charset="0"/>
                </a:rPr>
                <a:t>Event</a:t>
              </a:r>
              <a:endParaRPr lang="en-US" sz="2000" dirty="0">
                <a:latin typeface="Calibri" panose="020F0502020204030204" pitchFamily="34" charset="0"/>
                <a:ea typeface="Yu Mincho" panose="02020400000000000000" pitchFamily="18" charset="-128"/>
                <a:cs typeface="Calibri" panose="020F0502020204030204" pitchFamily="34" charset="0"/>
              </a:endParaRPr>
            </a:p>
          </p:txBody>
        </p:sp>
        <p:sp>
          <p:nvSpPr>
            <p:cNvPr id="14" name="Text Box 2"/>
            <p:cNvSpPr txBox="1">
              <a:spLocks noChangeArrowheads="1"/>
            </p:cNvSpPr>
            <p:nvPr/>
          </p:nvSpPr>
          <p:spPr bwMode="auto">
            <a:xfrm>
              <a:off x="-921789" y="978159"/>
              <a:ext cx="2039521" cy="530299"/>
            </a:xfrm>
            <a:prstGeom prst="rect">
              <a:avLst/>
            </a:prstGeom>
            <a:noFill/>
            <a:ln w="9525">
              <a:noFill/>
              <a:miter lim="800000"/>
              <a:headEnd/>
              <a:tailEnd/>
            </a:ln>
          </p:spPr>
          <p:txBody>
            <a:bodyPr rot="0" vert="horz" wrap="square" lIns="91440" tIns="45720" rIns="91440" bIns="45720" anchor="t" anchorCtr="0">
              <a:noAutofit/>
            </a:bodyPr>
            <a:lstStyle/>
            <a:p>
              <a:pPr algn="r">
                <a:lnSpc>
                  <a:spcPct val="107000"/>
                </a:lnSpc>
                <a:spcAft>
                  <a:spcPts val="800"/>
                </a:spcAft>
              </a:pPr>
              <a:r>
                <a:rPr lang="en-US" sz="2000" b="1" dirty="0">
                  <a:latin typeface="Verdana" panose="020B0604030504040204" pitchFamily="34" charset="0"/>
                  <a:ea typeface="Yu Mincho" panose="02020400000000000000" pitchFamily="18" charset="-128"/>
                  <a:cs typeface="Calibri" panose="020F0502020204030204" pitchFamily="34" charset="0"/>
                </a:rPr>
                <a:t>Description of the Price</a:t>
              </a:r>
              <a:endParaRPr lang="en-US" sz="2000" dirty="0">
                <a:latin typeface="Calibri" panose="020F0502020204030204" pitchFamily="34" charset="0"/>
                <a:ea typeface="Yu Mincho" panose="02020400000000000000" pitchFamily="18" charset="-128"/>
                <a:cs typeface="Calibri" panose="020F0502020204030204" pitchFamily="34" charset="0"/>
              </a:endParaRPr>
            </a:p>
          </p:txBody>
        </p:sp>
        <p:sp>
          <p:nvSpPr>
            <p:cNvPr id="15" name="Text Box 2"/>
            <p:cNvSpPr txBox="1">
              <a:spLocks noChangeArrowheads="1"/>
            </p:cNvSpPr>
            <p:nvPr/>
          </p:nvSpPr>
          <p:spPr bwMode="auto">
            <a:xfrm>
              <a:off x="4880456" y="1395476"/>
              <a:ext cx="1584434" cy="514350"/>
            </a:xfrm>
            <a:prstGeom prst="rect">
              <a:avLst/>
            </a:prstGeom>
            <a:noFill/>
            <a:ln w="12700">
              <a:solidFill>
                <a:srgbClr val="00B0F0"/>
              </a:solidFill>
              <a:miter lim="800000"/>
              <a:headEnd/>
              <a:tailEnd/>
            </a:ln>
          </p:spPr>
          <p:txBody>
            <a:bodyPr rot="0" vert="horz" wrap="square" lIns="91440" tIns="45720" rIns="91440" bIns="45720" anchor="t" anchorCtr="0">
              <a:noAutofit/>
            </a:bodyPr>
            <a:lstStyle/>
            <a:p>
              <a:pPr algn="ctr">
                <a:lnSpc>
                  <a:spcPct val="107000"/>
                </a:lnSpc>
                <a:spcAft>
                  <a:spcPts val="800"/>
                </a:spcAft>
              </a:pPr>
              <a:r>
                <a:rPr lang="en-US" sz="1100">
                  <a:latin typeface="Calibri" panose="020F0502020204030204" pitchFamily="34" charset="0"/>
                  <a:ea typeface="Yu Mincho" panose="02020400000000000000" pitchFamily="18" charset="-128"/>
                  <a:cs typeface="Calibri" panose="020F0502020204030204" pitchFamily="34" charset="0"/>
                </a:rPr>
                <a:t> </a:t>
              </a:r>
            </a:p>
          </p:txBody>
        </p:sp>
        <p:sp>
          <p:nvSpPr>
            <p:cNvPr id="16" name="Text Box 2"/>
            <p:cNvSpPr txBox="1">
              <a:spLocks noChangeArrowheads="1"/>
            </p:cNvSpPr>
            <p:nvPr/>
          </p:nvSpPr>
          <p:spPr bwMode="auto">
            <a:xfrm>
              <a:off x="1774125" y="1698339"/>
              <a:ext cx="1755528" cy="580190"/>
            </a:xfrm>
            <a:prstGeom prst="rect">
              <a:avLst/>
            </a:prstGeom>
            <a:noFill/>
            <a:ln w="12700">
              <a:solidFill>
                <a:srgbClr val="92D050"/>
              </a:solidFill>
              <a:miter lim="800000"/>
              <a:headEnd/>
              <a:tailEnd/>
            </a:ln>
          </p:spPr>
          <p:txBody>
            <a:bodyPr rot="0" vert="horz" wrap="square" lIns="91440" tIns="45720" rIns="91440" bIns="45720" anchor="t" anchorCtr="0">
              <a:noAutofit/>
            </a:bodyPr>
            <a:lstStyle/>
            <a:p>
              <a:pPr algn="ctr">
                <a:lnSpc>
                  <a:spcPct val="107000"/>
                </a:lnSpc>
                <a:spcAft>
                  <a:spcPts val="800"/>
                </a:spcAft>
              </a:pPr>
              <a:r>
                <a:rPr lang="en-US" sz="1100">
                  <a:latin typeface="Calibri" panose="020F0502020204030204" pitchFamily="34" charset="0"/>
                  <a:ea typeface="Yu Mincho" panose="02020400000000000000" pitchFamily="18" charset="-128"/>
                  <a:cs typeface="Calibri" panose="020F0502020204030204" pitchFamily="34" charset="0"/>
                </a:rPr>
                <a:t> </a:t>
              </a:r>
            </a:p>
          </p:txBody>
        </p:sp>
        <p:sp>
          <p:nvSpPr>
            <p:cNvPr id="17" name="Text Box 2"/>
            <p:cNvSpPr txBox="1">
              <a:spLocks noChangeArrowheads="1"/>
            </p:cNvSpPr>
            <p:nvPr/>
          </p:nvSpPr>
          <p:spPr bwMode="auto">
            <a:xfrm>
              <a:off x="1191228" y="996315"/>
              <a:ext cx="1346416" cy="514350"/>
            </a:xfrm>
            <a:prstGeom prst="rect">
              <a:avLst/>
            </a:prstGeom>
            <a:noFill/>
            <a:ln w="12700">
              <a:solidFill>
                <a:srgbClr val="FF0000"/>
              </a:solidFill>
              <a:miter lim="800000"/>
              <a:headEnd/>
              <a:tailEnd/>
            </a:ln>
          </p:spPr>
          <p:txBody>
            <a:bodyPr rot="0" vert="horz" wrap="square" lIns="91440" tIns="45720" rIns="91440" bIns="45720" anchor="t" anchorCtr="0">
              <a:noAutofit/>
            </a:bodyPr>
            <a:lstStyle/>
            <a:p>
              <a:pPr algn="ctr">
                <a:lnSpc>
                  <a:spcPct val="107000"/>
                </a:lnSpc>
                <a:spcAft>
                  <a:spcPts val="800"/>
                </a:spcAft>
              </a:pPr>
              <a:r>
                <a:rPr lang="en-US" sz="1100">
                  <a:latin typeface="Calibri" panose="020F0502020204030204" pitchFamily="34" charset="0"/>
                  <a:ea typeface="Yu Mincho" panose="02020400000000000000" pitchFamily="18" charset="-128"/>
                  <a:cs typeface="Calibri" panose="020F0502020204030204" pitchFamily="34" charset="0"/>
                </a:rPr>
                <a:t> </a:t>
              </a:r>
            </a:p>
          </p:txBody>
        </p:sp>
      </p:grpSp>
      <p:cxnSp>
        <p:nvCxnSpPr>
          <p:cNvPr id="21" name="Straight Connector 20">
            <a:extLst>
              <a:ext uri="{FF2B5EF4-FFF2-40B4-BE49-F238E27FC236}">
                <a16:creationId xmlns:a16="http://schemas.microsoft.com/office/drawing/2014/main" id="{0AA70817-3F97-1642-A8C3-A0D5E410AD88}"/>
              </a:ext>
            </a:extLst>
          </p:cNvPr>
          <p:cNvCxnSpPr>
            <a:cxnSpLocks/>
          </p:cNvCxnSpPr>
          <p:nvPr/>
        </p:nvCxnSpPr>
        <p:spPr>
          <a:xfrm flipV="1">
            <a:off x="5853127" y="3949772"/>
            <a:ext cx="0" cy="1180519"/>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4300D91-B213-D440-A8A3-A8B2B7E3A2D8}"/>
              </a:ext>
            </a:extLst>
          </p:cNvPr>
          <p:cNvCxnSpPr/>
          <p:nvPr/>
        </p:nvCxnSpPr>
        <p:spPr>
          <a:xfrm flipV="1">
            <a:off x="8699406" y="3653252"/>
            <a:ext cx="0" cy="105967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23"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185</a:t>
            </a:r>
            <a:endParaRPr i="1" dirty="0">
              <a:latin typeface="Calibri"/>
              <a:ea typeface="Calibri"/>
              <a:cs typeface="Calibri"/>
              <a:sym typeface="Calibri"/>
            </a:endParaRPr>
          </a:p>
        </p:txBody>
      </p:sp>
      <p:pic>
        <p:nvPicPr>
          <p:cNvPr id="2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219200" y="410665"/>
            <a:ext cx="9904266" cy="4493538"/>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Explain whether the store’s first price will be greater than or less than the price they paid the manufacturer.</a:t>
            </a: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What is the first price the store will set for the mattress?</a:t>
            </a: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Explain whether the price after a year will be greater than or less than the store’s first price.</a:t>
            </a:r>
          </a:p>
        </p:txBody>
      </p:sp>
      <p:sp>
        <p:nvSpPr>
          <p:cNvPr id="7"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186</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69007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122947" y="410666"/>
            <a:ext cx="10096772" cy="2800767"/>
          </a:xfrm>
          <a:prstGeom prst="rect">
            <a:avLst/>
          </a:prstGeom>
          <a:noFill/>
        </p:spPr>
        <p:txBody>
          <a:bodyPr wrap="square" rtlCol="0">
            <a:spAutoFit/>
          </a:bodyPr>
          <a:lstStyle/>
          <a:p>
            <a:pPr marL="457200" indent="-457200">
              <a:buFont typeface="+mj-lt"/>
              <a:buAutoNum type="arabicPeriod" startAt="5"/>
            </a:pPr>
            <a:r>
              <a:rPr lang="en-US" sz="2200" dirty="0">
                <a:latin typeface="Verdana" panose="020B0604030504040204" pitchFamily="34" charset="0"/>
                <a:ea typeface="Verdana" panose="020B0604030504040204" pitchFamily="34" charset="0"/>
                <a:cs typeface="Verdana" panose="020B0604030504040204" pitchFamily="34" charset="0"/>
              </a:rPr>
              <a:t>What is the sale price of the mattress after one year?</a:t>
            </a:r>
          </a:p>
          <a:p>
            <a:pPr marL="457200" indent="-457200">
              <a:buFont typeface="+mj-lt"/>
              <a:buAutoNum type="arabicPeriod" startAt="5"/>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r>
              <a:rPr lang="en-US" sz="2200" dirty="0">
                <a:latin typeface="Verdana" panose="020B0604030504040204" pitchFamily="34" charset="0"/>
                <a:ea typeface="Verdana" panose="020B0604030504040204" pitchFamily="34" charset="0"/>
                <a:cs typeface="Verdana" panose="020B0604030504040204" pitchFamily="34" charset="0"/>
              </a:rPr>
              <a:t>If the store sells the mattress after one year, explain if the store will make or lose money on the mattress.</a:t>
            </a:r>
          </a:p>
        </p:txBody>
      </p:sp>
      <p:sp>
        <p:nvSpPr>
          <p:cNvPr id="7"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186</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79066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186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16691" y="-8101"/>
            <a:ext cx="1067975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900" b="1" dirty="0">
                <a:solidFill>
                  <a:srgbClr val="54B5D1"/>
                </a:solidFill>
                <a:latin typeface="Verdana"/>
                <a:ea typeface="Verdana"/>
                <a:cs typeface="Verdana"/>
                <a:sym typeface="Verdana"/>
              </a:rPr>
              <a:t>11.5.3 Guided Instruction: Solving Real-World Problems with Rational Numbers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569392" y="19916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316691" y="1386026"/>
                <a:ext cx="9814650" cy="2462213"/>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Alexis has a monthly subscription to the video streaming service </a:t>
                </a:r>
                <a:r>
                  <a:rPr lang="en-US" sz="2200" dirty="0" err="1">
                    <a:latin typeface="Verdana" panose="020B0604030504040204" pitchFamily="34" charset="0"/>
                    <a:ea typeface="Verdana" panose="020B0604030504040204" pitchFamily="34" charset="0"/>
                    <a:cs typeface="Verdana" panose="020B0604030504040204" pitchFamily="34" charset="0"/>
                  </a:rPr>
                  <a:t>ViewNow</a:t>
                </a:r>
                <a:r>
                  <a:rPr lang="en-US" sz="2200" dirty="0">
                    <a:latin typeface="Verdana" panose="020B0604030504040204" pitchFamily="34" charset="0"/>
                    <a:ea typeface="Verdana" panose="020B0604030504040204" pitchFamily="34" charset="0"/>
                    <a:cs typeface="Verdana" panose="020B0604030504040204" pitchFamily="34" charset="0"/>
                  </a:rPr>
                  <a:t> for </a:t>
                </a:r>
                <a14:m>
                  <m:oMath xmlns:m="http://schemas.openxmlformats.org/officeDocument/2006/math">
                    <m:r>
                      <a:rPr lang="en-US" sz="2200" i="1">
                        <a:latin typeface="Cambria Math" panose="02040503050406030204" pitchFamily="18" charset="0"/>
                        <a:ea typeface="Cambria Math" panose="02040503050406030204" pitchFamily="18" charset="0"/>
                      </a:rPr>
                      <m:t>$7.20</m:t>
                    </m:r>
                  </m:oMath>
                </a14:m>
                <a:r>
                  <a:rPr lang="en-US" sz="2200" dirty="0">
                    <a:latin typeface="Verdana" panose="020B0604030504040204" pitchFamily="34" charset="0"/>
                    <a:ea typeface="Verdana" panose="020B0604030504040204" pitchFamily="34" charset="0"/>
                    <a:cs typeface="Verdana" panose="020B0604030504040204" pitchFamily="34" charset="0"/>
                  </a:rPr>
                  <a:t> per month. For her birthday she received a </a:t>
                </a:r>
                <a:r>
                  <a:rPr lang="en-US" sz="2200" dirty="0" err="1">
                    <a:latin typeface="Verdana" panose="020B0604030504040204" pitchFamily="34" charset="0"/>
                    <a:ea typeface="Verdana" panose="020B0604030504040204" pitchFamily="34" charset="0"/>
                    <a:cs typeface="Verdana" panose="020B0604030504040204" pitchFamily="34" charset="0"/>
                  </a:rPr>
                  <a:t>ViewNow</a:t>
                </a:r>
                <a:r>
                  <a:rPr lang="en-US" sz="2200" dirty="0">
                    <a:latin typeface="Verdana" panose="020B0604030504040204" pitchFamily="34" charset="0"/>
                    <a:ea typeface="Verdana" panose="020B0604030504040204" pitchFamily="34" charset="0"/>
                    <a:cs typeface="Verdana" panose="020B0604030504040204" pitchFamily="34" charset="0"/>
                  </a:rPr>
                  <a:t> gift card in the amount of </a:t>
                </a:r>
                <a14:m>
                  <m:oMath xmlns:m="http://schemas.openxmlformats.org/officeDocument/2006/math">
                    <m:r>
                      <a:rPr lang="en-US" sz="2200" i="1">
                        <a:latin typeface="Cambria Math" panose="02040503050406030204" pitchFamily="18" charset="0"/>
                        <a:ea typeface="Cambria Math" panose="02040503050406030204" pitchFamily="18" charset="0"/>
                      </a:rPr>
                      <m:t>$55.00</m:t>
                    </m:r>
                  </m:oMath>
                </a14:m>
                <a:r>
                  <a:rPr lang="en-US" sz="2200" dirty="0">
                    <a:latin typeface="Verdana" panose="020B0604030504040204" pitchFamily="34" charset="0"/>
                    <a:ea typeface="Verdana" panose="020B0604030504040204" pitchFamily="34" charset="0"/>
                    <a:cs typeface="Verdana" panose="020B0604030504040204" pitchFamily="34" charset="0"/>
                  </a:rPr>
                  <a:t>. </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Write an expression using addition that represents the balance on the card after one month if the only charge on the gift card is the monthly subscription.</a:t>
                </a: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316691" y="1386026"/>
                <a:ext cx="9814650" cy="2462213"/>
              </a:xfrm>
              <a:prstGeom prst="rect">
                <a:avLst/>
              </a:prstGeom>
              <a:blipFill rotWithShape="0">
                <a:blip r:embed="rId4"/>
                <a:stretch>
                  <a:fillRect l="-870" t="-1733" r="-1677" b="-4455"/>
                </a:stretch>
              </a:blipFill>
            </p:spPr>
            <p:txBody>
              <a:bodyPr/>
              <a:lstStyle/>
              <a:p>
                <a:r>
                  <a:rPr lang="en-US">
                    <a:noFill/>
                  </a:rPr>
                  <a:t> </a:t>
                </a:r>
              </a:p>
            </p:txBody>
          </p:sp>
        </mc:Fallback>
      </mc:AlternateContent>
      <p:sp>
        <p:nvSpPr>
          <p:cNvPr id="10"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186</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1058779" y="227790"/>
                <a:ext cx="10225108" cy="1631216"/>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table by filling in values on each blank line to record the activity on the account each month. Continue filling in the table to determine how many months it will take before Alexis does not have enough money to pay the monthly fee using the gift card. Part of Month </a:t>
                </a:r>
                <a14:m>
                  <m:oMath xmlns:m="http://schemas.openxmlformats.org/officeDocument/2006/math">
                    <m:r>
                      <a:rPr lang="en-US" sz="2000" i="1">
                        <a:latin typeface="Cambria Math" panose="02040503050406030204" pitchFamily="18" charset="0"/>
                        <a:ea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has been completed for you.</a:t>
                </a: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1058779" y="227790"/>
                <a:ext cx="10225108" cy="1631216"/>
              </a:xfrm>
              <a:prstGeom prst="rect">
                <a:avLst/>
              </a:prstGeom>
              <a:blipFill rotWithShape="0">
                <a:blip r:embed="rId3"/>
                <a:stretch>
                  <a:fillRect t="-2239" r="-60" b="-55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201423169"/>
                  </p:ext>
                </p:extLst>
              </p:nvPr>
            </p:nvGraphicFramePr>
            <p:xfrm>
              <a:off x="2195867" y="2253386"/>
              <a:ext cx="7800267" cy="4206034"/>
            </p:xfrm>
            <a:graphic>
              <a:graphicData uri="http://schemas.openxmlformats.org/drawingml/2006/table">
                <a:tbl>
                  <a:tblPr bandRow="1">
                    <a:tableStyleId>{5940675A-B579-460E-94D1-54222C63F5DA}</a:tableStyleId>
                  </a:tblPr>
                  <a:tblGrid>
                    <a:gridCol w="1101266">
                      <a:extLst>
                        <a:ext uri="{9D8B030D-6E8A-4147-A177-3AD203B41FA5}">
                          <a16:colId xmlns:a16="http://schemas.microsoft.com/office/drawing/2014/main" val="20000"/>
                        </a:ext>
                      </a:extLst>
                    </a:gridCol>
                    <a:gridCol w="1851133">
                      <a:extLst>
                        <a:ext uri="{9D8B030D-6E8A-4147-A177-3AD203B41FA5}">
                          <a16:colId xmlns:a16="http://schemas.microsoft.com/office/drawing/2014/main" val="20001"/>
                        </a:ext>
                      </a:extLst>
                    </a:gridCol>
                    <a:gridCol w="2994597">
                      <a:extLst>
                        <a:ext uri="{9D8B030D-6E8A-4147-A177-3AD203B41FA5}">
                          <a16:colId xmlns:a16="http://schemas.microsoft.com/office/drawing/2014/main" val="20002"/>
                        </a:ext>
                      </a:extLst>
                    </a:gridCol>
                    <a:gridCol w="1853271">
                      <a:extLst>
                        <a:ext uri="{9D8B030D-6E8A-4147-A177-3AD203B41FA5}">
                          <a16:colId xmlns:a16="http://schemas.microsoft.com/office/drawing/2014/main" val="20003"/>
                        </a:ext>
                      </a:extLst>
                    </a:gridCol>
                  </a:tblGrid>
                  <a:tr h="558533">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Month</a:t>
                          </a:r>
                        </a:p>
                      </a:txBody>
                      <a:tcPr marL="54465" marR="54465"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Starting Balance</a:t>
                          </a:r>
                        </a:p>
                      </a:txBody>
                      <a:tcPr marL="54465" marR="54465"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Change in Account</a:t>
                          </a:r>
                        </a:p>
                      </a:txBody>
                      <a:tcPr marL="54465" marR="54465"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Ending Balance</a:t>
                          </a:r>
                        </a:p>
                      </a:txBody>
                      <a:tcPr marL="54465" marR="54465" marT="0" marB="0" anchor="ctr">
                        <a:solidFill>
                          <a:schemeClr val="bg1">
                            <a:lumMod val="75000"/>
                          </a:schemeClr>
                        </a:solidFill>
                      </a:tcPr>
                    </a:tc>
                    <a:extLst>
                      <a:ext uri="{0D108BD9-81ED-4DB2-BD59-A6C34878D82A}">
                        <a16:rowId xmlns:a16="http://schemas.microsoft.com/office/drawing/2014/main" val="10000"/>
                      </a:ext>
                    </a:extLst>
                  </a:tr>
                  <a:tr h="383241">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$55.00</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$55.00 + __________ </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   ______________ </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1"/>
                      </a:ext>
                    </a:extLst>
                  </a:tr>
                  <a:tr h="383241">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   ______________</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$__________   +   __________</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   ______________</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2"/>
                      </a:ext>
                    </a:extLst>
                  </a:tr>
                  <a:tr h="383241">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   ______________</m:t>
                                </m:r>
                              </m:oMath>
                            </m:oMathPara>
                          </a14:m>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$__________    +     __________</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   ______________</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3"/>
                      </a:ext>
                    </a:extLst>
                  </a:tr>
                  <a:tr h="383241">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4"/>
                      </a:ext>
                    </a:extLst>
                  </a:tr>
                  <a:tr h="383241">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5"/>
                      </a:ext>
                    </a:extLst>
                  </a:tr>
                  <a:tr h="383241">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6"/>
                      </a:ext>
                    </a:extLst>
                  </a:tr>
                  <a:tr h="383241">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7"/>
                      </a:ext>
                    </a:extLst>
                  </a:tr>
                  <a:tr h="383241">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8"/>
                      </a:ext>
                    </a:extLst>
                  </a:tr>
                  <a:tr h="383241">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9"/>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201423169"/>
                  </p:ext>
                </p:extLst>
              </p:nvPr>
            </p:nvGraphicFramePr>
            <p:xfrm>
              <a:off x="671866" y="2253386"/>
              <a:ext cx="7800267" cy="4206034"/>
            </p:xfrm>
            <a:graphic>
              <a:graphicData uri="http://schemas.openxmlformats.org/drawingml/2006/table">
                <a:tbl>
                  <a:tblPr bandRow="1">
                    <a:tableStyleId>{5940675A-B579-460E-94D1-54222C63F5DA}</a:tableStyleId>
                  </a:tblPr>
                  <a:tblGrid>
                    <a:gridCol w="1101266">
                      <a:extLst>
                        <a:ext uri="{9D8B030D-6E8A-4147-A177-3AD203B41FA5}">
                          <a16:colId xmlns:a16="http://schemas.microsoft.com/office/drawing/2014/main" val="20000"/>
                        </a:ext>
                      </a:extLst>
                    </a:gridCol>
                    <a:gridCol w="1851133">
                      <a:extLst>
                        <a:ext uri="{9D8B030D-6E8A-4147-A177-3AD203B41FA5}">
                          <a16:colId xmlns:a16="http://schemas.microsoft.com/office/drawing/2014/main" val="20001"/>
                        </a:ext>
                      </a:extLst>
                    </a:gridCol>
                    <a:gridCol w="2994597">
                      <a:extLst>
                        <a:ext uri="{9D8B030D-6E8A-4147-A177-3AD203B41FA5}">
                          <a16:colId xmlns:a16="http://schemas.microsoft.com/office/drawing/2014/main" val="20002"/>
                        </a:ext>
                      </a:extLst>
                    </a:gridCol>
                    <a:gridCol w="1853271">
                      <a:extLst>
                        <a:ext uri="{9D8B030D-6E8A-4147-A177-3AD203B41FA5}">
                          <a16:colId xmlns:a16="http://schemas.microsoft.com/office/drawing/2014/main" val="20003"/>
                        </a:ext>
                      </a:extLst>
                    </a:gridCol>
                  </a:tblGrid>
                  <a:tr h="62338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Month</a:t>
                          </a:r>
                        </a:p>
                      </a:txBody>
                      <a:tcPr marL="54465" marR="54465"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Starting Balance</a:t>
                          </a:r>
                        </a:p>
                      </a:txBody>
                      <a:tcPr marL="54465" marR="54465"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Change in Account</a:t>
                          </a:r>
                        </a:p>
                      </a:txBody>
                      <a:tcPr marL="54465" marR="54465"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Ending Balance</a:t>
                          </a:r>
                        </a:p>
                      </a:txBody>
                      <a:tcPr marL="54465" marR="54465" marT="0" marB="0" anchor="ctr">
                        <a:solidFill>
                          <a:schemeClr val="bg1">
                            <a:lumMod val="75000"/>
                          </a:schemeClr>
                        </a:solidFill>
                      </a:tcPr>
                    </a:tc>
                    <a:extLst>
                      <a:ext uri="{0D108BD9-81ED-4DB2-BD59-A6C34878D82A}">
                        <a16:rowId xmlns:a16="http://schemas.microsoft.com/office/drawing/2014/main" val="10000"/>
                      </a:ext>
                    </a:extLst>
                  </a:tr>
                  <a:tr h="427736">
                    <a:tc>
                      <a:txBody>
                        <a:bodyPr/>
                        <a:lstStyle/>
                        <a:p>
                          <a:endParaRPr lang="en-US"/>
                        </a:p>
                      </a:txBody>
                      <a:tcPr marL="54465" marR="54465" marT="0" marB="0" anchor="ctr">
                        <a:blipFill>
                          <a:blip r:embed="rId5"/>
                          <a:stretch>
                            <a:fillRect t="-164706" r="-609195" b="-735294"/>
                          </a:stretch>
                        </a:blipFill>
                      </a:tcPr>
                    </a:tc>
                    <a:tc>
                      <a:txBody>
                        <a:bodyPr/>
                        <a:lstStyle/>
                        <a:p>
                          <a:endParaRPr lang="en-US"/>
                        </a:p>
                      </a:txBody>
                      <a:tcPr marL="54465" marR="54465" marT="0" marB="0" anchor="ctr">
                        <a:blipFill>
                          <a:blip r:embed="rId5"/>
                          <a:stretch>
                            <a:fillRect l="-59589" t="-164706" r="-263014" b="-735294"/>
                          </a:stretch>
                        </a:blipFill>
                      </a:tcPr>
                    </a:tc>
                    <a:tc>
                      <a:txBody>
                        <a:bodyPr/>
                        <a:lstStyle/>
                        <a:p>
                          <a:endParaRPr lang="en-US"/>
                        </a:p>
                      </a:txBody>
                      <a:tcPr marL="54465" marR="54465" marT="0" marB="0" anchor="ctr">
                        <a:blipFill>
                          <a:blip r:embed="rId5"/>
                          <a:stretch>
                            <a:fillRect l="-98312" t="-164706" r="-62025" b="-735294"/>
                          </a:stretch>
                        </a:blipFill>
                      </a:tcPr>
                    </a:tc>
                    <a:tc>
                      <a:txBody>
                        <a:bodyPr/>
                        <a:lstStyle/>
                        <a:p>
                          <a:endParaRPr lang="en-US"/>
                        </a:p>
                      </a:txBody>
                      <a:tcPr marL="54465" marR="54465" marT="0" marB="0" anchor="ctr">
                        <a:blipFill>
                          <a:blip r:embed="rId5"/>
                          <a:stretch>
                            <a:fillRect l="-321918" t="-164706" r="-685" b="-735294"/>
                          </a:stretch>
                        </a:blipFill>
                      </a:tcPr>
                    </a:tc>
                    <a:extLst>
                      <a:ext uri="{0D108BD9-81ED-4DB2-BD59-A6C34878D82A}">
                        <a16:rowId xmlns:a16="http://schemas.microsoft.com/office/drawing/2014/main" val="10001"/>
                      </a:ext>
                    </a:extLst>
                  </a:tr>
                  <a:tr h="427736">
                    <a:tc>
                      <a:txBody>
                        <a:bodyPr/>
                        <a:lstStyle/>
                        <a:p>
                          <a:endParaRPr lang="en-US"/>
                        </a:p>
                      </a:txBody>
                      <a:tcPr marL="54465" marR="54465" marT="0" marB="0" anchor="ctr">
                        <a:blipFill>
                          <a:blip r:embed="rId5"/>
                          <a:stretch>
                            <a:fillRect t="-264706" r="-609195" b="-635294"/>
                          </a:stretch>
                        </a:blipFill>
                      </a:tcPr>
                    </a:tc>
                    <a:tc>
                      <a:txBody>
                        <a:bodyPr/>
                        <a:lstStyle/>
                        <a:p>
                          <a:endParaRPr lang="en-US"/>
                        </a:p>
                      </a:txBody>
                      <a:tcPr marL="54465" marR="54465" marT="0" marB="0" anchor="ctr">
                        <a:blipFill>
                          <a:blip r:embed="rId5"/>
                          <a:stretch>
                            <a:fillRect l="-59589" t="-264706" r="-263014" b="-635294"/>
                          </a:stretch>
                        </a:blipFill>
                      </a:tcPr>
                    </a:tc>
                    <a:tc>
                      <a:txBody>
                        <a:bodyPr/>
                        <a:lstStyle/>
                        <a:p>
                          <a:endParaRPr lang="en-US"/>
                        </a:p>
                      </a:txBody>
                      <a:tcPr marL="54465" marR="54465" marT="0" marB="0" anchor="ctr">
                        <a:blipFill>
                          <a:blip r:embed="rId5"/>
                          <a:stretch>
                            <a:fillRect l="-98312" t="-264706" r="-62025" b="-635294"/>
                          </a:stretch>
                        </a:blipFill>
                      </a:tcPr>
                    </a:tc>
                    <a:tc>
                      <a:txBody>
                        <a:bodyPr/>
                        <a:lstStyle/>
                        <a:p>
                          <a:endParaRPr lang="en-US"/>
                        </a:p>
                      </a:txBody>
                      <a:tcPr marL="54465" marR="54465" marT="0" marB="0" anchor="ctr">
                        <a:blipFill>
                          <a:blip r:embed="rId5"/>
                          <a:stretch>
                            <a:fillRect l="-321918" t="-264706" r="-685" b="-635294"/>
                          </a:stretch>
                        </a:blipFill>
                      </a:tcPr>
                    </a:tc>
                    <a:extLst>
                      <a:ext uri="{0D108BD9-81ED-4DB2-BD59-A6C34878D82A}">
                        <a16:rowId xmlns:a16="http://schemas.microsoft.com/office/drawing/2014/main" val="10002"/>
                      </a:ext>
                    </a:extLst>
                  </a:tr>
                  <a:tr h="427736">
                    <a:tc>
                      <a:txBody>
                        <a:bodyPr/>
                        <a:lstStyle/>
                        <a:p>
                          <a:endParaRPr lang="en-US"/>
                        </a:p>
                      </a:txBody>
                      <a:tcPr marL="54465" marR="54465" marT="0" marB="0" anchor="ctr">
                        <a:blipFill>
                          <a:blip r:embed="rId5"/>
                          <a:stretch>
                            <a:fillRect t="-375758" r="-609195" b="-554545"/>
                          </a:stretch>
                        </a:blipFill>
                      </a:tcPr>
                    </a:tc>
                    <a:tc>
                      <a:txBody>
                        <a:bodyPr/>
                        <a:lstStyle/>
                        <a:p>
                          <a:endParaRPr lang="en-US"/>
                        </a:p>
                      </a:txBody>
                      <a:tcPr marL="54465" marR="54465" marT="0" marB="0" anchor="ctr">
                        <a:blipFill>
                          <a:blip r:embed="rId5"/>
                          <a:stretch>
                            <a:fillRect l="-59589" t="-375758" r="-263014" b="-554545"/>
                          </a:stretch>
                        </a:blipFill>
                      </a:tcPr>
                    </a:tc>
                    <a:tc>
                      <a:txBody>
                        <a:bodyPr/>
                        <a:lstStyle/>
                        <a:p>
                          <a:endParaRPr lang="en-US"/>
                        </a:p>
                      </a:txBody>
                      <a:tcPr marL="54465" marR="54465" marT="0" marB="0" anchor="ctr">
                        <a:blipFill>
                          <a:blip r:embed="rId5"/>
                          <a:stretch>
                            <a:fillRect l="-98312" t="-375758" r="-62025" b="-554545"/>
                          </a:stretch>
                        </a:blipFill>
                      </a:tcPr>
                    </a:tc>
                    <a:tc>
                      <a:txBody>
                        <a:bodyPr/>
                        <a:lstStyle/>
                        <a:p>
                          <a:endParaRPr lang="en-US"/>
                        </a:p>
                      </a:txBody>
                      <a:tcPr marL="54465" marR="54465" marT="0" marB="0" anchor="ctr">
                        <a:blipFill>
                          <a:blip r:embed="rId5"/>
                          <a:stretch>
                            <a:fillRect l="-321918" t="-375758" r="-685" b="-554545"/>
                          </a:stretch>
                        </a:blipFill>
                      </a:tcPr>
                    </a:tc>
                    <a:extLst>
                      <a:ext uri="{0D108BD9-81ED-4DB2-BD59-A6C34878D82A}">
                        <a16:rowId xmlns:a16="http://schemas.microsoft.com/office/drawing/2014/main" val="10003"/>
                      </a:ext>
                    </a:extLst>
                  </a:tr>
                  <a:tr h="383241">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4"/>
                      </a:ext>
                    </a:extLst>
                  </a:tr>
                  <a:tr h="383241">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5"/>
                      </a:ext>
                    </a:extLst>
                  </a:tr>
                  <a:tr h="383241">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6"/>
                      </a:ext>
                    </a:extLst>
                  </a:tr>
                  <a:tr h="383241">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7"/>
                      </a:ext>
                    </a:extLst>
                  </a:tr>
                  <a:tr h="383241">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8"/>
                      </a:ext>
                    </a:extLst>
                  </a:tr>
                  <a:tr h="383241">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tc>
                      <a:txBody>
                        <a:bodyPr/>
                        <a:lstStyle/>
                        <a:p>
                          <a:pPr marL="0" marR="0" algn="ctr">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54465" marR="54465" marT="0" marB="0" anchor="ctr"/>
                    </a:tc>
                    <a:extLst>
                      <a:ext uri="{0D108BD9-81ED-4DB2-BD59-A6C34878D82A}">
                        <a16:rowId xmlns:a16="http://schemas.microsoft.com/office/drawing/2014/main" val="10009"/>
                      </a:ext>
                    </a:extLst>
                  </a:tr>
                </a:tbl>
              </a:graphicData>
            </a:graphic>
          </p:graphicFrame>
        </mc:Fallback>
      </mc:AlternateContent>
      <p:sp>
        <p:nvSpPr>
          <p:cNvPr id="8"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186</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08367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997255" y="484246"/>
                <a:ext cx="10331116" cy="6045116"/>
              </a:xfrm>
              <a:prstGeom prst="rect">
                <a:avLst/>
              </a:prstGeom>
              <a:noFill/>
            </p:spPr>
            <p:txBody>
              <a:bodyPr wrap="square" rtlCol="0">
                <a:spAutoFit/>
              </a:bodyPr>
              <a:lstStyle/>
              <a:p>
                <a:pPr marL="914400" indent="-457200">
                  <a:buFont typeface="+mj-lt"/>
                  <a:buAutoNum type="alphaLcPeriod" startAt="3"/>
                </a:pPr>
                <a:r>
                  <a:rPr lang="en-US" sz="2100" dirty="0">
                    <a:latin typeface="Verdana" panose="020B0604030504040204" pitchFamily="34" charset="0"/>
                    <a:ea typeface="Verdana" panose="020B0604030504040204" pitchFamily="34" charset="0"/>
                    <a:cs typeface="Verdana" panose="020B0604030504040204" pitchFamily="34" charset="0"/>
                  </a:rPr>
                  <a:t>How many months will it take before Alexis does not have enough money left on the gift card to pay the monthly charge?</a:t>
                </a:r>
              </a:p>
              <a:p>
                <a:endParaRPr lang="en-US" sz="21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100" dirty="0">
                    <a:latin typeface="Verdana" panose="020B0604030504040204" pitchFamily="34" charset="0"/>
                    <a:ea typeface="Verdana" panose="020B0604030504040204" pitchFamily="34" charset="0"/>
                    <a:cs typeface="Verdana" panose="020B0604030504040204" pitchFamily="34" charset="0"/>
                  </a:rPr>
                  <a:t>The </a:t>
                </a:r>
                <a:r>
                  <a:rPr lang="en-US" sz="2100" b="1" dirty="0">
                    <a:latin typeface="Verdana" panose="020B0604030504040204" pitchFamily="34" charset="0"/>
                    <a:ea typeface="Verdana" panose="020B0604030504040204" pitchFamily="34" charset="0"/>
                    <a:cs typeface="Verdana" panose="020B0604030504040204" pitchFamily="34" charset="0"/>
                  </a:rPr>
                  <a:t>departure from the average</a:t>
                </a:r>
                <a:r>
                  <a:rPr lang="en-US" sz="2100" dirty="0">
                    <a:latin typeface="Verdana" panose="020B0604030504040204" pitchFamily="34" charset="0"/>
                    <a:ea typeface="Verdana" panose="020B0604030504040204" pitchFamily="34" charset="0"/>
                    <a:cs typeface="Verdana" panose="020B0604030504040204" pitchFamily="34" charset="0"/>
                  </a:rPr>
                  <a:t> is the difference between the actual amount of rain and the average amount of rain for a given month. The departure from the average rainfall, in inches (in.), for Orlando, Florida for June, July, and August is shown in the table.</a:t>
                </a:r>
              </a:p>
              <a:p>
                <a:pPr marL="457200" indent="-457200">
                  <a:buFont typeface="+mj-lt"/>
                  <a:buAutoNum type="arabicPeriod" startAt="2"/>
                </a:pPr>
                <a:endParaRPr lang="en-US" sz="2100" dirty="0">
                  <a:latin typeface="Verdana" panose="020B0604030504040204" pitchFamily="34" charset="0"/>
                  <a:ea typeface="Verdana" panose="020B0604030504040204" pitchFamily="34" charset="0"/>
                  <a:cs typeface="Verdana" panose="020B0604030504040204" pitchFamily="34" charset="0"/>
                </a:endParaRPr>
              </a:p>
              <a:p>
                <a:endParaRPr lang="en-US" sz="2100" dirty="0">
                  <a:latin typeface="Verdana" panose="020B0604030504040204" pitchFamily="34" charset="0"/>
                  <a:ea typeface="Verdana" panose="020B0604030504040204" pitchFamily="34" charset="0"/>
                  <a:cs typeface="Verdana" panose="020B0604030504040204" pitchFamily="34" charset="0"/>
                </a:endParaRPr>
              </a:p>
              <a:p>
                <a:endParaRPr lang="en-US" sz="2100" dirty="0">
                  <a:latin typeface="Verdana" panose="020B0604030504040204" pitchFamily="34" charset="0"/>
                  <a:ea typeface="Verdana" panose="020B0604030504040204" pitchFamily="34" charset="0"/>
                  <a:cs typeface="Verdana" panose="020B0604030504040204" pitchFamily="34" charset="0"/>
                </a:endParaRPr>
              </a:p>
              <a:p>
                <a:endParaRPr lang="en-US" sz="2100" dirty="0">
                  <a:latin typeface="Verdana" panose="020B0604030504040204" pitchFamily="34" charset="0"/>
                  <a:ea typeface="Verdana" panose="020B0604030504040204" pitchFamily="34" charset="0"/>
                  <a:cs typeface="Verdana" panose="020B0604030504040204" pitchFamily="34" charset="0"/>
                </a:endParaRPr>
              </a:p>
              <a:p>
                <a:endParaRPr lang="en-US" sz="21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100" dirty="0">
                    <a:latin typeface="Verdana" panose="020B0604030504040204" pitchFamily="34" charset="0"/>
                    <a:ea typeface="Verdana" panose="020B0604030504040204" pitchFamily="34" charset="0"/>
                    <a:cs typeface="Verdana" panose="020B0604030504040204" pitchFamily="34" charset="0"/>
                  </a:rPr>
                  <a:t>If the average rainfall for June is </a:t>
                </a:r>
                <a14:m>
                  <m:oMath xmlns:m="http://schemas.openxmlformats.org/officeDocument/2006/math">
                    <m:r>
                      <a:rPr lang="en-US" sz="2100" i="1">
                        <a:latin typeface="Cambria Math" panose="02040503050406030204" pitchFamily="18" charset="0"/>
                        <a:ea typeface="Cambria Math" panose="02040503050406030204" pitchFamily="18" charset="0"/>
                      </a:rPr>
                      <m:t>7</m:t>
                    </m:r>
                    <m:f>
                      <m:fPr>
                        <m:ctrlPr>
                          <a:rPr lang="en-US" sz="2100" i="1">
                            <a:latin typeface="Cambria Math" panose="02040503050406030204" pitchFamily="18" charset="0"/>
                            <a:ea typeface="Cambria Math" panose="02040503050406030204" pitchFamily="18" charset="0"/>
                          </a:rPr>
                        </m:ctrlPr>
                      </m:fPr>
                      <m:num>
                        <m:r>
                          <a:rPr lang="en-US" sz="2100" i="1">
                            <a:latin typeface="Cambria Math" panose="02040503050406030204" pitchFamily="18" charset="0"/>
                            <a:ea typeface="Cambria Math" panose="02040503050406030204" pitchFamily="18" charset="0"/>
                          </a:rPr>
                          <m:t>29</m:t>
                        </m:r>
                      </m:num>
                      <m:den>
                        <m:r>
                          <a:rPr lang="en-US" sz="2100" i="1">
                            <a:latin typeface="Cambria Math" panose="02040503050406030204" pitchFamily="18" charset="0"/>
                            <a:ea typeface="Cambria Math" panose="02040503050406030204" pitchFamily="18" charset="0"/>
                          </a:rPr>
                          <m:t>50</m:t>
                        </m:r>
                      </m:den>
                    </m:f>
                    <m:r>
                      <a:rPr lang="en-US" sz="2100" i="1">
                        <a:latin typeface="Cambria Math" panose="02040503050406030204" pitchFamily="18" charset="0"/>
                        <a:ea typeface="Cambria Math" panose="02040503050406030204" pitchFamily="18" charset="0"/>
                      </a:rPr>
                      <m:t> </m:t>
                    </m:r>
                  </m:oMath>
                </a14:m>
                <a:r>
                  <a:rPr lang="en-US" sz="2100" dirty="0">
                    <a:latin typeface="Verdana" panose="020B0604030504040204" pitchFamily="34" charset="0"/>
                    <a:ea typeface="Verdana" panose="020B0604030504040204" pitchFamily="34" charset="0"/>
                    <a:cs typeface="Verdana" panose="020B0604030504040204" pitchFamily="34" charset="0"/>
                  </a:rPr>
                  <a:t>in., what was the actual rainfall in June?</a:t>
                </a:r>
              </a:p>
              <a:p>
                <a:pPr marL="914400" indent="-457200">
                  <a:buFont typeface="+mj-lt"/>
                  <a:buAutoNum type="alphaLcPeriod"/>
                </a:pPr>
                <a:endParaRPr lang="en-US" sz="21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1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100" dirty="0">
                    <a:latin typeface="Verdana" panose="020B0604030504040204" pitchFamily="34" charset="0"/>
                    <a:ea typeface="Verdana" panose="020B0604030504040204" pitchFamily="34" charset="0"/>
                    <a:cs typeface="Verdana" panose="020B0604030504040204" pitchFamily="34" charset="0"/>
                  </a:rPr>
                  <a:t>What is the difference in the departure from the average rainfall from July to August?</a:t>
                </a: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997255" y="484246"/>
                <a:ext cx="10331116" cy="6045116"/>
              </a:xfrm>
              <a:prstGeom prst="rect">
                <a:avLst/>
              </a:prstGeom>
              <a:blipFill rotWithShape="0">
                <a:blip r:embed="rId3"/>
                <a:stretch>
                  <a:fillRect l="-708" t="-706" r="-1240" b="-10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10442093"/>
                  </p:ext>
                </p:extLst>
              </p:nvPr>
            </p:nvGraphicFramePr>
            <p:xfrm>
              <a:off x="3408790" y="3294679"/>
              <a:ext cx="5222961" cy="1015747"/>
            </p:xfrm>
            <a:graphic>
              <a:graphicData uri="http://schemas.openxmlformats.org/drawingml/2006/table">
                <a:tbl>
                  <a:tblPr bandRow="1">
                    <a:tableStyleId>{5940675A-B579-460E-94D1-54222C63F5DA}</a:tableStyleId>
                  </a:tblPr>
                  <a:tblGrid>
                    <a:gridCol w="1540823">
                      <a:extLst>
                        <a:ext uri="{9D8B030D-6E8A-4147-A177-3AD203B41FA5}">
                          <a16:colId xmlns:a16="http://schemas.microsoft.com/office/drawing/2014/main" val="20000"/>
                        </a:ext>
                      </a:extLst>
                    </a:gridCol>
                    <a:gridCol w="1841069">
                      <a:extLst>
                        <a:ext uri="{9D8B030D-6E8A-4147-A177-3AD203B41FA5}">
                          <a16:colId xmlns:a16="http://schemas.microsoft.com/office/drawing/2014/main" val="20001"/>
                        </a:ext>
                      </a:extLst>
                    </a:gridCol>
                    <a:gridCol w="1841069">
                      <a:extLst>
                        <a:ext uri="{9D8B030D-6E8A-4147-A177-3AD203B41FA5}">
                          <a16:colId xmlns:a16="http://schemas.microsoft.com/office/drawing/2014/main" val="20002"/>
                        </a:ext>
                      </a:extLst>
                    </a:gridCol>
                  </a:tblGrid>
                  <a:tr h="394484">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June</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July</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August</a:t>
                          </a:r>
                        </a:p>
                      </a:txBody>
                      <a:tcPr marL="68580" marR="68580" marT="0" marB="0" anchor="ctr">
                        <a:solidFill>
                          <a:schemeClr val="bg1">
                            <a:lumMod val="75000"/>
                          </a:schemeClr>
                        </a:solidFill>
                      </a:tcPr>
                    </a:tc>
                    <a:extLst>
                      <a:ext uri="{0D108BD9-81ED-4DB2-BD59-A6C34878D82A}">
                        <a16:rowId xmlns:a16="http://schemas.microsoft.com/office/drawing/2014/main" val="10000"/>
                      </a:ext>
                    </a:extLst>
                  </a:tr>
                  <a:tr h="621263">
                    <a:tc>
                      <a:txBody>
                        <a:bodyPr/>
                        <a:lstStyle/>
                        <a:p>
                          <a:pPr marL="0" marR="0" algn="ctr">
                            <a:lnSpc>
                              <a:spcPct val="107000"/>
                            </a:lnSpc>
                            <a:spcBef>
                              <a:spcPts val="0"/>
                            </a:spcBef>
                            <a:spcAft>
                              <a:spcPts val="800"/>
                            </a:spcAft>
                          </a:pPr>
                          <a14:m>
                            <m:oMath xmlns:m="http://schemas.openxmlformats.org/officeDocument/2006/math">
                              <m:r>
                                <a:rPr lang="en-US" sz="2000">
                                  <a:effectLst/>
                                  <a:latin typeface="Cambria Math" panose="02040503050406030204" pitchFamily="18" charset="0"/>
                                  <a:ea typeface="Cambria Math" panose="02040503050406030204" pitchFamily="18" charset="0"/>
                                </a:rPr>
                                <m:t>−3</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19</m:t>
                                  </m:r>
                                </m:num>
                                <m:den>
                                  <m:r>
                                    <a:rPr lang="en-US" sz="2000">
                                      <a:effectLst/>
                                      <a:latin typeface="Cambria Math" panose="02040503050406030204" pitchFamily="18" charset="0"/>
                                      <a:ea typeface="Cambria Math" panose="02040503050406030204" pitchFamily="18" charset="0"/>
                                    </a:rPr>
                                    <m:t>20</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in.</a:t>
                          </a:r>
                        </a:p>
                      </a:txBody>
                      <a:tcPr marL="68580" marR="68580" marT="0" marB="0" anchor="ctr"/>
                    </a:tc>
                    <a:tc>
                      <a:txBody>
                        <a:bodyPr/>
                        <a:lstStyle/>
                        <a:p>
                          <a:pPr marL="0" marR="0" algn="ctr">
                            <a:lnSpc>
                              <a:spcPct val="107000"/>
                            </a:lnSpc>
                            <a:spcBef>
                              <a:spcPts val="0"/>
                            </a:spcBef>
                            <a:spcAft>
                              <a:spcPts val="800"/>
                            </a:spcAft>
                          </a:pPr>
                          <a14:m>
                            <m:oMath xmlns:m="http://schemas.openxmlformats.org/officeDocument/2006/math">
                              <m:r>
                                <a:rPr lang="en-US" sz="2000">
                                  <a:effectLst/>
                                  <a:latin typeface="Cambria Math" panose="02040503050406030204" pitchFamily="18" charset="0"/>
                                  <a:ea typeface="Cambria Math" panose="02040503050406030204" pitchFamily="18" charset="0"/>
                                </a:rPr>
                                <m:t>−1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7</m:t>
                                  </m:r>
                                </m:num>
                                <m:den>
                                  <m:r>
                                    <a:rPr lang="en-US" sz="2000">
                                      <a:effectLst/>
                                      <a:latin typeface="Cambria Math" panose="02040503050406030204" pitchFamily="18" charset="0"/>
                                      <a:ea typeface="Cambria Math" panose="02040503050406030204" pitchFamily="18" charset="0"/>
                                    </a:rPr>
                                    <m:t>10</m:t>
                                  </m:r>
                                </m:den>
                              </m:f>
                            </m:oMath>
                          </a14:m>
                          <a:r>
                            <a:rPr lang="en-US" sz="2000">
                              <a:effectLst/>
                              <a:latin typeface="Verdana" panose="020B0604030504040204" pitchFamily="34" charset="0"/>
                              <a:ea typeface="Verdana" panose="020B0604030504040204" pitchFamily="34" charset="0"/>
                              <a:cs typeface="Verdana" panose="020B0604030504040204" pitchFamily="34" charset="0"/>
                            </a:rPr>
                            <a:t> in.</a:t>
                          </a:r>
                        </a:p>
                      </a:txBody>
                      <a:tcPr marL="68580" marR="68580" marT="0" marB="0" anchor="ctr"/>
                    </a:tc>
                    <a:tc>
                      <a:txBody>
                        <a:bodyPr/>
                        <a:lstStyle/>
                        <a:p>
                          <a:pPr marL="0" marR="0" algn="ctr">
                            <a:lnSpc>
                              <a:spcPct val="107000"/>
                            </a:lnSpc>
                            <a:spcBef>
                              <a:spcPts val="0"/>
                            </a:spcBef>
                            <a:spcAft>
                              <a:spcPts val="800"/>
                            </a:spcAft>
                          </a:pPr>
                          <a14:m>
                            <m:oMath xmlns:m="http://schemas.openxmlformats.org/officeDocument/2006/math">
                              <m:r>
                                <a:rPr lang="en-US" sz="2000">
                                  <a:effectLst/>
                                  <a:latin typeface="Cambria Math" panose="02040503050406030204" pitchFamily="18" charset="0"/>
                                  <a:ea typeface="Cambria Math" panose="02040503050406030204" pitchFamily="18" charset="0"/>
                                </a:rPr>
                                <m:t>4</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5</m:t>
                                  </m:r>
                                </m:num>
                                <m:den>
                                  <m:r>
                                    <a:rPr lang="en-US" sz="2000">
                                      <a:effectLst/>
                                      <a:latin typeface="Cambria Math" panose="02040503050406030204" pitchFamily="18" charset="0"/>
                                      <a:ea typeface="Cambria Math" panose="02040503050406030204" pitchFamily="18" charset="0"/>
                                    </a:rPr>
                                    <m:t>8</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in.</a:t>
                          </a:r>
                        </a:p>
                      </a:txBody>
                      <a:tcPr marL="68580" marR="68580" marT="0" marB="0" anchor="ct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10442093"/>
                  </p:ext>
                </p:extLst>
              </p:nvPr>
            </p:nvGraphicFramePr>
            <p:xfrm>
              <a:off x="1884789" y="3294678"/>
              <a:ext cx="5222961" cy="1015747"/>
            </p:xfrm>
            <a:graphic>
              <a:graphicData uri="http://schemas.openxmlformats.org/drawingml/2006/table">
                <a:tbl>
                  <a:tblPr bandRow="1">
                    <a:tableStyleId>{5940675A-B579-460E-94D1-54222C63F5DA}</a:tableStyleId>
                  </a:tblPr>
                  <a:tblGrid>
                    <a:gridCol w="1540823"/>
                    <a:gridCol w="1841069"/>
                    <a:gridCol w="1841069"/>
                  </a:tblGrid>
                  <a:tr h="394484">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June</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July</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August</a:t>
                          </a:r>
                        </a:p>
                      </a:txBody>
                      <a:tcPr marL="68580" marR="68580" marT="0" marB="0" anchor="ctr">
                        <a:solidFill>
                          <a:schemeClr val="bg1">
                            <a:lumMod val="75000"/>
                          </a:schemeClr>
                        </a:solidFill>
                      </a:tcPr>
                    </a:tc>
                  </a:tr>
                  <a:tr h="621263">
                    <a:tc>
                      <a:txBody>
                        <a:bodyPr/>
                        <a:lstStyle/>
                        <a:p>
                          <a:endParaRPr lang="en-US"/>
                        </a:p>
                      </a:txBody>
                      <a:tcPr marL="68580" marR="68580" marT="0" marB="0" anchor="ctr">
                        <a:blipFill rotWithShape="0">
                          <a:blip r:embed="rId5"/>
                          <a:stretch>
                            <a:fillRect l="-395" t="-70874" r="-239921" b="-1942"/>
                          </a:stretch>
                        </a:blipFill>
                      </a:tcPr>
                    </a:tc>
                    <a:tc>
                      <a:txBody>
                        <a:bodyPr/>
                        <a:lstStyle/>
                        <a:p>
                          <a:endParaRPr lang="en-US"/>
                        </a:p>
                      </a:txBody>
                      <a:tcPr marL="68580" marR="68580" marT="0" marB="0" anchor="ctr">
                        <a:blipFill rotWithShape="0">
                          <a:blip r:embed="rId5"/>
                          <a:stretch>
                            <a:fillRect l="-84106" t="-70874" r="-100993" b="-1942"/>
                          </a:stretch>
                        </a:blipFill>
                      </a:tcPr>
                    </a:tc>
                    <a:tc>
                      <a:txBody>
                        <a:bodyPr/>
                        <a:lstStyle/>
                        <a:p>
                          <a:endParaRPr lang="en-US"/>
                        </a:p>
                      </a:txBody>
                      <a:tcPr marL="68580" marR="68580" marT="0" marB="0" anchor="ctr">
                        <a:blipFill rotWithShape="0">
                          <a:blip r:embed="rId5"/>
                          <a:stretch>
                            <a:fillRect l="-184106" t="-70874" r="-993" b="-1942"/>
                          </a:stretch>
                        </a:blipFill>
                      </a:tcPr>
                    </a:tc>
                  </a:tr>
                </a:tbl>
              </a:graphicData>
            </a:graphic>
          </p:graphicFrame>
        </mc:Fallback>
      </mc:AlternateContent>
      <p:sp>
        <p:nvSpPr>
          <p:cNvPr id="8"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187</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203158" y="471621"/>
                <a:ext cx="9785684" cy="4775795"/>
              </a:xfrm>
              <a:prstGeom prst="rect">
                <a:avLst/>
              </a:prstGeom>
              <a:noFill/>
            </p:spPr>
            <p:txBody>
              <a:bodyPr wrap="square" rtlCol="0">
                <a:spAutoFit/>
              </a:bodyPr>
              <a:lstStyle/>
              <a:p>
                <a:pPr marL="457200" indent="-457200">
                  <a:buFont typeface="+mj-lt"/>
                  <a:buAutoNum type="arabicPeriod" startAt="3"/>
                </a:pPr>
                <a:r>
                  <a:rPr lang="en-US" sz="2200" dirty="0">
                    <a:latin typeface="Verdana" panose="020B0604030504040204" pitchFamily="34" charset="0"/>
                    <a:ea typeface="Verdana" panose="020B0604030504040204" pitchFamily="34" charset="0"/>
                    <a:cs typeface="Verdana" panose="020B0604030504040204" pitchFamily="34" charset="0"/>
                  </a:rPr>
                  <a:t>Ramon paid </a:t>
                </a:r>
                <a14:m>
                  <m:oMath xmlns:m="http://schemas.openxmlformats.org/officeDocument/2006/math">
                    <m:r>
                      <a:rPr lang="en-US" sz="2200" i="1">
                        <a:latin typeface="Cambria Math" panose="02040503050406030204" pitchFamily="18" charset="0"/>
                        <a:ea typeface="Cambria Math" panose="02040503050406030204" pitchFamily="18" charset="0"/>
                      </a:rPr>
                      <m:t>$18,360.00</m:t>
                    </m:r>
                  </m:oMath>
                </a14:m>
                <a:r>
                  <a:rPr lang="en-US" sz="2200" dirty="0">
                    <a:latin typeface="Verdana" panose="020B0604030504040204" pitchFamily="34" charset="0"/>
                    <a:ea typeface="Verdana" panose="020B0604030504040204" pitchFamily="34" charset="0"/>
                    <a:cs typeface="Verdana" panose="020B0604030504040204" pitchFamily="34" charset="0"/>
                  </a:rPr>
                  <a:t> for a new car. By the end of the first year, the value of the car changed by </a:t>
                </a:r>
                <a14:m>
                  <m:oMath xmlns:m="http://schemas.openxmlformats.org/officeDocument/2006/math">
                    <m:r>
                      <a:rPr lang="en-US" sz="2200" i="1">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3</m:t>
                        </m:r>
                      </m:num>
                      <m:den>
                        <m:r>
                          <a:rPr lang="en-US" sz="2200" i="1">
                            <a:latin typeface="Cambria Math" panose="02040503050406030204" pitchFamily="18" charset="0"/>
                            <a:ea typeface="Cambria Math" panose="02040503050406030204" pitchFamily="18" charset="0"/>
                          </a:rPr>
                          <m:t>14</m:t>
                        </m:r>
                      </m:den>
                    </m:f>
                  </m:oMath>
                </a14:m>
                <a:r>
                  <a:rPr lang="en-US" sz="2200" dirty="0">
                    <a:latin typeface="Verdana" panose="020B0604030504040204" pitchFamily="34" charset="0"/>
                    <a:ea typeface="Verdana" panose="020B0604030504040204" pitchFamily="34" charset="0"/>
                    <a:cs typeface="Verdana" panose="020B0604030504040204" pitchFamily="34" charset="0"/>
                  </a:rPr>
                  <a:t> of its original value. By the end of the second year, the value of the car changed by </a:t>
                </a:r>
                <a14:m>
                  <m:oMath xmlns:m="http://schemas.openxmlformats.org/officeDocument/2006/math">
                    <m:r>
                      <a:rPr lang="en-US" sz="2200" i="1">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2</m:t>
                        </m:r>
                      </m:num>
                      <m:den>
                        <m:r>
                          <a:rPr lang="en-US" sz="2200" i="1">
                            <a:latin typeface="Cambria Math" panose="02040503050406030204" pitchFamily="18" charset="0"/>
                            <a:ea typeface="Cambria Math" panose="02040503050406030204" pitchFamily="18" charset="0"/>
                          </a:rPr>
                          <m:t>9</m:t>
                        </m:r>
                      </m:den>
                    </m:f>
                  </m:oMath>
                </a14:m>
                <a:r>
                  <a:rPr lang="en-US" sz="2200" dirty="0">
                    <a:latin typeface="Verdana" panose="020B0604030504040204" pitchFamily="34" charset="0"/>
                    <a:ea typeface="Verdana" panose="020B0604030504040204" pitchFamily="34" charset="0"/>
                    <a:cs typeface="Verdana" panose="020B0604030504040204" pitchFamily="34" charset="0"/>
                  </a:rPr>
                  <a:t> of its value at the end of the first year. </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Is the value of the car increasing or decreasing during these two years?</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By what amount did the value of the car change at the end of the first year? </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What is the value of Ramon’s car at the end of the second year?</a:t>
                </a: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1203158" y="471621"/>
                <a:ext cx="9785684" cy="4775795"/>
              </a:xfrm>
              <a:prstGeom prst="rect">
                <a:avLst/>
              </a:prstGeom>
              <a:blipFill rotWithShape="0">
                <a:blip r:embed="rId3"/>
                <a:stretch>
                  <a:fillRect l="-809" t="-1020" b="-1658"/>
                </a:stretch>
              </a:blipFill>
            </p:spPr>
            <p:txBody>
              <a:bodyPr/>
              <a:lstStyle/>
              <a:p>
                <a:r>
                  <a:rPr lang="en-US">
                    <a:noFill/>
                  </a:rPr>
                  <a:t> </a:t>
                </a:r>
              </a:p>
            </p:txBody>
          </p:sp>
        </mc:Fallback>
      </mc:AlternateContent>
      <p:sp>
        <p:nvSpPr>
          <p:cNvPr id="7"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187</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09064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203158" y="288746"/>
                <a:ext cx="9056410" cy="3955955"/>
              </a:xfrm>
              <a:prstGeom prst="rect">
                <a:avLst/>
              </a:prstGeom>
              <a:noFill/>
            </p:spPr>
            <p:txBody>
              <a:bodyPr wrap="square" rtlCol="0">
                <a:spAutoFit/>
              </a:bodyPr>
              <a:lstStyle/>
              <a:p>
                <a:pPr marL="457200" indent="-457200">
                  <a:buFont typeface="+mj-lt"/>
                  <a:buAutoNum type="arabicPeriod" startAt="4"/>
                </a:pPr>
                <a:r>
                  <a:rPr lang="en-US" sz="2200" dirty="0">
                    <a:latin typeface="Verdana" panose="020B0604030504040204" pitchFamily="34" charset="0"/>
                    <a:ea typeface="Verdana" panose="020B0604030504040204" pitchFamily="34" charset="0"/>
                    <a:cs typeface="Verdana" panose="020B0604030504040204" pitchFamily="34" charset="0"/>
                  </a:rPr>
                  <a:t>A water well drilling rig dug to a depth of </a:t>
                </a:r>
                <a14:m>
                  <m:oMath xmlns:m="http://schemas.openxmlformats.org/officeDocument/2006/math">
                    <m:r>
                      <a:rPr lang="en-US" sz="2200" i="1">
                        <a:latin typeface="Cambria Math" panose="02040503050406030204" pitchFamily="18" charset="0"/>
                        <a:ea typeface="Cambria Math" panose="02040503050406030204" pitchFamily="18" charset="0"/>
                      </a:rPr>
                      <m:t>−147.5</m:t>
                    </m:r>
                  </m:oMath>
                </a14:m>
                <a:r>
                  <a:rPr lang="en-US" sz="2200" dirty="0">
                    <a:latin typeface="Verdana" panose="020B0604030504040204" pitchFamily="34" charset="0"/>
                    <a:ea typeface="Verdana" panose="020B0604030504040204" pitchFamily="34" charset="0"/>
                    <a:cs typeface="Verdana" panose="020B0604030504040204" pitchFamily="34" charset="0"/>
                  </a:rPr>
                  <a:t> feet (</a:t>
                </a:r>
                <a:r>
                  <a:rPr lang="en-US" sz="2200" dirty="0" err="1">
                    <a:latin typeface="Verdana" panose="020B0604030504040204" pitchFamily="34" charset="0"/>
                    <a:ea typeface="Verdana" panose="020B0604030504040204" pitchFamily="34" charset="0"/>
                    <a:cs typeface="Verdana" panose="020B0604030504040204" pitchFamily="34" charset="0"/>
                  </a:rPr>
                  <a:t>ft</a:t>
                </a:r>
                <a:r>
                  <a:rPr lang="en-US" sz="2200" dirty="0">
                    <a:latin typeface="Verdana" panose="020B0604030504040204" pitchFamily="34" charset="0"/>
                    <a:ea typeface="Verdana" panose="020B0604030504040204" pitchFamily="34" charset="0"/>
                    <a:cs typeface="Verdana" panose="020B0604030504040204" pitchFamily="34" charset="0"/>
                  </a:rPr>
                  <a:t>). The rig drills </a:t>
                </a:r>
                <a14:m>
                  <m:oMath xmlns:m="http://schemas.openxmlformats.org/officeDocument/2006/math">
                    <m:r>
                      <a:rPr lang="en-US" sz="2200" i="1">
                        <a:latin typeface="Cambria Math" panose="02040503050406030204" pitchFamily="18" charset="0"/>
                        <a:ea typeface="Cambria Math" panose="02040503050406030204" pitchFamily="18" charset="0"/>
                      </a:rPr>
                      <m:t>−2</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2</m:t>
                        </m:r>
                      </m:den>
                    </m:f>
                  </m:oMath>
                </a14:m>
                <a:r>
                  <a:rPr lang="en-US" sz="2200" dirty="0">
                    <a:latin typeface="Verdana" panose="020B0604030504040204" pitchFamily="34" charset="0"/>
                    <a:ea typeface="Verdana" panose="020B0604030504040204" pitchFamily="34" charset="0"/>
                    <a:cs typeface="Verdana" panose="020B0604030504040204" pitchFamily="34" charset="0"/>
                  </a:rPr>
                  <a:t> </a:t>
                </a:r>
                <a:r>
                  <a:rPr lang="en-US" sz="2200" dirty="0" err="1">
                    <a:latin typeface="Verdana" panose="020B0604030504040204" pitchFamily="34" charset="0"/>
                    <a:ea typeface="Verdana" panose="020B0604030504040204" pitchFamily="34" charset="0"/>
                    <a:cs typeface="Verdana" panose="020B0604030504040204" pitchFamily="34" charset="0"/>
                  </a:rPr>
                  <a:t>ft</a:t>
                </a:r>
                <a:r>
                  <a:rPr lang="en-US" sz="2200" dirty="0">
                    <a:latin typeface="Verdana" panose="020B0604030504040204" pitchFamily="34" charset="0"/>
                    <a:ea typeface="Verdana" panose="020B0604030504040204" pitchFamily="34" charset="0"/>
                    <a:cs typeface="Verdana" panose="020B0604030504040204" pitchFamily="34" charset="0"/>
                  </a:rPr>
                  <a:t> in one hour. </a:t>
                </a: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How many hours has the drill been running?</a:t>
                </a:r>
                <a14:m>
                  <m:oMath xmlns:m="http://schemas.openxmlformats.org/officeDocument/2006/math">
                    <m:r>
                      <a:rPr lang="en-US" sz="2200" i="1">
                        <a:latin typeface="Cambria Math" panose="02040503050406030204" pitchFamily="18" charset="0"/>
                        <a:ea typeface="Cambria Math" panose="02040503050406030204" pitchFamily="18" charset="0"/>
                      </a:rPr>
                      <m:t> </m:t>
                    </m:r>
                  </m:oMath>
                </a14:m>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At this rate, how many hours will it take until the drill reaches a depth of </a:t>
                </a:r>
                <a14:m>
                  <m:oMath xmlns:m="http://schemas.openxmlformats.org/officeDocument/2006/math">
                    <m:r>
                      <a:rPr lang="en-US" sz="2200" i="1">
                        <a:latin typeface="Cambria Math" panose="02040503050406030204" pitchFamily="18" charset="0"/>
                        <a:ea typeface="Cambria Math" panose="02040503050406030204" pitchFamily="18" charset="0"/>
                      </a:rPr>
                      <m:t>−250</m:t>
                    </m:r>
                  </m:oMath>
                </a14:m>
                <a:r>
                  <a:rPr lang="en-US" sz="2200" dirty="0">
                    <a:latin typeface="Verdana" panose="020B0604030504040204" pitchFamily="34" charset="0"/>
                    <a:ea typeface="Verdana" panose="020B0604030504040204" pitchFamily="34" charset="0"/>
                    <a:cs typeface="Verdana" panose="020B0604030504040204" pitchFamily="34" charset="0"/>
                  </a:rPr>
                  <a:t> </a:t>
                </a:r>
                <a:r>
                  <a:rPr lang="en-US" sz="2200" dirty="0" err="1">
                    <a:latin typeface="Verdana" panose="020B0604030504040204" pitchFamily="34" charset="0"/>
                    <a:ea typeface="Verdana" panose="020B0604030504040204" pitchFamily="34" charset="0"/>
                    <a:cs typeface="Verdana" panose="020B0604030504040204" pitchFamily="34" charset="0"/>
                  </a:rPr>
                  <a:t>ft</a:t>
                </a:r>
                <a:r>
                  <a:rPr lang="en-US" sz="22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1203158" y="288746"/>
                <a:ext cx="9056410" cy="3955955"/>
              </a:xfrm>
              <a:prstGeom prst="rect">
                <a:avLst/>
              </a:prstGeom>
              <a:blipFill rotWithShape="0">
                <a:blip r:embed="rId3"/>
                <a:stretch>
                  <a:fillRect l="-875" t="-1233" b="-2311"/>
                </a:stretch>
              </a:blipFill>
            </p:spPr>
            <p:txBody>
              <a:bodyPr/>
              <a:lstStyle/>
              <a:p>
                <a:r>
                  <a:rPr lang="en-US">
                    <a:noFill/>
                  </a:rPr>
                  <a:t> </a:t>
                </a:r>
              </a:p>
            </p:txBody>
          </p:sp>
        </mc:Fallback>
      </mc:AlternateContent>
      <p:sp>
        <p:nvSpPr>
          <p:cNvPr id="7"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188</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65904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188</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44598" y="144274"/>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11.5.4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97298" y="144274"/>
            <a:ext cx="747300" cy="747300"/>
          </a:xfrm>
          <a:prstGeom prst="rect">
            <a:avLst/>
          </a:prstGeom>
          <a:noFill/>
          <a:ln>
            <a:noFill/>
          </a:ln>
        </p:spPr>
      </p:pic>
      <p:sp>
        <p:nvSpPr>
          <p:cNvPr id="12" name="TextBox 11">
            <a:extLst>
              <a:ext uri="{FF2B5EF4-FFF2-40B4-BE49-F238E27FC236}">
                <a16:creationId xmlns:a16="http://schemas.microsoft.com/office/drawing/2014/main" id="{759C3E41-93EC-B84D-963F-86A3B15AC1C6}"/>
              </a:ext>
            </a:extLst>
          </p:cNvPr>
          <p:cNvSpPr txBox="1"/>
          <p:nvPr/>
        </p:nvSpPr>
        <p:spPr>
          <a:xfrm>
            <a:off x="1558713" y="1386026"/>
            <a:ext cx="6715224" cy="2462213"/>
          </a:xfrm>
          <a:prstGeom prst="rect">
            <a:avLst/>
          </a:prstGeom>
          <a:noFill/>
        </p:spPr>
        <p:txBody>
          <a:bodyPr wrap="square" rtlCol="0">
            <a:spAutoFit/>
          </a:bodyPr>
          <a:lstStyle/>
          <a:p>
            <a:pPr marL="465138" indent="-465138">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The table shows the change in value for a share of stock in a company at the end of each week during the month of December. A negative value represents the amount the share decreased, and a positive value represents the amount the share increased.</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627780700"/>
                  </p:ext>
                </p:extLst>
              </p:nvPr>
            </p:nvGraphicFramePr>
            <p:xfrm>
              <a:off x="8273935" y="1508517"/>
              <a:ext cx="1983290" cy="2460897"/>
            </p:xfrm>
            <a:graphic>
              <a:graphicData uri="http://schemas.openxmlformats.org/drawingml/2006/table">
                <a:tbl>
                  <a:tblPr bandRow="1">
                    <a:tableStyleId>{5940675A-B579-460E-94D1-54222C63F5DA}</a:tableStyleId>
                  </a:tblPr>
                  <a:tblGrid>
                    <a:gridCol w="1983290">
                      <a:extLst>
                        <a:ext uri="{9D8B030D-6E8A-4147-A177-3AD203B41FA5}">
                          <a16:colId xmlns:a16="http://schemas.microsoft.com/office/drawing/2014/main" val="20000"/>
                        </a:ext>
                      </a:extLst>
                    </a:gridCol>
                  </a:tblGrid>
                  <a:tr h="393989">
                    <a:tc>
                      <a:txBody>
                        <a:bodyPr/>
                        <a:lstStyle/>
                        <a:p>
                          <a:pPr marL="0" marR="0" algn="ctr">
                            <a:lnSpc>
                              <a:spcPct val="107000"/>
                            </a:lnSpc>
                            <a:spcBef>
                              <a:spcPts val="0"/>
                            </a:spcBef>
                            <a:spcAft>
                              <a:spcPts val="0"/>
                            </a:spcAft>
                            <a:tabLst>
                              <a:tab pos="0"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December</a:t>
                          </a:r>
                        </a:p>
                      </a:txBody>
                      <a:tcPr marL="68580" marR="68580" marT="0" marB="0" anchor="ctr">
                        <a:solidFill>
                          <a:schemeClr val="bg1">
                            <a:lumMod val="75000"/>
                          </a:schemeClr>
                        </a:solidFill>
                      </a:tcPr>
                    </a:tc>
                    <a:extLst>
                      <a:ext uri="{0D108BD9-81ED-4DB2-BD59-A6C34878D82A}">
                        <a16:rowId xmlns:a16="http://schemas.microsoft.com/office/drawing/2014/main" val="10000"/>
                      </a:ext>
                    </a:extLst>
                  </a:tr>
                  <a:tr h="516727">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−$22.65</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68580" marR="68580" marT="0" marB="0" anchor="ctr"/>
                    </a:tc>
                    <a:extLst>
                      <a:ext uri="{0D108BD9-81ED-4DB2-BD59-A6C34878D82A}">
                        <a16:rowId xmlns:a16="http://schemas.microsoft.com/office/drawing/2014/main" val="10001"/>
                      </a:ext>
                    </a:extLst>
                  </a:tr>
                  <a:tr h="516727">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$225.30</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68580" marR="68580" marT="0" marB="0" anchor="ctr"/>
                    </a:tc>
                    <a:extLst>
                      <a:ext uri="{0D108BD9-81ED-4DB2-BD59-A6C34878D82A}">
                        <a16:rowId xmlns:a16="http://schemas.microsoft.com/office/drawing/2014/main" val="10002"/>
                      </a:ext>
                    </a:extLst>
                  </a:tr>
                  <a:tr h="516727">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−$106.42</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68580" marR="68580" marT="0" marB="0" anchor="ctr"/>
                    </a:tc>
                    <a:extLst>
                      <a:ext uri="{0D108BD9-81ED-4DB2-BD59-A6C34878D82A}">
                        <a16:rowId xmlns:a16="http://schemas.microsoft.com/office/drawing/2014/main" val="10003"/>
                      </a:ext>
                    </a:extLst>
                  </a:tr>
                  <a:tr h="516727">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$91.10</m:t>
                                </m:r>
                              </m:oMath>
                            </m:oMathPara>
                          </a14:m>
                          <a:endParaRPr lang="en-US" sz="2000" dirty="0">
                            <a:effectLst/>
                            <a:latin typeface="Cambria Math" panose="02040503050406030204" pitchFamily="18" charset="0"/>
                            <a:ea typeface="Cambria Math" panose="02040503050406030204" pitchFamily="18" charset="0"/>
                            <a:cs typeface="Calibri" panose="020F0502020204030204" pitchFamily="34" charset="0"/>
                          </a:endParaRPr>
                        </a:p>
                      </a:txBody>
                      <a:tcPr marL="68580" marR="68580" marT="0" marB="0" anchor="ct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627780700"/>
                  </p:ext>
                </p:extLst>
              </p:nvPr>
            </p:nvGraphicFramePr>
            <p:xfrm>
              <a:off x="6749935" y="1508516"/>
              <a:ext cx="1983290" cy="2460897"/>
            </p:xfrm>
            <a:graphic>
              <a:graphicData uri="http://schemas.openxmlformats.org/drawingml/2006/table">
                <a:tbl>
                  <a:tblPr bandRow="1">
                    <a:tableStyleId>{5940675A-B579-460E-94D1-54222C63F5DA}</a:tableStyleId>
                  </a:tblPr>
                  <a:tblGrid>
                    <a:gridCol w="1983290"/>
                  </a:tblGrid>
                  <a:tr h="393989">
                    <a:tc>
                      <a:txBody>
                        <a:bodyPr/>
                        <a:lstStyle/>
                        <a:p>
                          <a:pPr marL="0" marR="0" algn="ctr">
                            <a:lnSpc>
                              <a:spcPct val="107000"/>
                            </a:lnSpc>
                            <a:spcBef>
                              <a:spcPts val="0"/>
                            </a:spcBef>
                            <a:spcAft>
                              <a:spcPts val="0"/>
                            </a:spcAft>
                            <a:tabLst>
                              <a:tab pos="0"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December</a:t>
                          </a:r>
                        </a:p>
                      </a:txBody>
                      <a:tcPr marL="68580" marR="68580" marT="0" marB="0" anchor="ctr">
                        <a:solidFill>
                          <a:schemeClr val="bg1">
                            <a:lumMod val="75000"/>
                          </a:schemeClr>
                        </a:solidFill>
                      </a:tcPr>
                    </a:tc>
                  </a:tr>
                  <a:tr h="516727">
                    <a:tc>
                      <a:txBody>
                        <a:bodyPr/>
                        <a:lstStyle/>
                        <a:p>
                          <a:endParaRPr lang="en-US"/>
                        </a:p>
                      </a:txBody>
                      <a:tcPr marL="68580" marR="68580" marT="0" marB="0" anchor="ctr">
                        <a:blipFill rotWithShape="0">
                          <a:blip r:embed="rId5"/>
                          <a:stretch>
                            <a:fillRect l="-307" t="-85882" r="-613" b="-302353"/>
                          </a:stretch>
                        </a:blipFill>
                      </a:tcPr>
                    </a:tc>
                  </a:tr>
                  <a:tr h="516727">
                    <a:tc>
                      <a:txBody>
                        <a:bodyPr/>
                        <a:lstStyle/>
                        <a:p>
                          <a:endParaRPr lang="en-US"/>
                        </a:p>
                      </a:txBody>
                      <a:tcPr marL="68580" marR="68580" marT="0" marB="0" anchor="ctr">
                        <a:blipFill rotWithShape="0">
                          <a:blip r:embed="rId5"/>
                          <a:stretch>
                            <a:fillRect l="-307" t="-185882" r="-613" b="-202353"/>
                          </a:stretch>
                        </a:blipFill>
                      </a:tcPr>
                    </a:tc>
                  </a:tr>
                  <a:tr h="516727">
                    <a:tc>
                      <a:txBody>
                        <a:bodyPr/>
                        <a:lstStyle/>
                        <a:p>
                          <a:endParaRPr lang="en-US"/>
                        </a:p>
                      </a:txBody>
                      <a:tcPr marL="68580" marR="68580" marT="0" marB="0" anchor="ctr">
                        <a:blipFill rotWithShape="0">
                          <a:blip r:embed="rId5"/>
                          <a:stretch>
                            <a:fillRect l="-307" t="-285882" r="-613" b="-102353"/>
                          </a:stretch>
                        </a:blipFill>
                      </a:tcPr>
                    </a:tc>
                  </a:tr>
                  <a:tr h="516727">
                    <a:tc>
                      <a:txBody>
                        <a:bodyPr/>
                        <a:lstStyle/>
                        <a:p>
                          <a:endParaRPr lang="en-US"/>
                        </a:p>
                      </a:txBody>
                      <a:tcPr marL="68580" marR="68580" marT="0" marB="0" anchor="ctr">
                        <a:blipFill rotWithShape="0">
                          <a:blip r:embed="rId5"/>
                          <a:stretch>
                            <a:fillRect l="-307" t="-385882" r="-613" b="-2353"/>
                          </a:stretch>
                        </a:blipFill>
                      </a:tcPr>
                    </a:tc>
                  </a:tr>
                </a:tbl>
              </a:graphicData>
            </a:graphic>
          </p:graphicFrame>
        </mc:Fallback>
      </mc:AlternateContent>
      <mc:AlternateContent xmlns:mc="http://schemas.openxmlformats.org/markup-compatibility/2006" xmlns:a14="http://schemas.microsoft.com/office/drawing/2010/main">
        <mc:Choice Requires="a14">
          <p:sp>
            <p:nvSpPr>
              <p:cNvPr id="3" name="Rectangle 2"/>
              <p:cNvSpPr/>
              <p:nvPr/>
            </p:nvSpPr>
            <p:spPr>
              <a:xfrm>
                <a:off x="1444598" y="4586357"/>
                <a:ext cx="8242500" cy="1107996"/>
              </a:xfrm>
              <a:prstGeom prst="rect">
                <a:avLst/>
              </a:prstGeom>
            </p:spPr>
            <p:txBody>
              <a:bodyPr wrap="square">
                <a:spAutoFit/>
              </a:bodyPr>
              <a:lstStyle/>
              <a:p>
                <a:pPr marL="465138">
                  <a:tabLst>
                    <a:tab pos="1995488" algn="l"/>
                  </a:tabLst>
                </a:pPr>
                <a:r>
                  <a:rPr lang="en-US" sz="2200" dirty="0">
                    <a:latin typeface="Verdana" panose="020B0604030504040204" pitchFamily="34" charset="0"/>
                    <a:ea typeface="Verdana" panose="020B0604030504040204" pitchFamily="34" charset="0"/>
                    <a:cs typeface="Verdana" panose="020B0604030504040204" pitchFamily="34" charset="0"/>
                  </a:rPr>
                  <a:t>If the value of the stock began at </a:t>
                </a:r>
                <a14:m>
                  <m:oMath xmlns:m="http://schemas.openxmlformats.org/officeDocument/2006/math">
                    <m:r>
                      <a:rPr lang="en-US" sz="2200" i="1">
                        <a:latin typeface="Cambria Math" panose="02040503050406030204" pitchFamily="18" charset="0"/>
                        <a:ea typeface="Cambria Math" panose="02040503050406030204" pitchFamily="18" charset="0"/>
                      </a:rPr>
                      <m:t>$75.37</m:t>
                    </m:r>
                  </m:oMath>
                </a14:m>
                <a:r>
                  <a:rPr lang="en-US" sz="2200" dirty="0">
                    <a:latin typeface="Verdana" panose="020B0604030504040204" pitchFamily="34" charset="0"/>
                    <a:ea typeface="Verdana" panose="020B0604030504040204" pitchFamily="34" charset="0"/>
                    <a:cs typeface="Verdana" panose="020B0604030504040204" pitchFamily="34" charset="0"/>
                  </a:rPr>
                  <a:t> at the start of the month, what is the final value of the share at the end of the month?</a:t>
                </a:r>
              </a:p>
            </p:txBody>
          </p:sp>
        </mc:Choice>
        <mc:Fallback xmlns="">
          <p:sp>
            <p:nvSpPr>
              <p:cNvPr id="3" name="Rectangle 2"/>
              <p:cNvSpPr>
                <a:spLocks noRot="1" noChangeAspect="1" noMove="1" noResize="1" noEditPoints="1" noAdjustHandles="1" noChangeArrowheads="1" noChangeShapeType="1" noTextEdit="1"/>
              </p:cNvSpPr>
              <p:nvPr/>
            </p:nvSpPr>
            <p:spPr>
              <a:xfrm>
                <a:off x="1444598" y="4586357"/>
                <a:ext cx="8242500" cy="1107996"/>
              </a:xfrm>
              <a:prstGeom prst="rect">
                <a:avLst/>
              </a:prstGeom>
              <a:blipFill rotWithShape="0">
                <a:blip r:embed="rId6"/>
                <a:stretch>
                  <a:fillRect t="-3297" b="-10989"/>
                </a:stretch>
              </a:blipFill>
            </p:spPr>
            <p:txBody>
              <a:bodyPr/>
              <a:lstStyle/>
              <a:p>
                <a:r>
                  <a:rPr lang="en-US">
                    <a:noFill/>
                  </a:rPr>
                  <a:t> </a:t>
                </a:r>
              </a:p>
            </p:txBody>
          </p:sp>
        </mc:Fallback>
      </mc:AlternateContent>
      <p:sp>
        <p:nvSpPr>
          <p:cNvPr id="11"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188</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1251284" y="398473"/>
                <a:ext cx="9689432" cy="2263184"/>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Samuel is practicing for his town’s annual high school quarterback football-throwing competition. Last year’s champion threw the football </a:t>
                </a:r>
                <a14:m>
                  <m:oMath xmlns:m="http://schemas.openxmlformats.org/officeDocument/2006/math">
                    <m:r>
                      <a:rPr lang="en-US" sz="2200" i="1">
                        <a:latin typeface="Cambria Math" panose="02040503050406030204" pitchFamily="18" charset="0"/>
                        <a:ea typeface="Cambria Math" panose="02040503050406030204" pitchFamily="18" charset="0"/>
                      </a:rPr>
                      <m:t>40</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4</m:t>
                        </m:r>
                      </m:den>
                    </m:f>
                  </m:oMath>
                </a14:m>
                <a:r>
                  <a:rPr lang="en-US" sz="2200" dirty="0">
                    <a:latin typeface="Verdana" panose="020B0604030504040204" pitchFamily="34" charset="0"/>
                    <a:ea typeface="Verdana" panose="020B0604030504040204" pitchFamily="34" charset="0"/>
                    <a:cs typeface="Verdana" panose="020B0604030504040204" pitchFamily="34" charset="0"/>
                  </a:rPr>
                  <a:t> yards (</a:t>
                </a:r>
                <a:r>
                  <a:rPr lang="en-US" sz="2200" dirty="0" err="1">
                    <a:latin typeface="Verdana" panose="020B0604030504040204" pitchFamily="34" charset="0"/>
                    <a:ea typeface="Verdana" panose="020B0604030504040204" pitchFamily="34" charset="0"/>
                    <a:cs typeface="Verdana" panose="020B0604030504040204" pitchFamily="34" charset="0"/>
                  </a:rPr>
                  <a:t>yd</a:t>
                </a:r>
                <a:r>
                  <a:rPr lang="en-US" sz="2200" dirty="0">
                    <a:latin typeface="Verdana" panose="020B0604030504040204" pitchFamily="34" charset="0"/>
                    <a:ea typeface="Verdana" panose="020B0604030504040204" pitchFamily="34" charset="0"/>
                    <a:cs typeface="Verdana" panose="020B0604030504040204" pitchFamily="34" charset="0"/>
                  </a:rPr>
                  <a:t>). A summary of Samuel’s throws in relation to the throws of last year’s champion is shown. Complete the table to determine how far Samuel threw the football during each of his tries.</a:t>
                </a:r>
              </a:p>
            </p:txBody>
          </p:sp>
        </mc:Choice>
        <mc:Fallback xmlns="">
          <p:sp>
            <p:nvSpPr>
              <p:cNvPr id="5" name="TextBox 4">
                <a:extLst>
                  <a:ext uri="{FF2B5EF4-FFF2-40B4-BE49-F238E27FC236}">
                    <a16:creationId xmlns:a16="http://schemas.microsoft.com/office/drawing/2014/main" xmlns:a14="http://schemas.microsoft.com/office/drawing/2010/main" xmlns="" id="{08C67FCF-92C3-654A-BF40-5BDF7A4F9271}"/>
                  </a:ext>
                </a:extLst>
              </p:cNvPr>
              <p:cNvSpPr txBox="1">
                <a:spLocks noRot="1" noChangeAspect="1" noMove="1" noResize="1" noEditPoints="1" noAdjustHandles="1" noChangeArrowheads="1" noChangeShapeType="1" noTextEdit="1"/>
              </p:cNvSpPr>
              <p:nvPr/>
            </p:nvSpPr>
            <p:spPr>
              <a:xfrm>
                <a:off x="1251284" y="398473"/>
                <a:ext cx="9689432" cy="2263184"/>
              </a:xfrm>
              <a:prstGeom prst="rect">
                <a:avLst/>
              </a:prstGeom>
              <a:blipFill rotWithShape="0">
                <a:blip r:embed="rId3"/>
                <a:stretch>
                  <a:fillRect l="-818" t="-1882" b="-45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286069873"/>
                  </p:ext>
                </p:extLst>
              </p:nvPr>
            </p:nvGraphicFramePr>
            <p:xfrm>
              <a:off x="2464278" y="3178318"/>
              <a:ext cx="7484472" cy="3022283"/>
            </p:xfrm>
            <a:graphic>
              <a:graphicData uri="http://schemas.openxmlformats.org/drawingml/2006/table">
                <a:tbl>
                  <a:tblPr bandRow="1">
                    <a:tableStyleId>{5940675A-B579-460E-94D1-54222C63F5DA}</a:tableStyleId>
                  </a:tblPr>
                  <a:tblGrid>
                    <a:gridCol w="1194642">
                      <a:extLst>
                        <a:ext uri="{9D8B030D-6E8A-4147-A177-3AD203B41FA5}">
                          <a16:colId xmlns:a16="http://schemas.microsoft.com/office/drawing/2014/main" val="20000"/>
                        </a:ext>
                      </a:extLst>
                    </a:gridCol>
                    <a:gridCol w="2472275">
                      <a:extLst>
                        <a:ext uri="{9D8B030D-6E8A-4147-A177-3AD203B41FA5}">
                          <a16:colId xmlns:a16="http://schemas.microsoft.com/office/drawing/2014/main" val="20001"/>
                        </a:ext>
                      </a:extLst>
                    </a:gridCol>
                    <a:gridCol w="2559450">
                      <a:extLst>
                        <a:ext uri="{9D8B030D-6E8A-4147-A177-3AD203B41FA5}">
                          <a16:colId xmlns:a16="http://schemas.microsoft.com/office/drawing/2014/main" val="20002"/>
                        </a:ext>
                      </a:extLst>
                    </a:gridCol>
                    <a:gridCol w="1258105">
                      <a:extLst>
                        <a:ext uri="{9D8B030D-6E8A-4147-A177-3AD203B41FA5}">
                          <a16:colId xmlns:a16="http://schemas.microsoft.com/office/drawing/2014/main" val="20003"/>
                        </a:ext>
                      </a:extLst>
                    </a:gridCol>
                  </a:tblGrid>
                  <a:tr h="1397180">
                    <a:tc>
                      <a:txBody>
                        <a:bodyPr/>
                        <a:lstStyle/>
                        <a:p>
                          <a:pPr marL="0" marR="0" indent="9334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Throw</a:t>
                          </a:r>
                        </a:p>
                      </a:txBody>
                      <a:tcPr marL="68580" marR="68580" marT="0" marB="0" anchor="ctr">
                        <a:solidFill>
                          <a:schemeClr val="bg1">
                            <a:lumMod val="75000"/>
                          </a:schemeClr>
                        </a:solidFill>
                      </a:tcPr>
                    </a:tc>
                    <a:tc>
                      <a:txBody>
                        <a:bodyPr/>
                        <a:lstStyle/>
                        <a:p>
                          <a:pPr marL="0" marR="0" indent="9334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Comparison of Samuel’s Throw to Last Year’s Champion</a:t>
                          </a:r>
                        </a:p>
                      </a:txBody>
                      <a:tcPr marL="68580" marR="68580" marT="0" marB="0" anchor="ctr">
                        <a:solidFill>
                          <a:schemeClr val="bg1">
                            <a:lumMod val="75000"/>
                          </a:schemeClr>
                        </a:solidFill>
                      </a:tcPr>
                    </a:tc>
                    <a:tc>
                      <a:txBody>
                        <a:bodyPr/>
                        <a:lstStyle/>
                        <a:p>
                          <a:pPr marL="0" marR="0" indent="9334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8580" marR="68580" marT="0" marB="0" anchor="ctr">
                        <a:solidFill>
                          <a:schemeClr val="bg1">
                            <a:lumMod val="75000"/>
                          </a:schemeClr>
                        </a:solidFill>
                      </a:tcPr>
                    </a:tc>
                    <a:tc>
                      <a:txBody>
                        <a:bodyPr/>
                        <a:lstStyle/>
                        <a:p>
                          <a:pPr marL="0" marR="0" indent="9334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Yards Thrown</a:t>
                          </a:r>
                        </a:p>
                      </a:txBody>
                      <a:tcPr marL="68580" marR="68580" marT="0" marB="0" anchor="ctr">
                        <a:solidFill>
                          <a:schemeClr val="bg1">
                            <a:lumMod val="75000"/>
                          </a:schemeClr>
                        </a:solidFill>
                      </a:tcPr>
                    </a:tc>
                    <a:extLst>
                      <a:ext uri="{0D108BD9-81ED-4DB2-BD59-A6C34878D82A}">
                        <a16:rowId xmlns:a16="http://schemas.microsoft.com/office/drawing/2014/main" val="10000"/>
                      </a:ext>
                    </a:extLst>
                  </a:tr>
                  <a:tr h="541701">
                    <a:tc>
                      <a:txBody>
                        <a:bodyPr/>
                        <a:lstStyle/>
                        <a:p>
                          <a:pPr marL="0" marR="0" indent="93345"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a:t>
                          </a:r>
                          <a:r>
                            <a:rPr lang="en-US" sz="2000" baseline="30000" dirty="0">
                              <a:effectLst/>
                              <a:latin typeface="Verdana" panose="020B0604030504040204" pitchFamily="34" charset="0"/>
                              <a:ea typeface="Verdana" panose="020B0604030504040204" pitchFamily="34" charset="0"/>
                              <a:cs typeface="Verdana" panose="020B0604030504040204" pitchFamily="34" charset="0"/>
                            </a:rPr>
                            <a:t>st</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indent="93345"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+3</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3</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yards</a:t>
                          </a:r>
                        </a:p>
                      </a:txBody>
                      <a:tcPr marL="68580" marR="68580" marT="0" marB="0" anchor="ctr"/>
                    </a:tc>
                    <a:tc>
                      <a:txBody>
                        <a:bodyPr/>
                        <a:lstStyle/>
                        <a:p>
                          <a:pPr marL="0" marR="0" indent="93345"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40</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4</m:t>
                                  </m:r>
                                </m:den>
                              </m:f>
                              <m:r>
                                <a:rPr lang="en-US" sz="2000">
                                  <a:effectLst/>
                                  <a:latin typeface="Cambria Math" panose="02040503050406030204" pitchFamily="18" charset="0"/>
                                  <a:ea typeface="Cambria Math" panose="02040503050406030204" pitchFamily="18" charset="0"/>
                                </a:rPr>
                                <m:t>+3</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3</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indent="9334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10001"/>
                      </a:ext>
                    </a:extLst>
                  </a:tr>
                  <a:tr h="541701">
                    <a:tc>
                      <a:txBody>
                        <a:bodyPr/>
                        <a:lstStyle/>
                        <a:p>
                          <a:pPr marL="0" marR="0" indent="9334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2</a:t>
                          </a:r>
                          <a:r>
                            <a:rPr lang="en-US" sz="2000" baseline="30000">
                              <a:effectLst/>
                              <a:latin typeface="Verdana" panose="020B0604030504040204" pitchFamily="34" charset="0"/>
                              <a:ea typeface="Verdana" panose="020B0604030504040204" pitchFamily="34" charset="0"/>
                              <a:cs typeface="Verdana" panose="020B0604030504040204" pitchFamily="34" charset="0"/>
                            </a:rPr>
                            <a:t>nd</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indent="93345"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9</m:t>
                                  </m:r>
                                </m:num>
                                <m:den>
                                  <m:r>
                                    <a:rPr lang="en-US" sz="2000">
                                      <a:effectLst/>
                                      <a:latin typeface="Cambria Math" panose="02040503050406030204" pitchFamily="18" charset="0"/>
                                      <a:ea typeface="Cambria Math" panose="02040503050406030204" pitchFamily="18" charset="0"/>
                                    </a:rPr>
                                    <m:t>7</m:t>
                                  </m:r>
                                </m:den>
                              </m:f>
                            </m:oMath>
                          </a14:m>
                          <a:r>
                            <a:rPr lang="en-US" sz="2000">
                              <a:effectLst/>
                              <a:latin typeface="Verdana" panose="020B0604030504040204" pitchFamily="34" charset="0"/>
                              <a:ea typeface="Verdana" panose="020B0604030504040204" pitchFamily="34" charset="0"/>
                              <a:cs typeface="Verdana" panose="020B0604030504040204" pitchFamily="34" charset="0"/>
                            </a:rPr>
                            <a:t> yards</a:t>
                          </a:r>
                        </a:p>
                      </a:txBody>
                      <a:tcPr marL="68580" marR="68580" marT="0" marB="0" anchor="ctr"/>
                    </a:tc>
                    <a:tc>
                      <a:txBody>
                        <a:bodyPr/>
                        <a:lstStyle/>
                        <a:p>
                          <a:pPr marL="0" marR="0" indent="93345"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40</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4</m:t>
                                  </m:r>
                                </m:den>
                              </m:f>
                              <m:r>
                                <a:rPr lang="en-US" sz="2000">
                                  <a:effectLst/>
                                  <a:latin typeface="Cambria Math" panose="02040503050406030204" pitchFamily="18" charset="0"/>
                                  <a:ea typeface="Cambria Math" panose="02040503050406030204" pitchFamily="18" charset="0"/>
                                </a:rPr>
                                <m:t>+</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9</m:t>
                                      </m:r>
                                    </m:num>
                                    <m:den>
                                      <m:r>
                                        <a:rPr lang="en-US" sz="2000">
                                          <a:effectLst/>
                                          <a:latin typeface="Cambria Math" panose="02040503050406030204" pitchFamily="18" charset="0"/>
                                          <a:ea typeface="Cambria Math" panose="02040503050406030204" pitchFamily="18" charset="0"/>
                                        </a:rPr>
                                        <m:t>7</m:t>
                                      </m:r>
                                    </m:den>
                                  </m:f>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tc>
                    <a:tc>
                      <a:txBody>
                        <a:bodyPr/>
                        <a:lstStyle/>
                        <a:p>
                          <a:pPr marL="0" marR="0" indent="93345">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tc>
                    <a:extLst>
                      <a:ext uri="{0D108BD9-81ED-4DB2-BD59-A6C34878D82A}">
                        <a16:rowId xmlns:a16="http://schemas.microsoft.com/office/drawing/2014/main" val="10002"/>
                      </a:ext>
                    </a:extLst>
                  </a:tr>
                  <a:tr h="541701">
                    <a:tc>
                      <a:txBody>
                        <a:bodyPr/>
                        <a:lstStyle/>
                        <a:p>
                          <a:pPr marL="0" marR="0" indent="9334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3</a:t>
                          </a:r>
                          <a:r>
                            <a:rPr lang="en-US" sz="2000" baseline="30000">
                              <a:effectLst/>
                              <a:latin typeface="Verdana" panose="020B0604030504040204" pitchFamily="34" charset="0"/>
                              <a:ea typeface="Verdana" panose="020B0604030504040204" pitchFamily="34" charset="0"/>
                              <a:cs typeface="Verdana" panose="020B0604030504040204" pitchFamily="34" charset="0"/>
                            </a:rPr>
                            <a:t>rd</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indent="93345"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−2</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6</m:t>
                                  </m:r>
                                </m:num>
                                <m:den>
                                  <m:r>
                                    <a:rPr lang="en-US" sz="2000">
                                      <a:effectLst/>
                                      <a:latin typeface="Cambria Math" panose="02040503050406030204" pitchFamily="18" charset="0"/>
                                      <a:ea typeface="Cambria Math" panose="02040503050406030204" pitchFamily="18" charset="0"/>
                                    </a:rPr>
                                    <m:t>13</m:t>
                                  </m:r>
                                </m:den>
                              </m:f>
                              <m:r>
                                <a:rPr lang="en-US" sz="2000">
                                  <a:effectLst/>
                                  <a:latin typeface="Cambria Math" panose="02040503050406030204" pitchFamily="18" charset="0"/>
                                  <a:ea typeface="Cambria Math" panose="02040503050406030204" pitchFamily="18" charset="0"/>
                                </a:rPr>
                                <m:t> </m:t>
                              </m:r>
                            </m:oMath>
                          </a14:m>
                          <a:r>
                            <a:rPr lang="en-US" sz="2000">
                              <a:effectLst/>
                              <a:latin typeface="Verdana" panose="020B0604030504040204" pitchFamily="34" charset="0"/>
                              <a:ea typeface="Verdana" panose="020B0604030504040204" pitchFamily="34" charset="0"/>
                              <a:cs typeface="Verdana" panose="020B0604030504040204" pitchFamily="34" charset="0"/>
                            </a:rPr>
                            <a:t>yards</a:t>
                          </a:r>
                        </a:p>
                      </a:txBody>
                      <a:tcPr marL="68580" marR="68580" marT="0" marB="0" anchor="ctr"/>
                    </a:tc>
                    <a:tc>
                      <a:txBody>
                        <a:bodyPr/>
                        <a:lstStyle/>
                        <a:p>
                          <a:pPr marL="0" marR="0" indent="93345">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tc>
                    <a:tc>
                      <a:txBody>
                        <a:bodyPr/>
                        <a:lstStyle/>
                        <a:p>
                          <a:pPr marL="0" marR="0" indent="93345">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286069873"/>
                  </p:ext>
                </p:extLst>
              </p:nvPr>
            </p:nvGraphicFramePr>
            <p:xfrm>
              <a:off x="940278" y="3178317"/>
              <a:ext cx="7484472" cy="3022283"/>
            </p:xfrm>
            <a:graphic>
              <a:graphicData uri="http://schemas.openxmlformats.org/drawingml/2006/table">
                <a:tbl>
                  <a:tblPr bandRow="1">
                    <a:tableStyleId>{5940675A-B579-460E-94D1-54222C63F5DA}</a:tableStyleId>
                  </a:tblPr>
                  <a:tblGrid>
                    <a:gridCol w="1194642"/>
                    <a:gridCol w="2472275"/>
                    <a:gridCol w="2559450"/>
                    <a:gridCol w="1258105"/>
                  </a:tblGrid>
                  <a:tr h="1397180">
                    <a:tc>
                      <a:txBody>
                        <a:bodyPr/>
                        <a:lstStyle/>
                        <a:p>
                          <a:pPr marL="0" marR="0" indent="9334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Throw</a:t>
                          </a:r>
                        </a:p>
                      </a:txBody>
                      <a:tcPr marL="68580" marR="68580" marT="0" marB="0" anchor="ctr">
                        <a:solidFill>
                          <a:schemeClr val="bg1">
                            <a:lumMod val="75000"/>
                          </a:schemeClr>
                        </a:solidFill>
                      </a:tcPr>
                    </a:tc>
                    <a:tc>
                      <a:txBody>
                        <a:bodyPr/>
                        <a:lstStyle/>
                        <a:p>
                          <a:pPr marL="0" marR="0" indent="9334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Comparison of Samuel’s Throw to Last Year’s Champion</a:t>
                          </a:r>
                        </a:p>
                      </a:txBody>
                      <a:tcPr marL="68580" marR="68580" marT="0" marB="0" anchor="ctr">
                        <a:solidFill>
                          <a:schemeClr val="bg1">
                            <a:lumMod val="75000"/>
                          </a:schemeClr>
                        </a:solidFill>
                      </a:tcPr>
                    </a:tc>
                    <a:tc>
                      <a:txBody>
                        <a:bodyPr/>
                        <a:lstStyle/>
                        <a:p>
                          <a:pPr marL="0" marR="0" indent="9334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8580" marR="68580" marT="0" marB="0" anchor="ctr">
                        <a:solidFill>
                          <a:schemeClr val="bg1">
                            <a:lumMod val="75000"/>
                          </a:schemeClr>
                        </a:solidFill>
                      </a:tcPr>
                    </a:tc>
                    <a:tc>
                      <a:txBody>
                        <a:bodyPr/>
                        <a:lstStyle/>
                        <a:p>
                          <a:pPr marL="0" marR="0" indent="9334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Yards Thrown</a:t>
                          </a:r>
                        </a:p>
                      </a:txBody>
                      <a:tcPr marL="68580" marR="68580" marT="0" marB="0" anchor="ctr">
                        <a:solidFill>
                          <a:schemeClr val="bg1">
                            <a:lumMod val="75000"/>
                          </a:schemeClr>
                        </a:solidFill>
                      </a:tcPr>
                    </a:tc>
                  </a:tr>
                  <a:tr h="541701">
                    <a:tc>
                      <a:txBody>
                        <a:bodyPr/>
                        <a:lstStyle/>
                        <a:p>
                          <a:pPr marL="0" marR="0" indent="93345"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a:t>
                          </a:r>
                          <a:r>
                            <a:rPr lang="en-US" sz="2000" baseline="30000" dirty="0">
                              <a:effectLst/>
                              <a:latin typeface="Verdana" panose="020B0604030504040204" pitchFamily="34" charset="0"/>
                              <a:ea typeface="Verdana" panose="020B0604030504040204" pitchFamily="34" charset="0"/>
                              <a:cs typeface="Verdana" panose="020B0604030504040204" pitchFamily="34" charset="0"/>
                            </a:rPr>
                            <a:t>st</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rotWithShape="0">
                          <a:blip r:embed="rId5"/>
                          <a:stretch>
                            <a:fillRect l="-48522" t="-265169" r="-154926" b="-206742"/>
                          </a:stretch>
                        </a:blipFill>
                      </a:tcPr>
                    </a:tc>
                    <a:tc>
                      <a:txBody>
                        <a:bodyPr/>
                        <a:lstStyle/>
                        <a:p>
                          <a:endParaRPr lang="en-US"/>
                        </a:p>
                      </a:txBody>
                      <a:tcPr marL="68580" marR="68580" marT="0" marB="0" anchor="ctr">
                        <a:blipFill rotWithShape="0">
                          <a:blip r:embed="rId5"/>
                          <a:stretch>
                            <a:fillRect l="-143571" t="-265169" r="-49762" b="-206742"/>
                          </a:stretch>
                        </a:blipFill>
                      </a:tcPr>
                    </a:tc>
                    <a:tc>
                      <a:txBody>
                        <a:bodyPr/>
                        <a:lstStyle/>
                        <a:p>
                          <a:pPr marL="0" marR="0" indent="9334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r>
                  <a:tr h="541701">
                    <a:tc>
                      <a:txBody>
                        <a:bodyPr/>
                        <a:lstStyle/>
                        <a:p>
                          <a:pPr marL="0" marR="0" indent="9334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2</a:t>
                          </a:r>
                          <a:r>
                            <a:rPr lang="en-US" sz="2000" baseline="30000">
                              <a:effectLst/>
                              <a:latin typeface="Verdana" panose="020B0604030504040204" pitchFamily="34" charset="0"/>
                              <a:ea typeface="Verdana" panose="020B0604030504040204" pitchFamily="34" charset="0"/>
                              <a:cs typeface="Verdana" panose="020B0604030504040204" pitchFamily="34" charset="0"/>
                            </a:rPr>
                            <a:t>nd</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rotWithShape="0">
                          <a:blip r:embed="rId5"/>
                          <a:stretch>
                            <a:fillRect l="-48522" t="-365169" r="-154926" b="-106742"/>
                          </a:stretch>
                        </a:blipFill>
                      </a:tcPr>
                    </a:tc>
                    <a:tc>
                      <a:txBody>
                        <a:bodyPr/>
                        <a:lstStyle/>
                        <a:p>
                          <a:endParaRPr lang="en-US"/>
                        </a:p>
                      </a:txBody>
                      <a:tcPr marL="68580" marR="68580" marT="0" marB="0">
                        <a:blipFill rotWithShape="0">
                          <a:blip r:embed="rId5"/>
                          <a:stretch>
                            <a:fillRect l="-143571" t="-365169" r="-49762" b="-106742"/>
                          </a:stretch>
                        </a:blipFill>
                      </a:tcPr>
                    </a:tc>
                    <a:tc>
                      <a:txBody>
                        <a:bodyPr/>
                        <a:lstStyle/>
                        <a:p>
                          <a:pPr marL="0" marR="0" indent="93345">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tc>
                  </a:tr>
                  <a:tr h="541701">
                    <a:tc>
                      <a:txBody>
                        <a:bodyPr/>
                        <a:lstStyle/>
                        <a:p>
                          <a:pPr marL="0" marR="0" indent="9334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3</a:t>
                          </a:r>
                          <a:r>
                            <a:rPr lang="en-US" sz="2000" baseline="30000">
                              <a:effectLst/>
                              <a:latin typeface="Verdana" panose="020B0604030504040204" pitchFamily="34" charset="0"/>
                              <a:ea typeface="Verdana" panose="020B0604030504040204" pitchFamily="34" charset="0"/>
                              <a:cs typeface="Verdana" panose="020B0604030504040204" pitchFamily="34" charset="0"/>
                            </a:rPr>
                            <a:t>rd</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rotWithShape="0">
                          <a:blip r:embed="rId5"/>
                          <a:stretch>
                            <a:fillRect l="-48522" t="-465169" r="-154926" b="-6742"/>
                          </a:stretch>
                        </a:blipFill>
                      </a:tcPr>
                    </a:tc>
                    <a:tc>
                      <a:txBody>
                        <a:bodyPr/>
                        <a:lstStyle/>
                        <a:p>
                          <a:pPr marL="0" marR="0" indent="93345">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tc>
                    <a:tc>
                      <a:txBody>
                        <a:bodyPr/>
                        <a:lstStyle/>
                        <a:p>
                          <a:pPr marL="0" marR="0" indent="93345">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tc>
                  </a:tr>
                </a:tbl>
              </a:graphicData>
            </a:graphic>
          </p:graphicFrame>
        </mc:Fallback>
      </mc:AlternateContent>
      <p:sp>
        <p:nvSpPr>
          <p:cNvPr id="8"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188</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43614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1138989" y="398474"/>
                <a:ext cx="9914022" cy="4297330"/>
              </a:xfrm>
              <a:prstGeom prst="rect">
                <a:avLst/>
              </a:prstGeom>
              <a:noFill/>
            </p:spPr>
            <p:txBody>
              <a:bodyPr wrap="square" rtlCol="0">
                <a:spAutoFit/>
              </a:bodyPr>
              <a:lstStyle/>
              <a:p>
                <a:pPr marL="457200" indent="-457200">
                  <a:buFont typeface="+mj-lt"/>
                  <a:buAutoNum type="arabicPeriod" startAt="3"/>
                </a:pPr>
                <a:r>
                  <a:rPr lang="en-US" sz="2200" dirty="0">
                    <a:latin typeface="Verdana" panose="020B0604030504040204" pitchFamily="34" charset="0"/>
                    <a:ea typeface="Verdana" panose="020B0604030504040204" pitchFamily="34" charset="0"/>
                    <a:cs typeface="Verdana" panose="020B0604030504040204" pitchFamily="34" charset="0"/>
                  </a:rPr>
                  <a:t>Delaney wants to sell her bicycle. The original price of the bike was </a:t>
                </a:r>
                <a14:m>
                  <m:oMath xmlns:m="http://schemas.openxmlformats.org/officeDocument/2006/math">
                    <m:r>
                      <a:rPr lang="en-US" sz="2200" i="1">
                        <a:latin typeface="Cambria Math" panose="02040503050406030204" pitchFamily="18" charset="0"/>
                        <a:ea typeface="Cambria Math" panose="02040503050406030204" pitchFamily="18" charset="0"/>
                      </a:rPr>
                      <m:t>$150</m:t>
                    </m:r>
                  </m:oMath>
                </a14:m>
                <a:r>
                  <a:rPr lang="en-US" sz="2200" dirty="0">
                    <a:latin typeface="Verdana" panose="020B0604030504040204" pitchFamily="34" charset="0"/>
                    <a:ea typeface="Verdana" panose="020B0604030504040204" pitchFamily="34" charset="0"/>
                    <a:cs typeface="Verdana" panose="020B0604030504040204" pitchFamily="34" charset="0"/>
                  </a:rPr>
                  <a:t>. The value of the bike has changed by </a:t>
                </a:r>
                <a14:m>
                  <m:oMath xmlns:m="http://schemas.openxmlformats.org/officeDocument/2006/math">
                    <m:r>
                      <a:rPr lang="en-US" sz="2200" i="1">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2</m:t>
                        </m:r>
                      </m:num>
                      <m:den>
                        <m:r>
                          <a:rPr lang="en-US" sz="2200" i="1">
                            <a:latin typeface="Cambria Math" panose="02040503050406030204" pitchFamily="18" charset="0"/>
                            <a:ea typeface="Cambria Math" panose="02040503050406030204" pitchFamily="18" charset="0"/>
                          </a:rPr>
                          <m:t>5</m:t>
                        </m:r>
                      </m:den>
                    </m:f>
                    <m:r>
                      <a:rPr lang="en-US" sz="2200" i="1">
                        <a:latin typeface="Cambria Math" panose="02040503050406030204" pitchFamily="18" charset="0"/>
                        <a:ea typeface="Cambria Math" panose="02040503050406030204" pitchFamily="18" charset="0"/>
                      </a:rPr>
                      <m:t>  </m:t>
                    </m:r>
                  </m:oMath>
                </a14:m>
                <a:r>
                  <a:rPr lang="en-US" sz="2200" dirty="0">
                    <a:latin typeface="Verdana" panose="020B0604030504040204" pitchFamily="34" charset="0"/>
                    <a:ea typeface="Verdana" panose="020B0604030504040204" pitchFamily="34" charset="0"/>
                    <a:cs typeface="Verdana" panose="020B0604030504040204" pitchFamily="34" charset="0"/>
                  </a:rPr>
                  <a:t>of the original price. What is the current value of the bike?</a:t>
                </a:r>
              </a:p>
              <a:p>
                <a:pPr marL="457200" indent="-457200">
                  <a:buFont typeface="+mj-lt"/>
                  <a:buAutoNum type="arabi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200" dirty="0">
                    <a:latin typeface="Verdana" panose="020B0604030504040204" pitchFamily="34" charset="0"/>
                    <a:ea typeface="Verdana" panose="020B0604030504040204" pitchFamily="34" charset="0"/>
                    <a:cs typeface="Verdana" panose="020B0604030504040204" pitchFamily="34" charset="0"/>
                  </a:rPr>
                  <a:t>At the beginning of the day on Monday, Stephon had </a:t>
                </a:r>
                <a14:m>
                  <m:oMath xmlns:m="http://schemas.openxmlformats.org/officeDocument/2006/math">
                    <m:r>
                      <a:rPr lang="en-US" sz="2200" i="1">
                        <a:latin typeface="Cambria Math" panose="02040503050406030204" pitchFamily="18" charset="0"/>
                        <a:ea typeface="Cambria Math" panose="02040503050406030204" pitchFamily="18" charset="0"/>
                      </a:rPr>
                      <m:t>$15.78</m:t>
                    </m:r>
                  </m:oMath>
                </a14:m>
                <a:r>
                  <a:rPr lang="en-US" sz="2200" dirty="0">
                    <a:latin typeface="Verdana" panose="020B0604030504040204" pitchFamily="34" charset="0"/>
                    <a:ea typeface="Verdana" panose="020B0604030504040204" pitchFamily="34" charset="0"/>
                    <a:cs typeface="Verdana" panose="020B0604030504040204" pitchFamily="34" charset="0"/>
                  </a:rPr>
                  <a:t> in his lunch account. At the end of the day on Friday, he had </a:t>
                </a:r>
                <a14:m>
                  <m:oMath xmlns:m="http://schemas.openxmlformats.org/officeDocument/2006/math">
                    <m:r>
                      <a:rPr lang="en-US" sz="2200" i="1">
                        <a:latin typeface="Cambria Math" panose="02040503050406030204" pitchFamily="18" charset="0"/>
                        <a:ea typeface="Cambria Math" panose="02040503050406030204" pitchFamily="18" charset="0"/>
                      </a:rPr>
                      <m:t>$1.53</m:t>
                    </m:r>
                  </m:oMath>
                </a14:m>
                <a:r>
                  <a:rPr lang="en-US" sz="2200" dirty="0">
                    <a:latin typeface="Verdana" panose="020B0604030504040204" pitchFamily="34" charset="0"/>
                    <a:ea typeface="Verdana" panose="020B0604030504040204" pitchFamily="34" charset="0"/>
                    <a:cs typeface="Verdana" panose="020B0604030504040204" pitchFamily="34" charset="0"/>
                  </a:rPr>
                  <a:t> in his lunch account. If Stephon purchased the same lunch each day on Monday through Friday, describe how the account changed each day.</a:t>
                </a:r>
              </a:p>
            </p:txBody>
          </p:sp>
        </mc:Choice>
        <mc:Fallback xmlns="">
          <p:sp>
            <p:nvSpPr>
              <p:cNvPr id="5" name="TextBox 4">
                <a:extLst>
                  <a:ext uri="{FF2B5EF4-FFF2-40B4-BE49-F238E27FC236}">
                    <a16:creationId xmlns:a16="http://schemas.microsoft.com/office/drawing/2014/main" xmlns:a14="http://schemas.microsoft.com/office/drawing/2010/main" xmlns="" id="{08C67FCF-92C3-654A-BF40-5BDF7A4F9271}"/>
                  </a:ext>
                </a:extLst>
              </p:cNvPr>
              <p:cNvSpPr txBox="1">
                <a:spLocks noRot="1" noChangeAspect="1" noMove="1" noResize="1" noEditPoints="1" noAdjustHandles="1" noChangeArrowheads="1" noChangeShapeType="1" noTextEdit="1"/>
              </p:cNvSpPr>
              <p:nvPr/>
            </p:nvSpPr>
            <p:spPr>
              <a:xfrm>
                <a:off x="1138989" y="398474"/>
                <a:ext cx="9914022" cy="4297330"/>
              </a:xfrm>
              <a:prstGeom prst="rect">
                <a:avLst/>
              </a:prstGeom>
              <a:blipFill rotWithShape="0">
                <a:blip r:embed="rId3"/>
                <a:stretch>
                  <a:fillRect l="-861" t="-993" r="-1599" b="-2128"/>
                </a:stretch>
              </a:blipFill>
            </p:spPr>
            <p:txBody>
              <a:bodyPr/>
              <a:lstStyle/>
              <a:p>
                <a:r>
                  <a:rPr lang="en-US">
                    <a:noFill/>
                  </a:rPr>
                  <a:t> </a:t>
                </a:r>
              </a:p>
            </p:txBody>
          </p:sp>
        </mc:Fallback>
      </mc:AlternateContent>
      <p:sp>
        <p:nvSpPr>
          <p:cNvPr id="7"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189</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64872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189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623431" y="-74629"/>
            <a:ext cx="980916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11.5.5 Wrap-Up: Growth Mindset</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793982" y="196603"/>
            <a:ext cx="747300" cy="747300"/>
          </a:xfrm>
          <a:prstGeom prst="rect">
            <a:avLst/>
          </a:prstGeom>
          <a:noFill/>
          <a:ln>
            <a:noFill/>
          </a:ln>
        </p:spPr>
      </p:pic>
      <p:sp>
        <p:nvSpPr>
          <p:cNvPr id="12" name="TextBox 11">
            <a:extLst>
              <a:ext uri="{FF2B5EF4-FFF2-40B4-BE49-F238E27FC236}">
                <a16:creationId xmlns:a16="http://schemas.microsoft.com/office/drawing/2014/main" id="{0370EDB7-6994-3D43-ABF9-E04CBAFB9CD9}"/>
              </a:ext>
            </a:extLst>
          </p:cNvPr>
          <p:cNvSpPr txBox="1"/>
          <p:nvPr/>
        </p:nvSpPr>
        <p:spPr>
          <a:xfrm>
            <a:off x="1541282" y="1269650"/>
            <a:ext cx="9365468" cy="1107996"/>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As you reflect on today’s lesson, circle the word </a:t>
            </a:r>
            <a:r>
              <a:rPr lang="en-US" sz="2200" i="1" dirty="0">
                <a:latin typeface="Verdana" panose="020B0604030504040204" pitchFamily="34" charset="0"/>
                <a:ea typeface="Verdana" panose="020B0604030504040204" pitchFamily="34" charset="0"/>
                <a:cs typeface="Verdana" panose="020B0604030504040204" pitchFamily="34" charset="0"/>
              </a:rPr>
              <a:t>Sometimes</a:t>
            </a:r>
            <a:r>
              <a:rPr lang="en-US" sz="2200" dirty="0">
                <a:latin typeface="Verdana" panose="020B0604030504040204" pitchFamily="34" charset="0"/>
                <a:ea typeface="Verdana" panose="020B0604030504040204" pitchFamily="34" charset="0"/>
                <a:cs typeface="Verdana" panose="020B0604030504040204" pitchFamily="34" charset="0"/>
              </a:rPr>
              <a:t>, </a:t>
            </a:r>
            <a:r>
              <a:rPr lang="en-US" sz="2200" i="1" dirty="0">
                <a:latin typeface="Verdana" panose="020B0604030504040204" pitchFamily="34" charset="0"/>
                <a:ea typeface="Verdana" panose="020B0604030504040204" pitchFamily="34" charset="0"/>
                <a:cs typeface="Verdana" panose="020B0604030504040204" pitchFamily="34" charset="0"/>
              </a:rPr>
              <a:t>Always</a:t>
            </a:r>
            <a:r>
              <a:rPr lang="en-US" sz="2200" dirty="0">
                <a:latin typeface="Verdana" panose="020B0604030504040204" pitchFamily="34" charset="0"/>
                <a:ea typeface="Verdana" panose="020B0604030504040204" pitchFamily="34" charset="0"/>
                <a:cs typeface="Verdana" panose="020B0604030504040204" pitchFamily="34" charset="0"/>
              </a:rPr>
              <a:t>, or </a:t>
            </a:r>
            <a:r>
              <a:rPr lang="en-US" sz="2200" i="1" dirty="0">
                <a:latin typeface="Verdana" panose="020B0604030504040204" pitchFamily="34" charset="0"/>
                <a:ea typeface="Verdana" panose="020B0604030504040204" pitchFamily="34" charset="0"/>
                <a:cs typeface="Verdana" panose="020B0604030504040204" pitchFamily="34" charset="0"/>
              </a:rPr>
              <a:t>Never</a:t>
            </a:r>
            <a:r>
              <a:rPr lang="en-US" sz="2200" dirty="0">
                <a:latin typeface="Verdana" panose="020B0604030504040204" pitchFamily="34" charset="0"/>
                <a:ea typeface="Verdana" panose="020B0604030504040204" pitchFamily="34" charset="0"/>
                <a:cs typeface="Verdana" panose="020B0604030504040204" pitchFamily="34" charset="0"/>
              </a:rPr>
              <a:t> to indicate how often each statement describes you. </a:t>
            </a:r>
          </a:p>
        </p:txBody>
      </p:sp>
      <p:graphicFrame>
        <p:nvGraphicFramePr>
          <p:cNvPr id="2" name="Table 1"/>
          <p:cNvGraphicFramePr>
            <a:graphicFrameLocks noGrp="1"/>
          </p:cNvGraphicFramePr>
          <p:nvPr>
            <p:extLst>
              <p:ext uri="{D42A27DB-BD31-4B8C-83A1-F6EECF244321}">
                <p14:modId xmlns:p14="http://schemas.microsoft.com/office/powerpoint/2010/main" val="2311540117"/>
              </p:ext>
            </p:extLst>
          </p:nvPr>
        </p:nvGraphicFramePr>
        <p:xfrm>
          <a:off x="1946241" y="2756633"/>
          <a:ext cx="8388660" cy="3322054"/>
        </p:xfrm>
        <a:graphic>
          <a:graphicData uri="http://schemas.openxmlformats.org/drawingml/2006/table">
            <a:tbl>
              <a:tblPr bandRow="1">
                <a:tableStyleId>{5940675A-B579-460E-94D1-54222C63F5DA}</a:tableStyleId>
              </a:tblPr>
              <a:tblGrid>
                <a:gridCol w="4326701">
                  <a:extLst>
                    <a:ext uri="{9D8B030D-6E8A-4147-A177-3AD203B41FA5}">
                      <a16:colId xmlns:a16="http://schemas.microsoft.com/office/drawing/2014/main" val="20000"/>
                    </a:ext>
                  </a:extLst>
                </a:gridCol>
                <a:gridCol w="1744500">
                  <a:extLst>
                    <a:ext uri="{9D8B030D-6E8A-4147-A177-3AD203B41FA5}">
                      <a16:colId xmlns:a16="http://schemas.microsoft.com/office/drawing/2014/main" val="20001"/>
                    </a:ext>
                  </a:extLst>
                </a:gridCol>
                <a:gridCol w="1265481">
                  <a:extLst>
                    <a:ext uri="{9D8B030D-6E8A-4147-A177-3AD203B41FA5}">
                      <a16:colId xmlns:a16="http://schemas.microsoft.com/office/drawing/2014/main" val="20002"/>
                    </a:ext>
                  </a:extLst>
                </a:gridCol>
                <a:gridCol w="1051978">
                  <a:extLst>
                    <a:ext uri="{9D8B030D-6E8A-4147-A177-3AD203B41FA5}">
                      <a16:colId xmlns:a16="http://schemas.microsoft.com/office/drawing/2014/main" val="20003"/>
                    </a:ext>
                  </a:extLst>
                </a:gridCol>
              </a:tblGrid>
              <a:tr h="1661027">
                <a:tc>
                  <a:txBody>
                    <a:bodyPr/>
                    <a:lstStyle/>
                    <a:p>
                      <a:pPr marL="0" marR="0">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When I work hard on a problem, I expect that the answer will be correct. </a:t>
                      </a:r>
                    </a:p>
                  </a:txBody>
                  <a:tcPr marL="59809" marR="59809" marT="0" marB="0"/>
                </a:tc>
                <a:tc>
                  <a:txBody>
                    <a:bodyPr/>
                    <a:lstStyle/>
                    <a:p>
                      <a:pPr marL="0" marR="0" algn="ctr">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Sometimes</a:t>
                      </a:r>
                    </a:p>
                  </a:txBody>
                  <a:tcPr marL="59809" marR="59809" marT="0" marB="0" anchor="ctr"/>
                </a:tc>
                <a:tc>
                  <a:txBody>
                    <a:bodyPr/>
                    <a:lstStyle/>
                    <a:p>
                      <a:pPr marL="0" marR="0" algn="ctr">
                        <a:lnSpc>
                          <a:spcPct val="107000"/>
                        </a:lnSpc>
                        <a:spcBef>
                          <a:spcPts val="0"/>
                        </a:spcBef>
                        <a:spcAft>
                          <a:spcPts val="800"/>
                        </a:spcAft>
                      </a:pPr>
                      <a:r>
                        <a:rPr lang="en-US" sz="2200">
                          <a:effectLst/>
                          <a:latin typeface="Verdana" panose="020B0604030504040204" pitchFamily="34" charset="0"/>
                          <a:ea typeface="Verdana" panose="020B0604030504040204" pitchFamily="34" charset="0"/>
                          <a:cs typeface="Verdana" panose="020B0604030504040204" pitchFamily="34" charset="0"/>
                        </a:rPr>
                        <a:t>Always</a:t>
                      </a:r>
                    </a:p>
                  </a:txBody>
                  <a:tcPr marL="59809" marR="59809" marT="0" marB="0" anchor="ctr"/>
                </a:tc>
                <a:tc>
                  <a:txBody>
                    <a:bodyPr/>
                    <a:lstStyle/>
                    <a:p>
                      <a:pPr marL="0" marR="0" algn="ctr">
                        <a:lnSpc>
                          <a:spcPct val="107000"/>
                        </a:lnSpc>
                        <a:spcBef>
                          <a:spcPts val="0"/>
                        </a:spcBef>
                        <a:spcAft>
                          <a:spcPts val="800"/>
                        </a:spcAft>
                      </a:pPr>
                      <a:r>
                        <a:rPr lang="en-US" sz="2200">
                          <a:effectLst/>
                          <a:latin typeface="Verdana" panose="020B0604030504040204" pitchFamily="34" charset="0"/>
                          <a:ea typeface="Verdana" panose="020B0604030504040204" pitchFamily="34" charset="0"/>
                          <a:cs typeface="Verdana" panose="020B0604030504040204" pitchFamily="34" charset="0"/>
                        </a:rPr>
                        <a:t>Never</a:t>
                      </a:r>
                    </a:p>
                  </a:txBody>
                  <a:tcPr marL="59809" marR="59809" marT="0" marB="0" anchor="ctr"/>
                </a:tc>
                <a:extLst>
                  <a:ext uri="{0D108BD9-81ED-4DB2-BD59-A6C34878D82A}">
                    <a16:rowId xmlns:a16="http://schemas.microsoft.com/office/drawing/2014/main" val="10000"/>
                  </a:ext>
                </a:extLst>
              </a:tr>
              <a:tr h="1661027">
                <a:tc>
                  <a:txBody>
                    <a:bodyPr/>
                    <a:lstStyle/>
                    <a:p>
                      <a:pPr marL="0" marR="0">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There is no point in trying to do a problem if I know I won’t get the correct answer. </a:t>
                      </a:r>
                    </a:p>
                  </a:txBody>
                  <a:tcPr marL="59809" marR="59809" marT="0" marB="0"/>
                </a:tc>
                <a:tc>
                  <a:txBody>
                    <a:bodyPr/>
                    <a:lstStyle/>
                    <a:p>
                      <a:pPr marL="0" marR="0" algn="ctr">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Sometimes</a:t>
                      </a:r>
                    </a:p>
                  </a:txBody>
                  <a:tcPr marL="59809" marR="59809" marT="0" marB="0" anchor="ctr"/>
                </a:tc>
                <a:tc>
                  <a:txBody>
                    <a:bodyPr/>
                    <a:lstStyle/>
                    <a:p>
                      <a:pPr marL="0" marR="0" algn="ctr">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Always</a:t>
                      </a:r>
                    </a:p>
                  </a:txBody>
                  <a:tcPr marL="59809" marR="59809" marT="0" marB="0" anchor="ctr"/>
                </a:tc>
                <a:tc>
                  <a:txBody>
                    <a:bodyPr/>
                    <a:lstStyle/>
                    <a:p>
                      <a:pPr marL="0" marR="0" algn="ctr">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Never</a:t>
                      </a:r>
                    </a:p>
                  </a:txBody>
                  <a:tcPr marL="59809" marR="59809" marT="0" marB="0" anchor="ctr"/>
                </a:tc>
                <a:extLst>
                  <a:ext uri="{0D108BD9-81ED-4DB2-BD59-A6C34878D82A}">
                    <a16:rowId xmlns:a16="http://schemas.microsoft.com/office/drawing/2014/main" val="10001"/>
                  </a:ext>
                </a:extLst>
              </a:tr>
            </a:tbl>
          </a:graphicData>
        </a:graphic>
      </p:graphicFrame>
      <p:sp>
        <p:nvSpPr>
          <p:cNvPr id="11"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189</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09887349"/>
              </p:ext>
            </p:extLst>
          </p:nvPr>
        </p:nvGraphicFramePr>
        <p:xfrm>
          <a:off x="1863394" y="411451"/>
          <a:ext cx="8505347" cy="5473960"/>
        </p:xfrm>
        <a:graphic>
          <a:graphicData uri="http://schemas.openxmlformats.org/drawingml/2006/table">
            <a:tbl>
              <a:tblPr bandRow="1">
                <a:tableStyleId>{5940675A-B579-460E-94D1-54222C63F5DA}</a:tableStyleId>
              </a:tblPr>
              <a:tblGrid>
                <a:gridCol w="4386886">
                  <a:extLst>
                    <a:ext uri="{9D8B030D-6E8A-4147-A177-3AD203B41FA5}">
                      <a16:colId xmlns:a16="http://schemas.microsoft.com/office/drawing/2014/main" val="20000"/>
                    </a:ext>
                  </a:extLst>
                </a:gridCol>
                <a:gridCol w="1768767">
                  <a:extLst>
                    <a:ext uri="{9D8B030D-6E8A-4147-A177-3AD203B41FA5}">
                      <a16:colId xmlns:a16="http://schemas.microsoft.com/office/drawing/2014/main" val="20001"/>
                    </a:ext>
                  </a:extLst>
                </a:gridCol>
                <a:gridCol w="1283083">
                  <a:extLst>
                    <a:ext uri="{9D8B030D-6E8A-4147-A177-3AD203B41FA5}">
                      <a16:colId xmlns:a16="http://schemas.microsoft.com/office/drawing/2014/main" val="20002"/>
                    </a:ext>
                  </a:extLst>
                </a:gridCol>
                <a:gridCol w="1066611">
                  <a:extLst>
                    <a:ext uri="{9D8B030D-6E8A-4147-A177-3AD203B41FA5}">
                      <a16:colId xmlns:a16="http://schemas.microsoft.com/office/drawing/2014/main" val="20003"/>
                    </a:ext>
                  </a:extLst>
                </a:gridCol>
              </a:tblGrid>
              <a:tr h="1453147">
                <a:tc>
                  <a:txBody>
                    <a:bodyPr/>
                    <a:lstStyle/>
                    <a:p>
                      <a:pPr marL="0" marR="0">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Even if I made a mistake, I can still learn from working through a problem. </a:t>
                      </a:r>
                    </a:p>
                  </a:txBody>
                  <a:tcPr marL="59809" marR="59809" marT="0" marB="0"/>
                </a:tc>
                <a:tc>
                  <a:txBody>
                    <a:bodyPr/>
                    <a:lstStyle/>
                    <a:p>
                      <a:pPr marL="0" marR="0" algn="ctr">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Sometimes</a:t>
                      </a:r>
                    </a:p>
                  </a:txBody>
                  <a:tcPr marL="59809" marR="59809" marT="0" marB="0" anchor="ctr"/>
                </a:tc>
                <a:tc>
                  <a:txBody>
                    <a:bodyPr/>
                    <a:lstStyle/>
                    <a:p>
                      <a:pPr marL="0" marR="0" algn="ctr">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Always</a:t>
                      </a:r>
                    </a:p>
                  </a:txBody>
                  <a:tcPr marL="59809" marR="59809" marT="0" marB="0" anchor="ctr"/>
                </a:tc>
                <a:tc>
                  <a:txBody>
                    <a:bodyPr/>
                    <a:lstStyle/>
                    <a:p>
                      <a:pPr marL="0" marR="0" algn="ctr">
                        <a:lnSpc>
                          <a:spcPct val="107000"/>
                        </a:lnSpc>
                        <a:spcBef>
                          <a:spcPts val="0"/>
                        </a:spcBef>
                        <a:spcAft>
                          <a:spcPts val="800"/>
                        </a:spcAft>
                      </a:pPr>
                      <a:r>
                        <a:rPr lang="en-US" sz="2200">
                          <a:effectLst/>
                          <a:latin typeface="Verdana" panose="020B0604030504040204" pitchFamily="34" charset="0"/>
                          <a:ea typeface="Verdana" panose="020B0604030504040204" pitchFamily="34" charset="0"/>
                          <a:cs typeface="Verdana" panose="020B0604030504040204" pitchFamily="34" charset="0"/>
                        </a:rPr>
                        <a:t>Never</a:t>
                      </a:r>
                    </a:p>
                  </a:txBody>
                  <a:tcPr marL="59809" marR="59809" marT="0" marB="0" anchor="ctr"/>
                </a:tc>
                <a:extLst>
                  <a:ext uri="{0D108BD9-81ED-4DB2-BD59-A6C34878D82A}">
                    <a16:rowId xmlns:a16="http://schemas.microsoft.com/office/drawing/2014/main" val="10000"/>
                  </a:ext>
                </a:extLst>
              </a:tr>
              <a:tr h="1824653">
                <a:tc>
                  <a:txBody>
                    <a:bodyPr/>
                    <a:lstStyle/>
                    <a:p>
                      <a:pPr marL="0" marR="0">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I can show that I understand how to solve a problem, even if there is an error in my work.  </a:t>
                      </a:r>
                    </a:p>
                  </a:txBody>
                  <a:tcPr marL="59809" marR="59809" marT="0" marB="0"/>
                </a:tc>
                <a:tc>
                  <a:txBody>
                    <a:bodyPr/>
                    <a:lstStyle/>
                    <a:p>
                      <a:pPr marL="0" marR="0" algn="ctr">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Sometimes</a:t>
                      </a:r>
                    </a:p>
                  </a:txBody>
                  <a:tcPr marL="59809" marR="59809" marT="0" marB="0" anchor="ctr"/>
                </a:tc>
                <a:tc>
                  <a:txBody>
                    <a:bodyPr/>
                    <a:lstStyle/>
                    <a:p>
                      <a:pPr marL="0" marR="0" algn="ctr">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Always</a:t>
                      </a:r>
                    </a:p>
                  </a:txBody>
                  <a:tcPr marL="59809" marR="59809" marT="0" marB="0" anchor="ctr"/>
                </a:tc>
                <a:tc>
                  <a:txBody>
                    <a:bodyPr/>
                    <a:lstStyle/>
                    <a:p>
                      <a:pPr marL="0" marR="0" algn="ctr">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Never</a:t>
                      </a:r>
                    </a:p>
                  </a:txBody>
                  <a:tcPr marL="59809" marR="59809" marT="0" marB="0" anchor="ctr"/>
                </a:tc>
                <a:extLst>
                  <a:ext uri="{0D108BD9-81ED-4DB2-BD59-A6C34878D82A}">
                    <a16:rowId xmlns:a16="http://schemas.microsoft.com/office/drawing/2014/main" val="10001"/>
                  </a:ext>
                </a:extLst>
              </a:tr>
              <a:tr h="2196160">
                <a:tc>
                  <a:txBody>
                    <a:bodyPr/>
                    <a:lstStyle/>
                    <a:p>
                      <a:pPr marL="0" marR="0">
                        <a:lnSpc>
                          <a:spcPct val="107000"/>
                        </a:lnSpc>
                        <a:spcBef>
                          <a:spcPts val="0"/>
                        </a:spcBef>
                        <a:spcAft>
                          <a:spcPts val="800"/>
                        </a:spcAft>
                      </a:pPr>
                      <a:r>
                        <a:rPr lang="en-US" sz="2200">
                          <a:effectLst/>
                          <a:latin typeface="Verdana" panose="020B0604030504040204" pitchFamily="34" charset="0"/>
                          <a:ea typeface="Verdana" panose="020B0604030504040204" pitchFamily="34" charset="0"/>
                          <a:cs typeface="Verdana" panose="020B0604030504040204" pitchFamily="34" charset="0"/>
                        </a:rPr>
                        <a:t>If my answers are incorrect even after working extremely hard, I still choose to work hard on the next problem.</a:t>
                      </a:r>
                    </a:p>
                  </a:txBody>
                  <a:tcPr marL="59809" marR="59809" marT="0" marB="0"/>
                </a:tc>
                <a:tc>
                  <a:txBody>
                    <a:bodyPr/>
                    <a:lstStyle/>
                    <a:p>
                      <a:pPr marL="0" marR="0" algn="ctr">
                        <a:lnSpc>
                          <a:spcPct val="107000"/>
                        </a:lnSpc>
                        <a:spcBef>
                          <a:spcPts val="0"/>
                        </a:spcBef>
                        <a:spcAft>
                          <a:spcPts val="800"/>
                        </a:spcAft>
                      </a:pPr>
                      <a:r>
                        <a:rPr lang="en-US" sz="2200">
                          <a:effectLst/>
                          <a:latin typeface="Verdana" panose="020B0604030504040204" pitchFamily="34" charset="0"/>
                          <a:ea typeface="Verdana" panose="020B0604030504040204" pitchFamily="34" charset="0"/>
                          <a:cs typeface="Verdana" panose="020B0604030504040204" pitchFamily="34" charset="0"/>
                        </a:rPr>
                        <a:t>Sometimes</a:t>
                      </a:r>
                    </a:p>
                  </a:txBody>
                  <a:tcPr marL="59809" marR="59809" marT="0" marB="0" anchor="ctr"/>
                </a:tc>
                <a:tc>
                  <a:txBody>
                    <a:bodyPr/>
                    <a:lstStyle/>
                    <a:p>
                      <a:pPr marL="0" marR="0" algn="ctr">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Always</a:t>
                      </a:r>
                    </a:p>
                  </a:txBody>
                  <a:tcPr marL="59809" marR="59809" marT="0" marB="0" anchor="ctr"/>
                </a:tc>
                <a:tc>
                  <a:txBody>
                    <a:bodyPr/>
                    <a:lstStyle/>
                    <a:p>
                      <a:pPr marL="0" marR="0" algn="ctr">
                        <a:lnSpc>
                          <a:spcPct val="107000"/>
                        </a:lnSpc>
                        <a:spcBef>
                          <a:spcPts val="0"/>
                        </a:spcBef>
                        <a:spcAft>
                          <a:spcPts val="800"/>
                        </a:spcAft>
                      </a:pPr>
                      <a:r>
                        <a:rPr lang="en-US" sz="2200" dirty="0">
                          <a:effectLst/>
                          <a:latin typeface="Verdana" panose="020B0604030504040204" pitchFamily="34" charset="0"/>
                          <a:ea typeface="Verdana" panose="020B0604030504040204" pitchFamily="34" charset="0"/>
                          <a:cs typeface="Verdana" panose="020B0604030504040204" pitchFamily="34" charset="0"/>
                        </a:rPr>
                        <a:t>Never</a:t>
                      </a:r>
                    </a:p>
                  </a:txBody>
                  <a:tcPr marL="59809" marR="59809" marT="0" marB="0" anchor="ctr"/>
                </a:tc>
                <a:extLst>
                  <a:ext uri="{0D108BD9-81ED-4DB2-BD59-A6C34878D82A}">
                    <a16:rowId xmlns:a16="http://schemas.microsoft.com/office/drawing/2014/main" val="10002"/>
                  </a:ext>
                </a:extLst>
              </a:tr>
            </a:tbl>
          </a:graphicData>
        </a:graphic>
      </p:graphicFrame>
      <p:sp>
        <p:nvSpPr>
          <p:cNvPr id="6" name="Google Shape;278;g104476d1465_1_17">
            <a:extLst>
              <a:ext uri="{FF2B5EF4-FFF2-40B4-BE49-F238E27FC236}">
                <a16:creationId xmlns:a16="http://schemas.microsoft.com/office/drawing/2014/main" id="{A8CD1851-D96A-8F40-B18F-EE9DB5AB1757}"/>
              </a:ext>
            </a:extLst>
          </p:cNvPr>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69437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189</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259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1507</TotalTime>
  <Words>1567</Words>
  <Application>Microsoft Office PowerPoint</Application>
  <PresentationFormat>Widescreen</PresentationFormat>
  <Paragraphs>255</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Arial Black</vt:lpstr>
      <vt:lpstr>Calibri</vt:lpstr>
      <vt:lpstr>Cambria Math</vt:lpstr>
      <vt:lpstr>Century Gothic</vt:lpstr>
      <vt:lpstr>Verdana</vt:lpstr>
      <vt:lpstr>1_Office Theme</vt:lpstr>
      <vt:lpstr>6th Grade Accelerated Math  Unit 11, Lesson 5  Solving Real-World Problems with Rational Numbers – Part 1  Volume 2, pg. 184 </vt:lpstr>
      <vt:lpstr>Benchmark</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29</cp:revision>
  <dcterms:created xsi:type="dcterms:W3CDTF">2015-03-17T18:51:18Z</dcterms:created>
  <dcterms:modified xsi:type="dcterms:W3CDTF">2022-07-02T04:02:01Z</dcterms:modified>
</cp:coreProperties>
</file>