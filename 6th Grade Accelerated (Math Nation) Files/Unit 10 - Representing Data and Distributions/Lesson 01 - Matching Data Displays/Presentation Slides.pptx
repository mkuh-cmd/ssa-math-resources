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26"/>
  </p:notesMasterIdLst>
  <p:sldIdLst>
    <p:sldId id="256" r:id="rId5"/>
    <p:sldId id="257" r:id="rId6"/>
    <p:sldId id="285" r:id="rId7"/>
    <p:sldId id="286" r:id="rId8"/>
    <p:sldId id="261" r:id="rId9"/>
    <p:sldId id="287" r:id="rId10"/>
    <p:sldId id="314" r:id="rId11"/>
    <p:sldId id="315" r:id="rId12"/>
    <p:sldId id="316" r:id="rId13"/>
    <p:sldId id="332" r:id="rId14"/>
    <p:sldId id="334" r:id="rId15"/>
    <p:sldId id="335" r:id="rId16"/>
    <p:sldId id="336" r:id="rId17"/>
    <p:sldId id="317" r:id="rId18"/>
    <p:sldId id="318" r:id="rId19"/>
    <p:sldId id="337" r:id="rId20"/>
    <p:sldId id="302" r:id="rId21"/>
    <p:sldId id="303" r:id="rId22"/>
    <p:sldId id="309" r:id="rId23"/>
    <p:sldId id="306" r:id="rId24"/>
    <p:sldId id="307"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B6A"/>
    <a:srgbClr val="5B9BD5"/>
    <a:srgbClr val="6EAEE1"/>
    <a:srgbClr val="1F3165"/>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39"/>
    <p:restoredTop sz="94695"/>
  </p:normalViewPr>
  <p:slideViewPr>
    <p:cSldViewPr snapToGrid="0">
      <p:cViewPr>
        <p:scale>
          <a:sx n="117" d="100"/>
          <a:sy n="117" d="100"/>
        </p:scale>
        <p:origin x="-312" y="-3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760473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877986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580343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0832935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424611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575187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54045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tiff"/></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0.tiff"/></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10, Lesson 1</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Matching Data Displays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105</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4468" y="-12701"/>
            <a:ext cx="4094106" cy="6870701"/>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xmlns=""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0502" y="1829054"/>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751923" y="16123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891352" y="434977"/>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1751923" y="1600200"/>
            <a:ext cx="8458877"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200" dirty="0">
                <a:solidFill>
                  <a:schemeClr val="tx1"/>
                </a:solidFill>
                <a:latin typeface="Verdana"/>
                <a:ea typeface="Verdana"/>
                <a:cs typeface="Verdana"/>
                <a:sym typeface="Verdana"/>
              </a:rPr>
              <a:t>MA.6.DP.1.5</a:t>
            </a:r>
          </a:p>
          <a:p>
            <a:pPr indent="0">
              <a:buNone/>
            </a:pPr>
            <a:r>
              <a:rPr lang="en-US" sz="3200" dirty="0">
                <a:solidFill>
                  <a:schemeClr val="tx1"/>
                </a:solidFill>
                <a:latin typeface="Verdana"/>
                <a:ea typeface="Verdana"/>
                <a:cs typeface="Verdana"/>
                <a:sym typeface="Verdana"/>
              </a:rPr>
              <a:t>Create box plots and histograms to represent sets of numerical data within real-world contexts.</a:t>
            </a:r>
            <a:endParaRPr lang="en-US" sz="20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766853" y="347587"/>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591503" y="104954"/>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591503" y="1596390"/>
            <a:ext cx="959675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0"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471038"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723738"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1709088" y="1600200"/>
            <a:ext cx="87738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200" dirty="0">
                <a:solidFill>
                  <a:schemeClr val="tx1"/>
                </a:solidFill>
                <a:latin typeface="Verdana"/>
                <a:ea typeface="Verdana"/>
                <a:cs typeface="Verdana"/>
                <a:sym typeface="Verdana"/>
              </a:rPr>
              <a:t>I can match displays of data to the appropriate data set.</a:t>
            </a:r>
          </a:p>
        </p:txBody>
      </p:sp>
      <p:sp>
        <p:nvSpPr>
          <p:cNvPr id="9"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556023"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10.1.1 Warm-Up: Bell Work</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808723" y="22365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xmlns="" id="{E1D7562E-134F-D14B-AF1A-DF40E11EF758}"/>
                  </a:ext>
                </a:extLst>
              </p:cNvPr>
              <p:cNvSpPr txBox="1"/>
              <p:nvPr/>
            </p:nvSpPr>
            <p:spPr>
              <a:xfrm>
                <a:off x="1458097" y="1386025"/>
                <a:ext cx="9531838" cy="4659737"/>
              </a:xfrm>
              <a:prstGeom prst="rect">
                <a:avLst/>
              </a:prstGeom>
              <a:noFill/>
            </p:spPr>
            <p:txBody>
              <a:bodyPr wrap="square" rtlCol="0">
                <a:spAutoFit/>
              </a:bodyPr>
              <a:lstStyle/>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During the 2020 NBA Season, Jimmy Butler played in the championship game against the Los Angeles Lakers. The total points scored by Jimmy Butler for the conference semifinals, conference finals, and championship games are listed below.</a:t>
                </a:r>
              </a:p>
              <a:p>
                <a:pPr marL="342900" indent="-342900">
                  <a:lnSpc>
                    <a:spcPct val="107000"/>
                  </a:lnSpc>
                  <a:buFont typeface="+mj-lt"/>
                  <a:buAutoNum type="arabicPeriod"/>
                </a:pPr>
                <a:endParaRPr lang="en-US" sz="2000" i="1" dirty="0">
                  <a:latin typeface="Cambria Math" panose="02040503050406030204" pitchFamily="18" charset="0"/>
                  <a:ea typeface="Verdana" panose="020B0604030504040204" pitchFamily="34" charset="0"/>
                  <a:cs typeface="Verdana" panose="020B0604030504040204" pitchFamily="34" charset="0"/>
                </a:endParaRPr>
              </a:p>
              <a:p>
                <a:pPr marL="474663" indent="341313">
                  <a:lnSpc>
                    <a:spcPct val="107000"/>
                  </a:lnSpc>
                  <a:spcBef>
                    <a:spcPts val="800"/>
                  </a:spcBef>
                </a:pPr>
                <a14:m>
                  <m:oMathPara xmlns:m="http://schemas.openxmlformats.org/officeDocument/2006/math">
                    <m:oMathParaPr>
                      <m:jc m:val="center"/>
                    </m:oMathParaPr>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12, 35, 22, 40, 25, 23, 22, 17, 24, 17, 14, 20, 17, 17, 30, 13, 40</m:t>
                      </m:r>
                    </m:oMath>
                  </m:oMathPara>
                </a14:m>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spcBef>
                    <a:spcPts val="800"/>
                  </a:spcBef>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19050">
                  <a:lnSpc>
                    <a:spcPct val="107000"/>
                  </a:lnSpc>
                  <a:spcBef>
                    <a:spcPts val="800"/>
                  </a:spcBef>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Determine the five-number summary for the data set. </a:t>
                </a:r>
              </a:p>
              <a:p>
                <a:pPr marL="342900">
                  <a:lnSpc>
                    <a:spcPct val="107000"/>
                  </a:lnSpc>
                  <a:spcBef>
                    <a:spcPts val="800"/>
                  </a:spcBef>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19050">
                  <a:lnSpc>
                    <a:spcPct val="107000"/>
                  </a:lnSpc>
                  <a:spcBef>
                    <a:spcPts val="800"/>
                  </a:spcBef>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a:lnSpc>
                    <a:spcPct val="107000"/>
                  </a:lnSpc>
                  <a:spcBef>
                    <a:spcPts val="800"/>
                  </a:spcBef>
                </a:pPr>
                <a:r>
                  <a:rPr lang="en-US" sz="2000" dirty="0">
                    <a:latin typeface="Verdana" panose="020B0604030504040204" pitchFamily="34" charset="0"/>
                    <a:ea typeface="Verdana" panose="020B0604030504040204" pitchFamily="34" charset="0"/>
                    <a:cs typeface="Verdana" panose="020B0604030504040204" pitchFamily="34" charset="0"/>
                  </a:rPr>
                  <a:t>b. Determine the range.</a:t>
                </a:r>
                <a:endParaRPr lang="en-US" sz="1800" dirty="0">
                  <a:latin typeface="Verdana" panose="020B0604030504040204" pitchFamily="34" charset="0"/>
                  <a:ea typeface="Verdana" panose="020B0604030504040204" pitchFamily="34" charset="0"/>
                  <a:cs typeface="Verdana" panose="020B0604030504040204" pitchFamily="34" charset="0"/>
                </a:endParaRPr>
              </a:p>
              <a:p>
                <a:pPr>
                  <a:lnSpc>
                    <a:spcPct val="107000"/>
                  </a:lnSpc>
                  <a:spcBef>
                    <a:spcPts val="800"/>
                  </a:spcBef>
                </a:pP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1458097" y="1386025"/>
                <a:ext cx="9531838" cy="4659737"/>
              </a:xfrm>
              <a:prstGeom prst="rect">
                <a:avLst/>
              </a:prstGeom>
              <a:blipFill rotWithShape="0">
                <a:blip r:embed="rId4"/>
                <a:stretch>
                  <a:fillRect l="-703" t="-915"/>
                </a:stretch>
              </a:blipFill>
            </p:spPr>
            <p:txBody>
              <a:bodyPr/>
              <a:lstStyle/>
              <a:p>
                <a:r>
                  <a:rPr lang="en-US">
                    <a:noFill/>
                  </a:rPr>
                  <a:t> </a:t>
                </a:r>
              </a:p>
            </p:txBody>
          </p:sp>
        </mc:Fallback>
      </mc:AlternateContent>
      <p:sp>
        <p:nvSpPr>
          <p:cNvPr id="10"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4896" y="-8101"/>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8" name="image2.png" descr="Icon&#10;&#10;Description automatically generated">
            <a:extLst>
              <a:ext uri="{FF2B5EF4-FFF2-40B4-BE49-F238E27FC236}">
                <a16:creationId xmlns:a16="http://schemas.microsoft.com/office/drawing/2014/main" xmlns="" id="{78DF274A-0DC3-6040-B571-46559795A685}"/>
              </a:ext>
            </a:extLst>
          </p:cNvPr>
          <p:cNvPicPr>
            <a:picLocks noChangeAspect="1"/>
          </p:cNvPicPr>
          <p:nvPr/>
        </p:nvPicPr>
        <p:blipFill>
          <a:blip r:embed="rId3"/>
          <a:srcRect/>
          <a:stretch>
            <a:fillRect/>
          </a:stretch>
        </p:blipFill>
        <p:spPr>
          <a:xfrm>
            <a:off x="4632831" y="2852923"/>
            <a:ext cx="1152144" cy="1152144"/>
          </a:xfrm>
          <a:prstGeom prst="rect">
            <a:avLst/>
          </a:prstGeom>
          <a:noFill/>
          <a:effectLst>
            <a:outerShdw blurRad="50800" dist="38100" dir="2700000" algn="tl" rotWithShape="0">
              <a:prstClr val="black">
                <a:alpha val="40000"/>
              </a:prstClr>
            </a:outerShdw>
          </a:effectLst>
        </p:spPr>
      </p:pic>
      <p:sp>
        <p:nvSpPr>
          <p:cNvPr id="7"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436768" y="6936"/>
            <a:ext cx="1028979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10.1.2 Exploration: Matching Displays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E44DF7DE-9172-3E4E-B74A-7A51585FB6EA}"/>
                  </a:ext>
                </a:extLst>
              </p:cNvPr>
              <p:cNvSpPr txBox="1"/>
              <p:nvPr/>
            </p:nvSpPr>
            <p:spPr>
              <a:xfrm>
                <a:off x="1322173" y="1653038"/>
                <a:ext cx="9972682" cy="3356368"/>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sz="2000" u="sng"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A middle school band director collects the ages of each clarinet player in the band, shown below.</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lgn="ctr">
                  <a:lnSpc>
                    <a:spcPct val="107000"/>
                  </a:lnSpc>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10, 10, 11, 11, 11, 12, 12, 12, 13, 13, 14 </m:t>
                      </m:r>
                    </m:oMath>
                  </m:oMathPara>
                </a14:m>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Determine the five-number summary and IQR for the ages of the clarinet players in the band. </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1322173" y="1653038"/>
                <a:ext cx="9972682" cy="3356368"/>
              </a:xfrm>
              <a:prstGeom prst="rect">
                <a:avLst/>
              </a:prstGeom>
              <a:blipFill rotWithShape="0">
                <a:blip r:embed="rId3"/>
                <a:stretch>
                  <a:fillRect l="-672" t="-1089" r="-1161" b="-2359"/>
                </a:stretch>
              </a:blipFill>
            </p:spPr>
            <p:txBody>
              <a:bodyPr/>
              <a:lstStyle/>
              <a:p>
                <a:r>
                  <a:rPr lang="en-US">
                    <a:noFill/>
                  </a:rPr>
                  <a:t> </a:t>
                </a:r>
              </a:p>
            </p:txBody>
          </p:sp>
        </mc:Fallback>
      </mc:AlternateContent>
      <p:pic>
        <p:nvPicPr>
          <p:cNvPr id="11" name="image2.png" descr="Icon&#10;&#10;Description automatically generated">
            <a:extLst>
              <a:ext uri="{FF2B5EF4-FFF2-40B4-BE49-F238E27FC236}">
                <a16:creationId xmlns:a16="http://schemas.microsoft.com/office/drawing/2014/main" xmlns="" id="{9EB878F3-9FC8-AB4B-9F25-3B1E29BCD071}"/>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a:off x="686961" y="287946"/>
            <a:ext cx="749808" cy="749808"/>
          </a:xfrm>
          <a:prstGeom prst="rect">
            <a:avLst/>
          </a:prstGeom>
          <a:noFill/>
          <a:effectLst>
            <a:outerShdw blurRad="50800" dist="38100" dir="2700000" algn="tl" rotWithShape="0">
              <a:prstClr val="black">
                <a:alpha val="40000"/>
              </a:prstClr>
            </a:outerShdw>
          </a:effectLst>
        </p:spPr>
      </p:pic>
      <p:sp>
        <p:nvSpPr>
          <p:cNvPr id="9"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106</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2AA35BC6-D428-FC41-BDE5-6438AB8840FC}"/>
              </a:ext>
            </a:extLst>
          </p:cNvPr>
          <p:cNvSpPr txBox="1"/>
          <p:nvPr/>
        </p:nvSpPr>
        <p:spPr>
          <a:xfrm>
            <a:off x="1346888" y="410666"/>
            <a:ext cx="9573430" cy="421654"/>
          </a:xfrm>
          <a:prstGeom prst="rect">
            <a:avLst/>
          </a:prstGeom>
          <a:noFill/>
        </p:spPr>
        <p:txBody>
          <a:bodyPr wrap="square" rtlCol="0">
            <a:spAutoFit/>
          </a:bodyPr>
          <a:lstStyle/>
          <a:p>
            <a:pPr marL="460375" indent="-4603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2.  Which box plot accurately displays the ages of the clarinet players?</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graphicFrame>
        <p:nvGraphicFramePr>
          <p:cNvPr id="2" name="Table 1">
            <a:extLst>
              <a:ext uri="{FF2B5EF4-FFF2-40B4-BE49-F238E27FC236}">
                <a16:creationId xmlns:a16="http://schemas.microsoft.com/office/drawing/2014/main" xmlns="" id="{23C7867E-04AF-A543-BC29-F8D7198BF4CC}"/>
              </a:ext>
            </a:extLst>
          </p:cNvPr>
          <p:cNvGraphicFramePr>
            <a:graphicFrameLocks noGrp="1"/>
          </p:cNvGraphicFramePr>
          <p:nvPr>
            <p:extLst>
              <p:ext uri="{D42A27DB-BD31-4B8C-83A1-F6EECF244321}">
                <p14:modId xmlns:p14="http://schemas.microsoft.com/office/powerpoint/2010/main" val="4187457504"/>
              </p:ext>
            </p:extLst>
          </p:nvPr>
        </p:nvGraphicFramePr>
        <p:xfrm>
          <a:off x="2704600" y="1476039"/>
          <a:ext cx="6858000" cy="1925320"/>
        </p:xfrm>
        <a:graphic>
          <a:graphicData uri="http://schemas.openxmlformats.org/drawingml/2006/table">
            <a:tbl>
              <a:tblPr bandRow="1"/>
              <a:tblGrid>
                <a:gridCol w="3429000">
                  <a:extLst>
                    <a:ext uri="{9D8B030D-6E8A-4147-A177-3AD203B41FA5}">
                      <a16:colId xmlns:a16="http://schemas.microsoft.com/office/drawing/2014/main" xmlns="" val="518087874"/>
                    </a:ext>
                  </a:extLst>
                </a:gridCol>
                <a:gridCol w="3429000">
                  <a:extLst>
                    <a:ext uri="{9D8B030D-6E8A-4147-A177-3AD203B41FA5}">
                      <a16:colId xmlns:a16="http://schemas.microsoft.com/office/drawing/2014/main" xmlns="" val="4071143556"/>
                    </a:ext>
                  </a:extLst>
                </a:gridCol>
              </a:tblGrid>
              <a:tr h="428625">
                <a:tc>
                  <a:txBody>
                    <a:bodyPr/>
                    <a:lstStyle/>
                    <a:p>
                      <a:pPr marL="0" marR="0" algn="ctr">
                        <a:lnSpc>
                          <a:spcPct val="107000"/>
                        </a:lnSpc>
                        <a:spcBef>
                          <a:spcPts val="0"/>
                        </a:spcBef>
                        <a:spcAft>
                          <a:spcPts val="0"/>
                        </a:spcAft>
                      </a:pPr>
                      <a:r>
                        <a:rPr lang="en-US" sz="1800" b="1" i="0">
                          <a:solidFill>
                            <a:srgbClr val="000000"/>
                          </a:solidFill>
                          <a:effectLst/>
                          <a:latin typeface="Verdana" panose="020B0604030504040204" pitchFamily="34" charset="0"/>
                          <a:ea typeface="Verdana" panose="020B0604030504040204" pitchFamily="34" charset="0"/>
                          <a:cs typeface="Verdana" panose="020B0604030504040204" pitchFamily="34" charset="0"/>
                        </a:rPr>
                        <a:t>Box plot A</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800" b="1" i="0">
                          <a:solidFill>
                            <a:srgbClr val="000000"/>
                          </a:solidFill>
                          <a:effectLst/>
                          <a:latin typeface="Verdana" panose="020B0604030504040204" pitchFamily="34" charset="0"/>
                          <a:ea typeface="Verdana" panose="020B0604030504040204" pitchFamily="34" charset="0"/>
                          <a:cs typeface="Verdana" panose="020B0604030504040204" pitchFamily="34" charset="0"/>
                        </a:rPr>
                        <a:t>Box plot B</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3864730163"/>
                  </a:ext>
                </a:extLst>
              </a:tr>
              <a:tr h="1496695">
                <a:tc>
                  <a:txBody>
                    <a:bodyPr/>
                    <a:lstStyle/>
                    <a:p>
                      <a:pPr marL="0" marR="0" algn="ctr">
                        <a:lnSpc>
                          <a:spcPct val="107000"/>
                        </a:lnSpc>
                        <a:spcBef>
                          <a:spcPts val="0"/>
                        </a:spcBef>
                        <a:spcAft>
                          <a:spcPts val="0"/>
                        </a:spcAft>
                      </a:pPr>
                      <a:endPar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Ages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endPar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Ages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221891253"/>
                  </a:ext>
                </a:extLst>
              </a:tr>
            </a:tbl>
          </a:graphicData>
        </a:graphic>
      </p:graphicFrame>
      <p:pic>
        <p:nvPicPr>
          <p:cNvPr id="1026" name="Picture 8">
            <a:extLst>
              <a:ext uri="{FF2B5EF4-FFF2-40B4-BE49-F238E27FC236}">
                <a16:creationId xmlns:a16="http://schemas.microsoft.com/office/drawing/2014/main" xmlns="" id="{63448187-3622-CF48-92A6-32B551AA0BF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t="11839" b="52654"/>
          <a:stretch>
            <a:fillRect/>
          </a:stretch>
        </p:blipFill>
        <p:spPr bwMode="auto">
          <a:xfrm>
            <a:off x="2806835" y="1999694"/>
            <a:ext cx="3200400" cy="990600"/>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9">
            <a:extLst>
              <a:ext uri="{FF2B5EF4-FFF2-40B4-BE49-F238E27FC236}">
                <a16:creationId xmlns:a16="http://schemas.microsoft.com/office/drawing/2014/main" xmlns="" id="{934A0F47-6E27-EF41-B64A-5B1F18FC807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t="11565" b="52345"/>
          <a:stretch>
            <a:fillRect/>
          </a:stretch>
        </p:blipFill>
        <p:spPr bwMode="auto">
          <a:xfrm>
            <a:off x="6298210" y="1999694"/>
            <a:ext cx="3200400" cy="1016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F6FE91E7-8996-9F4F-BE5C-C2C93F1959E8}"/>
              </a:ext>
            </a:extLst>
          </p:cNvPr>
          <p:cNvSpPr txBox="1"/>
          <p:nvPr/>
        </p:nvSpPr>
        <p:spPr>
          <a:xfrm>
            <a:off x="1346887" y="4733277"/>
            <a:ext cx="9573430" cy="421654"/>
          </a:xfrm>
          <a:prstGeom prst="rect">
            <a:avLst/>
          </a:prstGeom>
          <a:noFill/>
        </p:spPr>
        <p:txBody>
          <a:bodyPr wrap="square">
            <a:spAutoFit/>
          </a:bodyPr>
          <a:lstStyle/>
          <a:p>
            <a:pPr marL="460375" indent="-4603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3. Discuss your choice with your partner and summarize. </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12"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106</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xmlns="" id="{2AA35BC6-D428-FC41-BDE5-6438AB8840FC}"/>
                  </a:ext>
                </a:extLst>
              </p:cNvPr>
              <p:cNvSpPr txBox="1"/>
              <p:nvPr/>
            </p:nvSpPr>
            <p:spPr>
              <a:xfrm>
                <a:off x="877331" y="410665"/>
                <a:ext cx="10512544" cy="2726900"/>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In a box plot, whiskers extend from each quartile to the minimum or maximum. The left whisker represents the bottom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25%</m:t>
                    </m:r>
                  </m:oMath>
                </a14:m>
                <a:r>
                  <a:rPr lang="en-US" sz="2000" dirty="0">
                    <a:latin typeface="Verdana" panose="020B0604030504040204" pitchFamily="34" charset="0"/>
                    <a:ea typeface="Verdana" panose="020B0604030504040204" pitchFamily="34" charset="0"/>
                    <a:cs typeface="Verdana" panose="020B0604030504040204" pitchFamily="34" charset="0"/>
                  </a:rPr>
                  <a:t> of the data and the right whisker represents the top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25%</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a:lnSpc>
                    <a:spcPct val="107000"/>
                  </a:lnSpc>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914400" indent="-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60375" indent="-4603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4.  Discuss with your partner how the location of the median and the length of the whiskers can be used to determine the shape of the distribution. Summarize your discussion.</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877331" y="410665"/>
                <a:ext cx="10512544" cy="2726900"/>
              </a:xfrm>
              <a:prstGeom prst="rect">
                <a:avLst/>
              </a:prstGeom>
              <a:blipFill rotWithShape="0">
                <a:blip r:embed="rId3"/>
                <a:stretch>
                  <a:fillRect l="-638" t="-1339" r="-754" b="-2009"/>
                </a:stretch>
              </a:blipFill>
            </p:spPr>
            <p:txBody>
              <a:bodyPr/>
              <a:lstStyle/>
              <a:p>
                <a:r>
                  <a:rPr lang="en-US">
                    <a:noFill/>
                  </a:rPr>
                  <a:t> </a:t>
                </a:r>
              </a:p>
            </p:txBody>
          </p:sp>
        </mc:Fallback>
      </mc:AlternateContent>
      <p:sp>
        <p:nvSpPr>
          <p:cNvPr id="6"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106</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911090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2AA35BC6-D428-FC41-BDE5-6438AB8840FC}"/>
              </a:ext>
            </a:extLst>
          </p:cNvPr>
          <p:cNvSpPr txBox="1"/>
          <p:nvPr/>
        </p:nvSpPr>
        <p:spPr>
          <a:xfrm>
            <a:off x="1260390" y="449576"/>
            <a:ext cx="9897352" cy="882678"/>
          </a:xfrm>
          <a:prstGeom prst="rect">
            <a:avLst/>
          </a:prstGeom>
          <a:noFill/>
        </p:spPr>
        <p:txBody>
          <a:bodyPr wrap="square" rtlCol="0">
            <a:spAutoFit/>
          </a:bodyPr>
          <a:lstStyle/>
          <a:p>
            <a:pPr lvl="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5. Create a frequency table of the data set</a:t>
            </a:r>
            <a:r>
              <a:rPr lang="en-US" sz="2400" dirty="0">
                <a:latin typeface="Verdana" panose="020B0604030504040204" pitchFamily="34" charset="0"/>
                <a:ea typeface="Verdana" panose="020B0604030504040204" pitchFamily="34" charset="0"/>
                <a:cs typeface="Verdana" panose="020B0604030504040204" pitchFamily="34" charset="0"/>
              </a:rPr>
              <a:t>.</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60375" indent="-460375">
              <a:lnSpc>
                <a:spcPct val="107000"/>
              </a:lnSpc>
            </a:pP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3" name="Table 2">
            <a:extLst>
              <a:ext uri="{FF2B5EF4-FFF2-40B4-BE49-F238E27FC236}">
                <a16:creationId xmlns:a16="http://schemas.microsoft.com/office/drawing/2014/main" xmlns="" id="{3964B79C-D442-1B4F-BF07-E99E0717E46A}"/>
              </a:ext>
            </a:extLst>
          </p:cNvPr>
          <p:cNvGraphicFramePr>
            <a:graphicFrameLocks noGrp="1"/>
          </p:cNvGraphicFramePr>
          <p:nvPr>
            <p:extLst>
              <p:ext uri="{D42A27DB-BD31-4B8C-83A1-F6EECF244321}">
                <p14:modId xmlns:p14="http://schemas.microsoft.com/office/powerpoint/2010/main" val="2360167495"/>
              </p:ext>
            </p:extLst>
          </p:nvPr>
        </p:nvGraphicFramePr>
        <p:xfrm>
          <a:off x="3298668" y="1297310"/>
          <a:ext cx="5146040" cy="2782189"/>
        </p:xfrm>
        <a:graphic>
          <a:graphicData uri="http://schemas.openxmlformats.org/drawingml/2006/table">
            <a:tbl>
              <a:tblPr firstRow="1" firstCol="1" bandRow="1"/>
              <a:tblGrid>
                <a:gridCol w="2573020">
                  <a:extLst>
                    <a:ext uri="{9D8B030D-6E8A-4147-A177-3AD203B41FA5}">
                      <a16:colId xmlns:a16="http://schemas.microsoft.com/office/drawing/2014/main" xmlns="" val="4161275905"/>
                    </a:ext>
                  </a:extLst>
                </a:gridCol>
                <a:gridCol w="2573020">
                  <a:extLst>
                    <a:ext uri="{9D8B030D-6E8A-4147-A177-3AD203B41FA5}">
                      <a16:colId xmlns:a16="http://schemas.microsoft.com/office/drawing/2014/main" xmlns="" val="3103231473"/>
                    </a:ext>
                  </a:extLst>
                </a:gridCol>
              </a:tblGrid>
              <a:tr h="536575">
                <a:tc>
                  <a:txBody>
                    <a:bodyPr/>
                    <a:lstStyle/>
                    <a:p>
                      <a:pPr marL="0" marR="0" algn="ctr">
                        <a:lnSpc>
                          <a:spcPct val="107000"/>
                        </a:lnSpc>
                        <a:spcBef>
                          <a:spcPts val="0"/>
                        </a:spcBef>
                        <a:spcAft>
                          <a:spcPts val="0"/>
                        </a:spcAft>
                      </a:pPr>
                      <a:r>
                        <a:rPr lang="en-US" sz="18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Age Range</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800" b="1" i="0">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Clarinet Players</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1781396591"/>
                  </a:ext>
                </a:extLst>
              </a:tr>
              <a:tr h="443230">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792071358"/>
                  </a:ext>
                </a:extLst>
              </a:tr>
              <a:tr h="443230">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11422043"/>
                  </a:ext>
                </a:extLst>
              </a:tr>
              <a:tr h="422275">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422393811"/>
                  </a:ext>
                </a:extLst>
              </a:tr>
              <a:tr h="443230">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718971886"/>
                  </a:ext>
                </a:extLst>
              </a:tr>
              <a:tr h="443230">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265173261"/>
                  </a:ext>
                </a:extLst>
              </a:tr>
            </a:tbl>
          </a:graphicData>
        </a:graphic>
      </p:graphicFrame>
      <p:sp>
        <p:nvSpPr>
          <p:cNvPr id="7"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106</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79940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2AA35BC6-D428-FC41-BDE5-6438AB8840FC}"/>
              </a:ext>
            </a:extLst>
          </p:cNvPr>
          <p:cNvSpPr txBox="1"/>
          <p:nvPr/>
        </p:nvSpPr>
        <p:spPr>
          <a:xfrm>
            <a:off x="1285104" y="449577"/>
            <a:ext cx="9847924" cy="816827"/>
          </a:xfrm>
          <a:prstGeom prst="rect">
            <a:avLst/>
          </a:prstGeom>
          <a:noFill/>
        </p:spPr>
        <p:txBody>
          <a:bodyPr wrap="square" rtlCol="0">
            <a:spAutoFit/>
          </a:bodyPr>
          <a:lstStyle/>
          <a:p>
            <a:pPr lvl="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6. Which histogram most accurately displays the data?</a:t>
            </a:r>
            <a:r>
              <a:rPr lang="en-US" sz="2000" dirty="0"/>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60375" indent="-460375">
              <a:lnSpc>
                <a:spcPct val="107000"/>
              </a:lnSpc>
            </a:pP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2" name="Table 1">
            <a:extLst>
              <a:ext uri="{FF2B5EF4-FFF2-40B4-BE49-F238E27FC236}">
                <a16:creationId xmlns:a16="http://schemas.microsoft.com/office/drawing/2014/main" xmlns="" id="{3F546CAA-AD88-2E43-ACF8-D546F2E687B1}"/>
              </a:ext>
            </a:extLst>
          </p:cNvPr>
          <p:cNvGraphicFramePr>
            <a:graphicFrameLocks noGrp="1"/>
          </p:cNvGraphicFramePr>
          <p:nvPr>
            <p:extLst>
              <p:ext uri="{D42A27DB-BD31-4B8C-83A1-F6EECF244321}">
                <p14:modId xmlns:p14="http://schemas.microsoft.com/office/powerpoint/2010/main" val="3476805000"/>
              </p:ext>
            </p:extLst>
          </p:nvPr>
        </p:nvGraphicFramePr>
        <p:xfrm>
          <a:off x="2671128" y="1231458"/>
          <a:ext cx="6849745" cy="3430905"/>
        </p:xfrm>
        <a:graphic>
          <a:graphicData uri="http://schemas.openxmlformats.org/drawingml/2006/table">
            <a:tbl>
              <a:tblPr firstRow="1" firstCol="1" bandRow="1"/>
              <a:tblGrid>
                <a:gridCol w="3424555">
                  <a:extLst>
                    <a:ext uri="{9D8B030D-6E8A-4147-A177-3AD203B41FA5}">
                      <a16:colId xmlns:a16="http://schemas.microsoft.com/office/drawing/2014/main" xmlns="" val="3211882393"/>
                    </a:ext>
                  </a:extLst>
                </a:gridCol>
                <a:gridCol w="3425190">
                  <a:extLst>
                    <a:ext uri="{9D8B030D-6E8A-4147-A177-3AD203B41FA5}">
                      <a16:colId xmlns:a16="http://schemas.microsoft.com/office/drawing/2014/main" xmlns="" val="3774810744"/>
                    </a:ext>
                  </a:extLst>
                </a:gridCol>
              </a:tblGrid>
              <a:tr h="294005">
                <a:tc>
                  <a:txBody>
                    <a:bodyPr/>
                    <a:lstStyle/>
                    <a:p>
                      <a:pPr marL="0" marR="0" algn="ctr">
                        <a:lnSpc>
                          <a:spcPct val="107000"/>
                        </a:lnSpc>
                        <a:spcBef>
                          <a:spcPts val="0"/>
                        </a:spcBef>
                        <a:spcAft>
                          <a:spcPts val="0"/>
                        </a:spcAft>
                      </a:pPr>
                      <a:r>
                        <a:rPr lang="en-US" sz="1800" b="1" i="0">
                          <a:solidFill>
                            <a:srgbClr val="000000"/>
                          </a:solidFill>
                          <a:effectLst/>
                          <a:latin typeface="Verdana" panose="020B0604030504040204" pitchFamily="34" charset="0"/>
                          <a:ea typeface="Verdana" panose="020B0604030504040204" pitchFamily="34" charset="0"/>
                          <a:cs typeface="Verdana" panose="020B0604030504040204" pitchFamily="34" charset="0"/>
                        </a:rPr>
                        <a:t>Histogram A</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800" b="1" i="0">
                          <a:solidFill>
                            <a:srgbClr val="000000"/>
                          </a:solidFill>
                          <a:effectLst/>
                          <a:latin typeface="Verdana" panose="020B0604030504040204" pitchFamily="34" charset="0"/>
                          <a:ea typeface="Verdana" panose="020B0604030504040204" pitchFamily="34" charset="0"/>
                          <a:cs typeface="Verdana" panose="020B0604030504040204" pitchFamily="34" charset="0"/>
                        </a:rPr>
                        <a:t>Histogram B</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3087072583"/>
                  </a:ext>
                </a:extLst>
              </a:tr>
              <a:tr h="3136900">
                <a:tc>
                  <a:txBody>
                    <a:bodyPr/>
                    <a:lstStyle/>
                    <a:p>
                      <a:pPr marL="0" marR="0" algn="ctr">
                        <a:lnSpc>
                          <a:spcPct val="107000"/>
                        </a:lnSpc>
                        <a:spcBef>
                          <a:spcPts val="0"/>
                        </a:spcBef>
                        <a:spcAft>
                          <a:spcPts val="0"/>
                        </a:spcAft>
                      </a:pPr>
                      <a:r>
                        <a:rPr lang="en-US" sz="18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Age of Clarinet Players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r>
                        <a:rPr lang="en-US" sz="18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Age (in years)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Age of Clarinet Players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nSpc>
                          <a:spcPct val="107000"/>
                        </a:lnSpc>
                        <a:spcBef>
                          <a:spcPts val="0"/>
                        </a:spcBef>
                        <a:spcAft>
                          <a:spcPts val="0"/>
                        </a:spcAft>
                      </a:pPr>
                      <a:r>
                        <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endPar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r>
                        <a:rPr lang="en-US" sz="1600" i="1" dirty="0">
                          <a:effectLst/>
                          <a:latin typeface="Cambria Math" panose="02040503050406030204" pitchFamily="18" charset="0"/>
                        </a:rPr>
                        <a:t> </a:t>
                      </a:r>
                    </a:p>
                    <a:p>
                      <a:pPr marL="0" marR="0" algn="ctr">
                        <a:lnSpc>
                          <a:spcPct val="107000"/>
                        </a:lnSpc>
                        <a:spcBef>
                          <a:spcPts val="0"/>
                        </a:spcBef>
                        <a:spcAft>
                          <a:spcPts val="0"/>
                        </a:spcAft>
                      </a:pPr>
                      <a:endParaRPr lang="en-US" sz="1600" i="1" dirty="0">
                        <a:solidFill>
                          <a:srgbClr val="000000"/>
                        </a:solidFill>
                        <a:effectLst/>
                        <a:latin typeface="Cambria Math" panose="02040503050406030204" pitchFamily="18"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1" dirty="0">
                        <a:solidFill>
                          <a:srgbClr val="000000"/>
                        </a:solidFill>
                        <a:effectLst/>
                        <a:latin typeface="Cambria Math" panose="02040503050406030204" pitchFamily="18"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1" dirty="0">
                        <a:solidFill>
                          <a:srgbClr val="000000"/>
                        </a:solidFill>
                        <a:effectLst/>
                        <a:latin typeface="Cambria Math" panose="02040503050406030204" pitchFamily="18"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1" dirty="0">
                        <a:solidFill>
                          <a:srgbClr val="000000"/>
                        </a:solidFill>
                        <a:effectLst/>
                        <a:latin typeface="Cambria Math" panose="02040503050406030204" pitchFamily="18"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1" dirty="0">
                        <a:solidFill>
                          <a:srgbClr val="000000"/>
                        </a:solidFill>
                        <a:effectLst/>
                        <a:latin typeface="Cambria Math" panose="02040503050406030204" pitchFamily="18"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1" dirty="0">
                        <a:solidFill>
                          <a:srgbClr val="000000"/>
                        </a:solidFill>
                        <a:effectLst/>
                        <a:latin typeface="Cambria Math" panose="02040503050406030204" pitchFamily="18"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Age (in years)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73163780"/>
                  </a:ext>
                </a:extLst>
              </a:tr>
            </a:tbl>
          </a:graphicData>
        </a:graphic>
      </p:graphicFrame>
      <p:pic>
        <p:nvPicPr>
          <p:cNvPr id="5123" name="Picture 1">
            <a:extLst>
              <a:ext uri="{FF2B5EF4-FFF2-40B4-BE49-F238E27FC236}">
                <a16:creationId xmlns:a16="http://schemas.microsoft.com/office/drawing/2014/main" xmlns="" id="{02C39C24-EA91-BD45-8C19-C9B2E5A766AD}"/>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b="14833"/>
          <a:stretch>
            <a:fillRect/>
          </a:stretch>
        </p:blipFill>
        <p:spPr bwMode="auto">
          <a:xfrm>
            <a:off x="3023827" y="2066060"/>
            <a:ext cx="2984500" cy="2184400"/>
          </a:xfrm>
          <a:prstGeom prst="rect">
            <a:avLst/>
          </a:prstGeom>
          <a:noFill/>
          <a:extLst>
            <a:ext uri="{909E8E84-426E-40DD-AFC4-6F175D3DCCD1}">
              <a14:hiddenFill xmlns:a14="http://schemas.microsoft.com/office/drawing/2010/main">
                <a:solidFill>
                  <a:srgbClr val="FFFFFF"/>
                </a:solidFill>
              </a14:hiddenFill>
            </a:ext>
          </a:extLst>
        </p:spPr>
      </p:pic>
      <p:pic>
        <p:nvPicPr>
          <p:cNvPr id="5121" name="Picture 11">
            <a:extLst>
              <a:ext uri="{FF2B5EF4-FFF2-40B4-BE49-F238E27FC236}">
                <a16:creationId xmlns:a16="http://schemas.microsoft.com/office/drawing/2014/main" xmlns="" id="{45FB97AE-DE18-0F4B-B886-79FA6DB2BF7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b="15071"/>
          <a:stretch>
            <a:fillRect/>
          </a:stretch>
        </p:blipFill>
        <p:spPr bwMode="auto">
          <a:xfrm>
            <a:off x="6413482" y="2066060"/>
            <a:ext cx="3035300" cy="21844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10">
            <a:extLst>
              <a:ext uri="{FF2B5EF4-FFF2-40B4-BE49-F238E27FC236}">
                <a16:creationId xmlns:a16="http://schemas.microsoft.com/office/drawing/2014/main" xmlns="" id="{AE6D5F16-57C6-8F4A-9CD1-DB56A0EF645C}"/>
              </a:ext>
            </a:extLst>
          </p:cNvPr>
          <p:cNvSpPr txBox="1"/>
          <p:nvPr/>
        </p:nvSpPr>
        <p:spPr>
          <a:xfrm rot="16200000">
            <a:off x="2227422" y="3255768"/>
            <a:ext cx="1254125" cy="36671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600" dirty="0">
                <a:latin typeface="Verdana" panose="020B0604030504040204" pitchFamily="34" charset="0"/>
                <a:ea typeface="Cambria Math" panose="02040503050406030204" pitchFamily="18" charset="0"/>
                <a:cs typeface="Cambria Math" panose="02040503050406030204" pitchFamily="18" charset="0"/>
              </a:rPr>
              <a:t>Frequency</a:t>
            </a:r>
            <a:endParaRPr lang="en-US" sz="16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11" name="Text Box 12">
            <a:extLst>
              <a:ext uri="{FF2B5EF4-FFF2-40B4-BE49-F238E27FC236}">
                <a16:creationId xmlns:a16="http://schemas.microsoft.com/office/drawing/2014/main" xmlns="" id="{1AD52B3E-A00E-1248-AF54-14071925D4F5}"/>
              </a:ext>
            </a:extLst>
          </p:cNvPr>
          <p:cNvSpPr txBox="1"/>
          <p:nvPr/>
        </p:nvSpPr>
        <p:spPr>
          <a:xfrm rot="16200000">
            <a:off x="5603064" y="3147358"/>
            <a:ext cx="1254125" cy="36671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600" dirty="0">
                <a:latin typeface="Verdana" panose="020B0604030504040204" pitchFamily="34" charset="0"/>
                <a:ea typeface="Cambria Math" panose="02040503050406030204" pitchFamily="18" charset="0"/>
                <a:cs typeface="Cambria Math" panose="02040503050406030204" pitchFamily="18" charset="0"/>
              </a:rPr>
              <a:t>Frequency</a:t>
            </a:r>
            <a:endParaRPr lang="en-US" sz="16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12"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107</a:t>
            </a:r>
            <a:endParaRPr i="1" dirty="0">
              <a:latin typeface="Calibri"/>
              <a:ea typeface="Calibri"/>
              <a:cs typeface="Calibri"/>
              <a:sym typeface="Calibri"/>
            </a:endParaRPr>
          </a:p>
        </p:txBody>
      </p:sp>
      <p:pic>
        <p:nvPicPr>
          <p:cNvPr id="14"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52375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sp>
        <p:nvSpPr>
          <p:cNvPr id="5" name="TextBox 4">
            <a:extLst>
              <a:ext uri="{FF2B5EF4-FFF2-40B4-BE49-F238E27FC236}">
                <a16:creationId xmlns:a16="http://schemas.microsoft.com/office/drawing/2014/main" xmlns="" id="{2AA35BC6-D428-FC41-BDE5-6438AB8840FC}"/>
              </a:ext>
            </a:extLst>
          </p:cNvPr>
          <p:cNvSpPr txBox="1"/>
          <p:nvPr/>
        </p:nvSpPr>
        <p:spPr>
          <a:xfrm>
            <a:off x="1087396" y="449576"/>
            <a:ext cx="10243340" cy="4673652"/>
          </a:xfrm>
          <a:prstGeom prst="rect">
            <a:avLst/>
          </a:prstGeom>
          <a:noFill/>
        </p:spPr>
        <p:txBody>
          <a:bodyPr wrap="square" rtlCol="0">
            <a:spAutoFit/>
          </a:bodyPr>
          <a:lstStyle/>
          <a:p>
            <a:pPr marL="460375" indent="-4603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7.  Discuss which characteristics of the histogram you used to make your selection.</a:t>
            </a:r>
          </a:p>
          <a:p>
            <a:pPr lvl="0">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p>
          <a:p>
            <a:pPr marL="460375" indent="-4603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8.  Describe the shape of the histogram you chose, including any gaps, outliers, or clusters.</a:t>
            </a:r>
          </a:p>
          <a:p>
            <a:pPr>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indent="-4603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9.  Compare the box plot selected for the data with the histogram selected. Discuss which display better represents the data. Summarize your discussion.</a:t>
            </a:r>
          </a:p>
          <a:p>
            <a:pPr marL="460375" indent="-460375">
              <a:lnSpc>
                <a:spcPct val="107000"/>
              </a:lnSpc>
            </a:pP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107</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96979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xmlns="" id="{217F3A92-AA2C-4D41-A73D-4DC6608D682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16111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439334" y="603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10.1.3 Activity: Card Sort</a:t>
            </a:r>
          </a:p>
        </p:txBody>
      </p:sp>
      <p:pic>
        <p:nvPicPr>
          <p:cNvPr id="9" name="Picture 2" descr="Icon&#10;&#10;Description automatically generated">
            <a:extLst>
              <a:ext uri="{FF2B5EF4-FFF2-40B4-BE49-F238E27FC236}">
                <a16:creationId xmlns:a16="http://schemas.microsoft.com/office/drawing/2014/main" xmlns="" id="{37999C4E-6AE0-FA43-BC73-665C08EC572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9526" y="34827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A3547ABD-563B-A148-B65C-C7679A7B43D4}"/>
              </a:ext>
            </a:extLst>
          </p:cNvPr>
          <p:cNvSpPr txBox="1"/>
          <p:nvPr/>
        </p:nvSpPr>
        <p:spPr>
          <a:xfrm>
            <a:off x="1439334" y="1386026"/>
            <a:ext cx="9569364" cy="2397579"/>
          </a:xfrm>
          <a:prstGeom prst="rect">
            <a:avLst/>
          </a:prstGeom>
          <a:noFill/>
        </p:spPr>
        <p:txBody>
          <a:bodyPr wrap="square" rtlCol="0">
            <a:spAutoFit/>
          </a:bodyPr>
          <a:lstStyle/>
          <a:p>
            <a:pPr marL="458788" indent="-446088">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An arborist visited a pine tree farm and took measurements of the tree heights, in feet, in three different fields. He dropped his paperwork and all of the data he collected got mixed up.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Complete the table to match each histogram with its corresponding data set and box plot. Write the number and letter from the card that corresponds to each match.</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12"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107</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69935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xmlns="" id="{B6C08EE3-8247-C14E-9600-35165D5C8679}"/>
              </a:ext>
            </a:extLst>
          </p:cNvPr>
          <p:cNvSpPr txBox="1"/>
          <p:nvPr/>
        </p:nvSpPr>
        <p:spPr>
          <a:xfrm>
            <a:off x="1235676" y="5998914"/>
            <a:ext cx="9023892" cy="750975"/>
          </a:xfrm>
          <a:prstGeom prst="rect">
            <a:avLst/>
          </a:prstGeom>
          <a:noFill/>
        </p:spPr>
        <p:txBody>
          <a:bodyPr wrap="square" rtlCol="0">
            <a:spAutoFit/>
          </a:bodyPr>
          <a:lstStyle/>
          <a:p>
            <a:pPr marL="458788" indent="-446088">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2.  Compare your answers with your partner. Make any revisions, if needed.</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6" name="Picture 5" descr="Chart, histogram&#10;&#10;Description automatically generated">
            <a:extLst>
              <a:ext uri="{FF2B5EF4-FFF2-40B4-BE49-F238E27FC236}">
                <a16:creationId xmlns:a16="http://schemas.microsoft.com/office/drawing/2014/main" xmlns="" id="{FAA10F34-0CCD-134A-A169-687B87A0C24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56733" y="78437"/>
            <a:ext cx="5849928" cy="5828847"/>
          </a:xfrm>
          <a:prstGeom prst="rect">
            <a:avLst/>
          </a:prstGeom>
        </p:spPr>
      </p:pic>
      <p:sp>
        <p:nvSpPr>
          <p:cNvPr id="7"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107</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486405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108</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440588" y="234779"/>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10.1.4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3">
            <a:alphaModFix/>
          </a:blip>
          <a:srcRect/>
          <a:stretch/>
        </p:blipFill>
        <p:spPr>
          <a:xfrm>
            <a:off x="693288" y="234779"/>
            <a:ext cx="747300" cy="747300"/>
          </a:xfrm>
          <a:prstGeom prst="rect">
            <a:avLst/>
          </a:prstGeom>
          <a:noFill/>
          <a:ln>
            <a:noFill/>
          </a:ln>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xmlns="" id="{759C3E41-93EC-B84D-963F-86A3B15AC1C6}"/>
                  </a:ext>
                </a:extLst>
              </p:cNvPr>
              <p:cNvSpPr txBox="1"/>
              <p:nvPr/>
            </p:nvSpPr>
            <p:spPr>
              <a:xfrm>
                <a:off x="1149178" y="1191472"/>
                <a:ext cx="9893644" cy="2068259"/>
              </a:xfrm>
              <a:prstGeom prst="rect">
                <a:avLst/>
              </a:prstGeom>
              <a:noFill/>
            </p:spPr>
            <p:txBody>
              <a:bodyPr wrap="square" rtlCol="0">
                <a:spAutoFit/>
              </a:bodyPr>
              <a:lstStyle/>
              <a:p>
                <a:pPr marL="342900" indent="-342900">
                  <a:lnSpc>
                    <a:spcPct val="107000"/>
                  </a:lnSpc>
                  <a:buFont typeface="+mj-lt"/>
                  <a:buAutoNum type="arabicPeriod"/>
                </a:pPr>
                <a:r>
                  <a:rPr lang="en-US" sz="2000" dirty="0" smtClean="0">
                    <a:latin typeface="Verdana" panose="020B0604030504040204" pitchFamily="34" charset="0"/>
                    <a:ea typeface="Verdana" panose="020B0604030504040204" pitchFamily="34" charset="0"/>
                    <a:cs typeface="Verdana" panose="020B0604030504040204" pitchFamily="34" charset="0"/>
                  </a:rPr>
                  <a:t>A horticulturist is researching sunflowers to find out the lengths of the petals on a sunflower. She gathers information from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12</m:t>
                    </m:r>
                  </m:oMath>
                </a14:m>
                <a:r>
                  <a:rPr lang="en-US" sz="2000" dirty="0">
                    <a:latin typeface="Verdana" panose="020B0604030504040204" pitchFamily="34" charset="0"/>
                    <a:ea typeface="Verdana" panose="020B0604030504040204" pitchFamily="34" charset="0"/>
                    <a:cs typeface="Verdana" panose="020B0604030504040204" pitchFamily="34" charset="0"/>
                  </a:rPr>
                  <a:t> sunflowers and measures the length of the petals, in inches, on each flower.</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gn="ctr">
                  <a:lnSpc>
                    <a:spcPct val="107000"/>
                  </a:lnSpc>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6.8, 6.</m:t>
                      </m:r>
                      <m:r>
                        <a:rPr lang="en-US" sz="2000" b="0" i="1" smtClean="0">
                          <a:latin typeface="Cambria Math"/>
                          <a:ea typeface="Cambria Math" panose="02040503050406030204" pitchFamily="18" charset="0"/>
                          <a:cs typeface="Cambria Math" panose="02040503050406030204" pitchFamily="18" charset="0"/>
                        </a:rPr>
                        <m:t>4</m:t>
                      </m:r>
                      <m:r>
                        <a:rPr lang="en-US" sz="2000" i="1">
                          <a:latin typeface="Cambria Math" panose="02040503050406030204" pitchFamily="18" charset="0"/>
                          <a:ea typeface="Cambria Math" panose="02040503050406030204" pitchFamily="18" charset="0"/>
                          <a:cs typeface="Cambria Math" panose="02040503050406030204" pitchFamily="18" charset="0"/>
                        </a:rPr>
                        <m:t>, 6.2, 3.5, 3.6, 4.1, 3.</m:t>
                      </m:r>
                      <m:r>
                        <a:rPr lang="en-US" sz="2000" b="0" i="1" smtClean="0">
                          <a:latin typeface="Cambria Math"/>
                          <a:ea typeface="Cambria Math" panose="02040503050406030204" pitchFamily="18" charset="0"/>
                          <a:cs typeface="Cambria Math" panose="02040503050406030204" pitchFamily="18" charset="0"/>
                        </a:rPr>
                        <m:t>9</m:t>
                      </m:r>
                      <m:r>
                        <a:rPr lang="en-US" sz="2000" i="1">
                          <a:latin typeface="Cambria Math" panose="02040503050406030204" pitchFamily="18" charset="0"/>
                          <a:ea typeface="Cambria Math" panose="02040503050406030204" pitchFamily="18" charset="0"/>
                          <a:cs typeface="Cambria Math" panose="02040503050406030204" pitchFamily="18" charset="0"/>
                        </a:rPr>
                        <m:t>, 4.5, 6.7, 7.2, 8.1, 9.8</m:t>
                      </m:r>
                    </m:oMath>
                  </m:oMathPara>
                </a14:m>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1149178" y="1191472"/>
                <a:ext cx="9893644" cy="2068259"/>
              </a:xfrm>
              <a:prstGeom prst="rect">
                <a:avLst/>
              </a:prstGeom>
              <a:blipFill rotWithShape="1">
                <a:blip r:embed="rId4"/>
                <a:stretch>
                  <a:fillRect l="-678" t="-2059"/>
                </a:stretch>
              </a:blipFill>
            </p:spPr>
            <p:txBody>
              <a:bodyPr/>
              <a:lstStyle/>
              <a:p>
                <a:r>
                  <a:rPr lang="en-PH">
                    <a:noFill/>
                  </a:rPr>
                  <a:t> </a:t>
                </a:r>
              </a:p>
            </p:txBody>
          </p:sp>
        </mc:Fallback>
      </mc:AlternateContent>
      <p:sp>
        <p:nvSpPr>
          <p:cNvPr id="8"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108</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Picture 2" descr="Chart, histogram&#10;&#10;Description automatically generated">
            <a:extLst>
              <a:ext uri="{FF2B5EF4-FFF2-40B4-BE49-F238E27FC236}">
                <a16:creationId xmlns:a16="http://schemas.microsoft.com/office/drawing/2014/main" xmlns="" id="{BFF3611F-F401-FF4B-B02A-2D59D675A81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004178" y="1407367"/>
            <a:ext cx="6183645" cy="4955460"/>
          </a:xfrm>
          <a:prstGeom prst="rect">
            <a:avLst/>
          </a:prstGeom>
        </p:spPr>
      </p:pic>
      <p:sp>
        <p:nvSpPr>
          <p:cNvPr id="9" name="TextBox 8">
            <a:extLst>
              <a:ext uri="{FF2B5EF4-FFF2-40B4-BE49-F238E27FC236}">
                <a16:creationId xmlns:a16="http://schemas.microsoft.com/office/drawing/2014/main" xmlns="" id="{FCF7785E-113F-7040-908D-72DED930BAAB}"/>
              </a:ext>
            </a:extLst>
          </p:cNvPr>
          <p:cNvSpPr txBox="1"/>
          <p:nvPr/>
        </p:nvSpPr>
        <p:spPr>
          <a:xfrm>
            <a:off x="1136822" y="259162"/>
            <a:ext cx="9918354" cy="421654"/>
          </a:xfrm>
          <a:prstGeom prst="rect">
            <a:avLst/>
          </a:prstGeom>
          <a:noFill/>
        </p:spPr>
        <p:txBody>
          <a:bodyPr wrap="square">
            <a:spAutoFit/>
          </a:bodyPr>
          <a:lstStyle/>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Circle the boxplot and the histogram that best display the data set.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7"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108</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43614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171"/>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108</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370229" y="-177689"/>
            <a:ext cx="995012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10.1.5 Wrap-Up: Growth Mindset</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577850" y="97396"/>
            <a:ext cx="747300" cy="747300"/>
          </a:xfrm>
          <a:prstGeom prst="rect">
            <a:avLst/>
          </a:prstGeom>
          <a:noFill/>
          <a:ln>
            <a:noFill/>
          </a:ln>
        </p:spPr>
      </p:pic>
      <p:sp>
        <p:nvSpPr>
          <p:cNvPr id="12" name="TextBox 11">
            <a:extLst>
              <a:ext uri="{FF2B5EF4-FFF2-40B4-BE49-F238E27FC236}">
                <a16:creationId xmlns:a16="http://schemas.microsoft.com/office/drawing/2014/main" xmlns="" id="{0370EDB7-6994-3D43-ABF9-E04CBAFB9CD9}"/>
              </a:ext>
            </a:extLst>
          </p:cNvPr>
          <p:cNvSpPr txBox="1"/>
          <p:nvPr/>
        </p:nvSpPr>
        <p:spPr>
          <a:xfrm>
            <a:off x="1479680" y="1291743"/>
            <a:ext cx="8327136" cy="400110"/>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1. Complete the table as you reflect on today’s lesson.</a:t>
            </a:r>
          </a:p>
        </p:txBody>
      </p:sp>
      <p:graphicFrame>
        <p:nvGraphicFramePr>
          <p:cNvPr id="2" name="Table 1">
            <a:extLst>
              <a:ext uri="{FF2B5EF4-FFF2-40B4-BE49-F238E27FC236}">
                <a16:creationId xmlns:a16="http://schemas.microsoft.com/office/drawing/2014/main" xmlns="" id="{2D0FC2EE-1822-A541-8B44-4C374DCF6CAB}"/>
              </a:ext>
            </a:extLst>
          </p:cNvPr>
          <p:cNvGraphicFramePr>
            <a:graphicFrameLocks noGrp="1"/>
          </p:cNvGraphicFramePr>
          <p:nvPr>
            <p:extLst>
              <p:ext uri="{D42A27DB-BD31-4B8C-83A1-F6EECF244321}">
                <p14:modId xmlns:p14="http://schemas.microsoft.com/office/powerpoint/2010/main" val="1586208680"/>
              </p:ext>
            </p:extLst>
          </p:nvPr>
        </p:nvGraphicFramePr>
        <p:xfrm>
          <a:off x="2802472" y="1835586"/>
          <a:ext cx="6587057" cy="4748914"/>
        </p:xfrm>
        <a:graphic>
          <a:graphicData uri="http://schemas.openxmlformats.org/drawingml/2006/table">
            <a:tbl>
              <a:tblPr firstRow="1" bandRow="1"/>
              <a:tblGrid>
                <a:gridCol w="3552836">
                  <a:extLst>
                    <a:ext uri="{9D8B030D-6E8A-4147-A177-3AD203B41FA5}">
                      <a16:colId xmlns:a16="http://schemas.microsoft.com/office/drawing/2014/main" xmlns="" val="2358868618"/>
                    </a:ext>
                  </a:extLst>
                </a:gridCol>
                <a:gridCol w="3034221">
                  <a:extLst>
                    <a:ext uri="{9D8B030D-6E8A-4147-A177-3AD203B41FA5}">
                      <a16:colId xmlns:a16="http://schemas.microsoft.com/office/drawing/2014/main" xmlns="" val="1190614101"/>
                    </a:ext>
                  </a:extLst>
                </a:gridCol>
              </a:tblGrid>
              <a:tr h="839540">
                <a:tc>
                  <a:txBody>
                    <a:bodyPr/>
                    <a:lstStyle/>
                    <a:p>
                      <a:pPr marL="0" marR="0">
                        <a:lnSpc>
                          <a:spcPct val="107000"/>
                        </a:lnSpc>
                        <a:spcBef>
                          <a:spcPts val="0"/>
                        </a:spcBef>
                        <a:spcAft>
                          <a:spcPts val="0"/>
                        </a:spcAft>
                      </a:pPr>
                      <a:r>
                        <a:rPr lang="en-GB" sz="2000" b="1" i="0" dirty="0">
                          <a:effectLst/>
                          <a:latin typeface="Verdana" panose="020B0604030504040204" pitchFamily="34" charset="0"/>
                          <a:ea typeface="Times New Roman" panose="02020603050405020304" pitchFamily="18" charset="0"/>
                          <a:cs typeface="Times New Roman" panose="02020603050405020304" pitchFamily="18" charset="0"/>
                        </a:rPr>
                        <a:t>Which mindset did I demonstrate?</a:t>
                      </a:r>
                      <a:endParaRPr lang="en-US"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nSpc>
                          <a:spcPct val="107000"/>
                        </a:lnSpc>
                        <a:spcBef>
                          <a:spcPts val="0"/>
                        </a:spcBef>
                        <a:spcAft>
                          <a:spcPts val="0"/>
                        </a:spcAft>
                      </a:pPr>
                      <a:r>
                        <a:rPr lang="en-GB" sz="2000" b="1" i="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Choose the best description.</a:t>
                      </a:r>
                      <a:endParaRPr lang="en-US"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 val="2623931668"/>
                  </a:ext>
                </a:extLst>
              </a:tr>
              <a:tr h="1170599">
                <a:tc>
                  <a:txBody>
                    <a:bodyPr/>
                    <a:lstStyle/>
                    <a:p>
                      <a:pPr marL="0" marR="0">
                        <a:lnSpc>
                          <a:spcPct val="107000"/>
                        </a:lnSpc>
                        <a:spcBef>
                          <a:spcPts val="0"/>
                        </a:spcBef>
                        <a:spcAft>
                          <a:spcPts val="0"/>
                        </a:spcAft>
                      </a:pPr>
                      <a:r>
                        <a:rPr lang="en-GB" sz="2000" i="0" dirty="0">
                          <a:effectLst/>
                          <a:latin typeface="Verdana" panose="020B0604030504040204" pitchFamily="34" charset="0"/>
                          <a:ea typeface="Times New Roman" panose="02020603050405020304" pitchFamily="18" charset="0"/>
                          <a:cs typeface="Times New Roman" panose="02020603050405020304" pitchFamily="18" charset="0"/>
                        </a:rPr>
                        <a:t>Did I use the partner discussions as learning opportunities? </a:t>
                      </a:r>
                      <a:endParaRPr lang="en-US"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Courier New" panose="02070309020205020404" pitchFamily="49" charset="0"/>
                        <a:buChar char="o"/>
                      </a:pPr>
                      <a:r>
                        <a:rPr lang="en-US" sz="1800" i="0" dirty="0">
                          <a:solidFill>
                            <a:srgbClr val="000000"/>
                          </a:solidFill>
                          <a:effectLst/>
                          <a:latin typeface="Verdana" panose="020B0604030504040204" pitchFamily="34" charset="0"/>
                          <a:ea typeface="Cambria Math" panose="02040503050406030204" pitchFamily="18" charset="0"/>
                          <a:cs typeface="Calibri" panose="020F0502020204030204" pitchFamily="34" charset="0"/>
                        </a:rPr>
                        <a:t>Never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solidFill>
                            <a:srgbClr val="000000"/>
                          </a:solidFill>
                          <a:effectLst/>
                          <a:latin typeface="Verdana" panose="020B0604030504040204" pitchFamily="34" charset="0"/>
                          <a:ea typeface="Verdana" panose="020B0604030504040204" pitchFamily="34" charset="0"/>
                          <a:cs typeface="Calibri" panose="020F0502020204030204" pitchFamily="34" charset="0"/>
                        </a:rPr>
                        <a:t>Sometimes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Usually</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Always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157003093"/>
                  </a:ext>
                </a:extLst>
              </a:tr>
              <a:tr h="1170599">
                <a:tc>
                  <a:txBody>
                    <a:bodyPr/>
                    <a:lstStyle/>
                    <a:p>
                      <a:pPr marL="0" marR="0">
                        <a:lnSpc>
                          <a:spcPct val="107000"/>
                        </a:lnSpc>
                        <a:spcBef>
                          <a:spcPts val="0"/>
                        </a:spcBef>
                        <a:spcAft>
                          <a:spcPts val="0"/>
                        </a:spcAft>
                      </a:pPr>
                      <a:r>
                        <a:rPr lang="en-GB" sz="2000" i="0" dirty="0">
                          <a:effectLst/>
                          <a:latin typeface="Verdana" panose="020B0604030504040204" pitchFamily="34" charset="0"/>
                          <a:ea typeface="Times New Roman" panose="02020603050405020304" pitchFamily="18" charset="0"/>
                          <a:cs typeface="Times New Roman" panose="02020603050405020304" pitchFamily="18" charset="0"/>
                        </a:rPr>
                        <a:t>Did I work on problems that challenged me?</a:t>
                      </a:r>
                      <a:endParaRPr lang="en-US"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Courier New" panose="02070309020205020404" pitchFamily="49" charset="0"/>
                        <a:buChar char="o"/>
                      </a:pPr>
                      <a:r>
                        <a:rPr lang="en-US" sz="1800" i="0" dirty="0">
                          <a:solidFill>
                            <a:srgbClr val="000000"/>
                          </a:solidFill>
                          <a:effectLst/>
                          <a:latin typeface="Verdana" panose="020B0604030504040204" pitchFamily="34" charset="0"/>
                          <a:ea typeface="Cambria Math" panose="02040503050406030204" pitchFamily="18" charset="0"/>
                          <a:cs typeface="Calibri" panose="020F0502020204030204" pitchFamily="34" charset="0"/>
                        </a:rPr>
                        <a:t>Never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solidFill>
                            <a:srgbClr val="000000"/>
                          </a:solidFill>
                          <a:effectLst/>
                          <a:latin typeface="Verdana" panose="020B0604030504040204" pitchFamily="34" charset="0"/>
                          <a:ea typeface="Verdana" panose="020B0604030504040204" pitchFamily="34" charset="0"/>
                          <a:cs typeface="Calibri" panose="020F0502020204030204" pitchFamily="34" charset="0"/>
                        </a:rPr>
                        <a:t>Sometimes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Usually</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Always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060362265"/>
                  </a:ext>
                </a:extLst>
              </a:tr>
              <a:tr h="1170599">
                <a:tc>
                  <a:txBody>
                    <a:bodyPr/>
                    <a:lstStyle/>
                    <a:p>
                      <a:pPr marL="0" marR="0">
                        <a:lnSpc>
                          <a:spcPct val="107000"/>
                        </a:lnSpc>
                        <a:spcBef>
                          <a:spcPts val="0"/>
                        </a:spcBef>
                        <a:spcAft>
                          <a:spcPts val="0"/>
                        </a:spcAft>
                      </a:pPr>
                      <a:r>
                        <a:rPr lang="en-GB" sz="2000" i="0" dirty="0">
                          <a:effectLst/>
                          <a:latin typeface="Verdana" panose="020B0604030504040204" pitchFamily="34" charset="0"/>
                          <a:ea typeface="Times New Roman" panose="02020603050405020304" pitchFamily="18" charset="0"/>
                          <a:cs typeface="Times New Roman" panose="02020603050405020304" pitchFamily="18" charset="0"/>
                        </a:rPr>
                        <a:t>Did I use strategies to “un-stick” myself when I found the problems difficult?</a:t>
                      </a:r>
                      <a:endParaRPr lang="en-US"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Courier New" panose="02070309020205020404" pitchFamily="49" charset="0"/>
                        <a:buChar char="o"/>
                      </a:pPr>
                      <a:r>
                        <a:rPr lang="en-US" sz="1800" i="0" dirty="0">
                          <a:solidFill>
                            <a:srgbClr val="000000"/>
                          </a:solidFill>
                          <a:effectLst/>
                          <a:latin typeface="Verdana" panose="020B0604030504040204" pitchFamily="34" charset="0"/>
                          <a:ea typeface="Cambria Math" panose="02040503050406030204" pitchFamily="18" charset="0"/>
                          <a:cs typeface="Calibri" panose="020F0502020204030204" pitchFamily="34" charset="0"/>
                        </a:rPr>
                        <a:t>Never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solidFill>
                            <a:srgbClr val="000000"/>
                          </a:solidFill>
                          <a:effectLst/>
                          <a:latin typeface="Verdana" panose="020B0604030504040204" pitchFamily="34" charset="0"/>
                          <a:ea typeface="Verdana" panose="020B0604030504040204" pitchFamily="34" charset="0"/>
                          <a:cs typeface="Calibri" panose="020F0502020204030204" pitchFamily="34" charset="0"/>
                        </a:rPr>
                        <a:t>Sometimes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Usually</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Always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397980125"/>
                  </a:ext>
                </a:extLst>
              </a:tr>
            </a:tbl>
          </a:graphicData>
        </a:graphic>
      </p:graphicFrame>
      <p:sp>
        <p:nvSpPr>
          <p:cNvPr id="11" name="Google Shape;282;g104476d1465_1_17"/>
          <p:cNvSpPr txBox="1"/>
          <p:nvPr/>
        </p:nvSpPr>
        <p:spPr>
          <a:xfrm>
            <a:off x="868635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108</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61CB94-A42D-4A3E-9763-0EC0ED215BEC}">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4926DA3B-C3C2-4E30-BA00-A5B91BA2C728}">
  <ds:schemaRefs>
    <ds:schemaRef ds:uri="http://schemas.microsoft.com/sharepoint/v3/contenttype/forms"/>
  </ds:schemaRefs>
</ds:datastoreItem>
</file>

<file path=customXml/itemProps3.xml><?xml version="1.0" encoding="utf-8"?>
<ds:datastoreItem xmlns:ds="http://schemas.openxmlformats.org/officeDocument/2006/customXml" ds:itemID="{ECAC5C39-F89C-44C5-B7ED-DD18D676AD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1298</TotalTime>
  <Words>654</Words>
  <Application>Microsoft Office PowerPoint</Application>
  <PresentationFormat>Custom</PresentationFormat>
  <Paragraphs>173</Paragraphs>
  <Slides>21</Slides>
  <Notes>21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1_Office Theme</vt:lpstr>
      <vt:lpstr>6th Grade Accelerated Math  Unit 10, Lesson 1  Matching Data Displays  Volume 2, pg. 105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Activity</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Sensei</cp:lastModifiedBy>
  <cp:revision>21</cp:revision>
  <dcterms:created xsi:type="dcterms:W3CDTF">2015-03-17T18:51:18Z</dcterms:created>
  <dcterms:modified xsi:type="dcterms:W3CDTF">2023-07-07T09:24:24Z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