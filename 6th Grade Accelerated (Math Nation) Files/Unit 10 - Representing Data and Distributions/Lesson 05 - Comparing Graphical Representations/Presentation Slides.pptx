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1" roundtripDataSignature="AMtx7mgLP0w/Sep+NaSlZiex8C+g7Lmw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B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D659866-F274-4FFC-AE47-F5A041375570}">
  <a:tblStyle styleId="{6D659866-F274-4FFC-AE47-F5A041375570}"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84"/>
    <p:restoredTop sz="94695"/>
  </p:normalViewPr>
  <p:slideViewPr>
    <p:cSldViewPr snapToGrid="0">
      <p:cViewPr varScale="1">
        <p:scale>
          <a:sx n="58" d="100"/>
          <a:sy n="58" d="100"/>
        </p:scale>
        <p:origin x="108"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51" Type="http://customschemas.google.com/relationships/presentationmetadata" Target="metadata"/><Relationship Id="rId3" Type="http://schemas.openxmlformats.org/officeDocument/2006/relationships/slide" Target="slides/slide2.xml"/><Relationship Id="rId21" Type="http://schemas.openxmlformats.org/officeDocument/2006/relationships/slide" Target="slides/slide20.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4" name="Google Shape;184;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5" name="Google Shape;195;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9" name="Google Shape;20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8" name="Google Shape;218;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9" name="Google Shape;219;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 name="Google Shape;234;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5" name="Google Shape;235;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9" name="Google Shape;269;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4" name="Google Shape;284;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5" name="Google Shape;285;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3" name="Google Shape;293;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4" name="Google Shape;294;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7" name="Google Shape;307;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5" name="Google Shape;315;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6" name="Google Shape;316;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4" name="Google Shape;324;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5" name="Google Shape;325;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6" name="Google Shape;336;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7" name="Google Shape;337;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9" name="Google Shape;349;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0" name="Google Shape;350;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9" name="Google Shape;359;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0" name="Google Shape;370;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1" name="Google Shape;371;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2" name="Google Shape;382;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3" name="Google Shape;383;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3" name="Google Shape;393;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2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590352" y="2054277"/>
            <a:ext cx="5077649"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Accelerated Math</a:t>
            </a:r>
            <a:br>
              <a:rPr lang="en-US" sz="3600" b="1" dirty="0">
                <a:solidFill>
                  <a:srgbClr val="417DBF"/>
                </a:solidFill>
                <a:latin typeface="Verdana"/>
                <a:ea typeface="Verdana"/>
                <a:cs typeface="Verdana"/>
                <a:sym typeface="Verdana"/>
              </a:rPr>
            </a:br>
            <a:endParaRPr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10, Lesson 5</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Comparing Graphical Representations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129</a:t>
            </a:r>
            <a:endParaRPr dirty="0"/>
          </a:p>
          <a:p>
            <a:pPr algn="ctr">
              <a:lnSpc>
                <a:spcPct val="100000"/>
              </a:lnSpc>
              <a:buClr>
                <a:srgbClr val="000000"/>
              </a:buClr>
            </a:pPr>
            <a:endParaRPr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8100"/>
            <a:ext cx="4094106"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6" name="Picture 5" descr="Logo&#10;&#10;Description automatically generated">
            <a:extLst>
              <a:ext uri="{FF2B5EF4-FFF2-40B4-BE49-F238E27FC236}">
                <a16:creationId xmlns:a16="http://schemas.microsoft.com/office/drawing/2014/main" id="{AA686F3E-D0F0-8A96-9E61-77470E37D88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6752" y="1829054"/>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491320" y="8703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a:solidFill>
                  <a:srgbClr val="54B5D1"/>
                </a:solidFill>
                <a:latin typeface="Verdana"/>
                <a:ea typeface="Verdana"/>
                <a:cs typeface="Verdana"/>
                <a:sym typeface="Verdana"/>
              </a:rPr>
              <a:t>Benchmark</a:t>
            </a:r>
            <a:endParaRPr sz="3700" b="1">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667820" y="322810"/>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70622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129</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4454" y="6200599"/>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1719027" y="1600200"/>
            <a:ext cx="8753946"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2000" dirty="0">
                <a:solidFill>
                  <a:schemeClr val="dk1"/>
                </a:solidFill>
                <a:latin typeface="Verdana"/>
                <a:ea typeface="Verdana"/>
                <a:cs typeface="Verdana"/>
                <a:sym typeface="Verdana"/>
              </a:rPr>
              <a:t>MA.7.DP.1.2</a:t>
            </a:r>
            <a:endParaRPr dirty="0"/>
          </a:p>
          <a:p>
            <a:pPr marL="457200">
              <a:lnSpc>
                <a:spcPct val="90000"/>
              </a:lnSpc>
              <a:spcBef>
                <a:spcPts val="750"/>
              </a:spcBef>
              <a:buClr>
                <a:schemeClr val="dk1"/>
              </a:buClr>
              <a:buSzPts val="2100"/>
            </a:pPr>
            <a:r>
              <a:rPr lang="en-US" sz="2000" dirty="0">
                <a:solidFill>
                  <a:schemeClr val="dk1"/>
                </a:solidFill>
                <a:latin typeface="Verdana"/>
                <a:ea typeface="Verdana"/>
                <a:cs typeface="Verdana"/>
                <a:sym typeface="Verdana"/>
              </a:rPr>
              <a:t>Given two numerical or graphical representations of data, use the measure(s) of center and measure(s) of variability to make comparisons, interpret results, and draw conclusions about the two populations. </a:t>
            </a:r>
            <a:endParaRPr sz="2000" dirty="0">
              <a:solidFill>
                <a:schemeClr val="dk1"/>
              </a:solidFill>
              <a:latin typeface="Verdana"/>
              <a:ea typeface="Verdana"/>
              <a:cs typeface="Verdana"/>
              <a:sym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34" name="Google Shape;134;p1"/>
          <p:cNvPicPr preferRelativeResize="0"/>
          <p:nvPr/>
        </p:nvPicPr>
        <p:blipFill rotWithShape="1">
          <a:blip r:embed="rId3">
            <a:alphaModFix/>
          </a:blip>
          <a:srcRect/>
          <a:stretch/>
        </p:blipFill>
        <p:spPr>
          <a:xfrm>
            <a:off x="661989" y="295543"/>
            <a:ext cx="747300" cy="747300"/>
          </a:xfrm>
          <a:prstGeom prst="rect">
            <a:avLst/>
          </a:prstGeom>
          <a:noFill/>
          <a:ln>
            <a:noFill/>
          </a:ln>
          <a:effectLst>
            <a:outerShdw blurRad="57150" dist="19050" dir="5400000" algn="bl" rotWithShape="0">
              <a:srgbClr val="000000">
                <a:alpha val="49803"/>
              </a:srgbClr>
            </a:outerShdw>
          </a:effectLst>
        </p:spPr>
      </p:pic>
      <p:sp>
        <p:nvSpPr>
          <p:cNvPr id="136" name="Google Shape;136;p1"/>
          <p:cNvSpPr txBox="1"/>
          <p:nvPr/>
        </p:nvSpPr>
        <p:spPr>
          <a:xfrm>
            <a:off x="1486639" y="52910"/>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8" name="Google Shape;138;p1"/>
          <p:cNvSpPr txBox="1"/>
          <p:nvPr/>
        </p:nvSpPr>
        <p:spPr>
          <a:xfrm>
            <a:off x="1486639" y="1596390"/>
            <a:ext cx="9806482" cy="4205700"/>
          </a:xfrm>
          <a:prstGeom prst="rect">
            <a:avLst/>
          </a:prstGeom>
          <a:noFill/>
          <a:ln>
            <a:noFill/>
          </a:ln>
        </p:spPr>
        <p:txBody>
          <a:bodyPr spcFirstLastPara="1" wrap="square" lIns="91425" tIns="45700" rIns="91425" bIns="45700" anchor="t" anchorCtr="0">
            <a:noAutofit/>
          </a:bodyPr>
          <a:lstStyle/>
          <a:p>
            <a:r>
              <a:rPr lang="en-US" sz="2000" dirty="0">
                <a:solidFill>
                  <a:schemeClr val="dk1"/>
                </a:solidFill>
                <a:latin typeface="Verdana"/>
                <a:ea typeface="Verdana"/>
                <a:cs typeface="Verdana"/>
                <a:sym typeface="Verdana"/>
              </a:rPr>
              <a:t>MA.K12.MTR.1.1 Actively participate in effortful learning both individually and collectively.</a:t>
            </a:r>
            <a:endParaRPr dirty="0"/>
          </a:p>
          <a:p>
            <a:pPr marL="457200"/>
            <a:endParaRPr sz="2000" dirty="0">
              <a:solidFill>
                <a:schemeClr val="dk1"/>
              </a:solidFill>
              <a:latin typeface="Verdana"/>
              <a:ea typeface="Verdana"/>
              <a:cs typeface="Verdana"/>
              <a:sym typeface="Verdana"/>
            </a:endParaRPr>
          </a:p>
          <a:p>
            <a:r>
              <a:rPr lang="en-US" sz="2000" dirty="0">
                <a:solidFill>
                  <a:schemeClr val="dk1"/>
                </a:solidFill>
                <a:latin typeface="Verdana"/>
                <a:ea typeface="Verdana"/>
                <a:cs typeface="Verdana"/>
                <a:sym typeface="Verdana"/>
              </a:rPr>
              <a:t>MA.K12.MTR.2.1 Demonstrate understanding by representing problems in multiple ways.</a:t>
            </a:r>
            <a:endParaRPr dirty="0"/>
          </a:p>
          <a:p>
            <a:pPr marL="457200"/>
            <a:endParaRPr sz="2000" dirty="0">
              <a:solidFill>
                <a:schemeClr val="dk1"/>
              </a:solidFill>
              <a:latin typeface="Verdana"/>
              <a:ea typeface="Verdana"/>
              <a:cs typeface="Verdana"/>
              <a:sym typeface="Verdana"/>
            </a:endParaRPr>
          </a:p>
          <a:p>
            <a:r>
              <a:rPr lang="en-US" sz="2000" dirty="0">
                <a:solidFill>
                  <a:schemeClr val="dk1"/>
                </a:solidFill>
                <a:latin typeface="Verdana"/>
                <a:ea typeface="Verdana"/>
                <a:cs typeface="Verdana"/>
                <a:sym typeface="Verdana"/>
              </a:rPr>
              <a:t>MA.K12.MTR.4.1 Engage in discussions that reflect on the mathematical thinking of self and others.</a:t>
            </a:r>
            <a:endParaRPr dirty="0"/>
          </a:p>
          <a:p>
            <a:endParaRPr sz="2000" dirty="0">
              <a:solidFill>
                <a:schemeClr val="dk1"/>
              </a:solidFill>
              <a:latin typeface="Verdana"/>
              <a:ea typeface="Verdana"/>
              <a:cs typeface="Verdana"/>
              <a:sym typeface="Verdana"/>
            </a:endParaRPr>
          </a:p>
          <a:p>
            <a:r>
              <a:rPr lang="en-US" sz="2000" dirty="0">
                <a:solidFill>
                  <a:schemeClr val="dk1"/>
                </a:solidFill>
                <a:latin typeface="Verdana"/>
                <a:ea typeface="Verdana"/>
                <a:cs typeface="Verdana"/>
                <a:sym typeface="Verdana"/>
              </a:rPr>
              <a:t>MA.K12.MTR.7.1 Apply mathematics to real-world contexts.</a:t>
            </a:r>
            <a:endParaRPr sz="2000" dirty="0">
              <a:solidFill>
                <a:schemeClr val="dk1"/>
              </a:solidFill>
              <a:latin typeface="Verdana"/>
              <a:ea typeface="Verdana"/>
              <a:cs typeface="Verdana"/>
              <a:sym typeface="Verdana"/>
            </a:endParaRPr>
          </a:p>
        </p:txBody>
      </p:sp>
      <p:sp>
        <p:nvSpPr>
          <p:cNvPr id="8" name="Google Shape;125;g104476d1465_1_17"/>
          <p:cNvSpPr txBox="1"/>
          <p:nvPr/>
        </p:nvSpPr>
        <p:spPr>
          <a:xfrm>
            <a:off x="870622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129</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445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highlight>
                <a:srgbClr val="FFFF00"/>
              </a:highlight>
            </a:endParaRPr>
          </a:p>
        </p:txBody>
      </p:sp>
      <p:sp>
        <p:nvSpPr>
          <p:cNvPr id="146" name="Google Shape;146;p2"/>
          <p:cNvSpPr txBox="1"/>
          <p:nvPr/>
        </p:nvSpPr>
        <p:spPr>
          <a:xfrm>
            <a:off x="1498408" y="-51146"/>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a:t>
            </a:r>
            <a:endParaRPr dirty="0"/>
          </a:p>
        </p:txBody>
      </p:sp>
      <p:pic>
        <p:nvPicPr>
          <p:cNvPr id="147" name="Google Shape;147;p2"/>
          <p:cNvPicPr preferRelativeResize="0"/>
          <p:nvPr/>
        </p:nvPicPr>
        <p:blipFill rotWithShape="1">
          <a:blip r:embed="rId3">
            <a:alphaModFix/>
          </a:blip>
          <a:srcRect/>
          <a:stretch/>
        </p:blipFill>
        <p:spPr>
          <a:xfrm>
            <a:off x="716246" y="238054"/>
            <a:ext cx="747300" cy="747300"/>
          </a:xfrm>
          <a:prstGeom prst="rect">
            <a:avLst/>
          </a:prstGeom>
          <a:noFill/>
          <a:ln>
            <a:noFill/>
          </a:ln>
          <a:effectLst>
            <a:outerShdw blurRad="50800" dist="38100" dir="2700000" algn="tl" rotWithShape="0">
              <a:srgbClr val="000000">
                <a:alpha val="40000"/>
              </a:srgbClr>
            </a:outerShdw>
          </a:effectLst>
        </p:spPr>
      </p:pic>
      <p:sp>
        <p:nvSpPr>
          <p:cNvPr id="149" name="Google Shape;149;p2"/>
          <p:cNvSpPr txBox="1"/>
          <p:nvPr/>
        </p:nvSpPr>
        <p:spPr>
          <a:xfrm>
            <a:off x="1719027" y="1600200"/>
            <a:ext cx="8753946" cy="4205700"/>
          </a:xfrm>
          <a:prstGeom prst="rect">
            <a:avLst/>
          </a:prstGeom>
          <a:noFill/>
          <a:ln>
            <a:noFill/>
          </a:ln>
        </p:spPr>
        <p:txBody>
          <a:bodyPr spcFirstLastPara="1" wrap="square" lIns="91425" tIns="45700" rIns="91425" bIns="45700" anchor="t" anchorCtr="0">
            <a:noAutofit/>
          </a:bodyPr>
          <a:lstStyle/>
          <a:p>
            <a:pPr marL="469900" indent="-463550">
              <a:buClr>
                <a:srgbClr val="434343"/>
              </a:buClr>
              <a:buSzPts val="2800"/>
              <a:buFont typeface="Noto Sans Symbols"/>
              <a:buChar char="❑"/>
            </a:pPr>
            <a:r>
              <a:rPr lang="en-US" sz="2000" dirty="0">
                <a:latin typeface="Verdana"/>
                <a:ea typeface="Verdana"/>
                <a:cs typeface="Verdana"/>
                <a:sym typeface="Verdana"/>
              </a:rPr>
              <a:t>I can use two graphical representations of data to make comparisons and draw conclusions about the populations. </a:t>
            </a:r>
            <a:endParaRPr sz="2000" dirty="0">
              <a:solidFill>
                <a:schemeClr val="dk1"/>
              </a:solidFill>
              <a:latin typeface="Verdana"/>
              <a:ea typeface="Verdana"/>
              <a:cs typeface="Verdana"/>
              <a:sym typeface="Verdana"/>
            </a:endParaRPr>
          </a:p>
        </p:txBody>
      </p:sp>
      <p:sp>
        <p:nvSpPr>
          <p:cNvPr id="8" name="Google Shape;125;g104476d1465_1_17"/>
          <p:cNvSpPr txBox="1"/>
          <p:nvPr/>
        </p:nvSpPr>
        <p:spPr>
          <a:xfrm>
            <a:off x="870622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129</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445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13252"/>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7" name="Google Shape;125;g104476d1465_1_17"/>
          <p:cNvSpPr txBox="1"/>
          <p:nvPr/>
        </p:nvSpPr>
        <p:spPr>
          <a:xfrm>
            <a:off x="870622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129</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445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4"/>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67" name="Google Shape;167;p4"/>
          <p:cNvSpPr txBox="1"/>
          <p:nvPr/>
        </p:nvSpPr>
        <p:spPr>
          <a:xfrm>
            <a:off x="1419920" y="192845"/>
            <a:ext cx="8019300" cy="88446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00" b="1" dirty="0">
                <a:solidFill>
                  <a:srgbClr val="3F2A67"/>
                </a:solidFill>
                <a:latin typeface="Verdana"/>
                <a:ea typeface="Verdana"/>
                <a:cs typeface="Verdana"/>
                <a:sym typeface="Verdana"/>
              </a:rPr>
              <a:t>10.5.1 Warm-Up: Defrost Time</a:t>
            </a:r>
            <a:endParaRPr dirty="0"/>
          </a:p>
        </p:txBody>
      </p:sp>
      <p:pic>
        <p:nvPicPr>
          <p:cNvPr id="168" name="Google Shape;168;p4"/>
          <p:cNvPicPr preferRelativeResize="0"/>
          <p:nvPr/>
        </p:nvPicPr>
        <p:blipFill rotWithShape="1">
          <a:blip r:embed="rId3">
            <a:alphaModFix/>
          </a:blip>
          <a:srcRect/>
          <a:stretch/>
        </p:blipFill>
        <p:spPr>
          <a:xfrm>
            <a:off x="672620" y="237241"/>
            <a:ext cx="747300" cy="747300"/>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6CA0D63-633D-B54F-8C6B-7CB7982C604E}"/>
                  </a:ext>
                </a:extLst>
              </p:cNvPr>
              <p:cNvSpPr txBox="1"/>
              <p:nvPr/>
            </p:nvSpPr>
            <p:spPr>
              <a:xfrm>
                <a:off x="1577009" y="1192852"/>
                <a:ext cx="9465482" cy="4708981"/>
              </a:xfrm>
              <a:prstGeom prst="rect">
                <a:avLst/>
              </a:prstGeom>
              <a:noFill/>
            </p:spPr>
            <p:txBody>
              <a:bodyPr wrap="square" rtlCol="0">
                <a:spAutoFit/>
              </a:bodyPr>
              <a:lstStyle/>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 microwave shows that it takes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9</m:t>
                    </m:r>
                  </m:oMath>
                </a14:m>
                <a:r>
                  <a:rPr lang="en-US" sz="2000" dirty="0">
                    <a:latin typeface="Verdana" panose="020B0604030504040204" pitchFamily="34" charset="0"/>
                    <a:ea typeface="Verdana" panose="020B0604030504040204" pitchFamily="34" charset="0"/>
                    <a:cs typeface="Verdana" panose="020B0604030504040204" pitchFamily="34" charset="0"/>
                  </a:rPr>
                  <a:t> minutes and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45</m:t>
                    </m:r>
                  </m:oMath>
                </a14:m>
                <a:r>
                  <a:rPr lang="en-US" sz="2000" dirty="0">
                    <a:latin typeface="Verdana" panose="020B0604030504040204" pitchFamily="34" charset="0"/>
                    <a:ea typeface="Verdana" panose="020B0604030504040204" pitchFamily="34" charset="0"/>
                    <a:cs typeface="Verdana" panose="020B0604030504040204" pitchFamily="34" charset="0"/>
                  </a:rPr>
                  <a:t> seconds to defrost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1.5</m:t>
                    </m:r>
                  </m:oMath>
                </a14:m>
                <a:r>
                  <a:rPr lang="en-US" sz="2000" dirty="0">
                    <a:latin typeface="Verdana" panose="020B0604030504040204" pitchFamily="34" charset="0"/>
                    <a:ea typeface="Verdana" panose="020B0604030504040204" pitchFamily="34" charset="0"/>
                    <a:cs typeface="Verdana" panose="020B0604030504040204" pitchFamily="34" charset="0"/>
                  </a:rPr>
                  <a:t> pounds of meat and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26</m:t>
                    </m:r>
                  </m:oMath>
                </a14:m>
                <a:r>
                  <a:rPr lang="en-US" sz="2000" dirty="0">
                    <a:latin typeface="Verdana" panose="020B0604030504040204" pitchFamily="34" charset="0"/>
                    <a:ea typeface="Verdana" panose="020B0604030504040204" pitchFamily="34" charset="0"/>
                    <a:cs typeface="Verdana" panose="020B0604030504040204" pitchFamily="34" charset="0"/>
                  </a:rPr>
                  <a:t> minutes to defrost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4</m:t>
                    </m:r>
                  </m:oMath>
                </a14:m>
                <a:r>
                  <a:rPr lang="en-US" sz="2000" dirty="0">
                    <a:latin typeface="Verdana" panose="020B0604030504040204" pitchFamily="34" charset="0"/>
                    <a:ea typeface="Verdana" panose="020B0604030504040204" pitchFamily="34" charset="0"/>
                    <a:cs typeface="Verdana" panose="020B0604030504040204" pitchFamily="34" charset="0"/>
                  </a:rPr>
                  <a:t> pounds of meat. </a:t>
                </a:r>
              </a:p>
              <a:p>
                <a:pPr lvl="6"/>
                <a:r>
                  <a:rPr lang="en-US" sz="2000" dirty="0">
                    <a:latin typeface="Verdana" panose="020B0604030504040204" pitchFamily="34" charset="0"/>
                    <a:ea typeface="Verdana" panose="020B0604030504040204" pitchFamily="34" charset="0"/>
                    <a:cs typeface="Verdana" panose="020B0604030504040204" pitchFamily="34" charset="0"/>
                  </a:rPr>
                  <a:t>	</a:t>
                </a:r>
              </a:p>
              <a:p>
                <a:pPr marL="806450" lvl="6" indent="-344488"/>
                <a:r>
                  <a:rPr lang="en-US" sz="2000" dirty="0">
                    <a:latin typeface="Verdana" panose="020B0604030504040204" pitchFamily="34" charset="0"/>
                    <a:ea typeface="Verdana" panose="020B0604030504040204" pitchFamily="34" charset="0"/>
                    <a:cs typeface="Verdana" panose="020B0604030504040204" pitchFamily="34" charset="0"/>
                  </a:rPr>
                  <a:t>a. Without performing any calculations, estimate a range of minutes you think it will take to defrost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3.5</m:t>
                    </m:r>
                  </m:oMath>
                </a14:m>
                <a:r>
                  <a:rPr lang="en-US" sz="2000" dirty="0">
                    <a:latin typeface="Verdana" panose="020B0604030504040204" pitchFamily="34" charset="0"/>
                    <a:ea typeface="Verdana" panose="020B0604030504040204" pitchFamily="34" charset="0"/>
                    <a:cs typeface="Verdana" panose="020B0604030504040204" pitchFamily="34" charset="0"/>
                  </a:rPr>
                  <a:t> pounds of meat.</a:t>
                </a:r>
              </a:p>
              <a:p>
                <a:pPr marL="806450" lvl="6" indent="-344488"/>
                <a:endParaRPr lang="en-US" sz="2000" dirty="0">
                  <a:latin typeface="Verdana" panose="020B0604030504040204" pitchFamily="34" charset="0"/>
                  <a:ea typeface="Verdana" panose="020B0604030504040204" pitchFamily="34" charset="0"/>
                  <a:cs typeface="Verdana" panose="020B0604030504040204" pitchFamily="34" charset="0"/>
                </a:endParaRPr>
              </a:p>
              <a:p>
                <a:pPr marL="806450" lvl="6" indent="-344488"/>
                <a:r>
                  <a:rPr lang="en-US" sz="2000" dirty="0">
                    <a:latin typeface="Verdana" panose="020B0604030504040204" pitchFamily="34" charset="0"/>
                    <a:ea typeface="Verdana" panose="020B0604030504040204" pitchFamily="34" charset="0"/>
                    <a:cs typeface="Verdana" panose="020B0604030504040204" pitchFamily="34" charset="0"/>
                  </a:rPr>
                  <a:t>	</a:t>
                </a:r>
              </a:p>
              <a:p>
                <a:pPr marL="806450" lvl="6" indent="-344488"/>
                <a:r>
                  <a:rPr lang="en-US" sz="2000" dirty="0">
                    <a:latin typeface="Verdana" panose="020B0604030504040204" pitchFamily="34" charset="0"/>
                    <a:ea typeface="Verdana" panose="020B0604030504040204" pitchFamily="34" charset="0"/>
                    <a:cs typeface="Verdana" panose="020B0604030504040204" pitchFamily="34" charset="0"/>
                  </a:rPr>
                  <a:t>b. Explain how the given information could be used to find the exact amount of time it takes to defrost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3.5</m:t>
                    </m:r>
                  </m:oMath>
                </a14:m>
                <a:r>
                  <a:rPr lang="en-US" sz="2000" dirty="0">
                    <a:latin typeface="Verdana" panose="020B0604030504040204" pitchFamily="34" charset="0"/>
                    <a:ea typeface="Verdana" panose="020B0604030504040204" pitchFamily="34" charset="0"/>
                    <a:cs typeface="Verdana" panose="020B0604030504040204" pitchFamily="34" charset="0"/>
                  </a:rPr>
                  <a:t> pounds of meat.</a:t>
                </a:r>
              </a:p>
              <a:p>
                <a:pPr marL="806450" lvl="6" indent="-344488"/>
                <a:endParaRPr lang="en-US" sz="2000" dirty="0">
                  <a:latin typeface="Verdana" panose="020B0604030504040204" pitchFamily="34" charset="0"/>
                  <a:ea typeface="Verdana" panose="020B0604030504040204" pitchFamily="34" charset="0"/>
                  <a:cs typeface="Verdana" panose="020B0604030504040204" pitchFamily="34" charset="0"/>
                </a:endParaRPr>
              </a:p>
              <a:p>
                <a:pPr marL="806450" lvl="6" indent="-344488"/>
                <a:endParaRPr lang="en-US" sz="2000" dirty="0">
                  <a:latin typeface="Verdana" panose="020B0604030504040204" pitchFamily="34" charset="0"/>
                  <a:ea typeface="Verdana" panose="020B0604030504040204" pitchFamily="34" charset="0"/>
                  <a:cs typeface="Verdana" panose="020B0604030504040204" pitchFamily="34" charset="0"/>
                </a:endParaRPr>
              </a:p>
              <a:p>
                <a:pPr marL="806450" lvl="6" indent="-344488"/>
                <a:r>
                  <a:rPr lang="en-US" sz="2000" dirty="0">
                    <a:latin typeface="Verdana" panose="020B0604030504040204" pitchFamily="34" charset="0"/>
                    <a:ea typeface="Verdana" panose="020B0604030504040204" pitchFamily="34" charset="0"/>
                    <a:cs typeface="Verdana" panose="020B0604030504040204" pitchFamily="34" charset="0"/>
                  </a:rPr>
                  <a:t>c. Determine how long it would take for the microwave to defrost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3.5</m:t>
                    </m:r>
                  </m:oMath>
                </a14:m>
                <a:r>
                  <a:rPr lang="en-US" sz="2000" dirty="0">
                    <a:latin typeface="Verdana" panose="020B0604030504040204" pitchFamily="34" charset="0"/>
                    <a:ea typeface="Verdana" panose="020B0604030504040204" pitchFamily="34" charset="0"/>
                    <a:cs typeface="Verdana" panose="020B0604030504040204" pitchFamily="34" charset="0"/>
                  </a:rPr>
                  <a:t> pounds of meat. Show your work. </a:t>
                </a:r>
              </a:p>
              <a:p>
                <a:pPr lvl="6"/>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TextBox 1">
                <a:extLst>
                  <a:ext uri="{FF2B5EF4-FFF2-40B4-BE49-F238E27FC236}">
                    <a16:creationId xmlns:a16="http://schemas.microsoft.com/office/drawing/2014/main" xmlns:a14="http://schemas.microsoft.com/office/drawing/2010/main" xmlns="" id="{F6CA0D63-633D-B54F-8C6B-7CB7982C604E}"/>
                  </a:ext>
                </a:extLst>
              </p:cNvPr>
              <p:cNvSpPr txBox="1">
                <a:spLocks noRot="1" noChangeAspect="1" noMove="1" noResize="1" noEditPoints="1" noAdjustHandles="1" noChangeArrowheads="1" noChangeShapeType="1" noTextEdit="1"/>
              </p:cNvSpPr>
              <p:nvPr/>
            </p:nvSpPr>
            <p:spPr>
              <a:xfrm>
                <a:off x="1577009" y="1192852"/>
                <a:ext cx="9465482" cy="4708981"/>
              </a:xfrm>
              <a:prstGeom prst="rect">
                <a:avLst/>
              </a:prstGeom>
              <a:blipFill rotWithShape="0">
                <a:blip r:embed="rId4"/>
                <a:stretch>
                  <a:fillRect l="-709" t="-907" r="-838"/>
                </a:stretch>
              </a:blipFill>
            </p:spPr>
            <p:txBody>
              <a:bodyPr/>
              <a:lstStyle/>
              <a:p>
                <a:r>
                  <a:rPr lang="en-US">
                    <a:noFill/>
                  </a:rPr>
                  <a:t> </a:t>
                </a:r>
              </a:p>
            </p:txBody>
          </p:sp>
        </mc:Fallback>
      </mc:AlternateContent>
      <p:sp>
        <p:nvSpPr>
          <p:cNvPr id="8" name="Google Shape;125;g104476d1465_1_17"/>
          <p:cNvSpPr txBox="1"/>
          <p:nvPr/>
        </p:nvSpPr>
        <p:spPr>
          <a:xfrm>
            <a:off x="870622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129</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445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5"/>
          <p:cNvSpPr/>
          <p:nvPr/>
        </p:nvSpPr>
        <p:spPr>
          <a:xfrm>
            <a:off x="0" y="-13252"/>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78" name="Google Shape;178;p5"/>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Practice</a:t>
            </a:r>
            <a:endParaRPr sz="5100" b="1">
              <a:solidFill>
                <a:srgbClr val="54B5D1"/>
              </a:solidFill>
              <a:latin typeface="Verdana"/>
              <a:ea typeface="Verdana"/>
              <a:cs typeface="Verdana"/>
              <a:sym typeface="Verdana"/>
            </a:endParaRPr>
          </a:p>
        </p:txBody>
      </p:sp>
      <p:pic>
        <p:nvPicPr>
          <p:cNvPr id="180" name="Google Shape;180;p5" descr="Icon&#10;&#10;Description automatically generated"/>
          <p:cNvPicPr preferRelativeResize="0"/>
          <p:nvPr/>
        </p:nvPicPr>
        <p:blipFill rotWithShape="1">
          <a:blip r:embed="rId3">
            <a:alphaModFix/>
          </a:blip>
          <a:srcRect/>
          <a:stretch/>
        </p:blipFill>
        <p:spPr>
          <a:xfrm>
            <a:off x="4512723"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0622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129</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445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6"/>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88" name="Google Shape;188;p6"/>
          <p:cNvSpPr txBox="1"/>
          <p:nvPr/>
        </p:nvSpPr>
        <p:spPr>
          <a:xfrm>
            <a:off x="1449273" y="0"/>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54B5D1"/>
                </a:solidFill>
                <a:latin typeface="Verdana"/>
                <a:ea typeface="Verdana"/>
                <a:cs typeface="Verdana"/>
                <a:sym typeface="Verdana"/>
              </a:rPr>
              <a:t>10.5.2 Guided Practice: Comparing Line Plots</a:t>
            </a:r>
            <a:endParaRPr dirty="0"/>
          </a:p>
        </p:txBody>
      </p:sp>
      <p:pic>
        <p:nvPicPr>
          <p:cNvPr id="190" name="Google Shape;190;p6"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99465" y="219539"/>
            <a:ext cx="749808" cy="749808"/>
          </a:xfrm>
          <a:prstGeom prst="rect">
            <a:avLst/>
          </a:prstGeom>
          <a:noFill/>
          <a:ln>
            <a:noFill/>
          </a:ln>
          <a:effectLst>
            <a:outerShdw blurRad="50800" dist="38100" dir="2700000" algn="tl" rotWithShape="0">
              <a:srgbClr val="000000">
                <a:alpha val="40000"/>
              </a:srgbClr>
            </a:outerShdw>
          </a:effectLst>
        </p:spPr>
      </p:pic>
      <p:sp>
        <p:nvSpPr>
          <p:cNvPr id="191" name="Google Shape;191;p6"/>
          <p:cNvSpPr txBox="1"/>
          <p:nvPr/>
        </p:nvSpPr>
        <p:spPr>
          <a:xfrm>
            <a:off x="1577009" y="1386025"/>
            <a:ext cx="9294014" cy="3477835"/>
          </a:xfrm>
          <a:prstGeom prst="rect">
            <a:avLst/>
          </a:prstGeom>
          <a:noFill/>
          <a:ln>
            <a:noFill/>
          </a:ln>
        </p:spPr>
        <p:txBody>
          <a:bodyPr spcFirstLastPara="1" wrap="square" lIns="91425" tIns="45700" rIns="91425" bIns="45700" anchor="t" anchorCtr="0">
            <a:spAutoFit/>
          </a:bodyPr>
          <a:lstStyle/>
          <a:p>
            <a:pPr marL="457200" lvl="1" indent="-457200">
              <a:buSzPts val="2000"/>
              <a:buFont typeface="Arial"/>
              <a:buAutoNum type="arabicPeriod"/>
            </a:pPr>
            <a:r>
              <a:rPr lang="en-US" sz="2000" dirty="0">
                <a:latin typeface="Verdana"/>
                <a:ea typeface="Verdana"/>
                <a:cs typeface="Verdana"/>
                <a:sym typeface="Verdana"/>
              </a:rPr>
              <a:t>Clare recorded the amount of time a sample of students in the sixth, eighth, and tenth grades spent doing homework, in hours per week. She made a line plot of the data for each grade and provided the following summary:</a:t>
            </a:r>
            <a:endParaRPr dirty="0"/>
          </a:p>
          <a:p>
            <a:pPr marL="457200" lvl="1" indent="-330200">
              <a:buSzPts val="2000"/>
            </a:pPr>
            <a:endParaRPr sz="2000" dirty="0">
              <a:latin typeface="Verdana"/>
              <a:ea typeface="Verdana"/>
              <a:cs typeface="Verdana"/>
              <a:sym typeface="Verdana"/>
            </a:endParaRPr>
          </a:p>
          <a:p>
            <a:pPr marL="927100" lvl="1" indent="-457200">
              <a:buSzPts val="2000"/>
              <a:buFont typeface="Arial"/>
              <a:buChar char="•"/>
            </a:pPr>
            <a:r>
              <a:rPr lang="en-US" sz="2000" dirty="0">
                <a:latin typeface="Verdana"/>
                <a:ea typeface="Verdana"/>
                <a:cs typeface="Verdana"/>
                <a:sym typeface="Verdana"/>
              </a:rPr>
              <a:t>Students in sixth grade tend to spend less time on homework than students in eighth and tenth grades.</a:t>
            </a:r>
            <a:endParaRPr dirty="0"/>
          </a:p>
          <a:p>
            <a:pPr marL="927100" lvl="1" indent="-330200">
              <a:buSzPts val="2000"/>
            </a:pPr>
            <a:endParaRPr sz="2000" dirty="0">
              <a:latin typeface="Verdana"/>
              <a:ea typeface="Verdana"/>
              <a:cs typeface="Verdana"/>
              <a:sym typeface="Verdana"/>
            </a:endParaRPr>
          </a:p>
          <a:p>
            <a:pPr marL="927100" lvl="1" indent="-457200">
              <a:buSzPts val="2000"/>
              <a:buFont typeface="Arial"/>
              <a:buChar char="•"/>
            </a:pPr>
            <a:r>
              <a:rPr lang="en-US" sz="2000" dirty="0">
                <a:latin typeface="Verdana"/>
                <a:ea typeface="Verdana"/>
                <a:cs typeface="Verdana"/>
                <a:sym typeface="Verdana"/>
              </a:rPr>
              <a:t>The homework times for the tenth-grade students are more alike than the homework times for the eighth-grade students.</a:t>
            </a:r>
            <a:endParaRPr dirty="0"/>
          </a:p>
          <a:p>
            <a:r>
              <a:rPr lang="en-US" sz="2000" dirty="0">
                <a:latin typeface="Verdana"/>
                <a:ea typeface="Verdana"/>
                <a:cs typeface="Verdana"/>
                <a:sym typeface="Verdana"/>
              </a:rPr>
              <a:t> </a:t>
            </a:r>
            <a:endParaRPr dirty="0"/>
          </a:p>
        </p:txBody>
      </p:sp>
      <p:sp>
        <p:nvSpPr>
          <p:cNvPr id="8" name="Google Shape;125;g104476d1465_1_17"/>
          <p:cNvSpPr txBox="1"/>
          <p:nvPr/>
        </p:nvSpPr>
        <p:spPr>
          <a:xfrm>
            <a:off x="870622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129</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445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00" name="Google Shape;200;p7"/>
          <p:cNvSpPr txBox="1"/>
          <p:nvPr/>
        </p:nvSpPr>
        <p:spPr>
          <a:xfrm>
            <a:off x="1152939" y="520393"/>
            <a:ext cx="10036788" cy="707886"/>
          </a:xfrm>
          <a:prstGeom prst="rect">
            <a:avLst/>
          </a:prstGeom>
          <a:noFill/>
          <a:ln>
            <a:noFill/>
          </a:ln>
        </p:spPr>
        <p:txBody>
          <a:bodyPr spcFirstLastPara="1" wrap="square" lIns="91425" tIns="45700" rIns="91425" bIns="45700" anchor="t" anchorCtr="0">
            <a:spAutoFit/>
          </a:bodyPr>
          <a:lstStyle/>
          <a:p>
            <a:r>
              <a:rPr lang="en-US" sz="2000">
                <a:latin typeface="Verdana"/>
                <a:ea typeface="Verdana"/>
                <a:cs typeface="Verdana"/>
                <a:sym typeface="Verdana"/>
              </a:rPr>
              <a:t>Use Clare's summary to match each line plot to the correct grade (sixth, eighth, or tenth).</a:t>
            </a:r>
            <a:endParaRPr/>
          </a:p>
        </p:txBody>
      </p:sp>
      <p:graphicFrame>
        <p:nvGraphicFramePr>
          <p:cNvPr id="201" name="Google Shape;201;p7"/>
          <p:cNvGraphicFramePr/>
          <p:nvPr/>
        </p:nvGraphicFramePr>
        <p:xfrm>
          <a:off x="3321621" y="1314229"/>
          <a:ext cx="5946200" cy="5244350"/>
        </p:xfrm>
        <a:graphic>
          <a:graphicData uri="http://schemas.openxmlformats.org/drawingml/2006/table">
            <a:tbl>
              <a:tblPr firstRow="1" firstCol="1" bandRow="1">
                <a:noFill/>
                <a:tableStyleId>{6D659866-F274-4FFC-AE47-F5A041375570}</a:tableStyleId>
              </a:tblPr>
              <a:tblGrid>
                <a:gridCol w="997825">
                  <a:extLst>
                    <a:ext uri="{9D8B030D-6E8A-4147-A177-3AD203B41FA5}">
                      <a16:colId xmlns:a16="http://schemas.microsoft.com/office/drawing/2014/main" val="20000"/>
                    </a:ext>
                  </a:extLst>
                </a:gridCol>
                <a:gridCol w="4948375">
                  <a:extLst>
                    <a:ext uri="{9D8B030D-6E8A-4147-A177-3AD203B41FA5}">
                      <a16:colId xmlns:a16="http://schemas.microsoft.com/office/drawing/2014/main" val="20001"/>
                    </a:ext>
                  </a:extLst>
                </a:gridCol>
              </a:tblGrid>
              <a:tr h="67235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Grade Level</a:t>
                      </a:r>
                      <a:endParaRPr/>
                    </a:p>
                  </a:txBody>
                  <a:tcPr marL="51800" marR="5180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Line Plot</a:t>
                      </a:r>
                      <a:endParaRPr/>
                    </a:p>
                  </a:txBody>
                  <a:tcPr marL="51800" marR="5180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extLst>
                  <a:ext uri="{0D108BD9-81ED-4DB2-BD59-A6C34878D82A}">
                    <a16:rowId xmlns:a16="http://schemas.microsoft.com/office/drawing/2014/main" val="10000"/>
                  </a:ext>
                </a:extLst>
              </a:tr>
              <a:tr h="1913625">
                <a:tc>
                  <a:txBody>
                    <a:bodyPr/>
                    <a:lstStyle/>
                    <a:p>
                      <a:pPr marL="0" marR="0" lvl="0" indent="0" algn="l" rtl="0">
                        <a:lnSpc>
                          <a:spcPct val="100000"/>
                        </a:lnSpc>
                        <a:spcBef>
                          <a:spcPts val="0"/>
                        </a:spcBef>
                        <a:spcAft>
                          <a:spcPts val="0"/>
                        </a:spcAft>
                        <a:buNone/>
                      </a:pPr>
                      <a:r>
                        <a:rPr lang="en-US" sz="2000" u="none" strike="noStrike" cap="none"/>
                        <a:t> </a:t>
                      </a:r>
                      <a:endParaRPr/>
                    </a:p>
                    <a:p>
                      <a:pPr marL="0" marR="0" lvl="0" indent="0" algn="l" rtl="0">
                        <a:lnSpc>
                          <a:spcPct val="100000"/>
                        </a:lnSpc>
                        <a:spcBef>
                          <a:spcPts val="0"/>
                        </a:spcBef>
                        <a:spcAft>
                          <a:spcPts val="0"/>
                        </a:spcAft>
                        <a:buNone/>
                      </a:pPr>
                      <a:r>
                        <a:rPr lang="en-US" sz="2000" u="none" strike="noStrike" cap="none"/>
                        <a:t> </a:t>
                      </a:r>
                      <a:endParaRPr/>
                    </a:p>
                    <a:p>
                      <a:pPr marL="0" marR="0" lvl="0" indent="0" algn="l" rtl="0">
                        <a:lnSpc>
                          <a:spcPct val="100000"/>
                        </a:lnSpc>
                        <a:spcBef>
                          <a:spcPts val="0"/>
                        </a:spcBef>
                        <a:spcAft>
                          <a:spcPts val="0"/>
                        </a:spcAft>
                        <a:buNone/>
                      </a:pPr>
                      <a:r>
                        <a:rPr lang="en-US" sz="2000" u="none" strike="noStrike" cap="none"/>
                        <a:t> _____</a:t>
                      </a:r>
                      <a:endParaRPr/>
                    </a:p>
                    <a:p>
                      <a:pPr marL="0" marR="0" lvl="0" indent="0" algn="ctr" rtl="0">
                        <a:lnSpc>
                          <a:spcPct val="100000"/>
                        </a:lnSpc>
                        <a:spcBef>
                          <a:spcPts val="0"/>
                        </a:spcBef>
                        <a:spcAft>
                          <a:spcPts val="0"/>
                        </a:spcAft>
                        <a:buNone/>
                      </a:pPr>
                      <a:endParaRPr sz="2000" u="none" strike="noStrike" cap="none">
                        <a:latin typeface="Cambria"/>
                        <a:ea typeface="Cambria"/>
                        <a:cs typeface="Cambria"/>
                        <a:sym typeface="Cambria"/>
                      </a:endParaRPr>
                    </a:p>
                    <a:p>
                      <a:pPr marL="0" marR="0" lvl="0" indent="0" algn="ctr" rtl="0">
                        <a:lnSpc>
                          <a:spcPct val="100000"/>
                        </a:lnSpc>
                        <a:spcBef>
                          <a:spcPts val="0"/>
                        </a:spcBef>
                        <a:spcAft>
                          <a:spcPts val="0"/>
                        </a:spcAft>
                        <a:buNone/>
                      </a:pPr>
                      <a:endParaRPr sz="2000" u="none" strike="noStrike" cap="none">
                        <a:latin typeface="Cambria"/>
                        <a:ea typeface="Cambria"/>
                        <a:cs typeface="Cambria"/>
                        <a:sym typeface="Cambria"/>
                      </a:endParaRPr>
                    </a:p>
                    <a:p>
                      <a:pPr marL="0" marR="0" lvl="0" indent="0" algn="ctr" rtl="0">
                        <a:lnSpc>
                          <a:spcPct val="100000"/>
                        </a:lnSpc>
                        <a:spcBef>
                          <a:spcPts val="0"/>
                        </a:spcBef>
                        <a:spcAft>
                          <a:spcPts val="0"/>
                        </a:spcAft>
                        <a:buNone/>
                      </a:pPr>
                      <a:endParaRPr sz="2000" u="none" strike="noStrike" cap="none">
                        <a:latin typeface="Cambria"/>
                        <a:ea typeface="Cambria"/>
                        <a:cs typeface="Cambria"/>
                        <a:sym typeface="Cambria"/>
                      </a:endParaRPr>
                    </a:p>
                    <a:p>
                      <a:pPr marL="0" marR="0" lvl="0" indent="0" algn="ctr" rtl="0">
                        <a:lnSpc>
                          <a:spcPct val="100000"/>
                        </a:lnSpc>
                        <a:spcBef>
                          <a:spcPts val="0"/>
                        </a:spcBef>
                        <a:spcAft>
                          <a:spcPts val="0"/>
                        </a:spcAft>
                        <a:buNone/>
                      </a:pPr>
                      <a:r>
                        <a:rPr lang="en-US" sz="2000" u="none" strike="noStrike" cap="none">
                          <a:latin typeface="Cambria"/>
                          <a:ea typeface="Cambria"/>
                          <a:cs typeface="Cambria"/>
                          <a:sym typeface="Cambria"/>
                        </a:rPr>
                        <a:t>________</a:t>
                      </a:r>
                      <a:endParaRPr/>
                    </a:p>
                    <a:p>
                      <a:pPr marL="0" marR="0" lvl="0" indent="0" algn="ctr" rtl="0">
                        <a:lnSpc>
                          <a:spcPct val="100000"/>
                        </a:lnSpc>
                        <a:spcBef>
                          <a:spcPts val="0"/>
                        </a:spcBef>
                        <a:spcAft>
                          <a:spcPts val="0"/>
                        </a:spcAft>
                        <a:buNone/>
                      </a:pPr>
                      <a:endParaRPr sz="2000" u="none" strike="noStrike" cap="none">
                        <a:latin typeface="Cambria"/>
                        <a:ea typeface="Cambria"/>
                        <a:cs typeface="Cambria"/>
                        <a:sym typeface="Cambria"/>
                      </a:endParaRPr>
                    </a:p>
                    <a:p>
                      <a:pPr marL="0" marR="0" lvl="0" indent="0" algn="ctr" rtl="0">
                        <a:lnSpc>
                          <a:spcPct val="100000"/>
                        </a:lnSpc>
                        <a:spcBef>
                          <a:spcPts val="0"/>
                        </a:spcBef>
                        <a:spcAft>
                          <a:spcPts val="0"/>
                        </a:spcAft>
                        <a:buNone/>
                      </a:pPr>
                      <a:endParaRPr sz="2000" u="none" strike="noStrike" cap="none">
                        <a:latin typeface="Cambria"/>
                        <a:ea typeface="Cambria"/>
                        <a:cs typeface="Cambria"/>
                        <a:sym typeface="Cambria"/>
                      </a:endParaRPr>
                    </a:p>
                    <a:p>
                      <a:pPr marL="0" marR="0" lvl="0" indent="0" algn="ctr" rtl="0">
                        <a:lnSpc>
                          <a:spcPct val="100000"/>
                        </a:lnSpc>
                        <a:spcBef>
                          <a:spcPts val="0"/>
                        </a:spcBef>
                        <a:spcAft>
                          <a:spcPts val="0"/>
                        </a:spcAft>
                        <a:buNone/>
                      </a:pPr>
                      <a:endParaRPr sz="2000" u="none" strike="noStrike" cap="none">
                        <a:latin typeface="Cambria"/>
                        <a:ea typeface="Cambria"/>
                        <a:cs typeface="Cambria"/>
                        <a:sym typeface="Cambria"/>
                      </a:endParaRPr>
                    </a:p>
                    <a:p>
                      <a:pPr marL="0" marR="0" lvl="0" indent="0" algn="ctr" rtl="0">
                        <a:lnSpc>
                          <a:spcPct val="100000"/>
                        </a:lnSpc>
                        <a:spcBef>
                          <a:spcPts val="0"/>
                        </a:spcBef>
                        <a:spcAft>
                          <a:spcPts val="0"/>
                        </a:spcAft>
                        <a:buNone/>
                      </a:pPr>
                      <a:endParaRPr sz="2000" u="none" strike="noStrike" cap="none">
                        <a:latin typeface="Cambria"/>
                        <a:ea typeface="Cambria"/>
                        <a:cs typeface="Cambria"/>
                        <a:sym typeface="Cambria"/>
                      </a:endParaRPr>
                    </a:p>
                    <a:p>
                      <a:pPr marL="0" marR="0" lvl="0" indent="0" algn="ctr" rtl="0">
                        <a:lnSpc>
                          <a:spcPct val="100000"/>
                        </a:lnSpc>
                        <a:spcBef>
                          <a:spcPts val="0"/>
                        </a:spcBef>
                        <a:spcAft>
                          <a:spcPts val="0"/>
                        </a:spcAft>
                        <a:buNone/>
                      </a:pPr>
                      <a:endParaRPr sz="2000" u="none" strike="noStrike" cap="none">
                        <a:latin typeface="Cambria"/>
                        <a:ea typeface="Cambria"/>
                        <a:cs typeface="Cambria"/>
                        <a:sym typeface="Cambria"/>
                      </a:endParaRPr>
                    </a:p>
                    <a:p>
                      <a:pPr marL="0" marR="0" lvl="0" indent="0" algn="ctr" rtl="0">
                        <a:lnSpc>
                          <a:spcPct val="100000"/>
                        </a:lnSpc>
                        <a:spcBef>
                          <a:spcPts val="0"/>
                        </a:spcBef>
                        <a:spcAft>
                          <a:spcPts val="0"/>
                        </a:spcAft>
                        <a:buNone/>
                      </a:pPr>
                      <a:r>
                        <a:rPr lang="en-US" sz="2000" u="none" strike="noStrike" cap="none">
                          <a:latin typeface="Cambria"/>
                          <a:ea typeface="Cambria"/>
                          <a:cs typeface="Cambria"/>
                          <a:sym typeface="Cambria"/>
                        </a:rPr>
                        <a:t>________</a:t>
                      </a:r>
                      <a:endParaRPr/>
                    </a:p>
                    <a:p>
                      <a:pPr marL="0" marR="0" lvl="0" indent="0" algn="ctr" rtl="0">
                        <a:lnSpc>
                          <a:spcPct val="100000"/>
                        </a:lnSpc>
                        <a:spcBef>
                          <a:spcPts val="0"/>
                        </a:spcBef>
                        <a:spcAft>
                          <a:spcPts val="0"/>
                        </a:spcAft>
                        <a:buNone/>
                      </a:pPr>
                      <a:endParaRPr sz="2000" u="none" strike="noStrike" cap="none">
                        <a:latin typeface="Cambria"/>
                        <a:ea typeface="Cambria"/>
                        <a:cs typeface="Cambria"/>
                        <a:sym typeface="Cambria"/>
                      </a:endParaRPr>
                    </a:p>
                    <a:p>
                      <a:pPr marL="0" marR="0" lvl="0" indent="0" algn="ctr" rtl="0">
                        <a:lnSpc>
                          <a:spcPct val="100000"/>
                        </a:lnSpc>
                        <a:spcBef>
                          <a:spcPts val="0"/>
                        </a:spcBef>
                        <a:spcAft>
                          <a:spcPts val="0"/>
                        </a:spcAft>
                        <a:buNone/>
                      </a:pPr>
                      <a:endParaRPr sz="2000" u="none" strike="noStrike" cap="none">
                        <a:latin typeface="Cambria"/>
                        <a:ea typeface="Cambria"/>
                        <a:cs typeface="Cambria"/>
                        <a:sym typeface="Cambria"/>
                      </a:endParaRPr>
                    </a:p>
                  </a:txBody>
                  <a:tcPr marL="51800" marR="518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400" u="none" strike="noStrike" cap="none"/>
                        <a:t> </a:t>
                      </a:r>
                      <a:endParaRPr sz="900" u="none" strike="noStrike" cap="none"/>
                    </a:p>
                  </a:txBody>
                  <a:tcPr marL="51800" marR="518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202" name="Google Shape;202;p7"/>
          <p:cNvSpPr txBox="1"/>
          <p:nvPr/>
        </p:nvSpPr>
        <p:spPr>
          <a:xfrm>
            <a:off x="4723447" y="6200600"/>
            <a:ext cx="4364550" cy="400110"/>
          </a:xfrm>
          <a:prstGeom prst="rect">
            <a:avLst/>
          </a:prstGeom>
          <a:noFill/>
          <a:ln>
            <a:noFill/>
          </a:ln>
        </p:spPr>
        <p:txBody>
          <a:bodyPr spcFirstLastPara="1" wrap="square" lIns="91425" tIns="45700" rIns="91425" bIns="45700" anchor="t" anchorCtr="0">
            <a:spAutoFit/>
          </a:bodyPr>
          <a:lstStyle/>
          <a:p>
            <a:pPr algn="ctr"/>
            <a:r>
              <a:rPr lang="en-US" sz="2000" b="1" dirty="0">
                <a:latin typeface="Verdana"/>
                <a:ea typeface="Verdana"/>
                <a:cs typeface="Verdana"/>
                <a:sym typeface="Verdana"/>
              </a:rPr>
              <a:t>Time (in hours)</a:t>
            </a:r>
            <a:endParaRPr b="1" dirty="0"/>
          </a:p>
        </p:txBody>
      </p:sp>
      <p:pic>
        <p:nvPicPr>
          <p:cNvPr id="203" name="Google Shape;203;p7" descr="Chart, scatter chart&#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995260" y="2038113"/>
            <a:ext cx="3820927" cy="1074105"/>
          </a:xfrm>
          <a:prstGeom prst="rect">
            <a:avLst/>
          </a:prstGeom>
          <a:noFill/>
          <a:ln>
            <a:noFill/>
          </a:ln>
        </p:spPr>
      </p:pic>
      <p:pic>
        <p:nvPicPr>
          <p:cNvPr id="204" name="Google Shape;204;p7" descr="Chart, scatter chart&#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5019523" y="3048440"/>
            <a:ext cx="3831273" cy="1191420"/>
          </a:xfrm>
          <a:prstGeom prst="rect">
            <a:avLst/>
          </a:prstGeom>
          <a:noFill/>
          <a:ln>
            <a:noFill/>
          </a:ln>
        </p:spPr>
      </p:pic>
      <p:pic>
        <p:nvPicPr>
          <p:cNvPr id="205" name="Google Shape;205;p7" descr="Chart, scatter chart&#10;&#10;Description automatically generated"/>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5019524" y="4282836"/>
            <a:ext cx="3831273" cy="1917765"/>
          </a:xfrm>
          <a:prstGeom prst="rect">
            <a:avLst/>
          </a:prstGeom>
          <a:noFill/>
          <a:ln>
            <a:noFill/>
          </a:ln>
        </p:spPr>
      </p:pic>
      <p:sp>
        <p:nvSpPr>
          <p:cNvPr id="11" name="Google Shape;125;g104476d1465_1_17"/>
          <p:cNvSpPr txBox="1"/>
          <p:nvPr/>
        </p:nvSpPr>
        <p:spPr>
          <a:xfrm>
            <a:off x="870622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129</a:t>
            </a:r>
            <a:endParaRPr i="1" dirty="0">
              <a:latin typeface="Calibri"/>
              <a:ea typeface="Calibri"/>
              <a:cs typeface="Calibri"/>
              <a:sym typeface="Calibri"/>
            </a:endParaRPr>
          </a:p>
        </p:txBody>
      </p:sp>
      <p:pic>
        <p:nvPicPr>
          <p:cNvPr id="12"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4445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8"/>
          <p:cNvSpPr/>
          <p:nvPr/>
        </p:nvSpPr>
        <p:spPr>
          <a:xfrm>
            <a:off x="0" y="0"/>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13" name="Google Shape;213;p8"/>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3BEA6"/>
                </a:solidFill>
                <a:latin typeface="Verdana"/>
                <a:ea typeface="Verdana"/>
                <a:cs typeface="Verdana"/>
                <a:sym typeface="Verdana"/>
              </a:rPr>
              <a:t>Activity</a:t>
            </a:r>
            <a:endParaRPr sz="5100" b="1">
              <a:solidFill>
                <a:srgbClr val="33BEA6"/>
              </a:solidFill>
              <a:latin typeface="Verdana"/>
              <a:ea typeface="Verdana"/>
              <a:cs typeface="Verdana"/>
              <a:sym typeface="Verdana"/>
            </a:endParaRPr>
          </a:p>
        </p:txBody>
      </p:sp>
      <p:pic>
        <p:nvPicPr>
          <p:cNvPr id="215" name="Google Shape;215;p8" descr="Icon&#10;&#10;Description automatically generated"/>
          <p:cNvPicPr preferRelativeResize="0"/>
          <p:nvPr/>
        </p:nvPicPr>
        <p:blipFill rotWithShape="1">
          <a:blip r:embed="rId3">
            <a:alphaModFix/>
          </a:blip>
          <a:srcRect/>
          <a:stretch/>
        </p:blipFill>
        <p:spPr>
          <a:xfrm>
            <a:off x="5208903"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0622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130</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445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9"/>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23" name="Google Shape;223;p9"/>
          <p:cNvSpPr txBox="1"/>
          <p:nvPr/>
        </p:nvSpPr>
        <p:spPr>
          <a:xfrm>
            <a:off x="1449273" y="-65996"/>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00" b="1" dirty="0">
                <a:solidFill>
                  <a:srgbClr val="33BEA6"/>
                </a:solidFill>
                <a:latin typeface="Verdana"/>
                <a:ea typeface="Verdana"/>
                <a:cs typeface="Verdana"/>
                <a:sym typeface="Verdana"/>
              </a:rPr>
              <a:t>10.5.3 Activity: Station 1 – Histograms and Line Plots</a:t>
            </a:r>
            <a:endParaRPr dirty="0"/>
          </a:p>
        </p:txBody>
      </p:sp>
      <p:pic>
        <p:nvPicPr>
          <p:cNvPr id="225" name="Google Shape;225;p9"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99465" y="206259"/>
            <a:ext cx="749808" cy="749808"/>
          </a:xfrm>
          <a:prstGeom prst="rect">
            <a:avLst/>
          </a:prstGeom>
          <a:noFill/>
          <a:ln>
            <a:noFill/>
          </a:ln>
          <a:effectLst>
            <a:outerShdw blurRad="50800" dist="38100" dir="2700000" algn="tl" rotWithShape="0">
              <a:srgbClr val="000000">
                <a:alpha val="40000"/>
              </a:srgbClr>
            </a:outerShdw>
          </a:effectLst>
        </p:spPr>
      </p:pic>
      <p:sp>
        <p:nvSpPr>
          <p:cNvPr id="226" name="Google Shape;226;p9"/>
          <p:cNvSpPr txBox="1"/>
          <p:nvPr/>
        </p:nvSpPr>
        <p:spPr>
          <a:xfrm>
            <a:off x="2049859" y="1210670"/>
            <a:ext cx="8478702" cy="1015663"/>
          </a:xfrm>
          <a:prstGeom prst="rect">
            <a:avLst/>
          </a:prstGeom>
          <a:blipFill rotWithShape="1">
            <a:blip r:embed="rId4" cstate="screen">
              <a:alphaModFix/>
              <a:extLst>
                <a:ext uri="{28A0092B-C50C-407E-A947-70E740481C1C}">
                  <a14:useLocalDpi xmlns:a14="http://schemas.microsoft.com/office/drawing/2010/main"/>
                </a:ext>
              </a:extLst>
            </a:blip>
            <a:stretch>
              <a:fillRect l="-748" t="-3703" b="-9874"/>
            </a:stretch>
          </a:blipFill>
          <a:ln>
            <a:noFill/>
          </a:ln>
        </p:spPr>
        <p:txBody>
          <a:bodyPr spcFirstLastPara="1" wrap="square" lIns="91425" tIns="45700" rIns="91425" bIns="45700" anchor="t" anchorCtr="0">
            <a:noAutofit/>
          </a:bodyPr>
          <a:lstStyle/>
          <a:p>
            <a:r>
              <a:rPr lang="en-US"/>
              <a:t> </a:t>
            </a:r>
            <a:endParaRPr/>
          </a:p>
        </p:txBody>
      </p:sp>
      <p:pic>
        <p:nvPicPr>
          <p:cNvPr id="227" name="Google Shape;227;p9" descr="Chart, histogram&#10;&#10;Description automatically generated"/>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933431" y="2937201"/>
            <a:ext cx="4178189" cy="2287942"/>
          </a:xfrm>
          <a:prstGeom prst="rect">
            <a:avLst/>
          </a:prstGeom>
          <a:noFill/>
          <a:ln>
            <a:noFill/>
          </a:ln>
        </p:spPr>
      </p:pic>
      <p:pic>
        <p:nvPicPr>
          <p:cNvPr id="228" name="Google Shape;228;p9" descr="Chart, histogram&#10;&#10;Description automatically generated"/>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6354649" y="2909456"/>
            <a:ext cx="4254816" cy="2207910"/>
          </a:xfrm>
          <a:prstGeom prst="rect">
            <a:avLst/>
          </a:prstGeom>
          <a:noFill/>
          <a:ln>
            <a:noFill/>
          </a:ln>
        </p:spPr>
      </p:pic>
      <p:sp>
        <p:nvSpPr>
          <p:cNvPr id="229" name="Google Shape;229;p9"/>
          <p:cNvSpPr txBox="1"/>
          <p:nvPr/>
        </p:nvSpPr>
        <p:spPr>
          <a:xfrm>
            <a:off x="1933430" y="2537091"/>
            <a:ext cx="4427444" cy="400110"/>
          </a:xfrm>
          <a:prstGeom prst="rect">
            <a:avLst/>
          </a:prstGeom>
          <a:noFill/>
          <a:ln>
            <a:noFill/>
          </a:ln>
        </p:spPr>
        <p:txBody>
          <a:bodyPr spcFirstLastPara="1" wrap="square" lIns="91425" tIns="45700" rIns="91425" bIns="45700" anchor="t" anchorCtr="0">
            <a:spAutoFit/>
          </a:bodyPr>
          <a:lstStyle/>
          <a:p>
            <a:r>
              <a:rPr lang="en-US" sz="2000" b="1">
                <a:latin typeface="Verdana"/>
                <a:ea typeface="Verdana"/>
                <a:cs typeface="Verdana"/>
                <a:sym typeface="Verdana"/>
              </a:rPr>
              <a:t>Heights of Basketball Players</a:t>
            </a:r>
            <a:endParaRPr sz="2000">
              <a:latin typeface="Cambria"/>
              <a:ea typeface="Cambria"/>
              <a:cs typeface="Cambria"/>
              <a:sym typeface="Cambria"/>
            </a:endParaRPr>
          </a:p>
        </p:txBody>
      </p:sp>
      <p:sp>
        <p:nvSpPr>
          <p:cNvPr id="230" name="Google Shape;230;p9"/>
          <p:cNvSpPr txBox="1"/>
          <p:nvPr/>
        </p:nvSpPr>
        <p:spPr>
          <a:xfrm>
            <a:off x="6529500" y="2537091"/>
            <a:ext cx="4637314" cy="400110"/>
          </a:xfrm>
          <a:prstGeom prst="rect">
            <a:avLst/>
          </a:prstGeom>
          <a:noFill/>
          <a:ln>
            <a:noFill/>
          </a:ln>
        </p:spPr>
        <p:txBody>
          <a:bodyPr spcFirstLastPara="1" wrap="square" lIns="91425" tIns="45700" rIns="91425" bIns="45700" anchor="t" anchorCtr="0">
            <a:spAutoFit/>
          </a:bodyPr>
          <a:lstStyle/>
          <a:p>
            <a:r>
              <a:rPr lang="en-US" sz="2000" b="1">
                <a:latin typeface="Verdana"/>
                <a:ea typeface="Verdana"/>
                <a:cs typeface="Verdana"/>
                <a:sym typeface="Verdana"/>
              </a:rPr>
              <a:t>Heights of Baseball Players</a:t>
            </a:r>
            <a:endParaRPr sz="2000">
              <a:latin typeface="Cambria"/>
              <a:ea typeface="Cambria"/>
              <a:cs typeface="Cambria"/>
              <a:sym typeface="Cambria"/>
            </a:endParaRPr>
          </a:p>
        </p:txBody>
      </p:sp>
      <p:sp>
        <p:nvSpPr>
          <p:cNvPr id="231" name="Google Shape;231;p9"/>
          <p:cNvSpPr txBox="1"/>
          <p:nvPr/>
        </p:nvSpPr>
        <p:spPr>
          <a:xfrm>
            <a:off x="2144946" y="5187355"/>
            <a:ext cx="4884056" cy="400110"/>
          </a:xfrm>
          <a:prstGeom prst="rect">
            <a:avLst/>
          </a:prstGeom>
          <a:noFill/>
          <a:ln>
            <a:noFill/>
          </a:ln>
        </p:spPr>
        <p:txBody>
          <a:bodyPr spcFirstLastPara="1" wrap="square" lIns="91425" tIns="45700" rIns="91425" bIns="45700" anchor="t" anchorCtr="0">
            <a:spAutoFit/>
          </a:bodyPr>
          <a:lstStyle/>
          <a:p>
            <a:pPr marL="2743200" indent="457200" algn="ctr"/>
            <a:r>
              <a:rPr lang="en-US" sz="2000">
                <a:latin typeface="Verdana"/>
                <a:ea typeface="Verdana"/>
                <a:cs typeface="Verdana"/>
                <a:sym typeface="Verdana"/>
              </a:rPr>
              <a:t>Height (in.)</a:t>
            </a:r>
            <a:endParaRPr sz="2000">
              <a:latin typeface="Cambria"/>
              <a:ea typeface="Cambria"/>
              <a:cs typeface="Cambria"/>
              <a:sym typeface="Cambria"/>
            </a:endParaRPr>
          </a:p>
        </p:txBody>
      </p:sp>
      <p:sp>
        <p:nvSpPr>
          <p:cNvPr id="13" name="Google Shape;125;g104476d1465_1_17"/>
          <p:cNvSpPr txBox="1"/>
          <p:nvPr/>
        </p:nvSpPr>
        <p:spPr>
          <a:xfrm>
            <a:off x="870622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130</a:t>
            </a:r>
            <a:endParaRPr i="1" dirty="0">
              <a:latin typeface="Calibri"/>
              <a:ea typeface="Calibri"/>
              <a:cs typeface="Calibri"/>
              <a:sym typeface="Calibri"/>
            </a:endParaRPr>
          </a:p>
        </p:txBody>
      </p:sp>
      <p:pic>
        <p:nvPicPr>
          <p:cNvPr id="14" name="Google Shape;126;g104476d1465_1_17"/>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144445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0"/>
          <p:cNvSpPr/>
          <p:nvPr/>
        </p:nvSpPr>
        <p:spPr>
          <a:xfrm>
            <a:off x="-1248"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40" name="Google Shape;240;p10"/>
          <p:cNvSpPr txBox="1"/>
          <p:nvPr/>
        </p:nvSpPr>
        <p:spPr>
          <a:xfrm>
            <a:off x="2007765" y="520394"/>
            <a:ext cx="8327136" cy="1015663"/>
          </a:xfrm>
          <a:prstGeom prst="rect">
            <a:avLst/>
          </a:prstGeom>
          <a:noFill/>
          <a:ln>
            <a:noFill/>
          </a:ln>
        </p:spPr>
        <p:txBody>
          <a:bodyPr spcFirstLastPara="1" wrap="square" lIns="91425" tIns="45700" rIns="91425" bIns="45700" anchor="t" anchorCtr="0">
            <a:spAutoFit/>
          </a:bodyPr>
          <a:lstStyle/>
          <a:p>
            <a:pPr marL="922338" lvl="1" indent="-461963">
              <a:buSzPts val="2000"/>
              <a:buFont typeface="Arial"/>
              <a:buAutoNum type="alphaLcPeriod"/>
            </a:pPr>
            <a:r>
              <a:rPr lang="en-US" sz="2000">
                <a:latin typeface="Verdana"/>
                <a:ea typeface="Verdana"/>
                <a:cs typeface="Verdana"/>
                <a:sym typeface="Verdana"/>
              </a:rPr>
              <a:t>Complete the statements that draw a conclusion about the typical height of professional basketball players and baseball players.</a:t>
            </a:r>
            <a:endParaRPr/>
          </a:p>
        </p:txBody>
      </p:sp>
      <p:sp>
        <p:nvSpPr>
          <p:cNvPr id="241" name="Google Shape;241;p10"/>
          <p:cNvSpPr txBox="1"/>
          <p:nvPr/>
        </p:nvSpPr>
        <p:spPr>
          <a:xfrm>
            <a:off x="2007765" y="1831855"/>
            <a:ext cx="8224806" cy="1015663"/>
          </a:xfrm>
          <a:prstGeom prst="rect">
            <a:avLst/>
          </a:prstGeom>
          <a:noFill/>
          <a:ln>
            <a:noFill/>
          </a:ln>
        </p:spPr>
        <p:txBody>
          <a:bodyPr spcFirstLastPara="1" wrap="square" lIns="91425" tIns="45700" rIns="91425" bIns="45700" anchor="t" anchorCtr="0">
            <a:spAutoFit/>
          </a:bodyPr>
          <a:lstStyle/>
          <a:p>
            <a:pPr marL="914400"/>
            <a:r>
              <a:rPr lang="en-US" sz="2000">
                <a:latin typeface="Verdana"/>
                <a:ea typeface="Verdana"/>
                <a:cs typeface="Verdana"/>
                <a:sym typeface="Verdana"/>
              </a:rPr>
              <a:t>The sample data in the histograms shows the </a:t>
            </a:r>
            <a:endParaRPr sz="2000">
              <a:latin typeface="Verdana"/>
              <a:ea typeface="Verdana"/>
              <a:cs typeface="Verdana"/>
              <a:sym typeface="Verdana"/>
            </a:endParaRPr>
          </a:p>
          <a:p>
            <a:pPr marL="914400"/>
            <a:r>
              <a:rPr lang="en-US" sz="2000">
                <a:latin typeface="Verdana"/>
                <a:ea typeface="Verdana"/>
                <a:cs typeface="Verdana"/>
                <a:sym typeface="Verdana"/>
              </a:rPr>
              <a:t> </a:t>
            </a:r>
            <a:endParaRPr sz="2000">
              <a:latin typeface="Verdana"/>
              <a:ea typeface="Verdana"/>
              <a:cs typeface="Verdana"/>
              <a:sym typeface="Verdana"/>
            </a:endParaRPr>
          </a:p>
          <a:p>
            <a:pPr marL="914400"/>
            <a:r>
              <a:rPr lang="en-US" sz="2000">
                <a:latin typeface="Verdana"/>
                <a:ea typeface="Verdana"/>
                <a:cs typeface="Verdana"/>
                <a:sym typeface="Verdana"/>
              </a:rPr>
              <a:t>center of the data for basketball players is </a:t>
            </a:r>
            <a:endParaRPr sz="2000">
              <a:latin typeface="Verdana"/>
              <a:ea typeface="Verdana"/>
              <a:cs typeface="Verdana"/>
              <a:sym typeface="Verdana"/>
            </a:endParaRPr>
          </a:p>
        </p:txBody>
      </p:sp>
      <p:sp>
        <p:nvSpPr>
          <p:cNvPr id="242" name="Google Shape;242;p10"/>
          <p:cNvSpPr/>
          <p:nvPr/>
        </p:nvSpPr>
        <p:spPr>
          <a:xfrm>
            <a:off x="3004128" y="2978123"/>
            <a:ext cx="2221015" cy="101566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342900" indent="-342900">
              <a:lnSpc>
                <a:spcPct val="107000"/>
              </a:lnSpc>
              <a:buSzPts val="1800"/>
              <a:buFont typeface="Courier New"/>
              <a:buChar char="o"/>
            </a:pPr>
            <a:r>
              <a:rPr lang="en-US" sz="2000">
                <a:latin typeface="Verdana"/>
                <a:ea typeface="Verdana"/>
                <a:cs typeface="Verdana"/>
                <a:sym typeface="Verdana"/>
              </a:rPr>
              <a:t>less than</a:t>
            </a:r>
            <a:endParaRPr sz="2000">
              <a:latin typeface="Cambria"/>
              <a:ea typeface="Cambria"/>
              <a:cs typeface="Cambria"/>
              <a:sym typeface="Cambria"/>
            </a:endParaRPr>
          </a:p>
          <a:p>
            <a:pPr marL="342900" indent="-342900" algn="just">
              <a:lnSpc>
                <a:spcPct val="107000"/>
              </a:lnSpc>
              <a:spcBef>
                <a:spcPts val="800"/>
              </a:spcBef>
              <a:spcAft>
                <a:spcPts val="800"/>
              </a:spcAft>
              <a:buSzPts val="1800"/>
              <a:buFont typeface="Courier New"/>
              <a:buChar char="o"/>
            </a:pPr>
            <a:r>
              <a:rPr lang="en-US" sz="2000">
                <a:latin typeface="Verdana"/>
                <a:ea typeface="Verdana"/>
                <a:cs typeface="Verdana"/>
                <a:sym typeface="Verdana"/>
              </a:rPr>
              <a:t>greater than</a:t>
            </a:r>
            <a:endParaRPr sz="2000">
              <a:latin typeface="Cambria"/>
              <a:ea typeface="Cambria"/>
              <a:cs typeface="Cambria"/>
              <a:sym typeface="Cambria"/>
            </a:endParaRPr>
          </a:p>
        </p:txBody>
      </p:sp>
      <p:sp>
        <p:nvSpPr>
          <p:cNvPr id="243" name="Google Shape;243;p10"/>
          <p:cNvSpPr txBox="1"/>
          <p:nvPr/>
        </p:nvSpPr>
        <p:spPr>
          <a:xfrm>
            <a:off x="2548529" y="3276926"/>
            <a:ext cx="7684043" cy="707886"/>
          </a:xfrm>
          <a:prstGeom prst="rect">
            <a:avLst/>
          </a:prstGeom>
          <a:noFill/>
          <a:ln>
            <a:noFill/>
          </a:ln>
        </p:spPr>
        <p:txBody>
          <a:bodyPr spcFirstLastPara="1" wrap="square" lIns="91425" tIns="45700" rIns="91425" bIns="45700" anchor="t" anchorCtr="0">
            <a:spAutoFit/>
          </a:bodyPr>
          <a:lstStyle/>
          <a:p>
            <a:pPr marL="2286000" indent="457200"/>
            <a:r>
              <a:rPr lang="en-US" sz="2000">
                <a:latin typeface="Verdana"/>
                <a:ea typeface="Verdana"/>
                <a:cs typeface="Verdana"/>
                <a:sym typeface="Verdana"/>
              </a:rPr>
              <a:t>the center of the data for baseball </a:t>
            </a:r>
            <a:endParaRPr sz="2000">
              <a:latin typeface="Cambria"/>
              <a:ea typeface="Cambria"/>
              <a:cs typeface="Cambria"/>
              <a:sym typeface="Cambria"/>
            </a:endParaRPr>
          </a:p>
          <a:p>
            <a:pPr marL="2286000" indent="457200"/>
            <a:r>
              <a:rPr lang="en-US" sz="2000">
                <a:latin typeface="Verdana"/>
                <a:ea typeface="Verdana"/>
                <a:cs typeface="Verdana"/>
                <a:sym typeface="Verdana"/>
              </a:rPr>
              <a:t> </a:t>
            </a:r>
            <a:endParaRPr sz="2000">
              <a:latin typeface="Cambria"/>
              <a:ea typeface="Cambria"/>
              <a:cs typeface="Cambria"/>
              <a:sym typeface="Cambria"/>
            </a:endParaRPr>
          </a:p>
        </p:txBody>
      </p:sp>
      <p:sp>
        <p:nvSpPr>
          <p:cNvPr id="244" name="Google Shape;244;p10"/>
          <p:cNvSpPr txBox="1"/>
          <p:nvPr/>
        </p:nvSpPr>
        <p:spPr>
          <a:xfrm>
            <a:off x="2007766" y="4123949"/>
            <a:ext cx="8572765" cy="400110"/>
          </a:xfrm>
          <a:prstGeom prst="rect">
            <a:avLst/>
          </a:prstGeom>
          <a:noFill/>
          <a:ln>
            <a:noFill/>
          </a:ln>
        </p:spPr>
        <p:txBody>
          <a:bodyPr spcFirstLastPara="1" wrap="square" lIns="91425" tIns="45700" rIns="91425" bIns="45700" anchor="t" anchorCtr="0">
            <a:spAutoFit/>
          </a:bodyPr>
          <a:lstStyle/>
          <a:p>
            <a:pPr marL="914400"/>
            <a:r>
              <a:rPr lang="en-US" sz="2000">
                <a:latin typeface="Verdana"/>
                <a:ea typeface="Verdana"/>
                <a:cs typeface="Verdana"/>
                <a:sym typeface="Verdana"/>
              </a:rPr>
              <a:t>players. It can be concluded that professional </a:t>
            </a:r>
            <a:endParaRPr sz="2000">
              <a:latin typeface="Cambria"/>
              <a:ea typeface="Cambria"/>
              <a:cs typeface="Cambria"/>
              <a:sym typeface="Cambria"/>
            </a:endParaRPr>
          </a:p>
        </p:txBody>
      </p:sp>
      <p:sp>
        <p:nvSpPr>
          <p:cNvPr id="245" name="Google Shape;245;p10"/>
          <p:cNvSpPr txBox="1"/>
          <p:nvPr/>
        </p:nvSpPr>
        <p:spPr>
          <a:xfrm>
            <a:off x="2906485" y="4819864"/>
            <a:ext cx="4637314" cy="400110"/>
          </a:xfrm>
          <a:prstGeom prst="rect">
            <a:avLst/>
          </a:prstGeom>
          <a:noFill/>
          <a:ln>
            <a:noFill/>
          </a:ln>
        </p:spPr>
        <p:txBody>
          <a:bodyPr spcFirstLastPara="1" wrap="square" lIns="91425" tIns="45700" rIns="91425" bIns="45700" anchor="t" anchorCtr="0">
            <a:spAutoFit/>
          </a:bodyPr>
          <a:lstStyle/>
          <a:p>
            <a:r>
              <a:rPr lang="en-US" sz="2000">
                <a:latin typeface="Verdana"/>
                <a:ea typeface="Verdana"/>
                <a:cs typeface="Verdana"/>
                <a:sym typeface="Verdana"/>
              </a:rPr>
              <a:t>basketball players are typically</a:t>
            </a:r>
            <a:r>
              <a:rPr lang="en-US" sz="2000"/>
              <a:t> </a:t>
            </a:r>
            <a:endParaRPr sz="2000"/>
          </a:p>
        </p:txBody>
      </p:sp>
      <p:sp>
        <p:nvSpPr>
          <p:cNvPr id="246" name="Google Shape;246;p10"/>
          <p:cNvSpPr/>
          <p:nvPr/>
        </p:nvSpPr>
        <p:spPr>
          <a:xfrm>
            <a:off x="7185387" y="4593541"/>
            <a:ext cx="2255825" cy="922238"/>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342900" indent="-342900">
              <a:lnSpc>
                <a:spcPct val="107000"/>
              </a:lnSpc>
              <a:buSzPts val="1800"/>
              <a:buFont typeface="Courier New"/>
              <a:buChar char="o"/>
            </a:pPr>
            <a:r>
              <a:rPr lang="en-US" sz="2000">
                <a:latin typeface="Verdana"/>
                <a:ea typeface="Verdana"/>
                <a:cs typeface="Verdana"/>
                <a:sym typeface="Verdana"/>
              </a:rPr>
              <a:t>shorter than</a:t>
            </a:r>
            <a:endParaRPr sz="2000">
              <a:latin typeface="Cambria"/>
              <a:ea typeface="Cambria"/>
              <a:cs typeface="Cambria"/>
              <a:sym typeface="Cambria"/>
            </a:endParaRPr>
          </a:p>
          <a:p>
            <a:pPr marL="342900" indent="-342900" algn="just">
              <a:lnSpc>
                <a:spcPct val="107000"/>
              </a:lnSpc>
              <a:spcBef>
                <a:spcPts val="800"/>
              </a:spcBef>
              <a:spcAft>
                <a:spcPts val="800"/>
              </a:spcAft>
              <a:buSzPts val="1800"/>
              <a:buFont typeface="Courier New"/>
              <a:buChar char="o"/>
            </a:pPr>
            <a:r>
              <a:rPr lang="en-US" sz="2000">
                <a:latin typeface="Verdana"/>
                <a:ea typeface="Verdana"/>
                <a:cs typeface="Verdana"/>
                <a:sym typeface="Verdana"/>
              </a:rPr>
              <a:t>taller than</a:t>
            </a:r>
            <a:endParaRPr sz="2000">
              <a:latin typeface="Cambria"/>
              <a:ea typeface="Cambria"/>
              <a:cs typeface="Cambria"/>
              <a:sym typeface="Cambria"/>
            </a:endParaRPr>
          </a:p>
        </p:txBody>
      </p:sp>
      <p:sp>
        <p:nvSpPr>
          <p:cNvPr id="247" name="Google Shape;247;p10"/>
          <p:cNvSpPr txBox="1"/>
          <p:nvPr/>
        </p:nvSpPr>
        <p:spPr>
          <a:xfrm>
            <a:off x="2007765" y="5446297"/>
            <a:ext cx="5243266" cy="400110"/>
          </a:xfrm>
          <a:prstGeom prst="rect">
            <a:avLst/>
          </a:prstGeom>
          <a:noFill/>
          <a:ln>
            <a:noFill/>
          </a:ln>
        </p:spPr>
        <p:txBody>
          <a:bodyPr spcFirstLastPara="1" wrap="square" lIns="91425" tIns="45700" rIns="91425" bIns="45700" anchor="t" anchorCtr="0">
            <a:spAutoFit/>
          </a:bodyPr>
          <a:lstStyle/>
          <a:p>
            <a:pPr marL="914400"/>
            <a:r>
              <a:rPr lang="en-US" sz="2000">
                <a:latin typeface="Verdana"/>
                <a:ea typeface="Verdana"/>
                <a:cs typeface="Verdana"/>
                <a:sym typeface="Verdana"/>
              </a:rPr>
              <a:t>professional baseball players. </a:t>
            </a:r>
            <a:endParaRPr sz="2000">
              <a:latin typeface="Cambria"/>
              <a:ea typeface="Cambria"/>
              <a:cs typeface="Cambria"/>
              <a:sym typeface="Cambria"/>
            </a:endParaRPr>
          </a:p>
        </p:txBody>
      </p:sp>
      <p:sp>
        <p:nvSpPr>
          <p:cNvPr id="13" name="Google Shape;125;g104476d1465_1_17"/>
          <p:cNvSpPr txBox="1"/>
          <p:nvPr/>
        </p:nvSpPr>
        <p:spPr>
          <a:xfrm>
            <a:off x="870622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130</a:t>
            </a:r>
            <a:endParaRPr i="1" dirty="0">
              <a:latin typeface="Calibri"/>
              <a:ea typeface="Calibri"/>
              <a:cs typeface="Calibri"/>
              <a:sym typeface="Calibri"/>
            </a:endParaRPr>
          </a:p>
        </p:txBody>
      </p:sp>
      <p:pic>
        <p:nvPicPr>
          <p:cNvPr id="14"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4445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11"/>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56" name="Google Shape;256;p11"/>
          <p:cNvSpPr txBox="1"/>
          <p:nvPr/>
        </p:nvSpPr>
        <p:spPr>
          <a:xfrm>
            <a:off x="2007765" y="520393"/>
            <a:ext cx="8327136" cy="400110"/>
          </a:xfrm>
          <a:prstGeom prst="rect">
            <a:avLst/>
          </a:prstGeom>
          <a:noFill/>
          <a:ln>
            <a:noFill/>
          </a:ln>
        </p:spPr>
        <p:txBody>
          <a:bodyPr spcFirstLastPara="1" wrap="square" lIns="91425" tIns="45700" rIns="91425" bIns="45700" anchor="t" anchorCtr="0">
            <a:spAutoFit/>
          </a:bodyPr>
          <a:lstStyle/>
          <a:p>
            <a:pPr marL="922338" lvl="1" indent="-461963">
              <a:buSzPts val="2000"/>
              <a:buFont typeface="Arial"/>
              <a:buAutoNum type="alphaLcPeriod" startAt="2"/>
            </a:pPr>
            <a:r>
              <a:rPr lang="en-US" sz="2000">
                <a:latin typeface="Verdana"/>
                <a:ea typeface="Verdana"/>
                <a:cs typeface="Verdana"/>
                <a:sym typeface="Verdana"/>
              </a:rPr>
              <a:t>Complete the statement.</a:t>
            </a:r>
            <a:endParaRPr/>
          </a:p>
        </p:txBody>
      </p:sp>
      <p:sp>
        <p:nvSpPr>
          <p:cNvPr id="257" name="Google Shape;257;p11"/>
          <p:cNvSpPr txBox="1"/>
          <p:nvPr/>
        </p:nvSpPr>
        <p:spPr>
          <a:xfrm>
            <a:off x="2007765" y="1249011"/>
            <a:ext cx="8327136" cy="400110"/>
          </a:xfrm>
          <a:prstGeom prst="rect">
            <a:avLst/>
          </a:prstGeom>
          <a:noFill/>
          <a:ln>
            <a:noFill/>
          </a:ln>
        </p:spPr>
        <p:txBody>
          <a:bodyPr spcFirstLastPara="1" wrap="square" lIns="91425" tIns="45700" rIns="91425" bIns="45700" anchor="t" anchorCtr="0">
            <a:spAutoFit/>
          </a:bodyPr>
          <a:lstStyle/>
          <a:p>
            <a:pPr marL="914400"/>
            <a:r>
              <a:rPr lang="en-US" sz="2000">
                <a:latin typeface="Verdana"/>
                <a:ea typeface="Verdana"/>
                <a:cs typeface="Verdana"/>
                <a:sym typeface="Verdana"/>
              </a:rPr>
              <a:t>The histograms show that in the samples, the </a:t>
            </a:r>
            <a:endParaRPr sz="2000">
              <a:latin typeface="Cambria"/>
              <a:ea typeface="Cambria"/>
              <a:cs typeface="Cambria"/>
              <a:sym typeface="Cambria"/>
            </a:endParaRPr>
          </a:p>
        </p:txBody>
      </p:sp>
      <p:sp>
        <p:nvSpPr>
          <p:cNvPr id="258" name="Google Shape;258;p11"/>
          <p:cNvSpPr txBox="1"/>
          <p:nvPr/>
        </p:nvSpPr>
        <p:spPr>
          <a:xfrm>
            <a:off x="2007765" y="1894296"/>
            <a:ext cx="6608358" cy="400110"/>
          </a:xfrm>
          <a:prstGeom prst="rect">
            <a:avLst/>
          </a:prstGeom>
          <a:noFill/>
          <a:ln>
            <a:noFill/>
          </a:ln>
        </p:spPr>
        <p:txBody>
          <a:bodyPr spcFirstLastPara="1" wrap="square" lIns="91425" tIns="45700" rIns="91425" bIns="45700" anchor="t" anchorCtr="0">
            <a:spAutoFit/>
          </a:bodyPr>
          <a:lstStyle/>
          <a:p>
            <a:pPr marL="914400"/>
            <a:r>
              <a:rPr lang="en-US" sz="2000">
                <a:latin typeface="Verdana"/>
                <a:ea typeface="Verdana"/>
                <a:cs typeface="Verdana"/>
                <a:sym typeface="Verdana"/>
              </a:rPr>
              <a:t>range of heights of basketball players is </a:t>
            </a:r>
            <a:endParaRPr sz="2000">
              <a:latin typeface="Cambria"/>
              <a:ea typeface="Cambria"/>
              <a:cs typeface="Cambria"/>
              <a:sym typeface="Cambria"/>
            </a:endParaRPr>
          </a:p>
        </p:txBody>
      </p:sp>
      <p:sp>
        <p:nvSpPr>
          <p:cNvPr id="259" name="Google Shape;259;p11"/>
          <p:cNvSpPr/>
          <p:nvPr/>
        </p:nvSpPr>
        <p:spPr>
          <a:xfrm>
            <a:off x="8231133" y="1651667"/>
            <a:ext cx="2277211" cy="885371"/>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342900" indent="-342900">
              <a:lnSpc>
                <a:spcPct val="107000"/>
              </a:lnSpc>
              <a:buSzPts val="1800"/>
              <a:buFont typeface="Courier New"/>
              <a:buChar char="o"/>
            </a:pPr>
            <a:r>
              <a:rPr lang="en-US" sz="2000">
                <a:latin typeface="Verdana"/>
                <a:ea typeface="Verdana"/>
                <a:cs typeface="Verdana"/>
                <a:sym typeface="Verdana"/>
              </a:rPr>
              <a:t>less than </a:t>
            </a:r>
            <a:endParaRPr sz="2000">
              <a:latin typeface="Cambria"/>
              <a:ea typeface="Cambria"/>
              <a:cs typeface="Cambria"/>
              <a:sym typeface="Cambria"/>
            </a:endParaRPr>
          </a:p>
          <a:p>
            <a:pPr marL="342900" indent="-342900" algn="just">
              <a:lnSpc>
                <a:spcPct val="107000"/>
              </a:lnSpc>
              <a:spcBef>
                <a:spcPts val="800"/>
              </a:spcBef>
              <a:spcAft>
                <a:spcPts val="800"/>
              </a:spcAft>
              <a:buSzPts val="1800"/>
              <a:buFont typeface="Courier New"/>
              <a:buChar char="o"/>
            </a:pPr>
            <a:r>
              <a:rPr lang="en-US" sz="2000">
                <a:latin typeface="Verdana"/>
                <a:ea typeface="Verdana"/>
                <a:cs typeface="Verdana"/>
                <a:sym typeface="Verdana"/>
              </a:rPr>
              <a:t>greater than</a:t>
            </a:r>
            <a:endParaRPr sz="2000">
              <a:latin typeface="Cambria"/>
              <a:ea typeface="Cambria"/>
              <a:cs typeface="Cambria"/>
              <a:sym typeface="Cambria"/>
            </a:endParaRPr>
          </a:p>
        </p:txBody>
      </p:sp>
      <p:sp>
        <p:nvSpPr>
          <p:cNvPr id="260" name="Google Shape;260;p11"/>
          <p:cNvSpPr txBox="1"/>
          <p:nvPr/>
        </p:nvSpPr>
        <p:spPr>
          <a:xfrm>
            <a:off x="3726543" y="2862369"/>
            <a:ext cx="4637314" cy="307777"/>
          </a:xfrm>
          <a:prstGeom prst="rect">
            <a:avLst/>
          </a:prstGeom>
          <a:noFill/>
          <a:ln>
            <a:noFill/>
          </a:ln>
        </p:spPr>
        <p:txBody>
          <a:bodyPr spcFirstLastPara="1" wrap="square" lIns="91425" tIns="45700" rIns="91425" bIns="45700" anchor="t" anchorCtr="0">
            <a:spAutoFit/>
          </a:bodyPr>
          <a:lstStyle/>
          <a:p>
            <a:pPr marL="2743200" indent="457200"/>
            <a:r>
              <a:rPr lang="en-US">
                <a:latin typeface="Verdana"/>
                <a:ea typeface="Verdana"/>
                <a:cs typeface="Verdana"/>
                <a:sym typeface="Verdana"/>
              </a:rPr>
              <a:t> </a:t>
            </a:r>
            <a:endParaRPr sz="1050">
              <a:latin typeface="Cambria"/>
              <a:ea typeface="Cambria"/>
              <a:cs typeface="Cambria"/>
              <a:sym typeface="Cambria"/>
            </a:endParaRPr>
          </a:p>
        </p:txBody>
      </p:sp>
      <p:sp>
        <p:nvSpPr>
          <p:cNvPr id="261" name="Google Shape;261;p11"/>
          <p:cNvSpPr txBox="1"/>
          <p:nvPr/>
        </p:nvSpPr>
        <p:spPr>
          <a:xfrm>
            <a:off x="2935228" y="2532161"/>
            <a:ext cx="7399672" cy="400110"/>
          </a:xfrm>
          <a:prstGeom prst="rect">
            <a:avLst/>
          </a:prstGeom>
          <a:noFill/>
          <a:ln>
            <a:noFill/>
          </a:ln>
        </p:spPr>
        <p:txBody>
          <a:bodyPr spcFirstLastPara="1" wrap="square" lIns="91425" tIns="45700" rIns="91425" bIns="45700" anchor="t" anchorCtr="0">
            <a:spAutoFit/>
          </a:bodyPr>
          <a:lstStyle/>
          <a:p>
            <a:r>
              <a:rPr lang="en-US" sz="2000">
                <a:latin typeface="Verdana"/>
                <a:ea typeface="Verdana"/>
                <a:cs typeface="Verdana"/>
                <a:sym typeface="Verdana"/>
              </a:rPr>
              <a:t>the range of the heights of baseball players. We can </a:t>
            </a:r>
            <a:endParaRPr sz="2000"/>
          </a:p>
        </p:txBody>
      </p:sp>
      <p:sp>
        <p:nvSpPr>
          <p:cNvPr id="262" name="Google Shape;262;p11"/>
          <p:cNvSpPr txBox="1"/>
          <p:nvPr/>
        </p:nvSpPr>
        <p:spPr>
          <a:xfrm>
            <a:off x="2935228" y="3095366"/>
            <a:ext cx="7399672" cy="400110"/>
          </a:xfrm>
          <a:prstGeom prst="rect">
            <a:avLst/>
          </a:prstGeom>
          <a:noFill/>
          <a:ln>
            <a:noFill/>
          </a:ln>
        </p:spPr>
        <p:txBody>
          <a:bodyPr spcFirstLastPara="1" wrap="square" lIns="91425" tIns="45700" rIns="91425" bIns="45700" anchor="t" anchorCtr="0">
            <a:spAutoFit/>
          </a:bodyPr>
          <a:lstStyle/>
          <a:p>
            <a:r>
              <a:rPr lang="en-US" sz="2000">
                <a:latin typeface="Verdana"/>
                <a:ea typeface="Verdana"/>
                <a:cs typeface="Verdana"/>
                <a:sym typeface="Verdana"/>
              </a:rPr>
              <a:t>conclude that professional basketball players have </a:t>
            </a:r>
            <a:endParaRPr sz="2000"/>
          </a:p>
        </p:txBody>
      </p:sp>
      <p:sp>
        <p:nvSpPr>
          <p:cNvPr id="263" name="Google Shape;263;p11"/>
          <p:cNvSpPr/>
          <p:nvPr/>
        </p:nvSpPr>
        <p:spPr>
          <a:xfrm>
            <a:off x="3060345" y="3497881"/>
            <a:ext cx="1332397" cy="856364"/>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342900" indent="-342900">
              <a:lnSpc>
                <a:spcPct val="107000"/>
              </a:lnSpc>
              <a:buSzPts val="1800"/>
              <a:buFont typeface="Courier New"/>
              <a:buChar char="o"/>
            </a:pPr>
            <a:r>
              <a:rPr lang="en-US" sz="2000">
                <a:latin typeface="Verdana"/>
                <a:ea typeface="Verdana"/>
                <a:cs typeface="Verdana"/>
                <a:sym typeface="Verdana"/>
              </a:rPr>
              <a:t>more</a:t>
            </a:r>
            <a:endParaRPr sz="2000">
              <a:latin typeface="Cambria"/>
              <a:ea typeface="Cambria"/>
              <a:cs typeface="Cambria"/>
              <a:sym typeface="Cambria"/>
            </a:endParaRPr>
          </a:p>
          <a:p>
            <a:pPr marL="342900" indent="-342900" algn="just">
              <a:lnSpc>
                <a:spcPct val="107000"/>
              </a:lnSpc>
              <a:spcBef>
                <a:spcPts val="800"/>
              </a:spcBef>
              <a:spcAft>
                <a:spcPts val="800"/>
              </a:spcAft>
              <a:buSzPts val="1800"/>
              <a:buFont typeface="Courier New"/>
              <a:buChar char="o"/>
            </a:pPr>
            <a:r>
              <a:rPr lang="en-US" sz="2000">
                <a:latin typeface="Verdana"/>
                <a:ea typeface="Verdana"/>
                <a:cs typeface="Verdana"/>
                <a:sym typeface="Verdana"/>
              </a:rPr>
              <a:t>less</a:t>
            </a:r>
            <a:endParaRPr sz="2000">
              <a:latin typeface="Cambria"/>
              <a:ea typeface="Cambria"/>
              <a:cs typeface="Cambria"/>
              <a:sym typeface="Cambria"/>
            </a:endParaRPr>
          </a:p>
        </p:txBody>
      </p:sp>
      <p:sp>
        <p:nvSpPr>
          <p:cNvPr id="264" name="Google Shape;264;p11"/>
          <p:cNvSpPr txBox="1"/>
          <p:nvPr/>
        </p:nvSpPr>
        <p:spPr>
          <a:xfrm>
            <a:off x="4392954" y="3716056"/>
            <a:ext cx="5843592" cy="400110"/>
          </a:xfrm>
          <a:prstGeom prst="rect">
            <a:avLst/>
          </a:prstGeom>
          <a:noFill/>
          <a:ln>
            <a:noFill/>
          </a:ln>
        </p:spPr>
        <p:txBody>
          <a:bodyPr spcFirstLastPara="1" wrap="square" lIns="91425" tIns="45700" rIns="91425" bIns="45700" anchor="t" anchorCtr="0">
            <a:spAutoFit/>
          </a:bodyPr>
          <a:lstStyle/>
          <a:p>
            <a:r>
              <a:rPr lang="en-US" sz="2000">
                <a:latin typeface="Verdana"/>
                <a:ea typeface="Verdana"/>
                <a:cs typeface="Verdana"/>
                <a:sym typeface="Verdana"/>
              </a:rPr>
              <a:t>variability in their heights than professional  </a:t>
            </a:r>
            <a:endParaRPr sz="2000"/>
          </a:p>
        </p:txBody>
      </p:sp>
      <p:sp>
        <p:nvSpPr>
          <p:cNvPr id="265" name="Google Shape;265;p11"/>
          <p:cNvSpPr txBox="1"/>
          <p:nvPr/>
        </p:nvSpPr>
        <p:spPr>
          <a:xfrm>
            <a:off x="2007766" y="4354245"/>
            <a:ext cx="8327135" cy="400110"/>
          </a:xfrm>
          <a:prstGeom prst="rect">
            <a:avLst/>
          </a:prstGeom>
          <a:noFill/>
          <a:ln>
            <a:noFill/>
          </a:ln>
        </p:spPr>
        <p:txBody>
          <a:bodyPr spcFirstLastPara="1" wrap="square" lIns="91425" tIns="45700" rIns="91425" bIns="45700" anchor="t" anchorCtr="0">
            <a:spAutoFit/>
          </a:bodyPr>
          <a:lstStyle/>
          <a:p>
            <a:pPr marL="922338" indent="-7937"/>
            <a:r>
              <a:rPr lang="en-US" sz="2000">
                <a:latin typeface="Verdana"/>
                <a:ea typeface="Verdana"/>
                <a:cs typeface="Verdana"/>
                <a:sym typeface="Verdana"/>
              </a:rPr>
              <a:t>baseball players. One possible reason for this is … </a:t>
            </a:r>
            <a:endParaRPr>
              <a:latin typeface="Cambria"/>
              <a:ea typeface="Cambria"/>
              <a:cs typeface="Cambria"/>
              <a:sym typeface="Cambria"/>
            </a:endParaRPr>
          </a:p>
        </p:txBody>
      </p:sp>
      <p:sp>
        <p:nvSpPr>
          <p:cNvPr id="15" name="Google Shape;125;g104476d1465_1_17"/>
          <p:cNvSpPr txBox="1"/>
          <p:nvPr/>
        </p:nvSpPr>
        <p:spPr>
          <a:xfrm>
            <a:off x="870622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130</a:t>
            </a:r>
            <a:endParaRPr i="1" dirty="0">
              <a:latin typeface="Calibri"/>
              <a:ea typeface="Calibri"/>
              <a:cs typeface="Calibri"/>
              <a:sym typeface="Calibri"/>
            </a:endParaRPr>
          </a:p>
        </p:txBody>
      </p:sp>
      <p:pic>
        <p:nvPicPr>
          <p:cNvPr id="16"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4445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12"/>
          <p:cNvSpPr/>
          <p:nvPr/>
        </p:nvSpPr>
        <p:spPr>
          <a:xfrm>
            <a:off x="-615"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74" name="Google Shape;274;p12"/>
          <p:cNvSpPr txBox="1"/>
          <p:nvPr/>
        </p:nvSpPr>
        <p:spPr>
          <a:xfrm>
            <a:off x="1325217" y="520394"/>
            <a:ext cx="9692232" cy="1015622"/>
          </a:xfrm>
          <a:prstGeom prst="rect">
            <a:avLst/>
          </a:prstGeom>
          <a:noFill/>
          <a:ln>
            <a:noFill/>
          </a:ln>
        </p:spPr>
        <p:txBody>
          <a:bodyPr spcFirstLastPara="1" wrap="square" lIns="91425" tIns="45700" rIns="91425" bIns="45700" anchor="t" anchorCtr="0">
            <a:spAutoFit/>
          </a:bodyPr>
          <a:lstStyle/>
          <a:p>
            <a:pPr marL="457200" indent="-457200">
              <a:buSzPts val="2000"/>
              <a:buFont typeface="Arial"/>
              <a:buAutoNum type="arabicPeriod" startAt="2"/>
            </a:pPr>
            <a:r>
              <a:rPr lang="en-US" sz="2000">
                <a:latin typeface="Verdana"/>
                <a:ea typeface="Verdana"/>
                <a:cs typeface="Verdana"/>
                <a:sym typeface="Verdana"/>
              </a:rPr>
              <a:t>Mr. </a:t>
            </a:r>
            <a:r>
              <a:rPr lang="en-US" sz="2000" dirty="0">
                <a:latin typeface="Verdana"/>
                <a:ea typeface="Verdana"/>
                <a:cs typeface="Verdana"/>
                <a:sym typeface="Verdana"/>
              </a:rPr>
              <a:t>Logan surveyed a sample of his junior and senior students about the time they spend studying math per day. He then tabulated the results and created a line plot displaying the data for each group. </a:t>
            </a:r>
            <a:endParaRPr dirty="0"/>
          </a:p>
        </p:txBody>
      </p:sp>
      <p:grpSp>
        <p:nvGrpSpPr>
          <p:cNvPr id="275" name="Google Shape;275;p12"/>
          <p:cNvGrpSpPr/>
          <p:nvPr/>
        </p:nvGrpSpPr>
        <p:grpSpPr>
          <a:xfrm>
            <a:off x="3337211" y="2466354"/>
            <a:ext cx="6257398" cy="2178219"/>
            <a:chOff x="0" y="0"/>
            <a:chExt cx="6778690" cy="2360036"/>
          </a:xfrm>
        </p:grpSpPr>
        <p:pic>
          <p:nvPicPr>
            <p:cNvPr id="276" name="Google Shape;276;p12" descr="Chart, scatter chart&#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3349690" y="0"/>
              <a:ext cx="3429000" cy="2322830"/>
            </a:xfrm>
            <a:prstGeom prst="rect">
              <a:avLst/>
            </a:prstGeom>
            <a:noFill/>
            <a:ln>
              <a:noFill/>
            </a:ln>
          </p:spPr>
        </p:pic>
        <p:pic>
          <p:nvPicPr>
            <p:cNvPr id="277" name="Google Shape;277;p12"/>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0" y="317241"/>
              <a:ext cx="3256280" cy="2042795"/>
            </a:xfrm>
            <a:prstGeom prst="rect">
              <a:avLst/>
            </a:prstGeom>
            <a:noFill/>
            <a:ln>
              <a:noFill/>
            </a:ln>
          </p:spPr>
        </p:pic>
      </p:grpSp>
      <p:sp>
        <p:nvSpPr>
          <p:cNvPr id="278" name="Google Shape;278;p12"/>
          <p:cNvSpPr txBox="1"/>
          <p:nvPr/>
        </p:nvSpPr>
        <p:spPr>
          <a:xfrm>
            <a:off x="2858944" y="1845558"/>
            <a:ext cx="3962400" cy="680085"/>
          </a:xfrm>
          <a:prstGeom prst="rect">
            <a:avLst/>
          </a:prstGeom>
          <a:noFill/>
          <a:ln>
            <a:noFill/>
          </a:ln>
        </p:spPr>
        <p:txBody>
          <a:bodyPr spcFirstLastPara="1" wrap="square" lIns="91425" tIns="45700" rIns="91425" bIns="45700" anchor="t" anchorCtr="0">
            <a:noAutofit/>
          </a:bodyPr>
          <a:lstStyle/>
          <a:p>
            <a:pPr algn="ctr"/>
            <a:r>
              <a:rPr lang="en-US" sz="2000" b="1">
                <a:latin typeface="Verdana"/>
                <a:ea typeface="Verdana"/>
                <a:cs typeface="Verdana"/>
                <a:sym typeface="Verdana"/>
              </a:rPr>
              <a:t>Time Spent Studying (Juniors)</a:t>
            </a:r>
            <a:endParaRPr sz="2000">
              <a:latin typeface="Cambria"/>
              <a:ea typeface="Cambria"/>
              <a:cs typeface="Cambria"/>
              <a:sym typeface="Cambria"/>
            </a:endParaRPr>
          </a:p>
        </p:txBody>
      </p:sp>
      <p:sp>
        <p:nvSpPr>
          <p:cNvPr id="279" name="Google Shape;279;p12"/>
          <p:cNvSpPr txBox="1"/>
          <p:nvPr/>
        </p:nvSpPr>
        <p:spPr>
          <a:xfrm>
            <a:off x="6226777" y="1845558"/>
            <a:ext cx="3962400" cy="680085"/>
          </a:xfrm>
          <a:prstGeom prst="rect">
            <a:avLst/>
          </a:prstGeom>
          <a:noFill/>
          <a:ln>
            <a:noFill/>
          </a:ln>
        </p:spPr>
        <p:txBody>
          <a:bodyPr spcFirstLastPara="1" wrap="square" lIns="91425" tIns="45700" rIns="91425" bIns="45700" anchor="t" anchorCtr="0">
            <a:noAutofit/>
          </a:bodyPr>
          <a:lstStyle/>
          <a:p>
            <a:pPr algn="ctr"/>
            <a:r>
              <a:rPr lang="en-US" sz="2000" b="1">
                <a:latin typeface="Verdana"/>
                <a:ea typeface="Verdana"/>
                <a:cs typeface="Verdana"/>
                <a:sym typeface="Verdana"/>
              </a:rPr>
              <a:t>Time Spent Studying (Seniors)</a:t>
            </a:r>
            <a:endParaRPr sz="2000">
              <a:latin typeface="Cambria"/>
              <a:ea typeface="Cambria"/>
              <a:cs typeface="Cambria"/>
              <a:sym typeface="Cambria"/>
            </a:endParaRPr>
          </a:p>
        </p:txBody>
      </p:sp>
      <p:sp>
        <p:nvSpPr>
          <p:cNvPr id="280" name="Google Shape;280;p12"/>
          <p:cNvSpPr txBox="1"/>
          <p:nvPr/>
        </p:nvSpPr>
        <p:spPr>
          <a:xfrm>
            <a:off x="2858944" y="4610232"/>
            <a:ext cx="3962400" cy="326390"/>
          </a:xfrm>
          <a:prstGeom prst="rect">
            <a:avLst/>
          </a:prstGeom>
          <a:noFill/>
          <a:ln>
            <a:noFill/>
          </a:ln>
        </p:spPr>
        <p:txBody>
          <a:bodyPr spcFirstLastPara="1" wrap="square" lIns="91425" tIns="45700" rIns="91425" bIns="45700" anchor="t" anchorCtr="0">
            <a:noAutofit/>
          </a:bodyPr>
          <a:lstStyle/>
          <a:p>
            <a:pPr algn="ctr"/>
            <a:r>
              <a:rPr lang="en-US" sz="2000" b="1">
                <a:latin typeface="Verdana"/>
                <a:ea typeface="Verdana"/>
                <a:cs typeface="Verdana"/>
                <a:sym typeface="Verdana"/>
              </a:rPr>
              <a:t>Minutes</a:t>
            </a:r>
            <a:endParaRPr sz="2000">
              <a:latin typeface="Cambria"/>
              <a:ea typeface="Cambria"/>
              <a:cs typeface="Cambria"/>
              <a:sym typeface="Cambria"/>
            </a:endParaRPr>
          </a:p>
        </p:txBody>
      </p:sp>
      <p:sp>
        <p:nvSpPr>
          <p:cNvPr id="281" name="Google Shape;281;p12"/>
          <p:cNvSpPr txBox="1"/>
          <p:nvPr/>
        </p:nvSpPr>
        <p:spPr>
          <a:xfrm>
            <a:off x="6226777" y="4610232"/>
            <a:ext cx="3962400" cy="326390"/>
          </a:xfrm>
          <a:prstGeom prst="rect">
            <a:avLst/>
          </a:prstGeom>
          <a:noFill/>
          <a:ln>
            <a:noFill/>
          </a:ln>
        </p:spPr>
        <p:txBody>
          <a:bodyPr spcFirstLastPara="1" wrap="square" lIns="91425" tIns="45700" rIns="91425" bIns="45700" anchor="t" anchorCtr="0">
            <a:noAutofit/>
          </a:bodyPr>
          <a:lstStyle/>
          <a:p>
            <a:pPr algn="ctr"/>
            <a:r>
              <a:rPr lang="en-US" sz="2000" b="1">
                <a:latin typeface="Verdana"/>
                <a:ea typeface="Verdana"/>
                <a:cs typeface="Verdana"/>
                <a:sym typeface="Verdana"/>
              </a:rPr>
              <a:t>Minutes</a:t>
            </a:r>
            <a:endParaRPr sz="2000">
              <a:latin typeface="Cambria"/>
              <a:ea typeface="Cambria"/>
              <a:cs typeface="Cambria"/>
              <a:sym typeface="Cambria"/>
            </a:endParaRPr>
          </a:p>
        </p:txBody>
      </p:sp>
      <p:sp>
        <p:nvSpPr>
          <p:cNvPr id="13" name="Google Shape;125;g104476d1465_1_17"/>
          <p:cNvSpPr txBox="1"/>
          <p:nvPr/>
        </p:nvSpPr>
        <p:spPr>
          <a:xfrm>
            <a:off x="870622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131</a:t>
            </a:r>
            <a:endParaRPr i="1" dirty="0">
              <a:latin typeface="Calibri"/>
              <a:ea typeface="Calibri"/>
              <a:cs typeface="Calibri"/>
              <a:sym typeface="Calibri"/>
            </a:endParaRPr>
          </a:p>
        </p:txBody>
      </p:sp>
      <p:pic>
        <p:nvPicPr>
          <p:cNvPr id="14"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445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13"/>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90" name="Google Shape;290;p13"/>
          <p:cNvSpPr txBox="1"/>
          <p:nvPr/>
        </p:nvSpPr>
        <p:spPr>
          <a:xfrm>
            <a:off x="1272209" y="520393"/>
            <a:ext cx="9798248" cy="5632271"/>
          </a:xfrm>
          <a:prstGeom prst="rect">
            <a:avLst/>
          </a:prstGeom>
          <a:noFill/>
          <a:ln>
            <a:noFill/>
          </a:ln>
        </p:spPr>
        <p:txBody>
          <a:bodyPr spcFirstLastPara="1" wrap="square" lIns="91425" tIns="45700" rIns="91425" bIns="45700" anchor="t" anchorCtr="0">
            <a:spAutoFit/>
          </a:bodyPr>
          <a:lstStyle/>
          <a:p>
            <a:pPr marL="922338" lvl="2" indent="-476250">
              <a:buSzPts val="2000"/>
              <a:buFont typeface="+mj-lt"/>
              <a:buAutoNum type="alphaLcPeriod"/>
            </a:pPr>
            <a:r>
              <a:rPr lang="en-US" sz="2000" dirty="0">
                <a:latin typeface="Verdana"/>
                <a:ea typeface="Verdana"/>
                <a:cs typeface="Verdana"/>
                <a:sym typeface="Verdana"/>
              </a:rPr>
              <a:t>The value of the larger median study time for the two groups is ______.</a:t>
            </a:r>
            <a:endParaRPr dirty="0"/>
          </a:p>
          <a:p>
            <a:pPr marL="1030288" lvl="2" indent="-457200">
              <a:buSzPts val="2000"/>
              <a:buFont typeface="+mj-lt"/>
              <a:buAutoNum type="alphaLcPeriod"/>
            </a:pPr>
            <a:endParaRPr sz="2000" dirty="0">
              <a:latin typeface="Verdana"/>
              <a:ea typeface="Verdana"/>
              <a:cs typeface="Verdana"/>
              <a:sym typeface="Verdana"/>
            </a:endParaRPr>
          </a:p>
          <a:p>
            <a:pPr marL="1030288" lvl="2" indent="-457200">
              <a:buSzPts val="2000"/>
              <a:buFont typeface="+mj-lt"/>
              <a:buAutoNum type="alphaLcPeriod"/>
            </a:pPr>
            <a:endParaRPr sz="2000" dirty="0">
              <a:latin typeface="Verdana"/>
              <a:ea typeface="Verdana"/>
              <a:cs typeface="Verdana"/>
              <a:sym typeface="Verdana"/>
            </a:endParaRPr>
          </a:p>
          <a:p>
            <a:pPr marL="922338" lvl="2" indent="-476250">
              <a:buSzPts val="2000"/>
              <a:buFont typeface="+mj-lt"/>
              <a:buAutoNum type="alphaLcPeriod"/>
            </a:pPr>
            <a:r>
              <a:rPr lang="en-US" sz="2000" dirty="0">
                <a:latin typeface="Verdana"/>
                <a:ea typeface="Verdana"/>
                <a:cs typeface="Verdana"/>
                <a:sym typeface="Verdana"/>
              </a:rPr>
              <a:t>The value of the larger mean study time for the two groups is ______.</a:t>
            </a:r>
            <a:endParaRPr dirty="0"/>
          </a:p>
          <a:p>
            <a:pPr marL="1030288" lvl="2" indent="-457200">
              <a:buSzPts val="2000"/>
              <a:buFont typeface="+mj-lt"/>
              <a:buAutoNum type="alphaLcPeriod"/>
            </a:pPr>
            <a:endParaRPr sz="2000" dirty="0">
              <a:latin typeface="Verdana"/>
              <a:ea typeface="Verdana"/>
              <a:cs typeface="Verdana"/>
              <a:sym typeface="Verdana"/>
            </a:endParaRPr>
          </a:p>
          <a:p>
            <a:pPr marL="1030288" lvl="2" indent="-457200">
              <a:buSzPts val="2000"/>
              <a:buFont typeface="+mj-lt"/>
              <a:buAutoNum type="alphaLcPeriod"/>
            </a:pPr>
            <a:endParaRPr sz="2000" dirty="0">
              <a:latin typeface="Verdana"/>
              <a:ea typeface="Verdana"/>
              <a:cs typeface="Verdana"/>
              <a:sym typeface="Verdana"/>
            </a:endParaRPr>
          </a:p>
          <a:p>
            <a:pPr marL="1030288" lvl="2" indent="-457200">
              <a:buSzPts val="2000"/>
              <a:buFont typeface="+mj-lt"/>
              <a:buAutoNum type="alphaLcPeriod"/>
            </a:pPr>
            <a:endParaRPr sz="2000" dirty="0">
              <a:latin typeface="Verdana"/>
              <a:ea typeface="Verdana"/>
              <a:cs typeface="Verdana"/>
              <a:sym typeface="Verdana"/>
            </a:endParaRPr>
          </a:p>
          <a:p>
            <a:pPr marL="1030288" lvl="2" indent="-457200">
              <a:buSzPts val="2000"/>
              <a:buFont typeface="+mj-lt"/>
              <a:buAutoNum type="alphaLcPeriod"/>
            </a:pPr>
            <a:endParaRPr sz="2000" dirty="0">
              <a:latin typeface="Verdana"/>
              <a:ea typeface="Verdana"/>
              <a:cs typeface="Verdana"/>
              <a:sym typeface="Verdana"/>
            </a:endParaRPr>
          </a:p>
          <a:p>
            <a:pPr marL="922338" lvl="2" indent="-476250">
              <a:buSzPts val="2000"/>
              <a:buFont typeface="+mj-lt"/>
              <a:buAutoNum type="alphaLcPeriod"/>
            </a:pPr>
            <a:r>
              <a:rPr lang="en-US" sz="2000" dirty="0">
                <a:latin typeface="Verdana"/>
                <a:ea typeface="Verdana"/>
                <a:cs typeface="Verdana"/>
                <a:sym typeface="Verdana"/>
              </a:rPr>
              <a:t>In one to two sentences, describe the difference between the number of minutes Mr. Logan’s juniors and seniors study by comparing the center and shapes for the groups. </a:t>
            </a:r>
            <a:endParaRPr dirty="0"/>
          </a:p>
          <a:p>
            <a:pPr marL="922338" lvl="2" indent="-349250">
              <a:buSzPts val="2000"/>
            </a:pPr>
            <a:endParaRPr sz="2000" dirty="0">
              <a:latin typeface="Verdana"/>
              <a:ea typeface="Verdana"/>
              <a:cs typeface="Verdana"/>
              <a:sym typeface="Verdana"/>
            </a:endParaRPr>
          </a:p>
          <a:p>
            <a:pPr marL="457200" lvl="2" indent="-330200">
              <a:buSzPts val="2000"/>
            </a:pPr>
            <a:endParaRPr sz="2000" dirty="0">
              <a:latin typeface="Verdana"/>
              <a:ea typeface="Verdana"/>
              <a:cs typeface="Verdana"/>
              <a:sym typeface="Verdana"/>
            </a:endParaRPr>
          </a:p>
          <a:p>
            <a:pPr marL="457200" lvl="2" indent="-330200">
              <a:buSzPts val="2000"/>
            </a:pPr>
            <a:endParaRPr sz="2000" dirty="0">
              <a:latin typeface="Verdana"/>
              <a:ea typeface="Verdana"/>
              <a:cs typeface="Verdana"/>
              <a:sym typeface="Verdana"/>
            </a:endParaRPr>
          </a:p>
          <a:p>
            <a:pPr marL="457200" lvl="2" indent="-330200">
              <a:buSzPts val="2000"/>
            </a:pPr>
            <a:endParaRPr sz="2000" dirty="0">
              <a:latin typeface="Verdana"/>
              <a:ea typeface="Verdana"/>
              <a:cs typeface="Verdana"/>
              <a:sym typeface="Verdana"/>
            </a:endParaRPr>
          </a:p>
          <a:p>
            <a:pPr marL="457200" lvl="2" indent="-330200">
              <a:buSzPts val="2000"/>
            </a:pPr>
            <a:endParaRPr sz="2000" dirty="0">
              <a:latin typeface="Verdana"/>
              <a:ea typeface="Verdana"/>
              <a:cs typeface="Verdana"/>
              <a:sym typeface="Verdana"/>
            </a:endParaRPr>
          </a:p>
        </p:txBody>
      </p:sp>
      <p:sp>
        <p:nvSpPr>
          <p:cNvPr id="6" name="Google Shape;125;g104476d1465_1_17"/>
          <p:cNvSpPr txBox="1"/>
          <p:nvPr/>
        </p:nvSpPr>
        <p:spPr>
          <a:xfrm>
            <a:off x="870622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131</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4445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14"/>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98" name="Google Shape;298;p14"/>
          <p:cNvSpPr txBox="1"/>
          <p:nvPr/>
        </p:nvSpPr>
        <p:spPr>
          <a:xfrm>
            <a:off x="1449273" y="8681"/>
            <a:ext cx="1018613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3BEA6"/>
                </a:solidFill>
                <a:latin typeface="Verdana"/>
                <a:ea typeface="Verdana"/>
                <a:cs typeface="Verdana"/>
                <a:sym typeface="Verdana"/>
              </a:rPr>
              <a:t>10.5.4 Activity: Station 2 – Box Plots</a:t>
            </a:r>
            <a:endParaRPr dirty="0"/>
          </a:p>
        </p:txBody>
      </p:sp>
      <p:pic>
        <p:nvPicPr>
          <p:cNvPr id="300" name="Google Shape;300;p14"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99465" y="296627"/>
            <a:ext cx="749808" cy="749808"/>
          </a:xfrm>
          <a:prstGeom prst="rect">
            <a:avLst/>
          </a:prstGeom>
          <a:noFill/>
          <a:ln>
            <a:noFill/>
          </a:ln>
          <a:effectLst>
            <a:outerShdw blurRad="50800" dist="38100" dir="2700000" algn="tl" rotWithShape="0">
              <a:srgbClr val="000000">
                <a:alpha val="40000"/>
              </a:srgbClr>
            </a:outerShdw>
          </a:effectLst>
        </p:spPr>
      </p:pic>
      <p:sp>
        <p:nvSpPr>
          <p:cNvPr id="301" name="Google Shape;301;p14"/>
          <p:cNvSpPr txBox="1"/>
          <p:nvPr/>
        </p:nvSpPr>
        <p:spPr>
          <a:xfrm>
            <a:off x="1205948" y="1386025"/>
            <a:ext cx="10036136" cy="5016718"/>
          </a:xfrm>
          <a:prstGeom prst="rect">
            <a:avLst/>
          </a:prstGeom>
          <a:noFill/>
          <a:ln>
            <a:noFill/>
          </a:ln>
        </p:spPr>
        <p:txBody>
          <a:bodyPr spcFirstLastPara="1" wrap="square" lIns="91425" tIns="45700" rIns="91425" bIns="45700" anchor="t" anchorCtr="0">
            <a:spAutoFit/>
          </a:bodyPr>
          <a:lstStyle/>
          <a:p>
            <a:pPr marL="457200" lvl="4" indent="-457200">
              <a:buSzPts val="2000"/>
              <a:buFont typeface="Arial"/>
              <a:buAutoNum type="arabicPeriod"/>
            </a:pPr>
            <a:r>
              <a:rPr lang="en-US" sz="2000" dirty="0">
                <a:latin typeface="Verdana"/>
                <a:ea typeface="Verdana"/>
                <a:cs typeface="Verdana"/>
                <a:sym typeface="Verdana"/>
              </a:rPr>
              <a:t>The mile times for a sample of track team members at East Bay High School and Leto High School are shown in the two box plots.</a:t>
            </a:r>
            <a:endParaRPr dirty="0"/>
          </a:p>
          <a:p>
            <a:pPr marL="457200" lvl="4" indent="-330200">
              <a:buSzPts val="2000"/>
            </a:pPr>
            <a:endParaRPr sz="2000" dirty="0">
              <a:latin typeface="Verdana"/>
              <a:ea typeface="Verdana"/>
              <a:cs typeface="Verdana"/>
              <a:sym typeface="Verdana"/>
            </a:endParaRPr>
          </a:p>
          <a:p>
            <a:pPr marL="457200" lvl="4" indent="-330200">
              <a:buSzPts val="2000"/>
            </a:pPr>
            <a:endParaRPr sz="2000" dirty="0">
              <a:latin typeface="Verdana"/>
              <a:ea typeface="Verdana"/>
              <a:cs typeface="Verdana"/>
              <a:sym typeface="Verdana"/>
            </a:endParaRPr>
          </a:p>
          <a:p>
            <a:pPr marL="457200" lvl="4" indent="-330200">
              <a:buSzPts val="2000"/>
            </a:pPr>
            <a:endParaRPr sz="2000" dirty="0">
              <a:latin typeface="Verdana"/>
              <a:ea typeface="Verdana"/>
              <a:cs typeface="Verdana"/>
              <a:sym typeface="Verdana"/>
            </a:endParaRPr>
          </a:p>
          <a:p>
            <a:pPr marL="457200" lvl="4" indent="-330200">
              <a:buSzPts val="2000"/>
            </a:pPr>
            <a:endParaRPr sz="2000" dirty="0">
              <a:latin typeface="Verdana"/>
              <a:ea typeface="Verdana"/>
              <a:cs typeface="Verdana"/>
              <a:sym typeface="Verdana"/>
            </a:endParaRPr>
          </a:p>
          <a:p>
            <a:pPr marL="457200" lvl="4" indent="-330200">
              <a:buSzPts val="2000"/>
            </a:pPr>
            <a:endParaRPr sz="2000" dirty="0">
              <a:latin typeface="Verdana"/>
              <a:ea typeface="Verdana"/>
              <a:cs typeface="Verdana"/>
              <a:sym typeface="Verdana"/>
            </a:endParaRPr>
          </a:p>
          <a:p>
            <a:pPr marL="457200" lvl="4" indent="-330200">
              <a:buSzPts val="2000"/>
            </a:pPr>
            <a:endParaRPr sz="2000" dirty="0">
              <a:latin typeface="Verdana"/>
              <a:ea typeface="Verdana"/>
              <a:cs typeface="Verdana"/>
              <a:sym typeface="Verdana"/>
            </a:endParaRPr>
          </a:p>
          <a:p>
            <a:pPr marL="457200" lvl="4" indent="-330200">
              <a:buSzPts val="2000"/>
            </a:pPr>
            <a:endParaRPr sz="2000" dirty="0">
              <a:latin typeface="Verdana"/>
              <a:ea typeface="Verdana"/>
              <a:cs typeface="Verdana"/>
              <a:sym typeface="Verdana"/>
            </a:endParaRPr>
          </a:p>
          <a:p>
            <a:pPr marL="457200" lvl="4" indent="-330200">
              <a:buSzPts val="2000"/>
            </a:pPr>
            <a:endParaRPr lang="en-US" sz="2000" dirty="0">
              <a:latin typeface="Verdana"/>
              <a:ea typeface="Verdana"/>
              <a:cs typeface="Verdana"/>
              <a:sym typeface="Verdana"/>
            </a:endParaRPr>
          </a:p>
          <a:p>
            <a:pPr marL="457200" lvl="4" indent="-330200">
              <a:buSzPts val="2000"/>
            </a:pPr>
            <a:endParaRPr sz="2000" dirty="0">
              <a:latin typeface="Verdana"/>
              <a:ea typeface="Verdana"/>
              <a:cs typeface="Verdana"/>
              <a:sym typeface="Verdana"/>
            </a:endParaRPr>
          </a:p>
          <a:p>
            <a:pPr marL="457200" lvl="4" indent="-330200">
              <a:buSzPts val="2000"/>
            </a:pPr>
            <a:endParaRPr sz="2000" dirty="0">
              <a:latin typeface="Verdana"/>
              <a:ea typeface="Verdana"/>
              <a:cs typeface="Verdana"/>
              <a:sym typeface="Verdana"/>
            </a:endParaRPr>
          </a:p>
          <a:p>
            <a:pPr marL="457200" lvl="4" indent="-330200">
              <a:buSzPts val="2000"/>
            </a:pPr>
            <a:endParaRPr sz="2000" dirty="0">
              <a:latin typeface="Verdana"/>
              <a:ea typeface="Verdana"/>
              <a:cs typeface="Verdana"/>
              <a:sym typeface="Verdana"/>
            </a:endParaRPr>
          </a:p>
          <a:p>
            <a:pPr lvl="4"/>
            <a:endParaRPr sz="2000" dirty="0">
              <a:latin typeface="Verdana"/>
              <a:ea typeface="Verdana"/>
              <a:cs typeface="Verdana"/>
              <a:sym typeface="Verdana"/>
            </a:endParaRPr>
          </a:p>
          <a:p>
            <a:pPr marL="922338" lvl="4" indent="-461963">
              <a:buSzPts val="2000"/>
              <a:buFont typeface="Arial"/>
              <a:buAutoNum type="alphaLcPeriod"/>
            </a:pPr>
            <a:r>
              <a:rPr lang="en-US" sz="2000" dirty="0"/>
              <a:t>Using the box plots above, calculate and describe each of the features for Leto High in the table.</a:t>
            </a:r>
            <a:endParaRPr dirty="0"/>
          </a:p>
        </p:txBody>
      </p:sp>
      <p:pic>
        <p:nvPicPr>
          <p:cNvPr id="302" name="Google Shape;302;p14"/>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4932548" y="2401688"/>
            <a:ext cx="4764405" cy="2889250"/>
          </a:xfrm>
          <a:prstGeom prst="rect">
            <a:avLst/>
          </a:prstGeom>
          <a:noFill/>
          <a:ln>
            <a:noFill/>
          </a:ln>
        </p:spPr>
      </p:pic>
      <p:sp>
        <p:nvSpPr>
          <p:cNvPr id="303" name="Google Shape;303;p14"/>
          <p:cNvSpPr txBox="1"/>
          <p:nvPr/>
        </p:nvSpPr>
        <p:spPr>
          <a:xfrm>
            <a:off x="2956785" y="2552762"/>
            <a:ext cx="6991965" cy="3077766"/>
          </a:xfrm>
          <a:prstGeom prst="rect">
            <a:avLst/>
          </a:prstGeom>
          <a:noFill/>
          <a:ln>
            <a:noFill/>
          </a:ln>
        </p:spPr>
        <p:txBody>
          <a:bodyPr spcFirstLastPara="1" wrap="square" lIns="91425" tIns="45700" rIns="91425" bIns="45700" anchor="t" anchorCtr="0">
            <a:spAutoFit/>
          </a:bodyPr>
          <a:lstStyle/>
          <a:p>
            <a:endParaRPr b="1">
              <a:latin typeface="Verdana"/>
              <a:ea typeface="Verdana"/>
              <a:cs typeface="Verdana"/>
              <a:sym typeface="Verdana"/>
            </a:endParaRPr>
          </a:p>
          <a:p>
            <a:r>
              <a:rPr lang="en-US" sz="2000" b="1">
                <a:latin typeface="Verdana"/>
                <a:ea typeface="Verdana"/>
                <a:cs typeface="Verdana"/>
                <a:sym typeface="Verdana"/>
              </a:rPr>
              <a:t>East Bay High	</a:t>
            </a:r>
            <a:endParaRPr sz="2000">
              <a:latin typeface="Cambria"/>
              <a:ea typeface="Cambria"/>
              <a:cs typeface="Cambria"/>
              <a:sym typeface="Cambria"/>
            </a:endParaRPr>
          </a:p>
          <a:p>
            <a:r>
              <a:rPr lang="en-US" sz="2000">
                <a:latin typeface="Verdana"/>
                <a:ea typeface="Verdana"/>
                <a:cs typeface="Verdana"/>
                <a:sym typeface="Verdana"/>
              </a:rPr>
              <a:t> </a:t>
            </a:r>
            <a:endParaRPr sz="2000">
              <a:latin typeface="Cambria"/>
              <a:ea typeface="Cambria"/>
              <a:cs typeface="Cambria"/>
              <a:sym typeface="Cambria"/>
            </a:endParaRPr>
          </a:p>
          <a:p>
            <a:r>
              <a:rPr lang="en-US" sz="2000">
                <a:latin typeface="Verdana"/>
                <a:ea typeface="Verdana"/>
                <a:cs typeface="Verdana"/>
                <a:sym typeface="Verdana"/>
              </a:rPr>
              <a:t>		</a:t>
            </a:r>
            <a:endParaRPr sz="2000">
              <a:latin typeface="Cambria"/>
              <a:ea typeface="Cambria"/>
              <a:cs typeface="Cambria"/>
              <a:sym typeface="Cambria"/>
            </a:endParaRPr>
          </a:p>
          <a:p>
            <a:r>
              <a:rPr lang="en-US" sz="2000">
                <a:latin typeface="Verdana"/>
                <a:ea typeface="Verdana"/>
                <a:cs typeface="Verdana"/>
                <a:sym typeface="Verdana"/>
              </a:rPr>
              <a:t>		</a:t>
            </a:r>
            <a:endParaRPr sz="2000">
              <a:latin typeface="Cambria"/>
              <a:ea typeface="Cambria"/>
              <a:cs typeface="Cambria"/>
              <a:sym typeface="Cambria"/>
            </a:endParaRPr>
          </a:p>
          <a:p>
            <a:r>
              <a:rPr lang="en-US" sz="2000" b="1">
                <a:latin typeface="Verdana"/>
                <a:ea typeface="Verdana"/>
                <a:cs typeface="Verdana"/>
                <a:sym typeface="Verdana"/>
              </a:rPr>
              <a:t>   Leto High</a:t>
            </a:r>
            <a:endParaRPr sz="2000">
              <a:latin typeface="Cambria"/>
              <a:ea typeface="Cambria"/>
              <a:cs typeface="Cambria"/>
              <a:sym typeface="Cambria"/>
            </a:endParaRPr>
          </a:p>
          <a:p>
            <a:r>
              <a:rPr lang="en-US" sz="2000" i="1">
                <a:latin typeface="Verdana"/>
                <a:ea typeface="Verdana"/>
                <a:cs typeface="Verdana"/>
                <a:sym typeface="Verdana"/>
              </a:rPr>
              <a:t> </a:t>
            </a:r>
            <a:endParaRPr sz="2000">
              <a:latin typeface="Cambria"/>
              <a:ea typeface="Cambria"/>
              <a:cs typeface="Cambria"/>
              <a:sym typeface="Cambria"/>
            </a:endParaRPr>
          </a:p>
          <a:p>
            <a:r>
              <a:rPr lang="en-US" sz="2000" i="1">
                <a:latin typeface="Verdana"/>
                <a:ea typeface="Verdana"/>
                <a:cs typeface="Verdana"/>
                <a:sym typeface="Verdana"/>
              </a:rPr>
              <a:t> </a:t>
            </a:r>
            <a:endParaRPr sz="2000">
              <a:latin typeface="Cambria"/>
              <a:ea typeface="Cambria"/>
              <a:cs typeface="Cambria"/>
              <a:sym typeface="Cambria"/>
            </a:endParaRPr>
          </a:p>
          <a:p>
            <a:r>
              <a:rPr lang="en-US" sz="2000" i="1">
                <a:latin typeface="Verdana"/>
                <a:ea typeface="Verdana"/>
                <a:cs typeface="Verdana"/>
                <a:sym typeface="Verdana"/>
              </a:rPr>
              <a:t> </a:t>
            </a:r>
            <a:endParaRPr sz="2000">
              <a:latin typeface="Cambria"/>
              <a:ea typeface="Cambria"/>
              <a:cs typeface="Cambria"/>
              <a:sym typeface="Cambria"/>
            </a:endParaRPr>
          </a:p>
          <a:p>
            <a:r>
              <a:rPr lang="en-US" sz="2000">
                <a:latin typeface="Verdana"/>
                <a:ea typeface="Verdana"/>
                <a:cs typeface="Verdana"/>
                <a:sym typeface="Verdana"/>
              </a:rPr>
              <a:t>		         </a:t>
            </a:r>
            <a:r>
              <a:rPr lang="en-US" sz="2000" b="1">
                <a:latin typeface="Verdana"/>
                <a:ea typeface="Verdana"/>
                <a:cs typeface="Verdana"/>
                <a:sym typeface="Verdana"/>
              </a:rPr>
              <a:t>Mile Time (minutes)	</a:t>
            </a:r>
            <a:endParaRPr sz="2000"/>
          </a:p>
        </p:txBody>
      </p:sp>
      <p:sp>
        <p:nvSpPr>
          <p:cNvPr id="10" name="Google Shape;125;g104476d1465_1_17"/>
          <p:cNvSpPr txBox="1"/>
          <p:nvPr/>
        </p:nvSpPr>
        <p:spPr>
          <a:xfrm>
            <a:off x="870622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131</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445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15"/>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dirty="0"/>
          </a:p>
        </p:txBody>
      </p:sp>
      <p:graphicFrame>
        <p:nvGraphicFramePr>
          <p:cNvPr id="312" name="Google Shape;312;p15"/>
          <p:cNvGraphicFramePr/>
          <p:nvPr/>
        </p:nvGraphicFramePr>
        <p:xfrm>
          <a:off x="2163226" y="751225"/>
          <a:ext cx="8176475" cy="4572000"/>
        </p:xfrm>
        <a:graphic>
          <a:graphicData uri="http://schemas.openxmlformats.org/drawingml/2006/table">
            <a:tbl>
              <a:tblPr firstRow="1" firstCol="1" bandRow="1">
                <a:noFill/>
                <a:tableStyleId>{6D659866-F274-4FFC-AE47-F5A041375570}</a:tableStyleId>
              </a:tblPr>
              <a:tblGrid>
                <a:gridCol w="1532275">
                  <a:extLst>
                    <a:ext uri="{9D8B030D-6E8A-4147-A177-3AD203B41FA5}">
                      <a16:colId xmlns:a16="http://schemas.microsoft.com/office/drawing/2014/main" val="20000"/>
                    </a:ext>
                  </a:extLst>
                </a:gridCol>
                <a:gridCol w="3600075">
                  <a:extLst>
                    <a:ext uri="{9D8B030D-6E8A-4147-A177-3AD203B41FA5}">
                      <a16:colId xmlns:a16="http://schemas.microsoft.com/office/drawing/2014/main" val="20001"/>
                    </a:ext>
                  </a:extLst>
                </a:gridCol>
                <a:gridCol w="3044125">
                  <a:extLst>
                    <a:ext uri="{9D8B030D-6E8A-4147-A177-3AD203B41FA5}">
                      <a16:colId xmlns:a16="http://schemas.microsoft.com/office/drawing/2014/main" val="20002"/>
                    </a:ext>
                  </a:extLst>
                </a:gridCol>
              </a:tblGrid>
              <a:tr h="30480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Feature</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East Bay High School</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Leto High School</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extLst>
                  <a:ext uri="{0D108BD9-81ED-4DB2-BD59-A6C34878D82A}">
                    <a16:rowId xmlns:a16="http://schemas.microsoft.com/office/drawing/2014/main" val="10000"/>
                  </a:ext>
                </a:extLst>
              </a:tr>
              <a:tr h="609600">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Shape</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The shape of the data is asymmetrical.</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219200">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Center</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dk1"/>
                        </a:buClr>
                        <a:buFont typeface="Arial"/>
                        <a:buNone/>
                      </a:pPr>
                      <a:r>
                        <a:rPr lang="en-US" sz="2000">
                          <a:solidFill>
                            <a:schemeClr val="dk1"/>
                          </a:solidFill>
                          <a:latin typeface="Verdana"/>
                          <a:ea typeface="Verdana"/>
                          <a:cs typeface="Verdana"/>
                          <a:sym typeface="Verdana"/>
                        </a:rPr>
                        <a:t>The median mile time for the sample of East Bay High team members is 5 minutes.</a:t>
                      </a:r>
                      <a:endParaRPr sz="1400" u="none" strike="noStrike" cap="none"/>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438400">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Variability</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US" sz="2000">
                          <a:solidFill>
                            <a:schemeClr val="dk1"/>
                          </a:solidFill>
                          <a:latin typeface="Verdana"/>
                          <a:ea typeface="Verdana"/>
                          <a:cs typeface="Verdana"/>
                          <a:sym typeface="Verdana"/>
                        </a:rPr>
                        <a:t>The range of the sample of East Bay High team members’ mile times is 1.5 minutes.</a:t>
                      </a:r>
                      <a:endParaRPr sz="2000">
                        <a:solidFill>
                          <a:schemeClr val="dk1"/>
                        </a:solidFill>
                        <a:latin typeface="Verdana"/>
                        <a:ea typeface="Verdana"/>
                        <a:cs typeface="Verdana"/>
                        <a:sym typeface="Verdana"/>
                      </a:endParaRPr>
                    </a:p>
                    <a:p>
                      <a:pPr marL="0" lvl="0" indent="0" algn="ctr" rtl="0">
                        <a:spcBef>
                          <a:spcPts val="0"/>
                        </a:spcBef>
                        <a:spcAft>
                          <a:spcPts val="0"/>
                        </a:spcAft>
                        <a:buClr>
                          <a:schemeClr val="dk1"/>
                        </a:buClr>
                        <a:buFont typeface="Arial"/>
                        <a:buNone/>
                      </a:pPr>
                      <a:r>
                        <a:rPr lang="en-US" sz="2000">
                          <a:solidFill>
                            <a:schemeClr val="dk1"/>
                          </a:solidFill>
                          <a:latin typeface="Verdana"/>
                          <a:ea typeface="Verdana"/>
                          <a:cs typeface="Verdana"/>
                          <a:sym typeface="Verdana"/>
                        </a:rPr>
                        <a:t>The IQR of the sample of East Bay High team members’ miles times is 0.75 minutes.</a:t>
                      </a:r>
                      <a:endParaRPr sz="2000">
                        <a:solidFill>
                          <a:schemeClr val="dk1"/>
                        </a:solidFill>
                        <a:latin typeface="Verdana"/>
                        <a:ea typeface="Verdana"/>
                        <a:cs typeface="Verdana"/>
                        <a:sym typeface="Verdana"/>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6" name="Google Shape;125;g104476d1465_1_17"/>
          <p:cNvSpPr txBox="1"/>
          <p:nvPr/>
        </p:nvSpPr>
        <p:spPr>
          <a:xfrm>
            <a:off x="870622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131</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4445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16"/>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21" name="Google Shape;321;p16"/>
          <p:cNvSpPr txBox="1"/>
          <p:nvPr/>
        </p:nvSpPr>
        <p:spPr>
          <a:xfrm>
            <a:off x="2007765" y="520394"/>
            <a:ext cx="8327136" cy="5632311"/>
          </a:xfrm>
          <a:prstGeom prst="rect">
            <a:avLst/>
          </a:prstGeom>
          <a:blipFill rotWithShape="1">
            <a:blip r:embed="rId3">
              <a:alphaModFix/>
            </a:blip>
            <a:stretch>
              <a:fillRect t="-447" r="-1368"/>
            </a:stretch>
          </a:blipFill>
          <a:ln>
            <a:noFill/>
          </a:ln>
        </p:spPr>
        <p:txBody>
          <a:bodyPr spcFirstLastPara="1" wrap="square" lIns="91425" tIns="45700" rIns="91425" bIns="45700" anchor="t" anchorCtr="0">
            <a:noAutofit/>
          </a:bodyPr>
          <a:lstStyle/>
          <a:p>
            <a:r>
              <a:rPr lang="en-US"/>
              <a:t> </a:t>
            </a:r>
            <a:endParaRPr/>
          </a:p>
        </p:txBody>
      </p:sp>
      <p:sp>
        <p:nvSpPr>
          <p:cNvPr id="6" name="Google Shape;125;g104476d1465_1_17"/>
          <p:cNvSpPr txBox="1"/>
          <p:nvPr/>
        </p:nvSpPr>
        <p:spPr>
          <a:xfrm>
            <a:off x="870622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132</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445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17"/>
          <p:cNvSpPr/>
          <p:nvPr/>
        </p:nvSpPr>
        <p:spPr>
          <a:xfrm>
            <a:off x="0" y="-8225"/>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30" name="Google Shape;330;p17"/>
          <p:cNvSpPr txBox="1"/>
          <p:nvPr/>
        </p:nvSpPr>
        <p:spPr>
          <a:xfrm>
            <a:off x="1060174" y="520393"/>
            <a:ext cx="10222318" cy="1323399"/>
          </a:xfrm>
          <a:prstGeom prst="rect">
            <a:avLst/>
          </a:prstGeom>
          <a:noFill/>
          <a:ln>
            <a:noFill/>
          </a:ln>
        </p:spPr>
        <p:txBody>
          <a:bodyPr spcFirstLastPara="1" wrap="square" lIns="91425" tIns="45700" rIns="91425" bIns="45700" anchor="t" anchorCtr="0">
            <a:spAutoFit/>
          </a:bodyPr>
          <a:lstStyle/>
          <a:p>
            <a:pPr marL="457200" lvl="2" indent="-457200">
              <a:buSzPts val="2000"/>
              <a:buFont typeface="Arial"/>
              <a:buAutoNum type="alphaLcPeriod" startAt="4"/>
            </a:pPr>
            <a:r>
              <a:rPr lang="en-US" sz="2000">
                <a:latin typeface="Verdana"/>
                <a:ea typeface="Verdana"/>
                <a:cs typeface="Verdana"/>
                <a:sym typeface="Verdana"/>
              </a:rPr>
              <a:t>Based on your conclusions and answers to Parts A through C, use some of the terms from the word bank below to write a 4-5 sentence summary comparing the population of runners at East Bay High School to the population of runners at </a:t>
            </a:r>
            <a:r>
              <a:rPr lang="en-US" sz="2000" dirty="0" err="1">
                <a:latin typeface="Verdana"/>
                <a:ea typeface="Verdana"/>
                <a:cs typeface="Verdana"/>
                <a:sym typeface="Verdana"/>
              </a:rPr>
              <a:t>Leto</a:t>
            </a:r>
            <a:r>
              <a:rPr lang="en-US" sz="2000" dirty="0">
                <a:latin typeface="Verdana"/>
                <a:ea typeface="Verdana"/>
                <a:cs typeface="Verdana"/>
                <a:sym typeface="Verdana"/>
              </a:rPr>
              <a:t> High School.</a:t>
            </a:r>
            <a:endParaRPr dirty="0"/>
          </a:p>
        </p:txBody>
      </p:sp>
      <p:grpSp>
        <p:nvGrpSpPr>
          <p:cNvPr id="331" name="Google Shape;331;p17"/>
          <p:cNvGrpSpPr/>
          <p:nvPr/>
        </p:nvGrpSpPr>
        <p:grpSpPr>
          <a:xfrm>
            <a:off x="1690401" y="2151609"/>
            <a:ext cx="8926426" cy="2147642"/>
            <a:chOff x="40154" y="-643986"/>
            <a:chExt cx="2378607" cy="2163670"/>
          </a:xfrm>
        </p:grpSpPr>
        <p:sp>
          <p:nvSpPr>
            <p:cNvPr id="332" name="Google Shape;332;p17"/>
            <p:cNvSpPr/>
            <p:nvPr/>
          </p:nvSpPr>
          <p:spPr>
            <a:xfrm>
              <a:off x="84159" y="-643986"/>
              <a:ext cx="2312372" cy="1915539"/>
            </a:xfrm>
            <a:prstGeom prst="roundRect">
              <a:avLst>
                <a:gd name="adj" fmla="val 16667"/>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endParaRPr>
                <a:solidFill>
                  <a:schemeClr val="dk1"/>
                </a:solidFill>
              </a:endParaRPr>
            </a:p>
          </p:txBody>
        </p:sp>
        <p:sp>
          <p:nvSpPr>
            <p:cNvPr id="333" name="Google Shape;333;p17"/>
            <p:cNvSpPr txBox="1"/>
            <p:nvPr/>
          </p:nvSpPr>
          <p:spPr>
            <a:xfrm>
              <a:off x="40154" y="-242220"/>
              <a:ext cx="2378607" cy="1761904"/>
            </a:xfrm>
            <a:prstGeom prst="rect">
              <a:avLst/>
            </a:prstGeom>
            <a:noFill/>
            <a:ln>
              <a:noFill/>
            </a:ln>
          </p:spPr>
          <p:txBody>
            <a:bodyPr spcFirstLastPara="1" wrap="square" lIns="91425" tIns="45700" rIns="91425" bIns="45700" anchor="t" anchorCtr="0">
              <a:noAutofit/>
            </a:bodyPr>
            <a:lstStyle/>
            <a:p>
              <a:pPr marL="457200"/>
              <a:r>
                <a:rPr lang="en-US" sz="1800">
                  <a:latin typeface="Verdana"/>
                  <a:ea typeface="Verdana"/>
                  <a:cs typeface="Verdana"/>
                  <a:sym typeface="Verdana"/>
                </a:rPr>
                <a:t>mean		median			range	 		IQR</a:t>
              </a:r>
              <a:endParaRPr sz="1200">
                <a:latin typeface="Cambria"/>
                <a:ea typeface="Cambria"/>
                <a:cs typeface="Cambria"/>
                <a:sym typeface="Cambria"/>
              </a:endParaRPr>
            </a:p>
            <a:p>
              <a:pPr marL="457200">
                <a:spcBef>
                  <a:spcPts val="1000"/>
                </a:spcBef>
              </a:pPr>
              <a:r>
                <a:rPr lang="en-US" sz="1800">
                  <a:latin typeface="Verdana"/>
                  <a:ea typeface="Verdana"/>
                  <a:cs typeface="Verdana"/>
                  <a:sym typeface="Verdana"/>
                </a:rPr>
                <a:t>	center		variability		upper quartile		</a:t>
              </a:r>
              <a:endParaRPr sz="1200">
                <a:latin typeface="Cambria"/>
                <a:ea typeface="Cambria"/>
                <a:cs typeface="Cambria"/>
                <a:sym typeface="Cambria"/>
              </a:endParaRPr>
            </a:p>
            <a:p>
              <a:pPr marL="457200">
                <a:spcBef>
                  <a:spcPts val="1000"/>
                </a:spcBef>
              </a:pPr>
              <a:r>
                <a:rPr lang="en-US" sz="1800">
                  <a:latin typeface="Verdana"/>
                  <a:ea typeface="Verdana"/>
                  <a:cs typeface="Verdana"/>
                  <a:sym typeface="Verdana"/>
                </a:rPr>
                <a:t>lower quartile		sample		population</a:t>
              </a:r>
              <a:endParaRPr sz="1200">
                <a:latin typeface="Cambria"/>
                <a:ea typeface="Cambria"/>
                <a:cs typeface="Cambria"/>
                <a:sym typeface="Cambria"/>
              </a:endParaRPr>
            </a:p>
            <a:p>
              <a:pPr marL="457200">
                <a:spcBef>
                  <a:spcPts val="1000"/>
                </a:spcBef>
              </a:pPr>
              <a:r>
                <a:rPr lang="en-US" sz="1800">
                  <a:latin typeface="Verdana"/>
                  <a:ea typeface="Verdana"/>
                  <a:cs typeface="Verdana"/>
                  <a:sym typeface="Verdana"/>
                </a:rPr>
                <a:t>			 					</a:t>
              </a:r>
              <a:endParaRPr sz="1200">
                <a:latin typeface="Cambria"/>
                <a:ea typeface="Cambria"/>
                <a:cs typeface="Cambria"/>
                <a:sym typeface="Cambria"/>
              </a:endParaRPr>
            </a:p>
            <a:p>
              <a:pPr marL="457200">
                <a:spcBef>
                  <a:spcPts val="1000"/>
                </a:spcBef>
              </a:pPr>
              <a:r>
                <a:rPr lang="en-US" sz="1800">
                  <a:latin typeface="Verdana"/>
                  <a:ea typeface="Verdana"/>
                  <a:cs typeface="Verdana"/>
                  <a:sym typeface="Verdana"/>
                </a:rPr>
                <a:t> </a:t>
              </a:r>
              <a:endParaRPr sz="1200">
                <a:latin typeface="Cambria"/>
                <a:ea typeface="Cambria"/>
                <a:cs typeface="Cambria"/>
                <a:sym typeface="Cambria"/>
              </a:endParaRPr>
            </a:p>
          </p:txBody>
        </p:sp>
      </p:grpSp>
      <p:sp>
        <p:nvSpPr>
          <p:cNvPr id="9" name="Google Shape;125;g104476d1465_1_17"/>
          <p:cNvSpPr txBox="1"/>
          <p:nvPr/>
        </p:nvSpPr>
        <p:spPr>
          <a:xfrm>
            <a:off x="870622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132</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4445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graphicFrame>
        <p:nvGraphicFramePr>
          <p:cNvPr id="339" name="Google Shape;339;p18"/>
          <p:cNvGraphicFramePr/>
          <p:nvPr/>
        </p:nvGraphicFramePr>
        <p:xfrm>
          <a:off x="3263435" y="2709070"/>
          <a:ext cx="6532175" cy="3352800"/>
        </p:xfrm>
        <a:graphic>
          <a:graphicData uri="http://schemas.openxmlformats.org/drawingml/2006/table">
            <a:tbl>
              <a:tblPr firstRow="1" firstCol="1" bandRow="1">
                <a:noFill/>
                <a:tableStyleId>{6D659866-F274-4FFC-AE47-F5A041375570}</a:tableStyleId>
              </a:tblPr>
              <a:tblGrid>
                <a:gridCol w="1250075">
                  <a:extLst>
                    <a:ext uri="{9D8B030D-6E8A-4147-A177-3AD203B41FA5}">
                      <a16:colId xmlns:a16="http://schemas.microsoft.com/office/drawing/2014/main" val="20000"/>
                    </a:ext>
                  </a:extLst>
                </a:gridCol>
                <a:gridCol w="1320525">
                  <a:extLst>
                    <a:ext uri="{9D8B030D-6E8A-4147-A177-3AD203B41FA5}">
                      <a16:colId xmlns:a16="http://schemas.microsoft.com/office/drawing/2014/main" val="20001"/>
                    </a:ext>
                  </a:extLst>
                </a:gridCol>
                <a:gridCol w="1320525">
                  <a:extLst>
                    <a:ext uri="{9D8B030D-6E8A-4147-A177-3AD203B41FA5}">
                      <a16:colId xmlns:a16="http://schemas.microsoft.com/office/drawing/2014/main" val="20002"/>
                    </a:ext>
                  </a:extLst>
                </a:gridCol>
                <a:gridCol w="1320525">
                  <a:extLst>
                    <a:ext uri="{9D8B030D-6E8A-4147-A177-3AD203B41FA5}">
                      <a16:colId xmlns:a16="http://schemas.microsoft.com/office/drawing/2014/main" val="20003"/>
                    </a:ext>
                  </a:extLst>
                </a:gridCol>
                <a:gridCol w="1320525">
                  <a:extLst>
                    <a:ext uri="{9D8B030D-6E8A-4147-A177-3AD203B41FA5}">
                      <a16:colId xmlns:a16="http://schemas.microsoft.com/office/drawing/2014/main" val="20004"/>
                    </a:ext>
                  </a:extLst>
                </a:gridCol>
              </a:tblGrid>
              <a:tr h="30480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Stem</a:t>
                      </a:r>
                      <a:endParaRPr/>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Leaf</a:t>
                      </a:r>
                      <a:endParaRPr/>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 </a:t>
                      </a:r>
                      <a:endParaRPr/>
                    </a:p>
                  </a:txBody>
                  <a:tcPr marL="68575" marR="68575"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2700" cap="flat" cmpd="sng">
                      <a:solidFill>
                        <a:schemeClr val="dk1">
                          <a:alpha val="0"/>
                        </a:scheme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Stem</a:t>
                      </a:r>
                      <a:endParaRPr/>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Leaf</a:t>
                      </a:r>
                      <a:endParaRPr/>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04800">
                <a:tc>
                  <a:txBody>
                    <a:bodyPr/>
                    <a:lstStyle/>
                    <a:p>
                      <a:pPr marL="0" marR="0" lvl="0" indent="0" algn="ctr" rtl="0">
                        <a:lnSpc>
                          <a:spcPct val="100000"/>
                        </a:lnSpc>
                        <a:spcBef>
                          <a:spcPts val="0"/>
                        </a:spcBef>
                        <a:spcAft>
                          <a:spcPts val="0"/>
                        </a:spcAft>
                        <a:buNone/>
                      </a:pPr>
                      <a:r>
                        <a:rPr lang="en-US" sz="2000"/>
                        <a:t>2</a:t>
                      </a:r>
                      <a:endParaRPr sz="2000" u="none" strike="noStrike" cap="none"/>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t>1, 2, 8</a:t>
                      </a:r>
                      <a:endParaRPr sz="2000" u="none" strike="noStrike" cap="none"/>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t> </a:t>
                      </a:r>
                      <a:endParaRPr sz="2000" u="none" strike="noStrike" cap="none">
                        <a:latin typeface="Cambria"/>
                        <a:ea typeface="Cambria"/>
                        <a:cs typeface="Cambria"/>
                        <a:sym typeface="Cambria"/>
                      </a:endParaRPr>
                    </a:p>
                  </a:txBody>
                  <a:tcPr marL="68575" marR="68575"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solidFill>
                        <a:schemeClr val="dk1">
                          <a:alpha val="0"/>
                        </a:scheme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t>4</a:t>
                      </a:r>
                      <a:endParaRPr sz="2000" u="none" strike="noStrike" cap="none"/>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2000"/>
                        <a:t>5, 8</a:t>
                      </a:r>
                      <a:endParaRPr sz="2000"/>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r h="304800">
                <a:tc>
                  <a:txBody>
                    <a:bodyPr/>
                    <a:lstStyle/>
                    <a:p>
                      <a:pPr marL="0" marR="0" lvl="0" indent="0" algn="ctr" rtl="0">
                        <a:lnSpc>
                          <a:spcPct val="100000"/>
                        </a:lnSpc>
                        <a:spcBef>
                          <a:spcPts val="0"/>
                        </a:spcBef>
                        <a:spcAft>
                          <a:spcPts val="0"/>
                        </a:spcAft>
                        <a:buNone/>
                      </a:pPr>
                      <a:r>
                        <a:rPr lang="en-US" sz="2000"/>
                        <a:t>3</a:t>
                      </a:r>
                      <a:endParaRPr sz="2000" u="none" strike="noStrike" cap="none"/>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2000"/>
                        <a:t>3,6</a:t>
                      </a:r>
                      <a:endParaRPr sz="2000"/>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t> </a:t>
                      </a:r>
                      <a:endParaRPr sz="2000" u="none" strike="noStrike" cap="none">
                        <a:latin typeface="Cambria"/>
                        <a:ea typeface="Cambria"/>
                        <a:cs typeface="Cambria"/>
                        <a:sym typeface="Cambria"/>
                      </a:endParaRPr>
                    </a:p>
                  </a:txBody>
                  <a:tcPr marL="68575" marR="68575"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t>5</a:t>
                      </a:r>
                      <a:endParaRPr sz="2000" u="none" strike="noStrike" cap="none"/>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2000"/>
                        <a:t>6, 9</a:t>
                      </a:r>
                      <a:endParaRPr sz="2000"/>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2"/>
                  </a:ext>
                </a:extLst>
              </a:tr>
              <a:tr h="304800">
                <a:tc>
                  <a:txBody>
                    <a:bodyPr/>
                    <a:lstStyle/>
                    <a:p>
                      <a:pPr marL="0" marR="0" lvl="0" indent="0" algn="ctr" rtl="0">
                        <a:lnSpc>
                          <a:spcPct val="100000"/>
                        </a:lnSpc>
                        <a:spcBef>
                          <a:spcPts val="0"/>
                        </a:spcBef>
                        <a:spcAft>
                          <a:spcPts val="0"/>
                        </a:spcAft>
                        <a:buNone/>
                      </a:pPr>
                      <a:r>
                        <a:rPr lang="en-US" sz="2000"/>
                        <a:t>4</a:t>
                      </a:r>
                      <a:endParaRPr sz="2000" u="none" strike="noStrike" cap="none"/>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t>5, 8, 8</a:t>
                      </a:r>
                      <a:endParaRPr sz="2000" u="none" strike="noStrike" cap="none"/>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t> </a:t>
                      </a:r>
                      <a:endParaRPr sz="2000" u="none" strike="noStrike" cap="none">
                        <a:latin typeface="Cambria"/>
                        <a:ea typeface="Cambria"/>
                        <a:cs typeface="Cambria"/>
                        <a:sym typeface="Cambria"/>
                      </a:endParaRPr>
                    </a:p>
                  </a:txBody>
                  <a:tcPr marL="68575" marR="68575"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2000"/>
                        <a:t>6</a:t>
                      </a:r>
                      <a:endParaRPr sz="2000"/>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2000"/>
                        <a:t>1, 1, 3, 5</a:t>
                      </a:r>
                      <a:endParaRPr sz="2000"/>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3"/>
                  </a:ext>
                </a:extLst>
              </a:tr>
              <a:tr h="304800">
                <a:tc>
                  <a:txBody>
                    <a:bodyPr/>
                    <a:lstStyle/>
                    <a:p>
                      <a:pPr marL="0" marR="0" lvl="0" indent="0" algn="ctr" rtl="0">
                        <a:lnSpc>
                          <a:spcPct val="100000"/>
                        </a:lnSpc>
                        <a:spcBef>
                          <a:spcPts val="0"/>
                        </a:spcBef>
                        <a:spcAft>
                          <a:spcPts val="0"/>
                        </a:spcAft>
                        <a:buNone/>
                      </a:pPr>
                      <a:r>
                        <a:rPr lang="en-US" sz="2000"/>
                        <a:t>5</a:t>
                      </a:r>
                      <a:endParaRPr sz="2000" u="none" strike="noStrike" cap="none"/>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t>1, 6</a:t>
                      </a:r>
                      <a:endParaRPr sz="2000" u="none" strike="noStrike" cap="none"/>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t> </a:t>
                      </a:r>
                      <a:endParaRPr sz="2000" u="none" strike="noStrike" cap="none">
                        <a:latin typeface="Cambria"/>
                        <a:ea typeface="Cambria"/>
                        <a:cs typeface="Cambria"/>
                        <a:sym typeface="Cambria"/>
                      </a:endParaRPr>
                    </a:p>
                  </a:txBody>
                  <a:tcPr marL="68575" marR="68575"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2000"/>
                        <a:t>7</a:t>
                      </a:r>
                      <a:endParaRPr sz="2000"/>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2000"/>
                        <a:t>5, 5, 6</a:t>
                      </a:r>
                      <a:endParaRPr sz="2000"/>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4"/>
                  </a:ext>
                </a:extLst>
              </a:tr>
              <a:tr h="304800">
                <a:tc>
                  <a:txBody>
                    <a:bodyPr/>
                    <a:lstStyle/>
                    <a:p>
                      <a:pPr marL="0" marR="0" lvl="0" indent="0" algn="ctr" rtl="0">
                        <a:lnSpc>
                          <a:spcPct val="100000"/>
                        </a:lnSpc>
                        <a:spcBef>
                          <a:spcPts val="0"/>
                        </a:spcBef>
                        <a:spcAft>
                          <a:spcPts val="0"/>
                        </a:spcAft>
                        <a:buNone/>
                      </a:pPr>
                      <a:r>
                        <a:rPr lang="en-US" sz="2000"/>
                        <a:t>6</a:t>
                      </a:r>
                      <a:endParaRPr sz="2000" u="none" strike="noStrike" cap="none"/>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t> </a:t>
                      </a:r>
                      <a:endParaRPr sz="20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t> </a:t>
                      </a:r>
                      <a:endParaRPr sz="2000" u="none" strike="noStrike" cap="none">
                        <a:latin typeface="Cambria"/>
                        <a:ea typeface="Cambria"/>
                        <a:cs typeface="Cambria"/>
                        <a:sym typeface="Cambria"/>
                      </a:endParaRPr>
                    </a:p>
                  </a:txBody>
                  <a:tcPr marL="68575" marR="68575"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2000"/>
                        <a:t>8</a:t>
                      </a:r>
                      <a:endParaRPr sz="2000"/>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2000"/>
                        <a:t>0, 6</a:t>
                      </a:r>
                      <a:endParaRPr sz="2000"/>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5"/>
                  </a:ext>
                </a:extLst>
              </a:tr>
              <a:tr h="304800">
                <a:tc>
                  <a:txBody>
                    <a:bodyPr/>
                    <a:lstStyle/>
                    <a:p>
                      <a:pPr marL="0" marR="0" lvl="0" indent="0" algn="ctr" rtl="0">
                        <a:lnSpc>
                          <a:spcPct val="100000"/>
                        </a:lnSpc>
                        <a:spcBef>
                          <a:spcPts val="0"/>
                        </a:spcBef>
                        <a:spcAft>
                          <a:spcPts val="0"/>
                        </a:spcAft>
                        <a:buNone/>
                      </a:pPr>
                      <a:r>
                        <a:rPr lang="en-US" sz="2000"/>
                        <a:t>7</a:t>
                      </a:r>
                      <a:endParaRPr sz="2000" u="none" strike="noStrike" cap="none"/>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t>2, 2</a:t>
                      </a:r>
                      <a:endParaRPr sz="2000" u="none" strike="noStrike" cap="none"/>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t> </a:t>
                      </a:r>
                      <a:endParaRPr sz="2000" u="none" strike="noStrike" cap="none">
                        <a:latin typeface="Cambria"/>
                        <a:ea typeface="Cambria"/>
                        <a:cs typeface="Cambria"/>
                        <a:sym typeface="Cambria"/>
                      </a:endParaRPr>
                    </a:p>
                  </a:txBody>
                  <a:tcPr marL="68575" marR="68575"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2000"/>
                        <a:t>9</a:t>
                      </a:r>
                      <a:endParaRPr sz="2000"/>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2000"/>
                        <a:t>1, 8</a:t>
                      </a:r>
                      <a:endParaRPr sz="2000"/>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6"/>
                  </a:ext>
                </a:extLst>
              </a:tr>
              <a:tr h="304800">
                <a:tc>
                  <a:txBody>
                    <a:bodyPr/>
                    <a:lstStyle/>
                    <a:p>
                      <a:pPr marL="0" marR="0" lvl="0" indent="0" algn="ctr" rtl="0">
                        <a:lnSpc>
                          <a:spcPct val="100000"/>
                        </a:lnSpc>
                        <a:spcBef>
                          <a:spcPts val="0"/>
                        </a:spcBef>
                        <a:spcAft>
                          <a:spcPts val="0"/>
                        </a:spcAft>
                        <a:buNone/>
                      </a:pPr>
                      <a:r>
                        <a:rPr lang="en-US" sz="2000"/>
                        <a:t>8</a:t>
                      </a:r>
                      <a:endParaRPr sz="2000" u="none" strike="noStrike" cap="none"/>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t>1, 6</a:t>
                      </a:r>
                      <a:endParaRPr sz="2000" u="none" strike="noStrike" cap="none"/>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t> </a:t>
                      </a:r>
                      <a:endParaRPr sz="2000" u="none" strike="noStrike" cap="none">
                        <a:latin typeface="Cambria"/>
                        <a:ea typeface="Cambria"/>
                        <a:cs typeface="Cambria"/>
                        <a:sym typeface="Cambria"/>
                      </a:endParaRPr>
                    </a:p>
                  </a:txBody>
                  <a:tcPr marL="68575" marR="68575"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2000"/>
                        <a:t>10</a:t>
                      </a:r>
                      <a:endParaRPr sz="2000"/>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2000"/>
                        <a:t>0</a:t>
                      </a:r>
                      <a:endParaRPr sz="2000"/>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7"/>
                  </a:ext>
                </a:extLst>
              </a:tr>
              <a:tr h="304800">
                <a:tc>
                  <a:txBody>
                    <a:bodyPr/>
                    <a:lstStyle/>
                    <a:p>
                      <a:pPr marL="0" marR="0" lvl="0" indent="0" algn="ctr" rtl="0">
                        <a:lnSpc>
                          <a:spcPct val="100000"/>
                        </a:lnSpc>
                        <a:spcBef>
                          <a:spcPts val="0"/>
                        </a:spcBef>
                        <a:spcAft>
                          <a:spcPts val="0"/>
                        </a:spcAft>
                        <a:buNone/>
                      </a:pPr>
                      <a:r>
                        <a:rPr lang="en-US" sz="2000"/>
                        <a:t>9</a:t>
                      </a:r>
                      <a:endParaRPr sz="2000" u="none" strike="noStrike" cap="none"/>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t>1</a:t>
                      </a:r>
                      <a:endParaRPr sz="2000" u="none" strike="noStrike" cap="none"/>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t> </a:t>
                      </a:r>
                      <a:endParaRPr sz="2000" u="none" strike="noStrike" cap="none">
                        <a:latin typeface="Cambria"/>
                        <a:ea typeface="Cambria"/>
                        <a:cs typeface="Cambria"/>
                        <a:sym typeface="Cambria"/>
                      </a:endParaRPr>
                    </a:p>
                  </a:txBody>
                  <a:tcPr marL="68575" marR="68575"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2000"/>
                    </a:p>
                  </a:txBody>
                  <a:tcPr marL="68575" marR="68575" marT="0" marB="0">
                    <a:lnL w="9525" cap="flat" cmpd="sng">
                      <a:solidFill>
                        <a:srgbClr val="9E9E9E">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2000"/>
                    </a:p>
                  </a:txBody>
                  <a:tcPr marL="68575" marR="68575" marT="0" marB="0">
                    <a:lnL w="12700"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8"/>
                  </a:ext>
                </a:extLst>
              </a:tr>
              <a:tr h="304800">
                <a:tc gridSpan="2">
                  <a:txBody>
                    <a:bodyPr/>
                    <a:lstStyle/>
                    <a:p>
                      <a:pPr marL="0" marR="0" lvl="0" indent="0" algn="ctr" rtl="0">
                        <a:lnSpc>
                          <a:spcPct val="100000"/>
                        </a:lnSpc>
                        <a:spcBef>
                          <a:spcPts val="0"/>
                        </a:spcBef>
                        <a:spcAft>
                          <a:spcPts val="0"/>
                        </a:spcAft>
                        <a:buNone/>
                      </a:pPr>
                      <a:r>
                        <a:rPr lang="en-US" sz="2000" u="none" strike="noStrike" cap="none"/>
                        <a:t>Key: 2|1 = $210.00</a:t>
                      </a:r>
                      <a:endParaRPr sz="2000" u="none" strike="noStrike" cap="none">
                        <a:latin typeface="Cambria"/>
                        <a:ea typeface="Cambria"/>
                        <a:cs typeface="Cambria"/>
                        <a:sym typeface="Cambria"/>
                      </a:endParaRPr>
                    </a:p>
                  </a:txBody>
                  <a:tcPr marL="68575" marR="68575"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tc>
                  <a:txBody>
                    <a:bodyPr/>
                    <a:lstStyle/>
                    <a:p>
                      <a:pPr marL="0" marR="0" lvl="0" indent="0" algn="ctr" rtl="0">
                        <a:lnSpc>
                          <a:spcPct val="100000"/>
                        </a:lnSpc>
                        <a:spcBef>
                          <a:spcPts val="0"/>
                        </a:spcBef>
                        <a:spcAft>
                          <a:spcPts val="0"/>
                        </a:spcAft>
                        <a:buNone/>
                      </a:pPr>
                      <a:r>
                        <a:rPr lang="en-US" sz="2000" u="none" strike="noStrike" cap="none"/>
                        <a:t> </a:t>
                      </a:r>
                      <a:endParaRPr sz="2000" u="none" strike="noStrike" cap="none">
                        <a:latin typeface="Cambria"/>
                        <a:ea typeface="Cambria"/>
                        <a:cs typeface="Cambria"/>
                        <a:sym typeface="Cambria"/>
                      </a:endParaRPr>
                    </a:p>
                  </a:txBody>
                  <a:tcPr marL="68575" marR="68575"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gridSpan="2">
                  <a:txBody>
                    <a:bodyPr/>
                    <a:lstStyle/>
                    <a:p>
                      <a:pPr marL="0" marR="0" lvl="0" indent="0" algn="ctr" rtl="0">
                        <a:lnSpc>
                          <a:spcPct val="100000"/>
                        </a:lnSpc>
                        <a:spcBef>
                          <a:spcPts val="0"/>
                        </a:spcBef>
                        <a:spcAft>
                          <a:spcPts val="0"/>
                        </a:spcAft>
                        <a:buNone/>
                      </a:pPr>
                      <a:r>
                        <a:rPr lang="en-US" sz="2000" u="none" strike="noStrike" cap="none"/>
                        <a:t>Key: 2|1 = $210.00</a:t>
                      </a:r>
                      <a:endParaRPr sz="2000" u="none" strike="noStrike" cap="none">
                        <a:latin typeface="Cambria"/>
                        <a:ea typeface="Cambria"/>
                        <a:cs typeface="Cambria"/>
                        <a:sym typeface="Cambria"/>
                      </a:endParaRPr>
                    </a:p>
                  </a:txBody>
                  <a:tcPr marL="68575" marR="68575"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9"/>
                  </a:ext>
                </a:extLst>
              </a:tr>
              <a:tr h="304800">
                <a:tc gridSpan="2">
                  <a:txBody>
                    <a:bodyPr/>
                    <a:lstStyle/>
                    <a:p>
                      <a:pPr marL="0" marR="0" lvl="0" indent="0" algn="ctr" rtl="0">
                        <a:lnSpc>
                          <a:spcPct val="100000"/>
                        </a:lnSpc>
                        <a:spcBef>
                          <a:spcPts val="0"/>
                        </a:spcBef>
                        <a:spcAft>
                          <a:spcPts val="0"/>
                        </a:spcAft>
                        <a:buNone/>
                      </a:pPr>
                      <a:r>
                        <a:rPr lang="en-US" sz="2000" u="none" strike="noStrike" cap="none"/>
                        <a:t> </a:t>
                      </a:r>
                      <a:endParaRPr sz="2000" u="none" strike="noStrike" cap="none">
                        <a:latin typeface="Cambria"/>
                        <a:ea typeface="Cambria"/>
                        <a:cs typeface="Cambria"/>
                        <a:sym typeface="Cambria"/>
                      </a:endParaRPr>
                    </a:p>
                  </a:txBody>
                  <a:tcPr marL="68575" marR="68575"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tc>
                  <a:txBody>
                    <a:bodyPr/>
                    <a:lstStyle/>
                    <a:p>
                      <a:pPr marL="0" marR="0" lvl="0" indent="0" algn="ctr" rtl="0">
                        <a:lnSpc>
                          <a:spcPct val="100000"/>
                        </a:lnSpc>
                        <a:spcBef>
                          <a:spcPts val="0"/>
                        </a:spcBef>
                        <a:spcAft>
                          <a:spcPts val="0"/>
                        </a:spcAft>
                        <a:buNone/>
                      </a:pPr>
                      <a:r>
                        <a:rPr lang="en-US" sz="2000" u="none" strike="noStrike" cap="none"/>
                        <a:t> </a:t>
                      </a:r>
                      <a:endParaRPr sz="2000" u="none" strike="noStrike" cap="none">
                        <a:latin typeface="Cambria"/>
                        <a:ea typeface="Cambria"/>
                        <a:cs typeface="Cambria"/>
                        <a:sym typeface="Cambria"/>
                      </a:endParaRPr>
                    </a:p>
                  </a:txBody>
                  <a:tcPr marL="68575" marR="68575"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gridSpan="2">
                  <a:txBody>
                    <a:bodyPr/>
                    <a:lstStyle/>
                    <a:p>
                      <a:pPr marL="0" marR="0" lvl="0" indent="0" algn="ctr" rtl="0">
                        <a:lnSpc>
                          <a:spcPct val="100000"/>
                        </a:lnSpc>
                        <a:spcBef>
                          <a:spcPts val="0"/>
                        </a:spcBef>
                        <a:spcAft>
                          <a:spcPts val="0"/>
                        </a:spcAft>
                        <a:buNone/>
                      </a:pPr>
                      <a:r>
                        <a:rPr lang="en-US" sz="2000" u="none" strike="noStrike" cap="none"/>
                        <a:t> </a:t>
                      </a:r>
                      <a:endParaRPr sz="2000" u="none" strike="noStrike" cap="none">
                        <a:latin typeface="Cambria"/>
                        <a:ea typeface="Cambria"/>
                        <a:cs typeface="Cambria"/>
                        <a:sym typeface="Cambria"/>
                      </a:endParaRPr>
                    </a:p>
                  </a:txBody>
                  <a:tcPr marL="68575" marR="68575"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10"/>
                  </a:ext>
                </a:extLst>
              </a:tr>
            </a:tbl>
          </a:graphicData>
        </a:graphic>
      </p:graphicFrame>
      <p:sp>
        <p:nvSpPr>
          <p:cNvPr id="340" name="Google Shape;340;p18"/>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42" name="Google Shape;342;p18"/>
          <p:cNvSpPr txBox="1"/>
          <p:nvPr/>
        </p:nvSpPr>
        <p:spPr>
          <a:xfrm>
            <a:off x="1449273" y="60325"/>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00" b="1" dirty="0">
                <a:solidFill>
                  <a:srgbClr val="33BEA6"/>
                </a:solidFill>
                <a:latin typeface="Verdana"/>
                <a:ea typeface="Verdana"/>
                <a:cs typeface="Verdana"/>
                <a:sym typeface="Verdana"/>
              </a:rPr>
              <a:t>10.5.5 Activity: Station 3 – Stem-and-Leaf Plots and Box Plots</a:t>
            </a:r>
            <a:endParaRPr dirty="0"/>
          </a:p>
        </p:txBody>
      </p:sp>
      <p:pic>
        <p:nvPicPr>
          <p:cNvPr id="344" name="Google Shape;344;p18"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99465" y="348271"/>
            <a:ext cx="749808" cy="749808"/>
          </a:xfrm>
          <a:prstGeom prst="rect">
            <a:avLst/>
          </a:prstGeom>
          <a:noFill/>
          <a:ln>
            <a:noFill/>
          </a:ln>
          <a:effectLst>
            <a:outerShdw blurRad="50800" dist="38100" dir="2700000" algn="tl" rotWithShape="0">
              <a:srgbClr val="000000">
                <a:alpha val="40000"/>
              </a:srgbClr>
            </a:outerShdw>
          </a:effectLst>
        </p:spPr>
      </p:pic>
      <p:sp>
        <p:nvSpPr>
          <p:cNvPr id="345" name="Google Shape;345;p18"/>
          <p:cNvSpPr txBox="1"/>
          <p:nvPr/>
        </p:nvSpPr>
        <p:spPr>
          <a:xfrm>
            <a:off x="1449273" y="1386025"/>
            <a:ext cx="9549486" cy="707886"/>
          </a:xfrm>
          <a:prstGeom prst="rect">
            <a:avLst/>
          </a:prstGeom>
          <a:noFill/>
          <a:ln>
            <a:noFill/>
          </a:ln>
        </p:spPr>
        <p:txBody>
          <a:bodyPr spcFirstLastPara="1" wrap="square" lIns="91425" tIns="45700" rIns="91425" bIns="45700" anchor="t" anchorCtr="0">
            <a:spAutoFit/>
          </a:bodyPr>
          <a:lstStyle/>
          <a:p>
            <a:pPr marL="457200" lvl="4" indent="-457200">
              <a:buSzPts val="2000"/>
              <a:buFont typeface="Arial"/>
              <a:buAutoNum type="arabicPeriod"/>
            </a:pPr>
            <a:r>
              <a:rPr lang="en-US" sz="2000">
                <a:latin typeface="Verdana"/>
                <a:ea typeface="Verdana"/>
                <a:cs typeface="Verdana"/>
                <a:sym typeface="Verdana"/>
              </a:rPr>
              <a:t>A sample of two stores’ guitar prices are shown in the stem-and-leaf plots.</a:t>
            </a:r>
            <a:endParaRPr/>
          </a:p>
        </p:txBody>
      </p:sp>
      <p:sp>
        <p:nvSpPr>
          <p:cNvPr id="346" name="Google Shape;346;p18"/>
          <p:cNvSpPr txBox="1"/>
          <p:nvPr/>
        </p:nvSpPr>
        <p:spPr>
          <a:xfrm>
            <a:off x="2782098" y="2181802"/>
            <a:ext cx="7605486" cy="400110"/>
          </a:xfrm>
          <a:prstGeom prst="rect">
            <a:avLst/>
          </a:prstGeom>
          <a:noFill/>
          <a:ln>
            <a:noFill/>
          </a:ln>
        </p:spPr>
        <p:txBody>
          <a:bodyPr spcFirstLastPara="1" wrap="square" lIns="91425" tIns="45700" rIns="91425" bIns="45700" anchor="t" anchorCtr="0">
            <a:spAutoFit/>
          </a:bodyPr>
          <a:lstStyle/>
          <a:p>
            <a:pPr algn="ctr"/>
            <a:r>
              <a:rPr lang="en-US" sz="2000" b="1">
                <a:latin typeface="Verdana"/>
                <a:ea typeface="Verdana"/>
                <a:cs typeface="Verdana"/>
                <a:sym typeface="Verdana"/>
              </a:rPr>
              <a:t>Store A’s Guitar Prices         Store B’s Guitar Prices</a:t>
            </a:r>
            <a:endParaRPr sz="2000">
              <a:latin typeface="Cambria"/>
              <a:ea typeface="Cambria"/>
              <a:cs typeface="Cambria"/>
              <a:sym typeface="Cambria"/>
            </a:endParaRPr>
          </a:p>
        </p:txBody>
      </p:sp>
      <p:sp>
        <p:nvSpPr>
          <p:cNvPr id="10" name="Google Shape;125;g104476d1465_1_17"/>
          <p:cNvSpPr txBox="1"/>
          <p:nvPr/>
        </p:nvSpPr>
        <p:spPr>
          <a:xfrm>
            <a:off x="870622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132</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445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19"/>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55" name="Google Shape;355;p19"/>
          <p:cNvSpPr txBox="1"/>
          <p:nvPr/>
        </p:nvSpPr>
        <p:spPr>
          <a:xfrm>
            <a:off x="1981261" y="533646"/>
            <a:ext cx="8327136" cy="4401205"/>
          </a:xfrm>
          <a:prstGeom prst="rect">
            <a:avLst/>
          </a:prstGeom>
          <a:blipFill rotWithShape="1">
            <a:blip r:embed="rId3" cstate="screen">
              <a:alphaModFix/>
              <a:extLst>
                <a:ext uri="{28A0092B-C50C-407E-A947-70E740481C1C}">
                  <a14:useLocalDpi xmlns:a14="http://schemas.microsoft.com/office/drawing/2010/main"/>
                </a:ext>
              </a:extLst>
            </a:blip>
            <a:stretch>
              <a:fillRect l="-608" t="-574" r="-1369"/>
            </a:stretch>
          </a:blipFill>
          <a:ln>
            <a:noFill/>
          </a:ln>
        </p:spPr>
        <p:txBody>
          <a:bodyPr spcFirstLastPara="1" wrap="square" lIns="91425" tIns="45700" rIns="91425" bIns="45700" anchor="t" anchorCtr="0">
            <a:noAutofit/>
          </a:bodyPr>
          <a:lstStyle/>
          <a:p>
            <a:r>
              <a:rPr lang="en-US"/>
              <a:t> </a:t>
            </a:r>
            <a:endParaRPr/>
          </a:p>
        </p:txBody>
      </p:sp>
      <p:sp>
        <p:nvSpPr>
          <p:cNvPr id="6" name="Google Shape;125;g104476d1465_1_17"/>
          <p:cNvSpPr txBox="1"/>
          <p:nvPr/>
        </p:nvSpPr>
        <p:spPr>
          <a:xfrm>
            <a:off x="870622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132</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445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20"/>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64" name="Google Shape;364;p20"/>
          <p:cNvSpPr txBox="1"/>
          <p:nvPr/>
        </p:nvSpPr>
        <p:spPr>
          <a:xfrm>
            <a:off x="1179443" y="520393"/>
            <a:ext cx="9983780" cy="1323399"/>
          </a:xfrm>
          <a:prstGeom prst="rect">
            <a:avLst/>
          </a:prstGeom>
          <a:noFill/>
          <a:ln>
            <a:noFill/>
          </a:ln>
        </p:spPr>
        <p:txBody>
          <a:bodyPr spcFirstLastPara="1" wrap="square" lIns="91425" tIns="45700" rIns="91425" bIns="45700" anchor="t" anchorCtr="0">
            <a:spAutoFit/>
          </a:bodyPr>
          <a:lstStyle/>
          <a:p>
            <a:pPr marL="457200" indent="-457200">
              <a:buSzPts val="2000"/>
              <a:buFont typeface="Arial"/>
              <a:buAutoNum type="arabicPeriod" startAt="2"/>
            </a:pPr>
            <a:r>
              <a:rPr lang="en-US" sz="2000">
                <a:latin typeface="Verdana"/>
                <a:ea typeface="Verdana"/>
                <a:cs typeface="Verdana"/>
                <a:sym typeface="Verdana"/>
              </a:rPr>
              <a:t>Suppose a sample of test scores is taken from Mr. </a:t>
            </a:r>
            <a:r>
              <a:rPr lang="en-US" sz="2000" dirty="0">
                <a:latin typeface="Verdana"/>
                <a:ea typeface="Verdana"/>
                <a:cs typeface="Verdana"/>
                <a:sym typeface="Verdana"/>
              </a:rPr>
              <a:t>Spellman’s morning math classes. The data is displayed in the top box plot. Another sample of test scores is taken from Mr. Spellman’s afternoon math classes. The data is displayed in the bottom box plot.</a:t>
            </a:r>
            <a:endParaRPr dirty="0"/>
          </a:p>
        </p:txBody>
      </p:sp>
      <p:pic>
        <p:nvPicPr>
          <p:cNvPr id="365" name="Google Shape;365;p2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343056" y="2151610"/>
            <a:ext cx="5709920" cy="3428365"/>
          </a:xfrm>
          <a:prstGeom prst="rect">
            <a:avLst/>
          </a:prstGeom>
          <a:noFill/>
          <a:ln>
            <a:noFill/>
          </a:ln>
        </p:spPr>
      </p:pic>
      <p:sp>
        <p:nvSpPr>
          <p:cNvPr id="366" name="Google Shape;366;p20"/>
          <p:cNvSpPr txBox="1"/>
          <p:nvPr/>
        </p:nvSpPr>
        <p:spPr>
          <a:xfrm>
            <a:off x="2007765" y="2422558"/>
            <a:ext cx="2416175" cy="736600"/>
          </a:xfrm>
          <a:prstGeom prst="rect">
            <a:avLst/>
          </a:prstGeom>
          <a:noFill/>
          <a:ln>
            <a:noFill/>
          </a:ln>
        </p:spPr>
        <p:txBody>
          <a:bodyPr spcFirstLastPara="1" wrap="square" lIns="91425" tIns="45700" rIns="91425" bIns="45700" anchor="t" anchorCtr="0">
            <a:noAutofit/>
          </a:bodyPr>
          <a:lstStyle/>
          <a:p>
            <a:pPr algn="ctr"/>
            <a:r>
              <a:rPr lang="en-US" sz="2000" b="1">
                <a:latin typeface="Verdana"/>
                <a:ea typeface="Verdana"/>
                <a:cs typeface="Verdana"/>
                <a:sym typeface="Verdana"/>
              </a:rPr>
              <a:t>Morning Test Scores</a:t>
            </a:r>
            <a:endParaRPr sz="2000">
              <a:latin typeface="Cambria"/>
              <a:ea typeface="Cambria"/>
              <a:cs typeface="Cambria"/>
              <a:sym typeface="Cambria"/>
            </a:endParaRPr>
          </a:p>
        </p:txBody>
      </p:sp>
      <p:sp>
        <p:nvSpPr>
          <p:cNvPr id="367" name="Google Shape;367;p20"/>
          <p:cNvSpPr txBox="1"/>
          <p:nvPr/>
        </p:nvSpPr>
        <p:spPr>
          <a:xfrm>
            <a:off x="2007765" y="3807804"/>
            <a:ext cx="2416175" cy="736600"/>
          </a:xfrm>
          <a:prstGeom prst="rect">
            <a:avLst/>
          </a:prstGeom>
          <a:noFill/>
          <a:ln>
            <a:noFill/>
          </a:ln>
        </p:spPr>
        <p:txBody>
          <a:bodyPr spcFirstLastPara="1" wrap="square" lIns="91425" tIns="45700" rIns="91425" bIns="45700" anchor="t" anchorCtr="0">
            <a:noAutofit/>
          </a:bodyPr>
          <a:lstStyle/>
          <a:p>
            <a:pPr algn="ctr"/>
            <a:r>
              <a:rPr lang="en-US" sz="2000" b="1">
                <a:latin typeface="Verdana"/>
                <a:ea typeface="Verdana"/>
                <a:cs typeface="Verdana"/>
                <a:sym typeface="Verdana"/>
              </a:rPr>
              <a:t>Afternoon Test Scores</a:t>
            </a:r>
            <a:endParaRPr sz="2000">
              <a:latin typeface="Cambria"/>
              <a:ea typeface="Cambria"/>
              <a:cs typeface="Cambria"/>
              <a:sym typeface="Cambria"/>
            </a:endParaRPr>
          </a:p>
        </p:txBody>
      </p:sp>
      <p:sp>
        <p:nvSpPr>
          <p:cNvPr id="9" name="Google Shape;125;g104476d1465_1_17"/>
          <p:cNvSpPr txBox="1"/>
          <p:nvPr/>
        </p:nvSpPr>
        <p:spPr>
          <a:xfrm>
            <a:off x="870622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133</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445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21"/>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76" name="Google Shape;376;p21"/>
          <p:cNvSpPr txBox="1"/>
          <p:nvPr/>
        </p:nvSpPr>
        <p:spPr>
          <a:xfrm>
            <a:off x="1232452" y="520394"/>
            <a:ext cx="9877762" cy="1323439"/>
          </a:xfrm>
          <a:prstGeom prst="rect">
            <a:avLst/>
          </a:prstGeom>
          <a:noFill/>
          <a:ln>
            <a:noFill/>
          </a:ln>
        </p:spPr>
        <p:txBody>
          <a:bodyPr spcFirstLastPara="1" wrap="square" lIns="91425" tIns="45700" rIns="91425" bIns="45700" anchor="t" anchorCtr="0">
            <a:spAutoFit/>
          </a:bodyPr>
          <a:lstStyle/>
          <a:p>
            <a:r>
              <a:rPr lang="en-US" sz="2000">
                <a:latin typeface="Verdana"/>
                <a:ea typeface="Verdana"/>
                <a:cs typeface="Verdana"/>
                <a:sym typeface="Verdana"/>
              </a:rPr>
              <a:t>Explain the difference between taking Mr. </a:t>
            </a:r>
            <a:r>
              <a:rPr lang="en-US" sz="2000" dirty="0">
                <a:latin typeface="Verdana"/>
                <a:ea typeface="Verdana"/>
                <a:cs typeface="Verdana"/>
                <a:sym typeface="Verdana"/>
              </a:rPr>
              <a:t>Spellman’s math test in the morning compared to the afternoon. Use some of the terms from the word bank and be sure to include both a measure of center and variability in your explanation.</a:t>
            </a:r>
            <a:endParaRPr dirty="0"/>
          </a:p>
        </p:txBody>
      </p:sp>
      <p:grpSp>
        <p:nvGrpSpPr>
          <p:cNvPr id="377" name="Google Shape;377;p21"/>
          <p:cNvGrpSpPr/>
          <p:nvPr/>
        </p:nvGrpSpPr>
        <p:grpSpPr>
          <a:xfrm>
            <a:off x="1590681" y="2017534"/>
            <a:ext cx="9010639" cy="1775197"/>
            <a:chOff x="-53144" y="-381176"/>
            <a:chExt cx="2378607" cy="1788444"/>
          </a:xfrm>
        </p:grpSpPr>
        <p:sp>
          <p:nvSpPr>
            <p:cNvPr id="378" name="Google Shape;378;p21"/>
            <p:cNvSpPr/>
            <p:nvPr/>
          </p:nvSpPr>
          <p:spPr>
            <a:xfrm>
              <a:off x="5776" y="-381176"/>
              <a:ext cx="2314715" cy="1788444"/>
            </a:xfrm>
            <a:prstGeom prst="roundRect">
              <a:avLst>
                <a:gd name="adj" fmla="val 16667"/>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endParaRPr>
                <a:solidFill>
                  <a:schemeClr val="dk1"/>
                </a:solidFill>
              </a:endParaRPr>
            </a:p>
          </p:txBody>
        </p:sp>
        <p:sp>
          <p:nvSpPr>
            <p:cNvPr id="379" name="Google Shape;379;p21"/>
            <p:cNvSpPr txBox="1"/>
            <p:nvPr/>
          </p:nvSpPr>
          <p:spPr>
            <a:xfrm>
              <a:off x="-53144" y="-190333"/>
              <a:ext cx="2378607" cy="1219200"/>
            </a:xfrm>
            <a:prstGeom prst="rect">
              <a:avLst/>
            </a:prstGeom>
            <a:noFill/>
            <a:ln>
              <a:noFill/>
            </a:ln>
          </p:spPr>
          <p:txBody>
            <a:bodyPr spcFirstLastPara="1" wrap="square" lIns="91425" tIns="45700" rIns="91425" bIns="45700" anchor="t" anchorCtr="0">
              <a:noAutofit/>
            </a:bodyPr>
            <a:lstStyle/>
            <a:p>
              <a:pPr marL="457200"/>
              <a:r>
                <a:rPr lang="en-US" sz="1800">
                  <a:latin typeface="Verdana"/>
                  <a:ea typeface="Verdana"/>
                  <a:cs typeface="Verdana"/>
                  <a:sym typeface="Verdana"/>
                </a:rPr>
                <a:t>mean		median			range	 		IQR</a:t>
              </a:r>
              <a:endParaRPr sz="1200">
                <a:latin typeface="Cambria"/>
                <a:ea typeface="Cambria"/>
                <a:cs typeface="Cambria"/>
                <a:sym typeface="Cambria"/>
              </a:endParaRPr>
            </a:p>
            <a:p>
              <a:pPr marL="457200">
                <a:spcBef>
                  <a:spcPts val="1000"/>
                </a:spcBef>
              </a:pPr>
              <a:r>
                <a:rPr lang="en-US" sz="1800">
                  <a:latin typeface="Verdana"/>
                  <a:ea typeface="Verdana"/>
                  <a:cs typeface="Verdana"/>
                  <a:sym typeface="Verdana"/>
                </a:rPr>
                <a:t>	center		variability		upper quartile		</a:t>
              </a:r>
              <a:endParaRPr sz="1200">
                <a:latin typeface="Cambria"/>
                <a:ea typeface="Cambria"/>
                <a:cs typeface="Cambria"/>
                <a:sym typeface="Cambria"/>
              </a:endParaRPr>
            </a:p>
            <a:p>
              <a:pPr marL="457200">
                <a:spcBef>
                  <a:spcPts val="1000"/>
                </a:spcBef>
              </a:pPr>
              <a:r>
                <a:rPr lang="en-US" sz="1800">
                  <a:latin typeface="Verdana"/>
                  <a:ea typeface="Verdana"/>
                  <a:cs typeface="Verdana"/>
                  <a:sym typeface="Verdana"/>
                </a:rPr>
                <a:t>lower quartile		sample		population</a:t>
              </a:r>
              <a:endParaRPr sz="1200">
                <a:latin typeface="Cambria"/>
                <a:ea typeface="Cambria"/>
                <a:cs typeface="Cambria"/>
                <a:sym typeface="Cambria"/>
              </a:endParaRPr>
            </a:p>
            <a:p>
              <a:pPr marL="457200">
                <a:spcBef>
                  <a:spcPts val="1000"/>
                </a:spcBef>
              </a:pPr>
              <a:r>
                <a:rPr lang="en-US" sz="1800">
                  <a:latin typeface="Verdana"/>
                  <a:ea typeface="Verdana"/>
                  <a:cs typeface="Verdana"/>
                  <a:sym typeface="Verdana"/>
                </a:rPr>
                <a:t>			 					</a:t>
              </a:r>
              <a:endParaRPr sz="1200">
                <a:latin typeface="Cambria"/>
                <a:ea typeface="Cambria"/>
                <a:cs typeface="Cambria"/>
                <a:sym typeface="Cambria"/>
              </a:endParaRPr>
            </a:p>
            <a:p>
              <a:pPr marL="457200">
                <a:spcBef>
                  <a:spcPts val="1000"/>
                </a:spcBef>
              </a:pPr>
              <a:r>
                <a:rPr lang="en-US" sz="1800">
                  <a:latin typeface="Verdana"/>
                  <a:ea typeface="Verdana"/>
                  <a:cs typeface="Verdana"/>
                  <a:sym typeface="Verdana"/>
                </a:rPr>
                <a:t> </a:t>
              </a:r>
              <a:endParaRPr sz="1200">
                <a:latin typeface="Cambria"/>
                <a:ea typeface="Cambria"/>
                <a:cs typeface="Cambria"/>
                <a:sym typeface="Cambria"/>
              </a:endParaRPr>
            </a:p>
          </p:txBody>
        </p:sp>
      </p:grpSp>
      <p:sp>
        <p:nvSpPr>
          <p:cNvPr id="9" name="Google Shape;125;g104476d1465_1_17"/>
          <p:cNvSpPr txBox="1"/>
          <p:nvPr/>
        </p:nvSpPr>
        <p:spPr>
          <a:xfrm>
            <a:off x="870622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133</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4445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22"/>
          <p:cNvSpPr/>
          <p:nvPr/>
        </p:nvSpPr>
        <p:spPr>
          <a:xfrm>
            <a:off x="0" y="-8226"/>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dirty="0"/>
          </a:p>
        </p:txBody>
      </p:sp>
      <p:sp>
        <p:nvSpPr>
          <p:cNvPr id="388" name="Google Shape;388;p22"/>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389" name="Google Shape;389;p22"/>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0622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133</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445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23"/>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98" name="Google Shape;398;p23"/>
          <p:cNvSpPr txBox="1"/>
          <p:nvPr/>
        </p:nvSpPr>
        <p:spPr>
          <a:xfrm>
            <a:off x="1382800" y="-75209"/>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10.5.6 Wrap-Up: Reflection</a:t>
            </a:r>
            <a:endParaRPr dirty="0"/>
          </a:p>
        </p:txBody>
      </p:sp>
      <p:pic>
        <p:nvPicPr>
          <p:cNvPr id="399" name="Google Shape;399;p23"/>
          <p:cNvPicPr preferRelativeResize="0"/>
          <p:nvPr/>
        </p:nvPicPr>
        <p:blipFill rotWithShape="1">
          <a:blip r:embed="rId3">
            <a:alphaModFix/>
          </a:blip>
          <a:srcRect/>
          <a:stretch/>
        </p:blipFill>
        <p:spPr>
          <a:xfrm>
            <a:off x="553350" y="173703"/>
            <a:ext cx="747300" cy="747300"/>
          </a:xfrm>
          <a:prstGeom prst="rect">
            <a:avLst/>
          </a:prstGeom>
          <a:noFill/>
          <a:ln>
            <a:noFill/>
          </a:ln>
          <a:effectLst>
            <a:outerShdw blurRad="50800" dist="38100" dir="2700000" algn="tl" rotWithShape="0">
              <a:srgbClr val="000000">
                <a:alpha val="40000"/>
              </a:srgbClr>
            </a:outerShdw>
          </a:effectLst>
        </p:spPr>
      </p:pic>
      <p:sp>
        <p:nvSpPr>
          <p:cNvPr id="400" name="Google Shape;400;p23"/>
          <p:cNvSpPr txBox="1"/>
          <p:nvPr/>
        </p:nvSpPr>
        <p:spPr>
          <a:xfrm>
            <a:off x="1300650" y="1386025"/>
            <a:ext cx="9846732" cy="3785611"/>
          </a:xfrm>
          <a:prstGeom prst="rect">
            <a:avLst/>
          </a:prstGeom>
          <a:noFill/>
          <a:ln>
            <a:noFill/>
          </a:ln>
        </p:spPr>
        <p:txBody>
          <a:bodyPr spcFirstLastPara="1" wrap="square" lIns="91425" tIns="45700" rIns="91425" bIns="45700" anchor="t" anchorCtr="0">
            <a:spAutoFit/>
          </a:bodyPr>
          <a:lstStyle/>
          <a:p>
            <a:r>
              <a:rPr lang="en-US" sz="2000" dirty="0">
                <a:latin typeface="Verdana"/>
                <a:ea typeface="Verdana"/>
                <a:cs typeface="Verdana"/>
                <a:sym typeface="Verdana"/>
              </a:rPr>
              <a:t>Complete each statement based on your current understanding.</a:t>
            </a:r>
            <a:endParaRPr dirty="0"/>
          </a:p>
          <a:p>
            <a:endParaRPr sz="2000" dirty="0">
              <a:latin typeface="Verdana"/>
              <a:ea typeface="Verdana"/>
              <a:cs typeface="Verdana"/>
              <a:sym typeface="Verdana"/>
            </a:endParaRPr>
          </a:p>
          <a:p>
            <a:pPr marL="457200" indent="-457200">
              <a:buSzPts val="2000"/>
              <a:buFont typeface="Arial"/>
              <a:buAutoNum type="arabicPeriod"/>
            </a:pPr>
            <a:r>
              <a:rPr lang="en-US" sz="2000" dirty="0">
                <a:latin typeface="Verdana"/>
                <a:ea typeface="Verdana"/>
                <a:cs typeface="Verdana"/>
                <a:sym typeface="Verdana"/>
              </a:rPr>
              <a:t>I am still unsure about ____________________________</a:t>
            </a:r>
            <a:endParaRPr dirty="0"/>
          </a:p>
          <a:p>
            <a:pPr marL="460375"/>
            <a:r>
              <a:rPr lang="en-US" sz="2000" dirty="0">
                <a:latin typeface="Verdana"/>
                <a:ea typeface="Verdana"/>
                <a:cs typeface="Verdana"/>
                <a:sym typeface="Verdana"/>
              </a:rPr>
              <a:t>______________________________________________________________________________________________</a:t>
            </a:r>
            <a:endParaRPr dirty="0"/>
          </a:p>
          <a:p>
            <a:r>
              <a:rPr lang="en-US" sz="2000" dirty="0">
                <a:latin typeface="Verdana"/>
                <a:ea typeface="Verdana"/>
                <a:cs typeface="Verdana"/>
                <a:sym typeface="Verdana"/>
              </a:rPr>
              <a:t> </a:t>
            </a:r>
            <a:endParaRPr dirty="0"/>
          </a:p>
          <a:p>
            <a:pPr marL="457200" indent="-330200">
              <a:buSzPts val="2000"/>
            </a:pPr>
            <a:endParaRPr sz="2000" dirty="0">
              <a:latin typeface="Verdana"/>
              <a:ea typeface="Verdana"/>
              <a:cs typeface="Verdana"/>
              <a:sym typeface="Verdana"/>
            </a:endParaRPr>
          </a:p>
          <a:p>
            <a:pPr marL="457200" indent="-457200">
              <a:buSzPts val="2000"/>
              <a:buFont typeface="Arial"/>
              <a:buAutoNum type="arabicPeriod" startAt="2"/>
            </a:pPr>
            <a:r>
              <a:rPr lang="en-US" sz="2000" dirty="0">
                <a:latin typeface="Verdana"/>
                <a:ea typeface="Verdana"/>
                <a:cs typeface="Verdana"/>
                <a:sym typeface="Verdana"/>
              </a:rPr>
              <a:t>One question I have that will help me better understand is _______________________________________________</a:t>
            </a:r>
            <a:endParaRPr dirty="0"/>
          </a:p>
          <a:p>
            <a:pPr marL="460375"/>
            <a:r>
              <a:rPr lang="en-US" sz="2000" dirty="0">
                <a:latin typeface="Verdana"/>
                <a:ea typeface="Verdana"/>
                <a:cs typeface="Verdana"/>
                <a:sym typeface="Verdana"/>
              </a:rPr>
              <a:t>_____________________________________________________________________________________________?</a:t>
            </a:r>
            <a:endParaRPr dirty="0"/>
          </a:p>
          <a:p>
            <a:endParaRPr sz="2000" dirty="0">
              <a:latin typeface="Verdana"/>
              <a:ea typeface="Verdana"/>
              <a:cs typeface="Verdana"/>
              <a:sym typeface="Verdana"/>
            </a:endParaRPr>
          </a:p>
        </p:txBody>
      </p:sp>
      <p:sp>
        <p:nvSpPr>
          <p:cNvPr id="8" name="Google Shape;125;g104476d1465_1_17"/>
          <p:cNvSpPr txBox="1"/>
          <p:nvPr/>
        </p:nvSpPr>
        <p:spPr>
          <a:xfrm>
            <a:off x="870622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133</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445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TotalTime>
  <Words>1379</Words>
  <Application>Microsoft Office PowerPoint</Application>
  <PresentationFormat>Widescreen</PresentationFormat>
  <Paragraphs>265</Paragraphs>
  <Slides>25</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Arial Black</vt:lpstr>
      <vt:lpstr>Calibri</vt:lpstr>
      <vt:lpstr>Cambria</vt:lpstr>
      <vt:lpstr>Cambria Math</vt:lpstr>
      <vt:lpstr>Courier New</vt:lpstr>
      <vt:lpstr>Noto Sans Symbols</vt:lpstr>
      <vt:lpstr>Verdana</vt:lpstr>
      <vt:lpstr>1_Office Theme</vt:lpstr>
      <vt:lpstr>6th Grade Accelerated Math  Unit 10, Lesson 5  Comparing Graphical Representations  Volume 2, pg. 129  </vt:lpstr>
      <vt:lpstr>Benchmark</vt:lpstr>
      <vt:lpstr>PowerPoint Presentation</vt:lpstr>
      <vt:lpstr>PowerPoint Presentation</vt:lpstr>
      <vt:lpstr>Warm-Up</vt:lpstr>
      <vt:lpstr>PowerPoint Presentation</vt:lpstr>
      <vt:lpstr>Guided Practice</vt:lpstr>
      <vt:lpstr>PowerPoint Presentation</vt:lpstr>
      <vt:lpstr>PowerPoint Presentation</vt:lpstr>
      <vt:lpstr>Activity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7th Grade Math  Unit 13, Lesson 4  Comparing Graphical Representations  Volume 2, pg. 251  </dc:title>
  <dc:creator>Karen McKenzie</dc:creator>
  <cp:lastModifiedBy>Cassie O'Connor</cp:lastModifiedBy>
  <cp:revision>6</cp:revision>
  <dcterms:created xsi:type="dcterms:W3CDTF">2015-03-17T18:51:18Z</dcterms:created>
  <dcterms:modified xsi:type="dcterms:W3CDTF">2022-08-24T01:57:06Z</dcterms:modified>
</cp:coreProperties>
</file>